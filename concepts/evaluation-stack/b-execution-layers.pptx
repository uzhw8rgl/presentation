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B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Three evaluation layers, one deployed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Campaign → measured run → test scenario; VITA-FL is the external system under test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Campaign → measured run → test scenario; VITA-FL is the external system under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7452360" cy="3127248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aluation stack: SMEW"/>
          <p:cNvSpPr txBox="1"/>
          <p:nvPr/>
        </p:nvSpPr>
        <p:spPr>
          <a:xfrm>
            <a:off x="877824" y="235000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16" name="Evaluation stack: Campaign"/>
          <p:cNvSpPr txBox="1"/>
          <p:nvPr/>
        </p:nvSpPr>
        <p:spPr>
          <a:xfrm>
            <a:off x="877824" y="2834640"/>
            <a:ext cx="184708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263440"/>
                </a:solidFill>
                <a:latin typeface="Arial"/>
              </a:rPr>
              <a:t>Campaign</a:t>
            </a:r>
          </a:p>
        </p:txBody>
      </p:sp>
      <p:sp>
        <p:nvSpPr>
          <p:cNvPr id="17" name="Evaluation stack: Select scenarios / and repeat runs"/>
          <p:cNvSpPr txBox="1"/>
          <p:nvPr/>
        </p:nvSpPr>
        <p:spPr>
          <a:xfrm>
            <a:off x="877824" y="3291840"/>
            <a:ext cx="1792224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Select scenarios
and repeat runs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52928" y="2706624"/>
            <a:ext cx="4992624" cy="2267712"/>
          </a:xfrm>
          <a:prstGeom prst="roundRect">
            <a:avLst/>
          </a:prstGeom>
          <a:solidFill>
            <a:srgbClr val="F3EEF8"/>
          </a:solidFill>
          <a:ln w="12700">
            <a:solidFill>
              <a:srgbClr val="C8B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ion stack: SMA"/>
          <p:cNvSpPr txBox="1"/>
          <p:nvPr/>
        </p:nvSpPr>
        <p:spPr>
          <a:xfrm>
            <a:off x="3099816" y="2898648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7446A6"/>
                </a:solidFill>
                <a:latin typeface="Arial"/>
              </a:rPr>
              <a:t>SMA</a:t>
            </a:r>
          </a:p>
        </p:txBody>
      </p:sp>
      <p:sp>
        <p:nvSpPr>
          <p:cNvPr id="20" name="Evaluation stack: Run scope"/>
          <p:cNvSpPr txBox="1"/>
          <p:nvPr/>
        </p:nvSpPr>
        <p:spPr>
          <a:xfrm>
            <a:off x="3099816" y="338328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7446A6"/>
                </a:solidFill>
                <a:latin typeface="Arial"/>
              </a:rPr>
              <a:t>Run scope</a:t>
            </a:r>
          </a:p>
        </p:txBody>
      </p:sp>
      <p:sp>
        <p:nvSpPr>
          <p:cNvPr id="21" name="Evaluation stack: Process, time / window &amp; / measurements"/>
          <p:cNvSpPr txBox="1"/>
          <p:nvPr/>
        </p:nvSpPr>
        <p:spPr>
          <a:xfrm>
            <a:off x="3099816" y="3767328"/>
            <a:ext cx="1581912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Process, time
window &amp;
measurements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355848"/>
            <a:ext cx="2715768" cy="13533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valuation stack: vita-fl-td"/>
          <p:cNvSpPr txBox="1"/>
          <p:nvPr/>
        </p:nvSpPr>
        <p:spPr>
          <a:xfrm>
            <a:off x="5093208" y="350215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4" name="Evaluation stack: Scenario logic / &amp; assertions"/>
          <p:cNvSpPr txBox="1"/>
          <p:nvPr/>
        </p:nvSpPr>
        <p:spPr>
          <a:xfrm>
            <a:off x="5093208" y="3986784"/>
            <a:ext cx="2304288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263440"/>
                </a:solidFill>
                <a:latin typeface="Arial"/>
              </a:rPr>
              <a:t>Scenario logic
&amp; assertions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103120"/>
            <a:ext cx="2313432" cy="31272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valuation stack: VITA-FL"/>
          <p:cNvSpPr txBox="1"/>
          <p:nvPr/>
        </p:nvSpPr>
        <p:spPr>
          <a:xfrm>
            <a:off x="9427464" y="2350008"/>
            <a:ext cx="19202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27" name="Evaluation stack: Deployed in Phala"/>
          <p:cNvSpPr txBox="1"/>
          <p:nvPr/>
        </p:nvSpPr>
        <p:spPr>
          <a:xfrm>
            <a:off x="9427464" y="2889504"/>
            <a:ext cx="192024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lang="en-US">
                <a:solidFill>
                  <a:srgbClr val="65737D"/>
                </a:solidFill>
                <a:latin typeface="Arial"/>
              </a:rPr>
              <a:t>Deployed in Phala</a:t>
            </a:r>
          </a:p>
        </p:txBody>
      </p:sp>
      <p:sp>
        <p:nvSpPr>
          <p:cNvPr id="28" name="Evaluation stack: Training / Aggregation / Inference / Published evidence"/>
          <p:cNvSpPr txBox="1"/>
          <p:nvPr/>
        </p:nvSpPr>
        <p:spPr>
          <a:xfrm>
            <a:off x="9427464" y="3730752"/>
            <a:ext cx="1920240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lang="en-US">
                <a:solidFill>
                  <a:srgbClr val="263440"/>
                </a:solidFill>
                <a:latin typeface="Arial"/>
              </a:rPr>
              <a:t>Training
Aggregation
Inference
Published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16952" y="4014215"/>
            <a:ext cx="159105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valuation stack: API calls"/>
          <p:cNvSpPr txBox="1"/>
          <p:nvPr/>
        </p:nvSpPr>
        <p:spPr>
          <a:xfrm>
            <a:off x="8156448" y="3666744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263440"/>
                </a:solidFill>
                <a:latin typeface="Arial"/>
              </a:rPr>
              <a:t>API calls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7616952" y="4526280"/>
            <a:ext cx="15910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valuation stack: Evidence"/>
          <p:cNvSpPr txBox="1"/>
          <p:nvPr/>
        </p:nvSpPr>
        <p:spPr>
          <a:xfrm>
            <a:off x="8156448" y="458114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1764A1"/>
                </a:solidFill>
                <a:latin typeface="Arial"/>
              </a:rPr>
              <a:t>Evidence</a:t>
            </a:r>
          </a:p>
        </p:txBody>
      </p:sp>
      <p:sp>
        <p:nvSpPr>
          <p:cNvPr id="33" name="Evaluation stack: Each run combines test verdicts, artifacts and measurements for later analysis in Marimo."/>
          <p:cNvSpPr txBox="1"/>
          <p:nvPr/>
        </p:nvSpPr>
        <p:spPr>
          <a:xfrm>
            <a:off x="658368" y="5404104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65737D"/>
                </a:solidFill>
                <a:latin typeface="Arial"/>
              </a:rPr>
              <a:t>Each run combines test verdicts, artifacts and measurements for later analysis in Marimo.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