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D</a:t>
            </a:r>
          </a:p>
          <a:p/>
          <a:p>
            <a:r>
              <a:rPr lang="en-US"/>
              <a:t>PURPOSE AND SCOPE</a:t>
            </a:r>
          </a:p>
          <a:p>
            <a:r>
              <a:rPr lang="en-US"/>
              <a:t>Meta-level architecture of the current evaluation workflow, checked against local</a:t>
            </a:r>
          </a:p>
          <a:p>
            <a:r>
              <a:rPr lang="en-US"/>
              <a:t>implementation on 27 September 2026. This slide describes responsibilities and</a:t>
            </a:r>
          </a:p>
          <a:p>
            <a:r>
              <a:rPr lang="en-US"/>
              <a:t>execution boundaries, not the outcome of a new run or a measured success rate.</a:t>
            </a:r>
          </a:p>
          <a:p>
            <a:r>
              <a:rPr lang="en-US"/>
              <a:t>English matches the existing presentation. These are alternatives for selection;</a:t>
            </a:r>
          </a:p>
          <a:p>
            <a:r>
              <a:rPr lang="en-US"/>
              <a:t>the main deck and its historical evaluation record are unchanged.</a:t>
            </a:r>
          </a:p>
          <a:p/>
          <a:p>
            <a:r>
              <a:rPr lang="en-US"/>
              <a:t>COMPONENT ROLES</a:t>
            </a:r>
          </a:p>
          <a:p>
            <a:r>
              <a:rPr lang="en-US"/>
              <a:t>SMEW (Sustainability Measurement Experiment Workflow) defines campaign matrices</a:t>
            </a:r>
          </a:p>
          <a:p>
            <a:r>
              <a:rPr lang="en-US"/>
              <a:t>and repetitions, distributes runs to daemons, supervises the measurement process,</a:t>
            </a:r>
          </a:p>
          <a:p>
            <a:r>
              <a:rPr lang="en-US"/>
              <a:t>collects reports and validates completeness and overall status. The orchestrator</a:t>
            </a:r>
          </a:p>
          <a:p>
            <a:r>
              <a:rPr lang="en-US"/>
              <a:t>can be hosted separately from the daemon. Diagrams group both under SMEW.</a:t>
            </a:r>
          </a:p>
          <a:p>
            <a:r>
              <a:rPr lang="en-US"/>
              <a:t>SMA (Sustainability Measurement Agent) starts vita-fl-td as a local subprocess,</a:t>
            </a:r>
          </a:p>
          <a:p>
            <a:r>
              <a:rPr lang="en-US"/>
              <a:t>records a measurement window with configured pre/post time, collects process</a:t>
            </a:r>
          </a:p>
          <a:p>
            <a:r>
              <a:rPr lang="en-US"/>
              <a:t>metadata and result files, and fetches Prometheus range-query data for that window</a:t>
            </a:r>
          </a:p>
          <a:p>
            <a:r>
              <a:rPr lang="en-US"/>
              <a:t>after execution. Prometheus performs the continuous scrape; SMA is not a sensor.</a:t>
            </a:r>
          </a:p>
          <a:p>
            <a:r>
              <a:rPr lang="en-US"/>
              <a:t>vita-fl-td drives the deployed system through its real control API, chain RPC and</a:t>
            </a:r>
          </a:p>
          <a:p>
            <a:r>
              <a:rPr lang="en-US"/>
              <a:t>cloud-agent endpoints; selected fault scenarios also use the Phala API. It checks</a:t>
            </a:r>
          </a:p>
          <a:p>
            <a:r>
              <a:rPr lang="en-US"/>
              <a:t>scenario-specific assertions, on-chain events and published evidence. When audit</a:t>
            </a:r>
          </a:p>
          <a:p>
            <a:r>
              <a:rPr lang="en-US"/>
              <a:t>is enabled, it re-verifies SCITT, AIR/TDX and Sello evidence from the transparency</a:t>
            </a:r>
          </a:p>
          <a:p>
            <a:r>
              <a:rPr lang="en-US"/>
              <a:t>log. It reuses production verifier primitives and obtains fresh Phala quote</a:t>
            </a:r>
          </a:p>
          <a:p>
            <a:r>
              <a:rPr lang="en-US"/>
              <a:t>appraisals; it does not implement an independent Intel DCAP verifier.</a:t>
            </a:r>
          </a:p>
          <a:p>
            <a:r>
              <a:rPr lang="en-US"/>
              <a:t>VITA-FL is the deployed system under test: distributed training and aggregation,</a:t>
            </a:r>
          </a:p>
          <a:p>
            <a:r>
              <a:rPr lang="en-US"/>
              <a:t>agent tools, attested inference, contracts, storage, transparency log and metrics.</a:t>
            </a:r>
          </a:p>
          <a:p>
            <a:r>
              <a:rPr lang="en-US"/>
              <a:t>The test driver controls a predeployed system; it does not deploy the cloud stack.</a:t>
            </a:r>
          </a:p>
          <a:p/>
          <a:p>
            <a:r>
              <a:rPr lang="en-US"/>
              <a:t>EXECUTION AND DATA FLOWS</a:t>
            </a:r>
          </a:p>
          <a:p>
            <a:r>
              <a:rPr lang="en-US"/>
              <a:t>In the evaluated Phala setup, SMEW daemon, SMA and the test driver execute on the</a:t>
            </a:r>
          </a:p>
          <a:p>
            <a:r>
              <a:rPr lang="en-US"/>
              <a:t>experiment host; VITA-FL and its Prometheus monitoring execute in Phala. Other</a:t>
            </a:r>
          </a:p>
          <a:p>
            <a:r>
              <a:rPr lang="en-US"/>
              <a:t>Docker profiles and a separately hosted SMEW orchestrator are possible.</a:t>
            </a:r>
          </a:p>
          <a:p>
            <a:r>
              <a:rPr lang="en-US"/>
              <a:t>SMEW daemon -&gt; SMA: launch and supervise a parameterized run.</a:t>
            </a:r>
          </a:p>
          <a:p>
            <a:r>
              <a:rPr lang="en-US"/>
              <a:t>SMA -&gt; TD: start a subprocess scenario and await its completion.</a:t>
            </a:r>
          </a:p>
          <a:p>
            <a:r>
              <a:rPr lang="en-US"/>
              <a:t>TD -&gt; VITA-FL: API/RPC control and configured fault injection.</a:t>
            </a:r>
          </a:p>
          <a:p>
            <a:r>
              <a:rPr lang="en-US"/>
              <a:t>VITA-FL -&gt; TD: state, events and published evidence for assertions.</a:t>
            </a:r>
          </a:p>
          <a:p>
            <a:r>
              <a:rPr lang="en-US"/>
              <a:t>VITA-FL -&gt; Prometheus: exported progress, operating and gas metrics.</a:t>
            </a:r>
          </a:p>
          <a:p>
            <a:r>
              <a:rPr lang="en-US"/>
              <a:t>Prometheus -&gt; SMA: time series queried for the recorded run window.</a:t>
            </a:r>
          </a:p>
          <a:p>
            <a:r>
              <a:rPr lang="en-US"/>
              <a:t>TD -&gt; SMA -&gt; SMEW reports: verdict, checks, JUnit and archived run artifacts.</a:t>
            </a:r>
          </a:p>
          <a:p>
            <a:r>
              <a:rPr lang="en-US"/>
              <a:t>Saved reports -&gt; SMEW Marimo notebook: compare and visualize completed runs.</a:t>
            </a:r>
          </a:p>
          <a:p>
            <a:r>
              <a:rPr lang="en-US"/>
              <a:t>Marimo does not start the campaign or re-run the cryptographic verification.</a:t>
            </a:r>
          </a:p>
          <a:p/>
          <a:p>
            <a:r>
              <a:rPr lang="en-US"/>
              <a:t>INTERPRETATION LIMITS</a:t>
            </a:r>
          </a:p>
          <a:p>
            <a:r>
              <a:rPr lang="en-US"/>
              <a:t>A successful subprocess exit alone is not a passed system evaluation. TD supplies</a:t>
            </a:r>
          </a:p>
          <a:p>
            <a:r>
              <a:rPr lang="en-US"/>
              <a:t>semantic verdicts and evidence; SMEW also requires a successful measurement run</a:t>
            </a:r>
          </a:p>
          <a:p>
            <a:r>
              <a:rPr lang="en-US"/>
              <a:t>and a valid report. Configured assertions determine the claim supported by a run.</a:t>
            </a:r>
          </a:p>
          <a:p>
            <a:r>
              <a:rPr lang="en-US"/>
              <a:t>SMA's name does not imply energy measurement: this integration uses exported</a:t>
            </a:r>
          </a:p>
          <a:p>
            <a:r>
              <a:rPr lang="en-US"/>
              <a:t>Prometheus metrics (including training progress and gas use), not measured Joules.</a:t>
            </a:r>
          </a:p>
          <a:p>
            <a:r>
              <a:rPr lang="en-US"/>
              <a:t>The diagrams simplify internal VITA services and do not represent every API call.</a:t>
            </a:r>
          </a:p>
          <a:p>
            <a:r>
              <a:rPr lang="en-US"/>
              <a:t>Nested evaluation scopes in variant B are a logical hierarchy: SMEW is not one</a:t>
            </a:r>
          </a:p>
          <a:p>
            <a:r>
              <a:rPr lang="en-US"/>
              <a:t>OS process containing the other programs, and VITA is a separate deployed system.</a:t>
            </a:r>
          </a:p>
          <a:p>
            <a:r>
              <a:rPr lang="en-US"/>
              <a:t>Solid neutral arrows mean launch/control, blue arrows mean evidence/report return,</a:t>
            </a:r>
          </a:p>
          <a:p>
            <a:r>
              <a:rPr lang="en-US"/>
              <a:t>and dashed purple arrows mean retrieval of time series. In A, reverse arrows</a:t>
            </a:r>
          </a:p>
          <a:p>
            <a:r>
              <a:rPr lang="en-US"/>
              <a:t>summarize the result/evidence return at each boundary, not one identical payload.</a:t>
            </a:r>
          </a:p>
          <a:p/>
          <a:p>
            <a:r>
              <a:rPr lang="en-US"/>
              <a:t>SOURCE MAP (workspace-relative):</a:t>
            </a:r>
          </a:p>
          <a:p>
            <a:r>
              <a:rPr lang="en-US"/>
              <a:t>SMEW/README.md</a:t>
            </a:r>
          </a:p>
          <a:p>
            <a:r>
              <a:rPr lang="en-US"/>
              <a:t>SMEW/smew/daemon.py</a:t>
            </a:r>
          </a:p>
          <a:p>
            <a:r>
              <a:rPr lang="en-US"/>
              <a:t>SMEW/smew/runner.py</a:t>
            </a:r>
          </a:p>
          <a:p>
            <a:r>
              <a:rPr lang="en-US"/>
              <a:t>SMEW/smew/analysis/vita_fl.py</a:t>
            </a:r>
          </a:p>
          <a:p>
            <a:r>
              <a:rPr lang="en-US"/>
              <a:t>SMEW/reporting.py</a:t>
            </a:r>
          </a:p>
          <a:p>
            <a:r>
              <a:rPr lang="en-US"/>
              <a:t>sustainability-measurement-agent/sma/sma.py</a:t>
            </a:r>
          </a:p>
          <a:p>
            <a:r>
              <a:rPr lang="en-US"/>
              <a:t>vita-fl-td/README.md</a:t>
            </a:r>
          </a:p>
          <a:p>
            <a:r>
              <a:rPr lang="en-US"/>
              <a:t>vita-fl-td/src/vita_fl_td/cli.py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vita-fl-td/src/vita_fl_td/transparency_audit.py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Four tools, four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HOW THE TOOLS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valuation stack: Each component answers a different question in the evaluation."/>
          <p:cNvSpPr txBox="1"/>
          <p:nvPr/>
        </p:nvSpPr>
        <p:spPr>
          <a:xfrm>
            <a:off x="630936" y="1389888"/>
            <a:ext cx="10927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Each component answers a different question in the evaluation.</a:t>
            </a:r>
          </a:p>
        </p:txBody>
      </p:sp>
      <p:sp>
        <p:nvSpPr>
          <p:cNvPr id="14" name="Evaluation stack: COMPONENT"/>
          <p:cNvSpPr txBox="1"/>
          <p:nvPr/>
        </p:nvSpPr>
        <p:spPr>
          <a:xfrm>
            <a:off x="832104" y="1975104"/>
            <a:ext cx="21488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COMPONENT</a:t>
            </a:r>
          </a:p>
        </p:txBody>
      </p:sp>
      <p:sp>
        <p:nvSpPr>
          <p:cNvPr id="15" name="Evaluation stack: EVALUATION QUESTION"/>
          <p:cNvSpPr txBox="1"/>
          <p:nvPr/>
        </p:nvSpPr>
        <p:spPr>
          <a:xfrm>
            <a:off x="3227832" y="1975104"/>
            <a:ext cx="42062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EVALUATION QUESTION</a:t>
            </a:r>
          </a:p>
        </p:txBody>
      </p:sp>
      <p:sp>
        <p:nvSpPr>
          <p:cNvPr id="16" name="Evaluation stack: CONTRIBUTION"/>
          <p:cNvSpPr txBox="1"/>
          <p:nvPr/>
        </p:nvSpPr>
        <p:spPr>
          <a:xfrm>
            <a:off x="7662672" y="1975104"/>
            <a:ext cx="36576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CONTRIBUTION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377440"/>
            <a:ext cx="10908792" cy="603504"/>
          </a:xfrm>
          <a:prstGeom prst="rect">
            <a:avLst/>
          </a:prstGeom>
          <a:solidFill>
            <a:srgbClr val="F2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valuation stack: SMEW"/>
          <p:cNvSpPr txBox="1"/>
          <p:nvPr/>
        </p:nvSpPr>
        <p:spPr>
          <a:xfrm>
            <a:off x="832104" y="2450592"/>
            <a:ext cx="21488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263440"/>
                </a:solidFill>
                <a:latin typeface="Arial"/>
              </a:rPr>
              <a:t>SMEW</a:t>
            </a:r>
          </a:p>
        </p:txBody>
      </p:sp>
      <p:sp>
        <p:nvSpPr>
          <p:cNvPr id="19" name="Evaluation stack: What should run, and how often?"/>
          <p:cNvSpPr txBox="1"/>
          <p:nvPr/>
        </p:nvSpPr>
        <p:spPr>
          <a:xfrm>
            <a:off x="3227832" y="2423160"/>
            <a:ext cx="41788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lang="en-US">
                <a:solidFill>
                  <a:srgbClr val="263440"/>
                </a:solidFill>
                <a:latin typeface="Arial"/>
              </a:rPr>
              <a:t>What should run, and how often?</a:t>
            </a:r>
          </a:p>
        </p:txBody>
      </p:sp>
      <p:sp>
        <p:nvSpPr>
          <p:cNvPr id="20" name="Evaluation stack: Campaigns &amp; run status"/>
          <p:cNvSpPr txBox="1"/>
          <p:nvPr/>
        </p:nvSpPr>
        <p:spPr>
          <a:xfrm>
            <a:off x="7662672" y="2423160"/>
            <a:ext cx="3630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Campaigns &amp; run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26664"/>
            <a:ext cx="10908792" cy="6035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valuation stack: SMA"/>
          <p:cNvSpPr txBox="1"/>
          <p:nvPr/>
        </p:nvSpPr>
        <p:spPr>
          <a:xfrm>
            <a:off x="832104" y="3099816"/>
            <a:ext cx="21488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263440"/>
                </a:solidFill>
                <a:latin typeface="Arial"/>
              </a:rPr>
              <a:t>SMA</a:t>
            </a:r>
          </a:p>
        </p:txBody>
      </p:sp>
      <p:sp>
        <p:nvSpPr>
          <p:cNvPr id="23" name="Evaluation stack: What happened during the run?"/>
          <p:cNvSpPr txBox="1"/>
          <p:nvPr/>
        </p:nvSpPr>
        <p:spPr>
          <a:xfrm>
            <a:off x="3227832" y="3072384"/>
            <a:ext cx="41788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lang="en-US">
                <a:solidFill>
                  <a:srgbClr val="263440"/>
                </a:solidFill>
                <a:latin typeface="Arial"/>
              </a:rPr>
              <a:t>What happened during the run?</a:t>
            </a:r>
          </a:p>
        </p:txBody>
      </p:sp>
      <p:sp>
        <p:nvSpPr>
          <p:cNvPr id="24" name="Evaluation stack: Process &amp; measurement report"/>
          <p:cNvSpPr txBox="1"/>
          <p:nvPr/>
        </p:nvSpPr>
        <p:spPr>
          <a:xfrm>
            <a:off x="7662672" y="3072384"/>
            <a:ext cx="3630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Process &amp; measurement report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75887"/>
            <a:ext cx="10908792" cy="603504"/>
          </a:xfrm>
          <a:prstGeom prst="rect">
            <a:avLst/>
          </a:prstGeom>
          <a:solidFill>
            <a:srgbClr val="ED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valuation stack: vita-fl-td"/>
          <p:cNvSpPr txBox="1"/>
          <p:nvPr/>
        </p:nvSpPr>
        <p:spPr>
          <a:xfrm>
            <a:off x="832104" y="3749039"/>
            <a:ext cx="21488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1764A1"/>
                </a:solidFill>
                <a:latin typeface="Arial"/>
              </a:rPr>
              <a:t>vita-fl-td</a:t>
            </a:r>
          </a:p>
        </p:txBody>
      </p:sp>
      <p:sp>
        <p:nvSpPr>
          <p:cNvPr id="27" name="Evaluation stack: Did the expected behavior occur?"/>
          <p:cNvSpPr txBox="1"/>
          <p:nvPr/>
        </p:nvSpPr>
        <p:spPr>
          <a:xfrm>
            <a:off x="3227832" y="3721607"/>
            <a:ext cx="41788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lang="en-US">
                <a:solidFill>
                  <a:srgbClr val="263440"/>
                </a:solidFill>
                <a:latin typeface="Arial"/>
              </a:rPr>
              <a:t>Did the expected behavior occur?</a:t>
            </a:r>
          </a:p>
        </p:txBody>
      </p:sp>
      <p:sp>
        <p:nvSpPr>
          <p:cNvPr id="28" name="Evaluation stack: Assertions &amp; verified evidence"/>
          <p:cNvSpPr txBox="1"/>
          <p:nvPr/>
        </p:nvSpPr>
        <p:spPr>
          <a:xfrm>
            <a:off x="7662672" y="3721607"/>
            <a:ext cx="3630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Assertions &amp; verified evidence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25112"/>
            <a:ext cx="10908792" cy="6035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valuation stack: VITA-FL"/>
          <p:cNvSpPr txBox="1"/>
          <p:nvPr/>
        </p:nvSpPr>
        <p:spPr>
          <a:xfrm>
            <a:off x="832104" y="4398264"/>
            <a:ext cx="21488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263440"/>
                </a:solidFill>
                <a:latin typeface="Arial"/>
              </a:rPr>
              <a:t>VITA-FL</a:t>
            </a:r>
          </a:p>
        </p:txBody>
      </p:sp>
      <p:sp>
        <p:nvSpPr>
          <p:cNvPr id="31" name="Evaluation stack: What does the deployed system do?"/>
          <p:cNvSpPr txBox="1"/>
          <p:nvPr/>
        </p:nvSpPr>
        <p:spPr>
          <a:xfrm>
            <a:off x="3227832" y="4370832"/>
            <a:ext cx="41788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lang="en-US">
                <a:solidFill>
                  <a:srgbClr val="263440"/>
                </a:solidFill>
                <a:latin typeface="Arial"/>
              </a:rPr>
              <a:t>What does the deployed system do?</a:t>
            </a:r>
          </a:p>
        </p:txBody>
      </p:sp>
      <p:sp>
        <p:nvSpPr>
          <p:cNvPr id="32" name="Evaluation stack: Models, events &amp; receipts"/>
          <p:cNvSpPr txBox="1"/>
          <p:nvPr/>
        </p:nvSpPr>
        <p:spPr>
          <a:xfrm>
            <a:off x="7662672" y="4370832"/>
            <a:ext cx="3630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Models, events &amp; receipts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148072"/>
            <a:ext cx="10908792" cy="4572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valuation stack: Together in Marimo: scenario outcomes + measurements + evidence"/>
          <p:cNvSpPr txBox="1"/>
          <p:nvPr/>
        </p:nvSpPr>
        <p:spPr>
          <a:xfrm>
            <a:off x="841248" y="5202936"/>
            <a:ext cx="1050645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Together in Marimo: scenario outcomes + measurements +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