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 AND SCOPE</a:t>
            </a:r>
          </a:p>
          <a:p>
            <a:r>
              <a:rPr lang="en-US"/>
              <a:t>Meta-level architecture of the current evaluation workflow, checked against local</a:t>
            </a:r>
          </a:p>
          <a:p>
            <a:r>
              <a:rPr lang="en-US"/>
              <a:t>implementation on 27 September 2026. This slide describes responsibilities and</a:t>
            </a:r>
          </a:p>
          <a:p>
            <a:r>
              <a:rPr lang="en-US"/>
              <a:t>execution boundaries, not the outcome of a new run or a measured success rate.</a:t>
            </a:r>
          </a:p>
          <a:p>
            <a:r>
              <a:rPr lang="en-US"/>
              <a:t>English matches the existing presentation. These are alternatives for selection;</a:t>
            </a:r>
          </a:p>
          <a:p>
            <a:r>
              <a:rPr lang="en-US"/>
              <a:t>the main deck and its historical evaluation record are unchanged.</a:t>
            </a:r>
          </a:p>
          <a:p/>
          <a:p>
            <a:r>
              <a:rPr lang="en-US"/>
              <a:t>COMPONENT ROLES</a:t>
            </a:r>
          </a:p>
          <a:p>
            <a:r>
              <a:rPr lang="en-US"/>
              <a:t>SMEW (Sustainability Measurement Experiment Workflow) defines campaign matrices</a:t>
            </a:r>
          </a:p>
          <a:p>
            <a:r>
              <a:rPr lang="en-US"/>
              <a:t>and repetitions, distributes runs to daemons, supervises the measurement process,</a:t>
            </a:r>
          </a:p>
          <a:p>
            <a:r>
              <a:rPr lang="en-US"/>
              <a:t>collects reports and validates completeness and overall status. The orchestrator</a:t>
            </a:r>
          </a:p>
          <a:p>
            <a:r>
              <a:rPr lang="en-US"/>
              <a:t>can be hosted separately from the daemon. Diagrams group both under SMEW.</a:t>
            </a:r>
          </a:p>
          <a:p>
            <a:r>
              <a:rPr lang="en-US"/>
              <a:t>SMA (Sustainability Measurement Agent) starts vita-fl-td as a local subprocess,</a:t>
            </a:r>
          </a:p>
          <a:p>
            <a:r>
              <a:rPr lang="en-US"/>
              <a:t>records a measurement window with configured pre/post time, collects process</a:t>
            </a:r>
          </a:p>
          <a:p>
            <a:r>
              <a:rPr lang="en-US"/>
              <a:t>metadata and result files, and fetches Prometheus range-query data for that window</a:t>
            </a:r>
          </a:p>
          <a:p>
            <a:r>
              <a:rPr lang="en-US"/>
              <a:t>after execution. Prometheus performs the continuous scrape; SMA is not a sensor.</a:t>
            </a:r>
          </a:p>
          <a:p>
            <a:r>
              <a:rPr lang="en-US"/>
              <a:t>vita-fl-td drives the deployed system through its real control API, chain RPC and</a:t>
            </a:r>
          </a:p>
          <a:p>
            <a:r>
              <a:rPr lang="en-US"/>
              <a:t>cloud-agent endpoints; selected fault scenarios also use the Phala API. It checks</a:t>
            </a:r>
          </a:p>
          <a:p>
            <a:r>
              <a:rPr lang="en-US"/>
              <a:t>scenario-specific assertions, on-chain events and published evidence. When audit</a:t>
            </a:r>
          </a:p>
          <a:p>
            <a:r>
              <a:rPr lang="en-US"/>
              <a:t>is enabled, it re-verifies SCITT, AIR/TDX and Sello evidence from the transparency</a:t>
            </a:r>
          </a:p>
          <a:p>
            <a:r>
              <a:rPr lang="en-US"/>
              <a:t>log. It reuses production verifier primitives and obtains fresh Phala quote</a:t>
            </a:r>
          </a:p>
          <a:p>
            <a:r>
              <a:rPr lang="en-US"/>
              <a:t>appraisals; it does not implement an independent Intel DCAP verifier.</a:t>
            </a:r>
          </a:p>
          <a:p>
            <a:r>
              <a:rPr lang="en-US"/>
              <a:t>VITA-FL is the deployed system under test: distributed training and aggregation,</a:t>
            </a:r>
          </a:p>
          <a:p>
            <a:r>
              <a:rPr lang="en-US"/>
              <a:t>agent tools, attested inference, contracts, storage, transparency log and metrics.</a:t>
            </a:r>
          </a:p>
          <a:p>
            <a:r>
              <a:rPr lang="en-US"/>
              <a:t>The test driver controls a predeployed system; it does not deploy the cloud stack.</a:t>
            </a:r>
          </a:p>
          <a:p/>
          <a:p>
            <a:r>
              <a:rPr lang="en-US"/>
              <a:t>EXECUTION AND DATA FLOWS</a:t>
            </a:r>
          </a:p>
          <a:p>
            <a:r>
              <a:rPr lang="en-US"/>
              <a:t>In the evaluated Phala setup, SMEW daemon, SMA and the test driver execute on the</a:t>
            </a:r>
          </a:p>
          <a:p>
            <a:r>
              <a:rPr lang="en-US"/>
              <a:t>experiment host; VITA-FL and its Prometheus monitoring execute in Phala. Other</a:t>
            </a:r>
          </a:p>
          <a:p>
            <a:r>
              <a:rPr lang="en-US"/>
              <a:t>Docker profiles and a separately hosted SMEW orchestrator are possible.</a:t>
            </a:r>
          </a:p>
          <a:p>
            <a:r>
              <a:rPr lang="en-US"/>
              <a:t>SMEW daemon -&gt; SMA: launch and supervise a parameterized run.</a:t>
            </a:r>
          </a:p>
          <a:p>
            <a:r>
              <a:rPr lang="en-US"/>
              <a:t>SMA -&gt; TD: start a subprocess scenario and await its completion.</a:t>
            </a:r>
          </a:p>
          <a:p>
            <a:r>
              <a:rPr lang="en-US"/>
              <a:t>TD -&gt; VITA-FL: API/RPC control and configured fault injection.</a:t>
            </a:r>
          </a:p>
          <a:p>
            <a:r>
              <a:rPr lang="en-US"/>
              <a:t>VITA-FL -&gt; TD: state, events and published evidence for assertions.</a:t>
            </a:r>
          </a:p>
          <a:p>
            <a:r>
              <a:rPr lang="en-US"/>
              <a:t>VITA-FL -&gt; Prometheus: exported progress, operating and gas metrics.</a:t>
            </a:r>
          </a:p>
          <a:p>
            <a:r>
              <a:rPr lang="en-US"/>
              <a:t>Prometheus -&gt; SMA: time series queried for the recorded run window.</a:t>
            </a:r>
          </a:p>
          <a:p>
            <a:r>
              <a:rPr lang="en-US"/>
              <a:t>TD -&gt; SMA -&gt; SMEW reports: verdict, checks, JUnit and archived run artifacts.</a:t>
            </a:r>
          </a:p>
          <a:p>
            <a:r>
              <a:rPr lang="en-US"/>
              <a:t>Saved reports -&gt; SMEW Marimo notebook: compare and visualize completed runs.</a:t>
            </a:r>
          </a:p>
          <a:p>
            <a:r>
              <a:rPr lang="en-US"/>
              <a:t>Marimo does not start the campaign or re-run the cryptographic verification.</a:t>
            </a:r>
          </a:p>
          <a:p/>
          <a:p>
            <a:r>
              <a:rPr lang="en-US"/>
              <a:t>INTERPRETATION LIMITS</a:t>
            </a:r>
          </a:p>
          <a:p>
            <a:r>
              <a:rPr lang="en-US"/>
              <a:t>A successful subprocess exit alone is not a passed system evaluation. TD supplies</a:t>
            </a:r>
          </a:p>
          <a:p>
            <a:r>
              <a:rPr lang="en-US"/>
              <a:t>semantic verdicts and evidence; SMEW also requires a successful measurement run</a:t>
            </a:r>
          </a:p>
          <a:p>
            <a:r>
              <a:rPr lang="en-US"/>
              <a:t>and a valid report. Configured assertions determine the claim supported by a run.</a:t>
            </a:r>
          </a:p>
          <a:p>
            <a:r>
              <a:rPr lang="en-US"/>
              <a:t>SMA's name does not imply energy measurement: this integration uses exported</a:t>
            </a:r>
          </a:p>
          <a:p>
            <a:r>
              <a:rPr lang="en-US"/>
              <a:t>Prometheus metrics (including training progress and gas use), not measured Joules.</a:t>
            </a:r>
          </a:p>
          <a:p>
            <a:r>
              <a:rPr lang="en-US"/>
              <a:t>The diagrams simplify internal VITA services and do not represent every API call.</a:t>
            </a:r>
          </a:p>
          <a:p>
            <a:r>
              <a:rPr lang="en-US"/>
              <a:t>Nested evaluation scopes in variant B are a logical hierarchy: SMEW is not one</a:t>
            </a:r>
          </a:p>
          <a:p>
            <a:r>
              <a:rPr lang="en-US"/>
              <a:t>OS process containing the other programs, and VITA is a separate deployed system.</a:t>
            </a:r>
          </a:p>
          <a:p>
            <a:r>
              <a:rPr lang="en-US"/>
              <a:t>Solid neutral arrows mean launch/control, blue arrows mean evidence/report return,</a:t>
            </a:r>
          </a:p>
          <a:p>
            <a:r>
              <a:rPr lang="en-US"/>
              <a:t>and dashed purple arrows mean retrieval of time series. In A, reverse arrows</a:t>
            </a:r>
          </a:p>
          <a:p>
            <a:r>
              <a:rPr lang="en-US"/>
              <a:t>summarize the result/evidence return at each boundary, not one identical payload.</a:t>
            </a:r>
          </a:p>
          <a:p/>
          <a:p>
            <a:r>
              <a:rPr lang="en-US"/>
              <a:t>SOURCE MAP (workspace-relative):</a:t>
            </a:r>
          </a:p>
          <a:p>
            <a:r>
              <a:rPr lang="en-US"/>
              <a:t>SMEW/README.md</a:t>
            </a:r>
          </a:p>
          <a:p>
            <a:r>
              <a:rPr lang="en-US"/>
              <a:t>SMEW/smew/daemon.py</a:t>
            </a:r>
          </a:p>
          <a:p>
            <a:r>
              <a:rPr lang="en-US"/>
              <a:t>SMEW/smew/runner.py</a:t>
            </a:r>
          </a:p>
          <a:p>
            <a:r>
              <a:rPr lang="en-US"/>
              <a:t>SMEW/smew/analysis/vita_fl.py</a:t>
            </a:r>
          </a:p>
          <a:p>
            <a:r>
              <a:rPr lang="en-US"/>
              <a:t>SMEW/reporting.py</a:t>
            </a:r>
          </a:p>
          <a:p>
            <a:r>
              <a:rPr lang="en-US"/>
              <a:t>sustainability-measurement-agent/sma/sma.py</a:t>
            </a:r>
          </a:p>
          <a:p>
            <a:r>
              <a:rPr lang="en-US"/>
              <a:t>vita-fl-td/README.md</a:t>
            </a:r>
          </a:p>
          <a:p>
            <a:r>
              <a:rPr lang="en-US"/>
              <a:t>vita-fl-td/src/vita_fl_td/cli.py</a:t>
            </a:r>
          </a:p>
          <a:p>
            <a:r>
              <a:rPr lang="en-US"/>
              <a:t>vita-fl-td/src/vita_fl_td/runner.py</a:t>
            </a:r>
          </a:p>
          <a:p>
            <a:r>
              <a:rPr lang="en-US"/>
              <a:t>vita-fl-td/src/vita_fl_td/transparency_audit.py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Local evaluation, deployed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EVALUATION · HOW THE TOOLS WORK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Evaluation stack: The test driver stays outside VITA-FL and checks its observable behavior."/>
          <p:cNvSpPr txBox="1"/>
          <p:nvPr/>
        </p:nvSpPr>
        <p:spPr>
          <a:xfrm>
            <a:off x="630936" y="1389888"/>
            <a:ext cx="10927080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lang="en-US">
                <a:solidFill>
                  <a:srgbClr val="263440"/>
                </a:solidFill>
                <a:latin typeface="Arial"/>
              </a:rPr>
              <a:t>The test driver stays outside VITA-FL and checks its observable behavior.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084831"/>
            <a:ext cx="6665976" cy="3255264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99831" y="2084831"/>
            <a:ext cx="3749039" cy="325526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valuation stack: EXPERIMENT HOST"/>
          <p:cNvSpPr txBox="1"/>
          <p:nvPr/>
        </p:nvSpPr>
        <p:spPr>
          <a:xfrm>
            <a:off x="868680" y="2212848"/>
            <a:ext cx="61722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EXPERIMENT HOST</a:t>
            </a:r>
          </a:p>
        </p:txBody>
      </p:sp>
      <p:sp>
        <p:nvSpPr>
          <p:cNvPr id="17" name="Evaluation stack: PHALA DEPLOYMENT"/>
          <p:cNvSpPr txBox="1"/>
          <p:nvPr/>
        </p:nvSpPr>
        <p:spPr>
          <a:xfrm>
            <a:off x="8037575" y="2212848"/>
            <a:ext cx="325526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lang="en-US">
                <a:solidFill>
                  <a:srgbClr val="65737D"/>
                </a:solidFill>
                <a:latin typeface="Arial"/>
              </a:rPr>
              <a:t>PHALA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706624"/>
            <a:ext cx="167335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63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valuation stack: SMEW"/>
          <p:cNvSpPr txBox="1"/>
          <p:nvPr/>
        </p:nvSpPr>
        <p:spPr>
          <a:xfrm>
            <a:off x="978407" y="2816352"/>
            <a:ext cx="1453896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263440"/>
                </a:solidFill>
                <a:latin typeface="Arial"/>
              </a:rPr>
              <a:t>SMEW</a:t>
            </a:r>
          </a:p>
        </p:txBody>
      </p:sp>
      <p:sp>
        <p:nvSpPr>
          <p:cNvPr id="20" name="Evaluation stack: Campaigns"/>
          <p:cNvSpPr txBox="1"/>
          <p:nvPr/>
        </p:nvSpPr>
        <p:spPr>
          <a:xfrm>
            <a:off x="950976" y="3236976"/>
            <a:ext cx="150876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2706624"/>
            <a:ext cx="1645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valuation stack: SMA"/>
          <p:cNvSpPr txBox="1"/>
          <p:nvPr/>
        </p:nvSpPr>
        <p:spPr>
          <a:xfrm>
            <a:off x="2990088" y="2816352"/>
            <a:ext cx="142646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7446A6"/>
                </a:solidFill>
                <a:latin typeface="Arial"/>
              </a:rPr>
              <a:t>SMA</a:t>
            </a:r>
          </a:p>
        </p:txBody>
      </p:sp>
      <p:sp>
        <p:nvSpPr>
          <p:cNvPr id="23" name="Evaluation stack: Measured run"/>
          <p:cNvSpPr txBox="1"/>
          <p:nvPr/>
        </p:nvSpPr>
        <p:spPr>
          <a:xfrm>
            <a:off x="2962656" y="3236976"/>
            <a:ext cx="148132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Measured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64608" y="2706624"/>
            <a:ext cx="221284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valuation stack: vita-fl-td"/>
          <p:cNvSpPr txBox="1"/>
          <p:nvPr/>
        </p:nvSpPr>
        <p:spPr>
          <a:xfrm>
            <a:off x="4974336" y="2816352"/>
            <a:ext cx="1993391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900" b="1" lang="en-US">
                <a:solidFill>
                  <a:srgbClr val="1764A1"/>
                </a:solidFill>
                <a:latin typeface="Arial"/>
              </a:rPr>
              <a:t>vita-fl-td</a:t>
            </a:r>
          </a:p>
        </p:txBody>
      </p:sp>
      <p:sp>
        <p:nvSpPr>
          <p:cNvPr id="26" name="Evaluation stack: Assertions"/>
          <p:cNvSpPr txBox="1"/>
          <p:nvPr/>
        </p:nvSpPr>
        <p:spPr>
          <a:xfrm>
            <a:off x="4946904" y="3236976"/>
            <a:ext cx="2048255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 lang="en-US">
                <a:solidFill>
                  <a:srgbClr val="65737D"/>
                </a:solidFill>
                <a:latin typeface="Arial"/>
              </a:rPr>
              <a:t>Assertions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78608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62856" y="3108960"/>
            <a:ext cx="26517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84464" y="2706624"/>
            <a:ext cx="2880360" cy="1216152"/>
          </a:xfrm>
          <a:prstGeom prst="roundRect">
            <a:avLst/>
          </a:prstGeom>
          <a:solidFill>
            <a:srgbClr val="F2F5F7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valuation stack: VITA-FL"/>
          <p:cNvSpPr txBox="1"/>
          <p:nvPr/>
        </p:nvSpPr>
        <p:spPr>
          <a:xfrm>
            <a:off x="8458200" y="2834640"/>
            <a:ext cx="25328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lang="en-US">
                <a:solidFill>
                  <a:srgbClr val="263440"/>
                </a:solidFill>
                <a:latin typeface="Arial"/>
              </a:rPr>
              <a:t>VITA-FL</a:t>
            </a:r>
          </a:p>
        </p:txBody>
      </p:sp>
      <p:sp>
        <p:nvSpPr>
          <p:cNvPr id="31" name="Evaluation stack: Training · inference / contracts · evidence"/>
          <p:cNvSpPr txBox="1"/>
          <p:nvPr/>
        </p:nvSpPr>
        <p:spPr>
          <a:xfrm>
            <a:off x="8458200" y="3300984"/>
            <a:ext cx="253288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lang="en-US">
                <a:solidFill>
                  <a:srgbClr val="263440"/>
                </a:solidFill>
                <a:latin typeface="Arial"/>
              </a:rPr>
              <a:t>Training · inference
contracts ·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14032" y="2953512"/>
            <a:ext cx="1133856" cy="0"/>
          </a:xfrm>
          <a:prstGeom prst="line">
            <a:avLst/>
          </a:prstGeom>
          <a:ln w="22860">
            <a:solidFill>
              <a:srgbClr val="2634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Evaluation stack: API / RPC"/>
          <p:cNvSpPr txBox="1"/>
          <p:nvPr/>
        </p:nvSpPr>
        <p:spPr>
          <a:xfrm>
            <a:off x="7223760" y="2660904"/>
            <a:ext cx="9784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263440"/>
                </a:solidFill>
                <a:latin typeface="Arial"/>
              </a:rPr>
              <a:t>API / RPC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114032" y="3456432"/>
            <a:ext cx="1133856" cy="0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Evaluation stack: Evidence"/>
          <p:cNvSpPr txBox="1"/>
          <p:nvPr/>
        </p:nvSpPr>
        <p:spPr>
          <a:xfrm>
            <a:off x="7251192" y="3502152"/>
            <a:ext cx="95097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0" lang="en-US">
                <a:solidFill>
                  <a:srgbClr val="1764A1"/>
                </a:solidFill>
                <a:latin typeface="Arial"/>
              </a:rPr>
              <a:t>Evidence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4315968"/>
            <a:ext cx="2880360" cy="694944"/>
          </a:xfrm>
          <a:prstGeom prst="roundRect">
            <a:avLst/>
          </a:prstGeom>
          <a:solidFill>
            <a:srgbClr val="F3EEF8"/>
          </a:solidFill>
          <a:ln w="12700">
            <a:solidFill>
              <a:srgbClr val="C8B9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valuation stack: Prometheus"/>
          <p:cNvSpPr txBox="1"/>
          <p:nvPr/>
        </p:nvSpPr>
        <p:spPr>
          <a:xfrm>
            <a:off x="8449056" y="4416552"/>
            <a:ext cx="25511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Prometheus</a:t>
            </a:r>
          </a:p>
        </p:txBody>
      </p:sp>
      <p:sp>
        <p:nvSpPr>
          <p:cNvPr id="38" name="Evaluation stack: Recorded system metrics"/>
          <p:cNvSpPr txBox="1"/>
          <p:nvPr/>
        </p:nvSpPr>
        <p:spPr>
          <a:xfrm>
            <a:off x="8449056" y="4745736"/>
            <a:ext cx="25511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lang="en-US">
                <a:solidFill>
                  <a:srgbClr val="7446A6"/>
                </a:solidFill>
                <a:latin typeface="Arial"/>
              </a:rPr>
              <a:t>Recorded system metrics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720072" y="3941063"/>
            <a:ext cx="0" cy="338329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3749039" y="4645152"/>
            <a:ext cx="4498849" cy="0"/>
          </a:xfrm>
          <a:prstGeom prst="line">
            <a:avLst/>
          </a:prstGeom>
          <a:ln w="22860">
            <a:solidFill>
              <a:srgbClr val="7446A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3749039" y="3657600"/>
            <a:ext cx="0" cy="987552"/>
          </a:xfrm>
          <a:prstGeom prst="line">
            <a:avLst/>
          </a:prstGeom>
          <a:ln w="22860">
            <a:solidFill>
              <a:srgbClr val="7446A6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Evaluation stack: Time series for run window"/>
          <p:cNvSpPr txBox="1"/>
          <p:nvPr/>
        </p:nvSpPr>
        <p:spPr>
          <a:xfrm>
            <a:off x="4178808" y="4261104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 lang="en-US">
                <a:solidFill>
                  <a:srgbClr val="7446A6"/>
                </a:solidFill>
                <a:latin typeface="Arial"/>
              </a:rPr>
              <a:t>Time series for run window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68680" y="4361688"/>
            <a:ext cx="2560320" cy="640080"/>
          </a:xfrm>
          <a:prstGeom prst="roundRect">
            <a:avLst/>
          </a:prstGeom>
          <a:solidFill>
            <a:srgbClr val="EDF4FA"/>
          </a:solidFill>
          <a:ln w="12700">
            <a:solidFill>
              <a:srgbClr val="DC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valuation stack: Reports + Marimo"/>
          <p:cNvSpPr txBox="1"/>
          <p:nvPr/>
        </p:nvSpPr>
        <p:spPr>
          <a:xfrm>
            <a:off x="1005840" y="4443984"/>
            <a:ext cx="2286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lang="en-US">
                <a:solidFill>
                  <a:srgbClr val="1764A1"/>
                </a:solidFill>
                <a:latin typeface="Arial"/>
              </a:rPr>
              <a:t>Reports + Marimo</a:t>
            </a:r>
          </a:p>
        </p:txBody>
      </p:sp>
      <p:sp>
        <p:nvSpPr>
          <p:cNvPr id="45" name="Evaluation stack: Compare saved runs"/>
          <p:cNvSpPr txBox="1"/>
          <p:nvPr/>
        </p:nvSpPr>
        <p:spPr>
          <a:xfrm>
            <a:off x="1005840" y="4764024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Compare saved runs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09928" y="3657600"/>
            <a:ext cx="0" cy="667512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246120" y="3657600"/>
            <a:ext cx="0" cy="329184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2496312" y="3986784"/>
            <a:ext cx="749808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496312" y="3986784"/>
            <a:ext cx="0" cy="33832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0176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4251960" y="3950208"/>
            <a:ext cx="1728216" cy="0"/>
          </a:xfrm>
          <a:prstGeom prst="line">
            <a:avLst/>
          </a:prstGeom>
          <a:ln w="22860">
            <a:solidFill>
              <a:srgbClr val="1764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251960" y="3657600"/>
            <a:ext cx="0" cy="292608"/>
          </a:xfrm>
          <a:prstGeom prst="line">
            <a:avLst/>
          </a:prstGeom>
          <a:ln w="2286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Evaluation stack: SMA retrieves the time series for its measurement window after the scenario ends."/>
          <p:cNvSpPr txBox="1"/>
          <p:nvPr/>
        </p:nvSpPr>
        <p:spPr>
          <a:xfrm>
            <a:off x="658368" y="5468112"/>
            <a:ext cx="108905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lang="en-US">
                <a:solidFill>
                  <a:srgbClr val="65737D"/>
                </a:solidFill>
                <a:latin typeface="Arial"/>
              </a:rPr>
              <a:t>SMA retrieves the time series for its measurement window after the scenario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