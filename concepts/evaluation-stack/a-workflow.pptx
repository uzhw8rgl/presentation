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A</a:t>
            </a:r>
          </a:p>
          <a:p/>
          <a:p>
            <a:r>
              <a:rPr lang="en-US"/>
              <a:t>PURPOSE AND SCOPE</a:t>
            </a:r>
          </a:p>
          <a:p>
            <a:r>
              <a:rPr lang="en-US"/>
              <a:t>Meta-level architecture of the current evaluation workflow, checked against local</a:t>
            </a:r>
          </a:p>
          <a:p>
            <a:r>
              <a:rPr lang="en-US"/>
              <a:t>implementation on 27 September 2026. This slide describes responsibilities and</a:t>
            </a:r>
          </a:p>
          <a:p>
            <a:r>
              <a:rPr lang="en-US"/>
              <a:t>execution boundaries, not the outcome of a new run or a measured success rate.</a:t>
            </a:r>
          </a:p>
          <a:p>
            <a:r>
              <a:rPr lang="en-US"/>
              <a:t>English matches the existing presentation. These are alternatives for selection;</a:t>
            </a:r>
          </a:p>
          <a:p>
            <a:r>
              <a:rPr lang="en-US"/>
              <a:t>the main deck and its historical evaluation record are unchanged.</a:t>
            </a:r>
          </a:p>
          <a:p/>
          <a:p>
            <a:r>
              <a:rPr lang="en-US"/>
              <a:t>COMPONENT ROLES</a:t>
            </a:r>
          </a:p>
          <a:p>
            <a:r>
              <a:rPr lang="en-US"/>
              <a:t>SMEW (Sustainability Measurement Experiment Workflow) defines campaign matrices</a:t>
            </a:r>
          </a:p>
          <a:p>
            <a:r>
              <a:rPr lang="en-US"/>
              <a:t>and repetitions, distributes runs to daemons, supervises the measurement process,</a:t>
            </a:r>
          </a:p>
          <a:p>
            <a:r>
              <a:rPr lang="en-US"/>
              <a:t>collects reports and validates completeness and overall status. The orchestrator</a:t>
            </a:r>
          </a:p>
          <a:p>
            <a:r>
              <a:rPr lang="en-US"/>
              <a:t>can be hosted separately from the daemon. Diagrams group both under SMEW.</a:t>
            </a:r>
          </a:p>
          <a:p>
            <a:r>
              <a:rPr lang="en-US"/>
              <a:t>SMA (Sustainability Measurement Agent) starts vita-fl-td as a local subprocess,</a:t>
            </a:r>
          </a:p>
          <a:p>
            <a:r>
              <a:rPr lang="en-US"/>
              <a:t>records a measurement window with configured pre/post time, collects process</a:t>
            </a:r>
          </a:p>
          <a:p>
            <a:r>
              <a:rPr lang="en-US"/>
              <a:t>metadata and result files, and fetches Prometheus range-query data for that window</a:t>
            </a:r>
          </a:p>
          <a:p>
            <a:r>
              <a:rPr lang="en-US"/>
              <a:t>after execution. Prometheus performs the continuous scrape; SMA is not a sensor.</a:t>
            </a:r>
          </a:p>
          <a:p>
            <a:r>
              <a:rPr lang="en-US"/>
              <a:t>vita-fl-td drives the deployed system through its real control API, chain RPC and</a:t>
            </a:r>
          </a:p>
          <a:p>
            <a:r>
              <a:rPr lang="en-US"/>
              <a:t>cloud-agent endpoints; selected fault scenarios also use the Phala API. It checks</a:t>
            </a:r>
          </a:p>
          <a:p>
            <a:r>
              <a:rPr lang="en-US"/>
              <a:t>scenario-specific assertions, on-chain events and published evidence. When audit</a:t>
            </a:r>
          </a:p>
          <a:p>
            <a:r>
              <a:rPr lang="en-US"/>
              <a:t>is enabled, it re-verifies SCITT, AIR/TDX and Sello evidence from the transparency</a:t>
            </a:r>
          </a:p>
          <a:p>
            <a:r>
              <a:rPr lang="en-US"/>
              <a:t>log. It reuses production verifier primitives and obtains fresh Phala quote</a:t>
            </a:r>
          </a:p>
          <a:p>
            <a:r>
              <a:rPr lang="en-US"/>
              <a:t>appraisals; it does not implement an independent Intel DCAP verifier.</a:t>
            </a:r>
          </a:p>
          <a:p>
            <a:r>
              <a:rPr lang="en-US"/>
              <a:t>VITA-FL is the deployed system under test: distributed training and aggregation,</a:t>
            </a:r>
          </a:p>
          <a:p>
            <a:r>
              <a:rPr lang="en-US"/>
              <a:t>agent tools, attested inference, contracts, storage, transparency log and metrics.</a:t>
            </a:r>
          </a:p>
          <a:p>
            <a:r>
              <a:rPr lang="en-US"/>
              <a:t>The test driver controls a predeployed system; it does not deploy the cloud stack.</a:t>
            </a:r>
          </a:p>
          <a:p/>
          <a:p>
            <a:r>
              <a:rPr lang="en-US"/>
              <a:t>EXECUTION AND DATA FLOWS</a:t>
            </a:r>
          </a:p>
          <a:p>
            <a:r>
              <a:rPr lang="en-US"/>
              <a:t>In the evaluated Phala setup, SMEW daemon, SMA and the test driver execute on the</a:t>
            </a:r>
          </a:p>
          <a:p>
            <a:r>
              <a:rPr lang="en-US"/>
              <a:t>experiment host; VITA-FL and its Prometheus monitoring execute in Phala. Other</a:t>
            </a:r>
          </a:p>
          <a:p>
            <a:r>
              <a:rPr lang="en-US"/>
              <a:t>Docker profiles and a separately hosted SMEW orchestrator are possible.</a:t>
            </a:r>
          </a:p>
          <a:p>
            <a:r>
              <a:rPr lang="en-US"/>
              <a:t>SMEW daemon -&gt; SMA: launch and supervise a parameterized run.</a:t>
            </a:r>
          </a:p>
          <a:p>
            <a:r>
              <a:rPr lang="en-US"/>
              <a:t>SMA -&gt; TD: start a subprocess scenario and await its completion.</a:t>
            </a:r>
          </a:p>
          <a:p>
            <a:r>
              <a:rPr lang="en-US"/>
              <a:t>TD -&gt; VITA-FL: API/RPC control and configured fault injection.</a:t>
            </a:r>
          </a:p>
          <a:p>
            <a:r>
              <a:rPr lang="en-US"/>
              <a:t>VITA-FL -&gt; TD: state, events and published evidence for assertions.</a:t>
            </a:r>
          </a:p>
          <a:p>
            <a:r>
              <a:rPr lang="en-US"/>
              <a:t>VITA-FL -&gt; Prometheus: exported progress, operating and gas metrics.</a:t>
            </a:r>
          </a:p>
          <a:p>
            <a:r>
              <a:rPr lang="en-US"/>
              <a:t>Prometheus -&gt; SMA: time series queried for the recorded run window.</a:t>
            </a:r>
          </a:p>
          <a:p>
            <a:r>
              <a:rPr lang="en-US"/>
              <a:t>TD -&gt; SMA -&gt; SMEW reports: verdict, checks, JUnit and archived run artifacts.</a:t>
            </a:r>
          </a:p>
          <a:p>
            <a:r>
              <a:rPr lang="en-US"/>
              <a:t>Saved reports -&gt; SMEW Marimo notebook: compare and visualize completed runs.</a:t>
            </a:r>
          </a:p>
          <a:p>
            <a:r>
              <a:rPr lang="en-US"/>
              <a:t>Marimo does not start the campaign or re-run the cryptographic verification.</a:t>
            </a:r>
          </a:p>
          <a:p/>
          <a:p>
            <a:r>
              <a:rPr lang="en-US"/>
              <a:t>INTERPRETATION LIMITS</a:t>
            </a:r>
          </a:p>
          <a:p>
            <a:r>
              <a:rPr lang="en-US"/>
              <a:t>A successful subprocess exit alone is not a passed system evaluation. TD supplies</a:t>
            </a:r>
          </a:p>
          <a:p>
            <a:r>
              <a:rPr lang="en-US"/>
              <a:t>semantic verdicts and evidence; SMEW also requires a successful measurement run</a:t>
            </a:r>
          </a:p>
          <a:p>
            <a:r>
              <a:rPr lang="en-US"/>
              <a:t>and a valid report. Configured assertions determine the claim supported by a run.</a:t>
            </a:r>
          </a:p>
          <a:p>
            <a:r>
              <a:rPr lang="en-US"/>
              <a:t>SMA's name does not imply energy measurement: this integration uses exported</a:t>
            </a:r>
          </a:p>
          <a:p>
            <a:r>
              <a:rPr lang="en-US"/>
              <a:t>Prometheus metrics (including training progress and gas use), not measured Joules.</a:t>
            </a:r>
          </a:p>
          <a:p>
            <a:r>
              <a:rPr lang="en-US"/>
              <a:t>The diagrams simplify internal VITA services and do not represent every API call.</a:t>
            </a:r>
          </a:p>
          <a:p>
            <a:r>
              <a:rPr lang="en-US"/>
              <a:t>Nested evaluation scopes in variant B are a logical hierarchy: SMEW is not one</a:t>
            </a:r>
          </a:p>
          <a:p>
            <a:r>
              <a:rPr lang="en-US"/>
              <a:t>OS process containing the other programs, and VITA is a separate deployed system.</a:t>
            </a:r>
          </a:p>
          <a:p>
            <a:r>
              <a:rPr lang="en-US"/>
              <a:t>Solid neutral arrows mean launch/control, blue arrows mean evidence/report return,</a:t>
            </a:r>
          </a:p>
          <a:p>
            <a:r>
              <a:rPr lang="en-US"/>
              <a:t>and dashed purple arrows mean retrieval of time series. In A, reverse arrows</a:t>
            </a:r>
          </a:p>
          <a:p>
            <a:r>
              <a:rPr lang="en-US"/>
              <a:t>summarize the result/evidence return at each boundary, not one identical payload.</a:t>
            </a:r>
          </a:p>
          <a:p/>
          <a:p>
            <a:r>
              <a:rPr lang="en-US"/>
              <a:t>SOURCE MAP (workspace-relative):</a:t>
            </a:r>
          </a:p>
          <a:p>
            <a:r>
              <a:rPr lang="en-US"/>
              <a:t>SMEW/README.md</a:t>
            </a:r>
          </a:p>
          <a:p>
            <a:r>
              <a:rPr lang="en-US"/>
              <a:t>SMEW/smew/daemon.py</a:t>
            </a:r>
          </a:p>
          <a:p>
            <a:r>
              <a:rPr lang="en-US"/>
              <a:t>SMEW/smew/runner.py</a:t>
            </a:r>
          </a:p>
          <a:p>
            <a:r>
              <a:rPr lang="en-US"/>
              <a:t>SMEW/smew/analysis/vita_fl.py</a:t>
            </a:r>
          </a:p>
          <a:p>
            <a:r>
              <a:rPr lang="en-US"/>
              <a:t>SMEW/reporting.py</a:t>
            </a:r>
          </a:p>
          <a:p>
            <a:r>
              <a:rPr lang="en-US"/>
              <a:t>sustainability-measurement-agent/sma/sma.py</a:t>
            </a:r>
          </a:p>
          <a:p>
            <a:r>
              <a:rPr lang="en-US"/>
              <a:t>vita-fl-td/README.md</a:t>
            </a:r>
          </a:p>
          <a:p>
            <a:r>
              <a:rPr lang="en-US"/>
              <a:t>vita-fl-td/src/vita_fl_td/cli.py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vita-fl-td/src/vita_fl_td/transparency_audit.py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From campaign to verified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HOW THE TOOLS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valuation stack: One workflow connects experiment planning, measurement and system checks."/>
          <p:cNvSpPr txBox="1"/>
          <p:nvPr/>
        </p:nvSpPr>
        <p:spPr>
          <a:xfrm>
            <a:off x="630936" y="1389888"/>
            <a:ext cx="10927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One workflow connects experiment planning, measurement and system checks.</a:t>
            </a:r>
          </a:p>
        </p:txBody>
      </p:sp>
      <p:sp>
        <p:nvSpPr>
          <p:cNvPr id="14" name="Evaluation stack: 01  PLAN"/>
          <p:cNvSpPr txBox="1"/>
          <p:nvPr/>
        </p:nvSpPr>
        <p:spPr>
          <a:xfrm>
            <a:off x="685800" y="202082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01 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95728"/>
            <a:ext cx="2432304" cy="134416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valuation stack: SMEW"/>
          <p:cNvSpPr txBox="1"/>
          <p:nvPr/>
        </p:nvSpPr>
        <p:spPr>
          <a:xfrm>
            <a:off x="795528" y="2532888"/>
            <a:ext cx="212140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263440"/>
                </a:solidFill>
                <a:latin typeface="Arial"/>
              </a:rPr>
              <a:t>SMEW</a:t>
            </a:r>
          </a:p>
        </p:txBody>
      </p:sp>
      <p:sp>
        <p:nvSpPr>
          <p:cNvPr id="17" name="Evaluation stack: Campaigns &amp; / repetitions"/>
          <p:cNvSpPr txBox="1"/>
          <p:nvPr/>
        </p:nvSpPr>
        <p:spPr>
          <a:xfrm>
            <a:off x="795528" y="3035808"/>
            <a:ext cx="21214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Campaigns &amp;
repetitions</a:t>
            </a:r>
          </a:p>
        </p:txBody>
      </p:sp>
      <p:sp>
        <p:nvSpPr>
          <p:cNvPr id="18" name="Evaluation stack: 02  MEASURE"/>
          <p:cNvSpPr txBox="1"/>
          <p:nvPr/>
        </p:nvSpPr>
        <p:spPr>
          <a:xfrm>
            <a:off x="3511296" y="202082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02  MEASURE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5576" y="2395728"/>
            <a:ext cx="2432304" cy="134416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valuation stack: SMA"/>
          <p:cNvSpPr txBox="1"/>
          <p:nvPr/>
        </p:nvSpPr>
        <p:spPr>
          <a:xfrm>
            <a:off x="3621024" y="2532888"/>
            <a:ext cx="212140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263440"/>
                </a:solidFill>
                <a:latin typeface="Arial"/>
              </a:rPr>
              <a:t>SMA</a:t>
            </a:r>
          </a:p>
        </p:txBody>
      </p:sp>
      <p:sp>
        <p:nvSpPr>
          <p:cNvPr id="21" name="Evaluation stack: Run process &amp; / collect metrics"/>
          <p:cNvSpPr txBox="1"/>
          <p:nvPr/>
        </p:nvSpPr>
        <p:spPr>
          <a:xfrm>
            <a:off x="3621024" y="3035808"/>
            <a:ext cx="21214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Run process &amp;
collect metrics</a:t>
            </a:r>
          </a:p>
        </p:txBody>
      </p:sp>
      <p:sp>
        <p:nvSpPr>
          <p:cNvPr id="22" name="Evaluation stack: 03  TEST"/>
          <p:cNvSpPr txBox="1"/>
          <p:nvPr/>
        </p:nvSpPr>
        <p:spPr>
          <a:xfrm>
            <a:off x="6336792" y="202082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03 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2395728"/>
            <a:ext cx="2432304" cy="1344168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valuation stack: vita-fl-td"/>
          <p:cNvSpPr txBox="1"/>
          <p:nvPr/>
        </p:nvSpPr>
        <p:spPr>
          <a:xfrm>
            <a:off x="6446520" y="2532888"/>
            <a:ext cx="212140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1764A1"/>
                </a:solidFill>
                <a:latin typeface="Arial"/>
              </a:rPr>
              <a:t>vita-fl-td</a:t>
            </a:r>
          </a:p>
        </p:txBody>
      </p:sp>
      <p:sp>
        <p:nvSpPr>
          <p:cNvPr id="25" name="Evaluation stack: Drive scenarios &amp; / verify evidence"/>
          <p:cNvSpPr txBox="1"/>
          <p:nvPr/>
        </p:nvSpPr>
        <p:spPr>
          <a:xfrm>
            <a:off x="6446520" y="3035808"/>
            <a:ext cx="21214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Drive scenarios &amp;
verify evidence</a:t>
            </a:r>
          </a:p>
        </p:txBody>
      </p:sp>
      <p:sp>
        <p:nvSpPr>
          <p:cNvPr id="26" name="Evaluation stack: 04  EXECUTE"/>
          <p:cNvSpPr txBox="1"/>
          <p:nvPr/>
        </p:nvSpPr>
        <p:spPr>
          <a:xfrm>
            <a:off x="9162288" y="202082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04  EXECUTE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16568" y="2395728"/>
            <a:ext cx="2432304" cy="134416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valuation stack: VITA-FL"/>
          <p:cNvSpPr txBox="1"/>
          <p:nvPr/>
        </p:nvSpPr>
        <p:spPr>
          <a:xfrm>
            <a:off x="9272016" y="2532888"/>
            <a:ext cx="212140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263440"/>
                </a:solidFill>
                <a:latin typeface="Arial"/>
              </a:rPr>
              <a:t>VITA-FL</a:t>
            </a:r>
          </a:p>
        </p:txBody>
      </p:sp>
      <p:sp>
        <p:nvSpPr>
          <p:cNvPr id="29" name="Evaluation stack: Train, aggregate &amp; / run inference"/>
          <p:cNvSpPr txBox="1"/>
          <p:nvPr/>
        </p:nvSpPr>
        <p:spPr>
          <a:xfrm>
            <a:off x="9272016" y="3035808"/>
            <a:ext cx="21214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Train, aggregate &amp;
run inference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90672" y="2834640"/>
            <a:ext cx="347472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090672" y="3483864"/>
            <a:ext cx="34747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16168" y="2834640"/>
            <a:ext cx="347472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916168" y="3483864"/>
            <a:ext cx="34747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741664" y="2834640"/>
            <a:ext cx="347472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741664" y="3483864"/>
            <a:ext cx="34747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332720" y="3758184"/>
            <a:ext cx="0" cy="484632"/>
          </a:xfrm>
          <a:prstGeom prst="line">
            <a:avLst/>
          </a:prstGeom>
          <a:ln w="22860">
            <a:solidFill>
              <a:srgbClr val="744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4681728" y="4242816"/>
            <a:ext cx="5650992" cy="0"/>
          </a:xfrm>
          <a:prstGeom prst="line">
            <a:avLst/>
          </a:prstGeom>
          <a:ln w="22860">
            <a:solidFill>
              <a:srgbClr val="744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681728" y="3758184"/>
            <a:ext cx="0" cy="484632"/>
          </a:xfrm>
          <a:prstGeom prst="line">
            <a:avLst/>
          </a:prstGeom>
          <a:ln w="22860">
            <a:solidFill>
              <a:srgbClr val="7446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Evaluation stack: Time series for the run window"/>
          <p:cNvSpPr txBox="1"/>
          <p:nvPr/>
        </p:nvSpPr>
        <p:spPr>
          <a:xfrm>
            <a:off x="5522976" y="3858768"/>
            <a:ext cx="41879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lang="en-US">
                <a:solidFill>
                  <a:srgbClr val="7446A6"/>
                </a:solidFill>
                <a:latin typeface="Arial"/>
              </a:rPr>
              <a:t>Time series for the run window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856231" y="3758184"/>
            <a:ext cx="0" cy="795528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40080" y="4590288"/>
            <a:ext cx="8037575" cy="704088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valuation stack: Collected report"/>
          <p:cNvSpPr txBox="1"/>
          <p:nvPr/>
        </p:nvSpPr>
        <p:spPr>
          <a:xfrm>
            <a:off x="832104" y="4690872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lang="en-US">
                <a:solidFill>
                  <a:srgbClr val="1764A1"/>
                </a:solidFill>
                <a:latin typeface="Arial"/>
              </a:rPr>
              <a:t>Collected report</a:t>
            </a:r>
          </a:p>
        </p:txBody>
      </p:sp>
      <p:sp>
        <p:nvSpPr>
          <p:cNvPr id="43" name="Evaluation stack: Verdicts + evidence + measurements"/>
          <p:cNvSpPr txBox="1"/>
          <p:nvPr/>
        </p:nvSpPr>
        <p:spPr>
          <a:xfrm>
            <a:off x="2999232" y="4690872"/>
            <a:ext cx="54406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lang="en-US">
                <a:solidFill>
                  <a:srgbClr val="263440"/>
                </a:solidFill>
                <a:latin typeface="Arial"/>
              </a:rPr>
              <a:t>Verdicts + evidence + measurements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714232" y="4937760"/>
            <a:ext cx="34747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116568" y="4590288"/>
            <a:ext cx="2432304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valuation stack: Marimo analysis"/>
          <p:cNvSpPr txBox="1"/>
          <p:nvPr/>
        </p:nvSpPr>
        <p:spPr>
          <a:xfrm>
            <a:off x="9253728" y="4736592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1764A1"/>
                </a:solidFill>
                <a:latin typeface="Arial"/>
              </a:rPr>
              <a:t>Marimo analysis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8368" y="5586984"/>
            <a:ext cx="329184" cy="0"/>
          </a:xfrm>
          <a:prstGeom prst="line">
            <a:avLst/>
          </a:prstGeom>
          <a:ln w="2032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Evaluation stack: Run control"/>
          <p:cNvSpPr txBox="1"/>
          <p:nvPr/>
        </p:nvSpPr>
        <p:spPr>
          <a:xfrm>
            <a:off x="1069848" y="546354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Run control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578608" y="5586984"/>
            <a:ext cx="329184" cy="0"/>
          </a:xfrm>
          <a:prstGeom prst="line">
            <a:avLst/>
          </a:prstGeom>
          <a:ln w="2032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valuation stack: Results / evidence"/>
          <p:cNvSpPr txBox="1"/>
          <p:nvPr/>
        </p:nvSpPr>
        <p:spPr>
          <a:xfrm>
            <a:off x="2990088" y="5463540"/>
            <a:ext cx="22585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Results / evidence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276088" y="5586984"/>
            <a:ext cx="329184" cy="0"/>
          </a:xfrm>
          <a:prstGeom prst="line">
            <a:avLst/>
          </a:prstGeom>
          <a:ln w="20320">
            <a:solidFill>
              <a:srgbClr val="7446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valuation stack: Metrics from Prometheus"/>
          <p:cNvSpPr txBox="1"/>
          <p:nvPr/>
        </p:nvSpPr>
        <p:spPr>
          <a:xfrm>
            <a:off x="5687568" y="5463540"/>
            <a:ext cx="31272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Metrics from Prometheus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