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D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From campaign to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One workflow connects experiment planning, measurement and system checks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One workflow connects experiment planning, measurement and system checks.</a:t>
            </a:r>
          </a:p>
        </p:txBody>
      </p:sp>
      <p:sp>
        <p:nvSpPr>
          <p:cNvPr id="14" name="Evaluation stack: 01  PLAN"/>
          <p:cNvSpPr txBox="1"/>
          <p:nvPr/>
        </p:nvSpPr>
        <p:spPr>
          <a:xfrm>
            <a:off x="685800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01 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2432304" cy="134416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valuation stack: SMEW"/>
          <p:cNvSpPr txBox="1"/>
          <p:nvPr/>
        </p:nvSpPr>
        <p:spPr>
          <a:xfrm>
            <a:off x="795528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17" name="Evaluation stack: Campaigns &amp; / repetitions"/>
          <p:cNvSpPr txBox="1"/>
          <p:nvPr/>
        </p:nvSpPr>
        <p:spPr>
          <a:xfrm>
            <a:off x="795528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Campaigns &amp;
repetitions</a:t>
            </a:r>
          </a:p>
        </p:txBody>
      </p:sp>
      <p:sp>
        <p:nvSpPr>
          <p:cNvPr id="18" name="Evaluation stack: 02  MEASURE"/>
          <p:cNvSpPr txBox="1"/>
          <p:nvPr/>
        </p:nvSpPr>
        <p:spPr>
          <a:xfrm>
            <a:off x="3511296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02  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2395728"/>
            <a:ext cx="2432304" cy="134416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valuation stack: SMA"/>
          <p:cNvSpPr txBox="1"/>
          <p:nvPr/>
        </p:nvSpPr>
        <p:spPr>
          <a:xfrm>
            <a:off x="3621024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SMA</a:t>
            </a:r>
          </a:p>
        </p:txBody>
      </p:sp>
      <p:sp>
        <p:nvSpPr>
          <p:cNvPr id="21" name="Evaluation stack: Run process &amp; / collect metrics"/>
          <p:cNvSpPr txBox="1"/>
          <p:nvPr/>
        </p:nvSpPr>
        <p:spPr>
          <a:xfrm>
            <a:off x="3621024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Run process &amp;
collect metrics</a:t>
            </a:r>
          </a:p>
        </p:txBody>
      </p:sp>
      <p:sp>
        <p:nvSpPr>
          <p:cNvPr id="22" name="Evaluation stack: 03  TEST"/>
          <p:cNvSpPr txBox="1"/>
          <p:nvPr/>
        </p:nvSpPr>
        <p:spPr>
          <a:xfrm>
            <a:off x="6336792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03 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395728"/>
            <a:ext cx="2432304" cy="1344168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valuation stack: vita-fl-td"/>
          <p:cNvSpPr txBox="1"/>
          <p:nvPr/>
        </p:nvSpPr>
        <p:spPr>
          <a:xfrm>
            <a:off x="6446520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5" name="Evaluation stack: Drive scenarios &amp; / verify evidence"/>
          <p:cNvSpPr txBox="1"/>
          <p:nvPr/>
        </p:nvSpPr>
        <p:spPr>
          <a:xfrm>
            <a:off x="6446520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Drive scenarios &amp;
verify evidence</a:t>
            </a:r>
          </a:p>
        </p:txBody>
      </p:sp>
      <p:sp>
        <p:nvSpPr>
          <p:cNvPr id="26" name="Evaluation stack: 04  EXECUTE"/>
          <p:cNvSpPr txBox="1"/>
          <p:nvPr/>
        </p:nvSpPr>
        <p:spPr>
          <a:xfrm>
            <a:off x="9162288" y="202082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04  EXECUTE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16568" y="2395728"/>
            <a:ext cx="2432304" cy="134416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valuation stack: VITA-FL"/>
          <p:cNvSpPr txBox="1"/>
          <p:nvPr/>
        </p:nvSpPr>
        <p:spPr>
          <a:xfrm>
            <a:off x="9272016" y="2532888"/>
            <a:ext cx="212140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29" name="Evaluation stack: Train, aggregate &amp; / run inference"/>
          <p:cNvSpPr txBox="1"/>
          <p:nvPr/>
        </p:nvSpPr>
        <p:spPr>
          <a:xfrm>
            <a:off x="9272016" y="3035808"/>
            <a:ext cx="2121408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Train, aggregate &amp;
run inference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90672" y="2834640"/>
            <a:ext cx="347472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090672" y="3483864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16168" y="2834640"/>
            <a:ext cx="347472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916168" y="3483864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41664" y="2834640"/>
            <a:ext cx="347472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741664" y="3483864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32720" y="3758184"/>
            <a:ext cx="0" cy="484632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681728" y="4242816"/>
            <a:ext cx="5650992" cy="0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681728" y="3758184"/>
            <a:ext cx="0" cy="484632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valuation stack: Time series for the run window"/>
          <p:cNvSpPr txBox="1"/>
          <p:nvPr/>
        </p:nvSpPr>
        <p:spPr>
          <a:xfrm>
            <a:off x="5522976" y="3858768"/>
            <a:ext cx="41879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lang="en-US">
                <a:solidFill>
                  <a:srgbClr val="7446A6"/>
                </a:solidFill>
                <a:latin typeface="Arial"/>
              </a:rPr>
              <a:t>Time series for the run window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856231" y="3758184"/>
            <a:ext cx="0" cy="79552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0080" y="4590288"/>
            <a:ext cx="8037575" cy="704088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valuation stack: Collected report"/>
          <p:cNvSpPr txBox="1"/>
          <p:nvPr/>
        </p:nvSpPr>
        <p:spPr>
          <a:xfrm>
            <a:off x="832104" y="4690872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lang="en-US">
                <a:solidFill>
                  <a:srgbClr val="1764A1"/>
                </a:solidFill>
                <a:latin typeface="Arial"/>
              </a:rPr>
              <a:t>Collected report</a:t>
            </a:r>
          </a:p>
        </p:txBody>
      </p:sp>
      <p:sp>
        <p:nvSpPr>
          <p:cNvPr id="43" name="Evaluation stack: Verdicts + evidence + measurements"/>
          <p:cNvSpPr txBox="1"/>
          <p:nvPr/>
        </p:nvSpPr>
        <p:spPr>
          <a:xfrm>
            <a:off x="2999232" y="4690872"/>
            <a:ext cx="54406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lang="en-US">
                <a:solidFill>
                  <a:srgbClr val="263440"/>
                </a:solidFill>
                <a:latin typeface="Arial"/>
              </a:rPr>
              <a:t>Verdicts + evidence + measurements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14232" y="4937760"/>
            <a:ext cx="347472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116568" y="4590288"/>
            <a:ext cx="2432304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valuation stack: Marimo analysis"/>
          <p:cNvSpPr txBox="1"/>
          <p:nvPr/>
        </p:nvSpPr>
        <p:spPr>
          <a:xfrm>
            <a:off x="9253728" y="4736592"/>
            <a:ext cx="21579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lang="en-US">
                <a:solidFill>
                  <a:srgbClr val="1764A1"/>
                </a:solidFill>
                <a:latin typeface="Arial"/>
              </a:rPr>
              <a:t>Marimo analysis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5586984"/>
            <a:ext cx="329184" cy="0"/>
          </a:xfrm>
          <a:prstGeom prst="line">
            <a:avLst/>
          </a:prstGeom>
          <a:ln w="2032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valuation stack: Run control"/>
          <p:cNvSpPr txBox="1"/>
          <p:nvPr/>
        </p:nvSpPr>
        <p:spPr>
          <a:xfrm>
            <a:off x="1069848" y="54635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Run control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578608" y="5586984"/>
            <a:ext cx="329184" cy="0"/>
          </a:xfrm>
          <a:prstGeom prst="line">
            <a:avLst/>
          </a:prstGeom>
          <a:ln w="2032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valuation stack: Results / evidence"/>
          <p:cNvSpPr txBox="1"/>
          <p:nvPr/>
        </p:nvSpPr>
        <p:spPr>
          <a:xfrm>
            <a:off x="2990088" y="5463540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Results / evidence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76088" y="5586984"/>
            <a:ext cx="329184" cy="0"/>
          </a:xfrm>
          <a:prstGeom prst="line">
            <a:avLst/>
          </a:prstGeom>
          <a:ln w="2032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valuation stack: Metrics from Prometheus"/>
          <p:cNvSpPr txBox="1"/>
          <p:nvPr/>
        </p:nvSpPr>
        <p:spPr>
          <a:xfrm>
            <a:off x="5687568" y="5463540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Metrics from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Three evaluation layers, one deployed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Campaign → measured run → test scenario; VITA-FL is the external system under test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Campaign → measured run → test scenario; VITA-FL is the external system under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7452360" cy="312724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aluation stack: SMEW"/>
          <p:cNvSpPr txBox="1"/>
          <p:nvPr/>
        </p:nvSpPr>
        <p:spPr>
          <a:xfrm>
            <a:off x="877824" y="23500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16" name="Evaluation stack: Campaign"/>
          <p:cNvSpPr txBox="1"/>
          <p:nvPr/>
        </p:nvSpPr>
        <p:spPr>
          <a:xfrm>
            <a:off x="877824" y="2834640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263440"/>
                </a:solidFill>
                <a:latin typeface="Arial"/>
              </a:rPr>
              <a:t>Campaign</a:t>
            </a:r>
          </a:p>
        </p:txBody>
      </p:sp>
      <p:sp>
        <p:nvSpPr>
          <p:cNvPr id="17" name="Evaluation stack: Select scenarios / and repeat runs"/>
          <p:cNvSpPr txBox="1"/>
          <p:nvPr/>
        </p:nvSpPr>
        <p:spPr>
          <a:xfrm>
            <a:off x="877824" y="3291840"/>
            <a:ext cx="179222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Select scenarios
and repeat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706624"/>
            <a:ext cx="4992624" cy="2267712"/>
          </a:xfrm>
          <a:prstGeom prst="roundRect">
            <a:avLst/>
          </a:prstGeom>
          <a:solidFill>
            <a:srgbClr val="F3EEF8"/>
          </a:solidFill>
          <a:ln w="12700">
            <a:solidFill>
              <a:srgbClr val="C8B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aluation stack: SMA"/>
          <p:cNvSpPr txBox="1"/>
          <p:nvPr/>
        </p:nvSpPr>
        <p:spPr>
          <a:xfrm>
            <a:off x="3099816" y="289864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7446A6"/>
                </a:solidFill>
                <a:latin typeface="Arial"/>
              </a:rPr>
              <a:t>SMA</a:t>
            </a:r>
          </a:p>
        </p:txBody>
      </p:sp>
      <p:sp>
        <p:nvSpPr>
          <p:cNvPr id="20" name="Evaluation stack: Run scope"/>
          <p:cNvSpPr txBox="1"/>
          <p:nvPr/>
        </p:nvSpPr>
        <p:spPr>
          <a:xfrm>
            <a:off x="3099816" y="33832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7446A6"/>
                </a:solidFill>
                <a:latin typeface="Arial"/>
              </a:rPr>
              <a:t>Run scope</a:t>
            </a:r>
          </a:p>
        </p:txBody>
      </p:sp>
      <p:sp>
        <p:nvSpPr>
          <p:cNvPr id="21" name="Evaluation stack: Process, time / window &amp; / measurements"/>
          <p:cNvSpPr txBox="1"/>
          <p:nvPr/>
        </p:nvSpPr>
        <p:spPr>
          <a:xfrm>
            <a:off x="3099816" y="3767328"/>
            <a:ext cx="1581912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Process, time
window &amp;
measurements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355848"/>
            <a:ext cx="271576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valuation stack: vita-fl-td"/>
          <p:cNvSpPr txBox="1"/>
          <p:nvPr/>
        </p:nvSpPr>
        <p:spPr>
          <a:xfrm>
            <a:off x="5093208" y="350215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4" name="Evaluation stack: Scenario logic / &amp; assertions"/>
          <p:cNvSpPr txBox="1"/>
          <p:nvPr/>
        </p:nvSpPr>
        <p:spPr>
          <a:xfrm>
            <a:off x="5093208" y="3986784"/>
            <a:ext cx="23042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Scenario logic
&amp; assertions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103120"/>
            <a:ext cx="2313432" cy="3127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aluation stack: VITA-FL"/>
          <p:cNvSpPr txBox="1"/>
          <p:nvPr/>
        </p:nvSpPr>
        <p:spPr>
          <a:xfrm>
            <a:off x="9427464" y="2350008"/>
            <a:ext cx="1920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27" name="Evaluation stack: Deployed in Phala"/>
          <p:cNvSpPr txBox="1"/>
          <p:nvPr/>
        </p:nvSpPr>
        <p:spPr>
          <a:xfrm>
            <a:off x="9427464" y="2889504"/>
            <a:ext cx="1920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65737D"/>
                </a:solidFill>
                <a:latin typeface="Arial"/>
              </a:rPr>
              <a:t>Deployed in Phala</a:t>
            </a:r>
          </a:p>
        </p:txBody>
      </p:sp>
      <p:sp>
        <p:nvSpPr>
          <p:cNvPr id="28" name="Evaluation stack: Training / Aggregation / Inference / Published evidence"/>
          <p:cNvSpPr txBox="1"/>
          <p:nvPr/>
        </p:nvSpPr>
        <p:spPr>
          <a:xfrm>
            <a:off x="9427464" y="3730752"/>
            <a:ext cx="1920240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Training
Aggregation
Inference
Published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6952" y="4014215"/>
            <a:ext cx="159105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valuation stack: API calls"/>
          <p:cNvSpPr txBox="1"/>
          <p:nvPr/>
        </p:nvSpPr>
        <p:spPr>
          <a:xfrm>
            <a:off x="8156448" y="3666744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263440"/>
                </a:solidFill>
                <a:latin typeface="Arial"/>
              </a:rPr>
              <a:t>API calls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616952" y="4526280"/>
            <a:ext cx="15910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valuation stack: Evidence"/>
          <p:cNvSpPr txBox="1"/>
          <p:nvPr/>
        </p:nvSpPr>
        <p:spPr>
          <a:xfrm>
            <a:off x="8156448" y="4581144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1764A1"/>
                </a:solidFill>
                <a:latin typeface="Arial"/>
              </a:rPr>
              <a:t>Evidence</a:t>
            </a:r>
          </a:p>
        </p:txBody>
      </p:sp>
      <p:sp>
        <p:nvSpPr>
          <p:cNvPr id="33" name="Evaluation stack: Each run combines test verdicts, artifacts and measurements for later analysis in Marimo."/>
          <p:cNvSpPr txBox="1"/>
          <p:nvPr/>
        </p:nvSpPr>
        <p:spPr>
          <a:xfrm>
            <a:off x="658368" y="5404104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65737D"/>
                </a:solidFill>
                <a:latin typeface="Arial"/>
              </a:rPr>
              <a:t>Each run combines test verdicts, artifacts and measurements for later analysis in Marimo.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Local evaluation, deployed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The test driver stays outside VITA-FL and checks its observable behavior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The test driver stays outside VITA-FL and checks its observable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84831"/>
            <a:ext cx="6665976" cy="3255264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99831" y="2084831"/>
            <a:ext cx="3749039" cy="3255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valuation stack: EXPERIMENT HOST"/>
          <p:cNvSpPr txBox="1"/>
          <p:nvPr/>
        </p:nvSpPr>
        <p:spPr>
          <a:xfrm>
            <a:off x="868680" y="2212848"/>
            <a:ext cx="6172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65737D"/>
                </a:solidFill>
                <a:latin typeface="Arial"/>
              </a:rPr>
              <a:t>EXPERIMENT HOST</a:t>
            </a:r>
          </a:p>
        </p:txBody>
      </p:sp>
      <p:sp>
        <p:nvSpPr>
          <p:cNvPr id="17" name="Evaluation stack: PHALA DEPLOYMENT"/>
          <p:cNvSpPr txBox="1"/>
          <p:nvPr/>
        </p:nvSpPr>
        <p:spPr>
          <a:xfrm>
            <a:off x="8037575" y="2212848"/>
            <a:ext cx="325526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65737D"/>
                </a:solidFill>
                <a:latin typeface="Arial"/>
              </a:rPr>
              <a:t>PHALA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706624"/>
            <a:ext cx="16733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aluation stack: SMEW"/>
          <p:cNvSpPr txBox="1"/>
          <p:nvPr/>
        </p:nvSpPr>
        <p:spPr>
          <a:xfrm>
            <a:off x="978407" y="2816352"/>
            <a:ext cx="1453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20" name="Evaluation stack: Campaigns"/>
          <p:cNvSpPr txBox="1"/>
          <p:nvPr/>
        </p:nvSpPr>
        <p:spPr>
          <a:xfrm>
            <a:off x="950976" y="3236976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Campaigns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706624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valuation stack: SMA"/>
          <p:cNvSpPr txBox="1"/>
          <p:nvPr/>
        </p:nvSpPr>
        <p:spPr>
          <a:xfrm>
            <a:off x="2990088" y="2816352"/>
            <a:ext cx="14264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7446A6"/>
                </a:solidFill>
                <a:latin typeface="Arial"/>
              </a:rPr>
              <a:t>SMA</a:t>
            </a:r>
          </a:p>
        </p:txBody>
      </p:sp>
      <p:sp>
        <p:nvSpPr>
          <p:cNvPr id="23" name="Evaluation stack: Measured run"/>
          <p:cNvSpPr txBox="1"/>
          <p:nvPr/>
        </p:nvSpPr>
        <p:spPr>
          <a:xfrm>
            <a:off x="2962656" y="3236976"/>
            <a:ext cx="14813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Measured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706624"/>
            <a:ext cx="22128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valuation stack: vita-fl-td"/>
          <p:cNvSpPr txBox="1"/>
          <p:nvPr/>
        </p:nvSpPr>
        <p:spPr>
          <a:xfrm>
            <a:off x="4974336" y="2816352"/>
            <a:ext cx="19933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6" name="Evaluation stack: Assertions"/>
          <p:cNvSpPr txBox="1"/>
          <p:nvPr/>
        </p:nvSpPr>
        <p:spPr>
          <a:xfrm>
            <a:off x="4946904" y="3236976"/>
            <a:ext cx="204825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Assertions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78608" y="3108960"/>
            <a:ext cx="26517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62856" y="3108960"/>
            <a:ext cx="26517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84464" y="2706624"/>
            <a:ext cx="2880360" cy="1216152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valuation stack: VITA-FL"/>
          <p:cNvSpPr txBox="1"/>
          <p:nvPr/>
        </p:nvSpPr>
        <p:spPr>
          <a:xfrm>
            <a:off x="8458200" y="2834640"/>
            <a:ext cx="2532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31" name="Evaluation stack: Training · inference / contracts · evidence"/>
          <p:cNvSpPr txBox="1"/>
          <p:nvPr/>
        </p:nvSpPr>
        <p:spPr>
          <a:xfrm>
            <a:off x="8458200" y="3300984"/>
            <a:ext cx="2532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Training · inference
contracts ·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14032" y="2953512"/>
            <a:ext cx="113385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valuation stack: API / RPC"/>
          <p:cNvSpPr txBox="1"/>
          <p:nvPr/>
        </p:nvSpPr>
        <p:spPr>
          <a:xfrm>
            <a:off x="7223760" y="2660904"/>
            <a:ext cx="9784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263440"/>
                </a:solidFill>
                <a:latin typeface="Arial"/>
              </a:rPr>
              <a:t>API / RPC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114032" y="3456432"/>
            <a:ext cx="11338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valuation stack: Evidence"/>
          <p:cNvSpPr txBox="1"/>
          <p:nvPr/>
        </p:nvSpPr>
        <p:spPr>
          <a:xfrm>
            <a:off x="7251192" y="3502152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4315968"/>
            <a:ext cx="2880360" cy="694944"/>
          </a:xfrm>
          <a:prstGeom prst="roundRect">
            <a:avLst/>
          </a:prstGeom>
          <a:solidFill>
            <a:srgbClr val="F3EEF8"/>
          </a:solidFill>
          <a:ln w="12700">
            <a:solidFill>
              <a:srgbClr val="C8B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valuation stack: Prometheus"/>
          <p:cNvSpPr txBox="1"/>
          <p:nvPr/>
        </p:nvSpPr>
        <p:spPr>
          <a:xfrm>
            <a:off x="8449056" y="4416552"/>
            <a:ext cx="2551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Prometheus</a:t>
            </a:r>
          </a:p>
        </p:txBody>
      </p:sp>
      <p:sp>
        <p:nvSpPr>
          <p:cNvPr id="38" name="Evaluation stack: Recorded system metrics"/>
          <p:cNvSpPr txBox="1"/>
          <p:nvPr/>
        </p:nvSpPr>
        <p:spPr>
          <a:xfrm>
            <a:off x="8449056" y="4745736"/>
            <a:ext cx="2551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7446A6"/>
                </a:solidFill>
                <a:latin typeface="Arial"/>
              </a:rPr>
              <a:t>Recorded system metrics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20072" y="3941063"/>
            <a:ext cx="0" cy="338329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749039" y="4645152"/>
            <a:ext cx="4498849" cy="0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49039" y="3657600"/>
            <a:ext cx="0" cy="987552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valuation stack: Time series for run window"/>
          <p:cNvSpPr txBox="1"/>
          <p:nvPr/>
        </p:nvSpPr>
        <p:spPr>
          <a:xfrm>
            <a:off x="4178808" y="4261104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lang="en-US">
                <a:solidFill>
                  <a:srgbClr val="7446A6"/>
                </a:solidFill>
                <a:latin typeface="Arial"/>
              </a:rPr>
              <a:t>Time series for run window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4361688"/>
            <a:ext cx="2560320" cy="64008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valuation stack: Reports + Marimo"/>
          <p:cNvSpPr txBox="1"/>
          <p:nvPr/>
        </p:nvSpPr>
        <p:spPr>
          <a:xfrm>
            <a:off x="1005840" y="444398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1764A1"/>
                </a:solidFill>
                <a:latin typeface="Arial"/>
              </a:rPr>
              <a:t>Reports + Marimo</a:t>
            </a:r>
          </a:p>
        </p:txBody>
      </p:sp>
      <p:sp>
        <p:nvSpPr>
          <p:cNvPr id="45" name="Evaluation stack: Compare saved runs"/>
          <p:cNvSpPr txBox="1"/>
          <p:nvPr/>
        </p:nvSpPr>
        <p:spPr>
          <a:xfrm>
            <a:off x="1005840" y="47640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Compare saved runs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09928" y="3657600"/>
            <a:ext cx="0" cy="667512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46120" y="3657600"/>
            <a:ext cx="0" cy="329184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496312" y="3986784"/>
            <a:ext cx="749808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96312" y="3986784"/>
            <a:ext cx="0" cy="33832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80176" y="3657600"/>
            <a:ext cx="0" cy="292608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251960" y="3950208"/>
            <a:ext cx="1728216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1960" y="3657600"/>
            <a:ext cx="0" cy="29260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valuation stack: SMA retrieves the time series for its measurement window after the scenario ends."/>
          <p:cNvSpPr txBox="1"/>
          <p:nvPr/>
        </p:nvSpPr>
        <p:spPr>
          <a:xfrm>
            <a:off x="658368" y="5468112"/>
            <a:ext cx="10890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lang="en-US">
                <a:solidFill>
                  <a:srgbClr val="65737D"/>
                </a:solidFill>
                <a:latin typeface="Arial"/>
              </a:rPr>
              <a:t>SMA retrieves the time series for its measurement window after the scenario 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Four tools, four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Each component answers a different question in the evaluation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Each component answers a different question in the evaluation.</a:t>
            </a:r>
          </a:p>
        </p:txBody>
      </p:sp>
      <p:sp>
        <p:nvSpPr>
          <p:cNvPr id="14" name="Evaluation stack: COMPONENT"/>
          <p:cNvSpPr txBox="1"/>
          <p:nvPr/>
        </p:nvSpPr>
        <p:spPr>
          <a:xfrm>
            <a:off x="832104" y="1975104"/>
            <a:ext cx="21488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COMPONENT</a:t>
            </a:r>
          </a:p>
        </p:txBody>
      </p:sp>
      <p:sp>
        <p:nvSpPr>
          <p:cNvPr id="15" name="Evaluation stack: EVALUATION QUESTION"/>
          <p:cNvSpPr txBox="1"/>
          <p:nvPr/>
        </p:nvSpPr>
        <p:spPr>
          <a:xfrm>
            <a:off x="3227832" y="1975104"/>
            <a:ext cx="420624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EVALUATION QUESTION</a:t>
            </a:r>
          </a:p>
        </p:txBody>
      </p:sp>
      <p:sp>
        <p:nvSpPr>
          <p:cNvPr id="16" name="Evaluation stack: CONTRIBUTION"/>
          <p:cNvSpPr txBox="1"/>
          <p:nvPr/>
        </p:nvSpPr>
        <p:spPr>
          <a:xfrm>
            <a:off x="7662672" y="1975104"/>
            <a:ext cx="36576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65737D"/>
                </a:solidFill>
                <a:latin typeface="Arial"/>
              </a:rPr>
              <a:t>CONTRIBUTION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77440"/>
            <a:ext cx="10908792" cy="603504"/>
          </a:xfrm>
          <a:prstGeom prst="rect">
            <a:avLst/>
          </a:prstGeom>
          <a:solidFill>
            <a:srgbClr val="F2F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valuation stack: SMEW"/>
          <p:cNvSpPr txBox="1"/>
          <p:nvPr/>
        </p:nvSpPr>
        <p:spPr>
          <a:xfrm>
            <a:off x="832104" y="2450592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19" name="Evaluation stack: What should run, and how often?"/>
          <p:cNvSpPr txBox="1"/>
          <p:nvPr/>
        </p:nvSpPr>
        <p:spPr>
          <a:xfrm>
            <a:off x="3227832" y="2423160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What should run, and how often?</a:t>
            </a:r>
          </a:p>
        </p:txBody>
      </p:sp>
      <p:sp>
        <p:nvSpPr>
          <p:cNvPr id="20" name="Evaluation stack: Campaigns &amp; run status"/>
          <p:cNvSpPr txBox="1"/>
          <p:nvPr/>
        </p:nvSpPr>
        <p:spPr>
          <a:xfrm>
            <a:off x="7662672" y="2423160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Campaigns &amp; run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26664"/>
            <a:ext cx="10908792" cy="6035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valuation stack: SMA"/>
          <p:cNvSpPr txBox="1"/>
          <p:nvPr/>
        </p:nvSpPr>
        <p:spPr>
          <a:xfrm>
            <a:off x="832104" y="3099816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263440"/>
                </a:solidFill>
                <a:latin typeface="Arial"/>
              </a:rPr>
              <a:t>SMA</a:t>
            </a:r>
          </a:p>
        </p:txBody>
      </p:sp>
      <p:sp>
        <p:nvSpPr>
          <p:cNvPr id="23" name="Evaluation stack: What happened during the run?"/>
          <p:cNvSpPr txBox="1"/>
          <p:nvPr/>
        </p:nvSpPr>
        <p:spPr>
          <a:xfrm>
            <a:off x="3227832" y="3072384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What happened during the run?</a:t>
            </a:r>
          </a:p>
        </p:txBody>
      </p:sp>
      <p:sp>
        <p:nvSpPr>
          <p:cNvPr id="24" name="Evaluation stack: Process &amp; measurement report"/>
          <p:cNvSpPr txBox="1"/>
          <p:nvPr/>
        </p:nvSpPr>
        <p:spPr>
          <a:xfrm>
            <a:off x="7662672" y="3072384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Process &amp; measurement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75887"/>
            <a:ext cx="10908792" cy="603504"/>
          </a:xfrm>
          <a:prstGeom prst="rect">
            <a:avLst/>
          </a:prstGeom>
          <a:solidFill>
            <a:srgbClr val="ED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aluation stack: vita-fl-td"/>
          <p:cNvSpPr txBox="1"/>
          <p:nvPr/>
        </p:nvSpPr>
        <p:spPr>
          <a:xfrm>
            <a:off x="832104" y="3749039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7" name="Evaluation stack: Did the expected behavior occur?"/>
          <p:cNvSpPr txBox="1"/>
          <p:nvPr/>
        </p:nvSpPr>
        <p:spPr>
          <a:xfrm>
            <a:off x="3227832" y="3721607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Did the expected behavior occur?</a:t>
            </a:r>
          </a:p>
        </p:txBody>
      </p:sp>
      <p:sp>
        <p:nvSpPr>
          <p:cNvPr id="28" name="Evaluation stack: Assertions &amp; verified evidence"/>
          <p:cNvSpPr txBox="1"/>
          <p:nvPr/>
        </p:nvSpPr>
        <p:spPr>
          <a:xfrm>
            <a:off x="7662672" y="3721607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Assertions &amp; verified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25112"/>
            <a:ext cx="10908792" cy="6035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valuation stack: VITA-FL"/>
          <p:cNvSpPr txBox="1"/>
          <p:nvPr/>
        </p:nvSpPr>
        <p:spPr>
          <a:xfrm>
            <a:off x="832104" y="4398264"/>
            <a:ext cx="214884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31" name="Evaluation stack: What does the deployed system do?"/>
          <p:cNvSpPr txBox="1"/>
          <p:nvPr/>
        </p:nvSpPr>
        <p:spPr>
          <a:xfrm>
            <a:off x="3227832" y="4370832"/>
            <a:ext cx="41788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 lang="en-US">
                <a:solidFill>
                  <a:srgbClr val="263440"/>
                </a:solidFill>
                <a:latin typeface="Arial"/>
              </a:rPr>
              <a:t>What does the deployed system do?</a:t>
            </a:r>
          </a:p>
        </p:txBody>
      </p:sp>
      <p:sp>
        <p:nvSpPr>
          <p:cNvPr id="32" name="Evaluation stack: Models, events &amp; receipts"/>
          <p:cNvSpPr txBox="1"/>
          <p:nvPr/>
        </p:nvSpPr>
        <p:spPr>
          <a:xfrm>
            <a:off x="7662672" y="4370832"/>
            <a:ext cx="3630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Models, events &amp; receipts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48072"/>
            <a:ext cx="10908792" cy="4572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valuation stack: Together in Marimo: scenario outcomes + measurements + evidence"/>
          <p:cNvSpPr txBox="1"/>
          <p:nvPr/>
        </p:nvSpPr>
        <p:spPr>
          <a:xfrm>
            <a:off x="841248" y="5202936"/>
            <a:ext cx="105064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Together in Marimo: scenario outcomes + measurements +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How the evaluation tools work together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