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 id="2147483710" r:id="rId2"/>
  </p:sldMasterIdLst>
  <p:notesMasterIdLst>
    <p:notesMasterId r:id="rId8"/>
  </p:notesMasterIdLst>
  <p:sldIdLst>
    <p:sldId id="256" r:id="rId7"/>
    <p:sldId id="257" r:id="rId6"/>
    <p:sldId id="258" r:id="rId5"/>
    <p:sldId id="259" r:id="rId4"/>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40D1E"/>
    <a:srgbClr val="9013FE"/>
    <a:srgbClr val="1F90CC"/>
    <a:srgbClr val="434343"/>
    <a:srgbClr val="C40E02"/>
    <a:srgbClr val="FFFFFF"/>
    <a:srgbClr val="49CB40"/>
    <a:srgbClr val="C50E1F"/>
    <a:srgbClr val="B2B2B2"/>
    <a:srgbClr val="71717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73" autoAdjust="0"/>
    <p:restoredTop sz="96327"/>
  </p:normalViewPr>
  <p:slideViewPr>
    <p:cSldViewPr snapToGrid="0" snapToObjects="1">
      <p:cViewPr varScale="1">
        <p:scale>
          <a:sx n="81" d="100"/>
          <a:sy n="81" d="100"/>
        </p:scale>
        <p:origin x="542" y="48"/>
      </p:cViewPr>
      <p:guideLst/>
    </p:cSldViewPr>
  </p:slideViewPr>
  <p:notesTextViewPr>
    <p:cViewPr>
      <p:scale>
        <a:sx n="1" d="1"/>
        <a:sy n="1" d="1"/>
      </p:scale>
      <p:origin x="0" y="0"/>
    </p:cViewPr>
  </p:notesTextViewPr>
  <p:notesViewPr>
    <p:cSldViewPr snapToGrid="0" snapToObjects="1" showGuides="1">
      <p:cViewPr varScale="1">
        <p:scale>
          <a:sx n="153" d="100"/>
          <a:sy n="153" d="100"/>
        </p:scale>
        <p:origin x="4920" y="192"/>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4" Type="http://schemas.openxmlformats.org/officeDocument/2006/relationships/slide" Target="slides/slide4.xml"/><Relationship Id="rId5" Type="http://schemas.openxmlformats.org/officeDocument/2006/relationships/slide" Target="slides/slide3.xml"/><Relationship Id="rId6" Type="http://schemas.openxmlformats.org/officeDocument/2006/relationships/slide" Target="slides/slide2.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A6180F-3EA1-4748-B4F4-956BB5176995}" type="datetimeFigureOut">
              <a:rPr lang="de-DE" smtClean="0"/>
              <a:t>16.06.2025</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3C3961-1900-1342-BF9B-82C3215CD312}" type="slidenum">
              <a:rPr lang="de-DE" smtClean="0"/>
              <a:t>‹Nr.›</a:t>
            </a:fld>
            <a:endParaRPr lang="de-DE"/>
          </a:p>
        </p:txBody>
      </p:sp>
    </p:spTree>
    <p:extLst>
      <p:ext uri="{BB962C8B-B14F-4D97-AF65-F5344CB8AC3E}">
        <p14:creationId xmlns:p14="http://schemas.microsoft.com/office/powerpoint/2010/main" val="8489311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PURPOSE</a:t>
            </a:r>
          </a:p>
          <a:p>
            <a:r>
              <a:rPr lang="en-US"/>
              <a:t>Editable attack-tree proposals derived from Chapter 4, Security Model and System</a:t>
            </a:r>
          </a:p>
          <a:p>
            <a:r>
              <a:rPr lang="en-US"/>
              <a:t>Requirements. The chapter contains a threat catalogue and use/misuse cases, not</a:t>
            </a:r>
          </a:p>
          <a:p>
            <a:r>
              <a:rPr lang="en-US"/>
              <a:t>these attack trees. The goal decomposition and its grouping are an explanatory</a:t>
            </a:r>
          </a:p>
          <a:p>
            <a:r>
              <a:rPr lang="en-US"/>
              <a:t>synthesis for the presentation; they are not quoted thesis figures or a formal</a:t>
            </a:r>
          </a:p>
          <a:p>
            <a:r>
              <a:rPr lang="en-US"/>
              <a:t>completeness result. The chapter and main presentation are left unchanged.</a:t>
            </a:r>
          </a:p>
          <a:p/>
          <a:p>
            <a:r>
              <a:rPr lang="en-US"/>
              <a:t>HOW TO READ THE TREE</a:t>
            </a:r>
          </a:p>
          <a:p>
            <a:r>
              <a:rPr lang="en-US"/>
              <a:t>A parent is the attacker's goal or subgoal. OR means any one child is sufficient</a:t>
            </a:r>
          </a:p>
          <a:p>
            <a:r>
              <a:rPr lang="en-US"/>
              <a:t>for the modeled parent; AND means every child condition must hold together.</a:t>
            </a:r>
          </a:p>
          <a:p>
            <a:r>
              <a:rPr lang="en-US"/>
              <a:t>Edges are decomposition, not a chronological sequence or a message flow.</a:t>
            </a:r>
          </a:p>
          <a:p>
            <a:r>
              <a:rPr lang="en-US"/>
              <a:t>Attack leaves refer to hypothetical successful subgoals, not instructions for</a:t>
            </a:r>
          </a:p>
          <a:p>
            <a:r>
              <a:rPr lang="en-US"/>
              <a:t>exploiting a demonstrated implementation vulnerability. AND joins only joint</a:t>
            </a:r>
          </a:p>
          <a:p>
            <a:r>
              <a:rPr lang="en-US"/>
              <a:t>conditions, never an attack and the control designed to stop it.</a:t>
            </a:r>
          </a:p>
          <a:p>
            <a:r>
              <a:rPr lang="en-US"/>
              <a:t>Leaf T-identifiers refer to Chapter 4. Repeated T-identifiers represent different</a:t>
            </a:r>
          </a:p>
          <a:p>
            <a:r>
              <a:rPr lang="en-US"/>
              <a:t>facets or effects of the same threat, not additional threats. The four diagrams</a:t>
            </a:r>
          </a:p>
          <a:p>
            <a:r>
              <a:rPr lang="en-US"/>
              <a:t>together reference T1 through T14. They are intentionally selective abstractions;</a:t>
            </a:r>
          </a:p>
          <a:p>
            <a:r>
              <a:rPr lang="en-US"/>
              <a:t>not every attack described under each T-identifier is expanded into a leaf.</a:t>
            </a:r>
          </a:p>
          <a:p/>
          <a:p>
            <a:r>
              <a:rPr lang="en-US"/>
              <a:t>ASSURANCE BOUNDARY</a:t>
            </a:r>
          </a:p>
          <a:p>
            <a:r>
              <a:rPr lang="en-US"/>
              <a:t>Requirements F1–F11 and NF1–NF7 specify expected controls and claim limits; their</a:t>
            </a:r>
          </a:p>
          <a:p>
            <a:r>
              <a:rPr lang="en-US"/>
              <a:t>appearance here is not a claim of successful implementation, proof or test.</a:t>
            </a:r>
          </a:p>
          <a:p>
            <a:r>
              <a:rPr lang="en-US"/>
              <a:t>Residual risks and assumption failures remain distinct from attacks intended to</a:t>
            </a:r>
          </a:p>
          <a:p>
            <a:r>
              <a:rPr lang="en-US"/>
              <a:t>be rejected. In particular T7 concerns valid harmful data/updates, T13 breaks a</a:t>
            </a:r>
          </a:p>
          <a:p>
            <a:r>
              <a:rPr lang="en-US"/>
              <a:t>cryptographic/platform/key/governance premise, and T14 covers sufficient collusion.</a:t>
            </a:r>
          </a:p>
          <a:p>
            <a:r>
              <a:rPr lang="en-US"/>
              <a:t>A correct attestation/signature does not establish semantic truth or independent</a:t>
            </a:r>
          </a:p>
          <a:p>
            <a:r>
              <a:rPr lang="en-US"/>
              <a:t>organizational ownership. T10 allows whole-interaction suppression before a</a:t>
            </a:r>
          </a:p>
          <a:p>
            <a:r>
              <a:rPr lang="en-US"/>
              <a:t>receipt exists; T11 retains a split-view boundary without independent witnesses.</a:t>
            </a:r>
          </a:p>
          <a:p>
            <a:r>
              <a:rPr lang="en-US"/>
              <a:t>Targeted aggregator replacement does not establish availability of all services.</a:t>
            </a:r>
          </a:p>
          <a:p>
            <a:r>
              <a:rPr lang="en-US"/>
              <a:t>Style C separates requirement/limit annotations from the actual tree edges.</a:t>
            </a:r>
          </a:p>
          <a:p>
            <a:r>
              <a:rPr lang="en-US"/>
              <a:t>Amber highlights a stated residual or assumption boundary, not measured risk,</a:t>
            </a:r>
          </a:p>
          <a:p>
            <a:r>
              <a:rPr lang="en-US"/>
              <a:t>probability or attack severity. No numbers in these diagrams are risk scores.</a:t>
            </a:r>
          </a:p>
          <a:p/>
          <a:p>
            <a:r>
              <a:rPr lang="en-US"/>
              <a:t>VERSION SCOPE</a:t>
            </a:r>
          </a:p>
          <a:p>
            <a:r>
              <a:rPr lang="en-US"/>
              <a:t>The source is Chapter 4 as inspected for this task, including its stated legacy</a:t>
            </a:r>
          </a:p>
          <a:p>
            <a:r>
              <a:rPr lang="en-US"/>
              <a:t>per-inference attestation limitations. Newer RA-TLS/Phala verification code and</a:t>
            </a:r>
          </a:p>
          <a:p>
            <a:r>
              <a:rPr lang="en-US"/>
              <a:t>recent experiments are not silently substituted for the chapter's specification.</a:t>
            </a:r>
          </a:p>
          <a:p>
            <a:r>
              <a:rPr lang="en-US"/>
              <a:t>No experiment, exploitation, cloud call or change to Chapter 4 was performed.</a:t>
            </a:r>
          </a:p>
          <a:p/>
          <a:p>
            <a:r>
              <a:rPr lang="en-US"/>
              <a:t>SOURCE</a:t>
            </a:r>
          </a:p>
          <a:p>
            <a:r>
              <a:rPr lang="en-US"/>
              <a:t>Workspace-relative: overleaf/chapters/chapter4.tex.</a:t>
            </a:r>
          </a:p>
          <a:p>
            <a:r>
              <a:rPr lang="en-US"/>
              <a:t>Exact source fingerprint, threat/requirement references and modeling rationale</a:t>
            </a:r>
          </a:p>
          <a:p>
            <a:r>
              <a:rPr lang="en-US"/>
              <a:t>are stored alongside these slides in trees.json, source-map.json and README.md.</a:t>
            </a:r>
          </a:p>
          <a:p/>
          <a:p>
            <a:r>
              <a:rPr lang="en-US"/>
              <a:t>TREE-SPECIFIC MODEL</a:t>
            </a:r>
          </a:p>
          <a:p>
            <a:r>
              <a:rPr lang="en-US"/>
              <a:t>{</a:t>
            </a:r>
          </a:p>
          <a:p>
            <a:r>
              <a:rPr lang="en-US"/>
              <a:t>  "title": "Attack tree: model-production integrity",</a:t>
            </a:r>
          </a:p>
          <a:p>
            <a:r>
              <a:rPr lang="en-US"/>
              <a:t>  "assets": [</a:t>
            </a:r>
          </a:p>
          <a:p>
            <a:r>
              <a:rPr lang="en-US"/>
              <a:t>    "A1",</a:t>
            </a:r>
          </a:p>
          <a:p>
            <a:r>
              <a:rPr lang="en-US"/>
              <a:t>    "A2",</a:t>
            </a:r>
          </a:p>
          <a:p>
            <a:r>
              <a:rPr lang="en-US"/>
              <a:t>    "A3",</a:t>
            </a:r>
          </a:p>
          <a:p>
            <a:r>
              <a:rPr lang="en-US"/>
              <a:t>    "A4",</a:t>
            </a:r>
          </a:p>
          <a:p>
            <a:r>
              <a:rPr lang="en-US"/>
              <a:t>    "A7"</a:t>
            </a:r>
          </a:p>
          <a:p>
            <a:r>
              <a:rPr lang="en-US"/>
              <a:t>  ],</a:t>
            </a:r>
          </a:p>
          <a:p>
            <a:r>
              <a:rPr lang="en-US"/>
              <a:t>  "requirements": [</a:t>
            </a:r>
          </a:p>
          <a:p>
            <a:r>
              <a:rPr lang="en-US"/>
              <a:t>    "F3",</a:t>
            </a:r>
          </a:p>
          <a:p>
            <a:r>
              <a:rPr lang="en-US"/>
              <a:t>    "F4",</a:t>
            </a:r>
          </a:p>
          <a:p>
            <a:r>
              <a:rPr lang="en-US"/>
              <a:t>    "F5",</a:t>
            </a:r>
          </a:p>
          <a:p>
            <a:r>
              <a:rPr lang="en-US"/>
              <a:t>    "F9",</a:t>
            </a:r>
          </a:p>
          <a:p>
            <a:r>
              <a:rPr lang="en-US"/>
              <a:t>    "F11",</a:t>
            </a:r>
          </a:p>
          <a:p>
            <a:r>
              <a:rPr lang="en-US"/>
              <a:t>    "NF3",</a:t>
            </a:r>
          </a:p>
          <a:p>
            <a:r>
              <a:rPr lang="en-US"/>
              <a:t>    "NF4"</a:t>
            </a:r>
          </a:p>
          <a:p>
            <a:r>
              <a:rPr lang="en-US"/>
              <a:t>  ],</a:t>
            </a:r>
          </a:p>
          <a:p>
            <a:r>
              <a:rPr lang="en-US"/>
              <a:t>  "assumptions": [</a:t>
            </a:r>
          </a:p>
          <a:p>
            <a:r>
              <a:rPr lang="en-US"/>
              <a:t>    "AS1",</a:t>
            </a:r>
          </a:p>
          <a:p>
            <a:r>
              <a:rPr lang="en-US"/>
              <a:t>    "AS2",</a:t>
            </a:r>
          </a:p>
          <a:p>
            <a:r>
              <a:rPr lang="en-US"/>
              <a:t>    "AS3",</a:t>
            </a:r>
          </a:p>
          <a:p>
            <a:r>
              <a:rPr lang="en-US"/>
              <a:t>    "AS4",</a:t>
            </a:r>
          </a:p>
          <a:p>
            <a:r>
              <a:rPr lang="en-US"/>
              <a:t>    "AS5",</a:t>
            </a:r>
          </a:p>
          <a:p>
            <a:r>
              <a:rPr lang="en-US"/>
              <a:t>    "AS6",</a:t>
            </a:r>
          </a:p>
          <a:p>
            <a:r>
              <a:rPr lang="en-US"/>
              <a:t>    "AS7"</a:t>
            </a:r>
          </a:p>
          <a:p>
            <a:r>
              <a:rPr lang="en-US"/>
              <a:t>  ],</a:t>
            </a:r>
          </a:p>
          <a:p>
            <a:r>
              <a:rPr lang="en-US"/>
              <a:t>  "branches": [</a:t>
            </a:r>
          </a:p>
          <a:p>
            <a:r>
              <a:rPr lang="en-US"/>
              <a:t>    {</a:t>
            </a:r>
          </a:p>
          <a:p>
            <a:r>
              <a:rPr lang="en-US"/>
              <a:t>      "label": "Abuse participant authority",</a:t>
            </a:r>
          </a:p>
          <a:p>
            <a:r>
              <a:rPr lang="en-US"/>
              <a:t>      "leaves": [</a:t>
            </a:r>
          </a:p>
          <a:p>
            <a:r>
              <a:rPr lang="en-US"/>
              <a:t>        {</a:t>
            </a:r>
          </a:p>
          <a:p>
            <a:r>
              <a:rPr lang="en-US"/>
              <a:t>          "label": "Get an unapproved workload admitted",</a:t>
            </a:r>
          </a:p>
          <a:p>
            <a:r>
              <a:rPr lang="en-US"/>
              <a:t>          "threats": [</a:t>
            </a:r>
          </a:p>
          <a:p>
            <a:r>
              <a:rPr lang="en-US"/>
              <a:t>            "T1"</a:t>
            </a:r>
          </a:p>
          <a:p>
            <a:r>
              <a:rPr lang="en-US"/>
              <a:t>          ],</a:t>
            </a:r>
          </a:p>
          <a:p>
            <a:r>
              <a:rPr lang="en-US"/>
              <a:t>          "note": "Includes genuine evidence for disallowed code and rebinding valid evidence to another identity, action key, endpoint, or deployment. Genuine hardware evidence alone is insufficient authorization.",</a:t>
            </a:r>
          </a:p>
          <a:p>
            <a:r>
              <a:rPr lang="en-US"/>
              <a:t>          "requirements": [</a:t>
            </a:r>
          </a:p>
          <a:p>
            <a:r>
              <a:rPr lang="en-US"/>
              <a:t>            "F3",</a:t>
            </a:r>
          </a:p>
          <a:p>
            <a:r>
              <a:rPr lang="en-US"/>
              <a:t>            "F11"</a:t>
            </a:r>
          </a:p>
          <a:p>
            <a:r>
              <a:rPr lang="en-US"/>
              <a:t>          ],</a:t>
            </a:r>
          </a:p>
          <a:p>
            <a:r>
              <a:rPr lang="en-US"/>
              <a:t>          "assumptions": [</a:t>
            </a:r>
          </a:p>
          <a:p>
            <a:r>
              <a:rPr lang="en-US"/>
              <a:t>            "AS2",</a:t>
            </a:r>
          </a:p>
          <a:p>
            <a:r>
              <a:rPr lang="en-US"/>
              <a:t>            "AS3",</a:t>
            </a:r>
          </a:p>
          <a:p>
            <a:r>
              <a:rPr lang="en-US"/>
              <a:t>            "AS4",</a:t>
            </a:r>
          </a:p>
          <a:p>
            <a:r>
              <a:rPr lang="en-US"/>
              <a:t>            "AS5",</a:t>
            </a:r>
          </a:p>
          <a:p>
            <a:r>
              <a:rPr lang="en-US"/>
              <a:t>            "AS6"</a:t>
            </a:r>
          </a:p>
          <a:p>
            <a:r>
              <a:rPr lang="en-US"/>
              <a:t>          ],</a:t>
            </a:r>
          </a:p>
          <a:p>
            <a:r>
              <a:rPr lang="en-US"/>
              <a:t>          "scope": "modeled_attack"</a:t>
            </a:r>
          </a:p>
          <a:p>
            <a:r>
              <a:rPr lang="en-US"/>
              <a:t>        },</a:t>
            </a:r>
          </a:p>
          <a:p>
            <a:r>
              <a:rPr lang="en-US"/>
              <a:t>        {</a:t>
            </a:r>
          </a:p>
          <a:p>
            <a:r>
              <a:rPr lang="en-US"/>
              <a:t>          "label": "Get stale authority or updates accepted",</a:t>
            </a:r>
          </a:p>
          <a:p>
            <a:r>
              <a:rPr lang="en-US"/>
              <a:t>          "threats": [</a:t>
            </a:r>
          </a:p>
          <a:p>
            <a:r>
              <a:rPr lang="en-US"/>
              <a:t>            "T2"</a:t>
            </a:r>
          </a:p>
          <a:p>
            <a:r>
              <a:rPr lang="en-US"/>
              <a:t>          ],</a:t>
            </a:r>
          </a:p>
          <a:p>
            <a:r>
              <a:rPr lang="en-US"/>
              <a:t>          "note": "Reuse a consumed registration, superseded authority, or contribution from another round/deployment. Counter consumption prevents reuse, but is not proof of quote recentness.",</a:t>
            </a:r>
          </a:p>
          <a:p>
            <a:r>
              <a:rPr lang="en-US"/>
              <a:t>          "requirements": [</a:t>
            </a:r>
          </a:p>
          <a:p>
            <a:r>
              <a:rPr lang="en-US"/>
              <a:t>            "F11"</a:t>
            </a:r>
          </a:p>
          <a:p>
            <a:r>
              <a:rPr lang="en-US"/>
              <a:t>          ],</a:t>
            </a:r>
          </a:p>
          <a:p>
            <a:r>
              <a:rPr lang="en-US"/>
              <a:t>          "assumptions": [],</a:t>
            </a:r>
          </a:p>
          <a:p>
            <a:r>
              <a:rPr lang="en-US"/>
              <a:t>          "scope": "modeled_attack"</a:t>
            </a:r>
          </a:p>
          <a:p>
            <a:r>
              <a:rPr lang="en-US"/>
              <a:t>        }</a:t>
            </a:r>
          </a:p>
          <a:p>
            <a:r>
              <a:rPr lang="en-US"/>
              <a:t>      ],</a:t>
            </a:r>
          </a:p>
          <a:p>
            <a:r>
              <a:rPr lang="en-US"/>
              <a:t>      "note": "",</a:t>
            </a:r>
          </a:p>
          <a:p>
            <a:r>
              <a:rPr lang="en-US"/>
              <a:t>      "operator": "OR",</a:t>
            </a:r>
          </a:p>
          <a:p>
            <a:r>
              <a:rPr lang="en-US"/>
              <a:t>      "boundary": "checked",</a:t>
            </a:r>
          </a:p>
          <a:p>
            <a:r>
              <a:rPr lang="en-US"/>
              <a:t>      "annotation": "Requirements: F3 · F11",</a:t>
            </a:r>
          </a:p>
          <a:p>
            <a:r>
              <a:rPr lang="en-US"/>
              <a:t>      "requirements": [</a:t>
            </a:r>
          </a:p>
          <a:p>
            <a:r>
              <a:rPr lang="en-US"/>
              <a:t>        "F11",</a:t>
            </a:r>
          </a:p>
          <a:p>
            <a:r>
              <a:rPr lang="en-US"/>
              <a:t>        "F3"</a:t>
            </a:r>
          </a:p>
          <a:p>
            <a:r>
              <a:rPr lang="en-US"/>
              <a:t>      ],</a:t>
            </a:r>
          </a:p>
          <a:p>
            <a:r>
              <a:rPr lang="en-US"/>
              <a:t>      "assumptions": [</a:t>
            </a:r>
          </a:p>
          <a:p>
            <a:r>
              <a:rPr lang="en-US"/>
              <a:t>        "AS2",</a:t>
            </a:r>
          </a:p>
          <a:p>
            <a:r>
              <a:rPr lang="en-US"/>
              <a:t>        "AS3",</a:t>
            </a:r>
          </a:p>
          <a:p>
            <a:r>
              <a:rPr lang="en-US"/>
              <a:t>        "AS4",</a:t>
            </a:r>
          </a:p>
          <a:p>
            <a:r>
              <a:rPr lang="en-US"/>
              <a:t>        "AS5",</a:t>
            </a:r>
          </a:p>
          <a:p>
            <a:r>
              <a:rPr lang="en-US"/>
              <a:t>        "AS6"</a:t>
            </a:r>
          </a:p>
          <a:p>
            <a:r>
              <a:rPr lang="en-US"/>
              <a:t>      ],</a:t>
            </a:r>
          </a:p>
          <a:p>
            <a:r>
              <a:rPr lang="en-US"/>
              <a:t>      "rationale": "Alternative successful subgoals of the named attack surface. A leaf denotes its successful effect, not merely an attempted mutation or replay."</a:t>
            </a:r>
          </a:p>
          <a:p>
            <a:r>
              <a:rPr lang="en-US"/>
              <a:t>    },</a:t>
            </a:r>
          </a:p>
          <a:p>
            <a:r>
              <a:rPr lang="en-US"/>
              <a:t>    {</a:t>
            </a:r>
          </a:p>
          <a:p>
            <a:r>
              <a:rPr lang="en-US"/>
              <a:t>      "label": "Corrupt training inputs",</a:t>
            </a:r>
          </a:p>
          <a:p>
            <a:r>
              <a:rPr lang="en-US"/>
              <a:t>      "leaves": [</a:t>
            </a:r>
          </a:p>
          <a:p>
            <a:r>
              <a:rPr lang="en-US"/>
              <a:t>        {</a:t>
            </a:r>
          </a:p>
          <a:p>
            <a:r>
              <a:rPr lang="en-US"/>
              <a:t>          "label": "Get altered data or signer roles accepted",</a:t>
            </a:r>
          </a:p>
          <a:p>
            <a:r>
              <a:rPr lang="en-US"/>
              <a:t>          "threats": [</a:t>
            </a:r>
          </a:p>
          <a:p>
            <a:r>
              <a:rPr lang="en-US"/>
              <a:t>            "T3"</a:t>
            </a:r>
          </a:p>
          <a:p>
            <a:r>
              <a:rPr lang="en-US"/>
              <a:t>          ],</a:t>
            </a:r>
          </a:p>
          <a:p>
            <a:r>
              <a:rPr lang="en-US"/>
              <a:t>          "note": "Changes to signed images/annotations, substituted signer roles, or keys outside the current signer-policy snapshot are detected before training.",</a:t>
            </a:r>
          </a:p>
          <a:p>
            <a:r>
              <a:rPr lang="en-US"/>
              <a:t>          "requirements": [</a:t>
            </a:r>
          </a:p>
          <a:p>
            <a:r>
              <a:rPr lang="en-US"/>
              <a:t>            "F9"</a:t>
            </a:r>
          </a:p>
          <a:p>
            <a:r>
              <a:rPr lang="en-US"/>
              <a:t>          ],</a:t>
            </a:r>
          </a:p>
          <a:p>
            <a:r>
              <a:rPr lang="en-US"/>
              <a:t>          "assumptions": [</a:t>
            </a:r>
          </a:p>
          <a:p>
            <a:r>
              <a:rPr lang="en-US"/>
              <a:t>            "AS1",</a:t>
            </a:r>
          </a:p>
          <a:p>
            <a:r>
              <a:rPr lang="en-US"/>
              <a:t>            "AS5",</a:t>
            </a:r>
          </a:p>
          <a:p>
            <a:r>
              <a:rPr lang="en-US"/>
              <a:t>            "AS7"</a:t>
            </a:r>
          </a:p>
          <a:p>
            <a:r>
              <a:rPr lang="en-US"/>
              <a:t>          ],</a:t>
            </a:r>
          </a:p>
          <a:p>
            <a:r>
              <a:rPr lang="en-US"/>
              <a:t>          "scope": "modeled_attack"</a:t>
            </a:r>
          </a:p>
          <a:p>
            <a:r>
              <a:rPr lang="en-US"/>
              <a:t>        },</a:t>
            </a:r>
          </a:p>
          <a:p>
            <a:r>
              <a:rPr lang="en-US"/>
              <a:t>        {</a:t>
            </a:r>
          </a:p>
          <a:p>
            <a:r>
              <a:rPr lang="en-US"/>
              <a:t>          "label": "Get valid poisoned contributions accepted",</a:t>
            </a:r>
          </a:p>
          <a:p>
            <a:r>
              <a:rPr lang="en-US"/>
              <a:t>          "threats": [</a:t>
            </a:r>
          </a:p>
          <a:p>
            <a:r>
              <a:rPr lang="en-US"/>
              <a:t>            "T7",</a:t>
            </a:r>
          </a:p>
          <a:p>
            <a:r>
              <a:rPr lang="en-US"/>
              <a:t>            "T14"</a:t>
            </a:r>
          </a:p>
          <a:p>
            <a:r>
              <a:rPr lang="en-US"/>
              <a:t>          ],</a:t>
            </a:r>
          </a:p>
          <a:p>
            <a:r>
              <a:rPr lang="en-US"/>
              <a:t>          "note": "An authorized signer or a coalition can submit attributable but semantically harmful data/updates. Equal-weight aggregation does not establish statistical benignity or resistance to coordinated poisoning.",</a:t>
            </a:r>
          </a:p>
          <a:p>
            <a:r>
              <a:rPr lang="en-US"/>
              <a:t>          "requirements": [</a:t>
            </a:r>
          </a:p>
          <a:p>
            <a:r>
              <a:rPr lang="en-US"/>
              <a:t>            "F5",</a:t>
            </a:r>
          </a:p>
          <a:p>
            <a:r>
              <a:rPr lang="en-US"/>
              <a:t>            "F9",</a:t>
            </a:r>
          </a:p>
          <a:p>
            <a:r>
              <a:rPr lang="en-US"/>
              <a:t>            "NF4"</a:t>
            </a:r>
          </a:p>
          <a:p>
            <a:r>
              <a:rPr lang="en-US"/>
              <a:t>          ],</a:t>
            </a:r>
          </a:p>
          <a:p>
            <a:r>
              <a:rPr lang="en-US"/>
              <a:t>          "assumptions": [],</a:t>
            </a:r>
          </a:p>
          <a:p>
            <a:r>
              <a:rPr lang="en-US"/>
              <a:t>          "scope": "residual_learning_risk"</a:t>
            </a:r>
          </a:p>
          <a:p>
            <a:r>
              <a:rPr lang="en-US"/>
              <a:t>        }</a:t>
            </a:r>
          </a:p>
          <a:p>
            <a:r>
              <a:rPr lang="en-US"/>
              <a:t>      ],</a:t>
            </a:r>
          </a:p>
          <a:p>
            <a:r>
              <a:rPr lang="en-US"/>
              <a:t>      "note": "",</a:t>
            </a:r>
          </a:p>
          <a:p>
            <a:r>
              <a:rPr lang="en-US"/>
              <a:t>      "operator": "OR",</a:t>
            </a:r>
          </a:p>
          <a:p>
            <a:r>
              <a:rPr lang="en-US"/>
              <a:t>      "boundary": "mixed",</a:t>
            </a:r>
          </a:p>
          <a:p>
            <a:r>
              <a:rPr lang="en-US"/>
              <a:t>      "annotation": "F9 · NF4; valid poisoning remains a risk",</a:t>
            </a:r>
          </a:p>
          <a:p>
            <a:r>
              <a:rPr lang="en-US"/>
              <a:t>      "requirements": [</a:t>
            </a:r>
          </a:p>
          <a:p>
            <a:r>
              <a:rPr lang="en-US"/>
              <a:t>        "F5",</a:t>
            </a:r>
          </a:p>
          <a:p>
            <a:r>
              <a:rPr lang="en-US"/>
              <a:t>        "F9",</a:t>
            </a:r>
          </a:p>
          <a:p>
            <a:r>
              <a:rPr lang="en-US"/>
              <a:t>        "NF4"</a:t>
            </a:r>
          </a:p>
          <a:p>
            <a:r>
              <a:rPr lang="en-US"/>
              <a:t>      ],</a:t>
            </a:r>
          </a:p>
          <a:p>
            <a:r>
              <a:rPr lang="en-US"/>
              <a:t>      "assumptions": [</a:t>
            </a:r>
          </a:p>
          <a:p>
            <a:r>
              <a:rPr lang="en-US"/>
              <a:t>        "AS1",</a:t>
            </a:r>
          </a:p>
          <a:p>
            <a:r>
              <a:rPr lang="en-US"/>
              <a:t>        "AS5",</a:t>
            </a:r>
          </a:p>
          <a:p>
            <a:r>
              <a:rPr lang="en-US"/>
              <a:t>        "AS7"</a:t>
            </a:r>
          </a:p>
          <a:p>
            <a:r>
              <a:rPr lang="en-US"/>
              <a:t>      ],</a:t>
            </a:r>
          </a:p>
          <a:p>
            <a:r>
              <a:rPr lang="en-US"/>
              <a:t>      "rationale": "Alternative successful subgoals of the named attack surface. A leaf denotes its successful effect, not merely an attempted mutation or replay."</a:t>
            </a:r>
          </a:p>
          <a:p>
            <a:r>
              <a:rPr lang="en-US"/>
              <a:t>    },</a:t>
            </a:r>
          </a:p>
          <a:p>
            <a:r>
              <a:rPr lang="en-US"/>
              <a:t>    {</a:t>
            </a:r>
          </a:p>
          <a:p>
            <a:r>
              <a:rPr lang="en-US"/>
              <a:t>      "label": "Corrupt the publication",</a:t>
            </a:r>
          </a:p>
          <a:p>
            <a:r>
              <a:rPr lang="en-US"/>
              <a:t>      "leaves": [</a:t>
            </a:r>
          </a:p>
          <a:p>
            <a:r>
              <a:rPr lang="en-US"/>
              <a:t>        {</a:t>
            </a:r>
          </a:p>
          <a:p>
            <a:r>
              <a:rPr lang="en-US"/>
              <a:t>          "label": "Get substituted or stale artifacts accepted",</a:t>
            </a:r>
          </a:p>
          <a:p>
            <a:r>
              <a:rPr lang="en-US"/>
              <a:t>          "threats": [</a:t>
            </a:r>
          </a:p>
          <a:p>
            <a:r>
              <a:rPr lang="en-US"/>
              <a:t>            "T4"</a:t>
            </a:r>
          </a:p>
          <a:p>
            <a:r>
              <a:rPr lang="en-US"/>
              <a:t>          ],</a:t>
            </a:r>
          </a:p>
          <a:p>
            <a:r>
              <a:rPr lang="en-US"/>
              <a:t>          "note": "Return an unrelated or stale update, global model, signature, or recipient bundle instead of the objects selected by authoritative state. Publication/parent-model context matters in addition to a valid signature.",</a:t>
            </a:r>
          </a:p>
          <a:p>
            <a:r>
              <a:rPr lang="en-US"/>
              <a:t>          "requirements": [</a:t>
            </a:r>
          </a:p>
          <a:p>
            <a:r>
              <a:rPr lang="en-US"/>
              <a:t>            "F5"</a:t>
            </a:r>
          </a:p>
          <a:p>
            <a:r>
              <a:rPr lang="en-US"/>
              <a:t>          ],</a:t>
            </a:r>
          </a:p>
          <a:p>
            <a:r>
              <a:rPr lang="en-US"/>
              <a:t>          "assumptions": [],</a:t>
            </a:r>
          </a:p>
          <a:p>
            <a:r>
              <a:rPr lang="en-US"/>
              <a:t>          "scope": "modeled_attack"</a:t>
            </a:r>
          </a:p>
          <a:p>
            <a:r>
              <a:rPr lang="en-US"/>
              <a:t>        },</a:t>
            </a:r>
          </a:p>
          <a:p>
            <a:r>
              <a:rPr lang="en-US"/>
              <a:t>        {</a:t>
            </a:r>
          </a:p>
          <a:p>
            <a:r>
              <a:rPr lang="en-US"/>
              <a:t>          "label": "Publish while omitting an accepted update",</a:t>
            </a:r>
          </a:p>
          <a:p>
            <a:r>
              <a:rPr lang="en-US"/>
              <a:t>          "threats": [</a:t>
            </a:r>
          </a:p>
          <a:p>
            <a:r>
              <a:rPr lang="en-US"/>
              <a:t>            "T6"</a:t>
            </a:r>
          </a:p>
          <a:p>
            <a:r>
              <a:rPr lang="en-US"/>
              <a:t>          ],</a:t>
            </a:r>
          </a:p>
          <a:p>
            <a:r>
              <a:rPr lang="en-US"/>
              <a:t>          "note": "Omission after acceptance is the integrity arm of T6. The closed accepted set and intact measured aggregation path constrain it. Stalling before publication is shown in the availability tree.",</a:t>
            </a:r>
          </a:p>
          <a:p>
            <a:r>
              <a:rPr lang="en-US"/>
              <a:t>          "requirements": [</a:t>
            </a:r>
          </a:p>
          <a:p>
            <a:r>
              <a:rPr lang="en-US"/>
              <a:t>            "F4"</a:t>
            </a:r>
          </a:p>
          <a:p>
            <a:r>
              <a:rPr lang="en-US"/>
              <a:t>          ],</a:t>
            </a:r>
          </a:p>
          <a:p>
            <a:r>
              <a:rPr lang="en-US"/>
              <a:t>          "assumptions": [],</a:t>
            </a:r>
          </a:p>
          <a:p>
            <a:r>
              <a:rPr lang="en-US"/>
              <a:t>          "scope": "modeled_attack"</a:t>
            </a:r>
          </a:p>
          <a:p>
            <a:r>
              <a:rPr lang="en-US"/>
              <a:t>        }</a:t>
            </a:r>
          </a:p>
          <a:p>
            <a:r>
              <a:rPr lang="en-US"/>
              <a:t>      ],</a:t>
            </a:r>
          </a:p>
          <a:p>
            <a:r>
              <a:rPr lang="en-US"/>
              <a:t>      "note": "",</a:t>
            </a:r>
          </a:p>
          <a:p>
            <a:r>
              <a:rPr lang="en-US"/>
              <a:t>      "operator": "OR",</a:t>
            </a:r>
          </a:p>
          <a:p>
            <a:r>
              <a:rPr lang="en-US"/>
              <a:t>      "boundary": "checked",</a:t>
            </a:r>
          </a:p>
          <a:p>
            <a:r>
              <a:rPr lang="en-US"/>
              <a:t>      "annotation": "Requirements: F4 · F5",</a:t>
            </a:r>
          </a:p>
          <a:p>
            <a:r>
              <a:rPr lang="en-US"/>
              <a:t>      "requirements": [</a:t>
            </a:r>
          </a:p>
          <a:p>
            <a:r>
              <a:rPr lang="en-US"/>
              <a:t>        "F4",</a:t>
            </a:r>
          </a:p>
          <a:p>
            <a:r>
              <a:rPr lang="en-US"/>
              <a:t>        "F5"</a:t>
            </a:r>
          </a:p>
          <a:p>
            <a:r>
              <a:rPr lang="en-US"/>
              <a:t>      ],</a:t>
            </a:r>
          </a:p>
          <a:p>
            <a:r>
              <a:rPr lang="en-US"/>
              <a:t>      "assumptions": [],</a:t>
            </a:r>
          </a:p>
          <a:p>
            <a:r>
              <a:rPr lang="en-US"/>
              <a:t>      "rationale": "Alternative successful subgoals of the named attack surface. A leaf denotes its successful effect, not merely an attempted mutation or replay."</a:t>
            </a:r>
          </a:p>
          <a:p>
            <a:r>
              <a:rPr lang="en-US"/>
              <a:t>    }</a:t>
            </a:r>
          </a:p>
          <a:p>
            <a:r>
              <a:rPr lang="en-US"/>
              <a:t>  ],</a:t>
            </a:r>
          </a:p>
          <a:p>
            <a:r>
              <a:rPr lang="en-US"/>
              <a:t>  "boundary": "Valid signatures establish provenance, not benign learning.",</a:t>
            </a:r>
          </a:p>
          <a:p>
            <a:r>
              <a:rPr lang="en-US"/>
              <a:t>  "notes": "This tree groups the threats by attack surface. The root and intermediate nodes are attacker objectives; the leaves describe hypothetical successful misuse. Every OR node represents alternative means. Requirements are relevant controls, not attack leaves. The poison-input path remains a residual risk rather than a demonstrated rejected exploit.",</a:t>
            </a:r>
          </a:p>
          <a:p>
            <a:r>
              <a:rPr lang="en-US"/>
              <a:t>  "number": 1,</a:t>
            </a:r>
          </a:p>
          <a:p>
            <a:r>
              <a:rPr lang="en-US"/>
              <a:t>  "slug": "training",</a:t>
            </a:r>
          </a:p>
          <a:p>
            <a:r>
              <a:rPr lang="en-US"/>
              <a:t>  "label_de": "Training und Modellintegrität",</a:t>
            </a:r>
          </a:p>
          <a:p>
            <a:r>
              <a:rPr lang="en-US"/>
              <a:t>  "goal": "Compromise model production",</a:t>
            </a:r>
          </a:p>
          <a:p>
            <a:r>
              <a:rPr lang="en-US"/>
              <a:t>  "operator": "OR",</a:t>
            </a:r>
          </a:p>
          <a:p>
            <a:r>
              <a:rPr lang="en-US"/>
              <a:t>  "domains": [</a:t>
            </a:r>
          </a:p>
          <a:p>
            <a:r>
              <a:rPr lang="en-US"/>
              <a:t>    "DFL"</a:t>
            </a:r>
          </a:p>
          <a:p>
            <a:r>
              <a:rPr lang="en-US"/>
              <a:t>  ]</a:t>
            </a:r>
          </a:p>
          <a:p>
            <a:r>
              <a:rPr lang="en-US"/>
              <a: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PURPOSE</a:t>
            </a:r>
          </a:p>
          <a:p>
            <a:r>
              <a:rPr lang="en-US"/>
              <a:t>Editable attack-tree proposals derived from Chapter 4, Security Model and System</a:t>
            </a:r>
          </a:p>
          <a:p>
            <a:r>
              <a:rPr lang="en-US"/>
              <a:t>Requirements. The chapter contains a threat catalogue and use/misuse cases, not</a:t>
            </a:r>
          </a:p>
          <a:p>
            <a:r>
              <a:rPr lang="en-US"/>
              <a:t>these attack trees. The goal decomposition and its grouping are an explanatory</a:t>
            </a:r>
          </a:p>
          <a:p>
            <a:r>
              <a:rPr lang="en-US"/>
              <a:t>synthesis for the presentation; they are not quoted thesis figures or a formal</a:t>
            </a:r>
          </a:p>
          <a:p>
            <a:r>
              <a:rPr lang="en-US"/>
              <a:t>completeness result. The chapter and main presentation are left unchanged.</a:t>
            </a:r>
          </a:p>
          <a:p/>
          <a:p>
            <a:r>
              <a:rPr lang="en-US"/>
              <a:t>HOW TO READ THE TREE</a:t>
            </a:r>
          </a:p>
          <a:p>
            <a:r>
              <a:rPr lang="en-US"/>
              <a:t>A parent is the attacker's goal or subgoal. OR means any one child is sufficient</a:t>
            </a:r>
          </a:p>
          <a:p>
            <a:r>
              <a:rPr lang="en-US"/>
              <a:t>for the modeled parent; AND means every child condition must hold together.</a:t>
            </a:r>
          </a:p>
          <a:p>
            <a:r>
              <a:rPr lang="en-US"/>
              <a:t>Edges are decomposition, not a chronological sequence or a message flow.</a:t>
            </a:r>
          </a:p>
          <a:p>
            <a:r>
              <a:rPr lang="en-US"/>
              <a:t>Attack leaves refer to hypothetical successful subgoals, not instructions for</a:t>
            </a:r>
          </a:p>
          <a:p>
            <a:r>
              <a:rPr lang="en-US"/>
              <a:t>exploiting a demonstrated implementation vulnerability. AND joins only joint</a:t>
            </a:r>
          </a:p>
          <a:p>
            <a:r>
              <a:rPr lang="en-US"/>
              <a:t>conditions, never an attack and the control designed to stop it.</a:t>
            </a:r>
          </a:p>
          <a:p>
            <a:r>
              <a:rPr lang="en-US"/>
              <a:t>Leaf T-identifiers refer to Chapter 4. Repeated T-identifiers represent different</a:t>
            </a:r>
          </a:p>
          <a:p>
            <a:r>
              <a:rPr lang="en-US"/>
              <a:t>facets or effects of the same threat, not additional threats. The four diagrams</a:t>
            </a:r>
          </a:p>
          <a:p>
            <a:r>
              <a:rPr lang="en-US"/>
              <a:t>together reference T1 through T14. They are intentionally selective abstractions;</a:t>
            </a:r>
          </a:p>
          <a:p>
            <a:r>
              <a:rPr lang="en-US"/>
              <a:t>not every attack described under each T-identifier is expanded into a leaf.</a:t>
            </a:r>
          </a:p>
          <a:p/>
          <a:p>
            <a:r>
              <a:rPr lang="en-US"/>
              <a:t>ASSURANCE BOUNDARY</a:t>
            </a:r>
          </a:p>
          <a:p>
            <a:r>
              <a:rPr lang="en-US"/>
              <a:t>Requirements F1–F11 and NF1–NF7 specify expected controls and claim limits; their</a:t>
            </a:r>
          </a:p>
          <a:p>
            <a:r>
              <a:rPr lang="en-US"/>
              <a:t>appearance here is not a claim of successful implementation, proof or test.</a:t>
            </a:r>
          </a:p>
          <a:p>
            <a:r>
              <a:rPr lang="en-US"/>
              <a:t>Residual risks and assumption failures remain distinct from attacks intended to</a:t>
            </a:r>
          </a:p>
          <a:p>
            <a:r>
              <a:rPr lang="en-US"/>
              <a:t>be rejected. In particular T7 concerns valid harmful data/updates, T13 breaks a</a:t>
            </a:r>
          </a:p>
          <a:p>
            <a:r>
              <a:rPr lang="en-US"/>
              <a:t>cryptographic/platform/key/governance premise, and T14 covers sufficient collusion.</a:t>
            </a:r>
          </a:p>
          <a:p>
            <a:r>
              <a:rPr lang="en-US"/>
              <a:t>A correct attestation/signature does not establish semantic truth or independent</a:t>
            </a:r>
          </a:p>
          <a:p>
            <a:r>
              <a:rPr lang="en-US"/>
              <a:t>organizational ownership. T10 allows whole-interaction suppression before a</a:t>
            </a:r>
          </a:p>
          <a:p>
            <a:r>
              <a:rPr lang="en-US"/>
              <a:t>receipt exists; T11 retains a split-view boundary without independent witnesses.</a:t>
            </a:r>
          </a:p>
          <a:p>
            <a:r>
              <a:rPr lang="en-US"/>
              <a:t>Targeted aggregator replacement does not establish availability of all services.</a:t>
            </a:r>
          </a:p>
          <a:p>
            <a:r>
              <a:rPr lang="en-US"/>
              <a:t>Style C separates requirement/limit annotations from the actual tree edges.</a:t>
            </a:r>
          </a:p>
          <a:p>
            <a:r>
              <a:rPr lang="en-US"/>
              <a:t>Amber highlights a stated residual or assumption boundary, not measured risk,</a:t>
            </a:r>
          </a:p>
          <a:p>
            <a:r>
              <a:rPr lang="en-US"/>
              <a:t>probability or attack severity. No numbers in these diagrams are risk scores.</a:t>
            </a:r>
          </a:p>
          <a:p/>
          <a:p>
            <a:r>
              <a:rPr lang="en-US"/>
              <a:t>VERSION SCOPE</a:t>
            </a:r>
          </a:p>
          <a:p>
            <a:r>
              <a:rPr lang="en-US"/>
              <a:t>The source is Chapter 4 as inspected for this task, including its stated legacy</a:t>
            </a:r>
          </a:p>
          <a:p>
            <a:r>
              <a:rPr lang="en-US"/>
              <a:t>per-inference attestation limitations. Newer RA-TLS/Phala verification code and</a:t>
            </a:r>
          </a:p>
          <a:p>
            <a:r>
              <a:rPr lang="en-US"/>
              <a:t>recent experiments are not silently substituted for the chapter's specification.</a:t>
            </a:r>
          </a:p>
          <a:p>
            <a:r>
              <a:rPr lang="en-US"/>
              <a:t>No experiment, exploitation, cloud call or change to Chapter 4 was performed.</a:t>
            </a:r>
          </a:p>
          <a:p/>
          <a:p>
            <a:r>
              <a:rPr lang="en-US"/>
              <a:t>SOURCE</a:t>
            </a:r>
          </a:p>
          <a:p>
            <a:r>
              <a:rPr lang="en-US"/>
              <a:t>Workspace-relative: overleaf/chapters/chapter4.tex.</a:t>
            </a:r>
          </a:p>
          <a:p>
            <a:r>
              <a:rPr lang="en-US"/>
              <a:t>Exact source fingerprint, threat/requirement references and modeling rationale</a:t>
            </a:r>
          </a:p>
          <a:p>
            <a:r>
              <a:rPr lang="en-US"/>
              <a:t>are stored alongside these slides in trees.json, source-map.json and README.md.</a:t>
            </a:r>
          </a:p>
          <a:p/>
          <a:p>
            <a:r>
              <a:rPr lang="en-US"/>
              <a:t>TREE-SPECIFIC MODEL</a:t>
            </a:r>
          </a:p>
          <a:p>
            <a:r>
              <a:rPr lang="en-US"/>
              <a:t>{</a:t>
            </a:r>
          </a:p>
          <a:p>
            <a:r>
              <a:rPr lang="en-US"/>
              <a:t>  "title": "Attack tree: inference and agent integrity",</a:t>
            </a:r>
          </a:p>
          <a:p>
            <a:r>
              <a:rPr lang="en-US"/>
              <a:t>  "assets": [</a:t>
            </a:r>
          </a:p>
          <a:p>
            <a:r>
              <a:rPr lang="en-US"/>
              <a:t>    "A4",</a:t>
            </a:r>
          </a:p>
          <a:p>
            <a:r>
              <a:rPr lang="en-US"/>
              <a:t>    "A5",</a:t>
            </a:r>
          </a:p>
          <a:p>
            <a:r>
              <a:rPr lang="en-US"/>
              <a:t>    "A6"</a:t>
            </a:r>
          </a:p>
          <a:p>
            <a:r>
              <a:rPr lang="en-US"/>
              <a:t>  ],</a:t>
            </a:r>
          </a:p>
          <a:p>
            <a:r>
              <a:rPr lang="en-US"/>
              <a:t>  "requirements": [</a:t>
            </a:r>
          </a:p>
          <a:p>
            <a:r>
              <a:rPr lang="en-US"/>
              <a:t>    "F5",</a:t>
            </a:r>
          </a:p>
          <a:p>
            <a:r>
              <a:rPr lang="en-US"/>
              <a:t>    "F6",</a:t>
            </a:r>
          </a:p>
          <a:p>
            <a:r>
              <a:rPr lang="en-US"/>
              <a:t>    "F8",</a:t>
            </a:r>
          </a:p>
          <a:p>
            <a:r>
              <a:rPr lang="en-US"/>
              <a:t>    "F10",</a:t>
            </a:r>
          </a:p>
          <a:p>
            <a:r>
              <a:rPr lang="en-US"/>
              <a:t>    "F11",</a:t>
            </a:r>
          </a:p>
          <a:p>
            <a:r>
              <a:rPr lang="en-US"/>
              <a:t>    "NF3",</a:t>
            </a:r>
          </a:p>
          <a:p>
            <a:r>
              <a:rPr lang="en-US"/>
              <a:t>    "NF4"</a:t>
            </a:r>
          </a:p>
          <a:p>
            <a:r>
              <a:rPr lang="en-US"/>
              <a:t>  ],</a:t>
            </a:r>
          </a:p>
          <a:p>
            <a:r>
              <a:rPr lang="en-US"/>
              <a:t>  "assumptions": [</a:t>
            </a:r>
          </a:p>
          <a:p>
            <a:r>
              <a:rPr lang="en-US"/>
              <a:t>    "AS1",</a:t>
            </a:r>
          </a:p>
          <a:p>
            <a:r>
              <a:rPr lang="en-US"/>
              <a:t>    "AS3",</a:t>
            </a:r>
          </a:p>
          <a:p>
            <a:r>
              <a:rPr lang="en-US"/>
              <a:t>    "AS4",</a:t>
            </a:r>
          </a:p>
          <a:p>
            <a:r>
              <a:rPr lang="en-US"/>
              <a:t>    "AS5",</a:t>
            </a:r>
          </a:p>
          <a:p>
            <a:r>
              <a:rPr lang="en-US"/>
              <a:t>    "AS6"</a:t>
            </a:r>
          </a:p>
          <a:p>
            <a:r>
              <a:rPr lang="en-US"/>
              <a:t>  ],</a:t>
            </a:r>
          </a:p>
          <a:p>
            <a:r>
              <a:rPr lang="en-US"/>
              <a:t>  "branches": [</a:t>
            </a:r>
          </a:p>
          <a:p>
            <a:r>
              <a:rPr lang="en-US"/>
              <a:t>    {</a:t>
            </a:r>
          </a:p>
          <a:p>
            <a:r>
              <a:rPr lang="en-US"/>
              <a:t>      "label": "Substitute bound objects",</a:t>
            </a:r>
          </a:p>
          <a:p>
            <a:r>
              <a:rPr lang="en-US"/>
              <a:t>      "leaves": [</a:t>
            </a:r>
          </a:p>
          <a:p>
            <a:r>
              <a:rPr lang="en-US"/>
              <a:t>        {</a:t>
            </a:r>
          </a:p>
          <a:p>
            <a:r>
              <a:rPr lang="en-US"/>
              <a:t>          "label": "Get an answer for the wrong model/input accepted",</a:t>
            </a:r>
          </a:p>
          <a:p>
            <a:r>
              <a:rPr lang="en-US"/>
              <a:t>          "threats": [</a:t>
            </a:r>
          </a:p>
          <a:p>
            <a:r>
              <a:rPr lang="en-US"/>
              <a:t>            "T8"</a:t>
            </a:r>
          </a:p>
          <a:p>
            <a:r>
              <a:rPr lang="en-US"/>
              <a:t>          ],</a:t>
            </a:r>
          </a:p>
          <a:p>
            <a:r>
              <a:rPr lang="en-US"/>
              <a:t>          "note": "Cause inference for a model/input that differs from the selected finalized model tuple and receiver-issued image/job context.",</a:t>
            </a:r>
          </a:p>
          <a:p>
            <a:r>
              <a:rPr lang="en-US"/>
              <a:t>          "requirements": [</a:t>
            </a:r>
          </a:p>
          <a:p>
            <a:r>
              <a:rPr lang="en-US"/>
              <a:t>            "F5",</a:t>
            </a:r>
          </a:p>
          <a:p>
            <a:r>
              <a:rPr lang="en-US"/>
              <a:t>            "F6",</a:t>
            </a:r>
          </a:p>
          <a:p>
            <a:r>
              <a:rPr lang="en-US"/>
              <a:t>            "F11"</a:t>
            </a:r>
          </a:p>
          <a:p>
            <a:r>
              <a:rPr lang="en-US"/>
              <a:t>          ],</a:t>
            </a:r>
          </a:p>
          <a:p>
            <a:r>
              <a:rPr lang="en-US"/>
              <a:t>          "assumptions": [],</a:t>
            </a:r>
          </a:p>
          <a:p>
            <a:r>
              <a:rPr lang="en-US"/>
              <a:t>          "scope": "modeled_attack"</a:t>
            </a:r>
          </a:p>
          <a:p>
            <a:r>
              <a:rPr lang="en-US"/>
              <a:t>        },</a:t>
            </a:r>
          </a:p>
          <a:p>
            <a:r>
              <a:rPr lang="en-US"/>
              <a:t>        {</a:t>
            </a:r>
          </a:p>
          <a:p>
            <a:r>
              <a:rPr lang="en-US"/>
              <a:t>          "label": "Pass unrelated output/evidence as verified",</a:t>
            </a:r>
          </a:p>
          <a:p>
            <a:r>
              <a:rPr lang="en-US"/>
              <a:t>          "threats": [</a:t>
            </a:r>
          </a:p>
          <a:p>
            <a:r>
              <a:rPr lang="en-US"/>
              <a:t>            "T8"</a:t>
            </a:r>
          </a:p>
          <a:p>
            <a:r>
              <a:rPr lang="en-US"/>
              <a:t>          ],</a:t>
            </a:r>
          </a:p>
          <a:p>
            <a:r>
              <a:rPr lang="en-US"/>
              <a:t>          "note": "Combine individually valid request, output, receipt, attestation, or model-manifest objects into a misleadingly coherent result. Verification must check their bindings.",</a:t>
            </a:r>
          </a:p>
          <a:p>
            <a:r>
              <a:rPr lang="en-US"/>
              <a:t>          "requirements": [</a:t>
            </a:r>
          </a:p>
          <a:p>
            <a:r>
              <a:rPr lang="en-US"/>
              <a:t>            "F6",</a:t>
            </a:r>
          </a:p>
          <a:p>
            <a:r>
              <a:rPr lang="en-US"/>
              <a:t>            "F10",</a:t>
            </a:r>
          </a:p>
          <a:p>
            <a:r>
              <a:rPr lang="en-US"/>
              <a:t>            "F11"</a:t>
            </a:r>
          </a:p>
          <a:p>
            <a:r>
              <a:rPr lang="en-US"/>
              <a:t>          ],</a:t>
            </a:r>
          </a:p>
          <a:p>
            <a:r>
              <a:rPr lang="en-US"/>
              <a:t>          "assumptions": [],</a:t>
            </a:r>
          </a:p>
          <a:p>
            <a:r>
              <a:rPr lang="en-US"/>
              <a:t>          "scope": "modeled_attack"</a:t>
            </a:r>
          </a:p>
          <a:p>
            <a:r>
              <a:rPr lang="en-US"/>
              <a:t>        }</a:t>
            </a:r>
          </a:p>
          <a:p>
            <a:r>
              <a:rPr lang="en-US"/>
              <a:t>      ],</a:t>
            </a:r>
          </a:p>
          <a:p>
            <a:r>
              <a:rPr lang="en-US"/>
              <a:t>      "note": "",</a:t>
            </a:r>
          </a:p>
          <a:p>
            <a:r>
              <a:rPr lang="en-US"/>
              <a:t>      "operator": "OR",</a:t>
            </a:r>
          </a:p>
          <a:p>
            <a:r>
              <a:rPr lang="en-US"/>
              <a:t>      "boundary": "checked",</a:t>
            </a:r>
          </a:p>
          <a:p>
            <a:r>
              <a:rPr lang="en-US"/>
              <a:t>      "annotation": "Requirements: F5 · F6 · F10 · F11",</a:t>
            </a:r>
          </a:p>
          <a:p>
            <a:r>
              <a:rPr lang="en-US"/>
              <a:t>      "requirements": [</a:t>
            </a:r>
          </a:p>
          <a:p>
            <a:r>
              <a:rPr lang="en-US"/>
              <a:t>        "F10",</a:t>
            </a:r>
          </a:p>
          <a:p>
            <a:r>
              <a:rPr lang="en-US"/>
              <a:t>        "F11",</a:t>
            </a:r>
          </a:p>
          <a:p>
            <a:r>
              <a:rPr lang="en-US"/>
              <a:t>        "F5",</a:t>
            </a:r>
          </a:p>
          <a:p>
            <a:r>
              <a:rPr lang="en-US"/>
              <a:t>        "F6"</a:t>
            </a:r>
          </a:p>
          <a:p>
            <a:r>
              <a:rPr lang="en-US"/>
              <a:t>      ],</a:t>
            </a:r>
          </a:p>
          <a:p>
            <a:r>
              <a:rPr lang="en-US"/>
              <a:t>      "assumptions": [],</a:t>
            </a:r>
          </a:p>
          <a:p>
            <a:r>
              <a:rPr lang="en-US"/>
              <a:t>      "rationale": "Alternative successful subgoals of the named attack surface. A leaf denotes its successful effect, not merely an attempted mutation or replay."</a:t>
            </a:r>
          </a:p>
          <a:p>
            <a:r>
              <a:rPr lang="en-US"/>
              <a:t>    },</a:t>
            </a:r>
          </a:p>
          <a:p>
            <a:r>
              <a:rPr lang="en-US"/>
              <a:t>    {</a:t>
            </a:r>
          </a:p>
          <a:p>
            <a:r>
              <a:rPr lang="en-US"/>
              <a:t>      "label": "Replay an earlier context",</a:t>
            </a:r>
          </a:p>
          <a:p>
            <a:r>
              <a:rPr lang="en-US"/>
              <a:t>      "leaves": [</a:t>
            </a:r>
          </a:p>
          <a:p>
            <a:r>
              <a:rPr lang="en-US"/>
              <a:t>        {</a:t>
            </a:r>
          </a:p>
          <a:p>
            <a:r>
              <a:rPr lang="en-US"/>
              <a:t>          "label": "Get stale request/job context accepted",</a:t>
            </a:r>
          </a:p>
          <a:p>
            <a:r>
              <a:rPr lang="en-US"/>
              <a:t>          "threats": [</a:t>
            </a:r>
          </a:p>
          <a:p>
            <a:r>
              <a:rPr lang="en-US"/>
              <a:t>            "T2"</a:t>
            </a:r>
          </a:p>
          <a:p>
            <a:r>
              <a:rPr lang="en-US"/>
              <a:t>          ],</a:t>
            </a:r>
          </a:p>
          <a:p>
            <a:r>
              <a:rPr lang="en-US"/>
              <a:t>          "note": "Reuse a request/job from another model, receiver run, session, or request context.",</a:t>
            </a:r>
          </a:p>
          <a:p>
            <a:r>
              <a:rPr lang="en-US"/>
              <a:t>          "requirements": [</a:t>
            </a:r>
          </a:p>
          <a:p>
            <a:r>
              <a:rPr lang="en-US"/>
              <a:t>            "F11"</a:t>
            </a:r>
          </a:p>
          <a:p>
            <a:r>
              <a:rPr lang="en-US"/>
              <a:t>          ],</a:t>
            </a:r>
          </a:p>
          <a:p>
            <a:r>
              <a:rPr lang="en-US"/>
              <a:t>          "assumptions": [],</a:t>
            </a:r>
          </a:p>
          <a:p>
            <a:r>
              <a:rPr lang="en-US"/>
              <a:t>          "scope": "modeled_attack"</a:t>
            </a:r>
          </a:p>
          <a:p>
            <a:r>
              <a:rPr lang="en-US"/>
              <a:t>        },</a:t>
            </a:r>
          </a:p>
          <a:p>
            <a:r>
              <a:rPr lang="en-US"/>
              <a:t>        {</a:t>
            </a:r>
          </a:p>
          <a:p>
            <a:r>
              <a:rPr lang="en-US"/>
              <a:t>          "label": "Get another session's receipt accepted",</a:t>
            </a:r>
          </a:p>
          <a:p>
            <a:r>
              <a:rPr lang="en-US"/>
              <a:t>          "threats": [</a:t>
            </a:r>
          </a:p>
          <a:p>
            <a:r>
              <a:rPr lang="en-US"/>
              <a:t>            "T2"</a:t>
            </a:r>
          </a:p>
          <a:p>
            <a:r>
              <a:rPr lang="en-US"/>
              <a:t>          ],</a:t>
            </a:r>
          </a:p>
          <a:p>
            <a:r>
              <a:rPr lang="en-US"/>
              <a:t>          "note": "Reuse receipts or evidence across distinct contexts. The chapter explicitly does not exclude same-context replay within the issue-time window.",</a:t>
            </a:r>
          </a:p>
          <a:p>
            <a:r>
              <a:rPr lang="en-US"/>
              <a:t>          "requirements": [</a:t>
            </a:r>
          </a:p>
          <a:p>
            <a:r>
              <a:rPr lang="en-US"/>
              <a:t>            "F11"</a:t>
            </a:r>
          </a:p>
          <a:p>
            <a:r>
              <a:rPr lang="en-US"/>
              <a:t>          ],</a:t>
            </a:r>
          </a:p>
          <a:p>
            <a:r>
              <a:rPr lang="en-US"/>
              <a:t>          "assumptions": [],</a:t>
            </a:r>
          </a:p>
          <a:p>
            <a:r>
              <a:rPr lang="en-US"/>
              <a:t>          "scope": "modeled_attack"</a:t>
            </a:r>
          </a:p>
          <a:p>
            <a:r>
              <a:rPr lang="en-US"/>
              <a:t>        }</a:t>
            </a:r>
          </a:p>
          <a:p>
            <a:r>
              <a:rPr lang="en-US"/>
              <a:t>      ],</a:t>
            </a:r>
          </a:p>
          <a:p>
            <a:r>
              <a:rPr lang="en-US"/>
              <a:t>      "note": "",</a:t>
            </a:r>
          </a:p>
          <a:p>
            <a:r>
              <a:rPr lang="en-US"/>
              <a:t>      "operator": "OR",</a:t>
            </a:r>
          </a:p>
          <a:p>
            <a:r>
              <a:rPr lang="en-US"/>
              <a:t>      "boundary": "mixed",</a:t>
            </a:r>
          </a:p>
          <a:p>
            <a:r>
              <a:rPr lang="en-US"/>
              <a:t>      "annotation": "F11; same-context replay remains open",</a:t>
            </a:r>
          </a:p>
          <a:p>
            <a:r>
              <a:rPr lang="en-US"/>
              <a:t>      "requirements": [</a:t>
            </a:r>
          </a:p>
          <a:p>
            <a:r>
              <a:rPr lang="en-US"/>
              <a:t>        "F11"</a:t>
            </a:r>
          </a:p>
          <a:p>
            <a:r>
              <a:rPr lang="en-US"/>
              <a:t>      ],</a:t>
            </a:r>
          </a:p>
          <a:p>
            <a:r>
              <a:rPr lang="en-US"/>
              <a:t>      "assumptions": [],</a:t>
            </a:r>
          </a:p>
          <a:p>
            <a:r>
              <a:rPr lang="en-US"/>
              <a:t>      "rationale": "Alternative successful subgoals of the named attack surface. A leaf denotes its successful effect, not merely an attempted mutation or replay."</a:t>
            </a:r>
          </a:p>
          <a:p>
            <a:r>
              <a:rPr lang="en-US"/>
              <a:t>    },</a:t>
            </a:r>
          </a:p>
          <a:p>
            <a:r>
              <a:rPr lang="en-US"/>
              <a:t>    {</a:t>
            </a:r>
          </a:p>
          <a:p>
            <a:r>
              <a:rPr lang="en-US"/>
              <a:t>      "label": "Manipulate the agent",</a:t>
            </a:r>
          </a:p>
          <a:p>
            <a:r>
              <a:rPr lang="en-US"/>
              <a:t>      "leaves": [</a:t>
            </a:r>
          </a:p>
          <a:p>
            <a:r>
              <a:rPr lang="en-US"/>
              <a:t>        {</a:t>
            </a:r>
          </a:p>
          <a:p>
            <a:r>
              <a:rPr lang="en-US"/>
              <a:t>          "label": "Get an unverified answer accepted via injection",</a:t>
            </a:r>
          </a:p>
          <a:p>
            <a:r>
              <a:rPr lang="en-US"/>
              <a:t>          "threats": [</a:t>
            </a:r>
          </a:p>
          <a:p>
            <a:r>
              <a:rPr lang="en-US"/>
              <a:t>            "T9"</a:t>
            </a:r>
          </a:p>
          <a:p>
            <a:r>
              <a:rPr lang="en-US"/>
              <a:t>          ],</a:t>
            </a:r>
          </a:p>
          <a:p>
            <a:r>
              <a:rPr lang="en-US"/>
              <a:t>          "note": "Prompt injection or misleading metadata attempts to make the agent bypass mandatory verification. The actual acceptance decision belongs to deterministic services.",</a:t>
            </a:r>
          </a:p>
          <a:p>
            <a:r>
              <a:rPr lang="en-US"/>
              <a:t>          "requirements": [</a:t>
            </a:r>
          </a:p>
          <a:p>
            <a:r>
              <a:rPr lang="en-US"/>
              <a:t>            "F8",</a:t>
            </a:r>
          </a:p>
          <a:p>
            <a:r>
              <a:rPr lang="en-US"/>
              <a:t>            "NF3"</a:t>
            </a:r>
          </a:p>
          <a:p>
            <a:r>
              <a:rPr lang="en-US"/>
              <a:t>          ],</a:t>
            </a:r>
          </a:p>
          <a:p>
            <a:r>
              <a:rPr lang="en-US"/>
              <a:t>          "assumptions": [],</a:t>
            </a:r>
          </a:p>
          <a:p>
            <a:r>
              <a:rPr lang="en-US"/>
              <a:t>          "scope": "modeled_attack"</a:t>
            </a:r>
          </a:p>
          <a:p>
            <a:r>
              <a:rPr lang="en-US"/>
              <a:t>        },</a:t>
            </a:r>
          </a:p>
          <a:p>
            <a:r>
              <a:rPr lang="en-US"/>
              <a:t>        {</a:t>
            </a:r>
          </a:p>
          <a:p>
            <a:r>
              <a:rPr lang="en-US"/>
              <a:t>          "label": "Get spoofed tool identity/output accepted",</a:t>
            </a:r>
          </a:p>
          <a:p>
            <a:r>
              <a:rPr lang="en-US"/>
              <a:t>          "threats": [</a:t>
            </a:r>
          </a:p>
          <a:p>
            <a:r>
              <a:rPr lang="en-US"/>
              <a:t>            "T9"</a:t>
            </a:r>
          </a:p>
          <a:p>
            <a:r>
              <a:rPr lang="en-US"/>
              <a:t>          ],</a:t>
            </a:r>
          </a:p>
          <a:p>
            <a:r>
              <a:rPr lang="en-US"/>
              <a:t>          "note": "Tool-name conflicts or fabricated outputs attempt to mislead the bounded workflow. This is a modeled attempt, not proof that the service checks can be bypassed.",</a:t>
            </a:r>
          </a:p>
          <a:p>
            <a:r>
              <a:rPr lang="en-US"/>
              <a:t>          "requirements": [</a:t>
            </a:r>
          </a:p>
          <a:p>
            <a:r>
              <a:rPr lang="en-US"/>
              <a:t>            "F8",</a:t>
            </a:r>
          </a:p>
          <a:p>
            <a:r>
              <a:rPr lang="en-US"/>
              <a:t>            "NF3"</a:t>
            </a:r>
          </a:p>
          <a:p>
            <a:r>
              <a:rPr lang="en-US"/>
              <a:t>          ],</a:t>
            </a:r>
          </a:p>
          <a:p>
            <a:r>
              <a:rPr lang="en-US"/>
              <a:t>          "assumptions": [],</a:t>
            </a:r>
          </a:p>
          <a:p>
            <a:r>
              <a:rPr lang="en-US"/>
              <a:t>          "scope": "modeled_attack"</a:t>
            </a:r>
          </a:p>
          <a:p>
            <a:r>
              <a:rPr lang="en-US"/>
              <a:t>        }</a:t>
            </a:r>
          </a:p>
          <a:p>
            <a:r>
              <a:rPr lang="en-US"/>
              <a:t>      ],</a:t>
            </a:r>
          </a:p>
          <a:p>
            <a:r>
              <a:rPr lang="en-US"/>
              <a:t>      "note": "",</a:t>
            </a:r>
          </a:p>
          <a:p>
            <a:r>
              <a:rPr lang="en-US"/>
              <a:t>      "operator": "OR",</a:t>
            </a:r>
          </a:p>
          <a:p>
            <a:r>
              <a:rPr lang="en-US"/>
              <a:t>      "boundary": "checked",</a:t>
            </a:r>
          </a:p>
          <a:p>
            <a:r>
              <a:rPr lang="en-US"/>
              <a:t>      "annotation": "Requirements: F8 · NF3",</a:t>
            </a:r>
          </a:p>
          <a:p>
            <a:r>
              <a:rPr lang="en-US"/>
              <a:t>      "requirements": [</a:t>
            </a:r>
          </a:p>
          <a:p>
            <a:r>
              <a:rPr lang="en-US"/>
              <a:t>        "F8",</a:t>
            </a:r>
          </a:p>
          <a:p>
            <a:r>
              <a:rPr lang="en-US"/>
              <a:t>        "NF3"</a:t>
            </a:r>
          </a:p>
          <a:p>
            <a:r>
              <a:rPr lang="en-US"/>
              <a:t>      ],</a:t>
            </a:r>
          </a:p>
          <a:p>
            <a:r>
              <a:rPr lang="en-US"/>
              <a:t>      "assumptions": [],</a:t>
            </a:r>
          </a:p>
          <a:p>
            <a:r>
              <a:rPr lang="en-US"/>
              <a:t>      "rationale": "Alternative successful subgoals of the named attack surface. A leaf denotes its successful effect, not merely an attempted mutation or replay."</a:t>
            </a:r>
          </a:p>
          <a:p>
            <a:r>
              <a:rPr lang="en-US"/>
              <a:t>    }</a:t>
            </a:r>
          </a:p>
          <a:p>
            <a:r>
              <a:rPr lang="en-US"/>
              <a:t>  ],</a:t>
            </a:r>
          </a:p>
          <a:p>
            <a:r>
              <a:rPr lang="en-US"/>
              <a:t>  "boundary": "Receipt checks do not independently authenticate the Intel quote chain.",</a:t>
            </a:r>
          </a:p>
          <a:p>
            <a:r>
              <a:rPr lang="en-US"/>
              <a:t>  "notes": "The chapter states that per-call verification checks internal signatures and bindings but does not authenticate the individual quote signature/Intel chain. Hardware attribution depends on earlier admission of the registry-bound receiver. Recentness is not challenge-based replay protection. These slide statements describe Chapter 4, not any later implementation-specific external audit.",</a:t>
            </a:r>
          </a:p>
          <a:p>
            <a:r>
              <a:rPr lang="en-US"/>
              <a:t>  "number": 2,</a:t>
            </a:r>
          </a:p>
          <a:p>
            <a:r>
              <a:rPr lang="en-US"/>
              <a:t>  "slug": "inference",</a:t>
            </a:r>
          </a:p>
          <a:p>
            <a:r>
              <a:rPr lang="en-US"/>
              <a:t>  "label_de": "Inferenz und Agent",</a:t>
            </a:r>
          </a:p>
          <a:p>
            <a:r>
              <a:rPr lang="en-US"/>
              <a:t>  "goal": "Accept a misbound or unverified result",</a:t>
            </a:r>
          </a:p>
          <a:p>
            <a:r>
              <a:rPr lang="en-US"/>
              <a:t>  "operator": "OR",</a:t>
            </a:r>
          </a:p>
          <a:p>
            <a:r>
              <a:rPr lang="en-US"/>
              <a:t>  "domains": [</a:t>
            </a:r>
          </a:p>
          <a:p>
            <a:r>
              <a:rPr lang="en-US"/>
              <a:t>    "Agent"</a:t>
            </a:r>
          </a:p>
          <a:p>
            <a:r>
              <a:rPr lang="en-US"/>
              <a:t>  ]</a:t>
            </a:r>
          </a:p>
          <a:p>
            <a:r>
              <a:rPr lang="en-US"/>
              <a: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PURPOSE</a:t>
            </a:r>
          </a:p>
          <a:p>
            <a:r>
              <a:rPr lang="en-US"/>
              <a:t>Editable attack-tree proposals derived from Chapter 4, Security Model and System</a:t>
            </a:r>
          </a:p>
          <a:p>
            <a:r>
              <a:rPr lang="en-US"/>
              <a:t>Requirements. The chapter contains a threat catalogue and use/misuse cases, not</a:t>
            </a:r>
          </a:p>
          <a:p>
            <a:r>
              <a:rPr lang="en-US"/>
              <a:t>these attack trees. The goal decomposition and its grouping are an explanatory</a:t>
            </a:r>
          </a:p>
          <a:p>
            <a:r>
              <a:rPr lang="en-US"/>
              <a:t>synthesis for the presentation; they are not quoted thesis figures or a formal</a:t>
            </a:r>
          </a:p>
          <a:p>
            <a:r>
              <a:rPr lang="en-US"/>
              <a:t>completeness result. The chapter and main presentation are left unchanged.</a:t>
            </a:r>
          </a:p>
          <a:p/>
          <a:p>
            <a:r>
              <a:rPr lang="en-US"/>
              <a:t>HOW TO READ THE TREE</a:t>
            </a:r>
          </a:p>
          <a:p>
            <a:r>
              <a:rPr lang="en-US"/>
              <a:t>A parent is the attacker's goal or subgoal. OR means any one child is sufficient</a:t>
            </a:r>
          </a:p>
          <a:p>
            <a:r>
              <a:rPr lang="en-US"/>
              <a:t>for the modeled parent; AND means every child condition must hold together.</a:t>
            </a:r>
          </a:p>
          <a:p>
            <a:r>
              <a:rPr lang="en-US"/>
              <a:t>Edges are decomposition, not a chronological sequence or a message flow.</a:t>
            </a:r>
          </a:p>
          <a:p>
            <a:r>
              <a:rPr lang="en-US"/>
              <a:t>Attack leaves refer to hypothetical successful subgoals, not instructions for</a:t>
            </a:r>
          </a:p>
          <a:p>
            <a:r>
              <a:rPr lang="en-US"/>
              <a:t>exploiting a demonstrated implementation vulnerability. AND joins only joint</a:t>
            </a:r>
          </a:p>
          <a:p>
            <a:r>
              <a:rPr lang="en-US"/>
              <a:t>conditions, never an attack and the control designed to stop it.</a:t>
            </a:r>
          </a:p>
          <a:p>
            <a:r>
              <a:rPr lang="en-US"/>
              <a:t>Leaf T-identifiers refer to Chapter 4. Repeated T-identifiers represent different</a:t>
            </a:r>
          </a:p>
          <a:p>
            <a:r>
              <a:rPr lang="en-US"/>
              <a:t>facets or effects of the same threat, not additional threats. The four diagrams</a:t>
            </a:r>
          </a:p>
          <a:p>
            <a:r>
              <a:rPr lang="en-US"/>
              <a:t>together reference T1 through T14. They are intentionally selective abstractions;</a:t>
            </a:r>
          </a:p>
          <a:p>
            <a:r>
              <a:rPr lang="en-US"/>
              <a:t>not every attack described under each T-identifier is expanded into a leaf.</a:t>
            </a:r>
          </a:p>
          <a:p/>
          <a:p>
            <a:r>
              <a:rPr lang="en-US"/>
              <a:t>ASSURANCE BOUNDARY</a:t>
            </a:r>
          </a:p>
          <a:p>
            <a:r>
              <a:rPr lang="en-US"/>
              <a:t>Requirements F1–F11 and NF1–NF7 specify expected controls and claim limits; their</a:t>
            </a:r>
          </a:p>
          <a:p>
            <a:r>
              <a:rPr lang="en-US"/>
              <a:t>appearance here is not a claim of successful implementation, proof or test.</a:t>
            </a:r>
          </a:p>
          <a:p>
            <a:r>
              <a:rPr lang="en-US"/>
              <a:t>Residual risks and assumption failures remain distinct from attacks intended to</a:t>
            </a:r>
          </a:p>
          <a:p>
            <a:r>
              <a:rPr lang="en-US"/>
              <a:t>be rejected. In particular T7 concerns valid harmful data/updates, T13 breaks a</a:t>
            </a:r>
          </a:p>
          <a:p>
            <a:r>
              <a:rPr lang="en-US"/>
              <a:t>cryptographic/platform/key/governance premise, and T14 covers sufficient collusion.</a:t>
            </a:r>
          </a:p>
          <a:p>
            <a:r>
              <a:rPr lang="en-US"/>
              <a:t>A correct attestation/signature does not establish semantic truth or independent</a:t>
            </a:r>
          </a:p>
          <a:p>
            <a:r>
              <a:rPr lang="en-US"/>
              <a:t>organizational ownership. T10 allows whole-interaction suppression before a</a:t>
            </a:r>
          </a:p>
          <a:p>
            <a:r>
              <a:rPr lang="en-US"/>
              <a:t>receipt exists; T11 retains a split-view boundary without independent witnesses.</a:t>
            </a:r>
          </a:p>
          <a:p>
            <a:r>
              <a:rPr lang="en-US"/>
              <a:t>Targeted aggregator replacement does not establish availability of all services.</a:t>
            </a:r>
          </a:p>
          <a:p>
            <a:r>
              <a:rPr lang="en-US"/>
              <a:t>Style C separates requirement/limit annotations from the actual tree edges.</a:t>
            </a:r>
          </a:p>
          <a:p>
            <a:r>
              <a:rPr lang="en-US"/>
              <a:t>Amber highlights a stated residual or assumption boundary, not measured risk,</a:t>
            </a:r>
          </a:p>
          <a:p>
            <a:r>
              <a:rPr lang="en-US"/>
              <a:t>probability or attack severity. No numbers in these diagrams are risk scores.</a:t>
            </a:r>
          </a:p>
          <a:p/>
          <a:p>
            <a:r>
              <a:rPr lang="en-US"/>
              <a:t>VERSION SCOPE</a:t>
            </a:r>
          </a:p>
          <a:p>
            <a:r>
              <a:rPr lang="en-US"/>
              <a:t>The source is Chapter 4 as inspected for this task, including its stated legacy</a:t>
            </a:r>
          </a:p>
          <a:p>
            <a:r>
              <a:rPr lang="en-US"/>
              <a:t>per-inference attestation limitations. Newer RA-TLS/Phala verification code and</a:t>
            </a:r>
          </a:p>
          <a:p>
            <a:r>
              <a:rPr lang="en-US"/>
              <a:t>recent experiments are not silently substituted for the chapter's specification.</a:t>
            </a:r>
          </a:p>
          <a:p>
            <a:r>
              <a:rPr lang="en-US"/>
              <a:t>No experiment, exploitation, cloud call or change to Chapter 4 was performed.</a:t>
            </a:r>
          </a:p>
          <a:p/>
          <a:p>
            <a:r>
              <a:rPr lang="en-US"/>
              <a:t>SOURCE</a:t>
            </a:r>
          </a:p>
          <a:p>
            <a:r>
              <a:rPr lang="en-US"/>
              <a:t>Workspace-relative: overleaf/chapters/chapter4.tex.</a:t>
            </a:r>
          </a:p>
          <a:p>
            <a:r>
              <a:rPr lang="en-US"/>
              <a:t>Exact source fingerprint, threat/requirement references and modeling rationale</a:t>
            </a:r>
          </a:p>
          <a:p>
            <a:r>
              <a:rPr lang="en-US"/>
              <a:t>are stored alongside these slides in trees.json, source-map.json and README.md.</a:t>
            </a:r>
          </a:p>
          <a:p/>
          <a:p>
            <a:r>
              <a:rPr lang="en-US"/>
              <a:t>TREE-SPECIFIC MODEL</a:t>
            </a:r>
          </a:p>
          <a:p>
            <a:r>
              <a:rPr lang="en-US"/>
              <a:t>{</a:t>
            </a:r>
          </a:p>
          <a:p>
            <a:r>
              <a:rPr lang="en-US"/>
              <a:t>  "title": "Attack tree: progress and auditability",</a:t>
            </a:r>
          </a:p>
          <a:p>
            <a:r>
              <a:rPr lang="en-US"/>
              <a:t>  "assets": [</a:t>
            </a:r>
          </a:p>
          <a:p>
            <a:r>
              <a:rPr lang="en-US"/>
              <a:t>    "A1",</a:t>
            </a:r>
          </a:p>
          <a:p>
            <a:r>
              <a:rPr lang="en-US"/>
              <a:t>    "A3",</a:t>
            </a:r>
          </a:p>
          <a:p>
            <a:r>
              <a:rPr lang="en-US"/>
              <a:t>    "A4",</a:t>
            </a:r>
          </a:p>
          <a:p>
            <a:r>
              <a:rPr lang="en-US"/>
              <a:t>    "A5",</a:t>
            </a:r>
          </a:p>
          <a:p>
            <a:r>
              <a:rPr lang="en-US"/>
              <a:t>    "A6"</a:t>
            </a:r>
          </a:p>
          <a:p>
            <a:r>
              <a:rPr lang="en-US"/>
              <a:t>  ],</a:t>
            </a:r>
          </a:p>
          <a:p>
            <a:r>
              <a:rPr lang="en-US"/>
              <a:t>  "requirements": [</a:t>
            </a:r>
          </a:p>
          <a:p>
            <a:r>
              <a:rPr lang="en-US"/>
              <a:t>    "F2",</a:t>
            </a:r>
          </a:p>
          <a:p>
            <a:r>
              <a:rPr lang="en-US"/>
              <a:t>    "F4",</a:t>
            </a:r>
          </a:p>
          <a:p>
            <a:r>
              <a:rPr lang="en-US"/>
              <a:t>    "F10",</a:t>
            </a:r>
          </a:p>
          <a:p>
            <a:r>
              <a:rPr lang="en-US"/>
              <a:t>    "NF2",</a:t>
            </a:r>
          </a:p>
          <a:p>
            <a:r>
              <a:rPr lang="en-US"/>
              <a:t>    "NF3",</a:t>
            </a:r>
          </a:p>
          <a:p>
            <a:r>
              <a:rPr lang="en-US"/>
              <a:t>    "NF4"</a:t>
            </a:r>
          </a:p>
          <a:p>
            <a:r>
              <a:rPr lang="en-US"/>
              <a:t>  ],</a:t>
            </a:r>
          </a:p>
          <a:p>
            <a:r>
              <a:rPr lang="en-US"/>
              <a:t>  "assumptions": [</a:t>
            </a:r>
          </a:p>
          <a:p>
            <a:r>
              <a:rPr lang="en-US"/>
              <a:t>    "AS2",</a:t>
            </a:r>
          </a:p>
          <a:p>
            <a:r>
              <a:rPr lang="en-US"/>
              <a:t>    "AS5",</a:t>
            </a:r>
          </a:p>
          <a:p>
            <a:r>
              <a:rPr lang="en-US"/>
              <a:t>    "AS6",</a:t>
            </a:r>
          </a:p>
          <a:p>
            <a:r>
              <a:rPr lang="en-US"/>
              <a:t>    "AS8"</a:t>
            </a:r>
          </a:p>
          <a:p>
            <a:r>
              <a:rPr lang="en-US"/>
              <a:t>  ],</a:t>
            </a:r>
          </a:p>
          <a:p>
            <a:r>
              <a:rPr lang="en-US"/>
              <a:t>  "branches": [</a:t>
            </a:r>
          </a:p>
          <a:p>
            <a:r>
              <a:rPr lang="en-US"/>
              <a:t>    {</a:t>
            </a:r>
          </a:p>
          <a:p>
            <a:r>
              <a:rPr lang="en-US"/>
              <a:t>      "label": "Stop successful completion",</a:t>
            </a:r>
          </a:p>
          <a:p>
            <a:r>
              <a:rPr lang="en-US"/>
              <a:t>      "leaves": [</a:t>
            </a:r>
          </a:p>
          <a:p>
            <a:r>
              <a:rPr lang="en-US"/>
              <a:t>        {</a:t>
            </a:r>
          </a:p>
          <a:p>
            <a:r>
              <a:rPr lang="en-US"/>
              <a:t>          "label": "Stall or withhold aggregation",</a:t>
            </a:r>
          </a:p>
          <a:p>
            <a:r>
              <a:rPr lang="en-US"/>
              <a:t>          "threats": [</a:t>
            </a:r>
          </a:p>
          <a:p>
            <a:r>
              <a:rPr lang="en-US"/>
              <a:t>            "T6"</a:t>
            </a:r>
          </a:p>
          <a:p>
            <a:r>
              <a:rPr lang="en-US"/>
              <a:t>          ],</a:t>
            </a:r>
          </a:p>
          <a:p>
            <a:r>
              <a:rPr lang="en-US"/>
              <a:t>          "note": "Stop progressing, refuse enough eligible updates, or withhold publication. This is the availability arm of T6; omission from an accepted set is shown in the integrity tree.",</a:t>
            </a:r>
          </a:p>
          <a:p>
            <a:r>
              <a:rPr lang="en-US"/>
              <a:t>          "requirements": [</a:t>
            </a:r>
          </a:p>
          <a:p>
            <a:r>
              <a:rPr lang="en-US"/>
              <a:t>            "F2",</a:t>
            </a:r>
          </a:p>
          <a:p>
            <a:r>
              <a:rPr lang="en-US"/>
              <a:t>            "NF2"</a:t>
            </a:r>
          </a:p>
          <a:p>
            <a:r>
              <a:rPr lang="en-US"/>
              <a:t>          ],</a:t>
            </a:r>
          </a:p>
          <a:p>
            <a:r>
              <a:rPr lang="en-US"/>
              <a:t>          "assumptions": [],</a:t>
            </a:r>
          </a:p>
          <a:p>
            <a:r>
              <a:rPr lang="en-US"/>
              <a:t>          "scope": "modeled_attack"</a:t>
            </a:r>
          </a:p>
          <a:p>
            <a:r>
              <a:rPr lang="en-US"/>
              <a:t>        },</a:t>
            </a:r>
          </a:p>
          <a:p>
            <a:r>
              <a:rPr lang="en-US"/>
              <a:t>        {</a:t>
            </a:r>
          </a:p>
          <a:p>
            <a:r>
              <a:rPr lang="en-US"/>
              <a:t>          "label": "Make shared infrastructure unavailable",</a:t>
            </a:r>
          </a:p>
          <a:p>
            <a:r>
              <a:rPr lang="en-US"/>
              <a:t>          "threats": [</a:t>
            </a:r>
          </a:p>
          <a:p>
            <a:r>
              <a:rPr lang="en-US"/>
              <a:t>            "T12"</a:t>
            </a:r>
          </a:p>
          <a:p>
            <a:r>
              <a:rPr lang="en-US"/>
              <a:t>          ],</a:t>
            </a:r>
          </a:p>
          <a:p>
            <a:r>
              <a:rPr lang="en-US"/>
              <a:t>          "note": "Exhaust or make ledger, storage, network, inference, UI, or other shared services unreachable beyond the targeted aggregator-recovery path.",</a:t>
            </a:r>
          </a:p>
          <a:p>
            <a:r>
              <a:rPr lang="en-US"/>
              <a:t>          "requirements": [</a:t>
            </a:r>
          </a:p>
          <a:p>
            <a:r>
              <a:rPr lang="en-US"/>
              <a:t>            "F2",</a:t>
            </a:r>
          </a:p>
          <a:p>
            <a:r>
              <a:rPr lang="en-US"/>
              <a:t>            "NF2"</a:t>
            </a:r>
          </a:p>
          <a:p>
            <a:r>
              <a:rPr lang="en-US"/>
              <a:t>          ],</a:t>
            </a:r>
          </a:p>
          <a:p>
            <a:r>
              <a:rPr lang="en-US"/>
              <a:t>          "assumptions": [],</a:t>
            </a:r>
          </a:p>
          <a:p>
            <a:r>
              <a:rPr lang="en-US"/>
              <a:t>          "scope": "residual_infrastructure_risk"</a:t>
            </a:r>
          </a:p>
          <a:p>
            <a:r>
              <a:rPr lang="en-US"/>
              <a:t>        }</a:t>
            </a:r>
          </a:p>
          <a:p>
            <a:r>
              <a:rPr lang="en-US"/>
              <a:t>      ],</a:t>
            </a:r>
          </a:p>
          <a:p>
            <a:r>
              <a:rPr lang="en-US"/>
              <a:t>      "note": "",</a:t>
            </a:r>
          </a:p>
          <a:p>
            <a:r>
              <a:rPr lang="en-US"/>
              <a:t>      "operator": "OR",</a:t>
            </a:r>
          </a:p>
          <a:p>
            <a:r>
              <a:rPr lang="en-US"/>
              <a:t>      "boundary": "mixed",</a:t>
            </a:r>
          </a:p>
          <a:p>
            <a:r>
              <a:rPr lang="en-US"/>
              <a:t>      "annotation": "F2 · NF2; no global availability guarantee",</a:t>
            </a:r>
          </a:p>
          <a:p>
            <a:r>
              <a:rPr lang="en-US"/>
              <a:t>      "requirements": [</a:t>
            </a:r>
          </a:p>
          <a:p>
            <a:r>
              <a:rPr lang="en-US"/>
              <a:t>        "F2",</a:t>
            </a:r>
          </a:p>
          <a:p>
            <a:r>
              <a:rPr lang="en-US"/>
              <a:t>        "NF2"</a:t>
            </a:r>
          </a:p>
          <a:p>
            <a:r>
              <a:rPr lang="en-US"/>
              <a:t>      ],</a:t>
            </a:r>
          </a:p>
          <a:p>
            <a:r>
              <a:rPr lang="en-US"/>
              <a:t>      "assumptions": [],</a:t>
            </a:r>
          </a:p>
          <a:p>
            <a:r>
              <a:rPr lang="en-US"/>
              <a:t>      "rationale": "Alternative successful subgoals of the named attack surface. A leaf denotes its successful effect, not merely an attempted mutation or replay."</a:t>
            </a:r>
          </a:p>
          <a:p>
            <a:r>
              <a:rPr lang="en-US"/>
              <a:t>    },</a:t>
            </a:r>
          </a:p>
          <a:p>
            <a:r>
              <a:rPr lang="en-US"/>
              <a:t>    {</a:t>
            </a:r>
          </a:p>
          <a:p>
            <a:r>
              <a:rPr lang="en-US"/>
              <a:t>      "label": "Disrupt the audit trail",</a:t>
            </a:r>
          </a:p>
          <a:p>
            <a:r>
              <a:rPr lang="en-US"/>
              <a:t>      "leaves": [</a:t>
            </a:r>
          </a:p>
          <a:p>
            <a:r>
              <a:rPr lang="en-US"/>
              <a:t>        {</a:t>
            </a:r>
          </a:p>
          <a:p>
            <a:r>
              <a:rPr lang="en-US"/>
              <a:t>          "label": "Suppress results or required evidence",</a:t>
            </a:r>
          </a:p>
          <a:p>
            <a:r>
              <a:rPr lang="en-US"/>
              <a:t>          "threats": [</a:t>
            </a:r>
          </a:p>
          <a:p>
            <a:r>
              <a:rPr lang="en-US"/>
              <a:t>            "T10"</a:t>
            </a:r>
          </a:p>
          <a:p>
            <a:r>
              <a:rPr lang="en-US"/>
              <a:t>          ],</a:t>
            </a:r>
          </a:p>
          <a:p>
            <a:r>
              <a:rPr lang="en-US"/>
              <a:t>          "note": "Release success without a receipt, omit a complete verified domain bundle, or suppress the entire interaction. Publication before receiver success cannot prove calls that never reached/completed at the receiver.",</a:t>
            </a:r>
          </a:p>
          <a:p>
            <a:r>
              <a:rPr lang="en-US"/>
              <a:t>          "requirements": [</a:t>
            </a:r>
          </a:p>
          <a:p>
            <a:r>
              <a:rPr lang="en-US"/>
              <a:t>            "F10",</a:t>
            </a:r>
          </a:p>
          <a:p>
            <a:r>
              <a:rPr lang="en-US"/>
              <a:t>            "NF3",</a:t>
            </a:r>
          </a:p>
          <a:p>
            <a:r>
              <a:rPr lang="en-US"/>
              <a:t>            "NF4"</a:t>
            </a:r>
          </a:p>
          <a:p>
            <a:r>
              <a:rPr lang="en-US"/>
              <a:t>          ],</a:t>
            </a:r>
          </a:p>
          <a:p>
            <a:r>
              <a:rPr lang="en-US"/>
              <a:t>          "assumptions": [],</a:t>
            </a:r>
          </a:p>
          <a:p>
            <a:r>
              <a:rPr lang="en-US"/>
              <a:t>          "scope": "modeled_attack"</a:t>
            </a:r>
          </a:p>
          <a:p>
            <a:r>
              <a:rPr lang="en-US"/>
              <a:t>        },</a:t>
            </a:r>
          </a:p>
          <a:p>
            <a:r>
              <a:rPr lang="en-US"/>
              <a:t>        {</a:t>
            </a:r>
          </a:p>
          <a:p>
            <a:r>
              <a:rPr lang="en-US"/>
              <a:t>          "label": "Block log writes or present conflicting views",</a:t>
            </a:r>
          </a:p>
          <a:p>
            <a:r>
              <a:rPr lang="en-US"/>
              <a:t>          "threats": [</a:t>
            </a:r>
          </a:p>
          <a:p>
            <a:r>
              <a:rPr lang="en-US"/>
              <a:t>            "T11"</a:t>
            </a:r>
          </a:p>
          <a:p>
            <a:r>
              <a:rPr lang="en-US"/>
              <a:t>          ],</a:t>
            </a:r>
          </a:p>
          <a:p>
            <a:r>
              <a:rPr lang="en-US"/>
              <a:t>          "note": "Refuse a record, return invalid inclusion or ordering evidence, or provide inconsistent views. Exact-byte verification addresses invalid statements, whereas detecting a colluding split view needs witnesses/anchoring outside the prototype.",</a:t>
            </a:r>
          </a:p>
          <a:p>
            <a:r>
              <a:rPr lang="en-US"/>
              <a:t>          "requirements": [</a:t>
            </a:r>
          </a:p>
          <a:p>
            <a:r>
              <a:rPr lang="en-US"/>
              <a:t>            "F10",</a:t>
            </a:r>
          </a:p>
          <a:p>
            <a:r>
              <a:rPr lang="en-US"/>
              <a:t>            "NF4"</a:t>
            </a:r>
          </a:p>
          <a:p>
            <a:r>
              <a:rPr lang="en-US"/>
              <a:t>          ],</a:t>
            </a:r>
          </a:p>
          <a:p>
            <a:r>
              <a:rPr lang="en-US"/>
              <a:t>          "assumptions": [</a:t>
            </a:r>
          </a:p>
          <a:p>
            <a:r>
              <a:rPr lang="en-US"/>
              <a:t>            "AS8"</a:t>
            </a:r>
          </a:p>
          <a:p>
            <a:r>
              <a:rPr lang="en-US"/>
              <a:t>          ],</a:t>
            </a:r>
          </a:p>
          <a:p>
            <a:r>
              <a:rPr lang="en-US"/>
              <a:t>          "scope": "mixed_detection_and_residual_risk"</a:t>
            </a:r>
          </a:p>
          <a:p>
            <a:r>
              <a:rPr lang="en-US"/>
              <a:t>        }</a:t>
            </a:r>
          </a:p>
          <a:p>
            <a:r>
              <a:rPr lang="en-US"/>
              <a:t>      ],</a:t>
            </a:r>
          </a:p>
          <a:p>
            <a:r>
              <a:rPr lang="en-US"/>
              <a:t>      "note": "",</a:t>
            </a:r>
          </a:p>
          <a:p>
            <a:r>
              <a:rPr lang="en-US"/>
              <a:t>      "operator": "OR",</a:t>
            </a:r>
          </a:p>
          <a:p>
            <a:r>
              <a:rPr lang="en-US"/>
              <a:t>      "boundary": "mixed",</a:t>
            </a:r>
          </a:p>
          <a:p>
            <a:r>
              <a:rPr lang="en-US"/>
              <a:t>      "annotation": "F10 · NF4; split-view boundary: AS8",</a:t>
            </a:r>
          </a:p>
          <a:p>
            <a:r>
              <a:rPr lang="en-US"/>
              <a:t>      "requirements": [</a:t>
            </a:r>
          </a:p>
          <a:p>
            <a:r>
              <a:rPr lang="en-US"/>
              <a:t>        "F10",</a:t>
            </a:r>
          </a:p>
          <a:p>
            <a:r>
              <a:rPr lang="en-US"/>
              <a:t>        "NF3",</a:t>
            </a:r>
          </a:p>
          <a:p>
            <a:r>
              <a:rPr lang="en-US"/>
              <a:t>        "NF4"</a:t>
            </a:r>
          </a:p>
          <a:p>
            <a:r>
              <a:rPr lang="en-US"/>
              <a:t>      ],</a:t>
            </a:r>
          </a:p>
          <a:p>
            <a:r>
              <a:rPr lang="en-US"/>
              <a:t>      "assumptions": [</a:t>
            </a:r>
          </a:p>
          <a:p>
            <a:r>
              <a:rPr lang="en-US"/>
              <a:t>        "AS8"</a:t>
            </a:r>
          </a:p>
          <a:p>
            <a:r>
              <a:rPr lang="en-US"/>
              <a:t>      ],</a:t>
            </a:r>
          </a:p>
          <a:p>
            <a:r>
              <a:rPr lang="en-US"/>
              <a:t>      "rationale": "Alternative successful subgoals of the named attack surface. A leaf denotes its successful effect, not merely an attempted mutation or replay."</a:t>
            </a:r>
          </a:p>
          <a:p>
            <a:r>
              <a:rPr lang="en-US"/>
              <a:t>    },</a:t>
            </a:r>
          </a:p>
          <a:p>
            <a:r>
              <a:rPr lang="en-US"/>
              <a:t>    {</a:t>
            </a:r>
          </a:p>
          <a:p>
            <a:r>
              <a:rPr lang="en-US"/>
              <a:t>      "label": "Force unjustified recovery",</a:t>
            </a:r>
          </a:p>
          <a:p>
            <a:r>
              <a:rPr lang="en-US"/>
              <a:t>      "leaves": [</a:t>
            </a:r>
          </a:p>
          <a:p>
            <a:r>
              <a:rPr lang="en-US"/>
              <a:t>        {</a:t>
            </a:r>
          </a:p>
          <a:p>
            <a:r>
              <a:rPr lang="en-US"/>
              <a:t>          "label": "Reach the eligible-reporter threshold",</a:t>
            </a:r>
          </a:p>
          <a:p>
            <a:r>
              <a:rPr lang="en-US"/>
              <a:t>          "threats": [</a:t>
            </a:r>
          </a:p>
          <a:p>
            <a:r>
              <a:rPr lang="en-US"/>
              <a:t>            "T14"</a:t>
            </a:r>
          </a:p>
          <a:p>
            <a:r>
              <a:rPr lang="en-US"/>
              <a:t>          ],</a:t>
            </a:r>
          </a:p>
          <a:p>
            <a:r>
              <a:rPr lang="en-US"/>
              <a:t>          "note": "Collect admissible reports from enough distinct eligible non-aggregator identities to meet the configured threshold. By itself this can describe justified recovery; identity admission does not prove that reporters are independent.",</a:t>
            </a:r>
          </a:p>
          <a:p>
            <a:r>
              <a:rPr lang="en-US"/>
              <a:t>          "requirements": [</a:t>
            </a:r>
          </a:p>
          <a:p>
            <a:r>
              <a:rPr lang="en-US"/>
              <a:t>            "F2",</a:t>
            </a:r>
          </a:p>
          <a:p>
            <a:r>
              <a:rPr lang="en-US"/>
              <a:t>            "F3",</a:t>
            </a:r>
          </a:p>
          <a:p>
            <a:r>
              <a:rPr lang="en-US"/>
              <a:t>            "F4"</a:t>
            </a:r>
          </a:p>
          <a:p>
            <a:r>
              <a:rPr lang="en-US"/>
              <a:t>          ],</a:t>
            </a:r>
          </a:p>
          <a:p>
            <a:r>
              <a:rPr lang="en-US"/>
              <a:t>          "assumptions": [],</a:t>
            </a:r>
          </a:p>
          <a:p>
            <a:r>
              <a:rPr lang="en-US"/>
              <a:t>          "scope": "residual_collusion_risk"</a:t>
            </a:r>
          </a:p>
          <a:p>
            <a:r>
              <a:rPr lang="en-US"/>
              <a:t>        },</a:t>
            </a:r>
          </a:p>
          <a:p>
            <a:r>
              <a:rPr lang="en-US"/>
              <a:t>        {</a:t>
            </a:r>
          </a:p>
          <a:p>
            <a:r>
              <a:rPr lang="en-US"/>
              <a:t>          "label": "Make those reports falsely allege failure",</a:t>
            </a:r>
          </a:p>
          <a:p>
            <a:r>
              <a:rPr lang="en-US"/>
              <a:t>          "threats": [</a:t>
            </a:r>
          </a:p>
          <a:p>
            <a:r>
              <a:rPr lang="en-US"/>
              <a:t>            "T14"</a:t>
            </a:r>
          </a:p>
          <a:p>
            <a:r>
              <a:rPr lang="en-US"/>
              <a:t>          ],</a:t>
            </a:r>
          </a:p>
          <a:p>
            <a:r>
              <a:rPr lang="en-US"/>
              <a:t>          "note": "The same report set falsely alleges failure of a healthy aggregator. False reports alone may remain below the threshold. Both leaves refer to the same current round and selected aggregator, and all reports must satisfy the contract timing and reportability conditions.",</a:t>
            </a:r>
          </a:p>
          <a:p>
            <a:r>
              <a:rPr lang="en-US"/>
              <a:t>          "requirements": [</a:t>
            </a:r>
          </a:p>
          <a:p>
            <a:r>
              <a:rPr lang="en-US"/>
              <a:t>            "F2",</a:t>
            </a:r>
          </a:p>
          <a:p>
            <a:r>
              <a:rPr lang="en-US"/>
              <a:t>            "F4"</a:t>
            </a:r>
          </a:p>
          <a:p>
            <a:r>
              <a:rPr lang="en-US"/>
              <a:t>          ],</a:t>
            </a:r>
          </a:p>
          <a:p>
            <a:r>
              <a:rPr lang="en-US"/>
              <a:t>          "assumptions": [],</a:t>
            </a:r>
          </a:p>
          <a:p>
            <a:r>
              <a:rPr lang="en-US"/>
              <a:t>          "scope": "residual_collusion_risk"</a:t>
            </a:r>
          </a:p>
          <a:p>
            <a:r>
              <a:rPr lang="en-US"/>
              <a:t>        }</a:t>
            </a:r>
          </a:p>
          <a:p>
            <a:r>
              <a:rPr lang="en-US"/>
              <a:t>      ],</a:t>
            </a:r>
          </a:p>
          <a:p>
            <a:r>
              <a:rPr lang="en-US"/>
              <a:t>      "note": "Both properties must hold for the same report set: sufficient eligible reports and a false allegation against a healthy aggregator. The threshold alone can represent justified recovery; false reports alone may remain below the threshold. This AND is a conjunction of conditions, not a temporal sequence.",</a:t>
            </a:r>
          </a:p>
          <a:p>
            <a:r>
              <a:rPr lang="en-US"/>
              <a:t>      "operator": "AND",</a:t>
            </a:r>
          </a:p>
          <a:p>
            <a:r>
              <a:rPr lang="en-US"/>
              <a:t>      "boundary": "residual",</a:t>
            </a:r>
          </a:p>
          <a:p>
            <a:r>
              <a:rPr lang="en-US"/>
              <a:t>      "annotation": "T14; quorum does not prove independence",</a:t>
            </a:r>
          </a:p>
          <a:p>
            <a:r>
              <a:rPr lang="en-US"/>
              <a:t>      "requirements": [</a:t>
            </a:r>
          </a:p>
          <a:p>
            <a:r>
              <a:rPr lang="en-US"/>
              <a:t>        "F2",</a:t>
            </a:r>
          </a:p>
          <a:p>
            <a:r>
              <a:rPr lang="en-US"/>
              <a:t>        "F3",</a:t>
            </a:r>
          </a:p>
          <a:p>
            <a:r>
              <a:rPr lang="en-US"/>
              <a:t>        "F4"</a:t>
            </a:r>
          </a:p>
          <a:p>
            <a:r>
              <a:rPr lang="en-US"/>
              <a:t>      ],</a:t>
            </a:r>
          </a:p>
          <a:p>
            <a:r>
              <a:rPr lang="en-US"/>
              <a:t>      "assumptions": [],</a:t>
            </a:r>
          </a:p>
          <a:p>
            <a:r>
              <a:rPr lang="en-US"/>
              <a:t>      "rationale": "Both properties must hold for the same report set: sufficient eligible reports and a false allegation against a healthy aggregator. The threshold alone can represent justified recovery; false reports alone may remain below the threshold. This AND is a conjunction of conditions, not a temporal sequence. The model presupposes all other contract eligibility, timing, and reportability conditions. The chapter treats sufficiently broad collusion as outside its general application-level guarantees."</a:t>
            </a:r>
          </a:p>
          <a:p>
            <a:r>
              <a:rPr lang="en-US"/>
              <a:t>    }</a:t>
            </a:r>
          </a:p>
          <a:p>
            <a:r>
              <a:rPr lang="en-US"/>
              <a:t>  ],</a:t>
            </a:r>
          </a:p>
          <a:p>
            <a:r>
              <a:rPr lang="en-US"/>
              <a:t>  "boundary": "Targeted recovery does not guarantee global availability or log consistency.",</a:t>
            </a:r>
          </a:p>
          <a:p>
            <a:r>
              <a:rPr lang="en-US"/>
              <a:t>  "notes": "The root is OR because disrupting progress, auditability, or coordination is sufficient for this high-level adversary objective. Only the unjustified-recovery branch is AND. Successful replacement tests do not demonstrate resistance to colluding voters or permanent shared-infrastructure outages.",</a:t>
            </a:r>
          </a:p>
          <a:p>
            <a:r>
              <a:rPr lang="en-US"/>
              <a:t>  "number": 3,</a:t>
            </a:r>
          </a:p>
          <a:p>
            <a:r>
              <a:rPr lang="en-US"/>
              <a:t>  "slug": "availability",</a:t>
            </a:r>
          </a:p>
          <a:p>
            <a:r>
              <a:rPr lang="en-US"/>
              <a:t>  "label_de": "Verfügbarkeit und Auditspur",</a:t>
            </a:r>
          </a:p>
          <a:p>
            <a:r>
              <a:rPr lang="en-US"/>
              <a:t>  "goal": "Disrupt progress or auditability",</a:t>
            </a:r>
          </a:p>
          <a:p>
            <a:r>
              <a:rPr lang="en-US"/>
              <a:t>  "operator": "OR",</a:t>
            </a:r>
          </a:p>
          <a:p>
            <a:r>
              <a:rPr lang="en-US"/>
              <a:t>  "domains": [</a:t>
            </a:r>
          </a:p>
          <a:p>
            <a:r>
              <a:rPr lang="en-US"/>
              <a:t>    "DFL",</a:t>
            </a:r>
          </a:p>
          <a:p>
            <a:r>
              <a:rPr lang="en-US"/>
              <a:t>    "Agent"</a:t>
            </a:r>
          </a:p>
          <a:p>
            <a:r>
              <a:rPr lang="en-US"/>
              <a:t>  ]</a:t>
            </a:r>
          </a:p>
          <a:p>
            <a:r>
              <a:rPr lang="en-US"/>
              <a: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PURPOSE</a:t>
            </a:r>
          </a:p>
          <a:p>
            <a:r>
              <a:rPr lang="en-US"/>
              <a:t>Editable attack-tree proposals derived from Chapter 4, Security Model and System</a:t>
            </a:r>
          </a:p>
          <a:p>
            <a:r>
              <a:rPr lang="en-US"/>
              <a:t>Requirements. The chapter contains a threat catalogue and use/misuse cases, not</a:t>
            </a:r>
          </a:p>
          <a:p>
            <a:r>
              <a:rPr lang="en-US"/>
              <a:t>these attack trees. The goal decomposition and its grouping are an explanatory</a:t>
            </a:r>
          </a:p>
          <a:p>
            <a:r>
              <a:rPr lang="en-US"/>
              <a:t>synthesis for the presentation; they are not quoted thesis figures or a formal</a:t>
            </a:r>
          </a:p>
          <a:p>
            <a:r>
              <a:rPr lang="en-US"/>
              <a:t>completeness result. The chapter and main presentation are left unchanged.</a:t>
            </a:r>
          </a:p>
          <a:p/>
          <a:p>
            <a:r>
              <a:rPr lang="en-US"/>
              <a:t>HOW TO READ THE TREE</a:t>
            </a:r>
          </a:p>
          <a:p>
            <a:r>
              <a:rPr lang="en-US"/>
              <a:t>A parent is the attacker's goal or subgoal. OR means any one child is sufficient</a:t>
            </a:r>
          </a:p>
          <a:p>
            <a:r>
              <a:rPr lang="en-US"/>
              <a:t>for the modeled parent; AND means every child condition must hold together.</a:t>
            </a:r>
          </a:p>
          <a:p>
            <a:r>
              <a:rPr lang="en-US"/>
              <a:t>Edges are decomposition, not a chronological sequence or a message flow.</a:t>
            </a:r>
          </a:p>
          <a:p>
            <a:r>
              <a:rPr lang="en-US"/>
              <a:t>Attack leaves refer to hypothetical successful subgoals, not instructions for</a:t>
            </a:r>
          </a:p>
          <a:p>
            <a:r>
              <a:rPr lang="en-US"/>
              <a:t>exploiting a demonstrated implementation vulnerability. AND joins only joint</a:t>
            </a:r>
          </a:p>
          <a:p>
            <a:r>
              <a:rPr lang="en-US"/>
              <a:t>conditions, never an attack and the control designed to stop it.</a:t>
            </a:r>
          </a:p>
          <a:p>
            <a:r>
              <a:rPr lang="en-US"/>
              <a:t>Leaf T-identifiers refer to Chapter 4. Repeated T-identifiers represent different</a:t>
            </a:r>
          </a:p>
          <a:p>
            <a:r>
              <a:rPr lang="en-US"/>
              <a:t>facets or effects of the same threat, not additional threats. The four diagrams</a:t>
            </a:r>
          </a:p>
          <a:p>
            <a:r>
              <a:rPr lang="en-US"/>
              <a:t>together reference T1 through T14. They are intentionally selective abstractions;</a:t>
            </a:r>
          </a:p>
          <a:p>
            <a:r>
              <a:rPr lang="en-US"/>
              <a:t>not every attack described under each T-identifier is expanded into a leaf.</a:t>
            </a:r>
          </a:p>
          <a:p/>
          <a:p>
            <a:r>
              <a:rPr lang="en-US"/>
              <a:t>ASSURANCE BOUNDARY</a:t>
            </a:r>
          </a:p>
          <a:p>
            <a:r>
              <a:rPr lang="en-US"/>
              <a:t>Requirements F1–F11 and NF1–NF7 specify expected controls and claim limits; their</a:t>
            </a:r>
          </a:p>
          <a:p>
            <a:r>
              <a:rPr lang="en-US"/>
              <a:t>appearance here is not a claim of successful implementation, proof or test.</a:t>
            </a:r>
          </a:p>
          <a:p>
            <a:r>
              <a:rPr lang="en-US"/>
              <a:t>Residual risks and assumption failures remain distinct from attacks intended to</a:t>
            </a:r>
          </a:p>
          <a:p>
            <a:r>
              <a:rPr lang="en-US"/>
              <a:t>be rejected. In particular T7 concerns valid harmful data/updates, T13 breaks a</a:t>
            </a:r>
          </a:p>
          <a:p>
            <a:r>
              <a:rPr lang="en-US"/>
              <a:t>cryptographic/platform/key/governance premise, and T14 covers sufficient collusion.</a:t>
            </a:r>
          </a:p>
          <a:p>
            <a:r>
              <a:rPr lang="en-US"/>
              <a:t>A correct attestation/signature does not establish semantic truth or independent</a:t>
            </a:r>
          </a:p>
          <a:p>
            <a:r>
              <a:rPr lang="en-US"/>
              <a:t>organizational ownership. T10 allows whole-interaction suppression before a</a:t>
            </a:r>
          </a:p>
          <a:p>
            <a:r>
              <a:rPr lang="en-US"/>
              <a:t>receipt exists; T11 retains a split-view boundary without independent witnesses.</a:t>
            </a:r>
          </a:p>
          <a:p>
            <a:r>
              <a:rPr lang="en-US"/>
              <a:t>Targeted aggregator replacement does not establish availability of all services.</a:t>
            </a:r>
          </a:p>
          <a:p>
            <a:r>
              <a:rPr lang="en-US"/>
              <a:t>Style C separates requirement/limit annotations from the actual tree edges.</a:t>
            </a:r>
          </a:p>
          <a:p>
            <a:r>
              <a:rPr lang="en-US"/>
              <a:t>Amber highlights a stated residual or assumption boundary, not measured risk,</a:t>
            </a:r>
          </a:p>
          <a:p>
            <a:r>
              <a:rPr lang="en-US"/>
              <a:t>probability or attack severity. No numbers in these diagrams are risk scores.</a:t>
            </a:r>
          </a:p>
          <a:p/>
          <a:p>
            <a:r>
              <a:rPr lang="en-US"/>
              <a:t>VERSION SCOPE</a:t>
            </a:r>
          </a:p>
          <a:p>
            <a:r>
              <a:rPr lang="en-US"/>
              <a:t>The source is Chapter 4 as inspected for this task, including its stated legacy</a:t>
            </a:r>
          </a:p>
          <a:p>
            <a:r>
              <a:rPr lang="en-US"/>
              <a:t>per-inference attestation limitations. Newer RA-TLS/Phala verification code and</a:t>
            </a:r>
          </a:p>
          <a:p>
            <a:r>
              <a:rPr lang="en-US"/>
              <a:t>recent experiments are not silently substituted for the chapter's specification.</a:t>
            </a:r>
          </a:p>
          <a:p>
            <a:r>
              <a:rPr lang="en-US"/>
              <a:t>No experiment, exploitation, cloud call or change to Chapter 4 was performed.</a:t>
            </a:r>
          </a:p>
          <a:p/>
          <a:p>
            <a:r>
              <a:rPr lang="en-US"/>
              <a:t>SOURCE</a:t>
            </a:r>
          </a:p>
          <a:p>
            <a:r>
              <a:rPr lang="en-US"/>
              <a:t>Workspace-relative: overleaf/chapters/chapter4.tex.</a:t>
            </a:r>
          </a:p>
          <a:p>
            <a:r>
              <a:rPr lang="en-US"/>
              <a:t>Exact source fingerprint, threat/requirement references and modeling rationale</a:t>
            </a:r>
          </a:p>
          <a:p>
            <a:r>
              <a:rPr lang="en-US"/>
              <a:t>are stored alongside these slides in trees.json, source-map.json and README.md.</a:t>
            </a:r>
          </a:p>
          <a:p/>
          <a:p>
            <a:r>
              <a:rPr lang="en-US"/>
              <a:t>TREE-SPECIFIC MODEL</a:t>
            </a:r>
          </a:p>
          <a:p>
            <a:r>
              <a:rPr lang="en-US"/>
              <a:t>{</a:t>
            </a:r>
          </a:p>
          <a:p>
            <a:r>
              <a:rPr lang="en-US"/>
              <a:t>  "title": "Attack tree: models, keys and trust roots",</a:t>
            </a:r>
          </a:p>
          <a:p>
            <a:r>
              <a:rPr lang="en-US"/>
              <a:t>  "assets": [</a:t>
            </a:r>
          </a:p>
          <a:p>
            <a:r>
              <a:rPr lang="en-US"/>
              <a:t>    "A4",</a:t>
            </a:r>
          </a:p>
          <a:p>
            <a:r>
              <a:rPr lang="en-US"/>
              <a:t>    "A7"</a:t>
            </a:r>
          </a:p>
          <a:p>
            <a:r>
              <a:rPr lang="en-US"/>
              <a:t>  ],</a:t>
            </a:r>
          </a:p>
          <a:p>
            <a:r>
              <a:rPr lang="en-US"/>
              <a:t>  "requirements": [</a:t>
            </a:r>
          </a:p>
          <a:p>
            <a:r>
              <a:rPr lang="en-US"/>
              <a:t>    "F3",</a:t>
            </a:r>
          </a:p>
          <a:p>
            <a:r>
              <a:rPr lang="en-US"/>
              <a:t>    "F7",</a:t>
            </a:r>
          </a:p>
          <a:p>
            <a:r>
              <a:rPr lang="en-US"/>
              <a:t>    "NF3",</a:t>
            </a:r>
          </a:p>
          <a:p>
            <a:r>
              <a:rPr lang="en-US"/>
              <a:t>    "NF4"</a:t>
            </a:r>
          </a:p>
          <a:p>
            <a:r>
              <a:rPr lang="en-US"/>
              <a:t>  ],</a:t>
            </a:r>
          </a:p>
          <a:p>
            <a:r>
              <a:rPr lang="en-US"/>
              <a:t>  "assumptions": [</a:t>
            </a:r>
          </a:p>
          <a:p>
            <a:r>
              <a:rPr lang="en-US"/>
              <a:t>    "AS1",</a:t>
            </a:r>
          </a:p>
          <a:p>
            <a:r>
              <a:rPr lang="en-US"/>
              <a:t>    "AS3",</a:t>
            </a:r>
          </a:p>
          <a:p>
            <a:r>
              <a:rPr lang="en-US"/>
              <a:t>    "AS4",</a:t>
            </a:r>
          </a:p>
          <a:p>
            <a:r>
              <a:rPr lang="en-US"/>
              <a:t>    "AS5",</a:t>
            </a:r>
          </a:p>
          <a:p>
            <a:r>
              <a:rPr lang="en-US"/>
              <a:t>    "AS7"</a:t>
            </a:r>
          </a:p>
          <a:p>
            <a:r>
              <a:rPr lang="en-US"/>
              <a:t>  ],</a:t>
            </a:r>
          </a:p>
          <a:p>
            <a:r>
              <a:rPr lang="en-US"/>
              <a:t>  "branches": [</a:t>
            </a:r>
          </a:p>
          <a:p>
            <a:r>
              <a:rPr lang="en-US"/>
              <a:t>    {</a:t>
            </a:r>
          </a:p>
          <a:p>
            <a:r>
              <a:rPr lang="en-US"/>
              <a:t>      "label": "Abuse model distribution",</a:t>
            </a:r>
          </a:p>
          <a:p>
            <a:r>
              <a:rPr lang="en-US"/>
              <a:t>      "leaves": [</a:t>
            </a:r>
          </a:p>
          <a:p>
            <a:r>
              <a:rPr lang="en-US"/>
              <a:t>        {</a:t>
            </a:r>
          </a:p>
          <a:p>
            <a:r>
              <a:rPr lang="en-US"/>
              <a:t>          "label": "Recover a key outside the recipient set",</a:t>
            </a:r>
          </a:p>
          <a:p>
            <a:r>
              <a:rPr lang="en-US"/>
              <a:t>          "threats": [</a:t>
            </a:r>
          </a:p>
          <a:p>
            <a:r>
              <a:rPr lang="en-US"/>
              <a:t>            "T5"</a:t>
            </a:r>
          </a:p>
          <a:p>
            <a:r>
              <a:rPr lang="en-US"/>
              <a:t>          ],</a:t>
            </a:r>
          </a:p>
          <a:p>
            <a:r>
              <a:rPr lang="en-US"/>
              <a:t>          "note": "Obtain a model key through the intended publication/recovery path without being an eligible recipient. Public ciphertext downloads alone do not constitute disclosure.",</a:t>
            </a:r>
          </a:p>
          <a:p>
            <a:r>
              <a:rPr lang="en-US"/>
              <a:t>          "requirements": [</a:t>
            </a:r>
          </a:p>
          <a:p>
            <a:r>
              <a:rPr lang="en-US"/>
              <a:t>            "F7"</a:t>
            </a:r>
          </a:p>
          <a:p>
            <a:r>
              <a:rPr lang="en-US"/>
              <a:t>          ],</a:t>
            </a:r>
          </a:p>
          <a:p>
            <a:r>
              <a:rPr lang="en-US"/>
              <a:t>          "assumptions": [</a:t>
            </a:r>
          </a:p>
          <a:p>
            <a:r>
              <a:rPr lang="en-US"/>
              <a:t>            "AS1",</a:t>
            </a:r>
          </a:p>
          <a:p>
            <a:r>
              <a:rPr lang="en-US"/>
              <a:t>            "AS5"</a:t>
            </a:r>
          </a:p>
          <a:p>
            <a:r>
              <a:rPr lang="en-US"/>
              <a:t>          ],</a:t>
            </a:r>
          </a:p>
          <a:p>
            <a:r>
              <a:rPr lang="en-US"/>
              <a:t>          "scope": "modeled_attack"</a:t>
            </a:r>
          </a:p>
          <a:p>
            <a:r>
              <a:rPr lang="en-US"/>
              <a:t>        },</a:t>
            </a:r>
          </a:p>
          <a:p>
            <a:r>
              <a:rPr lang="en-US"/>
              <a:t>        {</a:t>
            </a:r>
          </a:p>
          <a:p>
            <a:r>
              <a:rPr lang="en-US"/>
              <a:t>          "label": "Obtain plaintext through unauthorized access",</a:t>
            </a:r>
          </a:p>
          <a:p>
            <a:r>
              <a:rPr lang="en-US"/>
              <a:t>          "threats": [</a:t>
            </a:r>
          </a:p>
          <a:p>
            <a:r>
              <a:rPr lang="en-US"/>
              <a:t>            "T5"</a:t>
            </a:r>
          </a:p>
          <a:p>
            <a:r>
              <a:rPr lang="en-US"/>
              <a:t>          ],</a:t>
            </a:r>
          </a:p>
          <a:p>
            <a:r>
              <a:rPr lang="en-US"/>
              <a:t>          "note": "Obtain a plaintext model or service-local secret through the intended distribution path. Subsequent redistribution by an authorized plaintext recipient is explicitly outside the guarantee.",</a:t>
            </a:r>
          </a:p>
          <a:p>
            <a:r>
              <a:rPr lang="en-US"/>
              <a:t>          "requirements": [</a:t>
            </a:r>
          </a:p>
          <a:p>
            <a:r>
              <a:rPr lang="en-US"/>
              <a:t>            "F7"</a:t>
            </a:r>
          </a:p>
          <a:p>
            <a:r>
              <a:rPr lang="en-US"/>
              <a:t>          ],</a:t>
            </a:r>
          </a:p>
          <a:p>
            <a:r>
              <a:rPr lang="en-US"/>
              <a:t>          "assumptions": [</a:t>
            </a:r>
          </a:p>
          <a:p>
            <a:r>
              <a:rPr lang="en-US"/>
              <a:t>            "AS1",</a:t>
            </a:r>
          </a:p>
          <a:p>
            <a:r>
              <a:rPr lang="en-US"/>
              <a:t>            "AS5"</a:t>
            </a:r>
          </a:p>
          <a:p>
            <a:r>
              <a:rPr lang="en-US"/>
              <a:t>          ],</a:t>
            </a:r>
          </a:p>
          <a:p>
            <a:r>
              <a:rPr lang="en-US"/>
              <a:t>          "scope": "modeled_attack"</a:t>
            </a:r>
          </a:p>
          <a:p>
            <a:r>
              <a:rPr lang="en-US"/>
              <a:t>        }</a:t>
            </a:r>
          </a:p>
          <a:p>
            <a:r>
              <a:rPr lang="en-US"/>
              <a:t>      ],</a:t>
            </a:r>
          </a:p>
          <a:p>
            <a:r>
              <a:rPr lang="en-US"/>
              <a:t>      "note": "",</a:t>
            </a:r>
          </a:p>
          <a:p>
            <a:r>
              <a:rPr lang="en-US"/>
              <a:t>      "operator": "OR",</a:t>
            </a:r>
          </a:p>
          <a:p>
            <a:r>
              <a:rPr lang="en-US"/>
              <a:t>      "boundary": "mixed",</a:t>
            </a:r>
          </a:p>
          <a:p>
            <a:r>
              <a:rPr lang="en-US"/>
              <a:t>      "annotation": "F7; recipient redistribution is out of scope",</a:t>
            </a:r>
          </a:p>
          <a:p>
            <a:r>
              <a:rPr lang="en-US"/>
              <a:t>      "requirements": [</a:t>
            </a:r>
          </a:p>
          <a:p>
            <a:r>
              <a:rPr lang="en-US"/>
              <a:t>        "F7"</a:t>
            </a:r>
          </a:p>
          <a:p>
            <a:r>
              <a:rPr lang="en-US"/>
              <a:t>      ],</a:t>
            </a:r>
          </a:p>
          <a:p>
            <a:r>
              <a:rPr lang="en-US"/>
              <a:t>      "assumptions": [</a:t>
            </a:r>
          </a:p>
          <a:p>
            <a:r>
              <a:rPr lang="en-US"/>
              <a:t>        "AS1",</a:t>
            </a:r>
          </a:p>
          <a:p>
            <a:r>
              <a:rPr lang="en-US"/>
              <a:t>        "AS5"</a:t>
            </a:r>
          </a:p>
          <a:p>
            <a:r>
              <a:rPr lang="en-US"/>
              <a:t>      ],</a:t>
            </a:r>
          </a:p>
          <a:p>
            <a:r>
              <a:rPr lang="en-US"/>
              <a:t>      "rationale": "Alternative successful subgoals of the named attack surface. A leaf denotes its successful effect, not merely an attempted mutation or replay."</a:t>
            </a:r>
          </a:p>
          <a:p>
            <a:r>
              <a:rPr lang="en-US"/>
              <a:t>    },</a:t>
            </a:r>
          </a:p>
          <a:p>
            <a:r>
              <a:rPr lang="en-US"/>
              <a:t>    {</a:t>
            </a:r>
          </a:p>
          <a:p>
            <a:r>
              <a:rPr lang="en-US"/>
              <a:t>      "label": "Compromise secret custody",</a:t>
            </a:r>
          </a:p>
          <a:p>
            <a:r>
              <a:rPr lang="en-US"/>
              <a:t>      "leaves": [</a:t>
            </a:r>
          </a:p>
          <a:p>
            <a:r>
              <a:rPr lang="en-US"/>
              <a:t>        {</a:t>
            </a:r>
          </a:p>
          <a:p>
            <a:r>
              <a:rPr lang="en-US"/>
              <a:t>          "label": "Extract private or process keys",</a:t>
            </a:r>
          </a:p>
          <a:p>
            <a:r>
              <a:rPr lang="en-US"/>
              <a:t>          "threats": [</a:t>
            </a:r>
          </a:p>
          <a:p>
            <a:r>
              <a:rPr lang="en-US"/>
              <a:t>            "T13"</a:t>
            </a:r>
          </a:p>
          <a:p>
            <a:r>
              <a:rPr lang="en-US"/>
              <a:t>          ],</a:t>
            </a:r>
          </a:p>
          <a:p>
            <a:r>
              <a:rPr lang="en-US"/>
              <a:t>          "note": "Extract participant, process, medical-signer, receiver, or other protected private keys. The corresponding guarantees depend on protected key custody.",</a:t>
            </a:r>
          </a:p>
          <a:p>
            <a:r>
              <a:rPr lang="en-US"/>
              <a:t>          "requirements": [],</a:t>
            </a:r>
          </a:p>
          <a:p>
            <a:r>
              <a:rPr lang="en-US"/>
              <a:t>          "assumptions": [</a:t>
            </a:r>
          </a:p>
          <a:p>
            <a:r>
              <a:rPr lang="en-US"/>
              <a:t>            "AS5"</a:t>
            </a:r>
          </a:p>
          <a:p>
            <a:r>
              <a:rPr lang="en-US"/>
              <a:t>          ],</a:t>
            </a:r>
          </a:p>
          <a:p>
            <a:r>
              <a:rPr lang="en-US"/>
              <a:t>          "scope": "assumption_boundary"</a:t>
            </a:r>
          </a:p>
          <a:p>
            <a:r>
              <a:rPr lang="en-US"/>
              <a:t>        },</a:t>
            </a:r>
          </a:p>
          <a:p>
            <a:r>
              <a:rPr lang="en-US"/>
              <a:t>        {</a:t>
            </a:r>
          </a:p>
          <a:p>
            <a:r>
              <a:rPr lang="en-US"/>
              <a:t>          "label": "Misuse live keys inside a compromised workload",</a:t>
            </a:r>
          </a:p>
          <a:p>
            <a:r>
              <a:rPr lang="en-US"/>
              <a:t>          "threats": [</a:t>
            </a:r>
          </a:p>
          <a:p>
            <a:r>
              <a:rPr lang="en-US"/>
              <a:t>            "T13"</a:t>
            </a:r>
          </a:p>
          <a:p>
            <a:r>
              <a:rPr lang="en-US"/>
              <a:t>          ],</a:t>
            </a:r>
          </a:p>
          <a:p>
            <a:r>
              <a:rPr lang="en-US"/>
              <a:t>          "note": "Use protected key material for unauthorized operations after compromising its workload. A process exploit alone does not establish this leaf; actual secret misuse is required. Additional signatures do not repair a compromised signer.",</a:t>
            </a:r>
          </a:p>
          <a:p>
            <a:r>
              <a:rPr lang="en-US"/>
              <a:t>          "requirements": [],</a:t>
            </a:r>
          </a:p>
          <a:p>
            <a:r>
              <a:rPr lang="en-US"/>
              <a:t>          "assumptions": [</a:t>
            </a:r>
          </a:p>
          <a:p>
            <a:r>
              <a:rPr lang="en-US"/>
              <a:t>            "AS5"</a:t>
            </a:r>
          </a:p>
          <a:p>
            <a:r>
              <a:rPr lang="en-US"/>
              <a:t>          ],</a:t>
            </a:r>
          </a:p>
          <a:p>
            <a:r>
              <a:rPr lang="en-US"/>
              <a:t>          "scope": "assumption_boundary"</a:t>
            </a:r>
          </a:p>
          <a:p>
            <a:r>
              <a:rPr lang="en-US"/>
              <a:t>        }</a:t>
            </a:r>
          </a:p>
          <a:p>
            <a:r>
              <a:rPr lang="en-US"/>
              <a:t>      ],</a:t>
            </a:r>
          </a:p>
          <a:p>
            <a:r>
              <a:rPr lang="en-US"/>
              <a:t>      "note": "",</a:t>
            </a:r>
          </a:p>
          <a:p>
            <a:r>
              <a:rPr lang="en-US"/>
              <a:t>      "operator": "OR",</a:t>
            </a:r>
          </a:p>
          <a:p>
            <a:r>
              <a:rPr lang="en-US"/>
              <a:t>      "boundary": "assumption",</a:t>
            </a:r>
          </a:p>
          <a:p>
            <a:r>
              <a:rPr lang="en-US"/>
              <a:t>      "annotation": "Assumption boundary: AS5",</a:t>
            </a:r>
          </a:p>
          <a:p>
            <a:r>
              <a:rPr lang="en-US"/>
              <a:t>      "requirements": [],</a:t>
            </a:r>
          </a:p>
          <a:p>
            <a:r>
              <a:rPr lang="en-US"/>
              <a:t>      "assumptions": [</a:t>
            </a:r>
          </a:p>
          <a:p>
            <a:r>
              <a:rPr lang="en-US"/>
              <a:t>        "AS5"</a:t>
            </a:r>
          </a:p>
          <a:p>
            <a:r>
              <a:rPr lang="en-US"/>
              <a:t>      ],</a:t>
            </a:r>
          </a:p>
          <a:p>
            <a:r>
              <a:rPr lang="en-US"/>
              <a:t>      "rationale": "Alternative successful subgoals of the named attack surface. A leaf denotes its successful effect, not merely an attempted mutation or replay."</a:t>
            </a:r>
          </a:p>
          <a:p>
            <a:r>
              <a:rPr lang="en-US"/>
              <a:t>    },</a:t>
            </a:r>
          </a:p>
          <a:p>
            <a:r>
              <a:rPr lang="en-US"/>
              <a:t>    {</a:t>
            </a:r>
          </a:p>
          <a:p>
            <a:r>
              <a:rPr lang="en-US"/>
              <a:t>      "label": "Defeat the roots of trust",</a:t>
            </a:r>
          </a:p>
          <a:p>
            <a:r>
              <a:rPr lang="en-US"/>
              <a:t>      "leaves": [</a:t>
            </a:r>
          </a:p>
          <a:p>
            <a:r>
              <a:rPr lang="en-US"/>
              <a:t>        {</a:t>
            </a:r>
          </a:p>
          <a:p>
            <a:r>
              <a:rPr lang="en-US"/>
              <a:t>          "label": "Break cryptographic or hardware trust",</a:t>
            </a:r>
          </a:p>
          <a:p>
            <a:r>
              <a:rPr lang="en-US"/>
              <a:t>          "threats": [</a:t>
            </a:r>
          </a:p>
          <a:p>
            <a:r>
              <a:rPr lang="en-US"/>
              <a:t>            "T13"</a:t>
            </a:r>
          </a:p>
          <a:p>
            <a:r>
              <a:rPr lang="en-US"/>
              <a:t>          ],</a:t>
            </a:r>
          </a:p>
          <a:p>
            <a:r>
              <a:rPr lang="en-US"/>
              <a:t>          "note": "Break a selected primitive or defeat the measured-execution/attestation root. This is an explicit premise boundary, not an exploit countered by an application-level test.",</a:t>
            </a:r>
          </a:p>
          <a:p>
            <a:r>
              <a:rPr lang="en-US"/>
              <a:t>          "requirements": [],</a:t>
            </a:r>
          </a:p>
          <a:p>
            <a:r>
              <a:rPr lang="en-US"/>
              <a:t>          "assumptions": [</a:t>
            </a:r>
          </a:p>
          <a:p>
            <a:r>
              <a:rPr lang="en-US"/>
              <a:t>            "AS1",</a:t>
            </a:r>
          </a:p>
          <a:p>
            <a:r>
              <a:rPr lang="en-US"/>
              <a:t>            "AS3"</a:t>
            </a:r>
          </a:p>
          <a:p>
            <a:r>
              <a:rPr lang="en-US"/>
              <a:t>          ],</a:t>
            </a:r>
          </a:p>
          <a:p>
            <a:r>
              <a:rPr lang="en-US"/>
              <a:t>          "scope": "assumption_boundary"</a:t>
            </a:r>
          </a:p>
          <a:p>
            <a:r>
              <a:rPr lang="en-US"/>
              <a:t>        },</a:t>
            </a:r>
          </a:p>
          <a:p>
            <a:r>
              <a:rPr lang="en-US"/>
              <a:t>        {</a:t>
            </a:r>
          </a:p>
          <a:p>
            <a:r>
              <a:rPr lang="en-US"/>
              <a:t>          "label": "Compromise governance authority",</a:t>
            </a:r>
          </a:p>
          <a:p>
            <a:r>
              <a:rPr lang="en-US"/>
              <a:t>          "threats": [</a:t>
            </a:r>
          </a:p>
          <a:p>
            <a:r>
              <a:rPr lang="en-US"/>
              <a:t>            "T13",</a:t>
            </a:r>
          </a:p>
          <a:p>
            <a:r>
              <a:rPr lang="en-US"/>
              <a:t>            "T14"</a:t>
            </a:r>
          </a:p>
          <a:p>
            <a:r>
              <a:rPr lang="en-US"/>
              <a:t>          ],</a:t>
            </a:r>
          </a:p>
          <a:p>
            <a:r>
              <a:rPr lang="en-US"/>
              <a:t>          "note": "Compromise governance keys or coordinate policy abuse. Correct policy configuration, signer governance, and intact protected principals remain assumptions.",</a:t>
            </a:r>
          </a:p>
          <a:p>
            <a:r>
              <a:rPr lang="en-US"/>
              <a:t>          "requirements": [],</a:t>
            </a:r>
          </a:p>
          <a:p>
            <a:r>
              <a:rPr lang="en-US"/>
              <a:t>          "assumptions": [</a:t>
            </a:r>
          </a:p>
          <a:p>
            <a:r>
              <a:rPr lang="en-US"/>
              <a:t>            "AS4",</a:t>
            </a:r>
          </a:p>
          <a:p>
            <a:r>
              <a:rPr lang="en-US"/>
              <a:t>            "AS5",</a:t>
            </a:r>
          </a:p>
          <a:p>
            <a:r>
              <a:rPr lang="en-US"/>
              <a:t>            "AS7"</a:t>
            </a:r>
          </a:p>
          <a:p>
            <a:r>
              <a:rPr lang="en-US"/>
              <a:t>          ],</a:t>
            </a:r>
          </a:p>
          <a:p>
            <a:r>
              <a:rPr lang="en-US"/>
              <a:t>          "scope": "assumption_boundary"</a:t>
            </a:r>
          </a:p>
          <a:p>
            <a:r>
              <a:rPr lang="en-US"/>
              <a:t>        }</a:t>
            </a:r>
          </a:p>
          <a:p>
            <a:r>
              <a:rPr lang="en-US"/>
              <a:t>      ],</a:t>
            </a:r>
          </a:p>
          <a:p>
            <a:r>
              <a:rPr lang="en-US"/>
              <a:t>      "note": "",</a:t>
            </a:r>
          </a:p>
          <a:p>
            <a:r>
              <a:rPr lang="en-US"/>
              <a:t>      "operator": "OR",</a:t>
            </a:r>
          </a:p>
          <a:p>
            <a:r>
              <a:rPr lang="en-US"/>
              <a:t>      "boundary": "assumption",</a:t>
            </a:r>
          </a:p>
          <a:p>
            <a:r>
              <a:rPr lang="en-US"/>
              <a:t>      "annotation": "Assumptions: AS1 · AS3–AS5 · AS7",</a:t>
            </a:r>
          </a:p>
          <a:p>
            <a:r>
              <a:rPr lang="en-US"/>
              <a:t>      "requirements": [],</a:t>
            </a:r>
          </a:p>
          <a:p>
            <a:r>
              <a:rPr lang="en-US"/>
              <a:t>      "assumptions": [</a:t>
            </a:r>
          </a:p>
          <a:p>
            <a:r>
              <a:rPr lang="en-US"/>
              <a:t>        "AS1",</a:t>
            </a:r>
          </a:p>
          <a:p>
            <a:r>
              <a:rPr lang="en-US"/>
              <a:t>        "AS3",</a:t>
            </a:r>
          </a:p>
          <a:p>
            <a:r>
              <a:rPr lang="en-US"/>
              <a:t>        "AS4",</a:t>
            </a:r>
          </a:p>
          <a:p>
            <a:r>
              <a:rPr lang="en-US"/>
              <a:t>        "AS5",</a:t>
            </a:r>
          </a:p>
          <a:p>
            <a:r>
              <a:rPr lang="en-US"/>
              <a:t>        "AS7"</a:t>
            </a:r>
          </a:p>
          <a:p>
            <a:r>
              <a:rPr lang="en-US"/>
              <a:t>      ],</a:t>
            </a:r>
          </a:p>
          <a:p>
            <a:r>
              <a:rPr lang="en-US"/>
              <a:t>      "rationale": "Alternative successful subgoals of the named attack surface. A leaf denotes its successful effect, not merely an attempted mutation or replay."</a:t>
            </a:r>
          </a:p>
          <a:p>
            <a:r>
              <a:rPr lang="en-US"/>
              <a:t>    }</a:t>
            </a:r>
          </a:p>
          <a:p>
            <a:r>
              <a:rPr lang="en-US"/>
              <a:t>  ],</a:t>
            </a:r>
          </a:p>
          <a:p>
            <a:r>
              <a:rPr lang="en-US"/>
              <a:t>  "boundary": "Protection ends at compromised roots or authorized plaintext redistribution.",</a:t>
            </a:r>
          </a:p>
          <a:p>
            <a:r>
              <a:rPr lang="en-US"/>
              <a:t>  "notes": "The broad root intentionally includes both confidentiality and key-trust compromise: a defeated signing/attestation root can violate integrity even before disclosure occurs. T5 describes the intended encrypted-distribution boundary; T13 marks explicit trust premises; governance collusion is part of T14. These are distinct from clinically incorrect but correctly signed data.",</a:t>
            </a:r>
          </a:p>
          <a:p>
            <a:r>
              <a:rPr lang="en-US"/>
              <a:t>  "number": 4,</a:t>
            </a:r>
          </a:p>
          <a:p>
            <a:r>
              <a:rPr lang="en-US"/>
              <a:t>  "slug": "confidentiality",</a:t>
            </a:r>
          </a:p>
          <a:p>
            <a:r>
              <a:rPr lang="en-US"/>
              <a:t>  "label_de": "Modelle, Schlüssel und Vertrauenswurzeln",</a:t>
            </a:r>
          </a:p>
          <a:p>
            <a:r>
              <a:rPr lang="en-US"/>
              <a:t>  "goal": "Expose secrets or defeat trust roots",</a:t>
            </a:r>
          </a:p>
          <a:p>
            <a:r>
              <a:rPr lang="en-US"/>
              <a:t>  "operator": "OR",</a:t>
            </a:r>
          </a:p>
          <a:p>
            <a:r>
              <a:rPr lang="en-US"/>
              <a:t>  "domains": [</a:t>
            </a:r>
          </a:p>
          <a:p>
            <a:r>
              <a:rPr lang="en-US"/>
              <a:t>    "DFL",</a:t>
            </a:r>
          </a:p>
          <a:p>
            <a:r>
              <a:rPr lang="en-US"/>
              <a:t>    "Agent"</a:t>
            </a:r>
          </a:p>
          <a:p>
            <a:r>
              <a:rPr lang="en-US"/>
              <a:t>  ]</a:t>
            </a:r>
          </a:p>
          <a:p>
            <a:r>
              <a:rPr lang="en-US"/>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el - Text und Bild">
    <p:spTree>
      <p:nvGrpSpPr>
        <p:cNvPr id="1" name=""/>
        <p:cNvGrpSpPr/>
        <p:nvPr/>
      </p:nvGrpSpPr>
      <p:grpSpPr>
        <a:xfrm>
          <a:off x="0" y="0"/>
          <a:ext cx="0" cy="0"/>
          <a:chOff x="0" y="0"/>
          <a:chExt cx="0" cy="0"/>
        </a:xfrm>
      </p:grpSpPr>
      <p:sp>
        <p:nvSpPr>
          <p:cNvPr id="3" name="Bildplatzhalter 23">
            <a:extLst>
              <a:ext uri="{FF2B5EF4-FFF2-40B4-BE49-F238E27FC236}">
                <a16:creationId xmlns:a16="http://schemas.microsoft.com/office/drawing/2014/main" id="{9A036687-F2BF-7B4C-A352-6E1D355D125D}"/>
              </a:ext>
            </a:extLst>
          </p:cNvPr>
          <p:cNvSpPr>
            <a:spLocks noGrp="1"/>
          </p:cNvSpPr>
          <p:nvPr>
            <p:ph type="pic" sz="quarter" idx="17" hasCustomPrompt="1"/>
          </p:nvPr>
        </p:nvSpPr>
        <p:spPr>
          <a:xfrm>
            <a:off x="-6479" y="1260572"/>
            <a:ext cx="8885359" cy="3273604"/>
          </a:xfrm>
          <a:custGeom>
            <a:avLst/>
            <a:gdLst>
              <a:gd name="connsiteX0" fmla="*/ 0 w 8328660"/>
              <a:gd name="connsiteY0" fmla="*/ 0 h 3143274"/>
              <a:gd name="connsiteX1" fmla="*/ 8328660 w 8328660"/>
              <a:gd name="connsiteY1" fmla="*/ 0 h 3143274"/>
              <a:gd name="connsiteX2" fmla="*/ 8328660 w 8328660"/>
              <a:gd name="connsiteY2" fmla="*/ 3143274 h 3143274"/>
              <a:gd name="connsiteX3" fmla="*/ 0 w 8328660"/>
              <a:gd name="connsiteY3" fmla="*/ 3143274 h 3143274"/>
              <a:gd name="connsiteX4" fmla="*/ 0 w 8328660"/>
              <a:gd name="connsiteY4" fmla="*/ 0 h 3143274"/>
              <a:gd name="connsiteX0" fmla="*/ 0 w 8336280"/>
              <a:gd name="connsiteY0" fmla="*/ 601980 h 3745254"/>
              <a:gd name="connsiteX1" fmla="*/ 8336280 w 8336280"/>
              <a:gd name="connsiteY1" fmla="*/ 0 h 3745254"/>
              <a:gd name="connsiteX2" fmla="*/ 8328660 w 8336280"/>
              <a:gd name="connsiteY2" fmla="*/ 3745254 h 3745254"/>
              <a:gd name="connsiteX3" fmla="*/ 0 w 8336280"/>
              <a:gd name="connsiteY3" fmla="*/ 3745254 h 3745254"/>
              <a:gd name="connsiteX4" fmla="*/ 0 w 8336280"/>
              <a:gd name="connsiteY4" fmla="*/ 601980 h 3745254"/>
              <a:gd name="connsiteX0" fmla="*/ 0 w 8336280"/>
              <a:gd name="connsiteY0" fmla="*/ 601980 h 3745254"/>
              <a:gd name="connsiteX1" fmla="*/ 8336280 w 8336280"/>
              <a:gd name="connsiteY1" fmla="*/ 0 h 3745254"/>
              <a:gd name="connsiteX2" fmla="*/ 8321040 w 8336280"/>
              <a:gd name="connsiteY2" fmla="*/ 3242334 h 3745254"/>
              <a:gd name="connsiteX3" fmla="*/ 0 w 8336280"/>
              <a:gd name="connsiteY3" fmla="*/ 3745254 h 3745254"/>
              <a:gd name="connsiteX4" fmla="*/ 0 w 8336280"/>
              <a:gd name="connsiteY4" fmla="*/ 601980 h 3745254"/>
              <a:gd name="connsiteX0" fmla="*/ 0 w 8336280"/>
              <a:gd name="connsiteY0" fmla="*/ 286029 h 3429303"/>
              <a:gd name="connsiteX1" fmla="*/ 8336280 w 8336280"/>
              <a:gd name="connsiteY1" fmla="*/ 0 h 3429303"/>
              <a:gd name="connsiteX2" fmla="*/ 8321040 w 8336280"/>
              <a:gd name="connsiteY2" fmla="*/ 2926383 h 3429303"/>
              <a:gd name="connsiteX3" fmla="*/ 0 w 8336280"/>
              <a:gd name="connsiteY3" fmla="*/ 3429303 h 3429303"/>
              <a:gd name="connsiteX4" fmla="*/ 0 w 8336280"/>
              <a:gd name="connsiteY4" fmla="*/ 286029 h 3429303"/>
              <a:gd name="connsiteX0" fmla="*/ 0 w 8339997"/>
              <a:gd name="connsiteY0" fmla="*/ 312049 h 3429303"/>
              <a:gd name="connsiteX1" fmla="*/ 8339997 w 8339997"/>
              <a:gd name="connsiteY1" fmla="*/ 0 h 3429303"/>
              <a:gd name="connsiteX2" fmla="*/ 8324757 w 8339997"/>
              <a:gd name="connsiteY2" fmla="*/ 2926383 h 3429303"/>
              <a:gd name="connsiteX3" fmla="*/ 3717 w 8339997"/>
              <a:gd name="connsiteY3" fmla="*/ 3429303 h 3429303"/>
              <a:gd name="connsiteX4" fmla="*/ 0 w 8339997"/>
              <a:gd name="connsiteY4" fmla="*/ 312049 h 3429303"/>
              <a:gd name="connsiteX0" fmla="*/ 0 w 8343172"/>
              <a:gd name="connsiteY0" fmla="*/ 305699 h 3429303"/>
              <a:gd name="connsiteX1" fmla="*/ 8343172 w 8343172"/>
              <a:gd name="connsiteY1" fmla="*/ 0 h 3429303"/>
              <a:gd name="connsiteX2" fmla="*/ 8327932 w 8343172"/>
              <a:gd name="connsiteY2" fmla="*/ 2926383 h 3429303"/>
              <a:gd name="connsiteX3" fmla="*/ 6892 w 8343172"/>
              <a:gd name="connsiteY3" fmla="*/ 3429303 h 3429303"/>
              <a:gd name="connsiteX4" fmla="*/ 0 w 8343172"/>
              <a:gd name="connsiteY4" fmla="*/ 305699 h 3429303"/>
              <a:gd name="connsiteX0" fmla="*/ 0 w 8349522"/>
              <a:gd name="connsiteY0" fmla="*/ 308874 h 3429303"/>
              <a:gd name="connsiteX1" fmla="*/ 8349522 w 8349522"/>
              <a:gd name="connsiteY1" fmla="*/ 0 h 3429303"/>
              <a:gd name="connsiteX2" fmla="*/ 8334282 w 8349522"/>
              <a:gd name="connsiteY2" fmla="*/ 2926383 h 3429303"/>
              <a:gd name="connsiteX3" fmla="*/ 13242 w 8349522"/>
              <a:gd name="connsiteY3" fmla="*/ 3429303 h 3429303"/>
              <a:gd name="connsiteX4" fmla="*/ 0 w 8349522"/>
              <a:gd name="connsiteY4" fmla="*/ 308874 h 3429303"/>
              <a:gd name="connsiteX0" fmla="*/ 0 w 8352697"/>
              <a:gd name="connsiteY0" fmla="*/ 312049 h 3429303"/>
              <a:gd name="connsiteX1" fmla="*/ 8352697 w 8352697"/>
              <a:gd name="connsiteY1" fmla="*/ 0 h 3429303"/>
              <a:gd name="connsiteX2" fmla="*/ 8337457 w 8352697"/>
              <a:gd name="connsiteY2" fmla="*/ 2926383 h 3429303"/>
              <a:gd name="connsiteX3" fmla="*/ 16417 w 8352697"/>
              <a:gd name="connsiteY3" fmla="*/ 3429303 h 3429303"/>
              <a:gd name="connsiteX4" fmla="*/ 0 w 8352697"/>
              <a:gd name="connsiteY4" fmla="*/ 312049 h 3429303"/>
              <a:gd name="connsiteX0" fmla="*/ 0 w 8349522"/>
              <a:gd name="connsiteY0" fmla="*/ 302524 h 3429303"/>
              <a:gd name="connsiteX1" fmla="*/ 8349522 w 8349522"/>
              <a:gd name="connsiteY1" fmla="*/ 0 h 3429303"/>
              <a:gd name="connsiteX2" fmla="*/ 8334282 w 8349522"/>
              <a:gd name="connsiteY2" fmla="*/ 2926383 h 3429303"/>
              <a:gd name="connsiteX3" fmla="*/ 13242 w 8349522"/>
              <a:gd name="connsiteY3" fmla="*/ 3429303 h 3429303"/>
              <a:gd name="connsiteX4" fmla="*/ 0 w 8349522"/>
              <a:gd name="connsiteY4" fmla="*/ 302524 h 3429303"/>
              <a:gd name="connsiteX0" fmla="*/ 0 w 8349522"/>
              <a:gd name="connsiteY0" fmla="*/ 302524 h 3226103"/>
              <a:gd name="connsiteX1" fmla="*/ 8349522 w 8349522"/>
              <a:gd name="connsiteY1" fmla="*/ 0 h 3226103"/>
              <a:gd name="connsiteX2" fmla="*/ 8334282 w 8349522"/>
              <a:gd name="connsiteY2" fmla="*/ 2926383 h 3226103"/>
              <a:gd name="connsiteX3" fmla="*/ 13242 w 8349522"/>
              <a:gd name="connsiteY3" fmla="*/ 3226103 h 3226103"/>
              <a:gd name="connsiteX4" fmla="*/ 0 w 8349522"/>
              <a:gd name="connsiteY4" fmla="*/ 302524 h 3226103"/>
              <a:gd name="connsiteX0" fmla="*/ 0 w 8883911"/>
              <a:gd name="connsiteY0" fmla="*/ 326274 h 3226103"/>
              <a:gd name="connsiteX1" fmla="*/ 8883911 w 8883911"/>
              <a:gd name="connsiteY1" fmla="*/ 0 h 3226103"/>
              <a:gd name="connsiteX2" fmla="*/ 8868671 w 8883911"/>
              <a:gd name="connsiteY2" fmla="*/ 2926383 h 3226103"/>
              <a:gd name="connsiteX3" fmla="*/ 547631 w 8883911"/>
              <a:gd name="connsiteY3" fmla="*/ 3226103 h 3226103"/>
              <a:gd name="connsiteX4" fmla="*/ 0 w 8883911"/>
              <a:gd name="connsiteY4" fmla="*/ 326274 h 3226103"/>
              <a:gd name="connsiteX0" fmla="*/ 0 w 8872036"/>
              <a:gd name="connsiteY0" fmla="*/ 326274 h 3226103"/>
              <a:gd name="connsiteX1" fmla="*/ 8872036 w 8872036"/>
              <a:gd name="connsiteY1" fmla="*/ 0 h 3226103"/>
              <a:gd name="connsiteX2" fmla="*/ 8856796 w 8872036"/>
              <a:gd name="connsiteY2" fmla="*/ 2926383 h 3226103"/>
              <a:gd name="connsiteX3" fmla="*/ 535756 w 8872036"/>
              <a:gd name="connsiteY3" fmla="*/ 3226103 h 3226103"/>
              <a:gd name="connsiteX4" fmla="*/ 0 w 8872036"/>
              <a:gd name="connsiteY4" fmla="*/ 326274 h 3226103"/>
              <a:gd name="connsiteX0" fmla="*/ 34357 w 8906393"/>
              <a:gd name="connsiteY0" fmla="*/ 326274 h 3273604"/>
              <a:gd name="connsiteX1" fmla="*/ 8906393 w 8906393"/>
              <a:gd name="connsiteY1" fmla="*/ 0 h 3273604"/>
              <a:gd name="connsiteX2" fmla="*/ 8891153 w 8906393"/>
              <a:gd name="connsiteY2" fmla="*/ 2926383 h 3273604"/>
              <a:gd name="connsiteX3" fmla="*/ 98 w 8906393"/>
              <a:gd name="connsiteY3" fmla="*/ 3273604 h 3273604"/>
              <a:gd name="connsiteX4" fmla="*/ 34357 w 8906393"/>
              <a:gd name="connsiteY4" fmla="*/ 326274 h 3273604"/>
              <a:gd name="connsiteX0" fmla="*/ 0 w 8907662"/>
              <a:gd name="connsiteY0" fmla="*/ 338149 h 3273604"/>
              <a:gd name="connsiteX1" fmla="*/ 8907662 w 8907662"/>
              <a:gd name="connsiteY1" fmla="*/ 0 h 3273604"/>
              <a:gd name="connsiteX2" fmla="*/ 8892422 w 8907662"/>
              <a:gd name="connsiteY2" fmla="*/ 2926383 h 3273604"/>
              <a:gd name="connsiteX3" fmla="*/ 1367 w 8907662"/>
              <a:gd name="connsiteY3" fmla="*/ 3273604 h 3273604"/>
              <a:gd name="connsiteX4" fmla="*/ 0 w 8907662"/>
              <a:gd name="connsiteY4" fmla="*/ 338149 h 3273604"/>
              <a:gd name="connsiteX0" fmla="*/ 0 w 8907662"/>
              <a:gd name="connsiteY0" fmla="*/ 338149 h 3273604"/>
              <a:gd name="connsiteX1" fmla="*/ 8907662 w 8907662"/>
              <a:gd name="connsiteY1" fmla="*/ 0 h 3273604"/>
              <a:gd name="connsiteX2" fmla="*/ 8892422 w 8907662"/>
              <a:gd name="connsiteY2" fmla="*/ 2926383 h 3273604"/>
              <a:gd name="connsiteX3" fmla="*/ 32591 w 8907662"/>
              <a:gd name="connsiteY3" fmla="*/ 3273604 h 3273604"/>
              <a:gd name="connsiteX4" fmla="*/ 0 w 8907662"/>
              <a:gd name="connsiteY4" fmla="*/ 338149 h 3273604"/>
              <a:gd name="connsiteX0" fmla="*/ 0 w 8885359"/>
              <a:gd name="connsiteY0" fmla="*/ 338149 h 3273604"/>
              <a:gd name="connsiteX1" fmla="*/ 8885359 w 8885359"/>
              <a:gd name="connsiteY1" fmla="*/ 0 h 3273604"/>
              <a:gd name="connsiteX2" fmla="*/ 8870119 w 8885359"/>
              <a:gd name="connsiteY2" fmla="*/ 2926383 h 3273604"/>
              <a:gd name="connsiteX3" fmla="*/ 10288 w 8885359"/>
              <a:gd name="connsiteY3" fmla="*/ 3273604 h 3273604"/>
              <a:gd name="connsiteX4" fmla="*/ 0 w 8885359"/>
              <a:gd name="connsiteY4" fmla="*/ 338149 h 32736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85359" h="3273604">
                <a:moveTo>
                  <a:pt x="0" y="338149"/>
                </a:moveTo>
                <a:lnTo>
                  <a:pt x="8885359" y="0"/>
                </a:lnTo>
                <a:lnTo>
                  <a:pt x="8870119" y="2926383"/>
                </a:lnTo>
                <a:lnTo>
                  <a:pt x="10288" y="3273604"/>
                </a:lnTo>
                <a:cubicBezTo>
                  <a:pt x="7991" y="2232403"/>
                  <a:pt x="2297" y="1379350"/>
                  <a:pt x="0" y="338149"/>
                </a:cubicBezTo>
                <a:close/>
              </a:path>
            </a:pathLst>
          </a:custGeom>
          <a:solidFill>
            <a:srgbClr val="434343"/>
          </a:solidFill>
        </p:spPr>
        <p:txBody>
          <a:bodyPr lIns="576000" anchor="ctr" anchorCtr="0"/>
          <a:lstStyle>
            <a:lvl1pPr marL="0" indent="0" algn="ctr">
              <a:buNone/>
              <a:defRPr>
                <a:solidFill>
                  <a:schemeClr val="bg1"/>
                </a:solidFill>
                <a:latin typeface="Arial" panose="020B0604020202020204" pitchFamily="34" charset="0"/>
                <a:cs typeface="Arial" panose="020B0604020202020204" pitchFamily="34" charset="0"/>
              </a:defRPr>
            </a:lvl1pPr>
          </a:lstStyle>
          <a:p>
            <a:r>
              <a:rPr lang="de-DE" dirty="0"/>
              <a:t>Platzhalter: Bild Titelfolie</a:t>
            </a:r>
          </a:p>
        </p:txBody>
      </p:sp>
      <p:sp>
        <p:nvSpPr>
          <p:cNvPr id="4" name="Textfeld 3">
            <a:extLst>
              <a:ext uri="{FF2B5EF4-FFF2-40B4-BE49-F238E27FC236}">
                <a16:creationId xmlns:a16="http://schemas.microsoft.com/office/drawing/2014/main" id="{F18C730E-B3F8-944F-8BC2-E236CE7245E4}"/>
              </a:ext>
            </a:extLst>
          </p:cNvPr>
          <p:cNvSpPr txBox="1"/>
          <p:nvPr userDrawn="1"/>
        </p:nvSpPr>
        <p:spPr>
          <a:xfrm>
            <a:off x="-2031023" y="2620375"/>
            <a:ext cx="2021305" cy="1785104"/>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Platzhalterbild ersetzen:</a:t>
            </a:r>
            <a:br>
              <a:rPr lang="de-DE" sz="1000" b="1"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Bild löschen und durch neues Bild ersetzen &gt; über Bildformat &gt; Zuschneiden im Rahmen ggf. nachpositionieren</a:t>
            </a:r>
            <a:br>
              <a:rPr lang="de-DE" sz="1000" dirty="0">
                <a:latin typeface="Arial" panose="020B0604020202020204" pitchFamily="34" charset="0"/>
                <a:cs typeface="Arial" panose="020B0604020202020204" pitchFamily="34" charset="0"/>
              </a:rPr>
            </a:br>
            <a:br>
              <a:rPr lang="de-DE" sz="1000" dirty="0">
                <a:latin typeface="Arial" panose="020B0604020202020204" pitchFamily="34" charset="0"/>
                <a:cs typeface="Arial" panose="020B0604020202020204" pitchFamily="34" charset="0"/>
              </a:rPr>
            </a:br>
            <a:r>
              <a:rPr lang="de-DE" sz="1000" b="1" dirty="0">
                <a:latin typeface="Arial" panose="020B0604020202020204" pitchFamily="34" charset="0"/>
                <a:cs typeface="Arial" panose="020B0604020202020204" pitchFamily="34" charset="0"/>
              </a:rPr>
              <a:t>Copyrightangabe: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Korrektes Copyright angeben (in der Regel Name des*der Fotograf*in), Textfarbe je nach Hintergrund weiß oder schwarz</a:t>
            </a:r>
          </a:p>
        </p:txBody>
      </p:sp>
      <p:sp>
        <p:nvSpPr>
          <p:cNvPr id="5" name="Textfeld 4">
            <a:extLst>
              <a:ext uri="{FF2B5EF4-FFF2-40B4-BE49-F238E27FC236}">
                <a16:creationId xmlns:a16="http://schemas.microsoft.com/office/drawing/2014/main" id="{A7B17960-7FEA-3C44-9F5C-B38F41DF0CD3}"/>
              </a:ext>
            </a:extLst>
          </p:cNvPr>
          <p:cNvSpPr txBox="1"/>
          <p:nvPr userDrawn="1"/>
        </p:nvSpPr>
        <p:spPr>
          <a:xfrm>
            <a:off x="9903" y="-313433"/>
            <a:ext cx="1703672" cy="246221"/>
          </a:xfrm>
          <a:prstGeom prst="rect">
            <a:avLst/>
          </a:prstGeom>
          <a:noFill/>
        </p:spPr>
        <p:txBody>
          <a:bodyPr wrap="square" rtlCol="0">
            <a:spAutoFit/>
          </a:bodyPr>
          <a:lstStyle/>
          <a:p>
            <a:r>
              <a:rPr lang="de-DE" sz="1000" dirty="0">
                <a:latin typeface="Arial" panose="020B0604020202020204" pitchFamily="34" charset="0"/>
                <a:cs typeface="Arial" panose="020B0604020202020204" pitchFamily="34" charset="0"/>
              </a:rPr>
              <a:t>V1: Titelfolie mit Bild</a:t>
            </a:r>
          </a:p>
        </p:txBody>
      </p:sp>
    </p:spTree>
    <p:extLst>
      <p:ext uri="{BB962C8B-B14F-4D97-AF65-F5344CB8AC3E}">
        <p14:creationId xmlns:p14="http://schemas.microsoft.com/office/powerpoint/2010/main" val="27569119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el - Text ">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740704DC-2971-A248-9827-94150E3D8746}"/>
              </a:ext>
            </a:extLst>
          </p:cNvPr>
          <p:cNvSpPr txBox="1"/>
          <p:nvPr userDrawn="1"/>
        </p:nvSpPr>
        <p:spPr>
          <a:xfrm>
            <a:off x="9903" y="-313433"/>
            <a:ext cx="1703672" cy="246221"/>
          </a:xfrm>
          <a:prstGeom prst="rect">
            <a:avLst/>
          </a:prstGeom>
          <a:noFill/>
        </p:spPr>
        <p:txBody>
          <a:bodyPr wrap="square" rtlCol="0">
            <a:spAutoFit/>
          </a:bodyPr>
          <a:lstStyle/>
          <a:p>
            <a:r>
              <a:rPr lang="de-DE" sz="1000" dirty="0">
                <a:latin typeface="Arial" panose="020B0604020202020204" pitchFamily="34" charset="0"/>
                <a:cs typeface="Arial" panose="020B0604020202020204" pitchFamily="34" charset="0"/>
              </a:rPr>
              <a:t>V2: Titelfolie ohne Bild</a:t>
            </a:r>
          </a:p>
        </p:txBody>
      </p:sp>
    </p:spTree>
    <p:extLst>
      <p:ext uri="{BB962C8B-B14F-4D97-AF65-F5344CB8AC3E}">
        <p14:creationId xmlns:p14="http://schemas.microsoft.com/office/powerpoint/2010/main" val="15057043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Inhalt - Text und Stichpunkte">
    <p:spTree>
      <p:nvGrpSpPr>
        <p:cNvPr id="1" name=""/>
        <p:cNvGrpSpPr/>
        <p:nvPr/>
      </p:nvGrpSpPr>
      <p:grpSpPr>
        <a:xfrm>
          <a:off x="0" y="0"/>
          <a:ext cx="0" cy="0"/>
          <a:chOff x="0" y="0"/>
          <a:chExt cx="0" cy="0"/>
        </a:xfrm>
      </p:grpSpPr>
      <p:sp>
        <p:nvSpPr>
          <p:cNvPr id="5" name="Textplatzhalter 5">
            <a:extLst>
              <a:ext uri="{FF2B5EF4-FFF2-40B4-BE49-F238E27FC236}">
                <a16:creationId xmlns:a16="http://schemas.microsoft.com/office/drawing/2014/main" id="{D7BD4116-72F8-7D4E-846E-4E9887F60C02}"/>
              </a:ext>
            </a:extLst>
          </p:cNvPr>
          <p:cNvSpPr>
            <a:spLocks noGrp="1"/>
          </p:cNvSpPr>
          <p:nvPr>
            <p:ph type="body" sz="quarter" idx="18" hasCustomPrompt="1"/>
          </p:nvPr>
        </p:nvSpPr>
        <p:spPr>
          <a:xfrm>
            <a:off x="550800" y="3175200"/>
            <a:ext cx="9721850" cy="2124075"/>
          </a:xfrm>
          <a:prstGeom prst="rect">
            <a:avLst/>
          </a:prstGeom>
        </p:spPr>
        <p:txBody>
          <a:bodyPr lIns="0" tIns="0"/>
          <a:lstStyle>
            <a:lvl1pPr marL="2286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1pPr>
            <a:lvl2pPr marL="6858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2pPr>
            <a:lvl3pPr marL="11430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3pPr>
            <a:lvl4pPr marL="16002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4pPr>
            <a:lvl5pPr marL="20574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5pPr>
          </a:lstStyle>
          <a:p>
            <a:pPr lvl="0"/>
            <a:r>
              <a:rPr lang="de-DE" dirty="0"/>
              <a:t>Aufzählung 1. Ebene Arial Regular 18 </a:t>
            </a:r>
            <a:r>
              <a:rPr lang="de-DE" dirty="0" err="1"/>
              <a:t>pt</a:t>
            </a:r>
            <a:r>
              <a:rPr lang="de-DE" dirty="0"/>
              <a:t>, ZA: 24 </a:t>
            </a:r>
            <a:r>
              <a:rPr lang="de-DE" dirty="0" err="1"/>
              <a:t>pt</a:t>
            </a:r>
            <a:endParaRPr lang="de-DE" dirty="0"/>
          </a:p>
          <a:p>
            <a:pPr lvl="1"/>
            <a:r>
              <a:rPr lang="de-DE" dirty="0"/>
              <a:t>2. Ebene</a:t>
            </a:r>
          </a:p>
          <a:p>
            <a:pPr lvl="2"/>
            <a:r>
              <a:rPr lang="de-DE" dirty="0"/>
              <a:t>3. Ebene</a:t>
            </a:r>
          </a:p>
          <a:p>
            <a:pPr lvl="3"/>
            <a:r>
              <a:rPr lang="de-DE" dirty="0"/>
              <a:t>4. Ebene</a:t>
            </a:r>
          </a:p>
          <a:p>
            <a:pPr lvl="4"/>
            <a:r>
              <a:rPr lang="de-DE" dirty="0"/>
              <a:t>5. Ebene</a:t>
            </a:r>
          </a:p>
        </p:txBody>
      </p:sp>
      <p:sp>
        <p:nvSpPr>
          <p:cNvPr id="6" name="Textplatzhalter 2">
            <a:extLst>
              <a:ext uri="{FF2B5EF4-FFF2-40B4-BE49-F238E27FC236}">
                <a16:creationId xmlns:a16="http://schemas.microsoft.com/office/drawing/2014/main" id="{9DAAF3EE-A5B2-F647-838D-0DFAACB4D556}"/>
              </a:ext>
            </a:extLst>
          </p:cNvPr>
          <p:cNvSpPr>
            <a:spLocks noGrp="1"/>
          </p:cNvSpPr>
          <p:nvPr>
            <p:ph type="body" sz="quarter" idx="17" hasCustomPrompt="1"/>
          </p:nvPr>
        </p:nvSpPr>
        <p:spPr>
          <a:xfrm>
            <a:off x="550800" y="1371600"/>
            <a:ext cx="9721850" cy="1526370"/>
          </a:xfrm>
          <a:prstGeom prst="rect">
            <a:avLst/>
          </a:prstGeom>
        </p:spPr>
        <p:txBody>
          <a:bodyPr lIns="0" tIns="0" rIns="0" bIns="0"/>
          <a:lstStyle>
            <a:lvl1pPr marL="0" indent="0">
              <a:lnSpc>
                <a:spcPts val="2400"/>
              </a:lnSpc>
              <a:spcBef>
                <a:spcPts val="0"/>
              </a:spcBef>
              <a:buNone/>
              <a:defRPr sz="1800">
                <a:solidFill>
                  <a:srgbClr val="434343"/>
                </a:solidFill>
                <a:latin typeface="Arial" panose="020B0604020202020204" pitchFamily="34" charset="0"/>
                <a:cs typeface="Arial" panose="020B0604020202020204" pitchFamily="34" charset="0"/>
              </a:defRPr>
            </a:lvl1pPr>
          </a:lstStyle>
          <a:p>
            <a:pPr lvl="0"/>
            <a:r>
              <a:rPr lang="de-DE" dirty="0"/>
              <a:t>Arial Regular 18pt, ZA: 24pt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elitr</a:t>
            </a:r>
            <a:r>
              <a:rPr lang="de-DE" dirty="0"/>
              <a:t>, 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erat, sed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a:t>
            </a:r>
            <a:r>
              <a:rPr lang="de-DE" dirty="0" err="1"/>
              <a:t>erat</a:t>
            </a:r>
            <a:r>
              <a:rPr lang="de-DE" dirty="0"/>
              <a:t>, </a:t>
            </a:r>
            <a:r>
              <a:rPr lang="de-DE" dirty="0" err="1"/>
              <a:t>sed</a:t>
            </a:r>
            <a:r>
              <a:rPr lang="de-DE" dirty="0"/>
              <a:t>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et </a:t>
            </a:r>
            <a:r>
              <a:rPr lang="de-DE" dirty="0" err="1"/>
              <a:t>accusam</a:t>
            </a:r>
            <a:r>
              <a:rPr lang="de-DE" dirty="0"/>
              <a:t> et </a:t>
            </a:r>
            <a:r>
              <a:rPr lang="de-DE" dirty="0" err="1"/>
              <a:t>justo</a:t>
            </a:r>
            <a:r>
              <a:rPr lang="de-DE" dirty="0"/>
              <a:t> </a:t>
            </a:r>
            <a:r>
              <a:rPr lang="de-DE" dirty="0" err="1"/>
              <a:t>duo</a:t>
            </a:r>
            <a:r>
              <a:rPr lang="de-DE" dirty="0"/>
              <a:t> </a:t>
            </a:r>
            <a:r>
              <a:rPr lang="de-DE" dirty="0" err="1"/>
              <a:t>dolores</a:t>
            </a:r>
            <a:r>
              <a:rPr lang="de-DE" dirty="0"/>
              <a:t> et </a:t>
            </a:r>
            <a:r>
              <a:rPr lang="de-DE" dirty="0" err="1"/>
              <a:t>ea</a:t>
            </a:r>
            <a:r>
              <a:rPr lang="de-DE" dirty="0"/>
              <a:t> </a:t>
            </a:r>
            <a:r>
              <a:rPr lang="de-DE" dirty="0" err="1"/>
              <a:t>rebum</a:t>
            </a:r>
            <a:r>
              <a:rPr lang="de-DE" dirty="0"/>
              <a:t>. Stet </a:t>
            </a:r>
            <a:r>
              <a:rPr lang="de-DE" dirty="0" err="1"/>
              <a:t>clita</a:t>
            </a:r>
            <a:r>
              <a:rPr lang="de-DE" dirty="0"/>
              <a:t> </a:t>
            </a:r>
            <a:r>
              <a:rPr lang="de-DE" dirty="0" err="1"/>
              <a:t>kasd</a:t>
            </a:r>
            <a:r>
              <a:rPr lang="de-DE" dirty="0"/>
              <a:t> </a:t>
            </a:r>
            <a:r>
              <a:rPr lang="de-DE" dirty="0" err="1"/>
              <a:t>gubergren</a:t>
            </a:r>
            <a:r>
              <a:rPr lang="de-DE" dirty="0"/>
              <a:t>, </a:t>
            </a:r>
            <a:r>
              <a:rPr lang="de-DE" dirty="0" err="1"/>
              <a:t>no</a:t>
            </a:r>
            <a:r>
              <a:rPr lang="de-DE" dirty="0"/>
              <a:t> </a:t>
            </a:r>
            <a:r>
              <a:rPr lang="de-DE" dirty="0" err="1"/>
              <a:t>sea</a:t>
            </a:r>
            <a:r>
              <a:rPr lang="de-DE" dirty="0"/>
              <a:t> </a:t>
            </a:r>
            <a:r>
              <a:rPr lang="de-DE" dirty="0" err="1"/>
              <a:t>takimata</a:t>
            </a:r>
            <a:endParaRPr lang="de-DE" dirty="0"/>
          </a:p>
        </p:txBody>
      </p:sp>
      <p:sp>
        <p:nvSpPr>
          <p:cNvPr id="7" name="Textplatzhalter 17">
            <a:extLst>
              <a:ext uri="{FF2B5EF4-FFF2-40B4-BE49-F238E27FC236}">
                <a16:creationId xmlns:a16="http://schemas.microsoft.com/office/drawing/2014/main" id="{5B12DAD6-93EF-5042-858F-4BB3334F107E}"/>
              </a:ext>
            </a:extLst>
          </p:cNvPr>
          <p:cNvSpPr>
            <a:spLocks noGrp="1"/>
          </p:cNvSpPr>
          <p:nvPr>
            <p:ph type="body" sz="quarter" idx="14" hasCustomPrompt="1"/>
          </p:nvPr>
        </p:nvSpPr>
        <p:spPr>
          <a:xfrm>
            <a:off x="555867" y="396545"/>
            <a:ext cx="8311908" cy="717437"/>
          </a:xfrm>
          <a:prstGeom prst="rect">
            <a:avLst/>
          </a:prstGeom>
        </p:spPr>
        <p:txBody>
          <a:bodyPr lIns="0" tIns="0" rIns="0" bIns="0" anchor="b" anchorCtr="0"/>
          <a:lstStyle>
            <a:lvl1pPr marL="0" indent="0">
              <a:lnSpc>
                <a:spcPts val="2800"/>
              </a:lnSpc>
              <a:spcBef>
                <a:spcPts val="0"/>
              </a:spcBef>
              <a:buNone/>
              <a:defRPr sz="2400">
                <a:solidFill>
                  <a:srgbClr val="C40D1E"/>
                </a:solidFill>
                <a:latin typeface="Arial" panose="020B0604020202020204" pitchFamily="34" charset="0"/>
                <a:cs typeface="Arial" panose="020B0604020202020204" pitchFamily="34" charset="0"/>
              </a:defRPr>
            </a:lvl1pPr>
          </a:lstStyle>
          <a:p>
            <a:r>
              <a:rPr lang="de-DE" dirty="0"/>
              <a:t>Headline Arial Regular 24pt, ZA: 28pt</a:t>
            </a:r>
            <a:br>
              <a:rPr lang="de-DE" dirty="0"/>
            </a:br>
            <a:r>
              <a:rPr lang="de-DE" dirty="0"/>
              <a:t>optional 2-zeilig</a:t>
            </a:r>
          </a:p>
        </p:txBody>
      </p:sp>
    </p:spTree>
    <p:extLst>
      <p:ext uri="{BB962C8B-B14F-4D97-AF65-F5344CB8AC3E}">
        <p14:creationId xmlns:p14="http://schemas.microsoft.com/office/powerpoint/2010/main" val="14314736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Inhalt - Bild und Text">
    <p:spTree>
      <p:nvGrpSpPr>
        <p:cNvPr id="1" name=""/>
        <p:cNvGrpSpPr/>
        <p:nvPr/>
      </p:nvGrpSpPr>
      <p:grpSpPr>
        <a:xfrm>
          <a:off x="0" y="0"/>
          <a:ext cx="0" cy="0"/>
          <a:chOff x="0" y="0"/>
          <a:chExt cx="0" cy="0"/>
        </a:xfrm>
      </p:grpSpPr>
      <p:sp>
        <p:nvSpPr>
          <p:cNvPr id="5" name="Textplatzhalter 2">
            <a:extLst>
              <a:ext uri="{FF2B5EF4-FFF2-40B4-BE49-F238E27FC236}">
                <a16:creationId xmlns:a16="http://schemas.microsoft.com/office/drawing/2014/main" id="{55FA8C39-046E-E34F-8E80-7B9D099D728B}"/>
              </a:ext>
            </a:extLst>
          </p:cNvPr>
          <p:cNvSpPr>
            <a:spLocks noGrp="1"/>
          </p:cNvSpPr>
          <p:nvPr>
            <p:ph type="body" sz="quarter" idx="18" hasCustomPrompt="1"/>
          </p:nvPr>
        </p:nvSpPr>
        <p:spPr>
          <a:xfrm>
            <a:off x="6519600" y="1382400"/>
            <a:ext cx="3982945" cy="4093588"/>
          </a:xfrm>
          <a:prstGeom prst="rect">
            <a:avLst/>
          </a:prstGeom>
        </p:spPr>
        <p:txBody>
          <a:bodyPr lIns="0" tIns="0" rIns="0" bIns="0"/>
          <a:lstStyle>
            <a:lvl1pPr marL="0" indent="0">
              <a:lnSpc>
                <a:spcPts val="2400"/>
              </a:lnSpc>
              <a:spcBef>
                <a:spcPts val="0"/>
              </a:spcBef>
              <a:buNone/>
              <a:defRPr sz="1800">
                <a:solidFill>
                  <a:srgbClr val="434343"/>
                </a:solidFill>
                <a:latin typeface="Arial" panose="020B0604020202020204" pitchFamily="34" charset="0"/>
                <a:cs typeface="Arial" panose="020B0604020202020204" pitchFamily="34" charset="0"/>
              </a:defRPr>
            </a:lvl1pPr>
          </a:lstStyle>
          <a:p>
            <a:pPr lvl="0"/>
            <a:r>
              <a:rPr lang="de-DE" dirty="0"/>
              <a:t>Arial Regular 18pt, ZA: 24pt </a:t>
            </a:r>
            <a:br>
              <a:rPr lang="de-DE" dirty="0"/>
            </a:b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elitr</a:t>
            </a:r>
            <a:r>
              <a:rPr lang="de-DE" dirty="0"/>
              <a:t>, 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erat, sed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a:t>
            </a:r>
            <a:r>
              <a:rPr lang="de-DE" dirty="0" err="1"/>
              <a:t>erat</a:t>
            </a:r>
            <a:r>
              <a:rPr lang="de-DE" dirty="0"/>
              <a:t>, </a:t>
            </a:r>
            <a:r>
              <a:rPr lang="de-DE" dirty="0" err="1"/>
              <a:t>sed</a:t>
            </a:r>
            <a:r>
              <a:rPr lang="de-DE" dirty="0"/>
              <a:t>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et </a:t>
            </a:r>
            <a:r>
              <a:rPr lang="de-DE" dirty="0" err="1"/>
              <a:t>accusam</a:t>
            </a:r>
            <a:r>
              <a:rPr lang="de-DE" dirty="0"/>
              <a:t> et </a:t>
            </a:r>
            <a:r>
              <a:rPr lang="de-DE" dirty="0" err="1"/>
              <a:t>justo</a:t>
            </a:r>
            <a:r>
              <a:rPr lang="de-DE" dirty="0"/>
              <a:t> </a:t>
            </a:r>
            <a:r>
              <a:rPr lang="de-DE" dirty="0" err="1"/>
              <a:t>duo</a:t>
            </a:r>
            <a:r>
              <a:rPr lang="de-DE" dirty="0"/>
              <a:t> </a:t>
            </a:r>
            <a:r>
              <a:rPr lang="de-DE" dirty="0" err="1"/>
              <a:t>dolores</a:t>
            </a:r>
            <a:r>
              <a:rPr lang="de-DE" dirty="0"/>
              <a:t> et </a:t>
            </a:r>
            <a:r>
              <a:rPr lang="de-DE" dirty="0" err="1"/>
              <a:t>ea</a:t>
            </a:r>
            <a:r>
              <a:rPr lang="de-DE" dirty="0"/>
              <a:t> </a:t>
            </a:r>
            <a:r>
              <a:rPr lang="de-DE" dirty="0" err="1"/>
              <a:t>rebum</a:t>
            </a:r>
            <a:r>
              <a:rPr lang="de-DE" dirty="0"/>
              <a:t>. Stet </a:t>
            </a:r>
            <a:r>
              <a:rPr lang="de-DE" dirty="0" err="1"/>
              <a:t>clita</a:t>
            </a:r>
            <a:r>
              <a:rPr lang="de-DE" dirty="0"/>
              <a:t> </a:t>
            </a:r>
            <a:r>
              <a:rPr lang="de-DE" dirty="0" err="1"/>
              <a:t>kasd</a:t>
            </a:r>
            <a:r>
              <a:rPr lang="de-DE" dirty="0"/>
              <a:t> </a:t>
            </a:r>
            <a:r>
              <a:rPr lang="de-DE" dirty="0" err="1"/>
              <a:t>gubergren</a:t>
            </a:r>
            <a:r>
              <a:rPr lang="de-DE" dirty="0"/>
              <a:t>, </a:t>
            </a:r>
            <a:r>
              <a:rPr lang="de-DE" dirty="0" err="1"/>
              <a:t>no</a:t>
            </a:r>
            <a:r>
              <a:rPr lang="de-DE" dirty="0"/>
              <a:t> </a:t>
            </a:r>
            <a:r>
              <a:rPr lang="de-DE" dirty="0" err="1"/>
              <a:t>sea</a:t>
            </a:r>
            <a:r>
              <a:rPr lang="de-DE" dirty="0"/>
              <a:t> </a:t>
            </a:r>
            <a:r>
              <a:rPr lang="de-DE" dirty="0" err="1"/>
              <a:t>takimata</a:t>
            </a:r>
            <a:br>
              <a:rPr lang="de-DE" dirty="0"/>
            </a:br>
            <a:r>
              <a:rPr lang="de-DE" dirty="0"/>
              <a:t>sanctus </a:t>
            </a:r>
            <a:r>
              <a:rPr lang="de-DE" dirty="0" err="1"/>
              <a:t>est</a:t>
            </a:r>
            <a:r>
              <a:rPr lang="de-DE" dirty="0"/>
              <a:t>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Lorem</a:t>
            </a:r>
            <a:r>
              <a:rPr lang="de-DE" dirty="0"/>
              <a:t> </a:t>
            </a:r>
            <a:r>
              <a:rPr lang="de-DE" dirty="0" err="1"/>
              <a:t>ipsum</a:t>
            </a:r>
            <a:endParaRPr lang="de-DE" dirty="0"/>
          </a:p>
        </p:txBody>
      </p:sp>
      <p:sp>
        <p:nvSpPr>
          <p:cNvPr id="6" name="Bildplatzhalter 2">
            <a:extLst>
              <a:ext uri="{FF2B5EF4-FFF2-40B4-BE49-F238E27FC236}">
                <a16:creationId xmlns:a16="http://schemas.microsoft.com/office/drawing/2014/main" id="{8BAC5633-896E-0F44-8840-CC87B5BE7045}"/>
              </a:ext>
            </a:extLst>
          </p:cNvPr>
          <p:cNvSpPr>
            <a:spLocks noGrp="1"/>
          </p:cNvSpPr>
          <p:nvPr>
            <p:ph type="pic" sz="quarter" idx="17" hasCustomPrompt="1"/>
          </p:nvPr>
        </p:nvSpPr>
        <p:spPr>
          <a:xfrm>
            <a:off x="550861" y="1381405"/>
            <a:ext cx="5545139" cy="4093589"/>
          </a:xfrm>
          <a:prstGeom prst="rect">
            <a:avLst/>
          </a:prstGeom>
          <a:solidFill>
            <a:srgbClr val="434343"/>
          </a:solidFill>
        </p:spPr>
        <p:txBody>
          <a:bodyPr anchor="ctr" anchorCtr="0"/>
          <a:lstStyle>
            <a:lvl1pPr marL="0" indent="0" algn="ctr">
              <a:buFontTx/>
              <a:buNone/>
              <a:defRPr>
                <a:solidFill>
                  <a:schemeClr val="bg1"/>
                </a:solidFill>
              </a:defRPr>
            </a:lvl1pPr>
          </a:lstStyle>
          <a:p>
            <a:r>
              <a:rPr lang="de-DE" dirty="0"/>
              <a:t>Platzhalter: Bild</a:t>
            </a:r>
          </a:p>
        </p:txBody>
      </p:sp>
      <p:sp>
        <p:nvSpPr>
          <p:cNvPr id="7" name="Textplatzhalter 17">
            <a:extLst>
              <a:ext uri="{FF2B5EF4-FFF2-40B4-BE49-F238E27FC236}">
                <a16:creationId xmlns:a16="http://schemas.microsoft.com/office/drawing/2014/main" id="{8B97D328-84F0-2C4A-BBAB-1E79CDFE9BBF}"/>
              </a:ext>
            </a:extLst>
          </p:cNvPr>
          <p:cNvSpPr>
            <a:spLocks noGrp="1"/>
          </p:cNvSpPr>
          <p:nvPr>
            <p:ph type="body" sz="quarter" idx="14" hasCustomPrompt="1"/>
          </p:nvPr>
        </p:nvSpPr>
        <p:spPr>
          <a:xfrm>
            <a:off x="555867" y="396545"/>
            <a:ext cx="8311908" cy="717437"/>
          </a:xfrm>
          <a:prstGeom prst="rect">
            <a:avLst/>
          </a:prstGeom>
        </p:spPr>
        <p:txBody>
          <a:bodyPr lIns="0" tIns="0" rIns="0" bIns="0" anchor="b" anchorCtr="0"/>
          <a:lstStyle>
            <a:lvl1pPr marL="0" indent="0">
              <a:lnSpc>
                <a:spcPts val="2800"/>
              </a:lnSpc>
              <a:spcBef>
                <a:spcPts val="0"/>
              </a:spcBef>
              <a:buNone/>
              <a:defRPr sz="2400">
                <a:solidFill>
                  <a:srgbClr val="C40D1E"/>
                </a:solidFill>
                <a:latin typeface="Arial" panose="020B0604020202020204" pitchFamily="34" charset="0"/>
                <a:cs typeface="Arial" panose="020B0604020202020204" pitchFamily="34" charset="0"/>
              </a:defRPr>
            </a:lvl1pPr>
          </a:lstStyle>
          <a:p>
            <a:r>
              <a:rPr lang="de-DE" dirty="0"/>
              <a:t>Headline Arial Regular 24pt, ZA: 28pt</a:t>
            </a:r>
            <a:br>
              <a:rPr lang="de-DE" dirty="0"/>
            </a:br>
            <a:r>
              <a:rPr lang="de-DE" dirty="0"/>
              <a:t>optional 2-zeilig</a:t>
            </a:r>
          </a:p>
        </p:txBody>
      </p:sp>
    </p:spTree>
    <p:extLst>
      <p:ext uri="{BB962C8B-B14F-4D97-AF65-F5344CB8AC3E}">
        <p14:creationId xmlns:p14="http://schemas.microsoft.com/office/powerpoint/2010/main" val="6643881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Inhalt - Bild und Stichpunkte">
    <p:spTree>
      <p:nvGrpSpPr>
        <p:cNvPr id="1" name=""/>
        <p:cNvGrpSpPr/>
        <p:nvPr/>
      </p:nvGrpSpPr>
      <p:grpSpPr>
        <a:xfrm>
          <a:off x="0" y="0"/>
          <a:ext cx="0" cy="0"/>
          <a:chOff x="0" y="0"/>
          <a:chExt cx="0" cy="0"/>
        </a:xfrm>
      </p:grpSpPr>
      <p:sp>
        <p:nvSpPr>
          <p:cNvPr id="5" name="Textplatzhalter 5">
            <a:extLst>
              <a:ext uri="{FF2B5EF4-FFF2-40B4-BE49-F238E27FC236}">
                <a16:creationId xmlns:a16="http://schemas.microsoft.com/office/drawing/2014/main" id="{9278302A-602E-374F-9D64-8FCFB4DC60C0}"/>
              </a:ext>
            </a:extLst>
          </p:cNvPr>
          <p:cNvSpPr>
            <a:spLocks noGrp="1"/>
          </p:cNvSpPr>
          <p:nvPr>
            <p:ph type="body" sz="quarter" idx="18" hasCustomPrompt="1"/>
          </p:nvPr>
        </p:nvSpPr>
        <p:spPr>
          <a:xfrm>
            <a:off x="6519600" y="1364399"/>
            <a:ext cx="3981600" cy="4111200"/>
          </a:xfrm>
          <a:prstGeom prst="rect">
            <a:avLst/>
          </a:prstGeom>
        </p:spPr>
        <p:txBody>
          <a:bodyPr lIns="0" tIns="0" rIns="0" bIns="0"/>
          <a:lstStyle>
            <a:lvl1pPr marL="2286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1pPr>
            <a:lvl2pPr marL="6858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2pPr>
            <a:lvl3pPr marL="11430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3pPr>
            <a:lvl4pPr marL="16002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4pPr>
            <a:lvl5pPr marL="20574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5pPr>
          </a:lstStyle>
          <a:p>
            <a:pPr lvl="0"/>
            <a:r>
              <a:rPr lang="de-DE" dirty="0"/>
              <a:t>Aufzählung 1. Ebene Arial Regular 18 </a:t>
            </a:r>
            <a:r>
              <a:rPr lang="de-DE" dirty="0" err="1"/>
              <a:t>pt</a:t>
            </a:r>
            <a:r>
              <a:rPr lang="de-DE" dirty="0"/>
              <a:t>, ZA: 24 </a:t>
            </a:r>
            <a:r>
              <a:rPr lang="de-DE" dirty="0" err="1"/>
              <a:t>pt</a:t>
            </a:r>
            <a:endParaRPr lang="de-DE" dirty="0"/>
          </a:p>
          <a:p>
            <a:pPr lvl="1"/>
            <a:r>
              <a:rPr lang="de-DE" dirty="0"/>
              <a:t>2. Ebene</a:t>
            </a:r>
          </a:p>
          <a:p>
            <a:pPr lvl="2"/>
            <a:r>
              <a:rPr lang="de-DE" dirty="0"/>
              <a:t>3. Ebene</a:t>
            </a:r>
          </a:p>
          <a:p>
            <a:pPr lvl="3"/>
            <a:r>
              <a:rPr lang="de-DE" dirty="0"/>
              <a:t>4. Ebene</a:t>
            </a:r>
          </a:p>
          <a:p>
            <a:pPr lvl="4"/>
            <a:r>
              <a:rPr lang="de-DE" dirty="0"/>
              <a:t>5. Ebene</a:t>
            </a:r>
          </a:p>
        </p:txBody>
      </p:sp>
      <p:sp>
        <p:nvSpPr>
          <p:cNvPr id="6" name="Bildplatzhalter 2">
            <a:extLst>
              <a:ext uri="{FF2B5EF4-FFF2-40B4-BE49-F238E27FC236}">
                <a16:creationId xmlns:a16="http://schemas.microsoft.com/office/drawing/2014/main" id="{07DD2921-214D-B547-93DD-EB9D2A99CCEE}"/>
              </a:ext>
            </a:extLst>
          </p:cNvPr>
          <p:cNvSpPr>
            <a:spLocks noGrp="1"/>
          </p:cNvSpPr>
          <p:nvPr>
            <p:ph type="pic" sz="quarter" idx="17" hasCustomPrompt="1"/>
          </p:nvPr>
        </p:nvSpPr>
        <p:spPr>
          <a:xfrm>
            <a:off x="550861" y="1381405"/>
            <a:ext cx="5545139" cy="4093589"/>
          </a:xfrm>
          <a:prstGeom prst="rect">
            <a:avLst/>
          </a:prstGeom>
          <a:solidFill>
            <a:srgbClr val="434343"/>
          </a:solidFill>
        </p:spPr>
        <p:txBody>
          <a:bodyPr anchor="ctr" anchorCtr="0"/>
          <a:lstStyle>
            <a:lvl1pPr marL="0" indent="0" algn="ctr">
              <a:buFontTx/>
              <a:buNone/>
              <a:defRPr>
                <a:solidFill>
                  <a:schemeClr val="bg1"/>
                </a:solidFill>
              </a:defRPr>
            </a:lvl1pPr>
          </a:lstStyle>
          <a:p>
            <a:r>
              <a:rPr lang="de-DE" dirty="0"/>
              <a:t>Platzhalter: Bild</a:t>
            </a:r>
          </a:p>
        </p:txBody>
      </p:sp>
      <p:sp>
        <p:nvSpPr>
          <p:cNvPr id="7" name="Textplatzhalter 17">
            <a:extLst>
              <a:ext uri="{FF2B5EF4-FFF2-40B4-BE49-F238E27FC236}">
                <a16:creationId xmlns:a16="http://schemas.microsoft.com/office/drawing/2014/main" id="{86E90AC2-BC99-614A-AF4F-584EF9915C55}"/>
              </a:ext>
            </a:extLst>
          </p:cNvPr>
          <p:cNvSpPr>
            <a:spLocks noGrp="1"/>
          </p:cNvSpPr>
          <p:nvPr>
            <p:ph type="body" sz="quarter" idx="14" hasCustomPrompt="1"/>
          </p:nvPr>
        </p:nvSpPr>
        <p:spPr>
          <a:xfrm>
            <a:off x="555867" y="396545"/>
            <a:ext cx="8311908" cy="717437"/>
          </a:xfrm>
          <a:prstGeom prst="rect">
            <a:avLst/>
          </a:prstGeom>
        </p:spPr>
        <p:txBody>
          <a:bodyPr lIns="0" tIns="0" rIns="0" bIns="0" anchor="b" anchorCtr="0"/>
          <a:lstStyle>
            <a:lvl1pPr marL="0" indent="0">
              <a:lnSpc>
                <a:spcPts val="2800"/>
              </a:lnSpc>
              <a:spcBef>
                <a:spcPts val="0"/>
              </a:spcBef>
              <a:buNone/>
              <a:defRPr sz="2400">
                <a:solidFill>
                  <a:srgbClr val="C40D1E"/>
                </a:solidFill>
                <a:latin typeface="Arial" panose="020B0604020202020204" pitchFamily="34" charset="0"/>
                <a:cs typeface="Arial" panose="020B0604020202020204" pitchFamily="34" charset="0"/>
              </a:defRPr>
            </a:lvl1pPr>
          </a:lstStyle>
          <a:p>
            <a:r>
              <a:rPr lang="de-DE" dirty="0"/>
              <a:t>Headline Arial Regular 24pt, ZA: 28pt</a:t>
            </a:r>
            <a:br>
              <a:rPr lang="de-DE" dirty="0"/>
            </a:br>
            <a:r>
              <a:rPr lang="de-DE" dirty="0"/>
              <a:t>optional 2-zeilig</a:t>
            </a:r>
          </a:p>
        </p:txBody>
      </p:sp>
    </p:spTree>
    <p:extLst>
      <p:ext uri="{BB962C8B-B14F-4D97-AF65-F5344CB8AC3E}">
        <p14:creationId xmlns:p14="http://schemas.microsoft.com/office/powerpoint/2010/main" val="327643400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slideLayout" Target="../slideLayouts/slideLayout4.xml"/><Relationship Id="rId3" Type="http://schemas.openxmlformats.org/officeDocument/2006/relationships/slideLayout" Target="../slideLayouts/slideLayout5.xml"/><Relationship Id="rId4" Type="http://schemas.openxmlformats.org/officeDocument/2006/relationships/theme" Target="../theme/theme2.xml"/><Relationship Id="rId5" Type="http://schemas.openxmlformats.org/officeDocument/2006/relationships/image" Target="../media/image2.png"/><Relationship Id="rId6" Type="http://schemas.openxmlformats.org/officeDocument/2006/relationships/image" Target="../media/image3.svg"/><Relationship Id="rId7" Type="http://schemas.openxmlformats.org/officeDocument/2006/relationships/image" Target="../media/image4.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Rechteck 4">
            <a:extLst>
              <a:ext uri="{FF2B5EF4-FFF2-40B4-BE49-F238E27FC236}">
                <a16:creationId xmlns:a16="http://schemas.microsoft.com/office/drawing/2014/main" id="{B97C5655-F240-634C-9B7B-B6181A1B3AF5}"/>
              </a:ext>
            </a:extLst>
          </p:cNvPr>
          <p:cNvSpPr/>
          <p:nvPr userDrawn="1"/>
        </p:nvSpPr>
        <p:spPr>
          <a:xfrm>
            <a:off x="0" y="1668462"/>
            <a:ext cx="12192000" cy="5189537"/>
          </a:xfrm>
          <a:custGeom>
            <a:avLst/>
            <a:gdLst>
              <a:gd name="connsiteX0" fmla="*/ 0 w 12192000"/>
              <a:gd name="connsiteY0" fmla="*/ 0 h 4760912"/>
              <a:gd name="connsiteX1" fmla="*/ 12192000 w 12192000"/>
              <a:gd name="connsiteY1" fmla="*/ 0 h 4760912"/>
              <a:gd name="connsiteX2" fmla="*/ 12192000 w 12192000"/>
              <a:gd name="connsiteY2" fmla="*/ 4760912 h 4760912"/>
              <a:gd name="connsiteX3" fmla="*/ 0 w 12192000"/>
              <a:gd name="connsiteY3" fmla="*/ 4760912 h 4760912"/>
              <a:gd name="connsiteX4" fmla="*/ 0 w 12192000"/>
              <a:gd name="connsiteY4" fmla="*/ 0 h 4760912"/>
              <a:gd name="connsiteX0" fmla="*/ 0 w 12192000"/>
              <a:gd name="connsiteY0" fmla="*/ 212725 h 4973637"/>
              <a:gd name="connsiteX1" fmla="*/ 12192000 w 12192000"/>
              <a:gd name="connsiteY1" fmla="*/ 0 h 4973637"/>
              <a:gd name="connsiteX2" fmla="*/ 12192000 w 12192000"/>
              <a:gd name="connsiteY2" fmla="*/ 4973637 h 4973637"/>
              <a:gd name="connsiteX3" fmla="*/ 0 w 12192000"/>
              <a:gd name="connsiteY3" fmla="*/ 4973637 h 4973637"/>
              <a:gd name="connsiteX4" fmla="*/ 0 w 12192000"/>
              <a:gd name="connsiteY4" fmla="*/ 212725 h 4973637"/>
              <a:gd name="connsiteX0" fmla="*/ 0 w 12192000"/>
              <a:gd name="connsiteY0" fmla="*/ 428625 h 5189537"/>
              <a:gd name="connsiteX1" fmla="*/ 12192000 w 12192000"/>
              <a:gd name="connsiteY1" fmla="*/ 0 h 5189537"/>
              <a:gd name="connsiteX2" fmla="*/ 12192000 w 12192000"/>
              <a:gd name="connsiteY2" fmla="*/ 5189537 h 5189537"/>
              <a:gd name="connsiteX3" fmla="*/ 0 w 12192000"/>
              <a:gd name="connsiteY3" fmla="*/ 5189537 h 5189537"/>
              <a:gd name="connsiteX4" fmla="*/ 0 w 12192000"/>
              <a:gd name="connsiteY4" fmla="*/ 428625 h 5189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5189537">
                <a:moveTo>
                  <a:pt x="0" y="428625"/>
                </a:moveTo>
                <a:lnTo>
                  <a:pt x="12192000" y="0"/>
                </a:lnTo>
                <a:lnTo>
                  <a:pt x="12192000" y="5189537"/>
                </a:lnTo>
                <a:lnTo>
                  <a:pt x="0" y="5189537"/>
                </a:lnTo>
                <a:lnTo>
                  <a:pt x="0" y="428625"/>
                </a:lnTo>
                <a:close/>
              </a:path>
            </a:pathLst>
          </a:custGeom>
          <a:solidFill>
            <a:srgbClr val="C40D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7" name="Grafik 6">
            <a:extLst>
              <a:ext uri="{FF2B5EF4-FFF2-40B4-BE49-F238E27FC236}">
                <a16:creationId xmlns:a16="http://schemas.microsoft.com/office/drawing/2014/main" id="{F8DDEEBD-D00D-1249-9E02-EDC0548BFCAC}"/>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9388168" y="378741"/>
            <a:ext cx="2250000" cy="774000"/>
          </a:xfrm>
          <a:prstGeom prst="rect">
            <a:avLst/>
          </a:prstGeom>
        </p:spPr>
      </p:pic>
      <p:sp>
        <p:nvSpPr>
          <p:cNvPr id="4" name="Textfeld 3">
            <a:extLst>
              <a:ext uri="{FF2B5EF4-FFF2-40B4-BE49-F238E27FC236}">
                <a16:creationId xmlns:a16="http://schemas.microsoft.com/office/drawing/2014/main" id="{0D20A730-187A-274D-A0E6-8412686F8775}"/>
              </a:ext>
            </a:extLst>
          </p:cNvPr>
          <p:cNvSpPr txBox="1"/>
          <p:nvPr userDrawn="1"/>
        </p:nvSpPr>
        <p:spPr>
          <a:xfrm>
            <a:off x="12292755" y="5534561"/>
            <a:ext cx="3102416" cy="1323439"/>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Titelseiten – Platzhalter für </a:t>
            </a:r>
            <a:r>
              <a:rPr lang="de-DE" sz="1000" b="1" dirty="0" err="1">
                <a:latin typeface="Arial" panose="020B0604020202020204" pitchFamily="34" charset="0"/>
                <a:cs typeface="Arial" panose="020B0604020202020204" pitchFamily="34" charset="0"/>
              </a:rPr>
              <a:t>Sublogo</a:t>
            </a:r>
            <a:r>
              <a:rPr lang="de-DE" sz="1000" b="1" dirty="0">
                <a:latin typeface="Arial" panose="020B0604020202020204" pitchFamily="34" charset="0"/>
                <a:cs typeface="Arial" panose="020B0604020202020204" pitchFamily="34" charset="0"/>
              </a:rPr>
              <a:t> ändern: </a:t>
            </a:r>
            <a:r>
              <a:rPr lang="de-DE" sz="1000" dirty="0">
                <a:latin typeface="Arial" panose="020B0604020202020204" pitchFamily="34" charset="0"/>
                <a:cs typeface="Arial" panose="020B0604020202020204" pitchFamily="34" charset="0"/>
              </a:rPr>
              <a:t>Direkt auf dieser Folie &gt; Bild anklicken &gt; Rechtsklick &gt; Bild einfügen</a:t>
            </a:r>
            <a:br>
              <a:rPr lang="de-DE" sz="1000" dirty="0">
                <a:latin typeface="Arial" panose="020B0604020202020204" pitchFamily="34" charset="0"/>
                <a:cs typeface="Arial" panose="020B0604020202020204" pitchFamily="34" charset="0"/>
              </a:rPr>
            </a:br>
            <a:br>
              <a:rPr lang="de-DE" sz="1000" dirty="0">
                <a:latin typeface="Arial" panose="020B0604020202020204" pitchFamily="34" charset="0"/>
                <a:cs typeface="Arial" panose="020B0604020202020204" pitchFamily="34" charset="0"/>
              </a:rPr>
            </a:br>
            <a:r>
              <a:rPr lang="de-DE" sz="1000" b="1" dirty="0">
                <a:latin typeface="Arial" panose="020B0604020202020204" pitchFamily="34" charset="0"/>
                <a:cs typeface="Arial" panose="020B0604020202020204" pitchFamily="34" charset="0"/>
              </a:rPr>
              <a:t>Bild an Rahmen anpassen</a:t>
            </a:r>
            <a:r>
              <a:rPr lang="de-DE" sz="1000" dirty="0">
                <a:latin typeface="Arial" panose="020B0604020202020204" pitchFamily="34" charset="0"/>
                <a:cs typeface="Arial" panose="020B0604020202020204" pitchFamily="34" charset="0"/>
              </a:rPr>
              <a: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Bild anklicken &gt; Bildformat &gt; Zuschneiden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im Dropdown „Einpassen“ wählen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ggf. Bild nochmals neu positionieren </a:t>
            </a:r>
          </a:p>
        </p:txBody>
      </p:sp>
    </p:spTree>
    <p:extLst>
      <p:ext uri="{BB962C8B-B14F-4D97-AF65-F5344CB8AC3E}">
        <p14:creationId xmlns:p14="http://schemas.microsoft.com/office/powerpoint/2010/main" val="3079698843"/>
      </p:ext>
    </p:extLst>
  </p:cSld>
  <p:clrMap bg1="lt1" tx1="dk1" bg2="lt2" tx2="dk2" accent1="accent1" accent2="accent2" accent3="accent3" accent4="accent4" accent5="accent5" accent6="accent6" hlink="hlink" folHlink="folHlink"/>
  <p:sldLayoutIdLst>
    <p:sldLayoutId id="2147483714" r:id="rId1"/>
    <p:sldLayoutId id="2147483713" r:id="rId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347" userDrawn="1">
          <p15:clr>
            <a:srgbClr val="F26B43"/>
          </p15:clr>
        </p15:guide>
        <p15:guide id="2" pos="7333" userDrawn="1">
          <p15:clr>
            <a:srgbClr val="F26B43"/>
          </p15:clr>
        </p15:guide>
        <p15:guide id="3" orient="horz" pos="346" userDrawn="1">
          <p15:clr>
            <a:srgbClr val="F26B43"/>
          </p15:clr>
        </p15:guide>
        <p15:guide id="4" pos="1232" userDrawn="1">
          <p15:clr>
            <a:srgbClr val="F26B43"/>
          </p15:clr>
        </p15:guide>
        <p15:guide id="5" orient="horz" pos="3974" userDrawn="1">
          <p15:clr>
            <a:srgbClr val="F26B43"/>
          </p15:clr>
        </p15:guide>
        <p15:guide id="6" orient="horz" pos="663" userDrawn="1">
          <p15:clr>
            <a:srgbClr val="F26B43"/>
          </p15:clr>
        </p15:guide>
        <p15:guide id="7" orient="horz" pos="1003" userDrawn="1">
          <p15:clr>
            <a:srgbClr val="F26B43"/>
          </p15:clr>
        </p15:guide>
        <p15:guide id="8" orient="horz" pos="1321" userDrawn="1">
          <p15:clr>
            <a:srgbClr val="F26B43"/>
          </p15:clr>
        </p15:guide>
        <p15:guide id="9" orient="horz" pos="1661" userDrawn="1">
          <p15:clr>
            <a:srgbClr val="F26B43"/>
          </p15:clr>
        </p15:guide>
        <p15:guide id="10" orient="horz" pos="2001" userDrawn="1">
          <p15:clr>
            <a:srgbClr val="F26B43"/>
          </p15:clr>
        </p15:guide>
        <p15:guide id="11" orient="horz" pos="3339" userDrawn="1">
          <p15:clr>
            <a:srgbClr val="F26B43"/>
          </p15:clr>
        </p15:guide>
        <p15:guide id="12" orient="horz" pos="2319" userDrawn="1">
          <p15:clr>
            <a:srgbClr val="F26B43"/>
          </p15:clr>
        </p15:guide>
        <p15:guide id="13" orient="horz" pos="2999" userDrawn="1">
          <p15:clr>
            <a:srgbClr val="F26B43"/>
          </p15:clr>
        </p15:guide>
        <p15:guide id="14" orient="horz" pos="3657" userDrawn="1">
          <p15:clr>
            <a:srgbClr val="F26B43"/>
          </p15:clr>
        </p15:guide>
        <p15:guide id="15" orient="horz" pos="2659" userDrawn="1">
          <p15:clr>
            <a:srgbClr val="F26B43"/>
          </p15:clr>
        </p15:guide>
        <p15:guide id="16" pos="2094" userDrawn="1">
          <p15:clr>
            <a:srgbClr val="F26B43"/>
          </p15:clr>
        </p15:guide>
        <p15:guide id="17" pos="2978" userDrawn="1">
          <p15:clr>
            <a:srgbClr val="F26B43"/>
          </p15:clr>
        </p15:guide>
        <p15:guide id="18" pos="3840" userDrawn="1">
          <p15:clr>
            <a:srgbClr val="F26B43"/>
          </p15:clr>
        </p15:guide>
        <p15:guide id="19" pos="4725" userDrawn="1">
          <p15:clr>
            <a:srgbClr val="F26B43"/>
          </p15:clr>
        </p15:guide>
        <p15:guide id="20" pos="5586" userDrawn="1">
          <p15:clr>
            <a:srgbClr val="F26B43"/>
          </p15:clr>
        </p15:guide>
        <p15:guide id="21" pos="6471"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hteck 1">
            <a:extLst>
              <a:ext uri="{FF2B5EF4-FFF2-40B4-BE49-F238E27FC236}">
                <a16:creationId xmlns:a16="http://schemas.microsoft.com/office/drawing/2014/main" id="{48266648-C51B-EA45-AE41-AF74B0A4657C}"/>
              </a:ext>
            </a:extLst>
          </p:cNvPr>
          <p:cNvSpPr/>
          <p:nvPr userDrawn="1"/>
        </p:nvSpPr>
        <p:spPr>
          <a:xfrm>
            <a:off x="0" y="5748124"/>
            <a:ext cx="12195175" cy="1109875"/>
          </a:xfrm>
          <a:custGeom>
            <a:avLst/>
            <a:gdLst>
              <a:gd name="connsiteX0" fmla="*/ 0 w 12192000"/>
              <a:gd name="connsiteY0" fmla="*/ 0 h 687600"/>
              <a:gd name="connsiteX1" fmla="*/ 12192000 w 12192000"/>
              <a:gd name="connsiteY1" fmla="*/ 0 h 687600"/>
              <a:gd name="connsiteX2" fmla="*/ 12192000 w 12192000"/>
              <a:gd name="connsiteY2" fmla="*/ 687600 h 687600"/>
              <a:gd name="connsiteX3" fmla="*/ 0 w 12192000"/>
              <a:gd name="connsiteY3" fmla="*/ 687600 h 687600"/>
              <a:gd name="connsiteX4" fmla="*/ 0 w 12192000"/>
              <a:gd name="connsiteY4" fmla="*/ 0 h 687600"/>
              <a:gd name="connsiteX0" fmla="*/ 0 w 12195175"/>
              <a:gd name="connsiteY0" fmla="*/ 422275 h 1109875"/>
              <a:gd name="connsiteX1" fmla="*/ 12195175 w 12195175"/>
              <a:gd name="connsiteY1" fmla="*/ 0 h 1109875"/>
              <a:gd name="connsiteX2" fmla="*/ 12192000 w 12195175"/>
              <a:gd name="connsiteY2" fmla="*/ 1109875 h 1109875"/>
              <a:gd name="connsiteX3" fmla="*/ 0 w 12195175"/>
              <a:gd name="connsiteY3" fmla="*/ 1109875 h 1109875"/>
              <a:gd name="connsiteX4" fmla="*/ 0 w 12195175"/>
              <a:gd name="connsiteY4" fmla="*/ 422275 h 1109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5175" h="1109875">
                <a:moveTo>
                  <a:pt x="0" y="422275"/>
                </a:moveTo>
                <a:lnTo>
                  <a:pt x="12195175" y="0"/>
                </a:lnTo>
                <a:cubicBezTo>
                  <a:pt x="12194117" y="369958"/>
                  <a:pt x="12193058" y="739917"/>
                  <a:pt x="12192000" y="1109875"/>
                </a:cubicBezTo>
                <a:lnTo>
                  <a:pt x="0" y="1109875"/>
                </a:lnTo>
                <a:lnTo>
                  <a:pt x="0" y="422275"/>
                </a:lnTo>
                <a:close/>
              </a:path>
            </a:pathLst>
          </a:custGeom>
          <a:solidFill>
            <a:srgbClr val="C40D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a:extLst>
              <a:ext uri="{FF2B5EF4-FFF2-40B4-BE49-F238E27FC236}">
                <a16:creationId xmlns:a16="http://schemas.microsoft.com/office/drawing/2014/main" id="{90A395C2-361B-A14B-9312-A16F3F6780AF}"/>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0614598" y="378000"/>
            <a:ext cx="1004400" cy="766068"/>
          </a:xfrm>
          <a:prstGeom prst="rect">
            <a:avLst/>
          </a:prstGeom>
        </p:spPr>
      </p:pic>
      <p:sp>
        <p:nvSpPr>
          <p:cNvPr id="12" name="Textfeld 11">
            <a:extLst>
              <a:ext uri="{FF2B5EF4-FFF2-40B4-BE49-F238E27FC236}">
                <a16:creationId xmlns:a16="http://schemas.microsoft.com/office/drawing/2014/main" id="{427D4F0D-9351-B349-8187-43002862F183}"/>
              </a:ext>
            </a:extLst>
          </p:cNvPr>
          <p:cNvSpPr txBox="1"/>
          <p:nvPr userDrawn="1"/>
        </p:nvSpPr>
        <p:spPr>
          <a:xfrm>
            <a:off x="12292755" y="5612990"/>
            <a:ext cx="3102416" cy="1323439"/>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Folgeseiten – Platzhalter für </a:t>
            </a:r>
            <a:r>
              <a:rPr lang="de-DE" sz="1000" b="1" dirty="0" err="1">
                <a:latin typeface="Arial" panose="020B0604020202020204" pitchFamily="34" charset="0"/>
                <a:cs typeface="Arial" panose="020B0604020202020204" pitchFamily="34" charset="0"/>
              </a:rPr>
              <a:t>Sublogo</a:t>
            </a:r>
            <a:r>
              <a:rPr lang="de-DE" sz="1000" b="1" dirty="0">
                <a:latin typeface="Arial" panose="020B0604020202020204" pitchFamily="34" charset="0"/>
                <a:cs typeface="Arial" panose="020B0604020202020204" pitchFamily="34" charset="0"/>
              </a:rPr>
              <a:t> ändern: </a:t>
            </a:r>
            <a:r>
              <a:rPr lang="de-DE" sz="1000" dirty="0">
                <a:latin typeface="Arial" panose="020B0604020202020204" pitchFamily="34" charset="0"/>
                <a:cs typeface="Arial" panose="020B0604020202020204" pitchFamily="34" charset="0"/>
              </a:rPr>
              <a:t>Folienmaster &gt; Nr. 2 bearbeiten &gt; Bild anklicken &gt; Rechtsklick &gt; Bild einfügen</a:t>
            </a:r>
            <a:br>
              <a:rPr lang="de-DE" sz="1000" dirty="0">
                <a:latin typeface="Arial" panose="020B0604020202020204" pitchFamily="34" charset="0"/>
                <a:cs typeface="Arial" panose="020B0604020202020204" pitchFamily="34" charset="0"/>
              </a:rPr>
            </a:br>
            <a:br>
              <a:rPr lang="de-DE" sz="1000" dirty="0">
                <a:latin typeface="Arial" panose="020B0604020202020204" pitchFamily="34" charset="0"/>
                <a:cs typeface="Arial" panose="020B0604020202020204" pitchFamily="34" charset="0"/>
              </a:rPr>
            </a:br>
            <a:r>
              <a:rPr lang="de-DE" sz="1000" b="1" dirty="0">
                <a:latin typeface="Arial" panose="020B0604020202020204" pitchFamily="34" charset="0"/>
                <a:cs typeface="Arial" panose="020B0604020202020204" pitchFamily="34" charset="0"/>
              </a:rPr>
              <a:t>Bild an Rahmen anpassen</a:t>
            </a:r>
            <a:r>
              <a:rPr lang="de-DE" sz="1000" dirty="0">
                <a:latin typeface="Arial" panose="020B0604020202020204" pitchFamily="34" charset="0"/>
                <a:cs typeface="Arial" panose="020B0604020202020204" pitchFamily="34" charset="0"/>
              </a:rPr>
              <a: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Bild anklicken &gt; Bildformat &gt; Zuschneiden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im Dropdown „Einpassen“ wählen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ggf. Bild nochmals neu positionieren </a:t>
            </a:r>
          </a:p>
        </p:txBody>
      </p:sp>
      <p:sp>
        <p:nvSpPr>
          <p:cNvPr id="13" name="Textfeld 12">
            <a:extLst>
              <a:ext uri="{FF2B5EF4-FFF2-40B4-BE49-F238E27FC236}">
                <a16:creationId xmlns:a16="http://schemas.microsoft.com/office/drawing/2014/main" id="{B91FA75A-4E02-534F-A661-8216932850DD}"/>
              </a:ext>
            </a:extLst>
          </p:cNvPr>
          <p:cNvSpPr txBox="1"/>
          <p:nvPr userDrawn="1"/>
        </p:nvSpPr>
        <p:spPr>
          <a:xfrm>
            <a:off x="-2243920" y="6474756"/>
            <a:ext cx="2223344" cy="400110"/>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Informationen in Fußzeile ändern:</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Folienmaster &gt; Nr. 2 bearbeiten</a:t>
            </a:r>
          </a:p>
        </p:txBody>
      </p:sp>
    </p:spTree>
    <p:extLst>
      <p:ext uri="{BB962C8B-B14F-4D97-AF65-F5344CB8AC3E}">
        <p14:creationId xmlns:p14="http://schemas.microsoft.com/office/powerpoint/2010/main" val="3907247464"/>
      </p:ext>
    </p:extLst>
  </p:cSld>
  <p:clrMap bg1="lt1" tx1="dk1" bg2="lt2" tx2="dk2" accent1="accent1" accent2="accent2" accent3="accent3" accent4="accent4" accent5="accent5" accent6="accent6" hlink="hlink" folHlink="folHlink"/>
  <p:sldLayoutIdLst>
    <p:sldLayoutId id="2147483707" r:id="rId1"/>
    <p:sldLayoutId id="2147483711" r:id="rId2"/>
    <p:sldLayoutId id="2147483712"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400" b="0" lang="en-US">
                <a:solidFill>
                  <a:srgbClr val="434343"/>
                </a:solidFill>
                <a:latin typeface="Arial"/>
              </a:rPr>
              <a:t>Attack tree: model-production integrity</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CHAPTER 4 · ATTACK TREE 1 / 4 · LOOK C</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100584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C · Tree 1</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sp>
        <p:nvSpPr>
          <p:cNvPr id="8"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DFL badge"/>
          <p:cNvSpPr/>
          <p:nvPr/>
        </p:nvSpPr>
        <p:spPr>
          <a:xfrm>
            <a:off x="9509760" y="502920"/>
            <a:ext cx="411480" cy="228600"/>
          </a:xfrm>
          <a:prstGeom prst="rect">
            <a:avLst/>
          </a:prstGeom>
          <a:solidFill>
            <a:srgbClr val="207548"/>
          </a:solidFill>
          <a:ln w="698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FFFFFF"/>
                </a:solidFill>
                <a:latin typeface="Arial"/>
              </a:rPr>
              <a:t>DFL</a:t>
            </a:r>
          </a:p>
        </p:txBody>
      </p:sp>
      <p:sp>
        <p:nvSpPr>
          <p:cNvPr id="11" name="Domain navigation: Agent badge"/>
          <p:cNvSpPr/>
          <p:nvPr/>
        </p:nvSpPr>
        <p:spPr>
          <a:xfrm>
            <a:off x="9982200" y="502920"/>
            <a:ext cx="502920" cy="228600"/>
          </a:xfrm>
          <a:prstGeom prst="rect">
            <a:avLst/>
          </a:prstGeom>
          <a:solidFill>
            <a:srgbClr val="F5F6F7"/>
          </a:solidFill>
          <a:ln w="6985">
            <a:solidFill>
              <a:srgbClr val="D7D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5D6973"/>
                </a:solidFill>
                <a:latin typeface="Arial"/>
              </a:rPr>
              <a:t>Agent</a:t>
            </a:r>
          </a:p>
        </p:txBody>
      </p:sp>
      <p:cxnSp>
        <p:nvCxnSpPr>
          <p:cNvPr id="13" name="Connector 12"/>
          <p:cNvCxnSpPr/>
          <p:nvPr/>
        </p:nvCxnSpPr>
        <p:spPr>
          <a:xfrm>
            <a:off x="6099048" y="1956816"/>
            <a:ext cx="0" cy="530352"/>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2377440" y="2487168"/>
            <a:ext cx="7443216" cy="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377440" y="2487168"/>
            <a:ext cx="0" cy="18288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099048" y="2487168"/>
            <a:ext cx="0" cy="18288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820656" y="2487168"/>
            <a:ext cx="0" cy="18288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640080" y="1408176"/>
            <a:ext cx="10908792" cy="548640"/>
          </a:xfrm>
          <a:prstGeom prst="rect">
            <a:avLst/>
          </a:prstGeom>
          <a:solidFill>
            <a:srgbClr val="FBECEF"/>
          </a:solidFill>
          <a:ln>
            <a:solidFill>
              <a:srgbClr val="FBEC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Attack tree: ATTACKER GOAL"/>
          <p:cNvSpPr txBox="1"/>
          <p:nvPr/>
        </p:nvSpPr>
        <p:spPr>
          <a:xfrm>
            <a:off x="850392" y="1572768"/>
            <a:ext cx="1673352" cy="210312"/>
          </a:xfrm>
          <a:prstGeom prst="rect">
            <a:avLst/>
          </a:prstGeom>
          <a:noFill/>
        </p:spPr>
        <p:txBody>
          <a:bodyPr wrap="square" lIns="0" rIns="0" tIns="0" bIns="0" anchor="ctr">
            <a:spAutoFit/>
          </a:bodyPr>
          <a:lstStyle/>
          <a:p>
            <a:pPr algn="l"/>
            <a:r>
              <a:rPr sz="1050" b="1" lang="en-US">
                <a:solidFill>
                  <a:srgbClr val="C40D1E"/>
                </a:solidFill>
                <a:latin typeface="Arial"/>
              </a:rPr>
              <a:t>ATTACKER GOAL</a:t>
            </a:r>
          </a:p>
        </p:txBody>
      </p:sp>
      <p:sp>
        <p:nvSpPr>
          <p:cNvPr id="20" name="Attack tree: Compromise model production"/>
          <p:cNvSpPr txBox="1"/>
          <p:nvPr/>
        </p:nvSpPr>
        <p:spPr>
          <a:xfrm>
            <a:off x="2697480" y="1495044"/>
            <a:ext cx="8595360" cy="356616"/>
          </a:xfrm>
          <a:prstGeom prst="rect">
            <a:avLst/>
          </a:prstGeom>
          <a:noFill/>
        </p:spPr>
        <p:txBody>
          <a:bodyPr wrap="square" lIns="0" rIns="0" tIns="0" bIns="0" anchor="ctr">
            <a:spAutoFit/>
          </a:bodyPr>
          <a:lstStyle/>
          <a:p>
            <a:pPr algn="l"/>
            <a:r>
              <a:rPr sz="1900" b="1" lang="en-US">
                <a:solidFill>
                  <a:srgbClr val="C40D1E"/>
                </a:solidFill>
                <a:latin typeface="Arial"/>
              </a:rPr>
              <a:t>Compromise model production</a:t>
            </a:r>
          </a:p>
        </p:txBody>
      </p:sp>
      <p:sp>
        <p:nvSpPr>
          <p:cNvPr id="21" name="Rounded Rectangle 20"/>
          <p:cNvSpPr/>
          <p:nvPr/>
        </p:nvSpPr>
        <p:spPr>
          <a:xfrm>
            <a:off x="5902452" y="2103120"/>
            <a:ext cx="393192" cy="256032"/>
          </a:xfrm>
          <a:prstGeom prst="roundRect">
            <a:avLst/>
          </a:prstGeom>
          <a:solidFill>
            <a:srgbClr val="F2F5F7"/>
          </a:solidFill>
          <a:ln w="10795">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ttack tree: OR"/>
          <p:cNvSpPr txBox="1"/>
          <p:nvPr/>
        </p:nvSpPr>
        <p:spPr>
          <a:xfrm>
            <a:off x="5925312" y="2116836"/>
            <a:ext cx="347472" cy="228600"/>
          </a:xfrm>
          <a:prstGeom prst="rect">
            <a:avLst/>
          </a:prstGeom>
          <a:noFill/>
        </p:spPr>
        <p:txBody>
          <a:bodyPr wrap="square" lIns="0" rIns="0" tIns="0" bIns="0" anchor="ctr">
            <a:spAutoFit/>
          </a:bodyPr>
          <a:lstStyle/>
          <a:p>
            <a:pPr algn="ctr"/>
            <a:r>
              <a:rPr sz="1050" b="1" lang="en-US">
                <a:solidFill>
                  <a:srgbClr val="263440"/>
                </a:solidFill>
                <a:latin typeface="Arial"/>
              </a:rPr>
              <a:t>OR</a:t>
            </a:r>
          </a:p>
        </p:txBody>
      </p:sp>
      <p:sp>
        <p:nvSpPr>
          <p:cNvPr id="23" name="Rounded Rectangle 22"/>
          <p:cNvSpPr/>
          <p:nvPr/>
        </p:nvSpPr>
        <p:spPr>
          <a:xfrm>
            <a:off x="640080" y="2670048"/>
            <a:ext cx="3474720" cy="2651760"/>
          </a:xfrm>
          <a:prstGeom prst="roundRect">
            <a:avLst/>
          </a:prstGeom>
          <a:solidFill>
            <a:srgbClr val="EDF4FA"/>
          </a:solidFill>
          <a:ln>
            <a:solidFill>
              <a:srgbClr val="ED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Attack tree: Abuse participant authority"/>
          <p:cNvSpPr txBox="1"/>
          <p:nvPr/>
        </p:nvSpPr>
        <p:spPr>
          <a:xfrm>
            <a:off x="813815" y="2770632"/>
            <a:ext cx="3127248" cy="484632"/>
          </a:xfrm>
          <a:prstGeom prst="rect">
            <a:avLst/>
          </a:prstGeom>
          <a:noFill/>
        </p:spPr>
        <p:txBody>
          <a:bodyPr wrap="square" lIns="0" rIns="0" tIns="0" bIns="0" anchor="ctr">
            <a:spAutoFit/>
          </a:bodyPr>
          <a:lstStyle/>
          <a:p>
            <a:pPr algn="l"/>
            <a:r>
              <a:rPr sz="1550" b="1" lang="en-US">
                <a:solidFill>
                  <a:srgbClr val="1764A1"/>
                </a:solidFill>
                <a:latin typeface="Arial"/>
              </a:rPr>
              <a:t>Abuse participant authority</a:t>
            </a:r>
          </a:p>
        </p:txBody>
      </p:sp>
      <p:cxnSp>
        <p:nvCxnSpPr>
          <p:cNvPr id="25" name="Connector 24"/>
          <p:cNvCxnSpPr/>
          <p:nvPr/>
        </p:nvCxnSpPr>
        <p:spPr>
          <a:xfrm>
            <a:off x="2377440" y="3282696"/>
            <a:ext cx="0" cy="201168"/>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777240" y="3483864"/>
            <a:ext cx="1600200"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77240" y="3483864"/>
            <a:ext cx="0" cy="112014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77240" y="3936491"/>
            <a:ext cx="192024"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777240" y="4604004"/>
            <a:ext cx="192024"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2180844" y="3355848"/>
            <a:ext cx="393192" cy="256032"/>
          </a:xfrm>
          <a:prstGeom prst="roundRect">
            <a:avLst/>
          </a:prstGeom>
          <a:solidFill>
            <a:srgbClr val="F2F5F7"/>
          </a:solidFill>
          <a:ln w="10795">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Attack tree: OR"/>
          <p:cNvSpPr txBox="1"/>
          <p:nvPr/>
        </p:nvSpPr>
        <p:spPr>
          <a:xfrm>
            <a:off x="2203704" y="3369564"/>
            <a:ext cx="347472" cy="228600"/>
          </a:xfrm>
          <a:prstGeom prst="rect">
            <a:avLst/>
          </a:prstGeom>
          <a:noFill/>
        </p:spPr>
        <p:txBody>
          <a:bodyPr wrap="square" lIns="0" rIns="0" tIns="0" bIns="0" anchor="ctr">
            <a:spAutoFit/>
          </a:bodyPr>
          <a:lstStyle/>
          <a:p>
            <a:pPr algn="ctr"/>
            <a:r>
              <a:rPr sz="1050" b="1" lang="en-US">
                <a:solidFill>
                  <a:srgbClr val="263440"/>
                </a:solidFill>
                <a:latin typeface="Arial"/>
              </a:rPr>
              <a:t>OR</a:t>
            </a:r>
          </a:p>
        </p:txBody>
      </p:sp>
      <p:sp>
        <p:nvSpPr>
          <p:cNvPr id="32" name="Rounded Rectangle 31"/>
          <p:cNvSpPr/>
          <p:nvPr/>
        </p:nvSpPr>
        <p:spPr>
          <a:xfrm>
            <a:off x="969264" y="3657600"/>
            <a:ext cx="2971800" cy="557784"/>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Attack tree: T1 · Get an unapproved workload admitted"/>
          <p:cNvSpPr txBox="1"/>
          <p:nvPr/>
        </p:nvSpPr>
        <p:spPr>
          <a:xfrm>
            <a:off x="1088136" y="3703320"/>
            <a:ext cx="2734056" cy="466344"/>
          </a:xfrm>
          <a:prstGeom prst="rect">
            <a:avLst/>
          </a:prstGeom>
          <a:noFill/>
        </p:spPr>
        <p:txBody>
          <a:bodyPr wrap="square" lIns="0" rIns="0" tIns="0" bIns="0" anchor="ctr">
            <a:spAutoFit/>
          </a:bodyPr>
          <a:lstStyle/>
          <a:p>
            <a:pPr algn="l"/>
            <a:r>
              <a:rPr sz="1300" b="0" lang="en-US">
                <a:solidFill>
                  <a:srgbClr val="263440"/>
                </a:solidFill>
                <a:latin typeface="Arial"/>
              </a:rPr>
              <a:t>T1 · Get an unapproved workload admitted</a:t>
            </a:r>
          </a:p>
        </p:txBody>
      </p:sp>
      <p:sp>
        <p:nvSpPr>
          <p:cNvPr id="34" name="Rounded Rectangle 33"/>
          <p:cNvSpPr/>
          <p:nvPr/>
        </p:nvSpPr>
        <p:spPr>
          <a:xfrm>
            <a:off x="969264" y="4325112"/>
            <a:ext cx="2971800" cy="557784"/>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Attack tree: T2 · Get stale authority or updates accepted"/>
          <p:cNvSpPr txBox="1"/>
          <p:nvPr/>
        </p:nvSpPr>
        <p:spPr>
          <a:xfrm>
            <a:off x="1088136" y="4370832"/>
            <a:ext cx="2734056" cy="466344"/>
          </a:xfrm>
          <a:prstGeom prst="rect">
            <a:avLst/>
          </a:prstGeom>
          <a:noFill/>
        </p:spPr>
        <p:txBody>
          <a:bodyPr wrap="square" lIns="0" rIns="0" tIns="0" bIns="0" anchor="ctr">
            <a:spAutoFit/>
          </a:bodyPr>
          <a:lstStyle/>
          <a:p>
            <a:pPr algn="l"/>
            <a:r>
              <a:rPr sz="1300" b="0" lang="en-US">
                <a:solidFill>
                  <a:srgbClr val="263440"/>
                </a:solidFill>
                <a:latin typeface="Arial"/>
              </a:rPr>
              <a:t>T2 · Get stale authority or updates accepted</a:t>
            </a:r>
          </a:p>
        </p:txBody>
      </p:sp>
      <p:cxnSp>
        <p:nvCxnSpPr>
          <p:cNvPr id="36" name="Connector 35"/>
          <p:cNvCxnSpPr/>
          <p:nvPr/>
        </p:nvCxnSpPr>
        <p:spPr>
          <a:xfrm>
            <a:off x="813815" y="4965192"/>
            <a:ext cx="3127248" cy="0"/>
          </a:xfrm>
          <a:prstGeom prst="line">
            <a:avLst/>
          </a:prstGeom>
          <a:ln w="7620">
            <a:solidFill>
              <a:srgbClr val="1764A1"/>
            </a:solidFill>
          </a:ln>
        </p:spPr>
        <p:style>
          <a:lnRef idx="2">
            <a:schemeClr val="accent1"/>
          </a:lnRef>
          <a:fillRef idx="0">
            <a:schemeClr val="accent1"/>
          </a:fillRef>
          <a:effectRef idx="1">
            <a:schemeClr val="accent1"/>
          </a:effectRef>
          <a:fontRef idx="minor">
            <a:schemeClr val="tx1"/>
          </a:fontRef>
        </p:style>
      </p:cxnSp>
      <p:sp>
        <p:nvSpPr>
          <p:cNvPr id="37" name="Attack tree: Requirements: F3 · F11"/>
          <p:cNvSpPr txBox="1"/>
          <p:nvPr/>
        </p:nvSpPr>
        <p:spPr>
          <a:xfrm>
            <a:off x="813815" y="5020056"/>
            <a:ext cx="3127248" cy="246888"/>
          </a:xfrm>
          <a:prstGeom prst="rect">
            <a:avLst/>
          </a:prstGeom>
          <a:noFill/>
        </p:spPr>
        <p:txBody>
          <a:bodyPr wrap="square" lIns="0" rIns="0" tIns="0" bIns="0" anchor="ctr">
            <a:spAutoFit/>
          </a:bodyPr>
          <a:lstStyle/>
          <a:p>
            <a:pPr algn="l"/>
            <a:r>
              <a:rPr sz="1050" b="0" lang="en-US">
                <a:solidFill>
                  <a:srgbClr val="1764A1"/>
                </a:solidFill>
                <a:latin typeface="Arial"/>
              </a:rPr>
              <a:t>Requirements: F3 · F11</a:t>
            </a:r>
          </a:p>
        </p:txBody>
      </p:sp>
      <p:sp>
        <p:nvSpPr>
          <p:cNvPr id="38" name="Rounded Rectangle 37"/>
          <p:cNvSpPr/>
          <p:nvPr/>
        </p:nvSpPr>
        <p:spPr>
          <a:xfrm>
            <a:off x="4361688" y="2670048"/>
            <a:ext cx="3474720" cy="2651760"/>
          </a:xfrm>
          <a:prstGeom prst="roundRect">
            <a:avLst/>
          </a:prstGeom>
          <a:solidFill>
            <a:srgbClr val="FFF5E5"/>
          </a:solidFill>
          <a:ln>
            <a:solidFill>
              <a:srgbClr val="FFF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Attack tree: Corrupt training inputs"/>
          <p:cNvSpPr txBox="1"/>
          <p:nvPr/>
        </p:nvSpPr>
        <p:spPr>
          <a:xfrm>
            <a:off x="4535424" y="2770632"/>
            <a:ext cx="3127248" cy="484632"/>
          </a:xfrm>
          <a:prstGeom prst="rect">
            <a:avLst/>
          </a:prstGeom>
          <a:noFill/>
        </p:spPr>
        <p:txBody>
          <a:bodyPr wrap="square" lIns="0" rIns="0" tIns="0" bIns="0" anchor="ctr">
            <a:spAutoFit/>
          </a:bodyPr>
          <a:lstStyle/>
          <a:p>
            <a:pPr algn="l"/>
            <a:r>
              <a:rPr sz="1550" b="1" lang="en-US">
                <a:solidFill>
                  <a:srgbClr val="9A6100"/>
                </a:solidFill>
                <a:latin typeface="Arial"/>
              </a:rPr>
              <a:t>Corrupt training inputs</a:t>
            </a:r>
          </a:p>
        </p:txBody>
      </p:sp>
      <p:cxnSp>
        <p:nvCxnSpPr>
          <p:cNvPr id="40" name="Connector 39"/>
          <p:cNvCxnSpPr/>
          <p:nvPr/>
        </p:nvCxnSpPr>
        <p:spPr>
          <a:xfrm>
            <a:off x="6099048" y="3282696"/>
            <a:ext cx="0" cy="201168"/>
          </a:xfrm>
          <a:prstGeom prst="line">
            <a:avLst/>
          </a:prstGeom>
          <a:ln w="15240">
            <a:solidFill>
              <a:srgbClr val="9A6100"/>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a:off x="4498848" y="3483864"/>
            <a:ext cx="1600200" cy="0"/>
          </a:xfrm>
          <a:prstGeom prst="line">
            <a:avLst/>
          </a:prstGeom>
          <a:ln w="15240">
            <a:solidFill>
              <a:srgbClr val="9A6100"/>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4498848" y="3483864"/>
            <a:ext cx="0" cy="1120140"/>
          </a:xfrm>
          <a:prstGeom prst="line">
            <a:avLst/>
          </a:prstGeom>
          <a:ln w="15240">
            <a:solidFill>
              <a:srgbClr val="9A6100"/>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4498848" y="3936491"/>
            <a:ext cx="192024" cy="0"/>
          </a:xfrm>
          <a:prstGeom prst="line">
            <a:avLst/>
          </a:prstGeom>
          <a:ln w="15240">
            <a:solidFill>
              <a:srgbClr val="9A6100"/>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4498848" y="4604004"/>
            <a:ext cx="192024" cy="0"/>
          </a:xfrm>
          <a:prstGeom prst="line">
            <a:avLst/>
          </a:prstGeom>
          <a:ln w="15240">
            <a:solidFill>
              <a:srgbClr val="9A6100"/>
            </a:solidFill>
          </a:ln>
        </p:spPr>
        <p:style>
          <a:lnRef idx="2">
            <a:schemeClr val="accent1"/>
          </a:lnRef>
          <a:fillRef idx="0">
            <a:schemeClr val="accent1"/>
          </a:fillRef>
          <a:effectRef idx="1">
            <a:schemeClr val="accent1"/>
          </a:effectRef>
          <a:fontRef idx="minor">
            <a:schemeClr val="tx1"/>
          </a:fontRef>
        </p:style>
      </p:cxnSp>
      <p:sp>
        <p:nvSpPr>
          <p:cNvPr id="45" name="Rounded Rectangle 44"/>
          <p:cNvSpPr/>
          <p:nvPr/>
        </p:nvSpPr>
        <p:spPr>
          <a:xfrm>
            <a:off x="5902452" y="3355848"/>
            <a:ext cx="393192" cy="256032"/>
          </a:xfrm>
          <a:prstGeom prst="roundRect">
            <a:avLst/>
          </a:prstGeom>
          <a:solidFill>
            <a:srgbClr val="F2F5F7"/>
          </a:solidFill>
          <a:ln w="10795">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Attack tree: OR"/>
          <p:cNvSpPr txBox="1"/>
          <p:nvPr/>
        </p:nvSpPr>
        <p:spPr>
          <a:xfrm>
            <a:off x="5925312" y="3369564"/>
            <a:ext cx="347472" cy="228600"/>
          </a:xfrm>
          <a:prstGeom prst="rect">
            <a:avLst/>
          </a:prstGeom>
          <a:noFill/>
        </p:spPr>
        <p:txBody>
          <a:bodyPr wrap="square" lIns="0" rIns="0" tIns="0" bIns="0" anchor="ctr">
            <a:spAutoFit/>
          </a:bodyPr>
          <a:lstStyle/>
          <a:p>
            <a:pPr algn="ctr"/>
            <a:r>
              <a:rPr sz="1050" b="1" lang="en-US">
                <a:solidFill>
                  <a:srgbClr val="263440"/>
                </a:solidFill>
                <a:latin typeface="Arial"/>
              </a:rPr>
              <a:t>OR</a:t>
            </a:r>
          </a:p>
        </p:txBody>
      </p:sp>
      <p:sp>
        <p:nvSpPr>
          <p:cNvPr id="47" name="Rounded Rectangle 46"/>
          <p:cNvSpPr/>
          <p:nvPr/>
        </p:nvSpPr>
        <p:spPr>
          <a:xfrm>
            <a:off x="4690872" y="3657600"/>
            <a:ext cx="2971800" cy="557784"/>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Attack tree: T3 · Get altered data or signer roles accepted"/>
          <p:cNvSpPr txBox="1"/>
          <p:nvPr/>
        </p:nvSpPr>
        <p:spPr>
          <a:xfrm>
            <a:off x="4809744" y="3703320"/>
            <a:ext cx="2734056" cy="466344"/>
          </a:xfrm>
          <a:prstGeom prst="rect">
            <a:avLst/>
          </a:prstGeom>
          <a:noFill/>
        </p:spPr>
        <p:txBody>
          <a:bodyPr wrap="square" lIns="0" rIns="0" tIns="0" bIns="0" anchor="ctr">
            <a:spAutoFit/>
          </a:bodyPr>
          <a:lstStyle/>
          <a:p>
            <a:pPr algn="l"/>
            <a:r>
              <a:rPr sz="1300" b="0" lang="en-US">
                <a:solidFill>
                  <a:srgbClr val="263440"/>
                </a:solidFill>
                <a:latin typeface="Arial"/>
              </a:rPr>
              <a:t>T3 · Get altered data or signer roles accepted</a:t>
            </a:r>
          </a:p>
        </p:txBody>
      </p:sp>
      <p:sp>
        <p:nvSpPr>
          <p:cNvPr id="49" name="Rounded Rectangle 48"/>
          <p:cNvSpPr/>
          <p:nvPr/>
        </p:nvSpPr>
        <p:spPr>
          <a:xfrm>
            <a:off x="4690872" y="4325112"/>
            <a:ext cx="2971800" cy="557784"/>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Attack tree: T7 / T14 · Get valid poisoned contributions accepted"/>
          <p:cNvSpPr txBox="1"/>
          <p:nvPr/>
        </p:nvSpPr>
        <p:spPr>
          <a:xfrm>
            <a:off x="4809744" y="4370832"/>
            <a:ext cx="2734056" cy="466344"/>
          </a:xfrm>
          <a:prstGeom prst="rect">
            <a:avLst/>
          </a:prstGeom>
          <a:noFill/>
        </p:spPr>
        <p:txBody>
          <a:bodyPr wrap="square" lIns="0" rIns="0" tIns="0" bIns="0" anchor="ctr">
            <a:spAutoFit/>
          </a:bodyPr>
          <a:lstStyle/>
          <a:p>
            <a:pPr algn="l"/>
            <a:r>
              <a:rPr sz="1300" b="0" lang="en-US">
                <a:solidFill>
                  <a:srgbClr val="263440"/>
                </a:solidFill>
                <a:latin typeface="Arial"/>
              </a:rPr>
              <a:t>T7 / T14 · Get valid poisoned contributions accepted</a:t>
            </a:r>
          </a:p>
        </p:txBody>
      </p:sp>
      <p:cxnSp>
        <p:nvCxnSpPr>
          <p:cNvPr id="51" name="Connector 50"/>
          <p:cNvCxnSpPr/>
          <p:nvPr/>
        </p:nvCxnSpPr>
        <p:spPr>
          <a:xfrm>
            <a:off x="4535424" y="4965192"/>
            <a:ext cx="3127247" cy="0"/>
          </a:xfrm>
          <a:prstGeom prst="line">
            <a:avLst/>
          </a:prstGeom>
          <a:ln w="7620">
            <a:solidFill>
              <a:srgbClr val="9A6100"/>
            </a:solidFill>
          </a:ln>
        </p:spPr>
        <p:style>
          <a:lnRef idx="2">
            <a:schemeClr val="accent1"/>
          </a:lnRef>
          <a:fillRef idx="0">
            <a:schemeClr val="accent1"/>
          </a:fillRef>
          <a:effectRef idx="1">
            <a:schemeClr val="accent1"/>
          </a:effectRef>
          <a:fontRef idx="minor">
            <a:schemeClr val="tx1"/>
          </a:fontRef>
        </p:style>
      </p:cxnSp>
      <p:sp>
        <p:nvSpPr>
          <p:cNvPr id="52" name="Attack tree: F9 · NF4; valid poisoning remains a risk"/>
          <p:cNvSpPr txBox="1"/>
          <p:nvPr/>
        </p:nvSpPr>
        <p:spPr>
          <a:xfrm>
            <a:off x="4535424" y="5020056"/>
            <a:ext cx="3127248" cy="246888"/>
          </a:xfrm>
          <a:prstGeom prst="rect">
            <a:avLst/>
          </a:prstGeom>
          <a:noFill/>
        </p:spPr>
        <p:txBody>
          <a:bodyPr wrap="square" lIns="0" rIns="0" tIns="0" bIns="0" anchor="ctr">
            <a:spAutoFit/>
          </a:bodyPr>
          <a:lstStyle/>
          <a:p>
            <a:pPr algn="l"/>
            <a:r>
              <a:rPr sz="1050" b="0" lang="en-US">
                <a:solidFill>
                  <a:srgbClr val="9A6100"/>
                </a:solidFill>
                <a:latin typeface="Arial"/>
              </a:rPr>
              <a:t>F9 · NF4; valid poisoning remains a risk</a:t>
            </a:r>
          </a:p>
        </p:txBody>
      </p:sp>
      <p:sp>
        <p:nvSpPr>
          <p:cNvPr id="53" name="Rounded Rectangle 52"/>
          <p:cNvSpPr/>
          <p:nvPr/>
        </p:nvSpPr>
        <p:spPr>
          <a:xfrm>
            <a:off x="8083296" y="2670048"/>
            <a:ext cx="3474720" cy="2651760"/>
          </a:xfrm>
          <a:prstGeom prst="roundRect">
            <a:avLst/>
          </a:prstGeom>
          <a:solidFill>
            <a:srgbClr val="EDF4FA"/>
          </a:solidFill>
          <a:ln>
            <a:solidFill>
              <a:srgbClr val="ED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Attack tree: Corrupt the publication"/>
          <p:cNvSpPr txBox="1"/>
          <p:nvPr/>
        </p:nvSpPr>
        <p:spPr>
          <a:xfrm>
            <a:off x="8257031" y="2770632"/>
            <a:ext cx="3127248" cy="484632"/>
          </a:xfrm>
          <a:prstGeom prst="rect">
            <a:avLst/>
          </a:prstGeom>
          <a:noFill/>
        </p:spPr>
        <p:txBody>
          <a:bodyPr wrap="square" lIns="0" rIns="0" tIns="0" bIns="0" anchor="ctr">
            <a:spAutoFit/>
          </a:bodyPr>
          <a:lstStyle/>
          <a:p>
            <a:pPr algn="l"/>
            <a:r>
              <a:rPr sz="1550" b="1" lang="en-US">
                <a:solidFill>
                  <a:srgbClr val="1764A1"/>
                </a:solidFill>
                <a:latin typeface="Arial"/>
              </a:rPr>
              <a:t>Corrupt the publication</a:t>
            </a:r>
          </a:p>
        </p:txBody>
      </p:sp>
      <p:cxnSp>
        <p:nvCxnSpPr>
          <p:cNvPr id="55" name="Connector 54"/>
          <p:cNvCxnSpPr/>
          <p:nvPr/>
        </p:nvCxnSpPr>
        <p:spPr>
          <a:xfrm>
            <a:off x="9820656" y="3282696"/>
            <a:ext cx="0" cy="201168"/>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a:off x="8220456" y="3483864"/>
            <a:ext cx="1600200"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8220456" y="3483864"/>
            <a:ext cx="0" cy="112014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8220456" y="3936491"/>
            <a:ext cx="192024"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8220456" y="4604004"/>
            <a:ext cx="192024"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sp>
        <p:nvSpPr>
          <p:cNvPr id="60" name="Rounded Rectangle 59"/>
          <p:cNvSpPr/>
          <p:nvPr/>
        </p:nvSpPr>
        <p:spPr>
          <a:xfrm>
            <a:off x="9624060" y="3355848"/>
            <a:ext cx="393192" cy="256032"/>
          </a:xfrm>
          <a:prstGeom prst="roundRect">
            <a:avLst/>
          </a:prstGeom>
          <a:solidFill>
            <a:srgbClr val="F2F5F7"/>
          </a:solidFill>
          <a:ln w="10795">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Attack tree: OR"/>
          <p:cNvSpPr txBox="1"/>
          <p:nvPr/>
        </p:nvSpPr>
        <p:spPr>
          <a:xfrm>
            <a:off x="9646920" y="3369564"/>
            <a:ext cx="347472" cy="228600"/>
          </a:xfrm>
          <a:prstGeom prst="rect">
            <a:avLst/>
          </a:prstGeom>
          <a:noFill/>
        </p:spPr>
        <p:txBody>
          <a:bodyPr wrap="square" lIns="0" rIns="0" tIns="0" bIns="0" anchor="ctr">
            <a:spAutoFit/>
          </a:bodyPr>
          <a:lstStyle/>
          <a:p>
            <a:pPr algn="ctr"/>
            <a:r>
              <a:rPr sz="1050" b="1" lang="en-US">
                <a:solidFill>
                  <a:srgbClr val="263440"/>
                </a:solidFill>
                <a:latin typeface="Arial"/>
              </a:rPr>
              <a:t>OR</a:t>
            </a:r>
          </a:p>
        </p:txBody>
      </p:sp>
      <p:sp>
        <p:nvSpPr>
          <p:cNvPr id="62" name="Rounded Rectangle 61"/>
          <p:cNvSpPr/>
          <p:nvPr/>
        </p:nvSpPr>
        <p:spPr>
          <a:xfrm>
            <a:off x="8412480" y="3657600"/>
            <a:ext cx="2971800" cy="557784"/>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Attack tree: T4 · Get substituted or stale artifacts accepted"/>
          <p:cNvSpPr txBox="1"/>
          <p:nvPr/>
        </p:nvSpPr>
        <p:spPr>
          <a:xfrm>
            <a:off x="8531352" y="3703320"/>
            <a:ext cx="2734056" cy="466344"/>
          </a:xfrm>
          <a:prstGeom prst="rect">
            <a:avLst/>
          </a:prstGeom>
          <a:noFill/>
        </p:spPr>
        <p:txBody>
          <a:bodyPr wrap="square" lIns="0" rIns="0" tIns="0" bIns="0" anchor="ctr">
            <a:spAutoFit/>
          </a:bodyPr>
          <a:lstStyle/>
          <a:p>
            <a:pPr algn="l"/>
            <a:r>
              <a:rPr sz="1300" b="0" lang="en-US">
                <a:solidFill>
                  <a:srgbClr val="263440"/>
                </a:solidFill>
                <a:latin typeface="Arial"/>
              </a:rPr>
              <a:t>T4 · Get substituted or stale artifacts accepted</a:t>
            </a:r>
          </a:p>
        </p:txBody>
      </p:sp>
      <p:sp>
        <p:nvSpPr>
          <p:cNvPr id="64" name="Rounded Rectangle 63"/>
          <p:cNvSpPr/>
          <p:nvPr/>
        </p:nvSpPr>
        <p:spPr>
          <a:xfrm>
            <a:off x="8412480" y="4325112"/>
            <a:ext cx="2971800" cy="557784"/>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Attack tree: T6 · Publish while omitting an accepted update"/>
          <p:cNvSpPr txBox="1"/>
          <p:nvPr/>
        </p:nvSpPr>
        <p:spPr>
          <a:xfrm>
            <a:off x="8531352" y="4370832"/>
            <a:ext cx="2734056" cy="466344"/>
          </a:xfrm>
          <a:prstGeom prst="rect">
            <a:avLst/>
          </a:prstGeom>
          <a:noFill/>
        </p:spPr>
        <p:txBody>
          <a:bodyPr wrap="square" lIns="0" rIns="0" tIns="0" bIns="0" anchor="ctr">
            <a:spAutoFit/>
          </a:bodyPr>
          <a:lstStyle/>
          <a:p>
            <a:pPr algn="l"/>
            <a:r>
              <a:rPr sz="1300" b="0" lang="en-US">
                <a:solidFill>
                  <a:srgbClr val="263440"/>
                </a:solidFill>
                <a:latin typeface="Arial"/>
              </a:rPr>
              <a:t>T6 · Publish while omitting an accepted update</a:t>
            </a:r>
          </a:p>
        </p:txBody>
      </p:sp>
      <p:cxnSp>
        <p:nvCxnSpPr>
          <p:cNvPr id="66" name="Connector 65"/>
          <p:cNvCxnSpPr/>
          <p:nvPr/>
        </p:nvCxnSpPr>
        <p:spPr>
          <a:xfrm>
            <a:off x="8257031" y="4965192"/>
            <a:ext cx="3127249" cy="0"/>
          </a:xfrm>
          <a:prstGeom prst="line">
            <a:avLst/>
          </a:prstGeom>
          <a:ln w="7620">
            <a:solidFill>
              <a:srgbClr val="1764A1"/>
            </a:solidFill>
          </a:ln>
        </p:spPr>
        <p:style>
          <a:lnRef idx="2">
            <a:schemeClr val="accent1"/>
          </a:lnRef>
          <a:fillRef idx="0">
            <a:schemeClr val="accent1"/>
          </a:fillRef>
          <a:effectRef idx="1">
            <a:schemeClr val="accent1"/>
          </a:effectRef>
          <a:fontRef idx="minor">
            <a:schemeClr val="tx1"/>
          </a:fontRef>
        </p:style>
      </p:cxnSp>
      <p:sp>
        <p:nvSpPr>
          <p:cNvPr id="67" name="Attack tree: Requirements: F4 · F5"/>
          <p:cNvSpPr txBox="1"/>
          <p:nvPr/>
        </p:nvSpPr>
        <p:spPr>
          <a:xfrm>
            <a:off x="8257031" y="5020056"/>
            <a:ext cx="3127248" cy="246888"/>
          </a:xfrm>
          <a:prstGeom prst="rect">
            <a:avLst/>
          </a:prstGeom>
          <a:noFill/>
        </p:spPr>
        <p:txBody>
          <a:bodyPr wrap="square" lIns="0" rIns="0" tIns="0" bIns="0" anchor="ctr">
            <a:spAutoFit/>
          </a:bodyPr>
          <a:lstStyle/>
          <a:p>
            <a:pPr algn="l"/>
            <a:r>
              <a:rPr sz="1050" b="0" lang="en-US">
                <a:solidFill>
                  <a:srgbClr val="1764A1"/>
                </a:solidFill>
                <a:latin typeface="Arial"/>
              </a:rPr>
              <a:t>Requirements: F4 · F5</a:t>
            </a:r>
          </a:p>
        </p:txBody>
      </p:sp>
      <p:sp>
        <p:nvSpPr>
          <p:cNvPr id="68" name="Attack tree: OR = any child · AND = all children · T-identifiers refer to Chapter 4.  Amber: residual risk or assumption boundary."/>
          <p:cNvSpPr txBox="1"/>
          <p:nvPr/>
        </p:nvSpPr>
        <p:spPr>
          <a:xfrm>
            <a:off x="658368" y="5486400"/>
            <a:ext cx="10881360" cy="246888"/>
          </a:xfrm>
          <a:prstGeom prst="rect">
            <a:avLst/>
          </a:prstGeom>
          <a:noFill/>
        </p:spPr>
        <p:txBody>
          <a:bodyPr wrap="square" lIns="0" rIns="0" tIns="0" bIns="0" anchor="ctr">
            <a:spAutoFit/>
          </a:bodyPr>
          <a:lstStyle/>
          <a:p>
            <a:pPr algn="l"/>
            <a:r>
              <a:rPr sz="1110" b="0" lang="en-US">
                <a:solidFill>
                  <a:srgbClr val="65737D"/>
                </a:solidFill>
                <a:latin typeface="Arial"/>
              </a:rPr>
              <a:t>OR = any child · AND = all children · T-identifiers refer to Chapter 4.  Amber: residual risk or assumption boundary.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400" b="0" lang="en-US">
                <a:solidFill>
                  <a:srgbClr val="434343"/>
                </a:solidFill>
                <a:latin typeface="Arial"/>
              </a:rPr>
              <a:t>Attack tree: inference and agent integrity</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CHAPTER 4 · ATTACK TREE 2 / 4 · LOOK C</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100584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C · Tree 2</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sp>
        <p:nvSpPr>
          <p:cNvPr id="8"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DFL badge"/>
          <p:cNvSpPr/>
          <p:nvPr/>
        </p:nvSpPr>
        <p:spPr>
          <a:xfrm>
            <a:off x="9509760" y="502920"/>
            <a:ext cx="411480" cy="228600"/>
          </a:xfrm>
          <a:prstGeom prst="rect">
            <a:avLst/>
          </a:prstGeom>
          <a:solidFill>
            <a:srgbClr val="F5F6F7"/>
          </a:solidFill>
          <a:ln w="6985">
            <a:solidFill>
              <a:srgbClr val="D7D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5D6973"/>
                </a:solidFill>
                <a:latin typeface="Arial"/>
              </a:rPr>
              <a:t>DFL</a:t>
            </a:r>
          </a:p>
        </p:txBody>
      </p:sp>
      <p:sp>
        <p:nvSpPr>
          <p:cNvPr id="11" name="Domain navigation: Agent badge"/>
          <p:cNvSpPr/>
          <p:nvPr/>
        </p:nvSpPr>
        <p:spPr>
          <a:xfrm>
            <a:off x="9982200" y="502920"/>
            <a:ext cx="502920" cy="228600"/>
          </a:xfrm>
          <a:prstGeom prst="rect">
            <a:avLst/>
          </a:prstGeom>
          <a:solidFill>
            <a:srgbClr val="1764A1"/>
          </a:solidFill>
          <a:ln w="6985">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FFFFFF"/>
                </a:solidFill>
                <a:latin typeface="Arial"/>
              </a:rPr>
              <a:t>Agent</a:t>
            </a:r>
          </a:p>
        </p:txBody>
      </p:sp>
      <p:cxnSp>
        <p:nvCxnSpPr>
          <p:cNvPr id="13" name="Connector 12"/>
          <p:cNvCxnSpPr/>
          <p:nvPr/>
        </p:nvCxnSpPr>
        <p:spPr>
          <a:xfrm>
            <a:off x="6099048" y="1956816"/>
            <a:ext cx="0" cy="530352"/>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2377440" y="2487168"/>
            <a:ext cx="7443216" cy="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377440" y="2487168"/>
            <a:ext cx="0" cy="18288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099048" y="2487168"/>
            <a:ext cx="0" cy="18288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820656" y="2487168"/>
            <a:ext cx="0" cy="18288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640080" y="1408176"/>
            <a:ext cx="10908792" cy="548640"/>
          </a:xfrm>
          <a:prstGeom prst="rect">
            <a:avLst/>
          </a:prstGeom>
          <a:solidFill>
            <a:srgbClr val="FBECEF"/>
          </a:solidFill>
          <a:ln>
            <a:solidFill>
              <a:srgbClr val="FBEC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Attack tree: ATTACKER GOAL"/>
          <p:cNvSpPr txBox="1"/>
          <p:nvPr/>
        </p:nvSpPr>
        <p:spPr>
          <a:xfrm>
            <a:off x="850392" y="1572768"/>
            <a:ext cx="1673352" cy="210312"/>
          </a:xfrm>
          <a:prstGeom prst="rect">
            <a:avLst/>
          </a:prstGeom>
          <a:noFill/>
        </p:spPr>
        <p:txBody>
          <a:bodyPr wrap="square" lIns="0" rIns="0" tIns="0" bIns="0" anchor="ctr">
            <a:spAutoFit/>
          </a:bodyPr>
          <a:lstStyle/>
          <a:p>
            <a:pPr algn="l"/>
            <a:r>
              <a:rPr sz="1050" b="1" lang="en-US">
                <a:solidFill>
                  <a:srgbClr val="C40D1E"/>
                </a:solidFill>
                <a:latin typeface="Arial"/>
              </a:rPr>
              <a:t>ATTACKER GOAL</a:t>
            </a:r>
          </a:p>
        </p:txBody>
      </p:sp>
      <p:sp>
        <p:nvSpPr>
          <p:cNvPr id="20" name="Attack tree: Accept a misbound or unverified result"/>
          <p:cNvSpPr txBox="1"/>
          <p:nvPr/>
        </p:nvSpPr>
        <p:spPr>
          <a:xfrm>
            <a:off x="2697480" y="1495044"/>
            <a:ext cx="8595360" cy="356616"/>
          </a:xfrm>
          <a:prstGeom prst="rect">
            <a:avLst/>
          </a:prstGeom>
          <a:noFill/>
        </p:spPr>
        <p:txBody>
          <a:bodyPr wrap="square" lIns="0" rIns="0" tIns="0" bIns="0" anchor="ctr">
            <a:spAutoFit/>
          </a:bodyPr>
          <a:lstStyle/>
          <a:p>
            <a:pPr algn="l"/>
            <a:r>
              <a:rPr sz="1900" b="1" lang="en-US">
                <a:solidFill>
                  <a:srgbClr val="C40D1E"/>
                </a:solidFill>
                <a:latin typeface="Arial"/>
              </a:rPr>
              <a:t>Accept a misbound or unverified result</a:t>
            </a:r>
          </a:p>
        </p:txBody>
      </p:sp>
      <p:sp>
        <p:nvSpPr>
          <p:cNvPr id="21" name="Rounded Rectangle 20"/>
          <p:cNvSpPr/>
          <p:nvPr/>
        </p:nvSpPr>
        <p:spPr>
          <a:xfrm>
            <a:off x="5902452" y="2103120"/>
            <a:ext cx="393192" cy="256032"/>
          </a:xfrm>
          <a:prstGeom prst="roundRect">
            <a:avLst/>
          </a:prstGeom>
          <a:solidFill>
            <a:srgbClr val="F2F5F7"/>
          </a:solidFill>
          <a:ln w="10795">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ttack tree: OR"/>
          <p:cNvSpPr txBox="1"/>
          <p:nvPr/>
        </p:nvSpPr>
        <p:spPr>
          <a:xfrm>
            <a:off x="5925312" y="2116836"/>
            <a:ext cx="347472" cy="228600"/>
          </a:xfrm>
          <a:prstGeom prst="rect">
            <a:avLst/>
          </a:prstGeom>
          <a:noFill/>
        </p:spPr>
        <p:txBody>
          <a:bodyPr wrap="square" lIns="0" rIns="0" tIns="0" bIns="0" anchor="ctr">
            <a:spAutoFit/>
          </a:bodyPr>
          <a:lstStyle/>
          <a:p>
            <a:pPr algn="ctr"/>
            <a:r>
              <a:rPr sz="1050" b="1" lang="en-US">
                <a:solidFill>
                  <a:srgbClr val="263440"/>
                </a:solidFill>
                <a:latin typeface="Arial"/>
              </a:rPr>
              <a:t>OR</a:t>
            </a:r>
          </a:p>
        </p:txBody>
      </p:sp>
      <p:sp>
        <p:nvSpPr>
          <p:cNvPr id="23" name="Rounded Rectangle 22"/>
          <p:cNvSpPr/>
          <p:nvPr/>
        </p:nvSpPr>
        <p:spPr>
          <a:xfrm>
            <a:off x="640080" y="2670048"/>
            <a:ext cx="3474720" cy="2651760"/>
          </a:xfrm>
          <a:prstGeom prst="roundRect">
            <a:avLst/>
          </a:prstGeom>
          <a:solidFill>
            <a:srgbClr val="EDF4FA"/>
          </a:solidFill>
          <a:ln>
            <a:solidFill>
              <a:srgbClr val="ED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Attack tree: Substitute bound objects"/>
          <p:cNvSpPr txBox="1"/>
          <p:nvPr/>
        </p:nvSpPr>
        <p:spPr>
          <a:xfrm>
            <a:off x="813815" y="2770632"/>
            <a:ext cx="3127248" cy="484632"/>
          </a:xfrm>
          <a:prstGeom prst="rect">
            <a:avLst/>
          </a:prstGeom>
          <a:noFill/>
        </p:spPr>
        <p:txBody>
          <a:bodyPr wrap="square" lIns="0" rIns="0" tIns="0" bIns="0" anchor="ctr">
            <a:spAutoFit/>
          </a:bodyPr>
          <a:lstStyle/>
          <a:p>
            <a:pPr algn="l"/>
            <a:r>
              <a:rPr sz="1550" b="1" lang="en-US">
                <a:solidFill>
                  <a:srgbClr val="1764A1"/>
                </a:solidFill>
                <a:latin typeface="Arial"/>
              </a:rPr>
              <a:t>Substitute bound objects</a:t>
            </a:r>
          </a:p>
        </p:txBody>
      </p:sp>
      <p:cxnSp>
        <p:nvCxnSpPr>
          <p:cNvPr id="25" name="Connector 24"/>
          <p:cNvCxnSpPr/>
          <p:nvPr/>
        </p:nvCxnSpPr>
        <p:spPr>
          <a:xfrm>
            <a:off x="2377440" y="3282696"/>
            <a:ext cx="0" cy="201168"/>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777240" y="3483864"/>
            <a:ext cx="1600200"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77240" y="3483864"/>
            <a:ext cx="0" cy="112014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77240" y="3936491"/>
            <a:ext cx="192024"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777240" y="4604004"/>
            <a:ext cx="192024"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2180844" y="3355848"/>
            <a:ext cx="393192" cy="256032"/>
          </a:xfrm>
          <a:prstGeom prst="roundRect">
            <a:avLst/>
          </a:prstGeom>
          <a:solidFill>
            <a:srgbClr val="F2F5F7"/>
          </a:solidFill>
          <a:ln w="10795">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Attack tree: OR"/>
          <p:cNvSpPr txBox="1"/>
          <p:nvPr/>
        </p:nvSpPr>
        <p:spPr>
          <a:xfrm>
            <a:off x="2203704" y="3369564"/>
            <a:ext cx="347472" cy="228600"/>
          </a:xfrm>
          <a:prstGeom prst="rect">
            <a:avLst/>
          </a:prstGeom>
          <a:noFill/>
        </p:spPr>
        <p:txBody>
          <a:bodyPr wrap="square" lIns="0" rIns="0" tIns="0" bIns="0" anchor="ctr">
            <a:spAutoFit/>
          </a:bodyPr>
          <a:lstStyle/>
          <a:p>
            <a:pPr algn="ctr"/>
            <a:r>
              <a:rPr sz="1050" b="1" lang="en-US">
                <a:solidFill>
                  <a:srgbClr val="263440"/>
                </a:solidFill>
                <a:latin typeface="Arial"/>
              </a:rPr>
              <a:t>OR</a:t>
            </a:r>
          </a:p>
        </p:txBody>
      </p:sp>
      <p:sp>
        <p:nvSpPr>
          <p:cNvPr id="32" name="Rounded Rectangle 31"/>
          <p:cNvSpPr/>
          <p:nvPr/>
        </p:nvSpPr>
        <p:spPr>
          <a:xfrm>
            <a:off x="969264" y="3657600"/>
            <a:ext cx="2971800" cy="557784"/>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Attack tree: T8 · Get an answer for the wrong model/input accepted"/>
          <p:cNvSpPr txBox="1"/>
          <p:nvPr/>
        </p:nvSpPr>
        <p:spPr>
          <a:xfrm>
            <a:off x="1088136" y="3703320"/>
            <a:ext cx="2734056" cy="466344"/>
          </a:xfrm>
          <a:prstGeom prst="rect">
            <a:avLst/>
          </a:prstGeom>
          <a:noFill/>
        </p:spPr>
        <p:txBody>
          <a:bodyPr wrap="square" lIns="0" rIns="0" tIns="0" bIns="0" anchor="ctr">
            <a:spAutoFit/>
          </a:bodyPr>
          <a:lstStyle/>
          <a:p>
            <a:pPr algn="l"/>
            <a:r>
              <a:rPr sz="1300" b="0" lang="en-US">
                <a:solidFill>
                  <a:srgbClr val="263440"/>
                </a:solidFill>
                <a:latin typeface="Arial"/>
              </a:rPr>
              <a:t>T8 · Get an answer for the wrong model/input accepted</a:t>
            </a:r>
          </a:p>
        </p:txBody>
      </p:sp>
      <p:sp>
        <p:nvSpPr>
          <p:cNvPr id="34" name="Rounded Rectangle 33"/>
          <p:cNvSpPr/>
          <p:nvPr/>
        </p:nvSpPr>
        <p:spPr>
          <a:xfrm>
            <a:off x="969264" y="4325112"/>
            <a:ext cx="2971800" cy="557784"/>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Attack tree: T8 · Pass unrelated output/evidence as verified"/>
          <p:cNvSpPr txBox="1"/>
          <p:nvPr/>
        </p:nvSpPr>
        <p:spPr>
          <a:xfrm>
            <a:off x="1088136" y="4370832"/>
            <a:ext cx="2734056" cy="466344"/>
          </a:xfrm>
          <a:prstGeom prst="rect">
            <a:avLst/>
          </a:prstGeom>
          <a:noFill/>
        </p:spPr>
        <p:txBody>
          <a:bodyPr wrap="square" lIns="0" rIns="0" tIns="0" bIns="0" anchor="ctr">
            <a:spAutoFit/>
          </a:bodyPr>
          <a:lstStyle/>
          <a:p>
            <a:pPr algn="l"/>
            <a:r>
              <a:rPr sz="1300" b="0" lang="en-US">
                <a:solidFill>
                  <a:srgbClr val="263440"/>
                </a:solidFill>
                <a:latin typeface="Arial"/>
              </a:rPr>
              <a:t>T8 · Pass unrelated output/evidence as verified</a:t>
            </a:r>
          </a:p>
        </p:txBody>
      </p:sp>
      <p:cxnSp>
        <p:nvCxnSpPr>
          <p:cNvPr id="36" name="Connector 35"/>
          <p:cNvCxnSpPr/>
          <p:nvPr/>
        </p:nvCxnSpPr>
        <p:spPr>
          <a:xfrm>
            <a:off x="813815" y="4965192"/>
            <a:ext cx="3127248" cy="0"/>
          </a:xfrm>
          <a:prstGeom prst="line">
            <a:avLst/>
          </a:prstGeom>
          <a:ln w="7620">
            <a:solidFill>
              <a:srgbClr val="1764A1"/>
            </a:solidFill>
          </a:ln>
        </p:spPr>
        <p:style>
          <a:lnRef idx="2">
            <a:schemeClr val="accent1"/>
          </a:lnRef>
          <a:fillRef idx="0">
            <a:schemeClr val="accent1"/>
          </a:fillRef>
          <a:effectRef idx="1">
            <a:schemeClr val="accent1"/>
          </a:effectRef>
          <a:fontRef idx="minor">
            <a:schemeClr val="tx1"/>
          </a:fontRef>
        </p:style>
      </p:cxnSp>
      <p:sp>
        <p:nvSpPr>
          <p:cNvPr id="37" name="Attack tree: Requirements: F5 · F6 · F10 · F11"/>
          <p:cNvSpPr txBox="1"/>
          <p:nvPr/>
        </p:nvSpPr>
        <p:spPr>
          <a:xfrm>
            <a:off x="813815" y="5020056"/>
            <a:ext cx="3127248" cy="246888"/>
          </a:xfrm>
          <a:prstGeom prst="rect">
            <a:avLst/>
          </a:prstGeom>
          <a:noFill/>
        </p:spPr>
        <p:txBody>
          <a:bodyPr wrap="square" lIns="0" rIns="0" tIns="0" bIns="0" anchor="ctr">
            <a:spAutoFit/>
          </a:bodyPr>
          <a:lstStyle/>
          <a:p>
            <a:pPr algn="l"/>
            <a:r>
              <a:rPr sz="1050" b="0" lang="en-US">
                <a:solidFill>
                  <a:srgbClr val="1764A1"/>
                </a:solidFill>
                <a:latin typeface="Arial"/>
              </a:rPr>
              <a:t>Requirements: F5 · F6 · F10 · F11</a:t>
            </a:r>
          </a:p>
        </p:txBody>
      </p:sp>
      <p:sp>
        <p:nvSpPr>
          <p:cNvPr id="38" name="Rounded Rectangle 37"/>
          <p:cNvSpPr/>
          <p:nvPr/>
        </p:nvSpPr>
        <p:spPr>
          <a:xfrm>
            <a:off x="4361688" y="2670048"/>
            <a:ext cx="3474720" cy="2651760"/>
          </a:xfrm>
          <a:prstGeom prst="roundRect">
            <a:avLst/>
          </a:prstGeom>
          <a:solidFill>
            <a:srgbClr val="FFF5E5"/>
          </a:solidFill>
          <a:ln>
            <a:solidFill>
              <a:srgbClr val="FFF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Attack tree: Replay an earlier context"/>
          <p:cNvSpPr txBox="1"/>
          <p:nvPr/>
        </p:nvSpPr>
        <p:spPr>
          <a:xfrm>
            <a:off x="4535424" y="2770632"/>
            <a:ext cx="3127248" cy="484632"/>
          </a:xfrm>
          <a:prstGeom prst="rect">
            <a:avLst/>
          </a:prstGeom>
          <a:noFill/>
        </p:spPr>
        <p:txBody>
          <a:bodyPr wrap="square" lIns="0" rIns="0" tIns="0" bIns="0" anchor="ctr">
            <a:spAutoFit/>
          </a:bodyPr>
          <a:lstStyle/>
          <a:p>
            <a:pPr algn="l"/>
            <a:r>
              <a:rPr sz="1550" b="1" lang="en-US">
                <a:solidFill>
                  <a:srgbClr val="9A6100"/>
                </a:solidFill>
                <a:latin typeface="Arial"/>
              </a:rPr>
              <a:t>Replay an earlier context</a:t>
            </a:r>
          </a:p>
        </p:txBody>
      </p:sp>
      <p:cxnSp>
        <p:nvCxnSpPr>
          <p:cNvPr id="40" name="Connector 39"/>
          <p:cNvCxnSpPr/>
          <p:nvPr/>
        </p:nvCxnSpPr>
        <p:spPr>
          <a:xfrm>
            <a:off x="6099048" y="3282696"/>
            <a:ext cx="0" cy="201168"/>
          </a:xfrm>
          <a:prstGeom prst="line">
            <a:avLst/>
          </a:prstGeom>
          <a:ln w="15240">
            <a:solidFill>
              <a:srgbClr val="9A6100"/>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a:off x="4498848" y="3483864"/>
            <a:ext cx="1600200" cy="0"/>
          </a:xfrm>
          <a:prstGeom prst="line">
            <a:avLst/>
          </a:prstGeom>
          <a:ln w="15240">
            <a:solidFill>
              <a:srgbClr val="9A6100"/>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4498848" y="3483864"/>
            <a:ext cx="0" cy="1120140"/>
          </a:xfrm>
          <a:prstGeom prst="line">
            <a:avLst/>
          </a:prstGeom>
          <a:ln w="15240">
            <a:solidFill>
              <a:srgbClr val="9A6100"/>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4498848" y="3936491"/>
            <a:ext cx="192024" cy="0"/>
          </a:xfrm>
          <a:prstGeom prst="line">
            <a:avLst/>
          </a:prstGeom>
          <a:ln w="15240">
            <a:solidFill>
              <a:srgbClr val="9A6100"/>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4498848" y="4604004"/>
            <a:ext cx="192024" cy="0"/>
          </a:xfrm>
          <a:prstGeom prst="line">
            <a:avLst/>
          </a:prstGeom>
          <a:ln w="15240">
            <a:solidFill>
              <a:srgbClr val="9A6100"/>
            </a:solidFill>
          </a:ln>
        </p:spPr>
        <p:style>
          <a:lnRef idx="2">
            <a:schemeClr val="accent1"/>
          </a:lnRef>
          <a:fillRef idx="0">
            <a:schemeClr val="accent1"/>
          </a:fillRef>
          <a:effectRef idx="1">
            <a:schemeClr val="accent1"/>
          </a:effectRef>
          <a:fontRef idx="minor">
            <a:schemeClr val="tx1"/>
          </a:fontRef>
        </p:style>
      </p:cxnSp>
      <p:sp>
        <p:nvSpPr>
          <p:cNvPr id="45" name="Rounded Rectangle 44"/>
          <p:cNvSpPr/>
          <p:nvPr/>
        </p:nvSpPr>
        <p:spPr>
          <a:xfrm>
            <a:off x="5902452" y="3355848"/>
            <a:ext cx="393192" cy="256032"/>
          </a:xfrm>
          <a:prstGeom prst="roundRect">
            <a:avLst/>
          </a:prstGeom>
          <a:solidFill>
            <a:srgbClr val="F2F5F7"/>
          </a:solidFill>
          <a:ln w="10795">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Attack tree: OR"/>
          <p:cNvSpPr txBox="1"/>
          <p:nvPr/>
        </p:nvSpPr>
        <p:spPr>
          <a:xfrm>
            <a:off x="5925312" y="3369564"/>
            <a:ext cx="347472" cy="228600"/>
          </a:xfrm>
          <a:prstGeom prst="rect">
            <a:avLst/>
          </a:prstGeom>
          <a:noFill/>
        </p:spPr>
        <p:txBody>
          <a:bodyPr wrap="square" lIns="0" rIns="0" tIns="0" bIns="0" anchor="ctr">
            <a:spAutoFit/>
          </a:bodyPr>
          <a:lstStyle/>
          <a:p>
            <a:pPr algn="ctr"/>
            <a:r>
              <a:rPr sz="1050" b="1" lang="en-US">
                <a:solidFill>
                  <a:srgbClr val="263440"/>
                </a:solidFill>
                <a:latin typeface="Arial"/>
              </a:rPr>
              <a:t>OR</a:t>
            </a:r>
          </a:p>
        </p:txBody>
      </p:sp>
      <p:sp>
        <p:nvSpPr>
          <p:cNvPr id="47" name="Rounded Rectangle 46"/>
          <p:cNvSpPr/>
          <p:nvPr/>
        </p:nvSpPr>
        <p:spPr>
          <a:xfrm>
            <a:off x="4690872" y="3657600"/>
            <a:ext cx="2971800" cy="557784"/>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Attack tree: T2 · Get stale request/job context accepted"/>
          <p:cNvSpPr txBox="1"/>
          <p:nvPr/>
        </p:nvSpPr>
        <p:spPr>
          <a:xfrm>
            <a:off x="4809744" y="3703320"/>
            <a:ext cx="2734056" cy="466344"/>
          </a:xfrm>
          <a:prstGeom prst="rect">
            <a:avLst/>
          </a:prstGeom>
          <a:noFill/>
        </p:spPr>
        <p:txBody>
          <a:bodyPr wrap="square" lIns="0" rIns="0" tIns="0" bIns="0" anchor="ctr">
            <a:spAutoFit/>
          </a:bodyPr>
          <a:lstStyle/>
          <a:p>
            <a:pPr algn="l"/>
            <a:r>
              <a:rPr sz="1300" b="0" lang="en-US">
                <a:solidFill>
                  <a:srgbClr val="263440"/>
                </a:solidFill>
                <a:latin typeface="Arial"/>
              </a:rPr>
              <a:t>T2 · Get stale request/job context accepted</a:t>
            </a:r>
          </a:p>
        </p:txBody>
      </p:sp>
      <p:sp>
        <p:nvSpPr>
          <p:cNvPr id="49" name="Rounded Rectangle 48"/>
          <p:cNvSpPr/>
          <p:nvPr/>
        </p:nvSpPr>
        <p:spPr>
          <a:xfrm>
            <a:off x="4690872" y="4325112"/>
            <a:ext cx="2971800" cy="557784"/>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Attack tree: T2 · Get another session's receipt accepted"/>
          <p:cNvSpPr txBox="1"/>
          <p:nvPr/>
        </p:nvSpPr>
        <p:spPr>
          <a:xfrm>
            <a:off x="4809744" y="4370832"/>
            <a:ext cx="2734056" cy="466344"/>
          </a:xfrm>
          <a:prstGeom prst="rect">
            <a:avLst/>
          </a:prstGeom>
          <a:noFill/>
        </p:spPr>
        <p:txBody>
          <a:bodyPr wrap="square" lIns="0" rIns="0" tIns="0" bIns="0" anchor="ctr">
            <a:spAutoFit/>
          </a:bodyPr>
          <a:lstStyle/>
          <a:p>
            <a:pPr algn="l"/>
            <a:r>
              <a:rPr sz="1300" b="0" lang="en-US">
                <a:solidFill>
                  <a:srgbClr val="263440"/>
                </a:solidFill>
                <a:latin typeface="Arial"/>
              </a:rPr>
              <a:t>T2 · Get another session's receipt accepted</a:t>
            </a:r>
          </a:p>
        </p:txBody>
      </p:sp>
      <p:cxnSp>
        <p:nvCxnSpPr>
          <p:cNvPr id="51" name="Connector 50"/>
          <p:cNvCxnSpPr/>
          <p:nvPr/>
        </p:nvCxnSpPr>
        <p:spPr>
          <a:xfrm>
            <a:off x="4535424" y="4965192"/>
            <a:ext cx="3127247" cy="0"/>
          </a:xfrm>
          <a:prstGeom prst="line">
            <a:avLst/>
          </a:prstGeom>
          <a:ln w="7620">
            <a:solidFill>
              <a:srgbClr val="9A6100"/>
            </a:solidFill>
          </a:ln>
        </p:spPr>
        <p:style>
          <a:lnRef idx="2">
            <a:schemeClr val="accent1"/>
          </a:lnRef>
          <a:fillRef idx="0">
            <a:schemeClr val="accent1"/>
          </a:fillRef>
          <a:effectRef idx="1">
            <a:schemeClr val="accent1"/>
          </a:effectRef>
          <a:fontRef idx="minor">
            <a:schemeClr val="tx1"/>
          </a:fontRef>
        </p:style>
      </p:cxnSp>
      <p:sp>
        <p:nvSpPr>
          <p:cNvPr id="52" name="Attack tree: F11; same-context replay remains open"/>
          <p:cNvSpPr txBox="1"/>
          <p:nvPr/>
        </p:nvSpPr>
        <p:spPr>
          <a:xfrm>
            <a:off x="4535424" y="5020056"/>
            <a:ext cx="3127248" cy="246888"/>
          </a:xfrm>
          <a:prstGeom prst="rect">
            <a:avLst/>
          </a:prstGeom>
          <a:noFill/>
        </p:spPr>
        <p:txBody>
          <a:bodyPr wrap="square" lIns="0" rIns="0" tIns="0" bIns="0" anchor="ctr">
            <a:spAutoFit/>
          </a:bodyPr>
          <a:lstStyle/>
          <a:p>
            <a:pPr algn="l"/>
            <a:r>
              <a:rPr sz="1050" b="0" lang="en-US">
                <a:solidFill>
                  <a:srgbClr val="9A6100"/>
                </a:solidFill>
                <a:latin typeface="Arial"/>
              </a:rPr>
              <a:t>F11; same-context replay remains open</a:t>
            </a:r>
          </a:p>
        </p:txBody>
      </p:sp>
      <p:sp>
        <p:nvSpPr>
          <p:cNvPr id="53" name="Rounded Rectangle 52"/>
          <p:cNvSpPr/>
          <p:nvPr/>
        </p:nvSpPr>
        <p:spPr>
          <a:xfrm>
            <a:off x="8083296" y="2670048"/>
            <a:ext cx="3474720" cy="2651760"/>
          </a:xfrm>
          <a:prstGeom prst="roundRect">
            <a:avLst/>
          </a:prstGeom>
          <a:solidFill>
            <a:srgbClr val="EDF4FA"/>
          </a:solidFill>
          <a:ln>
            <a:solidFill>
              <a:srgbClr val="ED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Attack tree: Manipulate the agent"/>
          <p:cNvSpPr txBox="1"/>
          <p:nvPr/>
        </p:nvSpPr>
        <p:spPr>
          <a:xfrm>
            <a:off x="8257031" y="2770632"/>
            <a:ext cx="3127248" cy="484632"/>
          </a:xfrm>
          <a:prstGeom prst="rect">
            <a:avLst/>
          </a:prstGeom>
          <a:noFill/>
        </p:spPr>
        <p:txBody>
          <a:bodyPr wrap="square" lIns="0" rIns="0" tIns="0" bIns="0" anchor="ctr">
            <a:spAutoFit/>
          </a:bodyPr>
          <a:lstStyle/>
          <a:p>
            <a:pPr algn="l"/>
            <a:r>
              <a:rPr sz="1550" b="1" lang="en-US">
                <a:solidFill>
                  <a:srgbClr val="1764A1"/>
                </a:solidFill>
                <a:latin typeface="Arial"/>
              </a:rPr>
              <a:t>Manipulate the agent</a:t>
            </a:r>
          </a:p>
        </p:txBody>
      </p:sp>
      <p:cxnSp>
        <p:nvCxnSpPr>
          <p:cNvPr id="55" name="Connector 54"/>
          <p:cNvCxnSpPr/>
          <p:nvPr/>
        </p:nvCxnSpPr>
        <p:spPr>
          <a:xfrm>
            <a:off x="9820656" y="3282696"/>
            <a:ext cx="0" cy="201168"/>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a:off x="8220456" y="3483864"/>
            <a:ext cx="1600200"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8220456" y="3483864"/>
            <a:ext cx="0" cy="112014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8220456" y="3936491"/>
            <a:ext cx="192024"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8220456" y="4604004"/>
            <a:ext cx="192024"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sp>
        <p:nvSpPr>
          <p:cNvPr id="60" name="Rounded Rectangle 59"/>
          <p:cNvSpPr/>
          <p:nvPr/>
        </p:nvSpPr>
        <p:spPr>
          <a:xfrm>
            <a:off x="9624060" y="3355848"/>
            <a:ext cx="393192" cy="256032"/>
          </a:xfrm>
          <a:prstGeom prst="roundRect">
            <a:avLst/>
          </a:prstGeom>
          <a:solidFill>
            <a:srgbClr val="F2F5F7"/>
          </a:solidFill>
          <a:ln w="10795">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Attack tree: OR"/>
          <p:cNvSpPr txBox="1"/>
          <p:nvPr/>
        </p:nvSpPr>
        <p:spPr>
          <a:xfrm>
            <a:off x="9646920" y="3369564"/>
            <a:ext cx="347472" cy="228600"/>
          </a:xfrm>
          <a:prstGeom prst="rect">
            <a:avLst/>
          </a:prstGeom>
          <a:noFill/>
        </p:spPr>
        <p:txBody>
          <a:bodyPr wrap="square" lIns="0" rIns="0" tIns="0" bIns="0" anchor="ctr">
            <a:spAutoFit/>
          </a:bodyPr>
          <a:lstStyle/>
          <a:p>
            <a:pPr algn="ctr"/>
            <a:r>
              <a:rPr sz="1050" b="1" lang="en-US">
                <a:solidFill>
                  <a:srgbClr val="263440"/>
                </a:solidFill>
                <a:latin typeface="Arial"/>
              </a:rPr>
              <a:t>OR</a:t>
            </a:r>
          </a:p>
        </p:txBody>
      </p:sp>
      <p:sp>
        <p:nvSpPr>
          <p:cNvPr id="62" name="Rounded Rectangle 61"/>
          <p:cNvSpPr/>
          <p:nvPr/>
        </p:nvSpPr>
        <p:spPr>
          <a:xfrm>
            <a:off x="8412480" y="3657600"/>
            <a:ext cx="2971800" cy="557784"/>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Attack tree: T9 · Get an unverified answer accepted via injection"/>
          <p:cNvSpPr txBox="1"/>
          <p:nvPr/>
        </p:nvSpPr>
        <p:spPr>
          <a:xfrm>
            <a:off x="8531352" y="3703320"/>
            <a:ext cx="2734056" cy="466344"/>
          </a:xfrm>
          <a:prstGeom prst="rect">
            <a:avLst/>
          </a:prstGeom>
          <a:noFill/>
        </p:spPr>
        <p:txBody>
          <a:bodyPr wrap="square" lIns="0" rIns="0" tIns="0" bIns="0" anchor="ctr">
            <a:spAutoFit/>
          </a:bodyPr>
          <a:lstStyle/>
          <a:p>
            <a:pPr algn="l"/>
            <a:r>
              <a:rPr sz="1300" b="0" lang="en-US">
                <a:solidFill>
                  <a:srgbClr val="263440"/>
                </a:solidFill>
                <a:latin typeface="Arial"/>
              </a:rPr>
              <a:t>T9 · Get an unverified answer accepted via injection</a:t>
            </a:r>
          </a:p>
        </p:txBody>
      </p:sp>
      <p:sp>
        <p:nvSpPr>
          <p:cNvPr id="64" name="Rounded Rectangle 63"/>
          <p:cNvSpPr/>
          <p:nvPr/>
        </p:nvSpPr>
        <p:spPr>
          <a:xfrm>
            <a:off x="8412480" y="4325112"/>
            <a:ext cx="2971800" cy="557784"/>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Attack tree: T9 · Get spoofed tool identity/output accepted"/>
          <p:cNvSpPr txBox="1"/>
          <p:nvPr/>
        </p:nvSpPr>
        <p:spPr>
          <a:xfrm>
            <a:off x="8531352" y="4370832"/>
            <a:ext cx="2734056" cy="466344"/>
          </a:xfrm>
          <a:prstGeom prst="rect">
            <a:avLst/>
          </a:prstGeom>
          <a:noFill/>
        </p:spPr>
        <p:txBody>
          <a:bodyPr wrap="square" lIns="0" rIns="0" tIns="0" bIns="0" anchor="ctr">
            <a:spAutoFit/>
          </a:bodyPr>
          <a:lstStyle/>
          <a:p>
            <a:pPr algn="l"/>
            <a:r>
              <a:rPr sz="1300" b="0" lang="en-US">
                <a:solidFill>
                  <a:srgbClr val="263440"/>
                </a:solidFill>
                <a:latin typeface="Arial"/>
              </a:rPr>
              <a:t>T9 · Get spoofed tool identity/output accepted</a:t>
            </a:r>
          </a:p>
        </p:txBody>
      </p:sp>
      <p:cxnSp>
        <p:nvCxnSpPr>
          <p:cNvPr id="66" name="Connector 65"/>
          <p:cNvCxnSpPr/>
          <p:nvPr/>
        </p:nvCxnSpPr>
        <p:spPr>
          <a:xfrm>
            <a:off x="8257031" y="4965192"/>
            <a:ext cx="3127249" cy="0"/>
          </a:xfrm>
          <a:prstGeom prst="line">
            <a:avLst/>
          </a:prstGeom>
          <a:ln w="7620">
            <a:solidFill>
              <a:srgbClr val="1764A1"/>
            </a:solidFill>
          </a:ln>
        </p:spPr>
        <p:style>
          <a:lnRef idx="2">
            <a:schemeClr val="accent1"/>
          </a:lnRef>
          <a:fillRef idx="0">
            <a:schemeClr val="accent1"/>
          </a:fillRef>
          <a:effectRef idx="1">
            <a:schemeClr val="accent1"/>
          </a:effectRef>
          <a:fontRef idx="minor">
            <a:schemeClr val="tx1"/>
          </a:fontRef>
        </p:style>
      </p:cxnSp>
      <p:sp>
        <p:nvSpPr>
          <p:cNvPr id="67" name="Attack tree: Requirements: F8 · NF3"/>
          <p:cNvSpPr txBox="1"/>
          <p:nvPr/>
        </p:nvSpPr>
        <p:spPr>
          <a:xfrm>
            <a:off x="8257031" y="5020056"/>
            <a:ext cx="3127248" cy="246888"/>
          </a:xfrm>
          <a:prstGeom prst="rect">
            <a:avLst/>
          </a:prstGeom>
          <a:noFill/>
        </p:spPr>
        <p:txBody>
          <a:bodyPr wrap="square" lIns="0" rIns="0" tIns="0" bIns="0" anchor="ctr">
            <a:spAutoFit/>
          </a:bodyPr>
          <a:lstStyle/>
          <a:p>
            <a:pPr algn="l"/>
            <a:r>
              <a:rPr sz="1050" b="0" lang="en-US">
                <a:solidFill>
                  <a:srgbClr val="1764A1"/>
                </a:solidFill>
                <a:latin typeface="Arial"/>
              </a:rPr>
              <a:t>Requirements: F8 · NF3</a:t>
            </a:r>
          </a:p>
        </p:txBody>
      </p:sp>
      <p:sp>
        <p:nvSpPr>
          <p:cNvPr id="68" name="Attack tree: OR = any child · AND = all children · T-identifiers refer to Chapter 4.  Amber: residual risk or assumption boundary."/>
          <p:cNvSpPr txBox="1"/>
          <p:nvPr/>
        </p:nvSpPr>
        <p:spPr>
          <a:xfrm>
            <a:off x="658368" y="5486400"/>
            <a:ext cx="10881360" cy="246888"/>
          </a:xfrm>
          <a:prstGeom prst="rect">
            <a:avLst/>
          </a:prstGeom>
          <a:noFill/>
        </p:spPr>
        <p:txBody>
          <a:bodyPr wrap="square" lIns="0" rIns="0" tIns="0" bIns="0" anchor="ctr">
            <a:spAutoFit/>
          </a:bodyPr>
          <a:lstStyle/>
          <a:p>
            <a:pPr algn="l"/>
            <a:r>
              <a:rPr sz="1110" b="0" lang="en-US">
                <a:solidFill>
                  <a:srgbClr val="65737D"/>
                </a:solidFill>
                <a:latin typeface="Arial"/>
              </a:rPr>
              <a:t>OR = any child · AND = all children · T-identifiers refer to Chapter 4.  Amber: residual risk or assumption boundary.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400" b="0" lang="en-US">
                <a:solidFill>
                  <a:srgbClr val="434343"/>
                </a:solidFill>
                <a:latin typeface="Arial"/>
              </a:rPr>
              <a:t>Attack tree: progress and auditability</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CHAPTER 4 · ATTACK TREE 3 / 4 · LOOK C</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100584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C · Tree 3</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sp>
        <p:nvSpPr>
          <p:cNvPr id="8"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DFL badge"/>
          <p:cNvSpPr/>
          <p:nvPr/>
        </p:nvSpPr>
        <p:spPr>
          <a:xfrm>
            <a:off x="9509760" y="502920"/>
            <a:ext cx="411480" cy="228600"/>
          </a:xfrm>
          <a:prstGeom prst="rect">
            <a:avLst/>
          </a:prstGeom>
          <a:solidFill>
            <a:srgbClr val="207548"/>
          </a:solidFill>
          <a:ln w="698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FFFFFF"/>
                </a:solidFill>
                <a:latin typeface="Arial"/>
              </a:rPr>
              <a:t>DFL</a:t>
            </a:r>
          </a:p>
        </p:txBody>
      </p:sp>
      <p:sp>
        <p:nvSpPr>
          <p:cNvPr id="11" name="Domain navigation: Agent badge"/>
          <p:cNvSpPr/>
          <p:nvPr/>
        </p:nvSpPr>
        <p:spPr>
          <a:xfrm>
            <a:off x="9982200" y="502920"/>
            <a:ext cx="502920" cy="228600"/>
          </a:xfrm>
          <a:prstGeom prst="rect">
            <a:avLst/>
          </a:prstGeom>
          <a:solidFill>
            <a:srgbClr val="1764A1"/>
          </a:solidFill>
          <a:ln w="6985">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FFFFFF"/>
                </a:solidFill>
                <a:latin typeface="Arial"/>
              </a:rPr>
              <a:t>Agent</a:t>
            </a:r>
          </a:p>
        </p:txBody>
      </p:sp>
      <p:cxnSp>
        <p:nvCxnSpPr>
          <p:cNvPr id="13" name="Connector 12"/>
          <p:cNvCxnSpPr/>
          <p:nvPr/>
        </p:nvCxnSpPr>
        <p:spPr>
          <a:xfrm>
            <a:off x="6099048" y="1956816"/>
            <a:ext cx="0" cy="530352"/>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2377440" y="2487168"/>
            <a:ext cx="7443216" cy="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377440" y="2487168"/>
            <a:ext cx="0" cy="18288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099048" y="2487168"/>
            <a:ext cx="0" cy="18288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820656" y="2487168"/>
            <a:ext cx="0" cy="18288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640080" y="1408176"/>
            <a:ext cx="10908792" cy="548640"/>
          </a:xfrm>
          <a:prstGeom prst="rect">
            <a:avLst/>
          </a:prstGeom>
          <a:solidFill>
            <a:srgbClr val="FBECEF"/>
          </a:solidFill>
          <a:ln>
            <a:solidFill>
              <a:srgbClr val="FBEC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Attack tree: ATTACKER GOAL"/>
          <p:cNvSpPr txBox="1"/>
          <p:nvPr/>
        </p:nvSpPr>
        <p:spPr>
          <a:xfrm>
            <a:off x="850392" y="1572768"/>
            <a:ext cx="1673352" cy="210312"/>
          </a:xfrm>
          <a:prstGeom prst="rect">
            <a:avLst/>
          </a:prstGeom>
          <a:noFill/>
        </p:spPr>
        <p:txBody>
          <a:bodyPr wrap="square" lIns="0" rIns="0" tIns="0" bIns="0" anchor="ctr">
            <a:spAutoFit/>
          </a:bodyPr>
          <a:lstStyle/>
          <a:p>
            <a:pPr algn="l"/>
            <a:r>
              <a:rPr sz="1050" b="1" lang="en-US">
                <a:solidFill>
                  <a:srgbClr val="C40D1E"/>
                </a:solidFill>
                <a:latin typeface="Arial"/>
              </a:rPr>
              <a:t>ATTACKER GOAL</a:t>
            </a:r>
          </a:p>
        </p:txBody>
      </p:sp>
      <p:sp>
        <p:nvSpPr>
          <p:cNvPr id="20" name="Attack tree: Disrupt progress or auditability"/>
          <p:cNvSpPr txBox="1"/>
          <p:nvPr/>
        </p:nvSpPr>
        <p:spPr>
          <a:xfrm>
            <a:off x="2697480" y="1495044"/>
            <a:ext cx="8595360" cy="356616"/>
          </a:xfrm>
          <a:prstGeom prst="rect">
            <a:avLst/>
          </a:prstGeom>
          <a:noFill/>
        </p:spPr>
        <p:txBody>
          <a:bodyPr wrap="square" lIns="0" rIns="0" tIns="0" bIns="0" anchor="ctr">
            <a:spAutoFit/>
          </a:bodyPr>
          <a:lstStyle/>
          <a:p>
            <a:pPr algn="l"/>
            <a:r>
              <a:rPr sz="1900" b="1" lang="en-US">
                <a:solidFill>
                  <a:srgbClr val="C40D1E"/>
                </a:solidFill>
                <a:latin typeface="Arial"/>
              </a:rPr>
              <a:t>Disrupt progress or auditability</a:t>
            </a:r>
          </a:p>
        </p:txBody>
      </p:sp>
      <p:sp>
        <p:nvSpPr>
          <p:cNvPr id="21" name="Rounded Rectangle 20"/>
          <p:cNvSpPr/>
          <p:nvPr/>
        </p:nvSpPr>
        <p:spPr>
          <a:xfrm>
            <a:off x="5902452" y="2103120"/>
            <a:ext cx="393192" cy="256032"/>
          </a:xfrm>
          <a:prstGeom prst="roundRect">
            <a:avLst/>
          </a:prstGeom>
          <a:solidFill>
            <a:srgbClr val="F2F5F7"/>
          </a:solidFill>
          <a:ln w="10795">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ttack tree: OR"/>
          <p:cNvSpPr txBox="1"/>
          <p:nvPr/>
        </p:nvSpPr>
        <p:spPr>
          <a:xfrm>
            <a:off x="5925312" y="2116836"/>
            <a:ext cx="347472" cy="228600"/>
          </a:xfrm>
          <a:prstGeom prst="rect">
            <a:avLst/>
          </a:prstGeom>
          <a:noFill/>
        </p:spPr>
        <p:txBody>
          <a:bodyPr wrap="square" lIns="0" rIns="0" tIns="0" bIns="0" anchor="ctr">
            <a:spAutoFit/>
          </a:bodyPr>
          <a:lstStyle/>
          <a:p>
            <a:pPr algn="ctr"/>
            <a:r>
              <a:rPr sz="1050" b="1" lang="en-US">
                <a:solidFill>
                  <a:srgbClr val="263440"/>
                </a:solidFill>
                <a:latin typeface="Arial"/>
              </a:rPr>
              <a:t>OR</a:t>
            </a:r>
          </a:p>
        </p:txBody>
      </p:sp>
      <p:sp>
        <p:nvSpPr>
          <p:cNvPr id="23" name="Rounded Rectangle 22"/>
          <p:cNvSpPr/>
          <p:nvPr/>
        </p:nvSpPr>
        <p:spPr>
          <a:xfrm>
            <a:off x="640080" y="2670048"/>
            <a:ext cx="3474720" cy="2651760"/>
          </a:xfrm>
          <a:prstGeom prst="roundRect">
            <a:avLst/>
          </a:prstGeom>
          <a:solidFill>
            <a:srgbClr val="FFF5E5"/>
          </a:solidFill>
          <a:ln>
            <a:solidFill>
              <a:srgbClr val="FFF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Attack tree: Stop successful completion"/>
          <p:cNvSpPr txBox="1"/>
          <p:nvPr/>
        </p:nvSpPr>
        <p:spPr>
          <a:xfrm>
            <a:off x="813815" y="2770632"/>
            <a:ext cx="3127248" cy="484632"/>
          </a:xfrm>
          <a:prstGeom prst="rect">
            <a:avLst/>
          </a:prstGeom>
          <a:noFill/>
        </p:spPr>
        <p:txBody>
          <a:bodyPr wrap="square" lIns="0" rIns="0" tIns="0" bIns="0" anchor="ctr">
            <a:spAutoFit/>
          </a:bodyPr>
          <a:lstStyle/>
          <a:p>
            <a:pPr algn="l"/>
            <a:r>
              <a:rPr sz="1550" b="1" lang="en-US">
                <a:solidFill>
                  <a:srgbClr val="9A6100"/>
                </a:solidFill>
                <a:latin typeface="Arial"/>
              </a:rPr>
              <a:t>Stop successful completion</a:t>
            </a:r>
          </a:p>
        </p:txBody>
      </p:sp>
      <p:cxnSp>
        <p:nvCxnSpPr>
          <p:cNvPr id="25" name="Connector 24"/>
          <p:cNvCxnSpPr/>
          <p:nvPr/>
        </p:nvCxnSpPr>
        <p:spPr>
          <a:xfrm>
            <a:off x="2377440" y="3282696"/>
            <a:ext cx="0" cy="201168"/>
          </a:xfrm>
          <a:prstGeom prst="line">
            <a:avLst/>
          </a:prstGeom>
          <a:ln w="15240">
            <a:solidFill>
              <a:srgbClr val="9A6100"/>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777240" y="3483864"/>
            <a:ext cx="1600200" cy="0"/>
          </a:xfrm>
          <a:prstGeom prst="line">
            <a:avLst/>
          </a:prstGeom>
          <a:ln w="15240">
            <a:solidFill>
              <a:srgbClr val="9A61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77240" y="3483864"/>
            <a:ext cx="0" cy="1120140"/>
          </a:xfrm>
          <a:prstGeom prst="line">
            <a:avLst/>
          </a:prstGeom>
          <a:ln w="15240">
            <a:solidFill>
              <a:srgbClr val="9A61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77240" y="3936491"/>
            <a:ext cx="192024" cy="0"/>
          </a:xfrm>
          <a:prstGeom prst="line">
            <a:avLst/>
          </a:prstGeom>
          <a:ln w="15240">
            <a:solidFill>
              <a:srgbClr val="9A610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777240" y="4604004"/>
            <a:ext cx="192024" cy="0"/>
          </a:xfrm>
          <a:prstGeom prst="line">
            <a:avLst/>
          </a:prstGeom>
          <a:ln w="15240">
            <a:solidFill>
              <a:srgbClr val="9A6100"/>
            </a:solidFill>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2180844" y="3355848"/>
            <a:ext cx="393192" cy="256032"/>
          </a:xfrm>
          <a:prstGeom prst="roundRect">
            <a:avLst/>
          </a:prstGeom>
          <a:solidFill>
            <a:srgbClr val="F2F5F7"/>
          </a:solidFill>
          <a:ln w="10795">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Attack tree: OR"/>
          <p:cNvSpPr txBox="1"/>
          <p:nvPr/>
        </p:nvSpPr>
        <p:spPr>
          <a:xfrm>
            <a:off x="2203704" y="3369564"/>
            <a:ext cx="347472" cy="228600"/>
          </a:xfrm>
          <a:prstGeom prst="rect">
            <a:avLst/>
          </a:prstGeom>
          <a:noFill/>
        </p:spPr>
        <p:txBody>
          <a:bodyPr wrap="square" lIns="0" rIns="0" tIns="0" bIns="0" anchor="ctr">
            <a:spAutoFit/>
          </a:bodyPr>
          <a:lstStyle/>
          <a:p>
            <a:pPr algn="ctr"/>
            <a:r>
              <a:rPr sz="1050" b="1" lang="en-US">
                <a:solidFill>
                  <a:srgbClr val="263440"/>
                </a:solidFill>
                <a:latin typeface="Arial"/>
              </a:rPr>
              <a:t>OR</a:t>
            </a:r>
          </a:p>
        </p:txBody>
      </p:sp>
      <p:sp>
        <p:nvSpPr>
          <p:cNvPr id="32" name="Rounded Rectangle 31"/>
          <p:cNvSpPr/>
          <p:nvPr/>
        </p:nvSpPr>
        <p:spPr>
          <a:xfrm>
            <a:off x="969264" y="3657600"/>
            <a:ext cx="2971800" cy="557784"/>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Attack tree: T6 · Stall or withhold aggregation"/>
          <p:cNvSpPr txBox="1"/>
          <p:nvPr/>
        </p:nvSpPr>
        <p:spPr>
          <a:xfrm>
            <a:off x="1088136" y="3703320"/>
            <a:ext cx="2734056" cy="466344"/>
          </a:xfrm>
          <a:prstGeom prst="rect">
            <a:avLst/>
          </a:prstGeom>
          <a:noFill/>
        </p:spPr>
        <p:txBody>
          <a:bodyPr wrap="square" lIns="0" rIns="0" tIns="0" bIns="0" anchor="ctr">
            <a:spAutoFit/>
          </a:bodyPr>
          <a:lstStyle/>
          <a:p>
            <a:pPr algn="l"/>
            <a:r>
              <a:rPr sz="1300" b="0" lang="en-US">
                <a:solidFill>
                  <a:srgbClr val="263440"/>
                </a:solidFill>
                <a:latin typeface="Arial"/>
              </a:rPr>
              <a:t>T6 · Stall or withhold aggregation</a:t>
            </a:r>
          </a:p>
        </p:txBody>
      </p:sp>
      <p:sp>
        <p:nvSpPr>
          <p:cNvPr id="34" name="Rounded Rectangle 33"/>
          <p:cNvSpPr/>
          <p:nvPr/>
        </p:nvSpPr>
        <p:spPr>
          <a:xfrm>
            <a:off x="969264" y="4325112"/>
            <a:ext cx="2971800" cy="557784"/>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Attack tree: T12 · Make shared infrastructure unavailable"/>
          <p:cNvSpPr txBox="1"/>
          <p:nvPr/>
        </p:nvSpPr>
        <p:spPr>
          <a:xfrm>
            <a:off x="1088136" y="4370832"/>
            <a:ext cx="2734056" cy="466344"/>
          </a:xfrm>
          <a:prstGeom prst="rect">
            <a:avLst/>
          </a:prstGeom>
          <a:noFill/>
        </p:spPr>
        <p:txBody>
          <a:bodyPr wrap="square" lIns="0" rIns="0" tIns="0" bIns="0" anchor="ctr">
            <a:spAutoFit/>
          </a:bodyPr>
          <a:lstStyle/>
          <a:p>
            <a:pPr algn="l"/>
            <a:r>
              <a:rPr sz="1300" b="0" lang="en-US">
                <a:solidFill>
                  <a:srgbClr val="263440"/>
                </a:solidFill>
                <a:latin typeface="Arial"/>
              </a:rPr>
              <a:t>T12 · Make shared infrastructure unavailable</a:t>
            </a:r>
          </a:p>
        </p:txBody>
      </p:sp>
      <p:cxnSp>
        <p:nvCxnSpPr>
          <p:cNvPr id="36" name="Connector 35"/>
          <p:cNvCxnSpPr/>
          <p:nvPr/>
        </p:nvCxnSpPr>
        <p:spPr>
          <a:xfrm>
            <a:off x="813815" y="4965192"/>
            <a:ext cx="3127248" cy="0"/>
          </a:xfrm>
          <a:prstGeom prst="line">
            <a:avLst/>
          </a:prstGeom>
          <a:ln w="7620">
            <a:solidFill>
              <a:srgbClr val="9A6100"/>
            </a:solidFill>
          </a:ln>
        </p:spPr>
        <p:style>
          <a:lnRef idx="2">
            <a:schemeClr val="accent1"/>
          </a:lnRef>
          <a:fillRef idx="0">
            <a:schemeClr val="accent1"/>
          </a:fillRef>
          <a:effectRef idx="1">
            <a:schemeClr val="accent1"/>
          </a:effectRef>
          <a:fontRef idx="minor">
            <a:schemeClr val="tx1"/>
          </a:fontRef>
        </p:style>
      </p:cxnSp>
      <p:sp>
        <p:nvSpPr>
          <p:cNvPr id="37" name="Attack tree: F2 · NF2; no global availability guarantee"/>
          <p:cNvSpPr txBox="1"/>
          <p:nvPr/>
        </p:nvSpPr>
        <p:spPr>
          <a:xfrm>
            <a:off x="813815" y="5020056"/>
            <a:ext cx="3127248" cy="246888"/>
          </a:xfrm>
          <a:prstGeom prst="rect">
            <a:avLst/>
          </a:prstGeom>
          <a:noFill/>
        </p:spPr>
        <p:txBody>
          <a:bodyPr wrap="square" lIns="0" rIns="0" tIns="0" bIns="0" anchor="ctr">
            <a:spAutoFit/>
          </a:bodyPr>
          <a:lstStyle/>
          <a:p>
            <a:pPr algn="l"/>
            <a:r>
              <a:rPr sz="1050" b="0" lang="en-US">
                <a:solidFill>
                  <a:srgbClr val="9A6100"/>
                </a:solidFill>
                <a:latin typeface="Arial"/>
              </a:rPr>
              <a:t>F2 · NF2; no global availability guarantee</a:t>
            </a:r>
          </a:p>
        </p:txBody>
      </p:sp>
      <p:sp>
        <p:nvSpPr>
          <p:cNvPr id="38" name="Rounded Rectangle 37"/>
          <p:cNvSpPr/>
          <p:nvPr/>
        </p:nvSpPr>
        <p:spPr>
          <a:xfrm>
            <a:off x="4361688" y="2670048"/>
            <a:ext cx="3474720" cy="2651760"/>
          </a:xfrm>
          <a:prstGeom prst="roundRect">
            <a:avLst/>
          </a:prstGeom>
          <a:solidFill>
            <a:srgbClr val="FFF5E5"/>
          </a:solidFill>
          <a:ln>
            <a:solidFill>
              <a:srgbClr val="FFF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Attack tree: Disrupt the audit trail"/>
          <p:cNvSpPr txBox="1"/>
          <p:nvPr/>
        </p:nvSpPr>
        <p:spPr>
          <a:xfrm>
            <a:off x="4535424" y="2770632"/>
            <a:ext cx="3127248" cy="484632"/>
          </a:xfrm>
          <a:prstGeom prst="rect">
            <a:avLst/>
          </a:prstGeom>
          <a:noFill/>
        </p:spPr>
        <p:txBody>
          <a:bodyPr wrap="square" lIns="0" rIns="0" tIns="0" bIns="0" anchor="ctr">
            <a:spAutoFit/>
          </a:bodyPr>
          <a:lstStyle/>
          <a:p>
            <a:pPr algn="l"/>
            <a:r>
              <a:rPr sz="1550" b="1" lang="en-US">
                <a:solidFill>
                  <a:srgbClr val="9A6100"/>
                </a:solidFill>
                <a:latin typeface="Arial"/>
              </a:rPr>
              <a:t>Disrupt the audit trail</a:t>
            </a:r>
          </a:p>
        </p:txBody>
      </p:sp>
      <p:cxnSp>
        <p:nvCxnSpPr>
          <p:cNvPr id="40" name="Connector 39"/>
          <p:cNvCxnSpPr/>
          <p:nvPr/>
        </p:nvCxnSpPr>
        <p:spPr>
          <a:xfrm>
            <a:off x="6099048" y="3282696"/>
            <a:ext cx="0" cy="201168"/>
          </a:xfrm>
          <a:prstGeom prst="line">
            <a:avLst/>
          </a:prstGeom>
          <a:ln w="15240">
            <a:solidFill>
              <a:srgbClr val="9A6100"/>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a:off x="4498848" y="3483864"/>
            <a:ext cx="1600200" cy="0"/>
          </a:xfrm>
          <a:prstGeom prst="line">
            <a:avLst/>
          </a:prstGeom>
          <a:ln w="15240">
            <a:solidFill>
              <a:srgbClr val="9A6100"/>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4498848" y="3483864"/>
            <a:ext cx="0" cy="1120140"/>
          </a:xfrm>
          <a:prstGeom prst="line">
            <a:avLst/>
          </a:prstGeom>
          <a:ln w="15240">
            <a:solidFill>
              <a:srgbClr val="9A6100"/>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4498848" y="3936491"/>
            <a:ext cx="192024" cy="0"/>
          </a:xfrm>
          <a:prstGeom prst="line">
            <a:avLst/>
          </a:prstGeom>
          <a:ln w="15240">
            <a:solidFill>
              <a:srgbClr val="9A6100"/>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4498848" y="4604004"/>
            <a:ext cx="192024" cy="0"/>
          </a:xfrm>
          <a:prstGeom prst="line">
            <a:avLst/>
          </a:prstGeom>
          <a:ln w="15240">
            <a:solidFill>
              <a:srgbClr val="9A6100"/>
            </a:solidFill>
          </a:ln>
        </p:spPr>
        <p:style>
          <a:lnRef idx="2">
            <a:schemeClr val="accent1"/>
          </a:lnRef>
          <a:fillRef idx="0">
            <a:schemeClr val="accent1"/>
          </a:fillRef>
          <a:effectRef idx="1">
            <a:schemeClr val="accent1"/>
          </a:effectRef>
          <a:fontRef idx="minor">
            <a:schemeClr val="tx1"/>
          </a:fontRef>
        </p:style>
      </p:cxnSp>
      <p:sp>
        <p:nvSpPr>
          <p:cNvPr id="45" name="Rounded Rectangle 44"/>
          <p:cNvSpPr/>
          <p:nvPr/>
        </p:nvSpPr>
        <p:spPr>
          <a:xfrm>
            <a:off x="5902452" y="3355848"/>
            <a:ext cx="393192" cy="256032"/>
          </a:xfrm>
          <a:prstGeom prst="roundRect">
            <a:avLst/>
          </a:prstGeom>
          <a:solidFill>
            <a:srgbClr val="F2F5F7"/>
          </a:solidFill>
          <a:ln w="10795">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Attack tree: OR"/>
          <p:cNvSpPr txBox="1"/>
          <p:nvPr/>
        </p:nvSpPr>
        <p:spPr>
          <a:xfrm>
            <a:off x="5925312" y="3369564"/>
            <a:ext cx="347472" cy="228600"/>
          </a:xfrm>
          <a:prstGeom prst="rect">
            <a:avLst/>
          </a:prstGeom>
          <a:noFill/>
        </p:spPr>
        <p:txBody>
          <a:bodyPr wrap="square" lIns="0" rIns="0" tIns="0" bIns="0" anchor="ctr">
            <a:spAutoFit/>
          </a:bodyPr>
          <a:lstStyle/>
          <a:p>
            <a:pPr algn="ctr"/>
            <a:r>
              <a:rPr sz="1050" b="1" lang="en-US">
                <a:solidFill>
                  <a:srgbClr val="263440"/>
                </a:solidFill>
                <a:latin typeface="Arial"/>
              </a:rPr>
              <a:t>OR</a:t>
            </a:r>
          </a:p>
        </p:txBody>
      </p:sp>
      <p:sp>
        <p:nvSpPr>
          <p:cNvPr id="47" name="Rounded Rectangle 46"/>
          <p:cNvSpPr/>
          <p:nvPr/>
        </p:nvSpPr>
        <p:spPr>
          <a:xfrm>
            <a:off x="4690872" y="3657600"/>
            <a:ext cx="2971800" cy="557784"/>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Attack tree: T10 · Suppress results or required evidence"/>
          <p:cNvSpPr txBox="1"/>
          <p:nvPr/>
        </p:nvSpPr>
        <p:spPr>
          <a:xfrm>
            <a:off x="4809744" y="3703320"/>
            <a:ext cx="2734056" cy="466344"/>
          </a:xfrm>
          <a:prstGeom prst="rect">
            <a:avLst/>
          </a:prstGeom>
          <a:noFill/>
        </p:spPr>
        <p:txBody>
          <a:bodyPr wrap="square" lIns="0" rIns="0" tIns="0" bIns="0" anchor="ctr">
            <a:spAutoFit/>
          </a:bodyPr>
          <a:lstStyle/>
          <a:p>
            <a:pPr algn="l"/>
            <a:r>
              <a:rPr sz="1300" b="0" lang="en-US">
                <a:solidFill>
                  <a:srgbClr val="263440"/>
                </a:solidFill>
                <a:latin typeface="Arial"/>
              </a:rPr>
              <a:t>T10 · Suppress results or required evidence</a:t>
            </a:r>
          </a:p>
        </p:txBody>
      </p:sp>
      <p:sp>
        <p:nvSpPr>
          <p:cNvPr id="49" name="Rounded Rectangle 48"/>
          <p:cNvSpPr/>
          <p:nvPr/>
        </p:nvSpPr>
        <p:spPr>
          <a:xfrm>
            <a:off x="4690872" y="4325112"/>
            <a:ext cx="2971800" cy="557784"/>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Attack tree: T11 · Block log writes or present conflicting views"/>
          <p:cNvSpPr txBox="1"/>
          <p:nvPr/>
        </p:nvSpPr>
        <p:spPr>
          <a:xfrm>
            <a:off x="4809744" y="4370832"/>
            <a:ext cx="2734056" cy="466344"/>
          </a:xfrm>
          <a:prstGeom prst="rect">
            <a:avLst/>
          </a:prstGeom>
          <a:noFill/>
        </p:spPr>
        <p:txBody>
          <a:bodyPr wrap="square" lIns="0" rIns="0" tIns="0" bIns="0" anchor="ctr">
            <a:spAutoFit/>
          </a:bodyPr>
          <a:lstStyle/>
          <a:p>
            <a:pPr algn="l"/>
            <a:r>
              <a:rPr sz="1300" b="0" lang="en-US">
                <a:solidFill>
                  <a:srgbClr val="263440"/>
                </a:solidFill>
                <a:latin typeface="Arial"/>
              </a:rPr>
              <a:t>T11 · Block log writes or present conflicting views</a:t>
            </a:r>
          </a:p>
        </p:txBody>
      </p:sp>
      <p:cxnSp>
        <p:nvCxnSpPr>
          <p:cNvPr id="51" name="Connector 50"/>
          <p:cNvCxnSpPr/>
          <p:nvPr/>
        </p:nvCxnSpPr>
        <p:spPr>
          <a:xfrm>
            <a:off x="4535424" y="4965192"/>
            <a:ext cx="3127247" cy="0"/>
          </a:xfrm>
          <a:prstGeom prst="line">
            <a:avLst/>
          </a:prstGeom>
          <a:ln w="7620">
            <a:solidFill>
              <a:srgbClr val="9A6100"/>
            </a:solidFill>
          </a:ln>
        </p:spPr>
        <p:style>
          <a:lnRef idx="2">
            <a:schemeClr val="accent1"/>
          </a:lnRef>
          <a:fillRef idx="0">
            <a:schemeClr val="accent1"/>
          </a:fillRef>
          <a:effectRef idx="1">
            <a:schemeClr val="accent1"/>
          </a:effectRef>
          <a:fontRef idx="minor">
            <a:schemeClr val="tx1"/>
          </a:fontRef>
        </p:style>
      </p:cxnSp>
      <p:sp>
        <p:nvSpPr>
          <p:cNvPr id="52" name="Attack tree: F10 · NF4; split-view boundary: AS8"/>
          <p:cNvSpPr txBox="1"/>
          <p:nvPr/>
        </p:nvSpPr>
        <p:spPr>
          <a:xfrm>
            <a:off x="4535424" y="5020056"/>
            <a:ext cx="3127248" cy="246888"/>
          </a:xfrm>
          <a:prstGeom prst="rect">
            <a:avLst/>
          </a:prstGeom>
          <a:noFill/>
        </p:spPr>
        <p:txBody>
          <a:bodyPr wrap="square" lIns="0" rIns="0" tIns="0" bIns="0" anchor="ctr">
            <a:spAutoFit/>
          </a:bodyPr>
          <a:lstStyle/>
          <a:p>
            <a:pPr algn="l"/>
            <a:r>
              <a:rPr sz="1050" b="0" lang="en-US">
                <a:solidFill>
                  <a:srgbClr val="9A6100"/>
                </a:solidFill>
                <a:latin typeface="Arial"/>
              </a:rPr>
              <a:t>F10 · NF4; split-view boundary: AS8</a:t>
            </a:r>
          </a:p>
        </p:txBody>
      </p:sp>
      <p:sp>
        <p:nvSpPr>
          <p:cNvPr id="53" name="Rounded Rectangle 52"/>
          <p:cNvSpPr/>
          <p:nvPr/>
        </p:nvSpPr>
        <p:spPr>
          <a:xfrm>
            <a:off x="8083296" y="2670048"/>
            <a:ext cx="3474720" cy="2651760"/>
          </a:xfrm>
          <a:prstGeom prst="roundRect">
            <a:avLst/>
          </a:prstGeom>
          <a:solidFill>
            <a:srgbClr val="FFF5E5"/>
          </a:solidFill>
          <a:ln>
            <a:solidFill>
              <a:srgbClr val="FFF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Attack tree: Force unjustified recovery"/>
          <p:cNvSpPr txBox="1"/>
          <p:nvPr/>
        </p:nvSpPr>
        <p:spPr>
          <a:xfrm>
            <a:off x="8257031" y="2770632"/>
            <a:ext cx="3127248" cy="484632"/>
          </a:xfrm>
          <a:prstGeom prst="rect">
            <a:avLst/>
          </a:prstGeom>
          <a:noFill/>
        </p:spPr>
        <p:txBody>
          <a:bodyPr wrap="square" lIns="0" rIns="0" tIns="0" bIns="0" anchor="ctr">
            <a:spAutoFit/>
          </a:bodyPr>
          <a:lstStyle/>
          <a:p>
            <a:pPr algn="l"/>
            <a:r>
              <a:rPr sz="1550" b="1" lang="en-US">
                <a:solidFill>
                  <a:srgbClr val="9A6100"/>
                </a:solidFill>
                <a:latin typeface="Arial"/>
              </a:rPr>
              <a:t>Force unjustified recovery</a:t>
            </a:r>
          </a:p>
        </p:txBody>
      </p:sp>
      <p:cxnSp>
        <p:nvCxnSpPr>
          <p:cNvPr id="55" name="Connector 54"/>
          <p:cNvCxnSpPr/>
          <p:nvPr/>
        </p:nvCxnSpPr>
        <p:spPr>
          <a:xfrm>
            <a:off x="9820656" y="3282696"/>
            <a:ext cx="0" cy="201168"/>
          </a:xfrm>
          <a:prstGeom prst="line">
            <a:avLst/>
          </a:prstGeom>
          <a:ln w="15240">
            <a:solidFill>
              <a:srgbClr val="9A6100"/>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a:off x="8220456" y="3483864"/>
            <a:ext cx="1600200" cy="0"/>
          </a:xfrm>
          <a:prstGeom prst="line">
            <a:avLst/>
          </a:prstGeom>
          <a:ln w="15240">
            <a:solidFill>
              <a:srgbClr val="9A6100"/>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8220456" y="3483864"/>
            <a:ext cx="0" cy="1120140"/>
          </a:xfrm>
          <a:prstGeom prst="line">
            <a:avLst/>
          </a:prstGeom>
          <a:ln w="15240">
            <a:solidFill>
              <a:srgbClr val="9A6100"/>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8220456" y="3936491"/>
            <a:ext cx="192024" cy="0"/>
          </a:xfrm>
          <a:prstGeom prst="line">
            <a:avLst/>
          </a:prstGeom>
          <a:ln w="15240">
            <a:solidFill>
              <a:srgbClr val="9A6100"/>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8220456" y="4604004"/>
            <a:ext cx="192024" cy="0"/>
          </a:xfrm>
          <a:prstGeom prst="line">
            <a:avLst/>
          </a:prstGeom>
          <a:ln w="15240">
            <a:solidFill>
              <a:srgbClr val="9A6100"/>
            </a:solidFill>
          </a:ln>
        </p:spPr>
        <p:style>
          <a:lnRef idx="2">
            <a:schemeClr val="accent1"/>
          </a:lnRef>
          <a:fillRef idx="0">
            <a:schemeClr val="accent1"/>
          </a:fillRef>
          <a:effectRef idx="1">
            <a:schemeClr val="accent1"/>
          </a:effectRef>
          <a:fontRef idx="minor">
            <a:schemeClr val="tx1"/>
          </a:fontRef>
        </p:style>
      </p:cxnSp>
      <p:sp>
        <p:nvSpPr>
          <p:cNvPr id="60" name="Rounded Rectangle 59"/>
          <p:cNvSpPr/>
          <p:nvPr/>
        </p:nvSpPr>
        <p:spPr>
          <a:xfrm>
            <a:off x="9582912" y="3355848"/>
            <a:ext cx="475488" cy="256032"/>
          </a:xfrm>
          <a:prstGeom prst="roundRect">
            <a:avLst/>
          </a:prstGeom>
          <a:solidFill>
            <a:srgbClr val="FFF5E5"/>
          </a:solidFill>
          <a:ln w="10795">
            <a:solidFill>
              <a:srgbClr val="9A61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Attack tree: AND"/>
          <p:cNvSpPr txBox="1"/>
          <p:nvPr/>
        </p:nvSpPr>
        <p:spPr>
          <a:xfrm>
            <a:off x="9605772" y="3369564"/>
            <a:ext cx="429768" cy="228600"/>
          </a:xfrm>
          <a:prstGeom prst="rect">
            <a:avLst/>
          </a:prstGeom>
          <a:noFill/>
        </p:spPr>
        <p:txBody>
          <a:bodyPr wrap="square" lIns="0" rIns="0" tIns="0" bIns="0" anchor="ctr">
            <a:spAutoFit/>
          </a:bodyPr>
          <a:lstStyle/>
          <a:p>
            <a:pPr algn="ctr"/>
            <a:r>
              <a:rPr sz="1050" b="1" lang="en-US">
                <a:solidFill>
                  <a:srgbClr val="9A6100"/>
                </a:solidFill>
                <a:latin typeface="Arial"/>
              </a:rPr>
              <a:t>AND</a:t>
            </a:r>
          </a:p>
        </p:txBody>
      </p:sp>
      <p:sp>
        <p:nvSpPr>
          <p:cNvPr id="62" name="Rounded Rectangle 61"/>
          <p:cNvSpPr/>
          <p:nvPr/>
        </p:nvSpPr>
        <p:spPr>
          <a:xfrm>
            <a:off x="8412480" y="3657600"/>
            <a:ext cx="2971800" cy="557784"/>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Attack tree: T14 · Reach the eligible-reporter threshold"/>
          <p:cNvSpPr txBox="1"/>
          <p:nvPr/>
        </p:nvSpPr>
        <p:spPr>
          <a:xfrm>
            <a:off x="8531352" y="3703320"/>
            <a:ext cx="2734056" cy="466344"/>
          </a:xfrm>
          <a:prstGeom prst="rect">
            <a:avLst/>
          </a:prstGeom>
          <a:noFill/>
        </p:spPr>
        <p:txBody>
          <a:bodyPr wrap="square" lIns="0" rIns="0" tIns="0" bIns="0" anchor="ctr">
            <a:spAutoFit/>
          </a:bodyPr>
          <a:lstStyle/>
          <a:p>
            <a:pPr algn="l"/>
            <a:r>
              <a:rPr sz="1300" b="0" lang="en-US">
                <a:solidFill>
                  <a:srgbClr val="263440"/>
                </a:solidFill>
                <a:latin typeface="Arial"/>
              </a:rPr>
              <a:t>T14 · Reach the eligible-reporter threshold</a:t>
            </a:r>
          </a:p>
        </p:txBody>
      </p:sp>
      <p:sp>
        <p:nvSpPr>
          <p:cNvPr id="64" name="Rounded Rectangle 63"/>
          <p:cNvSpPr/>
          <p:nvPr/>
        </p:nvSpPr>
        <p:spPr>
          <a:xfrm>
            <a:off x="8412480" y="4325112"/>
            <a:ext cx="2971800" cy="557784"/>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Attack tree: T14 · Make those reports falsely allege failure"/>
          <p:cNvSpPr txBox="1"/>
          <p:nvPr/>
        </p:nvSpPr>
        <p:spPr>
          <a:xfrm>
            <a:off x="8531352" y="4370832"/>
            <a:ext cx="2734056" cy="466344"/>
          </a:xfrm>
          <a:prstGeom prst="rect">
            <a:avLst/>
          </a:prstGeom>
          <a:noFill/>
        </p:spPr>
        <p:txBody>
          <a:bodyPr wrap="square" lIns="0" rIns="0" tIns="0" bIns="0" anchor="ctr">
            <a:spAutoFit/>
          </a:bodyPr>
          <a:lstStyle/>
          <a:p>
            <a:pPr algn="l"/>
            <a:r>
              <a:rPr sz="1300" b="0" lang="en-US">
                <a:solidFill>
                  <a:srgbClr val="263440"/>
                </a:solidFill>
                <a:latin typeface="Arial"/>
              </a:rPr>
              <a:t>T14 · Make those reports falsely allege failure</a:t>
            </a:r>
          </a:p>
        </p:txBody>
      </p:sp>
      <p:cxnSp>
        <p:nvCxnSpPr>
          <p:cNvPr id="66" name="Connector 65"/>
          <p:cNvCxnSpPr/>
          <p:nvPr/>
        </p:nvCxnSpPr>
        <p:spPr>
          <a:xfrm>
            <a:off x="8257031" y="4965192"/>
            <a:ext cx="3127249" cy="0"/>
          </a:xfrm>
          <a:prstGeom prst="line">
            <a:avLst/>
          </a:prstGeom>
          <a:ln w="7620">
            <a:solidFill>
              <a:srgbClr val="9A6100"/>
            </a:solidFill>
          </a:ln>
        </p:spPr>
        <p:style>
          <a:lnRef idx="2">
            <a:schemeClr val="accent1"/>
          </a:lnRef>
          <a:fillRef idx="0">
            <a:schemeClr val="accent1"/>
          </a:fillRef>
          <a:effectRef idx="1">
            <a:schemeClr val="accent1"/>
          </a:effectRef>
          <a:fontRef idx="minor">
            <a:schemeClr val="tx1"/>
          </a:fontRef>
        </p:style>
      </p:cxnSp>
      <p:sp>
        <p:nvSpPr>
          <p:cNvPr id="67" name="Attack tree: T14; quorum does not prove independence"/>
          <p:cNvSpPr txBox="1"/>
          <p:nvPr/>
        </p:nvSpPr>
        <p:spPr>
          <a:xfrm>
            <a:off x="8257031" y="5020056"/>
            <a:ext cx="3127248" cy="246888"/>
          </a:xfrm>
          <a:prstGeom prst="rect">
            <a:avLst/>
          </a:prstGeom>
          <a:noFill/>
        </p:spPr>
        <p:txBody>
          <a:bodyPr wrap="square" lIns="0" rIns="0" tIns="0" bIns="0" anchor="ctr">
            <a:spAutoFit/>
          </a:bodyPr>
          <a:lstStyle/>
          <a:p>
            <a:pPr algn="l"/>
            <a:r>
              <a:rPr sz="1050" b="0" lang="en-US">
                <a:solidFill>
                  <a:srgbClr val="9A6100"/>
                </a:solidFill>
                <a:latin typeface="Arial"/>
              </a:rPr>
              <a:t>T14; quorum does not prove independence</a:t>
            </a:r>
          </a:p>
        </p:txBody>
      </p:sp>
      <p:sp>
        <p:nvSpPr>
          <p:cNvPr id="68" name="Attack tree: OR = any child · AND = all children · T-identifiers refer to Chapter 4.  Amber: residual risk or assumption boundary."/>
          <p:cNvSpPr txBox="1"/>
          <p:nvPr/>
        </p:nvSpPr>
        <p:spPr>
          <a:xfrm>
            <a:off x="658368" y="5486400"/>
            <a:ext cx="10881360" cy="246888"/>
          </a:xfrm>
          <a:prstGeom prst="rect">
            <a:avLst/>
          </a:prstGeom>
          <a:noFill/>
        </p:spPr>
        <p:txBody>
          <a:bodyPr wrap="square" lIns="0" rIns="0" tIns="0" bIns="0" anchor="ctr">
            <a:spAutoFit/>
          </a:bodyPr>
          <a:lstStyle/>
          <a:p>
            <a:pPr algn="l"/>
            <a:r>
              <a:rPr sz="1110" b="0" lang="en-US">
                <a:solidFill>
                  <a:srgbClr val="65737D"/>
                </a:solidFill>
                <a:latin typeface="Arial"/>
              </a:rPr>
              <a:t>OR = any child · AND = all children · T-identifiers refer to Chapter 4.  Amber: residual risk or assumption boundary.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400" b="0" lang="en-US">
                <a:solidFill>
                  <a:srgbClr val="434343"/>
                </a:solidFill>
                <a:latin typeface="Arial"/>
              </a:rPr>
              <a:t>Attack tree: models, keys and trust roots</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CHAPTER 4 · ATTACK TREE 4 / 4 · LOOK C</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100584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C · Tree 4</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sp>
        <p:nvSpPr>
          <p:cNvPr id="8"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DFL badge"/>
          <p:cNvSpPr/>
          <p:nvPr/>
        </p:nvSpPr>
        <p:spPr>
          <a:xfrm>
            <a:off x="9509760" y="502920"/>
            <a:ext cx="411480" cy="228600"/>
          </a:xfrm>
          <a:prstGeom prst="rect">
            <a:avLst/>
          </a:prstGeom>
          <a:solidFill>
            <a:srgbClr val="207548"/>
          </a:solidFill>
          <a:ln w="698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FFFFFF"/>
                </a:solidFill>
                <a:latin typeface="Arial"/>
              </a:rPr>
              <a:t>DFL</a:t>
            </a:r>
          </a:p>
        </p:txBody>
      </p:sp>
      <p:sp>
        <p:nvSpPr>
          <p:cNvPr id="11" name="Domain navigation: Agent badge"/>
          <p:cNvSpPr/>
          <p:nvPr/>
        </p:nvSpPr>
        <p:spPr>
          <a:xfrm>
            <a:off x="9982200" y="502920"/>
            <a:ext cx="502920" cy="228600"/>
          </a:xfrm>
          <a:prstGeom prst="rect">
            <a:avLst/>
          </a:prstGeom>
          <a:solidFill>
            <a:srgbClr val="1764A1"/>
          </a:solidFill>
          <a:ln w="6985">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FFFFFF"/>
                </a:solidFill>
                <a:latin typeface="Arial"/>
              </a:rPr>
              <a:t>Agent</a:t>
            </a:r>
          </a:p>
        </p:txBody>
      </p:sp>
      <p:cxnSp>
        <p:nvCxnSpPr>
          <p:cNvPr id="13" name="Connector 12"/>
          <p:cNvCxnSpPr/>
          <p:nvPr/>
        </p:nvCxnSpPr>
        <p:spPr>
          <a:xfrm>
            <a:off x="6099048" y="1956816"/>
            <a:ext cx="0" cy="530352"/>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2377440" y="2487168"/>
            <a:ext cx="7443216" cy="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377440" y="2487168"/>
            <a:ext cx="0" cy="18288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099048" y="2487168"/>
            <a:ext cx="0" cy="18288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820656" y="2487168"/>
            <a:ext cx="0" cy="18288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640080" y="1408176"/>
            <a:ext cx="10908792" cy="548640"/>
          </a:xfrm>
          <a:prstGeom prst="rect">
            <a:avLst/>
          </a:prstGeom>
          <a:solidFill>
            <a:srgbClr val="FBECEF"/>
          </a:solidFill>
          <a:ln>
            <a:solidFill>
              <a:srgbClr val="FBEC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Attack tree: ATTACKER GOAL"/>
          <p:cNvSpPr txBox="1"/>
          <p:nvPr/>
        </p:nvSpPr>
        <p:spPr>
          <a:xfrm>
            <a:off x="850392" y="1572768"/>
            <a:ext cx="1673352" cy="210312"/>
          </a:xfrm>
          <a:prstGeom prst="rect">
            <a:avLst/>
          </a:prstGeom>
          <a:noFill/>
        </p:spPr>
        <p:txBody>
          <a:bodyPr wrap="square" lIns="0" rIns="0" tIns="0" bIns="0" anchor="ctr">
            <a:spAutoFit/>
          </a:bodyPr>
          <a:lstStyle/>
          <a:p>
            <a:pPr algn="l"/>
            <a:r>
              <a:rPr sz="1050" b="1" lang="en-US">
                <a:solidFill>
                  <a:srgbClr val="C40D1E"/>
                </a:solidFill>
                <a:latin typeface="Arial"/>
              </a:rPr>
              <a:t>ATTACKER GOAL</a:t>
            </a:r>
          </a:p>
        </p:txBody>
      </p:sp>
      <p:sp>
        <p:nvSpPr>
          <p:cNvPr id="20" name="Attack tree: Expose secrets or defeat trust roots"/>
          <p:cNvSpPr txBox="1"/>
          <p:nvPr/>
        </p:nvSpPr>
        <p:spPr>
          <a:xfrm>
            <a:off x="2697480" y="1495044"/>
            <a:ext cx="8595360" cy="356616"/>
          </a:xfrm>
          <a:prstGeom prst="rect">
            <a:avLst/>
          </a:prstGeom>
          <a:noFill/>
        </p:spPr>
        <p:txBody>
          <a:bodyPr wrap="square" lIns="0" rIns="0" tIns="0" bIns="0" anchor="ctr">
            <a:spAutoFit/>
          </a:bodyPr>
          <a:lstStyle/>
          <a:p>
            <a:pPr algn="l"/>
            <a:r>
              <a:rPr sz="1900" b="1" lang="en-US">
                <a:solidFill>
                  <a:srgbClr val="C40D1E"/>
                </a:solidFill>
                <a:latin typeface="Arial"/>
              </a:rPr>
              <a:t>Expose secrets or defeat trust roots</a:t>
            </a:r>
          </a:p>
        </p:txBody>
      </p:sp>
      <p:sp>
        <p:nvSpPr>
          <p:cNvPr id="21" name="Rounded Rectangle 20"/>
          <p:cNvSpPr/>
          <p:nvPr/>
        </p:nvSpPr>
        <p:spPr>
          <a:xfrm>
            <a:off x="5902452" y="2103120"/>
            <a:ext cx="393192" cy="256032"/>
          </a:xfrm>
          <a:prstGeom prst="roundRect">
            <a:avLst/>
          </a:prstGeom>
          <a:solidFill>
            <a:srgbClr val="F2F5F7"/>
          </a:solidFill>
          <a:ln w="10795">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ttack tree: OR"/>
          <p:cNvSpPr txBox="1"/>
          <p:nvPr/>
        </p:nvSpPr>
        <p:spPr>
          <a:xfrm>
            <a:off x="5925312" y="2116836"/>
            <a:ext cx="347472" cy="228600"/>
          </a:xfrm>
          <a:prstGeom prst="rect">
            <a:avLst/>
          </a:prstGeom>
          <a:noFill/>
        </p:spPr>
        <p:txBody>
          <a:bodyPr wrap="square" lIns="0" rIns="0" tIns="0" bIns="0" anchor="ctr">
            <a:spAutoFit/>
          </a:bodyPr>
          <a:lstStyle/>
          <a:p>
            <a:pPr algn="ctr"/>
            <a:r>
              <a:rPr sz="1050" b="1" lang="en-US">
                <a:solidFill>
                  <a:srgbClr val="263440"/>
                </a:solidFill>
                <a:latin typeface="Arial"/>
              </a:rPr>
              <a:t>OR</a:t>
            </a:r>
          </a:p>
        </p:txBody>
      </p:sp>
      <p:sp>
        <p:nvSpPr>
          <p:cNvPr id="23" name="Rounded Rectangle 22"/>
          <p:cNvSpPr/>
          <p:nvPr/>
        </p:nvSpPr>
        <p:spPr>
          <a:xfrm>
            <a:off x="640080" y="2670048"/>
            <a:ext cx="3474720" cy="2651760"/>
          </a:xfrm>
          <a:prstGeom prst="roundRect">
            <a:avLst/>
          </a:prstGeom>
          <a:solidFill>
            <a:srgbClr val="FFF5E5"/>
          </a:solidFill>
          <a:ln>
            <a:solidFill>
              <a:srgbClr val="FFF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Attack tree: Abuse model distribution"/>
          <p:cNvSpPr txBox="1"/>
          <p:nvPr/>
        </p:nvSpPr>
        <p:spPr>
          <a:xfrm>
            <a:off x="813815" y="2770632"/>
            <a:ext cx="3127248" cy="484632"/>
          </a:xfrm>
          <a:prstGeom prst="rect">
            <a:avLst/>
          </a:prstGeom>
          <a:noFill/>
        </p:spPr>
        <p:txBody>
          <a:bodyPr wrap="square" lIns="0" rIns="0" tIns="0" bIns="0" anchor="ctr">
            <a:spAutoFit/>
          </a:bodyPr>
          <a:lstStyle/>
          <a:p>
            <a:pPr algn="l"/>
            <a:r>
              <a:rPr sz="1550" b="1" lang="en-US">
                <a:solidFill>
                  <a:srgbClr val="9A6100"/>
                </a:solidFill>
                <a:latin typeface="Arial"/>
              </a:rPr>
              <a:t>Abuse model distribution</a:t>
            </a:r>
          </a:p>
        </p:txBody>
      </p:sp>
      <p:cxnSp>
        <p:nvCxnSpPr>
          <p:cNvPr id="25" name="Connector 24"/>
          <p:cNvCxnSpPr/>
          <p:nvPr/>
        </p:nvCxnSpPr>
        <p:spPr>
          <a:xfrm>
            <a:off x="2377440" y="3282696"/>
            <a:ext cx="0" cy="201168"/>
          </a:xfrm>
          <a:prstGeom prst="line">
            <a:avLst/>
          </a:prstGeom>
          <a:ln w="15240">
            <a:solidFill>
              <a:srgbClr val="9A6100"/>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777240" y="3483864"/>
            <a:ext cx="1600200" cy="0"/>
          </a:xfrm>
          <a:prstGeom prst="line">
            <a:avLst/>
          </a:prstGeom>
          <a:ln w="15240">
            <a:solidFill>
              <a:srgbClr val="9A61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77240" y="3483864"/>
            <a:ext cx="0" cy="1120140"/>
          </a:xfrm>
          <a:prstGeom prst="line">
            <a:avLst/>
          </a:prstGeom>
          <a:ln w="15240">
            <a:solidFill>
              <a:srgbClr val="9A61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77240" y="3936491"/>
            <a:ext cx="192024" cy="0"/>
          </a:xfrm>
          <a:prstGeom prst="line">
            <a:avLst/>
          </a:prstGeom>
          <a:ln w="15240">
            <a:solidFill>
              <a:srgbClr val="9A610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777240" y="4604004"/>
            <a:ext cx="192024" cy="0"/>
          </a:xfrm>
          <a:prstGeom prst="line">
            <a:avLst/>
          </a:prstGeom>
          <a:ln w="15240">
            <a:solidFill>
              <a:srgbClr val="9A6100"/>
            </a:solidFill>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2180844" y="3355848"/>
            <a:ext cx="393192" cy="256032"/>
          </a:xfrm>
          <a:prstGeom prst="roundRect">
            <a:avLst/>
          </a:prstGeom>
          <a:solidFill>
            <a:srgbClr val="F2F5F7"/>
          </a:solidFill>
          <a:ln w="10795">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Attack tree: OR"/>
          <p:cNvSpPr txBox="1"/>
          <p:nvPr/>
        </p:nvSpPr>
        <p:spPr>
          <a:xfrm>
            <a:off x="2203704" y="3369564"/>
            <a:ext cx="347472" cy="228600"/>
          </a:xfrm>
          <a:prstGeom prst="rect">
            <a:avLst/>
          </a:prstGeom>
          <a:noFill/>
        </p:spPr>
        <p:txBody>
          <a:bodyPr wrap="square" lIns="0" rIns="0" tIns="0" bIns="0" anchor="ctr">
            <a:spAutoFit/>
          </a:bodyPr>
          <a:lstStyle/>
          <a:p>
            <a:pPr algn="ctr"/>
            <a:r>
              <a:rPr sz="1050" b="1" lang="en-US">
                <a:solidFill>
                  <a:srgbClr val="263440"/>
                </a:solidFill>
                <a:latin typeface="Arial"/>
              </a:rPr>
              <a:t>OR</a:t>
            </a:r>
          </a:p>
        </p:txBody>
      </p:sp>
      <p:sp>
        <p:nvSpPr>
          <p:cNvPr id="32" name="Rounded Rectangle 31"/>
          <p:cNvSpPr/>
          <p:nvPr/>
        </p:nvSpPr>
        <p:spPr>
          <a:xfrm>
            <a:off x="969264" y="3657600"/>
            <a:ext cx="2971800" cy="557784"/>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Attack tree: T5 · Recover a key outside the recipient set"/>
          <p:cNvSpPr txBox="1"/>
          <p:nvPr/>
        </p:nvSpPr>
        <p:spPr>
          <a:xfrm>
            <a:off x="1088136" y="3703320"/>
            <a:ext cx="2734056" cy="466344"/>
          </a:xfrm>
          <a:prstGeom prst="rect">
            <a:avLst/>
          </a:prstGeom>
          <a:noFill/>
        </p:spPr>
        <p:txBody>
          <a:bodyPr wrap="square" lIns="0" rIns="0" tIns="0" bIns="0" anchor="ctr">
            <a:spAutoFit/>
          </a:bodyPr>
          <a:lstStyle/>
          <a:p>
            <a:pPr algn="l"/>
            <a:r>
              <a:rPr sz="1300" b="0" lang="en-US">
                <a:solidFill>
                  <a:srgbClr val="263440"/>
                </a:solidFill>
                <a:latin typeface="Arial"/>
              </a:rPr>
              <a:t>T5 · Recover a key outside the recipient set</a:t>
            </a:r>
          </a:p>
        </p:txBody>
      </p:sp>
      <p:sp>
        <p:nvSpPr>
          <p:cNvPr id="34" name="Rounded Rectangle 33"/>
          <p:cNvSpPr/>
          <p:nvPr/>
        </p:nvSpPr>
        <p:spPr>
          <a:xfrm>
            <a:off x="969264" y="4325112"/>
            <a:ext cx="2971800" cy="557784"/>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Attack tree: T5 · Obtain plaintext through unauthorized access"/>
          <p:cNvSpPr txBox="1"/>
          <p:nvPr/>
        </p:nvSpPr>
        <p:spPr>
          <a:xfrm>
            <a:off x="1088136" y="4370832"/>
            <a:ext cx="2734056" cy="466344"/>
          </a:xfrm>
          <a:prstGeom prst="rect">
            <a:avLst/>
          </a:prstGeom>
          <a:noFill/>
        </p:spPr>
        <p:txBody>
          <a:bodyPr wrap="square" lIns="0" rIns="0" tIns="0" bIns="0" anchor="ctr">
            <a:spAutoFit/>
          </a:bodyPr>
          <a:lstStyle/>
          <a:p>
            <a:pPr algn="l"/>
            <a:r>
              <a:rPr sz="1300" b="0" lang="en-US">
                <a:solidFill>
                  <a:srgbClr val="263440"/>
                </a:solidFill>
                <a:latin typeface="Arial"/>
              </a:rPr>
              <a:t>T5 · Obtain plaintext through unauthorized access</a:t>
            </a:r>
          </a:p>
        </p:txBody>
      </p:sp>
      <p:cxnSp>
        <p:nvCxnSpPr>
          <p:cNvPr id="36" name="Connector 35"/>
          <p:cNvCxnSpPr/>
          <p:nvPr/>
        </p:nvCxnSpPr>
        <p:spPr>
          <a:xfrm>
            <a:off x="813815" y="4965192"/>
            <a:ext cx="3127248" cy="0"/>
          </a:xfrm>
          <a:prstGeom prst="line">
            <a:avLst/>
          </a:prstGeom>
          <a:ln w="7620">
            <a:solidFill>
              <a:srgbClr val="9A6100"/>
            </a:solidFill>
          </a:ln>
        </p:spPr>
        <p:style>
          <a:lnRef idx="2">
            <a:schemeClr val="accent1"/>
          </a:lnRef>
          <a:fillRef idx="0">
            <a:schemeClr val="accent1"/>
          </a:fillRef>
          <a:effectRef idx="1">
            <a:schemeClr val="accent1"/>
          </a:effectRef>
          <a:fontRef idx="minor">
            <a:schemeClr val="tx1"/>
          </a:fontRef>
        </p:style>
      </p:cxnSp>
      <p:sp>
        <p:nvSpPr>
          <p:cNvPr id="37" name="Attack tree: F7; recipient redistribution is out of scope"/>
          <p:cNvSpPr txBox="1"/>
          <p:nvPr/>
        </p:nvSpPr>
        <p:spPr>
          <a:xfrm>
            <a:off x="813815" y="5020056"/>
            <a:ext cx="3127248" cy="246888"/>
          </a:xfrm>
          <a:prstGeom prst="rect">
            <a:avLst/>
          </a:prstGeom>
          <a:noFill/>
        </p:spPr>
        <p:txBody>
          <a:bodyPr wrap="square" lIns="0" rIns="0" tIns="0" bIns="0" anchor="ctr">
            <a:spAutoFit/>
          </a:bodyPr>
          <a:lstStyle/>
          <a:p>
            <a:pPr algn="l"/>
            <a:r>
              <a:rPr sz="1050" b="0" lang="en-US">
                <a:solidFill>
                  <a:srgbClr val="9A6100"/>
                </a:solidFill>
                <a:latin typeface="Arial"/>
              </a:rPr>
              <a:t>F7; recipient redistribution is out of scope</a:t>
            </a:r>
          </a:p>
        </p:txBody>
      </p:sp>
      <p:sp>
        <p:nvSpPr>
          <p:cNvPr id="38" name="Rounded Rectangle 37"/>
          <p:cNvSpPr/>
          <p:nvPr/>
        </p:nvSpPr>
        <p:spPr>
          <a:xfrm>
            <a:off x="4361688" y="2670048"/>
            <a:ext cx="3474720" cy="2651760"/>
          </a:xfrm>
          <a:prstGeom prst="roundRect">
            <a:avLst/>
          </a:prstGeom>
          <a:solidFill>
            <a:srgbClr val="FFF5E5"/>
          </a:solidFill>
          <a:ln>
            <a:solidFill>
              <a:srgbClr val="FFF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Attack tree: Compromise secret custody"/>
          <p:cNvSpPr txBox="1"/>
          <p:nvPr/>
        </p:nvSpPr>
        <p:spPr>
          <a:xfrm>
            <a:off x="4535424" y="2770632"/>
            <a:ext cx="3127248" cy="484632"/>
          </a:xfrm>
          <a:prstGeom prst="rect">
            <a:avLst/>
          </a:prstGeom>
          <a:noFill/>
        </p:spPr>
        <p:txBody>
          <a:bodyPr wrap="square" lIns="0" rIns="0" tIns="0" bIns="0" anchor="ctr">
            <a:spAutoFit/>
          </a:bodyPr>
          <a:lstStyle/>
          <a:p>
            <a:pPr algn="l"/>
            <a:r>
              <a:rPr sz="1550" b="1" lang="en-US">
                <a:solidFill>
                  <a:srgbClr val="9A6100"/>
                </a:solidFill>
                <a:latin typeface="Arial"/>
              </a:rPr>
              <a:t>Compromise secret custody</a:t>
            </a:r>
          </a:p>
        </p:txBody>
      </p:sp>
      <p:cxnSp>
        <p:nvCxnSpPr>
          <p:cNvPr id="40" name="Connector 39"/>
          <p:cNvCxnSpPr/>
          <p:nvPr/>
        </p:nvCxnSpPr>
        <p:spPr>
          <a:xfrm>
            <a:off x="6099048" y="3282696"/>
            <a:ext cx="0" cy="201168"/>
          </a:xfrm>
          <a:prstGeom prst="line">
            <a:avLst/>
          </a:prstGeom>
          <a:ln w="15240">
            <a:solidFill>
              <a:srgbClr val="9A6100"/>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a:off x="4498848" y="3483864"/>
            <a:ext cx="1600200" cy="0"/>
          </a:xfrm>
          <a:prstGeom prst="line">
            <a:avLst/>
          </a:prstGeom>
          <a:ln w="15240">
            <a:solidFill>
              <a:srgbClr val="9A6100"/>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4498848" y="3483864"/>
            <a:ext cx="0" cy="1120140"/>
          </a:xfrm>
          <a:prstGeom prst="line">
            <a:avLst/>
          </a:prstGeom>
          <a:ln w="15240">
            <a:solidFill>
              <a:srgbClr val="9A6100"/>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4498848" y="3936491"/>
            <a:ext cx="192024" cy="0"/>
          </a:xfrm>
          <a:prstGeom prst="line">
            <a:avLst/>
          </a:prstGeom>
          <a:ln w="15240">
            <a:solidFill>
              <a:srgbClr val="9A6100"/>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4498848" y="4604004"/>
            <a:ext cx="192024" cy="0"/>
          </a:xfrm>
          <a:prstGeom prst="line">
            <a:avLst/>
          </a:prstGeom>
          <a:ln w="15240">
            <a:solidFill>
              <a:srgbClr val="9A6100"/>
            </a:solidFill>
          </a:ln>
        </p:spPr>
        <p:style>
          <a:lnRef idx="2">
            <a:schemeClr val="accent1"/>
          </a:lnRef>
          <a:fillRef idx="0">
            <a:schemeClr val="accent1"/>
          </a:fillRef>
          <a:effectRef idx="1">
            <a:schemeClr val="accent1"/>
          </a:effectRef>
          <a:fontRef idx="minor">
            <a:schemeClr val="tx1"/>
          </a:fontRef>
        </p:style>
      </p:cxnSp>
      <p:sp>
        <p:nvSpPr>
          <p:cNvPr id="45" name="Rounded Rectangle 44"/>
          <p:cNvSpPr/>
          <p:nvPr/>
        </p:nvSpPr>
        <p:spPr>
          <a:xfrm>
            <a:off x="5902452" y="3355848"/>
            <a:ext cx="393192" cy="256032"/>
          </a:xfrm>
          <a:prstGeom prst="roundRect">
            <a:avLst/>
          </a:prstGeom>
          <a:solidFill>
            <a:srgbClr val="F2F5F7"/>
          </a:solidFill>
          <a:ln w="10795">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Attack tree: OR"/>
          <p:cNvSpPr txBox="1"/>
          <p:nvPr/>
        </p:nvSpPr>
        <p:spPr>
          <a:xfrm>
            <a:off x="5925312" y="3369564"/>
            <a:ext cx="347472" cy="228600"/>
          </a:xfrm>
          <a:prstGeom prst="rect">
            <a:avLst/>
          </a:prstGeom>
          <a:noFill/>
        </p:spPr>
        <p:txBody>
          <a:bodyPr wrap="square" lIns="0" rIns="0" tIns="0" bIns="0" anchor="ctr">
            <a:spAutoFit/>
          </a:bodyPr>
          <a:lstStyle/>
          <a:p>
            <a:pPr algn="ctr"/>
            <a:r>
              <a:rPr sz="1050" b="1" lang="en-US">
                <a:solidFill>
                  <a:srgbClr val="263440"/>
                </a:solidFill>
                <a:latin typeface="Arial"/>
              </a:rPr>
              <a:t>OR</a:t>
            </a:r>
          </a:p>
        </p:txBody>
      </p:sp>
      <p:sp>
        <p:nvSpPr>
          <p:cNvPr id="47" name="Rounded Rectangle 46"/>
          <p:cNvSpPr/>
          <p:nvPr/>
        </p:nvSpPr>
        <p:spPr>
          <a:xfrm>
            <a:off x="4690872" y="3657600"/>
            <a:ext cx="2971800" cy="557784"/>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Attack tree: T13 · Extract private or process keys"/>
          <p:cNvSpPr txBox="1"/>
          <p:nvPr/>
        </p:nvSpPr>
        <p:spPr>
          <a:xfrm>
            <a:off x="4809744" y="3703320"/>
            <a:ext cx="2734056" cy="466344"/>
          </a:xfrm>
          <a:prstGeom prst="rect">
            <a:avLst/>
          </a:prstGeom>
          <a:noFill/>
        </p:spPr>
        <p:txBody>
          <a:bodyPr wrap="square" lIns="0" rIns="0" tIns="0" bIns="0" anchor="ctr">
            <a:spAutoFit/>
          </a:bodyPr>
          <a:lstStyle/>
          <a:p>
            <a:pPr algn="l"/>
            <a:r>
              <a:rPr sz="1300" b="0" lang="en-US">
                <a:solidFill>
                  <a:srgbClr val="263440"/>
                </a:solidFill>
                <a:latin typeface="Arial"/>
              </a:rPr>
              <a:t>T13 · Extract private or process keys</a:t>
            </a:r>
          </a:p>
        </p:txBody>
      </p:sp>
      <p:sp>
        <p:nvSpPr>
          <p:cNvPr id="49" name="Rounded Rectangle 48"/>
          <p:cNvSpPr/>
          <p:nvPr/>
        </p:nvSpPr>
        <p:spPr>
          <a:xfrm>
            <a:off x="4690872" y="4325112"/>
            <a:ext cx="2971800" cy="557784"/>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Attack tree: T13 · Misuse live keys inside a compromised workload"/>
          <p:cNvSpPr txBox="1"/>
          <p:nvPr/>
        </p:nvSpPr>
        <p:spPr>
          <a:xfrm>
            <a:off x="4809744" y="4370832"/>
            <a:ext cx="2734056" cy="466344"/>
          </a:xfrm>
          <a:prstGeom prst="rect">
            <a:avLst/>
          </a:prstGeom>
          <a:noFill/>
        </p:spPr>
        <p:txBody>
          <a:bodyPr wrap="square" lIns="0" rIns="0" tIns="0" bIns="0" anchor="ctr">
            <a:spAutoFit/>
          </a:bodyPr>
          <a:lstStyle/>
          <a:p>
            <a:pPr algn="l"/>
            <a:r>
              <a:rPr sz="1300" b="0" lang="en-US">
                <a:solidFill>
                  <a:srgbClr val="263440"/>
                </a:solidFill>
                <a:latin typeface="Arial"/>
              </a:rPr>
              <a:t>T13 · Misuse live keys inside a compromised workload</a:t>
            </a:r>
          </a:p>
        </p:txBody>
      </p:sp>
      <p:cxnSp>
        <p:nvCxnSpPr>
          <p:cNvPr id="51" name="Connector 50"/>
          <p:cNvCxnSpPr/>
          <p:nvPr/>
        </p:nvCxnSpPr>
        <p:spPr>
          <a:xfrm>
            <a:off x="4535424" y="4965192"/>
            <a:ext cx="3127247" cy="0"/>
          </a:xfrm>
          <a:prstGeom prst="line">
            <a:avLst/>
          </a:prstGeom>
          <a:ln w="7620">
            <a:solidFill>
              <a:srgbClr val="9A6100"/>
            </a:solidFill>
          </a:ln>
        </p:spPr>
        <p:style>
          <a:lnRef idx="2">
            <a:schemeClr val="accent1"/>
          </a:lnRef>
          <a:fillRef idx="0">
            <a:schemeClr val="accent1"/>
          </a:fillRef>
          <a:effectRef idx="1">
            <a:schemeClr val="accent1"/>
          </a:effectRef>
          <a:fontRef idx="minor">
            <a:schemeClr val="tx1"/>
          </a:fontRef>
        </p:style>
      </p:cxnSp>
      <p:sp>
        <p:nvSpPr>
          <p:cNvPr id="52" name="Attack tree: Assumption boundary: AS5"/>
          <p:cNvSpPr txBox="1"/>
          <p:nvPr/>
        </p:nvSpPr>
        <p:spPr>
          <a:xfrm>
            <a:off x="4535424" y="5020056"/>
            <a:ext cx="3127248" cy="246888"/>
          </a:xfrm>
          <a:prstGeom prst="rect">
            <a:avLst/>
          </a:prstGeom>
          <a:noFill/>
        </p:spPr>
        <p:txBody>
          <a:bodyPr wrap="square" lIns="0" rIns="0" tIns="0" bIns="0" anchor="ctr">
            <a:spAutoFit/>
          </a:bodyPr>
          <a:lstStyle/>
          <a:p>
            <a:pPr algn="l"/>
            <a:r>
              <a:rPr sz="1050" b="0" lang="en-US">
                <a:solidFill>
                  <a:srgbClr val="9A6100"/>
                </a:solidFill>
                <a:latin typeface="Arial"/>
              </a:rPr>
              <a:t>Assumption boundary: AS5</a:t>
            </a:r>
          </a:p>
        </p:txBody>
      </p:sp>
      <p:sp>
        <p:nvSpPr>
          <p:cNvPr id="53" name="Rounded Rectangle 52"/>
          <p:cNvSpPr/>
          <p:nvPr/>
        </p:nvSpPr>
        <p:spPr>
          <a:xfrm>
            <a:off x="8083296" y="2670048"/>
            <a:ext cx="3474720" cy="2651760"/>
          </a:xfrm>
          <a:prstGeom prst="roundRect">
            <a:avLst/>
          </a:prstGeom>
          <a:solidFill>
            <a:srgbClr val="FFF5E5"/>
          </a:solidFill>
          <a:ln>
            <a:solidFill>
              <a:srgbClr val="FFF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Attack tree: Defeat the roots of trust"/>
          <p:cNvSpPr txBox="1"/>
          <p:nvPr/>
        </p:nvSpPr>
        <p:spPr>
          <a:xfrm>
            <a:off x="8257031" y="2770632"/>
            <a:ext cx="3127248" cy="484632"/>
          </a:xfrm>
          <a:prstGeom prst="rect">
            <a:avLst/>
          </a:prstGeom>
          <a:noFill/>
        </p:spPr>
        <p:txBody>
          <a:bodyPr wrap="square" lIns="0" rIns="0" tIns="0" bIns="0" anchor="ctr">
            <a:spAutoFit/>
          </a:bodyPr>
          <a:lstStyle/>
          <a:p>
            <a:pPr algn="l"/>
            <a:r>
              <a:rPr sz="1550" b="1" lang="en-US">
                <a:solidFill>
                  <a:srgbClr val="9A6100"/>
                </a:solidFill>
                <a:latin typeface="Arial"/>
              </a:rPr>
              <a:t>Defeat the roots of trust</a:t>
            </a:r>
          </a:p>
        </p:txBody>
      </p:sp>
      <p:cxnSp>
        <p:nvCxnSpPr>
          <p:cNvPr id="55" name="Connector 54"/>
          <p:cNvCxnSpPr/>
          <p:nvPr/>
        </p:nvCxnSpPr>
        <p:spPr>
          <a:xfrm>
            <a:off x="9820656" y="3282696"/>
            <a:ext cx="0" cy="201168"/>
          </a:xfrm>
          <a:prstGeom prst="line">
            <a:avLst/>
          </a:prstGeom>
          <a:ln w="15240">
            <a:solidFill>
              <a:srgbClr val="9A6100"/>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a:off x="8220456" y="3483864"/>
            <a:ext cx="1600200" cy="0"/>
          </a:xfrm>
          <a:prstGeom prst="line">
            <a:avLst/>
          </a:prstGeom>
          <a:ln w="15240">
            <a:solidFill>
              <a:srgbClr val="9A6100"/>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8220456" y="3483864"/>
            <a:ext cx="0" cy="1120140"/>
          </a:xfrm>
          <a:prstGeom prst="line">
            <a:avLst/>
          </a:prstGeom>
          <a:ln w="15240">
            <a:solidFill>
              <a:srgbClr val="9A6100"/>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8220456" y="3936491"/>
            <a:ext cx="192024" cy="0"/>
          </a:xfrm>
          <a:prstGeom prst="line">
            <a:avLst/>
          </a:prstGeom>
          <a:ln w="15240">
            <a:solidFill>
              <a:srgbClr val="9A6100"/>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8220456" y="4604004"/>
            <a:ext cx="192024" cy="0"/>
          </a:xfrm>
          <a:prstGeom prst="line">
            <a:avLst/>
          </a:prstGeom>
          <a:ln w="15240">
            <a:solidFill>
              <a:srgbClr val="9A6100"/>
            </a:solidFill>
          </a:ln>
        </p:spPr>
        <p:style>
          <a:lnRef idx="2">
            <a:schemeClr val="accent1"/>
          </a:lnRef>
          <a:fillRef idx="0">
            <a:schemeClr val="accent1"/>
          </a:fillRef>
          <a:effectRef idx="1">
            <a:schemeClr val="accent1"/>
          </a:effectRef>
          <a:fontRef idx="minor">
            <a:schemeClr val="tx1"/>
          </a:fontRef>
        </p:style>
      </p:cxnSp>
      <p:sp>
        <p:nvSpPr>
          <p:cNvPr id="60" name="Rounded Rectangle 59"/>
          <p:cNvSpPr/>
          <p:nvPr/>
        </p:nvSpPr>
        <p:spPr>
          <a:xfrm>
            <a:off x="9624060" y="3355848"/>
            <a:ext cx="393192" cy="256032"/>
          </a:xfrm>
          <a:prstGeom prst="roundRect">
            <a:avLst/>
          </a:prstGeom>
          <a:solidFill>
            <a:srgbClr val="F2F5F7"/>
          </a:solidFill>
          <a:ln w="10795">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Attack tree: OR"/>
          <p:cNvSpPr txBox="1"/>
          <p:nvPr/>
        </p:nvSpPr>
        <p:spPr>
          <a:xfrm>
            <a:off x="9646920" y="3369564"/>
            <a:ext cx="347472" cy="228600"/>
          </a:xfrm>
          <a:prstGeom prst="rect">
            <a:avLst/>
          </a:prstGeom>
          <a:noFill/>
        </p:spPr>
        <p:txBody>
          <a:bodyPr wrap="square" lIns="0" rIns="0" tIns="0" bIns="0" anchor="ctr">
            <a:spAutoFit/>
          </a:bodyPr>
          <a:lstStyle/>
          <a:p>
            <a:pPr algn="ctr"/>
            <a:r>
              <a:rPr sz="1050" b="1" lang="en-US">
                <a:solidFill>
                  <a:srgbClr val="263440"/>
                </a:solidFill>
                <a:latin typeface="Arial"/>
              </a:rPr>
              <a:t>OR</a:t>
            </a:r>
          </a:p>
        </p:txBody>
      </p:sp>
      <p:sp>
        <p:nvSpPr>
          <p:cNvPr id="62" name="Rounded Rectangle 61"/>
          <p:cNvSpPr/>
          <p:nvPr/>
        </p:nvSpPr>
        <p:spPr>
          <a:xfrm>
            <a:off x="8412480" y="3657600"/>
            <a:ext cx="2971800" cy="557784"/>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Attack tree: T13 · Break cryptographic or hardware trust"/>
          <p:cNvSpPr txBox="1"/>
          <p:nvPr/>
        </p:nvSpPr>
        <p:spPr>
          <a:xfrm>
            <a:off x="8531352" y="3703320"/>
            <a:ext cx="2734056" cy="466344"/>
          </a:xfrm>
          <a:prstGeom prst="rect">
            <a:avLst/>
          </a:prstGeom>
          <a:noFill/>
        </p:spPr>
        <p:txBody>
          <a:bodyPr wrap="square" lIns="0" rIns="0" tIns="0" bIns="0" anchor="ctr">
            <a:spAutoFit/>
          </a:bodyPr>
          <a:lstStyle/>
          <a:p>
            <a:pPr algn="l"/>
            <a:r>
              <a:rPr sz="1300" b="0" lang="en-US">
                <a:solidFill>
                  <a:srgbClr val="263440"/>
                </a:solidFill>
                <a:latin typeface="Arial"/>
              </a:rPr>
              <a:t>T13 · Break cryptographic or hardware trust</a:t>
            </a:r>
          </a:p>
        </p:txBody>
      </p:sp>
      <p:sp>
        <p:nvSpPr>
          <p:cNvPr id="64" name="Rounded Rectangle 63"/>
          <p:cNvSpPr/>
          <p:nvPr/>
        </p:nvSpPr>
        <p:spPr>
          <a:xfrm>
            <a:off x="8412480" y="4325112"/>
            <a:ext cx="2971800" cy="557784"/>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Attack tree: T13 / T14 · Compromise governance authority"/>
          <p:cNvSpPr txBox="1"/>
          <p:nvPr/>
        </p:nvSpPr>
        <p:spPr>
          <a:xfrm>
            <a:off x="8531352" y="4370832"/>
            <a:ext cx="2734056" cy="466344"/>
          </a:xfrm>
          <a:prstGeom prst="rect">
            <a:avLst/>
          </a:prstGeom>
          <a:noFill/>
        </p:spPr>
        <p:txBody>
          <a:bodyPr wrap="square" lIns="0" rIns="0" tIns="0" bIns="0" anchor="ctr">
            <a:spAutoFit/>
          </a:bodyPr>
          <a:lstStyle/>
          <a:p>
            <a:pPr algn="l"/>
            <a:r>
              <a:rPr sz="1300" b="0" lang="en-US">
                <a:solidFill>
                  <a:srgbClr val="263440"/>
                </a:solidFill>
                <a:latin typeface="Arial"/>
              </a:rPr>
              <a:t>T13 / T14 · Compromise governance authority</a:t>
            </a:r>
          </a:p>
        </p:txBody>
      </p:sp>
      <p:cxnSp>
        <p:nvCxnSpPr>
          <p:cNvPr id="66" name="Connector 65"/>
          <p:cNvCxnSpPr/>
          <p:nvPr/>
        </p:nvCxnSpPr>
        <p:spPr>
          <a:xfrm>
            <a:off x="8257031" y="4965192"/>
            <a:ext cx="3127249" cy="0"/>
          </a:xfrm>
          <a:prstGeom prst="line">
            <a:avLst/>
          </a:prstGeom>
          <a:ln w="7620">
            <a:solidFill>
              <a:srgbClr val="9A6100"/>
            </a:solidFill>
          </a:ln>
        </p:spPr>
        <p:style>
          <a:lnRef idx="2">
            <a:schemeClr val="accent1"/>
          </a:lnRef>
          <a:fillRef idx="0">
            <a:schemeClr val="accent1"/>
          </a:fillRef>
          <a:effectRef idx="1">
            <a:schemeClr val="accent1"/>
          </a:effectRef>
          <a:fontRef idx="minor">
            <a:schemeClr val="tx1"/>
          </a:fontRef>
        </p:style>
      </p:cxnSp>
      <p:sp>
        <p:nvSpPr>
          <p:cNvPr id="67" name="Attack tree: Assumptions: AS1 · AS3–AS5 · AS7"/>
          <p:cNvSpPr txBox="1"/>
          <p:nvPr/>
        </p:nvSpPr>
        <p:spPr>
          <a:xfrm>
            <a:off x="8257031" y="5020056"/>
            <a:ext cx="3127248" cy="246888"/>
          </a:xfrm>
          <a:prstGeom prst="rect">
            <a:avLst/>
          </a:prstGeom>
          <a:noFill/>
        </p:spPr>
        <p:txBody>
          <a:bodyPr wrap="square" lIns="0" rIns="0" tIns="0" bIns="0" anchor="ctr">
            <a:spAutoFit/>
          </a:bodyPr>
          <a:lstStyle/>
          <a:p>
            <a:pPr algn="l"/>
            <a:r>
              <a:rPr sz="1050" b="0" lang="en-US">
                <a:solidFill>
                  <a:srgbClr val="9A6100"/>
                </a:solidFill>
                <a:latin typeface="Arial"/>
              </a:rPr>
              <a:t>Assumptions: AS1 · AS3–AS5 · AS7</a:t>
            </a:r>
          </a:p>
        </p:txBody>
      </p:sp>
      <p:sp>
        <p:nvSpPr>
          <p:cNvPr id="68" name="Attack tree: OR = any child · AND = all children · T-identifiers refer to Chapter 4.  Amber: residual risk or assumption boundary."/>
          <p:cNvSpPr txBox="1"/>
          <p:nvPr/>
        </p:nvSpPr>
        <p:spPr>
          <a:xfrm>
            <a:off x="658368" y="5486400"/>
            <a:ext cx="10881360" cy="246888"/>
          </a:xfrm>
          <a:prstGeom prst="rect">
            <a:avLst/>
          </a:prstGeom>
          <a:noFill/>
        </p:spPr>
        <p:txBody>
          <a:bodyPr wrap="square" lIns="0" rIns="0" tIns="0" bIns="0" anchor="ctr">
            <a:spAutoFit/>
          </a:bodyPr>
          <a:lstStyle/>
          <a:p>
            <a:pPr algn="l"/>
            <a:r>
              <a:rPr sz="1110" b="0" lang="en-US">
                <a:solidFill>
                  <a:srgbClr val="65737D"/>
                </a:solidFill>
                <a:latin typeface="Arial"/>
              </a:rPr>
              <a:t>OR = any child · AND = all children · T-identifiers refer to Chapter 4.  Amber: residual risk or assumption boundary.</a:t>
            </a:r>
          </a:p>
        </p:txBody>
      </p:sp>
    </p:spTree>
  </p:cSld>
  <p:clrMapOvr>
    <a:masterClrMapping/>
  </p:clrMapOvr>
</p:sld>
</file>

<file path=ppt/theme/theme1.xml><?xml version="1.0" encoding="utf-8"?>
<a:theme xmlns:a="http://schemas.openxmlformats.org/drawingml/2006/main" name="Titelfolien zur Auswahl">
  <a:themeElements>
    <a:clrScheme name="TU Berlin">
      <a:dk1>
        <a:srgbClr val="434343"/>
      </a:dk1>
      <a:lt1>
        <a:srgbClr val="FFFFFF"/>
      </a:lt1>
      <a:dk2>
        <a:srgbClr val="434343"/>
      </a:dk2>
      <a:lt2>
        <a:srgbClr val="E7E6E6"/>
      </a:lt2>
      <a:accent1>
        <a:srgbClr val="C30D1E"/>
      </a:accent1>
      <a:accent2>
        <a:srgbClr val="B2B2B2"/>
      </a:accent2>
      <a:accent3>
        <a:srgbClr val="FF6C00"/>
      </a:accent3>
      <a:accent4>
        <a:srgbClr val="1F90CC"/>
      </a:accent4>
      <a:accent5>
        <a:srgbClr val="9013FE"/>
      </a:accent5>
      <a:accent6>
        <a:srgbClr val="49CB40"/>
      </a:accent6>
      <a:hlink>
        <a:srgbClr val="C30D1E"/>
      </a:hlink>
      <a:folHlink>
        <a:srgbClr val="C30D1E"/>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äsentation1" id="{AF5D8605-2613-D24D-AB7D-44425CE5E9EB}" vid="{4A2A0730-D474-B642-9EC8-245B2B7F7B17}"/>
    </a:ext>
  </a:extLst>
</a:theme>
</file>

<file path=ppt/theme/theme2.xml><?xml version="1.0" encoding="utf-8"?>
<a:theme xmlns:a="http://schemas.openxmlformats.org/drawingml/2006/main" name="Master für Folgeseiten">
  <a:themeElements>
    <a:clrScheme name="TU Berlin ">
      <a:dk1>
        <a:srgbClr val="434343"/>
      </a:dk1>
      <a:lt1>
        <a:srgbClr val="FFFFFF"/>
      </a:lt1>
      <a:dk2>
        <a:srgbClr val="434343"/>
      </a:dk2>
      <a:lt2>
        <a:srgbClr val="E7E6E6"/>
      </a:lt2>
      <a:accent1>
        <a:srgbClr val="C30D1E"/>
      </a:accent1>
      <a:accent2>
        <a:srgbClr val="B2B2B2"/>
      </a:accent2>
      <a:accent3>
        <a:srgbClr val="FF6C00"/>
      </a:accent3>
      <a:accent4>
        <a:srgbClr val="1F90CC"/>
      </a:accent4>
      <a:accent5>
        <a:srgbClr val="9013FE"/>
      </a:accent5>
      <a:accent6>
        <a:srgbClr val="49CB40"/>
      </a:accent6>
      <a:hlink>
        <a:srgbClr val="C30D1E"/>
      </a:hlink>
      <a:folHlink>
        <a:srgbClr val="C30D1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äsentation1" id="{AF5D8605-2613-D24D-AB7D-44425CE5E9EB}" vid="{6D2ACD7B-51E4-3F4D-A883-FB2A0ECC7C66}"/>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TU-Berlin-Praesentation-Master-einfarbig-Rot</Template>
  <TotalTime>0</TotalTime>
  <Words>59</Words>
  <Application>Microsoft Office PowerPoint</Application>
  <PresentationFormat>Breitbild</PresentationFormat>
  <Paragraphs>5</Paragraphs>
  <Slides>5</Slides>
  <Notes>0</Notes>
  <HiddenSlides>0</HiddenSlides>
  <MMClips>0</MMClips>
  <ScaleCrop>false</ScaleCrop>
  <HeadingPairs>
    <vt:vector size="6" baseType="variant">
      <vt:variant>
        <vt:lpstr>Verwendete Schriftarten</vt:lpstr>
      </vt:variant>
      <vt:variant>
        <vt:i4>3</vt:i4>
      </vt:variant>
      <vt:variant>
        <vt:lpstr>Design</vt:lpstr>
      </vt:variant>
      <vt:variant>
        <vt:i4>2</vt:i4>
      </vt:variant>
      <vt:variant>
        <vt:lpstr>Folientitel</vt:lpstr>
      </vt:variant>
      <vt:variant>
        <vt:i4>5</vt:i4>
      </vt:variant>
    </vt:vector>
  </HeadingPairs>
  <TitlesOfParts>
    <vt:vector size="10" baseType="lpstr">
      <vt:lpstr>Arial</vt:lpstr>
      <vt:lpstr>Calibri</vt:lpstr>
      <vt:lpstr>Symbol</vt:lpstr>
      <vt:lpstr>Titelfolien zur Auswahl</vt:lpstr>
      <vt:lpstr>Master für Folgeseiten</vt:lpstr>
      <vt:lpstr>PowerPoint-Präsentation</vt:lpstr>
      <vt:lpstr>PowerPoint-Präsentation</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VITA-FL — Chapter 4 attack trees: C · Angriffspfade mit Grenzen</dc:title>
  <dc:creator>Ramon Mehrpoya</dc:creator>
  <cp:lastModifiedBy>Friedrich, Ulrike</cp:lastModifiedBy>
  <cp:revision>3</cp:revision>
  <cp:lastPrinted>2021-03-24T16:10:50Z</cp:lastPrinted>
  <dcterms:created xsi:type="dcterms:W3CDTF">2023-04-20T08:54:03Z</dcterms:created>
  <dcterms:modified xsi:type="dcterms:W3CDTF">2025-06-16T09:49:54Z</dcterms:modified>
  <dc:subject>Verifiable Decentralized Federated Machine Learning and Inference for AI Agent Systems</dc:subject>
  <cp:keywords>VITA-FL, DFL, TEE, attested inference, transparency log</cp:keywords>
  <dc:language>en-US</dc:language>
</cp:coreProperties>
</file>