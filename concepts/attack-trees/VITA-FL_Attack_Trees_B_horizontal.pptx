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model-production integrity",</a:t>
            </a:r>
          </a:p>
          <a:p>
            <a:r>
              <a:rPr lang="en-US"/>
              <a:t>  "assets": [</a:t>
            </a:r>
          </a:p>
          <a:p>
            <a:r>
              <a:rPr lang="en-US"/>
              <a:t>    "A1",</a:t>
            </a:r>
          </a:p>
          <a:p>
            <a:r>
              <a:rPr lang="en-US"/>
              <a:t>    "A2",</a:t>
            </a:r>
          </a:p>
          <a:p>
            <a:r>
              <a:rPr lang="en-US"/>
              <a:t>    "A3",</a:t>
            </a:r>
          </a:p>
          <a:p>
            <a:r>
              <a:rPr lang="en-US"/>
              <a:t>    "A4",</a:t>
            </a:r>
          </a:p>
          <a:p>
            <a:r>
              <a:rPr lang="en-US"/>
              <a:t>    "A7"</a:t>
            </a:r>
          </a:p>
          <a:p>
            <a:r>
              <a:rPr lang="en-US"/>
              <a:t>  ],</a:t>
            </a:r>
          </a:p>
          <a:p>
            <a:r>
              <a:rPr lang="en-US"/>
              <a:t>  "requirements": [</a:t>
            </a:r>
          </a:p>
          <a:p>
            <a:r>
              <a:rPr lang="en-US"/>
              <a:t>    "F3",</a:t>
            </a:r>
          </a:p>
          <a:p>
            <a:r>
              <a:rPr lang="en-US"/>
              <a:t>    "F4",</a:t>
            </a:r>
          </a:p>
          <a:p>
            <a:r>
              <a:rPr lang="en-US"/>
              <a:t>    "F5",</a:t>
            </a:r>
          </a:p>
          <a:p>
            <a:r>
              <a:rPr lang="en-US"/>
              <a:t>    "F9",</a:t>
            </a:r>
          </a:p>
          <a:p>
            <a:r>
              <a:rPr lang="en-US"/>
              <a:t>    "F11",</a:t>
            </a:r>
          </a:p>
          <a:p>
            <a:r>
              <a:rPr lang="en-US"/>
              <a:t>    "NF3",</a:t>
            </a:r>
          </a:p>
          <a:p>
            <a:r>
              <a:rPr lang="en-US"/>
              <a:t>    "NF4"</a:t>
            </a:r>
          </a:p>
          <a:p>
            <a:r>
              <a:rPr lang="en-US"/>
              <a:t>  ],</a:t>
            </a:r>
          </a:p>
          <a:p>
            <a:r>
              <a:rPr lang="en-US"/>
              <a:t>  "assumptions": [</a:t>
            </a:r>
          </a:p>
          <a:p>
            <a:r>
              <a:rPr lang="en-US"/>
              <a:t>    "AS1",</a:t>
            </a:r>
          </a:p>
          <a:p>
            <a:r>
              <a:rPr lang="en-US"/>
              <a:t>    "AS2",</a:t>
            </a:r>
          </a:p>
          <a:p>
            <a:r>
              <a:rPr lang="en-US"/>
              <a:t>    "AS3",</a:t>
            </a:r>
          </a:p>
          <a:p>
            <a:r>
              <a:rPr lang="en-US"/>
              <a:t>    "AS4",</a:t>
            </a:r>
          </a:p>
          <a:p>
            <a:r>
              <a:rPr lang="en-US"/>
              <a:t>    "AS5",</a:t>
            </a:r>
          </a:p>
          <a:p>
            <a:r>
              <a:rPr lang="en-US"/>
              <a:t>    "AS6",</a:t>
            </a:r>
          </a:p>
          <a:p>
            <a:r>
              <a:rPr lang="en-US"/>
              <a:t>    "AS7"</a:t>
            </a:r>
          </a:p>
          <a:p>
            <a:r>
              <a:rPr lang="en-US"/>
              <a:t>  ],</a:t>
            </a:r>
          </a:p>
          <a:p>
            <a:r>
              <a:rPr lang="en-US"/>
              <a:t>  "branches": [</a:t>
            </a:r>
          </a:p>
          <a:p>
            <a:r>
              <a:rPr lang="en-US"/>
              <a:t>    {</a:t>
            </a:r>
          </a:p>
          <a:p>
            <a:r>
              <a:rPr lang="en-US"/>
              <a:t>      "label": "Abuse participant authority",</a:t>
            </a:r>
          </a:p>
          <a:p>
            <a:r>
              <a:rPr lang="en-US"/>
              <a:t>      "leaves": [</a:t>
            </a:r>
          </a:p>
          <a:p>
            <a:r>
              <a:rPr lang="en-US"/>
              <a:t>        {</a:t>
            </a:r>
          </a:p>
          <a:p>
            <a:r>
              <a:rPr lang="en-US"/>
              <a:t>          "label": "Get an unapproved workload admitted",</a:t>
            </a:r>
          </a:p>
          <a:p>
            <a:r>
              <a:rPr lang="en-US"/>
              <a:t>          "threats": [</a:t>
            </a:r>
          </a:p>
          <a:p>
            <a:r>
              <a:rPr lang="en-US"/>
              <a:t>            "T1"</a:t>
            </a:r>
          </a:p>
          <a:p>
            <a:r>
              <a:rPr lang="en-US"/>
              <a:t>          ],</a:t>
            </a:r>
          </a:p>
          <a:p>
            <a:r>
              <a:rPr lang="en-US"/>
              <a:t>          "note": "Includes genuine evidence for disallowed code and rebinding valid evidence to another identity, action key, endpoint, or deployment. Genuine hardware evidence alone is insufficient authorization.",</a:t>
            </a:r>
          </a:p>
          <a:p>
            <a:r>
              <a:rPr lang="en-US"/>
              <a:t>          "requirements": [</a:t>
            </a:r>
          </a:p>
          <a:p>
            <a:r>
              <a:rPr lang="en-US"/>
              <a:t>            "F3",</a:t>
            </a:r>
          </a:p>
          <a:p>
            <a:r>
              <a:rPr lang="en-US"/>
              <a:t>            "F11"</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"scope": "modeled_attack"</a:t>
            </a:r>
          </a:p>
          <a:p>
            <a:r>
              <a:rPr lang="en-US"/>
              <a:t>        },</a:t>
            </a:r>
          </a:p>
          <a:p>
            <a:r>
              <a:rPr lang="en-US"/>
              <a:t>        {</a:t>
            </a:r>
          </a:p>
          <a:p>
            <a:r>
              <a:rPr lang="en-US"/>
              <a:t>          "label": "Get stale authority or updates accepted",</a:t>
            </a:r>
          </a:p>
          <a:p>
            <a:r>
              <a:rPr lang="en-US"/>
              <a:t>          "threats": [</a:t>
            </a:r>
          </a:p>
          <a:p>
            <a:r>
              <a:rPr lang="en-US"/>
              <a:t>            "T2"</a:t>
            </a:r>
          </a:p>
          <a:p>
            <a:r>
              <a:rPr lang="en-US"/>
              <a:t>          ],</a:t>
            </a:r>
          </a:p>
          <a:p>
            <a:r>
              <a:rPr lang="en-US"/>
              <a:t>          "note": "Reuse a consumed registration, superseded authority, or contribution from another round/deployment. Counter consumption prevents reuse, but is not proof of quote recentness.",</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F3 · F11",</a:t>
            </a:r>
          </a:p>
          <a:p>
            <a:r>
              <a:rPr lang="en-US"/>
              <a:t>      "requirements": [</a:t>
            </a:r>
          </a:p>
          <a:p>
            <a:r>
              <a:rPr lang="en-US"/>
              <a:t>        "F11",</a:t>
            </a:r>
          </a:p>
          <a:p>
            <a:r>
              <a:rPr lang="en-US"/>
              <a:t>        "F3"</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training inputs",</a:t>
            </a:r>
          </a:p>
          <a:p>
            <a:r>
              <a:rPr lang="en-US"/>
              <a:t>      "leaves": [</a:t>
            </a:r>
          </a:p>
          <a:p>
            <a:r>
              <a:rPr lang="en-US"/>
              <a:t>        {</a:t>
            </a:r>
          </a:p>
          <a:p>
            <a:r>
              <a:rPr lang="en-US"/>
              <a:t>          "label": "Get altered data or signer roles accepted",</a:t>
            </a:r>
          </a:p>
          <a:p>
            <a:r>
              <a:rPr lang="en-US"/>
              <a:t>          "threats": [</a:t>
            </a:r>
          </a:p>
          <a:p>
            <a:r>
              <a:rPr lang="en-US"/>
              <a:t>            "T3"</a:t>
            </a:r>
          </a:p>
          <a:p>
            <a:r>
              <a:rPr lang="en-US"/>
              <a:t>          ],</a:t>
            </a:r>
          </a:p>
          <a:p>
            <a:r>
              <a:rPr lang="en-US"/>
              <a:t>          "note": "Changes to signed images/annotations, substituted signer roles, or keys outside the current signer-policy snapshot are detected before training.",</a:t>
            </a:r>
          </a:p>
          <a:p>
            <a:r>
              <a:rPr lang="en-US"/>
              <a:t>          "requirements": [</a:t>
            </a:r>
          </a:p>
          <a:p>
            <a:r>
              <a:rPr lang="en-US"/>
              <a:t>            "F9"</a:t>
            </a:r>
          </a:p>
          <a:p>
            <a:r>
              <a:rPr lang="en-US"/>
              <a:t>          ],</a:t>
            </a:r>
          </a:p>
          <a:p>
            <a:r>
              <a:rPr lang="en-US"/>
              <a:t>          "assumptions": [</a:t>
            </a:r>
          </a:p>
          <a:p>
            <a:r>
              <a:rPr lang="en-US"/>
              <a:t>            "AS1",</a:t>
            </a:r>
          </a:p>
          <a:p>
            <a:r>
              <a:rPr lang="en-US"/>
              <a:t>            "AS5",</a:t>
            </a:r>
          </a:p>
          <a:p>
            <a:r>
              <a:rPr lang="en-US"/>
              <a:t>            "AS7"</a:t>
            </a:r>
          </a:p>
          <a:p>
            <a:r>
              <a:rPr lang="en-US"/>
              <a:t>          ],</a:t>
            </a:r>
          </a:p>
          <a:p>
            <a:r>
              <a:rPr lang="en-US"/>
              <a:t>          "scope": "modeled_attack"</a:t>
            </a:r>
          </a:p>
          <a:p>
            <a:r>
              <a:rPr lang="en-US"/>
              <a:t>        },</a:t>
            </a:r>
          </a:p>
          <a:p>
            <a:r>
              <a:rPr lang="en-US"/>
              <a:t>        {</a:t>
            </a:r>
          </a:p>
          <a:p>
            <a:r>
              <a:rPr lang="en-US"/>
              <a:t>          "label": "Get valid poisoned contributions accepted",</a:t>
            </a:r>
          </a:p>
          <a:p>
            <a:r>
              <a:rPr lang="en-US"/>
              <a:t>          "threats": [</a:t>
            </a:r>
          </a:p>
          <a:p>
            <a:r>
              <a:rPr lang="en-US"/>
              <a:t>            "T7",</a:t>
            </a:r>
          </a:p>
          <a:p>
            <a:r>
              <a:rPr lang="en-US"/>
              <a:t>            "T14"</a:t>
            </a:r>
          </a:p>
          <a:p>
            <a:r>
              <a:rPr lang="en-US"/>
              <a:t>          ],</a:t>
            </a:r>
          </a:p>
          <a:p>
            <a:r>
              <a:rPr lang="en-US"/>
              <a:t>          "note": "An authorized signer or a coalition can submit attributable but semantically harmful data/updates. Equal-weight aggregation does not establish statistical benignity or resistance to coordinated poisoning.",</a:t>
            </a:r>
          </a:p>
          <a:p>
            <a:r>
              <a:rPr lang="en-US"/>
              <a:t>          "requirements": [</a:t>
            </a:r>
          </a:p>
          <a:p>
            <a:r>
              <a:rPr lang="en-US"/>
              <a:t>            "F5",</a:t>
            </a:r>
          </a:p>
          <a:p>
            <a:r>
              <a:rPr lang="en-US"/>
              <a:t>            "F9",</a:t>
            </a:r>
          </a:p>
          <a:p>
            <a:r>
              <a:rPr lang="en-US"/>
              <a:t>            "NF4"</a:t>
            </a:r>
          </a:p>
          <a:p>
            <a:r>
              <a:rPr lang="en-US"/>
              <a:t>          ],</a:t>
            </a:r>
          </a:p>
          <a:p>
            <a:r>
              <a:rPr lang="en-US"/>
              <a:t>          "assumptions": [],</a:t>
            </a:r>
          </a:p>
          <a:p>
            <a:r>
              <a:rPr lang="en-US"/>
              <a:t>          "scope": "residual_learning_risk"</a:t>
            </a:r>
          </a:p>
          <a:p>
            <a:r>
              <a:rPr lang="en-US"/>
              <a:t>        }</a:t>
            </a:r>
          </a:p>
          <a:p>
            <a:r>
              <a:rPr lang="en-US"/>
              <a:t>      ],</a:t>
            </a:r>
          </a:p>
          <a:p>
            <a:r>
              <a:rPr lang="en-US"/>
              <a:t>      "note": "",</a:t>
            </a:r>
          </a:p>
          <a:p>
            <a:r>
              <a:rPr lang="en-US"/>
              <a:t>      "operator": "OR",</a:t>
            </a:r>
          </a:p>
          <a:p>
            <a:r>
              <a:rPr lang="en-US"/>
              <a:t>      "boundary": "mixed",</a:t>
            </a:r>
          </a:p>
          <a:p>
            <a:r>
              <a:rPr lang="en-US"/>
              <a:t>      "annotation": "F9 · NF4; valid poisoning remains a risk",</a:t>
            </a:r>
          </a:p>
          <a:p>
            <a:r>
              <a:rPr lang="en-US"/>
              <a:t>      "requirements": [</a:t>
            </a:r>
          </a:p>
          <a:p>
            <a:r>
              <a:rPr lang="en-US"/>
              <a:t>        "F5",</a:t>
            </a:r>
          </a:p>
          <a:p>
            <a:r>
              <a:rPr lang="en-US"/>
              <a:t>        "F9",</a:t>
            </a:r>
          </a:p>
          <a:p>
            <a:r>
              <a:rPr lang="en-US"/>
              <a:t>        "NF4"</a:t>
            </a:r>
          </a:p>
          <a:p>
            <a:r>
              <a:rPr lang="en-US"/>
              <a:t>      ],</a:t>
            </a:r>
          </a:p>
          <a:p>
            <a:r>
              <a:rPr lang="en-US"/>
              <a:t>      "assumptions": [</a:t>
            </a:r>
          </a:p>
          <a:p>
            <a:r>
              <a:rPr lang="en-US"/>
              <a:t>        "AS1",</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the publication",</a:t>
            </a:r>
          </a:p>
          <a:p>
            <a:r>
              <a:rPr lang="en-US"/>
              <a:t>      "leaves": [</a:t>
            </a:r>
          </a:p>
          <a:p>
            <a:r>
              <a:rPr lang="en-US"/>
              <a:t>        {</a:t>
            </a:r>
          </a:p>
          <a:p>
            <a:r>
              <a:rPr lang="en-US"/>
              <a:t>          "label": "Get substituted or stale artifacts accepted",</a:t>
            </a:r>
          </a:p>
          <a:p>
            <a:r>
              <a:rPr lang="en-US"/>
              <a:t>          "threats": [</a:t>
            </a:r>
          </a:p>
          <a:p>
            <a:r>
              <a:rPr lang="en-US"/>
              <a:t>            "T4"</a:t>
            </a:r>
          </a:p>
          <a:p>
            <a:r>
              <a:rPr lang="en-US"/>
              <a:t>          ],</a:t>
            </a:r>
          </a:p>
          <a:p>
            <a:r>
              <a:rPr lang="en-US"/>
              <a:t>          "note": "Return an unrelated or stale update, global model, signature, or recipient bundle instead of the objects selected by authoritative state. Publication/parent-model context matters in addition to a valid signature.",</a:t>
            </a:r>
          </a:p>
          <a:p>
            <a:r>
              <a:rPr lang="en-US"/>
              <a:t>          "requirements": [</a:t>
            </a:r>
          </a:p>
          <a:p>
            <a:r>
              <a:rPr lang="en-US"/>
              <a:t>            "F5"</a:t>
            </a:r>
          </a:p>
          <a:p>
            <a:r>
              <a:rPr lang="en-US"/>
              <a:t>          ],</a:t>
            </a:r>
          </a:p>
          <a:p>
            <a:r>
              <a:rPr lang="en-US"/>
              <a:t>          "assumptions": [],</a:t>
            </a:r>
          </a:p>
          <a:p>
            <a:r>
              <a:rPr lang="en-US"/>
              <a:t>          "scope": "modeled_attack"</a:t>
            </a:r>
          </a:p>
          <a:p>
            <a:r>
              <a:rPr lang="en-US"/>
              <a:t>        },</a:t>
            </a:r>
          </a:p>
          <a:p>
            <a:r>
              <a:rPr lang="en-US"/>
              <a:t>        {</a:t>
            </a:r>
          </a:p>
          <a:p>
            <a:r>
              <a:rPr lang="en-US"/>
              <a:t>          "label": "Publish while omitting an accepted update",</a:t>
            </a:r>
          </a:p>
          <a:p>
            <a:r>
              <a:rPr lang="en-US"/>
              <a:t>          "threats": [</a:t>
            </a:r>
          </a:p>
          <a:p>
            <a:r>
              <a:rPr lang="en-US"/>
              <a:t>            "T6"</a:t>
            </a:r>
          </a:p>
          <a:p>
            <a:r>
              <a:rPr lang="en-US"/>
              <a:t>          ],</a:t>
            </a:r>
          </a:p>
          <a:p>
            <a:r>
              <a:rPr lang="en-US"/>
              <a:t>          "note": "Omission after acceptance is the integrity arm of T6. The closed accepted set and intact measured aggregation path constrain it. Stalling before publication is shown in the availability tree.",</a:t>
            </a:r>
          </a:p>
          <a:p>
            <a:r>
              <a:rPr lang="en-US"/>
              <a:t>          "requirements": [</a:t>
            </a:r>
          </a:p>
          <a:p>
            <a:r>
              <a:rPr lang="en-US"/>
              <a:t>            "F4"</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F4 · F5",</a:t>
            </a:r>
          </a:p>
          <a:p>
            <a:r>
              <a:rPr lang="en-US"/>
              <a:t>      "requirements": [</a:t>
            </a:r>
          </a:p>
          <a:p>
            <a:r>
              <a:rPr lang="en-US"/>
              <a:t>        "F4",</a:t>
            </a:r>
          </a:p>
          <a:p>
            <a:r>
              <a:rPr lang="en-US"/>
              <a:t>        "F5"</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"Valid signatures establish provenance, not benign learning.",</a:t>
            </a:r>
          </a:p>
          <a:p>
            <a:r>
              <a:rPr lang="en-US"/>
              <a:t>  "notes": "This tree groups the threats by attack surface. The root and intermediate nodes are attacker objectives; the leaves describe hypothetical successful misuse. Every OR node represents alternative means. Requirements are relevant controls, not attack leaves. The poison-input path remains a residual risk rather than a demonstrated rejected exploit.",</a:t>
            </a:r>
          </a:p>
          <a:p>
            <a:r>
              <a:rPr lang="en-US"/>
              <a:t>  "number": 1,</a:t>
            </a:r>
          </a:p>
          <a:p>
            <a:r>
              <a:rPr lang="en-US"/>
              <a:t>  "slug": "training",</a:t>
            </a:r>
          </a:p>
          <a:p>
            <a:r>
              <a:rPr lang="en-US"/>
              <a:t>  "label_de": "Training und Modellintegrität",</a:t>
            </a:r>
          </a:p>
          <a:p>
            <a:r>
              <a:rPr lang="en-US"/>
              <a:t>  "goal": "Compromise model production",</a:t>
            </a:r>
          </a:p>
          <a:p>
            <a:r>
              <a:rPr lang="en-US"/>
              <a:t>  "operator": "OR",</a:t>
            </a:r>
          </a:p>
          <a:p>
            <a:r>
              <a:rPr lang="en-US"/>
              <a:t>  "domains": [</a:t>
            </a:r>
          </a:p>
          <a:p>
            <a:r>
              <a:rPr lang="en-US"/>
              <a:t>    "DFL"</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inference and agent integrity",</a:t>
            </a:r>
          </a:p>
          <a:p>
            <a:r>
              <a:rPr lang="en-US"/>
              <a:t>  "assets": [</a:t>
            </a:r>
          </a:p>
          <a:p>
            <a:r>
              <a:rPr lang="en-US"/>
              <a:t>    "A4",</a:t>
            </a:r>
          </a:p>
          <a:p>
            <a:r>
              <a:rPr lang="en-US"/>
              <a:t>    "A5",</a:t>
            </a:r>
          </a:p>
          <a:p>
            <a:r>
              <a:rPr lang="en-US"/>
              <a:t>    "A6"</a:t>
            </a:r>
          </a:p>
          <a:p>
            <a:r>
              <a:rPr lang="en-US"/>
              <a:t>  ],</a:t>
            </a:r>
          </a:p>
          <a:p>
            <a:r>
              <a:rPr lang="en-US"/>
              <a:t>  "requirements": [</a:t>
            </a:r>
          </a:p>
          <a:p>
            <a:r>
              <a:rPr lang="en-US"/>
              <a:t>    "F5",</a:t>
            </a:r>
          </a:p>
          <a:p>
            <a:r>
              <a:rPr lang="en-US"/>
              <a:t>    "F6",</a:t>
            </a:r>
          </a:p>
          <a:p>
            <a:r>
              <a:rPr lang="en-US"/>
              <a:t>    "F8",</a:t>
            </a:r>
          </a:p>
          <a:p>
            <a:r>
              <a:rPr lang="en-US"/>
              <a:t>    "F10",</a:t>
            </a:r>
          </a:p>
          <a:p>
            <a:r>
              <a:rPr lang="en-US"/>
              <a:t>    "F11",</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"AS6"</a:t>
            </a:r>
          </a:p>
          <a:p>
            <a:r>
              <a:rPr lang="en-US"/>
              <a:t>  ],</a:t>
            </a:r>
          </a:p>
          <a:p>
            <a:r>
              <a:rPr lang="en-US"/>
              <a:t>  "branches": [</a:t>
            </a:r>
          </a:p>
          <a:p>
            <a:r>
              <a:rPr lang="en-US"/>
              <a:t>    {</a:t>
            </a:r>
          </a:p>
          <a:p>
            <a:r>
              <a:rPr lang="en-US"/>
              <a:t>      "label": "Substitute bound objects",</a:t>
            </a:r>
          </a:p>
          <a:p>
            <a:r>
              <a:rPr lang="en-US"/>
              <a:t>      "leaves": [</a:t>
            </a:r>
          </a:p>
          <a:p>
            <a:r>
              <a:rPr lang="en-US"/>
              <a:t>        {</a:t>
            </a:r>
          </a:p>
          <a:p>
            <a:r>
              <a:rPr lang="en-US"/>
              <a:t>          "label": "Get an answer for the wrong model/input accepted",</a:t>
            </a:r>
          </a:p>
          <a:p>
            <a:r>
              <a:rPr lang="en-US"/>
              <a:t>          "threats": [</a:t>
            </a:r>
          </a:p>
          <a:p>
            <a:r>
              <a:rPr lang="en-US"/>
              <a:t>            "T8"</a:t>
            </a:r>
          </a:p>
          <a:p>
            <a:r>
              <a:rPr lang="en-US"/>
              <a:t>          ],</a:t>
            </a:r>
          </a:p>
          <a:p>
            <a:r>
              <a:rPr lang="en-US"/>
              <a:t>          "note": "Cause inference for a model/input that differs from the selected finalized model tuple and receiver-issued image/job context.",</a:t>
            </a:r>
          </a:p>
          <a:p>
            <a:r>
              <a:rPr lang="en-US"/>
              <a:t>          "requirements": [</a:t>
            </a:r>
          </a:p>
          <a:p>
            <a:r>
              <a:rPr lang="en-US"/>
              <a:t>            "F5",</a:t>
            </a:r>
          </a:p>
          <a:p>
            <a:r>
              <a:rPr lang="en-US"/>
              <a:t>            "F6",</a:t>
            </a:r>
          </a:p>
          <a:p>
            <a:r>
              <a:rPr lang="en-US"/>
              <a:t>            "F11"</a:t>
            </a:r>
          </a:p>
          <a:p>
            <a:r>
              <a:rPr lang="en-US"/>
              <a:t>          ],</a:t>
            </a:r>
          </a:p>
          <a:p>
            <a:r>
              <a:rPr lang="en-US"/>
              <a:t>          "assumptions": [],</a:t>
            </a:r>
          </a:p>
          <a:p>
            <a:r>
              <a:rPr lang="en-US"/>
              <a:t>          "scope": "modeled_attack"</a:t>
            </a:r>
          </a:p>
          <a:p>
            <a:r>
              <a:rPr lang="en-US"/>
              <a:t>        },</a:t>
            </a:r>
          </a:p>
          <a:p>
            <a:r>
              <a:rPr lang="en-US"/>
              <a:t>        {</a:t>
            </a:r>
          </a:p>
          <a:p>
            <a:r>
              <a:rPr lang="en-US"/>
              <a:t>          "label": "Pass unrelated output/evidence as verified",</a:t>
            </a:r>
          </a:p>
          <a:p>
            <a:r>
              <a:rPr lang="en-US"/>
              <a:t>          "threats": [</a:t>
            </a:r>
          </a:p>
          <a:p>
            <a:r>
              <a:rPr lang="en-US"/>
              <a:t>            "T8"</a:t>
            </a:r>
          </a:p>
          <a:p>
            <a:r>
              <a:rPr lang="en-US"/>
              <a:t>          ],</a:t>
            </a:r>
          </a:p>
          <a:p>
            <a:r>
              <a:rPr lang="en-US"/>
              <a:t>          "note": "Combine individually valid request, output, receipt, attestation, or model-manifest objects into a misleadingly coherent result. Verification must check their bindings.",</a:t>
            </a:r>
          </a:p>
          <a:p>
            <a:r>
              <a:rPr lang="en-US"/>
              <a:t>          "requirements": [</a:t>
            </a:r>
          </a:p>
          <a:p>
            <a:r>
              <a:rPr lang="en-US"/>
              <a:t>            "F6",</a:t>
            </a:r>
          </a:p>
          <a:p>
            <a:r>
              <a:rPr lang="en-US"/>
              <a:t>            "F10",</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F5 · F6 · F10 · F11",</a:t>
            </a:r>
          </a:p>
          <a:p>
            <a:r>
              <a:rPr lang="en-US"/>
              <a:t>      "requirements": [</a:t>
            </a:r>
          </a:p>
          <a:p>
            <a:r>
              <a:rPr lang="en-US"/>
              <a:t>        "F10",</a:t>
            </a:r>
          </a:p>
          <a:p>
            <a:r>
              <a:rPr lang="en-US"/>
              <a:t>        "F11",</a:t>
            </a:r>
          </a:p>
          <a:p>
            <a:r>
              <a:rPr lang="en-US"/>
              <a:t>        "F5",</a:t>
            </a:r>
          </a:p>
          <a:p>
            <a:r>
              <a:rPr lang="en-US"/>
              <a:t>        "F6"</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"Replay an earlier context",</a:t>
            </a:r>
          </a:p>
          <a:p>
            <a:r>
              <a:rPr lang="en-US"/>
              <a:t>      "leaves": [</a:t>
            </a:r>
          </a:p>
          <a:p>
            <a:r>
              <a:rPr lang="en-US"/>
              <a:t>        {</a:t>
            </a:r>
          </a:p>
          <a:p>
            <a:r>
              <a:rPr lang="en-US"/>
              <a:t>          "label": "Get stale request/job context accepted",</a:t>
            </a:r>
          </a:p>
          <a:p>
            <a:r>
              <a:rPr lang="en-US"/>
              <a:t>          "threats": [</a:t>
            </a:r>
          </a:p>
          <a:p>
            <a:r>
              <a:rPr lang="en-US"/>
              <a:t>            "T2"</a:t>
            </a:r>
          </a:p>
          <a:p>
            <a:r>
              <a:rPr lang="en-US"/>
              <a:t>          ],</a:t>
            </a:r>
          </a:p>
          <a:p>
            <a:r>
              <a:rPr lang="en-US"/>
              <a:t>          "note": "Reuse a request/job from another model, receiver run, session, or request context.",</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"label": "Get another session's receipt accepted",</a:t>
            </a:r>
          </a:p>
          <a:p>
            <a:r>
              <a:rPr lang="en-US"/>
              <a:t>          "threats": [</a:t>
            </a:r>
          </a:p>
          <a:p>
            <a:r>
              <a:rPr lang="en-US"/>
              <a:t>            "T2"</a:t>
            </a:r>
          </a:p>
          <a:p>
            <a:r>
              <a:rPr lang="en-US"/>
              <a:t>          ],</a:t>
            </a:r>
          </a:p>
          <a:p>
            <a:r>
              <a:rPr lang="en-US"/>
              <a:t>          "note": "Reuse receipts or evidence across distinct contexts. The chapter explicitly does not exclude same-context replay within the issue-time window.",</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"F11; same-context replay remains open",</a:t>
            </a:r>
          </a:p>
          <a:p>
            <a:r>
              <a:rPr lang="en-US"/>
              <a:t>      "requirements": [</a:t>
            </a:r>
          </a:p>
          <a:p>
            <a:r>
              <a:rPr lang="en-US"/>
              <a:t>        "F11"</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"Manipulate the agent",</a:t>
            </a:r>
          </a:p>
          <a:p>
            <a:r>
              <a:rPr lang="en-US"/>
              <a:t>      "leaves": [</a:t>
            </a:r>
          </a:p>
          <a:p>
            <a:r>
              <a:rPr lang="en-US"/>
              <a:t>        {</a:t>
            </a:r>
          </a:p>
          <a:p>
            <a:r>
              <a:rPr lang="en-US"/>
              <a:t>          "label": "Get an unverified answer accepted via injection",</a:t>
            </a:r>
          </a:p>
          <a:p>
            <a:r>
              <a:rPr lang="en-US"/>
              <a:t>          "threats": [</a:t>
            </a:r>
          </a:p>
          <a:p>
            <a:r>
              <a:rPr lang="en-US"/>
              <a:t>            "T9"</a:t>
            </a:r>
          </a:p>
          <a:p>
            <a:r>
              <a:rPr lang="en-US"/>
              <a:t>          ],</a:t>
            </a:r>
          </a:p>
          <a:p>
            <a:r>
              <a:rPr lang="en-US"/>
              <a:t>          "note": "Prompt injection or misleading metadata attempts to make the agent bypass mandatory verification. The actual acceptance decision belongs to deterministic services.",</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"label": "Get spoofed tool identity/output accepted",</a:t>
            </a:r>
          </a:p>
          <a:p>
            <a:r>
              <a:rPr lang="en-US"/>
              <a:t>          "threats": [</a:t>
            </a:r>
          </a:p>
          <a:p>
            <a:r>
              <a:rPr lang="en-US"/>
              <a:t>            "T9"</a:t>
            </a:r>
          </a:p>
          <a:p>
            <a:r>
              <a:rPr lang="en-US"/>
              <a:t>          ],</a:t>
            </a:r>
          </a:p>
          <a:p>
            <a:r>
              <a:rPr lang="en-US"/>
              <a:t>          "note": "Tool-name conflicts or fabricated outputs attempt to mislead the bounded workflow. This is a modeled attempt, not proof that the service checks can be bypassed.",</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F8 · NF3",</a:t>
            </a:r>
          </a:p>
          <a:p>
            <a:r>
              <a:rPr lang="en-US"/>
              <a:t>      "requirements": [</a:t>
            </a:r>
          </a:p>
          <a:p>
            <a:r>
              <a:rPr lang="en-US"/>
              <a:t>        "F8",</a:t>
            </a:r>
          </a:p>
          <a:p>
            <a:r>
              <a:rPr lang="en-US"/>
              <a:t>        "NF3"</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"Receipt checks do not independently authenticate the Intel quote chain.",</a:t>
            </a:r>
          </a:p>
          <a:p>
            <a:r>
              <a:rPr lang="en-US"/>
              <a:t>  "notes": "The chapter states that per-call verification checks internal signatures and bindings but does not authenticate the individual quote signature/Intel chain. Hardware attribution depends on earlier admission of the registry-bound receiver. Recentness is not challenge-based replay protection. These slide statements describe Chapter 4, not any later implementation-specific external audit.",</a:t>
            </a:r>
          </a:p>
          <a:p>
            <a:r>
              <a:rPr lang="en-US"/>
              <a:t>  "number": 2,</a:t>
            </a:r>
          </a:p>
          <a:p>
            <a:r>
              <a:rPr lang="en-US"/>
              <a:t>  "slug": "inference",</a:t>
            </a:r>
          </a:p>
          <a:p>
            <a:r>
              <a:rPr lang="en-US"/>
              <a:t>  "label_de": "Inferenz und Agent",</a:t>
            </a:r>
          </a:p>
          <a:p>
            <a:r>
              <a:rPr lang="en-US"/>
              <a:t>  "goal": "Accept a misbound or unverified result",</a:t>
            </a:r>
          </a:p>
          <a:p>
            <a:r>
              <a:rPr lang="en-US"/>
              <a:t>  "operator": "OR",</a:t>
            </a:r>
          </a:p>
          <a:p>
            <a:r>
              <a:rPr lang="en-US"/>
              <a:t>  "domains": [</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progress and auditability",</a:t>
            </a:r>
          </a:p>
          <a:p>
            <a:r>
              <a:rPr lang="en-US"/>
              <a:t>  "assets": [</a:t>
            </a:r>
          </a:p>
          <a:p>
            <a:r>
              <a:rPr lang="en-US"/>
              <a:t>    "A1",</a:t>
            </a:r>
          </a:p>
          <a:p>
            <a:r>
              <a:rPr lang="en-US"/>
              <a:t>    "A3",</a:t>
            </a:r>
          </a:p>
          <a:p>
            <a:r>
              <a:rPr lang="en-US"/>
              <a:t>    "A4",</a:t>
            </a:r>
          </a:p>
          <a:p>
            <a:r>
              <a:rPr lang="en-US"/>
              <a:t>    "A5",</a:t>
            </a:r>
          </a:p>
          <a:p>
            <a:r>
              <a:rPr lang="en-US"/>
              <a:t>    "A6"</a:t>
            </a:r>
          </a:p>
          <a:p>
            <a:r>
              <a:rPr lang="en-US"/>
              <a:t>  ],</a:t>
            </a:r>
          </a:p>
          <a:p>
            <a:r>
              <a:rPr lang="en-US"/>
              <a:t>  "requirements": [</a:t>
            </a:r>
          </a:p>
          <a:p>
            <a:r>
              <a:rPr lang="en-US"/>
              <a:t>    "F2",</a:t>
            </a:r>
          </a:p>
          <a:p>
            <a:r>
              <a:rPr lang="en-US"/>
              <a:t>    "F4",</a:t>
            </a:r>
          </a:p>
          <a:p>
            <a:r>
              <a:rPr lang="en-US"/>
              <a:t>    "F10",</a:t>
            </a:r>
          </a:p>
          <a:p>
            <a:r>
              <a:rPr lang="en-US"/>
              <a:t>    "NF2",</a:t>
            </a:r>
          </a:p>
          <a:p>
            <a:r>
              <a:rPr lang="en-US"/>
              <a:t>    "NF3",</a:t>
            </a:r>
          </a:p>
          <a:p>
            <a:r>
              <a:rPr lang="en-US"/>
              <a:t>    "NF4"</a:t>
            </a:r>
          </a:p>
          <a:p>
            <a:r>
              <a:rPr lang="en-US"/>
              <a:t>  ],</a:t>
            </a:r>
          </a:p>
          <a:p>
            <a:r>
              <a:rPr lang="en-US"/>
              <a:t>  "assumptions": [</a:t>
            </a:r>
          </a:p>
          <a:p>
            <a:r>
              <a:rPr lang="en-US"/>
              <a:t>    "AS2",</a:t>
            </a:r>
          </a:p>
          <a:p>
            <a:r>
              <a:rPr lang="en-US"/>
              <a:t>    "AS5",</a:t>
            </a:r>
          </a:p>
          <a:p>
            <a:r>
              <a:rPr lang="en-US"/>
              <a:t>    "AS6",</a:t>
            </a:r>
          </a:p>
          <a:p>
            <a:r>
              <a:rPr lang="en-US"/>
              <a:t>    "AS8"</a:t>
            </a:r>
          </a:p>
          <a:p>
            <a:r>
              <a:rPr lang="en-US"/>
              <a:t>  ],</a:t>
            </a:r>
          </a:p>
          <a:p>
            <a:r>
              <a:rPr lang="en-US"/>
              <a:t>  "branches": [</a:t>
            </a:r>
          </a:p>
          <a:p>
            <a:r>
              <a:rPr lang="en-US"/>
              <a:t>    {</a:t>
            </a:r>
          </a:p>
          <a:p>
            <a:r>
              <a:rPr lang="en-US"/>
              <a:t>      "label": "Stop successful completion",</a:t>
            </a:r>
          </a:p>
          <a:p>
            <a:r>
              <a:rPr lang="en-US"/>
              <a:t>      "leaves": [</a:t>
            </a:r>
          </a:p>
          <a:p>
            <a:r>
              <a:rPr lang="en-US"/>
              <a:t>        {</a:t>
            </a:r>
          </a:p>
          <a:p>
            <a:r>
              <a:rPr lang="en-US"/>
              <a:t>          "label": "Stall or withhold aggregation",</a:t>
            </a:r>
          </a:p>
          <a:p>
            <a:r>
              <a:rPr lang="en-US"/>
              <a:t>          "threats": [</a:t>
            </a:r>
          </a:p>
          <a:p>
            <a:r>
              <a:rPr lang="en-US"/>
              <a:t>            "T6"</a:t>
            </a:r>
          </a:p>
          <a:p>
            <a:r>
              <a:rPr lang="en-US"/>
              <a:t>          ],</a:t>
            </a:r>
          </a:p>
          <a:p>
            <a:r>
              <a:rPr lang="en-US"/>
              <a:t>          "note": "Stop progressing, refuse enough eligible updates, or withhold publication. This is the availability arm of T6; omission from an accepted set is shown in the integrity tree.",</a:t>
            </a:r>
          </a:p>
          <a:p>
            <a:r>
              <a:rPr lang="en-US"/>
              <a:t>          "requirements": [</a:t>
            </a:r>
          </a:p>
          <a:p>
            <a:r>
              <a:rPr lang="en-US"/>
              <a:t>            "F2",</a:t>
            </a:r>
          </a:p>
          <a:p>
            <a:r>
              <a:rPr lang="en-US"/>
              <a:t>            "NF2"</a:t>
            </a:r>
          </a:p>
          <a:p>
            <a:r>
              <a:rPr lang="en-US"/>
              <a:t>          ],</a:t>
            </a:r>
          </a:p>
          <a:p>
            <a:r>
              <a:rPr lang="en-US"/>
              <a:t>          "assumptions": [],</a:t>
            </a:r>
          </a:p>
          <a:p>
            <a:r>
              <a:rPr lang="en-US"/>
              <a:t>          "scope": "modeled_attack"</a:t>
            </a:r>
          </a:p>
          <a:p>
            <a:r>
              <a:rPr lang="en-US"/>
              <a:t>        },</a:t>
            </a:r>
          </a:p>
          <a:p>
            <a:r>
              <a:rPr lang="en-US"/>
              <a:t>        {</a:t>
            </a:r>
          </a:p>
          <a:p>
            <a:r>
              <a:rPr lang="en-US"/>
              <a:t>          "label": "Make shared infrastructure unavailable",</a:t>
            </a:r>
          </a:p>
          <a:p>
            <a:r>
              <a:rPr lang="en-US"/>
              <a:t>          "threats": [</a:t>
            </a:r>
          </a:p>
          <a:p>
            <a:r>
              <a:rPr lang="en-US"/>
              <a:t>            "T12"</a:t>
            </a:r>
          </a:p>
          <a:p>
            <a:r>
              <a:rPr lang="en-US"/>
              <a:t>          ],</a:t>
            </a:r>
          </a:p>
          <a:p>
            <a:r>
              <a:rPr lang="en-US"/>
              <a:t>          "note": "Exhaust or make ledger, storage, network, inference, UI, or other shared services unreachable beyond the targeted aggregator-recovery path.",</a:t>
            </a:r>
          </a:p>
          <a:p>
            <a:r>
              <a:rPr lang="en-US"/>
              <a:t>          "requirements": [</a:t>
            </a:r>
          </a:p>
          <a:p>
            <a:r>
              <a:rPr lang="en-US"/>
              <a:t>            "F2",</a:t>
            </a:r>
          </a:p>
          <a:p>
            <a:r>
              <a:rPr lang="en-US"/>
              <a:t>            "NF2"</a:t>
            </a:r>
          </a:p>
          <a:p>
            <a:r>
              <a:rPr lang="en-US"/>
              <a:t>          ],</a:t>
            </a:r>
          </a:p>
          <a:p>
            <a:r>
              <a:rPr lang="en-US"/>
              <a:t>          "assumptions": [],</a:t>
            </a:r>
          </a:p>
          <a:p>
            <a:r>
              <a:rPr lang="en-US"/>
              <a:t>          "scope": "residual_infrastructure_risk"</a:t>
            </a:r>
          </a:p>
          <a:p>
            <a:r>
              <a:rPr lang="en-US"/>
              <a:t>        }</a:t>
            </a:r>
          </a:p>
          <a:p>
            <a:r>
              <a:rPr lang="en-US"/>
              <a:t>      ],</a:t>
            </a:r>
          </a:p>
          <a:p>
            <a:r>
              <a:rPr lang="en-US"/>
              <a:t>      "note": "",</a:t>
            </a:r>
          </a:p>
          <a:p>
            <a:r>
              <a:rPr lang="en-US"/>
              <a:t>      "operator": "OR",</a:t>
            </a:r>
          </a:p>
          <a:p>
            <a:r>
              <a:rPr lang="en-US"/>
              <a:t>      "boundary": "mixed",</a:t>
            </a:r>
          </a:p>
          <a:p>
            <a:r>
              <a:rPr lang="en-US"/>
              <a:t>      "annotation": "F2 · NF2; no global availability guarantee",</a:t>
            </a:r>
          </a:p>
          <a:p>
            <a:r>
              <a:rPr lang="en-US"/>
              <a:t>      "requirements": [</a:t>
            </a:r>
          </a:p>
          <a:p>
            <a:r>
              <a:rPr lang="en-US"/>
              <a:t>        "F2",</a:t>
            </a:r>
          </a:p>
          <a:p>
            <a:r>
              <a:rPr lang="en-US"/>
              <a:t>        "NF2"</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"Disrupt the audit trail",</a:t>
            </a:r>
          </a:p>
          <a:p>
            <a:r>
              <a:rPr lang="en-US"/>
              <a:t>      "leaves": [</a:t>
            </a:r>
          </a:p>
          <a:p>
            <a:r>
              <a:rPr lang="en-US"/>
              <a:t>        {</a:t>
            </a:r>
          </a:p>
          <a:p>
            <a:r>
              <a:rPr lang="en-US"/>
              <a:t>          "label": "Suppress results or required evidence",</a:t>
            </a:r>
          </a:p>
          <a:p>
            <a:r>
              <a:rPr lang="en-US"/>
              <a:t>          "threats": [</a:t>
            </a:r>
          </a:p>
          <a:p>
            <a:r>
              <a:rPr lang="en-US"/>
              <a:t>            "T10"</a:t>
            </a:r>
          </a:p>
          <a:p>
            <a:r>
              <a:rPr lang="en-US"/>
              <a:t>          ],</a:t>
            </a:r>
          </a:p>
          <a:p>
            <a:r>
              <a:rPr lang="en-US"/>
              <a:t>          "note": "Release success without a receipt, omit a complete verified domain bundle, or suppress the entire interaction. Publication before receiver success cannot prove calls that never reached/completed at the receiver.",</a:t>
            </a:r>
          </a:p>
          <a:p>
            <a:r>
              <a:rPr lang="en-US"/>
              <a:t>          "requirements": [</a:t>
            </a:r>
          </a:p>
          <a:p>
            <a:r>
              <a:rPr lang="en-US"/>
              <a:t>            "F10",</a:t>
            </a:r>
          </a:p>
          <a:p>
            <a:r>
              <a:rPr lang="en-US"/>
              <a:t>            "NF3",</a:t>
            </a:r>
          </a:p>
          <a:p>
            <a:r>
              <a:rPr lang="en-US"/>
              <a:t>            "NF4"</a:t>
            </a:r>
          </a:p>
          <a:p>
            <a:r>
              <a:rPr lang="en-US"/>
              <a:t>          ],</a:t>
            </a:r>
          </a:p>
          <a:p>
            <a:r>
              <a:rPr lang="en-US"/>
              <a:t>          "assumptions": [],</a:t>
            </a:r>
          </a:p>
          <a:p>
            <a:r>
              <a:rPr lang="en-US"/>
              <a:t>          "scope": "modeled_attack"</a:t>
            </a:r>
          </a:p>
          <a:p>
            <a:r>
              <a:rPr lang="en-US"/>
              <a:t>        },</a:t>
            </a:r>
          </a:p>
          <a:p>
            <a:r>
              <a:rPr lang="en-US"/>
              <a:t>        {</a:t>
            </a:r>
          </a:p>
          <a:p>
            <a:r>
              <a:rPr lang="en-US"/>
              <a:t>          "label": "Block log writes or present conflicting views",</a:t>
            </a:r>
          </a:p>
          <a:p>
            <a:r>
              <a:rPr lang="en-US"/>
              <a:t>          "threats": [</a:t>
            </a:r>
          </a:p>
          <a:p>
            <a:r>
              <a:rPr lang="en-US"/>
              <a:t>            "T11"</a:t>
            </a:r>
          </a:p>
          <a:p>
            <a:r>
              <a:rPr lang="en-US"/>
              <a:t>          ],</a:t>
            </a:r>
          </a:p>
          <a:p>
            <a:r>
              <a:rPr lang="en-US"/>
              <a:t>          "note": "Refuse a record, return invalid inclusion or ordering evidence, or provide inconsistent views. Exact-byte verification addresses invalid statements, whereas detecting a colluding split view needs witnesses/anchoring outside the prototype.",</a:t>
            </a:r>
          </a:p>
          <a:p>
            <a:r>
              <a:rPr lang="en-US"/>
              <a:t>          "requirements": [</a:t>
            </a:r>
          </a:p>
          <a:p>
            <a:r>
              <a:rPr lang="en-US"/>
              <a:t>            "F10",</a:t>
            </a:r>
          </a:p>
          <a:p>
            <a:r>
              <a:rPr lang="en-US"/>
              <a:t>            "NF4"</a:t>
            </a:r>
          </a:p>
          <a:p>
            <a:r>
              <a:rPr lang="en-US"/>
              <a:t>          ],</a:t>
            </a:r>
          </a:p>
          <a:p>
            <a:r>
              <a:rPr lang="en-US"/>
              <a:t>          "assumptions": [</a:t>
            </a:r>
          </a:p>
          <a:p>
            <a:r>
              <a:rPr lang="en-US"/>
              <a:t>            "AS8"</a:t>
            </a:r>
          </a:p>
          <a:p>
            <a:r>
              <a:rPr lang="en-US"/>
              <a:t>          ],</a:t>
            </a:r>
          </a:p>
          <a:p>
            <a:r>
              <a:rPr lang="en-US"/>
              <a:t>          "scope": "mixed_detection_and_residual_risk"</a:t>
            </a:r>
          </a:p>
          <a:p>
            <a:r>
              <a:rPr lang="en-US"/>
              <a:t>        }</a:t>
            </a:r>
          </a:p>
          <a:p>
            <a:r>
              <a:rPr lang="en-US"/>
              <a:t>      ],</a:t>
            </a:r>
          </a:p>
          <a:p>
            <a:r>
              <a:rPr lang="en-US"/>
              <a:t>      "note": "",</a:t>
            </a:r>
          </a:p>
          <a:p>
            <a:r>
              <a:rPr lang="en-US"/>
              <a:t>      "operator": "OR",</a:t>
            </a:r>
          </a:p>
          <a:p>
            <a:r>
              <a:rPr lang="en-US"/>
              <a:t>      "boundary": "mixed",</a:t>
            </a:r>
          </a:p>
          <a:p>
            <a:r>
              <a:rPr lang="en-US"/>
              <a:t>      "annotation": "F10 · NF4; split-view boundary: AS8",</a:t>
            </a:r>
          </a:p>
          <a:p>
            <a:r>
              <a:rPr lang="en-US"/>
              <a:t>      "requirements": [</a:t>
            </a:r>
          </a:p>
          <a:p>
            <a:r>
              <a:rPr lang="en-US"/>
              <a:t>        "F10",</a:t>
            </a:r>
          </a:p>
          <a:p>
            <a:r>
              <a:rPr lang="en-US"/>
              <a:t>        "NF3",</a:t>
            </a:r>
          </a:p>
          <a:p>
            <a:r>
              <a:rPr lang="en-US"/>
              <a:t>        "NF4"</a:t>
            </a:r>
          </a:p>
          <a:p>
            <a:r>
              <a:rPr lang="en-US"/>
              <a:t>      ],</a:t>
            </a:r>
          </a:p>
          <a:p>
            <a:r>
              <a:rPr lang="en-US"/>
              <a:t>      "assumptions": [</a:t>
            </a:r>
          </a:p>
          <a:p>
            <a:r>
              <a:rPr lang="en-US"/>
              <a:t>        "AS8"</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"Force unjustified recovery",</a:t>
            </a:r>
          </a:p>
          <a:p>
            <a:r>
              <a:rPr lang="en-US"/>
              <a:t>      "leaves": [</a:t>
            </a:r>
          </a:p>
          <a:p>
            <a:r>
              <a:rPr lang="en-US"/>
              <a:t>        {</a:t>
            </a:r>
          </a:p>
          <a:p>
            <a:r>
              <a:rPr lang="en-US"/>
              <a:t>          "label": "Reach the eligible-reporter threshold",</a:t>
            </a:r>
          </a:p>
          <a:p>
            <a:r>
              <a:rPr lang="en-US"/>
              <a:t>          "threats": [</a:t>
            </a:r>
          </a:p>
          <a:p>
            <a:r>
              <a:rPr lang="en-US"/>
              <a:t>            "T14"</a:t>
            </a:r>
          </a:p>
          <a:p>
            <a:r>
              <a:rPr lang="en-US"/>
              <a:t>          ],</a:t>
            </a:r>
          </a:p>
          <a:p>
            <a:r>
              <a:rPr lang="en-US"/>
              <a:t>          "note": "Collect admissible reports from enough distinct eligible non-aggregator identities to meet the configured threshold. By itself this can describe justified recovery; identity admission does not prove that reporters are independent.",</a:t>
            </a:r>
          </a:p>
          <a:p>
            <a:r>
              <a:rPr lang="en-US"/>
              <a:t>          "requirements": [</a:t>
            </a:r>
          </a:p>
          <a:p>
            <a:r>
              <a:rPr lang="en-US"/>
              <a:t>            "F2",</a:t>
            </a:r>
          </a:p>
          <a:p>
            <a:r>
              <a:rPr lang="en-US"/>
              <a:t>            "F3",</a:t>
            </a:r>
          </a:p>
          <a:p>
            <a:r>
              <a:rPr lang="en-US"/>
              <a:t>            "F4"</a:t>
            </a:r>
          </a:p>
          <a:p>
            <a:r>
              <a:rPr lang="en-US"/>
              <a:t>          ],</a:t>
            </a:r>
          </a:p>
          <a:p>
            <a:r>
              <a:rPr lang="en-US"/>
              <a:t>          "assumptions": [],</a:t>
            </a:r>
          </a:p>
          <a:p>
            <a:r>
              <a:rPr lang="en-US"/>
              <a:t>          "scope": "residual_collusion_risk"</a:t>
            </a:r>
          </a:p>
          <a:p>
            <a:r>
              <a:rPr lang="en-US"/>
              <a:t>        },</a:t>
            </a:r>
          </a:p>
          <a:p>
            <a:r>
              <a:rPr lang="en-US"/>
              <a:t>        {</a:t>
            </a:r>
          </a:p>
          <a:p>
            <a:r>
              <a:rPr lang="en-US"/>
              <a:t>          "label": "Make those reports falsely allege failure",</a:t>
            </a:r>
          </a:p>
          <a:p>
            <a:r>
              <a:rPr lang="en-US"/>
              <a:t>          "threats": [</a:t>
            </a:r>
          </a:p>
          <a:p>
            <a:r>
              <a:rPr lang="en-US"/>
              <a:t>            "T14"</a:t>
            </a:r>
          </a:p>
          <a:p>
            <a:r>
              <a:rPr lang="en-US"/>
              <a:t>          ],</a:t>
            </a:r>
          </a:p>
          <a:p>
            <a:r>
              <a:rPr lang="en-US"/>
              <a:t>          "note": "The same report set falsely alleges failure of a healthy aggregator. False reports alone may remain below the threshold. Both leaves refer to the same current round and selected aggregator, and all reports must satisfy the contract timing and reportability conditions.",</a:t>
            </a:r>
          </a:p>
          <a:p>
            <a:r>
              <a:rPr lang="en-US"/>
              <a:t>          "requirements": [</a:t>
            </a:r>
          </a:p>
          <a:p>
            <a:r>
              <a:rPr lang="en-US"/>
              <a:t>            "F2",</a:t>
            </a:r>
          </a:p>
          <a:p>
            <a:r>
              <a:rPr lang="en-US"/>
              <a:t>            "F4"</a:t>
            </a:r>
          </a:p>
          <a:p>
            <a:r>
              <a:rPr lang="en-US"/>
              <a:t>          ],</a:t>
            </a:r>
          </a:p>
          <a:p>
            <a:r>
              <a:rPr lang="en-US"/>
              <a:t>          "assumptions": [],</a:t>
            </a:r>
          </a:p>
          <a:p>
            <a:r>
              <a:rPr lang="en-US"/>
              <a:t>          "scope": "residual_collusion_risk"</a:t>
            </a:r>
          </a:p>
          <a:p>
            <a:r>
              <a:rPr lang="en-US"/>
              <a:t>        }</a:t>
            </a:r>
          </a:p>
          <a:p>
            <a:r>
              <a:rPr lang="en-US"/>
              <a:t>      ],</a:t>
            </a:r>
          </a:p>
          <a:p>
            <a:r>
              <a:rPr lang="en-US"/>
              <a:t>      "note":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a:t>
            </a:r>
          </a:p>
          <a:p>
            <a:r>
              <a:rPr lang="en-US"/>
              <a:t>      "operator": "AND",</a:t>
            </a:r>
          </a:p>
          <a:p>
            <a:r>
              <a:rPr lang="en-US"/>
              <a:t>      "boundary": "residual",</a:t>
            </a:r>
          </a:p>
          <a:p>
            <a:r>
              <a:rPr lang="en-US"/>
              <a:t>      "annotation": "T14; quorum does not prove independence",</a:t>
            </a:r>
          </a:p>
          <a:p>
            <a:r>
              <a:rPr lang="en-US"/>
              <a:t>      "requirements": [</a:t>
            </a:r>
          </a:p>
          <a:p>
            <a:r>
              <a:rPr lang="en-US"/>
              <a:t>        "F2",</a:t>
            </a:r>
          </a:p>
          <a:p>
            <a:r>
              <a:rPr lang="en-US"/>
              <a:t>        "F3",</a:t>
            </a:r>
          </a:p>
          <a:p>
            <a:r>
              <a:rPr lang="en-US"/>
              <a:t>        "F4"</a:t>
            </a:r>
          </a:p>
          <a:p>
            <a:r>
              <a:rPr lang="en-US"/>
              <a:t>      ],</a:t>
            </a:r>
          </a:p>
          <a:p>
            <a:r>
              <a:rPr lang="en-US"/>
              <a:t>      "assumptions": [],</a:t>
            </a:r>
          </a:p>
          <a:p>
            <a:r>
              <a:rPr lang="en-US"/>
              <a:t>      "rationale":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 The model presupposes all other contract eligibility, timing, and reportability conditions. The chapter treats sufficiently broad collusion as outside its general application-level guarantees."</a:t>
            </a:r>
          </a:p>
          <a:p>
            <a:r>
              <a:rPr lang="en-US"/>
              <a:t>    }</a:t>
            </a:r>
          </a:p>
          <a:p>
            <a:r>
              <a:rPr lang="en-US"/>
              <a:t>  ],</a:t>
            </a:r>
          </a:p>
          <a:p>
            <a:r>
              <a:rPr lang="en-US"/>
              <a:t>  "boundary": "Targeted recovery does not guarantee global availability or log consistency.",</a:t>
            </a:r>
          </a:p>
          <a:p>
            <a:r>
              <a:rPr lang="en-US"/>
              <a:t>  "notes": "The root is OR because disrupting progress, auditability, or coordination is sufficient for this high-level adversary objective. Only the unjustified-recovery branch is AND. Successful replacement tests do not demonstrate resistance to colluding voters or permanent shared-infrastructure outages.",</a:t>
            </a:r>
          </a:p>
          <a:p>
            <a:r>
              <a:rPr lang="en-US"/>
              <a:t>  "number": 3,</a:t>
            </a:r>
          </a:p>
          <a:p>
            <a:r>
              <a:rPr lang="en-US"/>
              <a:t>  "slug": "availability",</a:t>
            </a:r>
          </a:p>
          <a:p>
            <a:r>
              <a:rPr lang="en-US"/>
              <a:t>  "label_de": "Verfügbarkeit und Auditspur",</a:t>
            </a:r>
          </a:p>
          <a:p>
            <a:r>
              <a:rPr lang="en-US"/>
              <a:t>  "goal": "Disrupt progress or auditability",</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models, keys and trust roots",</a:t>
            </a:r>
          </a:p>
          <a:p>
            <a:r>
              <a:rPr lang="en-US"/>
              <a:t>  "assets": [</a:t>
            </a:r>
          </a:p>
          <a:p>
            <a:r>
              <a:rPr lang="en-US"/>
              <a:t>    "A4",</a:t>
            </a:r>
          </a:p>
          <a:p>
            <a:r>
              <a:rPr lang="en-US"/>
              <a:t>    "A7"</a:t>
            </a:r>
          </a:p>
          <a:p>
            <a:r>
              <a:rPr lang="en-US"/>
              <a:t>  ],</a:t>
            </a:r>
          </a:p>
          <a:p>
            <a:r>
              <a:rPr lang="en-US"/>
              <a:t>  "requirements": [</a:t>
            </a:r>
          </a:p>
          <a:p>
            <a:r>
              <a:rPr lang="en-US"/>
              <a:t>    "F3",</a:t>
            </a:r>
          </a:p>
          <a:p>
            <a:r>
              <a:rPr lang="en-US"/>
              <a:t>    "F7",</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"branches": [</a:t>
            </a:r>
          </a:p>
          <a:p>
            <a:r>
              <a:rPr lang="en-US"/>
              <a:t>    {</a:t>
            </a:r>
          </a:p>
          <a:p>
            <a:r>
              <a:rPr lang="en-US"/>
              <a:t>      "label": "Abuse model distribution",</a:t>
            </a:r>
          </a:p>
          <a:p>
            <a:r>
              <a:rPr lang="en-US"/>
              <a:t>      "leaves": [</a:t>
            </a:r>
          </a:p>
          <a:p>
            <a:r>
              <a:rPr lang="en-US"/>
              <a:t>        {</a:t>
            </a:r>
          </a:p>
          <a:p>
            <a:r>
              <a:rPr lang="en-US"/>
              <a:t>          "label": "Recover a key outside the recipient set",</a:t>
            </a:r>
          </a:p>
          <a:p>
            <a:r>
              <a:rPr lang="en-US"/>
              <a:t>          "threats": [</a:t>
            </a:r>
          </a:p>
          <a:p>
            <a:r>
              <a:rPr lang="en-US"/>
              <a:t>            "T5"</a:t>
            </a:r>
          </a:p>
          <a:p>
            <a:r>
              <a:rPr lang="en-US"/>
              <a:t>          ],</a:t>
            </a:r>
          </a:p>
          <a:p>
            <a:r>
              <a:rPr lang="en-US"/>
              <a:t>          "note": "Obtain a model key through the intended publication/recovery path without being an eligible recipient. Public ciphertext downloads alone do not constitute disclosure.",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"label": "Obtain plaintext through unauthorized access",</a:t>
            </a:r>
          </a:p>
          <a:p>
            <a:r>
              <a:rPr lang="en-US"/>
              <a:t>          "threats": [</a:t>
            </a:r>
          </a:p>
          <a:p>
            <a:r>
              <a:rPr lang="en-US"/>
              <a:t>            "T5"</a:t>
            </a:r>
          </a:p>
          <a:p>
            <a:r>
              <a:rPr lang="en-US"/>
              <a:t>          ],</a:t>
            </a:r>
          </a:p>
          <a:p>
            <a:r>
              <a:rPr lang="en-US"/>
              <a:t>          "note": "Obtain a plaintext model or service-local secret through the intended distribution path. Subsequent redistribution by an authorized plaintext recipient is explicitly outside the guarantee.",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"F7; recipient redistribution is out of scope",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"Compromise secret custody",</a:t>
            </a:r>
          </a:p>
          <a:p>
            <a:r>
              <a:rPr lang="en-US"/>
              <a:t>      "leaves": [</a:t>
            </a:r>
          </a:p>
          <a:p>
            <a:r>
              <a:rPr lang="en-US"/>
              <a:t>        {</a:t>
            </a:r>
          </a:p>
          <a:p>
            <a:r>
              <a:rPr lang="en-US"/>
              <a:t>          "label": "Extract private or process keys",</a:t>
            </a:r>
          </a:p>
          <a:p>
            <a:r>
              <a:rPr lang="en-US"/>
              <a:t>          "threats": [</a:t>
            </a:r>
          </a:p>
          <a:p>
            <a:r>
              <a:rPr lang="en-US"/>
              <a:t>            "T13"</a:t>
            </a:r>
          </a:p>
          <a:p>
            <a:r>
              <a:rPr lang="en-US"/>
              <a:t>          ],</a:t>
            </a:r>
          </a:p>
          <a:p>
            <a:r>
              <a:rPr lang="en-US"/>
              <a:t>          "note": "Extract participant, process, medical-signer, receiver, or other protected private keys. The corresponding guarantees depend on protected key custody.",</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"label": "Misuse live keys inside a compromised workload",</a:t>
            </a:r>
          </a:p>
          <a:p>
            <a:r>
              <a:rPr lang="en-US"/>
              <a:t>          "threats": [</a:t>
            </a:r>
          </a:p>
          <a:p>
            <a:r>
              <a:rPr lang="en-US"/>
              <a:t>            "T13"</a:t>
            </a:r>
          </a:p>
          <a:p>
            <a:r>
              <a:rPr lang="en-US"/>
              <a:t>          ],</a:t>
            </a:r>
          </a:p>
          <a:p>
            <a:r>
              <a:rPr lang="en-US"/>
              <a:t>          "note": "Use protected key material for unauthorized operations after compromising its workload. A process exploit alone does not establish this leaf; actual secret misuse is required. Additional signatures do not repair a compromised signer.",</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 boundary: AS5",</a:t>
            </a:r>
          </a:p>
          <a:p>
            <a:r>
              <a:rPr lang="en-US"/>
              <a:t>      "requirements": [],</a:t>
            </a:r>
          </a:p>
          <a:p>
            <a:r>
              <a:rPr lang="en-US"/>
              <a:t>      "assumptions": [</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"Defeat the roots of trust",</a:t>
            </a:r>
          </a:p>
          <a:p>
            <a:r>
              <a:rPr lang="en-US"/>
              <a:t>      "leaves": [</a:t>
            </a:r>
          </a:p>
          <a:p>
            <a:r>
              <a:rPr lang="en-US"/>
              <a:t>        {</a:t>
            </a:r>
          </a:p>
          <a:p>
            <a:r>
              <a:rPr lang="en-US"/>
              <a:t>          "label": "Break cryptographic or hardware trust",</a:t>
            </a:r>
          </a:p>
          <a:p>
            <a:r>
              <a:rPr lang="en-US"/>
              <a:t>          "threats": [</a:t>
            </a:r>
          </a:p>
          <a:p>
            <a:r>
              <a:rPr lang="en-US"/>
              <a:t>            "T13"</a:t>
            </a:r>
          </a:p>
          <a:p>
            <a:r>
              <a:rPr lang="en-US"/>
              <a:t>          ],</a:t>
            </a:r>
          </a:p>
          <a:p>
            <a:r>
              <a:rPr lang="en-US"/>
              <a:t>          "note": "Break a selected primitive or defeat the measured-execution/attestation root. This is an explicit premise boundary, not an exploit countered by an application-level test.",</a:t>
            </a:r>
          </a:p>
          <a:p>
            <a:r>
              <a:rPr lang="en-US"/>
              <a:t>          "requirements": [],</a:t>
            </a:r>
          </a:p>
          <a:p>
            <a:r>
              <a:rPr lang="en-US"/>
              <a:t>          "assumptions": [</a:t>
            </a:r>
          </a:p>
          <a:p>
            <a:r>
              <a:rPr lang="en-US"/>
              <a:t>            "AS1",</a:t>
            </a:r>
          </a:p>
          <a:p>
            <a:r>
              <a:rPr lang="en-US"/>
              <a:t>            "AS3"</a:t>
            </a:r>
          </a:p>
          <a:p>
            <a:r>
              <a:rPr lang="en-US"/>
              <a:t>          ],</a:t>
            </a:r>
          </a:p>
          <a:p>
            <a:r>
              <a:rPr lang="en-US"/>
              <a:t>          "scope": "assumption_boundary"</a:t>
            </a:r>
          </a:p>
          <a:p>
            <a:r>
              <a:rPr lang="en-US"/>
              <a:t>        },</a:t>
            </a:r>
          </a:p>
          <a:p>
            <a:r>
              <a:rPr lang="en-US"/>
              <a:t>        {</a:t>
            </a:r>
          </a:p>
          <a:p>
            <a:r>
              <a:rPr lang="en-US"/>
              <a:t>          "label": "Compromise governance authority",</a:t>
            </a:r>
          </a:p>
          <a:p>
            <a:r>
              <a:rPr lang="en-US"/>
              <a:t>          "threats": [</a:t>
            </a:r>
          </a:p>
          <a:p>
            <a:r>
              <a:rPr lang="en-US"/>
              <a:t>            "T13",</a:t>
            </a:r>
          </a:p>
          <a:p>
            <a:r>
              <a:rPr lang="en-US"/>
              <a:t>            "T14"</a:t>
            </a:r>
          </a:p>
          <a:p>
            <a:r>
              <a:rPr lang="en-US"/>
              <a:t>          ],</a:t>
            </a:r>
          </a:p>
          <a:p>
            <a:r>
              <a:rPr lang="en-US"/>
              <a:t>          "note": "Compromise governance keys or coordinate policy abuse. Correct policy configuration, signer governance, and intact protected principals remain assumptions.",</a:t>
            </a:r>
          </a:p>
          <a:p>
            <a:r>
              <a:rPr lang="en-US"/>
              <a:t>          "requirements": [],</a:t>
            </a:r>
          </a:p>
          <a:p>
            <a:r>
              <a:rPr lang="en-US"/>
              <a:t>          "assumptions": [</a:t>
            </a:r>
          </a:p>
          <a:p>
            <a:r>
              <a:rPr lang="en-US"/>
              <a:t>            "AS4",</a:t>
            </a:r>
          </a:p>
          <a:p>
            <a:r>
              <a:rPr lang="en-US"/>
              <a:t>            "AS5",</a:t>
            </a:r>
          </a:p>
          <a:p>
            <a:r>
              <a:rPr lang="en-US"/>
              <a:t>            "AS7"</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"Assumptions: AS1 · AS3–AS5 · AS7",</a:t>
            </a:r>
          </a:p>
          <a:p>
            <a:r>
              <a:rPr lang="en-US"/>
              <a:t>      "requirements":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"Protection ends at compromised roots or authorized plaintext redistribution.",</a:t>
            </a:r>
          </a:p>
          <a:p>
            <a:r>
              <a:rPr lang="en-US"/>
              <a:t>  "notes": "The broad root intentionally includes both confidentiality and key-trust compromise: a defeated signing/attestation root can violate integrity even before disclosure occurs. T5 describes the intended encrypted-distribution boundary; T13 marks explicit trust premises; governance collusion is part of T14. These are distinct from clinically incorrect but correctly signed data.",</a:t>
            </a:r>
          </a:p>
          <a:p>
            <a:r>
              <a:rPr lang="en-US"/>
              <a:t>  "number": 4,</a:t>
            </a:r>
          </a:p>
          <a:p>
            <a:r>
              <a:rPr lang="en-US"/>
              <a:t>  "slug": "confidentiality",</a:t>
            </a:r>
          </a:p>
          <a:p>
            <a:r>
              <a:rPr lang="en-US"/>
              <a:t>  "label_de": "Modelle, Schlüssel und Vertrauenswurzeln",</a:t>
            </a:r>
          </a:p>
          <a:p>
            <a:r>
              <a:rPr lang="en-US"/>
              <a:t>  "goal": "Expose secrets or defeat trust roots",</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model-production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1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Compromise model production"/>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Compromise model production</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Abuse participant authority"/>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Abuse participant authority</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1 · Get an unapproved workload admitted"/>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 · Get an unapproved workload admitted</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2 · Get stale authority or updates accepted"/>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T2 · Get stale authority or updates accepted</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rrupt training inputs"/>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Corrupt training inputs</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3 · Get altered data or signer roles accepted"/>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T3 · Get altered data or signer roles accepted</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7 / T14 · Get valid poisoned contributions accepted"/>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T7 / T14 · Get valid poisoned contributions accepted</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Corrupt the publication"/>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Corrupt the publication</a:t>
            </a:r>
          </a:p>
        </p:txBody>
      </p:sp>
      <p:sp>
        <p:nvSpPr>
          <p:cNvPr id="54" name="Rounded Rectangle 53"/>
          <p:cNvSpPr/>
          <p:nvPr/>
        </p:nvSpPr>
        <p:spPr>
          <a:xfrm>
            <a:off x="6798564" y="4590288"/>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OR"/>
          <p:cNvSpPr txBox="1"/>
          <p:nvPr/>
        </p:nvSpPr>
        <p:spPr>
          <a:xfrm>
            <a:off x="6821424" y="4604003"/>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4 · Get substituted or stale artifacts accepted"/>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T4 · Get substituted or stale artifacts accepted</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6 · Publish while omitting an accepted update"/>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T6 · Publish while omitting an accepted update</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inference and agent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2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Accept a misbound or unverified result"/>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Accept a misbound or unverified result</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Substitute bound objects"/>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Substitute bound objects</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8 · Get an answer for the wrong model/input accepted"/>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T8 · Get an answer for the wrong model/input accepted</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8 · Pass unrelated output/evidence as verified"/>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T8 · Pass unrelated output/evidence as verified</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Replay an earlier context"/>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Replay an earlier context</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2 · Get stale request/job context accepted"/>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T2 · Get stale request/job context accepted</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2 · Get another session's receipt accepted"/>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T2 · Get another session's receipt accepted</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Manipulate the agent"/>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Manipulate the agent</a:t>
            </a:r>
          </a:p>
        </p:txBody>
      </p:sp>
      <p:sp>
        <p:nvSpPr>
          <p:cNvPr id="54" name="Rounded Rectangle 53"/>
          <p:cNvSpPr/>
          <p:nvPr/>
        </p:nvSpPr>
        <p:spPr>
          <a:xfrm>
            <a:off x="6798564" y="4590288"/>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OR"/>
          <p:cNvSpPr txBox="1"/>
          <p:nvPr/>
        </p:nvSpPr>
        <p:spPr>
          <a:xfrm>
            <a:off x="6821424" y="4604003"/>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9 · Get an unverified answer accepted via injection"/>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T9 · Get an unverified answer accepted via injection</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9 · Get spoofed tool identity/output accepted"/>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T9 · Get spoofed tool identity/output accepted</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progress and auditability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3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Disrupt progress or auditability"/>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Disrupt progress or auditability</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Stop successful completion"/>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Stop successful completion</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6 · Stall or withhold aggregation"/>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T6 · Stall or withhold aggregation</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12 · Make shared infrastructure unavailable"/>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T12 · Make shared infrastructure unavailable</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Disrupt the audit trail"/>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Disrupt the audit trail</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0 · Suppress results or required evidence"/>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T10 · Suppress results or required evidence</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1 · Block log writes or present conflicting views"/>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T11 · Block log writes or present conflicting views</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Force unjustified recovery"/>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Force unjustified recovery</a:t>
            </a:r>
          </a:p>
        </p:txBody>
      </p:sp>
      <p:sp>
        <p:nvSpPr>
          <p:cNvPr id="54" name="Rounded Rectangle 53"/>
          <p:cNvSpPr/>
          <p:nvPr/>
        </p:nvSpPr>
        <p:spPr>
          <a:xfrm>
            <a:off x="6757416" y="4590288"/>
            <a:ext cx="475488" cy="256032"/>
          </a:xfrm>
          <a:prstGeom prst="roundRect">
            <a:avLst/>
          </a:prstGeom>
          <a:solidFill>
            <a:srgbClr val="FFF5E5"/>
          </a:solidFill>
          <a:ln w="10795">
            <a:solidFill>
              <a:srgbClr val="9A6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AND"/>
          <p:cNvSpPr txBox="1"/>
          <p:nvPr/>
        </p:nvSpPr>
        <p:spPr>
          <a:xfrm>
            <a:off x="6780276" y="4604003"/>
            <a:ext cx="429768" cy="228600"/>
          </a:xfrm>
          <a:prstGeom prst="rect">
            <a:avLst/>
          </a:prstGeom>
          <a:noFill/>
        </p:spPr>
        <p:txBody>
          <a:bodyPr wrap="square" lIns="0" rIns="0" tIns="0" bIns="0" anchor="ctr">
            <a:spAutoFit/>
          </a:bodyPr>
          <a:lstStyle/>
          <a:p>
            <a:pPr algn="ctr"/>
            <a:r>
              <a:rPr sz="1050" b="1" lang="en-US">
                <a:solidFill>
                  <a:srgbClr val="9A6100"/>
                </a:solidFill>
                <a:latin typeface="Arial"/>
              </a:rPr>
              <a:t>AND</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14 · Reach the eligible-reporter threshold"/>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T14 · Reach the eligible-reporter threshold</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14 · Make those reports falsely allege failure"/>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T14 · Make those reports falsely allege failure</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models, keys and trust roots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4 / 4 · LOOK B</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 Tree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640080" y="1399032"/>
            <a:ext cx="10908792" cy="4014215"/>
          </a:xfrm>
          <a:prstGeom prst="roundRect">
            <a:avLst/>
          </a:prstGeom>
          <a:solidFill>
            <a:srgbClr val="172A3A"/>
          </a:solidFill>
          <a:ln>
            <a:solidFill>
              <a:srgbClr val="17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3392424" y="3456432"/>
            <a:ext cx="694944" cy="0"/>
          </a:xfrm>
          <a:prstGeom prst="line">
            <a:avLst/>
          </a:prstGeom>
          <a:ln w="1905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7368" y="2212848"/>
            <a:ext cx="0" cy="2505455"/>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87368" y="2212848"/>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7368" y="3465576"/>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7368" y="4718303"/>
            <a:ext cx="338328"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 y="2852928"/>
            <a:ext cx="2532888" cy="1207008"/>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ack tree: ATTACKER GOAL"/>
          <p:cNvSpPr txBox="1"/>
          <p:nvPr/>
        </p:nvSpPr>
        <p:spPr>
          <a:xfrm>
            <a:off x="996696" y="2971800"/>
            <a:ext cx="2258568" cy="210312"/>
          </a:xfrm>
          <a:prstGeom prst="rect">
            <a:avLst/>
          </a:prstGeom>
          <a:noFill/>
        </p:spPr>
        <p:txBody>
          <a:bodyPr wrap="square" lIns="0" rIns="0" tIns="0" bIns="0" anchor="ctr">
            <a:spAutoFit/>
          </a:bodyPr>
          <a:lstStyle/>
          <a:p>
            <a:pPr algn="l"/>
            <a:r>
              <a:rPr sz="1050" b="1" lang="en-US">
                <a:solidFill>
                  <a:srgbClr val="FFFFFF"/>
                </a:solidFill>
                <a:latin typeface="Arial"/>
              </a:rPr>
              <a:t>ATTACKER GOAL</a:t>
            </a:r>
          </a:p>
        </p:txBody>
      </p:sp>
      <p:sp>
        <p:nvSpPr>
          <p:cNvPr id="21" name="Attack tree: Expose secrets or defeat trust roots"/>
          <p:cNvSpPr txBox="1"/>
          <p:nvPr/>
        </p:nvSpPr>
        <p:spPr>
          <a:xfrm>
            <a:off x="996696" y="3255264"/>
            <a:ext cx="2258568" cy="640080"/>
          </a:xfrm>
          <a:prstGeom prst="rect">
            <a:avLst/>
          </a:prstGeom>
          <a:noFill/>
        </p:spPr>
        <p:txBody>
          <a:bodyPr wrap="square" lIns="0" rIns="0" tIns="0" bIns="0" anchor="ctr">
            <a:spAutoFit/>
          </a:bodyPr>
          <a:lstStyle/>
          <a:p>
            <a:pPr algn="l"/>
            <a:r>
              <a:rPr sz="1600" b="1" lang="en-US">
                <a:solidFill>
                  <a:srgbClr val="FFFFFF"/>
                </a:solidFill>
                <a:latin typeface="Arial"/>
              </a:rPr>
              <a:t>Expose secrets or defeat trust roots</a:t>
            </a:r>
          </a:p>
        </p:txBody>
      </p:sp>
      <p:sp>
        <p:nvSpPr>
          <p:cNvPr id="22" name="Rounded Rectangle 21"/>
          <p:cNvSpPr/>
          <p:nvPr/>
        </p:nvSpPr>
        <p:spPr>
          <a:xfrm>
            <a:off x="3479291" y="3328415"/>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OR"/>
          <p:cNvSpPr txBox="1"/>
          <p:nvPr/>
        </p:nvSpPr>
        <p:spPr>
          <a:xfrm>
            <a:off x="3502151" y="3342132"/>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cxnSp>
        <p:nvCxnSpPr>
          <p:cNvPr id="24" name="Connector 23"/>
          <p:cNvCxnSpPr/>
          <p:nvPr/>
        </p:nvCxnSpPr>
        <p:spPr>
          <a:xfrm>
            <a:off x="6629400" y="2212848"/>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1892807"/>
            <a:ext cx="0" cy="640081"/>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34072" y="1892807"/>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34072" y="2532888"/>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25696" y="1883664"/>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Abuse model distribution"/>
          <p:cNvSpPr txBox="1"/>
          <p:nvPr/>
        </p:nvSpPr>
        <p:spPr>
          <a:xfrm>
            <a:off x="4572000" y="1933956"/>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Abuse model distribution</a:t>
            </a:r>
          </a:p>
        </p:txBody>
      </p:sp>
      <p:sp>
        <p:nvSpPr>
          <p:cNvPr id="30" name="Rounded Rectangle 29"/>
          <p:cNvSpPr/>
          <p:nvPr/>
        </p:nvSpPr>
        <p:spPr>
          <a:xfrm>
            <a:off x="6798564" y="2084831"/>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ack tree: OR"/>
          <p:cNvSpPr txBox="1"/>
          <p:nvPr/>
        </p:nvSpPr>
        <p:spPr>
          <a:xfrm>
            <a:off x="6821424" y="2098548"/>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32" name="Rounded Rectangle 31"/>
          <p:cNvSpPr/>
          <p:nvPr/>
        </p:nvSpPr>
        <p:spPr>
          <a:xfrm>
            <a:off x="7726679" y="162763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T5 · Recover a key outside the recipient set"/>
          <p:cNvSpPr txBox="1"/>
          <p:nvPr/>
        </p:nvSpPr>
        <p:spPr>
          <a:xfrm>
            <a:off x="7863840" y="166420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T5 · Recover a key outside the recipient set</a:t>
            </a:r>
          </a:p>
        </p:txBody>
      </p:sp>
      <p:sp>
        <p:nvSpPr>
          <p:cNvPr id="34" name="Rounded Rectangle 33"/>
          <p:cNvSpPr/>
          <p:nvPr/>
        </p:nvSpPr>
        <p:spPr>
          <a:xfrm>
            <a:off x="7726679" y="2267712"/>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ack tree: T5 · Obtain plaintext through unauthorized access"/>
          <p:cNvSpPr txBox="1"/>
          <p:nvPr/>
        </p:nvSpPr>
        <p:spPr>
          <a:xfrm>
            <a:off x="7863840" y="2304288"/>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T5 · Obtain plaintext through unauthorized access</a:t>
            </a:r>
          </a:p>
        </p:txBody>
      </p:sp>
      <p:cxnSp>
        <p:nvCxnSpPr>
          <p:cNvPr id="36" name="Connector 35"/>
          <p:cNvCxnSpPr/>
          <p:nvPr/>
        </p:nvCxnSpPr>
        <p:spPr>
          <a:xfrm>
            <a:off x="6629400" y="3465576"/>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2" y="3145536"/>
            <a:ext cx="0" cy="640079"/>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2" y="3145536"/>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434072" y="3785615"/>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425696" y="3136391"/>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mpromise secret custody"/>
          <p:cNvSpPr txBox="1"/>
          <p:nvPr/>
        </p:nvSpPr>
        <p:spPr>
          <a:xfrm>
            <a:off x="4572000" y="3186684"/>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Compromise secret custody</a:t>
            </a:r>
          </a:p>
        </p:txBody>
      </p:sp>
      <p:sp>
        <p:nvSpPr>
          <p:cNvPr id="42" name="Rounded Rectangle 41"/>
          <p:cNvSpPr/>
          <p:nvPr/>
        </p:nvSpPr>
        <p:spPr>
          <a:xfrm>
            <a:off x="6798564" y="3337560"/>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6821424" y="3351276"/>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44" name="Rounded Rectangle 43"/>
          <p:cNvSpPr/>
          <p:nvPr/>
        </p:nvSpPr>
        <p:spPr>
          <a:xfrm>
            <a:off x="7726679" y="2880360"/>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3 · Extract private or process keys"/>
          <p:cNvSpPr txBox="1"/>
          <p:nvPr/>
        </p:nvSpPr>
        <p:spPr>
          <a:xfrm>
            <a:off x="7863840" y="2916936"/>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Extract private or process keys</a:t>
            </a:r>
          </a:p>
        </p:txBody>
      </p:sp>
      <p:sp>
        <p:nvSpPr>
          <p:cNvPr id="46" name="Rounded Rectangle 45"/>
          <p:cNvSpPr/>
          <p:nvPr/>
        </p:nvSpPr>
        <p:spPr>
          <a:xfrm>
            <a:off x="7726679" y="3520439"/>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3 · Misuse live keys inside a compromised workload"/>
          <p:cNvSpPr txBox="1"/>
          <p:nvPr/>
        </p:nvSpPr>
        <p:spPr>
          <a:xfrm>
            <a:off x="7863840" y="3557015"/>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Misuse live keys inside a compromised workload</a:t>
            </a:r>
          </a:p>
        </p:txBody>
      </p:sp>
      <p:cxnSp>
        <p:nvCxnSpPr>
          <p:cNvPr id="48" name="Connector 47"/>
          <p:cNvCxnSpPr/>
          <p:nvPr/>
        </p:nvCxnSpPr>
        <p:spPr>
          <a:xfrm>
            <a:off x="6629400" y="4718303"/>
            <a:ext cx="804672"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434072" y="4398264"/>
            <a:ext cx="0" cy="64008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434072" y="439826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434072" y="5038344"/>
            <a:ext cx="292607" cy="0"/>
          </a:xfrm>
          <a:prstGeom prst="line">
            <a:avLst/>
          </a:prstGeom>
          <a:ln w="16510">
            <a:solidFill>
              <a:srgbClr val="7096B3"/>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425696" y="4389120"/>
            <a:ext cx="2203704" cy="658368"/>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Defeat the roots of trust"/>
          <p:cNvSpPr txBox="1"/>
          <p:nvPr/>
        </p:nvSpPr>
        <p:spPr>
          <a:xfrm>
            <a:off x="4572000" y="4439412"/>
            <a:ext cx="1911095" cy="557784"/>
          </a:xfrm>
          <a:prstGeom prst="rect">
            <a:avLst/>
          </a:prstGeom>
          <a:noFill/>
        </p:spPr>
        <p:txBody>
          <a:bodyPr wrap="square" lIns="0" rIns="0" tIns="0" bIns="0" anchor="ctr">
            <a:spAutoFit/>
          </a:bodyPr>
          <a:lstStyle/>
          <a:p>
            <a:pPr algn="l"/>
            <a:r>
              <a:rPr sz="1340" b="1" lang="en-US">
                <a:solidFill>
                  <a:srgbClr val="FFFFFF"/>
                </a:solidFill>
                <a:latin typeface="Arial"/>
              </a:rPr>
              <a:t>Defeat the roots of trust</a:t>
            </a:r>
          </a:p>
        </p:txBody>
      </p:sp>
      <p:sp>
        <p:nvSpPr>
          <p:cNvPr id="54" name="Rounded Rectangle 53"/>
          <p:cNvSpPr/>
          <p:nvPr/>
        </p:nvSpPr>
        <p:spPr>
          <a:xfrm>
            <a:off x="6798564" y="4590288"/>
            <a:ext cx="393192" cy="256032"/>
          </a:xfrm>
          <a:prstGeom prst="roundRect">
            <a:avLst/>
          </a:prstGeom>
          <a:solidFill>
            <a:srgbClr val="223E53"/>
          </a:solidFill>
          <a:ln w="10795">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OR"/>
          <p:cNvSpPr txBox="1"/>
          <p:nvPr/>
        </p:nvSpPr>
        <p:spPr>
          <a:xfrm>
            <a:off x="6821424" y="4604003"/>
            <a:ext cx="347472" cy="228600"/>
          </a:xfrm>
          <a:prstGeom prst="rect">
            <a:avLst/>
          </a:prstGeom>
          <a:noFill/>
        </p:spPr>
        <p:txBody>
          <a:bodyPr wrap="square" lIns="0" rIns="0" tIns="0" bIns="0" anchor="ctr">
            <a:spAutoFit/>
          </a:bodyPr>
          <a:lstStyle/>
          <a:p>
            <a:pPr algn="ctr"/>
            <a:r>
              <a:rPr sz="1050" b="1" lang="en-US">
                <a:solidFill>
                  <a:srgbClr val="FFFFFF"/>
                </a:solidFill>
                <a:latin typeface="Arial"/>
              </a:rPr>
              <a:t>OR</a:t>
            </a:r>
          </a:p>
        </p:txBody>
      </p:sp>
      <p:sp>
        <p:nvSpPr>
          <p:cNvPr id="56" name="Rounded Rectangle 55"/>
          <p:cNvSpPr/>
          <p:nvPr/>
        </p:nvSpPr>
        <p:spPr>
          <a:xfrm>
            <a:off x="7726679" y="4133087"/>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T13 · Break cryptographic or hardware trust"/>
          <p:cNvSpPr txBox="1"/>
          <p:nvPr/>
        </p:nvSpPr>
        <p:spPr>
          <a:xfrm>
            <a:off x="7863840" y="4169663"/>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Break cryptographic or hardware trust</a:t>
            </a:r>
          </a:p>
        </p:txBody>
      </p:sp>
      <p:sp>
        <p:nvSpPr>
          <p:cNvPr id="58" name="Rounded Rectangle 57"/>
          <p:cNvSpPr/>
          <p:nvPr/>
        </p:nvSpPr>
        <p:spPr>
          <a:xfrm>
            <a:off x="7726679" y="4773168"/>
            <a:ext cx="3557016" cy="530352"/>
          </a:xfrm>
          <a:prstGeom prst="roundRect">
            <a:avLst/>
          </a:prstGeom>
          <a:solidFill>
            <a:srgbClr val="223E53"/>
          </a:solidFill>
          <a:ln w="10160">
            <a:solidFill>
              <a:srgbClr val="7096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T13 / T14 · Compromise governance authority"/>
          <p:cNvSpPr txBox="1"/>
          <p:nvPr/>
        </p:nvSpPr>
        <p:spPr>
          <a:xfrm>
            <a:off x="7863840" y="4809744"/>
            <a:ext cx="3282696" cy="457200"/>
          </a:xfrm>
          <a:prstGeom prst="rect">
            <a:avLst/>
          </a:prstGeom>
          <a:noFill/>
        </p:spPr>
        <p:txBody>
          <a:bodyPr wrap="square" lIns="0" rIns="0" tIns="0" bIns="0" anchor="ctr">
            <a:spAutoFit/>
          </a:bodyPr>
          <a:lstStyle/>
          <a:p>
            <a:pPr algn="l"/>
            <a:r>
              <a:rPr sz="1320" b="0" lang="en-US">
                <a:solidFill>
                  <a:srgbClr val="FFFFFF"/>
                </a:solidFill>
                <a:latin typeface="Arial"/>
              </a:rPr>
              <a:t>T13 / T14 · Compromise governance authority</a:t>
            </a:r>
          </a:p>
        </p:txBody>
      </p:sp>
      <p:sp>
        <p:nvSpPr>
          <p:cNvPr id="60"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Chapter 4 attack trees: B · Horizontal auf dunklem Grund</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