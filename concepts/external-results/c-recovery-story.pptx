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tests: follow the path to the assertion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External results: TEST AREA"/>
          <p:cNvSpPr txBox="1"/>
          <p:nvPr/>
        </p:nvSpPr>
        <p:spPr>
          <a:xfrm>
            <a:off x="777240" y="170992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TEST AREA</a:t>
            </a:r>
          </a:p>
        </p:txBody>
      </p:sp>
      <p:sp>
        <p:nvSpPr>
          <p:cNvPr id="15" name="External results: INJECT / RETRIEVE"/>
          <p:cNvSpPr txBox="1"/>
          <p:nvPr/>
        </p:nvSpPr>
        <p:spPr>
          <a:xfrm>
            <a:off x="2459736" y="1709928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INJECT / RETRIEVE</a:t>
            </a:r>
          </a:p>
        </p:txBody>
      </p:sp>
      <p:sp>
        <p:nvSpPr>
          <p:cNvPr id="16" name="External results: EXERCISE / VERIFY"/>
          <p:cNvSpPr txBox="1"/>
          <p:nvPr/>
        </p:nvSpPr>
        <p:spPr>
          <a:xfrm>
            <a:off x="5815584" y="170992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EXERCISE / VERIFY</a:t>
            </a:r>
          </a:p>
        </p:txBody>
      </p:sp>
      <p:sp>
        <p:nvSpPr>
          <p:cNvPr id="17" name="External results: CHECK THE RESULT"/>
          <p:cNvSpPr txBox="1"/>
          <p:nvPr/>
        </p:nvSpPr>
        <p:spPr>
          <a:xfrm>
            <a:off x="8229600" y="1709928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1" lang="en-US">
                <a:solidFill>
                  <a:srgbClr val="65737D"/>
                </a:solidFill>
                <a:latin typeface="Arial"/>
              </a:rPr>
              <a:t>CHECK THE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" y="1947672"/>
            <a:ext cx="1508760" cy="740664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xternal results: COLLECTION"/>
          <p:cNvSpPr txBox="1"/>
          <p:nvPr/>
        </p:nvSpPr>
        <p:spPr>
          <a:xfrm>
            <a:off x="795528" y="2039112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COLLECTION</a:t>
            </a:r>
          </a:p>
        </p:txBody>
      </p:sp>
      <p:sp>
        <p:nvSpPr>
          <p:cNvPr id="20" name="External results: 3 / 3 PASS"/>
          <p:cNvSpPr txBox="1"/>
          <p:nvPr/>
        </p:nvSpPr>
        <p:spPr>
          <a:xfrm>
            <a:off x="795528" y="2441448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0008" y="1947672"/>
            <a:ext cx="31272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xternal results: Allow 5 / 2 / zero uploads"/>
          <p:cNvSpPr txBox="1"/>
          <p:nvPr/>
        </p:nvSpPr>
        <p:spPr>
          <a:xfrm>
            <a:off x="2468879" y="2029967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Allow 5 / 2 / zero uploads</a:t>
            </a:r>
          </a:p>
        </p:txBody>
      </p:sp>
      <p:sp>
        <p:nvSpPr>
          <p:cNvPr id="23" name="External results: Block the remaining client uploads"/>
          <p:cNvSpPr txBox="1"/>
          <p:nvPr/>
        </p:nvSpPr>
        <p:spPr>
          <a:xfrm>
            <a:off x="2468879" y="2276856"/>
            <a:ext cx="288950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Block the remaining client uploads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96712" y="1947672"/>
            <a:ext cx="218541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xternal results: Aggregator"/>
          <p:cNvSpPr txBox="1"/>
          <p:nvPr/>
        </p:nvSpPr>
        <p:spPr>
          <a:xfrm>
            <a:off x="5815584" y="2029967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Aggregator</a:t>
            </a:r>
          </a:p>
        </p:txBody>
      </p:sp>
      <p:sp>
        <p:nvSpPr>
          <p:cNvPr id="26" name="External results: Client limit 5 · timeout 45 s"/>
          <p:cNvSpPr txBox="1"/>
          <p:nvPr/>
        </p:nvSpPr>
        <p:spPr>
          <a:xfrm>
            <a:off x="5815584" y="2276856"/>
            <a:ext cx="19476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Client limit 5 · timeout 45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0727" y="1947672"/>
            <a:ext cx="3419856" cy="740664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ternal results: Collection follows inputs + timeout"/>
          <p:cNvSpPr txBox="1"/>
          <p:nvPr/>
        </p:nvSpPr>
        <p:spPr>
          <a:xfrm>
            <a:off x="8229600" y="2029967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Collection follows inputs + timeout</a:t>
            </a:r>
          </a:p>
        </p:txBody>
      </p:sp>
      <p:sp>
        <p:nvSpPr>
          <p:cNvPr id="29" name="External results: 5: close at 16 s · 2: close at 45 s / Zero: no empty publication"/>
          <p:cNvSpPr txBox="1"/>
          <p:nvPr/>
        </p:nvSpPr>
        <p:spPr>
          <a:xfrm>
            <a:off x="8229600" y="2276856"/>
            <a:ext cx="31821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5: close at 16 s · 2: close at 45 s
Zero: no empty publication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3832" y="2318004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27848" y="2318004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67512" y="2752344"/>
            <a:ext cx="1508760" cy="740664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xternal results: RECOVERY"/>
          <p:cNvSpPr txBox="1"/>
          <p:nvPr/>
        </p:nvSpPr>
        <p:spPr>
          <a:xfrm>
            <a:off x="795528" y="2843784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RECOVERY</a:t>
            </a:r>
          </a:p>
        </p:txBody>
      </p:sp>
      <p:sp>
        <p:nvSpPr>
          <p:cNvPr id="34" name="External results: PASS"/>
          <p:cNvSpPr txBox="1"/>
          <p:nvPr/>
        </p:nvSpPr>
        <p:spPr>
          <a:xfrm>
            <a:off x="795528" y="3246120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0008" y="2752344"/>
            <a:ext cx="31272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xternal results: Stop the aggregator CVM"/>
          <p:cNvSpPr txBox="1"/>
          <p:nvPr/>
        </p:nvSpPr>
        <p:spPr>
          <a:xfrm>
            <a:off x="2468879" y="2834639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Stop the aggregator CVM</a:t>
            </a:r>
          </a:p>
        </p:txBody>
      </p:sp>
      <p:sp>
        <p:nvSpPr>
          <p:cNvPr id="37" name="External results: Submit 1 → 2 → 3 timeout reports"/>
          <p:cNvSpPr txBox="1"/>
          <p:nvPr/>
        </p:nvSpPr>
        <p:spPr>
          <a:xfrm>
            <a:off x="2468879" y="3081527"/>
            <a:ext cx="288950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Submit 1 → 2 → 3 timeout reports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96712" y="2752344"/>
            <a:ext cx="218541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ternal results: Quorum vote"/>
          <p:cNvSpPr txBox="1"/>
          <p:nvPr/>
        </p:nvSpPr>
        <p:spPr>
          <a:xfrm>
            <a:off x="5815584" y="2834639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Quorum vote</a:t>
            </a:r>
          </a:p>
        </p:txBody>
      </p:sp>
      <p:sp>
        <p:nvSpPr>
          <p:cNvPr id="40" name="External results: 3 of 5 eligible workers"/>
          <p:cNvSpPr txBox="1"/>
          <p:nvPr/>
        </p:nvSpPr>
        <p:spPr>
          <a:xfrm>
            <a:off x="5815584" y="3081527"/>
            <a:ext cx="19476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3 of 5 eligible workers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10727" y="2752344"/>
            <a:ext cx="3419856" cy="740664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xternal results: State preserved until quorum"/>
          <p:cNvSpPr txBox="1"/>
          <p:nvPr/>
        </p:nvSpPr>
        <p:spPr>
          <a:xfrm>
            <a:off x="8229600" y="2834639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State preserved until quorum</a:t>
            </a:r>
          </a:p>
        </p:txBody>
      </p:sp>
      <p:sp>
        <p:nvSpPr>
          <p:cNvPr id="43" name="External results: 1–2: unchanged · 3: abort + reselect / Resume 5 rounds with all 6 workers"/>
          <p:cNvSpPr txBox="1"/>
          <p:nvPr/>
        </p:nvSpPr>
        <p:spPr>
          <a:xfrm>
            <a:off x="8229600" y="3081527"/>
            <a:ext cx="318211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1–2: unchanged · 3: abort + reselect
Resume 5 rounds with all 6 workers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513832" y="312267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927848" y="312267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67512" y="3557016"/>
            <a:ext cx="1508760" cy="941832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xternal results: ACCESS / / CONTRACTS"/>
          <p:cNvSpPr txBox="1"/>
          <p:nvPr/>
        </p:nvSpPr>
        <p:spPr>
          <a:xfrm>
            <a:off x="795528" y="3648456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ACCESS /
CONTRACTS</a:t>
            </a:r>
          </a:p>
        </p:txBody>
      </p:sp>
      <p:sp>
        <p:nvSpPr>
          <p:cNvPr id="48" name="External results: 16 / 16 PASS"/>
          <p:cNvSpPr txBox="1"/>
          <p:nvPr/>
        </p:nvSpPr>
        <p:spPr>
          <a:xfrm>
            <a:off x="795528" y="4251960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0008" y="3557016"/>
            <a:ext cx="3127248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xternal results: Send unauthorized calls"/>
          <p:cNvSpPr txBox="1"/>
          <p:nvPr/>
        </p:nvSpPr>
        <p:spPr>
          <a:xfrm>
            <a:off x="2468879" y="363931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Send unauthorized calls</a:t>
            </a:r>
          </a:p>
        </p:txBody>
      </p:sp>
      <p:sp>
        <p:nvSpPr>
          <p:cNvPr id="51" name="External results: No / wrong credentials / Stale round / wrong aggregator / Unknown key / non-owner policy change"/>
          <p:cNvSpPr txBox="1"/>
          <p:nvPr/>
        </p:nvSpPr>
        <p:spPr>
          <a:xfrm>
            <a:off x="2468879" y="3886200"/>
            <a:ext cx="288950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No / wrong credentials
Stale round / wrong aggregator
Unknown key / non-owner policy change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96712" y="3557016"/>
            <a:ext cx="2185416" cy="941832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xternal results: API + contract guards"/>
          <p:cNvSpPr txBox="1"/>
          <p:nvPr/>
        </p:nvSpPr>
        <p:spPr>
          <a:xfrm>
            <a:off x="5815584" y="3639312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API + contract guards</a:t>
            </a:r>
          </a:p>
        </p:txBody>
      </p:sp>
      <p:sp>
        <p:nvSpPr>
          <p:cNvPr id="54" name="External results: UI · Control · inference APIs / Contract probes via eth_call"/>
          <p:cNvSpPr txBox="1"/>
          <p:nvPr/>
        </p:nvSpPr>
        <p:spPr>
          <a:xfrm>
            <a:off x="5815584" y="3886200"/>
            <a:ext cx="194767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UI · Control · inference APIs
Contract probes via eth_call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10727" y="3557016"/>
            <a:ext cx="3419856" cy="941832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xternal results: 10 × HTTP 401 + 4 expected reverts"/>
          <p:cNvSpPr txBox="1"/>
          <p:nvPr/>
        </p:nvSpPr>
        <p:spPr>
          <a:xfrm>
            <a:off x="8229600" y="3639312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10 × HTTP 401 + 4 expected reverts</a:t>
            </a:r>
          </a:p>
        </p:txBody>
      </p:sp>
      <p:sp>
        <p:nvSpPr>
          <p:cNvPr id="57" name="External results: Config unchanged; / authorized inference passed"/>
          <p:cNvSpPr txBox="1"/>
          <p:nvPr/>
        </p:nvSpPr>
        <p:spPr>
          <a:xfrm>
            <a:off x="8229600" y="3886200"/>
            <a:ext cx="318211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Config unchanged;
authorized inference passed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13832" y="4027932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927848" y="4027932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67512" y="4562856"/>
            <a:ext cx="1508760" cy="822960"/>
          </a:xfrm>
          <a:prstGeom prst="rect">
            <a:avLst/>
          </a:prstGeom>
          <a:solidFill>
            <a:srgbClr val="F3F5F6"/>
          </a:solidFill>
          <a:ln w="10160">
            <a:solidFill>
              <a:srgbClr val="F3F5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xternal results: RECEIPT / AUDIT"/>
          <p:cNvSpPr txBox="1"/>
          <p:nvPr/>
        </p:nvSpPr>
        <p:spPr>
          <a:xfrm>
            <a:off x="795528" y="4654296"/>
            <a:ext cx="127101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63440"/>
                </a:solidFill>
                <a:latin typeface="Arial"/>
              </a:rPr>
              <a:t>RECEIPT
AUDIT</a:t>
            </a:r>
          </a:p>
        </p:txBody>
      </p:sp>
      <p:sp>
        <p:nvSpPr>
          <p:cNvPr id="62" name="External results: 17 / 17 PASS"/>
          <p:cNvSpPr txBox="1"/>
          <p:nvPr/>
        </p:nvSpPr>
        <p:spPr>
          <a:xfrm>
            <a:off x="795528" y="5138928"/>
            <a:ext cx="1261872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50008" y="4562856"/>
            <a:ext cx="3127248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xternal results: Download published evidence"/>
          <p:cNvSpPr txBox="1"/>
          <p:nvPr/>
        </p:nvSpPr>
        <p:spPr>
          <a:xfrm>
            <a:off x="2468879" y="4645152"/>
            <a:ext cx="2889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Download published evidence</a:t>
            </a:r>
          </a:p>
        </p:txBody>
      </p:sp>
      <p:sp>
        <p:nvSpPr>
          <p:cNvPr id="65" name="External results: SCITT · AIR/TDX · Sello · sessions"/>
          <p:cNvSpPr txBox="1"/>
          <p:nvPr/>
        </p:nvSpPr>
        <p:spPr>
          <a:xfrm>
            <a:off x="2468879" y="4892040"/>
            <a:ext cx="288950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SCITT · AIR/TDX · Sello · sessions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96712" y="4562856"/>
            <a:ext cx="2185416" cy="822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xternal results: Re-run verification"/>
          <p:cNvSpPr txBox="1"/>
          <p:nvPr/>
        </p:nvSpPr>
        <p:spPr>
          <a:xfrm>
            <a:off x="5815584" y="4645152"/>
            <a:ext cx="194767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63440"/>
                </a:solidFill>
                <a:latin typeface="Arial"/>
              </a:rPr>
              <a:t>Re-run verification</a:t>
            </a:r>
          </a:p>
        </p:txBody>
      </p:sp>
      <p:sp>
        <p:nvSpPr>
          <p:cNvPr id="68" name="External results: Signatures + log inclusion / TDX quote, RTMR3 + image"/>
          <p:cNvSpPr txBox="1"/>
          <p:nvPr/>
        </p:nvSpPr>
        <p:spPr>
          <a:xfrm>
            <a:off x="5815584" y="4892040"/>
            <a:ext cx="194767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Signatures + log inclusion
TDX quote, RTMR3 + image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110727" y="4562856"/>
            <a:ext cx="3419856" cy="822960"/>
          </a:xfrm>
          <a:prstGeom prst="rect">
            <a:avLst/>
          </a:prstGeom>
          <a:solidFill>
            <a:srgbClr val="EDF6F0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xternal results: Evidence binds the recorded action"/>
          <p:cNvSpPr txBox="1"/>
          <p:nvPr/>
        </p:nvSpPr>
        <p:spPr>
          <a:xfrm>
            <a:off x="8229600" y="4645152"/>
            <a:ext cx="31821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Evidence binds the recorded action</a:t>
            </a:r>
          </a:p>
        </p:txBody>
      </p:sp>
      <p:sp>
        <p:nvSpPr>
          <p:cNvPr id="71" name="External results: Model / input / output hashes; / owner permission + receiver / session"/>
          <p:cNvSpPr txBox="1"/>
          <p:nvPr/>
        </p:nvSpPr>
        <p:spPr>
          <a:xfrm>
            <a:off x="8229600" y="489204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75" b="0" lang="en-US">
                <a:solidFill>
                  <a:srgbClr val="263440"/>
                </a:solidFill>
                <a:latin typeface="Arial"/>
              </a:rPr>
              <a:t>Model / input / output hashes;
owner permission + receiver / session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5513832" y="497433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927848" y="4974336"/>
            <a:ext cx="137160" cy="0"/>
          </a:xfrm>
          <a:prstGeom prst="line">
            <a:avLst/>
          </a:prstGeom>
          <a:ln w="17780">
            <a:solidFill>
              <a:srgbClr val="65737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76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