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tests: four questions, concrete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1719072"/>
            <a:ext cx="5321808" cy="1618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ternal results: 01  COLLECTION / TIMEOUT"/>
          <p:cNvSpPr txBox="1"/>
          <p:nvPr/>
        </p:nvSpPr>
        <p:spPr>
          <a:xfrm>
            <a:off x="813816" y="1819656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01  COLLECTION /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1801368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ternal results: 3 / 3 PASS"/>
          <p:cNvSpPr txBox="1"/>
          <p:nvPr/>
        </p:nvSpPr>
        <p:spPr>
          <a:xfrm>
            <a:off x="4709160" y="1810512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18" name="External results: When are the received updates processed?"/>
          <p:cNvSpPr txBox="1"/>
          <p:nvPr/>
        </p:nvSpPr>
        <p:spPr>
          <a:xfrm>
            <a:off x="813816" y="2103120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When are the received updates processed?</a:t>
            </a:r>
          </a:p>
        </p:txBody>
      </p:sp>
      <p:sp>
        <p:nvSpPr>
          <p:cNvPr id="19" name="External results: Allow all 5 uploads"/>
          <p:cNvSpPr txBox="1"/>
          <p:nvPr/>
        </p:nvSpPr>
        <p:spPr>
          <a:xfrm>
            <a:off x="813816" y="2450592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Allow all 5 uploads</a:t>
            </a:r>
          </a:p>
        </p:txBody>
      </p:sp>
      <p:sp>
        <p:nvSpPr>
          <p:cNvPr id="20" name="External results: →"/>
          <p:cNvSpPr txBox="1"/>
          <p:nvPr/>
        </p:nvSpPr>
        <p:spPr>
          <a:xfrm>
            <a:off x="3538728" y="245059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1" name="External results: Close early: 16 s"/>
          <p:cNvSpPr txBox="1"/>
          <p:nvPr/>
        </p:nvSpPr>
        <p:spPr>
          <a:xfrm>
            <a:off x="3803904" y="2450592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Close early: 16 s</a:t>
            </a:r>
          </a:p>
        </p:txBody>
      </p:sp>
      <p:sp>
        <p:nvSpPr>
          <p:cNvPr id="22" name="External results: Allow 2 uploads; block 3"/>
          <p:cNvSpPr txBox="1"/>
          <p:nvPr/>
        </p:nvSpPr>
        <p:spPr>
          <a:xfrm>
            <a:off x="813816" y="2706624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Allow 2 uploads; block 3</a:t>
            </a:r>
          </a:p>
        </p:txBody>
      </p:sp>
      <p:sp>
        <p:nvSpPr>
          <p:cNvPr id="23" name="External results: →"/>
          <p:cNvSpPr txBox="1"/>
          <p:nvPr/>
        </p:nvSpPr>
        <p:spPr>
          <a:xfrm>
            <a:off x="3538728" y="270662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4" name="External results: Close at timeout: 45 s"/>
          <p:cNvSpPr txBox="1"/>
          <p:nvPr/>
        </p:nvSpPr>
        <p:spPr>
          <a:xfrm>
            <a:off x="3803904" y="2706624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Close at timeout: 45 s</a:t>
            </a:r>
          </a:p>
        </p:txBody>
      </p:sp>
      <p:sp>
        <p:nvSpPr>
          <p:cNvPr id="25" name="External results: Zero: block all 5 uploads"/>
          <p:cNvSpPr txBox="1"/>
          <p:nvPr/>
        </p:nvSpPr>
        <p:spPr>
          <a:xfrm>
            <a:off x="813816" y="2962656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Zero: block all 5 uploads</a:t>
            </a:r>
          </a:p>
        </p:txBody>
      </p:sp>
      <p:sp>
        <p:nvSpPr>
          <p:cNvPr id="26" name="External results: →"/>
          <p:cNvSpPr txBox="1"/>
          <p:nvPr/>
        </p:nvSpPr>
        <p:spPr>
          <a:xfrm>
            <a:off x="3538728" y="296265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7" name="External results: No empty publication"/>
          <p:cNvSpPr txBox="1"/>
          <p:nvPr/>
        </p:nvSpPr>
        <p:spPr>
          <a:xfrm>
            <a:off x="3803904" y="2962656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No empty publication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719072"/>
            <a:ext cx="5321808" cy="1618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xternal results: 02  AGGREGATOR RECOVERY"/>
          <p:cNvSpPr txBox="1"/>
          <p:nvPr/>
        </p:nvSpPr>
        <p:spPr>
          <a:xfrm>
            <a:off x="6364224" y="1819656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02  AGGREGATOR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1801368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xternal results: PASS"/>
          <p:cNvSpPr txBox="1"/>
          <p:nvPr/>
        </p:nvSpPr>
        <p:spPr>
          <a:xfrm>
            <a:off x="10259568" y="1810512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2" name="External results: Can voting recover a stopped aggregator?"/>
          <p:cNvSpPr txBox="1"/>
          <p:nvPr/>
        </p:nvSpPr>
        <p:spPr>
          <a:xfrm>
            <a:off x="6364224" y="2103120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Can voting recover a stopped aggregator?</a:t>
            </a:r>
          </a:p>
        </p:txBody>
      </p:sp>
      <p:sp>
        <p:nvSpPr>
          <p:cNvPr id="33" name="External results: Stop the aggregator CVM; send timeout reports."/>
          <p:cNvSpPr txBox="1"/>
          <p:nvPr/>
        </p:nvSpPr>
        <p:spPr>
          <a:xfrm>
            <a:off x="6364224" y="244144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Stop the aggregator CVM; send timeout reports.</a:t>
            </a:r>
          </a:p>
        </p:txBody>
      </p:sp>
      <p:sp>
        <p:nvSpPr>
          <p:cNvPr id="34" name="External results: 1–2 reports: keep state → 3 of 5: abort + reselect"/>
          <p:cNvSpPr txBox="1"/>
          <p:nvPr/>
        </p:nvSpPr>
        <p:spPr>
          <a:xfrm>
            <a:off x="6364224" y="26974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47044"/>
                </a:solidFill>
                <a:latin typeface="Arial"/>
              </a:rPr>
              <a:t>1–2 reports: keep state → 3 of 5: abort + reselect</a:t>
            </a:r>
          </a:p>
        </p:txBody>
      </p:sp>
      <p:sp>
        <p:nvSpPr>
          <p:cNvPr id="35" name="External results: Resume: 5 successful rounds; all 6 workers participate."/>
          <p:cNvSpPr txBox="1"/>
          <p:nvPr/>
        </p:nvSpPr>
        <p:spPr>
          <a:xfrm>
            <a:off x="6364224" y="2971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0" lang="en-US">
                <a:solidFill>
                  <a:srgbClr val="263440"/>
                </a:solidFill>
                <a:latin typeface="Arial"/>
              </a:rPr>
              <a:t>Resume: 5 successful rounds; all 6 workers participate.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3474720"/>
            <a:ext cx="5321808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xternal results: 03  ACCESS / CONTRACT GUARDS"/>
          <p:cNvSpPr txBox="1"/>
          <p:nvPr/>
        </p:nvSpPr>
        <p:spPr>
          <a:xfrm>
            <a:off x="813816" y="3575303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03  ACCESS / CONTRACT GUARDS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3557015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ternal results: 16 / 16 PASS"/>
          <p:cNvSpPr txBox="1"/>
          <p:nvPr/>
        </p:nvSpPr>
        <p:spPr>
          <a:xfrm>
            <a:off x="4709160" y="3566159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0" name="External results: Are unauthorized actions rejected?"/>
          <p:cNvSpPr txBox="1"/>
          <p:nvPr/>
        </p:nvSpPr>
        <p:spPr>
          <a:xfrm>
            <a:off x="813816" y="385876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Are unauthorized actions rejected?</a:t>
            </a:r>
          </a:p>
        </p:txBody>
      </p:sp>
      <p:sp>
        <p:nvSpPr>
          <p:cNvPr id="41" name="External results: No / wrong credentials → 10 requests return HTTP 401"/>
          <p:cNvSpPr txBox="1"/>
          <p:nvPr/>
        </p:nvSpPr>
        <p:spPr>
          <a:xfrm>
            <a:off x="813816" y="41788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80" b="1" lang="en-US">
                <a:solidFill>
                  <a:srgbClr val="247044"/>
                </a:solidFill>
                <a:latin typeface="Arial"/>
              </a:rPr>
              <a:t>No / wrong credentials → 10 requests return HTTP 401</a:t>
            </a:r>
          </a:p>
        </p:txBody>
      </p:sp>
      <p:sp>
        <p:nvSpPr>
          <p:cNvPr id="42" name="External results: UI · Control · model download · job lookup / execution"/>
          <p:cNvSpPr txBox="1"/>
          <p:nvPr/>
        </p:nvSpPr>
        <p:spPr>
          <a:xfrm>
            <a:off x="813816" y="443484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263440"/>
                </a:solidFill>
                <a:latin typeface="Arial"/>
              </a:rPr>
              <a:t>UI · Control · model download · job lookup / execution</a:t>
            </a:r>
          </a:p>
        </p:txBody>
      </p:sp>
      <p:sp>
        <p:nvSpPr>
          <p:cNvPr id="43" name="External results: Stale round · wrong aggregator · unknown action key / Non-owner policy change → 4 expected eth_call reverts"/>
          <p:cNvSpPr txBox="1"/>
          <p:nvPr/>
        </p:nvSpPr>
        <p:spPr>
          <a:xfrm>
            <a:off x="813816" y="4672584"/>
            <a:ext cx="5029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0" lang="en-US">
                <a:solidFill>
                  <a:srgbClr val="263440"/>
                </a:solidFill>
                <a:latin typeface="Arial"/>
              </a:rPr>
              <a:t>Stale round · wrong aggregator · unknown action key
Non-owner policy change → 4 expected eth_call reverts</a:t>
            </a:r>
          </a:p>
        </p:txBody>
      </p:sp>
      <p:sp>
        <p:nvSpPr>
          <p:cNvPr id="44" name="External results: Config unchanged · authorized inference passed"/>
          <p:cNvSpPr txBox="1"/>
          <p:nvPr/>
        </p:nvSpPr>
        <p:spPr>
          <a:xfrm>
            <a:off x="813816" y="512978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47044"/>
                </a:solidFill>
                <a:latin typeface="Arial"/>
              </a:rPr>
              <a:t>Config unchanged · authorized inference 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474720"/>
            <a:ext cx="5321808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xternal results: 04  PUBLISHED EVIDENCE AUDIT"/>
          <p:cNvSpPr txBox="1"/>
          <p:nvPr/>
        </p:nvSpPr>
        <p:spPr>
          <a:xfrm>
            <a:off x="6364224" y="3575303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04  PUBLISHED EVIDENCE 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3557015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ternal results: 17 / 17 PASS"/>
          <p:cNvSpPr txBox="1"/>
          <p:nvPr/>
        </p:nvSpPr>
        <p:spPr>
          <a:xfrm>
            <a:off x="10259568" y="3566159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49" name="External results: Can receipts from the log be verified again?"/>
          <p:cNvSpPr txBox="1"/>
          <p:nvPr/>
        </p:nvSpPr>
        <p:spPr>
          <a:xfrm>
            <a:off x="6364224" y="385876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Can receipts from the log be verified again?</a:t>
            </a:r>
          </a:p>
        </p:txBody>
      </p:sp>
      <p:sp>
        <p:nvSpPr>
          <p:cNvPr id="50" name="External results: SCITT"/>
          <p:cNvSpPr txBox="1"/>
          <p:nvPr/>
        </p:nvSpPr>
        <p:spPr>
          <a:xfrm>
            <a:off x="6364224" y="4178808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SCITT</a:t>
            </a:r>
          </a:p>
        </p:txBody>
      </p:sp>
      <p:sp>
        <p:nvSpPr>
          <p:cNvPr id="51" name="External results: Statement signatures + log inclusion"/>
          <p:cNvSpPr txBox="1"/>
          <p:nvPr/>
        </p:nvSpPr>
        <p:spPr>
          <a:xfrm>
            <a:off x="7360920" y="4178808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Statement signatures + log inclusion</a:t>
            </a:r>
          </a:p>
        </p:txBody>
      </p:sp>
      <p:sp>
        <p:nvSpPr>
          <p:cNvPr id="52" name="External results: AIR / TDX"/>
          <p:cNvSpPr txBox="1"/>
          <p:nvPr/>
        </p:nvSpPr>
        <p:spPr>
          <a:xfrm>
            <a:off x="6364224" y="4402836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AIR / TDX</a:t>
            </a:r>
          </a:p>
        </p:txBody>
      </p:sp>
      <p:sp>
        <p:nvSpPr>
          <p:cNvPr id="53" name="External results: Signature; model / input / output hashes"/>
          <p:cNvSpPr txBox="1"/>
          <p:nvPr/>
        </p:nvSpPr>
        <p:spPr>
          <a:xfrm>
            <a:off x="7360920" y="4402836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Signature; model / input / output hashes</a:t>
            </a:r>
          </a:p>
        </p:txBody>
      </p:sp>
      <p:sp>
        <p:nvSpPr>
          <p:cNvPr id="54" name="External results: "/>
          <p:cNvSpPr txBox="1"/>
          <p:nvPr/>
        </p:nvSpPr>
        <p:spPr>
          <a:xfrm>
            <a:off x="6364224" y="4626864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/>
            </a:r>
          </a:p>
        </p:txBody>
      </p:sp>
      <p:sp>
        <p:nvSpPr>
          <p:cNvPr id="55" name="External results: Quote; RTMR3 replay + image policy"/>
          <p:cNvSpPr txBox="1"/>
          <p:nvPr/>
        </p:nvSpPr>
        <p:spPr>
          <a:xfrm>
            <a:off x="7360920" y="4626864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Quote; RTMR3 replay + image policy</a:t>
            </a:r>
          </a:p>
        </p:txBody>
      </p:sp>
      <p:sp>
        <p:nvSpPr>
          <p:cNvPr id="56" name="External results: Sello"/>
          <p:cNvSpPr txBox="1"/>
          <p:nvPr/>
        </p:nvSpPr>
        <p:spPr>
          <a:xfrm>
            <a:off x="6364224" y="4850892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Sello</a:t>
            </a:r>
          </a:p>
        </p:txBody>
      </p:sp>
      <p:sp>
        <p:nvSpPr>
          <p:cNvPr id="57" name="External results: Signature; owner permission + tool input / output"/>
          <p:cNvSpPr txBox="1"/>
          <p:nvPr/>
        </p:nvSpPr>
        <p:spPr>
          <a:xfrm>
            <a:off x="7360920" y="4850892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Signature; owner permission + tool input / output</a:t>
            </a:r>
          </a:p>
        </p:txBody>
      </p:sp>
      <p:sp>
        <p:nvSpPr>
          <p:cNvPr id="58" name="External results: Sessions"/>
          <p:cNvSpPr txBox="1"/>
          <p:nvPr/>
        </p:nvSpPr>
        <p:spPr>
          <a:xfrm>
            <a:off x="6364224" y="5074920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Sessions</a:t>
            </a:r>
          </a:p>
        </p:txBody>
      </p:sp>
      <p:sp>
        <p:nvSpPr>
          <p:cNvPr id="59" name="External results: Attested receiver keys + session bindings"/>
          <p:cNvSpPr txBox="1"/>
          <p:nvPr/>
        </p:nvSpPr>
        <p:spPr>
          <a:xfrm>
            <a:off x="7360920" y="5074920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Attested receiver keys + session bindings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62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 catalogue: intervention and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1700784"/>
            <a:ext cx="10863072" cy="310896"/>
          </a:xfrm>
          <a:prstGeom prst="rect">
            <a:avLst/>
          </a:prstGeom>
          <a:solidFill>
            <a:srgbClr val="263440"/>
          </a:solidFill>
          <a:ln w="1016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ternal results: TEST AREA"/>
          <p:cNvSpPr txBox="1"/>
          <p:nvPr/>
        </p:nvSpPr>
        <p:spPr>
          <a:xfrm>
            <a:off x="804672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AREA</a:t>
            </a:r>
          </a:p>
        </p:txBody>
      </p:sp>
      <p:sp>
        <p:nvSpPr>
          <p:cNvPr id="16" name="External results: TEST INPUT / INTERVENTION"/>
          <p:cNvSpPr txBox="1"/>
          <p:nvPr/>
        </p:nvSpPr>
        <p:spPr>
          <a:xfrm>
            <a:off x="2624328" y="1746504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INPUT / INTERVENTION</a:t>
            </a:r>
          </a:p>
        </p:txBody>
      </p:sp>
      <p:sp>
        <p:nvSpPr>
          <p:cNvPr id="17" name="External results: WHAT WAS VERIFIED"/>
          <p:cNvSpPr txBox="1"/>
          <p:nvPr/>
        </p:nvSpPr>
        <p:spPr>
          <a:xfrm>
            <a:off x="7132320" y="17465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WHAT WAS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2048256"/>
            <a:ext cx="10863072" cy="758952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2048256"/>
            <a:ext cx="1792224" cy="75895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ternal results: COLLECTION"/>
          <p:cNvSpPr txBox="1"/>
          <p:nvPr/>
        </p:nvSpPr>
        <p:spPr>
          <a:xfrm>
            <a:off x="804672" y="2130552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COLLECTION</a:t>
            </a:r>
          </a:p>
        </p:txBody>
      </p:sp>
      <p:sp>
        <p:nvSpPr>
          <p:cNvPr id="21" name="External results: 3 / 3 PASS"/>
          <p:cNvSpPr txBox="1"/>
          <p:nvPr/>
        </p:nvSpPr>
        <p:spPr>
          <a:xfrm>
            <a:off x="804672" y="255117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22" name="External results: Allow 5 of 5 client uploads"/>
          <p:cNvSpPr txBox="1"/>
          <p:nvPr/>
        </p:nvSpPr>
        <p:spPr>
          <a:xfrm>
            <a:off x="2624328" y="212140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5 of 5 client uploads</a:t>
            </a:r>
          </a:p>
        </p:txBody>
      </p:sp>
      <p:sp>
        <p:nvSpPr>
          <p:cNvPr id="23" name="External results: 5 inputs; close before timeout at 16 s"/>
          <p:cNvSpPr txBox="1"/>
          <p:nvPr/>
        </p:nvSpPr>
        <p:spPr>
          <a:xfrm>
            <a:off x="7132320" y="212140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inputs; close before timeout at 16 s</a:t>
            </a:r>
          </a:p>
        </p:txBody>
      </p:sp>
      <p:sp>
        <p:nvSpPr>
          <p:cNvPr id="24" name="External results: Allow 2; block the other 3 uploads"/>
          <p:cNvSpPr txBox="1"/>
          <p:nvPr/>
        </p:nvSpPr>
        <p:spPr>
          <a:xfrm>
            <a:off x="2624328" y="234543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2; block the other 3 uploads</a:t>
            </a:r>
          </a:p>
        </p:txBody>
      </p:sp>
      <p:sp>
        <p:nvSpPr>
          <p:cNvPr id="25" name="External results: 2 inputs; close at the 45 s timeout"/>
          <p:cNvSpPr txBox="1"/>
          <p:nvPr/>
        </p:nvSpPr>
        <p:spPr>
          <a:xfrm>
            <a:off x="7132320" y="234543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inputs; close at the 45 s timeout</a:t>
            </a:r>
          </a:p>
        </p:txBody>
      </p:sp>
      <p:sp>
        <p:nvSpPr>
          <p:cNvPr id="26" name="External results: Zero: block all 5 uploads"/>
          <p:cNvSpPr txBox="1"/>
          <p:nvPr/>
        </p:nvSpPr>
        <p:spPr>
          <a:xfrm>
            <a:off x="2624328" y="256946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Zero: block all 5 uploads</a:t>
            </a:r>
          </a:p>
        </p:txBody>
      </p:sp>
      <p:sp>
        <p:nvSpPr>
          <p:cNvPr id="27" name="External results: No empty publication; then 3/5 quorum recovery"/>
          <p:cNvSpPr txBox="1"/>
          <p:nvPr/>
        </p:nvSpPr>
        <p:spPr>
          <a:xfrm>
            <a:off x="7132320" y="256946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No empty publication; then 3/5 quorum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2862072"/>
            <a:ext cx="1086307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" y="2862072"/>
            <a:ext cx="1792224" cy="539496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ternal results: RECOVERY"/>
          <p:cNvSpPr txBox="1"/>
          <p:nvPr/>
        </p:nvSpPr>
        <p:spPr>
          <a:xfrm>
            <a:off x="804672" y="2944368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RECOVERY</a:t>
            </a:r>
          </a:p>
        </p:txBody>
      </p:sp>
      <p:sp>
        <p:nvSpPr>
          <p:cNvPr id="31" name="External results: PASS"/>
          <p:cNvSpPr txBox="1"/>
          <p:nvPr/>
        </p:nvSpPr>
        <p:spPr>
          <a:xfrm>
            <a:off x="804672" y="31455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2" name="External results: Stop aggregator CVM; submit reports 1 → 2 → 3"/>
          <p:cNvSpPr txBox="1"/>
          <p:nvPr/>
        </p:nvSpPr>
        <p:spPr>
          <a:xfrm>
            <a:off x="2624328" y="293522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Stop aggregator CVM; submit reports 1 → 2 → 3</a:t>
            </a:r>
          </a:p>
        </p:txBody>
      </p:sp>
      <p:sp>
        <p:nvSpPr>
          <p:cNvPr id="33" name="External results: State preserved at 1–2; replacement at 3 of 5"/>
          <p:cNvSpPr txBox="1"/>
          <p:nvPr/>
        </p:nvSpPr>
        <p:spPr>
          <a:xfrm>
            <a:off x="7132320" y="293522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State preserved at 1–2; replacement at 3 of 5</a:t>
            </a:r>
          </a:p>
        </p:txBody>
      </p:sp>
      <p:sp>
        <p:nvSpPr>
          <p:cNvPr id="34" name="External results: Continue training with the replacement aggregator"/>
          <p:cNvSpPr txBox="1"/>
          <p:nvPr/>
        </p:nvSpPr>
        <p:spPr>
          <a:xfrm>
            <a:off x="2624328" y="315925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Continue training with the replacement aggregator</a:t>
            </a:r>
          </a:p>
        </p:txBody>
      </p:sp>
      <p:sp>
        <p:nvSpPr>
          <p:cNvPr id="35" name="External results: 5 successful rounds; all 6 workers participate"/>
          <p:cNvSpPr txBox="1"/>
          <p:nvPr/>
        </p:nvSpPr>
        <p:spPr>
          <a:xfrm>
            <a:off x="7132320" y="3159252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successful rounds; all 6 workers participate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3456432"/>
            <a:ext cx="10863072" cy="1005840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" y="3456432"/>
            <a:ext cx="1792224" cy="1005840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ternal results: ACCESS / / CONTRACTS"/>
          <p:cNvSpPr txBox="1"/>
          <p:nvPr/>
        </p:nvSpPr>
        <p:spPr>
          <a:xfrm>
            <a:off x="804672" y="3538727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ACCESS /
CONTRACTS</a:t>
            </a:r>
          </a:p>
        </p:txBody>
      </p:sp>
      <p:sp>
        <p:nvSpPr>
          <p:cNvPr id="39" name="External results: 16 / 16 PASS"/>
          <p:cNvSpPr txBox="1"/>
          <p:nvPr/>
        </p:nvSpPr>
        <p:spPr>
          <a:xfrm>
            <a:off x="804672" y="4206240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0" name="External results: No / wrong credentials: UI / Control / model / job / run"/>
          <p:cNvSpPr txBox="1"/>
          <p:nvPr/>
        </p:nvSpPr>
        <p:spPr>
          <a:xfrm>
            <a:off x="2624328" y="352958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No / wrong credentials: UI / Control / model / job / run</a:t>
            </a:r>
          </a:p>
        </p:txBody>
      </p:sp>
      <p:sp>
        <p:nvSpPr>
          <p:cNvPr id="41" name="External results: 10 × HTTP 401; config unchanged"/>
          <p:cNvSpPr txBox="1"/>
          <p:nvPr/>
        </p:nvSpPr>
        <p:spPr>
          <a:xfrm>
            <a:off x="7132320" y="352958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10 × HTTP 401; config unchanged</a:t>
            </a:r>
          </a:p>
        </p:txBody>
      </p:sp>
      <p:sp>
        <p:nvSpPr>
          <p:cNvPr id="42" name="External results: Stale round / wrong aggregator"/>
          <p:cNvSpPr txBox="1"/>
          <p:nvPr/>
        </p:nvSpPr>
        <p:spPr>
          <a:xfrm>
            <a:off x="2624328" y="3753611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Stale round / wrong aggregator</a:t>
            </a:r>
          </a:p>
        </p:txBody>
      </p:sp>
      <p:sp>
        <p:nvSpPr>
          <p:cNvPr id="43" name="External results: 2 calls rejected: expected eth_call reverts"/>
          <p:cNvSpPr txBox="1"/>
          <p:nvPr/>
        </p:nvSpPr>
        <p:spPr>
          <a:xfrm>
            <a:off x="7132320" y="3753611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4" name="External results: Unregistered action key / non-owner policy change"/>
          <p:cNvSpPr txBox="1"/>
          <p:nvPr/>
        </p:nvSpPr>
        <p:spPr>
          <a:xfrm>
            <a:off x="2624328" y="3977639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Unregistered action key / non-owner policy change</a:t>
            </a:r>
          </a:p>
        </p:txBody>
      </p:sp>
      <p:sp>
        <p:nvSpPr>
          <p:cNvPr id="45" name="External results: 2 calls rejected: expected eth_call reverts"/>
          <p:cNvSpPr txBox="1"/>
          <p:nvPr/>
        </p:nvSpPr>
        <p:spPr>
          <a:xfrm>
            <a:off x="7132320" y="3977639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6" name="External results: Run the regular authorized agent workflow"/>
          <p:cNvSpPr txBox="1"/>
          <p:nvPr/>
        </p:nvSpPr>
        <p:spPr>
          <a:xfrm>
            <a:off x="2624328" y="420166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Run the regular authorized agent workflow</a:t>
            </a:r>
          </a:p>
        </p:txBody>
      </p:sp>
      <p:sp>
        <p:nvSpPr>
          <p:cNvPr id="47" name="External results: Authorized inference passed"/>
          <p:cNvSpPr txBox="1"/>
          <p:nvPr/>
        </p:nvSpPr>
        <p:spPr>
          <a:xfrm>
            <a:off x="7132320" y="420166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Authorized inference passed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" y="4517136"/>
            <a:ext cx="1086307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7512" y="4517136"/>
            <a:ext cx="1792224" cy="841248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ternal results: RECEIPT / AUDIT"/>
          <p:cNvSpPr txBox="1"/>
          <p:nvPr/>
        </p:nvSpPr>
        <p:spPr>
          <a:xfrm>
            <a:off x="804672" y="4599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RECEIPT
AUDIT</a:t>
            </a:r>
          </a:p>
        </p:txBody>
      </p:sp>
      <p:sp>
        <p:nvSpPr>
          <p:cNvPr id="51" name="External results: 17 / 17 PASS"/>
          <p:cNvSpPr txBox="1"/>
          <p:nvPr/>
        </p:nvSpPr>
        <p:spPr>
          <a:xfrm>
            <a:off x="804672" y="5102352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52" name="External results: Download SCITT statements + inclusion receipts"/>
          <p:cNvSpPr txBox="1"/>
          <p:nvPr/>
        </p:nvSpPr>
        <p:spPr>
          <a:xfrm>
            <a:off x="2624328" y="459028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Download SCITT statements + inclusion receipts</a:t>
            </a:r>
          </a:p>
        </p:txBody>
      </p:sp>
      <p:sp>
        <p:nvSpPr>
          <p:cNvPr id="53" name="External results: Publisher signatures + inclusion under pinned log key"/>
          <p:cNvSpPr txBox="1"/>
          <p:nvPr/>
        </p:nvSpPr>
        <p:spPr>
          <a:xfrm>
            <a:off x="7132320" y="459028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Publisher signatures + inclusion under pinned log key</a:t>
            </a:r>
          </a:p>
        </p:txBody>
      </p:sp>
      <p:sp>
        <p:nvSpPr>
          <p:cNvPr id="54" name="External results: Re-verify AIR and its TDX evidence"/>
          <p:cNvSpPr txBox="1"/>
          <p:nvPr/>
        </p:nvSpPr>
        <p:spPr>
          <a:xfrm>
            <a:off x="2624328" y="481431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AIR and its TDX evidence</a:t>
            </a:r>
          </a:p>
        </p:txBody>
      </p:sp>
      <p:sp>
        <p:nvSpPr>
          <p:cNvPr id="55" name="External results: Model / input / output hashes; quote, RTMR3 + image"/>
          <p:cNvSpPr txBox="1"/>
          <p:nvPr/>
        </p:nvSpPr>
        <p:spPr>
          <a:xfrm>
            <a:off x="7132320" y="481431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Model / input / output hashes; quote, RTMR3 + image</a:t>
            </a:r>
          </a:p>
        </p:txBody>
      </p:sp>
      <p:sp>
        <p:nvSpPr>
          <p:cNvPr id="56" name="External results: Re-verify Sello receipts + attested sessions"/>
          <p:cNvSpPr txBox="1"/>
          <p:nvPr/>
        </p:nvSpPr>
        <p:spPr>
          <a:xfrm>
            <a:off x="2624328" y="503834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Sello receipts + attested sessions</a:t>
            </a:r>
          </a:p>
        </p:txBody>
      </p:sp>
      <p:sp>
        <p:nvSpPr>
          <p:cNvPr id="57" name="External results: Signatures, owner permission, tool I/O + receiver keys"/>
          <p:cNvSpPr txBox="1"/>
          <p:nvPr/>
        </p:nvSpPr>
        <p:spPr>
          <a:xfrm>
            <a:off x="7132320" y="503834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Signatures, owner permission, tool I/O + receiver keys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60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tests: follow the path to the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External results: TEST AREA"/>
          <p:cNvSpPr txBox="1"/>
          <p:nvPr/>
        </p:nvSpPr>
        <p:spPr>
          <a:xfrm>
            <a:off x="777240" y="17099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TEST AREA</a:t>
            </a:r>
          </a:p>
        </p:txBody>
      </p:sp>
      <p:sp>
        <p:nvSpPr>
          <p:cNvPr id="15" name="External results: INJECT / RETRIEVE"/>
          <p:cNvSpPr txBox="1"/>
          <p:nvPr/>
        </p:nvSpPr>
        <p:spPr>
          <a:xfrm>
            <a:off x="2459736" y="17099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INJECT / RETRIEVE</a:t>
            </a:r>
          </a:p>
        </p:txBody>
      </p:sp>
      <p:sp>
        <p:nvSpPr>
          <p:cNvPr id="16" name="External results: EXERCISE / VERIFY"/>
          <p:cNvSpPr txBox="1"/>
          <p:nvPr/>
        </p:nvSpPr>
        <p:spPr>
          <a:xfrm>
            <a:off x="5815584" y="170992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EXERCISE / VERIFY</a:t>
            </a:r>
          </a:p>
        </p:txBody>
      </p:sp>
      <p:sp>
        <p:nvSpPr>
          <p:cNvPr id="17" name="External results: CHECK THE RESULT"/>
          <p:cNvSpPr txBox="1"/>
          <p:nvPr/>
        </p:nvSpPr>
        <p:spPr>
          <a:xfrm>
            <a:off x="8229600" y="170992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CHECK THE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1947672"/>
            <a:ext cx="1508760" cy="740664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xternal results: COLLECTION"/>
          <p:cNvSpPr txBox="1"/>
          <p:nvPr/>
        </p:nvSpPr>
        <p:spPr>
          <a:xfrm>
            <a:off x="795528" y="2039112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COLLECTION</a:t>
            </a:r>
          </a:p>
        </p:txBody>
      </p:sp>
      <p:sp>
        <p:nvSpPr>
          <p:cNvPr id="20" name="External results: 3 / 3 PASS"/>
          <p:cNvSpPr txBox="1"/>
          <p:nvPr/>
        </p:nvSpPr>
        <p:spPr>
          <a:xfrm>
            <a:off x="795528" y="2441448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008" y="1947672"/>
            <a:ext cx="31272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ternal results: Allow 5 / 2 / zero uploads"/>
          <p:cNvSpPr txBox="1"/>
          <p:nvPr/>
        </p:nvSpPr>
        <p:spPr>
          <a:xfrm>
            <a:off x="2468879" y="2029967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Allow 5 / 2 / zero uploads</a:t>
            </a:r>
          </a:p>
        </p:txBody>
      </p:sp>
      <p:sp>
        <p:nvSpPr>
          <p:cNvPr id="23" name="External results: Block the remaining client uploads"/>
          <p:cNvSpPr txBox="1"/>
          <p:nvPr/>
        </p:nvSpPr>
        <p:spPr>
          <a:xfrm>
            <a:off x="2468879" y="2276856"/>
            <a:ext cx="288950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Block the remaining client uploads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947672"/>
            <a:ext cx="218541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xternal results: Aggregator"/>
          <p:cNvSpPr txBox="1"/>
          <p:nvPr/>
        </p:nvSpPr>
        <p:spPr>
          <a:xfrm>
            <a:off x="5815584" y="2029967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Aggregator</a:t>
            </a:r>
          </a:p>
        </p:txBody>
      </p:sp>
      <p:sp>
        <p:nvSpPr>
          <p:cNvPr id="26" name="External results: Client limit 5 · timeout 45 s"/>
          <p:cNvSpPr txBox="1"/>
          <p:nvPr/>
        </p:nvSpPr>
        <p:spPr>
          <a:xfrm>
            <a:off x="5815584" y="2276856"/>
            <a:ext cx="19476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Client limit 5 · timeout 45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0727" y="1947672"/>
            <a:ext cx="3419856" cy="740664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ternal results: Collection follows inputs + timeout"/>
          <p:cNvSpPr txBox="1"/>
          <p:nvPr/>
        </p:nvSpPr>
        <p:spPr>
          <a:xfrm>
            <a:off x="8229600" y="2029967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Collection follows inputs + timeout</a:t>
            </a:r>
          </a:p>
        </p:txBody>
      </p:sp>
      <p:sp>
        <p:nvSpPr>
          <p:cNvPr id="29" name="External results: 5: close at 16 s · 2: close at 45 s / Zero: no empty publication"/>
          <p:cNvSpPr txBox="1"/>
          <p:nvPr/>
        </p:nvSpPr>
        <p:spPr>
          <a:xfrm>
            <a:off x="8229600" y="2276856"/>
            <a:ext cx="31821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5: close at 16 s · 2: close at 45 s
Zero: no empty publication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3832" y="2318004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27848" y="2318004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7512" y="2752344"/>
            <a:ext cx="1508760" cy="740664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xternal results: RECOVERY"/>
          <p:cNvSpPr txBox="1"/>
          <p:nvPr/>
        </p:nvSpPr>
        <p:spPr>
          <a:xfrm>
            <a:off x="795528" y="2843784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RECOVERY</a:t>
            </a:r>
          </a:p>
        </p:txBody>
      </p:sp>
      <p:sp>
        <p:nvSpPr>
          <p:cNvPr id="34" name="External results: PASS"/>
          <p:cNvSpPr txBox="1"/>
          <p:nvPr/>
        </p:nvSpPr>
        <p:spPr>
          <a:xfrm>
            <a:off x="795528" y="3246120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2752344"/>
            <a:ext cx="31272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xternal results: Stop the aggregator CVM"/>
          <p:cNvSpPr txBox="1"/>
          <p:nvPr/>
        </p:nvSpPr>
        <p:spPr>
          <a:xfrm>
            <a:off x="2468879" y="2834639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Stop the aggregator CVM</a:t>
            </a:r>
          </a:p>
        </p:txBody>
      </p:sp>
      <p:sp>
        <p:nvSpPr>
          <p:cNvPr id="37" name="External results: Submit 1 → 2 → 3 timeout reports"/>
          <p:cNvSpPr txBox="1"/>
          <p:nvPr/>
        </p:nvSpPr>
        <p:spPr>
          <a:xfrm>
            <a:off x="2468879" y="3081527"/>
            <a:ext cx="288950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Submit 1 → 2 → 3 timeout 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96712" y="2752344"/>
            <a:ext cx="218541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ternal results: Quorum vote"/>
          <p:cNvSpPr txBox="1"/>
          <p:nvPr/>
        </p:nvSpPr>
        <p:spPr>
          <a:xfrm>
            <a:off x="5815584" y="2834639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Quorum vote</a:t>
            </a:r>
          </a:p>
        </p:txBody>
      </p:sp>
      <p:sp>
        <p:nvSpPr>
          <p:cNvPr id="40" name="External results: 3 of 5 eligible workers"/>
          <p:cNvSpPr txBox="1"/>
          <p:nvPr/>
        </p:nvSpPr>
        <p:spPr>
          <a:xfrm>
            <a:off x="5815584" y="3081527"/>
            <a:ext cx="19476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3 of 5 eligible workers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0727" y="2752344"/>
            <a:ext cx="3419856" cy="740664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ternal results: State preserved until quorum"/>
          <p:cNvSpPr txBox="1"/>
          <p:nvPr/>
        </p:nvSpPr>
        <p:spPr>
          <a:xfrm>
            <a:off x="8229600" y="2834639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State preserved until quorum</a:t>
            </a:r>
          </a:p>
        </p:txBody>
      </p:sp>
      <p:sp>
        <p:nvSpPr>
          <p:cNvPr id="43" name="External results: 1–2: unchanged · 3: abort + reselect / Resume 5 rounds with all 6 workers"/>
          <p:cNvSpPr txBox="1"/>
          <p:nvPr/>
        </p:nvSpPr>
        <p:spPr>
          <a:xfrm>
            <a:off x="8229600" y="3081527"/>
            <a:ext cx="31821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1–2: unchanged · 3: abort + reselect
Resume 5 rounds with all 6 workers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513832" y="312267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27848" y="312267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67512" y="3557016"/>
            <a:ext cx="1508760" cy="941832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ternal results: ACCESS / / CONTRACTS"/>
          <p:cNvSpPr txBox="1"/>
          <p:nvPr/>
        </p:nvSpPr>
        <p:spPr>
          <a:xfrm>
            <a:off x="795528" y="3648456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ACCESS /
CONTRACTS</a:t>
            </a:r>
          </a:p>
        </p:txBody>
      </p:sp>
      <p:sp>
        <p:nvSpPr>
          <p:cNvPr id="48" name="External results: 16 / 16 PASS"/>
          <p:cNvSpPr txBox="1"/>
          <p:nvPr/>
        </p:nvSpPr>
        <p:spPr>
          <a:xfrm>
            <a:off x="795528" y="4251960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0008" y="3557016"/>
            <a:ext cx="3127248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ternal results: Send unauthorized calls"/>
          <p:cNvSpPr txBox="1"/>
          <p:nvPr/>
        </p:nvSpPr>
        <p:spPr>
          <a:xfrm>
            <a:off x="2468879" y="363931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Send unauthorized calls</a:t>
            </a:r>
          </a:p>
        </p:txBody>
      </p:sp>
      <p:sp>
        <p:nvSpPr>
          <p:cNvPr id="51" name="External results: No / wrong credentials / Stale round / wrong aggregator / Unknown key / non-owner policy change"/>
          <p:cNvSpPr txBox="1"/>
          <p:nvPr/>
        </p:nvSpPr>
        <p:spPr>
          <a:xfrm>
            <a:off x="2468879" y="3886200"/>
            <a:ext cx="288950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No / wrong credentials
Stale round / wrong aggregator
Unknown key / non-owner policy change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96712" y="3557016"/>
            <a:ext cx="2185416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ternal results: API + contract guards"/>
          <p:cNvSpPr txBox="1"/>
          <p:nvPr/>
        </p:nvSpPr>
        <p:spPr>
          <a:xfrm>
            <a:off x="5815584" y="3639312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API + contract guards</a:t>
            </a:r>
          </a:p>
        </p:txBody>
      </p:sp>
      <p:sp>
        <p:nvSpPr>
          <p:cNvPr id="54" name="External results: UI · Control · inference APIs / Contract probes via eth_call"/>
          <p:cNvSpPr txBox="1"/>
          <p:nvPr/>
        </p:nvSpPr>
        <p:spPr>
          <a:xfrm>
            <a:off x="5815584" y="3886200"/>
            <a:ext cx="19476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UI · Control · inference APIs
Contract probes via eth_call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10727" y="3557016"/>
            <a:ext cx="3419856" cy="941832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ternal results: 10 × HTTP 401 + 4 expected reverts"/>
          <p:cNvSpPr txBox="1"/>
          <p:nvPr/>
        </p:nvSpPr>
        <p:spPr>
          <a:xfrm>
            <a:off x="8229600" y="3639312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10 × HTTP 401 + 4 expected reverts</a:t>
            </a:r>
          </a:p>
        </p:txBody>
      </p:sp>
      <p:sp>
        <p:nvSpPr>
          <p:cNvPr id="57" name="External results: Config unchanged; / authorized inference passed"/>
          <p:cNvSpPr txBox="1"/>
          <p:nvPr/>
        </p:nvSpPr>
        <p:spPr>
          <a:xfrm>
            <a:off x="8229600" y="3886200"/>
            <a:ext cx="318211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Config unchanged;
authorized inference passed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13832" y="4027932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927848" y="4027932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67512" y="4562856"/>
            <a:ext cx="1508760" cy="822960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xternal results: RECEIPT / AUDIT"/>
          <p:cNvSpPr txBox="1"/>
          <p:nvPr/>
        </p:nvSpPr>
        <p:spPr>
          <a:xfrm>
            <a:off x="795528" y="4654296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RECEIPT
AUDIT</a:t>
            </a:r>
          </a:p>
        </p:txBody>
      </p:sp>
      <p:sp>
        <p:nvSpPr>
          <p:cNvPr id="62" name="External results: 17 / 17 PASS"/>
          <p:cNvSpPr txBox="1"/>
          <p:nvPr/>
        </p:nvSpPr>
        <p:spPr>
          <a:xfrm>
            <a:off x="795528" y="5138928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50008" y="4562856"/>
            <a:ext cx="312724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xternal results: Download published evidence"/>
          <p:cNvSpPr txBox="1"/>
          <p:nvPr/>
        </p:nvSpPr>
        <p:spPr>
          <a:xfrm>
            <a:off x="2468879" y="464515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Download published evidence</a:t>
            </a:r>
          </a:p>
        </p:txBody>
      </p:sp>
      <p:sp>
        <p:nvSpPr>
          <p:cNvPr id="65" name="External results: SCITT · AIR/TDX · Sello · sessions"/>
          <p:cNvSpPr txBox="1"/>
          <p:nvPr/>
        </p:nvSpPr>
        <p:spPr>
          <a:xfrm>
            <a:off x="2468879" y="4892040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SCITT · AIR/TDX · Sello · sessions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96712" y="4562856"/>
            <a:ext cx="2185416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xternal results: Re-run verification"/>
          <p:cNvSpPr txBox="1"/>
          <p:nvPr/>
        </p:nvSpPr>
        <p:spPr>
          <a:xfrm>
            <a:off x="5815584" y="4645152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Re-run verification</a:t>
            </a:r>
          </a:p>
        </p:txBody>
      </p:sp>
      <p:sp>
        <p:nvSpPr>
          <p:cNvPr id="68" name="External results: Signatures + log inclusion / TDX quote, RTMR3 + image"/>
          <p:cNvSpPr txBox="1"/>
          <p:nvPr/>
        </p:nvSpPr>
        <p:spPr>
          <a:xfrm>
            <a:off x="5815584" y="4892040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Signatures + log inclusion
TDX quote, RTMR3 + image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0727" y="4562856"/>
            <a:ext cx="3419856" cy="822960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xternal results: Evidence binds the recorded action"/>
          <p:cNvSpPr txBox="1"/>
          <p:nvPr/>
        </p:nvSpPr>
        <p:spPr>
          <a:xfrm>
            <a:off x="8229600" y="4645152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Evidence binds the recorded action</a:t>
            </a:r>
          </a:p>
        </p:txBody>
      </p:sp>
      <p:sp>
        <p:nvSpPr>
          <p:cNvPr id="71" name="External results: Model / input / output hashes; / owner permission + receiver / session"/>
          <p:cNvSpPr txBox="1"/>
          <p:nvPr/>
        </p:nvSpPr>
        <p:spPr>
          <a:xfrm>
            <a:off x="8229600" y="48920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Model / input / output hashes;
owner permission + receiver / session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513832" y="497433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27848" y="497433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76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External evaluation results: three alternatives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