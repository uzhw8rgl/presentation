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3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  <p:sldMasterId id="2147483710" r:id="rId2"/>
  </p:sldMasterIdLst>
  <p:notesMasterIdLst>
    <p:notesMasterId r:id="rId8"/>
  </p:notesMasterIdLst>
  <p:sldIdLst>
    <p:sldId id="256" r:id="rId7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40D1E"/>
    <a:srgbClr val="9013FE"/>
    <a:srgbClr val="1F90CC"/>
    <a:srgbClr val="434343"/>
    <a:srgbClr val="C40E02"/>
    <a:srgbClr val="FFFFFF"/>
    <a:srgbClr val="49CB40"/>
    <a:srgbClr val="C50E1F"/>
    <a:srgbClr val="B2B2B2"/>
    <a:srgbClr val="71717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73" autoAdjust="0"/>
    <p:restoredTop sz="96327"/>
  </p:normalViewPr>
  <p:slideViewPr>
    <p:cSldViewPr snapToGrid="0" snapToObjects="1">
      <p:cViewPr varScale="1">
        <p:scale>
          <a:sx n="81" d="100"/>
          <a:sy n="81" d="100"/>
        </p:scale>
        <p:origin x="54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 showGuides="1">
      <p:cViewPr varScale="1">
        <p:scale>
          <a:sx n="153" d="100"/>
          <a:sy n="153" d="100"/>
        </p:scale>
        <p:origin x="4920" y="192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A6180F-3EA1-4748-B4F4-956BB5176995}" type="datetimeFigureOut">
              <a:rPr lang="de-DE" smtClean="0"/>
              <a:t>16.06.2025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13C3961-1900-1342-BF9B-82C3215CD31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489311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en-US"/>
              <a:t>VARIANT A</a:t>
            </a:r>
          </a:p>
          <a:p/>
          <a:p>
            <a:r>
              <a:rPr lang="en-US"/>
              <a:t>EXTERNAL RESULTS — FOLLOW-UP TO SLIDE 34</a:t>
            </a:r>
          </a:p>
          <a:p>
            <a:r>
              <a:rPr lang="en-US"/>
              <a:t>Prepared from recovery on 25 September and collection/security on 29 September 2026.</a:t>
            </a:r>
          </a:p>
          <a:p>
            <a:r>
              <a:rPr lang="en-US"/>
              <a:t>This is evidence from the SMEW/SMA/vita-fl-td workflow, separate from the earlier</a:t>
            </a:r>
          </a:p>
          <a:p>
            <a:r>
              <a:rPr lang="en-US"/>
              <a:t>24-round model-quality experiment. The security campaign ran on a newly deployed</a:t>
            </a:r>
          </a:p>
          <a:p>
            <a:r>
              <a:rPr lang="en-US"/>
              <a:t>Phala environment; the generator itself launches no campaign. All seven deployed</a:t>
            </a:r>
          </a:p>
          <a:p>
            <a:r>
              <a:rPr lang="en-US"/>
              <a:t>image references match the recovery run, but deployment identities, run dates and</a:t>
            </a:r>
          </a:p>
          <a:p>
            <a:r>
              <a:rPr lang="en-US"/>
              <a:t>test-driver source hashes differ. Collection, recovery and security are distinct runs, not a combined run.</a:t>
            </a:r>
          </a:p>
          <a:p>
            <a:r>
              <a:rPr lang="en-US"/>
              <a:t>The four categories follow the last four external rows on slide 34.</a:t>
            </a:r>
          </a:p>
          <a:p/>
          <a:p>
            <a:r>
              <a:rPr lang="en-US"/>
              <a:t>COLLECTION / TIMEOUT</a:t>
            </a:r>
          </a:p>
          <a:p>
            <a:r>
              <a:rPr lang="en-US"/>
              <a:t>Three separate controlled scenarios completed on 29 September 2026.</a:t>
            </a:r>
          </a:p>
          <a:p>
            <a:r>
              <a:rPr lang="en-US"/>
              <a:t>Each used six workers, client limit five, a 45,000 ms collection deadline and</a:t>
            </a:r>
          </a:p>
          <a:p>
            <a:r>
              <a:rPr lang="en-US"/>
              <a:t>five successful training rounds (bootstrap and aborted attempts excluded).</a:t>
            </a:r>
          </a:p>
          <a:p>
            <a:r>
              <a:rPr lang="en-US"/>
              <a:t>EARLY: exactly five allowed contributors published before the deadline.</a:t>
            </a:r>
          </a:p>
          <a:p>
            <a:r>
              <a:rPr lang="en-US"/>
              <a:t>PARTIAL: exactly two allowed contributors published at or after the deadline;</a:t>
            </a:r>
          </a:p>
          <a:p>
            <a:r>
              <a:rPr lang="en-US"/>
              <a:t>the receiver confirmed blocking of the other three clients.</a:t>
            </a:r>
          </a:p>
          <a:p>
            <a:r>
              <a:rPr lang="en-US"/>
              <a:t>ZERO: all five clients were blocked, with receiver-confirmed blocked attempts.</a:t>
            </a:r>
          </a:p>
          <a:p>
            <a:r>
              <a:rPr lang="en-US"/>
              <a:t>The target attempt neither closed nor published, including the observation</a:t>
            </a:r>
          </a:p>
          <a:p>
            <a:r>
              <a:rPr lang="en-US"/>
              <a:t>window through at least ten seconds after its deadline. Three of five eligible</a:t>
            </a:r>
          </a:p>
          <a:p>
            <a:r>
              <a:rPr lang="en-US"/>
              <a:t>reports then triggered abort and reselection; votes one and two preserved the</a:t>
            </a:r>
          </a:p>
          <a:p>
            <a:r>
              <a:rPr lang="en-US"/>
              <a:t>state. The gate was released and five successful training rounds completed.</a:t>
            </a:r>
          </a:p>
          <a:p>
            <a:r>
              <a:rPr lang="en-US"/>
              <a:t>All six workers participated across each run; this does not mean every worker</a:t>
            </a:r>
          </a:p>
          <a:p>
            <a:r>
              <a:rPr lang="en-US"/>
              <a:t>contributed to every controlled round. No empty-model publication is claimed.</a:t>
            </a:r>
          </a:p>
          <a:p>
            <a:r>
              <a:rPr lang="en-US"/>
              <a:t>Each run passed SMEW, SMA and TD completion checks. The slide's 3/3 count means</a:t>
            </a:r>
          </a:p>
          <a:p>
            <a:r>
              <a:rPr lang="en-US"/>
              <a:t>three distinct scenarios, each executed successfully once, not three checks</a:t>
            </a:r>
          </a:p>
          <a:p>
            <a:r>
              <a:rPr lang="en-US"/>
              <a:t>or a repeated-run reliability statistic. Gate accounting, actual contributors,</a:t>
            </a:r>
          </a:p>
          <a:p>
            <a:r>
              <a:rPr lang="en-US"/>
              <a:t>closure timing, zero-input nonpublication and quorum evidence are validated</a:t>
            </a:r>
          </a:p>
          <a:p>
            <a:r>
              <a:rPr lang="en-US"/>
              <a:t>against the canonical result and archived artifacts before PASS is displayed.</a:t>
            </a:r>
          </a:p>
          <a:p>
            <a:r>
              <a:rPr lang="en-US"/>
              <a:t>Timing values use archived policy/chain events, not instrumentation of the</a:t>
            </a:r>
          </a:p>
          <a:p>
            <a:r>
              <a:rPr lang="en-US"/>
              <a:t>aggregator's local timer. Early is also checked by the driver's first observation;</a:t>
            </a:r>
          </a:p>
          <a:p>
            <a:r>
              <a:rPr lang="en-US"/>
              <a:t>partial uses the closure transaction timestamp as an independent oracle.</a:t>
            </a:r>
          </a:p>
          <a:p>
            <a:r>
              <a:rPr lang="en-US"/>
              <a:t>EARLY: run 2d3b8717df2c477f88e040acd3d62a2d; 5 allowed / 0 blocked clients; before 45 s; archived event interval 16 s.</a:t>
            </a:r>
          </a:p>
          <a:p>
            <a:r>
              <a:rPr lang="en-US"/>
              <a:t>PARTIAL: run 9b4dfb29086a42c39d57c5001a84ab90; 2 allowed / 3 blocked clients; at or after 45 s; archived event interval 45 s.</a:t>
            </a:r>
          </a:p>
          <a:p>
            <a:r>
              <a:rPr lang="en-US"/>
              <a:t>ZERO: run eda875a3763244d8a240b4f9bbe68a99; 0 allowed / 5 blocked clients; no publication through deadline + 10 s.</a:t>
            </a:r>
          </a:p>
          <a:p/>
          <a:p>
            <a:r>
              <a:rPr lang="en-US"/>
              <a:t>AGGREGATOR RECOVERY</a:t>
            </a:r>
          </a:p>
          <a:p>
            <a:r>
              <a:rPr lang="en-US"/>
              <a:t>A selected aggregator CVM was stopped. Three distinct eligible reporters out</a:t>
            </a:r>
          </a:p>
          <a:p>
            <a:r>
              <a:rPr lang="en-US"/>
              <a:t>of five produced votes 1,2,3 against a threshold of three. Historical block</a:t>
            </a:r>
          </a:p>
          <a:p>
            <a:r>
              <a:rPr lang="en-US"/>
              <a:t>states and ordered contract events preserve the old aggregator and un-aborted</a:t>
            </a:r>
          </a:p>
          <a:p>
            <a:r>
              <a:rPr lang="en-US"/>
              <a:t>round at votes one and two. Vote three triggers abort and reselection in the</a:t>
            </a:r>
          </a:p>
          <a:p>
            <a:r>
              <a:rPr lang="en-US"/>
              <a:t>same transaction. The failed attempt never published. The replacement published</a:t>
            </a:r>
          </a:p>
          <a:p>
            <a:r>
              <a:rPr lang="en-US"/>
              <a:t>and five successful training rounds completed, excluding bootstrap and the</a:t>
            </a:r>
          </a:p>
          <a:p>
            <a:r>
              <a:rPr lang="en-US"/>
              <a:t>aborted attempt. All six workers participated across the run, not necessarily</a:t>
            </a:r>
          </a:p>
          <a:p>
            <a:r>
              <a:rPr lang="en-US"/>
              <a:t>in every round. The stopped CVM was restored; provider running was confirmed.</a:t>
            </a:r>
          </a:p>
          <a:p>
            <a:r>
              <a:rPr lang="en-US"/>
              <a:t>Application readiness of that individual CVM was not independently checked;</a:t>
            </a:r>
          </a:p>
          <a:p>
            <a:r>
              <a:rPr lang="en-US"/>
              <a:t>final deployed-agent inference succeeded.</a:t>
            </a:r>
          </a:p>
          <a:p/>
          <a:p>
            <a:r>
              <a:rPr lang="en-US"/>
              <a:t>TIMING</a:t>
            </a:r>
          </a:p>
          <a:p>
            <a:r>
              <a:rPr lang="en-US"/>
              <a:t>Use the recorded TD durations, rounded for display: reselection 112.38 s,</a:t>
            </a:r>
          </a:p>
          <a:p>
            <a:r>
              <a:rPr lang="en-US"/>
              <a:t>first recovery publication 169.41 s, both from confirmed VM stop. Both belong to the same recovery interval;</a:t>
            </a:r>
          </a:p>
          <a:p>
            <a:r>
              <a:rPr lang="en-US"/>
              <a:t>they are not averaged latencies, service guarantees, or the aggregator's 45 s</a:t>
            </a:r>
          </a:p>
          <a:p>
            <a:r>
              <a:rPr lang="en-US"/>
              <a:t>collection timer. The process diagram is schematic, not a time-scaled axis.</a:t>
            </a:r>
          </a:p>
          <a:p/>
          <a:p>
            <a:r>
              <a:rPr lang="en-US"/>
              <a:t>SECURITY / ACCESS AND CONTRACT GUARDS</a:t>
            </a:r>
          </a:p>
          <a:p>
            <a:r>
              <a:rPr lang="en-US"/>
              <a:t>The completed security run fb5671a8fb3141208b1920993418dcf9 passed all 16 probes:</a:t>
            </a:r>
          </a:p>
          <a:p>
            <a:r>
              <a:rPr lang="en-US"/>
              <a:t>five access/configuration checks (UI missing/wrong credentials, Control</a:t>
            </a:r>
          </a:p>
          <a:p>
            <a:r>
              <a:rPr lang="en-US"/>
              <a:t>missing/wrong credentials, unchanged configuration); four read-only eth_call</a:t>
            </a:r>
          </a:p>
          <a:p>
            <a:r>
              <a:rPr lang="en-US"/>
              <a:t>contract guards (stale round, wrong aggregator, unregistered action key, policy</a:t>
            </a:r>
          </a:p>
          <a:p>
            <a:r>
              <a:rPr lang="en-US"/>
              <a:t>owner); one positive deployed-agent inference control; and six unauthorized</a:t>
            </a:r>
          </a:p>
          <a:p>
            <a:r>
              <a:rPr lang="en-US"/>
              <a:t>inference requests (missing/spoofed authorization on three endpoints).</a:t>
            </a:r>
          </a:p>
          <a:p>
            <a:r>
              <a:rPr lang="en-US"/>
              <a:t>Ten requests returned HTTP 401: two UI, two Control and six inference requests,</a:t>
            </a:r>
          </a:p>
          <a:p>
            <a:r>
              <a:rPr lang="en-US"/>
              <a:t>with the expected authentication challenge or error reason. All four eth_call</a:t>
            </a:r>
          </a:p>
          <a:p>
            <a:r>
              <a:rPr lang="en-US"/>
              <a:t>probes reverted with the expected reason. The authorized positive control is</a:t>
            </a:r>
          </a:p>
          <a:p>
            <a:r>
              <a:rPr lang="en-US"/>
              <a:t>one successful agent workflow, not proof of model prediction correctness.</a:t>
            </a:r>
          </a:p>
          <a:p>
            <a:r>
              <a:rPr lang="en-US"/>
              <a:t>The unchanged-configuration check is an invariant, not a fifth HTTP rejection.</a:t>
            </a:r>
          </a:p>
          <a:p>
            <a:r>
              <a:rPr lang="en-US"/>
              <a:t>SMEW succeeded with exit code zero; SMA reports ok; TD and its complete security</a:t>
            </a:r>
          </a:p>
          <a:p>
            <a:r>
              <a:rPr lang="en-US"/>
              <a:t>matrix report PASS. Five training rounds completed with all six workers active</a:t>
            </a:r>
          </a:p>
          <a:p>
            <a:r>
              <a:rPr lang="en-US"/>
              <a:t>across this security run. No contract attack transaction was broadcast.</a:t>
            </a:r>
          </a:p>
          <a:p>
            <a:r>
              <a:rPr lang="en-US"/>
              <a:t>These bounded authorization/contract probes do not cover every Chapter-4 threat;</a:t>
            </a:r>
          </a:p>
          <a:p>
            <a:r>
              <a:rPr lang="en-US"/>
              <a:t>the archived coverage_gaps retain the untested and residual threats.</a:t>
            </a:r>
          </a:p>
          <a:p/>
          <a:p>
            <a:r>
              <a:rPr lang="en-US"/>
              <a:t>PUBLISHED EVIDENCE AUDIT</a:t>
            </a:r>
          </a:p>
          <a:p>
            <a:r>
              <a:rPr lang="en-US"/>
              <a:t>The slide displays the security run's successful 17-check audit lasting 13.3421 s.</a:t>
            </a:r>
          </a:p>
          <a:p>
            <a:r>
              <a:rPr lang="en-US"/>
              <a:t>The earlier recovery audit separately passed 17 checks in 13.5826 s. Counts</a:t>
            </a:r>
          </a:p>
          <a:p>
            <a:r>
              <a:rPr lang="en-US"/>
              <a:t>are not pooled; the two audits are separate observations. Each audit contains:</a:t>
            </a:r>
          </a:p>
          <a:p>
            <a:r>
              <a:rPr lang="en-US"/>
              <a:t>10 SCITT publisher/inclusion checks, 1 combined AIR/TDX check,</a:t>
            </a:r>
          </a:p>
          <a:p>
            <a:r>
              <a:rPr lang="en-US"/>
              <a:t>3 attestation-session checks and 3 Sello receipt checks. Checks were re-executed</a:t>
            </a:r>
          </a:p>
          <a:p>
            <a:r>
              <a:rPr lang="en-US"/>
              <a:t>on published transparency-log evidence with run/model/receiver policy bindings.</a:t>
            </a:r>
          </a:p>
          <a:p>
            <a:r>
              <a:rPr lang="en-US"/>
              <a:t>The three tools were fetch_latest_verified_tee_model_bundle,</a:t>
            </a:r>
          </a:p>
          <a:p>
            <a:r>
              <a:rPr lang="en-US"/>
              <a:t>generate_random_tee_chestmnist_image and run_and_verify_tee_inference.</a:t>
            </a:r>
          </a:p>
          <a:p>
            <a:r>
              <a:rPr lang="en-US"/>
              <a:t>Fresh quote cryptography/collateral appraisal is delegated to Phala. Verifier</a:t>
            </a:r>
          </a:p>
          <a:p>
            <a:r>
              <a:rPr lang="en-US"/>
              <a:t>primitives are reused from the recorded VITA checkout: independent execution,</a:t>
            </a:r>
          </a:p>
          <a:p>
            <a:r>
              <a:rPr lang="en-US"/>
              <a:t>not an independently implemented Intel DCAP verifier. Log signatures establish</a:t>
            </a:r>
          </a:p>
          <a:p>
            <a:r>
              <a:rPr lang="en-US"/>
              <a:t>inclusion under the pinned key, not global log completeness or no split views.</a:t>
            </a:r>
          </a:p>
          <a:p>
            <a:r>
              <a:rPr lang="en-US"/>
              <a:t>The original TLS/PoP handshake was not replayed. Seventeen checks are assertions</a:t>
            </a:r>
          </a:p>
          <a:p>
            <a:r>
              <a:rPr lang="en-US"/>
              <a:t>within this one audit, not seventeen independent experiments.</a:t>
            </a:r>
          </a:p>
          <a:p/>
          <a:p>
            <a:r>
              <a:rPr lang="en-US"/>
              <a:t>SELECTION AND LIMITS</a:t>
            </a:r>
          </a:p>
          <a:p>
            <a:r>
              <a:rPr lang="en-US"/>
              <a:t>The slides highlight the latest completed successful recovery run. An earlier</a:t>
            </a:r>
          </a:p>
          <a:p>
            <a:r>
              <a:rPr lang="en-US"/>
              <a:t>recovery attempt ended ERROR; an earlier partial test also ended ERROR after cancel.</a:t>
            </a:r>
          </a:p>
          <a:p>
            <a:r>
              <a:rPr lang="en-US"/>
              <a:t>No campaign success percentage, repeated-run reliability estimate, broad</a:t>
            </a:r>
          </a:p>
          <a:p>
            <a:r>
              <a:rPr lang="en-US"/>
              <a:t>security guarantee or complete Chapter-4 threat coverage is inferred.</a:t>
            </a:r>
          </a:p>
          <a:p>
            <a:r>
              <a:rPr lang="en-US"/>
              <a:t>Green means observed/passed assertion within the selected scenarios.</a:t>
            </a:r>
          </a:p>
          <a:p>
            <a:r>
              <a:rPr lang="en-US"/>
              <a:t>Recovery is from 25 Sep; collection, security and the displayed audit are</a:t>
            </a:r>
          </a:p>
          <a:p>
            <a:r>
              <a:rPr lang="en-US"/>
              <a:t>from separate runs on 29 Sep. Image pins are identical across these runs. The DFL/Agent header chips retain the</a:t>
            </a:r>
          </a:p>
          <a:p>
            <a:r>
              <a:rPr lang="en-US"/>
              <a:t>main presentation's functional-domain meaning. Chapter 4 and the main deck</a:t>
            </a:r>
          </a:p>
          <a:p>
            <a:r>
              <a:rPr lang="en-US"/>
              <a:t>are preserved; these are separate editable proposals awaiting selection.</a:t>
            </a:r>
          </a:p>
          <a:p/>
          <a:p>
            <a:r>
              <a:rPr lang="en-US"/>
              <a:t>SOURCE MAP</a:t>
            </a:r>
          </a:p>
          <a:p/>
          <a:p>
            <a:r>
              <a:rPr lang="en-US"/>
              <a:t>RUNTIME PROVISIONING DIFFERENCE</a:t>
            </a:r>
          </a:p>
          <a:p>
            <a:r>
              <a:rPr lang="en-US"/>
              <a:t>Identical container-image pins do not imply identical runtime configuration.</a:t>
            </a:r>
          </a:p>
          <a:p>
            <a:r>
              <a:rPr lang="en-US"/>
              <a:t>After the security run, the existing runtime app was updated in place: the</a:t>
            </a:r>
          </a:p>
          <a:p>
            <a:r>
              <a:rPr lang="en-US"/>
              <a:t>control-api environment now sets TF_CLI_ARGS_apply=-parallelism=2. This reduces</a:t>
            </a:r>
          </a:p>
          <a:p>
            <a:r>
              <a:rPr lang="en-US"/>
              <a:t>Terraform provisioning concurrency after Phala HTTP 429 rate-limit failures.</a:t>
            </a:r>
          </a:p>
          <a:p>
            <a:r>
              <a:rPr lang="en-US"/>
              <a:t>Runtime app identity, all seven image references, OS and encrypted environment</a:t>
            </a:r>
          </a:p>
          <a:p>
            <a:r>
              <a:rPr lang="en-US"/>
              <a:t>were retained. This is a configuration change, not a newly identified deployment.</a:t>
            </a:r>
          </a:p>
          <a:p>
            <a:r>
              <a:rPr lang="en-US"/>
              <a:t>Old runtime Compose SHA-256: 39696ae9a38f8e794695ff52a5ea1ac9c1639054a830f9a70c335c44c43e2c98</a:t>
            </a:r>
          </a:p>
          <a:p>
            <a:r>
              <a:rPr lang="en-US"/>
              <a:t>New runtime Compose SHA-256: 565b1455588174a6af1738c834d9254c124266b419cf0f589d8374be39e30899</a:t>
            </a:r>
          </a:p>
          <a:p>
            <a:r>
              <a:rPr lang="en-US"/>
              <a:t>The reviewed/applied plan and its SHA-256 are included in the source map.</a:t>
            </a:r>
          </a:p>
          <a:p>
            <a:r>
              <a:rPr lang="en-US"/>
              <a:t>The runtime restart also changed the transparency log's SCITT key set. A new</a:t>
            </a:r>
          </a:p>
          <a:p>
            <a:r>
              <a:rPr lang="en-US"/>
              <a:t>collection audit policy was pinned through the authenticated deployment UI:</a:t>
            </a:r>
          </a:p>
          <a:p>
            <a:r>
              <a:rPr lang="en-US"/>
              <a:t>vita-fl-td/generated/collection-check-20260929/audit-policy-p2.json</a:t>
            </a:r>
          </a:p>
          <a:p>
            <a:r>
              <a:rPr lang="en-US"/>
              <a:t>Policy SHA-256: ab42502be003fac038dba7dd3980e694c65e9f5a8a130ccfe24de05fe3a356e2</a:t>
            </a:r>
          </a:p>
          <a:p>
            <a:r>
              <a:rPr lang="en-US"/>
              <a:t>SCITT key-set SHA-256: 4e88fc22158be76e0e595ede59c54d77ea04476a31d5aa4ef1874abee339b56c</a:t>
            </a:r>
          </a:p>
          <a:p>
            <a:r>
              <a:rPr lang="en-US"/>
              <a:t>The original security audit policy remains preserved for the earlier run.</a:t>
            </a:r>
          </a:p>
          <a:p>
            <a:r>
              <a:rPr lang="en-US"/>
              <a:t>The platform-measurement allowlist and Sello identity remain unchanged. These</a:t>
            </a:r>
          </a:p>
          <a:p>
            <a:r>
              <a:rPr lang="en-US"/>
              <a:t>statements are checked against restart-verification.json and both policy files</a:t>
            </a:r>
          </a:p>
          <a:p>
            <a:r>
              <a:rPr lang="en-US"/>
              <a:t>when the security archive is included. Policy/key-set and verification-file</a:t>
            </a:r>
          </a:p>
          <a:p>
            <a:r>
              <a:rPr lang="en-US"/>
              <a:t>hashes are retained; the later key set is not substituted into the old audit.</a:t>
            </a:r>
          </a:p>
          <a:p>
            <a:r>
              <a:rPr lang="en-US"/>
              <a:t>Earlier collection startup attempts ended ERROR (Control HTTP 500 after Phala</a:t>
            </a:r>
          </a:p>
          <a:p>
            <a:r>
              <a:rPr lang="en-US"/>
              <a:t>429 provisioning failure; one early startup returned HTTP 409). They were not</a:t>
            </a:r>
          </a:p>
          <a:p>
            <a:r>
              <a:rPr lang="en-US"/>
              <a:t>collection behavior passes and are not erased by successful later attempts.</a:t>
            </a:r>
          </a:p>
          <a:p>
            <a:r>
              <a:rPr lang="en-US"/>
              <a:t>No campaign-wide 100 percent success rate or same-configuration comparison is</a:t>
            </a:r>
          </a:p>
          <a:p>
            <a:r>
              <a:rPr lang="en-US"/>
              <a:t>claimed. Per-run provisioning settings and source hashes remain in evidence.json.</a:t>
            </a:r>
          </a:p>
          <a:p/>
          <a:p>
            <a:r>
              <a:rPr lang="en-US"/>
              <a:t>Retained earlier ERROR: early / cf620aaa8d9640f89af76689c31409d7 / SMEW/reports/vita-fl-early-5r-20260929-a2fb2bbf/2026_09_29_14_33_19_245ab035</a:t>
            </a:r>
          </a:p>
          <a:p/>
          <a:p>
            <a:r>
              <a:rPr lang="en-US"/>
              <a:t>Retained earlier ERROR: early / c93e3d33899a413da27931498561b318 / SMEW/reports/vita-fl-early-5r-20260929-a2fb2bbf/2026_09_29_14_40_08_624be60f</a:t>
            </a:r>
          </a:p>
          <a:p/>
          <a:p>
            <a:r>
              <a:rPr lang="en-US"/>
              <a:t>Retained earlier ERROR: partial / 6325a81c97804a2c937c7cab9f0b65ea / SMEW/reports/vita-fl-partial-5r-20260929-a2fb2bbf/2026_09_29_14_26_19_6fba5816</a:t>
            </a:r>
          </a:p>
          <a:p/>
          <a:p>
            <a:r>
              <a:rPr lang="en-US"/>
              <a:t>COLLECTION SCOPE: The later passing scenarios do not erase earlier aborted attempts.</a:t>
            </a:r>
          </a:p>
          <a:p>
            <a:r>
              <a:rPr lang="en-US"/>
              <a:t>The chosen collection boundaries are covered; arbitrary failures and statistical reliability are not.</a:t>
            </a:r>
          </a:p>
          <a:p>
            <a:r>
              <a:rPr lang="en-US"/>
              <a:t>SMEW/reports/vita-fl-recovery-5r-61b96e51/2026_09_25_17_22_19_749db20e/subprocess_output/result.json</a:t>
            </a:r>
          </a:p>
          <a:p>
            <a:r>
              <a:rPr lang="en-US"/>
              <a:t>SMEW/reports/vita-fl-recovery-5r-61b96e51/2026_09_25_17_22_19_749db20e/subprocess_output/run-artifacts.zip</a:t>
            </a:r>
          </a:p>
          <a:p>
            <a:r>
              <a:rPr lang="en-US"/>
              <a:t>SMEW/reports/vita-fl-partial-5r-61b96e51/2026_09_25_17_35_46_15585dd8/subprocess_output/result.json</a:t>
            </a:r>
          </a:p>
          <a:p>
            <a:r>
              <a:rPr lang="en-US"/>
              <a:t>SMEW/reports/vita-fl-recovery-5r-98664d28/2026_09_25_16_34_03_e48f9a7c/subprocess_output/result.json</a:t>
            </a:r>
          </a:p>
          <a:p>
            <a:r>
              <a:rPr lang="en-US"/>
              <a:t>SMEW/reports/vita-fl-security-5r-20260929-a2fb2bbf/2026_09_29_13_35_26_f18d168d/smew.json</a:t>
            </a:r>
          </a:p>
          <a:p>
            <a:r>
              <a:rPr lang="en-US"/>
              <a:t>SMEW/reports/vita-fl-security-5r-20260929-a2fb2bbf/2026_09_29_13_35_26_f18d168d/run.json</a:t>
            </a:r>
          </a:p>
          <a:p>
            <a:r>
              <a:rPr lang="en-US"/>
              <a:t>SMEW/reports/vita-fl-security-5r-20260929-a2fb2bbf/2026_09_29_13_35_26_f18d168d/manifest.json</a:t>
            </a:r>
          </a:p>
          <a:p>
            <a:r>
              <a:rPr lang="en-US"/>
              <a:t>SMEW/reports/vita-fl-security-5r-20260929-a2fb2bbf/2026_09_29_13_35_26_f18d168d/subprocess_output/result.json</a:t>
            </a:r>
          </a:p>
          <a:p>
            <a:r>
              <a:rPr lang="en-US"/>
              <a:t>SMEW/reports/vita-fl-security-5r-20260929-a2fb2bbf/2026_09_29_13_35_26_f18d168d/subprocess_output/run-artifacts.zip</a:t>
            </a:r>
          </a:p>
          <a:p>
            <a:r>
              <a:rPr lang="en-US"/>
              <a:t>vita-fl-td/src/vita_fl_td/security_bridge.py</a:t>
            </a:r>
          </a:p>
          <a:p>
            <a:r>
              <a:rPr lang="en-US"/>
              <a:t>vita-fl-td/generated/security-check-20260929/vita-fl-security-5r-20260929-a2fb2bbf/audit-policy.json</a:t>
            </a:r>
          </a:p>
          <a:p>
            <a:r>
              <a:rPr lang="en-US"/>
              <a:t>SMEW/reports/vita-fl-early-5r-20260929-a2fb2bbf/2026_09_29_15_02_42_ca2cea1a/smew.json</a:t>
            </a:r>
          </a:p>
          <a:p>
            <a:r>
              <a:rPr lang="en-US"/>
              <a:t>SMEW/reports/vita-fl-early-5r-20260929-a2fb2bbf/2026_09_29_15_02_42_ca2cea1a/run.json</a:t>
            </a:r>
          </a:p>
          <a:p>
            <a:r>
              <a:rPr lang="en-US"/>
              <a:t>SMEW/reports/vita-fl-early-5r-20260929-a2fb2bbf/2026_09_29_15_02_42_ca2cea1a/manifest.json</a:t>
            </a:r>
          </a:p>
          <a:p>
            <a:r>
              <a:rPr lang="en-US"/>
              <a:t>SMEW/reports/vita-fl-early-5r-20260929-a2fb2bbf/2026_09_29_15_02_42_ca2cea1a/subprocess_output/result.json</a:t>
            </a:r>
          </a:p>
          <a:p>
            <a:r>
              <a:rPr lang="en-US"/>
              <a:t>SMEW/reports/vita-fl-early-5r-20260929-a2fb2bbf/2026_09_29_15_02_42_ca2cea1a/subprocess_output/run-artifacts.zip</a:t>
            </a:r>
          </a:p>
          <a:p>
            <a:r>
              <a:rPr lang="en-US"/>
              <a:t>vita-fl-td/generated/collection-check-20260929/parallelism-plan.json</a:t>
            </a:r>
          </a:p>
          <a:p>
            <a:r>
              <a:rPr lang="en-US"/>
              <a:t>vita-fl-td/generated/collection-check-20260929/restart-verification.json</a:t>
            </a:r>
          </a:p>
          <a:p>
            <a:r>
              <a:rPr lang="en-US"/>
              <a:t>vita-fl-td/generated/collection-check-20260929/audit-policy-p2.json</a:t>
            </a:r>
          </a:p>
          <a:p>
            <a:r>
              <a:rPr lang="en-US"/>
              <a:t>SMEW/reports/vita-fl-partial-5r-20260929-a2fb2bbf/2026_09_29_15_16_23_dbffef0e/smew.json</a:t>
            </a:r>
          </a:p>
          <a:p>
            <a:r>
              <a:rPr lang="en-US"/>
              <a:t>SMEW/reports/vita-fl-partial-5r-20260929-a2fb2bbf/2026_09_29_15_16_23_dbffef0e/run.json</a:t>
            </a:r>
          </a:p>
          <a:p>
            <a:r>
              <a:rPr lang="en-US"/>
              <a:t>SMEW/reports/vita-fl-partial-5r-20260929-a2fb2bbf/2026_09_29_15_16_23_dbffef0e/manifest.json</a:t>
            </a:r>
          </a:p>
          <a:p>
            <a:r>
              <a:rPr lang="en-US"/>
              <a:t>SMEW/reports/vita-fl-partial-5r-20260929-a2fb2bbf/2026_09_29_15_16_23_dbffef0e/subprocess_output/result.json</a:t>
            </a:r>
          </a:p>
          <a:p>
            <a:r>
              <a:rPr lang="en-US"/>
              <a:t>SMEW/reports/vita-fl-partial-5r-20260929-a2fb2bbf/2026_09_29_15_16_23_dbffef0e/subprocess_output/run-artifacts.zip</a:t>
            </a:r>
          </a:p>
          <a:p>
            <a:r>
              <a:rPr lang="en-US"/>
              <a:t>SMEW/reports/vita-fl-zero-5r-20260929-a2fb2bbf/2026_09_29_15_30_36_da447d90/smew.json</a:t>
            </a:r>
          </a:p>
          <a:p>
            <a:r>
              <a:rPr lang="en-US"/>
              <a:t>SMEW/reports/vita-fl-zero-5r-20260929-a2fb2bbf/2026_09_29_15_30_36_da447d90/run.json</a:t>
            </a:r>
          </a:p>
          <a:p>
            <a:r>
              <a:rPr lang="en-US"/>
              <a:t>SMEW/reports/vita-fl-zero-5r-20260929-a2fb2bbf/2026_09_29_15_30_36_da447d90/manifest.json</a:t>
            </a:r>
          </a:p>
          <a:p>
            <a:r>
              <a:rPr lang="en-US"/>
              <a:t>SMEW/reports/vita-fl-zero-5r-20260929-a2fb2bbf/2026_09_29_15_30_36_da447d90/subprocess_output/result.json</a:t>
            </a:r>
          </a:p>
          <a:p>
            <a:r>
              <a:rPr lang="en-US"/>
              <a:t>SMEW/reports/vita-fl-zero-5r-20260929-a2fb2bbf/2026_09_29_15_30_36_da447d90/subprocess_output/run-artifacts.zip</a:t>
            </a:r>
          </a:p>
          <a:p>
            <a:r>
              <a:rPr lang="en-US"/>
              <a:t>SMEW/reports/vita-fl-early-5r-20260929-a2fb2bbf/2026_09_29_14_33_19_245ab035/smew.json</a:t>
            </a:r>
          </a:p>
          <a:p>
            <a:r>
              <a:rPr lang="en-US"/>
              <a:t>SMEW/reports/vita-fl-early-5r-20260929-a2fb2bbf/2026_09_29_14_33_19_245ab035/run.json</a:t>
            </a:r>
          </a:p>
          <a:p>
            <a:r>
              <a:rPr lang="en-US"/>
              <a:t>SMEW/reports/vita-fl-early-5r-20260929-a2fb2bbf/2026_09_29_14_33_19_245ab035/manifest.json</a:t>
            </a:r>
          </a:p>
          <a:p>
            <a:r>
              <a:rPr lang="en-US"/>
              <a:t>SMEW/reports/vita-fl-early-5r-20260929-a2fb2bbf/2026_09_29_14_33_19_245ab035/subprocess_output/result.json</a:t>
            </a:r>
          </a:p>
          <a:p>
            <a:r>
              <a:rPr lang="en-US"/>
              <a:t>SMEW/reports/vita-fl-early-5r-20260929-a2fb2bbf/2026_09_29_14_33_19_245ab035/subprocess_output/run-artifacts.zip</a:t>
            </a:r>
          </a:p>
          <a:p>
            <a:r>
              <a:rPr lang="en-US"/>
              <a:t>SMEW/reports/vita-fl-early-5r-20260929-a2fb2bbf/2026_09_29_14_40_08_624be60f/smew.json</a:t>
            </a:r>
          </a:p>
          <a:p>
            <a:r>
              <a:rPr lang="en-US"/>
              <a:t>SMEW/reports/vita-fl-early-5r-20260929-a2fb2bbf/2026_09_29_14_40_08_624be60f/run.json</a:t>
            </a:r>
          </a:p>
          <a:p>
            <a:r>
              <a:rPr lang="en-US"/>
              <a:t>SMEW/reports/vita-fl-early-5r-20260929-a2fb2bbf/2026_09_29_14_40_08_624be60f/manifest.json</a:t>
            </a:r>
          </a:p>
          <a:p>
            <a:r>
              <a:rPr lang="en-US"/>
              <a:t>SMEW/reports/vita-fl-early-5r-20260929-a2fb2bbf/2026_09_29_14_40_08_624be60f/subprocess_output/result.json</a:t>
            </a:r>
          </a:p>
          <a:p>
            <a:r>
              <a:rPr lang="en-US"/>
              <a:t>SMEW/reports/vita-fl-early-5r-20260929-a2fb2bbf/2026_09_29_14_40_08_624be60f/subprocess_output/run-artifacts.zip</a:t>
            </a:r>
          </a:p>
          <a:p>
            <a:r>
              <a:rPr lang="en-US"/>
              <a:t>SMEW/reports/vita-fl-partial-5r-20260929-a2fb2bbf/2026_09_29_14_26_19_6fba5816/smew.json</a:t>
            </a:r>
          </a:p>
          <a:p>
            <a:r>
              <a:rPr lang="en-US"/>
              <a:t>SMEW/reports/vita-fl-partial-5r-20260929-a2fb2bbf/2026_09_29_14_26_19_6fba5816/run.json</a:t>
            </a:r>
          </a:p>
          <a:p>
            <a:r>
              <a:rPr lang="en-US"/>
              <a:t>SMEW/reports/vita-fl-partial-5r-20260929-a2fb2bbf/2026_09_29_14_26_19_6fba5816/manifest.json</a:t>
            </a:r>
          </a:p>
          <a:p>
            <a:r>
              <a:rPr lang="en-US"/>
              <a:t>SMEW/reports/vita-fl-partial-5r-20260929-a2fb2bbf/2026_09_29_14_26_19_6fba5816/subprocess_output/result.json</a:t>
            </a:r>
          </a:p>
          <a:p>
            <a:r>
              <a:rPr lang="en-US"/>
              <a:t>SMEW/reports/vita-fl-partial-5r-20260929-a2fb2bbf/2026_09_29_14_26_19_6fba5816/subprocess_output/run-artifacts.zip</a:t>
            </a:r>
          </a:p>
          <a:p>
            <a:r>
              <a:rPr lang="en-US"/>
              <a:t>presentation/concepts/test-evaluation/ci-external/external-scope.json</a:t>
            </a:r>
          </a:p>
          <a:p>
            <a:r>
              <a:rPr lang="en-US"/>
              <a:t>vita-fl-td/src/vita_fl_td/runner.py</a:t>
            </a:r>
          </a:p>
          <a:p>
            <a:r>
              <a:rPr lang="en-US"/>
              <a:t>vita-fl-td/src/vita_fl_td/quorum.py</a:t>
            </a:r>
          </a:p>
          <a:p>
            <a:r>
              <a:rPr lang="en-US"/>
              <a:t>vita-fl-td/src/vita_fl_td/transparency_audit.py</a:t>
            </a:r>
          </a:p>
          <a:p>
            <a:r>
              <a:rPr lang="en-US"/>
              <a:t>All numeric slide results are exported with source SHA-256 values in evidence.json.</a:t>
            </a:r>
          </a:p>
          <a:p/>
          <a:p/>
          <a:p>
            <a:r>
              <a:rPr lang="en-US"/>
              <a:t>REVISED TEST SCOPE</a:t>
            </a:r>
          </a:p>
          <a:p>
            <a:r>
              <a:rPr lang="en-US"/>
              <a:t>Each visible category identifies its actual intervention or downloaded evidence and the property checked.</a:t>
            </a:r>
          </a:p>
          <a:p>
            <a:r>
              <a:rPr lang="en-US"/>
              <a:t>Collection numbers describe input closure, not a directly instrumented aggregation-start time.</a:t>
            </a:r>
          </a:p>
          <a:p>
            <a:r>
              <a:rPr lang="en-US"/>
              <a:t>The configuration probe submits the existing configuration, checks rejection and unchanged state; it does not attempt a changed configuration.</a:t>
            </a:r>
          </a:p>
          <a:p>
            <a:r>
              <a:rPr lang="en-US"/>
              <a:t>Receipt audit uses authentic published evidence, without receipt mutation attacks.</a:t>
            </a:r>
          </a:p>
          <a:p>
            <a:r>
              <a:rPr lang="en-US"/>
              <a:t>RTMR3 means event-log replay against each quote, not registration-versus-inference equality; model hashes are bound through manifest, REPORTDATA and AIR.</a:t>
            </a:r>
          </a:p>
          <a:p>
            <a:r>
              <a:rPr lang="en-US"/>
              <a:t>Sello checks include signature, owner authorization, exact tool input/output and attested receiver/session binding.</a:t>
            </a:r>
          </a:p>
          <a:p>
            <a:r>
              <a:rPr lang="en-US"/>
              <a:t>No model-accuracy claim, independent cryptographic implementation, original TLS-handshake observation or global-log completeness claim.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el - Text und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ildplatzhalter 23">
            <a:extLst>
              <a:ext uri="{FF2B5EF4-FFF2-40B4-BE49-F238E27FC236}">
                <a16:creationId xmlns:a16="http://schemas.microsoft.com/office/drawing/2014/main" id="{9A036687-F2BF-7B4C-A352-6E1D355D125D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-6479" y="1260572"/>
            <a:ext cx="8885359" cy="3273604"/>
          </a:xfrm>
          <a:custGeom>
            <a:avLst/>
            <a:gdLst>
              <a:gd name="connsiteX0" fmla="*/ 0 w 8328660"/>
              <a:gd name="connsiteY0" fmla="*/ 0 h 3143274"/>
              <a:gd name="connsiteX1" fmla="*/ 8328660 w 8328660"/>
              <a:gd name="connsiteY1" fmla="*/ 0 h 3143274"/>
              <a:gd name="connsiteX2" fmla="*/ 8328660 w 8328660"/>
              <a:gd name="connsiteY2" fmla="*/ 3143274 h 3143274"/>
              <a:gd name="connsiteX3" fmla="*/ 0 w 8328660"/>
              <a:gd name="connsiteY3" fmla="*/ 3143274 h 3143274"/>
              <a:gd name="connsiteX4" fmla="*/ 0 w 8328660"/>
              <a:gd name="connsiteY4" fmla="*/ 0 h 3143274"/>
              <a:gd name="connsiteX0" fmla="*/ 0 w 8336280"/>
              <a:gd name="connsiteY0" fmla="*/ 601980 h 3745254"/>
              <a:gd name="connsiteX1" fmla="*/ 8336280 w 8336280"/>
              <a:gd name="connsiteY1" fmla="*/ 0 h 3745254"/>
              <a:gd name="connsiteX2" fmla="*/ 8328660 w 8336280"/>
              <a:gd name="connsiteY2" fmla="*/ 3745254 h 3745254"/>
              <a:gd name="connsiteX3" fmla="*/ 0 w 8336280"/>
              <a:gd name="connsiteY3" fmla="*/ 3745254 h 3745254"/>
              <a:gd name="connsiteX4" fmla="*/ 0 w 8336280"/>
              <a:gd name="connsiteY4" fmla="*/ 601980 h 3745254"/>
              <a:gd name="connsiteX0" fmla="*/ 0 w 8336280"/>
              <a:gd name="connsiteY0" fmla="*/ 601980 h 3745254"/>
              <a:gd name="connsiteX1" fmla="*/ 8336280 w 8336280"/>
              <a:gd name="connsiteY1" fmla="*/ 0 h 3745254"/>
              <a:gd name="connsiteX2" fmla="*/ 8321040 w 8336280"/>
              <a:gd name="connsiteY2" fmla="*/ 3242334 h 3745254"/>
              <a:gd name="connsiteX3" fmla="*/ 0 w 8336280"/>
              <a:gd name="connsiteY3" fmla="*/ 3745254 h 3745254"/>
              <a:gd name="connsiteX4" fmla="*/ 0 w 8336280"/>
              <a:gd name="connsiteY4" fmla="*/ 601980 h 3745254"/>
              <a:gd name="connsiteX0" fmla="*/ 0 w 8336280"/>
              <a:gd name="connsiteY0" fmla="*/ 286029 h 3429303"/>
              <a:gd name="connsiteX1" fmla="*/ 8336280 w 8336280"/>
              <a:gd name="connsiteY1" fmla="*/ 0 h 3429303"/>
              <a:gd name="connsiteX2" fmla="*/ 8321040 w 8336280"/>
              <a:gd name="connsiteY2" fmla="*/ 2926383 h 3429303"/>
              <a:gd name="connsiteX3" fmla="*/ 0 w 8336280"/>
              <a:gd name="connsiteY3" fmla="*/ 3429303 h 3429303"/>
              <a:gd name="connsiteX4" fmla="*/ 0 w 8336280"/>
              <a:gd name="connsiteY4" fmla="*/ 286029 h 3429303"/>
              <a:gd name="connsiteX0" fmla="*/ 0 w 8339997"/>
              <a:gd name="connsiteY0" fmla="*/ 312049 h 3429303"/>
              <a:gd name="connsiteX1" fmla="*/ 8339997 w 8339997"/>
              <a:gd name="connsiteY1" fmla="*/ 0 h 3429303"/>
              <a:gd name="connsiteX2" fmla="*/ 8324757 w 8339997"/>
              <a:gd name="connsiteY2" fmla="*/ 2926383 h 3429303"/>
              <a:gd name="connsiteX3" fmla="*/ 3717 w 8339997"/>
              <a:gd name="connsiteY3" fmla="*/ 3429303 h 3429303"/>
              <a:gd name="connsiteX4" fmla="*/ 0 w 8339997"/>
              <a:gd name="connsiteY4" fmla="*/ 312049 h 3429303"/>
              <a:gd name="connsiteX0" fmla="*/ 0 w 8343172"/>
              <a:gd name="connsiteY0" fmla="*/ 305699 h 3429303"/>
              <a:gd name="connsiteX1" fmla="*/ 8343172 w 8343172"/>
              <a:gd name="connsiteY1" fmla="*/ 0 h 3429303"/>
              <a:gd name="connsiteX2" fmla="*/ 8327932 w 8343172"/>
              <a:gd name="connsiteY2" fmla="*/ 2926383 h 3429303"/>
              <a:gd name="connsiteX3" fmla="*/ 6892 w 8343172"/>
              <a:gd name="connsiteY3" fmla="*/ 3429303 h 3429303"/>
              <a:gd name="connsiteX4" fmla="*/ 0 w 8343172"/>
              <a:gd name="connsiteY4" fmla="*/ 305699 h 3429303"/>
              <a:gd name="connsiteX0" fmla="*/ 0 w 8349522"/>
              <a:gd name="connsiteY0" fmla="*/ 308874 h 3429303"/>
              <a:gd name="connsiteX1" fmla="*/ 8349522 w 8349522"/>
              <a:gd name="connsiteY1" fmla="*/ 0 h 3429303"/>
              <a:gd name="connsiteX2" fmla="*/ 8334282 w 8349522"/>
              <a:gd name="connsiteY2" fmla="*/ 2926383 h 3429303"/>
              <a:gd name="connsiteX3" fmla="*/ 13242 w 8349522"/>
              <a:gd name="connsiteY3" fmla="*/ 3429303 h 3429303"/>
              <a:gd name="connsiteX4" fmla="*/ 0 w 8349522"/>
              <a:gd name="connsiteY4" fmla="*/ 308874 h 3429303"/>
              <a:gd name="connsiteX0" fmla="*/ 0 w 8352697"/>
              <a:gd name="connsiteY0" fmla="*/ 312049 h 3429303"/>
              <a:gd name="connsiteX1" fmla="*/ 8352697 w 8352697"/>
              <a:gd name="connsiteY1" fmla="*/ 0 h 3429303"/>
              <a:gd name="connsiteX2" fmla="*/ 8337457 w 8352697"/>
              <a:gd name="connsiteY2" fmla="*/ 2926383 h 3429303"/>
              <a:gd name="connsiteX3" fmla="*/ 16417 w 8352697"/>
              <a:gd name="connsiteY3" fmla="*/ 3429303 h 3429303"/>
              <a:gd name="connsiteX4" fmla="*/ 0 w 8352697"/>
              <a:gd name="connsiteY4" fmla="*/ 312049 h 3429303"/>
              <a:gd name="connsiteX0" fmla="*/ 0 w 8349522"/>
              <a:gd name="connsiteY0" fmla="*/ 302524 h 3429303"/>
              <a:gd name="connsiteX1" fmla="*/ 8349522 w 8349522"/>
              <a:gd name="connsiteY1" fmla="*/ 0 h 3429303"/>
              <a:gd name="connsiteX2" fmla="*/ 8334282 w 8349522"/>
              <a:gd name="connsiteY2" fmla="*/ 2926383 h 3429303"/>
              <a:gd name="connsiteX3" fmla="*/ 13242 w 8349522"/>
              <a:gd name="connsiteY3" fmla="*/ 3429303 h 3429303"/>
              <a:gd name="connsiteX4" fmla="*/ 0 w 8349522"/>
              <a:gd name="connsiteY4" fmla="*/ 302524 h 3429303"/>
              <a:gd name="connsiteX0" fmla="*/ 0 w 8349522"/>
              <a:gd name="connsiteY0" fmla="*/ 302524 h 3226103"/>
              <a:gd name="connsiteX1" fmla="*/ 8349522 w 8349522"/>
              <a:gd name="connsiteY1" fmla="*/ 0 h 3226103"/>
              <a:gd name="connsiteX2" fmla="*/ 8334282 w 8349522"/>
              <a:gd name="connsiteY2" fmla="*/ 2926383 h 3226103"/>
              <a:gd name="connsiteX3" fmla="*/ 13242 w 8349522"/>
              <a:gd name="connsiteY3" fmla="*/ 3226103 h 3226103"/>
              <a:gd name="connsiteX4" fmla="*/ 0 w 8349522"/>
              <a:gd name="connsiteY4" fmla="*/ 302524 h 3226103"/>
              <a:gd name="connsiteX0" fmla="*/ 0 w 8883911"/>
              <a:gd name="connsiteY0" fmla="*/ 326274 h 3226103"/>
              <a:gd name="connsiteX1" fmla="*/ 8883911 w 8883911"/>
              <a:gd name="connsiteY1" fmla="*/ 0 h 3226103"/>
              <a:gd name="connsiteX2" fmla="*/ 8868671 w 8883911"/>
              <a:gd name="connsiteY2" fmla="*/ 2926383 h 3226103"/>
              <a:gd name="connsiteX3" fmla="*/ 547631 w 8883911"/>
              <a:gd name="connsiteY3" fmla="*/ 3226103 h 3226103"/>
              <a:gd name="connsiteX4" fmla="*/ 0 w 8883911"/>
              <a:gd name="connsiteY4" fmla="*/ 326274 h 3226103"/>
              <a:gd name="connsiteX0" fmla="*/ 0 w 8872036"/>
              <a:gd name="connsiteY0" fmla="*/ 326274 h 3226103"/>
              <a:gd name="connsiteX1" fmla="*/ 8872036 w 8872036"/>
              <a:gd name="connsiteY1" fmla="*/ 0 h 3226103"/>
              <a:gd name="connsiteX2" fmla="*/ 8856796 w 8872036"/>
              <a:gd name="connsiteY2" fmla="*/ 2926383 h 3226103"/>
              <a:gd name="connsiteX3" fmla="*/ 535756 w 8872036"/>
              <a:gd name="connsiteY3" fmla="*/ 3226103 h 3226103"/>
              <a:gd name="connsiteX4" fmla="*/ 0 w 8872036"/>
              <a:gd name="connsiteY4" fmla="*/ 326274 h 3226103"/>
              <a:gd name="connsiteX0" fmla="*/ 34357 w 8906393"/>
              <a:gd name="connsiteY0" fmla="*/ 326274 h 3273604"/>
              <a:gd name="connsiteX1" fmla="*/ 8906393 w 8906393"/>
              <a:gd name="connsiteY1" fmla="*/ 0 h 3273604"/>
              <a:gd name="connsiteX2" fmla="*/ 8891153 w 8906393"/>
              <a:gd name="connsiteY2" fmla="*/ 2926383 h 3273604"/>
              <a:gd name="connsiteX3" fmla="*/ 98 w 8906393"/>
              <a:gd name="connsiteY3" fmla="*/ 3273604 h 3273604"/>
              <a:gd name="connsiteX4" fmla="*/ 34357 w 8906393"/>
              <a:gd name="connsiteY4" fmla="*/ 326274 h 3273604"/>
              <a:gd name="connsiteX0" fmla="*/ 0 w 8907662"/>
              <a:gd name="connsiteY0" fmla="*/ 338149 h 3273604"/>
              <a:gd name="connsiteX1" fmla="*/ 8907662 w 8907662"/>
              <a:gd name="connsiteY1" fmla="*/ 0 h 3273604"/>
              <a:gd name="connsiteX2" fmla="*/ 8892422 w 8907662"/>
              <a:gd name="connsiteY2" fmla="*/ 2926383 h 3273604"/>
              <a:gd name="connsiteX3" fmla="*/ 1367 w 8907662"/>
              <a:gd name="connsiteY3" fmla="*/ 3273604 h 3273604"/>
              <a:gd name="connsiteX4" fmla="*/ 0 w 8907662"/>
              <a:gd name="connsiteY4" fmla="*/ 338149 h 3273604"/>
              <a:gd name="connsiteX0" fmla="*/ 0 w 8907662"/>
              <a:gd name="connsiteY0" fmla="*/ 338149 h 3273604"/>
              <a:gd name="connsiteX1" fmla="*/ 8907662 w 8907662"/>
              <a:gd name="connsiteY1" fmla="*/ 0 h 3273604"/>
              <a:gd name="connsiteX2" fmla="*/ 8892422 w 8907662"/>
              <a:gd name="connsiteY2" fmla="*/ 2926383 h 3273604"/>
              <a:gd name="connsiteX3" fmla="*/ 32591 w 8907662"/>
              <a:gd name="connsiteY3" fmla="*/ 3273604 h 3273604"/>
              <a:gd name="connsiteX4" fmla="*/ 0 w 8907662"/>
              <a:gd name="connsiteY4" fmla="*/ 338149 h 3273604"/>
              <a:gd name="connsiteX0" fmla="*/ 0 w 8885359"/>
              <a:gd name="connsiteY0" fmla="*/ 338149 h 3273604"/>
              <a:gd name="connsiteX1" fmla="*/ 8885359 w 8885359"/>
              <a:gd name="connsiteY1" fmla="*/ 0 h 3273604"/>
              <a:gd name="connsiteX2" fmla="*/ 8870119 w 8885359"/>
              <a:gd name="connsiteY2" fmla="*/ 2926383 h 3273604"/>
              <a:gd name="connsiteX3" fmla="*/ 10288 w 8885359"/>
              <a:gd name="connsiteY3" fmla="*/ 3273604 h 3273604"/>
              <a:gd name="connsiteX4" fmla="*/ 0 w 8885359"/>
              <a:gd name="connsiteY4" fmla="*/ 338149 h 32736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85359" h="3273604">
                <a:moveTo>
                  <a:pt x="0" y="338149"/>
                </a:moveTo>
                <a:lnTo>
                  <a:pt x="8885359" y="0"/>
                </a:lnTo>
                <a:lnTo>
                  <a:pt x="8870119" y="2926383"/>
                </a:lnTo>
                <a:lnTo>
                  <a:pt x="10288" y="3273604"/>
                </a:lnTo>
                <a:cubicBezTo>
                  <a:pt x="7991" y="2232403"/>
                  <a:pt x="2297" y="1379350"/>
                  <a:pt x="0" y="338149"/>
                </a:cubicBezTo>
                <a:close/>
              </a:path>
            </a:pathLst>
          </a:custGeom>
          <a:solidFill>
            <a:srgbClr val="434343"/>
          </a:solidFill>
        </p:spPr>
        <p:txBody>
          <a:bodyPr lIns="576000" anchor="ctr" anchorCtr="0"/>
          <a:lstStyle>
            <a:lvl1pPr marL="0" indent="0" algn="ctr">
              <a:buNone/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dirty="0"/>
              <a:t>Platzhalter: Bild Titelfolie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F18C730E-B3F8-944F-8BC2-E236CE7245E4}"/>
              </a:ext>
            </a:extLst>
          </p:cNvPr>
          <p:cNvSpPr txBox="1"/>
          <p:nvPr userDrawn="1"/>
        </p:nvSpPr>
        <p:spPr>
          <a:xfrm>
            <a:off x="-2031023" y="2620375"/>
            <a:ext cx="2021305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b="1" dirty="0">
                <a:latin typeface="Arial" panose="020B0604020202020204" pitchFamily="34" charset="0"/>
                <a:cs typeface="Arial" panose="020B0604020202020204" pitchFamily="34" charset="0"/>
              </a:rPr>
              <a:t>Platzhalterbild ersetzen:</a:t>
            </a:r>
            <a:br>
              <a:rPr lang="de-DE" sz="10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Bild löschen und durch neues Bild ersetzen &gt; über Bildformat &gt; Zuschneiden im Rahmen ggf. nachpositionieren</a:t>
            </a: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b="1" dirty="0">
                <a:latin typeface="Arial" panose="020B0604020202020204" pitchFamily="34" charset="0"/>
                <a:cs typeface="Arial" panose="020B0604020202020204" pitchFamily="34" charset="0"/>
              </a:rPr>
              <a:t>Copyrightangabe: </a:t>
            </a: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Korrektes Copyright angeben (in der Regel Name des*der Fotograf*in), Textfarbe je nach Hintergrund weiß oder schwarz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A7B17960-7FEA-3C44-9F5C-B38F41DF0CD3}"/>
              </a:ext>
            </a:extLst>
          </p:cNvPr>
          <p:cNvSpPr txBox="1"/>
          <p:nvPr userDrawn="1"/>
        </p:nvSpPr>
        <p:spPr>
          <a:xfrm>
            <a:off x="9903" y="-313433"/>
            <a:ext cx="170367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V1: Titelfolie mit Bild</a:t>
            </a:r>
          </a:p>
        </p:txBody>
      </p:sp>
    </p:spTree>
    <p:extLst>
      <p:ext uri="{BB962C8B-B14F-4D97-AF65-F5344CB8AC3E}">
        <p14:creationId xmlns:p14="http://schemas.microsoft.com/office/powerpoint/2010/main" val="27569119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el - Tex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feld 4">
            <a:extLst>
              <a:ext uri="{FF2B5EF4-FFF2-40B4-BE49-F238E27FC236}">
                <a16:creationId xmlns:a16="http://schemas.microsoft.com/office/drawing/2014/main" id="{740704DC-2971-A248-9827-94150E3D8746}"/>
              </a:ext>
            </a:extLst>
          </p:cNvPr>
          <p:cNvSpPr txBox="1"/>
          <p:nvPr userDrawn="1"/>
        </p:nvSpPr>
        <p:spPr>
          <a:xfrm>
            <a:off x="9903" y="-313433"/>
            <a:ext cx="170367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V2: Titelfolie ohne Bild</a:t>
            </a:r>
          </a:p>
        </p:txBody>
      </p:sp>
    </p:spTree>
    <p:extLst>
      <p:ext uri="{BB962C8B-B14F-4D97-AF65-F5344CB8AC3E}">
        <p14:creationId xmlns:p14="http://schemas.microsoft.com/office/powerpoint/2010/main" val="15057043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Inhalt - Text und Stichpunk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platzhalter 5">
            <a:extLst>
              <a:ext uri="{FF2B5EF4-FFF2-40B4-BE49-F238E27FC236}">
                <a16:creationId xmlns:a16="http://schemas.microsoft.com/office/drawing/2014/main" id="{D7BD4116-72F8-7D4E-846E-4E9887F60C0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50800" y="3175200"/>
            <a:ext cx="9721850" cy="2124075"/>
          </a:xfrm>
          <a:prstGeom prst="rect">
            <a:avLst/>
          </a:prstGeom>
        </p:spPr>
        <p:txBody>
          <a:bodyPr lIns="0" tIns="0"/>
          <a:lstStyle>
            <a:lvl1pPr marL="2286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 dirty="0"/>
              <a:t>Aufzählung 1. Ebene Arial Regular 18 </a:t>
            </a:r>
            <a:r>
              <a:rPr lang="de-DE" dirty="0" err="1"/>
              <a:t>pt</a:t>
            </a:r>
            <a:r>
              <a:rPr lang="de-DE" dirty="0"/>
              <a:t>, ZA: 24 </a:t>
            </a:r>
            <a:r>
              <a:rPr lang="de-DE" dirty="0" err="1"/>
              <a:t>pt</a:t>
            </a:r>
            <a:endParaRPr lang="de-DE" dirty="0"/>
          </a:p>
          <a:p>
            <a:pPr lvl="1"/>
            <a:r>
              <a:rPr lang="de-DE" dirty="0"/>
              <a:t>2. Ebene</a:t>
            </a:r>
          </a:p>
          <a:p>
            <a:pPr lvl="2"/>
            <a:r>
              <a:rPr lang="de-DE" dirty="0"/>
              <a:t>3. Ebene</a:t>
            </a:r>
          </a:p>
          <a:p>
            <a:pPr lvl="3"/>
            <a:r>
              <a:rPr lang="de-DE" dirty="0"/>
              <a:t>4. Ebene</a:t>
            </a:r>
          </a:p>
          <a:p>
            <a:pPr lvl="4"/>
            <a:r>
              <a:rPr lang="de-DE" dirty="0"/>
              <a:t>5. Ebene</a:t>
            </a:r>
          </a:p>
        </p:txBody>
      </p:sp>
      <p:sp>
        <p:nvSpPr>
          <p:cNvPr id="6" name="Textplatzhalter 2">
            <a:extLst>
              <a:ext uri="{FF2B5EF4-FFF2-40B4-BE49-F238E27FC236}">
                <a16:creationId xmlns:a16="http://schemas.microsoft.com/office/drawing/2014/main" id="{9DAAF3EE-A5B2-F647-838D-0DFAACB4D55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50800" y="1371600"/>
            <a:ext cx="9721850" cy="152637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400"/>
              </a:lnSpc>
              <a:spcBef>
                <a:spcPts val="0"/>
              </a:spcBef>
              <a:buNone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Arial Regular 18pt, ZA: 24pt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consetetur</a:t>
            </a:r>
            <a:r>
              <a:rPr lang="de-DE" dirty="0"/>
              <a:t> </a:t>
            </a:r>
            <a:r>
              <a:rPr lang="de-DE" dirty="0" err="1"/>
              <a:t>sadipscing</a:t>
            </a:r>
            <a:r>
              <a:rPr lang="de-DE" dirty="0"/>
              <a:t> </a:t>
            </a:r>
            <a:r>
              <a:rPr lang="de-DE" dirty="0" err="1"/>
              <a:t>elitr</a:t>
            </a:r>
            <a:r>
              <a:rPr lang="de-DE" dirty="0"/>
              <a:t>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nonumy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 </a:t>
            </a:r>
            <a:r>
              <a:rPr lang="de-DE" dirty="0" err="1"/>
              <a:t>tempor</a:t>
            </a:r>
            <a:r>
              <a:rPr lang="de-DE" dirty="0"/>
              <a:t> </a:t>
            </a:r>
            <a:r>
              <a:rPr lang="de-DE" dirty="0" err="1"/>
              <a:t>invidunt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labore</a:t>
            </a:r>
            <a:r>
              <a:rPr lang="de-DE" dirty="0"/>
              <a:t> et </a:t>
            </a:r>
            <a:r>
              <a:rPr lang="de-DE" dirty="0" err="1"/>
              <a:t>dolore</a:t>
            </a:r>
            <a:r>
              <a:rPr lang="de-DE" dirty="0"/>
              <a:t> magna </a:t>
            </a:r>
            <a:r>
              <a:rPr lang="de-DE" dirty="0" err="1"/>
              <a:t>aliquyam</a:t>
            </a:r>
            <a:r>
              <a:rPr lang="de-DE" dirty="0"/>
              <a:t> erat,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voluptua</a:t>
            </a:r>
            <a:r>
              <a:rPr lang="de-DE" dirty="0"/>
              <a:t>. At </a:t>
            </a:r>
            <a:r>
              <a:rPr lang="de-DE" dirty="0" err="1"/>
              <a:t>vero</a:t>
            </a:r>
            <a:r>
              <a:rPr lang="de-DE" dirty="0"/>
              <a:t> </a:t>
            </a:r>
            <a:r>
              <a:rPr lang="de-DE" dirty="0" err="1"/>
              <a:t>eos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 </a:t>
            </a:r>
            <a:r>
              <a:rPr lang="de-DE" dirty="0" err="1"/>
              <a:t>tempor</a:t>
            </a:r>
            <a:r>
              <a:rPr lang="de-DE" dirty="0"/>
              <a:t> </a:t>
            </a:r>
            <a:r>
              <a:rPr lang="de-DE" dirty="0" err="1"/>
              <a:t>invidunt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labore</a:t>
            </a:r>
            <a:r>
              <a:rPr lang="de-DE" dirty="0"/>
              <a:t> et </a:t>
            </a:r>
            <a:r>
              <a:rPr lang="de-DE" dirty="0" err="1"/>
              <a:t>dolore</a:t>
            </a:r>
            <a:r>
              <a:rPr lang="de-DE" dirty="0"/>
              <a:t> magna </a:t>
            </a:r>
            <a:r>
              <a:rPr lang="de-DE" dirty="0" err="1"/>
              <a:t>aliquyam</a:t>
            </a:r>
            <a:r>
              <a:rPr lang="de-DE" dirty="0"/>
              <a:t> </a:t>
            </a:r>
            <a:r>
              <a:rPr lang="de-DE" dirty="0" err="1"/>
              <a:t>erat</a:t>
            </a:r>
            <a:r>
              <a:rPr lang="de-DE" dirty="0"/>
              <a:t>, </a:t>
            </a:r>
            <a:r>
              <a:rPr lang="de-DE" dirty="0" err="1"/>
              <a:t>sed</a:t>
            </a:r>
            <a:r>
              <a:rPr lang="de-DE" dirty="0"/>
              <a:t>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voluptua</a:t>
            </a:r>
            <a:r>
              <a:rPr lang="de-DE" dirty="0"/>
              <a:t>. At </a:t>
            </a:r>
            <a:r>
              <a:rPr lang="de-DE" dirty="0" err="1"/>
              <a:t>vero</a:t>
            </a:r>
            <a:r>
              <a:rPr lang="de-DE" dirty="0"/>
              <a:t> </a:t>
            </a:r>
            <a:r>
              <a:rPr lang="de-DE" dirty="0" err="1"/>
              <a:t>eos</a:t>
            </a:r>
            <a:r>
              <a:rPr lang="de-DE" dirty="0"/>
              <a:t> et </a:t>
            </a:r>
            <a:r>
              <a:rPr lang="de-DE" dirty="0" err="1"/>
              <a:t>accusam</a:t>
            </a:r>
            <a:r>
              <a:rPr lang="de-DE" dirty="0"/>
              <a:t> et </a:t>
            </a:r>
            <a:r>
              <a:rPr lang="de-DE" dirty="0" err="1"/>
              <a:t>justo</a:t>
            </a:r>
            <a:r>
              <a:rPr lang="de-DE" dirty="0"/>
              <a:t> </a:t>
            </a:r>
            <a:r>
              <a:rPr lang="de-DE" dirty="0" err="1"/>
              <a:t>duo</a:t>
            </a:r>
            <a:r>
              <a:rPr lang="de-DE" dirty="0"/>
              <a:t> </a:t>
            </a:r>
            <a:r>
              <a:rPr lang="de-DE" dirty="0" err="1"/>
              <a:t>dolores</a:t>
            </a:r>
            <a:r>
              <a:rPr lang="de-DE" dirty="0"/>
              <a:t> et </a:t>
            </a:r>
            <a:r>
              <a:rPr lang="de-DE" dirty="0" err="1"/>
              <a:t>ea</a:t>
            </a:r>
            <a:r>
              <a:rPr lang="de-DE" dirty="0"/>
              <a:t> </a:t>
            </a:r>
            <a:r>
              <a:rPr lang="de-DE" dirty="0" err="1"/>
              <a:t>rebum</a:t>
            </a:r>
            <a:r>
              <a:rPr lang="de-DE" dirty="0"/>
              <a:t>. Stet </a:t>
            </a:r>
            <a:r>
              <a:rPr lang="de-DE" dirty="0" err="1"/>
              <a:t>clita</a:t>
            </a:r>
            <a:r>
              <a:rPr lang="de-DE" dirty="0"/>
              <a:t> </a:t>
            </a:r>
            <a:r>
              <a:rPr lang="de-DE" dirty="0" err="1"/>
              <a:t>kasd</a:t>
            </a:r>
            <a:r>
              <a:rPr lang="de-DE" dirty="0"/>
              <a:t> </a:t>
            </a:r>
            <a:r>
              <a:rPr lang="de-DE" dirty="0" err="1"/>
              <a:t>gubergren</a:t>
            </a:r>
            <a:r>
              <a:rPr lang="de-DE" dirty="0"/>
              <a:t>, </a:t>
            </a:r>
            <a:r>
              <a:rPr lang="de-DE" dirty="0" err="1"/>
              <a:t>no</a:t>
            </a:r>
            <a:r>
              <a:rPr lang="de-DE" dirty="0"/>
              <a:t> </a:t>
            </a:r>
            <a:r>
              <a:rPr lang="de-DE" dirty="0" err="1"/>
              <a:t>sea</a:t>
            </a:r>
            <a:r>
              <a:rPr lang="de-DE" dirty="0"/>
              <a:t> </a:t>
            </a:r>
            <a:r>
              <a:rPr lang="de-DE" dirty="0" err="1"/>
              <a:t>takimata</a:t>
            </a:r>
            <a:endParaRPr lang="de-DE" dirty="0"/>
          </a:p>
        </p:txBody>
      </p:sp>
      <p:sp>
        <p:nvSpPr>
          <p:cNvPr id="7" name="Textplatzhalter 17">
            <a:extLst>
              <a:ext uri="{FF2B5EF4-FFF2-40B4-BE49-F238E27FC236}">
                <a16:creationId xmlns:a16="http://schemas.microsoft.com/office/drawing/2014/main" id="{5B12DAD6-93EF-5042-858F-4BB3334F107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55867" y="396545"/>
            <a:ext cx="8311908" cy="717437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lnSpc>
                <a:spcPts val="2800"/>
              </a:lnSpc>
              <a:spcBef>
                <a:spcPts val="0"/>
              </a:spcBef>
              <a:buNone/>
              <a:defRPr sz="2400">
                <a:solidFill>
                  <a:srgbClr val="C40D1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dirty="0"/>
              <a:t>Headline Arial Regular 24pt, ZA: 28pt</a:t>
            </a:r>
            <a:br>
              <a:rPr lang="de-DE" dirty="0"/>
            </a:br>
            <a:r>
              <a:rPr lang="de-DE" dirty="0"/>
              <a:t>optional 2-zeilig</a:t>
            </a:r>
          </a:p>
        </p:txBody>
      </p:sp>
    </p:spTree>
    <p:extLst>
      <p:ext uri="{BB962C8B-B14F-4D97-AF65-F5344CB8AC3E}">
        <p14:creationId xmlns:p14="http://schemas.microsoft.com/office/powerpoint/2010/main" val="14314736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Inhalt - Bild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platzhalter 2">
            <a:extLst>
              <a:ext uri="{FF2B5EF4-FFF2-40B4-BE49-F238E27FC236}">
                <a16:creationId xmlns:a16="http://schemas.microsoft.com/office/drawing/2014/main" id="{55FA8C39-046E-E34F-8E80-7B9D099D728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519600" y="1382400"/>
            <a:ext cx="3982945" cy="409358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400"/>
              </a:lnSpc>
              <a:spcBef>
                <a:spcPts val="0"/>
              </a:spcBef>
              <a:buNone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Arial Regular 18pt, ZA: 24pt </a:t>
            </a:r>
            <a:br>
              <a:rPr lang="de-DE" dirty="0"/>
            </a:b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consetetur</a:t>
            </a:r>
            <a:r>
              <a:rPr lang="de-DE" dirty="0"/>
              <a:t> </a:t>
            </a:r>
            <a:r>
              <a:rPr lang="de-DE" dirty="0" err="1"/>
              <a:t>sadipscing</a:t>
            </a:r>
            <a:r>
              <a:rPr lang="de-DE" dirty="0"/>
              <a:t> </a:t>
            </a:r>
            <a:r>
              <a:rPr lang="de-DE" dirty="0" err="1"/>
              <a:t>elitr</a:t>
            </a:r>
            <a:r>
              <a:rPr lang="de-DE" dirty="0"/>
              <a:t>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nonumy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 </a:t>
            </a:r>
            <a:r>
              <a:rPr lang="de-DE" dirty="0" err="1"/>
              <a:t>tempor</a:t>
            </a:r>
            <a:r>
              <a:rPr lang="de-DE" dirty="0"/>
              <a:t> </a:t>
            </a:r>
            <a:r>
              <a:rPr lang="de-DE" dirty="0" err="1"/>
              <a:t>invidunt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labore</a:t>
            </a:r>
            <a:r>
              <a:rPr lang="de-DE" dirty="0"/>
              <a:t> et </a:t>
            </a:r>
            <a:r>
              <a:rPr lang="de-DE" dirty="0" err="1"/>
              <a:t>dolore</a:t>
            </a:r>
            <a:r>
              <a:rPr lang="de-DE" dirty="0"/>
              <a:t> magna </a:t>
            </a:r>
            <a:r>
              <a:rPr lang="de-DE" dirty="0" err="1"/>
              <a:t>aliquyam</a:t>
            </a:r>
            <a:r>
              <a:rPr lang="de-DE" dirty="0"/>
              <a:t> erat,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voluptua</a:t>
            </a:r>
            <a:r>
              <a:rPr lang="de-DE" dirty="0"/>
              <a:t>. At </a:t>
            </a:r>
            <a:r>
              <a:rPr lang="de-DE" dirty="0" err="1"/>
              <a:t>vero</a:t>
            </a:r>
            <a:r>
              <a:rPr lang="de-DE" dirty="0"/>
              <a:t> </a:t>
            </a:r>
            <a:r>
              <a:rPr lang="de-DE" dirty="0" err="1"/>
              <a:t>eos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 </a:t>
            </a:r>
            <a:r>
              <a:rPr lang="de-DE" dirty="0" err="1"/>
              <a:t>tempor</a:t>
            </a:r>
            <a:r>
              <a:rPr lang="de-DE" dirty="0"/>
              <a:t> </a:t>
            </a:r>
            <a:r>
              <a:rPr lang="de-DE" dirty="0" err="1"/>
              <a:t>invidunt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labore</a:t>
            </a:r>
            <a:r>
              <a:rPr lang="de-DE" dirty="0"/>
              <a:t> et </a:t>
            </a:r>
            <a:r>
              <a:rPr lang="de-DE" dirty="0" err="1"/>
              <a:t>dolore</a:t>
            </a:r>
            <a:r>
              <a:rPr lang="de-DE" dirty="0"/>
              <a:t> magna </a:t>
            </a:r>
            <a:r>
              <a:rPr lang="de-DE" dirty="0" err="1"/>
              <a:t>aliquyam</a:t>
            </a:r>
            <a:r>
              <a:rPr lang="de-DE" dirty="0"/>
              <a:t> </a:t>
            </a:r>
            <a:r>
              <a:rPr lang="de-DE" dirty="0" err="1"/>
              <a:t>erat</a:t>
            </a:r>
            <a:r>
              <a:rPr lang="de-DE" dirty="0"/>
              <a:t>, </a:t>
            </a:r>
            <a:r>
              <a:rPr lang="de-DE" dirty="0" err="1"/>
              <a:t>sed</a:t>
            </a:r>
            <a:r>
              <a:rPr lang="de-DE" dirty="0"/>
              <a:t>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voluptua</a:t>
            </a:r>
            <a:r>
              <a:rPr lang="de-DE" dirty="0"/>
              <a:t>. At </a:t>
            </a:r>
            <a:r>
              <a:rPr lang="de-DE" dirty="0" err="1"/>
              <a:t>vero</a:t>
            </a:r>
            <a:r>
              <a:rPr lang="de-DE" dirty="0"/>
              <a:t> </a:t>
            </a:r>
            <a:r>
              <a:rPr lang="de-DE" dirty="0" err="1"/>
              <a:t>eos</a:t>
            </a:r>
            <a:r>
              <a:rPr lang="de-DE" dirty="0"/>
              <a:t> et </a:t>
            </a:r>
            <a:r>
              <a:rPr lang="de-DE" dirty="0" err="1"/>
              <a:t>accusam</a:t>
            </a:r>
            <a:r>
              <a:rPr lang="de-DE" dirty="0"/>
              <a:t> et </a:t>
            </a:r>
            <a:r>
              <a:rPr lang="de-DE" dirty="0" err="1"/>
              <a:t>justo</a:t>
            </a:r>
            <a:r>
              <a:rPr lang="de-DE" dirty="0"/>
              <a:t> </a:t>
            </a:r>
            <a:r>
              <a:rPr lang="de-DE" dirty="0" err="1"/>
              <a:t>duo</a:t>
            </a:r>
            <a:r>
              <a:rPr lang="de-DE" dirty="0"/>
              <a:t> </a:t>
            </a:r>
            <a:r>
              <a:rPr lang="de-DE" dirty="0" err="1"/>
              <a:t>dolores</a:t>
            </a:r>
            <a:r>
              <a:rPr lang="de-DE" dirty="0"/>
              <a:t> et </a:t>
            </a:r>
            <a:r>
              <a:rPr lang="de-DE" dirty="0" err="1"/>
              <a:t>ea</a:t>
            </a:r>
            <a:r>
              <a:rPr lang="de-DE" dirty="0"/>
              <a:t> </a:t>
            </a:r>
            <a:r>
              <a:rPr lang="de-DE" dirty="0" err="1"/>
              <a:t>rebum</a:t>
            </a:r>
            <a:r>
              <a:rPr lang="de-DE" dirty="0"/>
              <a:t>. Stet </a:t>
            </a:r>
            <a:r>
              <a:rPr lang="de-DE" dirty="0" err="1"/>
              <a:t>clita</a:t>
            </a:r>
            <a:r>
              <a:rPr lang="de-DE" dirty="0"/>
              <a:t> </a:t>
            </a:r>
            <a:r>
              <a:rPr lang="de-DE" dirty="0" err="1"/>
              <a:t>kasd</a:t>
            </a:r>
            <a:r>
              <a:rPr lang="de-DE" dirty="0"/>
              <a:t> </a:t>
            </a:r>
            <a:r>
              <a:rPr lang="de-DE" dirty="0" err="1"/>
              <a:t>gubergren</a:t>
            </a:r>
            <a:r>
              <a:rPr lang="de-DE" dirty="0"/>
              <a:t>, </a:t>
            </a:r>
            <a:r>
              <a:rPr lang="de-DE" dirty="0" err="1"/>
              <a:t>no</a:t>
            </a:r>
            <a:r>
              <a:rPr lang="de-DE" dirty="0"/>
              <a:t> </a:t>
            </a:r>
            <a:r>
              <a:rPr lang="de-DE" dirty="0" err="1"/>
              <a:t>sea</a:t>
            </a:r>
            <a:r>
              <a:rPr lang="de-DE" dirty="0"/>
              <a:t> </a:t>
            </a:r>
            <a:r>
              <a:rPr lang="de-DE" dirty="0" err="1"/>
              <a:t>takimata</a:t>
            </a:r>
            <a:br>
              <a:rPr lang="de-DE" dirty="0"/>
            </a:br>
            <a:r>
              <a:rPr lang="de-DE" dirty="0"/>
              <a:t>sanctus </a:t>
            </a:r>
            <a:r>
              <a:rPr lang="de-DE" dirty="0" err="1"/>
              <a:t>est</a:t>
            </a:r>
            <a:r>
              <a:rPr lang="de-DE" dirty="0"/>
              <a:t>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.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endParaRPr lang="de-DE" dirty="0"/>
          </a:p>
        </p:txBody>
      </p:sp>
      <p:sp>
        <p:nvSpPr>
          <p:cNvPr id="6" name="Bildplatzhalter 2">
            <a:extLst>
              <a:ext uri="{FF2B5EF4-FFF2-40B4-BE49-F238E27FC236}">
                <a16:creationId xmlns:a16="http://schemas.microsoft.com/office/drawing/2014/main" id="{8BAC5633-896E-0F44-8840-CC87B5BE7045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550861" y="1381405"/>
            <a:ext cx="5545139" cy="4093589"/>
          </a:xfrm>
          <a:prstGeom prst="rect">
            <a:avLst/>
          </a:prstGeom>
          <a:solidFill>
            <a:srgbClr val="434343"/>
          </a:solidFill>
        </p:spPr>
        <p:txBody>
          <a:bodyPr anchor="ctr" anchorCtr="0"/>
          <a:lstStyle>
            <a:lvl1pPr marL="0" indent="0" algn="ctr">
              <a:buFontTx/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Platzhalter: Bild</a:t>
            </a:r>
          </a:p>
        </p:txBody>
      </p:sp>
      <p:sp>
        <p:nvSpPr>
          <p:cNvPr id="7" name="Textplatzhalter 17">
            <a:extLst>
              <a:ext uri="{FF2B5EF4-FFF2-40B4-BE49-F238E27FC236}">
                <a16:creationId xmlns:a16="http://schemas.microsoft.com/office/drawing/2014/main" id="{8B97D328-84F0-2C4A-BBAB-1E79CDFE9BB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55867" y="396545"/>
            <a:ext cx="8311908" cy="717437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lnSpc>
                <a:spcPts val="2800"/>
              </a:lnSpc>
              <a:spcBef>
                <a:spcPts val="0"/>
              </a:spcBef>
              <a:buNone/>
              <a:defRPr sz="2400">
                <a:solidFill>
                  <a:srgbClr val="C40D1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dirty="0"/>
              <a:t>Headline Arial Regular 24pt, ZA: 28pt</a:t>
            </a:r>
            <a:br>
              <a:rPr lang="de-DE" dirty="0"/>
            </a:br>
            <a:r>
              <a:rPr lang="de-DE" dirty="0"/>
              <a:t>optional 2-zeilig</a:t>
            </a:r>
          </a:p>
        </p:txBody>
      </p:sp>
    </p:spTree>
    <p:extLst>
      <p:ext uri="{BB962C8B-B14F-4D97-AF65-F5344CB8AC3E}">
        <p14:creationId xmlns:p14="http://schemas.microsoft.com/office/powerpoint/2010/main" val="6643881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Inhalt - Bild und Stichpunk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platzhalter 5">
            <a:extLst>
              <a:ext uri="{FF2B5EF4-FFF2-40B4-BE49-F238E27FC236}">
                <a16:creationId xmlns:a16="http://schemas.microsoft.com/office/drawing/2014/main" id="{9278302A-602E-374F-9D64-8FCFB4DC60C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519600" y="1364399"/>
            <a:ext cx="3981600" cy="4111200"/>
          </a:xfrm>
          <a:prstGeom prst="rect">
            <a:avLst/>
          </a:prstGeom>
        </p:spPr>
        <p:txBody>
          <a:bodyPr lIns="0" tIns="0" rIns="0" bIns="0"/>
          <a:lstStyle>
            <a:lvl1pPr marL="2286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 dirty="0"/>
              <a:t>Aufzählung 1. Ebene Arial Regular 18 </a:t>
            </a:r>
            <a:r>
              <a:rPr lang="de-DE" dirty="0" err="1"/>
              <a:t>pt</a:t>
            </a:r>
            <a:r>
              <a:rPr lang="de-DE" dirty="0"/>
              <a:t>, ZA: 24 </a:t>
            </a:r>
            <a:r>
              <a:rPr lang="de-DE" dirty="0" err="1"/>
              <a:t>pt</a:t>
            </a:r>
            <a:endParaRPr lang="de-DE" dirty="0"/>
          </a:p>
          <a:p>
            <a:pPr lvl="1"/>
            <a:r>
              <a:rPr lang="de-DE" dirty="0"/>
              <a:t>2. Ebene</a:t>
            </a:r>
          </a:p>
          <a:p>
            <a:pPr lvl="2"/>
            <a:r>
              <a:rPr lang="de-DE" dirty="0"/>
              <a:t>3. Ebene</a:t>
            </a:r>
          </a:p>
          <a:p>
            <a:pPr lvl="3"/>
            <a:r>
              <a:rPr lang="de-DE" dirty="0"/>
              <a:t>4. Ebene</a:t>
            </a:r>
          </a:p>
          <a:p>
            <a:pPr lvl="4"/>
            <a:r>
              <a:rPr lang="de-DE" dirty="0"/>
              <a:t>5. Ebene</a:t>
            </a:r>
          </a:p>
        </p:txBody>
      </p:sp>
      <p:sp>
        <p:nvSpPr>
          <p:cNvPr id="6" name="Bildplatzhalter 2">
            <a:extLst>
              <a:ext uri="{FF2B5EF4-FFF2-40B4-BE49-F238E27FC236}">
                <a16:creationId xmlns:a16="http://schemas.microsoft.com/office/drawing/2014/main" id="{07DD2921-214D-B547-93DD-EB9D2A99CCEE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550861" y="1381405"/>
            <a:ext cx="5545139" cy="4093589"/>
          </a:xfrm>
          <a:prstGeom prst="rect">
            <a:avLst/>
          </a:prstGeom>
          <a:solidFill>
            <a:srgbClr val="434343"/>
          </a:solidFill>
        </p:spPr>
        <p:txBody>
          <a:bodyPr anchor="ctr" anchorCtr="0"/>
          <a:lstStyle>
            <a:lvl1pPr marL="0" indent="0" algn="ctr">
              <a:buFontTx/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Platzhalter: Bild</a:t>
            </a:r>
          </a:p>
        </p:txBody>
      </p:sp>
      <p:sp>
        <p:nvSpPr>
          <p:cNvPr id="7" name="Textplatzhalter 17">
            <a:extLst>
              <a:ext uri="{FF2B5EF4-FFF2-40B4-BE49-F238E27FC236}">
                <a16:creationId xmlns:a16="http://schemas.microsoft.com/office/drawing/2014/main" id="{86E90AC2-BC99-614A-AF4F-584EF9915C5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55867" y="396545"/>
            <a:ext cx="8311908" cy="717437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lnSpc>
                <a:spcPts val="2800"/>
              </a:lnSpc>
              <a:spcBef>
                <a:spcPts val="0"/>
              </a:spcBef>
              <a:buNone/>
              <a:defRPr sz="2400">
                <a:solidFill>
                  <a:srgbClr val="C40D1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dirty="0"/>
              <a:t>Headline Arial Regular 24pt, ZA: 28pt</a:t>
            </a:r>
            <a:br>
              <a:rPr lang="de-DE" dirty="0"/>
            </a:br>
            <a:r>
              <a:rPr lang="de-DE" dirty="0"/>
              <a:t>optional 2-zeilig</a:t>
            </a:r>
          </a:p>
        </p:txBody>
      </p:sp>
    </p:spTree>
    <p:extLst>
      <p:ext uri="{BB962C8B-B14F-4D97-AF65-F5344CB8AC3E}">
        <p14:creationId xmlns:p14="http://schemas.microsoft.com/office/powerpoint/2010/main" val="327643400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Relationship Id="rId4" Type="http://schemas.openxmlformats.org/officeDocument/2006/relationships/image" Target="../media/image1.pn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slideLayout" Target="../slideLayouts/slideLayout4.xml"/><Relationship Id="rId3" Type="http://schemas.openxmlformats.org/officeDocument/2006/relationships/slideLayout" Target="../slideLayouts/slideLayout5.xml"/><Relationship Id="rId4" Type="http://schemas.openxmlformats.org/officeDocument/2006/relationships/theme" Target="../theme/theme2.xml"/><Relationship Id="rId5" Type="http://schemas.openxmlformats.org/officeDocument/2006/relationships/image" Target="../media/image2.png"/><Relationship Id="rId6" Type="http://schemas.openxmlformats.org/officeDocument/2006/relationships/image" Target="../media/image3.svg"/><Relationship Id="rId7" Type="http://schemas.openxmlformats.org/officeDocument/2006/relationships/image" Target="../media/image4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4">
            <a:extLst>
              <a:ext uri="{FF2B5EF4-FFF2-40B4-BE49-F238E27FC236}">
                <a16:creationId xmlns:a16="http://schemas.microsoft.com/office/drawing/2014/main" id="{B97C5655-F240-634C-9B7B-B6181A1B3AF5}"/>
              </a:ext>
            </a:extLst>
          </p:cNvPr>
          <p:cNvSpPr/>
          <p:nvPr userDrawn="1"/>
        </p:nvSpPr>
        <p:spPr>
          <a:xfrm>
            <a:off x="0" y="1668462"/>
            <a:ext cx="12192000" cy="5189537"/>
          </a:xfrm>
          <a:custGeom>
            <a:avLst/>
            <a:gdLst>
              <a:gd name="connsiteX0" fmla="*/ 0 w 12192000"/>
              <a:gd name="connsiteY0" fmla="*/ 0 h 4760912"/>
              <a:gd name="connsiteX1" fmla="*/ 12192000 w 12192000"/>
              <a:gd name="connsiteY1" fmla="*/ 0 h 4760912"/>
              <a:gd name="connsiteX2" fmla="*/ 12192000 w 12192000"/>
              <a:gd name="connsiteY2" fmla="*/ 4760912 h 4760912"/>
              <a:gd name="connsiteX3" fmla="*/ 0 w 12192000"/>
              <a:gd name="connsiteY3" fmla="*/ 4760912 h 4760912"/>
              <a:gd name="connsiteX4" fmla="*/ 0 w 12192000"/>
              <a:gd name="connsiteY4" fmla="*/ 0 h 4760912"/>
              <a:gd name="connsiteX0" fmla="*/ 0 w 12192000"/>
              <a:gd name="connsiteY0" fmla="*/ 212725 h 4973637"/>
              <a:gd name="connsiteX1" fmla="*/ 12192000 w 12192000"/>
              <a:gd name="connsiteY1" fmla="*/ 0 h 4973637"/>
              <a:gd name="connsiteX2" fmla="*/ 12192000 w 12192000"/>
              <a:gd name="connsiteY2" fmla="*/ 4973637 h 4973637"/>
              <a:gd name="connsiteX3" fmla="*/ 0 w 12192000"/>
              <a:gd name="connsiteY3" fmla="*/ 4973637 h 4973637"/>
              <a:gd name="connsiteX4" fmla="*/ 0 w 12192000"/>
              <a:gd name="connsiteY4" fmla="*/ 212725 h 4973637"/>
              <a:gd name="connsiteX0" fmla="*/ 0 w 12192000"/>
              <a:gd name="connsiteY0" fmla="*/ 428625 h 5189537"/>
              <a:gd name="connsiteX1" fmla="*/ 12192000 w 12192000"/>
              <a:gd name="connsiteY1" fmla="*/ 0 h 5189537"/>
              <a:gd name="connsiteX2" fmla="*/ 12192000 w 12192000"/>
              <a:gd name="connsiteY2" fmla="*/ 5189537 h 5189537"/>
              <a:gd name="connsiteX3" fmla="*/ 0 w 12192000"/>
              <a:gd name="connsiteY3" fmla="*/ 5189537 h 5189537"/>
              <a:gd name="connsiteX4" fmla="*/ 0 w 12192000"/>
              <a:gd name="connsiteY4" fmla="*/ 428625 h 51895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92000" h="5189537">
                <a:moveTo>
                  <a:pt x="0" y="428625"/>
                </a:moveTo>
                <a:lnTo>
                  <a:pt x="12192000" y="0"/>
                </a:lnTo>
                <a:lnTo>
                  <a:pt x="12192000" y="5189537"/>
                </a:lnTo>
                <a:lnTo>
                  <a:pt x="0" y="5189537"/>
                </a:lnTo>
                <a:lnTo>
                  <a:pt x="0" y="428625"/>
                </a:lnTo>
                <a:close/>
              </a:path>
            </a:pathLst>
          </a:custGeom>
          <a:solidFill>
            <a:srgbClr val="C40D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F8DDEEBD-D00D-1249-9E02-EDC0548BFCAC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388168" y="378741"/>
            <a:ext cx="2250000" cy="774000"/>
          </a:xfrm>
          <a:prstGeom prst="rect">
            <a:avLst/>
          </a:prstGeom>
        </p:spPr>
      </p:pic>
      <p:sp>
        <p:nvSpPr>
          <p:cNvPr id="4" name="Textfeld 3">
            <a:extLst>
              <a:ext uri="{FF2B5EF4-FFF2-40B4-BE49-F238E27FC236}">
                <a16:creationId xmlns:a16="http://schemas.microsoft.com/office/drawing/2014/main" id="{0D20A730-187A-274D-A0E6-8412686F8775}"/>
              </a:ext>
            </a:extLst>
          </p:cNvPr>
          <p:cNvSpPr txBox="1"/>
          <p:nvPr userDrawn="1"/>
        </p:nvSpPr>
        <p:spPr>
          <a:xfrm>
            <a:off x="12292755" y="5534561"/>
            <a:ext cx="310241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b="1" dirty="0">
                <a:latin typeface="Arial" panose="020B0604020202020204" pitchFamily="34" charset="0"/>
                <a:cs typeface="Arial" panose="020B0604020202020204" pitchFamily="34" charset="0"/>
              </a:rPr>
              <a:t>Titelseiten – Platzhalter für </a:t>
            </a:r>
            <a:r>
              <a:rPr lang="de-DE" sz="1000" b="1" dirty="0" err="1">
                <a:latin typeface="Arial" panose="020B0604020202020204" pitchFamily="34" charset="0"/>
                <a:cs typeface="Arial" panose="020B0604020202020204" pitchFamily="34" charset="0"/>
              </a:rPr>
              <a:t>Sublogo</a:t>
            </a:r>
            <a:r>
              <a:rPr lang="de-DE" sz="1000" b="1" dirty="0">
                <a:latin typeface="Arial" panose="020B0604020202020204" pitchFamily="34" charset="0"/>
                <a:cs typeface="Arial" panose="020B0604020202020204" pitchFamily="34" charset="0"/>
              </a:rPr>
              <a:t> ändern: </a:t>
            </a: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Direkt auf dieser Folie &gt; Bild anklicken &gt; Rechtsklick &gt; Bild einfügen</a:t>
            </a: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b="1" dirty="0">
                <a:latin typeface="Arial" panose="020B0604020202020204" pitchFamily="34" charset="0"/>
                <a:cs typeface="Arial" panose="020B0604020202020204" pitchFamily="34" charset="0"/>
              </a:rPr>
              <a:t>Bild an Rahmen anpassen</a:t>
            </a: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Bild anklicken &gt; Bildformat &gt; Zuschneiden &gt; </a:t>
            </a: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im Dropdown „Einpassen“ wählen &gt; </a:t>
            </a: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ggf. Bild nochmals neu positionieren </a:t>
            </a:r>
          </a:p>
        </p:txBody>
      </p:sp>
    </p:spTree>
    <p:extLst>
      <p:ext uri="{BB962C8B-B14F-4D97-AF65-F5344CB8AC3E}">
        <p14:creationId xmlns:p14="http://schemas.microsoft.com/office/powerpoint/2010/main" val="30796988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3" r:id="rId2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pos="347" userDrawn="1">
          <p15:clr>
            <a:srgbClr val="F26B43"/>
          </p15:clr>
        </p15:guide>
        <p15:guide id="2" pos="7333" userDrawn="1">
          <p15:clr>
            <a:srgbClr val="F26B43"/>
          </p15:clr>
        </p15:guide>
        <p15:guide id="3" orient="horz" pos="346" userDrawn="1">
          <p15:clr>
            <a:srgbClr val="F26B43"/>
          </p15:clr>
        </p15:guide>
        <p15:guide id="4" pos="1232" userDrawn="1">
          <p15:clr>
            <a:srgbClr val="F26B43"/>
          </p15:clr>
        </p15:guide>
        <p15:guide id="5" orient="horz" pos="3974" userDrawn="1">
          <p15:clr>
            <a:srgbClr val="F26B43"/>
          </p15:clr>
        </p15:guide>
        <p15:guide id="6" orient="horz" pos="663" userDrawn="1">
          <p15:clr>
            <a:srgbClr val="F26B43"/>
          </p15:clr>
        </p15:guide>
        <p15:guide id="7" orient="horz" pos="1003" userDrawn="1">
          <p15:clr>
            <a:srgbClr val="F26B43"/>
          </p15:clr>
        </p15:guide>
        <p15:guide id="8" orient="horz" pos="1321" userDrawn="1">
          <p15:clr>
            <a:srgbClr val="F26B43"/>
          </p15:clr>
        </p15:guide>
        <p15:guide id="9" orient="horz" pos="1661" userDrawn="1">
          <p15:clr>
            <a:srgbClr val="F26B43"/>
          </p15:clr>
        </p15:guide>
        <p15:guide id="10" orient="horz" pos="2001" userDrawn="1">
          <p15:clr>
            <a:srgbClr val="F26B43"/>
          </p15:clr>
        </p15:guide>
        <p15:guide id="11" orient="horz" pos="3339" userDrawn="1">
          <p15:clr>
            <a:srgbClr val="F26B43"/>
          </p15:clr>
        </p15:guide>
        <p15:guide id="12" orient="horz" pos="2319" userDrawn="1">
          <p15:clr>
            <a:srgbClr val="F26B43"/>
          </p15:clr>
        </p15:guide>
        <p15:guide id="13" orient="horz" pos="2999" userDrawn="1">
          <p15:clr>
            <a:srgbClr val="F26B43"/>
          </p15:clr>
        </p15:guide>
        <p15:guide id="14" orient="horz" pos="3657" userDrawn="1">
          <p15:clr>
            <a:srgbClr val="F26B43"/>
          </p15:clr>
        </p15:guide>
        <p15:guide id="15" orient="horz" pos="2659" userDrawn="1">
          <p15:clr>
            <a:srgbClr val="F26B43"/>
          </p15:clr>
        </p15:guide>
        <p15:guide id="16" pos="2094" userDrawn="1">
          <p15:clr>
            <a:srgbClr val="F26B43"/>
          </p15:clr>
        </p15:guide>
        <p15:guide id="17" pos="2978" userDrawn="1">
          <p15:clr>
            <a:srgbClr val="F26B43"/>
          </p15:clr>
        </p15:guide>
        <p15:guide id="18" pos="3840" userDrawn="1">
          <p15:clr>
            <a:srgbClr val="F26B43"/>
          </p15:clr>
        </p15:guide>
        <p15:guide id="19" pos="4725" userDrawn="1">
          <p15:clr>
            <a:srgbClr val="F26B43"/>
          </p15:clr>
        </p15:guide>
        <p15:guide id="20" pos="5586" userDrawn="1">
          <p15:clr>
            <a:srgbClr val="F26B43"/>
          </p15:clr>
        </p15:guide>
        <p15:guide id="21" pos="6471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1">
            <a:extLst>
              <a:ext uri="{FF2B5EF4-FFF2-40B4-BE49-F238E27FC236}">
                <a16:creationId xmlns:a16="http://schemas.microsoft.com/office/drawing/2014/main" id="{48266648-C51B-EA45-AE41-AF74B0A4657C}"/>
              </a:ext>
            </a:extLst>
          </p:cNvPr>
          <p:cNvSpPr/>
          <p:nvPr userDrawn="1"/>
        </p:nvSpPr>
        <p:spPr>
          <a:xfrm>
            <a:off x="0" y="5748124"/>
            <a:ext cx="12195175" cy="1109875"/>
          </a:xfrm>
          <a:custGeom>
            <a:avLst/>
            <a:gdLst>
              <a:gd name="connsiteX0" fmla="*/ 0 w 12192000"/>
              <a:gd name="connsiteY0" fmla="*/ 0 h 687600"/>
              <a:gd name="connsiteX1" fmla="*/ 12192000 w 12192000"/>
              <a:gd name="connsiteY1" fmla="*/ 0 h 687600"/>
              <a:gd name="connsiteX2" fmla="*/ 12192000 w 12192000"/>
              <a:gd name="connsiteY2" fmla="*/ 687600 h 687600"/>
              <a:gd name="connsiteX3" fmla="*/ 0 w 12192000"/>
              <a:gd name="connsiteY3" fmla="*/ 687600 h 687600"/>
              <a:gd name="connsiteX4" fmla="*/ 0 w 12192000"/>
              <a:gd name="connsiteY4" fmla="*/ 0 h 687600"/>
              <a:gd name="connsiteX0" fmla="*/ 0 w 12195175"/>
              <a:gd name="connsiteY0" fmla="*/ 422275 h 1109875"/>
              <a:gd name="connsiteX1" fmla="*/ 12195175 w 12195175"/>
              <a:gd name="connsiteY1" fmla="*/ 0 h 1109875"/>
              <a:gd name="connsiteX2" fmla="*/ 12192000 w 12195175"/>
              <a:gd name="connsiteY2" fmla="*/ 1109875 h 1109875"/>
              <a:gd name="connsiteX3" fmla="*/ 0 w 12195175"/>
              <a:gd name="connsiteY3" fmla="*/ 1109875 h 1109875"/>
              <a:gd name="connsiteX4" fmla="*/ 0 w 12195175"/>
              <a:gd name="connsiteY4" fmla="*/ 422275 h 1109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95175" h="1109875">
                <a:moveTo>
                  <a:pt x="0" y="422275"/>
                </a:moveTo>
                <a:lnTo>
                  <a:pt x="12195175" y="0"/>
                </a:lnTo>
                <a:cubicBezTo>
                  <a:pt x="12194117" y="369958"/>
                  <a:pt x="12193058" y="739917"/>
                  <a:pt x="12192000" y="1109875"/>
                </a:cubicBezTo>
                <a:lnTo>
                  <a:pt x="0" y="1109875"/>
                </a:lnTo>
                <a:lnTo>
                  <a:pt x="0" y="422275"/>
                </a:lnTo>
                <a:close/>
              </a:path>
            </a:pathLst>
          </a:custGeom>
          <a:solidFill>
            <a:srgbClr val="C40D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90A395C2-361B-A14B-9312-A16F3F6780AF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614598" y="378000"/>
            <a:ext cx="1004400" cy="766068"/>
          </a:xfrm>
          <a:prstGeom prst="rect">
            <a:avLst/>
          </a:prstGeom>
        </p:spPr>
      </p:pic>
      <p:sp>
        <p:nvSpPr>
          <p:cNvPr id="12" name="Textfeld 11">
            <a:extLst>
              <a:ext uri="{FF2B5EF4-FFF2-40B4-BE49-F238E27FC236}">
                <a16:creationId xmlns:a16="http://schemas.microsoft.com/office/drawing/2014/main" id="{427D4F0D-9351-B349-8187-43002862F183}"/>
              </a:ext>
            </a:extLst>
          </p:cNvPr>
          <p:cNvSpPr txBox="1"/>
          <p:nvPr userDrawn="1"/>
        </p:nvSpPr>
        <p:spPr>
          <a:xfrm>
            <a:off x="12292755" y="5612990"/>
            <a:ext cx="310241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b="1" dirty="0">
                <a:latin typeface="Arial" panose="020B0604020202020204" pitchFamily="34" charset="0"/>
                <a:cs typeface="Arial" panose="020B0604020202020204" pitchFamily="34" charset="0"/>
              </a:rPr>
              <a:t>Folgeseiten – Platzhalter für </a:t>
            </a:r>
            <a:r>
              <a:rPr lang="de-DE" sz="1000" b="1" dirty="0" err="1">
                <a:latin typeface="Arial" panose="020B0604020202020204" pitchFamily="34" charset="0"/>
                <a:cs typeface="Arial" panose="020B0604020202020204" pitchFamily="34" charset="0"/>
              </a:rPr>
              <a:t>Sublogo</a:t>
            </a:r>
            <a:r>
              <a:rPr lang="de-DE" sz="1000" b="1" dirty="0">
                <a:latin typeface="Arial" panose="020B0604020202020204" pitchFamily="34" charset="0"/>
                <a:cs typeface="Arial" panose="020B0604020202020204" pitchFamily="34" charset="0"/>
              </a:rPr>
              <a:t> ändern: </a:t>
            </a: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Folienmaster &gt; Nr. 2 bearbeiten &gt; Bild anklicken &gt; Rechtsklick &gt; Bild einfügen</a:t>
            </a: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b="1" dirty="0">
                <a:latin typeface="Arial" panose="020B0604020202020204" pitchFamily="34" charset="0"/>
                <a:cs typeface="Arial" panose="020B0604020202020204" pitchFamily="34" charset="0"/>
              </a:rPr>
              <a:t>Bild an Rahmen anpassen</a:t>
            </a: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Bild anklicken &gt; Bildformat &gt; Zuschneiden &gt; </a:t>
            </a: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im Dropdown „Einpassen“ wählen &gt; </a:t>
            </a: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ggf. Bild nochmals neu positionieren 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B91FA75A-4E02-534F-A661-8216932850DD}"/>
              </a:ext>
            </a:extLst>
          </p:cNvPr>
          <p:cNvSpPr txBox="1"/>
          <p:nvPr userDrawn="1"/>
        </p:nvSpPr>
        <p:spPr>
          <a:xfrm>
            <a:off x="-2243920" y="6474756"/>
            <a:ext cx="22233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b="1" dirty="0">
                <a:latin typeface="Arial" panose="020B0604020202020204" pitchFamily="34" charset="0"/>
                <a:cs typeface="Arial" panose="020B0604020202020204" pitchFamily="34" charset="0"/>
              </a:rPr>
              <a:t>Informationen in Fußzeile ändern:</a:t>
            </a: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Folienmaster &gt; Nr. 2 bearbeiten</a:t>
            </a:r>
          </a:p>
        </p:txBody>
      </p:sp>
    </p:spTree>
    <p:extLst>
      <p:ext uri="{BB962C8B-B14F-4D97-AF65-F5344CB8AC3E}">
        <p14:creationId xmlns:p14="http://schemas.microsoft.com/office/powerpoint/2010/main" val="39072474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11" r:id="rId2"/>
    <p:sldLayoutId id="2147483712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57784" y="292608"/>
            <a:ext cx="882396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150" b="0" lang="en-US">
                <a:solidFill>
                  <a:srgbClr val="434343"/>
                </a:solidFill>
                <a:latin typeface="Arial"/>
              </a:rPr>
              <a:t>External tests: four questions, concrete answers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886968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50" b="1" lang="en-US">
                <a:solidFill>
                  <a:srgbClr val="C40D1E"/>
                </a:solidFill>
                <a:latin typeface="Arial"/>
              </a:rPr>
              <a:t>EVALUATION · EXTERNAL RESULTS · 25 + 29 SEPTEMBER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557784" y="1188720"/>
            <a:ext cx="10927080" cy="16459"/>
          </a:xfrm>
          <a:prstGeom prst="rect">
            <a:avLst/>
          </a:prstGeom>
          <a:solidFill>
            <a:srgbClr val="C40D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291072"/>
            <a:ext cx="100584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50" b="0" lang="en-US">
                <a:solidFill>
                  <a:srgbClr val="FFFFFF"/>
                </a:solidFill>
                <a:latin typeface="Arial"/>
              </a:rPr>
              <a:t>Variant 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6291072"/>
            <a:ext cx="854964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50" b="0" lang="en-US">
                <a:solidFill>
                  <a:srgbClr val="FFFFFF"/>
                </a:solidFill>
                <a:latin typeface="Arial"/>
              </a:rPr>
              <a:t>Ramon Mehrpoya  |  Master's Thesis  |  Verifiable Decentralized Federated Machine Learning and Inference for AI Agent Systems  |  VITA-FL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0" y="6291072"/>
            <a:ext cx="1399032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850" b="0" lang="en-US">
                <a:solidFill>
                  <a:srgbClr val="FFFFFF"/>
                </a:solidFill>
                <a:latin typeface="Arial"/>
              </a:rPr>
              <a:t>19 August 2026</a:t>
            </a:r>
          </a:p>
        </p:txBody>
      </p:sp>
      <p:sp>
        <p:nvSpPr>
          <p:cNvPr id="8" name="Domain navigation: background"/>
          <p:cNvSpPr/>
          <p:nvPr/>
        </p:nvSpPr>
        <p:spPr>
          <a:xfrm>
            <a:off x="9479280" y="472440"/>
            <a:ext cx="1036320" cy="2895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Domain navigation: DFL badge"/>
          <p:cNvSpPr/>
          <p:nvPr/>
        </p:nvSpPr>
        <p:spPr>
          <a:xfrm>
            <a:off x="9509760" y="502920"/>
            <a:ext cx="411480" cy="228600"/>
          </a:xfrm>
          <a:prstGeom prst="rect">
            <a:avLst/>
          </a:prstGeom>
          <a:solidFill>
            <a:srgbClr val="207548"/>
          </a:solidFill>
          <a:ln w="6985">
            <a:solidFill>
              <a:srgbClr val="207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omain navigation: DFL label"/>
          <p:cNvSpPr txBox="1"/>
          <p:nvPr/>
        </p:nvSpPr>
        <p:spPr>
          <a:xfrm>
            <a:off x="9509760" y="502920"/>
            <a:ext cx="41148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40" b="1" lang="en-US">
                <a:solidFill>
                  <a:srgbClr val="FFFFFF"/>
                </a:solidFill>
                <a:latin typeface="Arial"/>
              </a:rPr>
              <a:t>DFL</a:t>
            </a:r>
          </a:p>
        </p:txBody>
      </p:sp>
      <p:sp>
        <p:nvSpPr>
          <p:cNvPr id="11" name="Domain navigation: Agent badge"/>
          <p:cNvSpPr/>
          <p:nvPr/>
        </p:nvSpPr>
        <p:spPr>
          <a:xfrm>
            <a:off x="9982200" y="502920"/>
            <a:ext cx="502920" cy="228600"/>
          </a:xfrm>
          <a:prstGeom prst="rect">
            <a:avLst/>
          </a:prstGeom>
          <a:solidFill>
            <a:srgbClr val="1764A1"/>
          </a:solidFill>
          <a:ln w="6985">
            <a:solidFill>
              <a:srgbClr val="1764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Domain navigation: Agent label"/>
          <p:cNvSpPr txBox="1"/>
          <p:nvPr/>
        </p:nvSpPr>
        <p:spPr>
          <a:xfrm>
            <a:off x="9982200" y="502920"/>
            <a:ext cx="50292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40" b="1" lang="en-US">
                <a:solidFill>
                  <a:srgbClr val="FFFFFF"/>
                </a:solidFill>
                <a:latin typeface="Arial"/>
              </a:rPr>
              <a:t>Agent</a:t>
            </a:r>
          </a:p>
        </p:txBody>
      </p:sp>
      <p:sp>
        <p:nvSpPr>
          <p:cNvPr id="13" name="External results: Phala · 6 workers · 5 successful training rounds per run · client limit 5 · timeout 45 s"/>
          <p:cNvSpPr txBox="1"/>
          <p:nvPr/>
        </p:nvSpPr>
        <p:spPr>
          <a:xfrm>
            <a:off x="685800" y="1362456"/>
            <a:ext cx="10826496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lang="en-US">
                <a:solidFill>
                  <a:srgbClr val="65737D"/>
                </a:solidFill>
                <a:latin typeface="Arial"/>
              </a:rPr>
              <a:t>Phala · 6 workers · 5 successful training rounds per run · client limit 5 · timeout 45 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67512" y="1719072"/>
            <a:ext cx="5321808" cy="1618488"/>
          </a:xfrm>
          <a:prstGeom prst="rect">
            <a:avLst/>
          </a:prstGeom>
          <a:solidFill>
            <a:srgbClr val="FFFFFF"/>
          </a:solidFill>
          <a:ln w="1016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External results: 01  COLLECTION / TIMEOUT"/>
          <p:cNvSpPr txBox="1"/>
          <p:nvPr/>
        </p:nvSpPr>
        <p:spPr>
          <a:xfrm>
            <a:off x="813816" y="1819656"/>
            <a:ext cx="3721608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40" b="1" lang="en-US">
                <a:solidFill>
                  <a:srgbClr val="65737D"/>
                </a:solidFill>
                <a:latin typeface="Arial"/>
              </a:rPr>
              <a:t>01  COLLECTION / TIMEOUT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645152" y="1801368"/>
            <a:ext cx="1188720" cy="256032"/>
          </a:xfrm>
          <a:prstGeom prst="rect">
            <a:avLst/>
          </a:prstGeom>
          <a:solidFill>
            <a:srgbClr val="EDF6F0"/>
          </a:solidFill>
          <a:ln w="10160">
            <a:solidFill>
              <a:srgbClr val="EDF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External results: 3 / 3 PASS"/>
          <p:cNvSpPr txBox="1"/>
          <p:nvPr/>
        </p:nvSpPr>
        <p:spPr>
          <a:xfrm>
            <a:off x="4709160" y="1810512"/>
            <a:ext cx="1060704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69" b="1" lang="en-US">
                <a:solidFill>
                  <a:srgbClr val="247044"/>
                </a:solidFill>
                <a:latin typeface="Arial"/>
              </a:rPr>
              <a:t>3 / 3 PASS</a:t>
            </a:r>
          </a:p>
        </p:txBody>
      </p:sp>
      <p:sp>
        <p:nvSpPr>
          <p:cNvPr id="18" name="External results: When are the received updates processed?"/>
          <p:cNvSpPr txBox="1"/>
          <p:nvPr/>
        </p:nvSpPr>
        <p:spPr>
          <a:xfrm>
            <a:off x="813816" y="2103120"/>
            <a:ext cx="502920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10" b="1" lang="en-US">
                <a:solidFill>
                  <a:srgbClr val="263440"/>
                </a:solidFill>
                <a:latin typeface="Arial"/>
              </a:rPr>
              <a:t>When are the received updates processed?</a:t>
            </a:r>
          </a:p>
        </p:txBody>
      </p:sp>
      <p:sp>
        <p:nvSpPr>
          <p:cNvPr id="19" name="External results: Allow all 5 uploads"/>
          <p:cNvSpPr txBox="1"/>
          <p:nvPr/>
        </p:nvSpPr>
        <p:spPr>
          <a:xfrm>
            <a:off x="813816" y="2450592"/>
            <a:ext cx="2761488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20" b="0" lang="en-US">
                <a:solidFill>
                  <a:srgbClr val="263440"/>
                </a:solidFill>
                <a:latin typeface="Arial"/>
              </a:rPr>
              <a:t>Allow all 5 uploads</a:t>
            </a:r>
          </a:p>
        </p:txBody>
      </p:sp>
      <p:sp>
        <p:nvSpPr>
          <p:cNvPr id="20" name="External results: →"/>
          <p:cNvSpPr txBox="1"/>
          <p:nvPr/>
        </p:nvSpPr>
        <p:spPr>
          <a:xfrm>
            <a:off x="3538728" y="2450592"/>
            <a:ext cx="201168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 lang="en-US">
                <a:solidFill>
                  <a:srgbClr val="65737D"/>
                </a:solidFill>
                <a:latin typeface="Arial"/>
              </a:rPr>
              <a:t>→</a:t>
            </a:r>
          </a:p>
        </p:txBody>
      </p:sp>
      <p:sp>
        <p:nvSpPr>
          <p:cNvPr id="21" name="External results: Close early: 16 s"/>
          <p:cNvSpPr txBox="1"/>
          <p:nvPr/>
        </p:nvSpPr>
        <p:spPr>
          <a:xfrm>
            <a:off x="3803904" y="2450592"/>
            <a:ext cx="204825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90" b="1" lang="en-US">
                <a:solidFill>
                  <a:srgbClr val="247044"/>
                </a:solidFill>
                <a:latin typeface="Arial"/>
              </a:rPr>
              <a:t>Close early: 16 s</a:t>
            </a:r>
          </a:p>
        </p:txBody>
      </p:sp>
      <p:sp>
        <p:nvSpPr>
          <p:cNvPr id="22" name="External results: Allow 2 uploads; block 3"/>
          <p:cNvSpPr txBox="1"/>
          <p:nvPr/>
        </p:nvSpPr>
        <p:spPr>
          <a:xfrm>
            <a:off x="813816" y="2706624"/>
            <a:ext cx="2761488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20" b="0" lang="en-US">
                <a:solidFill>
                  <a:srgbClr val="263440"/>
                </a:solidFill>
                <a:latin typeface="Arial"/>
              </a:rPr>
              <a:t>Allow 2 uploads; block 3</a:t>
            </a:r>
          </a:p>
        </p:txBody>
      </p:sp>
      <p:sp>
        <p:nvSpPr>
          <p:cNvPr id="23" name="External results: →"/>
          <p:cNvSpPr txBox="1"/>
          <p:nvPr/>
        </p:nvSpPr>
        <p:spPr>
          <a:xfrm>
            <a:off x="3538728" y="2706624"/>
            <a:ext cx="201168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 lang="en-US">
                <a:solidFill>
                  <a:srgbClr val="65737D"/>
                </a:solidFill>
                <a:latin typeface="Arial"/>
              </a:rPr>
              <a:t>→</a:t>
            </a:r>
          </a:p>
        </p:txBody>
      </p:sp>
      <p:sp>
        <p:nvSpPr>
          <p:cNvPr id="24" name="External results: Close at timeout: 45 s"/>
          <p:cNvSpPr txBox="1"/>
          <p:nvPr/>
        </p:nvSpPr>
        <p:spPr>
          <a:xfrm>
            <a:off x="3803904" y="2706624"/>
            <a:ext cx="204825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90" b="1" lang="en-US">
                <a:solidFill>
                  <a:srgbClr val="247044"/>
                </a:solidFill>
                <a:latin typeface="Arial"/>
              </a:rPr>
              <a:t>Close at timeout: 45 s</a:t>
            </a:r>
          </a:p>
        </p:txBody>
      </p:sp>
      <p:sp>
        <p:nvSpPr>
          <p:cNvPr id="25" name="External results: Zero: block all 5 uploads"/>
          <p:cNvSpPr txBox="1"/>
          <p:nvPr/>
        </p:nvSpPr>
        <p:spPr>
          <a:xfrm>
            <a:off x="813816" y="2962656"/>
            <a:ext cx="2761488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20" b="0" lang="en-US">
                <a:solidFill>
                  <a:srgbClr val="263440"/>
                </a:solidFill>
                <a:latin typeface="Arial"/>
              </a:rPr>
              <a:t>Zero: block all 5 uploads</a:t>
            </a:r>
          </a:p>
        </p:txBody>
      </p:sp>
      <p:sp>
        <p:nvSpPr>
          <p:cNvPr id="26" name="External results: →"/>
          <p:cNvSpPr txBox="1"/>
          <p:nvPr/>
        </p:nvSpPr>
        <p:spPr>
          <a:xfrm>
            <a:off x="3538728" y="2962656"/>
            <a:ext cx="201168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 lang="en-US">
                <a:solidFill>
                  <a:srgbClr val="65737D"/>
                </a:solidFill>
                <a:latin typeface="Arial"/>
              </a:rPr>
              <a:t>→</a:t>
            </a:r>
          </a:p>
        </p:txBody>
      </p:sp>
      <p:sp>
        <p:nvSpPr>
          <p:cNvPr id="27" name="External results: No empty publication"/>
          <p:cNvSpPr txBox="1"/>
          <p:nvPr/>
        </p:nvSpPr>
        <p:spPr>
          <a:xfrm>
            <a:off x="3803904" y="2962656"/>
            <a:ext cx="204825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90" b="1" lang="en-US">
                <a:solidFill>
                  <a:srgbClr val="247044"/>
                </a:solidFill>
                <a:latin typeface="Arial"/>
              </a:rPr>
              <a:t>No empty publication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17920" y="1719072"/>
            <a:ext cx="5321808" cy="1618488"/>
          </a:xfrm>
          <a:prstGeom prst="rect">
            <a:avLst/>
          </a:prstGeom>
          <a:solidFill>
            <a:srgbClr val="FFFFFF"/>
          </a:solidFill>
          <a:ln w="1016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External results: 02  AGGREGATOR RECOVERY"/>
          <p:cNvSpPr txBox="1"/>
          <p:nvPr/>
        </p:nvSpPr>
        <p:spPr>
          <a:xfrm>
            <a:off x="6364224" y="1819656"/>
            <a:ext cx="3721608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40" b="1" lang="en-US">
                <a:solidFill>
                  <a:srgbClr val="65737D"/>
                </a:solidFill>
                <a:latin typeface="Arial"/>
              </a:rPr>
              <a:t>02  AGGREGATOR RECOVERY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195560" y="1801368"/>
            <a:ext cx="1188720" cy="256032"/>
          </a:xfrm>
          <a:prstGeom prst="rect">
            <a:avLst/>
          </a:prstGeom>
          <a:solidFill>
            <a:srgbClr val="EDF6F0"/>
          </a:solidFill>
          <a:ln w="10160">
            <a:solidFill>
              <a:srgbClr val="EDF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External results: PASS"/>
          <p:cNvSpPr txBox="1"/>
          <p:nvPr/>
        </p:nvSpPr>
        <p:spPr>
          <a:xfrm>
            <a:off x="10259568" y="1810512"/>
            <a:ext cx="1060704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69" b="1" lang="en-US">
                <a:solidFill>
                  <a:srgbClr val="247044"/>
                </a:solidFill>
                <a:latin typeface="Arial"/>
              </a:rPr>
              <a:t>PASS</a:t>
            </a:r>
          </a:p>
        </p:txBody>
      </p:sp>
      <p:sp>
        <p:nvSpPr>
          <p:cNvPr id="32" name="External results: Can voting recover a stopped aggregator?"/>
          <p:cNvSpPr txBox="1"/>
          <p:nvPr/>
        </p:nvSpPr>
        <p:spPr>
          <a:xfrm>
            <a:off x="6364224" y="2103120"/>
            <a:ext cx="502920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10" b="1" lang="en-US">
                <a:solidFill>
                  <a:srgbClr val="263440"/>
                </a:solidFill>
                <a:latin typeface="Arial"/>
              </a:rPr>
              <a:t>Can voting recover a stopped aggregator?</a:t>
            </a:r>
          </a:p>
        </p:txBody>
      </p:sp>
      <p:sp>
        <p:nvSpPr>
          <p:cNvPr id="33" name="External results: Stop the aggregator CVM; send timeout reports."/>
          <p:cNvSpPr txBox="1"/>
          <p:nvPr/>
        </p:nvSpPr>
        <p:spPr>
          <a:xfrm>
            <a:off x="6364224" y="2441448"/>
            <a:ext cx="50292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20" b="0" lang="en-US">
                <a:solidFill>
                  <a:srgbClr val="263440"/>
                </a:solidFill>
                <a:latin typeface="Arial"/>
              </a:rPr>
              <a:t>Stop the aggregator CVM; send timeout reports.</a:t>
            </a:r>
          </a:p>
        </p:txBody>
      </p:sp>
      <p:sp>
        <p:nvSpPr>
          <p:cNvPr id="34" name="External results: 1–2 reports: keep state → 3 of 5: abort + reselect"/>
          <p:cNvSpPr txBox="1"/>
          <p:nvPr/>
        </p:nvSpPr>
        <p:spPr>
          <a:xfrm>
            <a:off x="6364224" y="2697480"/>
            <a:ext cx="50292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lang="en-US">
                <a:solidFill>
                  <a:srgbClr val="247044"/>
                </a:solidFill>
                <a:latin typeface="Arial"/>
              </a:rPr>
              <a:t>1–2 reports: keep state → 3 of 5: abort + reselect</a:t>
            </a:r>
          </a:p>
        </p:txBody>
      </p:sp>
      <p:sp>
        <p:nvSpPr>
          <p:cNvPr id="35" name="External results: Resume: 5 successful rounds; all 6 workers participate."/>
          <p:cNvSpPr txBox="1"/>
          <p:nvPr/>
        </p:nvSpPr>
        <p:spPr>
          <a:xfrm>
            <a:off x="6364224" y="2971800"/>
            <a:ext cx="50292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60" b="0" lang="en-US">
                <a:solidFill>
                  <a:srgbClr val="263440"/>
                </a:solidFill>
                <a:latin typeface="Arial"/>
              </a:rPr>
              <a:t>Resume: 5 successful rounds; all 6 workers participate.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67512" y="3474720"/>
            <a:ext cx="5321808" cy="1874519"/>
          </a:xfrm>
          <a:prstGeom prst="rect">
            <a:avLst/>
          </a:prstGeom>
          <a:solidFill>
            <a:srgbClr val="FFFFFF"/>
          </a:solidFill>
          <a:ln w="1016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External results: 03  ACCESS / CONTRACT GUARDS"/>
          <p:cNvSpPr txBox="1"/>
          <p:nvPr/>
        </p:nvSpPr>
        <p:spPr>
          <a:xfrm>
            <a:off x="813816" y="3575303"/>
            <a:ext cx="3721608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40" b="1" lang="en-US">
                <a:solidFill>
                  <a:srgbClr val="65737D"/>
                </a:solidFill>
                <a:latin typeface="Arial"/>
              </a:rPr>
              <a:t>03  ACCESS / CONTRACT GUARDS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645152" y="3557015"/>
            <a:ext cx="1188720" cy="256032"/>
          </a:xfrm>
          <a:prstGeom prst="rect">
            <a:avLst/>
          </a:prstGeom>
          <a:solidFill>
            <a:srgbClr val="EDF6F0"/>
          </a:solidFill>
          <a:ln w="10160">
            <a:solidFill>
              <a:srgbClr val="EDF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External results: 16 / 16 PASS"/>
          <p:cNvSpPr txBox="1"/>
          <p:nvPr/>
        </p:nvSpPr>
        <p:spPr>
          <a:xfrm>
            <a:off x="4709160" y="3566159"/>
            <a:ext cx="1060704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69" b="1" lang="en-US">
                <a:solidFill>
                  <a:srgbClr val="247044"/>
                </a:solidFill>
                <a:latin typeface="Arial"/>
              </a:rPr>
              <a:t>16 / 16 PASS</a:t>
            </a:r>
          </a:p>
        </p:txBody>
      </p:sp>
      <p:sp>
        <p:nvSpPr>
          <p:cNvPr id="40" name="External results: Are unauthorized actions rejected?"/>
          <p:cNvSpPr txBox="1"/>
          <p:nvPr/>
        </p:nvSpPr>
        <p:spPr>
          <a:xfrm>
            <a:off x="813816" y="3858768"/>
            <a:ext cx="502920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10" b="1" lang="en-US">
                <a:solidFill>
                  <a:srgbClr val="263440"/>
                </a:solidFill>
                <a:latin typeface="Arial"/>
              </a:rPr>
              <a:t>Are unauthorized actions rejected?</a:t>
            </a:r>
          </a:p>
        </p:txBody>
      </p:sp>
      <p:sp>
        <p:nvSpPr>
          <p:cNvPr id="41" name="External results: No / wrong credentials → 10 requests return HTTP 401"/>
          <p:cNvSpPr txBox="1"/>
          <p:nvPr/>
        </p:nvSpPr>
        <p:spPr>
          <a:xfrm>
            <a:off x="813816" y="4178808"/>
            <a:ext cx="50292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80" b="1" lang="en-US">
                <a:solidFill>
                  <a:srgbClr val="247044"/>
                </a:solidFill>
                <a:latin typeface="Arial"/>
              </a:rPr>
              <a:t>No / wrong credentials → 10 requests return HTTP 401</a:t>
            </a:r>
          </a:p>
        </p:txBody>
      </p:sp>
      <p:sp>
        <p:nvSpPr>
          <p:cNvPr id="42" name="External results: UI · Control · model download · job lookup / execution"/>
          <p:cNvSpPr txBox="1"/>
          <p:nvPr/>
        </p:nvSpPr>
        <p:spPr>
          <a:xfrm>
            <a:off x="813816" y="4434840"/>
            <a:ext cx="50292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30" b="0" lang="en-US">
                <a:solidFill>
                  <a:srgbClr val="263440"/>
                </a:solidFill>
                <a:latin typeface="Arial"/>
              </a:rPr>
              <a:t>UI · Control · model download · job lookup / execution</a:t>
            </a:r>
          </a:p>
        </p:txBody>
      </p:sp>
      <p:sp>
        <p:nvSpPr>
          <p:cNvPr id="43" name="External results: Stale round · wrong aggregator · unknown action key / Non-owner policy change → 4 expected eth_call reverts"/>
          <p:cNvSpPr txBox="1"/>
          <p:nvPr/>
        </p:nvSpPr>
        <p:spPr>
          <a:xfrm>
            <a:off x="813816" y="4672584"/>
            <a:ext cx="5029200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60" b="0" lang="en-US">
                <a:solidFill>
                  <a:srgbClr val="263440"/>
                </a:solidFill>
                <a:latin typeface="Arial"/>
              </a:rPr>
              <a:t>Stale round · wrong aggregator · unknown action key
Non-owner policy change → 4 expected eth_call reverts</a:t>
            </a:r>
          </a:p>
        </p:txBody>
      </p:sp>
      <p:sp>
        <p:nvSpPr>
          <p:cNvPr id="44" name="External results: Config unchanged · authorized inference passed"/>
          <p:cNvSpPr txBox="1"/>
          <p:nvPr/>
        </p:nvSpPr>
        <p:spPr>
          <a:xfrm>
            <a:off x="813816" y="5129784"/>
            <a:ext cx="50292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20" b="1" lang="en-US">
                <a:solidFill>
                  <a:srgbClr val="247044"/>
                </a:solidFill>
                <a:latin typeface="Arial"/>
              </a:rPr>
              <a:t>Config unchanged · authorized inference passed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217920" y="3474720"/>
            <a:ext cx="5321808" cy="1874519"/>
          </a:xfrm>
          <a:prstGeom prst="rect">
            <a:avLst/>
          </a:prstGeom>
          <a:solidFill>
            <a:srgbClr val="FFFFFF"/>
          </a:solidFill>
          <a:ln w="1016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External results: 04  PUBLISHED EVIDENCE AUDIT"/>
          <p:cNvSpPr txBox="1"/>
          <p:nvPr/>
        </p:nvSpPr>
        <p:spPr>
          <a:xfrm>
            <a:off x="6364224" y="3575303"/>
            <a:ext cx="3721608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40" b="1" lang="en-US">
                <a:solidFill>
                  <a:srgbClr val="65737D"/>
                </a:solidFill>
                <a:latin typeface="Arial"/>
              </a:rPr>
              <a:t>04  PUBLISHED EVIDENCE AUDIT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0195560" y="3557015"/>
            <a:ext cx="1188720" cy="256032"/>
          </a:xfrm>
          <a:prstGeom prst="rect">
            <a:avLst/>
          </a:prstGeom>
          <a:solidFill>
            <a:srgbClr val="EDF6F0"/>
          </a:solidFill>
          <a:ln w="10160">
            <a:solidFill>
              <a:srgbClr val="EDF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External results: 17 / 17 PASS"/>
          <p:cNvSpPr txBox="1"/>
          <p:nvPr/>
        </p:nvSpPr>
        <p:spPr>
          <a:xfrm>
            <a:off x="10259568" y="3566159"/>
            <a:ext cx="1060704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69" b="1" lang="en-US">
                <a:solidFill>
                  <a:srgbClr val="247044"/>
                </a:solidFill>
                <a:latin typeface="Arial"/>
              </a:rPr>
              <a:t>17 / 17 PASS</a:t>
            </a:r>
          </a:p>
        </p:txBody>
      </p:sp>
      <p:sp>
        <p:nvSpPr>
          <p:cNvPr id="49" name="External results: Can receipts from the log be verified again?"/>
          <p:cNvSpPr txBox="1"/>
          <p:nvPr/>
        </p:nvSpPr>
        <p:spPr>
          <a:xfrm>
            <a:off x="6364224" y="3858768"/>
            <a:ext cx="502920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10" b="1" lang="en-US">
                <a:solidFill>
                  <a:srgbClr val="263440"/>
                </a:solidFill>
                <a:latin typeface="Arial"/>
              </a:rPr>
              <a:t>Can receipts from the log be verified again?</a:t>
            </a:r>
          </a:p>
        </p:txBody>
      </p:sp>
      <p:sp>
        <p:nvSpPr>
          <p:cNvPr id="50" name="External results: SCITT"/>
          <p:cNvSpPr txBox="1"/>
          <p:nvPr/>
        </p:nvSpPr>
        <p:spPr>
          <a:xfrm>
            <a:off x="6364224" y="4178808"/>
            <a:ext cx="923544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10" b="1" lang="en-US">
                <a:solidFill>
                  <a:srgbClr val="263440"/>
                </a:solidFill>
                <a:latin typeface="Arial"/>
              </a:rPr>
              <a:t>SCITT</a:t>
            </a:r>
          </a:p>
        </p:txBody>
      </p:sp>
      <p:sp>
        <p:nvSpPr>
          <p:cNvPr id="51" name="External results: Statement signatures + log inclusion"/>
          <p:cNvSpPr txBox="1"/>
          <p:nvPr/>
        </p:nvSpPr>
        <p:spPr>
          <a:xfrm>
            <a:off x="7360920" y="4178808"/>
            <a:ext cx="4032504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5" b="0" lang="en-US">
                <a:solidFill>
                  <a:srgbClr val="263440"/>
                </a:solidFill>
                <a:latin typeface="Arial"/>
              </a:rPr>
              <a:t>Statement signatures + log inclusion</a:t>
            </a:r>
          </a:p>
        </p:txBody>
      </p:sp>
      <p:sp>
        <p:nvSpPr>
          <p:cNvPr id="52" name="External results: AIR / TDX"/>
          <p:cNvSpPr txBox="1"/>
          <p:nvPr/>
        </p:nvSpPr>
        <p:spPr>
          <a:xfrm>
            <a:off x="6364224" y="4402836"/>
            <a:ext cx="923544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10" b="1" lang="en-US">
                <a:solidFill>
                  <a:srgbClr val="263440"/>
                </a:solidFill>
                <a:latin typeface="Arial"/>
              </a:rPr>
              <a:t>AIR / TDX</a:t>
            </a:r>
          </a:p>
        </p:txBody>
      </p:sp>
      <p:sp>
        <p:nvSpPr>
          <p:cNvPr id="53" name="External results: Signature; model / input / output hashes"/>
          <p:cNvSpPr txBox="1"/>
          <p:nvPr/>
        </p:nvSpPr>
        <p:spPr>
          <a:xfrm>
            <a:off x="7360920" y="4402836"/>
            <a:ext cx="4032504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5" b="0" lang="en-US">
                <a:solidFill>
                  <a:srgbClr val="263440"/>
                </a:solidFill>
                <a:latin typeface="Arial"/>
              </a:rPr>
              <a:t>Signature; model / input / output hashes</a:t>
            </a:r>
          </a:p>
        </p:txBody>
      </p:sp>
      <p:sp>
        <p:nvSpPr>
          <p:cNvPr id="54" name="External results: "/>
          <p:cNvSpPr txBox="1"/>
          <p:nvPr/>
        </p:nvSpPr>
        <p:spPr>
          <a:xfrm>
            <a:off x="6364224" y="4626864"/>
            <a:ext cx="923544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10" b="1" lang="en-US">
                <a:solidFill>
                  <a:srgbClr val="263440"/>
                </a:solidFill>
                <a:latin typeface="Arial"/>
              </a:rPr>
              <a:t/>
            </a:r>
          </a:p>
        </p:txBody>
      </p:sp>
      <p:sp>
        <p:nvSpPr>
          <p:cNvPr id="55" name="External results: Quote; RTMR3 replay + image policy"/>
          <p:cNvSpPr txBox="1"/>
          <p:nvPr/>
        </p:nvSpPr>
        <p:spPr>
          <a:xfrm>
            <a:off x="7360920" y="4626864"/>
            <a:ext cx="4032504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5" b="0" lang="en-US">
                <a:solidFill>
                  <a:srgbClr val="263440"/>
                </a:solidFill>
                <a:latin typeface="Arial"/>
              </a:rPr>
              <a:t>Quote; RTMR3 replay + image policy</a:t>
            </a:r>
          </a:p>
        </p:txBody>
      </p:sp>
      <p:sp>
        <p:nvSpPr>
          <p:cNvPr id="56" name="External results: Sello"/>
          <p:cNvSpPr txBox="1"/>
          <p:nvPr/>
        </p:nvSpPr>
        <p:spPr>
          <a:xfrm>
            <a:off x="6364224" y="4850892"/>
            <a:ext cx="923544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10" b="1" lang="en-US">
                <a:solidFill>
                  <a:srgbClr val="263440"/>
                </a:solidFill>
                <a:latin typeface="Arial"/>
              </a:rPr>
              <a:t>Sello</a:t>
            </a:r>
          </a:p>
        </p:txBody>
      </p:sp>
      <p:sp>
        <p:nvSpPr>
          <p:cNvPr id="57" name="External results: Signature; owner permission + tool input / output"/>
          <p:cNvSpPr txBox="1"/>
          <p:nvPr/>
        </p:nvSpPr>
        <p:spPr>
          <a:xfrm>
            <a:off x="7360920" y="4850892"/>
            <a:ext cx="4032504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5" b="0" lang="en-US">
                <a:solidFill>
                  <a:srgbClr val="263440"/>
                </a:solidFill>
                <a:latin typeface="Arial"/>
              </a:rPr>
              <a:t>Signature; owner permission + tool input / output</a:t>
            </a:r>
          </a:p>
        </p:txBody>
      </p:sp>
      <p:sp>
        <p:nvSpPr>
          <p:cNvPr id="58" name="External results: Sessions"/>
          <p:cNvSpPr txBox="1"/>
          <p:nvPr/>
        </p:nvSpPr>
        <p:spPr>
          <a:xfrm>
            <a:off x="6364224" y="5074920"/>
            <a:ext cx="923544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10" b="1" lang="en-US">
                <a:solidFill>
                  <a:srgbClr val="263440"/>
                </a:solidFill>
                <a:latin typeface="Arial"/>
              </a:rPr>
              <a:t>Sessions</a:t>
            </a:r>
          </a:p>
        </p:txBody>
      </p:sp>
      <p:sp>
        <p:nvSpPr>
          <p:cNvPr id="59" name="External results: Attested receiver keys + session bindings"/>
          <p:cNvSpPr txBox="1"/>
          <p:nvPr/>
        </p:nvSpPr>
        <p:spPr>
          <a:xfrm>
            <a:off x="7360920" y="5074920"/>
            <a:ext cx="4032504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5" b="0" lang="en-US">
                <a:solidFill>
                  <a:srgbClr val="263440"/>
                </a:solidFill>
                <a:latin typeface="Arial"/>
              </a:rPr>
              <a:t>Attested receiver keys + session bindings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667512" y="5404104"/>
            <a:ext cx="10863072" cy="0"/>
          </a:xfrm>
          <a:prstGeom prst="line">
            <a:avLst/>
          </a:prstGeom>
          <a:ln w="8890">
            <a:solidFill>
              <a:srgbClr val="DCE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External results: Green = passed in these scenarios · Contracts: eth_call · Audit: shared verifier code + fresh Phala quote checks"/>
          <p:cNvSpPr txBox="1"/>
          <p:nvPr/>
        </p:nvSpPr>
        <p:spPr>
          <a:xfrm>
            <a:off x="694944" y="5422392"/>
            <a:ext cx="10799064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80" b="0" lang="en-US">
                <a:solidFill>
                  <a:srgbClr val="65737D"/>
                </a:solidFill>
                <a:latin typeface="Arial"/>
              </a:rPr>
              <a:t>Green = passed in these scenarios · Contracts: eth_call · Audit: shared verifier code + fresh Phala quote checks</a:t>
            </a:r>
          </a:p>
        </p:txBody>
      </p:sp>
      <p:sp>
        <p:nvSpPr>
          <p:cNvPr id="62" name="External results: 25 Sep: recovery · 29 Sep: collection / security / audit · Separate runs; same images, changed provisioning configuration"/>
          <p:cNvSpPr txBox="1"/>
          <p:nvPr/>
        </p:nvSpPr>
        <p:spPr>
          <a:xfrm>
            <a:off x="694944" y="5586984"/>
            <a:ext cx="10799064" cy="1554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60" b="0" lang="en-US">
                <a:solidFill>
                  <a:srgbClr val="65737D"/>
                </a:solidFill>
                <a:latin typeface="Arial"/>
              </a:rPr>
              <a:t>25 Sep: recovery · 29 Sep: collection / security / audit · Separate runs; same images, changed provisioning configuration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itelfolien zur Auswahl">
  <a:themeElements>
    <a:clrScheme name="TU Berlin">
      <a:dk1>
        <a:srgbClr val="434343"/>
      </a:dk1>
      <a:lt1>
        <a:srgbClr val="FFFFFF"/>
      </a:lt1>
      <a:dk2>
        <a:srgbClr val="434343"/>
      </a:dk2>
      <a:lt2>
        <a:srgbClr val="E7E6E6"/>
      </a:lt2>
      <a:accent1>
        <a:srgbClr val="C30D1E"/>
      </a:accent1>
      <a:accent2>
        <a:srgbClr val="B2B2B2"/>
      </a:accent2>
      <a:accent3>
        <a:srgbClr val="FF6C00"/>
      </a:accent3>
      <a:accent4>
        <a:srgbClr val="1F90CC"/>
      </a:accent4>
      <a:accent5>
        <a:srgbClr val="9013FE"/>
      </a:accent5>
      <a:accent6>
        <a:srgbClr val="49CB40"/>
      </a:accent6>
      <a:hlink>
        <a:srgbClr val="C30D1E"/>
      </a:hlink>
      <a:folHlink>
        <a:srgbClr val="C30D1E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äsentation1" id="{AF5D8605-2613-D24D-AB7D-44425CE5E9EB}" vid="{4A2A0730-D474-B642-9EC8-245B2B7F7B17}"/>
    </a:ext>
  </a:extLst>
</a:theme>
</file>

<file path=ppt/theme/theme2.xml><?xml version="1.0" encoding="utf-8"?>
<a:theme xmlns:a="http://schemas.openxmlformats.org/drawingml/2006/main" name="Master für Folgeseiten">
  <a:themeElements>
    <a:clrScheme name="TU Berlin ">
      <a:dk1>
        <a:srgbClr val="434343"/>
      </a:dk1>
      <a:lt1>
        <a:srgbClr val="FFFFFF"/>
      </a:lt1>
      <a:dk2>
        <a:srgbClr val="434343"/>
      </a:dk2>
      <a:lt2>
        <a:srgbClr val="E7E6E6"/>
      </a:lt2>
      <a:accent1>
        <a:srgbClr val="C30D1E"/>
      </a:accent1>
      <a:accent2>
        <a:srgbClr val="B2B2B2"/>
      </a:accent2>
      <a:accent3>
        <a:srgbClr val="FF6C00"/>
      </a:accent3>
      <a:accent4>
        <a:srgbClr val="1F90CC"/>
      </a:accent4>
      <a:accent5>
        <a:srgbClr val="9013FE"/>
      </a:accent5>
      <a:accent6>
        <a:srgbClr val="49CB40"/>
      </a:accent6>
      <a:hlink>
        <a:srgbClr val="C30D1E"/>
      </a:hlink>
      <a:folHlink>
        <a:srgbClr val="C30D1E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äsentation1" id="{AF5D8605-2613-D24D-AB7D-44425CE5E9EB}" vid="{6D2ACD7B-51E4-3F4D-A883-FB2A0ECC7C66}"/>
    </a:ext>
  </a:extLst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TU-Berlin-Praesentation-Master-einfarbig-Rot</Template>
  <TotalTime>0</TotalTime>
  <Words>59</Words>
  <Application>Microsoft Office PowerPoint</Application>
  <PresentationFormat>Breitbild</PresentationFormat>
  <Paragraphs>5</Paragraphs>
  <Slides>5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2</vt:i4>
      </vt:variant>
      <vt:variant>
        <vt:lpstr>Folientitel</vt:lpstr>
      </vt:variant>
      <vt:variant>
        <vt:i4>5</vt:i4>
      </vt:variant>
    </vt:vector>
  </HeadingPairs>
  <TitlesOfParts>
    <vt:vector size="10" baseType="lpstr">
      <vt:lpstr>Arial</vt:lpstr>
      <vt:lpstr>Calibri</vt:lpstr>
      <vt:lpstr>Symbol</vt:lpstr>
      <vt:lpstr>Titelfolien zur Auswahl</vt:lpstr>
      <vt:lpstr>Master für Folgeseiten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VITA-FL — Master's Thesis Presentation</dc:title>
  <dc:creator>Ramon Mehrpoya</dc:creator>
  <cp:lastModifiedBy>Friedrich, Ulrike</cp:lastModifiedBy>
  <cp:revision>3</cp:revision>
  <cp:lastPrinted>2021-03-24T16:10:50Z</cp:lastPrinted>
  <dcterms:created xsi:type="dcterms:W3CDTF">2023-04-20T08:54:03Z</dcterms:created>
  <dcterms:modified xsi:type="dcterms:W3CDTF">2025-06-16T09:49:54Z</dcterms:modified>
  <dc:subject>Verifiable Decentralized Federated Machine Learning and Inference for AI Agent Systems</dc:subject>
  <cp:keywords>VITA-FL, DFL, TEE, attested inference, transparency log</cp:keywords>
  <dc:language>en-US</dc:language>
</cp:coreProperties>
</file>