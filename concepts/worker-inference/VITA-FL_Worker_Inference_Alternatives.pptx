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  <p:sldId id="257" r:id="rId6"/>
    <p:sldId id="258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A shows nested boundaries: the Worker 0 TEE contains one combined dfl-worker container, two service roles and their internal key material. The agent invokes inference and receives results/evidence through the API.</a:t>
            </a:r>
          </a:p>
          <a:p/>
          <a:p>
            <a:r>
              <a:rPr lang="en-US"/>
              <a:t>The active Phala deployment uses exactly one dfl-worker service and one immutable image reference per worker CVM. That image packages the Node DFL service, Python training code, native tee_inference code and agent_receipts. Worker 0 starts training services and the inference receiver as processes in the same container. Other workers contain the same code but do not start inference. This is not a pair of independent container images.</a:t>
            </a:r>
          </a:p>
          <a:p/>
          <a:p>
            <a:r>
              <a:rPr lang="en-US"/>
              <a:t>Inference can load encrypted model publications using the existing participant RSA private key inside the worker CVM. Node owns RSA initialization: it obtains a dstack-derived wrapping key, creates or unseals the random RSA key, and materializes temporary PEM files in /run/vita-fl. Inference uses the same runtime RSA file. RSA unwraps model-transport symmetric keys; it is not the receipt-signing key. Sello and AIR use separate Ed25519 signing keys. Paths/context separate cryptographic purposes but are not an isolation mechanism between processes with access to the same dstack socket. No private-key export to the external agent is part of the intended inference interface. The external agent receives results and signed evidence, and can request/use public verification material.</a:t>
            </a:r>
          </a:p>
          <a:p/>
          <a:p>
            <a:r>
              <a:rPr lang="en-US"/>
              <a:t>The joint OCI image Digest covers both training and inference code. The on-chain verifier derives the image Digest and role-policy hash from the measured app_compose, binds the Compose hash into the event log, replays RTMR3, and compares it with the certificate-verified TDX quote. Image and role-policy checks authorize participation. The parser requires one worker service and one image. Training-only and combined-inference policies are separately allowed; each CVM has its own Compose/event log/quote and potentially different final RTMR3.</a:t>
            </a:r>
          </a:p>
          <a:p/>
          <a:p>
            <a:r>
              <a:rPr lang="en-US"/>
              <a:t>SECURITY SCOPE: these diagrams show intended key custody under the approved application. On-chain admission is distinct from Phala KMS key-release authorization. Startup loads keys before entering the registration state machine. The repository does not independently bind managed-KMS release to DeviceRegistry image/role allowlists. If a malicious upgrade of the same app is authorized by the KMS under the same key root, refusing that version's on-chain registration alone cannot prevent it from retrieving keys. Actual deployed KMS/upgrade authorization was not inspected. Trusted image execution and KMS/upgrade policy are necessary assumptions; the TEE does not isolate approved processes from one another. Do not present these diagrams as unconditional protection against malicious same-app upgrades.</a:t>
            </a:r>
          </a:p>
          <a:p/>
          <a:p>
            <a:r>
              <a:rPr lang="en-US"/>
              <a:t>PER-INFERENCE VERIFICATION: the agent checks AIR signatures, context, report-data binding, replayed RTMR3, measured Compose and its expected image Digest. Terraform derives this expected inference Digest from worker_image. The per-call Python verifier reports dcap_collateral_verified=False; do not describe it as an independent complete DCAP validation for every request. Receiver admission and registry-bound identity provide additional trust context.</a:t>
            </a:r>
          </a:p>
          <a:p/>
          <a:p>
            <a:r>
              <a:rPr lang="en-US"/>
              <a:t>TOOL TRANSPORT: MCP Tool request labels the conceptual tool call. In the deployed agent, LangChain wrappers invoke imported functions from mcp_server.py; the remote inference request uses HTTP REST. This diagram does not claim a public MCP transport server on the worker.</a:t>
            </a:r>
          </a:p>
          <a:p/>
          <a:p>
            <a:r>
              <a:rPr lang="en-US"/>
              <a:t>Source map, checked against local prototype on 20 September 2026:</a:t>
            </a:r>
          </a:p>
          <a:p>
            <a:r>
              <a:rPr lang="en-US"/>
              <a:t>vita-fl/phala/dstack-compose.worker.phala.tftpl:1–18,34–37,87–104</a:t>
            </a:r>
          </a:p>
          <a:p>
            <a:r>
              <a:rPr lang="en-US"/>
              <a:t>vita-fl/phala/dynamic-workers/main.tf:67</a:t>
            </a:r>
          </a:p>
          <a:p>
            <a:r>
              <a:rPr lang="en-US"/>
              <a:t>vita-fl/phala/main.tf:180</a:t>
            </a:r>
          </a:p>
          <a:p>
            <a:r>
              <a:rPr lang="en-US"/>
              <a:t>vita-fl/dfl/Dockerfile:90–99</a:t>
            </a:r>
          </a:p>
          <a:p>
            <a:r>
              <a:rPr lang="en-US"/>
              <a:t>vita-fl/dfl/start_node_neural_network.sh:332–365</a:t>
            </a:r>
          </a:p>
          <a:p>
            <a:r>
              <a:rPr lang="en-US"/>
              <a:t>vita-fl/dfl/node_server/src/server.ts:1823–1868,2890–2923</a:t>
            </a:r>
          </a:p>
          <a:p>
            <a:r>
              <a:rPr lang="en-US"/>
              <a:t>vita-fl/dfl/node_server/src/action_key.ts:65–98</a:t>
            </a:r>
          </a:p>
          <a:p>
            <a:r>
              <a:rPr lang="en-US"/>
              <a:t>vita-fl/dfl/node_server/src/participant_key.ts:247–286</a:t>
            </a:r>
          </a:p>
          <a:p>
            <a:r>
              <a:rPr lang="en-US"/>
              <a:t>vita-fl/tee_inference/service/model_source.py:146–220</a:t>
            </a:r>
          </a:p>
          <a:p>
            <a:r>
              <a:rPr lang="en-US"/>
              <a:t>vita-fl/tee_inference/service/attestation.py:49–60,109–121</a:t>
            </a:r>
          </a:p>
          <a:p>
            <a:r>
              <a:rPr lang="en-US"/>
              <a:t>vita-fl/agent/blockchain_source.py:467–480</a:t>
            </a:r>
          </a:p>
          <a:p>
            <a:r>
              <a:rPr lang="en-US"/>
              <a:t>vita-fl/smart_contracts/src/core/DeviceRegistry.sol:487–490</a:t>
            </a:r>
          </a:p>
          <a:p>
            <a:r>
              <a:rPr lang="en-US"/>
              <a:t>vita-fl/smart_contracts/src/attestation/AppComposeImage.sol:588–592</a:t>
            </a:r>
          </a:p>
          <a:p>
            <a:r>
              <a:rPr lang="en-US"/>
              <a:t>vita-fl/agent/tee_inference_client.py:445–472,605–624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B follows model use: the encrypted model enters the combined worker application; the existing participant RSA key unwraps its transport key; native inference runs and separate Ed25519 keys sign evidence. Training and inference are both present in the same container image. The external agent receives outputs and signed evidence, without a private-key transfer through the intended interface.</a:t>
            </a:r>
          </a:p>
          <a:p/>
          <a:p>
            <a:r>
              <a:rPr lang="en-US"/>
              <a:t>The active Phala deployment uses exactly one dfl-worker service and one immutable image reference per worker CVM. That image packages the Node DFL service, Python training code, native tee_inference code and agent_receipts. Worker 0 starts training services and the inference receiver as processes in the same container. Other workers contain the same code but do not start inference. This is not a pair of independent container images.</a:t>
            </a:r>
          </a:p>
          <a:p/>
          <a:p>
            <a:r>
              <a:rPr lang="en-US"/>
              <a:t>Inference can load encrypted model publications using the existing participant RSA private key inside the worker CVM. Node owns RSA initialization: it obtains a dstack-derived wrapping key, creates or unseals the random RSA key, and materializes temporary PEM files in /run/vita-fl. Inference uses the same runtime RSA file. RSA unwraps model-transport symmetric keys; it is not the receipt-signing key. Sello and AIR use separate Ed25519 signing keys. Paths/context separate cryptographic purposes but are not an isolation mechanism between processes with access to the same dstack socket. No private-key export to the external agent is part of the intended inference interface. The external agent receives results and signed evidence, and can request/use public verification material.</a:t>
            </a:r>
          </a:p>
          <a:p/>
          <a:p>
            <a:r>
              <a:rPr lang="en-US"/>
              <a:t>The joint OCI image Digest covers both training and inference code. The on-chain verifier derives the image Digest and role-policy hash from the measured app_compose, binds the Compose hash into the event log, replays RTMR3, and compares it with the certificate-verified TDX quote. Image and role-policy checks authorize participation. The parser requires one worker service and one image. Training-only and combined-inference policies are separately allowed; each CVM has its own Compose/event log/quote and potentially different final RTMR3.</a:t>
            </a:r>
          </a:p>
          <a:p/>
          <a:p>
            <a:r>
              <a:rPr lang="en-US"/>
              <a:t>SECURITY SCOPE: these diagrams show intended key custody under the approved application. On-chain admission is distinct from Phala KMS key-release authorization. Startup loads keys before entering the registration state machine. The repository does not independently bind managed-KMS release to DeviceRegistry image/role allowlists. If a malicious upgrade of the same app is authorized by the KMS under the same key root, refusing that version's on-chain registration alone cannot prevent it from retrieving keys. Actual deployed KMS/upgrade authorization was not inspected. Trusted image execution and KMS/upgrade policy are necessary assumptions; the TEE does not isolate approved processes from one another. Do not present these diagrams as unconditional protection against malicious same-app upgrades.</a:t>
            </a:r>
          </a:p>
          <a:p/>
          <a:p>
            <a:r>
              <a:rPr lang="en-US"/>
              <a:t>PER-INFERENCE VERIFICATION: the agent checks AIR signatures, context, report-data binding, replayed RTMR3, measured Compose and its expected image Digest. Terraform derives this expected inference Digest from worker_image. The per-call Python verifier reports dcap_collateral_verified=False; do not describe it as an independent complete DCAP validation for every request. Receiver admission and registry-bound identity provide additional trust context.</a:t>
            </a:r>
          </a:p>
          <a:p/>
          <a:p>
            <a:r>
              <a:rPr lang="en-US"/>
              <a:t>TOOL TRANSPORT: MCP Tool request labels the conceptual tool call. In the deployed agent, LangChain wrappers invoke imported functions from mcp_server.py; the remote inference request uses HTTP REST. This diagram does not claim a public MCP transport server on the worker.</a:t>
            </a:r>
          </a:p>
          <a:p/>
          <a:p>
            <a:r>
              <a:rPr lang="en-US"/>
              <a:t>Source map, checked against local prototype on 20 September 2026:</a:t>
            </a:r>
          </a:p>
          <a:p>
            <a:r>
              <a:rPr lang="en-US"/>
              <a:t>vita-fl/phala/dstack-compose.worker.phala.tftpl:1–18,34–37,87–104</a:t>
            </a:r>
          </a:p>
          <a:p>
            <a:r>
              <a:rPr lang="en-US"/>
              <a:t>vita-fl/phala/dynamic-workers/main.tf:67</a:t>
            </a:r>
          </a:p>
          <a:p>
            <a:r>
              <a:rPr lang="en-US"/>
              <a:t>vita-fl/phala/main.tf:180</a:t>
            </a:r>
          </a:p>
          <a:p>
            <a:r>
              <a:rPr lang="en-US"/>
              <a:t>vita-fl/dfl/Dockerfile:90–99</a:t>
            </a:r>
          </a:p>
          <a:p>
            <a:r>
              <a:rPr lang="en-US"/>
              <a:t>vita-fl/dfl/start_node_neural_network.sh:332–365</a:t>
            </a:r>
          </a:p>
          <a:p>
            <a:r>
              <a:rPr lang="en-US"/>
              <a:t>vita-fl/dfl/node_server/src/server.ts:1823–1868,2890–2923</a:t>
            </a:r>
          </a:p>
          <a:p>
            <a:r>
              <a:rPr lang="en-US"/>
              <a:t>vita-fl/dfl/node_server/src/action_key.ts:65–98</a:t>
            </a:r>
          </a:p>
          <a:p>
            <a:r>
              <a:rPr lang="en-US"/>
              <a:t>vita-fl/dfl/node_server/src/participant_key.ts:247–286</a:t>
            </a:r>
          </a:p>
          <a:p>
            <a:r>
              <a:rPr lang="en-US"/>
              <a:t>vita-fl/tee_inference/service/model_source.py:146–220</a:t>
            </a:r>
          </a:p>
          <a:p>
            <a:r>
              <a:rPr lang="en-US"/>
              <a:t>vita-fl/tee_inference/service/attestation.py:49–60,109–121</a:t>
            </a:r>
          </a:p>
          <a:p>
            <a:r>
              <a:rPr lang="en-US"/>
              <a:t>vita-fl/agent/blockchain_source.py:467–480</a:t>
            </a:r>
          </a:p>
          <a:p>
            <a:r>
              <a:rPr lang="en-US"/>
              <a:t>vita-fl/smart_contracts/src/core/DeviceRegistry.sol:487–490</a:t>
            </a:r>
          </a:p>
          <a:p>
            <a:r>
              <a:rPr lang="en-US"/>
              <a:t>vita-fl/smart_contracts/src/attestation/AppComposeImage.sol:588–592</a:t>
            </a:r>
          </a:p>
          <a:p>
            <a:r>
              <a:rPr lang="en-US"/>
              <a:t>vita-fl/agent/tee_inference_client.py:445–472,605–624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C preserves the two-role comparison from the original slide. Both runtime profiles contain the same packaged code, while only Worker 0 starts inference and exposes the agent-facing endpoint.</a:t>
            </a:r>
          </a:p>
          <a:p/>
          <a:p>
            <a:r>
              <a:rPr lang="en-US"/>
              <a:t>The active Phala deployment uses exactly one dfl-worker service and one immutable image reference per worker CVM. That image packages the Node DFL service, Python training code, native tee_inference code and agent_receipts. Worker 0 starts training services and the inference receiver as processes in the same container. Other workers contain the same code but do not start inference. This is not a pair of independent container images.</a:t>
            </a:r>
          </a:p>
          <a:p/>
          <a:p>
            <a:r>
              <a:rPr lang="en-US"/>
              <a:t>Inference can load encrypted model publications using the existing participant RSA private key inside the worker CVM. Node owns RSA initialization: it obtains a dstack-derived wrapping key, creates or unseals the random RSA key, and materializes temporary PEM files in /run/vita-fl. Inference uses the same runtime RSA file. RSA unwraps model-transport symmetric keys; it is not the receipt-signing key. Sello and AIR use separate Ed25519 signing keys. Paths/context separate cryptographic purposes but are not an isolation mechanism between processes with access to the same dstack socket. No private-key export to the external agent is part of the intended inference interface. The external agent receives results and signed evidence, and can request/use public verification material.</a:t>
            </a:r>
          </a:p>
          <a:p/>
          <a:p>
            <a:r>
              <a:rPr lang="en-US"/>
              <a:t>The joint OCI image Digest covers both training and inference code. The on-chain verifier derives the image Digest and role-policy hash from the measured app_compose, binds the Compose hash into the event log, replays RTMR3, and compares it with the certificate-verified TDX quote. Image and role-policy checks authorize participation. The parser requires one worker service and one image. Training-only and combined-inference policies are separately allowed; each CVM has its own Compose/event log/quote and potentially different final RTMR3.</a:t>
            </a:r>
          </a:p>
          <a:p/>
          <a:p>
            <a:r>
              <a:rPr lang="en-US"/>
              <a:t>SECURITY SCOPE: these diagrams show intended key custody under the approved application. On-chain admission is distinct from Phala KMS key-release authorization. Startup loads keys before entering the registration state machine. The repository does not independently bind managed-KMS release to DeviceRegistry image/role allowlists. If a malicious upgrade of the same app is authorized by the KMS under the same key root, refusing that version's on-chain registration alone cannot prevent it from retrieving keys. Actual deployed KMS/upgrade authorization was not inspected. Trusted image execution and KMS/upgrade policy are necessary assumptions; the TEE does not isolate approved processes from one another. Do not present these diagrams as unconditional protection against malicious same-app upgrades.</a:t>
            </a:r>
          </a:p>
          <a:p/>
          <a:p>
            <a:r>
              <a:rPr lang="en-US"/>
              <a:t>PER-INFERENCE VERIFICATION: the agent checks AIR signatures, context, report-data binding, replayed RTMR3, measured Compose and its expected image Digest. Terraform derives this expected inference Digest from worker_image. The per-call Python verifier reports dcap_collateral_verified=False; do not describe it as an independent complete DCAP validation for every request. Receiver admission and registry-bound identity provide additional trust context.</a:t>
            </a:r>
          </a:p>
          <a:p/>
          <a:p>
            <a:r>
              <a:rPr lang="en-US"/>
              <a:t>TOOL TRANSPORT: MCP Tool request labels the conceptual tool call. In the deployed agent, LangChain wrappers invoke imported functions from mcp_server.py; the remote inference request uses HTTP REST. This diagram does not claim a public MCP transport server on the worker.</a:t>
            </a:r>
          </a:p>
          <a:p/>
          <a:p>
            <a:r>
              <a:rPr lang="en-US"/>
              <a:t>Source map, checked against local prototype on 20 September 2026:</a:t>
            </a:r>
          </a:p>
          <a:p>
            <a:r>
              <a:rPr lang="en-US"/>
              <a:t>vita-fl/phala/dstack-compose.worker.phala.tftpl:1–18,34–37,87–104</a:t>
            </a:r>
          </a:p>
          <a:p>
            <a:r>
              <a:rPr lang="en-US"/>
              <a:t>vita-fl/phala/dynamic-workers/main.tf:67</a:t>
            </a:r>
          </a:p>
          <a:p>
            <a:r>
              <a:rPr lang="en-US"/>
              <a:t>vita-fl/phala/main.tf:180</a:t>
            </a:r>
          </a:p>
          <a:p>
            <a:r>
              <a:rPr lang="en-US"/>
              <a:t>vita-fl/dfl/Dockerfile:90–99</a:t>
            </a:r>
          </a:p>
          <a:p>
            <a:r>
              <a:rPr lang="en-US"/>
              <a:t>vita-fl/dfl/start_node_neural_network.sh:332–365</a:t>
            </a:r>
          </a:p>
          <a:p>
            <a:r>
              <a:rPr lang="en-US"/>
              <a:t>vita-fl/dfl/node_server/src/server.ts:1823–1868,2890–2923</a:t>
            </a:r>
          </a:p>
          <a:p>
            <a:r>
              <a:rPr lang="en-US"/>
              <a:t>vita-fl/dfl/node_server/src/action_key.ts:65–98</a:t>
            </a:r>
          </a:p>
          <a:p>
            <a:r>
              <a:rPr lang="en-US"/>
              <a:t>vita-fl/dfl/node_server/src/participant_key.ts:247–286</a:t>
            </a:r>
          </a:p>
          <a:p>
            <a:r>
              <a:rPr lang="en-US"/>
              <a:t>vita-fl/tee_inference/service/model_source.py:146–220</a:t>
            </a:r>
          </a:p>
          <a:p>
            <a:r>
              <a:rPr lang="en-US"/>
              <a:t>vita-fl/tee_inference/service/attestation.py:49–60,109–121</a:t>
            </a:r>
          </a:p>
          <a:p>
            <a:r>
              <a:rPr lang="en-US"/>
              <a:t>vita-fl/agent/blockchain_source.py:467–480</a:t>
            </a:r>
          </a:p>
          <a:p>
            <a:r>
              <a:rPr lang="en-US"/>
              <a:t>vita-fl/smart_contracts/src/core/DeviceRegistry.sol:487–490</a:t>
            </a:r>
          </a:p>
          <a:p>
            <a:r>
              <a:rPr lang="en-US"/>
              <a:t>vita-fl/smart_contracts/src/attestation/AppComposeImage.sol:588–592</a:t>
            </a:r>
          </a:p>
          <a:p>
            <a:r>
              <a:rPr lang="en-US"/>
              <a:t>vita-fl/agent/tee_inference_client.py:445–472,605–624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Training and inference share one verified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664208"/>
            <a:ext cx="7818120" cy="3282696"/>
          </a:xfrm>
          <a:prstGeom prst="roundRect">
            <a:avLst/>
          </a:prstGeom>
          <a:solidFill>
            <a:srgbClr val="F7F9FA"/>
          </a:solidFill>
          <a:ln w="2159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Worker inference icon: tee / 1"/>
          <p:cNvCxnSpPr/>
          <p:nvPr/>
        </p:nvCxnSpPr>
        <p:spPr>
          <a:xfrm>
            <a:off x="922401" y="1813941"/>
            <a:ext cx="0" cy="43434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Worker inference icon: tee / 2"/>
          <p:cNvCxnSpPr/>
          <p:nvPr/>
        </p:nvCxnSpPr>
        <p:spPr>
          <a:xfrm>
            <a:off x="922401" y="2074545"/>
            <a:ext cx="0" cy="43434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Worker inference icon: tee / 3"/>
          <p:cNvCxnSpPr/>
          <p:nvPr/>
        </p:nvCxnSpPr>
        <p:spPr>
          <a:xfrm>
            <a:off x="835533" y="1900809"/>
            <a:ext cx="43434" cy="0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Worker inference icon: tee / 4"/>
          <p:cNvCxnSpPr/>
          <p:nvPr/>
        </p:nvCxnSpPr>
        <p:spPr>
          <a:xfrm>
            <a:off x="1096137" y="1900809"/>
            <a:ext cx="43434" cy="0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Worker inference icon: tee / 5"/>
          <p:cNvCxnSpPr/>
          <p:nvPr/>
        </p:nvCxnSpPr>
        <p:spPr>
          <a:xfrm>
            <a:off x="987552" y="1813941"/>
            <a:ext cx="0" cy="43434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Worker inference icon: tee / 6"/>
          <p:cNvCxnSpPr/>
          <p:nvPr/>
        </p:nvCxnSpPr>
        <p:spPr>
          <a:xfrm>
            <a:off x="987552" y="2074545"/>
            <a:ext cx="0" cy="43434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Worker inference icon: tee / 7"/>
          <p:cNvCxnSpPr/>
          <p:nvPr/>
        </p:nvCxnSpPr>
        <p:spPr>
          <a:xfrm>
            <a:off x="835533" y="1965960"/>
            <a:ext cx="43434" cy="0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Worker inference icon: tee / 8"/>
          <p:cNvCxnSpPr/>
          <p:nvPr/>
        </p:nvCxnSpPr>
        <p:spPr>
          <a:xfrm>
            <a:off x="1096137" y="1965960"/>
            <a:ext cx="43434" cy="0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Worker inference icon: tee / 9"/>
          <p:cNvCxnSpPr/>
          <p:nvPr/>
        </p:nvCxnSpPr>
        <p:spPr>
          <a:xfrm>
            <a:off x="1052703" y="1813941"/>
            <a:ext cx="0" cy="43434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Worker inference icon: tee / 10"/>
          <p:cNvCxnSpPr/>
          <p:nvPr/>
        </p:nvCxnSpPr>
        <p:spPr>
          <a:xfrm>
            <a:off x="1052703" y="2074545"/>
            <a:ext cx="0" cy="43434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Worker inference icon: tee / 11"/>
          <p:cNvCxnSpPr/>
          <p:nvPr/>
        </p:nvCxnSpPr>
        <p:spPr>
          <a:xfrm>
            <a:off x="835533" y="2031111"/>
            <a:ext cx="43434" cy="0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Worker inference icon: tee / 12"/>
          <p:cNvCxnSpPr/>
          <p:nvPr/>
        </p:nvCxnSpPr>
        <p:spPr>
          <a:xfrm>
            <a:off x="1096137" y="2031111"/>
            <a:ext cx="43434" cy="0"/>
          </a:xfrm>
          <a:prstGeom prst="line">
            <a:avLst/>
          </a:prstGeom>
          <a:ln w="15416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Worker inference icon: tee / 13"/>
          <p:cNvSpPr/>
          <p:nvPr/>
        </p:nvSpPr>
        <p:spPr>
          <a:xfrm>
            <a:off x="878967" y="1857375"/>
            <a:ext cx="217170" cy="217170"/>
          </a:xfrm>
          <a:prstGeom prst="roundRect">
            <a:avLst/>
          </a:prstGeom>
          <a:solidFill>
            <a:srgbClr val="F7F9FA"/>
          </a:solidFill>
          <a:ln w="15416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Worker inference icon: tee / 14"/>
          <p:cNvCxnSpPr/>
          <p:nvPr/>
        </p:nvCxnSpPr>
        <p:spPr>
          <a:xfrm flipV="1">
            <a:off x="944118" y="1922526"/>
            <a:ext cx="0" cy="32575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Worker inference icon: tee / 15"/>
          <p:cNvCxnSpPr/>
          <p:nvPr/>
        </p:nvCxnSpPr>
        <p:spPr>
          <a:xfrm flipV="1">
            <a:off x="944118" y="1910083"/>
            <a:ext cx="1709" cy="12443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Worker inference icon: tee / 16"/>
          <p:cNvCxnSpPr/>
          <p:nvPr/>
        </p:nvCxnSpPr>
        <p:spPr>
          <a:xfrm flipV="1">
            <a:off x="945827" y="1899904"/>
            <a:ext cx="4725" cy="10179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Worker inference icon: tee / 17"/>
          <p:cNvCxnSpPr/>
          <p:nvPr/>
        </p:nvCxnSpPr>
        <p:spPr>
          <a:xfrm flipV="1">
            <a:off x="950552" y="1891986"/>
            <a:ext cx="7139" cy="7918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Worker inference icon: tee / 18"/>
          <p:cNvCxnSpPr/>
          <p:nvPr/>
        </p:nvCxnSpPr>
        <p:spPr>
          <a:xfrm flipV="1">
            <a:off x="957691" y="1886331"/>
            <a:ext cx="8948" cy="5655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Worker inference icon: tee / 19"/>
          <p:cNvCxnSpPr/>
          <p:nvPr/>
        </p:nvCxnSpPr>
        <p:spPr>
          <a:xfrm flipV="1">
            <a:off x="966639" y="1882937"/>
            <a:ext cx="10155" cy="3394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Worker inference icon: tee / 20"/>
          <p:cNvCxnSpPr/>
          <p:nvPr/>
        </p:nvCxnSpPr>
        <p:spPr>
          <a:xfrm flipV="1">
            <a:off x="976794" y="1881806"/>
            <a:ext cx="10758" cy="1131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Worker inference icon: tee / 21"/>
          <p:cNvCxnSpPr/>
          <p:nvPr/>
        </p:nvCxnSpPr>
        <p:spPr>
          <a:xfrm>
            <a:off x="987552" y="1881806"/>
            <a:ext cx="10757" cy="1131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Worker inference icon: tee / 22"/>
          <p:cNvCxnSpPr/>
          <p:nvPr/>
        </p:nvCxnSpPr>
        <p:spPr>
          <a:xfrm>
            <a:off x="998309" y="1882937"/>
            <a:ext cx="10155" cy="3394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Worker inference icon: tee / 23"/>
          <p:cNvCxnSpPr/>
          <p:nvPr/>
        </p:nvCxnSpPr>
        <p:spPr>
          <a:xfrm>
            <a:off x="1008464" y="1886331"/>
            <a:ext cx="8948" cy="5655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Worker inference icon: tee / 24"/>
          <p:cNvCxnSpPr/>
          <p:nvPr/>
        </p:nvCxnSpPr>
        <p:spPr>
          <a:xfrm>
            <a:off x="1017412" y="1891986"/>
            <a:ext cx="7139" cy="7918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Worker inference icon: tee / 25"/>
          <p:cNvCxnSpPr/>
          <p:nvPr/>
        </p:nvCxnSpPr>
        <p:spPr>
          <a:xfrm>
            <a:off x="1024551" y="1899904"/>
            <a:ext cx="4725" cy="10179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Worker inference icon: tee / 26"/>
          <p:cNvCxnSpPr/>
          <p:nvPr/>
        </p:nvCxnSpPr>
        <p:spPr>
          <a:xfrm>
            <a:off x="1029276" y="1910083"/>
            <a:ext cx="1710" cy="12443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Worker inference icon: tee / 27"/>
          <p:cNvCxnSpPr/>
          <p:nvPr/>
        </p:nvCxnSpPr>
        <p:spPr>
          <a:xfrm>
            <a:off x="1030986" y="1922526"/>
            <a:ext cx="0" cy="32575"/>
          </a:xfrm>
          <a:prstGeom prst="line">
            <a:avLst/>
          </a:prstGeom>
          <a:ln w="12065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Worker inference icon: tee / 28"/>
          <p:cNvSpPr/>
          <p:nvPr/>
        </p:nvSpPr>
        <p:spPr>
          <a:xfrm>
            <a:off x="933259" y="1944243"/>
            <a:ext cx="108585" cy="86868"/>
          </a:xfrm>
          <a:prstGeom prst="roundRect">
            <a:avLst/>
          </a:prstGeom>
          <a:solidFill>
            <a:srgbClr val="F7F9FA"/>
          </a:solidFill>
          <a:ln w="15416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Worker inference: Worker 0 · TEE"/>
          <p:cNvSpPr txBox="1"/>
          <p:nvPr/>
        </p:nvSpPr>
        <p:spPr>
          <a:xfrm>
            <a:off x="1307592" y="1755648"/>
            <a:ext cx="312724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263440"/>
                </a:solidFill>
                <a:latin typeface="Arial"/>
              </a:rPr>
              <a:t>Worker 0 · TEE</a:t>
            </a:r>
          </a:p>
        </p:txBody>
      </p:sp>
      <p:sp>
        <p:nvSpPr>
          <p:cNvPr id="43" name="Worker inference: One protected application"/>
          <p:cNvSpPr txBox="1"/>
          <p:nvPr/>
        </p:nvSpPr>
        <p:spPr>
          <a:xfrm>
            <a:off x="4809744" y="1773936"/>
            <a:ext cx="328269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lang="en-US">
                <a:solidFill>
                  <a:srgbClr val="67747C"/>
                </a:solidFill>
                <a:latin typeface="Arial"/>
              </a:rPr>
              <a:t>One protected application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" y="2304288"/>
            <a:ext cx="7324344" cy="2404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Worker inference: ONE dfl-worker CONTAINER · ONE IMAGE DIGEST"/>
          <p:cNvSpPr txBox="1"/>
          <p:nvPr/>
        </p:nvSpPr>
        <p:spPr>
          <a:xfrm>
            <a:off x="1033271" y="2441448"/>
            <a:ext cx="69402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263440"/>
                </a:solidFill>
                <a:latin typeface="Arial"/>
              </a:rPr>
              <a:t>ONE dfl-worker CONTAINER · ONE IMAGE DIGEST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69848" y="2907792"/>
            <a:ext cx="2880360" cy="850392"/>
          </a:xfrm>
          <a:prstGeom prst="roundRect">
            <a:avLst/>
          </a:prstGeom>
          <a:solidFill>
            <a:srgbClr val="EDF6F0"/>
          </a:solidFill>
          <a:ln w="1524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Worker inference: DFL"/>
          <p:cNvSpPr txBox="1"/>
          <p:nvPr/>
        </p:nvSpPr>
        <p:spPr>
          <a:xfrm>
            <a:off x="1197864" y="2971800"/>
            <a:ext cx="26243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lang="en-US">
                <a:solidFill>
                  <a:srgbClr val="207548"/>
                </a:solidFill>
                <a:latin typeface="Arial"/>
              </a:rPr>
              <a:t>DFL</a:t>
            </a:r>
          </a:p>
        </p:txBody>
      </p:sp>
      <p:sp>
        <p:nvSpPr>
          <p:cNvPr id="48" name="Worker inference: Train · aggregate · publish"/>
          <p:cNvSpPr txBox="1"/>
          <p:nvPr/>
        </p:nvSpPr>
        <p:spPr>
          <a:xfrm>
            <a:off x="1179576" y="3383280"/>
            <a:ext cx="26609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0" lang="en-US">
                <a:solidFill>
                  <a:srgbClr val="263440"/>
                </a:solidFill>
                <a:latin typeface="Arial"/>
              </a:rPr>
              <a:t>Train · aggregate · publish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54296" y="2907792"/>
            <a:ext cx="3255264" cy="850392"/>
          </a:xfrm>
          <a:prstGeom prst="roundRect">
            <a:avLst/>
          </a:prstGeom>
          <a:solidFill>
            <a:srgbClr val="EDF4FA"/>
          </a:solidFill>
          <a:ln w="1524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Worker inference: Inference"/>
          <p:cNvSpPr txBox="1"/>
          <p:nvPr/>
        </p:nvSpPr>
        <p:spPr>
          <a:xfrm>
            <a:off x="4809744" y="2971800"/>
            <a:ext cx="29443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lang="en-US">
                <a:solidFill>
                  <a:srgbClr val="1764A1"/>
                </a:solidFill>
                <a:latin typeface="Arial"/>
              </a:rPr>
              <a:t>Inference</a:t>
            </a:r>
          </a:p>
        </p:txBody>
      </p:sp>
      <p:sp>
        <p:nvSpPr>
          <p:cNvPr id="51" name="Worker inference: Load model · predict · sign"/>
          <p:cNvSpPr txBox="1"/>
          <p:nvPr/>
        </p:nvSpPr>
        <p:spPr>
          <a:xfrm>
            <a:off x="4791456" y="3383280"/>
            <a:ext cx="298094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0" lang="en-US">
                <a:solidFill>
                  <a:srgbClr val="263440"/>
                </a:solidFill>
                <a:latin typeface="Arial"/>
              </a:rPr>
              <a:t>Load model · predict · sign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69848" y="4114800"/>
            <a:ext cx="6839712" cy="393192"/>
          </a:xfrm>
          <a:prstGeom prst="roundRect">
            <a:avLst/>
          </a:prstGeom>
          <a:solidFill>
            <a:srgbClr val="F3EEF8"/>
          </a:solidFill>
          <a:ln w="1524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43584" y="4244644"/>
            <a:ext cx="161300" cy="161300"/>
          </a:xfrm>
          <a:prstGeom prst="ellipse">
            <a:avLst/>
          </a:prstGeom>
          <a:solidFill>
            <a:srgbClr val="F3EEF8"/>
          </a:solidFill>
          <a:ln w="2032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401043" y="4325294"/>
            <a:ext cx="203546" cy="0"/>
          </a:xfrm>
          <a:prstGeom prst="line">
            <a:avLst/>
          </a:prstGeom>
          <a:ln w="2540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23939" y="4325294"/>
            <a:ext cx="0" cy="92172"/>
          </a:xfrm>
          <a:prstGeom prst="line">
            <a:avLst/>
          </a:prstGeom>
          <a:ln w="2540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93067" y="4325294"/>
            <a:ext cx="0" cy="92172"/>
          </a:xfrm>
          <a:prstGeom prst="line">
            <a:avLst/>
          </a:prstGeom>
          <a:ln w="2540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Worker inference: Shared RSA key · separate signing keys"/>
          <p:cNvSpPr txBox="1"/>
          <p:nvPr/>
        </p:nvSpPr>
        <p:spPr>
          <a:xfrm>
            <a:off x="1819656" y="4151376"/>
            <a:ext cx="592531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lang="en-US">
                <a:solidFill>
                  <a:srgbClr val="7446A6"/>
                </a:solidFill>
                <a:latin typeface="Arial"/>
              </a:rPr>
              <a:t>Shared RSA key · separate signing keys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2505456" y="3794759"/>
            <a:ext cx="0" cy="292609"/>
          </a:xfrm>
          <a:prstGeom prst="line">
            <a:avLst/>
          </a:prstGeom>
          <a:ln w="2286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281928" y="3794759"/>
            <a:ext cx="0" cy="292609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784080" y="2880360"/>
            <a:ext cx="1810512" cy="1024128"/>
          </a:xfrm>
          <a:prstGeom prst="roundRect">
            <a:avLst/>
          </a:prstGeom>
          <a:solidFill>
            <a:srgbClr val="EDF4FA"/>
          </a:solidFill>
          <a:ln w="1524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Worker inference icon: agent / 1"/>
          <p:cNvCxnSpPr/>
          <p:nvPr/>
        </p:nvCxnSpPr>
        <p:spPr>
          <a:xfrm>
            <a:off x="10671048" y="3054095"/>
            <a:ext cx="0" cy="57150"/>
          </a:xfrm>
          <a:prstGeom prst="line">
            <a:avLst/>
          </a:prstGeom>
          <a:ln w="16227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Worker inference icon: agent / 2"/>
          <p:cNvSpPr/>
          <p:nvPr/>
        </p:nvSpPr>
        <p:spPr>
          <a:xfrm>
            <a:off x="10653903" y="3025520"/>
            <a:ext cx="34290" cy="34290"/>
          </a:xfrm>
          <a:prstGeom prst="ellipse">
            <a:avLst/>
          </a:prstGeom>
          <a:solidFill>
            <a:srgbClr val="1764A1"/>
          </a:solidFill>
          <a:ln w="16227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Worker inference icon: agent / 3"/>
          <p:cNvSpPr/>
          <p:nvPr/>
        </p:nvSpPr>
        <p:spPr>
          <a:xfrm>
            <a:off x="10533888" y="3111245"/>
            <a:ext cx="274320" cy="228600"/>
          </a:xfrm>
          <a:prstGeom prst="roundRect">
            <a:avLst/>
          </a:prstGeom>
          <a:solidFill>
            <a:srgbClr val="EDF4FA"/>
          </a:solidFill>
          <a:ln w="16227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Worker inference icon: agent / 4"/>
          <p:cNvCxnSpPr/>
          <p:nvPr/>
        </p:nvCxnSpPr>
        <p:spPr>
          <a:xfrm>
            <a:off x="10499598" y="3179826"/>
            <a:ext cx="0" cy="80010"/>
          </a:xfrm>
          <a:prstGeom prst="line">
            <a:avLst/>
          </a:prstGeom>
          <a:ln w="16227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Worker inference icon: agent / 5"/>
          <p:cNvCxnSpPr/>
          <p:nvPr/>
        </p:nvCxnSpPr>
        <p:spPr>
          <a:xfrm>
            <a:off x="10842498" y="3179826"/>
            <a:ext cx="0" cy="80010"/>
          </a:xfrm>
          <a:prstGeom prst="line">
            <a:avLst/>
          </a:prstGeom>
          <a:ln w="16227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Worker inference icon: agent / 6"/>
          <p:cNvSpPr/>
          <p:nvPr/>
        </p:nvSpPr>
        <p:spPr>
          <a:xfrm>
            <a:off x="10591038" y="3179826"/>
            <a:ext cx="34290" cy="34290"/>
          </a:xfrm>
          <a:prstGeom prst="ellipse">
            <a:avLst/>
          </a:prstGeom>
          <a:solidFill>
            <a:srgbClr val="1764A1"/>
          </a:solidFill>
          <a:ln w="16227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Worker inference icon: agent / 7"/>
          <p:cNvSpPr/>
          <p:nvPr/>
        </p:nvSpPr>
        <p:spPr>
          <a:xfrm>
            <a:off x="10716768" y="3179826"/>
            <a:ext cx="34290" cy="34290"/>
          </a:xfrm>
          <a:prstGeom prst="ellipse">
            <a:avLst/>
          </a:prstGeom>
          <a:solidFill>
            <a:srgbClr val="1764A1"/>
          </a:solidFill>
          <a:ln w="16227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Worker inference icon: agent / 8"/>
          <p:cNvCxnSpPr/>
          <p:nvPr/>
        </p:nvCxnSpPr>
        <p:spPr>
          <a:xfrm>
            <a:off x="10613898" y="3282696"/>
            <a:ext cx="114300" cy="0"/>
          </a:xfrm>
          <a:prstGeom prst="line">
            <a:avLst/>
          </a:prstGeom>
          <a:ln w="16227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Worker inference: Agent"/>
          <p:cNvSpPr txBox="1"/>
          <p:nvPr/>
        </p:nvSpPr>
        <p:spPr>
          <a:xfrm>
            <a:off x="9912096" y="3429000"/>
            <a:ext cx="15544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lang="en-US">
                <a:solidFill>
                  <a:srgbClr val="1764A1"/>
                </a:solidFill>
                <a:latin typeface="Arial"/>
              </a:rPr>
              <a:t>Agent</a:t>
            </a:r>
          </a:p>
        </p:txBody>
      </p:sp>
      <p:cxnSp>
        <p:nvCxnSpPr>
          <p:cNvPr id="70" name="Connector 69"/>
          <p:cNvCxnSpPr/>
          <p:nvPr/>
        </p:nvCxnSpPr>
        <p:spPr>
          <a:xfrm flipV="1">
            <a:off x="10680192" y="2176272"/>
            <a:ext cx="0" cy="658368"/>
          </a:xfrm>
          <a:prstGeom prst="line">
            <a:avLst/>
          </a:prstGeom>
          <a:ln w="2540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8915400" y="2176272"/>
            <a:ext cx="1764792" cy="0"/>
          </a:xfrm>
          <a:prstGeom prst="line">
            <a:avLst/>
          </a:prstGeom>
          <a:ln w="2540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915400" y="2176272"/>
            <a:ext cx="0" cy="850392"/>
          </a:xfrm>
          <a:prstGeom prst="line">
            <a:avLst/>
          </a:prstGeom>
          <a:ln w="2540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7946136" y="3026664"/>
            <a:ext cx="969264" cy="0"/>
          </a:xfrm>
          <a:prstGeom prst="line">
            <a:avLst/>
          </a:prstGeom>
          <a:ln w="2540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Worker inference: MCP Tool request"/>
          <p:cNvSpPr txBox="1"/>
          <p:nvPr/>
        </p:nvSpPr>
        <p:spPr>
          <a:xfrm>
            <a:off x="8769096" y="1737360"/>
            <a:ext cx="28254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MCP Tool request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946136" y="3648455"/>
            <a:ext cx="1792224" cy="0"/>
          </a:xfrm>
          <a:prstGeom prst="line">
            <a:avLst/>
          </a:prstGeom>
          <a:ln w="2540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Worker inference: Result + / evidence"/>
          <p:cNvSpPr txBox="1"/>
          <p:nvPr/>
        </p:nvSpPr>
        <p:spPr>
          <a:xfrm>
            <a:off x="8549640" y="3108960"/>
            <a:ext cx="11704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lang="en-US">
                <a:solidFill>
                  <a:srgbClr val="1764A1"/>
                </a:solidFill>
                <a:latin typeface="Arial"/>
              </a:rPr>
              <a:t>Result +
evidence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784080" y="4370832"/>
            <a:ext cx="1810512" cy="594360"/>
          </a:xfrm>
          <a:prstGeom prst="roundRect">
            <a:avLst/>
          </a:prstGeom>
          <a:solidFill>
            <a:srgbClr val="F3EEF8"/>
          </a:solidFill>
          <a:ln w="1524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Worker inference: Transparency / Log"/>
          <p:cNvSpPr txBox="1"/>
          <p:nvPr/>
        </p:nvSpPr>
        <p:spPr>
          <a:xfrm>
            <a:off x="9866376" y="4416552"/>
            <a:ext cx="1645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lang="en-US">
                <a:solidFill>
                  <a:srgbClr val="7446A6"/>
                </a:solidFill>
                <a:latin typeface="Arial"/>
              </a:rPr>
              <a:t>Transparency
Log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0680192" y="3950208"/>
            <a:ext cx="0" cy="374904"/>
          </a:xfrm>
          <a:prstGeom prst="line">
            <a:avLst/>
          </a:prstGeom>
          <a:ln w="2286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Worker inference: AIR"/>
          <p:cNvSpPr txBox="1"/>
          <p:nvPr/>
        </p:nvSpPr>
        <p:spPr>
          <a:xfrm>
            <a:off x="10835640" y="4023360"/>
            <a:ext cx="6126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0" lang="en-US">
                <a:solidFill>
                  <a:srgbClr val="7446A6"/>
                </a:solidFill>
                <a:latin typeface="Arial"/>
              </a:rPr>
              <a:t>AIR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726679" y="3794759"/>
            <a:ext cx="0" cy="146305"/>
          </a:xfrm>
          <a:prstGeom prst="line">
            <a:avLst/>
          </a:prstGeom>
          <a:ln w="2286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941064"/>
            <a:ext cx="960121" cy="0"/>
          </a:xfrm>
          <a:prstGeom prst="line">
            <a:avLst/>
          </a:prstGeom>
          <a:ln w="2286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686800" y="3941064"/>
            <a:ext cx="0" cy="726948"/>
          </a:xfrm>
          <a:prstGeom prst="line">
            <a:avLst/>
          </a:prstGeom>
          <a:ln w="2286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686800" y="4668012"/>
            <a:ext cx="1051560" cy="0"/>
          </a:xfrm>
          <a:prstGeom prst="line">
            <a:avLst/>
          </a:prstGeom>
          <a:ln w="2286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Worker inference: Sello"/>
          <p:cNvSpPr txBox="1"/>
          <p:nvPr/>
        </p:nvSpPr>
        <p:spPr>
          <a:xfrm>
            <a:off x="8732520" y="4325112"/>
            <a:ext cx="96926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lang="en-US">
                <a:solidFill>
                  <a:srgbClr val="7446A6"/>
                </a:solidFill>
                <a:latin typeface="Arial"/>
              </a:rPr>
              <a:t>Sello</a:t>
            </a:r>
          </a:p>
        </p:txBody>
      </p:sp>
      <p:sp>
        <p:nvSpPr>
          <p:cNvPr id="86" name="Worker inference: No private keys sent to the agent"/>
          <p:cNvSpPr txBox="1"/>
          <p:nvPr/>
        </p:nvSpPr>
        <p:spPr>
          <a:xfrm>
            <a:off x="594360" y="5285232"/>
            <a:ext cx="110002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lang="en-US">
                <a:solidFill>
                  <a:srgbClr val="1764A1"/>
                </a:solidFill>
                <a:latin typeface="Arial"/>
              </a:rPr>
              <a:t>No private keys sent to the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Inference uses the worker’s keys inside the same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93392" y="1472184"/>
            <a:ext cx="7982712" cy="371246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Worker inference icon: tee / 1"/>
          <p:cNvCxnSpPr/>
          <p:nvPr/>
        </p:nvCxnSpPr>
        <p:spPr>
          <a:xfrm>
            <a:off x="2324290" y="1622488"/>
            <a:ext cx="0" cy="44577"/>
          </a:xfrm>
          <a:prstGeom prst="line">
            <a:avLst/>
          </a:prstGeom>
          <a:ln w="1582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Worker inference icon: tee / 2"/>
          <p:cNvCxnSpPr/>
          <p:nvPr/>
        </p:nvCxnSpPr>
        <p:spPr>
          <a:xfrm>
            <a:off x="2324290" y="1889950"/>
            <a:ext cx="0" cy="44577"/>
          </a:xfrm>
          <a:prstGeom prst="line">
            <a:avLst/>
          </a:prstGeom>
          <a:ln w="1582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Worker inference icon: tee / 3"/>
          <p:cNvCxnSpPr/>
          <p:nvPr/>
        </p:nvCxnSpPr>
        <p:spPr>
          <a:xfrm>
            <a:off x="2235136" y="1711642"/>
            <a:ext cx="44577" cy="0"/>
          </a:xfrm>
          <a:prstGeom prst="line">
            <a:avLst/>
          </a:prstGeom>
          <a:ln w="1582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Worker inference icon: tee / 4"/>
          <p:cNvCxnSpPr/>
          <p:nvPr/>
        </p:nvCxnSpPr>
        <p:spPr>
          <a:xfrm>
            <a:off x="2502598" y="1711642"/>
            <a:ext cx="44577" cy="0"/>
          </a:xfrm>
          <a:prstGeom prst="line">
            <a:avLst/>
          </a:prstGeom>
          <a:ln w="1582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Worker inference icon: tee / 5"/>
          <p:cNvCxnSpPr/>
          <p:nvPr/>
        </p:nvCxnSpPr>
        <p:spPr>
          <a:xfrm>
            <a:off x="2391156" y="1622488"/>
            <a:ext cx="0" cy="44577"/>
          </a:xfrm>
          <a:prstGeom prst="line">
            <a:avLst/>
          </a:prstGeom>
          <a:ln w="1582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Worker inference icon: tee / 6"/>
          <p:cNvCxnSpPr/>
          <p:nvPr/>
        </p:nvCxnSpPr>
        <p:spPr>
          <a:xfrm>
            <a:off x="2391156" y="1889950"/>
            <a:ext cx="0" cy="44577"/>
          </a:xfrm>
          <a:prstGeom prst="line">
            <a:avLst/>
          </a:prstGeom>
          <a:ln w="1582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Worker inference icon: tee / 7"/>
          <p:cNvCxnSpPr/>
          <p:nvPr/>
        </p:nvCxnSpPr>
        <p:spPr>
          <a:xfrm>
            <a:off x="2235136" y="1778508"/>
            <a:ext cx="44577" cy="0"/>
          </a:xfrm>
          <a:prstGeom prst="line">
            <a:avLst/>
          </a:prstGeom>
          <a:ln w="1582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Worker inference icon: tee / 8"/>
          <p:cNvCxnSpPr/>
          <p:nvPr/>
        </p:nvCxnSpPr>
        <p:spPr>
          <a:xfrm>
            <a:off x="2502598" y="1778508"/>
            <a:ext cx="44577" cy="0"/>
          </a:xfrm>
          <a:prstGeom prst="line">
            <a:avLst/>
          </a:prstGeom>
          <a:ln w="1582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Worker inference icon: tee / 9"/>
          <p:cNvCxnSpPr/>
          <p:nvPr/>
        </p:nvCxnSpPr>
        <p:spPr>
          <a:xfrm>
            <a:off x="2458021" y="1622488"/>
            <a:ext cx="0" cy="44577"/>
          </a:xfrm>
          <a:prstGeom prst="line">
            <a:avLst/>
          </a:prstGeom>
          <a:ln w="1582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Worker inference icon: tee / 10"/>
          <p:cNvCxnSpPr/>
          <p:nvPr/>
        </p:nvCxnSpPr>
        <p:spPr>
          <a:xfrm>
            <a:off x="2458021" y="1889950"/>
            <a:ext cx="0" cy="44577"/>
          </a:xfrm>
          <a:prstGeom prst="line">
            <a:avLst/>
          </a:prstGeom>
          <a:ln w="1582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Worker inference icon: tee / 11"/>
          <p:cNvCxnSpPr/>
          <p:nvPr/>
        </p:nvCxnSpPr>
        <p:spPr>
          <a:xfrm>
            <a:off x="2235136" y="1845373"/>
            <a:ext cx="44577" cy="0"/>
          </a:xfrm>
          <a:prstGeom prst="line">
            <a:avLst/>
          </a:prstGeom>
          <a:ln w="1582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Worker inference icon: tee / 12"/>
          <p:cNvCxnSpPr/>
          <p:nvPr/>
        </p:nvCxnSpPr>
        <p:spPr>
          <a:xfrm>
            <a:off x="2502598" y="1845373"/>
            <a:ext cx="44577" cy="0"/>
          </a:xfrm>
          <a:prstGeom prst="line">
            <a:avLst/>
          </a:prstGeom>
          <a:ln w="1582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Worker inference icon: tee / 13"/>
          <p:cNvSpPr/>
          <p:nvPr/>
        </p:nvSpPr>
        <p:spPr>
          <a:xfrm>
            <a:off x="2279713" y="1667065"/>
            <a:ext cx="222885" cy="222885"/>
          </a:xfrm>
          <a:prstGeom prst="roundRect">
            <a:avLst/>
          </a:prstGeom>
          <a:solidFill>
            <a:srgbClr val="FFFFFF"/>
          </a:solidFill>
          <a:ln w="15822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Worker inference icon: tee / 14"/>
          <p:cNvCxnSpPr/>
          <p:nvPr/>
        </p:nvCxnSpPr>
        <p:spPr>
          <a:xfrm flipV="1">
            <a:off x="2346579" y="1733931"/>
            <a:ext cx="0" cy="33432"/>
          </a:xfrm>
          <a:prstGeom prst="line">
            <a:avLst/>
          </a:prstGeom>
          <a:ln w="1238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Worker inference icon: tee / 15"/>
          <p:cNvCxnSpPr/>
          <p:nvPr/>
        </p:nvCxnSpPr>
        <p:spPr>
          <a:xfrm flipV="1">
            <a:off x="2346579" y="1721161"/>
            <a:ext cx="1754" cy="12770"/>
          </a:xfrm>
          <a:prstGeom prst="line">
            <a:avLst/>
          </a:prstGeom>
          <a:ln w="1238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Worker inference icon: tee / 16"/>
          <p:cNvCxnSpPr/>
          <p:nvPr/>
        </p:nvCxnSpPr>
        <p:spPr>
          <a:xfrm flipV="1">
            <a:off x="2348333" y="1710713"/>
            <a:ext cx="4850" cy="10448"/>
          </a:xfrm>
          <a:prstGeom prst="line">
            <a:avLst/>
          </a:prstGeom>
          <a:ln w="1238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Worker inference icon: tee / 17"/>
          <p:cNvCxnSpPr/>
          <p:nvPr/>
        </p:nvCxnSpPr>
        <p:spPr>
          <a:xfrm flipV="1">
            <a:off x="2353183" y="1702587"/>
            <a:ext cx="7326" cy="8126"/>
          </a:xfrm>
          <a:prstGeom prst="line">
            <a:avLst/>
          </a:prstGeom>
          <a:ln w="1238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Worker inference icon: tee / 18"/>
          <p:cNvCxnSpPr/>
          <p:nvPr/>
        </p:nvCxnSpPr>
        <p:spPr>
          <a:xfrm flipV="1">
            <a:off x="2360509" y="1696783"/>
            <a:ext cx="9184" cy="5804"/>
          </a:xfrm>
          <a:prstGeom prst="line">
            <a:avLst/>
          </a:prstGeom>
          <a:ln w="1238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Worker inference icon: tee / 19"/>
          <p:cNvCxnSpPr/>
          <p:nvPr/>
        </p:nvCxnSpPr>
        <p:spPr>
          <a:xfrm flipV="1">
            <a:off x="2369693" y="1693300"/>
            <a:ext cx="10421" cy="3483"/>
          </a:xfrm>
          <a:prstGeom prst="line">
            <a:avLst/>
          </a:prstGeom>
          <a:ln w="1238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Worker inference icon: tee / 20"/>
          <p:cNvCxnSpPr/>
          <p:nvPr/>
        </p:nvCxnSpPr>
        <p:spPr>
          <a:xfrm flipV="1">
            <a:off x="2380114" y="1692140"/>
            <a:ext cx="11042" cy="1160"/>
          </a:xfrm>
          <a:prstGeom prst="line">
            <a:avLst/>
          </a:prstGeom>
          <a:ln w="1238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Worker inference icon: tee / 21"/>
          <p:cNvCxnSpPr/>
          <p:nvPr/>
        </p:nvCxnSpPr>
        <p:spPr>
          <a:xfrm>
            <a:off x="2391156" y="1692140"/>
            <a:ext cx="11041" cy="1160"/>
          </a:xfrm>
          <a:prstGeom prst="line">
            <a:avLst/>
          </a:prstGeom>
          <a:ln w="1238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Worker inference icon: tee / 22"/>
          <p:cNvCxnSpPr/>
          <p:nvPr/>
        </p:nvCxnSpPr>
        <p:spPr>
          <a:xfrm>
            <a:off x="2402197" y="1693300"/>
            <a:ext cx="10422" cy="3483"/>
          </a:xfrm>
          <a:prstGeom prst="line">
            <a:avLst/>
          </a:prstGeom>
          <a:ln w="1238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Worker inference icon: tee / 23"/>
          <p:cNvCxnSpPr/>
          <p:nvPr/>
        </p:nvCxnSpPr>
        <p:spPr>
          <a:xfrm>
            <a:off x="2412619" y="1696783"/>
            <a:ext cx="9183" cy="5804"/>
          </a:xfrm>
          <a:prstGeom prst="line">
            <a:avLst/>
          </a:prstGeom>
          <a:ln w="1238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Worker inference icon: tee / 24"/>
          <p:cNvCxnSpPr/>
          <p:nvPr/>
        </p:nvCxnSpPr>
        <p:spPr>
          <a:xfrm>
            <a:off x="2421802" y="1702587"/>
            <a:ext cx="7327" cy="8126"/>
          </a:xfrm>
          <a:prstGeom prst="line">
            <a:avLst/>
          </a:prstGeom>
          <a:ln w="1238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Worker inference icon: tee / 25"/>
          <p:cNvCxnSpPr/>
          <p:nvPr/>
        </p:nvCxnSpPr>
        <p:spPr>
          <a:xfrm>
            <a:off x="2429129" y="1710713"/>
            <a:ext cx="4849" cy="10448"/>
          </a:xfrm>
          <a:prstGeom prst="line">
            <a:avLst/>
          </a:prstGeom>
          <a:ln w="1238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Worker inference icon: tee / 26"/>
          <p:cNvCxnSpPr/>
          <p:nvPr/>
        </p:nvCxnSpPr>
        <p:spPr>
          <a:xfrm>
            <a:off x="2433978" y="1721161"/>
            <a:ext cx="1755" cy="12770"/>
          </a:xfrm>
          <a:prstGeom prst="line">
            <a:avLst/>
          </a:prstGeom>
          <a:ln w="1238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Worker inference icon: tee / 27"/>
          <p:cNvCxnSpPr/>
          <p:nvPr/>
        </p:nvCxnSpPr>
        <p:spPr>
          <a:xfrm>
            <a:off x="2435733" y="1733931"/>
            <a:ext cx="0" cy="33432"/>
          </a:xfrm>
          <a:prstGeom prst="line">
            <a:avLst/>
          </a:prstGeom>
          <a:ln w="1238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Worker inference icon: tee / 28"/>
          <p:cNvSpPr/>
          <p:nvPr/>
        </p:nvSpPr>
        <p:spPr>
          <a:xfrm>
            <a:off x="2335434" y="1756219"/>
            <a:ext cx="111442" cy="89154"/>
          </a:xfrm>
          <a:prstGeom prst="roundRect">
            <a:avLst/>
          </a:prstGeom>
          <a:solidFill>
            <a:srgbClr val="FFFFFF"/>
          </a:solidFill>
          <a:ln w="15822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Worker inference: WORKER 0 · ONE TEE"/>
          <p:cNvSpPr txBox="1"/>
          <p:nvPr/>
        </p:nvSpPr>
        <p:spPr>
          <a:xfrm>
            <a:off x="2697480" y="161848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263440"/>
                </a:solidFill>
                <a:latin typeface="Arial"/>
              </a:rPr>
              <a:t>WORKER 0 · ONE TEE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21992" y="2039112"/>
            <a:ext cx="7525512" cy="2889504"/>
          </a:xfrm>
          <a:prstGeom prst="roundRect">
            <a:avLst/>
          </a:prstGeom>
          <a:solidFill>
            <a:srgbClr val="F8FBFE"/>
          </a:solidFill>
          <a:ln w="1905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Worker inference: ONE dfl-worker IMAGE · one verified Digest"/>
          <p:cNvSpPr txBox="1"/>
          <p:nvPr/>
        </p:nvSpPr>
        <p:spPr>
          <a:xfrm>
            <a:off x="2423160" y="2167128"/>
            <a:ext cx="712317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ONE dfl-worker IMAGE · one verified Digest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96312" y="2706624"/>
            <a:ext cx="1984248" cy="530352"/>
          </a:xfrm>
          <a:prstGeom prst="roundRect">
            <a:avLst/>
          </a:prstGeom>
          <a:solidFill>
            <a:srgbClr val="EDF6F0"/>
          </a:solidFill>
          <a:ln w="1524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Worker inference: Training"/>
          <p:cNvSpPr txBox="1"/>
          <p:nvPr/>
        </p:nvSpPr>
        <p:spPr>
          <a:xfrm>
            <a:off x="2569464" y="2807208"/>
            <a:ext cx="1837943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207548"/>
                </a:solidFill>
                <a:latin typeface="Arial"/>
              </a:rPr>
              <a:t>Training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488436" y="3264408"/>
            <a:ext cx="0" cy="265176"/>
          </a:xfrm>
          <a:prstGeom prst="line">
            <a:avLst/>
          </a:prstGeom>
          <a:ln w="2286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Worker inference: Native inference process"/>
          <p:cNvSpPr txBox="1"/>
          <p:nvPr/>
        </p:nvSpPr>
        <p:spPr>
          <a:xfrm>
            <a:off x="4764024" y="2779776"/>
            <a:ext cx="465429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1764A1"/>
                </a:solidFill>
                <a:latin typeface="Arial"/>
              </a:rPr>
              <a:t>Native inference process</a:t>
            </a:r>
          </a:p>
        </p:txBody>
      </p:sp>
      <p:cxnSp>
        <p:nvCxnSpPr>
          <p:cNvPr id="49" name="Worker inference icon: encryption / 1"/>
          <p:cNvCxnSpPr/>
          <p:nvPr/>
        </p:nvCxnSpPr>
        <p:spPr>
          <a:xfrm flipV="1">
            <a:off x="1054417" y="2918078"/>
            <a:ext cx="0" cy="82868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Worker inference icon: encryption / 2"/>
          <p:cNvCxnSpPr/>
          <p:nvPr/>
        </p:nvCxnSpPr>
        <p:spPr>
          <a:xfrm flipV="1">
            <a:off x="1054417" y="2880098"/>
            <a:ext cx="4565" cy="37980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Worker inference icon: encryption / 3"/>
          <p:cNvCxnSpPr/>
          <p:nvPr/>
        </p:nvCxnSpPr>
        <p:spPr>
          <a:xfrm flipV="1">
            <a:off x="1058982" y="2849022"/>
            <a:ext cx="12622" cy="31076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Worker inference icon: encryption / 4"/>
          <p:cNvCxnSpPr/>
          <p:nvPr/>
        </p:nvCxnSpPr>
        <p:spPr>
          <a:xfrm flipV="1">
            <a:off x="1071604" y="2824853"/>
            <a:ext cx="19068" cy="24169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Worker inference icon: encryption / 5"/>
          <p:cNvCxnSpPr/>
          <p:nvPr/>
        </p:nvCxnSpPr>
        <p:spPr>
          <a:xfrm flipV="1">
            <a:off x="1090672" y="2807589"/>
            <a:ext cx="23901" cy="17264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Worker inference icon: encryption / 6"/>
          <p:cNvCxnSpPr/>
          <p:nvPr/>
        </p:nvCxnSpPr>
        <p:spPr>
          <a:xfrm flipV="1">
            <a:off x="1114573" y="2797230"/>
            <a:ext cx="27123" cy="10359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Worker inference icon: encryption / 7"/>
          <p:cNvCxnSpPr/>
          <p:nvPr/>
        </p:nvCxnSpPr>
        <p:spPr>
          <a:xfrm flipV="1">
            <a:off x="1141696" y="2793777"/>
            <a:ext cx="28736" cy="3453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Worker inference icon: encryption / 8"/>
          <p:cNvCxnSpPr/>
          <p:nvPr/>
        </p:nvCxnSpPr>
        <p:spPr>
          <a:xfrm>
            <a:off x="1170432" y="2793777"/>
            <a:ext cx="28735" cy="3453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Worker inference icon: encryption / 9"/>
          <p:cNvCxnSpPr/>
          <p:nvPr/>
        </p:nvCxnSpPr>
        <p:spPr>
          <a:xfrm>
            <a:off x="1199167" y="2797230"/>
            <a:ext cx="27123" cy="10359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Worker inference icon: encryption / 10"/>
          <p:cNvCxnSpPr/>
          <p:nvPr/>
        </p:nvCxnSpPr>
        <p:spPr>
          <a:xfrm>
            <a:off x="1226290" y="2807589"/>
            <a:ext cx="23901" cy="17264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Worker inference icon: encryption / 11"/>
          <p:cNvCxnSpPr/>
          <p:nvPr/>
        </p:nvCxnSpPr>
        <p:spPr>
          <a:xfrm>
            <a:off x="1250191" y="2824853"/>
            <a:ext cx="19068" cy="24169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Worker inference icon: encryption / 12"/>
          <p:cNvCxnSpPr/>
          <p:nvPr/>
        </p:nvCxnSpPr>
        <p:spPr>
          <a:xfrm>
            <a:off x="1269259" y="2849022"/>
            <a:ext cx="12622" cy="31076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Worker inference icon: encryption / 13"/>
          <p:cNvCxnSpPr/>
          <p:nvPr/>
        </p:nvCxnSpPr>
        <p:spPr>
          <a:xfrm>
            <a:off x="1281881" y="2880098"/>
            <a:ext cx="4565" cy="37980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Worker inference icon: encryption / 14"/>
          <p:cNvCxnSpPr/>
          <p:nvPr/>
        </p:nvCxnSpPr>
        <p:spPr>
          <a:xfrm>
            <a:off x="1286446" y="2918078"/>
            <a:ext cx="0" cy="82868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Worker inference icon: encryption / 15"/>
          <p:cNvSpPr/>
          <p:nvPr/>
        </p:nvSpPr>
        <p:spPr>
          <a:xfrm>
            <a:off x="988123" y="2967799"/>
            <a:ext cx="364617" cy="265176"/>
          </a:xfrm>
          <a:prstGeom prst="roundRect">
            <a:avLst/>
          </a:prstGeom>
          <a:solidFill>
            <a:srgbClr val="FFFFFF"/>
          </a:solidFill>
          <a:ln w="2353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Worker inference icon: encryption / 16"/>
          <p:cNvSpPr/>
          <p:nvPr/>
        </p:nvSpPr>
        <p:spPr>
          <a:xfrm>
            <a:off x="1145571" y="3050666"/>
            <a:ext cx="49720" cy="49720"/>
          </a:xfrm>
          <a:prstGeom prst="ellipse">
            <a:avLst/>
          </a:prstGeom>
          <a:solidFill>
            <a:srgbClr val="7446A6"/>
          </a:solidFill>
          <a:ln w="2353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Worker inference icon: encryption / 17"/>
          <p:cNvCxnSpPr/>
          <p:nvPr/>
        </p:nvCxnSpPr>
        <p:spPr>
          <a:xfrm>
            <a:off x="1170432" y="3100387"/>
            <a:ext cx="0" cy="49721"/>
          </a:xfrm>
          <a:prstGeom prst="line">
            <a:avLst/>
          </a:prstGeom>
          <a:ln w="23530" cap="rnd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Worker inference: Encrypted / model"/>
          <p:cNvSpPr txBox="1"/>
          <p:nvPr/>
        </p:nvSpPr>
        <p:spPr>
          <a:xfrm>
            <a:off x="475488" y="3392424"/>
            <a:ext cx="144475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7446A6"/>
                </a:solidFill>
                <a:latin typeface="Arial"/>
              </a:rPr>
              <a:t>Encrypted
model</a:t>
            </a:r>
          </a:p>
        </p:txBody>
      </p:sp>
      <p:sp>
        <p:nvSpPr>
          <p:cNvPr id="67" name="Worker inference: + wrapped / model key"/>
          <p:cNvSpPr txBox="1"/>
          <p:nvPr/>
        </p:nvSpPr>
        <p:spPr>
          <a:xfrm>
            <a:off x="475488" y="4059936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lang="en-US">
                <a:solidFill>
                  <a:srgbClr val="67747C"/>
                </a:solidFill>
                <a:latin typeface="Arial"/>
              </a:rPr>
              <a:t>+ wrapped
model key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865376" y="3877056"/>
            <a:ext cx="566928" cy="0"/>
          </a:xfrm>
          <a:prstGeom prst="line">
            <a:avLst/>
          </a:prstGeom>
          <a:ln w="2540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2496312" y="3575304"/>
            <a:ext cx="1984248" cy="8321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Worker inference: Shared RSA key"/>
          <p:cNvSpPr txBox="1"/>
          <p:nvPr/>
        </p:nvSpPr>
        <p:spPr>
          <a:xfrm>
            <a:off x="2560320" y="3694176"/>
            <a:ext cx="1856231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207548"/>
                </a:solidFill>
                <a:latin typeface="Arial"/>
              </a:rPr>
              <a:t>Shared RSA key</a:t>
            </a:r>
          </a:p>
        </p:txBody>
      </p:sp>
      <p:sp>
        <p:nvSpPr>
          <p:cNvPr id="71" name="Worker inference: Unwrap model key"/>
          <p:cNvSpPr txBox="1"/>
          <p:nvPr/>
        </p:nvSpPr>
        <p:spPr>
          <a:xfrm>
            <a:off x="2606040" y="4050791"/>
            <a:ext cx="176479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0" lang="en-US">
                <a:solidFill>
                  <a:srgbClr val="263440"/>
                </a:solidFill>
                <a:latin typeface="Arial"/>
              </a:rPr>
              <a:t>Unwrap model key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544568" y="3986784"/>
            <a:ext cx="283464" cy="0"/>
          </a:xfrm>
          <a:prstGeom prst="line">
            <a:avLst/>
          </a:prstGeom>
          <a:ln w="2540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4892040" y="3575304"/>
            <a:ext cx="1938528" cy="8321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Worker inference: Run inference"/>
          <p:cNvSpPr txBox="1"/>
          <p:nvPr/>
        </p:nvSpPr>
        <p:spPr>
          <a:xfrm>
            <a:off x="5001768" y="3694176"/>
            <a:ext cx="171907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Run inference</a:t>
            </a:r>
          </a:p>
        </p:txBody>
      </p:sp>
      <p:sp>
        <p:nvSpPr>
          <p:cNvPr id="75" name="Worker inference: Decrypted model"/>
          <p:cNvSpPr txBox="1"/>
          <p:nvPr/>
        </p:nvSpPr>
        <p:spPr>
          <a:xfrm>
            <a:off x="5001768" y="4050791"/>
            <a:ext cx="17190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0" lang="en-US">
                <a:solidFill>
                  <a:srgbClr val="263440"/>
                </a:solidFill>
                <a:latin typeface="Arial"/>
              </a:rPr>
              <a:t>Decrypted model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894576" y="3986784"/>
            <a:ext cx="283464" cy="0"/>
          </a:xfrm>
          <a:prstGeom prst="line">
            <a:avLst/>
          </a:prstGeom>
          <a:ln w="2540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7242048" y="3575304"/>
            <a:ext cx="2194560" cy="8321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Worker inference: Sign evidence"/>
          <p:cNvSpPr txBox="1"/>
          <p:nvPr/>
        </p:nvSpPr>
        <p:spPr>
          <a:xfrm>
            <a:off x="7351775" y="3694176"/>
            <a:ext cx="197510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Sign evidence</a:t>
            </a:r>
          </a:p>
        </p:txBody>
      </p:sp>
      <p:sp>
        <p:nvSpPr>
          <p:cNvPr id="79" name="Worker inference: Ed25519 keys"/>
          <p:cNvSpPr txBox="1"/>
          <p:nvPr/>
        </p:nvSpPr>
        <p:spPr>
          <a:xfrm>
            <a:off x="7333488" y="4050791"/>
            <a:ext cx="2011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lang="en-US">
                <a:solidFill>
                  <a:srgbClr val="263440"/>
                </a:solidFill>
                <a:latin typeface="Arial"/>
              </a:rPr>
              <a:t>Ed25519 keys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491472" y="3986784"/>
            <a:ext cx="740664" cy="0"/>
          </a:xfrm>
          <a:prstGeom prst="line">
            <a:avLst/>
          </a:prstGeom>
          <a:ln w="2540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Worker inference icon: agent / 1"/>
          <p:cNvCxnSpPr/>
          <p:nvPr/>
        </p:nvCxnSpPr>
        <p:spPr>
          <a:xfrm>
            <a:off x="10945368" y="2900934"/>
            <a:ext cx="0" cy="94297"/>
          </a:xfrm>
          <a:prstGeom prst="line">
            <a:avLst/>
          </a:prstGeom>
          <a:ln w="26775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Worker inference icon: agent / 2"/>
          <p:cNvSpPr/>
          <p:nvPr/>
        </p:nvSpPr>
        <p:spPr>
          <a:xfrm>
            <a:off x="10917078" y="2853785"/>
            <a:ext cx="56578" cy="56578"/>
          </a:xfrm>
          <a:prstGeom prst="ellipse">
            <a:avLst/>
          </a:prstGeom>
          <a:solidFill>
            <a:srgbClr val="1764A1"/>
          </a:solidFill>
          <a:ln w="2677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Worker inference icon: agent / 3"/>
          <p:cNvSpPr/>
          <p:nvPr/>
        </p:nvSpPr>
        <p:spPr>
          <a:xfrm>
            <a:off x="10719054" y="2995231"/>
            <a:ext cx="452628" cy="377190"/>
          </a:xfrm>
          <a:prstGeom prst="roundRect">
            <a:avLst/>
          </a:prstGeom>
          <a:solidFill>
            <a:srgbClr val="FFFFFF"/>
          </a:solidFill>
          <a:ln w="2677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Worker inference icon: agent / 4"/>
          <p:cNvCxnSpPr/>
          <p:nvPr/>
        </p:nvCxnSpPr>
        <p:spPr>
          <a:xfrm>
            <a:off x="10662475" y="3108388"/>
            <a:ext cx="0" cy="132016"/>
          </a:xfrm>
          <a:prstGeom prst="line">
            <a:avLst/>
          </a:prstGeom>
          <a:ln w="26775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Worker inference icon: agent / 5"/>
          <p:cNvCxnSpPr/>
          <p:nvPr/>
        </p:nvCxnSpPr>
        <p:spPr>
          <a:xfrm>
            <a:off x="11228260" y="3108388"/>
            <a:ext cx="0" cy="132016"/>
          </a:xfrm>
          <a:prstGeom prst="line">
            <a:avLst/>
          </a:prstGeom>
          <a:ln w="26775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Worker inference icon: agent / 6"/>
          <p:cNvSpPr/>
          <p:nvPr/>
        </p:nvSpPr>
        <p:spPr>
          <a:xfrm>
            <a:off x="10813351" y="3108388"/>
            <a:ext cx="56578" cy="56578"/>
          </a:xfrm>
          <a:prstGeom prst="ellipse">
            <a:avLst/>
          </a:prstGeom>
          <a:solidFill>
            <a:srgbClr val="1764A1"/>
          </a:solidFill>
          <a:ln w="2677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Worker inference icon: agent / 7"/>
          <p:cNvSpPr/>
          <p:nvPr/>
        </p:nvSpPr>
        <p:spPr>
          <a:xfrm>
            <a:off x="11020806" y="3108388"/>
            <a:ext cx="56578" cy="56578"/>
          </a:xfrm>
          <a:prstGeom prst="ellipse">
            <a:avLst/>
          </a:prstGeom>
          <a:solidFill>
            <a:srgbClr val="1764A1"/>
          </a:solidFill>
          <a:ln w="2677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Worker inference icon: agent / 8"/>
          <p:cNvCxnSpPr/>
          <p:nvPr/>
        </p:nvCxnSpPr>
        <p:spPr>
          <a:xfrm>
            <a:off x="10851070" y="3278124"/>
            <a:ext cx="188595" cy="0"/>
          </a:xfrm>
          <a:prstGeom prst="line">
            <a:avLst/>
          </a:prstGeom>
          <a:ln w="26775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Worker inference: Agent"/>
          <p:cNvSpPr txBox="1"/>
          <p:nvPr/>
        </p:nvSpPr>
        <p:spPr>
          <a:xfrm>
            <a:off x="10259568" y="356616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Agent</a:t>
            </a:r>
          </a:p>
        </p:txBody>
      </p:sp>
      <p:sp>
        <p:nvSpPr>
          <p:cNvPr id="90" name="Worker inference: Prediction / + evidence"/>
          <p:cNvSpPr txBox="1"/>
          <p:nvPr/>
        </p:nvSpPr>
        <p:spPr>
          <a:xfrm>
            <a:off x="10204704" y="4151376"/>
            <a:ext cx="149961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lang="en-US">
                <a:solidFill>
                  <a:srgbClr val="263440"/>
                </a:solidFill>
                <a:latin typeface="Arial"/>
              </a:rPr>
              <a:t>Prediction
+ evidence</a:t>
            </a:r>
          </a:p>
        </p:txBody>
      </p:sp>
      <p:sp>
        <p:nvSpPr>
          <p:cNvPr id="91" name="Worker inference: No private keys sent to the agent"/>
          <p:cNvSpPr txBox="1"/>
          <p:nvPr/>
        </p:nvSpPr>
        <p:spPr>
          <a:xfrm>
            <a:off x="2468880" y="4553712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No private keys sent to the agent</a:t>
            </a:r>
          </a:p>
        </p:txBody>
      </p:sp>
      <p:sp>
        <p:nvSpPr>
          <p:cNvPr id="92" name="Worker inference: On-chain admission checks the workload. KMS policy controls key release."/>
          <p:cNvSpPr txBox="1"/>
          <p:nvPr/>
        </p:nvSpPr>
        <p:spPr>
          <a:xfrm>
            <a:off x="594360" y="5413248"/>
            <a:ext cx="110002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lang="en-US">
                <a:solidFill>
                  <a:srgbClr val="67747C"/>
                </a:solidFill>
                <a:latin typeface="Arial"/>
              </a:rPr>
              <a:t>On-chain admission checks the workload. KMS policy controls key release.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One image, two worker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5456" y="1435608"/>
            <a:ext cx="6464808" cy="969264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orker inference: SAME dfl-worker IMAGE DIGEST"/>
          <p:cNvSpPr txBox="1"/>
          <p:nvPr/>
        </p:nvSpPr>
        <p:spPr>
          <a:xfrm>
            <a:off x="2743200" y="1545336"/>
            <a:ext cx="5989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lang="en-US">
                <a:solidFill>
                  <a:srgbClr val="263440"/>
                </a:solidFill>
                <a:latin typeface="Arial"/>
              </a:rPr>
              <a:t>SAME dfl-worker IMAGE DIGEST</a:t>
            </a:r>
          </a:p>
        </p:txBody>
      </p:sp>
      <p:sp>
        <p:nvSpPr>
          <p:cNvPr id="15" name="Worker inference: Packaged code: DFL + native inference"/>
          <p:cNvSpPr txBox="1"/>
          <p:nvPr/>
        </p:nvSpPr>
        <p:spPr>
          <a:xfrm>
            <a:off x="2743200" y="1956816"/>
            <a:ext cx="5989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lang="en-US">
                <a:solidFill>
                  <a:srgbClr val="263440"/>
                </a:solidFill>
                <a:latin typeface="Arial"/>
              </a:rPr>
              <a:t>Packaged code: DFL + native inference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42432" y="2450592"/>
            <a:ext cx="0" cy="219456"/>
          </a:xfrm>
          <a:prstGeom prst="line">
            <a:avLst/>
          </a:prstGeom>
          <a:ln w="22860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267712" y="2670048"/>
            <a:ext cx="3474720" cy="0"/>
          </a:xfrm>
          <a:prstGeom prst="line">
            <a:avLst/>
          </a:prstGeom>
          <a:ln w="22860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67712" y="2670048"/>
            <a:ext cx="0" cy="201168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42432" y="2670048"/>
            <a:ext cx="1161288" cy="0"/>
          </a:xfrm>
          <a:prstGeom prst="line">
            <a:avLst/>
          </a:prstGeom>
          <a:ln w="22860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03720" y="2670048"/>
            <a:ext cx="0" cy="201168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94360" y="2916936"/>
            <a:ext cx="3346704" cy="2295144"/>
          </a:xfrm>
          <a:prstGeom prst="roundRect">
            <a:avLst/>
          </a:prstGeom>
          <a:solidFill>
            <a:srgbClr val="F7F9FA"/>
          </a:solidFill>
          <a:ln w="1905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Worker inference icon: tee / 1"/>
          <p:cNvCxnSpPr/>
          <p:nvPr/>
        </p:nvCxnSpPr>
        <p:spPr>
          <a:xfrm>
            <a:off x="913828" y="3083242"/>
            <a:ext cx="0" cy="40005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Worker inference icon: tee / 2"/>
          <p:cNvCxnSpPr/>
          <p:nvPr/>
        </p:nvCxnSpPr>
        <p:spPr>
          <a:xfrm>
            <a:off x="913828" y="3323272"/>
            <a:ext cx="0" cy="40005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Worker inference icon: tee / 3"/>
          <p:cNvCxnSpPr/>
          <p:nvPr/>
        </p:nvCxnSpPr>
        <p:spPr>
          <a:xfrm>
            <a:off x="833818" y="3163252"/>
            <a:ext cx="40005" cy="0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Worker inference icon: tee / 4"/>
          <p:cNvCxnSpPr/>
          <p:nvPr/>
        </p:nvCxnSpPr>
        <p:spPr>
          <a:xfrm>
            <a:off x="1073848" y="3163252"/>
            <a:ext cx="40005" cy="0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Worker inference icon: tee / 5"/>
          <p:cNvCxnSpPr/>
          <p:nvPr/>
        </p:nvCxnSpPr>
        <p:spPr>
          <a:xfrm>
            <a:off x="973836" y="3083242"/>
            <a:ext cx="0" cy="40005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Worker inference icon: tee / 6"/>
          <p:cNvCxnSpPr/>
          <p:nvPr/>
        </p:nvCxnSpPr>
        <p:spPr>
          <a:xfrm>
            <a:off x="973836" y="3323272"/>
            <a:ext cx="0" cy="40005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Worker inference icon: tee / 7"/>
          <p:cNvCxnSpPr/>
          <p:nvPr/>
        </p:nvCxnSpPr>
        <p:spPr>
          <a:xfrm>
            <a:off x="833818" y="3223260"/>
            <a:ext cx="40005" cy="0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Worker inference icon: tee / 8"/>
          <p:cNvCxnSpPr/>
          <p:nvPr/>
        </p:nvCxnSpPr>
        <p:spPr>
          <a:xfrm>
            <a:off x="1073848" y="3223260"/>
            <a:ext cx="40005" cy="0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Worker inference icon: tee / 9"/>
          <p:cNvCxnSpPr/>
          <p:nvPr/>
        </p:nvCxnSpPr>
        <p:spPr>
          <a:xfrm>
            <a:off x="1033843" y="3083242"/>
            <a:ext cx="0" cy="40005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Worker inference icon: tee / 10"/>
          <p:cNvCxnSpPr/>
          <p:nvPr/>
        </p:nvCxnSpPr>
        <p:spPr>
          <a:xfrm>
            <a:off x="1033843" y="3323272"/>
            <a:ext cx="0" cy="40005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Worker inference icon: tee / 11"/>
          <p:cNvCxnSpPr/>
          <p:nvPr/>
        </p:nvCxnSpPr>
        <p:spPr>
          <a:xfrm>
            <a:off x="833818" y="3283267"/>
            <a:ext cx="40005" cy="0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Worker inference icon: tee / 12"/>
          <p:cNvCxnSpPr/>
          <p:nvPr/>
        </p:nvCxnSpPr>
        <p:spPr>
          <a:xfrm>
            <a:off x="1073848" y="3283267"/>
            <a:ext cx="40005" cy="0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Worker inference icon: tee / 13"/>
          <p:cNvSpPr/>
          <p:nvPr/>
        </p:nvSpPr>
        <p:spPr>
          <a:xfrm>
            <a:off x="873823" y="3123247"/>
            <a:ext cx="200025" cy="200025"/>
          </a:xfrm>
          <a:prstGeom prst="roundRect">
            <a:avLst/>
          </a:prstGeom>
          <a:solidFill>
            <a:srgbClr val="F7F9FA"/>
          </a:solidFill>
          <a:ln w="14199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Worker inference icon: tee / 14"/>
          <p:cNvCxnSpPr/>
          <p:nvPr/>
        </p:nvCxnSpPr>
        <p:spPr>
          <a:xfrm flipV="1">
            <a:off x="933831" y="3183255"/>
            <a:ext cx="0" cy="30003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Worker inference icon: tee / 15"/>
          <p:cNvCxnSpPr/>
          <p:nvPr/>
        </p:nvCxnSpPr>
        <p:spPr>
          <a:xfrm flipV="1">
            <a:off x="933831" y="3171795"/>
            <a:ext cx="1574" cy="11460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Worker inference icon: tee / 16"/>
          <p:cNvCxnSpPr/>
          <p:nvPr/>
        </p:nvCxnSpPr>
        <p:spPr>
          <a:xfrm flipV="1">
            <a:off x="935405" y="3162419"/>
            <a:ext cx="4352" cy="9376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Worker inference icon: tee / 17"/>
          <p:cNvCxnSpPr/>
          <p:nvPr/>
        </p:nvCxnSpPr>
        <p:spPr>
          <a:xfrm flipV="1">
            <a:off x="939757" y="3155126"/>
            <a:ext cx="6575" cy="7293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Worker inference icon: tee / 18"/>
          <p:cNvCxnSpPr/>
          <p:nvPr/>
        </p:nvCxnSpPr>
        <p:spPr>
          <a:xfrm flipV="1">
            <a:off x="946332" y="3149917"/>
            <a:ext cx="8242" cy="5209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Worker inference icon: tee / 19"/>
          <p:cNvCxnSpPr/>
          <p:nvPr/>
        </p:nvCxnSpPr>
        <p:spPr>
          <a:xfrm flipV="1">
            <a:off x="954574" y="3146792"/>
            <a:ext cx="9353" cy="3125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Worker inference icon: tee / 20"/>
          <p:cNvCxnSpPr/>
          <p:nvPr/>
        </p:nvCxnSpPr>
        <p:spPr>
          <a:xfrm flipV="1">
            <a:off x="963927" y="3145750"/>
            <a:ext cx="9909" cy="1042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Worker inference icon: tee / 21"/>
          <p:cNvCxnSpPr/>
          <p:nvPr/>
        </p:nvCxnSpPr>
        <p:spPr>
          <a:xfrm>
            <a:off x="973836" y="3145750"/>
            <a:ext cx="9908" cy="1042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Worker inference icon: tee / 22"/>
          <p:cNvCxnSpPr/>
          <p:nvPr/>
        </p:nvCxnSpPr>
        <p:spPr>
          <a:xfrm>
            <a:off x="983744" y="3146792"/>
            <a:ext cx="9353" cy="3125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Worker inference icon: tee / 23"/>
          <p:cNvCxnSpPr/>
          <p:nvPr/>
        </p:nvCxnSpPr>
        <p:spPr>
          <a:xfrm>
            <a:off x="993097" y="3149917"/>
            <a:ext cx="8242" cy="5209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Worker inference icon: tee / 24"/>
          <p:cNvCxnSpPr/>
          <p:nvPr/>
        </p:nvCxnSpPr>
        <p:spPr>
          <a:xfrm>
            <a:off x="1001339" y="3155126"/>
            <a:ext cx="6575" cy="7293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Worker inference icon: tee / 25"/>
          <p:cNvCxnSpPr/>
          <p:nvPr/>
        </p:nvCxnSpPr>
        <p:spPr>
          <a:xfrm>
            <a:off x="1007914" y="3162419"/>
            <a:ext cx="4352" cy="9376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Worker inference icon: tee / 26"/>
          <p:cNvCxnSpPr/>
          <p:nvPr/>
        </p:nvCxnSpPr>
        <p:spPr>
          <a:xfrm>
            <a:off x="1012266" y="3171795"/>
            <a:ext cx="1575" cy="11460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Worker inference icon: tee / 27"/>
          <p:cNvCxnSpPr/>
          <p:nvPr/>
        </p:nvCxnSpPr>
        <p:spPr>
          <a:xfrm>
            <a:off x="1013841" y="3183255"/>
            <a:ext cx="0" cy="30003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Worker inference icon: tee / 28"/>
          <p:cNvSpPr/>
          <p:nvPr/>
        </p:nvSpPr>
        <p:spPr>
          <a:xfrm>
            <a:off x="923829" y="3203257"/>
            <a:ext cx="100012" cy="80010"/>
          </a:xfrm>
          <a:prstGeom prst="roundRect">
            <a:avLst/>
          </a:prstGeom>
          <a:solidFill>
            <a:srgbClr val="F7F9FA"/>
          </a:solidFill>
          <a:ln w="14199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Worker inference: Workers 1–5"/>
          <p:cNvSpPr txBox="1"/>
          <p:nvPr/>
        </p:nvSpPr>
        <p:spPr>
          <a:xfrm>
            <a:off x="1234440" y="3044952"/>
            <a:ext cx="241401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lang="en-US">
                <a:solidFill>
                  <a:srgbClr val="263440"/>
                </a:solidFill>
                <a:latin typeface="Arial"/>
              </a:rPr>
              <a:t>Workers 1–5</a:t>
            </a:r>
          </a:p>
        </p:txBody>
      </p:sp>
      <p:sp>
        <p:nvSpPr>
          <p:cNvPr id="51" name="Worker inference: Each: one TEE · one container"/>
          <p:cNvSpPr txBox="1"/>
          <p:nvPr/>
        </p:nvSpPr>
        <p:spPr>
          <a:xfrm>
            <a:off x="786384" y="3538728"/>
            <a:ext cx="29626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30" b="0" lang="en-US">
                <a:solidFill>
                  <a:srgbClr val="67747C"/>
                </a:solidFill>
                <a:latin typeface="Arial"/>
              </a:rPr>
              <a:t>Each: one TEE · one container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248" y="4014215"/>
            <a:ext cx="2852928" cy="411480"/>
          </a:xfrm>
          <a:prstGeom prst="roundRect">
            <a:avLst/>
          </a:prstGeom>
          <a:solidFill>
            <a:srgbClr val="EDF6F0"/>
          </a:solidFill>
          <a:ln w="1524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Worker inference: DFL running"/>
          <p:cNvSpPr txBox="1"/>
          <p:nvPr/>
        </p:nvSpPr>
        <p:spPr>
          <a:xfrm>
            <a:off x="1005840" y="4059936"/>
            <a:ext cx="252374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207548"/>
                </a:solidFill>
                <a:latin typeface="Arial"/>
              </a:rPr>
              <a:t>DFL running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1248" y="4590288"/>
            <a:ext cx="2852928" cy="411480"/>
          </a:xfrm>
          <a:prstGeom prst="roundRect">
            <a:avLst/>
          </a:prstGeom>
          <a:solidFill>
            <a:srgbClr val="ECEFF1"/>
          </a:solidFill>
          <a:ln w="1524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Worker inference: Inference packaged · off"/>
          <p:cNvSpPr txBox="1"/>
          <p:nvPr/>
        </p:nvSpPr>
        <p:spPr>
          <a:xfrm>
            <a:off x="950976" y="4636008"/>
            <a:ext cx="263347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0" lang="en-US">
                <a:solidFill>
                  <a:srgbClr val="67747C"/>
                </a:solidFill>
                <a:latin typeface="Arial"/>
              </a:rPr>
              <a:t>Inference packaged · off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16552" y="2916936"/>
            <a:ext cx="4992624" cy="2295144"/>
          </a:xfrm>
          <a:prstGeom prst="roundRect">
            <a:avLst/>
          </a:prstGeom>
          <a:solidFill>
            <a:srgbClr val="F7F9FA"/>
          </a:solidFill>
          <a:ln w="1905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Worker inference icon: tee / 1"/>
          <p:cNvCxnSpPr/>
          <p:nvPr/>
        </p:nvCxnSpPr>
        <p:spPr>
          <a:xfrm>
            <a:off x="4726876" y="3083242"/>
            <a:ext cx="0" cy="40005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Worker inference icon: tee / 2"/>
          <p:cNvCxnSpPr/>
          <p:nvPr/>
        </p:nvCxnSpPr>
        <p:spPr>
          <a:xfrm>
            <a:off x="4726876" y="3323272"/>
            <a:ext cx="0" cy="40005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Worker inference icon: tee / 3"/>
          <p:cNvCxnSpPr/>
          <p:nvPr/>
        </p:nvCxnSpPr>
        <p:spPr>
          <a:xfrm>
            <a:off x="4646866" y="3163252"/>
            <a:ext cx="40005" cy="0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Worker inference icon: tee / 4"/>
          <p:cNvCxnSpPr/>
          <p:nvPr/>
        </p:nvCxnSpPr>
        <p:spPr>
          <a:xfrm>
            <a:off x="4886896" y="3163252"/>
            <a:ext cx="40005" cy="0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Worker inference icon: tee / 5"/>
          <p:cNvCxnSpPr/>
          <p:nvPr/>
        </p:nvCxnSpPr>
        <p:spPr>
          <a:xfrm>
            <a:off x="4786883" y="3083242"/>
            <a:ext cx="0" cy="40005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Worker inference icon: tee / 6"/>
          <p:cNvCxnSpPr/>
          <p:nvPr/>
        </p:nvCxnSpPr>
        <p:spPr>
          <a:xfrm>
            <a:off x="4786883" y="3323272"/>
            <a:ext cx="0" cy="40005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Worker inference icon: tee / 7"/>
          <p:cNvCxnSpPr/>
          <p:nvPr/>
        </p:nvCxnSpPr>
        <p:spPr>
          <a:xfrm>
            <a:off x="4646866" y="3223260"/>
            <a:ext cx="40005" cy="0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Worker inference icon: tee / 8"/>
          <p:cNvCxnSpPr/>
          <p:nvPr/>
        </p:nvCxnSpPr>
        <p:spPr>
          <a:xfrm>
            <a:off x="4886896" y="3223260"/>
            <a:ext cx="40005" cy="0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Worker inference icon: tee / 9"/>
          <p:cNvCxnSpPr/>
          <p:nvPr/>
        </p:nvCxnSpPr>
        <p:spPr>
          <a:xfrm>
            <a:off x="4846891" y="3083242"/>
            <a:ext cx="0" cy="40005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Worker inference icon: tee / 10"/>
          <p:cNvCxnSpPr/>
          <p:nvPr/>
        </p:nvCxnSpPr>
        <p:spPr>
          <a:xfrm>
            <a:off x="4846891" y="3323272"/>
            <a:ext cx="0" cy="40005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Worker inference icon: tee / 11"/>
          <p:cNvCxnSpPr/>
          <p:nvPr/>
        </p:nvCxnSpPr>
        <p:spPr>
          <a:xfrm>
            <a:off x="4646866" y="3283267"/>
            <a:ext cx="40005" cy="0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Worker inference icon: tee / 12"/>
          <p:cNvCxnSpPr/>
          <p:nvPr/>
        </p:nvCxnSpPr>
        <p:spPr>
          <a:xfrm>
            <a:off x="4886896" y="3283267"/>
            <a:ext cx="40005" cy="0"/>
          </a:xfrm>
          <a:prstGeom prst="line">
            <a:avLst/>
          </a:prstGeom>
          <a:ln w="14199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Worker inference icon: tee / 13"/>
          <p:cNvSpPr/>
          <p:nvPr/>
        </p:nvSpPr>
        <p:spPr>
          <a:xfrm>
            <a:off x="4686871" y="3123247"/>
            <a:ext cx="200025" cy="200025"/>
          </a:xfrm>
          <a:prstGeom prst="roundRect">
            <a:avLst/>
          </a:prstGeom>
          <a:solidFill>
            <a:srgbClr val="F7F9FA"/>
          </a:solidFill>
          <a:ln w="14199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Worker inference icon: tee / 14"/>
          <p:cNvCxnSpPr/>
          <p:nvPr/>
        </p:nvCxnSpPr>
        <p:spPr>
          <a:xfrm flipV="1">
            <a:off x="4746878" y="3183255"/>
            <a:ext cx="0" cy="30003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Worker inference icon: tee / 15"/>
          <p:cNvCxnSpPr/>
          <p:nvPr/>
        </p:nvCxnSpPr>
        <p:spPr>
          <a:xfrm flipV="1">
            <a:off x="4746878" y="3171795"/>
            <a:ext cx="1575" cy="11460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Worker inference icon: tee / 16"/>
          <p:cNvCxnSpPr/>
          <p:nvPr/>
        </p:nvCxnSpPr>
        <p:spPr>
          <a:xfrm flipV="1">
            <a:off x="4748453" y="3162419"/>
            <a:ext cx="4352" cy="9376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Worker inference icon: tee / 17"/>
          <p:cNvCxnSpPr/>
          <p:nvPr/>
        </p:nvCxnSpPr>
        <p:spPr>
          <a:xfrm flipV="1">
            <a:off x="4752805" y="3155126"/>
            <a:ext cx="6575" cy="7293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Worker inference icon: tee / 18"/>
          <p:cNvCxnSpPr/>
          <p:nvPr/>
        </p:nvCxnSpPr>
        <p:spPr>
          <a:xfrm flipV="1">
            <a:off x="4759380" y="3149917"/>
            <a:ext cx="8242" cy="5209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Worker inference icon: tee / 19"/>
          <p:cNvCxnSpPr/>
          <p:nvPr/>
        </p:nvCxnSpPr>
        <p:spPr>
          <a:xfrm flipV="1">
            <a:off x="4767622" y="3146792"/>
            <a:ext cx="9353" cy="3125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Worker inference icon: tee / 20"/>
          <p:cNvCxnSpPr/>
          <p:nvPr/>
        </p:nvCxnSpPr>
        <p:spPr>
          <a:xfrm flipV="1">
            <a:off x="4776975" y="3145750"/>
            <a:ext cx="9908" cy="1042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Worker inference icon: tee / 21"/>
          <p:cNvCxnSpPr/>
          <p:nvPr/>
        </p:nvCxnSpPr>
        <p:spPr>
          <a:xfrm>
            <a:off x="4786883" y="3145750"/>
            <a:ext cx="9909" cy="1042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Worker inference icon: tee / 22"/>
          <p:cNvCxnSpPr/>
          <p:nvPr/>
        </p:nvCxnSpPr>
        <p:spPr>
          <a:xfrm>
            <a:off x="4796792" y="3146792"/>
            <a:ext cx="9353" cy="3125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Worker inference icon: tee / 23"/>
          <p:cNvCxnSpPr/>
          <p:nvPr/>
        </p:nvCxnSpPr>
        <p:spPr>
          <a:xfrm>
            <a:off x="4806145" y="3149917"/>
            <a:ext cx="8242" cy="5209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Worker inference icon: tee / 24"/>
          <p:cNvCxnSpPr/>
          <p:nvPr/>
        </p:nvCxnSpPr>
        <p:spPr>
          <a:xfrm>
            <a:off x="4814387" y="3155126"/>
            <a:ext cx="6575" cy="7293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Worker inference icon: tee / 25"/>
          <p:cNvCxnSpPr/>
          <p:nvPr/>
        </p:nvCxnSpPr>
        <p:spPr>
          <a:xfrm>
            <a:off x="4820962" y="3162419"/>
            <a:ext cx="4352" cy="9376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Worker inference icon: tee / 26"/>
          <p:cNvCxnSpPr/>
          <p:nvPr/>
        </p:nvCxnSpPr>
        <p:spPr>
          <a:xfrm>
            <a:off x="4825314" y="3171795"/>
            <a:ext cx="1575" cy="11460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Worker inference icon: tee / 27"/>
          <p:cNvCxnSpPr/>
          <p:nvPr/>
        </p:nvCxnSpPr>
        <p:spPr>
          <a:xfrm>
            <a:off x="4826889" y="3183255"/>
            <a:ext cx="0" cy="30003"/>
          </a:xfrm>
          <a:prstGeom prst="line">
            <a:avLst/>
          </a:prstGeom>
          <a:ln w="11112" cap="rnd">
            <a:solidFill>
              <a:srgbClr val="2634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Worker inference icon: tee / 28"/>
          <p:cNvSpPr/>
          <p:nvPr/>
        </p:nvSpPr>
        <p:spPr>
          <a:xfrm>
            <a:off x="4736877" y="3203257"/>
            <a:ext cx="100012" cy="80010"/>
          </a:xfrm>
          <a:prstGeom prst="roundRect">
            <a:avLst/>
          </a:prstGeom>
          <a:solidFill>
            <a:srgbClr val="F7F9FA"/>
          </a:solidFill>
          <a:ln w="14199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Worker inference: Worker 0"/>
          <p:cNvSpPr txBox="1"/>
          <p:nvPr/>
        </p:nvSpPr>
        <p:spPr>
          <a:xfrm>
            <a:off x="5056632" y="3044952"/>
            <a:ext cx="22860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lang="en-US">
                <a:solidFill>
                  <a:srgbClr val="263440"/>
                </a:solidFill>
                <a:latin typeface="Arial"/>
              </a:rPr>
              <a:t>Worker 0</a:t>
            </a:r>
          </a:p>
        </p:txBody>
      </p:sp>
      <p:sp>
        <p:nvSpPr>
          <p:cNvPr id="86" name="Worker inference: One TEE · one combined container"/>
          <p:cNvSpPr txBox="1"/>
          <p:nvPr/>
        </p:nvSpPr>
        <p:spPr>
          <a:xfrm>
            <a:off x="4645152" y="3538728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lang="en-US">
                <a:solidFill>
                  <a:srgbClr val="67747C"/>
                </a:solidFill>
                <a:latin typeface="Arial"/>
              </a:rPr>
              <a:t>One TEE · one combined container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663440" y="4014215"/>
            <a:ext cx="1636776" cy="411480"/>
          </a:xfrm>
          <a:prstGeom prst="roundRect">
            <a:avLst/>
          </a:prstGeom>
          <a:solidFill>
            <a:srgbClr val="EDF6F0"/>
          </a:solidFill>
          <a:ln w="1524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Worker inference: DFL"/>
          <p:cNvSpPr txBox="1"/>
          <p:nvPr/>
        </p:nvSpPr>
        <p:spPr>
          <a:xfrm>
            <a:off x="4800600" y="4059936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207548"/>
                </a:solidFill>
                <a:latin typeface="Arial"/>
              </a:rPr>
              <a:t>DFL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601968" y="4014215"/>
            <a:ext cx="2560320" cy="411480"/>
          </a:xfrm>
          <a:prstGeom prst="roundRect">
            <a:avLst/>
          </a:prstGeom>
          <a:solidFill>
            <a:srgbClr val="EDF4FA"/>
          </a:solidFill>
          <a:ln w="1524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Worker inference: Inference running"/>
          <p:cNvSpPr txBox="1"/>
          <p:nvPr/>
        </p:nvSpPr>
        <p:spPr>
          <a:xfrm>
            <a:off x="6729984" y="4059936"/>
            <a:ext cx="230428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1764A1"/>
                </a:solidFill>
                <a:latin typeface="Arial"/>
              </a:rPr>
              <a:t>Inference running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663440" y="4773168"/>
            <a:ext cx="4498848" cy="265176"/>
          </a:xfrm>
          <a:prstGeom prst="roundRect">
            <a:avLst/>
          </a:prstGeom>
          <a:solidFill>
            <a:srgbClr val="F3EEF8"/>
          </a:solidFill>
          <a:ln w="1524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Worker inference: Worker keys used inside the container"/>
          <p:cNvSpPr txBox="1"/>
          <p:nvPr/>
        </p:nvSpPr>
        <p:spPr>
          <a:xfrm>
            <a:off x="4791456" y="4791456"/>
            <a:ext cx="424281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80" b="1" lang="en-US">
                <a:solidFill>
                  <a:srgbClr val="7446A6"/>
                </a:solidFill>
                <a:latin typeface="Arial"/>
              </a:rPr>
              <a:t>Worker keys used inside the container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5486400" y="4480560"/>
            <a:ext cx="0" cy="256032"/>
          </a:xfrm>
          <a:prstGeom prst="line">
            <a:avLst/>
          </a:prstGeom>
          <a:ln w="1905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7882127" y="4480560"/>
            <a:ext cx="0" cy="256032"/>
          </a:xfrm>
          <a:prstGeom prst="line">
            <a:avLst/>
          </a:prstGeom>
          <a:ln w="1905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10058400" y="3392424"/>
            <a:ext cx="1527048" cy="914400"/>
          </a:xfrm>
          <a:prstGeom prst="roundRect">
            <a:avLst/>
          </a:prstGeom>
          <a:solidFill>
            <a:srgbClr val="EDF4FA"/>
          </a:solidFill>
          <a:ln w="1524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Worker inference icon: agent / 1"/>
          <p:cNvCxnSpPr/>
          <p:nvPr/>
        </p:nvCxnSpPr>
        <p:spPr>
          <a:xfrm>
            <a:off x="10762488" y="3552444"/>
            <a:ext cx="0" cy="51434"/>
          </a:xfrm>
          <a:prstGeom prst="line">
            <a:avLst/>
          </a:prstGeom>
          <a:ln w="14604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Worker inference icon: agent / 2"/>
          <p:cNvSpPr/>
          <p:nvPr/>
        </p:nvSpPr>
        <p:spPr>
          <a:xfrm>
            <a:off x="10747057" y="3526726"/>
            <a:ext cx="30861" cy="30861"/>
          </a:xfrm>
          <a:prstGeom prst="ellipse">
            <a:avLst/>
          </a:prstGeom>
          <a:solidFill>
            <a:srgbClr val="1764A1"/>
          </a:solidFill>
          <a:ln w="14604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Worker inference icon: agent / 3"/>
          <p:cNvSpPr/>
          <p:nvPr/>
        </p:nvSpPr>
        <p:spPr>
          <a:xfrm>
            <a:off x="10639044" y="3603878"/>
            <a:ext cx="246888" cy="205739"/>
          </a:xfrm>
          <a:prstGeom prst="roundRect">
            <a:avLst/>
          </a:prstGeom>
          <a:solidFill>
            <a:srgbClr val="EDF4FA"/>
          </a:solidFill>
          <a:ln w="14604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Worker inference icon: agent / 4"/>
          <p:cNvCxnSpPr/>
          <p:nvPr/>
        </p:nvCxnSpPr>
        <p:spPr>
          <a:xfrm>
            <a:off x="10608183" y="3665601"/>
            <a:ext cx="0" cy="72008"/>
          </a:xfrm>
          <a:prstGeom prst="line">
            <a:avLst/>
          </a:prstGeom>
          <a:ln w="14604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Worker inference icon: agent / 5"/>
          <p:cNvCxnSpPr/>
          <p:nvPr/>
        </p:nvCxnSpPr>
        <p:spPr>
          <a:xfrm>
            <a:off x="10916793" y="3665601"/>
            <a:ext cx="0" cy="72008"/>
          </a:xfrm>
          <a:prstGeom prst="line">
            <a:avLst/>
          </a:prstGeom>
          <a:ln w="14604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Worker inference icon: agent / 6"/>
          <p:cNvSpPr/>
          <p:nvPr/>
        </p:nvSpPr>
        <p:spPr>
          <a:xfrm>
            <a:off x="10690479" y="3665601"/>
            <a:ext cx="30861" cy="30861"/>
          </a:xfrm>
          <a:prstGeom prst="ellipse">
            <a:avLst/>
          </a:prstGeom>
          <a:solidFill>
            <a:srgbClr val="1764A1"/>
          </a:solidFill>
          <a:ln w="14604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Worker inference icon: agent / 7"/>
          <p:cNvSpPr/>
          <p:nvPr/>
        </p:nvSpPr>
        <p:spPr>
          <a:xfrm>
            <a:off x="10803636" y="3665601"/>
            <a:ext cx="30861" cy="30861"/>
          </a:xfrm>
          <a:prstGeom prst="ellipse">
            <a:avLst/>
          </a:prstGeom>
          <a:solidFill>
            <a:srgbClr val="1764A1"/>
          </a:solidFill>
          <a:ln w="14604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Worker inference icon: agent / 8"/>
          <p:cNvCxnSpPr/>
          <p:nvPr/>
        </p:nvCxnSpPr>
        <p:spPr>
          <a:xfrm>
            <a:off x="10711053" y="3758183"/>
            <a:ext cx="102870" cy="0"/>
          </a:xfrm>
          <a:prstGeom prst="line">
            <a:avLst/>
          </a:prstGeom>
          <a:ln w="14604" cap="rnd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Worker inference: Agent"/>
          <p:cNvSpPr txBox="1"/>
          <p:nvPr/>
        </p:nvSpPr>
        <p:spPr>
          <a:xfrm>
            <a:off x="10186416" y="3931920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1764A1"/>
                </a:solidFill>
                <a:latin typeface="Arial"/>
              </a:rPr>
              <a:t>Agent</a:t>
            </a:r>
          </a:p>
        </p:txBody>
      </p:sp>
      <p:cxnSp>
        <p:nvCxnSpPr>
          <p:cNvPr id="105" name="Connector 104"/>
          <p:cNvCxnSpPr/>
          <p:nvPr/>
        </p:nvCxnSpPr>
        <p:spPr>
          <a:xfrm flipV="1">
            <a:off x="10808208" y="2971800"/>
            <a:ext cx="0" cy="374904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9738360" y="2971800"/>
            <a:ext cx="1069848" cy="0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738360" y="2971800"/>
            <a:ext cx="0" cy="1161287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9198864" y="4133087"/>
            <a:ext cx="539496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Worker inference: MCP"/>
          <p:cNvSpPr txBox="1"/>
          <p:nvPr/>
        </p:nvSpPr>
        <p:spPr>
          <a:xfrm>
            <a:off x="10058400" y="2578608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lang="en-US">
                <a:solidFill>
                  <a:srgbClr val="1764A1"/>
                </a:solidFill>
                <a:latin typeface="Arial"/>
              </a:rPr>
              <a:t>MCP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9198864" y="4325112"/>
            <a:ext cx="530352" cy="0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729216" y="4325112"/>
            <a:ext cx="0" cy="786384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729216" y="5111496"/>
            <a:ext cx="1691640" cy="0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1420856" y="4352544"/>
            <a:ext cx="0" cy="758952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Worker inference: Result + / evidence"/>
          <p:cNvSpPr txBox="1"/>
          <p:nvPr/>
        </p:nvSpPr>
        <p:spPr>
          <a:xfrm>
            <a:off x="9930384" y="4462272"/>
            <a:ext cx="1353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0" lang="en-US">
                <a:solidFill>
                  <a:srgbClr val="1764A1"/>
                </a:solidFill>
                <a:latin typeface="Arial"/>
              </a:rPr>
              <a:t>Result +
evidence</a:t>
            </a:r>
          </a:p>
        </p:txBody>
      </p:sp>
      <p:sp>
        <p:nvSpPr>
          <p:cNvPr id="115" name="Worker inference: On-chain admission checks the workload. KMS policy controls key release."/>
          <p:cNvSpPr txBox="1"/>
          <p:nvPr/>
        </p:nvSpPr>
        <p:spPr>
          <a:xfrm>
            <a:off x="594360" y="5413248"/>
            <a:ext cx="110002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lang="en-US">
                <a:solidFill>
                  <a:srgbClr val="67747C"/>
                </a:solidFill>
                <a:latin typeface="Arial"/>
              </a:rPr>
              <a:t>On-chain admission checks the workload. KMS policy controls key release.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Worker and inference alternatives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