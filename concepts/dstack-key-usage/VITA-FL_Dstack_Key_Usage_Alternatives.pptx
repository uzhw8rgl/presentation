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uses three horizontal paths from dstack to operational uses. The central lane explicitly distinguishes the derived sealing key from the random RSA key.</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B organizes the slide around operations rather than the derivation tree. Each stage names both the key and its practical responsibility. The timeline orders concerns, not key provisioning or every protocol message.</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 focuses on the distinction between a derived RSA sealing key, the random RSA private key, and fresh model-encryption keys. Other dstack paths remain visible at the bottom. Protects is a sealing relation, not RSA key generation.</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Actor map: a worker holds separate keys for blockchain actions, model exchange, tool receipts, and inference evidence. The AES sealing key is internal custody of a randomly generated RSA key. Model payload bytes use separate symmetric encryption keys.</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Which key does what?</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Key use: APPLICATION-BOUND / KEY MATERIAL"/>
          <p:cNvSpPr txBox="1"/>
          <p:nvPr/>
        </p:nvSpPr>
        <p:spPr>
          <a:xfrm>
            <a:off x="594360" y="1856231"/>
            <a:ext cx="2066543" cy="576072"/>
          </a:xfrm>
          <a:prstGeom prst="rect">
            <a:avLst/>
          </a:prstGeom>
          <a:noFill/>
        </p:spPr>
        <p:txBody>
          <a:bodyPr wrap="square" lIns="0" rIns="0" tIns="0" bIns="0" anchor="ctr">
            <a:spAutoFit/>
          </a:bodyPr>
          <a:lstStyle/>
          <a:p>
            <a:pPr algn="ctr"/>
            <a:r>
              <a:rPr sz="1400" b="1" lang="en-US">
                <a:solidFill>
                  <a:srgbClr val="67747C"/>
                </a:solidFill>
                <a:latin typeface="Arial"/>
              </a:rPr>
              <a:t>APPLICATION-BOUND
KEY MATERIAL</a:t>
            </a:r>
          </a:p>
        </p:txBody>
      </p:sp>
      <p:sp>
        <p:nvSpPr>
          <p:cNvPr id="14" name="Rounded Rectangle 13"/>
          <p:cNvSpPr/>
          <p:nvPr/>
        </p:nvSpPr>
        <p:spPr>
          <a:xfrm>
            <a:off x="594360" y="2807208"/>
            <a:ext cx="2066543" cy="1362456"/>
          </a:xfrm>
          <a:prstGeom prst="roundRect">
            <a:avLst/>
          </a:prstGeom>
          <a:solidFill>
            <a:srgbClr val="F3F5F6"/>
          </a:solidFill>
          <a:ln w="1397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98448" y="3036722"/>
            <a:ext cx="268833" cy="268833"/>
          </a:xfrm>
          <a:prstGeom prst="ellipse">
            <a:avLst/>
          </a:prstGeom>
          <a:solidFill>
            <a:srgbClr val="F3F5F6"/>
          </a:solidFill>
          <a:ln w="1905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560880" y="3171139"/>
            <a:ext cx="339243" cy="0"/>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765706" y="3171139"/>
            <a:ext cx="0" cy="147218"/>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880920" y="3171139"/>
            <a:ext cx="0" cy="147218"/>
          </a:xfrm>
          <a:prstGeom prst="line">
            <a:avLst/>
          </a:prstGeom>
          <a:ln w="25400">
            <a:solidFill>
              <a:srgbClr val="263440"/>
            </a:solidFill>
          </a:ln>
        </p:spPr>
        <p:style>
          <a:lnRef idx="2">
            <a:schemeClr val="accent1"/>
          </a:lnRef>
          <a:fillRef idx="0">
            <a:schemeClr val="accent1"/>
          </a:fillRef>
          <a:effectRef idx="1">
            <a:schemeClr val="accent1"/>
          </a:effectRef>
          <a:fontRef idx="minor">
            <a:schemeClr val="tx1"/>
          </a:fontRef>
        </p:style>
      </p:cxnSp>
      <p:sp>
        <p:nvSpPr>
          <p:cNvPr id="19" name="Key use: dstack"/>
          <p:cNvSpPr txBox="1"/>
          <p:nvPr/>
        </p:nvSpPr>
        <p:spPr>
          <a:xfrm>
            <a:off x="758952" y="3447288"/>
            <a:ext cx="1737360" cy="347472"/>
          </a:xfrm>
          <a:prstGeom prst="rect">
            <a:avLst/>
          </a:prstGeom>
          <a:noFill/>
        </p:spPr>
        <p:txBody>
          <a:bodyPr wrap="square" lIns="0" rIns="0" tIns="0" bIns="0" anchor="ctr">
            <a:spAutoFit/>
          </a:bodyPr>
          <a:lstStyle/>
          <a:p>
            <a:pPr algn="ctr"/>
            <a:r>
              <a:rPr sz="2300" b="1" lang="en-US">
                <a:solidFill>
                  <a:srgbClr val="263440"/>
                </a:solidFill>
                <a:latin typeface="Arial"/>
              </a:rPr>
              <a:t>dstack</a:t>
            </a:r>
          </a:p>
        </p:txBody>
      </p:sp>
      <p:sp>
        <p:nvSpPr>
          <p:cNvPr id="20" name="Key use: GetKey(path)"/>
          <p:cNvSpPr txBox="1"/>
          <p:nvPr/>
        </p:nvSpPr>
        <p:spPr>
          <a:xfrm>
            <a:off x="758952" y="3867912"/>
            <a:ext cx="1737360" cy="228600"/>
          </a:xfrm>
          <a:prstGeom prst="rect">
            <a:avLst/>
          </a:prstGeom>
          <a:noFill/>
        </p:spPr>
        <p:txBody>
          <a:bodyPr wrap="square" lIns="0" rIns="0" tIns="0" bIns="0" anchor="ctr">
            <a:spAutoFit/>
          </a:bodyPr>
          <a:lstStyle/>
          <a:p>
            <a:pPr algn="ctr"/>
            <a:r>
              <a:rPr sz="1400" b="0" lang="en-US">
                <a:solidFill>
                  <a:srgbClr val="263440"/>
                </a:solidFill>
                <a:latin typeface="Arial"/>
              </a:rPr>
              <a:t>GetKey(path)</a:t>
            </a:r>
          </a:p>
        </p:txBody>
      </p:sp>
      <p:cxnSp>
        <p:nvCxnSpPr>
          <p:cNvPr id="21" name="Connector 20"/>
          <p:cNvCxnSpPr/>
          <p:nvPr/>
        </p:nvCxnSpPr>
        <p:spPr>
          <a:xfrm>
            <a:off x="2706624" y="3493008"/>
            <a:ext cx="265176" cy="0"/>
          </a:xfrm>
          <a:prstGeom prst="line">
            <a:avLst/>
          </a:prstGeom>
          <a:ln w="22860">
            <a:solidFill>
              <a:srgbClr val="67747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71800" y="2057400"/>
            <a:ext cx="0" cy="2944368"/>
          </a:xfrm>
          <a:prstGeom prst="line">
            <a:avLst/>
          </a:prstGeom>
          <a:ln w="22860">
            <a:solidFill>
              <a:srgbClr val="67747C"/>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319272" y="1463040"/>
            <a:ext cx="8275320" cy="1188720"/>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2971800" y="2057400"/>
            <a:ext cx="310896"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319272" y="2871216"/>
            <a:ext cx="8275320" cy="1307592"/>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971800" y="3525012"/>
            <a:ext cx="310896"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319272" y="4407408"/>
            <a:ext cx="8275320" cy="1188720"/>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2971800" y="5001768"/>
            <a:ext cx="310896"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Key use: PROTOCOL ACTIONS"/>
          <p:cNvSpPr txBox="1"/>
          <p:nvPr/>
        </p:nvSpPr>
        <p:spPr>
          <a:xfrm>
            <a:off x="3547872" y="1591056"/>
            <a:ext cx="3749039" cy="228600"/>
          </a:xfrm>
          <a:prstGeom prst="rect">
            <a:avLst/>
          </a:prstGeom>
          <a:noFill/>
        </p:spPr>
        <p:txBody>
          <a:bodyPr wrap="square" lIns="0" rIns="0" tIns="0" bIns="0" anchor="ctr">
            <a:spAutoFit/>
          </a:bodyPr>
          <a:lstStyle/>
          <a:p>
            <a:pPr algn="l"/>
            <a:r>
              <a:rPr sz="1400" b="1" lang="en-US">
                <a:solidFill>
                  <a:srgbClr val="1764A1"/>
                </a:solidFill>
                <a:latin typeface="Arial"/>
              </a:rPr>
              <a:t>PROTOCOL ACTIONS</a:t>
            </a:r>
          </a:p>
        </p:txBody>
      </p:sp>
      <p:sp>
        <p:nvSpPr>
          <p:cNvPr id="30" name="Rounded Rectangle 29"/>
          <p:cNvSpPr/>
          <p:nvPr/>
        </p:nvSpPr>
        <p:spPr>
          <a:xfrm>
            <a:off x="3547872" y="1984248"/>
            <a:ext cx="2103120" cy="411480"/>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Key use: secp256k1"/>
          <p:cNvSpPr txBox="1"/>
          <p:nvPr/>
        </p:nvSpPr>
        <p:spPr>
          <a:xfrm>
            <a:off x="3621024" y="2016252"/>
            <a:ext cx="1956815" cy="347472"/>
          </a:xfrm>
          <a:prstGeom prst="rect">
            <a:avLst/>
          </a:prstGeom>
          <a:noFill/>
        </p:spPr>
        <p:txBody>
          <a:bodyPr wrap="square" lIns="0" rIns="0" tIns="0" bIns="0" anchor="ctr">
            <a:spAutoFit/>
          </a:bodyPr>
          <a:lstStyle/>
          <a:p>
            <a:pPr algn="ctr"/>
            <a:r>
              <a:rPr sz="1700" b="1" lang="en-US">
                <a:solidFill>
                  <a:srgbClr val="1764A1"/>
                </a:solidFill>
                <a:latin typeface="Arial"/>
              </a:rPr>
              <a:t>secp256k1</a:t>
            </a:r>
          </a:p>
        </p:txBody>
      </p:sp>
      <p:cxnSp>
        <p:nvCxnSpPr>
          <p:cNvPr id="32" name="Connector 31"/>
          <p:cNvCxnSpPr/>
          <p:nvPr/>
        </p:nvCxnSpPr>
        <p:spPr>
          <a:xfrm>
            <a:off x="5715000" y="2194560"/>
            <a:ext cx="429768"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Key use: Sign update commitments / aggregation statements / Authorize blockchain transactions"/>
          <p:cNvSpPr txBox="1"/>
          <p:nvPr/>
        </p:nvSpPr>
        <p:spPr>
          <a:xfrm>
            <a:off x="6309360" y="1901952"/>
            <a:ext cx="5029200" cy="585216"/>
          </a:xfrm>
          <a:prstGeom prst="rect">
            <a:avLst/>
          </a:prstGeom>
          <a:noFill/>
        </p:spPr>
        <p:txBody>
          <a:bodyPr wrap="square" lIns="0" rIns="0" tIns="0" bIns="0" anchor="ctr">
            <a:spAutoFit/>
          </a:bodyPr>
          <a:lstStyle/>
          <a:p>
            <a:pPr algn="l"/>
            <a:r>
              <a:rPr sz="1400" b="0" lang="en-US">
                <a:solidFill>
                  <a:srgbClr val="263440"/>
                </a:solidFill>
                <a:latin typeface="Arial"/>
              </a:rPr>
              <a:t>Sign update commitments / aggregation statements
Authorize blockchain transactions</a:t>
            </a:r>
          </a:p>
        </p:txBody>
      </p:sp>
      <p:sp>
        <p:nvSpPr>
          <p:cNvPr id="34" name="Key use: PROTECT THE RSA KEY, THEN USE IT"/>
          <p:cNvSpPr txBox="1"/>
          <p:nvPr/>
        </p:nvSpPr>
        <p:spPr>
          <a:xfrm>
            <a:off x="3547872" y="2999232"/>
            <a:ext cx="7196328" cy="228600"/>
          </a:xfrm>
          <a:prstGeom prst="rect">
            <a:avLst/>
          </a:prstGeom>
          <a:noFill/>
        </p:spPr>
        <p:txBody>
          <a:bodyPr wrap="square" lIns="0" rIns="0" tIns="0" bIns="0" anchor="ctr">
            <a:spAutoFit/>
          </a:bodyPr>
          <a:lstStyle/>
          <a:p>
            <a:pPr algn="l"/>
            <a:r>
              <a:rPr sz="1400" b="1" lang="en-US">
                <a:solidFill>
                  <a:srgbClr val="7446A6"/>
                </a:solidFill>
                <a:latin typeface="Arial"/>
              </a:rPr>
              <a:t>PROTECT THE RSA KEY, THEN USE IT</a:t>
            </a:r>
          </a:p>
        </p:txBody>
      </p:sp>
      <p:sp>
        <p:nvSpPr>
          <p:cNvPr id="35" name="Rounded Rectangle 34"/>
          <p:cNvSpPr/>
          <p:nvPr/>
        </p:nvSpPr>
        <p:spPr>
          <a:xfrm>
            <a:off x="3547872" y="3502152"/>
            <a:ext cx="1709928" cy="393192"/>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Key use: AES-GCM"/>
          <p:cNvSpPr txBox="1"/>
          <p:nvPr/>
        </p:nvSpPr>
        <p:spPr>
          <a:xfrm>
            <a:off x="3621024" y="3534156"/>
            <a:ext cx="1563624" cy="329184"/>
          </a:xfrm>
          <a:prstGeom prst="rect">
            <a:avLst/>
          </a:prstGeom>
          <a:noFill/>
        </p:spPr>
        <p:txBody>
          <a:bodyPr wrap="square" lIns="0" rIns="0" tIns="0" bIns="0" anchor="ctr">
            <a:spAutoFit/>
          </a:bodyPr>
          <a:lstStyle/>
          <a:p>
            <a:pPr algn="ctr"/>
            <a:r>
              <a:rPr sz="1600" b="1" lang="en-US">
                <a:solidFill>
                  <a:srgbClr val="7446A6"/>
                </a:solidFill>
                <a:latin typeface="Arial"/>
              </a:rPr>
              <a:t>AES-GCM</a:t>
            </a:r>
          </a:p>
        </p:txBody>
      </p:sp>
      <p:sp>
        <p:nvSpPr>
          <p:cNvPr id="37" name="Key use: Derived sealing key"/>
          <p:cNvSpPr txBox="1"/>
          <p:nvPr/>
        </p:nvSpPr>
        <p:spPr>
          <a:xfrm>
            <a:off x="3447288" y="3941063"/>
            <a:ext cx="1911095" cy="192024"/>
          </a:xfrm>
          <a:prstGeom prst="rect">
            <a:avLst/>
          </a:prstGeom>
          <a:noFill/>
        </p:spPr>
        <p:txBody>
          <a:bodyPr wrap="square" lIns="0" rIns="0" tIns="0" bIns="0" anchor="ctr">
            <a:spAutoFit/>
          </a:bodyPr>
          <a:lstStyle/>
          <a:p>
            <a:pPr algn="ctr"/>
            <a:r>
              <a:rPr sz="1250" b="0" lang="en-US">
                <a:solidFill>
                  <a:srgbClr val="67747C"/>
                </a:solidFill>
                <a:latin typeface="Arial"/>
              </a:rPr>
              <a:t>Derived sealing key</a:t>
            </a:r>
          </a:p>
        </p:txBody>
      </p:sp>
      <p:sp>
        <p:nvSpPr>
          <p:cNvPr id="38" name="Key use: Seal / restore"/>
          <p:cNvSpPr txBox="1"/>
          <p:nvPr/>
        </p:nvSpPr>
        <p:spPr>
          <a:xfrm>
            <a:off x="5285232" y="3255264"/>
            <a:ext cx="1005840" cy="237744"/>
          </a:xfrm>
          <a:prstGeom prst="rect">
            <a:avLst/>
          </a:prstGeom>
          <a:noFill/>
        </p:spPr>
        <p:txBody>
          <a:bodyPr wrap="square" lIns="0" rIns="0" tIns="0" bIns="0" anchor="ctr">
            <a:spAutoFit/>
          </a:bodyPr>
          <a:lstStyle/>
          <a:p>
            <a:pPr algn="ctr"/>
            <a:r>
              <a:rPr sz="1200" b="0" lang="en-US">
                <a:solidFill>
                  <a:srgbClr val="7446A6"/>
                </a:solidFill>
                <a:latin typeface="Arial"/>
              </a:rPr>
              <a:t>Seal / restore</a:t>
            </a:r>
          </a:p>
        </p:txBody>
      </p:sp>
      <p:cxnSp>
        <p:nvCxnSpPr>
          <p:cNvPr id="39" name="Connector 38"/>
          <p:cNvCxnSpPr/>
          <p:nvPr/>
        </p:nvCxnSpPr>
        <p:spPr>
          <a:xfrm>
            <a:off x="5321808" y="3694176"/>
            <a:ext cx="859536"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3502152"/>
            <a:ext cx="1682496" cy="393192"/>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Key use: RSA-3072"/>
          <p:cNvSpPr txBox="1"/>
          <p:nvPr/>
        </p:nvSpPr>
        <p:spPr>
          <a:xfrm>
            <a:off x="6300216" y="3534156"/>
            <a:ext cx="1536192" cy="329184"/>
          </a:xfrm>
          <a:prstGeom prst="rect">
            <a:avLst/>
          </a:prstGeom>
          <a:noFill/>
        </p:spPr>
        <p:txBody>
          <a:bodyPr wrap="square" lIns="0" rIns="0" tIns="0" bIns="0" anchor="ctr">
            <a:spAutoFit/>
          </a:bodyPr>
          <a:lstStyle/>
          <a:p>
            <a:pPr algn="ctr"/>
            <a:r>
              <a:rPr sz="1600" b="1" lang="en-US">
                <a:solidFill>
                  <a:srgbClr val="7446A6"/>
                </a:solidFill>
                <a:latin typeface="Arial"/>
              </a:rPr>
              <a:t>RSA-3072</a:t>
            </a:r>
          </a:p>
        </p:txBody>
      </p:sp>
      <p:sp>
        <p:nvSpPr>
          <p:cNvPr id="42" name="Key use: Randomly generated"/>
          <p:cNvSpPr txBox="1"/>
          <p:nvPr/>
        </p:nvSpPr>
        <p:spPr>
          <a:xfrm>
            <a:off x="6089904" y="3941063"/>
            <a:ext cx="1956816" cy="192024"/>
          </a:xfrm>
          <a:prstGeom prst="rect">
            <a:avLst/>
          </a:prstGeom>
          <a:noFill/>
        </p:spPr>
        <p:txBody>
          <a:bodyPr wrap="square" lIns="0" rIns="0" tIns="0" bIns="0" anchor="ctr">
            <a:spAutoFit/>
          </a:bodyPr>
          <a:lstStyle/>
          <a:p>
            <a:pPr algn="ctr"/>
            <a:r>
              <a:rPr sz="1250" b="0" lang="en-US">
                <a:solidFill>
                  <a:srgbClr val="67747C"/>
                </a:solidFill>
                <a:latin typeface="Arial"/>
              </a:rPr>
              <a:t>Randomly generated</a:t>
            </a:r>
          </a:p>
        </p:txBody>
      </p:sp>
      <p:cxnSp>
        <p:nvCxnSpPr>
          <p:cNvPr id="43" name="Connector 42"/>
          <p:cNvCxnSpPr/>
          <p:nvPr/>
        </p:nvCxnSpPr>
        <p:spPr>
          <a:xfrm>
            <a:off x="7964424" y="3694176"/>
            <a:ext cx="448056"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Key use: Sign model packages / Unwrap model keys"/>
          <p:cNvSpPr txBox="1"/>
          <p:nvPr/>
        </p:nvSpPr>
        <p:spPr>
          <a:xfrm>
            <a:off x="8549640" y="3438144"/>
            <a:ext cx="2834640" cy="566928"/>
          </a:xfrm>
          <a:prstGeom prst="rect">
            <a:avLst/>
          </a:prstGeom>
          <a:noFill/>
        </p:spPr>
        <p:txBody>
          <a:bodyPr wrap="square" lIns="0" rIns="0" tIns="0" bIns="0" anchor="ctr">
            <a:spAutoFit/>
          </a:bodyPr>
          <a:lstStyle/>
          <a:p>
            <a:pPr algn="l"/>
            <a:r>
              <a:rPr sz="1500" b="0" lang="en-US">
                <a:solidFill>
                  <a:srgbClr val="263440"/>
                </a:solidFill>
                <a:latin typeface="Arial"/>
              </a:rPr>
              <a:t>Sign model packages
Unwrap model keys</a:t>
            </a:r>
          </a:p>
        </p:txBody>
      </p:sp>
      <p:sp>
        <p:nvSpPr>
          <p:cNvPr id="45" name="Key use: INFERENCE AND TOOL RECEIPTS"/>
          <p:cNvSpPr txBox="1"/>
          <p:nvPr/>
        </p:nvSpPr>
        <p:spPr>
          <a:xfrm>
            <a:off x="3547872" y="4535424"/>
            <a:ext cx="7196328" cy="228600"/>
          </a:xfrm>
          <a:prstGeom prst="rect">
            <a:avLst/>
          </a:prstGeom>
          <a:noFill/>
        </p:spPr>
        <p:txBody>
          <a:bodyPr wrap="square" lIns="0" rIns="0" tIns="0" bIns="0" anchor="ctr">
            <a:spAutoFit/>
          </a:bodyPr>
          <a:lstStyle/>
          <a:p>
            <a:pPr algn="l"/>
            <a:r>
              <a:rPr sz="1400" b="1" lang="en-US">
                <a:solidFill>
                  <a:srgbClr val="207548"/>
                </a:solidFill>
                <a:latin typeface="Arial"/>
              </a:rPr>
              <a:t>INFERENCE AND TOOL RECEIPTS</a:t>
            </a:r>
          </a:p>
        </p:txBody>
      </p:sp>
      <p:sp>
        <p:nvSpPr>
          <p:cNvPr id="46" name="Rounded Rectangle 45"/>
          <p:cNvSpPr/>
          <p:nvPr/>
        </p:nvSpPr>
        <p:spPr>
          <a:xfrm>
            <a:off x="3547872" y="4855464"/>
            <a:ext cx="2313432" cy="41148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Key use: Ed25519 keys"/>
          <p:cNvSpPr txBox="1"/>
          <p:nvPr/>
        </p:nvSpPr>
        <p:spPr>
          <a:xfrm>
            <a:off x="3621024" y="4887468"/>
            <a:ext cx="2167127" cy="347472"/>
          </a:xfrm>
          <a:prstGeom prst="rect">
            <a:avLst/>
          </a:prstGeom>
          <a:noFill/>
        </p:spPr>
        <p:txBody>
          <a:bodyPr wrap="square" lIns="0" rIns="0" tIns="0" bIns="0" anchor="ctr">
            <a:spAutoFit/>
          </a:bodyPr>
          <a:lstStyle/>
          <a:p>
            <a:pPr algn="ctr"/>
            <a:r>
              <a:rPr sz="1700" b="1" lang="en-US">
                <a:solidFill>
                  <a:srgbClr val="207548"/>
                </a:solidFill>
                <a:latin typeface="Arial"/>
              </a:rPr>
              <a:t>Ed25519 keys</a:t>
            </a:r>
          </a:p>
        </p:txBody>
      </p:sp>
      <p:sp>
        <p:nvSpPr>
          <p:cNvPr id="48" name="Key use: Separate paths"/>
          <p:cNvSpPr txBox="1"/>
          <p:nvPr/>
        </p:nvSpPr>
        <p:spPr>
          <a:xfrm>
            <a:off x="3639312" y="5340096"/>
            <a:ext cx="2130552" cy="182880"/>
          </a:xfrm>
          <a:prstGeom prst="rect">
            <a:avLst/>
          </a:prstGeom>
          <a:noFill/>
        </p:spPr>
        <p:txBody>
          <a:bodyPr wrap="square" lIns="0" rIns="0" tIns="0" bIns="0" anchor="ctr">
            <a:spAutoFit/>
          </a:bodyPr>
          <a:lstStyle/>
          <a:p>
            <a:pPr algn="ctr"/>
            <a:r>
              <a:rPr sz="1250" b="0" lang="en-US">
                <a:solidFill>
                  <a:srgbClr val="67747C"/>
                </a:solidFill>
                <a:latin typeface="Arial"/>
              </a:rPr>
              <a:t>Separate paths</a:t>
            </a:r>
          </a:p>
        </p:txBody>
      </p:sp>
      <p:cxnSp>
        <p:nvCxnSpPr>
          <p:cNvPr id="49" name="Connector 48"/>
          <p:cNvCxnSpPr/>
          <p:nvPr/>
        </p:nvCxnSpPr>
        <p:spPr>
          <a:xfrm>
            <a:off x="5925312" y="5061204"/>
            <a:ext cx="384048"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Key use: Sello · tool receipts → transparency log / AIR · inference evidence → agent verification"/>
          <p:cNvSpPr txBox="1"/>
          <p:nvPr/>
        </p:nvSpPr>
        <p:spPr>
          <a:xfrm>
            <a:off x="6419088" y="4791456"/>
            <a:ext cx="4946904" cy="585216"/>
          </a:xfrm>
          <a:prstGeom prst="rect">
            <a:avLst/>
          </a:prstGeom>
          <a:noFill/>
        </p:spPr>
        <p:txBody>
          <a:bodyPr wrap="square" lIns="0" rIns="0" tIns="0" bIns="0" anchor="ctr">
            <a:spAutoFit/>
          </a:bodyPr>
          <a:lstStyle/>
          <a:p>
            <a:pPr algn="l"/>
            <a:r>
              <a:rPr sz="1450" b="0" lang="en-US">
                <a:solidFill>
                  <a:srgbClr val="263440"/>
                </a:solidFill>
                <a:latin typeface="Arial"/>
              </a:rPr>
              <a:t>Sello · tool receipts → transparency log
AIR · inference evidence → agent verification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Keys at work across the lifecycle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2935224" y="1435608"/>
            <a:ext cx="6318504" cy="448056"/>
          </a:xfrm>
          <a:prstGeom prst="roundRect">
            <a:avLst/>
          </a:prstGeom>
          <a:solidFill>
            <a:srgbClr val="F3F5F6"/>
          </a:solidFill>
          <a:ln w="1397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use: dstack · separate derivation paths"/>
          <p:cNvSpPr txBox="1"/>
          <p:nvPr/>
        </p:nvSpPr>
        <p:spPr>
          <a:xfrm>
            <a:off x="3008376" y="1467612"/>
            <a:ext cx="6172200" cy="384048"/>
          </a:xfrm>
          <a:prstGeom prst="rect">
            <a:avLst/>
          </a:prstGeom>
          <a:noFill/>
        </p:spPr>
        <p:txBody>
          <a:bodyPr wrap="square" lIns="0" rIns="0" tIns="0" bIns="0" anchor="ctr">
            <a:spAutoFit/>
          </a:bodyPr>
          <a:lstStyle/>
          <a:p>
            <a:pPr algn="ctr"/>
            <a:r>
              <a:rPr sz="1700" b="1" lang="en-US">
                <a:solidFill>
                  <a:srgbClr val="263440"/>
                </a:solidFill>
                <a:latin typeface="Arial"/>
              </a:rPr>
              <a:t>dstack · separate derivation paths</a:t>
            </a:r>
          </a:p>
        </p:txBody>
      </p:sp>
      <p:cxnSp>
        <p:nvCxnSpPr>
          <p:cNvPr id="15" name="Key use icon: blockchain / 1"/>
          <p:cNvCxnSpPr/>
          <p:nvPr/>
        </p:nvCxnSpPr>
        <p:spPr>
          <a:xfrm>
            <a:off x="2021967" y="2277999"/>
            <a:ext cx="252603" cy="0"/>
          </a:xfrm>
          <a:prstGeom prst="line">
            <a:avLst/>
          </a:prstGeom>
          <a:ln w="2758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6" name="Key use icon: blockchain / 2"/>
          <p:cNvCxnSpPr/>
          <p:nvPr/>
        </p:nvCxnSpPr>
        <p:spPr>
          <a:xfrm>
            <a:off x="2274570" y="2277999"/>
            <a:ext cx="0" cy="272034"/>
          </a:xfrm>
          <a:prstGeom prst="line">
            <a:avLst/>
          </a:prstGeom>
          <a:ln w="2758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7" name="Key use icon: blockchain / 3"/>
          <p:cNvCxnSpPr/>
          <p:nvPr/>
        </p:nvCxnSpPr>
        <p:spPr>
          <a:xfrm flipH="1">
            <a:off x="2021967" y="2550033"/>
            <a:ext cx="252603" cy="0"/>
          </a:xfrm>
          <a:prstGeom prst="line">
            <a:avLst/>
          </a:prstGeom>
          <a:ln w="2758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8" name="Key use icon: blockchain / 4"/>
          <p:cNvCxnSpPr/>
          <p:nvPr/>
        </p:nvCxnSpPr>
        <p:spPr>
          <a:xfrm flipV="1">
            <a:off x="2021967" y="2277999"/>
            <a:ext cx="0" cy="272034"/>
          </a:xfrm>
          <a:prstGeom prst="line">
            <a:avLst/>
          </a:prstGeom>
          <a:ln w="2758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19" name="Key use icon: blockchain / 5"/>
          <p:cNvSpPr/>
          <p:nvPr/>
        </p:nvSpPr>
        <p:spPr>
          <a:xfrm>
            <a:off x="1924812" y="2180844"/>
            <a:ext cx="155448" cy="155448"/>
          </a:xfrm>
          <a:prstGeom prst="roundRect">
            <a:avLst/>
          </a:prstGeom>
          <a:solidFill>
            <a:srgbClr val="FFFFFF"/>
          </a:solidFill>
          <a:ln w="2758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Key use icon: blockchain / 6"/>
          <p:cNvSpPr/>
          <p:nvPr/>
        </p:nvSpPr>
        <p:spPr>
          <a:xfrm>
            <a:off x="2235708" y="2180844"/>
            <a:ext cx="155448" cy="155448"/>
          </a:xfrm>
          <a:prstGeom prst="roundRect">
            <a:avLst/>
          </a:prstGeom>
          <a:solidFill>
            <a:srgbClr val="FFFFFF"/>
          </a:solidFill>
          <a:ln w="2758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Key use icon: blockchain / 7"/>
          <p:cNvSpPr/>
          <p:nvPr/>
        </p:nvSpPr>
        <p:spPr>
          <a:xfrm>
            <a:off x="1924812" y="2491739"/>
            <a:ext cx="155448" cy="155448"/>
          </a:xfrm>
          <a:prstGeom prst="roundRect">
            <a:avLst/>
          </a:prstGeom>
          <a:solidFill>
            <a:srgbClr val="FFFFFF"/>
          </a:solidFill>
          <a:ln w="2758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Key use icon: blockchain / 8"/>
          <p:cNvSpPr/>
          <p:nvPr/>
        </p:nvSpPr>
        <p:spPr>
          <a:xfrm>
            <a:off x="2235708" y="2491739"/>
            <a:ext cx="155448" cy="155448"/>
          </a:xfrm>
          <a:prstGeom prst="roundRect">
            <a:avLst/>
          </a:prstGeom>
          <a:solidFill>
            <a:srgbClr val="FFFFFF"/>
          </a:solidFill>
          <a:ln w="2758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Key use: Coordinate DFL"/>
          <p:cNvSpPr txBox="1"/>
          <p:nvPr/>
        </p:nvSpPr>
        <p:spPr>
          <a:xfrm>
            <a:off x="539495" y="2825496"/>
            <a:ext cx="3236976" cy="374904"/>
          </a:xfrm>
          <a:prstGeom prst="rect">
            <a:avLst/>
          </a:prstGeom>
          <a:noFill/>
        </p:spPr>
        <p:txBody>
          <a:bodyPr wrap="square" lIns="0" rIns="0" tIns="0" bIns="0" anchor="ctr">
            <a:spAutoFit/>
          </a:bodyPr>
          <a:lstStyle/>
          <a:p>
            <a:pPr algn="ctr"/>
            <a:r>
              <a:rPr sz="2100" b="1" lang="en-US">
                <a:solidFill>
                  <a:srgbClr val="1764A1"/>
                </a:solidFill>
                <a:latin typeface="Arial"/>
              </a:rPr>
              <a:t>Coordinate DFL</a:t>
            </a:r>
          </a:p>
        </p:txBody>
      </p:sp>
      <p:cxnSp>
        <p:nvCxnSpPr>
          <p:cNvPr id="24" name="Key use icon: encryption / 1"/>
          <p:cNvCxnSpPr/>
          <p:nvPr/>
        </p:nvCxnSpPr>
        <p:spPr>
          <a:xfrm flipV="1">
            <a:off x="5963031" y="2297429"/>
            <a:ext cx="0" cy="97156"/>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5" name="Key use icon: encryption / 2"/>
          <p:cNvCxnSpPr/>
          <p:nvPr/>
        </p:nvCxnSpPr>
        <p:spPr>
          <a:xfrm flipV="1">
            <a:off x="5963031" y="2252900"/>
            <a:ext cx="5352" cy="44529"/>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6" name="Key use icon: encryption / 3"/>
          <p:cNvCxnSpPr/>
          <p:nvPr/>
        </p:nvCxnSpPr>
        <p:spPr>
          <a:xfrm flipV="1">
            <a:off x="5968383" y="2216467"/>
            <a:ext cx="14798" cy="36433"/>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7" name="Key use icon: encryption / 4"/>
          <p:cNvCxnSpPr/>
          <p:nvPr/>
        </p:nvCxnSpPr>
        <p:spPr>
          <a:xfrm flipV="1">
            <a:off x="5983181" y="2188130"/>
            <a:ext cx="22355" cy="28337"/>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8" name="Key use icon: encryption / 5"/>
          <p:cNvCxnSpPr/>
          <p:nvPr/>
        </p:nvCxnSpPr>
        <p:spPr>
          <a:xfrm flipV="1">
            <a:off x="6005536" y="2167890"/>
            <a:ext cx="28022" cy="20240"/>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9" name="Key use icon: encryption / 6"/>
          <p:cNvCxnSpPr/>
          <p:nvPr/>
        </p:nvCxnSpPr>
        <p:spPr>
          <a:xfrm flipV="1">
            <a:off x="6033558" y="2155745"/>
            <a:ext cx="31800" cy="12145"/>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0" name="Key use icon: encryption / 7"/>
          <p:cNvCxnSpPr/>
          <p:nvPr/>
        </p:nvCxnSpPr>
        <p:spPr>
          <a:xfrm flipV="1">
            <a:off x="6065358" y="2151697"/>
            <a:ext cx="33690" cy="4048"/>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1" name="Key use icon: encryption / 8"/>
          <p:cNvCxnSpPr/>
          <p:nvPr/>
        </p:nvCxnSpPr>
        <p:spPr>
          <a:xfrm>
            <a:off x="6099048" y="2151697"/>
            <a:ext cx="33689" cy="4048"/>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2" name="Key use icon: encryption / 9"/>
          <p:cNvCxnSpPr/>
          <p:nvPr/>
        </p:nvCxnSpPr>
        <p:spPr>
          <a:xfrm>
            <a:off x="6132737" y="2155745"/>
            <a:ext cx="31800" cy="12145"/>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3" name="Key use icon: encryption / 10"/>
          <p:cNvCxnSpPr/>
          <p:nvPr/>
        </p:nvCxnSpPr>
        <p:spPr>
          <a:xfrm>
            <a:off x="6164537" y="2167890"/>
            <a:ext cx="28022" cy="20240"/>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4" name="Key use icon: encryption / 11"/>
          <p:cNvCxnSpPr/>
          <p:nvPr/>
        </p:nvCxnSpPr>
        <p:spPr>
          <a:xfrm>
            <a:off x="6192559" y="2188130"/>
            <a:ext cx="22355" cy="28337"/>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5" name="Key use icon: encryption / 12"/>
          <p:cNvCxnSpPr/>
          <p:nvPr/>
        </p:nvCxnSpPr>
        <p:spPr>
          <a:xfrm>
            <a:off x="6214914" y="2216467"/>
            <a:ext cx="14798" cy="36433"/>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6" name="Key use icon: encryption / 13"/>
          <p:cNvCxnSpPr/>
          <p:nvPr/>
        </p:nvCxnSpPr>
        <p:spPr>
          <a:xfrm>
            <a:off x="6229712" y="2252900"/>
            <a:ext cx="5353" cy="44529"/>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7" name="Key use icon: encryption / 14"/>
          <p:cNvCxnSpPr/>
          <p:nvPr/>
        </p:nvCxnSpPr>
        <p:spPr>
          <a:xfrm>
            <a:off x="6235065" y="2297429"/>
            <a:ext cx="0" cy="97156"/>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38" name="Key use icon: encryption / 15"/>
          <p:cNvSpPr/>
          <p:nvPr/>
        </p:nvSpPr>
        <p:spPr>
          <a:xfrm>
            <a:off x="5885307" y="2355723"/>
            <a:ext cx="427482" cy="310896"/>
          </a:xfrm>
          <a:prstGeom prst="roundRect">
            <a:avLst/>
          </a:prstGeom>
          <a:solidFill>
            <a:srgbClr val="FFFFFF"/>
          </a:solidFill>
          <a:ln w="2758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Key use icon: encryption / 16"/>
          <p:cNvSpPr/>
          <p:nvPr/>
        </p:nvSpPr>
        <p:spPr>
          <a:xfrm>
            <a:off x="6069901" y="2452877"/>
            <a:ext cx="58293" cy="58293"/>
          </a:xfrm>
          <a:prstGeom prst="ellipse">
            <a:avLst/>
          </a:prstGeom>
          <a:solidFill>
            <a:srgbClr val="7446A6"/>
          </a:solidFill>
          <a:ln w="2758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Key use icon: encryption / 17"/>
          <p:cNvCxnSpPr/>
          <p:nvPr/>
        </p:nvCxnSpPr>
        <p:spPr>
          <a:xfrm>
            <a:off x="6099048" y="2511171"/>
            <a:ext cx="0" cy="58292"/>
          </a:xfrm>
          <a:prstGeom prst="line">
            <a:avLst/>
          </a:prstGeom>
          <a:ln w="27587"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41" name="Key use: Exchange models"/>
          <p:cNvSpPr txBox="1"/>
          <p:nvPr/>
        </p:nvSpPr>
        <p:spPr>
          <a:xfrm>
            <a:off x="4480560" y="2825496"/>
            <a:ext cx="3236976" cy="374904"/>
          </a:xfrm>
          <a:prstGeom prst="rect">
            <a:avLst/>
          </a:prstGeom>
          <a:noFill/>
        </p:spPr>
        <p:txBody>
          <a:bodyPr wrap="square" lIns="0" rIns="0" tIns="0" bIns="0" anchor="ctr">
            <a:spAutoFit/>
          </a:bodyPr>
          <a:lstStyle/>
          <a:p>
            <a:pPr algn="ctr"/>
            <a:r>
              <a:rPr sz="2100" b="1" lang="en-US">
                <a:solidFill>
                  <a:srgbClr val="7446A6"/>
                </a:solidFill>
                <a:latin typeface="Arial"/>
              </a:rPr>
              <a:t>Exchange models</a:t>
            </a:r>
          </a:p>
        </p:txBody>
      </p:sp>
      <p:cxnSp>
        <p:nvCxnSpPr>
          <p:cNvPr id="42" name="Key use icon: attestation / 1"/>
          <p:cNvCxnSpPr/>
          <p:nvPr/>
        </p:nvCxnSpPr>
        <p:spPr>
          <a:xfrm flipH="1">
            <a:off x="9845802" y="2161413"/>
            <a:ext cx="272034" cy="0"/>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Key use icon: attestation / 2"/>
          <p:cNvCxnSpPr/>
          <p:nvPr/>
        </p:nvCxnSpPr>
        <p:spPr>
          <a:xfrm>
            <a:off x="9845802" y="2161413"/>
            <a:ext cx="0" cy="505206"/>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Key use icon: attestation / 3"/>
          <p:cNvCxnSpPr/>
          <p:nvPr/>
        </p:nvCxnSpPr>
        <p:spPr>
          <a:xfrm>
            <a:off x="9845802" y="2666619"/>
            <a:ext cx="388620" cy="0"/>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Key use icon: attestation / 4"/>
          <p:cNvCxnSpPr/>
          <p:nvPr/>
        </p:nvCxnSpPr>
        <p:spPr>
          <a:xfrm flipV="1">
            <a:off x="10234422" y="2277999"/>
            <a:ext cx="0" cy="388620"/>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Key use icon: attestation / 5"/>
          <p:cNvCxnSpPr/>
          <p:nvPr/>
        </p:nvCxnSpPr>
        <p:spPr>
          <a:xfrm flipH="1" flipV="1">
            <a:off x="10117836" y="2161413"/>
            <a:ext cx="116586" cy="116586"/>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Key use icon: attestation / 6"/>
          <p:cNvCxnSpPr/>
          <p:nvPr/>
        </p:nvCxnSpPr>
        <p:spPr>
          <a:xfrm>
            <a:off x="10117836" y="2161413"/>
            <a:ext cx="0" cy="116586"/>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Key use icon: attestation / 7"/>
          <p:cNvCxnSpPr/>
          <p:nvPr/>
        </p:nvCxnSpPr>
        <p:spPr>
          <a:xfrm>
            <a:off x="10117836" y="2277999"/>
            <a:ext cx="116586" cy="0"/>
          </a:xfrm>
          <a:prstGeom prst="line">
            <a:avLst/>
          </a:prstGeom>
          <a:ln w="27587"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Key use icon: attestation / 8"/>
          <p:cNvCxnSpPr/>
          <p:nvPr/>
        </p:nvCxnSpPr>
        <p:spPr>
          <a:xfrm>
            <a:off x="9923526" y="2336291"/>
            <a:ext cx="136017" cy="0"/>
          </a:xfrm>
          <a:prstGeom prst="line">
            <a:avLst/>
          </a:prstGeom>
          <a:ln w="21590"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Key use icon: attestation / 9"/>
          <p:cNvCxnSpPr/>
          <p:nvPr/>
        </p:nvCxnSpPr>
        <p:spPr>
          <a:xfrm>
            <a:off x="9923526" y="2414015"/>
            <a:ext cx="97155" cy="0"/>
          </a:xfrm>
          <a:prstGeom prst="line">
            <a:avLst/>
          </a:prstGeom>
          <a:ln w="21590"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1" name="Key use icon: attestation / 10"/>
          <p:cNvCxnSpPr/>
          <p:nvPr/>
        </p:nvCxnSpPr>
        <p:spPr>
          <a:xfrm>
            <a:off x="9942957" y="2530602"/>
            <a:ext cx="77724" cy="77724"/>
          </a:xfrm>
          <a:prstGeom prst="line">
            <a:avLst/>
          </a:prstGeom>
          <a:ln w="35983" cap="rnd">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Key use icon: attestation / 11"/>
          <p:cNvCxnSpPr/>
          <p:nvPr/>
        </p:nvCxnSpPr>
        <p:spPr>
          <a:xfrm flipV="1">
            <a:off x="10020681" y="2433447"/>
            <a:ext cx="174879" cy="174879"/>
          </a:xfrm>
          <a:prstGeom prst="line">
            <a:avLst/>
          </a:prstGeom>
          <a:ln w="35983" cap="rnd">
            <a:solidFill>
              <a:srgbClr val="207548"/>
            </a:solidFill>
          </a:ln>
        </p:spPr>
        <p:style>
          <a:lnRef idx="2">
            <a:schemeClr val="accent1"/>
          </a:lnRef>
          <a:fillRef idx="0">
            <a:schemeClr val="accent1"/>
          </a:fillRef>
          <a:effectRef idx="1">
            <a:schemeClr val="accent1"/>
          </a:effectRef>
          <a:fontRef idx="minor">
            <a:schemeClr val="tx1"/>
          </a:fontRef>
        </p:style>
      </p:cxnSp>
      <p:sp>
        <p:nvSpPr>
          <p:cNvPr id="53" name="Key use: Prove model use"/>
          <p:cNvSpPr txBox="1"/>
          <p:nvPr/>
        </p:nvSpPr>
        <p:spPr>
          <a:xfrm>
            <a:off x="8421624" y="2825496"/>
            <a:ext cx="3236976" cy="374904"/>
          </a:xfrm>
          <a:prstGeom prst="rect">
            <a:avLst/>
          </a:prstGeom>
          <a:noFill/>
        </p:spPr>
        <p:txBody>
          <a:bodyPr wrap="square" lIns="0" rIns="0" tIns="0" bIns="0" anchor="ctr">
            <a:spAutoFit/>
          </a:bodyPr>
          <a:lstStyle/>
          <a:p>
            <a:pPr algn="ctr"/>
            <a:r>
              <a:rPr sz="2100" b="1" lang="en-US">
                <a:solidFill>
                  <a:srgbClr val="207548"/>
                </a:solidFill>
                <a:latin typeface="Arial"/>
              </a:rPr>
              <a:t>Prove model use</a:t>
            </a:r>
          </a:p>
        </p:txBody>
      </p:sp>
      <p:cxnSp>
        <p:nvCxnSpPr>
          <p:cNvPr id="54" name="Connector 53"/>
          <p:cNvCxnSpPr/>
          <p:nvPr/>
        </p:nvCxnSpPr>
        <p:spPr>
          <a:xfrm>
            <a:off x="2615184" y="2432304"/>
            <a:ext cx="2990088" cy="0"/>
          </a:xfrm>
          <a:prstGeom prst="line">
            <a:avLst/>
          </a:prstGeom>
          <a:ln w="25400">
            <a:solidFill>
              <a:srgbClr val="67747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83680" y="2432304"/>
            <a:ext cx="2971800" cy="0"/>
          </a:xfrm>
          <a:prstGeom prst="line">
            <a:avLst/>
          </a:prstGeom>
          <a:ln w="25400">
            <a:solidFill>
              <a:srgbClr val="6774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Key use: Sign update commitments / Finalize aggregation"/>
          <p:cNvSpPr txBox="1"/>
          <p:nvPr/>
        </p:nvSpPr>
        <p:spPr>
          <a:xfrm>
            <a:off x="576072" y="3401568"/>
            <a:ext cx="3163824" cy="649224"/>
          </a:xfrm>
          <a:prstGeom prst="rect">
            <a:avLst/>
          </a:prstGeom>
          <a:noFill/>
        </p:spPr>
        <p:txBody>
          <a:bodyPr wrap="square" lIns="0" rIns="0" tIns="0" bIns="0" anchor="ctr">
            <a:spAutoFit/>
          </a:bodyPr>
          <a:lstStyle/>
          <a:p>
            <a:pPr algn="ctr"/>
            <a:r>
              <a:rPr sz="1700" b="0" lang="en-US">
                <a:solidFill>
                  <a:srgbClr val="263440"/>
                </a:solidFill>
                <a:latin typeface="Arial"/>
              </a:rPr>
              <a:t>Sign update commitments
Finalize aggregation</a:t>
            </a:r>
          </a:p>
        </p:txBody>
      </p:sp>
      <p:sp>
        <p:nvSpPr>
          <p:cNvPr id="57" name="Key use: Sign model packages / Unwrap model-encryption keys"/>
          <p:cNvSpPr txBox="1"/>
          <p:nvPr/>
        </p:nvSpPr>
        <p:spPr>
          <a:xfrm>
            <a:off x="4251960" y="3401568"/>
            <a:ext cx="3694176" cy="649224"/>
          </a:xfrm>
          <a:prstGeom prst="rect">
            <a:avLst/>
          </a:prstGeom>
          <a:noFill/>
        </p:spPr>
        <p:txBody>
          <a:bodyPr wrap="square" lIns="0" rIns="0" tIns="0" bIns="0" anchor="ctr">
            <a:spAutoFit/>
          </a:bodyPr>
          <a:lstStyle/>
          <a:p>
            <a:pPr algn="ctr"/>
            <a:r>
              <a:rPr sz="1600" b="0" lang="en-US">
                <a:solidFill>
                  <a:srgbClr val="263440"/>
                </a:solidFill>
                <a:latin typeface="Arial"/>
              </a:rPr>
              <a:t>Sign model packages
Unwrap model-encryption keys</a:t>
            </a:r>
          </a:p>
        </p:txBody>
      </p:sp>
      <p:sp>
        <p:nvSpPr>
          <p:cNvPr id="58" name="Key use: Sign tool receipts / Sign inference evidence"/>
          <p:cNvSpPr txBox="1"/>
          <p:nvPr/>
        </p:nvSpPr>
        <p:spPr>
          <a:xfrm>
            <a:off x="8348472" y="3401568"/>
            <a:ext cx="3374136" cy="649224"/>
          </a:xfrm>
          <a:prstGeom prst="rect">
            <a:avLst/>
          </a:prstGeom>
          <a:noFill/>
        </p:spPr>
        <p:txBody>
          <a:bodyPr wrap="square" lIns="0" rIns="0" tIns="0" bIns="0" anchor="ctr">
            <a:spAutoFit/>
          </a:bodyPr>
          <a:lstStyle/>
          <a:p>
            <a:pPr algn="ctr"/>
            <a:r>
              <a:rPr sz="1700" b="0" lang="en-US">
                <a:solidFill>
                  <a:srgbClr val="263440"/>
                </a:solidFill>
                <a:latin typeface="Arial"/>
              </a:rPr>
              <a:t>Sign tool receipts
Sign inference evidence</a:t>
            </a:r>
          </a:p>
        </p:txBody>
      </p:sp>
      <p:sp>
        <p:nvSpPr>
          <p:cNvPr id="59" name="Rounded Rectangle 58"/>
          <p:cNvSpPr/>
          <p:nvPr/>
        </p:nvSpPr>
        <p:spPr>
          <a:xfrm>
            <a:off x="667512" y="4297680"/>
            <a:ext cx="2971800" cy="429768"/>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Key use: secp256k1"/>
          <p:cNvSpPr txBox="1"/>
          <p:nvPr/>
        </p:nvSpPr>
        <p:spPr>
          <a:xfrm>
            <a:off x="740664" y="4329684"/>
            <a:ext cx="2825496" cy="365759"/>
          </a:xfrm>
          <a:prstGeom prst="rect">
            <a:avLst/>
          </a:prstGeom>
          <a:noFill/>
        </p:spPr>
        <p:txBody>
          <a:bodyPr wrap="square" lIns="0" rIns="0" tIns="0" bIns="0" anchor="ctr">
            <a:spAutoFit/>
          </a:bodyPr>
          <a:lstStyle/>
          <a:p>
            <a:pPr algn="ctr"/>
            <a:r>
              <a:rPr sz="1900" b="1" lang="en-US">
                <a:solidFill>
                  <a:srgbClr val="1764A1"/>
                </a:solidFill>
                <a:latin typeface="Arial"/>
              </a:rPr>
              <a:t>secp256k1</a:t>
            </a:r>
          </a:p>
        </p:txBody>
      </p:sp>
      <p:sp>
        <p:nvSpPr>
          <p:cNvPr id="61" name="Rounded Rectangle 60"/>
          <p:cNvSpPr/>
          <p:nvPr/>
        </p:nvSpPr>
        <p:spPr>
          <a:xfrm>
            <a:off x="4489704" y="4297680"/>
            <a:ext cx="3209544" cy="429768"/>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Key use: RSA-3072"/>
          <p:cNvSpPr txBox="1"/>
          <p:nvPr/>
        </p:nvSpPr>
        <p:spPr>
          <a:xfrm>
            <a:off x="4562856" y="4329684"/>
            <a:ext cx="3063239" cy="365759"/>
          </a:xfrm>
          <a:prstGeom prst="rect">
            <a:avLst/>
          </a:prstGeom>
          <a:noFill/>
        </p:spPr>
        <p:txBody>
          <a:bodyPr wrap="square" lIns="0" rIns="0" tIns="0" bIns="0" anchor="ctr">
            <a:spAutoFit/>
          </a:bodyPr>
          <a:lstStyle/>
          <a:p>
            <a:pPr algn="ctr"/>
            <a:r>
              <a:rPr sz="1900" b="1" lang="en-US">
                <a:solidFill>
                  <a:srgbClr val="7446A6"/>
                </a:solidFill>
                <a:latin typeface="Arial"/>
              </a:rPr>
              <a:t>RSA-3072</a:t>
            </a:r>
          </a:p>
        </p:txBody>
      </p:sp>
      <p:sp>
        <p:nvSpPr>
          <p:cNvPr id="63" name="Rounded Rectangle 62"/>
          <p:cNvSpPr/>
          <p:nvPr/>
        </p:nvSpPr>
        <p:spPr>
          <a:xfrm>
            <a:off x="8366760" y="4297680"/>
            <a:ext cx="3346704" cy="429768"/>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Key use: Ed25519 · separate keys"/>
          <p:cNvSpPr txBox="1"/>
          <p:nvPr/>
        </p:nvSpPr>
        <p:spPr>
          <a:xfrm>
            <a:off x="8439912" y="4329684"/>
            <a:ext cx="3200400" cy="365759"/>
          </a:xfrm>
          <a:prstGeom prst="rect">
            <a:avLst/>
          </a:prstGeom>
          <a:noFill/>
        </p:spPr>
        <p:txBody>
          <a:bodyPr wrap="square" lIns="0" rIns="0" tIns="0" bIns="0" anchor="ctr">
            <a:spAutoFit/>
          </a:bodyPr>
          <a:lstStyle/>
          <a:p>
            <a:pPr algn="ctr"/>
            <a:r>
              <a:rPr sz="1600" b="1" lang="en-US">
                <a:solidFill>
                  <a:srgbClr val="207548"/>
                </a:solidFill>
                <a:latin typeface="Arial"/>
              </a:rPr>
              <a:t>Ed25519 · separate keys</a:t>
            </a:r>
          </a:p>
        </p:txBody>
      </p:sp>
      <p:sp>
        <p:nvSpPr>
          <p:cNvPr id="65" name="Key use: Authorize the participant’s / blockchain transactions"/>
          <p:cNvSpPr txBox="1"/>
          <p:nvPr/>
        </p:nvSpPr>
        <p:spPr>
          <a:xfrm>
            <a:off x="621792" y="4946904"/>
            <a:ext cx="3072384" cy="576072"/>
          </a:xfrm>
          <a:prstGeom prst="rect">
            <a:avLst/>
          </a:prstGeom>
          <a:noFill/>
        </p:spPr>
        <p:txBody>
          <a:bodyPr wrap="square" lIns="0" rIns="0" tIns="0" bIns="0" anchor="ctr">
            <a:spAutoFit/>
          </a:bodyPr>
          <a:lstStyle/>
          <a:p>
            <a:pPr algn="ctr"/>
            <a:r>
              <a:rPr sz="1500" b="0" lang="en-US">
                <a:solidFill>
                  <a:srgbClr val="67747C"/>
                </a:solidFill>
                <a:latin typeface="Arial"/>
              </a:rPr>
              <a:t>Authorize the participant’s
blockchain transactions</a:t>
            </a:r>
          </a:p>
        </p:txBody>
      </p:sp>
      <p:sp>
        <p:nvSpPr>
          <p:cNvPr id="66" name="Key use: Derived AES-GCM key / seals the random RSA private key"/>
          <p:cNvSpPr txBox="1"/>
          <p:nvPr/>
        </p:nvSpPr>
        <p:spPr>
          <a:xfrm>
            <a:off x="4233672" y="4946904"/>
            <a:ext cx="3730752" cy="576072"/>
          </a:xfrm>
          <a:prstGeom prst="rect">
            <a:avLst/>
          </a:prstGeom>
          <a:noFill/>
        </p:spPr>
        <p:txBody>
          <a:bodyPr wrap="square" lIns="0" rIns="0" tIns="0" bIns="0" anchor="ctr">
            <a:spAutoFit/>
          </a:bodyPr>
          <a:lstStyle/>
          <a:p>
            <a:pPr algn="ctr"/>
            <a:r>
              <a:rPr sz="1450" b="0" lang="en-US">
                <a:solidFill>
                  <a:srgbClr val="67747C"/>
                </a:solidFill>
                <a:latin typeface="Arial"/>
              </a:rPr>
              <a:t>Derived AES-GCM key
seals the random RSA private key</a:t>
            </a:r>
          </a:p>
        </p:txBody>
      </p:sp>
      <p:sp>
        <p:nvSpPr>
          <p:cNvPr id="67" name="Key use: Sello → transparency log / AIR → agent verification"/>
          <p:cNvSpPr txBox="1"/>
          <p:nvPr/>
        </p:nvSpPr>
        <p:spPr>
          <a:xfrm>
            <a:off x="8385048" y="4946904"/>
            <a:ext cx="3310128" cy="576072"/>
          </a:xfrm>
          <a:prstGeom prst="rect">
            <a:avLst/>
          </a:prstGeom>
          <a:noFill/>
        </p:spPr>
        <p:txBody>
          <a:bodyPr wrap="square" lIns="0" rIns="0" tIns="0" bIns="0" anchor="ctr">
            <a:spAutoFit/>
          </a:bodyPr>
          <a:lstStyle/>
          <a:p>
            <a:pPr algn="ctr"/>
            <a:r>
              <a:rPr sz="1500" b="0" lang="en-US">
                <a:solidFill>
                  <a:srgbClr val="67747C"/>
                </a:solidFill>
                <a:latin typeface="Arial"/>
              </a:rPr>
              <a:t>Sello → transparency log
AIR → agent verification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From protected keys to model access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594360" y="1609344"/>
            <a:ext cx="2157984" cy="960120"/>
          </a:xfrm>
          <a:prstGeom prst="roundRect">
            <a:avLst/>
          </a:prstGeom>
          <a:solidFill>
            <a:srgbClr val="F3F5F6"/>
          </a:solidFill>
          <a:ln w="1397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use: dstack"/>
          <p:cNvSpPr txBox="1"/>
          <p:nvPr/>
        </p:nvSpPr>
        <p:spPr>
          <a:xfrm>
            <a:off x="749808" y="1728216"/>
            <a:ext cx="1847088" cy="365760"/>
          </a:xfrm>
          <a:prstGeom prst="rect">
            <a:avLst/>
          </a:prstGeom>
          <a:noFill/>
        </p:spPr>
        <p:txBody>
          <a:bodyPr wrap="square" lIns="0" rIns="0" tIns="0" bIns="0" anchor="ctr">
            <a:spAutoFit/>
          </a:bodyPr>
          <a:lstStyle/>
          <a:p>
            <a:pPr algn="ctr"/>
            <a:r>
              <a:rPr sz="2200" b="1" lang="en-US">
                <a:solidFill>
                  <a:srgbClr val="263440"/>
                </a:solidFill>
                <a:latin typeface="Arial"/>
              </a:rPr>
              <a:t>dstack</a:t>
            </a:r>
          </a:p>
        </p:txBody>
      </p:sp>
      <p:sp>
        <p:nvSpPr>
          <p:cNvPr id="15" name="Key use: GetKey(path)"/>
          <p:cNvSpPr txBox="1"/>
          <p:nvPr/>
        </p:nvSpPr>
        <p:spPr>
          <a:xfrm>
            <a:off x="749808" y="2194560"/>
            <a:ext cx="1847088" cy="228600"/>
          </a:xfrm>
          <a:prstGeom prst="rect">
            <a:avLst/>
          </a:prstGeom>
          <a:noFill/>
        </p:spPr>
        <p:txBody>
          <a:bodyPr wrap="square" lIns="0" rIns="0" tIns="0" bIns="0" anchor="ctr">
            <a:spAutoFit/>
          </a:bodyPr>
          <a:lstStyle/>
          <a:p>
            <a:pPr algn="ctr"/>
            <a:r>
              <a:rPr sz="1400" b="0" lang="en-US">
                <a:solidFill>
                  <a:srgbClr val="263440"/>
                </a:solidFill>
                <a:latin typeface="Arial"/>
              </a:rPr>
              <a:t>GetKey(path)</a:t>
            </a:r>
          </a:p>
        </p:txBody>
      </p:sp>
      <p:cxnSp>
        <p:nvCxnSpPr>
          <p:cNvPr id="16" name="Connector 15"/>
          <p:cNvCxnSpPr/>
          <p:nvPr/>
        </p:nvCxnSpPr>
        <p:spPr>
          <a:xfrm>
            <a:off x="2807208" y="2089404"/>
            <a:ext cx="457200" cy="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19272" y="1609344"/>
            <a:ext cx="2624328" cy="960120"/>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Key use: AES-GCM key"/>
          <p:cNvSpPr txBox="1"/>
          <p:nvPr/>
        </p:nvSpPr>
        <p:spPr>
          <a:xfrm>
            <a:off x="3474720" y="1746504"/>
            <a:ext cx="2313432" cy="320040"/>
          </a:xfrm>
          <a:prstGeom prst="rect">
            <a:avLst/>
          </a:prstGeom>
          <a:noFill/>
        </p:spPr>
        <p:txBody>
          <a:bodyPr wrap="square" lIns="0" rIns="0" tIns="0" bIns="0" anchor="ctr">
            <a:spAutoFit/>
          </a:bodyPr>
          <a:lstStyle/>
          <a:p>
            <a:pPr algn="ctr"/>
            <a:r>
              <a:rPr sz="1800" b="1" lang="en-US">
                <a:solidFill>
                  <a:srgbClr val="7446A6"/>
                </a:solidFill>
                <a:latin typeface="Arial"/>
              </a:rPr>
              <a:t>AES-GCM key</a:t>
            </a:r>
          </a:p>
        </p:txBody>
      </p:sp>
      <p:sp>
        <p:nvSpPr>
          <p:cNvPr id="19" name="Key use: Derived with HKDF"/>
          <p:cNvSpPr txBox="1"/>
          <p:nvPr/>
        </p:nvSpPr>
        <p:spPr>
          <a:xfrm>
            <a:off x="3474720" y="2194560"/>
            <a:ext cx="2313432" cy="228600"/>
          </a:xfrm>
          <a:prstGeom prst="rect">
            <a:avLst/>
          </a:prstGeom>
          <a:noFill/>
        </p:spPr>
        <p:txBody>
          <a:bodyPr wrap="square" lIns="0" rIns="0" tIns="0" bIns="0" anchor="ctr">
            <a:spAutoFit/>
          </a:bodyPr>
          <a:lstStyle/>
          <a:p>
            <a:pPr algn="ctr"/>
            <a:r>
              <a:rPr sz="1400" b="0" lang="en-US">
                <a:solidFill>
                  <a:srgbClr val="263440"/>
                </a:solidFill>
                <a:latin typeface="Arial"/>
              </a:rPr>
              <a:t>Derived with HKDF</a:t>
            </a:r>
          </a:p>
        </p:txBody>
      </p:sp>
      <p:sp>
        <p:nvSpPr>
          <p:cNvPr id="20" name="Key use: Seal / restore"/>
          <p:cNvSpPr txBox="1"/>
          <p:nvPr/>
        </p:nvSpPr>
        <p:spPr>
          <a:xfrm>
            <a:off x="6044184" y="1719072"/>
            <a:ext cx="1271016" cy="246888"/>
          </a:xfrm>
          <a:prstGeom prst="rect">
            <a:avLst/>
          </a:prstGeom>
          <a:noFill/>
        </p:spPr>
        <p:txBody>
          <a:bodyPr wrap="square" lIns="0" rIns="0" tIns="0" bIns="0" anchor="ctr">
            <a:spAutoFit/>
          </a:bodyPr>
          <a:lstStyle/>
          <a:p>
            <a:pPr algn="ctr"/>
            <a:r>
              <a:rPr sz="1250" b="0" lang="en-US">
                <a:solidFill>
                  <a:srgbClr val="7446A6"/>
                </a:solidFill>
                <a:latin typeface="Arial"/>
              </a:rPr>
              <a:t>Seal / restore</a:t>
            </a:r>
          </a:p>
        </p:txBody>
      </p:sp>
      <p:cxnSp>
        <p:nvCxnSpPr>
          <p:cNvPr id="21" name="Connector 20"/>
          <p:cNvCxnSpPr/>
          <p:nvPr/>
        </p:nvCxnSpPr>
        <p:spPr>
          <a:xfrm>
            <a:off x="5998464" y="2089404"/>
            <a:ext cx="1371600" cy="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24927" y="1609344"/>
            <a:ext cx="4169663" cy="960120"/>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Key use: Random RSA-3072 key"/>
          <p:cNvSpPr txBox="1"/>
          <p:nvPr/>
        </p:nvSpPr>
        <p:spPr>
          <a:xfrm>
            <a:off x="7598664" y="1746504"/>
            <a:ext cx="3822191" cy="320040"/>
          </a:xfrm>
          <a:prstGeom prst="rect">
            <a:avLst/>
          </a:prstGeom>
          <a:noFill/>
        </p:spPr>
        <p:txBody>
          <a:bodyPr wrap="square" lIns="0" rIns="0" tIns="0" bIns="0" anchor="ctr">
            <a:spAutoFit/>
          </a:bodyPr>
          <a:lstStyle/>
          <a:p>
            <a:pPr algn="ctr"/>
            <a:r>
              <a:rPr sz="2100" b="1" lang="en-US">
                <a:solidFill>
                  <a:srgbClr val="7446A6"/>
                </a:solidFill>
                <a:latin typeface="Arial"/>
              </a:rPr>
              <a:t>Random RSA-3072 key</a:t>
            </a:r>
          </a:p>
        </p:txBody>
      </p:sp>
      <p:sp>
        <p:nvSpPr>
          <p:cNvPr id="24" name="Key use: Stored as sealed private-key state"/>
          <p:cNvSpPr txBox="1"/>
          <p:nvPr/>
        </p:nvSpPr>
        <p:spPr>
          <a:xfrm>
            <a:off x="7598664" y="2194560"/>
            <a:ext cx="3822191" cy="228600"/>
          </a:xfrm>
          <a:prstGeom prst="rect">
            <a:avLst/>
          </a:prstGeom>
          <a:noFill/>
        </p:spPr>
        <p:txBody>
          <a:bodyPr wrap="square" lIns="0" rIns="0" tIns="0" bIns="0" anchor="ctr">
            <a:spAutoFit/>
          </a:bodyPr>
          <a:lstStyle/>
          <a:p>
            <a:pPr algn="ctr"/>
            <a:r>
              <a:rPr sz="1400" b="0" lang="en-US">
                <a:solidFill>
                  <a:srgbClr val="263440"/>
                </a:solidFill>
                <a:latin typeface="Arial"/>
              </a:rPr>
              <a:t>Stored as sealed private-key state</a:t>
            </a:r>
          </a:p>
        </p:txBody>
      </p:sp>
      <p:cxnSp>
        <p:nvCxnSpPr>
          <p:cNvPr id="25" name="Connector 24"/>
          <p:cNvCxnSpPr/>
          <p:nvPr/>
        </p:nvCxnSpPr>
        <p:spPr>
          <a:xfrm>
            <a:off x="9509760" y="2615184"/>
            <a:ext cx="0" cy="201168"/>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362956" y="2816352"/>
            <a:ext cx="4146804"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62956" y="2816352"/>
            <a:ext cx="0" cy="210312"/>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79508" y="2816352"/>
            <a:ext cx="0" cy="210312"/>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2816352"/>
            <a:ext cx="269748"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749039" y="3072384"/>
            <a:ext cx="3227832" cy="1106424"/>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Key use: Sign model packages"/>
          <p:cNvSpPr txBox="1"/>
          <p:nvPr/>
        </p:nvSpPr>
        <p:spPr>
          <a:xfrm>
            <a:off x="3867912" y="3227832"/>
            <a:ext cx="2990088" cy="356616"/>
          </a:xfrm>
          <a:prstGeom prst="rect">
            <a:avLst/>
          </a:prstGeom>
          <a:noFill/>
        </p:spPr>
        <p:txBody>
          <a:bodyPr wrap="square" lIns="0" rIns="0" tIns="0" bIns="0" anchor="ctr">
            <a:spAutoFit/>
          </a:bodyPr>
          <a:lstStyle/>
          <a:p>
            <a:pPr algn="ctr"/>
            <a:r>
              <a:rPr sz="1800" b="1" lang="en-US">
                <a:solidFill>
                  <a:srgbClr val="7446A6"/>
                </a:solidFill>
                <a:latin typeface="Arial"/>
              </a:rPr>
              <a:t>Sign model packages</a:t>
            </a:r>
          </a:p>
        </p:txBody>
      </p:sp>
      <p:sp>
        <p:nvSpPr>
          <p:cNvPr id="32" name="Key use: Recipients verify the sender"/>
          <p:cNvSpPr txBox="1"/>
          <p:nvPr/>
        </p:nvSpPr>
        <p:spPr>
          <a:xfrm>
            <a:off x="3913632" y="3776472"/>
            <a:ext cx="2898648" cy="246888"/>
          </a:xfrm>
          <a:prstGeom prst="rect">
            <a:avLst/>
          </a:prstGeom>
          <a:noFill/>
        </p:spPr>
        <p:txBody>
          <a:bodyPr wrap="square" lIns="0" rIns="0" tIns="0" bIns="0" anchor="ctr">
            <a:spAutoFit/>
          </a:bodyPr>
          <a:lstStyle/>
          <a:p>
            <a:pPr algn="ctr"/>
            <a:r>
              <a:rPr sz="1400" b="0" lang="en-US">
                <a:solidFill>
                  <a:srgbClr val="263440"/>
                </a:solidFill>
                <a:latin typeface="Arial"/>
              </a:rPr>
              <a:t>Recipients verify the sender</a:t>
            </a:r>
          </a:p>
        </p:txBody>
      </p:sp>
      <p:sp>
        <p:nvSpPr>
          <p:cNvPr id="33" name="Rounded Rectangle 32"/>
          <p:cNvSpPr/>
          <p:nvPr/>
        </p:nvSpPr>
        <p:spPr>
          <a:xfrm>
            <a:off x="8010144" y="3072384"/>
            <a:ext cx="3547872" cy="1106424"/>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Key use: Unwrap the model key"/>
          <p:cNvSpPr txBox="1"/>
          <p:nvPr/>
        </p:nvSpPr>
        <p:spPr>
          <a:xfrm>
            <a:off x="8174736" y="3227832"/>
            <a:ext cx="3218688" cy="356616"/>
          </a:xfrm>
          <a:prstGeom prst="rect">
            <a:avLst/>
          </a:prstGeom>
          <a:noFill/>
        </p:spPr>
        <p:txBody>
          <a:bodyPr wrap="square" lIns="0" rIns="0" tIns="0" bIns="0" anchor="ctr">
            <a:spAutoFit/>
          </a:bodyPr>
          <a:lstStyle/>
          <a:p>
            <a:pPr algn="ctr"/>
            <a:r>
              <a:rPr sz="1900" b="1" lang="en-US">
                <a:solidFill>
                  <a:srgbClr val="7446A6"/>
                </a:solidFill>
                <a:latin typeface="Arial"/>
              </a:rPr>
              <a:t>Unwrap the model key</a:t>
            </a:r>
          </a:p>
        </p:txBody>
      </p:sp>
      <p:sp>
        <p:nvSpPr>
          <p:cNvPr id="35" name="Key use: Fresh AES key → decrypt model"/>
          <p:cNvSpPr txBox="1"/>
          <p:nvPr/>
        </p:nvSpPr>
        <p:spPr>
          <a:xfrm>
            <a:off x="8174736" y="3776472"/>
            <a:ext cx="3218688" cy="246888"/>
          </a:xfrm>
          <a:prstGeom prst="rect">
            <a:avLst/>
          </a:prstGeom>
          <a:noFill/>
        </p:spPr>
        <p:txBody>
          <a:bodyPr wrap="square" lIns="0" rIns="0" tIns="0" bIns="0" anchor="ctr">
            <a:spAutoFit/>
          </a:bodyPr>
          <a:lstStyle/>
          <a:p>
            <a:pPr algn="ctr"/>
            <a:r>
              <a:rPr sz="1400" b="0" lang="en-US">
                <a:solidFill>
                  <a:srgbClr val="263440"/>
                </a:solidFill>
                <a:latin typeface="Arial"/>
              </a:rPr>
              <a:t>Fresh AES key → decrypt model</a:t>
            </a:r>
          </a:p>
        </p:txBody>
      </p:sp>
      <p:cxnSp>
        <p:nvCxnSpPr>
          <p:cNvPr id="36" name="Key use icon: encryption / 1"/>
          <p:cNvCxnSpPr/>
          <p:nvPr/>
        </p:nvCxnSpPr>
        <p:spPr>
          <a:xfrm flipV="1">
            <a:off x="1404175" y="3215259"/>
            <a:ext cx="0" cy="94297"/>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7" name="Key use icon: encryption / 2"/>
          <p:cNvCxnSpPr/>
          <p:nvPr/>
        </p:nvCxnSpPr>
        <p:spPr>
          <a:xfrm flipV="1">
            <a:off x="1404175" y="3172039"/>
            <a:ext cx="5195" cy="43220"/>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8" name="Key use icon: encryption / 3"/>
          <p:cNvCxnSpPr/>
          <p:nvPr/>
        </p:nvCxnSpPr>
        <p:spPr>
          <a:xfrm flipV="1">
            <a:off x="1409370" y="3136677"/>
            <a:ext cx="14363" cy="35362"/>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39" name="Key use icon: encryption / 4"/>
          <p:cNvCxnSpPr/>
          <p:nvPr/>
        </p:nvCxnSpPr>
        <p:spPr>
          <a:xfrm flipV="1">
            <a:off x="1423733" y="3109174"/>
            <a:ext cx="21697" cy="27503"/>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0" name="Key use icon: encryption / 5"/>
          <p:cNvCxnSpPr/>
          <p:nvPr/>
        </p:nvCxnSpPr>
        <p:spPr>
          <a:xfrm flipV="1">
            <a:off x="1445430" y="3089529"/>
            <a:ext cx="27198" cy="19645"/>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1" name="Key use icon: encryption / 6"/>
          <p:cNvCxnSpPr/>
          <p:nvPr/>
        </p:nvCxnSpPr>
        <p:spPr>
          <a:xfrm flipV="1">
            <a:off x="1472628" y="3077741"/>
            <a:ext cx="30865" cy="11788"/>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2" name="Key use icon: encryption / 7"/>
          <p:cNvCxnSpPr/>
          <p:nvPr/>
        </p:nvCxnSpPr>
        <p:spPr>
          <a:xfrm flipV="1">
            <a:off x="1503493" y="3073812"/>
            <a:ext cx="32699" cy="3929"/>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3" name="Key use icon: encryption / 8"/>
          <p:cNvCxnSpPr/>
          <p:nvPr/>
        </p:nvCxnSpPr>
        <p:spPr>
          <a:xfrm>
            <a:off x="1536192" y="3073812"/>
            <a:ext cx="32698" cy="3929"/>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4" name="Key use icon: encryption / 9"/>
          <p:cNvCxnSpPr/>
          <p:nvPr/>
        </p:nvCxnSpPr>
        <p:spPr>
          <a:xfrm>
            <a:off x="1568890" y="3077741"/>
            <a:ext cx="30865" cy="11788"/>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5" name="Key use icon: encryption / 10"/>
          <p:cNvCxnSpPr/>
          <p:nvPr/>
        </p:nvCxnSpPr>
        <p:spPr>
          <a:xfrm>
            <a:off x="1599755" y="3089529"/>
            <a:ext cx="27198" cy="19645"/>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6" name="Key use icon: encryption / 11"/>
          <p:cNvCxnSpPr/>
          <p:nvPr/>
        </p:nvCxnSpPr>
        <p:spPr>
          <a:xfrm>
            <a:off x="1626953" y="3109174"/>
            <a:ext cx="21697" cy="27503"/>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Key use icon: encryption / 12"/>
          <p:cNvCxnSpPr/>
          <p:nvPr/>
        </p:nvCxnSpPr>
        <p:spPr>
          <a:xfrm>
            <a:off x="1648650" y="3136677"/>
            <a:ext cx="14363" cy="35362"/>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Key use icon: encryption / 13"/>
          <p:cNvCxnSpPr/>
          <p:nvPr/>
        </p:nvCxnSpPr>
        <p:spPr>
          <a:xfrm>
            <a:off x="1663013" y="3172039"/>
            <a:ext cx="5195" cy="43220"/>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9" name="Key use icon: encryption / 14"/>
          <p:cNvCxnSpPr/>
          <p:nvPr/>
        </p:nvCxnSpPr>
        <p:spPr>
          <a:xfrm>
            <a:off x="1668208" y="3215259"/>
            <a:ext cx="0" cy="94297"/>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50" name="Key use icon: encryption / 15"/>
          <p:cNvSpPr/>
          <p:nvPr/>
        </p:nvSpPr>
        <p:spPr>
          <a:xfrm>
            <a:off x="1328737" y="3271837"/>
            <a:ext cx="414909" cy="301752"/>
          </a:xfrm>
          <a:prstGeom prst="roundRect">
            <a:avLst/>
          </a:prstGeom>
          <a:solidFill>
            <a:srgbClr val="FFFFFF"/>
          </a:solidFill>
          <a:ln w="2677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Key use icon: encryption / 16"/>
          <p:cNvSpPr/>
          <p:nvPr/>
        </p:nvSpPr>
        <p:spPr>
          <a:xfrm>
            <a:off x="1507902" y="3366135"/>
            <a:ext cx="56578" cy="56578"/>
          </a:xfrm>
          <a:prstGeom prst="ellipse">
            <a:avLst/>
          </a:prstGeom>
          <a:solidFill>
            <a:srgbClr val="7446A6"/>
          </a:solidFill>
          <a:ln w="2677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Key use icon: encryption / 17"/>
          <p:cNvCxnSpPr/>
          <p:nvPr/>
        </p:nvCxnSpPr>
        <p:spPr>
          <a:xfrm>
            <a:off x="1536192" y="3422713"/>
            <a:ext cx="0" cy="56579"/>
          </a:xfrm>
          <a:prstGeom prst="line">
            <a:avLst/>
          </a:prstGeom>
          <a:ln w="26775"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53" name="Key use: KEY PROTECTION / AND MODEL ACCESS"/>
          <p:cNvSpPr txBox="1"/>
          <p:nvPr/>
        </p:nvSpPr>
        <p:spPr>
          <a:xfrm>
            <a:off x="594360" y="3721608"/>
            <a:ext cx="2157984" cy="557784"/>
          </a:xfrm>
          <a:prstGeom prst="rect">
            <a:avLst/>
          </a:prstGeom>
          <a:noFill/>
        </p:spPr>
        <p:txBody>
          <a:bodyPr wrap="square" lIns="0" rIns="0" tIns="0" bIns="0" anchor="ctr">
            <a:spAutoFit/>
          </a:bodyPr>
          <a:lstStyle/>
          <a:p>
            <a:pPr algn="ctr"/>
            <a:r>
              <a:rPr sz="1400" b="1" lang="en-US">
                <a:solidFill>
                  <a:srgbClr val="7446A6"/>
                </a:solidFill>
                <a:latin typeface="Arial"/>
              </a:rPr>
              <a:t>KEY PROTECTION
AND MODEL ACCESS</a:t>
            </a:r>
          </a:p>
        </p:txBody>
      </p:sp>
      <p:sp>
        <p:nvSpPr>
          <p:cNvPr id="54" name="Key use: OTHER DSTACK PATHS"/>
          <p:cNvSpPr txBox="1"/>
          <p:nvPr/>
        </p:nvSpPr>
        <p:spPr>
          <a:xfrm>
            <a:off x="594360" y="4553712"/>
            <a:ext cx="3291840" cy="237744"/>
          </a:xfrm>
          <a:prstGeom prst="rect">
            <a:avLst/>
          </a:prstGeom>
          <a:noFill/>
        </p:spPr>
        <p:txBody>
          <a:bodyPr wrap="square" lIns="0" rIns="0" tIns="0" bIns="0" anchor="ctr">
            <a:spAutoFit/>
          </a:bodyPr>
          <a:lstStyle/>
          <a:p>
            <a:pPr algn="l"/>
            <a:r>
              <a:rPr sz="1300" b="1" lang="en-US">
                <a:solidFill>
                  <a:srgbClr val="67747C"/>
                </a:solidFill>
                <a:latin typeface="Arial"/>
              </a:rPr>
              <a:t>OTHER DSTACK PATHS</a:t>
            </a:r>
          </a:p>
        </p:txBody>
      </p:sp>
      <p:sp>
        <p:nvSpPr>
          <p:cNvPr id="55" name="Rounded Rectangle 54"/>
          <p:cNvSpPr/>
          <p:nvPr/>
        </p:nvSpPr>
        <p:spPr>
          <a:xfrm>
            <a:off x="594360" y="4928616"/>
            <a:ext cx="5285232" cy="704088"/>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Key use: secp256k1 · protocol actions"/>
          <p:cNvSpPr txBox="1"/>
          <p:nvPr/>
        </p:nvSpPr>
        <p:spPr>
          <a:xfrm>
            <a:off x="768096" y="5001768"/>
            <a:ext cx="4937760" cy="246888"/>
          </a:xfrm>
          <a:prstGeom prst="rect">
            <a:avLst/>
          </a:prstGeom>
          <a:noFill/>
        </p:spPr>
        <p:txBody>
          <a:bodyPr wrap="square" lIns="0" rIns="0" tIns="0" bIns="0" anchor="ctr">
            <a:spAutoFit/>
          </a:bodyPr>
          <a:lstStyle/>
          <a:p>
            <a:pPr algn="ctr"/>
            <a:r>
              <a:rPr sz="1600" b="1" lang="en-US">
                <a:solidFill>
                  <a:srgbClr val="1764A1"/>
                </a:solidFill>
                <a:latin typeface="Arial"/>
              </a:rPr>
              <a:t>secp256k1 · protocol actions</a:t>
            </a:r>
          </a:p>
        </p:txBody>
      </p:sp>
      <p:sp>
        <p:nvSpPr>
          <p:cNvPr id="57" name="Key use: Sign updates, aggregation and transactions"/>
          <p:cNvSpPr txBox="1"/>
          <p:nvPr/>
        </p:nvSpPr>
        <p:spPr>
          <a:xfrm>
            <a:off x="768096" y="5340096"/>
            <a:ext cx="4937760" cy="210312"/>
          </a:xfrm>
          <a:prstGeom prst="rect">
            <a:avLst/>
          </a:prstGeom>
          <a:noFill/>
        </p:spPr>
        <p:txBody>
          <a:bodyPr wrap="square" lIns="0" rIns="0" tIns="0" bIns="0" anchor="ctr">
            <a:spAutoFit/>
          </a:bodyPr>
          <a:lstStyle/>
          <a:p>
            <a:pPr algn="ctr"/>
            <a:r>
              <a:rPr sz="1350" b="0" lang="en-US">
                <a:solidFill>
                  <a:srgbClr val="263440"/>
                </a:solidFill>
                <a:latin typeface="Arial"/>
              </a:rPr>
              <a:t>Sign updates, aggregation and transactions</a:t>
            </a:r>
          </a:p>
        </p:txBody>
      </p:sp>
      <p:sp>
        <p:nvSpPr>
          <p:cNvPr id="58" name="Rounded Rectangle 57"/>
          <p:cNvSpPr/>
          <p:nvPr/>
        </p:nvSpPr>
        <p:spPr>
          <a:xfrm>
            <a:off x="6126480" y="4928616"/>
            <a:ext cx="5468112" cy="704088"/>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Key use: Ed25519 · inference and tool receipts"/>
          <p:cNvSpPr txBox="1"/>
          <p:nvPr/>
        </p:nvSpPr>
        <p:spPr>
          <a:xfrm>
            <a:off x="6300216" y="5001768"/>
            <a:ext cx="5120640" cy="246888"/>
          </a:xfrm>
          <a:prstGeom prst="rect">
            <a:avLst/>
          </a:prstGeom>
          <a:noFill/>
        </p:spPr>
        <p:txBody>
          <a:bodyPr wrap="square" lIns="0" rIns="0" tIns="0" bIns="0" anchor="ctr">
            <a:spAutoFit/>
          </a:bodyPr>
          <a:lstStyle/>
          <a:p>
            <a:pPr algn="ctr"/>
            <a:r>
              <a:rPr sz="1600" b="1" lang="en-US">
                <a:solidFill>
                  <a:srgbClr val="207548"/>
                </a:solidFill>
                <a:latin typeface="Arial"/>
              </a:rPr>
              <a:t>Ed25519 · inference and tool receipts</a:t>
            </a:r>
          </a:p>
        </p:txBody>
      </p:sp>
      <p:sp>
        <p:nvSpPr>
          <p:cNvPr id="60" name="Key use: Sello → transparency log · AIR → agent verification"/>
          <p:cNvSpPr txBox="1"/>
          <p:nvPr/>
        </p:nvSpPr>
        <p:spPr>
          <a:xfrm>
            <a:off x="6300216" y="5340096"/>
            <a:ext cx="5120640" cy="210312"/>
          </a:xfrm>
          <a:prstGeom prst="rect">
            <a:avLst/>
          </a:prstGeom>
          <a:noFill/>
        </p:spPr>
        <p:txBody>
          <a:bodyPr wrap="square" lIns="0" rIns="0" tIns="0" bIns="0" anchor="ctr">
            <a:spAutoFit/>
          </a:bodyPr>
          <a:lstStyle/>
          <a:p>
            <a:pPr algn="ctr"/>
            <a:r>
              <a:rPr sz="1300" b="0" lang="en-US">
                <a:solidFill>
                  <a:srgbClr val="263440"/>
                </a:solidFill>
                <a:latin typeface="Arial"/>
              </a:rPr>
              <a:t>Sello → transparency log · AIR → agent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Key use at the system interfaces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D</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Key use: dstack GetKey(path): action, wrapping and receipt keys"/>
          <p:cNvSpPr txBox="1"/>
          <p:nvPr/>
        </p:nvSpPr>
        <p:spPr>
          <a:xfrm>
            <a:off x="594360" y="1362456"/>
            <a:ext cx="11000232" cy="329184"/>
          </a:xfrm>
          <a:prstGeom prst="rect">
            <a:avLst/>
          </a:prstGeom>
          <a:noFill/>
        </p:spPr>
        <p:txBody>
          <a:bodyPr wrap="square" lIns="0" rIns="0" tIns="0" bIns="0" anchor="ctr">
            <a:spAutoFit/>
          </a:bodyPr>
          <a:lstStyle/>
          <a:p>
            <a:pPr algn="ctr"/>
            <a:r>
              <a:rPr sz="1900" b="0" lang="en-US">
                <a:solidFill>
                  <a:srgbClr val="263440"/>
                </a:solidFill>
                <a:latin typeface="Arial"/>
              </a:rPr>
              <a:t>dstack GetKey(path): action, wrapping and receipt keys</a:t>
            </a:r>
          </a:p>
        </p:txBody>
      </p:sp>
      <p:sp>
        <p:nvSpPr>
          <p:cNvPr id="14" name="Rounded Rectangle 13"/>
          <p:cNvSpPr/>
          <p:nvPr/>
        </p:nvSpPr>
        <p:spPr>
          <a:xfrm>
            <a:off x="3922776" y="1856231"/>
            <a:ext cx="4334256" cy="3639312"/>
          </a:xfrm>
          <a:prstGeom prst="roundRect">
            <a:avLst/>
          </a:prstGeom>
          <a:solidFill>
            <a:srgbClr val="F8F9FA"/>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Key use icon: tee / 1"/>
          <p:cNvCxnSpPr/>
          <p:nvPr/>
        </p:nvCxnSpPr>
        <p:spPr>
          <a:xfrm>
            <a:off x="4749165"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Key use icon: tee / 2"/>
          <p:cNvCxnSpPr/>
          <p:nvPr/>
        </p:nvCxnSpPr>
        <p:spPr>
          <a:xfrm>
            <a:off x="4749165"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Key use icon: tee / 3"/>
          <p:cNvCxnSpPr/>
          <p:nvPr/>
        </p:nvCxnSpPr>
        <p:spPr>
          <a:xfrm>
            <a:off x="4644008" y="2106549"/>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8" name="Key use icon: tee / 4"/>
          <p:cNvCxnSpPr/>
          <p:nvPr/>
        </p:nvCxnSpPr>
        <p:spPr>
          <a:xfrm>
            <a:off x="4959477" y="2106549"/>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9" name="Key use icon: tee / 5"/>
          <p:cNvCxnSpPr/>
          <p:nvPr/>
        </p:nvCxnSpPr>
        <p:spPr>
          <a:xfrm>
            <a:off x="4828032"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0" name="Key use icon: tee / 6"/>
          <p:cNvCxnSpPr/>
          <p:nvPr/>
        </p:nvCxnSpPr>
        <p:spPr>
          <a:xfrm>
            <a:off x="4828032"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1" name="Key use icon: tee / 7"/>
          <p:cNvCxnSpPr/>
          <p:nvPr/>
        </p:nvCxnSpPr>
        <p:spPr>
          <a:xfrm>
            <a:off x="4644008" y="2185416"/>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2" name="Key use icon: tee / 8"/>
          <p:cNvCxnSpPr/>
          <p:nvPr/>
        </p:nvCxnSpPr>
        <p:spPr>
          <a:xfrm>
            <a:off x="4959477" y="2185416"/>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Key use icon: tee / 9"/>
          <p:cNvCxnSpPr/>
          <p:nvPr/>
        </p:nvCxnSpPr>
        <p:spPr>
          <a:xfrm>
            <a:off x="4906899"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Key use icon: tee / 10"/>
          <p:cNvCxnSpPr/>
          <p:nvPr/>
        </p:nvCxnSpPr>
        <p:spPr>
          <a:xfrm>
            <a:off x="4906899"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Key use icon: tee / 11"/>
          <p:cNvCxnSpPr/>
          <p:nvPr/>
        </p:nvCxnSpPr>
        <p:spPr>
          <a:xfrm>
            <a:off x="4644008" y="2264283"/>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Key use icon: tee / 12"/>
          <p:cNvCxnSpPr/>
          <p:nvPr/>
        </p:nvCxnSpPr>
        <p:spPr>
          <a:xfrm>
            <a:off x="4959477" y="2264283"/>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Key use icon: tee / 13"/>
          <p:cNvSpPr/>
          <p:nvPr/>
        </p:nvSpPr>
        <p:spPr>
          <a:xfrm>
            <a:off x="4696587" y="2053971"/>
            <a:ext cx="262890" cy="262890"/>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Key use icon: tee / 14"/>
          <p:cNvCxnSpPr/>
          <p:nvPr/>
        </p:nvCxnSpPr>
        <p:spPr>
          <a:xfrm flipV="1">
            <a:off x="4775454"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9" name="Key use icon: tee / 15"/>
          <p:cNvCxnSpPr/>
          <p:nvPr/>
        </p:nvCxnSpPr>
        <p:spPr>
          <a:xfrm flipV="1">
            <a:off x="4775454"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0" name="Key use icon: tee / 16"/>
          <p:cNvCxnSpPr/>
          <p:nvPr/>
        </p:nvCxnSpPr>
        <p:spPr>
          <a:xfrm flipV="1">
            <a:off x="4777523"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1" name="Key use icon: tee / 17"/>
          <p:cNvCxnSpPr/>
          <p:nvPr/>
        </p:nvCxnSpPr>
        <p:spPr>
          <a:xfrm flipV="1">
            <a:off x="4783243"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2" name="Key use icon: tee / 18"/>
          <p:cNvCxnSpPr/>
          <p:nvPr/>
        </p:nvCxnSpPr>
        <p:spPr>
          <a:xfrm flipV="1">
            <a:off x="4791884"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3" name="Key use icon: tee / 19"/>
          <p:cNvCxnSpPr/>
          <p:nvPr/>
        </p:nvCxnSpPr>
        <p:spPr>
          <a:xfrm flipV="1">
            <a:off x="4802716"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4" name="Key use icon: tee / 20"/>
          <p:cNvCxnSpPr/>
          <p:nvPr/>
        </p:nvCxnSpPr>
        <p:spPr>
          <a:xfrm flipV="1">
            <a:off x="4815009" y="2083546"/>
            <a:ext cx="13023"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5" name="Key use icon: tee / 21"/>
          <p:cNvCxnSpPr/>
          <p:nvPr/>
        </p:nvCxnSpPr>
        <p:spPr>
          <a:xfrm>
            <a:off x="4828032" y="2083546"/>
            <a:ext cx="13022"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Key use icon: tee / 22"/>
          <p:cNvCxnSpPr/>
          <p:nvPr/>
        </p:nvCxnSpPr>
        <p:spPr>
          <a:xfrm>
            <a:off x="4841054"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Key use icon: tee / 23"/>
          <p:cNvCxnSpPr/>
          <p:nvPr/>
        </p:nvCxnSpPr>
        <p:spPr>
          <a:xfrm>
            <a:off x="4853347"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Key use icon: tee / 24"/>
          <p:cNvCxnSpPr/>
          <p:nvPr/>
        </p:nvCxnSpPr>
        <p:spPr>
          <a:xfrm>
            <a:off x="4864179"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Key use icon: tee / 25"/>
          <p:cNvCxnSpPr/>
          <p:nvPr/>
        </p:nvCxnSpPr>
        <p:spPr>
          <a:xfrm>
            <a:off x="4872820"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0" name="Key use icon: tee / 26"/>
          <p:cNvCxnSpPr/>
          <p:nvPr/>
        </p:nvCxnSpPr>
        <p:spPr>
          <a:xfrm>
            <a:off x="4878540"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1" name="Key use icon: tee / 27"/>
          <p:cNvCxnSpPr/>
          <p:nvPr/>
        </p:nvCxnSpPr>
        <p:spPr>
          <a:xfrm>
            <a:off x="4880609"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42" name="Key use icon: tee / 28"/>
          <p:cNvSpPr/>
          <p:nvPr/>
        </p:nvSpPr>
        <p:spPr>
          <a:xfrm>
            <a:off x="4762309" y="2159127"/>
            <a:ext cx="131445" cy="105156"/>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Key use: Worker TEE"/>
          <p:cNvSpPr txBox="1"/>
          <p:nvPr/>
        </p:nvSpPr>
        <p:spPr>
          <a:xfrm>
            <a:off x="5102352" y="1956816"/>
            <a:ext cx="2039112" cy="402336"/>
          </a:xfrm>
          <a:prstGeom prst="rect">
            <a:avLst/>
          </a:prstGeom>
          <a:noFill/>
        </p:spPr>
        <p:txBody>
          <a:bodyPr wrap="square" lIns="0" rIns="0" tIns="0" bIns="0" anchor="ctr">
            <a:spAutoFit/>
          </a:bodyPr>
          <a:lstStyle/>
          <a:p>
            <a:pPr algn="ctr"/>
            <a:r>
              <a:rPr sz="2400" b="1" lang="en-US">
                <a:solidFill>
                  <a:srgbClr val="263440"/>
                </a:solidFill>
                <a:latin typeface="Arial"/>
              </a:rPr>
              <a:t>Worker TEE</a:t>
            </a:r>
          </a:p>
        </p:txBody>
      </p:sp>
      <p:sp>
        <p:nvSpPr>
          <p:cNvPr id="44" name="Rounded Rectangle 43"/>
          <p:cNvSpPr/>
          <p:nvPr/>
        </p:nvSpPr>
        <p:spPr>
          <a:xfrm>
            <a:off x="502920" y="2331720"/>
            <a:ext cx="2834640" cy="133502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Key use icon: blockchain / 1"/>
          <p:cNvCxnSpPr/>
          <p:nvPr/>
        </p:nvCxnSpPr>
        <p:spPr>
          <a:xfrm>
            <a:off x="752094" y="258089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6" name="Key use icon: blockchain / 2"/>
          <p:cNvCxnSpPr/>
          <p:nvPr/>
        </p:nvCxnSpPr>
        <p:spPr>
          <a:xfrm>
            <a:off x="90068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Key use icon: blockchain / 3"/>
          <p:cNvCxnSpPr/>
          <p:nvPr/>
        </p:nvCxnSpPr>
        <p:spPr>
          <a:xfrm flipH="1">
            <a:off x="752094" y="274091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Key use icon: blockchain / 4"/>
          <p:cNvCxnSpPr/>
          <p:nvPr/>
        </p:nvCxnSpPr>
        <p:spPr>
          <a:xfrm flipV="1">
            <a:off x="75209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49" name="Key use icon: blockchain / 5"/>
          <p:cNvSpPr/>
          <p:nvPr/>
        </p:nvSpPr>
        <p:spPr>
          <a:xfrm>
            <a:off x="69494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Key use icon: blockchain / 6"/>
          <p:cNvSpPr/>
          <p:nvPr/>
        </p:nvSpPr>
        <p:spPr>
          <a:xfrm>
            <a:off x="87782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Key use icon: blockchain / 7"/>
          <p:cNvSpPr/>
          <p:nvPr/>
        </p:nvSpPr>
        <p:spPr>
          <a:xfrm>
            <a:off x="69494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Key use icon: blockchain / 8"/>
          <p:cNvSpPr/>
          <p:nvPr/>
        </p:nvSpPr>
        <p:spPr>
          <a:xfrm>
            <a:off x="87782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Key use: Blockchain"/>
          <p:cNvSpPr txBox="1"/>
          <p:nvPr/>
        </p:nvSpPr>
        <p:spPr>
          <a:xfrm>
            <a:off x="1115568" y="2441448"/>
            <a:ext cx="2103120" cy="310896"/>
          </a:xfrm>
          <a:prstGeom prst="rect">
            <a:avLst/>
          </a:prstGeom>
          <a:noFill/>
        </p:spPr>
        <p:txBody>
          <a:bodyPr wrap="square" lIns="0" rIns="0" tIns="0" bIns="0" anchor="ctr">
            <a:spAutoFit/>
          </a:bodyPr>
          <a:lstStyle/>
          <a:p>
            <a:pPr algn="l"/>
            <a:r>
              <a:rPr sz="1800" b="1" lang="en-US">
                <a:solidFill>
                  <a:srgbClr val="7446A6"/>
                </a:solidFill>
                <a:latin typeface="Arial"/>
              </a:rPr>
              <a:t>Blockchain</a:t>
            </a:r>
          </a:p>
        </p:txBody>
      </p:sp>
      <p:sp>
        <p:nvSpPr>
          <p:cNvPr id="54" name="Key use: Protocol transactions / Update commitments / Aggregation statements"/>
          <p:cNvSpPr txBox="1"/>
          <p:nvPr/>
        </p:nvSpPr>
        <p:spPr>
          <a:xfrm>
            <a:off x="667512"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Protocol transactions
Update commitments
Aggregation statements</a:t>
            </a:r>
          </a:p>
        </p:txBody>
      </p:sp>
      <p:sp>
        <p:nvSpPr>
          <p:cNvPr id="55" name="Rounded Rectangle 54"/>
          <p:cNvSpPr/>
          <p:nvPr/>
        </p:nvSpPr>
        <p:spPr>
          <a:xfrm>
            <a:off x="502920" y="3986784"/>
            <a:ext cx="2834640" cy="128016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76656" y="4160520"/>
            <a:ext cx="256032" cy="118872"/>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76656" y="4279392"/>
            <a:ext cx="256032" cy="128016"/>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30936" y="4114800"/>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0936" y="4361688"/>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86968" y="4233672"/>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Key use: Model exchange"/>
          <p:cNvSpPr txBox="1"/>
          <p:nvPr/>
        </p:nvSpPr>
        <p:spPr>
          <a:xfrm>
            <a:off x="1115568" y="4096512"/>
            <a:ext cx="2103120" cy="310896"/>
          </a:xfrm>
          <a:prstGeom prst="rect">
            <a:avLst/>
          </a:prstGeom>
          <a:noFill/>
        </p:spPr>
        <p:txBody>
          <a:bodyPr wrap="square" lIns="0" rIns="0" tIns="0" bIns="0" anchor="ctr">
            <a:spAutoFit/>
          </a:bodyPr>
          <a:lstStyle/>
          <a:p>
            <a:pPr algn="l"/>
            <a:r>
              <a:rPr sz="1800" b="1" lang="en-US">
                <a:solidFill>
                  <a:srgbClr val="207548"/>
                </a:solidFill>
                <a:latin typeface="Arial"/>
              </a:rPr>
              <a:t>Model exchange</a:t>
            </a:r>
          </a:p>
        </p:txBody>
      </p:sp>
      <p:sp>
        <p:nvSpPr>
          <p:cNvPr id="62" name="Key use: Sign model packages / Unwrap symmetric keys"/>
          <p:cNvSpPr txBox="1"/>
          <p:nvPr/>
        </p:nvSpPr>
        <p:spPr>
          <a:xfrm>
            <a:off x="667512"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Sign model packages
Unwrap symmetric keys</a:t>
            </a:r>
          </a:p>
        </p:txBody>
      </p:sp>
      <p:sp>
        <p:nvSpPr>
          <p:cNvPr id="63" name="Rounded Rectangle 62"/>
          <p:cNvSpPr/>
          <p:nvPr/>
        </p:nvSpPr>
        <p:spPr>
          <a:xfrm>
            <a:off x="8851392" y="2331720"/>
            <a:ext cx="2834640" cy="1335024"/>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006840" y="2450591"/>
            <a:ext cx="310896" cy="39319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9070848" y="255117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070848" y="2642615"/>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070848" y="273405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sp>
        <p:nvSpPr>
          <p:cNvPr id="68" name="Key use: Receipt log"/>
          <p:cNvSpPr txBox="1"/>
          <p:nvPr/>
        </p:nvSpPr>
        <p:spPr>
          <a:xfrm>
            <a:off x="9464040" y="2441448"/>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Receipt log</a:t>
            </a:r>
          </a:p>
        </p:txBody>
      </p:sp>
      <p:sp>
        <p:nvSpPr>
          <p:cNvPr id="69" name="Key use: Signed tool-action receipts / Recording and audit trail"/>
          <p:cNvSpPr txBox="1"/>
          <p:nvPr/>
        </p:nvSpPr>
        <p:spPr>
          <a:xfrm>
            <a:off x="9015984"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Signed tool-action receipts
Recording and audit trail</a:t>
            </a:r>
          </a:p>
        </p:txBody>
      </p:sp>
      <p:sp>
        <p:nvSpPr>
          <p:cNvPr id="70" name="Rounded Rectangle 69"/>
          <p:cNvSpPr/>
          <p:nvPr/>
        </p:nvSpPr>
        <p:spPr>
          <a:xfrm>
            <a:off x="8851392" y="3986784"/>
            <a:ext cx="2834640" cy="1280160"/>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Key use icon: agent / 1"/>
          <p:cNvCxnSpPr/>
          <p:nvPr/>
        </p:nvCxnSpPr>
        <p:spPr>
          <a:xfrm>
            <a:off x="9180576" y="4178808"/>
            <a:ext cx="0" cy="5715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2" name="Key use icon: agent / 2"/>
          <p:cNvSpPr/>
          <p:nvPr/>
        </p:nvSpPr>
        <p:spPr>
          <a:xfrm>
            <a:off x="9163431" y="4150233"/>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Key use icon: agent / 3"/>
          <p:cNvSpPr/>
          <p:nvPr/>
        </p:nvSpPr>
        <p:spPr>
          <a:xfrm>
            <a:off x="9043416" y="4235958"/>
            <a:ext cx="274320" cy="228600"/>
          </a:xfrm>
          <a:prstGeom prst="roundRect">
            <a:avLst/>
          </a:prstGeom>
          <a:solidFill>
            <a:srgbClr val="FFFFFF"/>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Key use icon: agent / 4"/>
          <p:cNvCxnSpPr/>
          <p:nvPr/>
        </p:nvCxnSpPr>
        <p:spPr>
          <a:xfrm>
            <a:off x="90091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5" name="Key use icon: agent / 5"/>
          <p:cNvCxnSpPr/>
          <p:nvPr/>
        </p:nvCxnSpPr>
        <p:spPr>
          <a:xfrm>
            <a:off x="93520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6" name="Key use icon: agent / 6"/>
          <p:cNvSpPr/>
          <p:nvPr/>
        </p:nvSpPr>
        <p:spPr>
          <a:xfrm>
            <a:off x="910056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Key use icon: agent / 7"/>
          <p:cNvSpPr/>
          <p:nvPr/>
        </p:nvSpPr>
        <p:spPr>
          <a:xfrm>
            <a:off x="922629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Key use icon: agent / 8"/>
          <p:cNvCxnSpPr/>
          <p:nvPr/>
        </p:nvCxnSpPr>
        <p:spPr>
          <a:xfrm>
            <a:off x="9123426" y="4407408"/>
            <a:ext cx="114300" cy="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9" name="Key use: Agent"/>
          <p:cNvSpPr txBox="1"/>
          <p:nvPr/>
        </p:nvSpPr>
        <p:spPr>
          <a:xfrm>
            <a:off x="9464040" y="4096512"/>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Agent</a:t>
            </a:r>
          </a:p>
        </p:txBody>
      </p:sp>
      <p:sp>
        <p:nvSpPr>
          <p:cNvPr id="80" name="Key use: Verify signed inference / evidence (AIR)"/>
          <p:cNvSpPr txBox="1"/>
          <p:nvPr/>
        </p:nvSpPr>
        <p:spPr>
          <a:xfrm>
            <a:off x="9015984"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Verify signed inference
evidence (AIR)</a:t>
            </a:r>
          </a:p>
        </p:txBody>
      </p:sp>
      <p:sp>
        <p:nvSpPr>
          <p:cNvPr id="81" name="Rounded Rectangle 80"/>
          <p:cNvSpPr/>
          <p:nvPr/>
        </p:nvSpPr>
        <p:spPr>
          <a:xfrm>
            <a:off x="4096512" y="2660904"/>
            <a:ext cx="1901952" cy="713232"/>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206240" y="2859145"/>
            <a:ext cx="138257" cy="138257"/>
          </a:xfrm>
          <a:prstGeom prst="ellipse">
            <a:avLst/>
          </a:prstGeom>
          <a:solidFill>
            <a:srgbClr val="FFFFFF"/>
          </a:solidFill>
          <a:ln w="1905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4341205" y="2928274"/>
            <a:ext cx="174467"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446544"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505797"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86" name="Key use: Derived / secp256k1"/>
          <p:cNvSpPr txBox="1"/>
          <p:nvPr/>
        </p:nvSpPr>
        <p:spPr>
          <a:xfrm>
            <a:off x="4599432" y="2752344"/>
            <a:ext cx="1307592" cy="530352"/>
          </a:xfrm>
          <a:prstGeom prst="rect">
            <a:avLst/>
          </a:prstGeom>
          <a:noFill/>
        </p:spPr>
        <p:txBody>
          <a:bodyPr wrap="square" lIns="0" rIns="0" tIns="0" bIns="0" anchor="ctr">
            <a:spAutoFit/>
          </a:bodyPr>
          <a:lstStyle/>
          <a:p>
            <a:pPr algn="ctr"/>
            <a:r>
              <a:rPr sz="1450" b="1" lang="en-US">
                <a:solidFill>
                  <a:srgbClr val="7446A6"/>
                </a:solidFill>
                <a:latin typeface="Arial"/>
              </a:rPr>
              <a:t>Derived
secp256k1</a:t>
            </a:r>
          </a:p>
        </p:txBody>
      </p:sp>
      <p:sp>
        <p:nvSpPr>
          <p:cNvPr id="87" name="Rounded Rectangle 86"/>
          <p:cNvSpPr/>
          <p:nvPr/>
        </p:nvSpPr>
        <p:spPr>
          <a:xfrm>
            <a:off x="6190488" y="2660904"/>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300216" y="2859145"/>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6435181" y="2928274"/>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540520"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599773"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92" name="Key use: Sello / Ed25519"/>
          <p:cNvSpPr txBox="1"/>
          <p:nvPr/>
        </p:nvSpPr>
        <p:spPr>
          <a:xfrm>
            <a:off x="6693407" y="2752344"/>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Sello
Ed25519</a:t>
            </a:r>
          </a:p>
        </p:txBody>
      </p:sp>
      <p:sp>
        <p:nvSpPr>
          <p:cNvPr id="93" name="Rounded Rectangle 92"/>
          <p:cNvSpPr/>
          <p:nvPr/>
        </p:nvSpPr>
        <p:spPr>
          <a:xfrm>
            <a:off x="4096512" y="4041648"/>
            <a:ext cx="1901952" cy="713232"/>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206240" y="4239889"/>
            <a:ext cx="138257" cy="138257"/>
          </a:xfrm>
          <a:prstGeom prst="ellipse">
            <a:avLst/>
          </a:prstGeom>
          <a:solidFill>
            <a:srgbClr val="FFFFFF"/>
          </a:solidFill>
          <a:ln w="190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4341205" y="4309018"/>
            <a:ext cx="174467" cy="0"/>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446544"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4505797"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sp>
        <p:nvSpPr>
          <p:cNvPr id="98" name="Key use: Random / RSA-3072"/>
          <p:cNvSpPr txBox="1"/>
          <p:nvPr/>
        </p:nvSpPr>
        <p:spPr>
          <a:xfrm>
            <a:off x="4599432" y="4133087"/>
            <a:ext cx="1307592" cy="530352"/>
          </a:xfrm>
          <a:prstGeom prst="rect">
            <a:avLst/>
          </a:prstGeom>
          <a:noFill/>
        </p:spPr>
        <p:txBody>
          <a:bodyPr wrap="square" lIns="0" rIns="0" tIns="0" bIns="0" anchor="ctr">
            <a:spAutoFit/>
          </a:bodyPr>
          <a:lstStyle/>
          <a:p>
            <a:pPr algn="ctr"/>
            <a:r>
              <a:rPr sz="1450" b="1" lang="en-US">
                <a:solidFill>
                  <a:srgbClr val="207548"/>
                </a:solidFill>
                <a:latin typeface="Arial"/>
              </a:rPr>
              <a:t>Random
RSA-3072</a:t>
            </a:r>
          </a:p>
        </p:txBody>
      </p:sp>
      <p:sp>
        <p:nvSpPr>
          <p:cNvPr id="99" name="Rounded Rectangle 98"/>
          <p:cNvSpPr/>
          <p:nvPr/>
        </p:nvSpPr>
        <p:spPr>
          <a:xfrm>
            <a:off x="6190488" y="4041648"/>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300216" y="4239889"/>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6435181" y="4309018"/>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540520"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599773"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104" name="Key use: AIR / Ed25519"/>
          <p:cNvSpPr txBox="1"/>
          <p:nvPr/>
        </p:nvSpPr>
        <p:spPr>
          <a:xfrm>
            <a:off x="6693407" y="4133087"/>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AIR
Ed25519</a:t>
            </a:r>
          </a:p>
        </p:txBody>
      </p:sp>
      <p:cxnSp>
        <p:nvCxnSpPr>
          <p:cNvPr id="105" name="Connector 104"/>
          <p:cNvCxnSpPr/>
          <p:nvPr/>
        </p:nvCxnSpPr>
        <p:spPr>
          <a:xfrm flipH="1">
            <a:off x="3374136" y="3008376"/>
            <a:ext cx="694944"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119872" y="3008376"/>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3374136" y="4398264"/>
            <a:ext cx="694944"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119872" y="4398264"/>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4096512" y="5038344"/>
            <a:ext cx="3995928" cy="31089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Key use: Derived AES-GCM seals RSA state"/>
          <p:cNvSpPr txBox="1"/>
          <p:nvPr/>
        </p:nvSpPr>
        <p:spPr>
          <a:xfrm>
            <a:off x="4169664" y="5070348"/>
            <a:ext cx="3849624" cy="246888"/>
          </a:xfrm>
          <a:prstGeom prst="rect">
            <a:avLst/>
          </a:prstGeom>
          <a:noFill/>
        </p:spPr>
        <p:txBody>
          <a:bodyPr wrap="square" lIns="0" rIns="0" tIns="0" bIns="0" anchor="ctr">
            <a:spAutoFit/>
          </a:bodyPr>
          <a:lstStyle/>
          <a:p>
            <a:pPr algn="ctr"/>
            <a:r>
              <a:rPr sz="1400" b="1" lang="en-US">
                <a:solidFill>
                  <a:srgbClr val="207548"/>
                </a:solidFill>
                <a:latin typeface="Arial"/>
              </a:rPr>
              <a:t>Derived AES-GCM seals RSA state</a:t>
            </a:r>
          </a:p>
        </p:txBody>
      </p:sp>
      <p:cxnSp>
        <p:nvCxnSpPr>
          <p:cNvPr id="111" name="Connector 110"/>
          <p:cNvCxnSpPr/>
          <p:nvPr/>
        </p:nvCxnSpPr>
        <p:spPr>
          <a:xfrm flipV="1">
            <a:off x="5056632" y="4782312"/>
            <a:ext cx="0" cy="22860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dstack key-use slide alternatives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