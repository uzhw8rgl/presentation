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F1: Workflow ring. Workers train, the aggregator combines their direct updates, stores the global model in IPFS, and finalizes its reference on blockchain. The CID label denotes reference registration by the aggregator, not a transfer of model bytes or an autonomous action by IPFS. The Next round transition summarizes reference resolution AND loading the model from IPFS. Separate inference sources remain visible.</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Verified against vita-fl/dfl/node_server/src/server.ts and ipfs.ts. Workers obtain the finalized global-model CID tuple from blockchain, then retrieve and decrypt its bundle from IPFS (ipfs.ts:380-435). They train locally and send encrypted local updates directly to the current aggregator over authenticated HTTPS (server.ts:463-533, 2110-2180). Local updates are not exchanged through IPFS. The aggregator records accepted submission commitments on blockchain (server.ts:672-702), aggregates updates (server.ts:2313-2330), uploads the encrypted global bundle, signature, and key bundle to IPFS, then commits the CID tuple on blockchain to finalize the round (ipfs.ts:315-346; GMStorage.sol:180-248). AggregatorSelection.sol:171-195 selects the next aggregator; it can select the same participant again. The model is loaded for the next round. Publication arrows summarize operations performed by the aggregator; IPFS does not itself submit blockchain transactions. Blockchain carries references and round state, not model weights. The inference receiver resolves the finalized reference and retrieves the model bundle independently. Source-to-inference arrows show information consumed; the receiver initiates retrieval. Placement in a circle does not define a common TEE or trust boundary. The transparency log is separate from blockchain and records the receiver-issued tool receipt.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F2: Functional ring. Workers send local updates directly to the aggregator. The aggregator stores the global model in IPFS; workers load it from IPFS for the next round. Dashed blockchain links represent commitment/finalization and round/reference reads. The aggregator also reads current round state; the drawing retains only the principal directions to stay readable. Reference and model-file retrieval by inference are explicit.</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Verified against vita-fl/dfl/node_server/src/server.ts and ipfs.ts. Workers obtain the finalized global-model CID tuple from blockchain, then retrieve and decrypt its bundle from IPFS (ipfs.ts:380-435). They train locally and send encrypted local updates directly to the current aggregator over authenticated HTTPS (server.ts:463-533, 2110-2180). Local updates are not exchanged through IPFS. The aggregator records accepted submission commitments on blockchain (server.ts:672-702), aggregates updates (server.ts:2313-2330), uploads the encrypted global bundle, signature, and key bundle to IPFS, then commits the CID tuple on blockchain to finalize the round (ipfs.ts:315-346; GMStorage.sol:180-248). AggregatorSelection.sol:171-195 selects the next aggregator; it can select the same participant again. The model is loaded for the next round. Publication arrows summarize operations performed by the aggregator; IPFS does not itself submit blockchain transactions. Blockchain carries references and round state, not model weights. The inference receiver resolves the finalized reference and retrieves the model bundle independently. Source-to-inference arrows show information consumed; the receiver initiates retrieval. Placement in a circle does not define a common TEE or trust boundary. The transparency log is separate from blockchain and records the receiver-issued tool receipt.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F3: Compact publication arc, closest to the original A silhouette. The aggregator receives direct worker updates. Its Publish transition stores model files in IPFS and finalizes their references on blockchain. The Load transition resolves the finalized reference and retrieves the model from IPFS for the next round. Both source components form a functional section of the loop. The outgoing Published model path summarizes their joint use by inference. Blockchain round coordination and accepted submission commitments are abstracted in this overview.</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Verified against vita-fl/dfl/node_server/src/server.ts and ipfs.ts. Workers obtain the finalized global-model CID tuple from blockchain, then retrieve and decrypt its bundle from IPFS (ipfs.ts:380-435). They train locally and send encrypted local updates directly to the current aggregator over authenticated HTTPS (server.ts:463-533, 2110-2180). Local updates are not exchanged through IPFS. The aggregator records accepted submission commitments on blockchain (server.ts:672-702), aggregates updates (server.ts:2313-2330), uploads the encrypted global bundle, signature, and key bundle to IPFS, then commits the CID tuple on blockchain to finalize the round (ipfs.ts:315-346; GMStorage.sol:180-248). AggregatorSelection.sol:171-195 selects the next aggregator; it can select the same participant again. The model is loaded for the next round. Publication arrows summarize operations performed by the aggregator; IPFS does not itself submit blockchain transactions. Blockchain carries references and round state, not model weights. The inference receiver resolves the finalized reference and retrieves the model bundle independently. Source-to-inference arrows show information consumed; the receiver initiates retrieval. Placement in a circle does not define a common TEE or trust boundary. The transparency log is separate from blockchain and records the receiver-issued tool receipt.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F1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307592" y="1828799"/>
            <a:ext cx="3291840" cy="329184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335153" y="3132513"/>
            <a:ext cx="8406" cy="4226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327856" y="3174774"/>
            <a:ext cx="7297" cy="4246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321673" y="3217241"/>
            <a:ext cx="6183" cy="4264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316608" y="3259884"/>
            <a:ext cx="5065" cy="4279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312665" y="3302674"/>
            <a:ext cx="3943" cy="4290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309847" y="3345582"/>
            <a:ext cx="2818" cy="4299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308156" y="3388579"/>
            <a:ext cx="1691" cy="4305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307592" y="3431634"/>
            <a:ext cx="564" cy="43086"/>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2611305" y="5084672"/>
            <a:ext cx="42261" cy="840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2653566" y="5093078"/>
            <a:ext cx="42467" cy="729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2696033" y="5100375"/>
            <a:ext cx="42643" cy="618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2738676" y="5106558"/>
            <a:ext cx="42790" cy="506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2781466" y="5111623"/>
            <a:ext cx="42908" cy="394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2824374" y="5115566"/>
            <a:ext cx="42997" cy="281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2867371" y="5118384"/>
            <a:ext cx="43055" cy="169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2910426" y="5120075"/>
            <a:ext cx="43086" cy="565"/>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V="1">
            <a:off x="4563464" y="3774665"/>
            <a:ext cx="8406" cy="4226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V="1">
            <a:off x="4571870" y="3732198"/>
            <a:ext cx="7297" cy="4246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V="1">
            <a:off x="4579167" y="3689555"/>
            <a:ext cx="6183" cy="4264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V="1">
            <a:off x="4585350" y="3646765"/>
            <a:ext cx="5065" cy="4279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V="1">
            <a:off x="4590415" y="3603857"/>
            <a:ext cx="3943" cy="4290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V="1">
            <a:off x="4594358" y="3560860"/>
            <a:ext cx="2818" cy="4299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V="1">
            <a:off x="4597176" y="3517805"/>
            <a:ext cx="1691" cy="4305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V="1">
            <a:off x="4598867" y="3474720"/>
            <a:ext cx="565" cy="43085"/>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flipV="1">
            <a:off x="3253457" y="1856361"/>
            <a:ext cx="42261" cy="840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flipH="1" flipV="1">
            <a:off x="3210990" y="1849064"/>
            <a:ext cx="42467" cy="729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flipH="1" flipV="1">
            <a:off x="3168347" y="1842881"/>
            <a:ext cx="42643" cy="618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flipH="1" flipV="1">
            <a:off x="3125557" y="1837816"/>
            <a:ext cx="42790" cy="506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flipH="1" flipV="1">
            <a:off x="3082649" y="1833873"/>
            <a:ext cx="42908" cy="394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flipH="1" flipV="1">
            <a:off x="3039652" y="1831055"/>
            <a:ext cx="42997" cy="281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flipH="1" flipV="1">
            <a:off x="2996597" y="1829364"/>
            <a:ext cx="43055" cy="169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flipH="1" flipV="1">
            <a:off x="2953512" y="1828799"/>
            <a:ext cx="43085" cy="565"/>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Functional node: Workers / Local training"/>
          <p:cNvSpPr/>
          <p:nvPr/>
        </p:nvSpPr>
        <p:spPr>
          <a:xfrm>
            <a:off x="829550" y="1908542"/>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abel: Workers"/>
          <p:cNvSpPr txBox="1"/>
          <p:nvPr/>
        </p:nvSpPr>
        <p:spPr>
          <a:xfrm>
            <a:off x="884414" y="2018270"/>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Workers</a:t>
            </a:r>
          </a:p>
        </p:txBody>
      </p:sp>
      <p:sp>
        <p:nvSpPr>
          <p:cNvPr id="48" name="Label: Local training"/>
          <p:cNvSpPr txBox="1"/>
          <p:nvPr/>
        </p:nvSpPr>
        <p:spPr>
          <a:xfrm>
            <a:off x="884414" y="2429750"/>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Local training</a:t>
            </a:r>
          </a:p>
        </p:txBody>
      </p:sp>
      <p:sp>
        <p:nvSpPr>
          <p:cNvPr id="49" name="Functional node: Aggregator / Combine updates"/>
          <p:cNvSpPr/>
          <p:nvPr/>
        </p:nvSpPr>
        <p:spPr>
          <a:xfrm>
            <a:off x="829550" y="4236225"/>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abel: Aggregator"/>
          <p:cNvSpPr txBox="1"/>
          <p:nvPr/>
        </p:nvSpPr>
        <p:spPr>
          <a:xfrm>
            <a:off x="884414" y="4345953"/>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Aggregator</a:t>
            </a:r>
          </a:p>
        </p:txBody>
      </p:sp>
      <p:sp>
        <p:nvSpPr>
          <p:cNvPr id="51" name="Label: Combine updates"/>
          <p:cNvSpPr txBox="1"/>
          <p:nvPr/>
        </p:nvSpPr>
        <p:spPr>
          <a:xfrm>
            <a:off x="884414" y="4757433"/>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Combine updates</a:t>
            </a:r>
          </a:p>
        </p:txBody>
      </p:sp>
      <p:sp>
        <p:nvSpPr>
          <p:cNvPr id="52" name="Functional node: IPFS / Store global model"/>
          <p:cNvSpPr/>
          <p:nvPr/>
        </p:nvSpPr>
        <p:spPr>
          <a:xfrm>
            <a:off x="3157233" y="4236225"/>
            <a:ext cx="1920240" cy="804672"/>
          </a:xfrm>
          <a:prstGeom prst="roundRect">
            <a:avLst/>
          </a:prstGeom>
          <a:solidFill>
            <a:srgbClr val="F3EEF8"/>
          </a:solidFill>
          <a:ln w="1714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abel: IPFS"/>
          <p:cNvSpPr txBox="1"/>
          <p:nvPr/>
        </p:nvSpPr>
        <p:spPr>
          <a:xfrm>
            <a:off x="3212097" y="4345953"/>
            <a:ext cx="1810512" cy="329184"/>
          </a:xfrm>
          <a:prstGeom prst="rect">
            <a:avLst/>
          </a:prstGeom>
          <a:noFill/>
        </p:spPr>
        <p:txBody>
          <a:bodyPr wrap="square" lIns="0" rIns="0" tIns="0" bIns="0" anchor="ctr">
            <a:spAutoFit/>
          </a:bodyPr>
          <a:lstStyle/>
          <a:p>
            <a:pPr algn="ctr"/>
            <a:r>
              <a:rPr sz="1800" b="1" lang="en-US">
                <a:solidFill>
                  <a:srgbClr val="7446A6"/>
                </a:solidFill>
                <a:latin typeface="Arial"/>
              </a:rPr>
              <a:t>IPFS</a:t>
            </a:r>
          </a:p>
        </p:txBody>
      </p:sp>
      <p:sp>
        <p:nvSpPr>
          <p:cNvPr id="54" name="Label: Store global model"/>
          <p:cNvSpPr txBox="1"/>
          <p:nvPr/>
        </p:nvSpPr>
        <p:spPr>
          <a:xfrm>
            <a:off x="3212097" y="4757433"/>
            <a:ext cx="1810512" cy="219456"/>
          </a:xfrm>
          <a:prstGeom prst="rect">
            <a:avLst/>
          </a:prstGeom>
          <a:noFill/>
        </p:spPr>
        <p:txBody>
          <a:bodyPr wrap="square" lIns="0" rIns="0" tIns="0" bIns="0" anchor="ctr">
            <a:spAutoFit/>
          </a:bodyPr>
          <a:lstStyle/>
          <a:p>
            <a:pPr algn="ctr"/>
            <a:r>
              <a:rPr sz="1300" b="0" lang="en-US">
                <a:solidFill>
                  <a:srgbClr val="7446A6"/>
                </a:solidFill>
                <a:latin typeface="Arial"/>
              </a:rPr>
              <a:t>Store global model</a:t>
            </a:r>
          </a:p>
        </p:txBody>
      </p:sp>
      <p:sp>
        <p:nvSpPr>
          <p:cNvPr id="55" name="Functional node: Blockchain / Finalize round"/>
          <p:cNvSpPr/>
          <p:nvPr/>
        </p:nvSpPr>
        <p:spPr>
          <a:xfrm>
            <a:off x="3157233" y="1908542"/>
            <a:ext cx="1920240" cy="804672"/>
          </a:xfrm>
          <a:prstGeom prst="roundRect">
            <a:avLst/>
          </a:prstGeom>
          <a:solidFill>
            <a:srgbClr val="F3EEF8"/>
          </a:solidFill>
          <a:ln w="1714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abel: Blockchain"/>
          <p:cNvSpPr txBox="1"/>
          <p:nvPr/>
        </p:nvSpPr>
        <p:spPr>
          <a:xfrm>
            <a:off x="3212097" y="2018270"/>
            <a:ext cx="1810512" cy="329184"/>
          </a:xfrm>
          <a:prstGeom prst="rect">
            <a:avLst/>
          </a:prstGeom>
          <a:noFill/>
        </p:spPr>
        <p:txBody>
          <a:bodyPr wrap="square" lIns="0" rIns="0" tIns="0" bIns="0" anchor="ctr">
            <a:spAutoFit/>
          </a:bodyPr>
          <a:lstStyle/>
          <a:p>
            <a:pPr algn="ctr"/>
            <a:r>
              <a:rPr sz="1800" b="1" lang="en-US">
                <a:solidFill>
                  <a:srgbClr val="7446A6"/>
                </a:solidFill>
                <a:latin typeface="Arial"/>
              </a:rPr>
              <a:t>Blockchain</a:t>
            </a:r>
          </a:p>
        </p:txBody>
      </p:sp>
      <p:sp>
        <p:nvSpPr>
          <p:cNvPr id="57" name="Label: Finalize round"/>
          <p:cNvSpPr txBox="1"/>
          <p:nvPr/>
        </p:nvSpPr>
        <p:spPr>
          <a:xfrm>
            <a:off x="3212097" y="2429750"/>
            <a:ext cx="1810512" cy="219456"/>
          </a:xfrm>
          <a:prstGeom prst="rect">
            <a:avLst/>
          </a:prstGeom>
          <a:noFill/>
        </p:spPr>
        <p:txBody>
          <a:bodyPr wrap="square" lIns="0" rIns="0" tIns="0" bIns="0" anchor="ctr">
            <a:spAutoFit/>
          </a:bodyPr>
          <a:lstStyle/>
          <a:p>
            <a:pPr algn="ctr"/>
            <a:r>
              <a:rPr sz="1300" b="0" lang="en-US">
                <a:solidFill>
                  <a:srgbClr val="7446A6"/>
                </a:solidFill>
                <a:latin typeface="Arial"/>
              </a:rPr>
              <a:t>Finalize round</a:t>
            </a:r>
          </a:p>
        </p:txBody>
      </p:sp>
      <p:sp>
        <p:nvSpPr>
          <p:cNvPr id="58" name="Label: DFL"/>
          <p:cNvSpPr txBox="1"/>
          <p:nvPr/>
        </p:nvSpPr>
        <p:spPr>
          <a:xfrm>
            <a:off x="2331720" y="3227832"/>
            <a:ext cx="1243584" cy="493776"/>
          </a:xfrm>
          <a:prstGeom prst="rect">
            <a:avLst/>
          </a:prstGeom>
          <a:noFill/>
        </p:spPr>
        <p:txBody>
          <a:bodyPr wrap="square" lIns="0" rIns="0" tIns="0" bIns="0" anchor="ctr">
            <a:spAutoFit/>
          </a:bodyPr>
          <a:lstStyle/>
          <a:p>
            <a:pPr algn="ctr"/>
            <a:r>
              <a:rPr sz="2700" b="1" lang="en-US">
                <a:solidFill>
                  <a:srgbClr val="207548"/>
                </a:solidFill>
                <a:latin typeface="Arial"/>
              </a:rPr>
              <a:t>DFL</a:t>
            </a:r>
          </a:p>
        </p:txBody>
      </p:sp>
      <p:sp>
        <p:nvSpPr>
          <p:cNvPr id="59" name="Label: Next round"/>
          <p:cNvSpPr txBox="1"/>
          <p:nvPr/>
        </p:nvSpPr>
        <p:spPr>
          <a:xfrm>
            <a:off x="2185416" y="1371600"/>
            <a:ext cx="1536192" cy="310896"/>
          </a:xfrm>
          <a:prstGeom prst="rect">
            <a:avLst/>
          </a:prstGeom>
          <a:noFill/>
        </p:spPr>
        <p:txBody>
          <a:bodyPr wrap="square" lIns="0" rIns="0" tIns="0" bIns="0" anchor="ctr">
            <a:spAutoFit/>
          </a:bodyPr>
          <a:lstStyle/>
          <a:p>
            <a:pPr algn="ctr"/>
            <a:r>
              <a:rPr sz="1500" b="0" lang="en-US">
                <a:solidFill>
                  <a:srgbClr val="207548"/>
                </a:solidFill>
                <a:latin typeface="Arial"/>
              </a:rPr>
              <a:t>Next round</a:t>
            </a:r>
          </a:p>
        </p:txBody>
      </p:sp>
      <p:sp>
        <p:nvSpPr>
          <p:cNvPr id="60" name="Label: Publish model"/>
          <p:cNvSpPr txBox="1"/>
          <p:nvPr/>
        </p:nvSpPr>
        <p:spPr>
          <a:xfrm>
            <a:off x="2011680" y="5303520"/>
            <a:ext cx="1883664" cy="292608"/>
          </a:xfrm>
          <a:prstGeom prst="rect">
            <a:avLst/>
          </a:prstGeom>
          <a:noFill/>
        </p:spPr>
        <p:txBody>
          <a:bodyPr wrap="square" lIns="0" rIns="0" tIns="0" bIns="0" anchor="ctr">
            <a:spAutoFit/>
          </a:bodyPr>
          <a:lstStyle/>
          <a:p>
            <a:pPr algn="ctr"/>
            <a:r>
              <a:rPr sz="1400" b="0" lang="en-US">
                <a:solidFill>
                  <a:srgbClr val="207548"/>
                </a:solidFill>
                <a:latin typeface="Arial"/>
              </a:rPr>
              <a:t>Publish model</a:t>
            </a:r>
          </a:p>
        </p:txBody>
      </p:sp>
      <p:sp>
        <p:nvSpPr>
          <p:cNvPr id="61" name="Label: Register / CID"/>
          <p:cNvSpPr txBox="1"/>
          <p:nvPr/>
        </p:nvSpPr>
        <p:spPr>
          <a:xfrm>
            <a:off x="4709160" y="3108960"/>
            <a:ext cx="1060704" cy="594360"/>
          </a:xfrm>
          <a:prstGeom prst="rect">
            <a:avLst/>
          </a:prstGeom>
          <a:noFill/>
        </p:spPr>
        <p:txBody>
          <a:bodyPr wrap="square" lIns="0" rIns="0" tIns="0" bIns="0" anchor="ctr">
            <a:spAutoFit/>
          </a:bodyPr>
          <a:lstStyle/>
          <a:p>
            <a:pPr algn="ctr"/>
            <a:r>
              <a:rPr sz="1500" b="0" lang="en-US">
                <a:solidFill>
                  <a:srgbClr val="7446A6"/>
                </a:solidFill>
                <a:latin typeface="Arial"/>
              </a:rPr>
              <a:t>Register
CID</a:t>
            </a:r>
          </a:p>
        </p:txBody>
      </p:sp>
      <p:cxnSp>
        <p:nvCxnSpPr>
          <p:cNvPr id="62" name="Flow"/>
          <p:cNvCxnSpPr/>
          <p:nvPr/>
        </p:nvCxnSpPr>
        <p:spPr>
          <a:xfrm>
            <a:off x="5132337" y="2310878"/>
            <a:ext cx="948423"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3" name="Flow"/>
          <p:cNvCxnSpPr/>
          <p:nvPr/>
        </p:nvCxnSpPr>
        <p:spPr>
          <a:xfrm>
            <a:off x="6080760" y="2310878"/>
            <a:ext cx="0" cy="1191274"/>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4" name="Flow"/>
          <p:cNvCxnSpPr/>
          <p:nvPr/>
        </p:nvCxnSpPr>
        <p:spPr>
          <a:xfrm>
            <a:off x="6080760" y="3502152"/>
            <a:ext cx="1261871"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Label: Reference"/>
          <p:cNvSpPr txBox="1"/>
          <p:nvPr/>
        </p:nvSpPr>
        <p:spPr>
          <a:xfrm>
            <a:off x="5184648" y="1899398"/>
            <a:ext cx="1362456" cy="301752"/>
          </a:xfrm>
          <a:prstGeom prst="rect">
            <a:avLst/>
          </a:prstGeom>
          <a:noFill/>
        </p:spPr>
        <p:txBody>
          <a:bodyPr wrap="square" lIns="0" rIns="0" tIns="0" bIns="0" anchor="ctr">
            <a:spAutoFit/>
          </a:bodyPr>
          <a:lstStyle/>
          <a:p>
            <a:pPr algn="ctr"/>
            <a:r>
              <a:rPr sz="1500" b="0" lang="en-US">
                <a:solidFill>
                  <a:srgbClr val="7446A6"/>
                </a:solidFill>
                <a:latin typeface="Arial"/>
              </a:rPr>
              <a:t>Reference</a:t>
            </a:r>
          </a:p>
        </p:txBody>
      </p:sp>
      <p:cxnSp>
        <p:nvCxnSpPr>
          <p:cNvPr id="66" name="Flow"/>
          <p:cNvCxnSpPr/>
          <p:nvPr/>
        </p:nvCxnSpPr>
        <p:spPr>
          <a:xfrm>
            <a:off x="5132337" y="4638561"/>
            <a:ext cx="948423"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7" name="Flow"/>
          <p:cNvCxnSpPr/>
          <p:nvPr/>
        </p:nvCxnSpPr>
        <p:spPr>
          <a:xfrm flipV="1">
            <a:off x="6080760" y="4014215"/>
            <a:ext cx="0" cy="624346"/>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8" name="Flow"/>
          <p:cNvCxnSpPr/>
          <p:nvPr/>
        </p:nvCxnSpPr>
        <p:spPr>
          <a:xfrm>
            <a:off x="6080760" y="4014215"/>
            <a:ext cx="1261871"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Label: Model files"/>
          <p:cNvSpPr txBox="1"/>
          <p:nvPr/>
        </p:nvSpPr>
        <p:spPr>
          <a:xfrm>
            <a:off x="5175504" y="4821441"/>
            <a:ext cx="1554480" cy="301752"/>
          </a:xfrm>
          <a:prstGeom prst="rect">
            <a:avLst/>
          </a:prstGeom>
          <a:noFill/>
        </p:spPr>
        <p:txBody>
          <a:bodyPr wrap="square" lIns="0" rIns="0" tIns="0" bIns="0" anchor="ctr">
            <a:spAutoFit/>
          </a:bodyPr>
          <a:lstStyle/>
          <a:p>
            <a:pPr algn="ctr"/>
            <a:r>
              <a:rPr sz="1500" b="0" lang="en-US">
                <a:solidFill>
                  <a:srgbClr val="7446A6"/>
                </a:solidFill>
                <a:latin typeface="Arial"/>
              </a:rPr>
              <a:t>Model files</a:t>
            </a:r>
          </a:p>
        </p:txBody>
      </p:sp>
      <p:sp>
        <p:nvSpPr>
          <p:cNvPr id="70" name="Node: Attested / inference"/>
          <p:cNvSpPr/>
          <p:nvPr/>
        </p:nvSpPr>
        <p:spPr>
          <a:xfrm>
            <a:off x="7388352" y="3268979"/>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abel: Attested / inference"/>
          <p:cNvSpPr txBox="1"/>
          <p:nvPr/>
        </p:nvSpPr>
        <p:spPr>
          <a:xfrm>
            <a:off x="7452360" y="3296411"/>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72" name="Oval 71"/>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7"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80" name="Flow"/>
          <p:cNvCxnSpPr/>
          <p:nvPr/>
        </p:nvCxnSpPr>
        <p:spPr>
          <a:xfrm>
            <a:off x="8065008" y="2743200"/>
            <a:ext cx="0" cy="46634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Label: MCP"/>
          <p:cNvSpPr txBox="1"/>
          <p:nvPr/>
        </p:nvSpPr>
        <p:spPr>
          <a:xfrm>
            <a:off x="7397496" y="283921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82" name="Flow"/>
          <p:cNvCxnSpPr/>
          <p:nvPr/>
        </p:nvCxnSpPr>
        <p:spPr>
          <a:xfrm flipV="1">
            <a:off x="8540496" y="2743200"/>
            <a:ext cx="0" cy="46634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Label: Result"/>
          <p:cNvSpPr txBox="1"/>
          <p:nvPr/>
        </p:nvSpPr>
        <p:spPr>
          <a:xfrm>
            <a:off x="8668512" y="283921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84" name="Flow"/>
          <p:cNvCxnSpPr/>
          <p:nvPr/>
        </p:nvCxnSpPr>
        <p:spPr>
          <a:xfrm>
            <a:off x="9244584" y="3749039"/>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Label: Tool receipt"/>
          <p:cNvSpPr txBox="1"/>
          <p:nvPr/>
        </p:nvSpPr>
        <p:spPr>
          <a:xfrm>
            <a:off x="9281160" y="3282696"/>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86" name="Oval 85"/>
          <p:cNvSpPr/>
          <p:nvPr/>
        </p:nvSpPr>
        <p:spPr>
          <a:xfrm>
            <a:off x="10433304" y="3310127"/>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755630" y="343037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716768" y="346923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677906" y="350809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Flow"/>
          <p:cNvCxnSpPr/>
          <p:nvPr/>
        </p:nvCxnSpPr>
        <p:spPr>
          <a:xfrm>
            <a:off x="10755630" y="364022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1" name="Flow"/>
          <p:cNvCxnSpPr/>
          <p:nvPr/>
        </p:nvCxnSpPr>
        <p:spPr>
          <a:xfrm>
            <a:off x="10755630" y="3749039"/>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2" name="Flow"/>
          <p:cNvCxnSpPr/>
          <p:nvPr/>
        </p:nvCxnSpPr>
        <p:spPr>
          <a:xfrm>
            <a:off x="10755630" y="385785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93" name="Label: Transparency / log"/>
          <p:cNvSpPr txBox="1"/>
          <p:nvPr/>
        </p:nvSpPr>
        <p:spPr>
          <a:xfrm>
            <a:off x="9820656" y="430682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F2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728216" y="1965960"/>
            <a:ext cx="3163824" cy="3163824"/>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754705" y="3218974"/>
            <a:ext cx="8079" cy="4061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747691" y="3259591"/>
            <a:ext cx="7014" cy="4081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741749" y="3300406"/>
            <a:ext cx="5942" cy="4098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736881" y="3341391"/>
            <a:ext cx="4868" cy="4112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733092" y="3382517"/>
            <a:ext cx="3789" cy="4123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730383" y="3423756"/>
            <a:ext cx="2709" cy="4132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728758" y="3465081"/>
            <a:ext cx="1625" cy="413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728216" y="3506462"/>
            <a:ext cx="542" cy="41410"/>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3798965" y="5039047"/>
            <a:ext cx="39216" cy="1331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3838181" y="5024714"/>
            <a:ext cx="38853" cy="1433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3877034" y="5009368"/>
            <a:ext cx="38465" cy="1534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3915499" y="4993020"/>
            <a:ext cx="38050" cy="1634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3953549" y="4975682"/>
            <a:ext cx="37609" cy="1733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3991158" y="4957365"/>
            <a:ext cx="37143" cy="1831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4028301" y="4938083"/>
            <a:ext cx="36650" cy="1928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4064951" y="4917847"/>
            <a:ext cx="36133" cy="20236"/>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438427" y="2439095"/>
            <a:ext cx="28638" cy="2991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409016" y="2409939"/>
            <a:ext cx="29411" cy="2915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378852" y="2381564"/>
            <a:ext cx="30164" cy="2837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4347955" y="2353987"/>
            <a:ext cx="30897" cy="2757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4316347" y="2327229"/>
            <a:ext cx="31608" cy="2675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4284050" y="2301308"/>
            <a:ext cx="32297" cy="2592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4251085" y="2276241"/>
            <a:ext cx="32965" cy="2506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4217475" y="2252045"/>
            <a:ext cx="33610" cy="24196"/>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Functional node: Workers / Local training"/>
          <p:cNvSpPr/>
          <p:nvPr/>
        </p:nvSpPr>
        <p:spPr>
          <a:xfrm>
            <a:off x="1460948" y="1849709"/>
            <a:ext cx="1883664"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Workers"/>
          <p:cNvSpPr txBox="1"/>
          <p:nvPr/>
        </p:nvSpPr>
        <p:spPr>
          <a:xfrm>
            <a:off x="1515812" y="1959437"/>
            <a:ext cx="1773936" cy="329184"/>
          </a:xfrm>
          <a:prstGeom prst="rect">
            <a:avLst/>
          </a:prstGeom>
          <a:noFill/>
        </p:spPr>
        <p:txBody>
          <a:bodyPr wrap="square" lIns="0" rIns="0" tIns="0" bIns="0" anchor="ctr">
            <a:spAutoFit/>
          </a:bodyPr>
          <a:lstStyle/>
          <a:p>
            <a:pPr algn="ctr"/>
            <a:r>
              <a:rPr sz="1800" b="1" lang="en-US">
                <a:solidFill>
                  <a:srgbClr val="207548"/>
                </a:solidFill>
                <a:latin typeface="Arial"/>
              </a:rPr>
              <a:t>Workers</a:t>
            </a:r>
          </a:p>
        </p:txBody>
      </p:sp>
      <p:sp>
        <p:nvSpPr>
          <p:cNvPr id="40" name="Label: Local training"/>
          <p:cNvSpPr txBox="1"/>
          <p:nvPr/>
        </p:nvSpPr>
        <p:spPr>
          <a:xfrm>
            <a:off x="1515812" y="2370917"/>
            <a:ext cx="1773936" cy="219456"/>
          </a:xfrm>
          <a:prstGeom prst="rect">
            <a:avLst/>
          </a:prstGeom>
          <a:noFill/>
        </p:spPr>
        <p:txBody>
          <a:bodyPr wrap="square" lIns="0" rIns="0" tIns="0" bIns="0" anchor="ctr">
            <a:spAutoFit/>
          </a:bodyPr>
          <a:lstStyle/>
          <a:p>
            <a:pPr algn="ctr"/>
            <a:r>
              <a:rPr sz="1300" b="0" lang="en-US">
                <a:solidFill>
                  <a:srgbClr val="207548"/>
                </a:solidFill>
                <a:latin typeface="Arial"/>
              </a:rPr>
              <a:t>Local training</a:t>
            </a:r>
          </a:p>
        </p:txBody>
      </p:sp>
      <p:sp>
        <p:nvSpPr>
          <p:cNvPr id="41" name="Functional node: Aggregator / Combine updates"/>
          <p:cNvSpPr/>
          <p:nvPr/>
        </p:nvSpPr>
        <p:spPr>
          <a:xfrm>
            <a:off x="1460948" y="4441362"/>
            <a:ext cx="1883664"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abel: Aggregator"/>
          <p:cNvSpPr txBox="1"/>
          <p:nvPr/>
        </p:nvSpPr>
        <p:spPr>
          <a:xfrm>
            <a:off x="1515812" y="4551090"/>
            <a:ext cx="1773936" cy="329184"/>
          </a:xfrm>
          <a:prstGeom prst="rect">
            <a:avLst/>
          </a:prstGeom>
          <a:noFill/>
        </p:spPr>
        <p:txBody>
          <a:bodyPr wrap="square" lIns="0" rIns="0" tIns="0" bIns="0" anchor="ctr">
            <a:spAutoFit/>
          </a:bodyPr>
          <a:lstStyle/>
          <a:p>
            <a:pPr algn="ctr"/>
            <a:r>
              <a:rPr sz="1800" b="1" lang="en-US">
                <a:solidFill>
                  <a:srgbClr val="207548"/>
                </a:solidFill>
                <a:latin typeface="Arial"/>
              </a:rPr>
              <a:t>Aggregator</a:t>
            </a:r>
          </a:p>
        </p:txBody>
      </p:sp>
      <p:sp>
        <p:nvSpPr>
          <p:cNvPr id="43" name="Label: Combine updates"/>
          <p:cNvSpPr txBox="1"/>
          <p:nvPr/>
        </p:nvSpPr>
        <p:spPr>
          <a:xfrm>
            <a:off x="1515812" y="4962570"/>
            <a:ext cx="1773936" cy="219456"/>
          </a:xfrm>
          <a:prstGeom prst="rect">
            <a:avLst/>
          </a:prstGeom>
          <a:noFill/>
        </p:spPr>
        <p:txBody>
          <a:bodyPr wrap="square" lIns="0" rIns="0" tIns="0" bIns="0" anchor="ctr">
            <a:spAutoFit/>
          </a:bodyPr>
          <a:lstStyle/>
          <a:p>
            <a:pPr algn="ctr"/>
            <a:r>
              <a:rPr sz="1300" b="0" lang="en-US">
                <a:solidFill>
                  <a:srgbClr val="207548"/>
                </a:solidFill>
                <a:latin typeface="Arial"/>
              </a:rPr>
              <a:t>Combine updates</a:t>
            </a:r>
          </a:p>
        </p:txBody>
      </p:sp>
      <p:sp>
        <p:nvSpPr>
          <p:cNvPr id="44" name="Functional node: IPFS / Global model"/>
          <p:cNvSpPr/>
          <p:nvPr/>
        </p:nvSpPr>
        <p:spPr>
          <a:xfrm>
            <a:off x="3950207" y="3145536"/>
            <a:ext cx="1883664" cy="804672"/>
          </a:xfrm>
          <a:prstGeom prst="roundRect">
            <a:avLst/>
          </a:prstGeom>
          <a:solidFill>
            <a:srgbClr val="F3EEF8"/>
          </a:solidFill>
          <a:ln w="1714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abel: IPFS"/>
          <p:cNvSpPr txBox="1"/>
          <p:nvPr/>
        </p:nvSpPr>
        <p:spPr>
          <a:xfrm>
            <a:off x="4005071" y="3255264"/>
            <a:ext cx="1773936" cy="329184"/>
          </a:xfrm>
          <a:prstGeom prst="rect">
            <a:avLst/>
          </a:prstGeom>
          <a:noFill/>
        </p:spPr>
        <p:txBody>
          <a:bodyPr wrap="square" lIns="0" rIns="0" tIns="0" bIns="0" anchor="ctr">
            <a:spAutoFit/>
          </a:bodyPr>
          <a:lstStyle/>
          <a:p>
            <a:pPr algn="ctr"/>
            <a:r>
              <a:rPr sz="1800" b="1" lang="en-US">
                <a:solidFill>
                  <a:srgbClr val="7446A6"/>
                </a:solidFill>
                <a:latin typeface="Arial"/>
              </a:rPr>
              <a:t>IPFS</a:t>
            </a:r>
          </a:p>
        </p:txBody>
      </p:sp>
      <p:sp>
        <p:nvSpPr>
          <p:cNvPr id="46" name="Label: Global model"/>
          <p:cNvSpPr txBox="1"/>
          <p:nvPr/>
        </p:nvSpPr>
        <p:spPr>
          <a:xfrm>
            <a:off x="4005071" y="3666744"/>
            <a:ext cx="1773936" cy="219456"/>
          </a:xfrm>
          <a:prstGeom prst="rect">
            <a:avLst/>
          </a:prstGeom>
          <a:noFill/>
        </p:spPr>
        <p:txBody>
          <a:bodyPr wrap="square" lIns="0" rIns="0" tIns="0" bIns="0" anchor="ctr">
            <a:spAutoFit/>
          </a:bodyPr>
          <a:lstStyle/>
          <a:p>
            <a:pPr algn="ctr"/>
            <a:r>
              <a:rPr sz="1300" b="0" lang="en-US">
                <a:solidFill>
                  <a:srgbClr val="7446A6"/>
                </a:solidFill>
                <a:latin typeface="Arial"/>
              </a:rPr>
              <a:t>Global model</a:t>
            </a:r>
          </a:p>
        </p:txBody>
      </p:sp>
      <p:sp>
        <p:nvSpPr>
          <p:cNvPr id="47" name="Functional node: Blockchain / Round + refs"/>
          <p:cNvSpPr/>
          <p:nvPr/>
        </p:nvSpPr>
        <p:spPr>
          <a:xfrm>
            <a:off x="1929384" y="3145536"/>
            <a:ext cx="1773936" cy="804672"/>
          </a:xfrm>
          <a:prstGeom prst="roundRect">
            <a:avLst/>
          </a:prstGeom>
          <a:solidFill>
            <a:srgbClr val="F3EEF8"/>
          </a:solidFill>
          <a:ln w="1714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abel: Blockchain"/>
          <p:cNvSpPr txBox="1"/>
          <p:nvPr/>
        </p:nvSpPr>
        <p:spPr>
          <a:xfrm>
            <a:off x="1984248" y="3255264"/>
            <a:ext cx="1664207" cy="329184"/>
          </a:xfrm>
          <a:prstGeom prst="rect">
            <a:avLst/>
          </a:prstGeom>
          <a:noFill/>
        </p:spPr>
        <p:txBody>
          <a:bodyPr wrap="square" lIns="0" rIns="0" tIns="0" bIns="0" anchor="ctr">
            <a:spAutoFit/>
          </a:bodyPr>
          <a:lstStyle/>
          <a:p>
            <a:pPr algn="ctr"/>
            <a:r>
              <a:rPr sz="1800" b="1" lang="en-US">
                <a:solidFill>
                  <a:srgbClr val="7446A6"/>
                </a:solidFill>
                <a:latin typeface="Arial"/>
              </a:rPr>
              <a:t>Blockchain</a:t>
            </a:r>
          </a:p>
        </p:txBody>
      </p:sp>
      <p:sp>
        <p:nvSpPr>
          <p:cNvPr id="49" name="Label: Round + refs"/>
          <p:cNvSpPr txBox="1"/>
          <p:nvPr/>
        </p:nvSpPr>
        <p:spPr>
          <a:xfrm>
            <a:off x="1984248" y="3666744"/>
            <a:ext cx="1664207" cy="219456"/>
          </a:xfrm>
          <a:prstGeom prst="rect">
            <a:avLst/>
          </a:prstGeom>
          <a:noFill/>
        </p:spPr>
        <p:txBody>
          <a:bodyPr wrap="square" lIns="0" rIns="0" tIns="0" bIns="0" anchor="ctr">
            <a:spAutoFit/>
          </a:bodyPr>
          <a:lstStyle/>
          <a:p>
            <a:pPr algn="ctr"/>
            <a:r>
              <a:rPr sz="1300" b="0" lang="en-US">
                <a:solidFill>
                  <a:srgbClr val="7446A6"/>
                </a:solidFill>
                <a:latin typeface="Arial"/>
              </a:rPr>
              <a:t>Round + refs</a:t>
            </a:r>
          </a:p>
        </p:txBody>
      </p:sp>
      <p:sp>
        <p:nvSpPr>
          <p:cNvPr id="50" name="Label: DFL"/>
          <p:cNvSpPr txBox="1"/>
          <p:nvPr/>
        </p:nvSpPr>
        <p:spPr>
          <a:xfrm>
            <a:off x="3529584" y="2404872"/>
            <a:ext cx="1024128" cy="365760"/>
          </a:xfrm>
          <a:prstGeom prst="rect">
            <a:avLst/>
          </a:prstGeom>
          <a:noFill/>
        </p:spPr>
        <p:txBody>
          <a:bodyPr wrap="square" lIns="0" rIns="0" tIns="0" bIns="0" anchor="ctr">
            <a:spAutoFit/>
          </a:bodyPr>
          <a:lstStyle/>
          <a:p>
            <a:pPr algn="ctr"/>
            <a:r>
              <a:rPr sz="2400" b="1" lang="en-US">
                <a:solidFill>
                  <a:srgbClr val="207548"/>
                </a:solidFill>
                <a:latin typeface="Arial"/>
              </a:rPr>
              <a:t>DFL</a:t>
            </a:r>
          </a:p>
        </p:txBody>
      </p:sp>
      <p:sp>
        <p:nvSpPr>
          <p:cNvPr id="51" name="Label: Local / updates"/>
          <p:cNvSpPr txBox="1"/>
          <p:nvPr/>
        </p:nvSpPr>
        <p:spPr>
          <a:xfrm>
            <a:off x="566928" y="3209544"/>
            <a:ext cx="1106424" cy="612648"/>
          </a:xfrm>
          <a:prstGeom prst="rect">
            <a:avLst/>
          </a:prstGeom>
          <a:noFill/>
        </p:spPr>
        <p:txBody>
          <a:bodyPr wrap="square" lIns="0" rIns="0" tIns="0" bIns="0" anchor="ctr">
            <a:spAutoFit/>
          </a:bodyPr>
          <a:lstStyle/>
          <a:p>
            <a:pPr algn="ctr"/>
            <a:r>
              <a:rPr sz="1500" b="0" lang="en-US">
                <a:solidFill>
                  <a:srgbClr val="207548"/>
                </a:solidFill>
                <a:latin typeface="Arial"/>
              </a:rPr>
              <a:t>Local
updates</a:t>
            </a:r>
          </a:p>
        </p:txBody>
      </p:sp>
      <p:sp>
        <p:nvSpPr>
          <p:cNvPr id="52" name="Label: Load model"/>
          <p:cNvSpPr txBox="1"/>
          <p:nvPr/>
        </p:nvSpPr>
        <p:spPr>
          <a:xfrm>
            <a:off x="3419856" y="1536192"/>
            <a:ext cx="1572768" cy="310896"/>
          </a:xfrm>
          <a:prstGeom prst="rect">
            <a:avLst/>
          </a:prstGeom>
          <a:noFill/>
        </p:spPr>
        <p:txBody>
          <a:bodyPr wrap="square" lIns="0" rIns="0" tIns="0" bIns="0" anchor="ctr">
            <a:spAutoFit/>
          </a:bodyPr>
          <a:lstStyle/>
          <a:p>
            <a:pPr algn="ctr"/>
            <a:r>
              <a:rPr sz="1500" b="0" lang="en-US">
                <a:solidFill>
                  <a:srgbClr val="207548"/>
                </a:solidFill>
                <a:latin typeface="Arial"/>
              </a:rPr>
              <a:t>Load model</a:t>
            </a:r>
          </a:p>
        </p:txBody>
      </p:sp>
      <p:sp>
        <p:nvSpPr>
          <p:cNvPr id="53" name="Label: Store model"/>
          <p:cNvSpPr txBox="1"/>
          <p:nvPr/>
        </p:nvSpPr>
        <p:spPr>
          <a:xfrm>
            <a:off x="3236976" y="5321808"/>
            <a:ext cx="1719072" cy="292608"/>
          </a:xfrm>
          <a:prstGeom prst="rect">
            <a:avLst/>
          </a:prstGeom>
          <a:noFill/>
        </p:spPr>
        <p:txBody>
          <a:bodyPr wrap="square" lIns="0" rIns="0" tIns="0" bIns="0" anchor="ctr">
            <a:spAutoFit/>
          </a:bodyPr>
          <a:lstStyle/>
          <a:p>
            <a:pPr algn="ctr"/>
            <a:r>
              <a:rPr sz="1500" b="0" lang="en-US">
                <a:solidFill>
                  <a:srgbClr val="207548"/>
                </a:solidFill>
                <a:latin typeface="Arial"/>
              </a:rPr>
              <a:t>Store model</a:t>
            </a:r>
          </a:p>
        </p:txBody>
      </p:sp>
      <p:cxnSp>
        <p:nvCxnSpPr>
          <p:cNvPr id="54" name="Connector 53"/>
          <p:cNvCxnSpPr/>
          <p:nvPr/>
        </p:nvCxnSpPr>
        <p:spPr>
          <a:xfrm flipH="1" flipV="1">
            <a:off x="2651760" y="2709245"/>
            <a:ext cx="228600" cy="372283"/>
          </a:xfrm>
          <a:prstGeom prst="line">
            <a:avLst/>
          </a:prstGeom>
          <a:ln w="20320">
            <a:solidFill>
              <a:srgbClr val="744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 name="Label: Round + refs"/>
          <p:cNvSpPr txBox="1"/>
          <p:nvPr/>
        </p:nvSpPr>
        <p:spPr>
          <a:xfrm>
            <a:off x="2962656" y="2788920"/>
            <a:ext cx="1408176" cy="256032"/>
          </a:xfrm>
          <a:prstGeom prst="rect">
            <a:avLst/>
          </a:prstGeom>
          <a:noFill/>
        </p:spPr>
        <p:txBody>
          <a:bodyPr wrap="square" lIns="0" rIns="0" tIns="0" bIns="0" anchor="ctr">
            <a:spAutoFit/>
          </a:bodyPr>
          <a:lstStyle/>
          <a:p>
            <a:pPr algn="ctr"/>
            <a:r>
              <a:rPr sz="1300" b="0" lang="en-US">
                <a:solidFill>
                  <a:srgbClr val="7446A6"/>
                </a:solidFill>
                <a:latin typeface="Arial"/>
              </a:rPr>
              <a:t>Round + refs</a:t>
            </a:r>
          </a:p>
        </p:txBody>
      </p:sp>
      <p:cxnSp>
        <p:nvCxnSpPr>
          <p:cNvPr id="56" name="Connector 55"/>
          <p:cNvCxnSpPr/>
          <p:nvPr/>
        </p:nvCxnSpPr>
        <p:spPr>
          <a:xfrm flipV="1">
            <a:off x="2651760" y="4014215"/>
            <a:ext cx="228600" cy="372283"/>
          </a:xfrm>
          <a:prstGeom prst="line">
            <a:avLst/>
          </a:prstGeom>
          <a:ln w="20320">
            <a:solidFill>
              <a:srgbClr val="744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7" name="Label: Commit"/>
          <p:cNvSpPr txBox="1"/>
          <p:nvPr/>
        </p:nvSpPr>
        <p:spPr>
          <a:xfrm>
            <a:off x="2980944" y="4251960"/>
            <a:ext cx="987552" cy="256032"/>
          </a:xfrm>
          <a:prstGeom prst="rect">
            <a:avLst/>
          </a:prstGeom>
          <a:noFill/>
        </p:spPr>
        <p:txBody>
          <a:bodyPr wrap="square" lIns="0" rIns="0" tIns="0" bIns="0" anchor="ctr">
            <a:spAutoFit/>
          </a:bodyPr>
          <a:lstStyle/>
          <a:p>
            <a:pPr algn="ctr"/>
            <a:r>
              <a:rPr sz="1400" b="0" lang="en-US">
                <a:solidFill>
                  <a:srgbClr val="7446A6"/>
                </a:solidFill>
                <a:latin typeface="Arial"/>
              </a:rPr>
              <a:t>Commit</a:t>
            </a:r>
          </a:p>
        </p:txBody>
      </p:sp>
      <p:cxnSp>
        <p:nvCxnSpPr>
          <p:cNvPr id="58" name="Flow"/>
          <p:cNvCxnSpPr/>
          <p:nvPr/>
        </p:nvCxnSpPr>
        <p:spPr>
          <a:xfrm>
            <a:off x="5888736" y="3547872"/>
            <a:ext cx="1005840"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9" name="Flow"/>
          <p:cNvCxnSpPr/>
          <p:nvPr/>
        </p:nvCxnSpPr>
        <p:spPr>
          <a:xfrm flipV="1">
            <a:off x="6894576" y="3511296"/>
            <a:ext cx="0" cy="36576"/>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0" name="Flow"/>
          <p:cNvCxnSpPr/>
          <p:nvPr/>
        </p:nvCxnSpPr>
        <p:spPr>
          <a:xfrm>
            <a:off x="6894576" y="3511296"/>
            <a:ext cx="448055"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Label: Model files"/>
          <p:cNvSpPr txBox="1"/>
          <p:nvPr/>
        </p:nvSpPr>
        <p:spPr>
          <a:xfrm>
            <a:off x="5952744" y="3072384"/>
            <a:ext cx="1344168" cy="301752"/>
          </a:xfrm>
          <a:prstGeom prst="rect">
            <a:avLst/>
          </a:prstGeom>
          <a:noFill/>
        </p:spPr>
        <p:txBody>
          <a:bodyPr wrap="square" lIns="0" rIns="0" tIns="0" bIns="0" anchor="ctr">
            <a:spAutoFit/>
          </a:bodyPr>
          <a:lstStyle/>
          <a:p>
            <a:pPr algn="ctr"/>
            <a:r>
              <a:rPr sz="1500" b="0" lang="en-US">
                <a:solidFill>
                  <a:srgbClr val="7446A6"/>
                </a:solidFill>
                <a:latin typeface="Arial"/>
              </a:rPr>
              <a:t>Model files</a:t>
            </a:r>
          </a:p>
        </p:txBody>
      </p:sp>
      <p:cxnSp>
        <p:nvCxnSpPr>
          <p:cNvPr id="62" name="Flow"/>
          <p:cNvCxnSpPr/>
          <p:nvPr/>
        </p:nvCxnSpPr>
        <p:spPr>
          <a:xfrm>
            <a:off x="3758184" y="3794760"/>
            <a:ext cx="448056" cy="484632"/>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3" name="Flow"/>
          <p:cNvCxnSpPr/>
          <p:nvPr/>
        </p:nvCxnSpPr>
        <p:spPr>
          <a:xfrm>
            <a:off x="4206240" y="4279392"/>
            <a:ext cx="2468880"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4" name="Flow"/>
          <p:cNvCxnSpPr/>
          <p:nvPr/>
        </p:nvCxnSpPr>
        <p:spPr>
          <a:xfrm flipV="1">
            <a:off x="6675120" y="4014215"/>
            <a:ext cx="0" cy="265177"/>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5" name="Flow"/>
          <p:cNvCxnSpPr/>
          <p:nvPr/>
        </p:nvCxnSpPr>
        <p:spPr>
          <a:xfrm>
            <a:off x="6675120" y="4014215"/>
            <a:ext cx="667511"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Label: Reference"/>
          <p:cNvSpPr txBox="1"/>
          <p:nvPr/>
        </p:nvSpPr>
        <p:spPr>
          <a:xfrm>
            <a:off x="5532120" y="4489704"/>
            <a:ext cx="1298448" cy="292608"/>
          </a:xfrm>
          <a:prstGeom prst="rect">
            <a:avLst/>
          </a:prstGeom>
          <a:noFill/>
        </p:spPr>
        <p:txBody>
          <a:bodyPr wrap="square" lIns="0" rIns="0" tIns="0" bIns="0" anchor="ctr">
            <a:spAutoFit/>
          </a:bodyPr>
          <a:lstStyle/>
          <a:p>
            <a:pPr algn="ctr"/>
            <a:r>
              <a:rPr sz="1500" b="0" lang="en-US">
                <a:solidFill>
                  <a:srgbClr val="7446A6"/>
                </a:solidFill>
                <a:latin typeface="Arial"/>
              </a:rPr>
              <a:t>Reference</a:t>
            </a:r>
          </a:p>
        </p:txBody>
      </p:sp>
      <p:sp>
        <p:nvSpPr>
          <p:cNvPr id="67" name="Node: Attested / inference"/>
          <p:cNvSpPr/>
          <p:nvPr/>
        </p:nvSpPr>
        <p:spPr>
          <a:xfrm>
            <a:off x="7388352" y="3268979"/>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abel: Attested / inference"/>
          <p:cNvSpPr txBox="1"/>
          <p:nvPr/>
        </p:nvSpPr>
        <p:spPr>
          <a:xfrm>
            <a:off x="7452360" y="3296411"/>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69" name="Oval 68"/>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4"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77" name="Flow"/>
          <p:cNvCxnSpPr/>
          <p:nvPr/>
        </p:nvCxnSpPr>
        <p:spPr>
          <a:xfrm>
            <a:off x="8065008" y="2743200"/>
            <a:ext cx="0" cy="46634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Label: MCP"/>
          <p:cNvSpPr txBox="1"/>
          <p:nvPr/>
        </p:nvSpPr>
        <p:spPr>
          <a:xfrm>
            <a:off x="7397496" y="283921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9" name="Flow"/>
          <p:cNvCxnSpPr/>
          <p:nvPr/>
        </p:nvCxnSpPr>
        <p:spPr>
          <a:xfrm flipV="1">
            <a:off x="8540496" y="2743200"/>
            <a:ext cx="0" cy="46634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Label: Result"/>
          <p:cNvSpPr txBox="1"/>
          <p:nvPr/>
        </p:nvSpPr>
        <p:spPr>
          <a:xfrm>
            <a:off x="8668512" y="283921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81" name="Flow"/>
          <p:cNvCxnSpPr/>
          <p:nvPr/>
        </p:nvCxnSpPr>
        <p:spPr>
          <a:xfrm>
            <a:off x="9244584" y="3749039"/>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Label: Tool receipt"/>
          <p:cNvSpPr txBox="1"/>
          <p:nvPr/>
        </p:nvSpPr>
        <p:spPr>
          <a:xfrm>
            <a:off x="9281160" y="3282696"/>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83" name="Oval 82"/>
          <p:cNvSpPr/>
          <p:nvPr/>
        </p:nvSpPr>
        <p:spPr>
          <a:xfrm>
            <a:off x="10433304" y="3310127"/>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755630" y="343037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0716768" y="346923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677906" y="350809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Flow"/>
          <p:cNvCxnSpPr/>
          <p:nvPr/>
        </p:nvCxnSpPr>
        <p:spPr>
          <a:xfrm>
            <a:off x="10755630" y="364022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8" name="Flow"/>
          <p:cNvCxnSpPr/>
          <p:nvPr/>
        </p:nvCxnSpPr>
        <p:spPr>
          <a:xfrm>
            <a:off x="10755630" y="3749039"/>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9" name="Flow"/>
          <p:cNvCxnSpPr/>
          <p:nvPr/>
        </p:nvCxnSpPr>
        <p:spPr>
          <a:xfrm>
            <a:off x="10755630" y="385785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90" name="Label: Transparency / log"/>
          <p:cNvSpPr txBox="1"/>
          <p:nvPr/>
        </p:nvSpPr>
        <p:spPr>
          <a:xfrm>
            <a:off x="9820656" y="430682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F3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673352" y="1965960"/>
            <a:ext cx="3163824" cy="3163824"/>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699841" y="3218974"/>
            <a:ext cx="8079" cy="40617"/>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692827" y="3259591"/>
            <a:ext cx="7014" cy="4081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686885" y="3300406"/>
            <a:ext cx="5942" cy="4098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682017" y="3341391"/>
            <a:ext cx="4868" cy="41126"/>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678228" y="3382517"/>
            <a:ext cx="3789" cy="4123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675519" y="3423756"/>
            <a:ext cx="2709" cy="4132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673894" y="3465081"/>
            <a:ext cx="1625" cy="413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673352" y="3506462"/>
            <a:ext cx="542" cy="41410"/>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3796309" y="5019710"/>
            <a:ext cx="38727" cy="1467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3835036" y="5004029"/>
            <a:ext cx="38330" cy="1568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3873366" y="4987350"/>
            <a:ext cx="37906" cy="16679"/>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3911272" y="4969685"/>
            <a:ext cx="37456" cy="1766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3948728" y="4951045"/>
            <a:ext cx="36981" cy="1864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3985709" y="4931443"/>
            <a:ext cx="36481" cy="1960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4022190" y="4910893"/>
            <a:ext cx="35955" cy="20550"/>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4058145" y="4889409"/>
            <a:ext cx="35404" cy="21484"/>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364040" y="2419572"/>
            <a:ext cx="29156" cy="29411"/>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334125" y="2390934"/>
            <a:ext cx="29915" cy="2863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303470" y="2363089"/>
            <a:ext cx="30655" cy="27845"/>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4272097" y="2336057"/>
            <a:ext cx="31373" cy="27032"/>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4240027" y="2309854"/>
            <a:ext cx="32070" cy="26203"/>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4207282" y="2284500"/>
            <a:ext cx="32745" cy="25354"/>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4173884" y="2260012"/>
            <a:ext cx="33398" cy="24488"/>
          </a:xfrm>
          <a:prstGeom prst="line">
            <a:avLst/>
          </a:prstGeom>
          <a:ln w="29845">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4139857" y="2236407"/>
            <a:ext cx="34027" cy="23605"/>
          </a:xfrm>
          <a:prstGeom prst="line">
            <a:avLst/>
          </a:prstGeom>
          <a:ln w="29845">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Functional node: Workers / Local training"/>
          <p:cNvSpPr/>
          <p:nvPr/>
        </p:nvSpPr>
        <p:spPr>
          <a:xfrm>
            <a:off x="1387796" y="1849709"/>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Workers"/>
          <p:cNvSpPr txBox="1"/>
          <p:nvPr/>
        </p:nvSpPr>
        <p:spPr>
          <a:xfrm>
            <a:off x="1442660" y="1959437"/>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Workers</a:t>
            </a:r>
          </a:p>
        </p:txBody>
      </p:sp>
      <p:sp>
        <p:nvSpPr>
          <p:cNvPr id="40" name="Label: Local training"/>
          <p:cNvSpPr txBox="1"/>
          <p:nvPr/>
        </p:nvSpPr>
        <p:spPr>
          <a:xfrm>
            <a:off x="1442660" y="2370917"/>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Local training</a:t>
            </a:r>
          </a:p>
        </p:txBody>
      </p:sp>
      <p:sp>
        <p:nvSpPr>
          <p:cNvPr id="41" name="Functional node: Aggregator / Combine updates"/>
          <p:cNvSpPr/>
          <p:nvPr/>
        </p:nvSpPr>
        <p:spPr>
          <a:xfrm>
            <a:off x="1387796" y="4441362"/>
            <a:ext cx="1920240" cy="804672"/>
          </a:xfrm>
          <a:prstGeom prst="roundRect">
            <a:avLst/>
          </a:prstGeom>
          <a:solidFill>
            <a:srgbClr val="FFFFFF"/>
          </a:solidFill>
          <a:ln w="1714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abel: Aggregator"/>
          <p:cNvSpPr txBox="1"/>
          <p:nvPr/>
        </p:nvSpPr>
        <p:spPr>
          <a:xfrm>
            <a:off x="1442660" y="4551090"/>
            <a:ext cx="1810512" cy="329184"/>
          </a:xfrm>
          <a:prstGeom prst="rect">
            <a:avLst/>
          </a:prstGeom>
          <a:noFill/>
        </p:spPr>
        <p:txBody>
          <a:bodyPr wrap="square" lIns="0" rIns="0" tIns="0" bIns="0" anchor="ctr">
            <a:spAutoFit/>
          </a:bodyPr>
          <a:lstStyle/>
          <a:p>
            <a:pPr algn="ctr"/>
            <a:r>
              <a:rPr sz="1800" b="1" lang="en-US">
                <a:solidFill>
                  <a:srgbClr val="207548"/>
                </a:solidFill>
                <a:latin typeface="Arial"/>
              </a:rPr>
              <a:t>Aggregator</a:t>
            </a:r>
          </a:p>
        </p:txBody>
      </p:sp>
      <p:sp>
        <p:nvSpPr>
          <p:cNvPr id="43" name="Label: Combine updates"/>
          <p:cNvSpPr txBox="1"/>
          <p:nvPr/>
        </p:nvSpPr>
        <p:spPr>
          <a:xfrm>
            <a:off x="1442660" y="4962570"/>
            <a:ext cx="1810512" cy="219456"/>
          </a:xfrm>
          <a:prstGeom prst="rect">
            <a:avLst/>
          </a:prstGeom>
          <a:noFill/>
        </p:spPr>
        <p:txBody>
          <a:bodyPr wrap="square" lIns="0" rIns="0" tIns="0" bIns="0" anchor="ctr">
            <a:spAutoFit/>
          </a:bodyPr>
          <a:lstStyle/>
          <a:p>
            <a:pPr algn="ctr"/>
            <a:r>
              <a:rPr sz="1300" b="0" lang="en-US">
                <a:solidFill>
                  <a:srgbClr val="207548"/>
                </a:solidFill>
                <a:latin typeface="Arial"/>
              </a:rPr>
              <a:t>Combine updates</a:t>
            </a:r>
          </a:p>
        </p:txBody>
      </p:sp>
      <p:sp>
        <p:nvSpPr>
          <p:cNvPr id="44" name="Label: DFL"/>
          <p:cNvSpPr txBox="1"/>
          <p:nvPr/>
        </p:nvSpPr>
        <p:spPr>
          <a:xfrm>
            <a:off x="2715768" y="3337560"/>
            <a:ext cx="1115568" cy="420624"/>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sp>
        <p:nvSpPr>
          <p:cNvPr id="45" name="Label: Local / updates"/>
          <p:cNvSpPr txBox="1"/>
          <p:nvPr/>
        </p:nvSpPr>
        <p:spPr>
          <a:xfrm>
            <a:off x="566928" y="3209544"/>
            <a:ext cx="1078992" cy="612648"/>
          </a:xfrm>
          <a:prstGeom prst="rect">
            <a:avLst/>
          </a:prstGeom>
          <a:noFill/>
        </p:spPr>
        <p:txBody>
          <a:bodyPr wrap="square" lIns="0" rIns="0" tIns="0" bIns="0" anchor="ctr">
            <a:spAutoFit/>
          </a:bodyPr>
          <a:lstStyle/>
          <a:p>
            <a:pPr algn="ctr"/>
            <a:r>
              <a:rPr sz="1500" b="0" lang="en-US">
                <a:solidFill>
                  <a:srgbClr val="207548"/>
                </a:solidFill>
                <a:latin typeface="Arial"/>
              </a:rPr>
              <a:t>Local
updates</a:t>
            </a:r>
          </a:p>
        </p:txBody>
      </p:sp>
      <p:sp>
        <p:nvSpPr>
          <p:cNvPr id="46" name="Label: Load model"/>
          <p:cNvSpPr txBox="1"/>
          <p:nvPr/>
        </p:nvSpPr>
        <p:spPr>
          <a:xfrm>
            <a:off x="3355848" y="1536192"/>
            <a:ext cx="1664208" cy="310896"/>
          </a:xfrm>
          <a:prstGeom prst="rect">
            <a:avLst/>
          </a:prstGeom>
          <a:noFill/>
        </p:spPr>
        <p:txBody>
          <a:bodyPr wrap="square" lIns="0" rIns="0" tIns="0" bIns="0" anchor="ctr">
            <a:spAutoFit/>
          </a:bodyPr>
          <a:lstStyle/>
          <a:p>
            <a:pPr algn="ctr"/>
            <a:r>
              <a:rPr sz="1500" b="0" lang="en-US">
                <a:solidFill>
                  <a:srgbClr val="207548"/>
                </a:solidFill>
                <a:latin typeface="Arial"/>
              </a:rPr>
              <a:t>Load model</a:t>
            </a:r>
          </a:p>
        </p:txBody>
      </p:sp>
      <p:sp>
        <p:nvSpPr>
          <p:cNvPr id="47" name="Label: Publish model"/>
          <p:cNvSpPr txBox="1"/>
          <p:nvPr/>
        </p:nvSpPr>
        <p:spPr>
          <a:xfrm>
            <a:off x="3172968" y="5321808"/>
            <a:ext cx="1947672" cy="292608"/>
          </a:xfrm>
          <a:prstGeom prst="rect">
            <a:avLst/>
          </a:prstGeom>
          <a:noFill/>
        </p:spPr>
        <p:txBody>
          <a:bodyPr wrap="square" lIns="0" rIns="0" tIns="0" bIns="0" anchor="ctr">
            <a:spAutoFit/>
          </a:bodyPr>
          <a:lstStyle/>
          <a:p>
            <a:pPr algn="ctr"/>
            <a:r>
              <a:rPr sz="1500" b="0" lang="en-US">
                <a:solidFill>
                  <a:srgbClr val="207548"/>
                </a:solidFill>
                <a:latin typeface="Arial"/>
              </a:rPr>
              <a:t>Publish model</a:t>
            </a:r>
          </a:p>
        </p:txBody>
      </p:sp>
      <p:sp>
        <p:nvSpPr>
          <p:cNvPr id="48" name="Functional publication segment on DFL cycle"/>
          <p:cNvSpPr/>
          <p:nvPr/>
        </p:nvSpPr>
        <p:spPr>
          <a:xfrm>
            <a:off x="3831335" y="2505456"/>
            <a:ext cx="2011680" cy="2084831"/>
          </a:xfrm>
          <a:prstGeom prst="roundRect">
            <a:avLst/>
          </a:prstGeom>
          <a:solidFill>
            <a:srgbClr val="F8F5FB"/>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abel: Global model"/>
          <p:cNvSpPr txBox="1"/>
          <p:nvPr/>
        </p:nvSpPr>
        <p:spPr>
          <a:xfrm>
            <a:off x="3904487" y="2615184"/>
            <a:ext cx="1865376" cy="320040"/>
          </a:xfrm>
          <a:prstGeom prst="rect">
            <a:avLst/>
          </a:prstGeom>
          <a:noFill/>
        </p:spPr>
        <p:txBody>
          <a:bodyPr wrap="square" lIns="0" rIns="0" tIns="0" bIns="0" anchor="ctr">
            <a:spAutoFit/>
          </a:bodyPr>
          <a:lstStyle/>
          <a:p>
            <a:pPr algn="ctr"/>
            <a:r>
              <a:rPr sz="1800" b="1" lang="en-US">
                <a:solidFill>
                  <a:srgbClr val="7446A6"/>
                </a:solidFill>
                <a:latin typeface="Arial"/>
              </a:rPr>
              <a:t>Global model</a:t>
            </a:r>
          </a:p>
        </p:txBody>
      </p:sp>
      <p:sp>
        <p:nvSpPr>
          <p:cNvPr id="50" name="Rounded Rectangle 49"/>
          <p:cNvSpPr/>
          <p:nvPr/>
        </p:nvSpPr>
        <p:spPr>
          <a:xfrm>
            <a:off x="3931920" y="3081527"/>
            <a:ext cx="1810512" cy="603504"/>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abel: IPFS"/>
          <p:cNvSpPr txBox="1"/>
          <p:nvPr/>
        </p:nvSpPr>
        <p:spPr>
          <a:xfrm>
            <a:off x="4005072" y="3127248"/>
            <a:ext cx="1664208" cy="292608"/>
          </a:xfrm>
          <a:prstGeom prst="rect">
            <a:avLst/>
          </a:prstGeom>
          <a:noFill/>
        </p:spPr>
        <p:txBody>
          <a:bodyPr wrap="square" lIns="0" rIns="0" tIns="0" bIns="0" anchor="ctr">
            <a:spAutoFit/>
          </a:bodyPr>
          <a:lstStyle/>
          <a:p>
            <a:pPr algn="ctr"/>
            <a:r>
              <a:rPr sz="1600" b="1" lang="en-US">
                <a:solidFill>
                  <a:srgbClr val="7446A6"/>
                </a:solidFill>
                <a:latin typeface="Arial"/>
              </a:rPr>
              <a:t>IPFS</a:t>
            </a:r>
          </a:p>
        </p:txBody>
      </p:sp>
      <p:sp>
        <p:nvSpPr>
          <p:cNvPr id="52" name="Label: Model files"/>
          <p:cNvSpPr txBox="1"/>
          <p:nvPr/>
        </p:nvSpPr>
        <p:spPr>
          <a:xfrm>
            <a:off x="4005072" y="3465575"/>
            <a:ext cx="1664208" cy="192024"/>
          </a:xfrm>
          <a:prstGeom prst="rect">
            <a:avLst/>
          </a:prstGeom>
          <a:noFill/>
        </p:spPr>
        <p:txBody>
          <a:bodyPr wrap="square" lIns="0" rIns="0" tIns="0" bIns="0" anchor="ctr">
            <a:spAutoFit/>
          </a:bodyPr>
          <a:lstStyle/>
          <a:p>
            <a:pPr algn="ctr"/>
            <a:r>
              <a:rPr sz="1250" b="0" lang="en-US">
                <a:solidFill>
                  <a:srgbClr val="7446A6"/>
                </a:solidFill>
                <a:latin typeface="Arial"/>
              </a:rPr>
              <a:t>Model files</a:t>
            </a:r>
          </a:p>
        </p:txBody>
      </p:sp>
      <p:sp>
        <p:nvSpPr>
          <p:cNvPr id="53" name="Rounded Rectangle 52"/>
          <p:cNvSpPr/>
          <p:nvPr/>
        </p:nvSpPr>
        <p:spPr>
          <a:xfrm>
            <a:off x="3931920" y="3803904"/>
            <a:ext cx="1810512" cy="603504"/>
          </a:xfrm>
          <a:prstGeom prst="roundRect">
            <a:avLst/>
          </a:prstGeom>
          <a:solidFill>
            <a:srgbClr val="FFFFFF"/>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abel: Blockchain"/>
          <p:cNvSpPr txBox="1"/>
          <p:nvPr/>
        </p:nvSpPr>
        <p:spPr>
          <a:xfrm>
            <a:off x="4005072" y="3849624"/>
            <a:ext cx="1664208" cy="292608"/>
          </a:xfrm>
          <a:prstGeom prst="rect">
            <a:avLst/>
          </a:prstGeom>
          <a:noFill/>
        </p:spPr>
        <p:txBody>
          <a:bodyPr wrap="square" lIns="0" rIns="0" tIns="0" bIns="0" anchor="ctr">
            <a:spAutoFit/>
          </a:bodyPr>
          <a:lstStyle/>
          <a:p>
            <a:pPr algn="ctr"/>
            <a:r>
              <a:rPr sz="1600" b="1" lang="en-US">
                <a:solidFill>
                  <a:srgbClr val="7446A6"/>
                </a:solidFill>
                <a:latin typeface="Arial"/>
              </a:rPr>
              <a:t>Blockchain</a:t>
            </a:r>
          </a:p>
        </p:txBody>
      </p:sp>
      <p:sp>
        <p:nvSpPr>
          <p:cNvPr id="55" name="Label: Model reference"/>
          <p:cNvSpPr txBox="1"/>
          <p:nvPr/>
        </p:nvSpPr>
        <p:spPr>
          <a:xfrm>
            <a:off x="4005072" y="4187952"/>
            <a:ext cx="1664208" cy="192024"/>
          </a:xfrm>
          <a:prstGeom prst="rect">
            <a:avLst/>
          </a:prstGeom>
          <a:noFill/>
        </p:spPr>
        <p:txBody>
          <a:bodyPr wrap="square" lIns="0" rIns="0" tIns="0" bIns="0" anchor="ctr">
            <a:spAutoFit/>
          </a:bodyPr>
          <a:lstStyle/>
          <a:p>
            <a:pPr algn="ctr"/>
            <a:r>
              <a:rPr sz="1250" b="0" lang="en-US">
                <a:solidFill>
                  <a:srgbClr val="7446A6"/>
                </a:solidFill>
                <a:latin typeface="Arial"/>
              </a:rPr>
              <a:t>Model reference</a:t>
            </a:r>
          </a:p>
        </p:txBody>
      </p:sp>
      <p:cxnSp>
        <p:nvCxnSpPr>
          <p:cNvPr id="56" name="Flow"/>
          <p:cNvCxnSpPr/>
          <p:nvPr/>
        </p:nvCxnSpPr>
        <p:spPr>
          <a:xfrm>
            <a:off x="5897880" y="3547872"/>
            <a:ext cx="1444751"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Label: Published / model"/>
          <p:cNvSpPr txBox="1"/>
          <p:nvPr/>
        </p:nvSpPr>
        <p:spPr>
          <a:xfrm>
            <a:off x="6016752" y="2788920"/>
            <a:ext cx="1252728" cy="594360"/>
          </a:xfrm>
          <a:prstGeom prst="rect">
            <a:avLst/>
          </a:prstGeom>
          <a:noFill/>
        </p:spPr>
        <p:txBody>
          <a:bodyPr wrap="square" lIns="0" rIns="0" tIns="0" bIns="0" anchor="ctr">
            <a:spAutoFit/>
          </a:bodyPr>
          <a:lstStyle/>
          <a:p>
            <a:pPr algn="ctr"/>
            <a:r>
              <a:rPr sz="1600" b="0" lang="en-US">
                <a:solidFill>
                  <a:srgbClr val="7446A6"/>
                </a:solidFill>
                <a:latin typeface="Arial"/>
              </a:rPr>
              <a:t>Published
model</a:t>
            </a:r>
          </a:p>
        </p:txBody>
      </p:sp>
      <p:sp>
        <p:nvSpPr>
          <p:cNvPr id="58" name="Node: Attested / inference"/>
          <p:cNvSpPr/>
          <p:nvPr/>
        </p:nvSpPr>
        <p:spPr>
          <a:xfrm>
            <a:off x="7388352" y="3067812"/>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abel: Attested / inference"/>
          <p:cNvSpPr txBox="1"/>
          <p:nvPr/>
        </p:nvSpPr>
        <p:spPr>
          <a:xfrm>
            <a:off x="7452360" y="3095244"/>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60" name="Oval 59"/>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5"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68" name="Flow"/>
          <p:cNvCxnSpPr/>
          <p:nvPr/>
        </p:nvCxnSpPr>
        <p:spPr>
          <a:xfrm>
            <a:off x="8065008" y="2743200"/>
            <a:ext cx="0" cy="265176"/>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Label: MCP"/>
          <p:cNvSpPr txBox="1"/>
          <p:nvPr/>
        </p:nvSpPr>
        <p:spPr>
          <a:xfrm>
            <a:off x="7397496" y="2738628"/>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0" name="Flow"/>
          <p:cNvCxnSpPr/>
          <p:nvPr/>
        </p:nvCxnSpPr>
        <p:spPr>
          <a:xfrm flipV="1">
            <a:off x="8540496" y="2743200"/>
            <a:ext cx="0" cy="265176"/>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Label: Result"/>
          <p:cNvSpPr txBox="1"/>
          <p:nvPr/>
        </p:nvSpPr>
        <p:spPr>
          <a:xfrm>
            <a:off x="8668512" y="2738628"/>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2" name="Flow"/>
          <p:cNvCxnSpPr/>
          <p:nvPr/>
        </p:nvCxnSpPr>
        <p:spPr>
          <a:xfrm>
            <a:off x="9244584" y="3547872"/>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Label: Tool receipt"/>
          <p:cNvSpPr txBox="1"/>
          <p:nvPr/>
        </p:nvSpPr>
        <p:spPr>
          <a:xfrm>
            <a:off x="9281160" y="3081528"/>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74" name="Oval 73"/>
          <p:cNvSpPr/>
          <p:nvPr/>
        </p:nvSpPr>
        <p:spPr>
          <a:xfrm>
            <a:off x="10433304" y="310896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755630" y="322920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716768" y="326806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677906" y="3306927"/>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Flow"/>
          <p:cNvCxnSpPr/>
          <p:nvPr/>
        </p:nvCxnSpPr>
        <p:spPr>
          <a:xfrm>
            <a:off x="10755630" y="3439058"/>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9" name="Flow"/>
          <p:cNvCxnSpPr/>
          <p:nvPr/>
        </p:nvCxnSpPr>
        <p:spPr>
          <a:xfrm>
            <a:off x="10755630" y="3547872"/>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0" name="Flow"/>
          <p:cNvCxnSpPr/>
          <p:nvPr/>
        </p:nvCxnSpPr>
        <p:spPr>
          <a:xfrm>
            <a:off x="10755630" y="3656685"/>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1" name="Label: Transparency / log"/>
          <p:cNvSpPr txBox="1"/>
          <p:nvPr/>
        </p:nvSpPr>
        <p:spPr>
          <a:xfrm>
            <a:off x="9820656" y="4105656"/>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Blockchain and IPFS integrated into DFL</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