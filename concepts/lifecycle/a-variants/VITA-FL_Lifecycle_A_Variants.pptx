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6" r:id="rId7"/>
    <p:sldId id="257" r:id="rId6"/>
    <p:sldId id="258" r:id="rId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A: Training loop with a branch. Closest to the requested circle-and-path idea. Read left to right: repeat DFL rounds, publish a model, invoke its inference using MCP, and retain a tool receipt.</a:t>
            </a:r>
          </a:p>
          <a:p/>
          <a:p>
            <a:r>
              <a:rPr lang="en-US"/>
              <a:t>Conceptual lifecycle overview, intended before the existing architecture slide (currently page 9). Green is decentralized model production; purple is the published model handoff; blue is agent-mediated use and evidence. The DFL loop represents repeated local training, aggregation, and distribution of the next global model. Aggregation is a participant-assigned role, not a permanent central server. A finalized publication can be used for inference while training can continue in later rounds. The model is consumed by the inference service. The agent invokes tools through MCP; the agent does not execute the trained model itself. The inference service executes the admitted native workload. Its returned result and domain evidence bind model, request, and response. The transparency log records a receiver-issued tool receipt for the inference call; separate domain evidence binds the numeric inference input and output. The drawing does not claim that every training event is written to this log or that log inclusion alone verifies computation. No automatic feedback or retraining from inference is implied. Quote, RTMR3, ledger, IPFS, and deployment boundaries are deliberately abstracted. Admission and retained signing identities underpin attested execution; the overview does not imply a fresh full DCAP check on each inference. Arrows labelled Result show a returned tool result, not an assertion that patient records enter the language-model context.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A1: The global model is the visible exit of the training circle. A separate model symbol denotes the published version handed to inference. This keeps the original layout while making the publication point explicit.</a:t>
            </a:r>
          </a:p>
          <a:p/>
          <a:p>
            <a:r>
              <a:rPr lang="en-US"/>
              <a:t>Conceptual lifecycle overview, intended before the existing architecture slide (currently page 9). Green is decentralized model production; purple is the published model handoff; blue is agent-mediated use and evidence. The DFL loop represents repeated local training, aggregation, and distribution of the next global model. Aggregation is a participant-assigned role, not a permanent central server. A finalized publication can be used for inference while training can continue in later rounds. The model is consumed by the inference service. The agent invokes tools through MCP; the agent does not execute the trained model itself. The inference service executes the admitted native workload. Its returned result and domain evidence bind model, request, and response. The transparency log records a receiver-issued tool receipt for the inference call; separate domain evidence binds the numeric inference input and output. The drawing does not claim that every training event is written to this log or that log inclusion alone verifies computation. No automatic feedback or retraining from inference is implied. Quote, RTMR3, ledger, IPFS, and deployment boundaries are deliberately abstracted. Admission and retained signing identities underpin attested execution; the overview does not imply a fresh full DCAP check on each inference. Arrows labelled Result show a returned tool result, not an assertion that patient records enter the language-model context.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A2: Compact boundary handoff. The global-model node lies on the circle boundary. The outgoing Publish arrow represents selecting a finalized model version for use. There is no second published-model box. The purple node and arrow represent the model handoff, not a new actor.</a:t>
            </a:r>
          </a:p>
          <a:p/>
          <a:p>
            <a:r>
              <a:rPr lang="en-US"/>
              <a:t>Conceptual lifecycle overview, intended before the existing architecture slide (currently page 9). Green is decentralized model production; purple is the published model handoff; blue is agent-mediated use and evidence. The DFL loop represents repeated local training, aggregation, and distribution of the next global model. Aggregation is a participant-assigned role, not a permanent central server. A finalized publication can be used for inference while training can continue in later rounds. The model is consumed by the inference service. The agent invokes tools through MCP; the agent does not execute the trained model itself. The inference service executes the admitted native workload. Its returned result and domain evidence bind model, request, and response. The transparency log records a receiver-issued tool receipt for the inference call; separate domain evidence binds the numeric inference input and output. The drawing does not claim that every training event is written to this log or that log inclusion alone verifies computation. No automatic feedback or retraining from inference is implied. Quote, RTMR3, ledger, IPFS, and deployment boundaries are deliberately abstracted. Admission and retained signing identities underpin attested execution; the overview does not imply a fresh full DCAP check on each inference. Arrows labelled Result show a returned tool result, not an assertion that patient records enter the language-model context.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VITA-FL: from training to verifiable use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Concept A</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20 September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cxnSp>
        <p:nvCxnSpPr>
          <p:cNvPr id="13" name="Editable circular flow"/>
          <p:cNvCxnSpPr/>
          <p:nvPr/>
        </p:nvCxnSpPr>
        <p:spPr>
          <a:xfrm>
            <a:off x="2516174" y="2179588"/>
            <a:ext cx="78980" cy="28787"/>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4" name="Editable circular flow"/>
          <p:cNvCxnSpPr/>
          <p:nvPr/>
        </p:nvCxnSpPr>
        <p:spPr>
          <a:xfrm>
            <a:off x="2595154" y="2208375"/>
            <a:ext cx="76748" cy="34297"/>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5" name="Editable circular flow"/>
          <p:cNvCxnSpPr/>
          <p:nvPr/>
        </p:nvCxnSpPr>
        <p:spPr>
          <a:xfrm>
            <a:off x="2671902" y="2242672"/>
            <a:ext cx="74132" cy="39636"/>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6" name="Editable circular flow"/>
          <p:cNvCxnSpPr/>
          <p:nvPr/>
        </p:nvCxnSpPr>
        <p:spPr>
          <a:xfrm>
            <a:off x="2746034" y="2282308"/>
            <a:ext cx="71146" cy="44775"/>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7" name="Editable circular flow"/>
          <p:cNvCxnSpPr/>
          <p:nvPr/>
        </p:nvCxnSpPr>
        <p:spPr>
          <a:xfrm>
            <a:off x="2817180" y="2327083"/>
            <a:ext cx="67803" cy="49692"/>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8" name="Editable circular flow"/>
          <p:cNvCxnSpPr/>
          <p:nvPr/>
        </p:nvCxnSpPr>
        <p:spPr>
          <a:xfrm>
            <a:off x="2884983" y="2376775"/>
            <a:ext cx="64122" cy="54359"/>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9" name="Editable circular flow"/>
          <p:cNvCxnSpPr/>
          <p:nvPr/>
        </p:nvCxnSpPr>
        <p:spPr>
          <a:xfrm>
            <a:off x="2949105" y="2431134"/>
            <a:ext cx="60120" cy="58755"/>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0" name="Editable circular flow"/>
          <p:cNvCxnSpPr/>
          <p:nvPr/>
        </p:nvCxnSpPr>
        <p:spPr>
          <a:xfrm>
            <a:off x="3009225" y="2489889"/>
            <a:ext cx="55817" cy="62856"/>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1" name="Editable circular flow"/>
          <p:cNvCxnSpPr/>
          <p:nvPr/>
        </p:nvCxnSpPr>
        <p:spPr>
          <a:xfrm>
            <a:off x="3065042" y="2552745"/>
            <a:ext cx="51236" cy="66645"/>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2" name="Editable circular flow"/>
          <p:cNvCxnSpPr/>
          <p:nvPr/>
        </p:nvCxnSpPr>
        <p:spPr>
          <a:xfrm>
            <a:off x="3116278" y="2619390"/>
            <a:ext cx="46397" cy="70099"/>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3" name="Editable circular flow"/>
          <p:cNvCxnSpPr/>
          <p:nvPr/>
        </p:nvCxnSpPr>
        <p:spPr>
          <a:xfrm>
            <a:off x="3162675" y="2689489"/>
            <a:ext cx="41327" cy="73202"/>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4" name="Editable circular flow"/>
          <p:cNvCxnSpPr/>
          <p:nvPr/>
        </p:nvCxnSpPr>
        <p:spPr>
          <a:xfrm>
            <a:off x="3204002" y="2762691"/>
            <a:ext cx="36051" cy="75940"/>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5" name="Editable circular flow"/>
          <p:cNvCxnSpPr/>
          <p:nvPr/>
        </p:nvCxnSpPr>
        <p:spPr>
          <a:xfrm>
            <a:off x="3240053" y="2838631"/>
            <a:ext cx="30593" cy="78298"/>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6" name="Editable circular flow"/>
          <p:cNvCxnSpPr/>
          <p:nvPr/>
        </p:nvCxnSpPr>
        <p:spPr>
          <a:xfrm>
            <a:off x="3270646" y="2916929"/>
            <a:ext cx="24984" cy="80265"/>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7" name="Editable circular flow"/>
          <p:cNvCxnSpPr/>
          <p:nvPr/>
        </p:nvCxnSpPr>
        <p:spPr>
          <a:xfrm>
            <a:off x="3295630" y="2997194"/>
            <a:ext cx="19248" cy="81829"/>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8" name="Editable circular flow"/>
          <p:cNvCxnSpPr/>
          <p:nvPr/>
        </p:nvCxnSpPr>
        <p:spPr>
          <a:xfrm>
            <a:off x="3314878" y="3079023"/>
            <a:ext cx="13417" cy="82985"/>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9" name="Editable circular flow"/>
          <p:cNvCxnSpPr/>
          <p:nvPr/>
        </p:nvCxnSpPr>
        <p:spPr>
          <a:xfrm>
            <a:off x="3328295" y="3162008"/>
            <a:ext cx="7519" cy="83726"/>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0" name="Editable circular flow"/>
          <p:cNvCxnSpPr/>
          <p:nvPr/>
        </p:nvCxnSpPr>
        <p:spPr>
          <a:xfrm>
            <a:off x="3335814" y="3245734"/>
            <a:ext cx="1583" cy="84048"/>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1" name="Editable circular flow"/>
          <p:cNvCxnSpPr/>
          <p:nvPr/>
        </p:nvCxnSpPr>
        <p:spPr>
          <a:xfrm flipH="1">
            <a:off x="3333036" y="3329782"/>
            <a:ext cx="4361" cy="83949"/>
          </a:xfrm>
          <a:prstGeom prst="line">
            <a:avLst/>
          </a:prstGeom>
          <a:ln w="3175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Editable circular flow"/>
          <p:cNvCxnSpPr/>
          <p:nvPr/>
        </p:nvCxnSpPr>
        <p:spPr>
          <a:xfrm flipH="1">
            <a:off x="2812658" y="4246852"/>
            <a:ext cx="68031" cy="49379"/>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3" name="Editable circular flow"/>
          <p:cNvCxnSpPr/>
          <p:nvPr/>
        </p:nvCxnSpPr>
        <p:spPr>
          <a:xfrm flipH="1">
            <a:off x="2741307" y="4296231"/>
            <a:ext cx="71351" cy="44448"/>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4" name="Editable circular flow"/>
          <p:cNvCxnSpPr/>
          <p:nvPr/>
        </p:nvCxnSpPr>
        <p:spPr>
          <a:xfrm flipH="1">
            <a:off x="2666994" y="4340679"/>
            <a:ext cx="74313" cy="39295"/>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5" name="Editable circular flow"/>
          <p:cNvCxnSpPr/>
          <p:nvPr/>
        </p:nvCxnSpPr>
        <p:spPr>
          <a:xfrm flipH="1">
            <a:off x="2590089" y="4379974"/>
            <a:ext cx="76905" cy="33944"/>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6" name="Editable circular flow"/>
          <p:cNvCxnSpPr/>
          <p:nvPr/>
        </p:nvCxnSpPr>
        <p:spPr>
          <a:xfrm flipH="1">
            <a:off x="2510978" y="4413918"/>
            <a:ext cx="79111" cy="28425"/>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7" name="Editable circular flow"/>
          <p:cNvCxnSpPr/>
          <p:nvPr/>
        </p:nvCxnSpPr>
        <p:spPr>
          <a:xfrm flipH="1">
            <a:off x="2430055" y="4442343"/>
            <a:ext cx="80923" cy="22762"/>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8" name="Editable circular flow"/>
          <p:cNvCxnSpPr/>
          <p:nvPr/>
        </p:nvCxnSpPr>
        <p:spPr>
          <a:xfrm flipH="1">
            <a:off x="2347727" y="4465105"/>
            <a:ext cx="82328" cy="16986"/>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9" name="Editable circular flow"/>
          <p:cNvCxnSpPr/>
          <p:nvPr/>
        </p:nvCxnSpPr>
        <p:spPr>
          <a:xfrm flipH="1">
            <a:off x="2264404" y="4482091"/>
            <a:ext cx="83323" cy="11126"/>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0" name="Editable circular flow"/>
          <p:cNvCxnSpPr/>
          <p:nvPr/>
        </p:nvCxnSpPr>
        <p:spPr>
          <a:xfrm flipH="1">
            <a:off x="2180502" y="4493217"/>
            <a:ext cx="83902" cy="5209"/>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1" name="Editable circular flow"/>
          <p:cNvCxnSpPr/>
          <p:nvPr/>
        </p:nvCxnSpPr>
        <p:spPr>
          <a:xfrm flipH="1" flipV="1">
            <a:off x="2096443" y="4497692"/>
            <a:ext cx="84059" cy="734"/>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2" name="Editable circular flow"/>
          <p:cNvCxnSpPr/>
          <p:nvPr/>
        </p:nvCxnSpPr>
        <p:spPr>
          <a:xfrm flipH="1" flipV="1">
            <a:off x="2012645" y="4491020"/>
            <a:ext cx="83798" cy="6672"/>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3" name="Editable circular flow"/>
          <p:cNvCxnSpPr/>
          <p:nvPr/>
        </p:nvCxnSpPr>
        <p:spPr>
          <a:xfrm flipH="1" flipV="1">
            <a:off x="1929529" y="4478442"/>
            <a:ext cx="83116" cy="12578"/>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4" name="Editable circular flow"/>
          <p:cNvCxnSpPr/>
          <p:nvPr/>
        </p:nvCxnSpPr>
        <p:spPr>
          <a:xfrm flipH="1" flipV="1">
            <a:off x="1847509" y="4460021"/>
            <a:ext cx="82020" cy="18421"/>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5" name="Editable circular flow"/>
          <p:cNvCxnSpPr/>
          <p:nvPr/>
        </p:nvCxnSpPr>
        <p:spPr>
          <a:xfrm flipH="1" flipV="1">
            <a:off x="1766996" y="4435850"/>
            <a:ext cx="80513" cy="24171"/>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6" name="Editable circular flow"/>
          <p:cNvCxnSpPr/>
          <p:nvPr/>
        </p:nvCxnSpPr>
        <p:spPr>
          <a:xfrm flipH="1" flipV="1">
            <a:off x="1688393" y="4406049"/>
            <a:ext cx="78603" cy="29801"/>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7" name="Editable circular flow"/>
          <p:cNvCxnSpPr/>
          <p:nvPr/>
        </p:nvCxnSpPr>
        <p:spPr>
          <a:xfrm flipH="1" flipV="1">
            <a:off x="1612093" y="4370768"/>
            <a:ext cx="76300" cy="35281"/>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8" name="Editable circular flow"/>
          <p:cNvCxnSpPr/>
          <p:nvPr/>
        </p:nvCxnSpPr>
        <p:spPr>
          <a:xfrm flipH="1" flipV="1">
            <a:off x="1538476" y="4330182"/>
            <a:ext cx="73617" cy="40586"/>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9" name="Editable circular flow"/>
          <p:cNvCxnSpPr/>
          <p:nvPr/>
        </p:nvCxnSpPr>
        <p:spPr>
          <a:xfrm flipH="1" flipV="1">
            <a:off x="1467912" y="4284496"/>
            <a:ext cx="70564" cy="45686"/>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0" name="Editable circular flow"/>
          <p:cNvCxnSpPr/>
          <p:nvPr/>
        </p:nvCxnSpPr>
        <p:spPr>
          <a:xfrm flipH="1" flipV="1">
            <a:off x="1400754" y="4233936"/>
            <a:ext cx="67158" cy="50560"/>
          </a:xfrm>
          <a:prstGeom prst="line">
            <a:avLst/>
          </a:prstGeom>
          <a:ln w="3175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Editable circular flow"/>
          <p:cNvCxnSpPr/>
          <p:nvPr/>
        </p:nvCxnSpPr>
        <p:spPr>
          <a:xfrm flipH="1" flipV="1">
            <a:off x="963128" y="3394640"/>
            <a:ext cx="8560" cy="80925"/>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2" name="Editable circular flow"/>
          <p:cNvCxnSpPr/>
          <p:nvPr/>
        </p:nvCxnSpPr>
        <p:spPr>
          <a:xfrm flipH="1" flipV="1">
            <a:off x="960124" y="3313319"/>
            <a:ext cx="3004" cy="81321"/>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3" name="Editable circular flow"/>
          <p:cNvCxnSpPr/>
          <p:nvPr/>
        </p:nvCxnSpPr>
        <p:spPr>
          <a:xfrm flipV="1">
            <a:off x="960124" y="3231983"/>
            <a:ext cx="2567" cy="81336"/>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4" name="Editable circular flow"/>
          <p:cNvCxnSpPr/>
          <p:nvPr/>
        </p:nvCxnSpPr>
        <p:spPr>
          <a:xfrm flipV="1">
            <a:off x="962691" y="3151014"/>
            <a:ext cx="8126" cy="80969"/>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5" name="Editable circular flow"/>
          <p:cNvCxnSpPr/>
          <p:nvPr/>
        </p:nvCxnSpPr>
        <p:spPr>
          <a:xfrm flipV="1">
            <a:off x="970817" y="3070789"/>
            <a:ext cx="13646" cy="80225"/>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6" name="Editable circular flow"/>
          <p:cNvCxnSpPr/>
          <p:nvPr/>
        </p:nvCxnSpPr>
        <p:spPr>
          <a:xfrm flipV="1">
            <a:off x="984463" y="2991687"/>
            <a:ext cx="19103" cy="79102"/>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7" name="Editable circular flow"/>
          <p:cNvCxnSpPr/>
          <p:nvPr/>
        </p:nvCxnSpPr>
        <p:spPr>
          <a:xfrm flipV="1">
            <a:off x="1003566" y="2914077"/>
            <a:ext cx="24471" cy="77610"/>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8" name="Editable circular flow"/>
          <p:cNvCxnSpPr/>
          <p:nvPr/>
        </p:nvCxnSpPr>
        <p:spPr>
          <a:xfrm flipV="1">
            <a:off x="1028037" y="2838323"/>
            <a:ext cx="29722" cy="75754"/>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9" name="Editable circular flow"/>
          <p:cNvCxnSpPr/>
          <p:nvPr/>
        </p:nvCxnSpPr>
        <p:spPr>
          <a:xfrm flipV="1">
            <a:off x="1057759" y="2764780"/>
            <a:ext cx="34837" cy="73543"/>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0" name="Editable circular flow"/>
          <p:cNvCxnSpPr/>
          <p:nvPr/>
        </p:nvCxnSpPr>
        <p:spPr>
          <a:xfrm flipV="1">
            <a:off x="1092596" y="2693792"/>
            <a:ext cx="39786" cy="70988"/>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1" name="Editable circular flow"/>
          <p:cNvCxnSpPr/>
          <p:nvPr/>
        </p:nvCxnSpPr>
        <p:spPr>
          <a:xfrm flipV="1">
            <a:off x="1132382" y="2625694"/>
            <a:ext cx="44549" cy="68098"/>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2" name="Editable circular flow"/>
          <p:cNvCxnSpPr/>
          <p:nvPr/>
        </p:nvCxnSpPr>
        <p:spPr>
          <a:xfrm flipV="1">
            <a:off x="1176931" y="2560802"/>
            <a:ext cx="49105" cy="64892"/>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3" name="Editable circular flow"/>
          <p:cNvCxnSpPr/>
          <p:nvPr/>
        </p:nvCxnSpPr>
        <p:spPr>
          <a:xfrm flipV="1">
            <a:off x="1226036" y="2499422"/>
            <a:ext cx="53429" cy="61380"/>
          </a:xfrm>
          <a:prstGeom prst="line">
            <a:avLst/>
          </a:prstGeom>
          <a:ln w="3175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Editable circular flow"/>
          <p:cNvCxnSpPr/>
          <p:nvPr/>
        </p:nvCxnSpPr>
        <p:spPr>
          <a:xfrm flipV="1">
            <a:off x="1279465" y="2451439"/>
            <a:ext cx="47359" cy="47983"/>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5" name="Editable circular flow"/>
          <p:cNvCxnSpPr/>
          <p:nvPr/>
        </p:nvCxnSpPr>
        <p:spPr>
          <a:xfrm flipV="1">
            <a:off x="1326824" y="2406218"/>
            <a:ext cx="50004" cy="45221"/>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6" name="Editable circular flow"/>
          <p:cNvCxnSpPr/>
          <p:nvPr/>
        </p:nvCxnSpPr>
        <p:spPr>
          <a:xfrm flipV="1">
            <a:off x="1376828" y="2363904"/>
            <a:ext cx="52486" cy="42314"/>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7" name="Editable circular flow"/>
          <p:cNvCxnSpPr/>
          <p:nvPr/>
        </p:nvCxnSpPr>
        <p:spPr>
          <a:xfrm flipV="1">
            <a:off x="1429314" y="2324634"/>
            <a:ext cx="54802" cy="39270"/>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8" name="Editable circular flow"/>
          <p:cNvCxnSpPr/>
          <p:nvPr/>
        </p:nvCxnSpPr>
        <p:spPr>
          <a:xfrm flipV="1">
            <a:off x="1484116" y="2288534"/>
            <a:ext cx="56939" cy="36100"/>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69" name="Editable circular flow"/>
          <p:cNvCxnSpPr/>
          <p:nvPr/>
        </p:nvCxnSpPr>
        <p:spPr>
          <a:xfrm flipV="1">
            <a:off x="1541055" y="2255720"/>
            <a:ext cx="58895" cy="32814"/>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70" name="Editable circular flow"/>
          <p:cNvCxnSpPr/>
          <p:nvPr/>
        </p:nvCxnSpPr>
        <p:spPr>
          <a:xfrm flipV="1">
            <a:off x="1599950" y="2226298"/>
            <a:ext cx="60660" cy="29422"/>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71" name="Editable circular flow"/>
          <p:cNvCxnSpPr/>
          <p:nvPr/>
        </p:nvCxnSpPr>
        <p:spPr>
          <a:xfrm flipV="1">
            <a:off x="1660610" y="2200362"/>
            <a:ext cx="62230" cy="25936"/>
          </a:xfrm>
          <a:prstGeom prst="line">
            <a:avLst/>
          </a:prstGeom>
          <a:ln w="31750">
            <a:solidFill>
              <a:srgbClr val="207548"/>
            </a:solidFill>
          </a:ln>
        </p:spPr>
        <p:style>
          <a:lnRef idx="2">
            <a:schemeClr val="accent1"/>
          </a:lnRef>
          <a:fillRef idx="0">
            <a:schemeClr val="accent1"/>
          </a:fillRef>
          <a:effectRef idx="1">
            <a:schemeClr val="accent1"/>
          </a:effectRef>
          <a:fontRef idx="minor">
            <a:schemeClr val="tx1"/>
          </a:fontRef>
        </p:style>
      </p:cxnSp>
      <p:sp>
        <p:nvSpPr>
          <p:cNvPr id="72" name="Node: Local training"/>
          <p:cNvSpPr/>
          <p:nvPr/>
        </p:nvSpPr>
        <p:spPr>
          <a:xfrm>
            <a:off x="1289304" y="1842516"/>
            <a:ext cx="1719072" cy="557784"/>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Label: Local training"/>
          <p:cNvSpPr txBox="1"/>
          <p:nvPr/>
        </p:nvSpPr>
        <p:spPr>
          <a:xfrm>
            <a:off x="1353312" y="1869948"/>
            <a:ext cx="1591055" cy="502920"/>
          </a:xfrm>
          <a:prstGeom prst="rect">
            <a:avLst/>
          </a:prstGeom>
          <a:noFill/>
        </p:spPr>
        <p:txBody>
          <a:bodyPr wrap="square" lIns="0" rIns="0" tIns="0" bIns="0" anchor="ctr">
            <a:spAutoFit/>
          </a:bodyPr>
          <a:lstStyle/>
          <a:p>
            <a:pPr algn="ctr"/>
            <a:r>
              <a:rPr sz="1600" b="1" lang="en-US">
                <a:solidFill>
                  <a:srgbClr val="207548"/>
                </a:solidFill>
                <a:latin typeface="Arial"/>
              </a:rPr>
              <a:t>Local training</a:t>
            </a:r>
          </a:p>
        </p:txBody>
      </p:sp>
      <p:sp>
        <p:nvSpPr>
          <p:cNvPr id="74" name="Node: Aggregate"/>
          <p:cNvSpPr/>
          <p:nvPr/>
        </p:nvSpPr>
        <p:spPr>
          <a:xfrm>
            <a:off x="2410205" y="3625595"/>
            <a:ext cx="1536192" cy="557784"/>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Label: Aggregate"/>
          <p:cNvSpPr txBox="1"/>
          <p:nvPr/>
        </p:nvSpPr>
        <p:spPr>
          <a:xfrm>
            <a:off x="2474213" y="3653027"/>
            <a:ext cx="1408176" cy="502920"/>
          </a:xfrm>
          <a:prstGeom prst="rect">
            <a:avLst/>
          </a:prstGeom>
          <a:noFill/>
        </p:spPr>
        <p:txBody>
          <a:bodyPr wrap="square" lIns="0" rIns="0" tIns="0" bIns="0" anchor="ctr">
            <a:spAutoFit/>
          </a:bodyPr>
          <a:lstStyle/>
          <a:p>
            <a:pPr algn="ctr"/>
            <a:r>
              <a:rPr sz="1600" b="1" lang="en-US">
                <a:solidFill>
                  <a:srgbClr val="207548"/>
                </a:solidFill>
                <a:latin typeface="Arial"/>
              </a:rPr>
              <a:t>Aggregate</a:t>
            </a:r>
          </a:p>
        </p:txBody>
      </p:sp>
      <p:sp>
        <p:nvSpPr>
          <p:cNvPr id="76" name="Node: Global model"/>
          <p:cNvSpPr/>
          <p:nvPr/>
        </p:nvSpPr>
        <p:spPr>
          <a:xfrm>
            <a:off x="282702" y="3625595"/>
            <a:ext cx="1673352" cy="557784"/>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Label: Global model"/>
          <p:cNvSpPr txBox="1"/>
          <p:nvPr/>
        </p:nvSpPr>
        <p:spPr>
          <a:xfrm>
            <a:off x="346710" y="3653027"/>
            <a:ext cx="1545336" cy="502920"/>
          </a:xfrm>
          <a:prstGeom prst="rect">
            <a:avLst/>
          </a:prstGeom>
          <a:noFill/>
        </p:spPr>
        <p:txBody>
          <a:bodyPr wrap="square" lIns="0" rIns="0" tIns="0" bIns="0" anchor="ctr">
            <a:spAutoFit/>
          </a:bodyPr>
          <a:lstStyle/>
          <a:p>
            <a:pPr algn="ctr"/>
            <a:r>
              <a:rPr sz="1600" b="1" lang="en-US">
                <a:solidFill>
                  <a:srgbClr val="207548"/>
                </a:solidFill>
                <a:latin typeface="Arial"/>
              </a:rPr>
              <a:t>Global model</a:t>
            </a:r>
          </a:p>
        </p:txBody>
      </p:sp>
      <p:sp>
        <p:nvSpPr>
          <p:cNvPr id="78" name="Label: DFL"/>
          <p:cNvSpPr txBox="1"/>
          <p:nvPr/>
        </p:nvSpPr>
        <p:spPr>
          <a:xfrm>
            <a:off x="1472184" y="3099816"/>
            <a:ext cx="1353312" cy="438912"/>
          </a:xfrm>
          <a:prstGeom prst="rect">
            <a:avLst/>
          </a:prstGeom>
          <a:noFill/>
        </p:spPr>
        <p:txBody>
          <a:bodyPr wrap="square" lIns="0" rIns="0" tIns="0" bIns="0" anchor="ctr">
            <a:spAutoFit/>
          </a:bodyPr>
          <a:lstStyle/>
          <a:p>
            <a:pPr algn="ctr"/>
            <a:r>
              <a:rPr sz="2600" b="1" lang="en-US">
                <a:solidFill>
                  <a:srgbClr val="207548"/>
                </a:solidFill>
                <a:latin typeface="Arial"/>
              </a:rPr>
              <a:t>DFL</a:t>
            </a:r>
          </a:p>
        </p:txBody>
      </p:sp>
      <p:cxnSp>
        <p:nvCxnSpPr>
          <p:cNvPr id="79" name="Flow"/>
          <p:cNvCxnSpPr/>
          <p:nvPr/>
        </p:nvCxnSpPr>
        <p:spPr>
          <a:xfrm>
            <a:off x="3946397" y="3904488"/>
            <a:ext cx="698755" cy="0"/>
          </a:xfrm>
          <a:prstGeom prst="line">
            <a:avLst/>
          </a:prstGeom>
          <a:ln w="2667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0" name="Node: Published / model"/>
          <p:cNvSpPr/>
          <p:nvPr/>
        </p:nvSpPr>
        <p:spPr>
          <a:xfrm>
            <a:off x="4672583" y="3447288"/>
            <a:ext cx="1572768" cy="914400"/>
          </a:xfrm>
          <a:prstGeom prst="roundRect">
            <a:avLst/>
          </a:prstGeom>
          <a:solidFill>
            <a:srgbClr val="F3EEF8"/>
          </a:solidFill>
          <a:ln w="1778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Label: Published / model"/>
          <p:cNvSpPr txBox="1"/>
          <p:nvPr/>
        </p:nvSpPr>
        <p:spPr>
          <a:xfrm>
            <a:off x="4736592" y="3474720"/>
            <a:ext cx="1444752" cy="859536"/>
          </a:xfrm>
          <a:prstGeom prst="rect">
            <a:avLst/>
          </a:prstGeom>
          <a:noFill/>
        </p:spPr>
        <p:txBody>
          <a:bodyPr wrap="square" lIns="0" rIns="0" tIns="0" bIns="0" anchor="ctr">
            <a:spAutoFit/>
          </a:bodyPr>
          <a:lstStyle/>
          <a:p>
            <a:pPr algn="ctr"/>
            <a:r>
              <a:rPr sz="1900" b="1" lang="en-US">
                <a:solidFill>
                  <a:srgbClr val="7446A6"/>
                </a:solidFill>
                <a:latin typeface="Arial"/>
              </a:rPr>
              <a:t>Published
model</a:t>
            </a:r>
          </a:p>
        </p:txBody>
      </p:sp>
      <p:cxnSp>
        <p:nvCxnSpPr>
          <p:cNvPr id="82" name="Flow"/>
          <p:cNvCxnSpPr/>
          <p:nvPr/>
        </p:nvCxnSpPr>
        <p:spPr>
          <a:xfrm>
            <a:off x="6291072" y="3904488"/>
            <a:ext cx="813816" cy="0"/>
          </a:xfrm>
          <a:prstGeom prst="line">
            <a:avLst/>
          </a:prstGeom>
          <a:ln w="29209">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3" name="Node: Attested / inference"/>
          <p:cNvSpPr/>
          <p:nvPr/>
        </p:nvSpPr>
        <p:spPr>
          <a:xfrm>
            <a:off x="7141464" y="3424428"/>
            <a:ext cx="1810512" cy="960120"/>
          </a:xfrm>
          <a:prstGeom prst="roundRect">
            <a:avLst/>
          </a:prstGeom>
          <a:solidFill>
            <a:srgbClr val="EDF4FA"/>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Label: Attested / inference"/>
          <p:cNvSpPr txBox="1"/>
          <p:nvPr/>
        </p:nvSpPr>
        <p:spPr>
          <a:xfrm>
            <a:off x="7205472" y="3451860"/>
            <a:ext cx="1682495" cy="905256"/>
          </a:xfrm>
          <a:prstGeom prst="rect">
            <a:avLst/>
          </a:prstGeom>
          <a:noFill/>
        </p:spPr>
        <p:txBody>
          <a:bodyPr wrap="square" lIns="0" rIns="0" tIns="0" bIns="0" anchor="ctr">
            <a:spAutoFit/>
          </a:bodyPr>
          <a:lstStyle/>
          <a:p>
            <a:pPr algn="ctr"/>
            <a:r>
              <a:rPr sz="2000" b="1" lang="en-US">
                <a:solidFill>
                  <a:srgbClr val="1764A1"/>
                </a:solidFill>
                <a:latin typeface="Arial"/>
              </a:rPr>
              <a:t>Attested
inference</a:t>
            </a:r>
          </a:p>
        </p:txBody>
      </p:sp>
      <p:cxnSp>
        <p:nvCxnSpPr>
          <p:cNvPr id="85" name="Flow"/>
          <p:cNvCxnSpPr/>
          <p:nvPr/>
        </p:nvCxnSpPr>
        <p:spPr>
          <a:xfrm>
            <a:off x="8988552" y="3904488"/>
            <a:ext cx="1207008" cy="0"/>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86" name="Label: Tool receipt"/>
          <p:cNvSpPr txBox="1"/>
          <p:nvPr/>
        </p:nvSpPr>
        <p:spPr>
          <a:xfrm>
            <a:off x="9025128" y="3474720"/>
            <a:ext cx="1124712" cy="301752"/>
          </a:xfrm>
          <a:prstGeom prst="rect">
            <a:avLst/>
          </a:prstGeom>
          <a:noFill/>
        </p:spPr>
        <p:txBody>
          <a:bodyPr wrap="square" lIns="0" rIns="0" tIns="0" bIns="0" anchor="ctr">
            <a:spAutoFit/>
          </a:bodyPr>
          <a:lstStyle/>
          <a:p>
            <a:pPr algn="ctr"/>
            <a:r>
              <a:rPr sz="1350" b="0" lang="en-US">
                <a:solidFill>
                  <a:srgbClr val="1764A1"/>
                </a:solidFill>
                <a:latin typeface="Arial"/>
              </a:rPr>
              <a:t>Tool receipt</a:t>
            </a:r>
          </a:p>
        </p:txBody>
      </p:sp>
      <p:sp>
        <p:nvSpPr>
          <p:cNvPr id="87" name="Oval 86"/>
          <p:cNvSpPr/>
          <p:nvPr/>
        </p:nvSpPr>
        <p:spPr>
          <a:xfrm>
            <a:off x="10296144" y="3465576"/>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10618470" y="3585819"/>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0579608" y="3624681"/>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0540746" y="3663543"/>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1" name="Flow"/>
          <p:cNvCxnSpPr/>
          <p:nvPr/>
        </p:nvCxnSpPr>
        <p:spPr>
          <a:xfrm>
            <a:off x="10618470" y="3795674"/>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2" name="Flow"/>
          <p:cNvCxnSpPr/>
          <p:nvPr/>
        </p:nvCxnSpPr>
        <p:spPr>
          <a:xfrm>
            <a:off x="10618470" y="3904488"/>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3" name="Flow"/>
          <p:cNvCxnSpPr/>
          <p:nvPr/>
        </p:nvCxnSpPr>
        <p:spPr>
          <a:xfrm>
            <a:off x="10618470" y="4013301"/>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94" name="Label: Transparency / log"/>
          <p:cNvSpPr txBox="1"/>
          <p:nvPr/>
        </p:nvSpPr>
        <p:spPr>
          <a:xfrm>
            <a:off x="9683496" y="4462272"/>
            <a:ext cx="2103120" cy="658368"/>
          </a:xfrm>
          <a:prstGeom prst="rect">
            <a:avLst/>
          </a:prstGeom>
          <a:noFill/>
        </p:spPr>
        <p:txBody>
          <a:bodyPr wrap="square" lIns="0" rIns="0" tIns="0" bIns="0" anchor="ctr">
            <a:spAutoFit/>
          </a:bodyPr>
          <a:lstStyle/>
          <a:p>
            <a:pPr algn="ctr"/>
            <a:r>
              <a:rPr sz="1800" b="1" lang="en-US">
                <a:solidFill>
                  <a:srgbClr val="1764A1"/>
                </a:solidFill>
                <a:latin typeface="Arial"/>
              </a:rPr>
              <a:t>Transparency
log</a:t>
            </a:r>
          </a:p>
        </p:txBody>
      </p:sp>
      <p:sp>
        <p:nvSpPr>
          <p:cNvPr id="95" name="Oval 94"/>
          <p:cNvSpPr/>
          <p:nvPr/>
        </p:nvSpPr>
        <p:spPr>
          <a:xfrm>
            <a:off x="7607808" y="1371600"/>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ounded Rectangle 95"/>
          <p:cNvSpPr/>
          <p:nvPr/>
        </p:nvSpPr>
        <p:spPr>
          <a:xfrm>
            <a:off x="7844637" y="1655064"/>
            <a:ext cx="404164" cy="303123"/>
          </a:xfrm>
          <a:prstGeom prst="roundRect">
            <a:avLst/>
          </a:prstGeom>
          <a:solidFill>
            <a:srgbClr val="FFFFFF"/>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7939460"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8102681"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9" name="Flow"/>
          <p:cNvCxnSpPr/>
          <p:nvPr/>
        </p:nvCxnSpPr>
        <p:spPr>
          <a:xfrm>
            <a:off x="7976768" y="1888236"/>
            <a:ext cx="139903"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00" name="Flow"/>
          <p:cNvCxnSpPr/>
          <p:nvPr/>
        </p:nvCxnSpPr>
        <p:spPr>
          <a:xfrm flipV="1">
            <a:off x="8046720" y="1569567"/>
            <a:ext cx="0" cy="85497"/>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101" name="Oval 100"/>
          <p:cNvSpPr/>
          <p:nvPr/>
        </p:nvSpPr>
        <p:spPr>
          <a:xfrm>
            <a:off x="8015630" y="1507388"/>
            <a:ext cx="62179" cy="62179"/>
          </a:xfrm>
          <a:prstGeom prst="ellipse">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Label: Agent"/>
          <p:cNvSpPr txBox="1"/>
          <p:nvPr/>
        </p:nvSpPr>
        <p:spPr>
          <a:xfrm>
            <a:off x="6995160" y="2368296"/>
            <a:ext cx="2103120" cy="347472"/>
          </a:xfrm>
          <a:prstGeom prst="rect">
            <a:avLst/>
          </a:prstGeom>
          <a:noFill/>
        </p:spPr>
        <p:txBody>
          <a:bodyPr wrap="square" lIns="0" rIns="0" tIns="0" bIns="0" anchor="ctr">
            <a:spAutoFit/>
          </a:bodyPr>
          <a:lstStyle/>
          <a:p>
            <a:pPr algn="ctr"/>
            <a:r>
              <a:rPr sz="1900" b="1" lang="en-US">
                <a:solidFill>
                  <a:srgbClr val="1764A1"/>
                </a:solidFill>
                <a:latin typeface="Arial"/>
              </a:rPr>
              <a:t>Agent</a:t>
            </a:r>
          </a:p>
        </p:txBody>
      </p:sp>
      <p:cxnSp>
        <p:nvCxnSpPr>
          <p:cNvPr id="103" name="Flow"/>
          <p:cNvCxnSpPr/>
          <p:nvPr/>
        </p:nvCxnSpPr>
        <p:spPr>
          <a:xfrm>
            <a:off x="7818120" y="2734056"/>
            <a:ext cx="0" cy="630936"/>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4" name="Label: MCP"/>
          <p:cNvSpPr txBox="1"/>
          <p:nvPr/>
        </p:nvSpPr>
        <p:spPr>
          <a:xfrm>
            <a:off x="7150608" y="2971800"/>
            <a:ext cx="585216" cy="274320"/>
          </a:xfrm>
          <a:prstGeom prst="rect">
            <a:avLst/>
          </a:prstGeom>
          <a:noFill/>
        </p:spPr>
        <p:txBody>
          <a:bodyPr wrap="square" lIns="0" rIns="0" tIns="0" bIns="0" anchor="ctr">
            <a:spAutoFit/>
          </a:bodyPr>
          <a:lstStyle/>
          <a:p>
            <a:pPr algn="ctr"/>
            <a:r>
              <a:rPr sz="1600" b="1" lang="en-US">
                <a:solidFill>
                  <a:srgbClr val="1764A1"/>
                </a:solidFill>
                <a:latin typeface="Arial"/>
              </a:rPr>
              <a:t>MCP</a:t>
            </a:r>
          </a:p>
        </p:txBody>
      </p:sp>
      <p:cxnSp>
        <p:nvCxnSpPr>
          <p:cNvPr id="105" name="Flow"/>
          <p:cNvCxnSpPr/>
          <p:nvPr/>
        </p:nvCxnSpPr>
        <p:spPr>
          <a:xfrm flipV="1">
            <a:off x="8293608" y="2734056"/>
            <a:ext cx="0" cy="630936"/>
          </a:xfrm>
          <a:prstGeom prst="line">
            <a:avLst/>
          </a:prstGeom>
          <a:ln w="2032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6" name="Label: Result"/>
          <p:cNvSpPr txBox="1"/>
          <p:nvPr/>
        </p:nvSpPr>
        <p:spPr>
          <a:xfrm>
            <a:off x="8412480" y="2971800"/>
            <a:ext cx="713232" cy="274320"/>
          </a:xfrm>
          <a:prstGeom prst="rect">
            <a:avLst/>
          </a:prstGeom>
          <a:noFill/>
        </p:spPr>
        <p:txBody>
          <a:bodyPr wrap="square" lIns="0" rIns="0" tIns="0" bIns="0" anchor="ctr">
            <a:spAutoFit/>
          </a:bodyPr>
          <a:lstStyle/>
          <a:p>
            <a:pPr algn="ctr"/>
            <a:r>
              <a:rPr sz="1400" b="0" lang="en-US">
                <a:solidFill>
                  <a:srgbClr val="67747C"/>
                </a:solidFill>
                <a:latin typeface="Arial"/>
              </a:rPr>
              <a:t>Result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VITA-FL: from training to verifiable use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Concept A1</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20 September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Oval 12"/>
          <p:cNvSpPr/>
          <p:nvPr/>
        </p:nvSpPr>
        <p:spPr>
          <a:xfrm>
            <a:off x="914400" y="2651760"/>
            <a:ext cx="2286000" cy="2286000"/>
          </a:xfrm>
          <a:prstGeom prst="ellipse">
            <a:avLst/>
          </a:prstGeom>
          <a:solidFill>
            <a:srgbClr val="FFFFFF"/>
          </a:solidFill>
          <a:ln w="2857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Editable circular flow"/>
          <p:cNvCxnSpPr/>
          <p:nvPr/>
        </p:nvCxnSpPr>
        <p:spPr>
          <a:xfrm flipH="1">
            <a:off x="941493" y="3518243"/>
            <a:ext cx="6858" cy="29126"/>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5" name="Editable circular flow"/>
          <p:cNvCxnSpPr/>
          <p:nvPr/>
        </p:nvCxnSpPr>
        <p:spPr>
          <a:xfrm flipH="1">
            <a:off x="935400" y="3547369"/>
            <a:ext cx="6093" cy="29296"/>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6" name="Editable circular flow"/>
          <p:cNvCxnSpPr/>
          <p:nvPr/>
        </p:nvCxnSpPr>
        <p:spPr>
          <a:xfrm flipH="1">
            <a:off x="930075" y="3576665"/>
            <a:ext cx="5325" cy="29445"/>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7" name="Editable circular flow"/>
          <p:cNvCxnSpPr/>
          <p:nvPr/>
        </p:nvCxnSpPr>
        <p:spPr>
          <a:xfrm flipH="1">
            <a:off x="925523" y="3606110"/>
            <a:ext cx="4552" cy="29575"/>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8" name="Editable circular flow"/>
          <p:cNvCxnSpPr/>
          <p:nvPr/>
        </p:nvCxnSpPr>
        <p:spPr>
          <a:xfrm flipH="1">
            <a:off x="921747" y="3635685"/>
            <a:ext cx="3776" cy="29683"/>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9" name="Editable circular flow"/>
          <p:cNvCxnSpPr/>
          <p:nvPr/>
        </p:nvCxnSpPr>
        <p:spPr>
          <a:xfrm flipH="1">
            <a:off x="918749" y="3665368"/>
            <a:ext cx="2998" cy="29772"/>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0" name="Editable circular flow"/>
          <p:cNvCxnSpPr/>
          <p:nvPr/>
        </p:nvCxnSpPr>
        <p:spPr>
          <a:xfrm flipH="1">
            <a:off x="916531" y="3695140"/>
            <a:ext cx="2218" cy="29841"/>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1" name="Editable circular flow"/>
          <p:cNvCxnSpPr/>
          <p:nvPr/>
        </p:nvCxnSpPr>
        <p:spPr>
          <a:xfrm flipH="1">
            <a:off x="915096" y="3724981"/>
            <a:ext cx="1435" cy="29888"/>
          </a:xfrm>
          <a:prstGeom prst="line">
            <a:avLst/>
          </a:prstGeom>
          <a:ln w="29209">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Editable circular flow"/>
          <p:cNvCxnSpPr/>
          <p:nvPr/>
        </p:nvCxnSpPr>
        <p:spPr>
          <a:xfrm flipV="1">
            <a:off x="2522299" y="4826414"/>
            <a:ext cx="27175" cy="12528"/>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3" name="Editable circular flow"/>
          <p:cNvCxnSpPr/>
          <p:nvPr/>
        </p:nvCxnSpPr>
        <p:spPr>
          <a:xfrm flipV="1">
            <a:off x="2549474" y="4813180"/>
            <a:ext cx="26837" cy="13234"/>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4" name="Editable circular flow"/>
          <p:cNvCxnSpPr/>
          <p:nvPr/>
        </p:nvCxnSpPr>
        <p:spPr>
          <a:xfrm flipV="1">
            <a:off x="2576311" y="4799247"/>
            <a:ext cx="26481" cy="13933"/>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5" name="Editable circular flow"/>
          <p:cNvCxnSpPr/>
          <p:nvPr/>
        </p:nvCxnSpPr>
        <p:spPr>
          <a:xfrm flipV="1">
            <a:off x="2602792" y="4784627"/>
            <a:ext cx="26108" cy="14620"/>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6" name="Editable circular flow"/>
          <p:cNvCxnSpPr/>
          <p:nvPr/>
        </p:nvCxnSpPr>
        <p:spPr>
          <a:xfrm flipV="1">
            <a:off x="2628900" y="4769327"/>
            <a:ext cx="25715" cy="15300"/>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7" name="Editable circular flow"/>
          <p:cNvCxnSpPr/>
          <p:nvPr/>
        </p:nvCxnSpPr>
        <p:spPr>
          <a:xfrm flipV="1">
            <a:off x="2654615" y="4753360"/>
            <a:ext cx="25307" cy="15967"/>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8" name="Editable circular flow"/>
          <p:cNvCxnSpPr/>
          <p:nvPr/>
        </p:nvCxnSpPr>
        <p:spPr>
          <a:xfrm flipV="1">
            <a:off x="2679922" y="4736736"/>
            <a:ext cx="24880" cy="16624"/>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9" name="Editable circular flow"/>
          <p:cNvCxnSpPr/>
          <p:nvPr/>
        </p:nvCxnSpPr>
        <p:spPr>
          <a:xfrm flipV="1">
            <a:off x="2704802" y="4719466"/>
            <a:ext cx="24436" cy="17270"/>
          </a:xfrm>
          <a:prstGeom prst="line">
            <a:avLst/>
          </a:prstGeom>
          <a:ln w="29209">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Editable circular flow"/>
          <p:cNvCxnSpPr/>
          <p:nvPr/>
        </p:nvCxnSpPr>
        <p:spPr>
          <a:xfrm flipH="1" flipV="1">
            <a:off x="2784437" y="2912793"/>
            <a:ext cx="22838" cy="19333"/>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1" name="Editable circular flow"/>
          <p:cNvCxnSpPr/>
          <p:nvPr/>
        </p:nvCxnSpPr>
        <p:spPr>
          <a:xfrm flipH="1" flipV="1">
            <a:off x="2761101" y="2894063"/>
            <a:ext cx="23336" cy="18730"/>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2" name="Editable circular flow"/>
          <p:cNvCxnSpPr/>
          <p:nvPr/>
        </p:nvCxnSpPr>
        <p:spPr>
          <a:xfrm flipH="1" flipV="1">
            <a:off x="2737282" y="2875951"/>
            <a:ext cx="23819" cy="18112"/>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3" name="Editable circular flow"/>
          <p:cNvCxnSpPr/>
          <p:nvPr/>
        </p:nvCxnSpPr>
        <p:spPr>
          <a:xfrm flipH="1" flipV="1">
            <a:off x="2712997" y="2858469"/>
            <a:ext cx="24285" cy="17482"/>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4" name="Editable circular flow"/>
          <p:cNvCxnSpPr/>
          <p:nvPr/>
        </p:nvCxnSpPr>
        <p:spPr>
          <a:xfrm flipH="1" flipV="1">
            <a:off x="2688263" y="2841628"/>
            <a:ext cx="24734" cy="16841"/>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5" name="Editable circular flow"/>
          <p:cNvCxnSpPr/>
          <p:nvPr/>
        </p:nvCxnSpPr>
        <p:spPr>
          <a:xfrm flipH="1" flipV="1">
            <a:off x="2663097" y="2825441"/>
            <a:ext cx="25166" cy="16187"/>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6" name="Editable circular flow"/>
          <p:cNvCxnSpPr/>
          <p:nvPr/>
        </p:nvCxnSpPr>
        <p:spPr>
          <a:xfrm flipH="1" flipV="1">
            <a:off x="2637516" y="2809917"/>
            <a:ext cx="25581" cy="15524"/>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7" name="Editable circular flow"/>
          <p:cNvCxnSpPr/>
          <p:nvPr/>
        </p:nvCxnSpPr>
        <p:spPr>
          <a:xfrm flipH="1" flipV="1">
            <a:off x="2611537" y="2795069"/>
            <a:ext cx="25979" cy="14848"/>
          </a:xfrm>
          <a:prstGeom prst="line">
            <a:avLst/>
          </a:prstGeom>
          <a:ln w="29209">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Node: Local training"/>
          <p:cNvSpPr/>
          <p:nvPr/>
        </p:nvSpPr>
        <p:spPr>
          <a:xfrm>
            <a:off x="498348" y="2516856"/>
            <a:ext cx="1975104" cy="576072"/>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abel: Local training"/>
          <p:cNvSpPr txBox="1"/>
          <p:nvPr/>
        </p:nvSpPr>
        <p:spPr>
          <a:xfrm>
            <a:off x="562356" y="2544288"/>
            <a:ext cx="1847088" cy="521208"/>
          </a:xfrm>
          <a:prstGeom prst="rect">
            <a:avLst/>
          </a:prstGeom>
          <a:noFill/>
        </p:spPr>
        <p:txBody>
          <a:bodyPr wrap="square" lIns="0" rIns="0" tIns="0" bIns="0" anchor="ctr">
            <a:spAutoFit/>
          </a:bodyPr>
          <a:lstStyle/>
          <a:p>
            <a:pPr algn="ctr"/>
            <a:r>
              <a:rPr sz="1700" b="1" lang="en-US">
                <a:solidFill>
                  <a:srgbClr val="207548"/>
                </a:solidFill>
                <a:latin typeface="Arial"/>
              </a:rPr>
              <a:t>Local training</a:t>
            </a:r>
          </a:p>
        </p:txBody>
      </p:sp>
      <p:sp>
        <p:nvSpPr>
          <p:cNvPr id="40" name="Node: Aggregate"/>
          <p:cNvSpPr/>
          <p:nvPr/>
        </p:nvSpPr>
        <p:spPr>
          <a:xfrm>
            <a:off x="676656" y="4496591"/>
            <a:ext cx="1618488" cy="576072"/>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Label: Aggregate"/>
          <p:cNvSpPr txBox="1"/>
          <p:nvPr/>
        </p:nvSpPr>
        <p:spPr>
          <a:xfrm>
            <a:off x="740664" y="4524023"/>
            <a:ext cx="1490472" cy="521208"/>
          </a:xfrm>
          <a:prstGeom prst="rect">
            <a:avLst/>
          </a:prstGeom>
          <a:noFill/>
        </p:spPr>
        <p:txBody>
          <a:bodyPr wrap="square" lIns="0" rIns="0" tIns="0" bIns="0" anchor="ctr">
            <a:spAutoFit/>
          </a:bodyPr>
          <a:lstStyle/>
          <a:p>
            <a:pPr algn="ctr"/>
            <a:r>
              <a:rPr sz="1700" b="1" lang="en-US">
                <a:solidFill>
                  <a:srgbClr val="207548"/>
                </a:solidFill>
                <a:latin typeface="Arial"/>
              </a:rPr>
              <a:t>Aggregate</a:t>
            </a:r>
          </a:p>
        </p:txBody>
      </p:sp>
      <p:sp>
        <p:nvSpPr>
          <p:cNvPr id="42" name="Node: Global / model"/>
          <p:cNvSpPr/>
          <p:nvPr/>
        </p:nvSpPr>
        <p:spPr>
          <a:xfrm>
            <a:off x="2377440" y="3383280"/>
            <a:ext cx="1645920" cy="822960"/>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abel: Global / model"/>
          <p:cNvSpPr txBox="1"/>
          <p:nvPr/>
        </p:nvSpPr>
        <p:spPr>
          <a:xfrm>
            <a:off x="2441448" y="3410712"/>
            <a:ext cx="1517904" cy="768096"/>
          </a:xfrm>
          <a:prstGeom prst="rect">
            <a:avLst/>
          </a:prstGeom>
          <a:noFill/>
        </p:spPr>
        <p:txBody>
          <a:bodyPr wrap="square" lIns="0" rIns="0" tIns="0" bIns="0" anchor="ctr">
            <a:spAutoFit/>
          </a:bodyPr>
          <a:lstStyle/>
          <a:p>
            <a:pPr algn="ctr"/>
            <a:r>
              <a:rPr sz="1700" b="1" lang="en-US">
                <a:solidFill>
                  <a:srgbClr val="207548"/>
                </a:solidFill>
                <a:latin typeface="Arial"/>
              </a:rPr>
              <a:t>Global
model</a:t>
            </a:r>
          </a:p>
        </p:txBody>
      </p:sp>
      <p:sp>
        <p:nvSpPr>
          <p:cNvPr id="44" name="Label: DFL"/>
          <p:cNvSpPr txBox="1"/>
          <p:nvPr/>
        </p:nvSpPr>
        <p:spPr>
          <a:xfrm>
            <a:off x="1362456" y="3566160"/>
            <a:ext cx="1225296" cy="457200"/>
          </a:xfrm>
          <a:prstGeom prst="rect">
            <a:avLst/>
          </a:prstGeom>
          <a:noFill/>
        </p:spPr>
        <p:txBody>
          <a:bodyPr wrap="square" lIns="0" rIns="0" tIns="0" bIns="0" anchor="ctr">
            <a:spAutoFit/>
          </a:bodyPr>
          <a:lstStyle/>
          <a:p>
            <a:pPr algn="ctr"/>
            <a:r>
              <a:rPr sz="2600" b="1" lang="en-US">
                <a:solidFill>
                  <a:srgbClr val="207548"/>
                </a:solidFill>
                <a:latin typeface="Arial"/>
              </a:rPr>
              <a:t>DFL</a:t>
            </a:r>
          </a:p>
        </p:txBody>
      </p:sp>
      <p:cxnSp>
        <p:nvCxnSpPr>
          <p:cNvPr id="45" name="Flow"/>
          <p:cNvCxnSpPr/>
          <p:nvPr/>
        </p:nvCxnSpPr>
        <p:spPr>
          <a:xfrm>
            <a:off x="4059935" y="3794760"/>
            <a:ext cx="960121" cy="0"/>
          </a:xfrm>
          <a:prstGeom prst="line">
            <a:avLst/>
          </a:prstGeom>
          <a:ln w="2794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5074920" y="3355848"/>
            <a:ext cx="877824" cy="877824"/>
          </a:xfrm>
          <a:prstGeom prst="ellipse">
            <a:avLst/>
          </a:prstGeom>
          <a:solidFill>
            <a:srgbClr val="F3EEF8"/>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Flow"/>
          <p:cNvCxnSpPr/>
          <p:nvPr/>
        </p:nvCxnSpPr>
        <p:spPr>
          <a:xfrm flipV="1">
            <a:off x="5288432" y="3553815"/>
            <a:ext cx="225400" cy="69952"/>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8" name="Flow"/>
          <p:cNvCxnSpPr/>
          <p:nvPr/>
        </p:nvCxnSpPr>
        <p:spPr>
          <a:xfrm>
            <a:off x="5288432" y="3623767"/>
            <a:ext cx="225400" cy="170993"/>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9" name="Flow"/>
          <p:cNvCxnSpPr/>
          <p:nvPr/>
        </p:nvCxnSpPr>
        <p:spPr>
          <a:xfrm>
            <a:off x="5288432" y="3623767"/>
            <a:ext cx="225400" cy="411937"/>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0" name="Flow"/>
          <p:cNvCxnSpPr/>
          <p:nvPr/>
        </p:nvCxnSpPr>
        <p:spPr>
          <a:xfrm flipV="1">
            <a:off x="5288432" y="3553815"/>
            <a:ext cx="225400" cy="411937"/>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1" name="Flow"/>
          <p:cNvCxnSpPr/>
          <p:nvPr/>
        </p:nvCxnSpPr>
        <p:spPr>
          <a:xfrm flipV="1">
            <a:off x="5288432" y="3794760"/>
            <a:ext cx="225400" cy="170992"/>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2" name="Flow"/>
          <p:cNvCxnSpPr/>
          <p:nvPr/>
        </p:nvCxnSpPr>
        <p:spPr>
          <a:xfrm>
            <a:off x="5288432" y="3965752"/>
            <a:ext cx="225400" cy="69952"/>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3" name="Flow"/>
          <p:cNvCxnSpPr/>
          <p:nvPr/>
        </p:nvCxnSpPr>
        <p:spPr>
          <a:xfrm>
            <a:off x="5513832" y="3553815"/>
            <a:ext cx="225399" cy="124359"/>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4" name="Flow"/>
          <p:cNvCxnSpPr/>
          <p:nvPr/>
        </p:nvCxnSpPr>
        <p:spPr>
          <a:xfrm>
            <a:off x="5513832" y="3553815"/>
            <a:ext cx="225399" cy="357531"/>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5" name="Flow"/>
          <p:cNvCxnSpPr/>
          <p:nvPr/>
        </p:nvCxnSpPr>
        <p:spPr>
          <a:xfrm flipV="1">
            <a:off x="5513832" y="3678174"/>
            <a:ext cx="225399" cy="116586"/>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6" name="Flow"/>
          <p:cNvCxnSpPr/>
          <p:nvPr/>
        </p:nvCxnSpPr>
        <p:spPr>
          <a:xfrm>
            <a:off x="5513832" y="3794760"/>
            <a:ext cx="225399" cy="116586"/>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7" name="Flow"/>
          <p:cNvCxnSpPr/>
          <p:nvPr/>
        </p:nvCxnSpPr>
        <p:spPr>
          <a:xfrm flipV="1">
            <a:off x="5513832" y="3678174"/>
            <a:ext cx="225399" cy="357530"/>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8" name="Flow"/>
          <p:cNvCxnSpPr/>
          <p:nvPr/>
        </p:nvCxnSpPr>
        <p:spPr>
          <a:xfrm flipV="1">
            <a:off x="5513832" y="3911346"/>
            <a:ext cx="225399" cy="124358"/>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sp>
        <p:nvSpPr>
          <p:cNvPr id="59" name="Oval 58"/>
          <p:cNvSpPr/>
          <p:nvPr/>
        </p:nvSpPr>
        <p:spPr>
          <a:xfrm>
            <a:off x="5245684" y="3581019"/>
            <a:ext cx="85496" cy="85496"/>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5245684" y="3923004"/>
            <a:ext cx="85496" cy="85496"/>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5471083" y="3511067"/>
            <a:ext cx="85496" cy="85496"/>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5471083" y="3752011"/>
            <a:ext cx="85496" cy="85496"/>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5471083" y="3992956"/>
            <a:ext cx="85496" cy="85496"/>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5696483" y="3635425"/>
            <a:ext cx="85496" cy="85496"/>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5696483" y="3868597"/>
            <a:ext cx="85496" cy="85496"/>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abel: Published / model"/>
          <p:cNvSpPr txBox="1"/>
          <p:nvPr/>
        </p:nvSpPr>
        <p:spPr>
          <a:xfrm>
            <a:off x="4462272" y="4352544"/>
            <a:ext cx="2103120" cy="658368"/>
          </a:xfrm>
          <a:prstGeom prst="rect">
            <a:avLst/>
          </a:prstGeom>
          <a:noFill/>
        </p:spPr>
        <p:txBody>
          <a:bodyPr wrap="square" lIns="0" rIns="0" tIns="0" bIns="0" anchor="ctr">
            <a:spAutoFit/>
          </a:bodyPr>
          <a:lstStyle/>
          <a:p>
            <a:pPr algn="ctr"/>
            <a:r>
              <a:rPr sz="1900" b="1" lang="en-US">
                <a:solidFill>
                  <a:srgbClr val="7446A6"/>
                </a:solidFill>
                <a:latin typeface="Arial"/>
              </a:rPr>
              <a:t>Published
model</a:t>
            </a:r>
          </a:p>
        </p:txBody>
      </p:sp>
      <p:cxnSp>
        <p:nvCxnSpPr>
          <p:cNvPr id="67" name="Flow"/>
          <p:cNvCxnSpPr/>
          <p:nvPr/>
        </p:nvCxnSpPr>
        <p:spPr>
          <a:xfrm>
            <a:off x="5998464" y="3794760"/>
            <a:ext cx="1097280" cy="0"/>
          </a:xfrm>
          <a:prstGeom prst="line">
            <a:avLst/>
          </a:prstGeom>
          <a:ln w="2794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Node: Attested / inference"/>
          <p:cNvSpPr/>
          <p:nvPr/>
        </p:nvSpPr>
        <p:spPr>
          <a:xfrm>
            <a:off x="7141464" y="3314700"/>
            <a:ext cx="1810512" cy="960120"/>
          </a:xfrm>
          <a:prstGeom prst="roundRect">
            <a:avLst/>
          </a:prstGeom>
          <a:solidFill>
            <a:srgbClr val="EDF4FA"/>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Label: Attested / inference"/>
          <p:cNvSpPr txBox="1"/>
          <p:nvPr/>
        </p:nvSpPr>
        <p:spPr>
          <a:xfrm>
            <a:off x="7205472" y="3342132"/>
            <a:ext cx="1682495" cy="905256"/>
          </a:xfrm>
          <a:prstGeom prst="rect">
            <a:avLst/>
          </a:prstGeom>
          <a:noFill/>
        </p:spPr>
        <p:txBody>
          <a:bodyPr wrap="square" lIns="0" rIns="0" tIns="0" bIns="0" anchor="ctr">
            <a:spAutoFit/>
          </a:bodyPr>
          <a:lstStyle/>
          <a:p>
            <a:pPr algn="ctr"/>
            <a:r>
              <a:rPr sz="2000" b="1" lang="en-US">
                <a:solidFill>
                  <a:srgbClr val="1764A1"/>
                </a:solidFill>
                <a:latin typeface="Arial"/>
              </a:rPr>
              <a:t>Attested
inference</a:t>
            </a:r>
          </a:p>
        </p:txBody>
      </p:sp>
      <p:cxnSp>
        <p:nvCxnSpPr>
          <p:cNvPr id="70" name="Flow"/>
          <p:cNvCxnSpPr/>
          <p:nvPr/>
        </p:nvCxnSpPr>
        <p:spPr>
          <a:xfrm>
            <a:off x="8997696" y="3794760"/>
            <a:ext cx="1225296" cy="0"/>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1" name="Label: Tool receipt"/>
          <p:cNvSpPr txBox="1"/>
          <p:nvPr/>
        </p:nvSpPr>
        <p:spPr>
          <a:xfrm>
            <a:off x="9034272" y="3346704"/>
            <a:ext cx="1124712" cy="301752"/>
          </a:xfrm>
          <a:prstGeom prst="rect">
            <a:avLst/>
          </a:prstGeom>
          <a:noFill/>
        </p:spPr>
        <p:txBody>
          <a:bodyPr wrap="square" lIns="0" rIns="0" tIns="0" bIns="0" anchor="ctr">
            <a:spAutoFit/>
          </a:bodyPr>
          <a:lstStyle/>
          <a:p>
            <a:pPr algn="ctr"/>
            <a:r>
              <a:rPr sz="1350" b="0" lang="en-US">
                <a:solidFill>
                  <a:srgbClr val="1764A1"/>
                </a:solidFill>
                <a:latin typeface="Arial"/>
              </a:rPr>
              <a:t>Tool receipt</a:t>
            </a:r>
          </a:p>
        </p:txBody>
      </p:sp>
      <p:sp>
        <p:nvSpPr>
          <p:cNvPr id="72" name="Oval 71"/>
          <p:cNvSpPr/>
          <p:nvPr/>
        </p:nvSpPr>
        <p:spPr>
          <a:xfrm>
            <a:off x="10323576" y="3355848"/>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0645902" y="3476091"/>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607040" y="3514953"/>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0568178" y="3553815"/>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6" name="Flow"/>
          <p:cNvCxnSpPr/>
          <p:nvPr/>
        </p:nvCxnSpPr>
        <p:spPr>
          <a:xfrm>
            <a:off x="10645902" y="3685946"/>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77" name="Flow"/>
          <p:cNvCxnSpPr/>
          <p:nvPr/>
        </p:nvCxnSpPr>
        <p:spPr>
          <a:xfrm>
            <a:off x="10645902" y="3794760"/>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78" name="Flow"/>
          <p:cNvCxnSpPr/>
          <p:nvPr/>
        </p:nvCxnSpPr>
        <p:spPr>
          <a:xfrm>
            <a:off x="10645902" y="3903573"/>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79" name="Label: Transparency / log"/>
          <p:cNvSpPr txBox="1"/>
          <p:nvPr/>
        </p:nvSpPr>
        <p:spPr>
          <a:xfrm>
            <a:off x="9710928" y="4352544"/>
            <a:ext cx="2103120" cy="658368"/>
          </a:xfrm>
          <a:prstGeom prst="rect">
            <a:avLst/>
          </a:prstGeom>
          <a:noFill/>
        </p:spPr>
        <p:txBody>
          <a:bodyPr wrap="square" lIns="0" rIns="0" tIns="0" bIns="0" anchor="ctr">
            <a:spAutoFit/>
          </a:bodyPr>
          <a:lstStyle/>
          <a:p>
            <a:pPr algn="ctr"/>
            <a:r>
              <a:rPr sz="1800" b="1" lang="en-US">
                <a:solidFill>
                  <a:srgbClr val="1764A1"/>
                </a:solidFill>
                <a:latin typeface="Arial"/>
              </a:rPr>
              <a:t>Transparency
log</a:t>
            </a:r>
          </a:p>
        </p:txBody>
      </p:sp>
      <p:sp>
        <p:nvSpPr>
          <p:cNvPr id="80" name="Oval 79"/>
          <p:cNvSpPr/>
          <p:nvPr/>
        </p:nvSpPr>
        <p:spPr>
          <a:xfrm>
            <a:off x="7607808" y="1371600"/>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7844637" y="1655064"/>
            <a:ext cx="404164" cy="303123"/>
          </a:xfrm>
          <a:prstGeom prst="roundRect">
            <a:avLst/>
          </a:prstGeom>
          <a:solidFill>
            <a:srgbClr val="FFFFFF"/>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7939460"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8102681"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4" name="Flow"/>
          <p:cNvCxnSpPr/>
          <p:nvPr/>
        </p:nvCxnSpPr>
        <p:spPr>
          <a:xfrm>
            <a:off x="7976768" y="1888236"/>
            <a:ext cx="139903"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85" name="Flow"/>
          <p:cNvCxnSpPr/>
          <p:nvPr/>
        </p:nvCxnSpPr>
        <p:spPr>
          <a:xfrm flipV="1">
            <a:off x="8046720" y="1569567"/>
            <a:ext cx="0" cy="85497"/>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86" name="Oval 85"/>
          <p:cNvSpPr/>
          <p:nvPr/>
        </p:nvSpPr>
        <p:spPr>
          <a:xfrm>
            <a:off x="8015630" y="1507388"/>
            <a:ext cx="62179" cy="62179"/>
          </a:xfrm>
          <a:prstGeom prst="ellipse">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Label: Agent"/>
          <p:cNvSpPr txBox="1"/>
          <p:nvPr/>
        </p:nvSpPr>
        <p:spPr>
          <a:xfrm>
            <a:off x="6995160" y="2368296"/>
            <a:ext cx="2103120" cy="347472"/>
          </a:xfrm>
          <a:prstGeom prst="rect">
            <a:avLst/>
          </a:prstGeom>
          <a:noFill/>
        </p:spPr>
        <p:txBody>
          <a:bodyPr wrap="square" lIns="0" rIns="0" tIns="0" bIns="0" anchor="ctr">
            <a:spAutoFit/>
          </a:bodyPr>
          <a:lstStyle/>
          <a:p>
            <a:pPr algn="ctr"/>
            <a:r>
              <a:rPr sz="1900" b="1" lang="en-US">
                <a:solidFill>
                  <a:srgbClr val="1764A1"/>
                </a:solidFill>
                <a:latin typeface="Arial"/>
              </a:rPr>
              <a:t>Agent</a:t>
            </a:r>
          </a:p>
        </p:txBody>
      </p:sp>
      <p:cxnSp>
        <p:nvCxnSpPr>
          <p:cNvPr id="88" name="Flow"/>
          <p:cNvCxnSpPr/>
          <p:nvPr/>
        </p:nvCxnSpPr>
        <p:spPr>
          <a:xfrm>
            <a:off x="7818120" y="2743200"/>
            <a:ext cx="0" cy="512064"/>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89" name="Label: MCP"/>
          <p:cNvSpPr txBox="1"/>
          <p:nvPr/>
        </p:nvSpPr>
        <p:spPr>
          <a:xfrm>
            <a:off x="7150608" y="2862072"/>
            <a:ext cx="594360" cy="274320"/>
          </a:xfrm>
          <a:prstGeom prst="rect">
            <a:avLst/>
          </a:prstGeom>
          <a:noFill/>
        </p:spPr>
        <p:txBody>
          <a:bodyPr wrap="square" lIns="0" rIns="0" tIns="0" bIns="0" anchor="ctr">
            <a:spAutoFit/>
          </a:bodyPr>
          <a:lstStyle/>
          <a:p>
            <a:pPr algn="ctr"/>
            <a:r>
              <a:rPr sz="1600" b="1" lang="en-US">
                <a:solidFill>
                  <a:srgbClr val="1764A1"/>
                </a:solidFill>
                <a:latin typeface="Arial"/>
              </a:rPr>
              <a:t>MCP</a:t>
            </a:r>
          </a:p>
        </p:txBody>
      </p:sp>
      <p:cxnSp>
        <p:nvCxnSpPr>
          <p:cNvPr id="90" name="Flow"/>
          <p:cNvCxnSpPr/>
          <p:nvPr/>
        </p:nvCxnSpPr>
        <p:spPr>
          <a:xfrm flipV="1">
            <a:off x="8293608" y="2743200"/>
            <a:ext cx="0" cy="512064"/>
          </a:xfrm>
          <a:prstGeom prst="line">
            <a:avLst/>
          </a:prstGeom>
          <a:ln w="1905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1" name="Label: Result"/>
          <p:cNvSpPr txBox="1"/>
          <p:nvPr/>
        </p:nvSpPr>
        <p:spPr>
          <a:xfrm>
            <a:off x="8421624" y="2862072"/>
            <a:ext cx="722376" cy="274320"/>
          </a:xfrm>
          <a:prstGeom prst="rect">
            <a:avLst/>
          </a:prstGeom>
          <a:noFill/>
        </p:spPr>
        <p:txBody>
          <a:bodyPr wrap="square" lIns="0" rIns="0" tIns="0" bIns="0" anchor="ctr">
            <a:spAutoFit/>
          </a:bodyPr>
          <a:lstStyle/>
          <a:p>
            <a:pPr algn="ctr"/>
            <a:r>
              <a:rPr sz="1400" b="0" lang="en-US">
                <a:solidFill>
                  <a:srgbClr val="67747C"/>
                </a:solidFill>
                <a:latin typeface="Arial"/>
              </a:rPr>
              <a:t>Result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VITA-FL: from training to verifiable use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Concept A2</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20 September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Oval 12"/>
          <p:cNvSpPr/>
          <p:nvPr/>
        </p:nvSpPr>
        <p:spPr>
          <a:xfrm>
            <a:off x="1124712" y="2560320"/>
            <a:ext cx="2651760" cy="2651760"/>
          </a:xfrm>
          <a:prstGeom prst="ellipse">
            <a:avLst/>
          </a:prstGeom>
          <a:solidFill>
            <a:srgbClr val="FFFFFF"/>
          </a:solidFill>
          <a:ln w="2857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Editable circular flow"/>
          <p:cNvCxnSpPr/>
          <p:nvPr/>
        </p:nvCxnSpPr>
        <p:spPr>
          <a:xfrm flipH="1">
            <a:off x="1156140" y="3565440"/>
            <a:ext cx="7956" cy="33787"/>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5" name="Editable circular flow"/>
          <p:cNvCxnSpPr/>
          <p:nvPr/>
        </p:nvCxnSpPr>
        <p:spPr>
          <a:xfrm flipH="1">
            <a:off x="1149072" y="3599227"/>
            <a:ext cx="7068" cy="33983"/>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6" name="Editable circular flow"/>
          <p:cNvCxnSpPr/>
          <p:nvPr/>
        </p:nvCxnSpPr>
        <p:spPr>
          <a:xfrm flipH="1">
            <a:off x="1142895" y="3633210"/>
            <a:ext cx="6177" cy="34156"/>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7" name="Editable circular flow"/>
          <p:cNvCxnSpPr/>
          <p:nvPr/>
        </p:nvCxnSpPr>
        <p:spPr>
          <a:xfrm flipH="1">
            <a:off x="1137615" y="3667366"/>
            <a:ext cx="5280" cy="34307"/>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8" name="Editable circular flow"/>
          <p:cNvCxnSpPr/>
          <p:nvPr/>
        </p:nvCxnSpPr>
        <p:spPr>
          <a:xfrm flipH="1">
            <a:off x="1133234" y="3701673"/>
            <a:ext cx="4381" cy="34433"/>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9" name="Editable circular flow"/>
          <p:cNvCxnSpPr/>
          <p:nvPr/>
        </p:nvCxnSpPr>
        <p:spPr>
          <a:xfrm flipH="1">
            <a:off x="1129757" y="3736106"/>
            <a:ext cx="3477" cy="34535"/>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0" name="Editable circular flow"/>
          <p:cNvCxnSpPr/>
          <p:nvPr/>
        </p:nvCxnSpPr>
        <p:spPr>
          <a:xfrm flipH="1">
            <a:off x="1127185" y="3770641"/>
            <a:ext cx="2572" cy="34615"/>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1" name="Editable circular flow"/>
          <p:cNvCxnSpPr/>
          <p:nvPr/>
        </p:nvCxnSpPr>
        <p:spPr>
          <a:xfrm flipH="1">
            <a:off x="1125519" y="3805256"/>
            <a:ext cx="1666" cy="34671"/>
          </a:xfrm>
          <a:prstGeom prst="line">
            <a:avLst/>
          </a:prstGeom>
          <a:ln w="29209">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Editable circular flow"/>
          <p:cNvCxnSpPr/>
          <p:nvPr/>
        </p:nvCxnSpPr>
        <p:spPr>
          <a:xfrm flipV="1">
            <a:off x="2989875" y="5082919"/>
            <a:ext cx="31523" cy="14532"/>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3" name="Editable circular flow"/>
          <p:cNvCxnSpPr/>
          <p:nvPr/>
        </p:nvCxnSpPr>
        <p:spPr>
          <a:xfrm flipV="1">
            <a:off x="3021398" y="5067567"/>
            <a:ext cx="31130" cy="15352"/>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4" name="Editable circular flow"/>
          <p:cNvCxnSpPr/>
          <p:nvPr/>
        </p:nvCxnSpPr>
        <p:spPr>
          <a:xfrm flipV="1">
            <a:off x="3052528" y="5051406"/>
            <a:ext cx="30719" cy="16161"/>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5" name="Editable circular flow"/>
          <p:cNvCxnSpPr/>
          <p:nvPr/>
        </p:nvCxnSpPr>
        <p:spPr>
          <a:xfrm flipV="1">
            <a:off x="3083247" y="5034445"/>
            <a:ext cx="30285" cy="16961"/>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6" name="Editable circular flow"/>
          <p:cNvCxnSpPr/>
          <p:nvPr/>
        </p:nvCxnSpPr>
        <p:spPr>
          <a:xfrm flipV="1">
            <a:off x="3113532" y="5016698"/>
            <a:ext cx="29830" cy="17747"/>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7" name="Editable circular flow"/>
          <p:cNvCxnSpPr/>
          <p:nvPr/>
        </p:nvCxnSpPr>
        <p:spPr>
          <a:xfrm flipV="1">
            <a:off x="3143362" y="4998176"/>
            <a:ext cx="29356" cy="18522"/>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8" name="Editable circular flow"/>
          <p:cNvCxnSpPr/>
          <p:nvPr/>
        </p:nvCxnSpPr>
        <p:spPr>
          <a:xfrm flipV="1">
            <a:off x="3172718" y="4978892"/>
            <a:ext cx="28860" cy="19284"/>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9" name="Editable circular flow"/>
          <p:cNvCxnSpPr/>
          <p:nvPr/>
        </p:nvCxnSpPr>
        <p:spPr>
          <a:xfrm flipV="1">
            <a:off x="3201578" y="4958859"/>
            <a:ext cx="28346" cy="20033"/>
          </a:xfrm>
          <a:prstGeom prst="line">
            <a:avLst/>
          </a:prstGeom>
          <a:ln w="29209">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Editable circular flow"/>
          <p:cNvCxnSpPr/>
          <p:nvPr/>
        </p:nvCxnSpPr>
        <p:spPr>
          <a:xfrm flipH="1" flipV="1">
            <a:off x="3293955" y="2863118"/>
            <a:ext cx="26492" cy="22427"/>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1" name="Editable circular flow"/>
          <p:cNvCxnSpPr/>
          <p:nvPr/>
        </p:nvCxnSpPr>
        <p:spPr>
          <a:xfrm flipH="1" flipV="1">
            <a:off x="3266885" y="2841392"/>
            <a:ext cx="27070" cy="21726"/>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2" name="Editable circular flow"/>
          <p:cNvCxnSpPr/>
          <p:nvPr/>
        </p:nvCxnSpPr>
        <p:spPr>
          <a:xfrm flipH="1" flipV="1">
            <a:off x="3239255" y="2820382"/>
            <a:ext cx="27630" cy="21010"/>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3" name="Editable circular flow"/>
          <p:cNvCxnSpPr/>
          <p:nvPr/>
        </p:nvCxnSpPr>
        <p:spPr>
          <a:xfrm flipH="1" flipV="1">
            <a:off x="3211085" y="2800102"/>
            <a:ext cx="28170" cy="20280"/>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4" name="Editable circular flow"/>
          <p:cNvCxnSpPr/>
          <p:nvPr/>
        </p:nvCxnSpPr>
        <p:spPr>
          <a:xfrm flipH="1" flipV="1">
            <a:off x="3182394" y="2780567"/>
            <a:ext cx="28691" cy="19535"/>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5" name="Editable circular flow"/>
          <p:cNvCxnSpPr/>
          <p:nvPr/>
        </p:nvCxnSpPr>
        <p:spPr>
          <a:xfrm flipH="1" flipV="1">
            <a:off x="3153201" y="2761789"/>
            <a:ext cx="29193" cy="18778"/>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6" name="Editable circular flow"/>
          <p:cNvCxnSpPr/>
          <p:nvPr/>
        </p:nvCxnSpPr>
        <p:spPr>
          <a:xfrm flipH="1" flipV="1">
            <a:off x="3123526" y="2743783"/>
            <a:ext cx="29675" cy="18006"/>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7" name="Editable circular flow"/>
          <p:cNvCxnSpPr/>
          <p:nvPr/>
        </p:nvCxnSpPr>
        <p:spPr>
          <a:xfrm flipH="1" flipV="1">
            <a:off x="3093391" y="2726559"/>
            <a:ext cx="30135" cy="17224"/>
          </a:xfrm>
          <a:prstGeom prst="line">
            <a:avLst/>
          </a:prstGeom>
          <a:ln w="29209">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Node: Local training"/>
          <p:cNvSpPr/>
          <p:nvPr/>
        </p:nvSpPr>
        <p:spPr>
          <a:xfrm>
            <a:off x="800100" y="2449918"/>
            <a:ext cx="1975104" cy="576072"/>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abel: Local training"/>
          <p:cNvSpPr txBox="1"/>
          <p:nvPr/>
        </p:nvSpPr>
        <p:spPr>
          <a:xfrm>
            <a:off x="864108" y="2477350"/>
            <a:ext cx="1847088" cy="521208"/>
          </a:xfrm>
          <a:prstGeom prst="rect">
            <a:avLst/>
          </a:prstGeom>
          <a:noFill/>
        </p:spPr>
        <p:txBody>
          <a:bodyPr wrap="square" lIns="0" rIns="0" tIns="0" bIns="0" anchor="ctr">
            <a:spAutoFit/>
          </a:bodyPr>
          <a:lstStyle/>
          <a:p>
            <a:pPr algn="ctr"/>
            <a:r>
              <a:rPr sz="1700" b="1" lang="en-US">
                <a:solidFill>
                  <a:srgbClr val="207548"/>
                </a:solidFill>
                <a:latin typeface="Arial"/>
              </a:rPr>
              <a:t>Local training</a:t>
            </a:r>
          </a:p>
        </p:txBody>
      </p:sp>
      <p:sp>
        <p:nvSpPr>
          <p:cNvPr id="40" name="Node: Aggregate"/>
          <p:cNvSpPr/>
          <p:nvPr/>
        </p:nvSpPr>
        <p:spPr>
          <a:xfrm>
            <a:off x="978408" y="4746409"/>
            <a:ext cx="1618488" cy="576072"/>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Label: Aggregate"/>
          <p:cNvSpPr txBox="1"/>
          <p:nvPr/>
        </p:nvSpPr>
        <p:spPr>
          <a:xfrm>
            <a:off x="1042416" y="4773841"/>
            <a:ext cx="1490472" cy="521208"/>
          </a:xfrm>
          <a:prstGeom prst="rect">
            <a:avLst/>
          </a:prstGeom>
          <a:noFill/>
        </p:spPr>
        <p:txBody>
          <a:bodyPr wrap="square" lIns="0" rIns="0" tIns="0" bIns="0" anchor="ctr">
            <a:spAutoFit/>
          </a:bodyPr>
          <a:lstStyle/>
          <a:p>
            <a:pPr algn="ctr"/>
            <a:r>
              <a:rPr sz="1700" b="1" lang="en-US">
                <a:solidFill>
                  <a:srgbClr val="207548"/>
                </a:solidFill>
                <a:latin typeface="Arial"/>
              </a:rPr>
              <a:t>Aggregate</a:t>
            </a:r>
          </a:p>
        </p:txBody>
      </p:sp>
      <p:sp>
        <p:nvSpPr>
          <p:cNvPr id="42" name="Node: Global / model"/>
          <p:cNvSpPr/>
          <p:nvPr/>
        </p:nvSpPr>
        <p:spPr>
          <a:xfrm>
            <a:off x="2953512" y="3474720"/>
            <a:ext cx="1645920" cy="822960"/>
          </a:xfrm>
          <a:prstGeom prst="roundRect">
            <a:avLst/>
          </a:prstGeom>
          <a:solidFill>
            <a:srgbClr val="F3EEF8"/>
          </a:solidFill>
          <a:ln w="1778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abel: Global / model"/>
          <p:cNvSpPr txBox="1"/>
          <p:nvPr/>
        </p:nvSpPr>
        <p:spPr>
          <a:xfrm>
            <a:off x="3017520" y="3502151"/>
            <a:ext cx="1517904" cy="768096"/>
          </a:xfrm>
          <a:prstGeom prst="rect">
            <a:avLst/>
          </a:prstGeom>
          <a:noFill/>
        </p:spPr>
        <p:txBody>
          <a:bodyPr wrap="square" lIns="0" rIns="0" tIns="0" bIns="0" anchor="ctr">
            <a:spAutoFit/>
          </a:bodyPr>
          <a:lstStyle/>
          <a:p>
            <a:pPr algn="ctr"/>
            <a:r>
              <a:rPr sz="1700" b="1" lang="en-US">
                <a:solidFill>
                  <a:srgbClr val="7446A6"/>
                </a:solidFill>
                <a:latin typeface="Arial"/>
              </a:rPr>
              <a:t>Global
model</a:t>
            </a:r>
          </a:p>
        </p:txBody>
      </p:sp>
      <p:sp>
        <p:nvSpPr>
          <p:cNvPr id="44" name="Label: DFL"/>
          <p:cNvSpPr txBox="1"/>
          <p:nvPr/>
        </p:nvSpPr>
        <p:spPr>
          <a:xfrm>
            <a:off x="1755648" y="3657600"/>
            <a:ext cx="1225296" cy="457200"/>
          </a:xfrm>
          <a:prstGeom prst="rect">
            <a:avLst/>
          </a:prstGeom>
          <a:noFill/>
        </p:spPr>
        <p:txBody>
          <a:bodyPr wrap="square" lIns="0" rIns="0" tIns="0" bIns="0" anchor="ctr">
            <a:spAutoFit/>
          </a:bodyPr>
          <a:lstStyle/>
          <a:p>
            <a:pPr algn="ctr"/>
            <a:r>
              <a:rPr sz="2600" b="1" lang="en-US">
                <a:solidFill>
                  <a:srgbClr val="207548"/>
                </a:solidFill>
                <a:latin typeface="Arial"/>
              </a:rPr>
              <a:t>DFL</a:t>
            </a:r>
          </a:p>
        </p:txBody>
      </p:sp>
      <p:cxnSp>
        <p:nvCxnSpPr>
          <p:cNvPr id="45" name="Flow"/>
          <p:cNvCxnSpPr/>
          <p:nvPr/>
        </p:nvCxnSpPr>
        <p:spPr>
          <a:xfrm>
            <a:off x="4636008" y="3886200"/>
            <a:ext cx="2313432" cy="0"/>
          </a:xfrm>
          <a:prstGeom prst="line">
            <a:avLst/>
          </a:prstGeom>
          <a:ln w="3048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Label: Publish"/>
          <p:cNvSpPr txBox="1"/>
          <p:nvPr/>
        </p:nvSpPr>
        <p:spPr>
          <a:xfrm>
            <a:off x="5212080" y="3438144"/>
            <a:ext cx="1078992" cy="320040"/>
          </a:xfrm>
          <a:prstGeom prst="rect">
            <a:avLst/>
          </a:prstGeom>
          <a:noFill/>
        </p:spPr>
        <p:txBody>
          <a:bodyPr wrap="square" lIns="0" rIns="0" tIns="0" bIns="0" anchor="ctr">
            <a:spAutoFit/>
          </a:bodyPr>
          <a:lstStyle/>
          <a:p>
            <a:pPr algn="ctr"/>
            <a:r>
              <a:rPr sz="1700" b="0" lang="en-US">
                <a:solidFill>
                  <a:srgbClr val="7446A6"/>
                </a:solidFill>
                <a:latin typeface="Arial"/>
              </a:rPr>
              <a:t>Publish</a:t>
            </a:r>
          </a:p>
        </p:txBody>
      </p:sp>
      <p:sp>
        <p:nvSpPr>
          <p:cNvPr id="47" name="Node: Attested / inference"/>
          <p:cNvSpPr/>
          <p:nvPr/>
        </p:nvSpPr>
        <p:spPr>
          <a:xfrm>
            <a:off x="6995160" y="3406140"/>
            <a:ext cx="1810512" cy="960120"/>
          </a:xfrm>
          <a:prstGeom prst="roundRect">
            <a:avLst/>
          </a:prstGeom>
          <a:solidFill>
            <a:srgbClr val="EDF4FA"/>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Label: Attested / inference"/>
          <p:cNvSpPr txBox="1"/>
          <p:nvPr/>
        </p:nvSpPr>
        <p:spPr>
          <a:xfrm>
            <a:off x="7059168" y="3433572"/>
            <a:ext cx="1682495" cy="905256"/>
          </a:xfrm>
          <a:prstGeom prst="rect">
            <a:avLst/>
          </a:prstGeom>
          <a:noFill/>
        </p:spPr>
        <p:txBody>
          <a:bodyPr wrap="square" lIns="0" rIns="0" tIns="0" bIns="0" anchor="ctr">
            <a:spAutoFit/>
          </a:bodyPr>
          <a:lstStyle/>
          <a:p>
            <a:pPr algn="ctr"/>
            <a:r>
              <a:rPr sz="2000" b="1" lang="en-US">
                <a:solidFill>
                  <a:srgbClr val="1764A1"/>
                </a:solidFill>
                <a:latin typeface="Arial"/>
              </a:rPr>
              <a:t>Attested
inference</a:t>
            </a:r>
          </a:p>
        </p:txBody>
      </p:sp>
      <p:cxnSp>
        <p:nvCxnSpPr>
          <p:cNvPr id="49" name="Flow"/>
          <p:cNvCxnSpPr/>
          <p:nvPr/>
        </p:nvCxnSpPr>
        <p:spPr>
          <a:xfrm>
            <a:off x="8851392" y="3886200"/>
            <a:ext cx="1261872" cy="0"/>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Label: Tool receipt"/>
          <p:cNvSpPr txBox="1"/>
          <p:nvPr/>
        </p:nvSpPr>
        <p:spPr>
          <a:xfrm>
            <a:off x="8906256" y="3438144"/>
            <a:ext cx="1124712" cy="301752"/>
          </a:xfrm>
          <a:prstGeom prst="rect">
            <a:avLst/>
          </a:prstGeom>
          <a:noFill/>
        </p:spPr>
        <p:txBody>
          <a:bodyPr wrap="square" lIns="0" rIns="0" tIns="0" bIns="0" anchor="ctr">
            <a:spAutoFit/>
          </a:bodyPr>
          <a:lstStyle/>
          <a:p>
            <a:pPr algn="ctr"/>
            <a:r>
              <a:rPr sz="1350" b="0" lang="en-US">
                <a:solidFill>
                  <a:srgbClr val="1764A1"/>
                </a:solidFill>
                <a:latin typeface="Arial"/>
              </a:rPr>
              <a:t>Tool receipt</a:t>
            </a:r>
          </a:p>
        </p:txBody>
      </p:sp>
      <p:sp>
        <p:nvSpPr>
          <p:cNvPr id="51" name="Oval 50"/>
          <p:cNvSpPr/>
          <p:nvPr/>
        </p:nvSpPr>
        <p:spPr>
          <a:xfrm>
            <a:off x="10213848" y="3447288"/>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536174" y="3567531"/>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497312" y="3606393"/>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458450" y="3645255"/>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5" name="Flow"/>
          <p:cNvCxnSpPr/>
          <p:nvPr/>
        </p:nvCxnSpPr>
        <p:spPr>
          <a:xfrm>
            <a:off x="10536174" y="3777386"/>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56" name="Flow"/>
          <p:cNvCxnSpPr/>
          <p:nvPr/>
        </p:nvCxnSpPr>
        <p:spPr>
          <a:xfrm>
            <a:off x="10536174" y="3886200"/>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57" name="Flow"/>
          <p:cNvCxnSpPr/>
          <p:nvPr/>
        </p:nvCxnSpPr>
        <p:spPr>
          <a:xfrm>
            <a:off x="10536174" y="3995013"/>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58" name="Label: Transparency / log"/>
          <p:cNvSpPr txBox="1"/>
          <p:nvPr/>
        </p:nvSpPr>
        <p:spPr>
          <a:xfrm>
            <a:off x="9601200" y="4443984"/>
            <a:ext cx="2103120" cy="658368"/>
          </a:xfrm>
          <a:prstGeom prst="rect">
            <a:avLst/>
          </a:prstGeom>
          <a:noFill/>
        </p:spPr>
        <p:txBody>
          <a:bodyPr wrap="square" lIns="0" rIns="0" tIns="0" bIns="0" anchor="ctr">
            <a:spAutoFit/>
          </a:bodyPr>
          <a:lstStyle/>
          <a:p>
            <a:pPr algn="ctr"/>
            <a:r>
              <a:rPr sz="1800" b="1" lang="en-US">
                <a:solidFill>
                  <a:srgbClr val="1764A1"/>
                </a:solidFill>
                <a:latin typeface="Arial"/>
              </a:rPr>
              <a:t>Transparency
log</a:t>
            </a:r>
          </a:p>
        </p:txBody>
      </p:sp>
      <p:sp>
        <p:nvSpPr>
          <p:cNvPr id="59" name="Oval 58"/>
          <p:cNvSpPr/>
          <p:nvPr/>
        </p:nvSpPr>
        <p:spPr>
          <a:xfrm>
            <a:off x="7461504" y="1371600"/>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7698333" y="1655064"/>
            <a:ext cx="404164" cy="303123"/>
          </a:xfrm>
          <a:prstGeom prst="roundRect">
            <a:avLst/>
          </a:prstGeom>
          <a:solidFill>
            <a:srgbClr val="FFFFFF"/>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7793156"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7956377"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Flow"/>
          <p:cNvCxnSpPr/>
          <p:nvPr/>
        </p:nvCxnSpPr>
        <p:spPr>
          <a:xfrm>
            <a:off x="7830464" y="1888236"/>
            <a:ext cx="139903"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64" name="Flow"/>
          <p:cNvCxnSpPr/>
          <p:nvPr/>
        </p:nvCxnSpPr>
        <p:spPr>
          <a:xfrm flipV="1">
            <a:off x="7900416" y="1569567"/>
            <a:ext cx="0" cy="85497"/>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7869326" y="1507388"/>
            <a:ext cx="62179" cy="62179"/>
          </a:xfrm>
          <a:prstGeom prst="ellipse">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abel: Agent"/>
          <p:cNvSpPr txBox="1"/>
          <p:nvPr/>
        </p:nvSpPr>
        <p:spPr>
          <a:xfrm>
            <a:off x="6848856" y="2368296"/>
            <a:ext cx="2103120" cy="347472"/>
          </a:xfrm>
          <a:prstGeom prst="rect">
            <a:avLst/>
          </a:prstGeom>
          <a:noFill/>
        </p:spPr>
        <p:txBody>
          <a:bodyPr wrap="square" lIns="0" rIns="0" tIns="0" bIns="0" anchor="ctr">
            <a:spAutoFit/>
          </a:bodyPr>
          <a:lstStyle/>
          <a:p>
            <a:pPr algn="ctr"/>
            <a:r>
              <a:rPr sz="1900" b="1" lang="en-US">
                <a:solidFill>
                  <a:srgbClr val="1764A1"/>
                </a:solidFill>
                <a:latin typeface="Arial"/>
              </a:rPr>
              <a:t>Agent</a:t>
            </a:r>
          </a:p>
        </p:txBody>
      </p:sp>
      <p:cxnSp>
        <p:nvCxnSpPr>
          <p:cNvPr id="67" name="Flow"/>
          <p:cNvCxnSpPr/>
          <p:nvPr/>
        </p:nvCxnSpPr>
        <p:spPr>
          <a:xfrm>
            <a:off x="7671816" y="2743200"/>
            <a:ext cx="0" cy="603504"/>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Label: MCP"/>
          <p:cNvSpPr txBox="1"/>
          <p:nvPr/>
        </p:nvSpPr>
        <p:spPr>
          <a:xfrm>
            <a:off x="7004304" y="2907792"/>
            <a:ext cx="594360" cy="274320"/>
          </a:xfrm>
          <a:prstGeom prst="rect">
            <a:avLst/>
          </a:prstGeom>
          <a:noFill/>
        </p:spPr>
        <p:txBody>
          <a:bodyPr wrap="square" lIns="0" rIns="0" tIns="0" bIns="0" anchor="ctr">
            <a:spAutoFit/>
          </a:bodyPr>
          <a:lstStyle/>
          <a:p>
            <a:pPr algn="ctr"/>
            <a:r>
              <a:rPr sz="1600" b="1" lang="en-US">
                <a:solidFill>
                  <a:srgbClr val="1764A1"/>
                </a:solidFill>
                <a:latin typeface="Arial"/>
              </a:rPr>
              <a:t>MCP</a:t>
            </a:r>
          </a:p>
        </p:txBody>
      </p:sp>
      <p:cxnSp>
        <p:nvCxnSpPr>
          <p:cNvPr id="69" name="Flow"/>
          <p:cNvCxnSpPr/>
          <p:nvPr/>
        </p:nvCxnSpPr>
        <p:spPr>
          <a:xfrm flipV="1">
            <a:off x="8147304" y="2743200"/>
            <a:ext cx="0" cy="603504"/>
          </a:xfrm>
          <a:prstGeom prst="line">
            <a:avLst/>
          </a:prstGeom>
          <a:ln w="1905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0" name="Label: Result"/>
          <p:cNvSpPr txBox="1"/>
          <p:nvPr/>
        </p:nvSpPr>
        <p:spPr>
          <a:xfrm>
            <a:off x="8275320" y="2907792"/>
            <a:ext cx="722376" cy="274320"/>
          </a:xfrm>
          <a:prstGeom prst="rect">
            <a:avLst/>
          </a:prstGeom>
          <a:noFill/>
        </p:spPr>
        <p:txBody>
          <a:bodyPr wrap="square" lIns="0" rIns="0" tIns="0" bIns="0" anchor="ctr">
            <a:spAutoFit/>
          </a:bodyPr>
          <a:lstStyle/>
          <a:p>
            <a:pPr algn="ctr"/>
            <a:r>
              <a:rPr sz="1400" b="0" lang="en-US">
                <a:solidFill>
                  <a:srgbClr val="67747C"/>
                </a:solidFill>
                <a:latin typeface="Arial"/>
              </a:rPr>
              <a:t>Result</a:t>
            </a:r>
          </a:p>
        </p:txBody>
      </p:sp>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VITA-FL — Original A and lifecycle variations</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Verifiable Decentralized Federated Machine Learning and Inference for AI Agent Systems</dc:subject>
  <cp:keywords>VITA-FL, DFL, TEE, attested inference, transparency log</cp:keywords>
  <dc:language>en-US</dc:language>
</cp:coreProperties>
</file>