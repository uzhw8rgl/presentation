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A1a: One published-model field with two explicit sources. The model symbol and header group Blockchain and IPFS into one publication; each source feeds inference separately.</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parallel publication and retrieval sources, not a serial pipeline. The active aggregator publishes the finalized model reference to the blockchain and the encrypted model bundle and associated artifacts to IPFS. Arrows from the global or published model summarize this publication by the aggregator, rather than assigning agency to a model file. The inference receiver independently resolves the authoritative reference and retrieves the artifacts. Outgoing arrows from the stores represent information consumed by inference; retrieval is initiated by the receiver. The blockchain also coordinates DFL membership and rounds; IPFS also carries training artifacts. Those interactions remain abstracted inside the DFL circle on this lifecycle overview. The transparency log is separate from the blockchain and stores the receiver-issued tool receipt. A grouping frame denotes one conceptual publication, not one deployed service or trust boundary.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A1b: Keep the published-model symbol as a separate handoff. Its publication branches to Blockchain and IPFS, then both sources converge on inference.</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parallel publication and retrieval sources, not a serial pipeline. The active aggregator publishes the finalized model reference to the blockchain and the encrypted model bundle and associated artifacts to IPFS. Arrows from the global or published model summarize this publication by the aggregator, rather than assigning agency to a model file. The inference receiver independently resolves the authoritative reference and retrieves the artifacts. Outgoing arrows from the stores represent information consumed by inference; retrieval is initiated by the receiver. The blockchain also coordinates DFL membership and rounds; IPFS also carries training artifacts. Those interactions remain abstracted inside the DFL circle on this lifecycle overview. The transparency log is separate from the blockchain and stores the receiver-issued tool receipt. A grouping frame denotes one conceptual publication, not one deployed service or trust boundary.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A2a: Compact split handoff. The global model at the circle boundary is published into Blockchain and IPFS; their reference and artifact paths feed inference separately.</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parallel publication and retrieval sources, not a serial pipeline. The active aggregator publishes the finalized model reference to the blockchain and the encrypted model bundle and associated artifacts to IPFS. Arrows from the global or published model summarize this publication by the aggregator, rather than assigning agency to a model file. The inference receiver independently resolves the authoritative reference and retrieves the artifacts. Outgoing arrows from the stores represent information consumed by inference; retrieval is initiated by the receiver. The blockchain also coordinates DFL membership and rounds; IPFS also carries training artifacts. Those interactions remain abstracted inside the DFL circle on this lifecycle overview. The transparency log is separate from the blockchain and stores the receiver-issued tool receipt. A grouping frame denotes one conceptual publication, not one deployed service or trust boundary.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A2b: Blockchain and IPFS form a shared infrastructure band below the lifecycle. Publication reaches each store from below; their reference and model-file outputs enter inference from above the band. There is no direct model transfer bypassing these sources.</a:t>
            </a:r>
          </a:p>
          <a:p/>
          <a:p>
            <a:r>
              <a:rPr lang="en-US"/>
              <a:t>Conceptual lifecycle overview, intended before the existing architecture slide (currently page 9). Green is decentralized model production; purple is the published model handoff; blue is agent-mediated use and evidence. The DFL loop represents repeated local training, aggregation, and distribution of the next global model. Aggregation is a participant-assigned role, not a permanent central server. A finalized publication can be used for inference while training can continue in later rounds. The model is consumed by the inference service. The agent invokes tools through MCP; the agent does not execute the trained model itself. The inference service executes the admitted native workload. Its returned result and domain evidence bind model, request, and response. The transparency log records a receiver-issued tool receipt for the inference call; separate domain evidence binds the numeric inference input and output. The drawing does not claim that every training event is written to this log or that log inclusion alone verifies computation. No automatic feedback or retraining from inference is implied. Quote, RTMR3, ledger, IPFS, and deployment boundaries are deliberately abstracted. Admission and retained signing identities underpin attested execution; the overview does not imply a fresh full DCAP check on each inference. Arrows labelled Result show a returned tool result, not an assertion that patient records enter the language-model context.</a:t>
            </a:r>
          </a:p>
          <a:p/>
          <a:p>
            <a:r>
              <a:rPr lang="en-US"/>
              <a:t>Blockchain and IPFS are parallel publication and retrieval sources, not a serial pipeline. The active aggregator publishes the finalized model reference to the blockchain and the encrypted model bundle and associated artifacts to IPFS. Arrows from the global or published model summarize this publication by the aggregator, rather than assigning agency to a model file. The inference receiver independently resolves the authoritative reference and retrieves the artifacts. Outgoing arrows from the stores represent information consumed by inference; retrieval is initiated by the receiver. The blockchain also coordinates DFL membership and rounds; IPFS also carries training artifacts. Those interactions remain abstracted inside the DFL circle on this lifecycle overview. The transparency log is separate from the blockchain and stores the receiver-issued tool receipt. A grouping frame denotes one conceptual publication, not one deployed service or trust boundary.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A1a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Conceptual publication grouping"/>
          <p:cNvSpPr/>
          <p:nvPr/>
        </p:nvSpPr>
        <p:spPr>
          <a:xfrm>
            <a:off x="4297680" y="1618488"/>
            <a:ext cx="2395728" cy="3557016"/>
          </a:xfrm>
          <a:prstGeom prst="roundRect">
            <a:avLst/>
          </a:prstGeom>
          <a:solidFill>
            <a:srgbClr val="F8F5FB"/>
          </a:solidFill>
          <a:ln w="1079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157216" y="1773936"/>
            <a:ext cx="676656" cy="676656"/>
          </a:xfrm>
          <a:prstGeom prst="ellipse">
            <a:avLst/>
          </a:prstGeom>
          <a:solidFill>
            <a:srgbClr val="F3EEF8"/>
          </a:solidFill>
          <a:ln w="1270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Flow"/>
          <p:cNvCxnSpPr/>
          <p:nvPr/>
        </p:nvCxnSpPr>
        <p:spPr>
          <a:xfrm flipV="1">
            <a:off x="5328483" y="1933681"/>
            <a:ext cx="167061" cy="5184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6" name="Flow"/>
          <p:cNvCxnSpPr/>
          <p:nvPr/>
        </p:nvCxnSpPr>
        <p:spPr>
          <a:xfrm>
            <a:off x="5328483" y="1985528"/>
            <a:ext cx="167061" cy="126736"/>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7" name="Flow"/>
          <p:cNvCxnSpPr/>
          <p:nvPr/>
        </p:nvCxnSpPr>
        <p:spPr>
          <a:xfrm>
            <a:off x="5328483" y="1985528"/>
            <a:ext cx="167061" cy="30531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8" name="Flow"/>
          <p:cNvCxnSpPr/>
          <p:nvPr/>
        </p:nvCxnSpPr>
        <p:spPr>
          <a:xfrm flipV="1">
            <a:off x="5328483" y="1933681"/>
            <a:ext cx="167061" cy="30531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19" name="Flow"/>
          <p:cNvCxnSpPr/>
          <p:nvPr/>
        </p:nvCxnSpPr>
        <p:spPr>
          <a:xfrm flipV="1">
            <a:off x="5328483" y="2112264"/>
            <a:ext cx="167061" cy="126735"/>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0" name="Flow"/>
          <p:cNvCxnSpPr/>
          <p:nvPr/>
        </p:nvCxnSpPr>
        <p:spPr>
          <a:xfrm>
            <a:off x="5328483" y="2238999"/>
            <a:ext cx="167061" cy="5184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1" name="Flow"/>
          <p:cNvCxnSpPr/>
          <p:nvPr/>
        </p:nvCxnSpPr>
        <p:spPr>
          <a:xfrm>
            <a:off x="5495544" y="1933681"/>
            <a:ext cx="167060" cy="9217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2" name="Flow"/>
          <p:cNvCxnSpPr/>
          <p:nvPr/>
        </p:nvCxnSpPr>
        <p:spPr>
          <a:xfrm>
            <a:off x="5495544" y="1933681"/>
            <a:ext cx="167060" cy="264993"/>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3" name="Flow"/>
          <p:cNvCxnSpPr/>
          <p:nvPr/>
        </p:nvCxnSpPr>
        <p:spPr>
          <a:xfrm flipV="1">
            <a:off x="5495544" y="2025853"/>
            <a:ext cx="167060" cy="86411"/>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4" name="Flow"/>
          <p:cNvCxnSpPr/>
          <p:nvPr/>
        </p:nvCxnSpPr>
        <p:spPr>
          <a:xfrm>
            <a:off x="5495544" y="2112264"/>
            <a:ext cx="167060" cy="86410"/>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5" name="Flow"/>
          <p:cNvCxnSpPr/>
          <p:nvPr/>
        </p:nvCxnSpPr>
        <p:spPr>
          <a:xfrm flipV="1">
            <a:off x="5495544" y="2025853"/>
            <a:ext cx="167060" cy="264993"/>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26" name="Flow"/>
          <p:cNvCxnSpPr/>
          <p:nvPr/>
        </p:nvCxnSpPr>
        <p:spPr>
          <a:xfrm flipV="1">
            <a:off x="5495544" y="2198674"/>
            <a:ext cx="167060" cy="9217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5296799" y="1953844"/>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96799" y="2207315"/>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463860" y="1901997"/>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63860" y="2080580"/>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463860" y="2259162"/>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630920" y="1994169"/>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630920" y="2166990"/>
            <a:ext cx="63367" cy="63367"/>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abel: Model / publication"/>
          <p:cNvSpPr txBox="1"/>
          <p:nvPr/>
        </p:nvSpPr>
        <p:spPr>
          <a:xfrm>
            <a:off x="4434840" y="2478024"/>
            <a:ext cx="2121408" cy="585216"/>
          </a:xfrm>
          <a:prstGeom prst="rect">
            <a:avLst/>
          </a:prstGeom>
          <a:noFill/>
        </p:spPr>
        <p:txBody>
          <a:bodyPr wrap="square" lIns="0" rIns="0" tIns="0" bIns="0" anchor="ctr">
            <a:spAutoFit/>
          </a:bodyPr>
          <a:lstStyle/>
          <a:p>
            <a:pPr algn="ctr"/>
            <a:r>
              <a:rPr sz="1600" b="1" lang="en-US">
                <a:solidFill>
                  <a:srgbClr val="7446A6"/>
                </a:solidFill>
                <a:latin typeface="Arial"/>
              </a:rPr>
              <a:t>Model
publication</a:t>
            </a:r>
          </a:p>
        </p:txBody>
      </p:sp>
      <p:sp>
        <p:nvSpPr>
          <p:cNvPr id="35" name="Oval 34"/>
          <p:cNvSpPr/>
          <p:nvPr/>
        </p:nvSpPr>
        <p:spPr>
          <a:xfrm>
            <a:off x="914400" y="2651760"/>
            <a:ext cx="2286000" cy="228600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Editable circular flow"/>
          <p:cNvCxnSpPr/>
          <p:nvPr/>
        </p:nvCxnSpPr>
        <p:spPr>
          <a:xfrm flipH="1">
            <a:off x="941493" y="3518243"/>
            <a:ext cx="6858" cy="2912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a:off x="935400" y="3547369"/>
            <a:ext cx="6093" cy="2929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a:off x="930075" y="3576665"/>
            <a:ext cx="5325" cy="2944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9" name="Editable circular flow"/>
          <p:cNvCxnSpPr/>
          <p:nvPr/>
        </p:nvCxnSpPr>
        <p:spPr>
          <a:xfrm flipH="1">
            <a:off x="925523" y="3606110"/>
            <a:ext cx="4552" cy="2957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0" name="Editable circular flow"/>
          <p:cNvCxnSpPr/>
          <p:nvPr/>
        </p:nvCxnSpPr>
        <p:spPr>
          <a:xfrm flipH="1">
            <a:off x="921747" y="3635685"/>
            <a:ext cx="3776" cy="2968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1" name="Editable circular flow"/>
          <p:cNvCxnSpPr/>
          <p:nvPr/>
        </p:nvCxnSpPr>
        <p:spPr>
          <a:xfrm flipH="1">
            <a:off x="918749" y="3665368"/>
            <a:ext cx="2998" cy="2977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2" name="Editable circular flow"/>
          <p:cNvCxnSpPr/>
          <p:nvPr/>
        </p:nvCxnSpPr>
        <p:spPr>
          <a:xfrm flipH="1">
            <a:off x="916531" y="3695140"/>
            <a:ext cx="2218" cy="29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3" name="Editable circular flow"/>
          <p:cNvCxnSpPr/>
          <p:nvPr/>
        </p:nvCxnSpPr>
        <p:spPr>
          <a:xfrm flipH="1">
            <a:off x="915096" y="3724981"/>
            <a:ext cx="1435" cy="2988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Editable circular flow"/>
          <p:cNvCxnSpPr/>
          <p:nvPr/>
        </p:nvCxnSpPr>
        <p:spPr>
          <a:xfrm flipV="1">
            <a:off x="2522299" y="4826414"/>
            <a:ext cx="27175" cy="1252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5" name="Editable circular flow"/>
          <p:cNvCxnSpPr/>
          <p:nvPr/>
        </p:nvCxnSpPr>
        <p:spPr>
          <a:xfrm flipV="1">
            <a:off x="2549474" y="4813180"/>
            <a:ext cx="26837" cy="1323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6" name="Editable circular flow"/>
          <p:cNvCxnSpPr/>
          <p:nvPr/>
        </p:nvCxnSpPr>
        <p:spPr>
          <a:xfrm flipV="1">
            <a:off x="2576311" y="4799247"/>
            <a:ext cx="26481" cy="139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7" name="Editable circular flow"/>
          <p:cNvCxnSpPr/>
          <p:nvPr/>
        </p:nvCxnSpPr>
        <p:spPr>
          <a:xfrm flipV="1">
            <a:off x="2602792" y="4784627"/>
            <a:ext cx="26108" cy="1462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8" name="Editable circular flow"/>
          <p:cNvCxnSpPr/>
          <p:nvPr/>
        </p:nvCxnSpPr>
        <p:spPr>
          <a:xfrm flipV="1">
            <a:off x="2628900" y="4769327"/>
            <a:ext cx="25715" cy="1530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49" name="Editable circular flow"/>
          <p:cNvCxnSpPr/>
          <p:nvPr/>
        </p:nvCxnSpPr>
        <p:spPr>
          <a:xfrm flipV="1">
            <a:off x="2654615" y="4753360"/>
            <a:ext cx="25307" cy="159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0" name="Editable circular flow"/>
          <p:cNvCxnSpPr/>
          <p:nvPr/>
        </p:nvCxnSpPr>
        <p:spPr>
          <a:xfrm flipV="1">
            <a:off x="2679922" y="4736736"/>
            <a:ext cx="24880" cy="166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1" name="Editable circular flow"/>
          <p:cNvCxnSpPr/>
          <p:nvPr/>
        </p:nvCxnSpPr>
        <p:spPr>
          <a:xfrm flipV="1">
            <a:off x="2704802" y="4719466"/>
            <a:ext cx="24436" cy="17270"/>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Editable circular flow"/>
          <p:cNvCxnSpPr/>
          <p:nvPr/>
        </p:nvCxnSpPr>
        <p:spPr>
          <a:xfrm flipH="1" flipV="1">
            <a:off x="2784437" y="2912793"/>
            <a:ext cx="22838" cy="193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3" name="Editable circular flow"/>
          <p:cNvCxnSpPr/>
          <p:nvPr/>
        </p:nvCxnSpPr>
        <p:spPr>
          <a:xfrm flipH="1" flipV="1">
            <a:off x="2761101" y="2894063"/>
            <a:ext cx="23336" cy="1873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4" name="Editable circular flow"/>
          <p:cNvCxnSpPr/>
          <p:nvPr/>
        </p:nvCxnSpPr>
        <p:spPr>
          <a:xfrm flipH="1" flipV="1">
            <a:off x="2737282" y="2875951"/>
            <a:ext cx="23819" cy="1811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5" name="Editable circular flow"/>
          <p:cNvCxnSpPr/>
          <p:nvPr/>
        </p:nvCxnSpPr>
        <p:spPr>
          <a:xfrm flipH="1" flipV="1">
            <a:off x="2712997" y="2858469"/>
            <a:ext cx="24285" cy="1748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6" name="Editable circular flow"/>
          <p:cNvCxnSpPr/>
          <p:nvPr/>
        </p:nvCxnSpPr>
        <p:spPr>
          <a:xfrm flipH="1" flipV="1">
            <a:off x="2688263" y="2841628"/>
            <a:ext cx="24734" cy="16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7" name="Editable circular flow"/>
          <p:cNvCxnSpPr/>
          <p:nvPr/>
        </p:nvCxnSpPr>
        <p:spPr>
          <a:xfrm flipH="1" flipV="1">
            <a:off x="2663097" y="2825441"/>
            <a:ext cx="25166" cy="161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8" name="Editable circular flow"/>
          <p:cNvCxnSpPr/>
          <p:nvPr/>
        </p:nvCxnSpPr>
        <p:spPr>
          <a:xfrm flipH="1" flipV="1">
            <a:off x="2637516" y="2809917"/>
            <a:ext cx="25581" cy="155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59" name="Editable circular flow"/>
          <p:cNvCxnSpPr/>
          <p:nvPr/>
        </p:nvCxnSpPr>
        <p:spPr>
          <a:xfrm flipH="1" flipV="1">
            <a:off x="2611537" y="2795069"/>
            <a:ext cx="25979" cy="1484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Node: Local training"/>
          <p:cNvSpPr/>
          <p:nvPr/>
        </p:nvSpPr>
        <p:spPr>
          <a:xfrm>
            <a:off x="498348" y="2516856"/>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abel: Local training"/>
          <p:cNvSpPr txBox="1"/>
          <p:nvPr/>
        </p:nvSpPr>
        <p:spPr>
          <a:xfrm>
            <a:off x="562356" y="2544288"/>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62" name="Node: Aggregate"/>
          <p:cNvSpPr/>
          <p:nvPr/>
        </p:nvSpPr>
        <p:spPr>
          <a:xfrm>
            <a:off x="676656" y="4496591"/>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abel: Aggregate"/>
          <p:cNvSpPr txBox="1"/>
          <p:nvPr/>
        </p:nvSpPr>
        <p:spPr>
          <a:xfrm>
            <a:off x="740664" y="4524023"/>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64" name="Node: Global / model"/>
          <p:cNvSpPr/>
          <p:nvPr/>
        </p:nvSpPr>
        <p:spPr>
          <a:xfrm>
            <a:off x="2377440" y="3383280"/>
            <a:ext cx="1645920" cy="822960"/>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Label: Global / model"/>
          <p:cNvSpPr txBox="1"/>
          <p:nvPr/>
        </p:nvSpPr>
        <p:spPr>
          <a:xfrm>
            <a:off x="2441448" y="3410712"/>
            <a:ext cx="1517904" cy="768096"/>
          </a:xfrm>
          <a:prstGeom prst="rect">
            <a:avLst/>
          </a:prstGeom>
          <a:noFill/>
        </p:spPr>
        <p:txBody>
          <a:bodyPr wrap="square" lIns="0" rIns="0" tIns="0" bIns="0" anchor="ctr">
            <a:spAutoFit/>
          </a:bodyPr>
          <a:lstStyle/>
          <a:p>
            <a:pPr algn="ctr"/>
            <a:r>
              <a:rPr sz="1700" b="1" lang="en-US">
                <a:solidFill>
                  <a:srgbClr val="207548"/>
                </a:solidFill>
                <a:latin typeface="Arial"/>
              </a:rPr>
              <a:t>Global
model</a:t>
            </a:r>
          </a:p>
        </p:txBody>
      </p:sp>
      <p:sp>
        <p:nvSpPr>
          <p:cNvPr id="66" name="Label: DFL"/>
          <p:cNvSpPr txBox="1"/>
          <p:nvPr/>
        </p:nvSpPr>
        <p:spPr>
          <a:xfrm>
            <a:off x="1362456" y="3566160"/>
            <a:ext cx="1225296" cy="457200"/>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67" name="Flow"/>
          <p:cNvCxnSpPr/>
          <p:nvPr/>
        </p:nvCxnSpPr>
        <p:spPr>
          <a:xfrm>
            <a:off x="4059935" y="3794760"/>
            <a:ext cx="155449"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8" name="Flow"/>
          <p:cNvCxnSpPr/>
          <p:nvPr/>
        </p:nvCxnSpPr>
        <p:spPr>
          <a:xfrm flipV="1">
            <a:off x="4215384" y="3511296"/>
            <a:ext cx="0" cy="283464"/>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9" name="Flow"/>
          <p:cNvCxnSpPr/>
          <p:nvPr/>
        </p:nvCxnSpPr>
        <p:spPr>
          <a:xfrm>
            <a:off x="4215384" y="3511296"/>
            <a:ext cx="246888"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Flow"/>
          <p:cNvCxnSpPr/>
          <p:nvPr/>
        </p:nvCxnSpPr>
        <p:spPr>
          <a:xfrm>
            <a:off x="4215384" y="3794760"/>
            <a:ext cx="0" cy="73152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1" name="Flow"/>
          <p:cNvCxnSpPr/>
          <p:nvPr/>
        </p:nvCxnSpPr>
        <p:spPr>
          <a:xfrm>
            <a:off x="4215384" y="4526280"/>
            <a:ext cx="246888"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Infrastructure: Blockchain"/>
          <p:cNvSpPr/>
          <p:nvPr/>
        </p:nvSpPr>
        <p:spPr>
          <a:xfrm>
            <a:off x="4498848" y="3099815"/>
            <a:ext cx="1993392"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abel: Blockchain"/>
          <p:cNvSpPr txBox="1"/>
          <p:nvPr/>
        </p:nvSpPr>
        <p:spPr>
          <a:xfrm>
            <a:off x="4572000" y="3200400"/>
            <a:ext cx="1847088" cy="329184"/>
          </a:xfrm>
          <a:prstGeom prst="rect">
            <a:avLst/>
          </a:prstGeom>
          <a:noFill/>
        </p:spPr>
        <p:txBody>
          <a:bodyPr wrap="square" lIns="0" rIns="0" tIns="0" bIns="0" anchor="ctr">
            <a:spAutoFit/>
          </a:bodyPr>
          <a:lstStyle/>
          <a:p>
            <a:pPr algn="ctr"/>
            <a:r>
              <a:rPr sz="1800" b="1" lang="en-US">
                <a:solidFill>
                  <a:srgbClr val="7446A6"/>
                </a:solidFill>
                <a:latin typeface="Arial"/>
              </a:rPr>
              <a:t>Blockchain</a:t>
            </a:r>
          </a:p>
        </p:txBody>
      </p:sp>
      <p:sp>
        <p:nvSpPr>
          <p:cNvPr id="74" name="Label: Model reference"/>
          <p:cNvSpPr txBox="1"/>
          <p:nvPr/>
        </p:nvSpPr>
        <p:spPr>
          <a:xfrm>
            <a:off x="4572000" y="3602736"/>
            <a:ext cx="1847088" cy="256032"/>
          </a:xfrm>
          <a:prstGeom prst="rect">
            <a:avLst/>
          </a:prstGeom>
          <a:noFill/>
        </p:spPr>
        <p:txBody>
          <a:bodyPr wrap="square" lIns="0" rIns="0" tIns="0" bIns="0" anchor="ctr">
            <a:spAutoFit/>
          </a:bodyPr>
          <a:lstStyle/>
          <a:p>
            <a:pPr algn="ctr"/>
            <a:r>
              <a:rPr sz="1300" b="0" lang="en-US">
                <a:solidFill>
                  <a:srgbClr val="7446A6"/>
                </a:solidFill>
                <a:latin typeface="Arial"/>
              </a:rPr>
              <a:t>Model reference</a:t>
            </a:r>
          </a:p>
        </p:txBody>
      </p:sp>
      <p:sp>
        <p:nvSpPr>
          <p:cNvPr id="75" name="Infrastructure: IPFS"/>
          <p:cNvSpPr/>
          <p:nvPr/>
        </p:nvSpPr>
        <p:spPr>
          <a:xfrm>
            <a:off x="4498848" y="4114800"/>
            <a:ext cx="1993392"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Label: IPFS"/>
          <p:cNvSpPr txBox="1"/>
          <p:nvPr/>
        </p:nvSpPr>
        <p:spPr>
          <a:xfrm>
            <a:off x="4572000" y="4215384"/>
            <a:ext cx="1847088" cy="329184"/>
          </a:xfrm>
          <a:prstGeom prst="rect">
            <a:avLst/>
          </a:prstGeom>
          <a:noFill/>
        </p:spPr>
        <p:txBody>
          <a:bodyPr wrap="square" lIns="0" rIns="0" tIns="0" bIns="0" anchor="ctr">
            <a:spAutoFit/>
          </a:bodyPr>
          <a:lstStyle/>
          <a:p>
            <a:pPr algn="ctr"/>
            <a:r>
              <a:rPr sz="1800" b="1" lang="en-US">
                <a:solidFill>
                  <a:srgbClr val="7446A6"/>
                </a:solidFill>
                <a:latin typeface="Arial"/>
              </a:rPr>
              <a:t>IPFS</a:t>
            </a:r>
          </a:p>
        </p:txBody>
      </p:sp>
      <p:sp>
        <p:nvSpPr>
          <p:cNvPr id="77" name="Label: Model files"/>
          <p:cNvSpPr txBox="1"/>
          <p:nvPr/>
        </p:nvSpPr>
        <p:spPr>
          <a:xfrm>
            <a:off x="4572000" y="4617720"/>
            <a:ext cx="1847088" cy="256032"/>
          </a:xfrm>
          <a:prstGeom prst="rect">
            <a:avLst/>
          </a:prstGeom>
          <a:noFill/>
        </p:spPr>
        <p:txBody>
          <a:bodyPr wrap="square" lIns="0" rIns="0" tIns="0" bIns="0" anchor="ctr">
            <a:spAutoFit/>
          </a:bodyPr>
          <a:lstStyle/>
          <a:p>
            <a:pPr algn="ctr"/>
            <a:r>
              <a:rPr sz="1300" b="0" lang="en-US">
                <a:solidFill>
                  <a:srgbClr val="7446A6"/>
                </a:solidFill>
                <a:latin typeface="Arial"/>
              </a:rPr>
              <a:t>Model files</a:t>
            </a:r>
          </a:p>
        </p:txBody>
      </p:sp>
      <p:cxnSp>
        <p:nvCxnSpPr>
          <p:cNvPr id="78" name="Flow"/>
          <p:cNvCxnSpPr/>
          <p:nvPr/>
        </p:nvCxnSpPr>
        <p:spPr>
          <a:xfrm>
            <a:off x="6528816" y="3511296"/>
            <a:ext cx="512064"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79" name="Flow"/>
          <p:cNvCxnSpPr/>
          <p:nvPr/>
        </p:nvCxnSpPr>
        <p:spPr>
          <a:xfrm>
            <a:off x="7040880" y="3511296"/>
            <a:ext cx="0" cy="64008"/>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0" name="Flow"/>
          <p:cNvCxnSpPr/>
          <p:nvPr/>
        </p:nvCxnSpPr>
        <p:spPr>
          <a:xfrm>
            <a:off x="7040880" y="3575304"/>
            <a:ext cx="256032"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Flow"/>
          <p:cNvCxnSpPr/>
          <p:nvPr/>
        </p:nvCxnSpPr>
        <p:spPr>
          <a:xfrm>
            <a:off x="6528816" y="4526280"/>
            <a:ext cx="512064"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2" name="Flow"/>
          <p:cNvCxnSpPr/>
          <p:nvPr/>
        </p:nvCxnSpPr>
        <p:spPr>
          <a:xfrm flipV="1">
            <a:off x="7040880" y="4032504"/>
            <a:ext cx="0" cy="493776"/>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83" name="Flow"/>
          <p:cNvCxnSpPr/>
          <p:nvPr/>
        </p:nvCxnSpPr>
        <p:spPr>
          <a:xfrm>
            <a:off x="7040880" y="4032504"/>
            <a:ext cx="256032"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4" name="Node: Attested / inference"/>
          <p:cNvSpPr/>
          <p:nvPr/>
        </p:nvSpPr>
        <p:spPr>
          <a:xfrm>
            <a:off x="7342631" y="3314700"/>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Label: Attested / inference"/>
          <p:cNvSpPr txBox="1"/>
          <p:nvPr/>
        </p:nvSpPr>
        <p:spPr>
          <a:xfrm>
            <a:off x="7406640" y="3342132"/>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86" name="Oval 85"/>
          <p:cNvSpPr/>
          <p:nvPr/>
        </p:nvSpPr>
        <p:spPr>
          <a:xfrm>
            <a:off x="7808975"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04580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14062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30384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Flow"/>
          <p:cNvCxnSpPr/>
          <p:nvPr/>
        </p:nvCxnSpPr>
        <p:spPr>
          <a:xfrm>
            <a:off x="817793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1" name="Flow"/>
          <p:cNvCxnSpPr/>
          <p:nvPr/>
        </p:nvCxnSpPr>
        <p:spPr>
          <a:xfrm flipV="1">
            <a:off x="824788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821679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Label: Agent"/>
          <p:cNvSpPr txBox="1"/>
          <p:nvPr/>
        </p:nvSpPr>
        <p:spPr>
          <a:xfrm>
            <a:off x="7196327"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94" name="Flow"/>
          <p:cNvCxnSpPr/>
          <p:nvPr/>
        </p:nvCxnSpPr>
        <p:spPr>
          <a:xfrm>
            <a:off x="8019288" y="2743200"/>
            <a:ext cx="0" cy="51206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5" name="Label: MCP"/>
          <p:cNvSpPr txBox="1"/>
          <p:nvPr/>
        </p:nvSpPr>
        <p:spPr>
          <a:xfrm>
            <a:off x="7351775" y="286207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96" name="Flow"/>
          <p:cNvCxnSpPr/>
          <p:nvPr/>
        </p:nvCxnSpPr>
        <p:spPr>
          <a:xfrm flipV="1">
            <a:off x="8494776" y="2743200"/>
            <a:ext cx="0" cy="51206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Label: Result"/>
          <p:cNvSpPr txBox="1"/>
          <p:nvPr/>
        </p:nvSpPr>
        <p:spPr>
          <a:xfrm>
            <a:off x="8622792" y="286207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98" name="Flow"/>
          <p:cNvCxnSpPr/>
          <p:nvPr/>
        </p:nvCxnSpPr>
        <p:spPr>
          <a:xfrm>
            <a:off x="9198863" y="3794760"/>
            <a:ext cx="1124713"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Label: Tool receipt"/>
          <p:cNvSpPr txBox="1"/>
          <p:nvPr/>
        </p:nvSpPr>
        <p:spPr>
          <a:xfrm>
            <a:off x="9235440" y="3328416"/>
            <a:ext cx="1124712"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100" name="Oval 99"/>
          <p:cNvSpPr/>
          <p:nvPr/>
        </p:nvSpPr>
        <p:spPr>
          <a:xfrm>
            <a:off x="10396728" y="335584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719054" y="347609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0680192" y="351495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0641330" y="355381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4" name="Flow"/>
          <p:cNvCxnSpPr/>
          <p:nvPr/>
        </p:nvCxnSpPr>
        <p:spPr>
          <a:xfrm>
            <a:off x="10719054" y="368594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5" name="Flow"/>
          <p:cNvCxnSpPr/>
          <p:nvPr/>
        </p:nvCxnSpPr>
        <p:spPr>
          <a:xfrm>
            <a:off x="10719054" y="379476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106" name="Flow"/>
          <p:cNvCxnSpPr/>
          <p:nvPr/>
        </p:nvCxnSpPr>
        <p:spPr>
          <a:xfrm>
            <a:off x="10719054" y="390357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07" name="Label: Transparency / log"/>
          <p:cNvSpPr txBox="1"/>
          <p:nvPr/>
        </p:nvSpPr>
        <p:spPr>
          <a:xfrm>
            <a:off x="9784080" y="435254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A1b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914400" y="2651760"/>
            <a:ext cx="2286000" cy="228600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941493" y="3518243"/>
            <a:ext cx="6858" cy="2912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935400" y="3547369"/>
            <a:ext cx="6093" cy="2929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930075" y="3576665"/>
            <a:ext cx="5325" cy="2944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925523" y="3606110"/>
            <a:ext cx="4552" cy="2957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921747" y="3635685"/>
            <a:ext cx="3776" cy="2968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918749" y="3665368"/>
            <a:ext cx="2998" cy="2977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916531" y="3695140"/>
            <a:ext cx="2218" cy="29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915096" y="3724981"/>
            <a:ext cx="1435" cy="2988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2522299" y="4826414"/>
            <a:ext cx="27175" cy="1252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2549474" y="4813180"/>
            <a:ext cx="26837" cy="1323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2576311" y="4799247"/>
            <a:ext cx="26481" cy="139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2602792" y="4784627"/>
            <a:ext cx="26108" cy="1462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2628900" y="4769327"/>
            <a:ext cx="25715" cy="1530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2654615" y="4753360"/>
            <a:ext cx="25307" cy="159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2679922" y="4736736"/>
            <a:ext cx="24880" cy="166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2704802" y="4719466"/>
            <a:ext cx="24436" cy="17270"/>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2784437" y="2912793"/>
            <a:ext cx="22838" cy="193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2761101" y="2894063"/>
            <a:ext cx="23336" cy="1873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2737282" y="2875951"/>
            <a:ext cx="23819" cy="1811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2712997" y="2858469"/>
            <a:ext cx="24285" cy="1748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2688263" y="2841628"/>
            <a:ext cx="24734" cy="16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2663097" y="2825441"/>
            <a:ext cx="25166" cy="161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2637516" y="2809917"/>
            <a:ext cx="25581" cy="155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2611537" y="2795069"/>
            <a:ext cx="25979" cy="1484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498348" y="2516856"/>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562356" y="2544288"/>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676656" y="4496591"/>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740664" y="4524023"/>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2377440" y="3383280"/>
            <a:ext cx="1645920" cy="822960"/>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2441448" y="3410712"/>
            <a:ext cx="1517904" cy="768096"/>
          </a:xfrm>
          <a:prstGeom prst="rect">
            <a:avLst/>
          </a:prstGeom>
          <a:noFill/>
        </p:spPr>
        <p:txBody>
          <a:bodyPr wrap="square" lIns="0" rIns="0" tIns="0" bIns="0" anchor="ctr">
            <a:spAutoFit/>
          </a:bodyPr>
          <a:lstStyle/>
          <a:p>
            <a:pPr algn="ctr"/>
            <a:r>
              <a:rPr sz="1700" b="1" lang="en-US">
                <a:solidFill>
                  <a:srgbClr val="207548"/>
                </a:solidFill>
                <a:latin typeface="Arial"/>
              </a:rPr>
              <a:t>Global
model</a:t>
            </a:r>
          </a:p>
        </p:txBody>
      </p:sp>
      <p:sp>
        <p:nvSpPr>
          <p:cNvPr id="44" name="Label: DFL"/>
          <p:cNvSpPr txBox="1"/>
          <p:nvPr/>
        </p:nvSpPr>
        <p:spPr>
          <a:xfrm>
            <a:off x="1362456" y="3566160"/>
            <a:ext cx="1225296" cy="457200"/>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45" name="Flow"/>
          <p:cNvCxnSpPr/>
          <p:nvPr/>
        </p:nvCxnSpPr>
        <p:spPr>
          <a:xfrm>
            <a:off x="4059935" y="3794760"/>
            <a:ext cx="256033"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361688" y="3429000"/>
            <a:ext cx="731520" cy="731520"/>
          </a:xfrm>
          <a:prstGeom prst="ellipse">
            <a:avLst/>
          </a:prstGeom>
          <a:solidFill>
            <a:srgbClr val="F3EEF8"/>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Flow"/>
          <p:cNvCxnSpPr/>
          <p:nvPr/>
        </p:nvCxnSpPr>
        <p:spPr>
          <a:xfrm flipV="1">
            <a:off x="4541824" y="3596335"/>
            <a:ext cx="185624" cy="5760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8" name="Flow"/>
          <p:cNvCxnSpPr/>
          <p:nvPr/>
        </p:nvCxnSpPr>
        <p:spPr>
          <a:xfrm>
            <a:off x="4541824" y="3653942"/>
            <a:ext cx="185624" cy="140818"/>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9" name="Flow"/>
          <p:cNvCxnSpPr/>
          <p:nvPr/>
        </p:nvCxnSpPr>
        <p:spPr>
          <a:xfrm>
            <a:off x="4541824" y="3653942"/>
            <a:ext cx="185624" cy="33924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0" name="Flow"/>
          <p:cNvCxnSpPr/>
          <p:nvPr/>
        </p:nvCxnSpPr>
        <p:spPr>
          <a:xfrm flipV="1">
            <a:off x="4541824" y="3596335"/>
            <a:ext cx="185624" cy="33924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1" name="Flow"/>
          <p:cNvCxnSpPr/>
          <p:nvPr/>
        </p:nvCxnSpPr>
        <p:spPr>
          <a:xfrm flipV="1">
            <a:off x="4541824" y="3794760"/>
            <a:ext cx="185624" cy="14081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2" name="Flow"/>
          <p:cNvCxnSpPr/>
          <p:nvPr/>
        </p:nvCxnSpPr>
        <p:spPr>
          <a:xfrm>
            <a:off x="4541824" y="3935577"/>
            <a:ext cx="185624" cy="5760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3" name="Flow"/>
          <p:cNvCxnSpPr/>
          <p:nvPr/>
        </p:nvCxnSpPr>
        <p:spPr>
          <a:xfrm>
            <a:off x="4727448" y="3596335"/>
            <a:ext cx="185623" cy="102413"/>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4" name="Flow"/>
          <p:cNvCxnSpPr/>
          <p:nvPr/>
        </p:nvCxnSpPr>
        <p:spPr>
          <a:xfrm>
            <a:off x="4727448" y="3596335"/>
            <a:ext cx="185623" cy="294437"/>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5" name="Flow"/>
          <p:cNvCxnSpPr/>
          <p:nvPr/>
        </p:nvCxnSpPr>
        <p:spPr>
          <a:xfrm flipV="1">
            <a:off x="4727448" y="3698748"/>
            <a:ext cx="185623" cy="9601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6" name="Flow"/>
          <p:cNvCxnSpPr/>
          <p:nvPr/>
        </p:nvCxnSpPr>
        <p:spPr>
          <a:xfrm>
            <a:off x="4727448" y="3794760"/>
            <a:ext cx="185623" cy="9601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7" name="Flow"/>
          <p:cNvCxnSpPr/>
          <p:nvPr/>
        </p:nvCxnSpPr>
        <p:spPr>
          <a:xfrm flipV="1">
            <a:off x="4727448" y="3698748"/>
            <a:ext cx="185623" cy="294436"/>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8" name="Flow"/>
          <p:cNvCxnSpPr/>
          <p:nvPr/>
        </p:nvCxnSpPr>
        <p:spPr>
          <a:xfrm flipV="1">
            <a:off x="4727448" y="3890772"/>
            <a:ext cx="185623" cy="102412"/>
          </a:xfrm>
          <a:prstGeom prst="line">
            <a:avLst/>
          </a:prstGeom>
          <a:ln w="13970">
            <a:solidFill>
              <a:srgbClr val="7446A6"/>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4506620" y="3618738"/>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4506620" y="3900373"/>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692243" y="3561130"/>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692243" y="3759555"/>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92243" y="3957980"/>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877866" y="3663543"/>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877866" y="3855567"/>
            <a:ext cx="70408" cy="70408"/>
          </a:xfrm>
          <a:prstGeom prst="ellipse">
            <a:avLst/>
          </a:prstGeom>
          <a:solidFill>
            <a:srgbClr val="FFFFFF"/>
          </a:solidFill>
          <a:ln w="1524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abel: Published / model"/>
          <p:cNvSpPr txBox="1"/>
          <p:nvPr/>
        </p:nvSpPr>
        <p:spPr>
          <a:xfrm>
            <a:off x="3931920" y="2743200"/>
            <a:ext cx="1591056" cy="658368"/>
          </a:xfrm>
          <a:prstGeom prst="rect">
            <a:avLst/>
          </a:prstGeom>
          <a:noFill/>
        </p:spPr>
        <p:txBody>
          <a:bodyPr wrap="square" lIns="0" rIns="0" tIns="0" bIns="0" anchor="ctr">
            <a:spAutoFit/>
          </a:bodyPr>
          <a:lstStyle/>
          <a:p>
            <a:pPr algn="ctr"/>
            <a:r>
              <a:rPr sz="1700" b="1" lang="en-US">
                <a:solidFill>
                  <a:srgbClr val="7446A6"/>
                </a:solidFill>
                <a:latin typeface="Arial"/>
              </a:rPr>
              <a:t>Published
model</a:t>
            </a:r>
          </a:p>
        </p:txBody>
      </p:sp>
      <p:cxnSp>
        <p:nvCxnSpPr>
          <p:cNvPr id="67" name="Flow"/>
          <p:cNvCxnSpPr/>
          <p:nvPr/>
        </p:nvCxnSpPr>
        <p:spPr>
          <a:xfrm flipV="1">
            <a:off x="5138928" y="2834640"/>
            <a:ext cx="338328" cy="96012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Flow"/>
          <p:cNvCxnSpPr/>
          <p:nvPr/>
        </p:nvCxnSpPr>
        <p:spPr>
          <a:xfrm>
            <a:off x="5138928" y="3794760"/>
            <a:ext cx="338328" cy="96012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Infrastructure: Blockchain"/>
          <p:cNvSpPr/>
          <p:nvPr/>
        </p:nvSpPr>
        <p:spPr>
          <a:xfrm>
            <a:off x="5513832" y="2423160"/>
            <a:ext cx="1773936"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Label: Blockchain"/>
          <p:cNvSpPr txBox="1"/>
          <p:nvPr/>
        </p:nvSpPr>
        <p:spPr>
          <a:xfrm>
            <a:off x="5586984" y="2523744"/>
            <a:ext cx="1627632" cy="329184"/>
          </a:xfrm>
          <a:prstGeom prst="rect">
            <a:avLst/>
          </a:prstGeom>
          <a:noFill/>
        </p:spPr>
        <p:txBody>
          <a:bodyPr wrap="square" lIns="0" rIns="0" tIns="0" bIns="0" anchor="ctr">
            <a:spAutoFit/>
          </a:bodyPr>
          <a:lstStyle/>
          <a:p>
            <a:pPr algn="ctr"/>
            <a:r>
              <a:rPr sz="1800" b="1" lang="en-US">
                <a:solidFill>
                  <a:srgbClr val="7446A6"/>
                </a:solidFill>
                <a:latin typeface="Arial"/>
              </a:rPr>
              <a:t>Blockchain</a:t>
            </a:r>
          </a:p>
        </p:txBody>
      </p:sp>
      <p:sp>
        <p:nvSpPr>
          <p:cNvPr id="71" name="Label: Model reference"/>
          <p:cNvSpPr txBox="1"/>
          <p:nvPr/>
        </p:nvSpPr>
        <p:spPr>
          <a:xfrm>
            <a:off x="5586984" y="2926080"/>
            <a:ext cx="1627632" cy="256032"/>
          </a:xfrm>
          <a:prstGeom prst="rect">
            <a:avLst/>
          </a:prstGeom>
          <a:noFill/>
        </p:spPr>
        <p:txBody>
          <a:bodyPr wrap="square" lIns="0" rIns="0" tIns="0" bIns="0" anchor="ctr">
            <a:spAutoFit/>
          </a:bodyPr>
          <a:lstStyle/>
          <a:p>
            <a:pPr algn="ctr"/>
            <a:r>
              <a:rPr sz="1300" b="0" lang="en-US">
                <a:solidFill>
                  <a:srgbClr val="7446A6"/>
                </a:solidFill>
                <a:latin typeface="Arial"/>
              </a:rPr>
              <a:t>Model reference</a:t>
            </a:r>
          </a:p>
        </p:txBody>
      </p:sp>
      <p:sp>
        <p:nvSpPr>
          <p:cNvPr id="72" name="Infrastructure: IPFS"/>
          <p:cNvSpPr/>
          <p:nvPr/>
        </p:nvSpPr>
        <p:spPr>
          <a:xfrm>
            <a:off x="5513832" y="4343400"/>
            <a:ext cx="1773936"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Label: IPFS"/>
          <p:cNvSpPr txBox="1"/>
          <p:nvPr/>
        </p:nvSpPr>
        <p:spPr>
          <a:xfrm>
            <a:off x="5586984" y="4443984"/>
            <a:ext cx="1627632" cy="329184"/>
          </a:xfrm>
          <a:prstGeom prst="rect">
            <a:avLst/>
          </a:prstGeom>
          <a:noFill/>
        </p:spPr>
        <p:txBody>
          <a:bodyPr wrap="square" lIns="0" rIns="0" tIns="0" bIns="0" anchor="ctr">
            <a:spAutoFit/>
          </a:bodyPr>
          <a:lstStyle/>
          <a:p>
            <a:pPr algn="ctr"/>
            <a:r>
              <a:rPr sz="1800" b="1" lang="en-US">
                <a:solidFill>
                  <a:srgbClr val="7446A6"/>
                </a:solidFill>
                <a:latin typeface="Arial"/>
              </a:rPr>
              <a:t>IPFS</a:t>
            </a:r>
          </a:p>
        </p:txBody>
      </p:sp>
      <p:sp>
        <p:nvSpPr>
          <p:cNvPr id="74" name="Label: Model files"/>
          <p:cNvSpPr txBox="1"/>
          <p:nvPr/>
        </p:nvSpPr>
        <p:spPr>
          <a:xfrm>
            <a:off x="5586984" y="4846320"/>
            <a:ext cx="1627632" cy="256032"/>
          </a:xfrm>
          <a:prstGeom prst="rect">
            <a:avLst/>
          </a:prstGeom>
          <a:noFill/>
        </p:spPr>
        <p:txBody>
          <a:bodyPr wrap="square" lIns="0" rIns="0" tIns="0" bIns="0" anchor="ctr">
            <a:spAutoFit/>
          </a:bodyPr>
          <a:lstStyle/>
          <a:p>
            <a:pPr algn="ctr"/>
            <a:r>
              <a:rPr sz="1300" b="0" lang="en-US">
                <a:solidFill>
                  <a:srgbClr val="7446A6"/>
                </a:solidFill>
                <a:latin typeface="Arial"/>
              </a:rPr>
              <a:t>Model files</a:t>
            </a:r>
          </a:p>
        </p:txBody>
      </p:sp>
      <p:cxnSp>
        <p:nvCxnSpPr>
          <p:cNvPr id="75" name="Flow"/>
          <p:cNvCxnSpPr/>
          <p:nvPr/>
        </p:nvCxnSpPr>
        <p:spPr>
          <a:xfrm>
            <a:off x="7324344" y="2834640"/>
            <a:ext cx="265176" cy="722376"/>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Flow"/>
          <p:cNvCxnSpPr/>
          <p:nvPr/>
        </p:nvCxnSpPr>
        <p:spPr>
          <a:xfrm flipV="1">
            <a:off x="7324344" y="4032504"/>
            <a:ext cx="265176" cy="722376"/>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Node: Attested / inference"/>
          <p:cNvSpPr/>
          <p:nvPr/>
        </p:nvSpPr>
        <p:spPr>
          <a:xfrm>
            <a:off x="7635240" y="3314700"/>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Label: Attested / inference"/>
          <p:cNvSpPr txBox="1"/>
          <p:nvPr/>
        </p:nvSpPr>
        <p:spPr>
          <a:xfrm>
            <a:off x="7699248" y="3342132"/>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79" name="Oval 78"/>
          <p:cNvSpPr/>
          <p:nvPr/>
        </p:nvSpPr>
        <p:spPr>
          <a:xfrm>
            <a:off x="8101583"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8338413"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433236"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596457"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Flow"/>
          <p:cNvCxnSpPr/>
          <p:nvPr/>
        </p:nvCxnSpPr>
        <p:spPr>
          <a:xfrm>
            <a:off x="8470544"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4" name="Flow"/>
          <p:cNvCxnSpPr/>
          <p:nvPr/>
        </p:nvCxnSpPr>
        <p:spPr>
          <a:xfrm flipV="1">
            <a:off x="8540496"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8509406"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Label: Agent"/>
          <p:cNvSpPr txBox="1"/>
          <p:nvPr/>
        </p:nvSpPr>
        <p:spPr>
          <a:xfrm>
            <a:off x="7488936"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87" name="Flow"/>
          <p:cNvCxnSpPr/>
          <p:nvPr/>
        </p:nvCxnSpPr>
        <p:spPr>
          <a:xfrm>
            <a:off x="8311896" y="2743200"/>
            <a:ext cx="0" cy="51206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Label: MCP"/>
          <p:cNvSpPr txBox="1"/>
          <p:nvPr/>
        </p:nvSpPr>
        <p:spPr>
          <a:xfrm>
            <a:off x="7644383" y="286207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89" name="Flow"/>
          <p:cNvCxnSpPr/>
          <p:nvPr/>
        </p:nvCxnSpPr>
        <p:spPr>
          <a:xfrm flipV="1">
            <a:off x="8787384" y="2743200"/>
            <a:ext cx="0" cy="51206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 name="Label: Result"/>
          <p:cNvSpPr txBox="1"/>
          <p:nvPr/>
        </p:nvSpPr>
        <p:spPr>
          <a:xfrm>
            <a:off x="8915400" y="286207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91" name="Flow"/>
          <p:cNvCxnSpPr/>
          <p:nvPr/>
        </p:nvCxnSpPr>
        <p:spPr>
          <a:xfrm>
            <a:off x="9491472" y="3794760"/>
            <a:ext cx="923543"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Label: Tool / receipt"/>
          <p:cNvSpPr txBox="1"/>
          <p:nvPr/>
        </p:nvSpPr>
        <p:spPr>
          <a:xfrm>
            <a:off x="9564624" y="3026664"/>
            <a:ext cx="923543" cy="612648"/>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93" name="Oval 92"/>
          <p:cNvSpPr/>
          <p:nvPr/>
        </p:nvSpPr>
        <p:spPr>
          <a:xfrm>
            <a:off x="10488167" y="335584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0810494" y="347609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771632" y="351495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732769" y="355381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7" name="Flow"/>
          <p:cNvCxnSpPr/>
          <p:nvPr/>
        </p:nvCxnSpPr>
        <p:spPr>
          <a:xfrm>
            <a:off x="10810494" y="368594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8" name="Flow"/>
          <p:cNvCxnSpPr/>
          <p:nvPr/>
        </p:nvCxnSpPr>
        <p:spPr>
          <a:xfrm>
            <a:off x="10810494" y="379476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99" name="Flow"/>
          <p:cNvCxnSpPr/>
          <p:nvPr/>
        </p:nvCxnSpPr>
        <p:spPr>
          <a:xfrm>
            <a:off x="10810494" y="390357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100" name="Label: Transparency / log"/>
          <p:cNvSpPr txBox="1"/>
          <p:nvPr/>
        </p:nvSpPr>
        <p:spPr>
          <a:xfrm>
            <a:off x="9875519" y="435254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A2a</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Oval 12"/>
          <p:cNvSpPr/>
          <p:nvPr/>
        </p:nvSpPr>
        <p:spPr>
          <a:xfrm>
            <a:off x="914400" y="2651760"/>
            <a:ext cx="2286000" cy="228600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Editable circular flow"/>
          <p:cNvCxnSpPr/>
          <p:nvPr/>
        </p:nvCxnSpPr>
        <p:spPr>
          <a:xfrm flipH="1">
            <a:off x="941493" y="3518243"/>
            <a:ext cx="6858" cy="2912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5" name="Editable circular flow"/>
          <p:cNvCxnSpPr/>
          <p:nvPr/>
        </p:nvCxnSpPr>
        <p:spPr>
          <a:xfrm flipH="1">
            <a:off x="935400" y="3547369"/>
            <a:ext cx="6093" cy="2929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930075" y="3576665"/>
            <a:ext cx="5325" cy="2944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925523" y="3606110"/>
            <a:ext cx="4552" cy="2957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921747" y="3635685"/>
            <a:ext cx="3776" cy="2968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918749" y="3665368"/>
            <a:ext cx="2998" cy="2977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916531" y="3695140"/>
            <a:ext cx="2218" cy="29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915096" y="3724981"/>
            <a:ext cx="1435" cy="2988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V="1">
            <a:off x="2522299" y="4826414"/>
            <a:ext cx="27175" cy="1252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2549474" y="4813180"/>
            <a:ext cx="26837" cy="1323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2576311" y="4799247"/>
            <a:ext cx="26481" cy="139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2602792" y="4784627"/>
            <a:ext cx="26108" cy="1462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2628900" y="4769327"/>
            <a:ext cx="25715" cy="1530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2654615" y="4753360"/>
            <a:ext cx="25307" cy="1596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2679922" y="4736736"/>
            <a:ext cx="24880" cy="166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2704802" y="4719466"/>
            <a:ext cx="24436" cy="17270"/>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H="1" flipV="1">
            <a:off x="2784437" y="2912793"/>
            <a:ext cx="22838" cy="1933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2761101" y="2894063"/>
            <a:ext cx="23336" cy="1873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2737282" y="2875951"/>
            <a:ext cx="23819" cy="1811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2712997" y="2858469"/>
            <a:ext cx="24285" cy="1748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2688263" y="2841628"/>
            <a:ext cx="24734" cy="1684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2663097" y="2825441"/>
            <a:ext cx="25166" cy="161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2637516" y="2809917"/>
            <a:ext cx="25581" cy="1552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2611537" y="2795069"/>
            <a:ext cx="25979" cy="1484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Node: Local training"/>
          <p:cNvSpPr/>
          <p:nvPr/>
        </p:nvSpPr>
        <p:spPr>
          <a:xfrm>
            <a:off x="498348" y="2516856"/>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Label: Local training"/>
          <p:cNvSpPr txBox="1"/>
          <p:nvPr/>
        </p:nvSpPr>
        <p:spPr>
          <a:xfrm>
            <a:off x="562356" y="2544288"/>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0" name="Node: Aggregate"/>
          <p:cNvSpPr/>
          <p:nvPr/>
        </p:nvSpPr>
        <p:spPr>
          <a:xfrm>
            <a:off x="676656" y="4496591"/>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 Aggregate"/>
          <p:cNvSpPr txBox="1"/>
          <p:nvPr/>
        </p:nvSpPr>
        <p:spPr>
          <a:xfrm>
            <a:off x="740664" y="4524023"/>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2" name="Node: Global / model"/>
          <p:cNvSpPr/>
          <p:nvPr/>
        </p:nvSpPr>
        <p:spPr>
          <a:xfrm>
            <a:off x="2377440" y="3383280"/>
            <a:ext cx="1645920" cy="822960"/>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Label: Global / model"/>
          <p:cNvSpPr txBox="1"/>
          <p:nvPr/>
        </p:nvSpPr>
        <p:spPr>
          <a:xfrm>
            <a:off x="2441448" y="3410712"/>
            <a:ext cx="1517904" cy="768096"/>
          </a:xfrm>
          <a:prstGeom prst="rect">
            <a:avLst/>
          </a:prstGeom>
          <a:noFill/>
        </p:spPr>
        <p:txBody>
          <a:bodyPr wrap="square" lIns="0" rIns="0" tIns="0" bIns="0" anchor="ctr">
            <a:spAutoFit/>
          </a:bodyPr>
          <a:lstStyle/>
          <a:p>
            <a:pPr algn="ctr"/>
            <a:r>
              <a:rPr sz="1700" b="1" lang="en-US">
                <a:solidFill>
                  <a:srgbClr val="7446A6"/>
                </a:solidFill>
                <a:latin typeface="Arial"/>
              </a:rPr>
              <a:t>Global
model</a:t>
            </a:r>
          </a:p>
        </p:txBody>
      </p:sp>
      <p:sp>
        <p:nvSpPr>
          <p:cNvPr id="44" name="Label: DFL"/>
          <p:cNvSpPr txBox="1"/>
          <p:nvPr/>
        </p:nvSpPr>
        <p:spPr>
          <a:xfrm>
            <a:off x="1362456" y="3566160"/>
            <a:ext cx="1225296" cy="457200"/>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45" name="Flow"/>
          <p:cNvCxnSpPr/>
          <p:nvPr/>
        </p:nvCxnSpPr>
        <p:spPr>
          <a:xfrm>
            <a:off x="4059935" y="3794760"/>
            <a:ext cx="201169"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6" name="Flow"/>
          <p:cNvCxnSpPr/>
          <p:nvPr/>
        </p:nvCxnSpPr>
        <p:spPr>
          <a:xfrm flipV="1">
            <a:off x="4261104" y="3072384"/>
            <a:ext cx="0" cy="722376"/>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Flow"/>
          <p:cNvCxnSpPr/>
          <p:nvPr/>
        </p:nvCxnSpPr>
        <p:spPr>
          <a:xfrm>
            <a:off x="4261104" y="3072384"/>
            <a:ext cx="301752"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ow"/>
          <p:cNvCxnSpPr/>
          <p:nvPr/>
        </p:nvCxnSpPr>
        <p:spPr>
          <a:xfrm>
            <a:off x="4261104" y="3794760"/>
            <a:ext cx="0" cy="73152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9" name="Flow"/>
          <p:cNvCxnSpPr/>
          <p:nvPr/>
        </p:nvCxnSpPr>
        <p:spPr>
          <a:xfrm>
            <a:off x="4261104" y="4526280"/>
            <a:ext cx="301752"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Infrastructure: Blockchain"/>
          <p:cNvSpPr/>
          <p:nvPr/>
        </p:nvSpPr>
        <p:spPr>
          <a:xfrm>
            <a:off x="4608576" y="2660903"/>
            <a:ext cx="1993392"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abel: Blockchain"/>
          <p:cNvSpPr txBox="1"/>
          <p:nvPr/>
        </p:nvSpPr>
        <p:spPr>
          <a:xfrm>
            <a:off x="4681728" y="2761488"/>
            <a:ext cx="1847088" cy="329184"/>
          </a:xfrm>
          <a:prstGeom prst="rect">
            <a:avLst/>
          </a:prstGeom>
          <a:noFill/>
        </p:spPr>
        <p:txBody>
          <a:bodyPr wrap="square" lIns="0" rIns="0" tIns="0" bIns="0" anchor="ctr">
            <a:spAutoFit/>
          </a:bodyPr>
          <a:lstStyle/>
          <a:p>
            <a:pPr algn="ctr"/>
            <a:r>
              <a:rPr sz="1800" b="1" lang="en-US">
                <a:solidFill>
                  <a:srgbClr val="7446A6"/>
                </a:solidFill>
                <a:latin typeface="Arial"/>
              </a:rPr>
              <a:t>Blockchain</a:t>
            </a:r>
          </a:p>
        </p:txBody>
      </p:sp>
      <p:sp>
        <p:nvSpPr>
          <p:cNvPr id="52" name="Label: Model reference"/>
          <p:cNvSpPr txBox="1"/>
          <p:nvPr/>
        </p:nvSpPr>
        <p:spPr>
          <a:xfrm>
            <a:off x="4681728" y="3163824"/>
            <a:ext cx="1847088" cy="256032"/>
          </a:xfrm>
          <a:prstGeom prst="rect">
            <a:avLst/>
          </a:prstGeom>
          <a:noFill/>
        </p:spPr>
        <p:txBody>
          <a:bodyPr wrap="square" lIns="0" rIns="0" tIns="0" bIns="0" anchor="ctr">
            <a:spAutoFit/>
          </a:bodyPr>
          <a:lstStyle/>
          <a:p>
            <a:pPr algn="ctr"/>
            <a:r>
              <a:rPr sz="1300" b="0" lang="en-US">
                <a:solidFill>
                  <a:srgbClr val="7446A6"/>
                </a:solidFill>
                <a:latin typeface="Arial"/>
              </a:rPr>
              <a:t>Model reference</a:t>
            </a:r>
          </a:p>
        </p:txBody>
      </p:sp>
      <p:sp>
        <p:nvSpPr>
          <p:cNvPr id="53" name="Infrastructure: IPFS"/>
          <p:cNvSpPr/>
          <p:nvPr/>
        </p:nvSpPr>
        <p:spPr>
          <a:xfrm>
            <a:off x="4608576" y="4114800"/>
            <a:ext cx="1993392"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abel: IPFS"/>
          <p:cNvSpPr txBox="1"/>
          <p:nvPr/>
        </p:nvSpPr>
        <p:spPr>
          <a:xfrm>
            <a:off x="4681728" y="4215384"/>
            <a:ext cx="1847088" cy="329184"/>
          </a:xfrm>
          <a:prstGeom prst="rect">
            <a:avLst/>
          </a:prstGeom>
          <a:noFill/>
        </p:spPr>
        <p:txBody>
          <a:bodyPr wrap="square" lIns="0" rIns="0" tIns="0" bIns="0" anchor="ctr">
            <a:spAutoFit/>
          </a:bodyPr>
          <a:lstStyle/>
          <a:p>
            <a:pPr algn="ctr"/>
            <a:r>
              <a:rPr sz="1800" b="1" lang="en-US">
                <a:solidFill>
                  <a:srgbClr val="7446A6"/>
                </a:solidFill>
                <a:latin typeface="Arial"/>
              </a:rPr>
              <a:t>IPFS</a:t>
            </a:r>
          </a:p>
        </p:txBody>
      </p:sp>
      <p:sp>
        <p:nvSpPr>
          <p:cNvPr id="55" name="Label: Model files"/>
          <p:cNvSpPr txBox="1"/>
          <p:nvPr/>
        </p:nvSpPr>
        <p:spPr>
          <a:xfrm>
            <a:off x="4681728" y="4617720"/>
            <a:ext cx="1847088" cy="256032"/>
          </a:xfrm>
          <a:prstGeom prst="rect">
            <a:avLst/>
          </a:prstGeom>
          <a:noFill/>
        </p:spPr>
        <p:txBody>
          <a:bodyPr wrap="square" lIns="0" rIns="0" tIns="0" bIns="0" anchor="ctr">
            <a:spAutoFit/>
          </a:bodyPr>
          <a:lstStyle/>
          <a:p>
            <a:pPr algn="ctr"/>
            <a:r>
              <a:rPr sz="1300" b="0" lang="en-US">
                <a:solidFill>
                  <a:srgbClr val="7446A6"/>
                </a:solidFill>
                <a:latin typeface="Arial"/>
              </a:rPr>
              <a:t>Model files</a:t>
            </a:r>
          </a:p>
        </p:txBody>
      </p:sp>
      <p:cxnSp>
        <p:nvCxnSpPr>
          <p:cNvPr id="56" name="Flow"/>
          <p:cNvCxnSpPr/>
          <p:nvPr/>
        </p:nvCxnSpPr>
        <p:spPr>
          <a:xfrm>
            <a:off x="6638544" y="3072384"/>
            <a:ext cx="411480"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7" name="Flow"/>
          <p:cNvCxnSpPr/>
          <p:nvPr/>
        </p:nvCxnSpPr>
        <p:spPr>
          <a:xfrm>
            <a:off x="7050024" y="3072384"/>
            <a:ext cx="0" cy="493776"/>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8" name="Flow"/>
          <p:cNvCxnSpPr/>
          <p:nvPr/>
        </p:nvCxnSpPr>
        <p:spPr>
          <a:xfrm>
            <a:off x="7050024" y="3566160"/>
            <a:ext cx="292607"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ow"/>
          <p:cNvCxnSpPr/>
          <p:nvPr/>
        </p:nvCxnSpPr>
        <p:spPr>
          <a:xfrm>
            <a:off x="6638544" y="4526280"/>
            <a:ext cx="411480"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0" name="Flow"/>
          <p:cNvCxnSpPr/>
          <p:nvPr/>
        </p:nvCxnSpPr>
        <p:spPr>
          <a:xfrm flipV="1">
            <a:off x="7050024" y="4023360"/>
            <a:ext cx="0" cy="50292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1" name="Flow"/>
          <p:cNvCxnSpPr/>
          <p:nvPr/>
        </p:nvCxnSpPr>
        <p:spPr>
          <a:xfrm>
            <a:off x="7050024" y="4023360"/>
            <a:ext cx="292607" cy="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Node: Attested / inference"/>
          <p:cNvSpPr/>
          <p:nvPr/>
        </p:nvSpPr>
        <p:spPr>
          <a:xfrm>
            <a:off x="7388352" y="3314700"/>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Label: Attested / inference"/>
          <p:cNvSpPr txBox="1"/>
          <p:nvPr/>
        </p:nvSpPr>
        <p:spPr>
          <a:xfrm>
            <a:off x="7452360" y="3342132"/>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64" name="Oval 63"/>
          <p:cNvSpPr/>
          <p:nvPr/>
        </p:nvSpPr>
        <p:spPr>
          <a:xfrm>
            <a:off x="7854696" y="1371600"/>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8091525" y="1655064"/>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8186348"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349569" y="1757659"/>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8" name="Flow"/>
          <p:cNvCxnSpPr/>
          <p:nvPr/>
        </p:nvCxnSpPr>
        <p:spPr>
          <a:xfrm>
            <a:off x="8223656" y="1888236"/>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69" name="Flow"/>
          <p:cNvCxnSpPr/>
          <p:nvPr/>
        </p:nvCxnSpPr>
        <p:spPr>
          <a:xfrm flipV="1">
            <a:off x="8293608" y="1569567"/>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8262518" y="1507388"/>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Label: Agent"/>
          <p:cNvSpPr txBox="1"/>
          <p:nvPr/>
        </p:nvSpPr>
        <p:spPr>
          <a:xfrm>
            <a:off x="7242048" y="2368296"/>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72" name="Flow"/>
          <p:cNvCxnSpPr/>
          <p:nvPr/>
        </p:nvCxnSpPr>
        <p:spPr>
          <a:xfrm>
            <a:off x="8065008" y="2743200"/>
            <a:ext cx="0" cy="51206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Label: MCP"/>
          <p:cNvSpPr txBox="1"/>
          <p:nvPr/>
        </p:nvSpPr>
        <p:spPr>
          <a:xfrm>
            <a:off x="7397496" y="2862072"/>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4" name="Flow"/>
          <p:cNvCxnSpPr/>
          <p:nvPr/>
        </p:nvCxnSpPr>
        <p:spPr>
          <a:xfrm flipV="1">
            <a:off x="8540496" y="2743200"/>
            <a:ext cx="0" cy="51206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Label: Result"/>
          <p:cNvSpPr txBox="1"/>
          <p:nvPr/>
        </p:nvSpPr>
        <p:spPr>
          <a:xfrm>
            <a:off x="8668512" y="2862072"/>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6" name="Flow"/>
          <p:cNvCxnSpPr/>
          <p:nvPr/>
        </p:nvCxnSpPr>
        <p:spPr>
          <a:xfrm>
            <a:off x="9244584" y="3794760"/>
            <a:ext cx="1115568"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Label: Tool receipt"/>
          <p:cNvSpPr txBox="1"/>
          <p:nvPr/>
        </p:nvSpPr>
        <p:spPr>
          <a:xfrm>
            <a:off x="9281160" y="3328416"/>
            <a:ext cx="1115568"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78" name="Oval 77"/>
          <p:cNvSpPr/>
          <p:nvPr/>
        </p:nvSpPr>
        <p:spPr>
          <a:xfrm>
            <a:off x="10433304" y="335584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755630" y="347609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716768" y="351495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677906" y="3553815"/>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2" name="Flow"/>
          <p:cNvCxnSpPr/>
          <p:nvPr/>
        </p:nvCxnSpPr>
        <p:spPr>
          <a:xfrm>
            <a:off x="10755630" y="3685946"/>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3" name="Flow"/>
          <p:cNvCxnSpPr/>
          <p:nvPr/>
        </p:nvCxnSpPr>
        <p:spPr>
          <a:xfrm>
            <a:off x="10755630" y="3794760"/>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4" name="Flow"/>
          <p:cNvCxnSpPr/>
          <p:nvPr/>
        </p:nvCxnSpPr>
        <p:spPr>
          <a:xfrm>
            <a:off x="10755630" y="3903573"/>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5" name="Label: Transparency / log"/>
          <p:cNvSpPr txBox="1"/>
          <p:nvPr/>
        </p:nvSpPr>
        <p:spPr>
          <a:xfrm>
            <a:off x="9820656" y="4352544"/>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VITA-FL: from training to verifiable use</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91440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Concept A2b</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20 September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3" name="Rounded Rectangle 12"/>
          <p:cNvSpPr/>
          <p:nvPr/>
        </p:nvSpPr>
        <p:spPr>
          <a:xfrm>
            <a:off x="4224528" y="4389120"/>
            <a:ext cx="3922776" cy="978408"/>
          </a:xfrm>
          <a:prstGeom prst="roundRect">
            <a:avLst/>
          </a:prstGeom>
          <a:solidFill>
            <a:srgbClr val="F8F5FB"/>
          </a:solidFill>
          <a:ln w="10795">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2532888"/>
            <a:ext cx="2103120" cy="2103120"/>
          </a:xfrm>
          <a:prstGeom prst="ellipse">
            <a:avLst/>
          </a:prstGeom>
          <a:solidFill>
            <a:srgbClr val="FFFFFF"/>
          </a:solidFill>
          <a:ln w="2857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Editable circular flow"/>
          <p:cNvCxnSpPr/>
          <p:nvPr/>
        </p:nvCxnSpPr>
        <p:spPr>
          <a:xfrm flipH="1">
            <a:off x="1003334" y="3330052"/>
            <a:ext cx="6309" cy="2679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6" name="Editable circular flow"/>
          <p:cNvCxnSpPr/>
          <p:nvPr/>
        </p:nvCxnSpPr>
        <p:spPr>
          <a:xfrm flipH="1">
            <a:off x="997728" y="3356848"/>
            <a:ext cx="5606" cy="26952"/>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7" name="Editable circular flow"/>
          <p:cNvCxnSpPr/>
          <p:nvPr/>
        </p:nvCxnSpPr>
        <p:spPr>
          <a:xfrm flipH="1">
            <a:off x="992829" y="3383800"/>
            <a:ext cx="4899" cy="2709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8" name="Editable circular flow"/>
          <p:cNvCxnSpPr/>
          <p:nvPr/>
        </p:nvCxnSpPr>
        <p:spPr>
          <a:xfrm flipH="1">
            <a:off x="988641" y="3410890"/>
            <a:ext cx="4188" cy="2720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19" name="Editable circular flow"/>
          <p:cNvCxnSpPr/>
          <p:nvPr/>
        </p:nvCxnSpPr>
        <p:spPr>
          <a:xfrm flipH="1">
            <a:off x="985167" y="3438099"/>
            <a:ext cx="3474" cy="27309"/>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0" name="Editable circular flow"/>
          <p:cNvCxnSpPr/>
          <p:nvPr/>
        </p:nvCxnSpPr>
        <p:spPr>
          <a:xfrm flipH="1">
            <a:off x="982409" y="3465408"/>
            <a:ext cx="2758" cy="2739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1" name="Editable circular flow"/>
          <p:cNvCxnSpPr/>
          <p:nvPr/>
        </p:nvCxnSpPr>
        <p:spPr>
          <a:xfrm flipH="1">
            <a:off x="980369" y="3492798"/>
            <a:ext cx="2040" cy="2745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2" name="Editable circular flow"/>
          <p:cNvCxnSpPr/>
          <p:nvPr/>
        </p:nvCxnSpPr>
        <p:spPr>
          <a:xfrm flipH="1">
            <a:off x="979048" y="3520251"/>
            <a:ext cx="1321" cy="27498"/>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Editable circular flow"/>
          <p:cNvCxnSpPr/>
          <p:nvPr/>
        </p:nvCxnSpPr>
        <p:spPr>
          <a:xfrm flipV="1">
            <a:off x="2457675" y="4533570"/>
            <a:ext cx="25001" cy="1152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4" name="Editable circular flow"/>
          <p:cNvCxnSpPr/>
          <p:nvPr/>
        </p:nvCxnSpPr>
        <p:spPr>
          <a:xfrm flipV="1">
            <a:off x="2482676" y="4521394"/>
            <a:ext cx="24690" cy="12176"/>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5" name="Editable circular flow"/>
          <p:cNvCxnSpPr/>
          <p:nvPr/>
        </p:nvCxnSpPr>
        <p:spPr>
          <a:xfrm flipV="1">
            <a:off x="2507366" y="4508576"/>
            <a:ext cx="24363" cy="12818"/>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6" name="Editable circular flow"/>
          <p:cNvCxnSpPr/>
          <p:nvPr/>
        </p:nvCxnSpPr>
        <p:spPr>
          <a:xfrm flipV="1">
            <a:off x="2531729" y="4495125"/>
            <a:ext cx="24019" cy="1345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7" name="Editable circular flow"/>
          <p:cNvCxnSpPr/>
          <p:nvPr/>
        </p:nvCxnSpPr>
        <p:spPr>
          <a:xfrm flipV="1">
            <a:off x="2555748" y="4481050"/>
            <a:ext cx="23658" cy="14075"/>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8" name="Editable circular flow"/>
          <p:cNvCxnSpPr/>
          <p:nvPr/>
        </p:nvCxnSpPr>
        <p:spPr>
          <a:xfrm flipV="1">
            <a:off x="2579406" y="4466360"/>
            <a:ext cx="23282" cy="14690"/>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29" name="Editable circular flow"/>
          <p:cNvCxnSpPr/>
          <p:nvPr/>
        </p:nvCxnSpPr>
        <p:spPr>
          <a:xfrm flipV="1">
            <a:off x="2602688" y="4451066"/>
            <a:ext cx="22890" cy="1529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0" name="Editable circular flow"/>
          <p:cNvCxnSpPr/>
          <p:nvPr/>
        </p:nvCxnSpPr>
        <p:spPr>
          <a:xfrm flipV="1">
            <a:off x="2625578" y="4435177"/>
            <a:ext cx="22481" cy="15889"/>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Editable circular flow"/>
          <p:cNvCxnSpPr/>
          <p:nvPr/>
        </p:nvCxnSpPr>
        <p:spPr>
          <a:xfrm flipH="1" flipV="1">
            <a:off x="2698842" y="2773038"/>
            <a:ext cx="21011" cy="17787"/>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2" name="Editable circular flow"/>
          <p:cNvCxnSpPr/>
          <p:nvPr/>
        </p:nvCxnSpPr>
        <p:spPr>
          <a:xfrm flipH="1" flipV="1">
            <a:off x="2677372" y="2755807"/>
            <a:ext cx="21470" cy="1723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3" name="Editable circular flow"/>
          <p:cNvCxnSpPr/>
          <p:nvPr/>
        </p:nvCxnSpPr>
        <p:spPr>
          <a:xfrm flipH="1" flipV="1">
            <a:off x="2655459" y="2739144"/>
            <a:ext cx="21913" cy="1666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4" name="Editable circular flow"/>
          <p:cNvCxnSpPr/>
          <p:nvPr/>
        </p:nvCxnSpPr>
        <p:spPr>
          <a:xfrm flipH="1" flipV="1">
            <a:off x="2633118" y="2723060"/>
            <a:ext cx="22341" cy="16084"/>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5" name="Editable circular flow"/>
          <p:cNvCxnSpPr/>
          <p:nvPr/>
        </p:nvCxnSpPr>
        <p:spPr>
          <a:xfrm flipH="1" flipV="1">
            <a:off x="2610362" y="2707567"/>
            <a:ext cx="22756" cy="1549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6" name="Editable circular flow"/>
          <p:cNvCxnSpPr/>
          <p:nvPr/>
        </p:nvCxnSpPr>
        <p:spPr>
          <a:xfrm flipH="1" flipV="1">
            <a:off x="2587209" y="2692674"/>
            <a:ext cx="23153" cy="14893"/>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7" name="Editable circular flow"/>
          <p:cNvCxnSpPr/>
          <p:nvPr/>
        </p:nvCxnSpPr>
        <p:spPr>
          <a:xfrm flipH="1" flipV="1">
            <a:off x="2563675" y="2678393"/>
            <a:ext cx="23534" cy="14281"/>
          </a:xfrm>
          <a:prstGeom prst="line">
            <a:avLst/>
          </a:prstGeom>
          <a:ln w="29209">
            <a:solidFill>
              <a:srgbClr val="207548"/>
            </a:solidFill>
          </a:ln>
        </p:spPr>
        <p:style>
          <a:lnRef idx="2">
            <a:schemeClr val="accent1"/>
          </a:lnRef>
          <a:fillRef idx="0">
            <a:schemeClr val="accent1"/>
          </a:fillRef>
          <a:effectRef idx="1">
            <a:schemeClr val="accent1"/>
          </a:effectRef>
          <a:fontRef idx="minor">
            <a:schemeClr val="tx1"/>
          </a:fontRef>
        </p:style>
      </p:cxnSp>
      <p:cxnSp>
        <p:nvCxnSpPr>
          <p:cNvPr id="38" name="Editable circular flow"/>
          <p:cNvCxnSpPr/>
          <p:nvPr/>
        </p:nvCxnSpPr>
        <p:spPr>
          <a:xfrm flipH="1" flipV="1">
            <a:off x="2539774" y="2664732"/>
            <a:ext cx="23901" cy="13661"/>
          </a:xfrm>
          <a:prstGeom prst="line">
            <a:avLst/>
          </a:prstGeom>
          <a:ln w="29209">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Node: Local training"/>
          <p:cNvSpPr/>
          <p:nvPr/>
        </p:nvSpPr>
        <p:spPr>
          <a:xfrm>
            <a:off x="516636" y="2385734"/>
            <a:ext cx="1975104"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Label: Local training"/>
          <p:cNvSpPr txBox="1"/>
          <p:nvPr/>
        </p:nvSpPr>
        <p:spPr>
          <a:xfrm>
            <a:off x="580644" y="2413166"/>
            <a:ext cx="1847088" cy="521208"/>
          </a:xfrm>
          <a:prstGeom prst="rect">
            <a:avLst/>
          </a:prstGeom>
          <a:noFill/>
        </p:spPr>
        <p:txBody>
          <a:bodyPr wrap="square" lIns="0" rIns="0" tIns="0" bIns="0" anchor="ctr">
            <a:spAutoFit/>
          </a:bodyPr>
          <a:lstStyle/>
          <a:p>
            <a:pPr algn="ctr"/>
            <a:r>
              <a:rPr sz="1700" b="1" lang="en-US">
                <a:solidFill>
                  <a:srgbClr val="207548"/>
                </a:solidFill>
                <a:latin typeface="Arial"/>
              </a:rPr>
              <a:t>Local training</a:t>
            </a:r>
          </a:p>
        </p:txBody>
      </p:sp>
      <p:sp>
        <p:nvSpPr>
          <p:cNvPr id="41" name="Node: Aggregate"/>
          <p:cNvSpPr/>
          <p:nvPr/>
        </p:nvSpPr>
        <p:spPr>
          <a:xfrm>
            <a:off x="694944" y="4207089"/>
            <a:ext cx="1618488" cy="576072"/>
          </a:xfrm>
          <a:prstGeom prst="roundRect">
            <a:avLst/>
          </a:prstGeom>
          <a:solidFill>
            <a:srgbClr val="FFFFFF"/>
          </a:solidFill>
          <a:ln w="1778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Label: Aggregate"/>
          <p:cNvSpPr txBox="1"/>
          <p:nvPr/>
        </p:nvSpPr>
        <p:spPr>
          <a:xfrm>
            <a:off x="758952" y="4234521"/>
            <a:ext cx="1490472" cy="521208"/>
          </a:xfrm>
          <a:prstGeom prst="rect">
            <a:avLst/>
          </a:prstGeom>
          <a:noFill/>
        </p:spPr>
        <p:txBody>
          <a:bodyPr wrap="square" lIns="0" rIns="0" tIns="0" bIns="0" anchor="ctr">
            <a:spAutoFit/>
          </a:bodyPr>
          <a:lstStyle/>
          <a:p>
            <a:pPr algn="ctr"/>
            <a:r>
              <a:rPr sz="1700" b="1" lang="en-US">
                <a:solidFill>
                  <a:srgbClr val="207548"/>
                </a:solidFill>
                <a:latin typeface="Arial"/>
              </a:rPr>
              <a:t>Aggregate</a:t>
            </a:r>
          </a:p>
        </p:txBody>
      </p:sp>
      <p:sp>
        <p:nvSpPr>
          <p:cNvPr id="43" name="Node: Global / model"/>
          <p:cNvSpPr/>
          <p:nvPr/>
        </p:nvSpPr>
        <p:spPr>
          <a:xfrm>
            <a:off x="2258568" y="3172968"/>
            <a:ext cx="1645920" cy="822960"/>
          </a:xfrm>
          <a:prstGeom prst="roundRect">
            <a:avLst/>
          </a:prstGeom>
          <a:solidFill>
            <a:srgbClr val="F3EEF8"/>
          </a:solidFill>
          <a:ln w="1778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abel: Global / model"/>
          <p:cNvSpPr txBox="1"/>
          <p:nvPr/>
        </p:nvSpPr>
        <p:spPr>
          <a:xfrm>
            <a:off x="2322576" y="3200399"/>
            <a:ext cx="1517904" cy="768096"/>
          </a:xfrm>
          <a:prstGeom prst="rect">
            <a:avLst/>
          </a:prstGeom>
          <a:noFill/>
        </p:spPr>
        <p:txBody>
          <a:bodyPr wrap="square" lIns="0" rIns="0" tIns="0" bIns="0" anchor="ctr">
            <a:spAutoFit/>
          </a:bodyPr>
          <a:lstStyle/>
          <a:p>
            <a:pPr algn="ctr"/>
            <a:r>
              <a:rPr sz="1700" b="1" lang="en-US">
                <a:solidFill>
                  <a:srgbClr val="7446A6"/>
                </a:solidFill>
                <a:latin typeface="Arial"/>
              </a:rPr>
              <a:t>Global
model</a:t>
            </a:r>
          </a:p>
        </p:txBody>
      </p:sp>
      <p:sp>
        <p:nvSpPr>
          <p:cNvPr id="45" name="Label: DFL"/>
          <p:cNvSpPr txBox="1"/>
          <p:nvPr/>
        </p:nvSpPr>
        <p:spPr>
          <a:xfrm>
            <a:off x="1197864" y="3355848"/>
            <a:ext cx="1225296" cy="457200"/>
          </a:xfrm>
          <a:prstGeom prst="rect">
            <a:avLst/>
          </a:prstGeom>
          <a:noFill/>
        </p:spPr>
        <p:txBody>
          <a:bodyPr wrap="square" lIns="0" rIns="0" tIns="0" bIns="0" anchor="ctr">
            <a:spAutoFit/>
          </a:bodyPr>
          <a:lstStyle/>
          <a:p>
            <a:pPr algn="ctr"/>
            <a:r>
              <a:rPr sz="2600" b="1" lang="en-US">
                <a:solidFill>
                  <a:srgbClr val="207548"/>
                </a:solidFill>
                <a:latin typeface="Arial"/>
              </a:rPr>
              <a:t>DFL</a:t>
            </a:r>
          </a:p>
        </p:txBody>
      </p:sp>
      <p:cxnSp>
        <p:nvCxnSpPr>
          <p:cNvPr id="46" name="Flow"/>
          <p:cNvCxnSpPr/>
          <p:nvPr/>
        </p:nvCxnSpPr>
        <p:spPr>
          <a:xfrm>
            <a:off x="3941064" y="3584448"/>
            <a:ext cx="155448"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47" name="Flow"/>
          <p:cNvCxnSpPr/>
          <p:nvPr/>
        </p:nvCxnSpPr>
        <p:spPr>
          <a:xfrm>
            <a:off x="4096512" y="3584448"/>
            <a:ext cx="0" cy="1901952"/>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sp>
        <p:nvSpPr>
          <p:cNvPr id="48" name="Label: Publish"/>
          <p:cNvSpPr txBox="1"/>
          <p:nvPr/>
        </p:nvSpPr>
        <p:spPr>
          <a:xfrm>
            <a:off x="4224528" y="3685032"/>
            <a:ext cx="1060704" cy="301752"/>
          </a:xfrm>
          <a:prstGeom prst="rect">
            <a:avLst/>
          </a:prstGeom>
          <a:noFill/>
        </p:spPr>
        <p:txBody>
          <a:bodyPr wrap="square" lIns="0" rIns="0" tIns="0" bIns="0" anchor="ctr">
            <a:spAutoFit/>
          </a:bodyPr>
          <a:lstStyle/>
          <a:p>
            <a:pPr algn="ctr"/>
            <a:r>
              <a:rPr sz="1600" b="0" lang="en-US">
                <a:solidFill>
                  <a:srgbClr val="7446A6"/>
                </a:solidFill>
                <a:latin typeface="Arial"/>
              </a:rPr>
              <a:t>Publish</a:t>
            </a:r>
          </a:p>
        </p:txBody>
      </p:sp>
      <p:cxnSp>
        <p:nvCxnSpPr>
          <p:cNvPr id="49" name="Flow"/>
          <p:cNvCxnSpPr/>
          <p:nvPr/>
        </p:nvCxnSpPr>
        <p:spPr>
          <a:xfrm>
            <a:off x="4096512" y="5486400"/>
            <a:ext cx="1143000"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0" name="Flow"/>
          <p:cNvCxnSpPr/>
          <p:nvPr/>
        </p:nvCxnSpPr>
        <p:spPr>
          <a:xfrm flipV="1">
            <a:off x="5239512" y="5349240"/>
            <a:ext cx="0" cy="13716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Flow"/>
          <p:cNvCxnSpPr/>
          <p:nvPr/>
        </p:nvCxnSpPr>
        <p:spPr>
          <a:xfrm>
            <a:off x="4096512" y="5486400"/>
            <a:ext cx="3154680" cy="0"/>
          </a:xfrm>
          <a:prstGeom prst="line">
            <a:avLst/>
          </a:prstGeom>
          <a:ln w="2540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52" name="Flow"/>
          <p:cNvCxnSpPr/>
          <p:nvPr/>
        </p:nvCxnSpPr>
        <p:spPr>
          <a:xfrm flipV="1">
            <a:off x="7251192" y="5349240"/>
            <a:ext cx="0" cy="137160"/>
          </a:xfrm>
          <a:prstGeom prst="line">
            <a:avLst/>
          </a:prstGeom>
          <a:ln w="2540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Infrastructure: Blockchain"/>
          <p:cNvSpPr/>
          <p:nvPr/>
        </p:nvSpPr>
        <p:spPr>
          <a:xfrm>
            <a:off x="4334256" y="4480559"/>
            <a:ext cx="1810512"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Label: Blockchain"/>
          <p:cNvSpPr txBox="1"/>
          <p:nvPr/>
        </p:nvSpPr>
        <p:spPr>
          <a:xfrm>
            <a:off x="4407408" y="4581144"/>
            <a:ext cx="1664208" cy="329184"/>
          </a:xfrm>
          <a:prstGeom prst="rect">
            <a:avLst/>
          </a:prstGeom>
          <a:noFill/>
        </p:spPr>
        <p:txBody>
          <a:bodyPr wrap="square" lIns="0" rIns="0" tIns="0" bIns="0" anchor="ctr">
            <a:spAutoFit/>
          </a:bodyPr>
          <a:lstStyle/>
          <a:p>
            <a:pPr algn="ctr"/>
            <a:r>
              <a:rPr sz="1800" b="1" lang="en-US">
                <a:solidFill>
                  <a:srgbClr val="7446A6"/>
                </a:solidFill>
                <a:latin typeface="Arial"/>
              </a:rPr>
              <a:t>Blockchain</a:t>
            </a:r>
          </a:p>
        </p:txBody>
      </p:sp>
      <p:sp>
        <p:nvSpPr>
          <p:cNvPr id="55" name="Label: Model reference"/>
          <p:cNvSpPr txBox="1"/>
          <p:nvPr/>
        </p:nvSpPr>
        <p:spPr>
          <a:xfrm>
            <a:off x="4407408" y="4983479"/>
            <a:ext cx="1664208" cy="256032"/>
          </a:xfrm>
          <a:prstGeom prst="rect">
            <a:avLst/>
          </a:prstGeom>
          <a:noFill/>
        </p:spPr>
        <p:txBody>
          <a:bodyPr wrap="square" lIns="0" rIns="0" tIns="0" bIns="0" anchor="ctr">
            <a:spAutoFit/>
          </a:bodyPr>
          <a:lstStyle/>
          <a:p>
            <a:pPr algn="ctr"/>
            <a:r>
              <a:rPr sz="1300" b="0" lang="en-US">
                <a:solidFill>
                  <a:srgbClr val="7446A6"/>
                </a:solidFill>
                <a:latin typeface="Arial"/>
              </a:rPr>
              <a:t>Model reference</a:t>
            </a:r>
          </a:p>
        </p:txBody>
      </p:sp>
      <p:sp>
        <p:nvSpPr>
          <p:cNvPr id="56" name="Infrastructure: IPFS"/>
          <p:cNvSpPr/>
          <p:nvPr/>
        </p:nvSpPr>
        <p:spPr>
          <a:xfrm>
            <a:off x="6446520" y="4480559"/>
            <a:ext cx="1609344" cy="822960"/>
          </a:xfrm>
          <a:prstGeom prst="roundRect">
            <a:avLst/>
          </a:prstGeom>
          <a:solidFill>
            <a:srgbClr val="FFFFFF"/>
          </a:solidFill>
          <a:ln w="1651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Label: IPFS"/>
          <p:cNvSpPr txBox="1"/>
          <p:nvPr/>
        </p:nvSpPr>
        <p:spPr>
          <a:xfrm>
            <a:off x="6519672" y="4581144"/>
            <a:ext cx="1463040" cy="329184"/>
          </a:xfrm>
          <a:prstGeom prst="rect">
            <a:avLst/>
          </a:prstGeom>
          <a:noFill/>
        </p:spPr>
        <p:txBody>
          <a:bodyPr wrap="square" lIns="0" rIns="0" tIns="0" bIns="0" anchor="ctr">
            <a:spAutoFit/>
          </a:bodyPr>
          <a:lstStyle/>
          <a:p>
            <a:pPr algn="ctr"/>
            <a:r>
              <a:rPr sz="1800" b="1" lang="en-US">
                <a:solidFill>
                  <a:srgbClr val="7446A6"/>
                </a:solidFill>
                <a:latin typeface="Arial"/>
              </a:rPr>
              <a:t>IPFS</a:t>
            </a:r>
          </a:p>
        </p:txBody>
      </p:sp>
      <p:sp>
        <p:nvSpPr>
          <p:cNvPr id="58" name="Label: Model files"/>
          <p:cNvSpPr txBox="1"/>
          <p:nvPr/>
        </p:nvSpPr>
        <p:spPr>
          <a:xfrm>
            <a:off x="6519672" y="4983479"/>
            <a:ext cx="1463040" cy="256032"/>
          </a:xfrm>
          <a:prstGeom prst="rect">
            <a:avLst/>
          </a:prstGeom>
          <a:noFill/>
        </p:spPr>
        <p:txBody>
          <a:bodyPr wrap="square" lIns="0" rIns="0" tIns="0" bIns="0" anchor="ctr">
            <a:spAutoFit/>
          </a:bodyPr>
          <a:lstStyle/>
          <a:p>
            <a:pPr algn="ctr"/>
            <a:r>
              <a:rPr sz="1300" b="0" lang="en-US">
                <a:solidFill>
                  <a:srgbClr val="7446A6"/>
                </a:solidFill>
                <a:latin typeface="Arial"/>
              </a:rPr>
              <a:t>Model files</a:t>
            </a:r>
          </a:p>
        </p:txBody>
      </p:sp>
      <p:cxnSp>
        <p:nvCxnSpPr>
          <p:cNvPr id="59" name="Flow"/>
          <p:cNvCxnSpPr/>
          <p:nvPr/>
        </p:nvCxnSpPr>
        <p:spPr>
          <a:xfrm flipV="1">
            <a:off x="5239512" y="4233672"/>
            <a:ext cx="0" cy="210312"/>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0" name="Flow"/>
          <p:cNvCxnSpPr/>
          <p:nvPr/>
        </p:nvCxnSpPr>
        <p:spPr>
          <a:xfrm>
            <a:off x="5239512" y="4233672"/>
            <a:ext cx="2706624"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1" name="Flow"/>
          <p:cNvCxnSpPr/>
          <p:nvPr/>
        </p:nvCxnSpPr>
        <p:spPr>
          <a:xfrm flipV="1">
            <a:off x="7946136" y="4114800"/>
            <a:ext cx="0" cy="118872"/>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ow"/>
          <p:cNvCxnSpPr/>
          <p:nvPr/>
        </p:nvCxnSpPr>
        <p:spPr>
          <a:xfrm flipV="1">
            <a:off x="7251192" y="4343400"/>
            <a:ext cx="0" cy="100584"/>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3" name="Flow"/>
          <p:cNvCxnSpPr/>
          <p:nvPr/>
        </p:nvCxnSpPr>
        <p:spPr>
          <a:xfrm>
            <a:off x="7251192" y="4343400"/>
            <a:ext cx="1371600" cy="0"/>
          </a:xfrm>
          <a:prstGeom prst="line">
            <a:avLst/>
          </a:prstGeom>
          <a:ln w="26670">
            <a:solidFill>
              <a:srgbClr val="7446A6"/>
            </a:solidFill>
          </a:ln>
        </p:spPr>
        <p:style>
          <a:lnRef idx="2">
            <a:schemeClr val="accent1"/>
          </a:lnRef>
          <a:fillRef idx="0">
            <a:schemeClr val="accent1"/>
          </a:fillRef>
          <a:effectRef idx="1">
            <a:schemeClr val="accent1"/>
          </a:effectRef>
          <a:fontRef idx="minor">
            <a:schemeClr val="tx1"/>
          </a:fontRef>
        </p:style>
      </p:cxnSp>
      <p:cxnSp>
        <p:nvCxnSpPr>
          <p:cNvPr id="64" name="Flow"/>
          <p:cNvCxnSpPr/>
          <p:nvPr/>
        </p:nvCxnSpPr>
        <p:spPr>
          <a:xfrm flipV="1">
            <a:off x="8622792" y="4114800"/>
            <a:ext cx="0" cy="228600"/>
          </a:xfrm>
          <a:prstGeom prst="line">
            <a:avLst/>
          </a:prstGeom>
          <a:ln w="26670">
            <a:solidFill>
              <a:srgbClr val="7446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Node: Attested / inference"/>
          <p:cNvSpPr/>
          <p:nvPr/>
        </p:nvSpPr>
        <p:spPr>
          <a:xfrm>
            <a:off x="7379208" y="3104388"/>
            <a:ext cx="1810512" cy="960120"/>
          </a:xfrm>
          <a:prstGeom prst="roundRect">
            <a:avLst/>
          </a:prstGeom>
          <a:solidFill>
            <a:srgbClr val="EDF4FA"/>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Label: Attested / inference"/>
          <p:cNvSpPr txBox="1"/>
          <p:nvPr/>
        </p:nvSpPr>
        <p:spPr>
          <a:xfrm>
            <a:off x="7443216" y="3131820"/>
            <a:ext cx="1682495" cy="905256"/>
          </a:xfrm>
          <a:prstGeom prst="rect">
            <a:avLst/>
          </a:prstGeom>
          <a:noFill/>
        </p:spPr>
        <p:txBody>
          <a:bodyPr wrap="square" lIns="0" rIns="0" tIns="0" bIns="0" anchor="ctr">
            <a:spAutoFit/>
          </a:bodyPr>
          <a:lstStyle/>
          <a:p>
            <a:pPr algn="ctr"/>
            <a:r>
              <a:rPr sz="2000" b="1" lang="en-US">
                <a:solidFill>
                  <a:srgbClr val="1764A1"/>
                </a:solidFill>
                <a:latin typeface="Arial"/>
              </a:rPr>
              <a:t>Attested
inference</a:t>
            </a:r>
          </a:p>
        </p:txBody>
      </p:sp>
      <p:sp>
        <p:nvSpPr>
          <p:cNvPr id="67" name="Oval 66"/>
          <p:cNvSpPr/>
          <p:nvPr/>
        </p:nvSpPr>
        <p:spPr>
          <a:xfrm>
            <a:off x="7845552" y="1252728"/>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8082381" y="1536192"/>
            <a:ext cx="404164" cy="303123"/>
          </a:xfrm>
          <a:prstGeom prst="roundRect">
            <a:avLst/>
          </a:prstGeom>
          <a:solidFill>
            <a:srgbClr val="FFFFFF"/>
          </a:solidFill>
          <a:ln w="1778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177204" y="1638787"/>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340425" y="1638787"/>
            <a:ext cx="51297" cy="51297"/>
          </a:xfrm>
          <a:prstGeom prst="ellipse">
            <a:avLst/>
          </a:prstGeom>
          <a:solidFill>
            <a:srgbClr val="1764A1"/>
          </a:solidFill>
          <a:ln w="1016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Flow"/>
          <p:cNvCxnSpPr/>
          <p:nvPr/>
        </p:nvCxnSpPr>
        <p:spPr>
          <a:xfrm>
            <a:off x="8214512" y="1769364"/>
            <a:ext cx="139903"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72" name="Flow"/>
          <p:cNvCxnSpPr/>
          <p:nvPr/>
        </p:nvCxnSpPr>
        <p:spPr>
          <a:xfrm flipV="1">
            <a:off x="8284464" y="1450695"/>
            <a:ext cx="0" cy="85497"/>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8253374" y="1388516"/>
            <a:ext cx="62179" cy="62179"/>
          </a:xfrm>
          <a:prstGeom prst="ellipse">
            <a:avLst/>
          </a:prstGeom>
          <a:solidFill>
            <a:srgbClr val="FFFFFF"/>
          </a:solidFill>
          <a:ln w="1397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Label: Agent"/>
          <p:cNvSpPr txBox="1"/>
          <p:nvPr/>
        </p:nvSpPr>
        <p:spPr>
          <a:xfrm>
            <a:off x="7232904" y="2249424"/>
            <a:ext cx="2103120" cy="347472"/>
          </a:xfrm>
          <a:prstGeom prst="rect">
            <a:avLst/>
          </a:prstGeom>
          <a:noFill/>
        </p:spPr>
        <p:txBody>
          <a:bodyPr wrap="square" lIns="0" rIns="0" tIns="0" bIns="0" anchor="ctr">
            <a:spAutoFit/>
          </a:bodyPr>
          <a:lstStyle/>
          <a:p>
            <a:pPr algn="ctr"/>
            <a:r>
              <a:rPr sz="1900" b="1" lang="en-US">
                <a:solidFill>
                  <a:srgbClr val="1764A1"/>
                </a:solidFill>
                <a:latin typeface="Arial"/>
              </a:rPr>
              <a:t>Agent</a:t>
            </a:r>
          </a:p>
        </p:txBody>
      </p:sp>
      <p:cxnSp>
        <p:nvCxnSpPr>
          <p:cNvPr id="75" name="Flow"/>
          <p:cNvCxnSpPr/>
          <p:nvPr/>
        </p:nvCxnSpPr>
        <p:spPr>
          <a:xfrm>
            <a:off x="8055864" y="2624328"/>
            <a:ext cx="0" cy="420624"/>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Label: MCP"/>
          <p:cNvSpPr txBox="1"/>
          <p:nvPr/>
        </p:nvSpPr>
        <p:spPr>
          <a:xfrm>
            <a:off x="7388352" y="2697480"/>
            <a:ext cx="594360" cy="274320"/>
          </a:xfrm>
          <a:prstGeom prst="rect">
            <a:avLst/>
          </a:prstGeom>
          <a:noFill/>
        </p:spPr>
        <p:txBody>
          <a:bodyPr wrap="square" lIns="0" rIns="0" tIns="0" bIns="0" anchor="ctr">
            <a:spAutoFit/>
          </a:bodyPr>
          <a:lstStyle/>
          <a:p>
            <a:pPr algn="ctr"/>
            <a:r>
              <a:rPr sz="1600" b="1" lang="en-US">
                <a:solidFill>
                  <a:srgbClr val="1764A1"/>
                </a:solidFill>
                <a:latin typeface="Arial"/>
              </a:rPr>
              <a:t>MCP</a:t>
            </a:r>
          </a:p>
        </p:txBody>
      </p:sp>
      <p:cxnSp>
        <p:nvCxnSpPr>
          <p:cNvPr id="77" name="Flow"/>
          <p:cNvCxnSpPr/>
          <p:nvPr/>
        </p:nvCxnSpPr>
        <p:spPr>
          <a:xfrm flipV="1">
            <a:off x="8531352" y="2624328"/>
            <a:ext cx="0" cy="420624"/>
          </a:xfrm>
          <a:prstGeom prst="line">
            <a:avLst/>
          </a:prstGeom>
          <a:ln w="1905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8" name="Label: Result"/>
          <p:cNvSpPr txBox="1"/>
          <p:nvPr/>
        </p:nvSpPr>
        <p:spPr>
          <a:xfrm>
            <a:off x="8659368" y="2697480"/>
            <a:ext cx="722376" cy="274320"/>
          </a:xfrm>
          <a:prstGeom prst="rect">
            <a:avLst/>
          </a:prstGeom>
          <a:noFill/>
        </p:spPr>
        <p:txBody>
          <a:bodyPr wrap="square" lIns="0" rIns="0" tIns="0" bIns="0" anchor="ctr">
            <a:spAutoFit/>
          </a:bodyPr>
          <a:lstStyle/>
          <a:p>
            <a:pPr algn="ctr"/>
            <a:r>
              <a:rPr sz="1400" b="0" lang="en-US">
                <a:solidFill>
                  <a:srgbClr val="67747C"/>
                </a:solidFill>
                <a:latin typeface="Arial"/>
              </a:rPr>
              <a:t>Result</a:t>
            </a:r>
          </a:p>
        </p:txBody>
      </p:sp>
      <p:cxnSp>
        <p:nvCxnSpPr>
          <p:cNvPr id="79" name="Flow"/>
          <p:cNvCxnSpPr/>
          <p:nvPr/>
        </p:nvCxnSpPr>
        <p:spPr>
          <a:xfrm>
            <a:off x="9235440" y="3584448"/>
            <a:ext cx="1106423" cy="0"/>
          </a:xfrm>
          <a:prstGeom prst="line">
            <a:avLst/>
          </a:prstGeom>
          <a:ln w="2667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Label: Tool receipt"/>
          <p:cNvSpPr txBox="1"/>
          <p:nvPr/>
        </p:nvSpPr>
        <p:spPr>
          <a:xfrm>
            <a:off x="9272016" y="3118104"/>
            <a:ext cx="1106423" cy="301752"/>
          </a:xfrm>
          <a:prstGeom prst="rect">
            <a:avLst/>
          </a:prstGeom>
          <a:noFill/>
        </p:spPr>
        <p:txBody>
          <a:bodyPr wrap="square" lIns="0" rIns="0" tIns="0" bIns="0" anchor="ctr">
            <a:spAutoFit/>
          </a:bodyPr>
          <a:lstStyle/>
          <a:p>
            <a:pPr algn="ctr"/>
            <a:r>
              <a:rPr sz="1300" b="0" lang="en-US">
                <a:solidFill>
                  <a:srgbClr val="1764A1"/>
                </a:solidFill>
                <a:latin typeface="Arial"/>
              </a:rPr>
              <a:t>Tool receipt</a:t>
            </a:r>
          </a:p>
        </p:txBody>
      </p:sp>
      <p:sp>
        <p:nvSpPr>
          <p:cNvPr id="81" name="Oval 80"/>
          <p:cNvSpPr/>
          <p:nvPr/>
        </p:nvSpPr>
        <p:spPr>
          <a:xfrm>
            <a:off x="10415015" y="3145536"/>
            <a:ext cx="877824" cy="877824"/>
          </a:xfrm>
          <a:prstGeom prst="ellipse">
            <a:avLst/>
          </a:prstGeom>
          <a:solidFill>
            <a:srgbClr val="EDF4FA"/>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737342" y="3265779"/>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698480" y="3304641"/>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659617" y="3343503"/>
            <a:ext cx="388620" cy="481888"/>
          </a:xfrm>
          <a:prstGeom prst="rect">
            <a:avLst/>
          </a:prstGeom>
          <a:solidFill>
            <a:srgbClr val="FFFFFF"/>
          </a:solidFill>
          <a:ln w="1524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Flow"/>
          <p:cNvCxnSpPr/>
          <p:nvPr/>
        </p:nvCxnSpPr>
        <p:spPr>
          <a:xfrm>
            <a:off x="10737342" y="3475634"/>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6" name="Flow"/>
          <p:cNvCxnSpPr/>
          <p:nvPr/>
        </p:nvCxnSpPr>
        <p:spPr>
          <a:xfrm>
            <a:off x="10737342" y="3584448"/>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cxnSp>
        <p:nvCxnSpPr>
          <p:cNvPr id="87" name="Flow"/>
          <p:cNvCxnSpPr/>
          <p:nvPr/>
        </p:nvCxnSpPr>
        <p:spPr>
          <a:xfrm>
            <a:off x="10737342" y="3693261"/>
            <a:ext cx="225399" cy="0"/>
          </a:xfrm>
          <a:prstGeom prst="line">
            <a:avLst/>
          </a:prstGeom>
          <a:ln w="15240">
            <a:solidFill>
              <a:srgbClr val="1764A1"/>
            </a:solidFill>
          </a:ln>
        </p:spPr>
        <p:style>
          <a:lnRef idx="2">
            <a:schemeClr val="accent1"/>
          </a:lnRef>
          <a:fillRef idx="0">
            <a:schemeClr val="accent1"/>
          </a:fillRef>
          <a:effectRef idx="1">
            <a:schemeClr val="accent1"/>
          </a:effectRef>
          <a:fontRef idx="minor">
            <a:schemeClr val="tx1"/>
          </a:fontRef>
        </p:style>
      </p:cxnSp>
      <p:sp>
        <p:nvSpPr>
          <p:cNvPr id="88" name="Label: Transparency / log"/>
          <p:cNvSpPr txBox="1"/>
          <p:nvPr/>
        </p:nvSpPr>
        <p:spPr>
          <a:xfrm>
            <a:off x="9802367" y="4142232"/>
            <a:ext cx="2103120" cy="658368"/>
          </a:xfrm>
          <a:prstGeom prst="rect">
            <a:avLst/>
          </a:prstGeom>
          <a:noFill/>
        </p:spPr>
        <p:txBody>
          <a:bodyPr wrap="square" lIns="0" rIns="0" tIns="0" bIns="0" anchor="ctr">
            <a:spAutoFit/>
          </a:bodyPr>
          <a:lstStyle/>
          <a:p>
            <a:pPr algn="ctr"/>
            <a:r>
              <a:rPr sz="1800" b="1" lang="en-US">
                <a:solidFill>
                  <a:srgbClr val="1764A1"/>
                </a:solidFill>
                <a:latin typeface="Arial"/>
              </a:rPr>
              <a:t>Transparency
log</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Lifecycle with Blockchain and IPFS</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