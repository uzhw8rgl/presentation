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 id="2147483710" r:id="rId2"/>
  </p:sldMasterIdLst>
  <p:notesMasterIdLst>
    <p:notesMasterId r:id="rId8"/>
  </p:notesMasterIdLst>
  <p:sldIdLst>
    <p:sldId id="256" r:id="rId7"/>
    <p:sldId id="257" r:id="rId6"/>
    <p:sldId id="258" r:id="rId5"/>
    <p:sldId id="259" r:id="rId4"/>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40D1E"/>
    <a:srgbClr val="9013FE"/>
    <a:srgbClr val="1F90CC"/>
    <a:srgbClr val="434343"/>
    <a:srgbClr val="C40E02"/>
    <a:srgbClr val="FFFFFF"/>
    <a:srgbClr val="49CB40"/>
    <a:srgbClr val="C50E1F"/>
    <a:srgbClr val="B2B2B2"/>
    <a:srgbClr val="71717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73" autoAdjust="0"/>
    <p:restoredTop sz="96327"/>
  </p:normalViewPr>
  <p:slideViewPr>
    <p:cSldViewPr snapToGrid="0" snapToObjects="1">
      <p:cViewPr varScale="1">
        <p:scale>
          <a:sx n="81" d="100"/>
          <a:sy n="81" d="100"/>
        </p:scale>
        <p:origin x="542" y="48"/>
      </p:cViewPr>
      <p:guideLst/>
    </p:cSldViewPr>
  </p:slideViewPr>
  <p:notesTextViewPr>
    <p:cViewPr>
      <p:scale>
        <a:sx n="1" d="1"/>
        <a:sy n="1" d="1"/>
      </p:scale>
      <p:origin x="0" y="0"/>
    </p:cViewPr>
  </p:notesTextViewPr>
  <p:notesViewPr>
    <p:cSldViewPr snapToGrid="0" snapToObjects="1" showGuides="1">
      <p:cViewPr varScale="1">
        <p:scale>
          <a:sx n="153" d="100"/>
          <a:sy n="153" d="100"/>
        </p:scale>
        <p:origin x="4920" y="192"/>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4" Type="http://schemas.openxmlformats.org/officeDocument/2006/relationships/slide" Target="slides/slide4.xml"/><Relationship Id="rId5" Type="http://schemas.openxmlformats.org/officeDocument/2006/relationships/slide" Target="slides/slide3.xml"/><Relationship Id="rId6" Type="http://schemas.openxmlformats.org/officeDocument/2006/relationships/slide" Target="slides/slide2.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0A6180F-3EA1-4748-B4F4-956BB5176995}" type="datetimeFigureOut">
              <a:rPr lang="de-DE" smtClean="0"/>
              <a:t>16.06.2025</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13C3961-1900-1342-BF9B-82C3215CD312}" type="slidenum">
              <a:rPr lang="de-DE" smtClean="0"/>
              <a:t>‹Nr.›</a:t>
            </a:fld>
            <a:endParaRPr lang="de-DE"/>
          </a:p>
        </p:txBody>
      </p:sp>
    </p:spTree>
    <p:extLst>
      <p:ext uri="{BB962C8B-B14F-4D97-AF65-F5344CB8AC3E}">
        <p14:creationId xmlns:p14="http://schemas.microsoft.com/office/powerpoint/2010/main" val="8489311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A: Training loop with a branch. Closest to the requested circle-and-path idea. Read left to right: repeat DFL rounds, publish a model, invoke its inference using MCP, and retain a tool receipt.</a:t>
            </a:r>
          </a:p>
          <a:p/>
          <a:p>
            <a:r>
              <a:rPr lang="en-US"/>
              <a:t>Conceptual lifecycle overview, intended before the existing architecture slide (currently page 9). Green is decentralized model production; purple is the published model handoff; blue is agent-mediated use and evidence. The DFL loop represents repeated local training, aggregation, and distribution of the next global model. Aggregation is a participant-assigned role, not a permanent central server. A finalized publication can be used for inference while training can continue in later rounds. The model is consumed by the inference service. The agent invokes tools through MCP; the agent does not execute the trained model itself. The inference service executes the admitted native workload. Its returned result and domain evidence bind model, request, and response. The transparency log records a receiver-issued tool receipt for the inference call; separate domain evidence binds the numeric inference input and output. The drawing does not claim that every training event is written to this log or that log inclusion alone verifies computation. No automatic feedback or retraining from inference is implied. Quote, RTMR3, ledger, IPFS, and deployment boundaries are deliberately abstracted. Admission and retained signing identities underpin attested execution; the overview does not imply a fresh full DCAP check on each inference. Arrows labelled Result show a returned tool result, not an assertion that patient records enter the language-model context.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B: Two separate loops. Green is repeated training; blue is repeated request/response use. The model connects the loops in one direction. Receipt logging branches from inference, not back into training.</a:t>
            </a:r>
          </a:p>
          <a:p/>
          <a:p>
            <a:r>
              <a:rPr lang="en-US"/>
              <a:t>Conceptual lifecycle overview, intended before the existing architecture slide (currently page 9). Green is decentralized model production; purple is the published model handoff; blue is agent-mediated use and evidence. The DFL loop represents repeated local training, aggregation, and distribution of the next global model. Aggregation is a participant-assigned role, not a permanent central server. A finalized publication can be used for inference while training can continue in later rounds. The model is consumed by the inference service. The agent invokes tools through MCP; the agent does not execute the trained model itself. The inference service executes the admitted native workload. Its returned result and domain evidence bind model, request, and response. The transparency log records a receiver-issued tool receipt for the inference call; separate domain evidence binds the numeric inference input and output. The drawing does not claim that every training event is written to this log or that log inclusion alone verifies computation. No automatic feedback or retraining from inference is implied. Quote, RTMR3, ledger, IPFS, and deployment boundaries are deliberately abstracted. Admission and retained signing identities underpin attested execution; the overview does not imply a fresh full DCAP check on each inference. Arrows labelled Result show a returned tool result, not an assertion that patient records enter the language-model context.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C: Four-scene storyboard. Arrows between the headings denote narrative stages, not deployed network links. Within Use, the MCP arrow runs from the agent to inference. The final scene records the tool receipt.</a:t>
            </a:r>
          </a:p>
          <a:p/>
          <a:p>
            <a:r>
              <a:rPr lang="en-US"/>
              <a:t>Conceptual lifecycle overview, intended before the existing architecture slide (currently page 9). Green is decentralized model production; purple is the published model handoff; blue is agent-mediated use and evidence. The DFL loop represents repeated local training, aggregation, and distribution of the next global model. Aggregation is a participant-assigned role, not a permanent central server. A finalized publication can be used for inference while training can continue in later rounds. The model is consumed by the inference service. The agent invokes tools through MCP; the agent does not execute the trained model itself. The inference service executes the admitted native workload. Its returned result and domain evidence bind model, request, and response. The transparency log records a receiver-issued tool receipt for the inference call; separate domain evidence binds the numeric inference input and output. The drawing does not claim that every training event is written to this log or that log inclusion alone verifies computation. No automatic feedback or retraining from inference is implied. Quote, RTMR3, ledger, IPFS, and deployment boundaries are deliberately abstracted. Admission and retained signing identities underpin attested execution; the overview does not imply a fresh full DCAP check on each inference. Arrows labelled Result show a returned tool result, not an assertion that patient records enter the language-model context.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D: Two converging paths. Upper path is model provenance; lower path is agent orchestration. The two paths join at the inference service, which publishes a receiver-issued tool receipt. The return path to the agent is omitted to keep the distinction between artifact flow and invocation clear.</a:t>
            </a:r>
          </a:p>
          <a:p/>
          <a:p>
            <a:r>
              <a:rPr lang="en-US"/>
              <a:t>Conceptual lifecycle overview, intended before the existing architecture slide (currently page 9). Green is decentralized model production; purple is the published model handoff; blue is agent-mediated use and evidence. The DFL loop represents repeated local training, aggregation, and distribution of the next global model. Aggregation is a participant-assigned role, not a permanent central server. A finalized publication can be used for inference while training can continue in later rounds. The model is consumed by the inference service. The agent invokes tools through MCP; the agent does not execute the trained model itself. The inference service executes the admitted native workload. Its returned result and domain evidence bind model, request, and response. The transparency log records a receiver-issued tool receipt for the inference call; separate domain evidence binds the numeric inference input and output. The drawing does not claim that every training event is written to this log or that log inclusion alone verifies computation. No automatic feedback or retraining from inference is implied. Quote, RTMR3, ledger, IPFS, and deployment boundaries are deliberately abstracted. Admission and retained signing identities underpin attested execution; the overview does not imply a fresh full DCAP check on each inference. Arrows labelled Result show a returned tool result, not an assertion that patient records enter the language-model context.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el - Text und Bild">
    <p:spTree>
      <p:nvGrpSpPr>
        <p:cNvPr id="1" name=""/>
        <p:cNvGrpSpPr/>
        <p:nvPr/>
      </p:nvGrpSpPr>
      <p:grpSpPr>
        <a:xfrm>
          <a:off x="0" y="0"/>
          <a:ext cx="0" cy="0"/>
          <a:chOff x="0" y="0"/>
          <a:chExt cx="0" cy="0"/>
        </a:xfrm>
      </p:grpSpPr>
      <p:sp>
        <p:nvSpPr>
          <p:cNvPr id="3" name="Bildplatzhalter 23">
            <a:extLst>
              <a:ext uri="{FF2B5EF4-FFF2-40B4-BE49-F238E27FC236}">
                <a16:creationId xmlns:a16="http://schemas.microsoft.com/office/drawing/2014/main" id="{9A036687-F2BF-7B4C-A352-6E1D355D125D}"/>
              </a:ext>
            </a:extLst>
          </p:cNvPr>
          <p:cNvSpPr>
            <a:spLocks noGrp="1"/>
          </p:cNvSpPr>
          <p:nvPr>
            <p:ph type="pic" sz="quarter" idx="17" hasCustomPrompt="1"/>
          </p:nvPr>
        </p:nvSpPr>
        <p:spPr>
          <a:xfrm>
            <a:off x="-6479" y="1260572"/>
            <a:ext cx="8885359" cy="3273604"/>
          </a:xfrm>
          <a:custGeom>
            <a:avLst/>
            <a:gdLst>
              <a:gd name="connsiteX0" fmla="*/ 0 w 8328660"/>
              <a:gd name="connsiteY0" fmla="*/ 0 h 3143274"/>
              <a:gd name="connsiteX1" fmla="*/ 8328660 w 8328660"/>
              <a:gd name="connsiteY1" fmla="*/ 0 h 3143274"/>
              <a:gd name="connsiteX2" fmla="*/ 8328660 w 8328660"/>
              <a:gd name="connsiteY2" fmla="*/ 3143274 h 3143274"/>
              <a:gd name="connsiteX3" fmla="*/ 0 w 8328660"/>
              <a:gd name="connsiteY3" fmla="*/ 3143274 h 3143274"/>
              <a:gd name="connsiteX4" fmla="*/ 0 w 8328660"/>
              <a:gd name="connsiteY4" fmla="*/ 0 h 3143274"/>
              <a:gd name="connsiteX0" fmla="*/ 0 w 8336280"/>
              <a:gd name="connsiteY0" fmla="*/ 601980 h 3745254"/>
              <a:gd name="connsiteX1" fmla="*/ 8336280 w 8336280"/>
              <a:gd name="connsiteY1" fmla="*/ 0 h 3745254"/>
              <a:gd name="connsiteX2" fmla="*/ 8328660 w 8336280"/>
              <a:gd name="connsiteY2" fmla="*/ 3745254 h 3745254"/>
              <a:gd name="connsiteX3" fmla="*/ 0 w 8336280"/>
              <a:gd name="connsiteY3" fmla="*/ 3745254 h 3745254"/>
              <a:gd name="connsiteX4" fmla="*/ 0 w 8336280"/>
              <a:gd name="connsiteY4" fmla="*/ 601980 h 3745254"/>
              <a:gd name="connsiteX0" fmla="*/ 0 w 8336280"/>
              <a:gd name="connsiteY0" fmla="*/ 601980 h 3745254"/>
              <a:gd name="connsiteX1" fmla="*/ 8336280 w 8336280"/>
              <a:gd name="connsiteY1" fmla="*/ 0 h 3745254"/>
              <a:gd name="connsiteX2" fmla="*/ 8321040 w 8336280"/>
              <a:gd name="connsiteY2" fmla="*/ 3242334 h 3745254"/>
              <a:gd name="connsiteX3" fmla="*/ 0 w 8336280"/>
              <a:gd name="connsiteY3" fmla="*/ 3745254 h 3745254"/>
              <a:gd name="connsiteX4" fmla="*/ 0 w 8336280"/>
              <a:gd name="connsiteY4" fmla="*/ 601980 h 3745254"/>
              <a:gd name="connsiteX0" fmla="*/ 0 w 8336280"/>
              <a:gd name="connsiteY0" fmla="*/ 286029 h 3429303"/>
              <a:gd name="connsiteX1" fmla="*/ 8336280 w 8336280"/>
              <a:gd name="connsiteY1" fmla="*/ 0 h 3429303"/>
              <a:gd name="connsiteX2" fmla="*/ 8321040 w 8336280"/>
              <a:gd name="connsiteY2" fmla="*/ 2926383 h 3429303"/>
              <a:gd name="connsiteX3" fmla="*/ 0 w 8336280"/>
              <a:gd name="connsiteY3" fmla="*/ 3429303 h 3429303"/>
              <a:gd name="connsiteX4" fmla="*/ 0 w 8336280"/>
              <a:gd name="connsiteY4" fmla="*/ 286029 h 3429303"/>
              <a:gd name="connsiteX0" fmla="*/ 0 w 8339997"/>
              <a:gd name="connsiteY0" fmla="*/ 312049 h 3429303"/>
              <a:gd name="connsiteX1" fmla="*/ 8339997 w 8339997"/>
              <a:gd name="connsiteY1" fmla="*/ 0 h 3429303"/>
              <a:gd name="connsiteX2" fmla="*/ 8324757 w 8339997"/>
              <a:gd name="connsiteY2" fmla="*/ 2926383 h 3429303"/>
              <a:gd name="connsiteX3" fmla="*/ 3717 w 8339997"/>
              <a:gd name="connsiteY3" fmla="*/ 3429303 h 3429303"/>
              <a:gd name="connsiteX4" fmla="*/ 0 w 8339997"/>
              <a:gd name="connsiteY4" fmla="*/ 312049 h 3429303"/>
              <a:gd name="connsiteX0" fmla="*/ 0 w 8343172"/>
              <a:gd name="connsiteY0" fmla="*/ 305699 h 3429303"/>
              <a:gd name="connsiteX1" fmla="*/ 8343172 w 8343172"/>
              <a:gd name="connsiteY1" fmla="*/ 0 h 3429303"/>
              <a:gd name="connsiteX2" fmla="*/ 8327932 w 8343172"/>
              <a:gd name="connsiteY2" fmla="*/ 2926383 h 3429303"/>
              <a:gd name="connsiteX3" fmla="*/ 6892 w 8343172"/>
              <a:gd name="connsiteY3" fmla="*/ 3429303 h 3429303"/>
              <a:gd name="connsiteX4" fmla="*/ 0 w 8343172"/>
              <a:gd name="connsiteY4" fmla="*/ 305699 h 3429303"/>
              <a:gd name="connsiteX0" fmla="*/ 0 w 8349522"/>
              <a:gd name="connsiteY0" fmla="*/ 308874 h 3429303"/>
              <a:gd name="connsiteX1" fmla="*/ 8349522 w 8349522"/>
              <a:gd name="connsiteY1" fmla="*/ 0 h 3429303"/>
              <a:gd name="connsiteX2" fmla="*/ 8334282 w 8349522"/>
              <a:gd name="connsiteY2" fmla="*/ 2926383 h 3429303"/>
              <a:gd name="connsiteX3" fmla="*/ 13242 w 8349522"/>
              <a:gd name="connsiteY3" fmla="*/ 3429303 h 3429303"/>
              <a:gd name="connsiteX4" fmla="*/ 0 w 8349522"/>
              <a:gd name="connsiteY4" fmla="*/ 308874 h 3429303"/>
              <a:gd name="connsiteX0" fmla="*/ 0 w 8352697"/>
              <a:gd name="connsiteY0" fmla="*/ 312049 h 3429303"/>
              <a:gd name="connsiteX1" fmla="*/ 8352697 w 8352697"/>
              <a:gd name="connsiteY1" fmla="*/ 0 h 3429303"/>
              <a:gd name="connsiteX2" fmla="*/ 8337457 w 8352697"/>
              <a:gd name="connsiteY2" fmla="*/ 2926383 h 3429303"/>
              <a:gd name="connsiteX3" fmla="*/ 16417 w 8352697"/>
              <a:gd name="connsiteY3" fmla="*/ 3429303 h 3429303"/>
              <a:gd name="connsiteX4" fmla="*/ 0 w 8352697"/>
              <a:gd name="connsiteY4" fmla="*/ 312049 h 3429303"/>
              <a:gd name="connsiteX0" fmla="*/ 0 w 8349522"/>
              <a:gd name="connsiteY0" fmla="*/ 302524 h 3429303"/>
              <a:gd name="connsiteX1" fmla="*/ 8349522 w 8349522"/>
              <a:gd name="connsiteY1" fmla="*/ 0 h 3429303"/>
              <a:gd name="connsiteX2" fmla="*/ 8334282 w 8349522"/>
              <a:gd name="connsiteY2" fmla="*/ 2926383 h 3429303"/>
              <a:gd name="connsiteX3" fmla="*/ 13242 w 8349522"/>
              <a:gd name="connsiteY3" fmla="*/ 3429303 h 3429303"/>
              <a:gd name="connsiteX4" fmla="*/ 0 w 8349522"/>
              <a:gd name="connsiteY4" fmla="*/ 302524 h 3429303"/>
              <a:gd name="connsiteX0" fmla="*/ 0 w 8349522"/>
              <a:gd name="connsiteY0" fmla="*/ 302524 h 3226103"/>
              <a:gd name="connsiteX1" fmla="*/ 8349522 w 8349522"/>
              <a:gd name="connsiteY1" fmla="*/ 0 h 3226103"/>
              <a:gd name="connsiteX2" fmla="*/ 8334282 w 8349522"/>
              <a:gd name="connsiteY2" fmla="*/ 2926383 h 3226103"/>
              <a:gd name="connsiteX3" fmla="*/ 13242 w 8349522"/>
              <a:gd name="connsiteY3" fmla="*/ 3226103 h 3226103"/>
              <a:gd name="connsiteX4" fmla="*/ 0 w 8349522"/>
              <a:gd name="connsiteY4" fmla="*/ 302524 h 3226103"/>
              <a:gd name="connsiteX0" fmla="*/ 0 w 8883911"/>
              <a:gd name="connsiteY0" fmla="*/ 326274 h 3226103"/>
              <a:gd name="connsiteX1" fmla="*/ 8883911 w 8883911"/>
              <a:gd name="connsiteY1" fmla="*/ 0 h 3226103"/>
              <a:gd name="connsiteX2" fmla="*/ 8868671 w 8883911"/>
              <a:gd name="connsiteY2" fmla="*/ 2926383 h 3226103"/>
              <a:gd name="connsiteX3" fmla="*/ 547631 w 8883911"/>
              <a:gd name="connsiteY3" fmla="*/ 3226103 h 3226103"/>
              <a:gd name="connsiteX4" fmla="*/ 0 w 8883911"/>
              <a:gd name="connsiteY4" fmla="*/ 326274 h 3226103"/>
              <a:gd name="connsiteX0" fmla="*/ 0 w 8872036"/>
              <a:gd name="connsiteY0" fmla="*/ 326274 h 3226103"/>
              <a:gd name="connsiteX1" fmla="*/ 8872036 w 8872036"/>
              <a:gd name="connsiteY1" fmla="*/ 0 h 3226103"/>
              <a:gd name="connsiteX2" fmla="*/ 8856796 w 8872036"/>
              <a:gd name="connsiteY2" fmla="*/ 2926383 h 3226103"/>
              <a:gd name="connsiteX3" fmla="*/ 535756 w 8872036"/>
              <a:gd name="connsiteY3" fmla="*/ 3226103 h 3226103"/>
              <a:gd name="connsiteX4" fmla="*/ 0 w 8872036"/>
              <a:gd name="connsiteY4" fmla="*/ 326274 h 3226103"/>
              <a:gd name="connsiteX0" fmla="*/ 34357 w 8906393"/>
              <a:gd name="connsiteY0" fmla="*/ 326274 h 3273604"/>
              <a:gd name="connsiteX1" fmla="*/ 8906393 w 8906393"/>
              <a:gd name="connsiteY1" fmla="*/ 0 h 3273604"/>
              <a:gd name="connsiteX2" fmla="*/ 8891153 w 8906393"/>
              <a:gd name="connsiteY2" fmla="*/ 2926383 h 3273604"/>
              <a:gd name="connsiteX3" fmla="*/ 98 w 8906393"/>
              <a:gd name="connsiteY3" fmla="*/ 3273604 h 3273604"/>
              <a:gd name="connsiteX4" fmla="*/ 34357 w 8906393"/>
              <a:gd name="connsiteY4" fmla="*/ 326274 h 3273604"/>
              <a:gd name="connsiteX0" fmla="*/ 0 w 8907662"/>
              <a:gd name="connsiteY0" fmla="*/ 338149 h 3273604"/>
              <a:gd name="connsiteX1" fmla="*/ 8907662 w 8907662"/>
              <a:gd name="connsiteY1" fmla="*/ 0 h 3273604"/>
              <a:gd name="connsiteX2" fmla="*/ 8892422 w 8907662"/>
              <a:gd name="connsiteY2" fmla="*/ 2926383 h 3273604"/>
              <a:gd name="connsiteX3" fmla="*/ 1367 w 8907662"/>
              <a:gd name="connsiteY3" fmla="*/ 3273604 h 3273604"/>
              <a:gd name="connsiteX4" fmla="*/ 0 w 8907662"/>
              <a:gd name="connsiteY4" fmla="*/ 338149 h 3273604"/>
              <a:gd name="connsiteX0" fmla="*/ 0 w 8907662"/>
              <a:gd name="connsiteY0" fmla="*/ 338149 h 3273604"/>
              <a:gd name="connsiteX1" fmla="*/ 8907662 w 8907662"/>
              <a:gd name="connsiteY1" fmla="*/ 0 h 3273604"/>
              <a:gd name="connsiteX2" fmla="*/ 8892422 w 8907662"/>
              <a:gd name="connsiteY2" fmla="*/ 2926383 h 3273604"/>
              <a:gd name="connsiteX3" fmla="*/ 32591 w 8907662"/>
              <a:gd name="connsiteY3" fmla="*/ 3273604 h 3273604"/>
              <a:gd name="connsiteX4" fmla="*/ 0 w 8907662"/>
              <a:gd name="connsiteY4" fmla="*/ 338149 h 3273604"/>
              <a:gd name="connsiteX0" fmla="*/ 0 w 8885359"/>
              <a:gd name="connsiteY0" fmla="*/ 338149 h 3273604"/>
              <a:gd name="connsiteX1" fmla="*/ 8885359 w 8885359"/>
              <a:gd name="connsiteY1" fmla="*/ 0 h 3273604"/>
              <a:gd name="connsiteX2" fmla="*/ 8870119 w 8885359"/>
              <a:gd name="connsiteY2" fmla="*/ 2926383 h 3273604"/>
              <a:gd name="connsiteX3" fmla="*/ 10288 w 8885359"/>
              <a:gd name="connsiteY3" fmla="*/ 3273604 h 3273604"/>
              <a:gd name="connsiteX4" fmla="*/ 0 w 8885359"/>
              <a:gd name="connsiteY4" fmla="*/ 338149 h 32736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85359" h="3273604">
                <a:moveTo>
                  <a:pt x="0" y="338149"/>
                </a:moveTo>
                <a:lnTo>
                  <a:pt x="8885359" y="0"/>
                </a:lnTo>
                <a:lnTo>
                  <a:pt x="8870119" y="2926383"/>
                </a:lnTo>
                <a:lnTo>
                  <a:pt x="10288" y="3273604"/>
                </a:lnTo>
                <a:cubicBezTo>
                  <a:pt x="7991" y="2232403"/>
                  <a:pt x="2297" y="1379350"/>
                  <a:pt x="0" y="338149"/>
                </a:cubicBezTo>
                <a:close/>
              </a:path>
            </a:pathLst>
          </a:custGeom>
          <a:solidFill>
            <a:srgbClr val="434343"/>
          </a:solidFill>
        </p:spPr>
        <p:txBody>
          <a:bodyPr lIns="576000" anchor="ctr" anchorCtr="0"/>
          <a:lstStyle>
            <a:lvl1pPr marL="0" indent="0" algn="ctr">
              <a:buNone/>
              <a:defRPr>
                <a:solidFill>
                  <a:schemeClr val="bg1"/>
                </a:solidFill>
                <a:latin typeface="Arial" panose="020B0604020202020204" pitchFamily="34" charset="0"/>
                <a:cs typeface="Arial" panose="020B0604020202020204" pitchFamily="34" charset="0"/>
              </a:defRPr>
            </a:lvl1pPr>
          </a:lstStyle>
          <a:p>
            <a:r>
              <a:rPr lang="de-DE" dirty="0"/>
              <a:t>Platzhalter: Bild Titelfolie</a:t>
            </a:r>
          </a:p>
        </p:txBody>
      </p:sp>
      <p:sp>
        <p:nvSpPr>
          <p:cNvPr id="4" name="Textfeld 3">
            <a:extLst>
              <a:ext uri="{FF2B5EF4-FFF2-40B4-BE49-F238E27FC236}">
                <a16:creationId xmlns:a16="http://schemas.microsoft.com/office/drawing/2014/main" id="{F18C730E-B3F8-944F-8BC2-E236CE7245E4}"/>
              </a:ext>
            </a:extLst>
          </p:cNvPr>
          <p:cNvSpPr txBox="1"/>
          <p:nvPr userDrawn="1"/>
        </p:nvSpPr>
        <p:spPr>
          <a:xfrm>
            <a:off x="-2031023" y="2620375"/>
            <a:ext cx="2021305" cy="1785104"/>
          </a:xfrm>
          <a:prstGeom prst="rect">
            <a:avLst/>
          </a:prstGeom>
          <a:noFill/>
        </p:spPr>
        <p:txBody>
          <a:bodyPr wrap="square" rtlCol="0">
            <a:spAutoFit/>
          </a:bodyPr>
          <a:lstStyle/>
          <a:p>
            <a:r>
              <a:rPr lang="de-DE" sz="1000" b="1" dirty="0">
                <a:latin typeface="Arial" panose="020B0604020202020204" pitchFamily="34" charset="0"/>
                <a:cs typeface="Arial" panose="020B0604020202020204" pitchFamily="34" charset="0"/>
              </a:rPr>
              <a:t>Platzhalterbild ersetzen:</a:t>
            </a:r>
            <a:br>
              <a:rPr lang="de-DE" sz="1000" b="1"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Bild löschen und durch neues Bild ersetzen &gt; über Bildformat &gt; Zuschneiden im Rahmen ggf. nachpositionieren</a:t>
            </a:r>
            <a:br>
              <a:rPr lang="de-DE" sz="1000" dirty="0">
                <a:latin typeface="Arial" panose="020B0604020202020204" pitchFamily="34" charset="0"/>
                <a:cs typeface="Arial" panose="020B0604020202020204" pitchFamily="34" charset="0"/>
              </a:rPr>
            </a:br>
            <a:br>
              <a:rPr lang="de-DE" sz="1000" dirty="0">
                <a:latin typeface="Arial" panose="020B0604020202020204" pitchFamily="34" charset="0"/>
                <a:cs typeface="Arial" panose="020B0604020202020204" pitchFamily="34" charset="0"/>
              </a:rPr>
            </a:br>
            <a:r>
              <a:rPr lang="de-DE" sz="1000" b="1" dirty="0">
                <a:latin typeface="Arial" panose="020B0604020202020204" pitchFamily="34" charset="0"/>
                <a:cs typeface="Arial" panose="020B0604020202020204" pitchFamily="34" charset="0"/>
              </a:rPr>
              <a:t>Copyrightangabe: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Korrektes Copyright angeben (in der Regel Name des*der Fotograf*in), Textfarbe je nach Hintergrund weiß oder schwarz</a:t>
            </a:r>
          </a:p>
        </p:txBody>
      </p:sp>
      <p:sp>
        <p:nvSpPr>
          <p:cNvPr id="5" name="Textfeld 4">
            <a:extLst>
              <a:ext uri="{FF2B5EF4-FFF2-40B4-BE49-F238E27FC236}">
                <a16:creationId xmlns:a16="http://schemas.microsoft.com/office/drawing/2014/main" id="{A7B17960-7FEA-3C44-9F5C-B38F41DF0CD3}"/>
              </a:ext>
            </a:extLst>
          </p:cNvPr>
          <p:cNvSpPr txBox="1"/>
          <p:nvPr userDrawn="1"/>
        </p:nvSpPr>
        <p:spPr>
          <a:xfrm>
            <a:off x="9903" y="-313433"/>
            <a:ext cx="1703672" cy="246221"/>
          </a:xfrm>
          <a:prstGeom prst="rect">
            <a:avLst/>
          </a:prstGeom>
          <a:noFill/>
        </p:spPr>
        <p:txBody>
          <a:bodyPr wrap="square" rtlCol="0">
            <a:spAutoFit/>
          </a:bodyPr>
          <a:lstStyle/>
          <a:p>
            <a:r>
              <a:rPr lang="de-DE" sz="1000" dirty="0">
                <a:latin typeface="Arial" panose="020B0604020202020204" pitchFamily="34" charset="0"/>
                <a:cs typeface="Arial" panose="020B0604020202020204" pitchFamily="34" charset="0"/>
              </a:rPr>
              <a:t>V1: Titelfolie mit Bild</a:t>
            </a:r>
          </a:p>
        </p:txBody>
      </p:sp>
    </p:spTree>
    <p:extLst>
      <p:ext uri="{BB962C8B-B14F-4D97-AF65-F5344CB8AC3E}">
        <p14:creationId xmlns:p14="http://schemas.microsoft.com/office/powerpoint/2010/main" val="27569119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el - Text ">
    <p:spTree>
      <p:nvGrpSpPr>
        <p:cNvPr id="1" name=""/>
        <p:cNvGrpSpPr/>
        <p:nvPr/>
      </p:nvGrpSpPr>
      <p:grpSpPr>
        <a:xfrm>
          <a:off x="0" y="0"/>
          <a:ext cx="0" cy="0"/>
          <a:chOff x="0" y="0"/>
          <a:chExt cx="0" cy="0"/>
        </a:xfrm>
      </p:grpSpPr>
      <p:sp>
        <p:nvSpPr>
          <p:cNvPr id="5" name="Textfeld 4">
            <a:extLst>
              <a:ext uri="{FF2B5EF4-FFF2-40B4-BE49-F238E27FC236}">
                <a16:creationId xmlns:a16="http://schemas.microsoft.com/office/drawing/2014/main" id="{740704DC-2971-A248-9827-94150E3D8746}"/>
              </a:ext>
            </a:extLst>
          </p:cNvPr>
          <p:cNvSpPr txBox="1"/>
          <p:nvPr userDrawn="1"/>
        </p:nvSpPr>
        <p:spPr>
          <a:xfrm>
            <a:off x="9903" y="-313433"/>
            <a:ext cx="1703672" cy="246221"/>
          </a:xfrm>
          <a:prstGeom prst="rect">
            <a:avLst/>
          </a:prstGeom>
          <a:noFill/>
        </p:spPr>
        <p:txBody>
          <a:bodyPr wrap="square" rtlCol="0">
            <a:spAutoFit/>
          </a:bodyPr>
          <a:lstStyle/>
          <a:p>
            <a:r>
              <a:rPr lang="de-DE" sz="1000" dirty="0">
                <a:latin typeface="Arial" panose="020B0604020202020204" pitchFamily="34" charset="0"/>
                <a:cs typeface="Arial" panose="020B0604020202020204" pitchFamily="34" charset="0"/>
              </a:rPr>
              <a:t>V2: Titelfolie ohne Bild</a:t>
            </a:r>
          </a:p>
        </p:txBody>
      </p:sp>
    </p:spTree>
    <p:extLst>
      <p:ext uri="{BB962C8B-B14F-4D97-AF65-F5344CB8AC3E}">
        <p14:creationId xmlns:p14="http://schemas.microsoft.com/office/powerpoint/2010/main" val="15057043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Inhalt - Text und Stichpunkte">
    <p:spTree>
      <p:nvGrpSpPr>
        <p:cNvPr id="1" name=""/>
        <p:cNvGrpSpPr/>
        <p:nvPr/>
      </p:nvGrpSpPr>
      <p:grpSpPr>
        <a:xfrm>
          <a:off x="0" y="0"/>
          <a:ext cx="0" cy="0"/>
          <a:chOff x="0" y="0"/>
          <a:chExt cx="0" cy="0"/>
        </a:xfrm>
      </p:grpSpPr>
      <p:sp>
        <p:nvSpPr>
          <p:cNvPr id="5" name="Textplatzhalter 5">
            <a:extLst>
              <a:ext uri="{FF2B5EF4-FFF2-40B4-BE49-F238E27FC236}">
                <a16:creationId xmlns:a16="http://schemas.microsoft.com/office/drawing/2014/main" id="{D7BD4116-72F8-7D4E-846E-4E9887F60C02}"/>
              </a:ext>
            </a:extLst>
          </p:cNvPr>
          <p:cNvSpPr>
            <a:spLocks noGrp="1"/>
          </p:cNvSpPr>
          <p:nvPr>
            <p:ph type="body" sz="quarter" idx="18" hasCustomPrompt="1"/>
          </p:nvPr>
        </p:nvSpPr>
        <p:spPr>
          <a:xfrm>
            <a:off x="550800" y="3175200"/>
            <a:ext cx="9721850" cy="2124075"/>
          </a:xfrm>
          <a:prstGeom prst="rect">
            <a:avLst/>
          </a:prstGeom>
        </p:spPr>
        <p:txBody>
          <a:bodyPr lIns="0" tIns="0"/>
          <a:lstStyle>
            <a:lvl1pPr marL="2286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1pPr>
            <a:lvl2pPr marL="6858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2pPr>
            <a:lvl3pPr marL="11430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3pPr>
            <a:lvl4pPr marL="16002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4pPr>
            <a:lvl5pPr marL="20574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5pPr>
          </a:lstStyle>
          <a:p>
            <a:pPr lvl="0"/>
            <a:r>
              <a:rPr lang="de-DE" dirty="0"/>
              <a:t>Aufzählung 1. Ebene Arial Regular 18 </a:t>
            </a:r>
            <a:r>
              <a:rPr lang="de-DE" dirty="0" err="1"/>
              <a:t>pt</a:t>
            </a:r>
            <a:r>
              <a:rPr lang="de-DE" dirty="0"/>
              <a:t>, ZA: 24 </a:t>
            </a:r>
            <a:r>
              <a:rPr lang="de-DE" dirty="0" err="1"/>
              <a:t>pt</a:t>
            </a:r>
            <a:endParaRPr lang="de-DE" dirty="0"/>
          </a:p>
          <a:p>
            <a:pPr lvl="1"/>
            <a:r>
              <a:rPr lang="de-DE" dirty="0"/>
              <a:t>2. Ebene</a:t>
            </a:r>
          </a:p>
          <a:p>
            <a:pPr lvl="2"/>
            <a:r>
              <a:rPr lang="de-DE" dirty="0"/>
              <a:t>3. Ebene</a:t>
            </a:r>
          </a:p>
          <a:p>
            <a:pPr lvl="3"/>
            <a:r>
              <a:rPr lang="de-DE" dirty="0"/>
              <a:t>4. Ebene</a:t>
            </a:r>
          </a:p>
          <a:p>
            <a:pPr lvl="4"/>
            <a:r>
              <a:rPr lang="de-DE" dirty="0"/>
              <a:t>5. Ebene</a:t>
            </a:r>
          </a:p>
        </p:txBody>
      </p:sp>
      <p:sp>
        <p:nvSpPr>
          <p:cNvPr id="6" name="Textplatzhalter 2">
            <a:extLst>
              <a:ext uri="{FF2B5EF4-FFF2-40B4-BE49-F238E27FC236}">
                <a16:creationId xmlns:a16="http://schemas.microsoft.com/office/drawing/2014/main" id="{9DAAF3EE-A5B2-F647-838D-0DFAACB4D556}"/>
              </a:ext>
            </a:extLst>
          </p:cNvPr>
          <p:cNvSpPr>
            <a:spLocks noGrp="1"/>
          </p:cNvSpPr>
          <p:nvPr>
            <p:ph type="body" sz="quarter" idx="17" hasCustomPrompt="1"/>
          </p:nvPr>
        </p:nvSpPr>
        <p:spPr>
          <a:xfrm>
            <a:off x="550800" y="1371600"/>
            <a:ext cx="9721850" cy="1526370"/>
          </a:xfrm>
          <a:prstGeom prst="rect">
            <a:avLst/>
          </a:prstGeom>
        </p:spPr>
        <p:txBody>
          <a:bodyPr lIns="0" tIns="0" rIns="0" bIns="0"/>
          <a:lstStyle>
            <a:lvl1pPr marL="0" indent="0">
              <a:lnSpc>
                <a:spcPts val="2400"/>
              </a:lnSpc>
              <a:spcBef>
                <a:spcPts val="0"/>
              </a:spcBef>
              <a:buNone/>
              <a:defRPr sz="1800">
                <a:solidFill>
                  <a:srgbClr val="434343"/>
                </a:solidFill>
                <a:latin typeface="Arial" panose="020B0604020202020204" pitchFamily="34" charset="0"/>
                <a:cs typeface="Arial" panose="020B0604020202020204" pitchFamily="34" charset="0"/>
              </a:defRPr>
            </a:lvl1pPr>
          </a:lstStyle>
          <a:p>
            <a:pPr lvl="0"/>
            <a:r>
              <a:rPr lang="de-DE" dirty="0"/>
              <a:t>Arial Regular 18pt, ZA: 24pt </a:t>
            </a: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consetetur</a:t>
            </a:r>
            <a:r>
              <a:rPr lang="de-DE" dirty="0"/>
              <a:t> </a:t>
            </a:r>
            <a:r>
              <a:rPr lang="de-DE" dirty="0" err="1"/>
              <a:t>sadipscing</a:t>
            </a:r>
            <a:r>
              <a:rPr lang="de-DE" dirty="0"/>
              <a:t> </a:t>
            </a:r>
            <a:r>
              <a:rPr lang="de-DE" dirty="0" err="1"/>
              <a:t>elitr</a:t>
            </a:r>
            <a:r>
              <a:rPr lang="de-DE" dirty="0"/>
              <a:t>, sed </a:t>
            </a:r>
            <a:r>
              <a:rPr lang="de-DE" dirty="0" err="1"/>
              <a:t>diam</a:t>
            </a:r>
            <a:r>
              <a:rPr lang="de-DE" dirty="0"/>
              <a:t> </a:t>
            </a:r>
            <a:r>
              <a:rPr lang="de-DE" dirty="0" err="1"/>
              <a:t>nonumy</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et </a:t>
            </a:r>
            <a:r>
              <a:rPr lang="de-DE" dirty="0" err="1"/>
              <a:t>dolore</a:t>
            </a:r>
            <a:r>
              <a:rPr lang="de-DE" dirty="0"/>
              <a:t> magna </a:t>
            </a:r>
            <a:r>
              <a:rPr lang="de-DE" dirty="0" err="1"/>
              <a:t>aliquyam</a:t>
            </a:r>
            <a:r>
              <a:rPr lang="de-DE" dirty="0"/>
              <a:t> erat, sed </a:t>
            </a:r>
            <a:r>
              <a:rPr lang="de-DE" dirty="0" err="1"/>
              <a:t>diam</a:t>
            </a:r>
            <a:r>
              <a:rPr lang="de-DE" dirty="0"/>
              <a:t> </a:t>
            </a:r>
            <a:r>
              <a:rPr lang="de-DE" dirty="0" err="1"/>
              <a:t>voluptua</a:t>
            </a:r>
            <a:r>
              <a:rPr lang="de-DE" dirty="0"/>
              <a:t>. At </a:t>
            </a:r>
            <a:r>
              <a:rPr lang="de-DE" dirty="0" err="1"/>
              <a:t>vero</a:t>
            </a:r>
            <a:r>
              <a:rPr lang="de-DE" dirty="0"/>
              <a:t> </a:t>
            </a:r>
            <a:r>
              <a:rPr lang="de-DE" dirty="0" err="1"/>
              <a:t>eos</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et </a:t>
            </a:r>
            <a:r>
              <a:rPr lang="de-DE" dirty="0" err="1"/>
              <a:t>dolore</a:t>
            </a:r>
            <a:r>
              <a:rPr lang="de-DE" dirty="0"/>
              <a:t> magna </a:t>
            </a:r>
            <a:r>
              <a:rPr lang="de-DE" dirty="0" err="1"/>
              <a:t>aliquyam</a:t>
            </a:r>
            <a:r>
              <a:rPr lang="de-DE" dirty="0"/>
              <a:t> </a:t>
            </a:r>
            <a:r>
              <a:rPr lang="de-DE" dirty="0" err="1"/>
              <a:t>erat</a:t>
            </a:r>
            <a:r>
              <a:rPr lang="de-DE" dirty="0"/>
              <a:t>, </a:t>
            </a:r>
            <a:r>
              <a:rPr lang="de-DE" dirty="0" err="1"/>
              <a:t>sed</a:t>
            </a:r>
            <a:r>
              <a:rPr lang="de-DE" dirty="0"/>
              <a:t> </a:t>
            </a:r>
            <a:r>
              <a:rPr lang="de-DE" dirty="0" err="1"/>
              <a:t>diam</a:t>
            </a:r>
            <a:r>
              <a:rPr lang="de-DE" dirty="0"/>
              <a:t> </a:t>
            </a:r>
            <a:r>
              <a:rPr lang="de-DE" dirty="0" err="1"/>
              <a:t>voluptua</a:t>
            </a:r>
            <a:r>
              <a:rPr lang="de-DE" dirty="0"/>
              <a:t>. At </a:t>
            </a:r>
            <a:r>
              <a:rPr lang="de-DE" dirty="0" err="1"/>
              <a:t>vero</a:t>
            </a:r>
            <a:r>
              <a:rPr lang="de-DE" dirty="0"/>
              <a:t> </a:t>
            </a:r>
            <a:r>
              <a:rPr lang="de-DE" dirty="0" err="1"/>
              <a:t>eos</a:t>
            </a:r>
            <a:r>
              <a:rPr lang="de-DE" dirty="0"/>
              <a:t> et </a:t>
            </a:r>
            <a:r>
              <a:rPr lang="de-DE" dirty="0" err="1"/>
              <a:t>accusam</a:t>
            </a:r>
            <a:r>
              <a:rPr lang="de-DE" dirty="0"/>
              <a:t> et </a:t>
            </a:r>
            <a:r>
              <a:rPr lang="de-DE" dirty="0" err="1"/>
              <a:t>justo</a:t>
            </a:r>
            <a:r>
              <a:rPr lang="de-DE" dirty="0"/>
              <a:t> </a:t>
            </a:r>
            <a:r>
              <a:rPr lang="de-DE" dirty="0" err="1"/>
              <a:t>duo</a:t>
            </a:r>
            <a:r>
              <a:rPr lang="de-DE" dirty="0"/>
              <a:t> </a:t>
            </a:r>
            <a:r>
              <a:rPr lang="de-DE" dirty="0" err="1"/>
              <a:t>dolores</a:t>
            </a:r>
            <a:r>
              <a:rPr lang="de-DE" dirty="0"/>
              <a:t> et </a:t>
            </a:r>
            <a:r>
              <a:rPr lang="de-DE" dirty="0" err="1"/>
              <a:t>ea</a:t>
            </a:r>
            <a:r>
              <a:rPr lang="de-DE" dirty="0"/>
              <a:t> </a:t>
            </a:r>
            <a:r>
              <a:rPr lang="de-DE" dirty="0" err="1"/>
              <a:t>rebum</a:t>
            </a:r>
            <a:r>
              <a:rPr lang="de-DE" dirty="0"/>
              <a:t>. Stet </a:t>
            </a:r>
            <a:r>
              <a:rPr lang="de-DE" dirty="0" err="1"/>
              <a:t>clita</a:t>
            </a:r>
            <a:r>
              <a:rPr lang="de-DE" dirty="0"/>
              <a:t> </a:t>
            </a:r>
            <a:r>
              <a:rPr lang="de-DE" dirty="0" err="1"/>
              <a:t>kasd</a:t>
            </a:r>
            <a:r>
              <a:rPr lang="de-DE" dirty="0"/>
              <a:t> </a:t>
            </a:r>
            <a:r>
              <a:rPr lang="de-DE" dirty="0" err="1"/>
              <a:t>gubergren</a:t>
            </a:r>
            <a:r>
              <a:rPr lang="de-DE" dirty="0"/>
              <a:t>, </a:t>
            </a:r>
            <a:r>
              <a:rPr lang="de-DE" dirty="0" err="1"/>
              <a:t>no</a:t>
            </a:r>
            <a:r>
              <a:rPr lang="de-DE" dirty="0"/>
              <a:t> </a:t>
            </a:r>
            <a:r>
              <a:rPr lang="de-DE" dirty="0" err="1"/>
              <a:t>sea</a:t>
            </a:r>
            <a:r>
              <a:rPr lang="de-DE" dirty="0"/>
              <a:t> </a:t>
            </a:r>
            <a:r>
              <a:rPr lang="de-DE" dirty="0" err="1"/>
              <a:t>takimata</a:t>
            </a:r>
            <a:endParaRPr lang="de-DE" dirty="0"/>
          </a:p>
        </p:txBody>
      </p:sp>
      <p:sp>
        <p:nvSpPr>
          <p:cNvPr id="7" name="Textplatzhalter 17">
            <a:extLst>
              <a:ext uri="{FF2B5EF4-FFF2-40B4-BE49-F238E27FC236}">
                <a16:creationId xmlns:a16="http://schemas.microsoft.com/office/drawing/2014/main" id="{5B12DAD6-93EF-5042-858F-4BB3334F107E}"/>
              </a:ext>
            </a:extLst>
          </p:cNvPr>
          <p:cNvSpPr>
            <a:spLocks noGrp="1"/>
          </p:cNvSpPr>
          <p:nvPr>
            <p:ph type="body" sz="quarter" idx="14" hasCustomPrompt="1"/>
          </p:nvPr>
        </p:nvSpPr>
        <p:spPr>
          <a:xfrm>
            <a:off x="555867" y="396545"/>
            <a:ext cx="8311908" cy="717437"/>
          </a:xfrm>
          <a:prstGeom prst="rect">
            <a:avLst/>
          </a:prstGeom>
        </p:spPr>
        <p:txBody>
          <a:bodyPr lIns="0" tIns="0" rIns="0" bIns="0" anchor="b" anchorCtr="0"/>
          <a:lstStyle>
            <a:lvl1pPr marL="0" indent="0">
              <a:lnSpc>
                <a:spcPts val="2800"/>
              </a:lnSpc>
              <a:spcBef>
                <a:spcPts val="0"/>
              </a:spcBef>
              <a:buNone/>
              <a:defRPr sz="2400">
                <a:solidFill>
                  <a:srgbClr val="C40D1E"/>
                </a:solidFill>
                <a:latin typeface="Arial" panose="020B0604020202020204" pitchFamily="34" charset="0"/>
                <a:cs typeface="Arial" panose="020B0604020202020204" pitchFamily="34" charset="0"/>
              </a:defRPr>
            </a:lvl1pPr>
          </a:lstStyle>
          <a:p>
            <a:r>
              <a:rPr lang="de-DE" dirty="0"/>
              <a:t>Headline Arial Regular 24pt, ZA: 28pt</a:t>
            </a:r>
            <a:br>
              <a:rPr lang="de-DE" dirty="0"/>
            </a:br>
            <a:r>
              <a:rPr lang="de-DE" dirty="0"/>
              <a:t>optional 2-zeilig</a:t>
            </a:r>
          </a:p>
        </p:txBody>
      </p:sp>
    </p:spTree>
    <p:extLst>
      <p:ext uri="{BB962C8B-B14F-4D97-AF65-F5344CB8AC3E}">
        <p14:creationId xmlns:p14="http://schemas.microsoft.com/office/powerpoint/2010/main" val="14314736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Inhalt - Bild und Text">
    <p:spTree>
      <p:nvGrpSpPr>
        <p:cNvPr id="1" name=""/>
        <p:cNvGrpSpPr/>
        <p:nvPr/>
      </p:nvGrpSpPr>
      <p:grpSpPr>
        <a:xfrm>
          <a:off x="0" y="0"/>
          <a:ext cx="0" cy="0"/>
          <a:chOff x="0" y="0"/>
          <a:chExt cx="0" cy="0"/>
        </a:xfrm>
      </p:grpSpPr>
      <p:sp>
        <p:nvSpPr>
          <p:cNvPr id="5" name="Textplatzhalter 2">
            <a:extLst>
              <a:ext uri="{FF2B5EF4-FFF2-40B4-BE49-F238E27FC236}">
                <a16:creationId xmlns:a16="http://schemas.microsoft.com/office/drawing/2014/main" id="{55FA8C39-046E-E34F-8E80-7B9D099D728B}"/>
              </a:ext>
            </a:extLst>
          </p:cNvPr>
          <p:cNvSpPr>
            <a:spLocks noGrp="1"/>
          </p:cNvSpPr>
          <p:nvPr>
            <p:ph type="body" sz="quarter" idx="18" hasCustomPrompt="1"/>
          </p:nvPr>
        </p:nvSpPr>
        <p:spPr>
          <a:xfrm>
            <a:off x="6519600" y="1382400"/>
            <a:ext cx="3982945" cy="4093588"/>
          </a:xfrm>
          <a:prstGeom prst="rect">
            <a:avLst/>
          </a:prstGeom>
        </p:spPr>
        <p:txBody>
          <a:bodyPr lIns="0" tIns="0" rIns="0" bIns="0"/>
          <a:lstStyle>
            <a:lvl1pPr marL="0" indent="0">
              <a:lnSpc>
                <a:spcPts val="2400"/>
              </a:lnSpc>
              <a:spcBef>
                <a:spcPts val="0"/>
              </a:spcBef>
              <a:buNone/>
              <a:defRPr sz="1800">
                <a:solidFill>
                  <a:srgbClr val="434343"/>
                </a:solidFill>
                <a:latin typeface="Arial" panose="020B0604020202020204" pitchFamily="34" charset="0"/>
                <a:cs typeface="Arial" panose="020B0604020202020204" pitchFamily="34" charset="0"/>
              </a:defRPr>
            </a:lvl1pPr>
          </a:lstStyle>
          <a:p>
            <a:pPr lvl="0"/>
            <a:r>
              <a:rPr lang="de-DE" dirty="0"/>
              <a:t>Arial Regular 18pt, ZA: 24pt </a:t>
            </a:r>
            <a:br>
              <a:rPr lang="de-DE" dirty="0"/>
            </a:b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consetetur</a:t>
            </a:r>
            <a:r>
              <a:rPr lang="de-DE" dirty="0"/>
              <a:t> </a:t>
            </a:r>
            <a:r>
              <a:rPr lang="de-DE" dirty="0" err="1"/>
              <a:t>sadipscing</a:t>
            </a:r>
            <a:r>
              <a:rPr lang="de-DE" dirty="0"/>
              <a:t> </a:t>
            </a:r>
            <a:r>
              <a:rPr lang="de-DE" dirty="0" err="1"/>
              <a:t>elitr</a:t>
            </a:r>
            <a:r>
              <a:rPr lang="de-DE" dirty="0"/>
              <a:t>, sed </a:t>
            </a:r>
            <a:r>
              <a:rPr lang="de-DE" dirty="0" err="1"/>
              <a:t>diam</a:t>
            </a:r>
            <a:r>
              <a:rPr lang="de-DE" dirty="0"/>
              <a:t> </a:t>
            </a:r>
            <a:r>
              <a:rPr lang="de-DE" dirty="0" err="1"/>
              <a:t>nonumy</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et </a:t>
            </a:r>
            <a:r>
              <a:rPr lang="de-DE" dirty="0" err="1"/>
              <a:t>dolore</a:t>
            </a:r>
            <a:r>
              <a:rPr lang="de-DE" dirty="0"/>
              <a:t> magna </a:t>
            </a:r>
            <a:r>
              <a:rPr lang="de-DE" dirty="0" err="1"/>
              <a:t>aliquyam</a:t>
            </a:r>
            <a:r>
              <a:rPr lang="de-DE" dirty="0"/>
              <a:t> erat, sed </a:t>
            </a:r>
            <a:r>
              <a:rPr lang="de-DE" dirty="0" err="1"/>
              <a:t>diam</a:t>
            </a:r>
            <a:r>
              <a:rPr lang="de-DE" dirty="0"/>
              <a:t> </a:t>
            </a:r>
            <a:r>
              <a:rPr lang="de-DE" dirty="0" err="1"/>
              <a:t>voluptua</a:t>
            </a:r>
            <a:r>
              <a:rPr lang="de-DE" dirty="0"/>
              <a:t>. At </a:t>
            </a:r>
            <a:r>
              <a:rPr lang="de-DE" dirty="0" err="1"/>
              <a:t>vero</a:t>
            </a:r>
            <a:r>
              <a:rPr lang="de-DE" dirty="0"/>
              <a:t> </a:t>
            </a:r>
            <a:r>
              <a:rPr lang="de-DE" dirty="0" err="1"/>
              <a:t>eos</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et </a:t>
            </a:r>
            <a:r>
              <a:rPr lang="de-DE" dirty="0" err="1"/>
              <a:t>dolore</a:t>
            </a:r>
            <a:r>
              <a:rPr lang="de-DE" dirty="0"/>
              <a:t> magna </a:t>
            </a:r>
            <a:r>
              <a:rPr lang="de-DE" dirty="0" err="1"/>
              <a:t>aliquyam</a:t>
            </a:r>
            <a:r>
              <a:rPr lang="de-DE" dirty="0"/>
              <a:t> </a:t>
            </a:r>
            <a:r>
              <a:rPr lang="de-DE" dirty="0" err="1"/>
              <a:t>erat</a:t>
            </a:r>
            <a:r>
              <a:rPr lang="de-DE" dirty="0"/>
              <a:t>, </a:t>
            </a:r>
            <a:r>
              <a:rPr lang="de-DE" dirty="0" err="1"/>
              <a:t>sed</a:t>
            </a:r>
            <a:r>
              <a:rPr lang="de-DE" dirty="0"/>
              <a:t> </a:t>
            </a:r>
            <a:r>
              <a:rPr lang="de-DE" dirty="0" err="1"/>
              <a:t>diam</a:t>
            </a:r>
            <a:r>
              <a:rPr lang="de-DE" dirty="0"/>
              <a:t> </a:t>
            </a:r>
            <a:r>
              <a:rPr lang="de-DE" dirty="0" err="1"/>
              <a:t>voluptua</a:t>
            </a:r>
            <a:r>
              <a:rPr lang="de-DE" dirty="0"/>
              <a:t>. At </a:t>
            </a:r>
            <a:r>
              <a:rPr lang="de-DE" dirty="0" err="1"/>
              <a:t>vero</a:t>
            </a:r>
            <a:r>
              <a:rPr lang="de-DE" dirty="0"/>
              <a:t> </a:t>
            </a:r>
            <a:r>
              <a:rPr lang="de-DE" dirty="0" err="1"/>
              <a:t>eos</a:t>
            </a:r>
            <a:r>
              <a:rPr lang="de-DE" dirty="0"/>
              <a:t> et </a:t>
            </a:r>
            <a:r>
              <a:rPr lang="de-DE" dirty="0" err="1"/>
              <a:t>accusam</a:t>
            </a:r>
            <a:r>
              <a:rPr lang="de-DE" dirty="0"/>
              <a:t> et </a:t>
            </a:r>
            <a:r>
              <a:rPr lang="de-DE" dirty="0" err="1"/>
              <a:t>justo</a:t>
            </a:r>
            <a:r>
              <a:rPr lang="de-DE" dirty="0"/>
              <a:t> </a:t>
            </a:r>
            <a:r>
              <a:rPr lang="de-DE" dirty="0" err="1"/>
              <a:t>duo</a:t>
            </a:r>
            <a:r>
              <a:rPr lang="de-DE" dirty="0"/>
              <a:t> </a:t>
            </a:r>
            <a:r>
              <a:rPr lang="de-DE" dirty="0" err="1"/>
              <a:t>dolores</a:t>
            </a:r>
            <a:r>
              <a:rPr lang="de-DE" dirty="0"/>
              <a:t> et </a:t>
            </a:r>
            <a:r>
              <a:rPr lang="de-DE" dirty="0" err="1"/>
              <a:t>ea</a:t>
            </a:r>
            <a:r>
              <a:rPr lang="de-DE" dirty="0"/>
              <a:t> </a:t>
            </a:r>
            <a:r>
              <a:rPr lang="de-DE" dirty="0" err="1"/>
              <a:t>rebum</a:t>
            </a:r>
            <a:r>
              <a:rPr lang="de-DE" dirty="0"/>
              <a:t>. Stet </a:t>
            </a:r>
            <a:r>
              <a:rPr lang="de-DE" dirty="0" err="1"/>
              <a:t>clita</a:t>
            </a:r>
            <a:r>
              <a:rPr lang="de-DE" dirty="0"/>
              <a:t> </a:t>
            </a:r>
            <a:r>
              <a:rPr lang="de-DE" dirty="0" err="1"/>
              <a:t>kasd</a:t>
            </a:r>
            <a:r>
              <a:rPr lang="de-DE" dirty="0"/>
              <a:t> </a:t>
            </a:r>
            <a:r>
              <a:rPr lang="de-DE" dirty="0" err="1"/>
              <a:t>gubergren</a:t>
            </a:r>
            <a:r>
              <a:rPr lang="de-DE" dirty="0"/>
              <a:t>, </a:t>
            </a:r>
            <a:r>
              <a:rPr lang="de-DE" dirty="0" err="1"/>
              <a:t>no</a:t>
            </a:r>
            <a:r>
              <a:rPr lang="de-DE" dirty="0"/>
              <a:t> </a:t>
            </a:r>
            <a:r>
              <a:rPr lang="de-DE" dirty="0" err="1"/>
              <a:t>sea</a:t>
            </a:r>
            <a:r>
              <a:rPr lang="de-DE" dirty="0"/>
              <a:t> </a:t>
            </a:r>
            <a:r>
              <a:rPr lang="de-DE" dirty="0" err="1"/>
              <a:t>takimata</a:t>
            </a:r>
            <a:br>
              <a:rPr lang="de-DE" dirty="0"/>
            </a:br>
            <a:r>
              <a:rPr lang="de-DE" dirty="0"/>
              <a:t>sanctus </a:t>
            </a:r>
            <a:r>
              <a:rPr lang="de-DE" dirty="0" err="1"/>
              <a:t>est</a:t>
            </a:r>
            <a:r>
              <a:rPr lang="de-DE" dirty="0"/>
              <a:t> </a:t>
            </a: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Lorem</a:t>
            </a:r>
            <a:r>
              <a:rPr lang="de-DE" dirty="0"/>
              <a:t> </a:t>
            </a:r>
            <a:r>
              <a:rPr lang="de-DE" dirty="0" err="1"/>
              <a:t>ipsum</a:t>
            </a:r>
            <a:endParaRPr lang="de-DE" dirty="0"/>
          </a:p>
        </p:txBody>
      </p:sp>
      <p:sp>
        <p:nvSpPr>
          <p:cNvPr id="6" name="Bildplatzhalter 2">
            <a:extLst>
              <a:ext uri="{FF2B5EF4-FFF2-40B4-BE49-F238E27FC236}">
                <a16:creationId xmlns:a16="http://schemas.microsoft.com/office/drawing/2014/main" id="{8BAC5633-896E-0F44-8840-CC87B5BE7045}"/>
              </a:ext>
            </a:extLst>
          </p:cNvPr>
          <p:cNvSpPr>
            <a:spLocks noGrp="1"/>
          </p:cNvSpPr>
          <p:nvPr>
            <p:ph type="pic" sz="quarter" idx="17" hasCustomPrompt="1"/>
          </p:nvPr>
        </p:nvSpPr>
        <p:spPr>
          <a:xfrm>
            <a:off x="550861" y="1381405"/>
            <a:ext cx="5545139" cy="4093589"/>
          </a:xfrm>
          <a:prstGeom prst="rect">
            <a:avLst/>
          </a:prstGeom>
          <a:solidFill>
            <a:srgbClr val="434343"/>
          </a:solidFill>
        </p:spPr>
        <p:txBody>
          <a:bodyPr anchor="ctr" anchorCtr="0"/>
          <a:lstStyle>
            <a:lvl1pPr marL="0" indent="0" algn="ctr">
              <a:buFontTx/>
              <a:buNone/>
              <a:defRPr>
                <a:solidFill>
                  <a:schemeClr val="bg1"/>
                </a:solidFill>
              </a:defRPr>
            </a:lvl1pPr>
          </a:lstStyle>
          <a:p>
            <a:r>
              <a:rPr lang="de-DE" dirty="0"/>
              <a:t>Platzhalter: Bild</a:t>
            </a:r>
          </a:p>
        </p:txBody>
      </p:sp>
      <p:sp>
        <p:nvSpPr>
          <p:cNvPr id="7" name="Textplatzhalter 17">
            <a:extLst>
              <a:ext uri="{FF2B5EF4-FFF2-40B4-BE49-F238E27FC236}">
                <a16:creationId xmlns:a16="http://schemas.microsoft.com/office/drawing/2014/main" id="{8B97D328-84F0-2C4A-BBAB-1E79CDFE9BBF}"/>
              </a:ext>
            </a:extLst>
          </p:cNvPr>
          <p:cNvSpPr>
            <a:spLocks noGrp="1"/>
          </p:cNvSpPr>
          <p:nvPr>
            <p:ph type="body" sz="quarter" idx="14" hasCustomPrompt="1"/>
          </p:nvPr>
        </p:nvSpPr>
        <p:spPr>
          <a:xfrm>
            <a:off x="555867" y="396545"/>
            <a:ext cx="8311908" cy="717437"/>
          </a:xfrm>
          <a:prstGeom prst="rect">
            <a:avLst/>
          </a:prstGeom>
        </p:spPr>
        <p:txBody>
          <a:bodyPr lIns="0" tIns="0" rIns="0" bIns="0" anchor="b" anchorCtr="0"/>
          <a:lstStyle>
            <a:lvl1pPr marL="0" indent="0">
              <a:lnSpc>
                <a:spcPts val="2800"/>
              </a:lnSpc>
              <a:spcBef>
                <a:spcPts val="0"/>
              </a:spcBef>
              <a:buNone/>
              <a:defRPr sz="2400">
                <a:solidFill>
                  <a:srgbClr val="C40D1E"/>
                </a:solidFill>
                <a:latin typeface="Arial" panose="020B0604020202020204" pitchFamily="34" charset="0"/>
                <a:cs typeface="Arial" panose="020B0604020202020204" pitchFamily="34" charset="0"/>
              </a:defRPr>
            </a:lvl1pPr>
          </a:lstStyle>
          <a:p>
            <a:r>
              <a:rPr lang="de-DE" dirty="0"/>
              <a:t>Headline Arial Regular 24pt, ZA: 28pt</a:t>
            </a:r>
            <a:br>
              <a:rPr lang="de-DE" dirty="0"/>
            </a:br>
            <a:r>
              <a:rPr lang="de-DE" dirty="0"/>
              <a:t>optional 2-zeilig</a:t>
            </a:r>
          </a:p>
        </p:txBody>
      </p:sp>
    </p:spTree>
    <p:extLst>
      <p:ext uri="{BB962C8B-B14F-4D97-AF65-F5344CB8AC3E}">
        <p14:creationId xmlns:p14="http://schemas.microsoft.com/office/powerpoint/2010/main" val="6643881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Inhalt - Bild und Stichpunkte">
    <p:spTree>
      <p:nvGrpSpPr>
        <p:cNvPr id="1" name=""/>
        <p:cNvGrpSpPr/>
        <p:nvPr/>
      </p:nvGrpSpPr>
      <p:grpSpPr>
        <a:xfrm>
          <a:off x="0" y="0"/>
          <a:ext cx="0" cy="0"/>
          <a:chOff x="0" y="0"/>
          <a:chExt cx="0" cy="0"/>
        </a:xfrm>
      </p:grpSpPr>
      <p:sp>
        <p:nvSpPr>
          <p:cNvPr id="5" name="Textplatzhalter 5">
            <a:extLst>
              <a:ext uri="{FF2B5EF4-FFF2-40B4-BE49-F238E27FC236}">
                <a16:creationId xmlns:a16="http://schemas.microsoft.com/office/drawing/2014/main" id="{9278302A-602E-374F-9D64-8FCFB4DC60C0}"/>
              </a:ext>
            </a:extLst>
          </p:cNvPr>
          <p:cNvSpPr>
            <a:spLocks noGrp="1"/>
          </p:cNvSpPr>
          <p:nvPr>
            <p:ph type="body" sz="quarter" idx="18" hasCustomPrompt="1"/>
          </p:nvPr>
        </p:nvSpPr>
        <p:spPr>
          <a:xfrm>
            <a:off x="6519600" y="1364399"/>
            <a:ext cx="3981600" cy="4111200"/>
          </a:xfrm>
          <a:prstGeom prst="rect">
            <a:avLst/>
          </a:prstGeom>
        </p:spPr>
        <p:txBody>
          <a:bodyPr lIns="0" tIns="0" rIns="0" bIns="0"/>
          <a:lstStyle>
            <a:lvl1pPr marL="2286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1pPr>
            <a:lvl2pPr marL="6858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2pPr>
            <a:lvl3pPr marL="11430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3pPr>
            <a:lvl4pPr marL="16002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4pPr>
            <a:lvl5pPr marL="20574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5pPr>
          </a:lstStyle>
          <a:p>
            <a:pPr lvl="0"/>
            <a:r>
              <a:rPr lang="de-DE" dirty="0"/>
              <a:t>Aufzählung 1. Ebene Arial Regular 18 </a:t>
            </a:r>
            <a:r>
              <a:rPr lang="de-DE" dirty="0" err="1"/>
              <a:t>pt</a:t>
            </a:r>
            <a:r>
              <a:rPr lang="de-DE" dirty="0"/>
              <a:t>, ZA: 24 </a:t>
            </a:r>
            <a:r>
              <a:rPr lang="de-DE" dirty="0" err="1"/>
              <a:t>pt</a:t>
            </a:r>
            <a:endParaRPr lang="de-DE" dirty="0"/>
          </a:p>
          <a:p>
            <a:pPr lvl="1"/>
            <a:r>
              <a:rPr lang="de-DE" dirty="0"/>
              <a:t>2. Ebene</a:t>
            </a:r>
          </a:p>
          <a:p>
            <a:pPr lvl="2"/>
            <a:r>
              <a:rPr lang="de-DE" dirty="0"/>
              <a:t>3. Ebene</a:t>
            </a:r>
          </a:p>
          <a:p>
            <a:pPr lvl="3"/>
            <a:r>
              <a:rPr lang="de-DE" dirty="0"/>
              <a:t>4. Ebene</a:t>
            </a:r>
          </a:p>
          <a:p>
            <a:pPr lvl="4"/>
            <a:r>
              <a:rPr lang="de-DE" dirty="0"/>
              <a:t>5. Ebene</a:t>
            </a:r>
          </a:p>
        </p:txBody>
      </p:sp>
      <p:sp>
        <p:nvSpPr>
          <p:cNvPr id="6" name="Bildplatzhalter 2">
            <a:extLst>
              <a:ext uri="{FF2B5EF4-FFF2-40B4-BE49-F238E27FC236}">
                <a16:creationId xmlns:a16="http://schemas.microsoft.com/office/drawing/2014/main" id="{07DD2921-214D-B547-93DD-EB9D2A99CCEE}"/>
              </a:ext>
            </a:extLst>
          </p:cNvPr>
          <p:cNvSpPr>
            <a:spLocks noGrp="1"/>
          </p:cNvSpPr>
          <p:nvPr>
            <p:ph type="pic" sz="quarter" idx="17" hasCustomPrompt="1"/>
          </p:nvPr>
        </p:nvSpPr>
        <p:spPr>
          <a:xfrm>
            <a:off x="550861" y="1381405"/>
            <a:ext cx="5545139" cy="4093589"/>
          </a:xfrm>
          <a:prstGeom prst="rect">
            <a:avLst/>
          </a:prstGeom>
          <a:solidFill>
            <a:srgbClr val="434343"/>
          </a:solidFill>
        </p:spPr>
        <p:txBody>
          <a:bodyPr anchor="ctr" anchorCtr="0"/>
          <a:lstStyle>
            <a:lvl1pPr marL="0" indent="0" algn="ctr">
              <a:buFontTx/>
              <a:buNone/>
              <a:defRPr>
                <a:solidFill>
                  <a:schemeClr val="bg1"/>
                </a:solidFill>
              </a:defRPr>
            </a:lvl1pPr>
          </a:lstStyle>
          <a:p>
            <a:r>
              <a:rPr lang="de-DE" dirty="0"/>
              <a:t>Platzhalter: Bild</a:t>
            </a:r>
          </a:p>
        </p:txBody>
      </p:sp>
      <p:sp>
        <p:nvSpPr>
          <p:cNvPr id="7" name="Textplatzhalter 17">
            <a:extLst>
              <a:ext uri="{FF2B5EF4-FFF2-40B4-BE49-F238E27FC236}">
                <a16:creationId xmlns:a16="http://schemas.microsoft.com/office/drawing/2014/main" id="{86E90AC2-BC99-614A-AF4F-584EF9915C55}"/>
              </a:ext>
            </a:extLst>
          </p:cNvPr>
          <p:cNvSpPr>
            <a:spLocks noGrp="1"/>
          </p:cNvSpPr>
          <p:nvPr>
            <p:ph type="body" sz="quarter" idx="14" hasCustomPrompt="1"/>
          </p:nvPr>
        </p:nvSpPr>
        <p:spPr>
          <a:xfrm>
            <a:off x="555867" y="396545"/>
            <a:ext cx="8311908" cy="717437"/>
          </a:xfrm>
          <a:prstGeom prst="rect">
            <a:avLst/>
          </a:prstGeom>
        </p:spPr>
        <p:txBody>
          <a:bodyPr lIns="0" tIns="0" rIns="0" bIns="0" anchor="b" anchorCtr="0"/>
          <a:lstStyle>
            <a:lvl1pPr marL="0" indent="0">
              <a:lnSpc>
                <a:spcPts val="2800"/>
              </a:lnSpc>
              <a:spcBef>
                <a:spcPts val="0"/>
              </a:spcBef>
              <a:buNone/>
              <a:defRPr sz="2400">
                <a:solidFill>
                  <a:srgbClr val="C40D1E"/>
                </a:solidFill>
                <a:latin typeface="Arial" panose="020B0604020202020204" pitchFamily="34" charset="0"/>
                <a:cs typeface="Arial" panose="020B0604020202020204" pitchFamily="34" charset="0"/>
              </a:defRPr>
            </a:lvl1pPr>
          </a:lstStyle>
          <a:p>
            <a:r>
              <a:rPr lang="de-DE" dirty="0"/>
              <a:t>Headline Arial Regular 24pt, ZA: 28pt</a:t>
            </a:r>
            <a:br>
              <a:rPr lang="de-DE" dirty="0"/>
            </a:br>
            <a:r>
              <a:rPr lang="de-DE" dirty="0"/>
              <a:t>optional 2-zeilig</a:t>
            </a:r>
          </a:p>
        </p:txBody>
      </p:sp>
    </p:spTree>
    <p:extLst>
      <p:ext uri="{BB962C8B-B14F-4D97-AF65-F5344CB8AC3E}">
        <p14:creationId xmlns:p14="http://schemas.microsoft.com/office/powerpoint/2010/main" val="327643400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slideLayout" Target="../slideLayouts/slideLayout4.xml"/><Relationship Id="rId3" Type="http://schemas.openxmlformats.org/officeDocument/2006/relationships/slideLayout" Target="../slideLayouts/slideLayout5.xml"/><Relationship Id="rId4" Type="http://schemas.openxmlformats.org/officeDocument/2006/relationships/theme" Target="../theme/theme2.xml"/><Relationship Id="rId5" Type="http://schemas.openxmlformats.org/officeDocument/2006/relationships/image" Target="../media/image2.png"/><Relationship Id="rId6" Type="http://schemas.openxmlformats.org/officeDocument/2006/relationships/image" Target="../media/image3.svg"/><Relationship Id="rId7" Type="http://schemas.openxmlformats.org/officeDocument/2006/relationships/image" Target="../media/image4.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Rechteck 4">
            <a:extLst>
              <a:ext uri="{FF2B5EF4-FFF2-40B4-BE49-F238E27FC236}">
                <a16:creationId xmlns:a16="http://schemas.microsoft.com/office/drawing/2014/main" id="{B97C5655-F240-634C-9B7B-B6181A1B3AF5}"/>
              </a:ext>
            </a:extLst>
          </p:cNvPr>
          <p:cNvSpPr/>
          <p:nvPr userDrawn="1"/>
        </p:nvSpPr>
        <p:spPr>
          <a:xfrm>
            <a:off x="0" y="1668462"/>
            <a:ext cx="12192000" cy="5189537"/>
          </a:xfrm>
          <a:custGeom>
            <a:avLst/>
            <a:gdLst>
              <a:gd name="connsiteX0" fmla="*/ 0 w 12192000"/>
              <a:gd name="connsiteY0" fmla="*/ 0 h 4760912"/>
              <a:gd name="connsiteX1" fmla="*/ 12192000 w 12192000"/>
              <a:gd name="connsiteY1" fmla="*/ 0 h 4760912"/>
              <a:gd name="connsiteX2" fmla="*/ 12192000 w 12192000"/>
              <a:gd name="connsiteY2" fmla="*/ 4760912 h 4760912"/>
              <a:gd name="connsiteX3" fmla="*/ 0 w 12192000"/>
              <a:gd name="connsiteY3" fmla="*/ 4760912 h 4760912"/>
              <a:gd name="connsiteX4" fmla="*/ 0 w 12192000"/>
              <a:gd name="connsiteY4" fmla="*/ 0 h 4760912"/>
              <a:gd name="connsiteX0" fmla="*/ 0 w 12192000"/>
              <a:gd name="connsiteY0" fmla="*/ 212725 h 4973637"/>
              <a:gd name="connsiteX1" fmla="*/ 12192000 w 12192000"/>
              <a:gd name="connsiteY1" fmla="*/ 0 h 4973637"/>
              <a:gd name="connsiteX2" fmla="*/ 12192000 w 12192000"/>
              <a:gd name="connsiteY2" fmla="*/ 4973637 h 4973637"/>
              <a:gd name="connsiteX3" fmla="*/ 0 w 12192000"/>
              <a:gd name="connsiteY3" fmla="*/ 4973637 h 4973637"/>
              <a:gd name="connsiteX4" fmla="*/ 0 w 12192000"/>
              <a:gd name="connsiteY4" fmla="*/ 212725 h 4973637"/>
              <a:gd name="connsiteX0" fmla="*/ 0 w 12192000"/>
              <a:gd name="connsiteY0" fmla="*/ 428625 h 5189537"/>
              <a:gd name="connsiteX1" fmla="*/ 12192000 w 12192000"/>
              <a:gd name="connsiteY1" fmla="*/ 0 h 5189537"/>
              <a:gd name="connsiteX2" fmla="*/ 12192000 w 12192000"/>
              <a:gd name="connsiteY2" fmla="*/ 5189537 h 5189537"/>
              <a:gd name="connsiteX3" fmla="*/ 0 w 12192000"/>
              <a:gd name="connsiteY3" fmla="*/ 5189537 h 5189537"/>
              <a:gd name="connsiteX4" fmla="*/ 0 w 12192000"/>
              <a:gd name="connsiteY4" fmla="*/ 428625 h 5189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5189537">
                <a:moveTo>
                  <a:pt x="0" y="428625"/>
                </a:moveTo>
                <a:lnTo>
                  <a:pt x="12192000" y="0"/>
                </a:lnTo>
                <a:lnTo>
                  <a:pt x="12192000" y="5189537"/>
                </a:lnTo>
                <a:lnTo>
                  <a:pt x="0" y="5189537"/>
                </a:lnTo>
                <a:lnTo>
                  <a:pt x="0" y="428625"/>
                </a:lnTo>
                <a:close/>
              </a:path>
            </a:pathLst>
          </a:custGeom>
          <a:solidFill>
            <a:srgbClr val="C40D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7" name="Grafik 6">
            <a:extLst>
              <a:ext uri="{FF2B5EF4-FFF2-40B4-BE49-F238E27FC236}">
                <a16:creationId xmlns:a16="http://schemas.microsoft.com/office/drawing/2014/main" id="{F8DDEEBD-D00D-1249-9E02-EDC0548BFCAC}"/>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a:xfrm>
            <a:off x="9388168" y="378741"/>
            <a:ext cx="2250000" cy="774000"/>
          </a:xfrm>
          <a:prstGeom prst="rect">
            <a:avLst/>
          </a:prstGeom>
        </p:spPr>
      </p:pic>
      <p:sp>
        <p:nvSpPr>
          <p:cNvPr id="4" name="Textfeld 3">
            <a:extLst>
              <a:ext uri="{FF2B5EF4-FFF2-40B4-BE49-F238E27FC236}">
                <a16:creationId xmlns:a16="http://schemas.microsoft.com/office/drawing/2014/main" id="{0D20A730-187A-274D-A0E6-8412686F8775}"/>
              </a:ext>
            </a:extLst>
          </p:cNvPr>
          <p:cNvSpPr txBox="1"/>
          <p:nvPr userDrawn="1"/>
        </p:nvSpPr>
        <p:spPr>
          <a:xfrm>
            <a:off x="12292755" y="5534561"/>
            <a:ext cx="3102416" cy="1323439"/>
          </a:xfrm>
          <a:prstGeom prst="rect">
            <a:avLst/>
          </a:prstGeom>
          <a:noFill/>
        </p:spPr>
        <p:txBody>
          <a:bodyPr wrap="square" rtlCol="0">
            <a:spAutoFit/>
          </a:bodyPr>
          <a:lstStyle/>
          <a:p>
            <a:r>
              <a:rPr lang="de-DE" sz="1000" b="1" dirty="0">
                <a:latin typeface="Arial" panose="020B0604020202020204" pitchFamily="34" charset="0"/>
                <a:cs typeface="Arial" panose="020B0604020202020204" pitchFamily="34" charset="0"/>
              </a:rPr>
              <a:t>Titelseiten – Platzhalter für </a:t>
            </a:r>
            <a:r>
              <a:rPr lang="de-DE" sz="1000" b="1" dirty="0" err="1">
                <a:latin typeface="Arial" panose="020B0604020202020204" pitchFamily="34" charset="0"/>
                <a:cs typeface="Arial" panose="020B0604020202020204" pitchFamily="34" charset="0"/>
              </a:rPr>
              <a:t>Sublogo</a:t>
            </a:r>
            <a:r>
              <a:rPr lang="de-DE" sz="1000" b="1" dirty="0">
                <a:latin typeface="Arial" panose="020B0604020202020204" pitchFamily="34" charset="0"/>
                <a:cs typeface="Arial" panose="020B0604020202020204" pitchFamily="34" charset="0"/>
              </a:rPr>
              <a:t> ändern: </a:t>
            </a:r>
            <a:r>
              <a:rPr lang="de-DE" sz="1000" dirty="0">
                <a:latin typeface="Arial" panose="020B0604020202020204" pitchFamily="34" charset="0"/>
                <a:cs typeface="Arial" panose="020B0604020202020204" pitchFamily="34" charset="0"/>
              </a:rPr>
              <a:t>Direkt auf dieser Folie &gt; Bild anklicken &gt; Rechtsklick &gt; Bild einfügen</a:t>
            </a:r>
            <a:br>
              <a:rPr lang="de-DE" sz="1000" dirty="0">
                <a:latin typeface="Arial" panose="020B0604020202020204" pitchFamily="34" charset="0"/>
                <a:cs typeface="Arial" panose="020B0604020202020204" pitchFamily="34" charset="0"/>
              </a:rPr>
            </a:br>
            <a:br>
              <a:rPr lang="de-DE" sz="1000" dirty="0">
                <a:latin typeface="Arial" panose="020B0604020202020204" pitchFamily="34" charset="0"/>
                <a:cs typeface="Arial" panose="020B0604020202020204" pitchFamily="34" charset="0"/>
              </a:rPr>
            </a:br>
            <a:r>
              <a:rPr lang="de-DE" sz="1000" b="1" dirty="0">
                <a:latin typeface="Arial" panose="020B0604020202020204" pitchFamily="34" charset="0"/>
                <a:cs typeface="Arial" panose="020B0604020202020204" pitchFamily="34" charset="0"/>
              </a:rPr>
              <a:t>Bild an Rahmen anpassen</a:t>
            </a:r>
            <a:r>
              <a:rPr lang="de-DE" sz="1000" dirty="0">
                <a:latin typeface="Arial" panose="020B0604020202020204" pitchFamily="34" charset="0"/>
                <a:cs typeface="Arial" panose="020B0604020202020204" pitchFamily="34" charset="0"/>
              </a:rPr>
              <a: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Bild anklicken &gt; Bildformat &gt; Zuschneiden &gt;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im Dropdown „Einpassen“ wählen &gt;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ggf. Bild nochmals neu positionieren </a:t>
            </a:r>
          </a:p>
        </p:txBody>
      </p:sp>
    </p:spTree>
    <p:extLst>
      <p:ext uri="{BB962C8B-B14F-4D97-AF65-F5344CB8AC3E}">
        <p14:creationId xmlns:p14="http://schemas.microsoft.com/office/powerpoint/2010/main" val="3079698843"/>
      </p:ext>
    </p:extLst>
  </p:cSld>
  <p:clrMap bg1="lt1" tx1="dk1" bg2="lt2" tx2="dk2" accent1="accent1" accent2="accent2" accent3="accent3" accent4="accent4" accent5="accent5" accent6="accent6" hlink="hlink" folHlink="folHlink"/>
  <p:sldLayoutIdLst>
    <p:sldLayoutId id="2147483714" r:id="rId1"/>
    <p:sldLayoutId id="2147483713" r:id="rId2"/>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347" userDrawn="1">
          <p15:clr>
            <a:srgbClr val="F26B43"/>
          </p15:clr>
        </p15:guide>
        <p15:guide id="2" pos="7333" userDrawn="1">
          <p15:clr>
            <a:srgbClr val="F26B43"/>
          </p15:clr>
        </p15:guide>
        <p15:guide id="3" orient="horz" pos="346" userDrawn="1">
          <p15:clr>
            <a:srgbClr val="F26B43"/>
          </p15:clr>
        </p15:guide>
        <p15:guide id="4" pos="1232" userDrawn="1">
          <p15:clr>
            <a:srgbClr val="F26B43"/>
          </p15:clr>
        </p15:guide>
        <p15:guide id="5" orient="horz" pos="3974" userDrawn="1">
          <p15:clr>
            <a:srgbClr val="F26B43"/>
          </p15:clr>
        </p15:guide>
        <p15:guide id="6" orient="horz" pos="663" userDrawn="1">
          <p15:clr>
            <a:srgbClr val="F26B43"/>
          </p15:clr>
        </p15:guide>
        <p15:guide id="7" orient="horz" pos="1003" userDrawn="1">
          <p15:clr>
            <a:srgbClr val="F26B43"/>
          </p15:clr>
        </p15:guide>
        <p15:guide id="8" orient="horz" pos="1321" userDrawn="1">
          <p15:clr>
            <a:srgbClr val="F26B43"/>
          </p15:clr>
        </p15:guide>
        <p15:guide id="9" orient="horz" pos="1661" userDrawn="1">
          <p15:clr>
            <a:srgbClr val="F26B43"/>
          </p15:clr>
        </p15:guide>
        <p15:guide id="10" orient="horz" pos="2001" userDrawn="1">
          <p15:clr>
            <a:srgbClr val="F26B43"/>
          </p15:clr>
        </p15:guide>
        <p15:guide id="11" orient="horz" pos="3339" userDrawn="1">
          <p15:clr>
            <a:srgbClr val="F26B43"/>
          </p15:clr>
        </p15:guide>
        <p15:guide id="12" orient="horz" pos="2319" userDrawn="1">
          <p15:clr>
            <a:srgbClr val="F26B43"/>
          </p15:clr>
        </p15:guide>
        <p15:guide id="13" orient="horz" pos="2999" userDrawn="1">
          <p15:clr>
            <a:srgbClr val="F26B43"/>
          </p15:clr>
        </p15:guide>
        <p15:guide id="14" orient="horz" pos="3657" userDrawn="1">
          <p15:clr>
            <a:srgbClr val="F26B43"/>
          </p15:clr>
        </p15:guide>
        <p15:guide id="15" orient="horz" pos="2659" userDrawn="1">
          <p15:clr>
            <a:srgbClr val="F26B43"/>
          </p15:clr>
        </p15:guide>
        <p15:guide id="16" pos="2094" userDrawn="1">
          <p15:clr>
            <a:srgbClr val="F26B43"/>
          </p15:clr>
        </p15:guide>
        <p15:guide id="17" pos="2978" userDrawn="1">
          <p15:clr>
            <a:srgbClr val="F26B43"/>
          </p15:clr>
        </p15:guide>
        <p15:guide id="18" pos="3840" userDrawn="1">
          <p15:clr>
            <a:srgbClr val="F26B43"/>
          </p15:clr>
        </p15:guide>
        <p15:guide id="19" pos="4725" userDrawn="1">
          <p15:clr>
            <a:srgbClr val="F26B43"/>
          </p15:clr>
        </p15:guide>
        <p15:guide id="20" pos="5586" userDrawn="1">
          <p15:clr>
            <a:srgbClr val="F26B43"/>
          </p15:clr>
        </p15:guide>
        <p15:guide id="21" pos="6471"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hteck 1">
            <a:extLst>
              <a:ext uri="{FF2B5EF4-FFF2-40B4-BE49-F238E27FC236}">
                <a16:creationId xmlns:a16="http://schemas.microsoft.com/office/drawing/2014/main" id="{48266648-C51B-EA45-AE41-AF74B0A4657C}"/>
              </a:ext>
            </a:extLst>
          </p:cNvPr>
          <p:cNvSpPr/>
          <p:nvPr userDrawn="1"/>
        </p:nvSpPr>
        <p:spPr>
          <a:xfrm>
            <a:off x="0" y="5748124"/>
            <a:ext cx="12195175" cy="1109875"/>
          </a:xfrm>
          <a:custGeom>
            <a:avLst/>
            <a:gdLst>
              <a:gd name="connsiteX0" fmla="*/ 0 w 12192000"/>
              <a:gd name="connsiteY0" fmla="*/ 0 h 687600"/>
              <a:gd name="connsiteX1" fmla="*/ 12192000 w 12192000"/>
              <a:gd name="connsiteY1" fmla="*/ 0 h 687600"/>
              <a:gd name="connsiteX2" fmla="*/ 12192000 w 12192000"/>
              <a:gd name="connsiteY2" fmla="*/ 687600 h 687600"/>
              <a:gd name="connsiteX3" fmla="*/ 0 w 12192000"/>
              <a:gd name="connsiteY3" fmla="*/ 687600 h 687600"/>
              <a:gd name="connsiteX4" fmla="*/ 0 w 12192000"/>
              <a:gd name="connsiteY4" fmla="*/ 0 h 687600"/>
              <a:gd name="connsiteX0" fmla="*/ 0 w 12195175"/>
              <a:gd name="connsiteY0" fmla="*/ 422275 h 1109875"/>
              <a:gd name="connsiteX1" fmla="*/ 12195175 w 12195175"/>
              <a:gd name="connsiteY1" fmla="*/ 0 h 1109875"/>
              <a:gd name="connsiteX2" fmla="*/ 12192000 w 12195175"/>
              <a:gd name="connsiteY2" fmla="*/ 1109875 h 1109875"/>
              <a:gd name="connsiteX3" fmla="*/ 0 w 12195175"/>
              <a:gd name="connsiteY3" fmla="*/ 1109875 h 1109875"/>
              <a:gd name="connsiteX4" fmla="*/ 0 w 12195175"/>
              <a:gd name="connsiteY4" fmla="*/ 422275 h 1109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5175" h="1109875">
                <a:moveTo>
                  <a:pt x="0" y="422275"/>
                </a:moveTo>
                <a:lnTo>
                  <a:pt x="12195175" y="0"/>
                </a:lnTo>
                <a:cubicBezTo>
                  <a:pt x="12194117" y="369958"/>
                  <a:pt x="12193058" y="739917"/>
                  <a:pt x="12192000" y="1109875"/>
                </a:cubicBezTo>
                <a:lnTo>
                  <a:pt x="0" y="1109875"/>
                </a:lnTo>
                <a:lnTo>
                  <a:pt x="0" y="422275"/>
                </a:lnTo>
                <a:close/>
              </a:path>
            </a:pathLst>
          </a:custGeom>
          <a:solidFill>
            <a:srgbClr val="C40D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8" name="Grafik 7">
            <a:extLst>
              <a:ext uri="{FF2B5EF4-FFF2-40B4-BE49-F238E27FC236}">
                <a16:creationId xmlns:a16="http://schemas.microsoft.com/office/drawing/2014/main" id="{90A395C2-361B-A14B-9312-A16F3F6780AF}"/>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0614598" y="378000"/>
            <a:ext cx="1004400" cy="766068"/>
          </a:xfrm>
          <a:prstGeom prst="rect">
            <a:avLst/>
          </a:prstGeom>
        </p:spPr>
      </p:pic>
      <p:sp>
        <p:nvSpPr>
          <p:cNvPr id="12" name="Textfeld 11">
            <a:extLst>
              <a:ext uri="{FF2B5EF4-FFF2-40B4-BE49-F238E27FC236}">
                <a16:creationId xmlns:a16="http://schemas.microsoft.com/office/drawing/2014/main" id="{427D4F0D-9351-B349-8187-43002862F183}"/>
              </a:ext>
            </a:extLst>
          </p:cNvPr>
          <p:cNvSpPr txBox="1"/>
          <p:nvPr userDrawn="1"/>
        </p:nvSpPr>
        <p:spPr>
          <a:xfrm>
            <a:off x="12292755" y="5612990"/>
            <a:ext cx="3102416" cy="1323439"/>
          </a:xfrm>
          <a:prstGeom prst="rect">
            <a:avLst/>
          </a:prstGeom>
          <a:noFill/>
        </p:spPr>
        <p:txBody>
          <a:bodyPr wrap="square" rtlCol="0">
            <a:spAutoFit/>
          </a:bodyPr>
          <a:lstStyle/>
          <a:p>
            <a:r>
              <a:rPr lang="de-DE" sz="1000" b="1" dirty="0">
                <a:latin typeface="Arial" panose="020B0604020202020204" pitchFamily="34" charset="0"/>
                <a:cs typeface="Arial" panose="020B0604020202020204" pitchFamily="34" charset="0"/>
              </a:rPr>
              <a:t>Folgeseiten – Platzhalter für </a:t>
            </a:r>
            <a:r>
              <a:rPr lang="de-DE" sz="1000" b="1" dirty="0" err="1">
                <a:latin typeface="Arial" panose="020B0604020202020204" pitchFamily="34" charset="0"/>
                <a:cs typeface="Arial" panose="020B0604020202020204" pitchFamily="34" charset="0"/>
              </a:rPr>
              <a:t>Sublogo</a:t>
            </a:r>
            <a:r>
              <a:rPr lang="de-DE" sz="1000" b="1" dirty="0">
                <a:latin typeface="Arial" panose="020B0604020202020204" pitchFamily="34" charset="0"/>
                <a:cs typeface="Arial" panose="020B0604020202020204" pitchFamily="34" charset="0"/>
              </a:rPr>
              <a:t> ändern: </a:t>
            </a:r>
            <a:r>
              <a:rPr lang="de-DE" sz="1000" dirty="0">
                <a:latin typeface="Arial" panose="020B0604020202020204" pitchFamily="34" charset="0"/>
                <a:cs typeface="Arial" panose="020B0604020202020204" pitchFamily="34" charset="0"/>
              </a:rPr>
              <a:t>Folienmaster &gt; Nr. 2 bearbeiten &gt; Bild anklicken &gt; Rechtsklick &gt; Bild einfügen</a:t>
            </a:r>
            <a:br>
              <a:rPr lang="de-DE" sz="1000" dirty="0">
                <a:latin typeface="Arial" panose="020B0604020202020204" pitchFamily="34" charset="0"/>
                <a:cs typeface="Arial" panose="020B0604020202020204" pitchFamily="34" charset="0"/>
              </a:rPr>
            </a:br>
            <a:br>
              <a:rPr lang="de-DE" sz="1000" dirty="0">
                <a:latin typeface="Arial" panose="020B0604020202020204" pitchFamily="34" charset="0"/>
                <a:cs typeface="Arial" panose="020B0604020202020204" pitchFamily="34" charset="0"/>
              </a:rPr>
            </a:br>
            <a:r>
              <a:rPr lang="de-DE" sz="1000" b="1" dirty="0">
                <a:latin typeface="Arial" panose="020B0604020202020204" pitchFamily="34" charset="0"/>
                <a:cs typeface="Arial" panose="020B0604020202020204" pitchFamily="34" charset="0"/>
              </a:rPr>
              <a:t>Bild an Rahmen anpassen</a:t>
            </a:r>
            <a:r>
              <a:rPr lang="de-DE" sz="1000" dirty="0">
                <a:latin typeface="Arial" panose="020B0604020202020204" pitchFamily="34" charset="0"/>
                <a:cs typeface="Arial" panose="020B0604020202020204" pitchFamily="34" charset="0"/>
              </a:rPr>
              <a: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Bild anklicken &gt; Bildformat &gt; Zuschneiden &gt;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im Dropdown „Einpassen“ wählen &gt;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ggf. Bild nochmals neu positionieren </a:t>
            </a:r>
          </a:p>
        </p:txBody>
      </p:sp>
      <p:sp>
        <p:nvSpPr>
          <p:cNvPr id="13" name="Textfeld 12">
            <a:extLst>
              <a:ext uri="{FF2B5EF4-FFF2-40B4-BE49-F238E27FC236}">
                <a16:creationId xmlns:a16="http://schemas.microsoft.com/office/drawing/2014/main" id="{B91FA75A-4E02-534F-A661-8216932850DD}"/>
              </a:ext>
            </a:extLst>
          </p:cNvPr>
          <p:cNvSpPr txBox="1"/>
          <p:nvPr userDrawn="1"/>
        </p:nvSpPr>
        <p:spPr>
          <a:xfrm>
            <a:off x="-2243920" y="6474756"/>
            <a:ext cx="2223344" cy="400110"/>
          </a:xfrm>
          <a:prstGeom prst="rect">
            <a:avLst/>
          </a:prstGeom>
          <a:noFill/>
        </p:spPr>
        <p:txBody>
          <a:bodyPr wrap="square" rtlCol="0">
            <a:spAutoFit/>
          </a:bodyPr>
          <a:lstStyle/>
          <a:p>
            <a:r>
              <a:rPr lang="de-DE" sz="1000" b="1" dirty="0">
                <a:latin typeface="Arial" panose="020B0604020202020204" pitchFamily="34" charset="0"/>
                <a:cs typeface="Arial" panose="020B0604020202020204" pitchFamily="34" charset="0"/>
              </a:rPr>
              <a:t>Informationen in Fußzeile ändern:</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Folienmaster &gt; Nr. 2 bearbeiten</a:t>
            </a:r>
          </a:p>
        </p:txBody>
      </p:sp>
    </p:spTree>
    <p:extLst>
      <p:ext uri="{BB962C8B-B14F-4D97-AF65-F5344CB8AC3E}">
        <p14:creationId xmlns:p14="http://schemas.microsoft.com/office/powerpoint/2010/main" val="3907247464"/>
      </p:ext>
    </p:extLst>
  </p:cSld>
  <p:clrMap bg1="lt1" tx1="dk1" bg2="lt2" tx2="dk2" accent1="accent1" accent2="accent2" accent3="accent3" accent4="accent4" accent5="accent5" accent6="accent6" hlink="hlink" folHlink="folHlink"/>
  <p:sldLayoutIdLst>
    <p:sldLayoutId id="2147483707" r:id="rId1"/>
    <p:sldLayoutId id="2147483711" r:id="rId2"/>
    <p:sldLayoutId id="2147483712"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57784" y="292608"/>
            <a:ext cx="8823960" cy="566928"/>
          </a:xfrm>
          <a:prstGeom prst="rect">
            <a:avLst/>
          </a:prstGeom>
          <a:noFill/>
        </p:spPr>
        <p:txBody>
          <a:bodyPr wrap="square" lIns="18288" rIns="18288" tIns="18288" bIns="18288" anchor="t">
            <a:spAutoFit/>
          </a:bodyPr>
          <a:lstStyle/>
          <a:p>
            <a:pPr algn="l"/>
            <a:r>
              <a:rPr sz="2400" b="0" lang="en-US">
                <a:solidFill>
                  <a:srgbClr val="434343"/>
                </a:solidFill>
                <a:latin typeface="Arial"/>
              </a:rPr>
              <a:t>VITA-FL: from training to verifiable use</a:t>
            </a:r>
          </a:p>
        </p:txBody>
      </p:sp>
      <p:sp>
        <p:nvSpPr>
          <p:cNvPr id="3" name="TextBox 2"/>
          <p:cNvSpPr txBox="1"/>
          <p:nvPr/>
        </p:nvSpPr>
        <p:spPr>
          <a:xfrm>
            <a:off x="566928" y="932688"/>
            <a:ext cx="8869680" cy="201168"/>
          </a:xfrm>
          <a:prstGeom prst="rect">
            <a:avLst/>
          </a:prstGeom>
          <a:noFill/>
        </p:spPr>
        <p:txBody>
          <a:bodyPr wrap="square" lIns="18288" rIns="18288" tIns="18288" bIns="18288" anchor="t">
            <a:spAutoFit/>
          </a:bodyPr>
          <a:lstStyle/>
          <a:p>
            <a:pPr algn="l"/>
            <a:r>
              <a:rPr sz="950" b="1" lang="en-US">
                <a:solidFill>
                  <a:srgbClr val="C40D1E"/>
                </a:solidFill>
                <a:latin typeface="Arial"/>
              </a:rPr>
              <a:t/>
            </a:r>
          </a:p>
        </p:txBody>
      </p:sp>
      <p:sp>
        <p:nvSpPr>
          <p:cNvPr id="4" name="Rectangle 3"/>
          <p:cNvSpPr/>
          <p:nvPr/>
        </p:nvSpPr>
        <p:spPr>
          <a:xfrm>
            <a:off x="557784" y="1188720"/>
            <a:ext cx="10927080" cy="16459"/>
          </a:xfrm>
          <a:prstGeom prst="rect">
            <a:avLst/>
          </a:prstGeom>
          <a:solidFill>
            <a:srgbClr val="C4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91072"/>
            <a:ext cx="914400" cy="201168"/>
          </a:xfrm>
          <a:prstGeom prst="rect">
            <a:avLst/>
          </a:prstGeom>
          <a:noFill/>
        </p:spPr>
        <p:txBody>
          <a:bodyPr wrap="square" lIns="18288" rIns="18288" tIns="18288" bIns="18288" anchor="t">
            <a:spAutoFit/>
          </a:bodyPr>
          <a:lstStyle/>
          <a:p>
            <a:pPr algn="l"/>
            <a:r>
              <a:rPr sz="950" b="0" lang="en-US">
                <a:solidFill>
                  <a:srgbClr val="FFFFFF"/>
                </a:solidFill>
                <a:latin typeface="Arial"/>
              </a:rPr>
              <a:t>Concept A</a:t>
            </a:r>
          </a:p>
        </p:txBody>
      </p:sp>
      <p:sp>
        <p:nvSpPr>
          <p:cNvPr id="6" name="TextBox 5"/>
          <p:cNvSpPr txBox="1"/>
          <p:nvPr/>
        </p:nvSpPr>
        <p:spPr>
          <a:xfrm>
            <a:off x="1600200" y="6291072"/>
            <a:ext cx="8549640" cy="201168"/>
          </a:xfrm>
          <a:prstGeom prst="rect">
            <a:avLst/>
          </a:prstGeom>
          <a:noFill/>
        </p:spPr>
        <p:txBody>
          <a:bodyPr wrap="square" lIns="18288" rIns="18288" tIns="18288" bIns="18288" anchor="t">
            <a:spAutoFit/>
          </a:bodyPr>
          <a:lstStyle/>
          <a:p>
            <a:pPr algn="l"/>
            <a:r>
              <a:rPr sz="850" b="0" lang="en-US">
                <a:solidFill>
                  <a:srgbClr val="FFFFFF"/>
                </a:solidFill>
                <a:latin typeface="Arial"/>
              </a:rPr>
              <a:t>Ramon Mehrpoya  |  Master's Thesis  |  Verifiable Decentralized Federated Machine Learning and Inference for AI Agent Systems  |  VITA-FL</a:t>
            </a:r>
          </a:p>
        </p:txBody>
      </p:sp>
      <p:sp>
        <p:nvSpPr>
          <p:cNvPr id="7" name="TextBox 6"/>
          <p:cNvSpPr txBox="1"/>
          <p:nvPr/>
        </p:nvSpPr>
        <p:spPr>
          <a:xfrm>
            <a:off x="10241280" y="6291072"/>
            <a:ext cx="1399032" cy="201168"/>
          </a:xfrm>
          <a:prstGeom prst="rect">
            <a:avLst/>
          </a:prstGeom>
          <a:noFill/>
        </p:spPr>
        <p:txBody>
          <a:bodyPr wrap="square" lIns="18288" rIns="18288" tIns="18288" bIns="18288" anchor="t">
            <a:spAutoFit/>
          </a:bodyPr>
          <a:lstStyle/>
          <a:p>
            <a:pPr algn="r"/>
            <a:r>
              <a:rPr sz="850" b="0" lang="en-US">
                <a:solidFill>
                  <a:srgbClr val="FFFFFF"/>
                </a:solidFill>
                <a:latin typeface="Arial"/>
              </a:rPr>
              <a:t>20 September 2026</a:t>
            </a:r>
          </a:p>
        </p:txBody>
      </p:sp>
      <p:sp>
        <p:nvSpPr>
          <p:cNvPr id="8" name="Domain navigation: background"/>
          <p:cNvSpPr/>
          <p:nvPr/>
        </p:nvSpPr>
        <p:spPr>
          <a:xfrm>
            <a:off x="9479280" y="472440"/>
            <a:ext cx="1036320" cy="28956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main navigation: DFL badge"/>
          <p:cNvSpPr/>
          <p:nvPr/>
        </p:nvSpPr>
        <p:spPr>
          <a:xfrm>
            <a:off x="9509760" y="502920"/>
            <a:ext cx="411480" cy="228600"/>
          </a:xfrm>
          <a:prstGeom prst="rect">
            <a:avLst/>
          </a:prstGeom>
          <a:solidFill>
            <a:srgbClr val="207548"/>
          </a:solidFill>
          <a:ln w="6985">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main navigation: DFL label"/>
          <p:cNvSpPr txBox="1"/>
          <p:nvPr/>
        </p:nvSpPr>
        <p:spPr>
          <a:xfrm>
            <a:off x="9509760" y="502920"/>
            <a:ext cx="411480" cy="228600"/>
          </a:xfrm>
          <a:prstGeom prst="rect">
            <a:avLst/>
          </a:prstGeom>
          <a:noFill/>
        </p:spPr>
        <p:txBody>
          <a:bodyPr wrap="square" lIns="0" rIns="0" tIns="0" bIns="0" anchor="ctr">
            <a:spAutoFit/>
          </a:bodyPr>
          <a:lstStyle/>
          <a:p>
            <a:pPr algn="ctr"/>
            <a:r>
              <a:rPr sz="840" b="1" lang="en-US">
                <a:solidFill>
                  <a:srgbClr val="FFFFFF"/>
                </a:solidFill>
                <a:latin typeface="Arial"/>
              </a:rPr>
              <a:t>DFL</a:t>
            </a:r>
          </a:p>
        </p:txBody>
      </p:sp>
      <p:sp>
        <p:nvSpPr>
          <p:cNvPr id="11" name="Domain navigation: Agent badge"/>
          <p:cNvSpPr/>
          <p:nvPr/>
        </p:nvSpPr>
        <p:spPr>
          <a:xfrm>
            <a:off x="9982200" y="502920"/>
            <a:ext cx="502920" cy="228600"/>
          </a:xfrm>
          <a:prstGeom prst="rect">
            <a:avLst/>
          </a:prstGeom>
          <a:solidFill>
            <a:srgbClr val="1764A1"/>
          </a:solidFill>
          <a:ln w="6985">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main navigation: Agent label"/>
          <p:cNvSpPr txBox="1"/>
          <p:nvPr/>
        </p:nvSpPr>
        <p:spPr>
          <a:xfrm>
            <a:off x="9982200" y="502920"/>
            <a:ext cx="502920" cy="228600"/>
          </a:xfrm>
          <a:prstGeom prst="rect">
            <a:avLst/>
          </a:prstGeom>
          <a:noFill/>
        </p:spPr>
        <p:txBody>
          <a:bodyPr wrap="square" lIns="0" rIns="0" tIns="0" bIns="0" anchor="ctr">
            <a:spAutoFit/>
          </a:bodyPr>
          <a:lstStyle/>
          <a:p>
            <a:pPr algn="ctr"/>
            <a:r>
              <a:rPr sz="840" b="1" lang="en-US">
                <a:solidFill>
                  <a:srgbClr val="FFFFFF"/>
                </a:solidFill>
                <a:latin typeface="Arial"/>
              </a:rPr>
              <a:t>Agent</a:t>
            </a:r>
          </a:p>
        </p:txBody>
      </p:sp>
      <p:cxnSp>
        <p:nvCxnSpPr>
          <p:cNvPr id="13" name="Editable circular flow"/>
          <p:cNvCxnSpPr/>
          <p:nvPr/>
        </p:nvCxnSpPr>
        <p:spPr>
          <a:xfrm>
            <a:off x="2516174" y="2179588"/>
            <a:ext cx="78980" cy="28787"/>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14" name="Editable circular flow"/>
          <p:cNvCxnSpPr/>
          <p:nvPr/>
        </p:nvCxnSpPr>
        <p:spPr>
          <a:xfrm>
            <a:off x="2595154" y="2208375"/>
            <a:ext cx="76748" cy="34297"/>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15" name="Editable circular flow"/>
          <p:cNvCxnSpPr/>
          <p:nvPr/>
        </p:nvCxnSpPr>
        <p:spPr>
          <a:xfrm>
            <a:off x="2671902" y="2242672"/>
            <a:ext cx="74132" cy="39636"/>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16" name="Editable circular flow"/>
          <p:cNvCxnSpPr/>
          <p:nvPr/>
        </p:nvCxnSpPr>
        <p:spPr>
          <a:xfrm>
            <a:off x="2746034" y="2282308"/>
            <a:ext cx="71146" cy="44775"/>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17" name="Editable circular flow"/>
          <p:cNvCxnSpPr/>
          <p:nvPr/>
        </p:nvCxnSpPr>
        <p:spPr>
          <a:xfrm>
            <a:off x="2817180" y="2327083"/>
            <a:ext cx="67803" cy="49692"/>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18" name="Editable circular flow"/>
          <p:cNvCxnSpPr/>
          <p:nvPr/>
        </p:nvCxnSpPr>
        <p:spPr>
          <a:xfrm>
            <a:off x="2884983" y="2376775"/>
            <a:ext cx="64122" cy="54359"/>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19" name="Editable circular flow"/>
          <p:cNvCxnSpPr/>
          <p:nvPr/>
        </p:nvCxnSpPr>
        <p:spPr>
          <a:xfrm>
            <a:off x="2949105" y="2431134"/>
            <a:ext cx="60120" cy="58755"/>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0" name="Editable circular flow"/>
          <p:cNvCxnSpPr/>
          <p:nvPr/>
        </p:nvCxnSpPr>
        <p:spPr>
          <a:xfrm>
            <a:off x="3009225" y="2489889"/>
            <a:ext cx="55817" cy="62856"/>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1" name="Editable circular flow"/>
          <p:cNvCxnSpPr/>
          <p:nvPr/>
        </p:nvCxnSpPr>
        <p:spPr>
          <a:xfrm>
            <a:off x="3065042" y="2552745"/>
            <a:ext cx="51236" cy="66645"/>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2" name="Editable circular flow"/>
          <p:cNvCxnSpPr/>
          <p:nvPr/>
        </p:nvCxnSpPr>
        <p:spPr>
          <a:xfrm>
            <a:off x="3116278" y="2619390"/>
            <a:ext cx="46397" cy="70099"/>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3" name="Editable circular flow"/>
          <p:cNvCxnSpPr/>
          <p:nvPr/>
        </p:nvCxnSpPr>
        <p:spPr>
          <a:xfrm>
            <a:off x="3162675" y="2689489"/>
            <a:ext cx="41327" cy="73202"/>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4" name="Editable circular flow"/>
          <p:cNvCxnSpPr/>
          <p:nvPr/>
        </p:nvCxnSpPr>
        <p:spPr>
          <a:xfrm>
            <a:off x="3204002" y="2762691"/>
            <a:ext cx="36051" cy="75940"/>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5" name="Editable circular flow"/>
          <p:cNvCxnSpPr/>
          <p:nvPr/>
        </p:nvCxnSpPr>
        <p:spPr>
          <a:xfrm>
            <a:off x="3240053" y="2838631"/>
            <a:ext cx="30593" cy="78298"/>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6" name="Editable circular flow"/>
          <p:cNvCxnSpPr/>
          <p:nvPr/>
        </p:nvCxnSpPr>
        <p:spPr>
          <a:xfrm>
            <a:off x="3270646" y="2916929"/>
            <a:ext cx="24984" cy="80265"/>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7" name="Editable circular flow"/>
          <p:cNvCxnSpPr/>
          <p:nvPr/>
        </p:nvCxnSpPr>
        <p:spPr>
          <a:xfrm>
            <a:off x="3295630" y="2997194"/>
            <a:ext cx="19248" cy="81829"/>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8" name="Editable circular flow"/>
          <p:cNvCxnSpPr/>
          <p:nvPr/>
        </p:nvCxnSpPr>
        <p:spPr>
          <a:xfrm>
            <a:off x="3314878" y="3079023"/>
            <a:ext cx="13417" cy="82985"/>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9" name="Editable circular flow"/>
          <p:cNvCxnSpPr/>
          <p:nvPr/>
        </p:nvCxnSpPr>
        <p:spPr>
          <a:xfrm>
            <a:off x="3328295" y="3162008"/>
            <a:ext cx="7519" cy="83726"/>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0" name="Editable circular flow"/>
          <p:cNvCxnSpPr/>
          <p:nvPr/>
        </p:nvCxnSpPr>
        <p:spPr>
          <a:xfrm>
            <a:off x="3335814" y="3245734"/>
            <a:ext cx="1583" cy="84048"/>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1" name="Editable circular flow"/>
          <p:cNvCxnSpPr/>
          <p:nvPr/>
        </p:nvCxnSpPr>
        <p:spPr>
          <a:xfrm flipH="1">
            <a:off x="3333036" y="3329782"/>
            <a:ext cx="4361" cy="83949"/>
          </a:xfrm>
          <a:prstGeom prst="line">
            <a:avLst/>
          </a:prstGeom>
          <a:ln w="31750">
            <a:solidFill>
              <a:srgbClr val="2075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2" name="Editable circular flow"/>
          <p:cNvCxnSpPr/>
          <p:nvPr/>
        </p:nvCxnSpPr>
        <p:spPr>
          <a:xfrm flipH="1">
            <a:off x="2812658" y="4246852"/>
            <a:ext cx="68031" cy="49379"/>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3" name="Editable circular flow"/>
          <p:cNvCxnSpPr/>
          <p:nvPr/>
        </p:nvCxnSpPr>
        <p:spPr>
          <a:xfrm flipH="1">
            <a:off x="2741307" y="4296231"/>
            <a:ext cx="71351" cy="44448"/>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4" name="Editable circular flow"/>
          <p:cNvCxnSpPr/>
          <p:nvPr/>
        </p:nvCxnSpPr>
        <p:spPr>
          <a:xfrm flipH="1">
            <a:off x="2666994" y="4340679"/>
            <a:ext cx="74313" cy="39295"/>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5" name="Editable circular flow"/>
          <p:cNvCxnSpPr/>
          <p:nvPr/>
        </p:nvCxnSpPr>
        <p:spPr>
          <a:xfrm flipH="1">
            <a:off x="2590089" y="4379974"/>
            <a:ext cx="76905" cy="33944"/>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6" name="Editable circular flow"/>
          <p:cNvCxnSpPr/>
          <p:nvPr/>
        </p:nvCxnSpPr>
        <p:spPr>
          <a:xfrm flipH="1">
            <a:off x="2510978" y="4413918"/>
            <a:ext cx="79111" cy="28425"/>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7" name="Editable circular flow"/>
          <p:cNvCxnSpPr/>
          <p:nvPr/>
        </p:nvCxnSpPr>
        <p:spPr>
          <a:xfrm flipH="1">
            <a:off x="2430055" y="4442343"/>
            <a:ext cx="80923" cy="22762"/>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8" name="Editable circular flow"/>
          <p:cNvCxnSpPr/>
          <p:nvPr/>
        </p:nvCxnSpPr>
        <p:spPr>
          <a:xfrm flipH="1">
            <a:off x="2347727" y="4465105"/>
            <a:ext cx="82328" cy="16986"/>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9" name="Editable circular flow"/>
          <p:cNvCxnSpPr/>
          <p:nvPr/>
        </p:nvCxnSpPr>
        <p:spPr>
          <a:xfrm flipH="1">
            <a:off x="2264404" y="4482091"/>
            <a:ext cx="83323" cy="11126"/>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40" name="Editable circular flow"/>
          <p:cNvCxnSpPr/>
          <p:nvPr/>
        </p:nvCxnSpPr>
        <p:spPr>
          <a:xfrm flipH="1">
            <a:off x="2180502" y="4493217"/>
            <a:ext cx="83902" cy="5209"/>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41" name="Editable circular flow"/>
          <p:cNvCxnSpPr/>
          <p:nvPr/>
        </p:nvCxnSpPr>
        <p:spPr>
          <a:xfrm flipH="1" flipV="1">
            <a:off x="2096443" y="4497692"/>
            <a:ext cx="84059" cy="734"/>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42" name="Editable circular flow"/>
          <p:cNvCxnSpPr/>
          <p:nvPr/>
        </p:nvCxnSpPr>
        <p:spPr>
          <a:xfrm flipH="1" flipV="1">
            <a:off x="2012645" y="4491020"/>
            <a:ext cx="83798" cy="6672"/>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43" name="Editable circular flow"/>
          <p:cNvCxnSpPr/>
          <p:nvPr/>
        </p:nvCxnSpPr>
        <p:spPr>
          <a:xfrm flipH="1" flipV="1">
            <a:off x="1929529" y="4478442"/>
            <a:ext cx="83116" cy="12578"/>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44" name="Editable circular flow"/>
          <p:cNvCxnSpPr/>
          <p:nvPr/>
        </p:nvCxnSpPr>
        <p:spPr>
          <a:xfrm flipH="1" flipV="1">
            <a:off x="1847509" y="4460021"/>
            <a:ext cx="82020" cy="18421"/>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45" name="Editable circular flow"/>
          <p:cNvCxnSpPr/>
          <p:nvPr/>
        </p:nvCxnSpPr>
        <p:spPr>
          <a:xfrm flipH="1" flipV="1">
            <a:off x="1766996" y="4435850"/>
            <a:ext cx="80513" cy="24171"/>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46" name="Editable circular flow"/>
          <p:cNvCxnSpPr/>
          <p:nvPr/>
        </p:nvCxnSpPr>
        <p:spPr>
          <a:xfrm flipH="1" flipV="1">
            <a:off x="1688393" y="4406049"/>
            <a:ext cx="78603" cy="29801"/>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47" name="Editable circular flow"/>
          <p:cNvCxnSpPr/>
          <p:nvPr/>
        </p:nvCxnSpPr>
        <p:spPr>
          <a:xfrm flipH="1" flipV="1">
            <a:off x="1612093" y="4370768"/>
            <a:ext cx="76300" cy="35281"/>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48" name="Editable circular flow"/>
          <p:cNvCxnSpPr/>
          <p:nvPr/>
        </p:nvCxnSpPr>
        <p:spPr>
          <a:xfrm flipH="1" flipV="1">
            <a:off x="1538476" y="4330182"/>
            <a:ext cx="73617" cy="40586"/>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49" name="Editable circular flow"/>
          <p:cNvCxnSpPr/>
          <p:nvPr/>
        </p:nvCxnSpPr>
        <p:spPr>
          <a:xfrm flipH="1" flipV="1">
            <a:off x="1467912" y="4284496"/>
            <a:ext cx="70564" cy="45686"/>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50" name="Editable circular flow"/>
          <p:cNvCxnSpPr/>
          <p:nvPr/>
        </p:nvCxnSpPr>
        <p:spPr>
          <a:xfrm flipH="1" flipV="1">
            <a:off x="1400754" y="4233936"/>
            <a:ext cx="67158" cy="50560"/>
          </a:xfrm>
          <a:prstGeom prst="line">
            <a:avLst/>
          </a:prstGeom>
          <a:ln w="31750">
            <a:solidFill>
              <a:srgbClr val="2075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1" name="Editable circular flow"/>
          <p:cNvCxnSpPr/>
          <p:nvPr/>
        </p:nvCxnSpPr>
        <p:spPr>
          <a:xfrm flipH="1" flipV="1">
            <a:off x="963128" y="3394640"/>
            <a:ext cx="8560" cy="80925"/>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52" name="Editable circular flow"/>
          <p:cNvCxnSpPr/>
          <p:nvPr/>
        </p:nvCxnSpPr>
        <p:spPr>
          <a:xfrm flipH="1" flipV="1">
            <a:off x="960124" y="3313319"/>
            <a:ext cx="3004" cy="81321"/>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53" name="Editable circular flow"/>
          <p:cNvCxnSpPr/>
          <p:nvPr/>
        </p:nvCxnSpPr>
        <p:spPr>
          <a:xfrm flipV="1">
            <a:off x="960124" y="3231983"/>
            <a:ext cx="2567" cy="81336"/>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54" name="Editable circular flow"/>
          <p:cNvCxnSpPr/>
          <p:nvPr/>
        </p:nvCxnSpPr>
        <p:spPr>
          <a:xfrm flipV="1">
            <a:off x="962691" y="3151014"/>
            <a:ext cx="8126" cy="80969"/>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55" name="Editable circular flow"/>
          <p:cNvCxnSpPr/>
          <p:nvPr/>
        </p:nvCxnSpPr>
        <p:spPr>
          <a:xfrm flipV="1">
            <a:off x="970817" y="3070789"/>
            <a:ext cx="13646" cy="80225"/>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56" name="Editable circular flow"/>
          <p:cNvCxnSpPr/>
          <p:nvPr/>
        </p:nvCxnSpPr>
        <p:spPr>
          <a:xfrm flipV="1">
            <a:off x="984463" y="2991687"/>
            <a:ext cx="19103" cy="79102"/>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57" name="Editable circular flow"/>
          <p:cNvCxnSpPr/>
          <p:nvPr/>
        </p:nvCxnSpPr>
        <p:spPr>
          <a:xfrm flipV="1">
            <a:off x="1003566" y="2914077"/>
            <a:ext cx="24471" cy="77610"/>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58" name="Editable circular flow"/>
          <p:cNvCxnSpPr/>
          <p:nvPr/>
        </p:nvCxnSpPr>
        <p:spPr>
          <a:xfrm flipV="1">
            <a:off x="1028037" y="2838323"/>
            <a:ext cx="29722" cy="75754"/>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59" name="Editable circular flow"/>
          <p:cNvCxnSpPr/>
          <p:nvPr/>
        </p:nvCxnSpPr>
        <p:spPr>
          <a:xfrm flipV="1">
            <a:off x="1057759" y="2764780"/>
            <a:ext cx="34837" cy="73543"/>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60" name="Editable circular flow"/>
          <p:cNvCxnSpPr/>
          <p:nvPr/>
        </p:nvCxnSpPr>
        <p:spPr>
          <a:xfrm flipV="1">
            <a:off x="1092596" y="2693792"/>
            <a:ext cx="39786" cy="70988"/>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61" name="Editable circular flow"/>
          <p:cNvCxnSpPr/>
          <p:nvPr/>
        </p:nvCxnSpPr>
        <p:spPr>
          <a:xfrm flipV="1">
            <a:off x="1132382" y="2625694"/>
            <a:ext cx="44549" cy="68098"/>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62" name="Editable circular flow"/>
          <p:cNvCxnSpPr/>
          <p:nvPr/>
        </p:nvCxnSpPr>
        <p:spPr>
          <a:xfrm flipV="1">
            <a:off x="1176931" y="2560802"/>
            <a:ext cx="49105" cy="64892"/>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63" name="Editable circular flow"/>
          <p:cNvCxnSpPr/>
          <p:nvPr/>
        </p:nvCxnSpPr>
        <p:spPr>
          <a:xfrm flipV="1">
            <a:off x="1226036" y="2499422"/>
            <a:ext cx="53429" cy="61380"/>
          </a:xfrm>
          <a:prstGeom prst="line">
            <a:avLst/>
          </a:prstGeom>
          <a:ln w="31750">
            <a:solidFill>
              <a:srgbClr val="2075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4" name="Editable circular flow"/>
          <p:cNvCxnSpPr/>
          <p:nvPr/>
        </p:nvCxnSpPr>
        <p:spPr>
          <a:xfrm flipV="1">
            <a:off x="1279465" y="2451439"/>
            <a:ext cx="47359" cy="47983"/>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65" name="Editable circular flow"/>
          <p:cNvCxnSpPr/>
          <p:nvPr/>
        </p:nvCxnSpPr>
        <p:spPr>
          <a:xfrm flipV="1">
            <a:off x="1326824" y="2406218"/>
            <a:ext cx="50004" cy="45221"/>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66" name="Editable circular flow"/>
          <p:cNvCxnSpPr/>
          <p:nvPr/>
        </p:nvCxnSpPr>
        <p:spPr>
          <a:xfrm flipV="1">
            <a:off x="1376828" y="2363904"/>
            <a:ext cx="52486" cy="42314"/>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67" name="Editable circular flow"/>
          <p:cNvCxnSpPr/>
          <p:nvPr/>
        </p:nvCxnSpPr>
        <p:spPr>
          <a:xfrm flipV="1">
            <a:off x="1429314" y="2324634"/>
            <a:ext cx="54802" cy="39270"/>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68" name="Editable circular flow"/>
          <p:cNvCxnSpPr/>
          <p:nvPr/>
        </p:nvCxnSpPr>
        <p:spPr>
          <a:xfrm flipV="1">
            <a:off x="1484116" y="2288534"/>
            <a:ext cx="56939" cy="36100"/>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69" name="Editable circular flow"/>
          <p:cNvCxnSpPr/>
          <p:nvPr/>
        </p:nvCxnSpPr>
        <p:spPr>
          <a:xfrm flipV="1">
            <a:off x="1541055" y="2255720"/>
            <a:ext cx="58895" cy="32814"/>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70" name="Editable circular flow"/>
          <p:cNvCxnSpPr/>
          <p:nvPr/>
        </p:nvCxnSpPr>
        <p:spPr>
          <a:xfrm flipV="1">
            <a:off x="1599950" y="2226298"/>
            <a:ext cx="60660" cy="29422"/>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71" name="Editable circular flow"/>
          <p:cNvCxnSpPr/>
          <p:nvPr/>
        </p:nvCxnSpPr>
        <p:spPr>
          <a:xfrm flipV="1">
            <a:off x="1660610" y="2200362"/>
            <a:ext cx="62230" cy="25936"/>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sp>
        <p:nvSpPr>
          <p:cNvPr id="72" name="Node: Local training"/>
          <p:cNvSpPr/>
          <p:nvPr/>
        </p:nvSpPr>
        <p:spPr>
          <a:xfrm>
            <a:off x="1289304" y="1842516"/>
            <a:ext cx="1719072" cy="557784"/>
          </a:xfrm>
          <a:prstGeom prst="roundRect">
            <a:avLst/>
          </a:prstGeom>
          <a:solidFill>
            <a:srgbClr val="FFFFFF"/>
          </a:solidFill>
          <a:ln w="1778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Label: Local training"/>
          <p:cNvSpPr txBox="1"/>
          <p:nvPr/>
        </p:nvSpPr>
        <p:spPr>
          <a:xfrm>
            <a:off x="1353312" y="1869948"/>
            <a:ext cx="1591055" cy="502920"/>
          </a:xfrm>
          <a:prstGeom prst="rect">
            <a:avLst/>
          </a:prstGeom>
          <a:noFill/>
        </p:spPr>
        <p:txBody>
          <a:bodyPr wrap="square" lIns="0" rIns="0" tIns="0" bIns="0" anchor="ctr">
            <a:spAutoFit/>
          </a:bodyPr>
          <a:lstStyle/>
          <a:p>
            <a:pPr algn="ctr"/>
            <a:r>
              <a:rPr sz="1600" b="1" lang="en-US">
                <a:solidFill>
                  <a:srgbClr val="207548"/>
                </a:solidFill>
                <a:latin typeface="Arial"/>
              </a:rPr>
              <a:t>Local training</a:t>
            </a:r>
          </a:p>
        </p:txBody>
      </p:sp>
      <p:sp>
        <p:nvSpPr>
          <p:cNvPr id="74" name="Node: Aggregate"/>
          <p:cNvSpPr/>
          <p:nvPr/>
        </p:nvSpPr>
        <p:spPr>
          <a:xfrm>
            <a:off x="2410205" y="3625595"/>
            <a:ext cx="1536192" cy="557784"/>
          </a:xfrm>
          <a:prstGeom prst="roundRect">
            <a:avLst/>
          </a:prstGeom>
          <a:solidFill>
            <a:srgbClr val="FFFFFF"/>
          </a:solidFill>
          <a:ln w="1778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Label: Aggregate"/>
          <p:cNvSpPr txBox="1"/>
          <p:nvPr/>
        </p:nvSpPr>
        <p:spPr>
          <a:xfrm>
            <a:off x="2474213" y="3653027"/>
            <a:ext cx="1408176" cy="502920"/>
          </a:xfrm>
          <a:prstGeom prst="rect">
            <a:avLst/>
          </a:prstGeom>
          <a:noFill/>
        </p:spPr>
        <p:txBody>
          <a:bodyPr wrap="square" lIns="0" rIns="0" tIns="0" bIns="0" anchor="ctr">
            <a:spAutoFit/>
          </a:bodyPr>
          <a:lstStyle/>
          <a:p>
            <a:pPr algn="ctr"/>
            <a:r>
              <a:rPr sz="1600" b="1" lang="en-US">
                <a:solidFill>
                  <a:srgbClr val="207548"/>
                </a:solidFill>
                <a:latin typeface="Arial"/>
              </a:rPr>
              <a:t>Aggregate</a:t>
            </a:r>
          </a:p>
        </p:txBody>
      </p:sp>
      <p:sp>
        <p:nvSpPr>
          <p:cNvPr id="76" name="Node: Global model"/>
          <p:cNvSpPr/>
          <p:nvPr/>
        </p:nvSpPr>
        <p:spPr>
          <a:xfrm>
            <a:off x="282702" y="3625595"/>
            <a:ext cx="1673352" cy="557784"/>
          </a:xfrm>
          <a:prstGeom prst="roundRect">
            <a:avLst/>
          </a:prstGeom>
          <a:solidFill>
            <a:srgbClr val="FFFFFF"/>
          </a:solidFill>
          <a:ln w="1778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Label: Global model"/>
          <p:cNvSpPr txBox="1"/>
          <p:nvPr/>
        </p:nvSpPr>
        <p:spPr>
          <a:xfrm>
            <a:off x="346710" y="3653027"/>
            <a:ext cx="1545336" cy="502920"/>
          </a:xfrm>
          <a:prstGeom prst="rect">
            <a:avLst/>
          </a:prstGeom>
          <a:noFill/>
        </p:spPr>
        <p:txBody>
          <a:bodyPr wrap="square" lIns="0" rIns="0" tIns="0" bIns="0" anchor="ctr">
            <a:spAutoFit/>
          </a:bodyPr>
          <a:lstStyle/>
          <a:p>
            <a:pPr algn="ctr"/>
            <a:r>
              <a:rPr sz="1600" b="1" lang="en-US">
                <a:solidFill>
                  <a:srgbClr val="207548"/>
                </a:solidFill>
                <a:latin typeface="Arial"/>
              </a:rPr>
              <a:t>Global model</a:t>
            </a:r>
          </a:p>
        </p:txBody>
      </p:sp>
      <p:sp>
        <p:nvSpPr>
          <p:cNvPr id="78" name="Label: DFL"/>
          <p:cNvSpPr txBox="1"/>
          <p:nvPr/>
        </p:nvSpPr>
        <p:spPr>
          <a:xfrm>
            <a:off x="1472184" y="3099816"/>
            <a:ext cx="1353312" cy="438912"/>
          </a:xfrm>
          <a:prstGeom prst="rect">
            <a:avLst/>
          </a:prstGeom>
          <a:noFill/>
        </p:spPr>
        <p:txBody>
          <a:bodyPr wrap="square" lIns="0" rIns="0" tIns="0" bIns="0" anchor="ctr">
            <a:spAutoFit/>
          </a:bodyPr>
          <a:lstStyle/>
          <a:p>
            <a:pPr algn="ctr"/>
            <a:r>
              <a:rPr sz="2600" b="1" lang="en-US">
                <a:solidFill>
                  <a:srgbClr val="207548"/>
                </a:solidFill>
                <a:latin typeface="Arial"/>
              </a:rPr>
              <a:t>DFL</a:t>
            </a:r>
          </a:p>
        </p:txBody>
      </p:sp>
      <p:cxnSp>
        <p:nvCxnSpPr>
          <p:cNvPr id="79" name="Flow"/>
          <p:cNvCxnSpPr/>
          <p:nvPr/>
        </p:nvCxnSpPr>
        <p:spPr>
          <a:xfrm>
            <a:off x="3946397" y="3904488"/>
            <a:ext cx="698755" cy="0"/>
          </a:xfrm>
          <a:prstGeom prst="line">
            <a:avLst/>
          </a:prstGeom>
          <a:ln w="26670">
            <a:solidFill>
              <a:srgbClr val="744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80" name="Node: Published / model"/>
          <p:cNvSpPr/>
          <p:nvPr/>
        </p:nvSpPr>
        <p:spPr>
          <a:xfrm>
            <a:off x="4672583" y="3447288"/>
            <a:ext cx="1572768" cy="914400"/>
          </a:xfrm>
          <a:prstGeom prst="roundRect">
            <a:avLst/>
          </a:prstGeom>
          <a:solidFill>
            <a:srgbClr val="F3EEF8"/>
          </a:solidFill>
          <a:ln w="1778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Label: Published / model"/>
          <p:cNvSpPr txBox="1"/>
          <p:nvPr/>
        </p:nvSpPr>
        <p:spPr>
          <a:xfrm>
            <a:off x="4736592" y="3474720"/>
            <a:ext cx="1444752" cy="859536"/>
          </a:xfrm>
          <a:prstGeom prst="rect">
            <a:avLst/>
          </a:prstGeom>
          <a:noFill/>
        </p:spPr>
        <p:txBody>
          <a:bodyPr wrap="square" lIns="0" rIns="0" tIns="0" bIns="0" anchor="ctr">
            <a:spAutoFit/>
          </a:bodyPr>
          <a:lstStyle/>
          <a:p>
            <a:pPr algn="ctr"/>
            <a:r>
              <a:rPr sz="1900" b="1" lang="en-US">
                <a:solidFill>
                  <a:srgbClr val="7446A6"/>
                </a:solidFill>
                <a:latin typeface="Arial"/>
              </a:rPr>
              <a:t>Published
model</a:t>
            </a:r>
          </a:p>
        </p:txBody>
      </p:sp>
      <p:cxnSp>
        <p:nvCxnSpPr>
          <p:cNvPr id="82" name="Flow"/>
          <p:cNvCxnSpPr/>
          <p:nvPr/>
        </p:nvCxnSpPr>
        <p:spPr>
          <a:xfrm>
            <a:off x="6291072" y="3904488"/>
            <a:ext cx="813816" cy="0"/>
          </a:xfrm>
          <a:prstGeom prst="line">
            <a:avLst/>
          </a:prstGeom>
          <a:ln w="29209">
            <a:solidFill>
              <a:srgbClr val="744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83" name="Node: Attested / inference"/>
          <p:cNvSpPr/>
          <p:nvPr/>
        </p:nvSpPr>
        <p:spPr>
          <a:xfrm>
            <a:off x="7141464" y="3424428"/>
            <a:ext cx="1810512" cy="960120"/>
          </a:xfrm>
          <a:prstGeom prst="roundRect">
            <a:avLst/>
          </a:prstGeom>
          <a:solidFill>
            <a:srgbClr val="EDF4FA"/>
          </a:solidFill>
          <a:ln w="1778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Label: Attested / inference"/>
          <p:cNvSpPr txBox="1"/>
          <p:nvPr/>
        </p:nvSpPr>
        <p:spPr>
          <a:xfrm>
            <a:off x="7205472" y="3451860"/>
            <a:ext cx="1682495" cy="905256"/>
          </a:xfrm>
          <a:prstGeom prst="rect">
            <a:avLst/>
          </a:prstGeom>
          <a:noFill/>
        </p:spPr>
        <p:txBody>
          <a:bodyPr wrap="square" lIns="0" rIns="0" tIns="0" bIns="0" anchor="ctr">
            <a:spAutoFit/>
          </a:bodyPr>
          <a:lstStyle/>
          <a:p>
            <a:pPr algn="ctr"/>
            <a:r>
              <a:rPr sz="2000" b="1" lang="en-US">
                <a:solidFill>
                  <a:srgbClr val="1764A1"/>
                </a:solidFill>
                <a:latin typeface="Arial"/>
              </a:rPr>
              <a:t>Attested
inference</a:t>
            </a:r>
          </a:p>
        </p:txBody>
      </p:sp>
      <p:cxnSp>
        <p:nvCxnSpPr>
          <p:cNvPr id="85" name="Flow"/>
          <p:cNvCxnSpPr/>
          <p:nvPr/>
        </p:nvCxnSpPr>
        <p:spPr>
          <a:xfrm>
            <a:off x="8988552" y="3904488"/>
            <a:ext cx="1207008" cy="0"/>
          </a:xfrm>
          <a:prstGeom prst="line">
            <a:avLst/>
          </a:prstGeom>
          <a:ln w="26670">
            <a:solidFill>
              <a:srgbClr val="1764A1"/>
            </a:solidFill>
            <a:tailEnd type="triangle" w="med" len="med"/>
          </a:ln>
        </p:spPr>
        <p:style>
          <a:lnRef idx="2">
            <a:schemeClr val="accent1"/>
          </a:lnRef>
          <a:fillRef idx="0">
            <a:schemeClr val="accent1"/>
          </a:fillRef>
          <a:effectRef idx="1">
            <a:schemeClr val="accent1"/>
          </a:effectRef>
          <a:fontRef idx="minor">
            <a:schemeClr val="tx1"/>
          </a:fontRef>
        </p:style>
      </p:cxnSp>
      <p:sp>
        <p:nvSpPr>
          <p:cNvPr id="86" name="Label: Tool receipt"/>
          <p:cNvSpPr txBox="1"/>
          <p:nvPr/>
        </p:nvSpPr>
        <p:spPr>
          <a:xfrm>
            <a:off x="9025128" y="3474720"/>
            <a:ext cx="1124712" cy="301752"/>
          </a:xfrm>
          <a:prstGeom prst="rect">
            <a:avLst/>
          </a:prstGeom>
          <a:noFill/>
        </p:spPr>
        <p:txBody>
          <a:bodyPr wrap="square" lIns="0" rIns="0" tIns="0" bIns="0" anchor="ctr">
            <a:spAutoFit/>
          </a:bodyPr>
          <a:lstStyle/>
          <a:p>
            <a:pPr algn="ctr"/>
            <a:r>
              <a:rPr sz="1350" b="0" lang="en-US">
                <a:solidFill>
                  <a:srgbClr val="1764A1"/>
                </a:solidFill>
                <a:latin typeface="Arial"/>
              </a:rPr>
              <a:t>Tool receipt</a:t>
            </a:r>
          </a:p>
        </p:txBody>
      </p:sp>
      <p:sp>
        <p:nvSpPr>
          <p:cNvPr id="87" name="Oval 86"/>
          <p:cNvSpPr/>
          <p:nvPr/>
        </p:nvSpPr>
        <p:spPr>
          <a:xfrm>
            <a:off x="10296144" y="3465576"/>
            <a:ext cx="877824" cy="877824"/>
          </a:xfrm>
          <a:prstGeom prst="ellipse">
            <a:avLst/>
          </a:prstGeom>
          <a:solidFill>
            <a:srgbClr val="EDF4FA"/>
          </a:solidFill>
          <a:ln w="1524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10618470" y="3585819"/>
            <a:ext cx="388620" cy="481888"/>
          </a:xfrm>
          <a:prstGeom prst="rect">
            <a:avLst/>
          </a:prstGeom>
          <a:solidFill>
            <a:srgbClr val="FFFFFF"/>
          </a:solidFill>
          <a:ln w="1524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10579608" y="3624681"/>
            <a:ext cx="388620" cy="481888"/>
          </a:xfrm>
          <a:prstGeom prst="rect">
            <a:avLst/>
          </a:prstGeom>
          <a:solidFill>
            <a:srgbClr val="FFFFFF"/>
          </a:solidFill>
          <a:ln w="1524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10540746" y="3663543"/>
            <a:ext cx="388620" cy="481888"/>
          </a:xfrm>
          <a:prstGeom prst="rect">
            <a:avLst/>
          </a:prstGeom>
          <a:solidFill>
            <a:srgbClr val="FFFFFF"/>
          </a:solidFill>
          <a:ln w="1524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1" name="Flow"/>
          <p:cNvCxnSpPr/>
          <p:nvPr/>
        </p:nvCxnSpPr>
        <p:spPr>
          <a:xfrm>
            <a:off x="10618470" y="3795674"/>
            <a:ext cx="225399" cy="0"/>
          </a:xfrm>
          <a:prstGeom prst="line">
            <a:avLst/>
          </a:prstGeom>
          <a:ln w="1524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92" name="Flow"/>
          <p:cNvCxnSpPr/>
          <p:nvPr/>
        </p:nvCxnSpPr>
        <p:spPr>
          <a:xfrm>
            <a:off x="10618470" y="3904488"/>
            <a:ext cx="225399" cy="0"/>
          </a:xfrm>
          <a:prstGeom prst="line">
            <a:avLst/>
          </a:prstGeom>
          <a:ln w="1524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93" name="Flow"/>
          <p:cNvCxnSpPr/>
          <p:nvPr/>
        </p:nvCxnSpPr>
        <p:spPr>
          <a:xfrm>
            <a:off x="10618470" y="4013301"/>
            <a:ext cx="225399" cy="0"/>
          </a:xfrm>
          <a:prstGeom prst="line">
            <a:avLst/>
          </a:prstGeom>
          <a:ln w="15240">
            <a:solidFill>
              <a:srgbClr val="1764A1"/>
            </a:solidFill>
          </a:ln>
        </p:spPr>
        <p:style>
          <a:lnRef idx="2">
            <a:schemeClr val="accent1"/>
          </a:lnRef>
          <a:fillRef idx="0">
            <a:schemeClr val="accent1"/>
          </a:fillRef>
          <a:effectRef idx="1">
            <a:schemeClr val="accent1"/>
          </a:effectRef>
          <a:fontRef idx="minor">
            <a:schemeClr val="tx1"/>
          </a:fontRef>
        </p:style>
      </p:cxnSp>
      <p:sp>
        <p:nvSpPr>
          <p:cNvPr id="94" name="Label: Transparency / log"/>
          <p:cNvSpPr txBox="1"/>
          <p:nvPr/>
        </p:nvSpPr>
        <p:spPr>
          <a:xfrm>
            <a:off x="9683496" y="4462272"/>
            <a:ext cx="2103120" cy="658368"/>
          </a:xfrm>
          <a:prstGeom prst="rect">
            <a:avLst/>
          </a:prstGeom>
          <a:noFill/>
        </p:spPr>
        <p:txBody>
          <a:bodyPr wrap="square" lIns="0" rIns="0" tIns="0" bIns="0" anchor="ctr">
            <a:spAutoFit/>
          </a:bodyPr>
          <a:lstStyle/>
          <a:p>
            <a:pPr algn="ctr"/>
            <a:r>
              <a:rPr sz="1800" b="1" lang="en-US">
                <a:solidFill>
                  <a:srgbClr val="1764A1"/>
                </a:solidFill>
                <a:latin typeface="Arial"/>
              </a:rPr>
              <a:t>Transparency
log</a:t>
            </a:r>
          </a:p>
        </p:txBody>
      </p:sp>
      <p:sp>
        <p:nvSpPr>
          <p:cNvPr id="95" name="Oval 94"/>
          <p:cNvSpPr/>
          <p:nvPr/>
        </p:nvSpPr>
        <p:spPr>
          <a:xfrm>
            <a:off x="7607808" y="1371600"/>
            <a:ext cx="877824" cy="877824"/>
          </a:xfrm>
          <a:prstGeom prst="ellipse">
            <a:avLst/>
          </a:prstGeom>
          <a:solidFill>
            <a:srgbClr val="EDF4FA"/>
          </a:solidFill>
          <a:ln w="1524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ounded Rectangle 95"/>
          <p:cNvSpPr/>
          <p:nvPr/>
        </p:nvSpPr>
        <p:spPr>
          <a:xfrm>
            <a:off x="7844637" y="1655064"/>
            <a:ext cx="404164" cy="303123"/>
          </a:xfrm>
          <a:prstGeom prst="roundRect">
            <a:avLst/>
          </a:prstGeom>
          <a:solidFill>
            <a:srgbClr val="FFFFFF"/>
          </a:solidFill>
          <a:ln w="1778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Oval 96"/>
          <p:cNvSpPr/>
          <p:nvPr/>
        </p:nvSpPr>
        <p:spPr>
          <a:xfrm>
            <a:off x="7939460" y="1757659"/>
            <a:ext cx="51297" cy="51297"/>
          </a:xfrm>
          <a:prstGeom prst="ellipse">
            <a:avLst/>
          </a:prstGeom>
          <a:solidFill>
            <a:srgbClr val="1764A1"/>
          </a:solidFill>
          <a:ln w="1016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Oval 97"/>
          <p:cNvSpPr/>
          <p:nvPr/>
        </p:nvSpPr>
        <p:spPr>
          <a:xfrm>
            <a:off x="8102681" y="1757659"/>
            <a:ext cx="51297" cy="51297"/>
          </a:xfrm>
          <a:prstGeom prst="ellipse">
            <a:avLst/>
          </a:prstGeom>
          <a:solidFill>
            <a:srgbClr val="1764A1"/>
          </a:solidFill>
          <a:ln w="1016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9" name="Flow"/>
          <p:cNvCxnSpPr/>
          <p:nvPr/>
        </p:nvCxnSpPr>
        <p:spPr>
          <a:xfrm>
            <a:off x="7976768" y="1888236"/>
            <a:ext cx="139903" cy="0"/>
          </a:xfrm>
          <a:prstGeom prst="line">
            <a:avLst/>
          </a:prstGeom>
          <a:ln w="1524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100" name="Flow"/>
          <p:cNvCxnSpPr/>
          <p:nvPr/>
        </p:nvCxnSpPr>
        <p:spPr>
          <a:xfrm flipV="1">
            <a:off x="8046720" y="1569567"/>
            <a:ext cx="0" cy="85497"/>
          </a:xfrm>
          <a:prstGeom prst="line">
            <a:avLst/>
          </a:prstGeom>
          <a:ln w="15240">
            <a:solidFill>
              <a:srgbClr val="1764A1"/>
            </a:solidFill>
          </a:ln>
        </p:spPr>
        <p:style>
          <a:lnRef idx="2">
            <a:schemeClr val="accent1"/>
          </a:lnRef>
          <a:fillRef idx="0">
            <a:schemeClr val="accent1"/>
          </a:fillRef>
          <a:effectRef idx="1">
            <a:schemeClr val="accent1"/>
          </a:effectRef>
          <a:fontRef idx="minor">
            <a:schemeClr val="tx1"/>
          </a:fontRef>
        </p:style>
      </p:cxnSp>
      <p:sp>
        <p:nvSpPr>
          <p:cNvPr id="101" name="Oval 100"/>
          <p:cNvSpPr/>
          <p:nvPr/>
        </p:nvSpPr>
        <p:spPr>
          <a:xfrm>
            <a:off x="8015630" y="1507388"/>
            <a:ext cx="62179" cy="62179"/>
          </a:xfrm>
          <a:prstGeom prst="ellipse">
            <a:avLst/>
          </a:prstGeom>
          <a:solidFill>
            <a:srgbClr val="FFFFFF"/>
          </a:solidFill>
          <a:ln w="1397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Label: Agent"/>
          <p:cNvSpPr txBox="1"/>
          <p:nvPr/>
        </p:nvSpPr>
        <p:spPr>
          <a:xfrm>
            <a:off x="6995160" y="2368296"/>
            <a:ext cx="2103120" cy="347472"/>
          </a:xfrm>
          <a:prstGeom prst="rect">
            <a:avLst/>
          </a:prstGeom>
          <a:noFill/>
        </p:spPr>
        <p:txBody>
          <a:bodyPr wrap="square" lIns="0" rIns="0" tIns="0" bIns="0" anchor="ctr">
            <a:spAutoFit/>
          </a:bodyPr>
          <a:lstStyle/>
          <a:p>
            <a:pPr algn="ctr"/>
            <a:r>
              <a:rPr sz="1900" b="1" lang="en-US">
                <a:solidFill>
                  <a:srgbClr val="1764A1"/>
                </a:solidFill>
                <a:latin typeface="Arial"/>
              </a:rPr>
              <a:t>Agent</a:t>
            </a:r>
          </a:p>
        </p:txBody>
      </p:sp>
      <p:cxnSp>
        <p:nvCxnSpPr>
          <p:cNvPr id="103" name="Flow"/>
          <p:cNvCxnSpPr/>
          <p:nvPr/>
        </p:nvCxnSpPr>
        <p:spPr>
          <a:xfrm>
            <a:off x="7818120" y="2734056"/>
            <a:ext cx="0" cy="630936"/>
          </a:xfrm>
          <a:prstGeom prst="line">
            <a:avLst/>
          </a:prstGeom>
          <a:ln w="26670">
            <a:solidFill>
              <a:srgbClr val="1764A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4" name="Label: MCP"/>
          <p:cNvSpPr txBox="1"/>
          <p:nvPr/>
        </p:nvSpPr>
        <p:spPr>
          <a:xfrm>
            <a:off x="7150608" y="2971800"/>
            <a:ext cx="585216" cy="274320"/>
          </a:xfrm>
          <a:prstGeom prst="rect">
            <a:avLst/>
          </a:prstGeom>
          <a:noFill/>
        </p:spPr>
        <p:txBody>
          <a:bodyPr wrap="square" lIns="0" rIns="0" tIns="0" bIns="0" anchor="ctr">
            <a:spAutoFit/>
          </a:bodyPr>
          <a:lstStyle/>
          <a:p>
            <a:pPr algn="ctr"/>
            <a:r>
              <a:rPr sz="1600" b="1" lang="en-US">
                <a:solidFill>
                  <a:srgbClr val="1764A1"/>
                </a:solidFill>
                <a:latin typeface="Arial"/>
              </a:rPr>
              <a:t>MCP</a:t>
            </a:r>
          </a:p>
        </p:txBody>
      </p:sp>
      <p:cxnSp>
        <p:nvCxnSpPr>
          <p:cNvPr id="105" name="Flow"/>
          <p:cNvCxnSpPr/>
          <p:nvPr/>
        </p:nvCxnSpPr>
        <p:spPr>
          <a:xfrm flipV="1">
            <a:off x="8293608" y="2734056"/>
            <a:ext cx="0" cy="630936"/>
          </a:xfrm>
          <a:prstGeom prst="line">
            <a:avLst/>
          </a:prstGeom>
          <a:ln w="20320">
            <a:solidFill>
              <a:srgbClr val="1764A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6" name="Label: Result"/>
          <p:cNvSpPr txBox="1"/>
          <p:nvPr/>
        </p:nvSpPr>
        <p:spPr>
          <a:xfrm>
            <a:off x="8412480" y="2971800"/>
            <a:ext cx="713232" cy="274320"/>
          </a:xfrm>
          <a:prstGeom prst="rect">
            <a:avLst/>
          </a:prstGeom>
          <a:noFill/>
        </p:spPr>
        <p:txBody>
          <a:bodyPr wrap="square" lIns="0" rIns="0" tIns="0" bIns="0" anchor="ctr">
            <a:spAutoFit/>
          </a:bodyPr>
          <a:lstStyle/>
          <a:p>
            <a:pPr algn="ctr"/>
            <a:r>
              <a:rPr sz="1400" b="0" lang="en-US">
                <a:solidFill>
                  <a:srgbClr val="67747C"/>
                </a:solidFill>
                <a:latin typeface="Arial"/>
              </a:rPr>
              <a:t>Result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57784" y="292608"/>
            <a:ext cx="8823960" cy="566928"/>
          </a:xfrm>
          <a:prstGeom prst="rect">
            <a:avLst/>
          </a:prstGeom>
          <a:noFill/>
        </p:spPr>
        <p:txBody>
          <a:bodyPr wrap="square" lIns="18288" rIns="18288" tIns="18288" bIns="18288" anchor="t">
            <a:spAutoFit/>
          </a:bodyPr>
          <a:lstStyle/>
          <a:p>
            <a:pPr algn="l"/>
            <a:r>
              <a:rPr sz="2400" b="0" lang="en-US">
                <a:solidFill>
                  <a:srgbClr val="434343"/>
                </a:solidFill>
                <a:latin typeface="Arial"/>
              </a:rPr>
              <a:t>One training loop. Many model uses.</a:t>
            </a:r>
          </a:p>
        </p:txBody>
      </p:sp>
      <p:sp>
        <p:nvSpPr>
          <p:cNvPr id="3" name="TextBox 2"/>
          <p:cNvSpPr txBox="1"/>
          <p:nvPr/>
        </p:nvSpPr>
        <p:spPr>
          <a:xfrm>
            <a:off x="566928" y="932688"/>
            <a:ext cx="8869680" cy="201168"/>
          </a:xfrm>
          <a:prstGeom prst="rect">
            <a:avLst/>
          </a:prstGeom>
          <a:noFill/>
        </p:spPr>
        <p:txBody>
          <a:bodyPr wrap="square" lIns="18288" rIns="18288" tIns="18288" bIns="18288" anchor="t">
            <a:spAutoFit/>
          </a:bodyPr>
          <a:lstStyle/>
          <a:p>
            <a:pPr algn="l"/>
            <a:r>
              <a:rPr sz="950" b="1" lang="en-US">
                <a:solidFill>
                  <a:srgbClr val="C40D1E"/>
                </a:solidFill>
                <a:latin typeface="Arial"/>
              </a:rPr>
              <a:t/>
            </a:r>
          </a:p>
        </p:txBody>
      </p:sp>
      <p:sp>
        <p:nvSpPr>
          <p:cNvPr id="4" name="Rectangle 3"/>
          <p:cNvSpPr/>
          <p:nvPr/>
        </p:nvSpPr>
        <p:spPr>
          <a:xfrm>
            <a:off x="557784" y="1188720"/>
            <a:ext cx="10927080" cy="16459"/>
          </a:xfrm>
          <a:prstGeom prst="rect">
            <a:avLst/>
          </a:prstGeom>
          <a:solidFill>
            <a:srgbClr val="C4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91072"/>
            <a:ext cx="914400" cy="201168"/>
          </a:xfrm>
          <a:prstGeom prst="rect">
            <a:avLst/>
          </a:prstGeom>
          <a:noFill/>
        </p:spPr>
        <p:txBody>
          <a:bodyPr wrap="square" lIns="18288" rIns="18288" tIns="18288" bIns="18288" anchor="t">
            <a:spAutoFit/>
          </a:bodyPr>
          <a:lstStyle/>
          <a:p>
            <a:pPr algn="l"/>
            <a:r>
              <a:rPr sz="950" b="0" lang="en-US">
                <a:solidFill>
                  <a:srgbClr val="FFFFFF"/>
                </a:solidFill>
                <a:latin typeface="Arial"/>
              </a:rPr>
              <a:t>Concept B</a:t>
            </a:r>
          </a:p>
        </p:txBody>
      </p:sp>
      <p:sp>
        <p:nvSpPr>
          <p:cNvPr id="6" name="TextBox 5"/>
          <p:cNvSpPr txBox="1"/>
          <p:nvPr/>
        </p:nvSpPr>
        <p:spPr>
          <a:xfrm>
            <a:off x="1600200" y="6291072"/>
            <a:ext cx="8549640" cy="201168"/>
          </a:xfrm>
          <a:prstGeom prst="rect">
            <a:avLst/>
          </a:prstGeom>
          <a:noFill/>
        </p:spPr>
        <p:txBody>
          <a:bodyPr wrap="square" lIns="18288" rIns="18288" tIns="18288" bIns="18288" anchor="t">
            <a:spAutoFit/>
          </a:bodyPr>
          <a:lstStyle/>
          <a:p>
            <a:pPr algn="l"/>
            <a:r>
              <a:rPr sz="850" b="0" lang="en-US">
                <a:solidFill>
                  <a:srgbClr val="FFFFFF"/>
                </a:solidFill>
                <a:latin typeface="Arial"/>
              </a:rPr>
              <a:t>Ramon Mehrpoya  |  Master's Thesis  |  Verifiable Decentralized Federated Machine Learning and Inference for AI Agent Systems  |  VITA-FL</a:t>
            </a:r>
          </a:p>
        </p:txBody>
      </p:sp>
      <p:sp>
        <p:nvSpPr>
          <p:cNvPr id="7" name="TextBox 6"/>
          <p:cNvSpPr txBox="1"/>
          <p:nvPr/>
        </p:nvSpPr>
        <p:spPr>
          <a:xfrm>
            <a:off x="10241280" y="6291072"/>
            <a:ext cx="1399032" cy="201168"/>
          </a:xfrm>
          <a:prstGeom prst="rect">
            <a:avLst/>
          </a:prstGeom>
          <a:noFill/>
        </p:spPr>
        <p:txBody>
          <a:bodyPr wrap="square" lIns="18288" rIns="18288" tIns="18288" bIns="18288" anchor="t">
            <a:spAutoFit/>
          </a:bodyPr>
          <a:lstStyle/>
          <a:p>
            <a:pPr algn="r"/>
            <a:r>
              <a:rPr sz="850" b="0" lang="en-US">
                <a:solidFill>
                  <a:srgbClr val="FFFFFF"/>
                </a:solidFill>
                <a:latin typeface="Arial"/>
              </a:rPr>
              <a:t>20 September 2026</a:t>
            </a:r>
          </a:p>
        </p:txBody>
      </p:sp>
      <p:sp>
        <p:nvSpPr>
          <p:cNvPr id="8" name="Domain navigation: background"/>
          <p:cNvSpPr/>
          <p:nvPr/>
        </p:nvSpPr>
        <p:spPr>
          <a:xfrm>
            <a:off x="9479280" y="472440"/>
            <a:ext cx="1036320" cy="28956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main navigation: DFL badge"/>
          <p:cNvSpPr/>
          <p:nvPr/>
        </p:nvSpPr>
        <p:spPr>
          <a:xfrm>
            <a:off x="9509760" y="502920"/>
            <a:ext cx="411480" cy="228600"/>
          </a:xfrm>
          <a:prstGeom prst="rect">
            <a:avLst/>
          </a:prstGeom>
          <a:solidFill>
            <a:srgbClr val="207548"/>
          </a:solidFill>
          <a:ln w="6985">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main navigation: DFL label"/>
          <p:cNvSpPr txBox="1"/>
          <p:nvPr/>
        </p:nvSpPr>
        <p:spPr>
          <a:xfrm>
            <a:off x="9509760" y="502920"/>
            <a:ext cx="411480" cy="228600"/>
          </a:xfrm>
          <a:prstGeom prst="rect">
            <a:avLst/>
          </a:prstGeom>
          <a:noFill/>
        </p:spPr>
        <p:txBody>
          <a:bodyPr wrap="square" lIns="0" rIns="0" tIns="0" bIns="0" anchor="ctr">
            <a:spAutoFit/>
          </a:bodyPr>
          <a:lstStyle/>
          <a:p>
            <a:pPr algn="ctr"/>
            <a:r>
              <a:rPr sz="840" b="1" lang="en-US">
                <a:solidFill>
                  <a:srgbClr val="FFFFFF"/>
                </a:solidFill>
                <a:latin typeface="Arial"/>
              </a:rPr>
              <a:t>DFL</a:t>
            </a:r>
          </a:p>
        </p:txBody>
      </p:sp>
      <p:sp>
        <p:nvSpPr>
          <p:cNvPr id="11" name="Domain navigation: Agent badge"/>
          <p:cNvSpPr/>
          <p:nvPr/>
        </p:nvSpPr>
        <p:spPr>
          <a:xfrm>
            <a:off x="9982200" y="502920"/>
            <a:ext cx="502920" cy="228600"/>
          </a:xfrm>
          <a:prstGeom prst="rect">
            <a:avLst/>
          </a:prstGeom>
          <a:solidFill>
            <a:srgbClr val="1764A1"/>
          </a:solidFill>
          <a:ln w="6985">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main navigation: Agent label"/>
          <p:cNvSpPr txBox="1"/>
          <p:nvPr/>
        </p:nvSpPr>
        <p:spPr>
          <a:xfrm>
            <a:off x="9982200" y="502920"/>
            <a:ext cx="502920" cy="228600"/>
          </a:xfrm>
          <a:prstGeom prst="rect">
            <a:avLst/>
          </a:prstGeom>
          <a:noFill/>
        </p:spPr>
        <p:txBody>
          <a:bodyPr wrap="square" lIns="0" rIns="0" tIns="0" bIns="0" anchor="ctr">
            <a:spAutoFit/>
          </a:bodyPr>
          <a:lstStyle/>
          <a:p>
            <a:pPr algn="ctr"/>
            <a:r>
              <a:rPr sz="840" b="1" lang="en-US">
                <a:solidFill>
                  <a:srgbClr val="FFFFFF"/>
                </a:solidFill>
                <a:latin typeface="Arial"/>
              </a:rPr>
              <a:t>Agent</a:t>
            </a:r>
          </a:p>
        </p:txBody>
      </p:sp>
      <p:cxnSp>
        <p:nvCxnSpPr>
          <p:cNvPr id="13" name="Editable circular flow"/>
          <p:cNvCxnSpPr/>
          <p:nvPr/>
        </p:nvCxnSpPr>
        <p:spPr>
          <a:xfrm>
            <a:off x="2332470" y="2019664"/>
            <a:ext cx="72904" cy="26573"/>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14" name="Editable circular flow"/>
          <p:cNvCxnSpPr/>
          <p:nvPr/>
        </p:nvCxnSpPr>
        <p:spPr>
          <a:xfrm>
            <a:off x="2405374" y="2046237"/>
            <a:ext cx="70844" cy="31659"/>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15" name="Editable circular flow"/>
          <p:cNvCxnSpPr/>
          <p:nvPr/>
        </p:nvCxnSpPr>
        <p:spPr>
          <a:xfrm>
            <a:off x="2476218" y="2077896"/>
            <a:ext cx="68430" cy="36587"/>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16" name="Editable circular flow"/>
          <p:cNvCxnSpPr/>
          <p:nvPr/>
        </p:nvCxnSpPr>
        <p:spPr>
          <a:xfrm>
            <a:off x="2544648" y="2114483"/>
            <a:ext cx="65673" cy="41331"/>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17" name="Editable circular flow"/>
          <p:cNvCxnSpPr/>
          <p:nvPr/>
        </p:nvCxnSpPr>
        <p:spPr>
          <a:xfrm>
            <a:off x="2610321" y="2155814"/>
            <a:ext cx="62588" cy="45869"/>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18" name="Editable circular flow"/>
          <p:cNvCxnSpPr/>
          <p:nvPr/>
        </p:nvCxnSpPr>
        <p:spPr>
          <a:xfrm>
            <a:off x="2672909" y="2201683"/>
            <a:ext cx="59189" cy="50178"/>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19" name="Editable circular flow"/>
          <p:cNvCxnSpPr/>
          <p:nvPr/>
        </p:nvCxnSpPr>
        <p:spPr>
          <a:xfrm>
            <a:off x="2732098" y="2251861"/>
            <a:ext cx="55496" cy="54235"/>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0" name="Editable circular flow"/>
          <p:cNvCxnSpPr/>
          <p:nvPr/>
        </p:nvCxnSpPr>
        <p:spPr>
          <a:xfrm>
            <a:off x="2787594" y="2306096"/>
            <a:ext cx="51523" cy="58022"/>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1" name="Editable circular flow"/>
          <p:cNvCxnSpPr/>
          <p:nvPr/>
        </p:nvCxnSpPr>
        <p:spPr>
          <a:xfrm>
            <a:off x="2839117" y="2364118"/>
            <a:ext cx="47294" cy="61518"/>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2" name="Editable circular flow"/>
          <p:cNvCxnSpPr/>
          <p:nvPr/>
        </p:nvCxnSpPr>
        <p:spPr>
          <a:xfrm>
            <a:off x="2886411" y="2425636"/>
            <a:ext cx="42829" cy="64706"/>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3" name="Editable circular flow"/>
          <p:cNvCxnSpPr/>
          <p:nvPr/>
        </p:nvCxnSpPr>
        <p:spPr>
          <a:xfrm>
            <a:off x="2929240" y="2490342"/>
            <a:ext cx="38148" cy="67572"/>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4" name="Editable circular flow"/>
          <p:cNvCxnSpPr/>
          <p:nvPr/>
        </p:nvCxnSpPr>
        <p:spPr>
          <a:xfrm>
            <a:off x="2967388" y="2557914"/>
            <a:ext cx="33277" cy="70098"/>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5" name="Editable circular flow"/>
          <p:cNvCxnSpPr/>
          <p:nvPr/>
        </p:nvCxnSpPr>
        <p:spPr>
          <a:xfrm>
            <a:off x="3000665" y="2628012"/>
            <a:ext cx="28240" cy="72275"/>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6" name="Editable circular flow"/>
          <p:cNvCxnSpPr/>
          <p:nvPr/>
        </p:nvCxnSpPr>
        <p:spPr>
          <a:xfrm>
            <a:off x="3028905" y="2700287"/>
            <a:ext cx="23062" cy="74091"/>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7" name="Editable circular flow"/>
          <p:cNvCxnSpPr/>
          <p:nvPr/>
        </p:nvCxnSpPr>
        <p:spPr>
          <a:xfrm>
            <a:off x="3051967" y="2774378"/>
            <a:ext cx="17768" cy="75534"/>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8" name="Editable circular flow"/>
          <p:cNvCxnSpPr/>
          <p:nvPr/>
        </p:nvCxnSpPr>
        <p:spPr>
          <a:xfrm>
            <a:off x="3069735" y="2849912"/>
            <a:ext cx="12385" cy="76602"/>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9" name="Editable circular flow"/>
          <p:cNvCxnSpPr/>
          <p:nvPr/>
        </p:nvCxnSpPr>
        <p:spPr>
          <a:xfrm>
            <a:off x="3082120" y="2926514"/>
            <a:ext cx="6940" cy="77285"/>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0" name="Editable circular flow"/>
          <p:cNvCxnSpPr/>
          <p:nvPr/>
        </p:nvCxnSpPr>
        <p:spPr>
          <a:xfrm>
            <a:off x="3089060" y="3003799"/>
            <a:ext cx="1462" cy="77583"/>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1" name="Editable circular flow"/>
          <p:cNvCxnSpPr/>
          <p:nvPr/>
        </p:nvCxnSpPr>
        <p:spPr>
          <a:xfrm flipH="1">
            <a:off x="3086496" y="3081382"/>
            <a:ext cx="4026" cy="77492"/>
          </a:xfrm>
          <a:prstGeom prst="line">
            <a:avLst/>
          </a:prstGeom>
          <a:ln w="31750">
            <a:solidFill>
              <a:srgbClr val="2075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2" name="Editable circular flow"/>
          <p:cNvCxnSpPr/>
          <p:nvPr/>
        </p:nvCxnSpPr>
        <p:spPr>
          <a:xfrm flipH="1">
            <a:off x="2606147" y="3927908"/>
            <a:ext cx="62798" cy="45581"/>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3" name="Editable circular flow"/>
          <p:cNvCxnSpPr/>
          <p:nvPr/>
        </p:nvCxnSpPr>
        <p:spPr>
          <a:xfrm flipH="1">
            <a:off x="2540285" y="3973489"/>
            <a:ext cx="65862" cy="41029"/>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4" name="Editable circular flow"/>
          <p:cNvCxnSpPr/>
          <p:nvPr/>
        </p:nvCxnSpPr>
        <p:spPr>
          <a:xfrm flipH="1">
            <a:off x="2471688" y="4014518"/>
            <a:ext cx="68597" cy="36272"/>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5" name="Editable circular flow"/>
          <p:cNvCxnSpPr/>
          <p:nvPr/>
        </p:nvCxnSpPr>
        <p:spPr>
          <a:xfrm flipH="1">
            <a:off x="2400699" y="4050790"/>
            <a:ext cx="70989" cy="31333"/>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6" name="Editable circular flow"/>
          <p:cNvCxnSpPr/>
          <p:nvPr/>
        </p:nvCxnSpPr>
        <p:spPr>
          <a:xfrm flipH="1">
            <a:off x="2327673" y="4082123"/>
            <a:ext cx="73026" cy="26238"/>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7" name="Editable circular flow"/>
          <p:cNvCxnSpPr/>
          <p:nvPr/>
        </p:nvCxnSpPr>
        <p:spPr>
          <a:xfrm flipH="1">
            <a:off x="2252975" y="4108361"/>
            <a:ext cx="74698" cy="21011"/>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8" name="Editable circular flow"/>
          <p:cNvCxnSpPr/>
          <p:nvPr/>
        </p:nvCxnSpPr>
        <p:spPr>
          <a:xfrm flipH="1">
            <a:off x="2176980" y="4129372"/>
            <a:ext cx="75995" cy="15680"/>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9" name="Editable circular flow"/>
          <p:cNvCxnSpPr/>
          <p:nvPr/>
        </p:nvCxnSpPr>
        <p:spPr>
          <a:xfrm flipH="1">
            <a:off x="2100066" y="4145052"/>
            <a:ext cx="76914" cy="10270"/>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40" name="Editable circular flow"/>
          <p:cNvCxnSpPr/>
          <p:nvPr/>
        </p:nvCxnSpPr>
        <p:spPr>
          <a:xfrm flipH="1">
            <a:off x="2022619" y="4155322"/>
            <a:ext cx="77447" cy="4808"/>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41" name="Editable circular flow"/>
          <p:cNvCxnSpPr/>
          <p:nvPr/>
        </p:nvCxnSpPr>
        <p:spPr>
          <a:xfrm flipH="1" flipV="1">
            <a:off x="1945025" y="4159453"/>
            <a:ext cx="77594" cy="677"/>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42" name="Editable circular flow"/>
          <p:cNvCxnSpPr/>
          <p:nvPr/>
        </p:nvCxnSpPr>
        <p:spPr>
          <a:xfrm flipH="1" flipV="1">
            <a:off x="1867674" y="4153294"/>
            <a:ext cx="77351" cy="6159"/>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43" name="Editable circular flow"/>
          <p:cNvCxnSpPr/>
          <p:nvPr/>
        </p:nvCxnSpPr>
        <p:spPr>
          <a:xfrm flipH="1" flipV="1">
            <a:off x="1790951" y="4141683"/>
            <a:ext cx="76723" cy="11611"/>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44" name="Editable circular flow"/>
          <p:cNvCxnSpPr/>
          <p:nvPr/>
        </p:nvCxnSpPr>
        <p:spPr>
          <a:xfrm flipH="1" flipV="1">
            <a:off x="1715240" y="4124680"/>
            <a:ext cx="75711" cy="17003"/>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45" name="Editable circular flow"/>
          <p:cNvCxnSpPr/>
          <p:nvPr/>
        </p:nvCxnSpPr>
        <p:spPr>
          <a:xfrm flipH="1" flipV="1">
            <a:off x="1640921" y="4102368"/>
            <a:ext cx="74319" cy="22312"/>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46" name="Editable circular flow"/>
          <p:cNvCxnSpPr/>
          <p:nvPr/>
        </p:nvCxnSpPr>
        <p:spPr>
          <a:xfrm flipH="1" flipV="1">
            <a:off x="1568364" y="4074860"/>
            <a:ext cx="72557" cy="27508"/>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47" name="Editable circular flow"/>
          <p:cNvCxnSpPr/>
          <p:nvPr/>
        </p:nvCxnSpPr>
        <p:spPr>
          <a:xfrm flipH="1" flipV="1">
            <a:off x="1497933" y="4042292"/>
            <a:ext cx="70431" cy="32568"/>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48" name="Editable circular flow"/>
          <p:cNvCxnSpPr/>
          <p:nvPr/>
        </p:nvCxnSpPr>
        <p:spPr>
          <a:xfrm flipH="1" flipV="1">
            <a:off x="1429979" y="4004829"/>
            <a:ext cx="67954" cy="37463"/>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49" name="Editable circular flow"/>
          <p:cNvCxnSpPr/>
          <p:nvPr/>
        </p:nvCxnSpPr>
        <p:spPr>
          <a:xfrm flipH="1" flipV="1">
            <a:off x="1364843" y="3962656"/>
            <a:ext cx="65136" cy="42173"/>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50" name="Editable circular flow"/>
          <p:cNvCxnSpPr/>
          <p:nvPr/>
        </p:nvCxnSpPr>
        <p:spPr>
          <a:xfrm flipH="1" flipV="1">
            <a:off x="1302851" y="3915986"/>
            <a:ext cx="61992" cy="46670"/>
          </a:xfrm>
          <a:prstGeom prst="line">
            <a:avLst/>
          </a:prstGeom>
          <a:ln w="31750">
            <a:solidFill>
              <a:srgbClr val="2075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1" name="Editable circular flow"/>
          <p:cNvCxnSpPr/>
          <p:nvPr/>
        </p:nvCxnSpPr>
        <p:spPr>
          <a:xfrm flipH="1" flipV="1">
            <a:off x="898888" y="3141251"/>
            <a:ext cx="7902" cy="74700"/>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52" name="Editable circular flow"/>
          <p:cNvCxnSpPr/>
          <p:nvPr/>
        </p:nvCxnSpPr>
        <p:spPr>
          <a:xfrm flipH="1" flipV="1">
            <a:off x="896115" y="3066186"/>
            <a:ext cx="2773" cy="75065"/>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53" name="Editable circular flow"/>
          <p:cNvCxnSpPr/>
          <p:nvPr/>
        </p:nvCxnSpPr>
        <p:spPr>
          <a:xfrm flipV="1">
            <a:off x="896115" y="2991106"/>
            <a:ext cx="2370" cy="75080"/>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54" name="Editable circular flow"/>
          <p:cNvCxnSpPr/>
          <p:nvPr/>
        </p:nvCxnSpPr>
        <p:spPr>
          <a:xfrm flipV="1">
            <a:off x="898485" y="2916365"/>
            <a:ext cx="7501" cy="74741"/>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55" name="Editable circular flow"/>
          <p:cNvCxnSpPr/>
          <p:nvPr/>
        </p:nvCxnSpPr>
        <p:spPr>
          <a:xfrm flipV="1">
            <a:off x="905986" y="2842312"/>
            <a:ext cx="12596" cy="74053"/>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56" name="Editable circular flow"/>
          <p:cNvCxnSpPr/>
          <p:nvPr/>
        </p:nvCxnSpPr>
        <p:spPr>
          <a:xfrm flipV="1">
            <a:off x="918582" y="2769294"/>
            <a:ext cx="17634" cy="73018"/>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57" name="Editable circular flow"/>
          <p:cNvCxnSpPr/>
          <p:nvPr/>
        </p:nvCxnSpPr>
        <p:spPr>
          <a:xfrm flipV="1">
            <a:off x="936216" y="2697654"/>
            <a:ext cx="22588" cy="71640"/>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58" name="Editable circular flow"/>
          <p:cNvCxnSpPr/>
          <p:nvPr/>
        </p:nvCxnSpPr>
        <p:spPr>
          <a:xfrm flipV="1">
            <a:off x="958804" y="2627727"/>
            <a:ext cx="27437" cy="69927"/>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59" name="Editable circular flow"/>
          <p:cNvCxnSpPr/>
          <p:nvPr/>
        </p:nvCxnSpPr>
        <p:spPr>
          <a:xfrm flipV="1">
            <a:off x="986241" y="2559842"/>
            <a:ext cx="32156" cy="67885"/>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60" name="Editable circular flow"/>
          <p:cNvCxnSpPr/>
          <p:nvPr/>
        </p:nvCxnSpPr>
        <p:spPr>
          <a:xfrm flipV="1">
            <a:off x="1018397" y="2494315"/>
            <a:ext cx="36726" cy="65527"/>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61" name="Editable circular flow"/>
          <p:cNvCxnSpPr/>
          <p:nvPr/>
        </p:nvCxnSpPr>
        <p:spPr>
          <a:xfrm flipV="1">
            <a:off x="1055123" y="2431454"/>
            <a:ext cx="41123" cy="62861"/>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62" name="Editable circular flow"/>
          <p:cNvCxnSpPr/>
          <p:nvPr/>
        </p:nvCxnSpPr>
        <p:spPr>
          <a:xfrm flipV="1">
            <a:off x="1096246" y="2371555"/>
            <a:ext cx="45327" cy="59899"/>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63" name="Editable circular flow"/>
          <p:cNvCxnSpPr/>
          <p:nvPr/>
        </p:nvCxnSpPr>
        <p:spPr>
          <a:xfrm flipV="1">
            <a:off x="1141573" y="2314896"/>
            <a:ext cx="49319" cy="56659"/>
          </a:xfrm>
          <a:prstGeom prst="line">
            <a:avLst/>
          </a:prstGeom>
          <a:ln w="31750">
            <a:solidFill>
              <a:srgbClr val="2075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4" name="Editable circular flow"/>
          <p:cNvCxnSpPr/>
          <p:nvPr/>
        </p:nvCxnSpPr>
        <p:spPr>
          <a:xfrm flipV="1">
            <a:off x="1190892" y="2270604"/>
            <a:ext cx="43716" cy="44292"/>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65" name="Editable circular flow"/>
          <p:cNvCxnSpPr/>
          <p:nvPr/>
        </p:nvCxnSpPr>
        <p:spPr>
          <a:xfrm flipV="1">
            <a:off x="1234608" y="2228861"/>
            <a:ext cx="46157" cy="41743"/>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66" name="Editable circular flow"/>
          <p:cNvCxnSpPr/>
          <p:nvPr/>
        </p:nvCxnSpPr>
        <p:spPr>
          <a:xfrm flipV="1">
            <a:off x="1280765" y="2189802"/>
            <a:ext cx="48450" cy="39059"/>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67" name="Editable circular flow"/>
          <p:cNvCxnSpPr/>
          <p:nvPr/>
        </p:nvCxnSpPr>
        <p:spPr>
          <a:xfrm flipV="1">
            <a:off x="1329215" y="2153553"/>
            <a:ext cx="50585" cy="36249"/>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68" name="Editable circular flow"/>
          <p:cNvCxnSpPr/>
          <p:nvPr/>
        </p:nvCxnSpPr>
        <p:spPr>
          <a:xfrm flipV="1">
            <a:off x="1379800" y="2120230"/>
            <a:ext cx="52560" cy="33323"/>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69" name="Editable circular flow"/>
          <p:cNvCxnSpPr/>
          <p:nvPr/>
        </p:nvCxnSpPr>
        <p:spPr>
          <a:xfrm flipV="1">
            <a:off x="1432360" y="2089940"/>
            <a:ext cx="54364" cy="30290"/>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70" name="Editable circular flow"/>
          <p:cNvCxnSpPr/>
          <p:nvPr/>
        </p:nvCxnSpPr>
        <p:spPr>
          <a:xfrm flipV="1">
            <a:off x="1486724" y="2062781"/>
            <a:ext cx="55994" cy="27159"/>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71" name="Editable circular flow"/>
          <p:cNvCxnSpPr/>
          <p:nvPr/>
        </p:nvCxnSpPr>
        <p:spPr>
          <a:xfrm flipV="1">
            <a:off x="1542718" y="2038840"/>
            <a:ext cx="57444" cy="23941"/>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sp>
        <p:nvSpPr>
          <p:cNvPr id="72" name="Node: Local training"/>
          <p:cNvSpPr/>
          <p:nvPr/>
        </p:nvSpPr>
        <p:spPr>
          <a:xfrm>
            <a:off x="1133856" y="1687068"/>
            <a:ext cx="1719072" cy="557784"/>
          </a:xfrm>
          <a:prstGeom prst="roundRect">
            <a:avLst/>
          </a:prstGeom>
          <a:solidFill>
            <a:srgbClr val="FFFFFF"/>
          </a:solidFill>
          <a:ln w="1778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Label: Local training"/>
          <p:cNvSpPr txBox="1"/>
          <p:nvPr/>
        </p:nvSpPr>
        <p:spPr>
          <a:xfrm>
            <a:off x="1197864" y="1714500"/>
            <a:ext cx="1591055" cy="502920"/>
          </a:xfrm>
          <a:prstGeom prst="rect">
            <a:avLst/>
          </a:prstGeom>
          <a:noFill/>
        </p:spPr>
        <p:txBody>
          <a:bodyPr wrap="square" lIns="0" rIns="0" tIns="0" bIns="0" anchor="ctr">
            <a:spAutoFit/>
          </a:bodyPr>
          <a:lstStyle/>
          <a:p>
            <a:pPr algn="ctr"/>
            <a:r>
              <a:rPr sz="1600" b="1" lang="en-US">
                <a:solidFill>
                  <a:srgbClr val="207548"/>
                </a:solidFill>
                <a:latin typeface="Arial"/>
              </a:rPr>
              <a:t>Local training</a:t>
            </a:r>
          </a:p>
        </p:txBody>
      </p:sp>
      <p:sp>
        <p:nvSpPr>
          <p:cNvPr id="74" name="Node: Aggregate"/>
          <p:cNvSpPr/>
          <p:nvPr/>
        </p:nvSpPr>
        <p:spPr>
          <a:xfrm>
            <a:off x="2175568" y="3332988"/>
            <a:ext cx="1536192" cy="557784"/>
          </a:xfrm>
          <a:prstGeom prst="roundRect">
            <a:avLst/>
          </a:prstGeom>
          <a:solidFill>
            <a:srgbClr val="FFFFFF"/>
          </a:solidFill>
          <a:ln w="1778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Label: Aggregate"/>
          <p:cNvSpPr txBox="1"/>
          <p:nvPr/>
        </p:nvSpPr>
        <p:spPr>
          <a:xfrm>
            <a:off x="2239576" y="3360420"/>
            <a:ext cx="1408176" cy="502920"/>
          </a:xfrm>
          <a:prstGeom prst="rect">
            <a:avLst/>
          </a:prstGeom>
          <a:noFill/>
        </p:spPr>
        <p:txBody>
          <a:bodyPr wrap="square" lIns="0" rIns="0" tIns="0" bIns="0" anchor="ctr">
            <a:spAutoFit/>
          </a:bodyPr>
          <a:lstStyle/>
          <a:p>
            <a:pPr algn="ctr"/>
            <a:r>
              <a:rPr sz="1600" b="1" lang="en-US">
                <a:solidFill>
                  <a:srgbClr val="207548"/>
                </a:solidFill>
                <a:latin typeface="Arial"/>
              </a:rPr>
              <a:t>Aggregate</a:t>
            </a:r>
          </a:p>
        </p:txBody>
      </p:sp>
      <p:sp>
        <p:nvSpPr>
          <p:cNvPr id="76" name="Node: Global model"/>
          <p:cNvSpPr/>
          <p:nvPr/>
        </p:nvSpPr>
        <p:spPr>
          <a:xfrm>
            <a:off x="206443" y="3332988"/>
            <a:ext cx="1673352" cy="557784"/>
          </a:xfrm>
          <a:prstGeom prst="roundRect">
            <a:avLst/>
          </a:prstGeom>
          <a:solidFill>
            <a:srgbClr val="FFFFFF"/>
          </a:solidFill>
          <a:ln w="1778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Label: Global model"/>
          <p:cNvSpPr txBox="1"/>
          <p:nvPr/>
        </p:nvSpPr>
        <p:spPr>
          <a:xfrm>
            <a:off x="270451" y="3360420"/>
            <a:ext cx="1545336" cy="502920"/>
          </a:xfrm>
          <a:prstGeom prst="rect">
            <a:avLst/>
          </a:prstGeom>
          <a:noFill/>
        </p:spPr>
        <p:txBody>
          <a:bodyPr wrap="square" lIns="0" rIns="0" tIns="0" bIns="0" anchor="ctr">
            <a:spAutoFit/>
          </a:bodyPr>
          <a:lstStyle/>
          <a:p>
            <a:pPr algn="ctr"/>
            <a:r>
              <a:rPr sz="1600" b="1" lang="en-US">
                <a:solidFill>
                  <a:srgbClr val="207548"/>
                </a:solidFill>
                <a:latin typeface="Arial"/>
              </a:rPr>
              <a:t>Global model</a:t>
            </a:r>
          </a:p>
        </p:txBody>
      </p:sp>
      <p:sp>
        <p:nvSpPr>
          <p:cNvPr id="78" name="Label: DFL"/>
          <p:cNvSpPr txBox="1"/>
          <p:nvPr/>
        </p:nvSpPr>
        <p:spPr>
          <a:xfrm>
            <a:off x="1316736" y="2852928"/>
            <a:ext cx="1353312" cy="438912"/>
          </a:xfrm>
          <a:prstGeom prst="rect">
            <a:avLst/>
          </a:prstGeom>
          <a:noFill/>
        </p:spPr>
        <p:txBody>
          <a:bodyPr wrap="square" lIns="0" rIns="0" tIns="0" bIns="0" anchor="ctr">
            <a:spAutoFit/>
          </a:bodyPr>
          <a:lstStyle/>
          <a:p>
            <a:pPr algn="ctr"/>
            <a:r>
              <a:rPr sz="2600" b="1" lang="en-US">
                <a:solidFill>
                  <a:srgbClr val="207548"/>
                </a:solidFill>
                <a:latin typeface="Arial"/>
              </a:rPr>
              <a:t>DFL</a:t>
            </a:r>
          </a:p>
        </p:txBody>
      </p:sp>
      <p:cxnSp>
        <p:nvCxnSpPr>
          <p:cNvPr id="79" name="Flow"/>
          <p:cNvCxnSpPr/>
          <p:nvPr/>
        </p:nvCxnSpPr>
        <p:spPr>
          <a:xfrm>
            <a:off x="3711760" y="3611880"/>
            <a:ext cx="256736" cy="0"/>
          </a:xfrm>
          <a:prstGeom prst="line">
            <a:avLst/>
          </a:prstGeom>
          <a:ln w="26670">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80" name="Flow"/>
          <p:cNvCxnSpPr/>
          <p:nvPr/>
        </p:nvCxnSpPr>
        <p:spPr>
          <a:xfrm>
            <a:off x="3968496" y="3611880"/>
            <a:ext cx="0" cy="649224"/>
          </a:xfrm>
          <a:prstGeom prst="line">
            <a:avLst/>
          </a:prstGeom>
          <a:ln w="26670">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81" name="Flow"/>
          <p:cNvCxnSpPr/>
          <p:nvPr/>
        </p:nvCxnSpPr>
        <p:spPr>
          <a:xfrm>
            <a:off x="3968496" y="4261104"/>
            <a:ext cx="539496" cy="0"/>
          </a:xfrm>
          <a:prstGeom prst="line">
            <a:avLst/>
          </a:prstGeom>
          <a:ln w="26670">
            <a:solidFill>
              <a:srgbClr val="744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82" name="Node: Published / model"/>
          <p:cNvSpPr/>
          <p:nvPr/>
        </p:nvSpPr>
        <p:spPr>
          <a:xfrm>
            <a:off x="4544568" y="3803904"/>
            <a:ext cx="1554480" cy="914400"/>
          </a:xfrm>
          <a:prstGeom prst="roundRect">
            <a:avLst/>
          </a:prstGeom>
          <a:solidFill>
            <a:srgbClr val="F3EEF8"/>
          </a:solidFill>
          <a:ln w="1778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Label: Published / model"/>
          <p:cNvSpPr txBox="1"/>
          <p:nvPr/>
        </p:nvSpPr>
        <p:spPr>
          <a:xfrm>
            <a:off x="4608576" y="3831336"/>
            <a:ext cx="1426464" cy="859536"/>
          </a:xfrm>
          <a:prstGeom prst="rect">
            <a:avLst/>
          </a:prstGeom>
          <a:noFill/>
        </p:spPr>
        <p:txBody>
          <a:bodyPr wrap="square" lIns="0" rIns="0" tIns="0" bIns="0" anchor="ctr">
            <a:spAutoFit/>
          </a:bodyPr>
          <a:lstStyle/>
          <a:p>
            <a:pPr algn="ctr"/>
            <a:r>
              <a:rPr sz="1800" b="1" lang="en-US">
                <a:solidFill>
                  <a:srgbClr val="7446A6"/>
                </a:solidFill>
                <a:latin typeface="Arial"/>
              </a:rPr>
              <a:t>Published
model</a:t>
            </a:r>
          </a:p>
        </p:txBody>
      </p:sp>
      <p:cxnSp>
        <p:nvCxnSpPr>
          <p:cNvPr id="84" name="Flow"/>
          <p:cNvCxnSpPr/>
          <p:nvPr/>
        </p:nvCxnSpPr>
        <p:spPr>
          <a:xfrm>
            <a:off x="6135624" y="4261104"/>
            <a:ext cx="1472184" cy="0"/>
          </a:xfrm>
          <a:prstGeom prst="line">
            <a:avLst/>
          </a:prstGeom>
          <a:ln w="29209">
            <a:solidFill>
              <a:srgbClr val="7446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5" name="Editable circular flow"/>
          <p:cNvCxnSpPr/>
          <p:nvPr/>
        </p:nvCxnSpPr>
        <p:spPr>
          <a:xfrm>
            <a:off x="8892368" y="1924003"/>
            <a:ext cx="78567" cy="28596"/>
          </a:xfrm>
          <a:prstGeom prst="line">
            <a:avLst/>
          </a:prstGeom>
          <a:ln w="3048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86" name="Editable circular flow"/>
          <p:cNvCxnSpPr/>
          <p:nvPr/>
        </p:nvCxnSpPr>
        <p:spPr>
          <a:xfrm>
            <a:off x="8970935" y="1952599"/>
            <a:ext cx="76382" cy="34007"/>
          </a:xfrm>
          <a:prstGeom prst="line">
            <a:avLst/>
          </a:prstGeom>
          <a:ln w="3048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87" name="Editable circular flow"/>
          <p:cNvCxnSpPr/>
          <p:nvPr/>
        </p:nvCxnSpPr>
        <p:spPr>
          <a:xfrm>
            <a:off x="9047317" y="1986606"/>
            <a:ext cx="73823" cy="39253"/>
          </a:xfrm>
          <a:prstGeom prst="line">
            <a:avLst/>
          </a:prstGeom>
          <a:ln w="3048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88" name="Editable circular flow"/>
          <p:cNvCxnSpPr/>
          <p:nvPr/>
        </p:nvCxnSpPr>
        <p:spPr>
          <a:xfrm>
            <a:off x="9121140" y="2025859"/>
            <a:ext cx="70905" cy="44306"/>
          </a:xfrm>
          <a:prstGeom prst="line">
            <a:avLst/>
          </a:prstGeom>
          <a:ln w="3048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89" name="Editable circular flow"/>
          <p:cNvCxnSpPr/>
          <p:nvPr/>
        </p:nvCxnSpPr>
        <p:spPr>
          <a:xfrm>
            <a:off x="9192045" y="2070165"/>
            <a:ext cx="67641" cy="49145"/>
          </a:xfrm>
          <a:prstGeom prst="line">
            <a:avLst/>
          </a:prstGeom>
          <a:ln w="3048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90" name="Editable circular flow"/>
          <p:cNvCxnSpPr/>
          <p:nvPr/>
        </p:nvCxnSpPr>
        <p:spPr>
          <a:xfrm>
            <a:off x="9259686" y="2119310"/>
            <a:ext cx="64049" cy="53743"/>
          </a:xfrm>
          <a:prstGeom prst="line">
            <a:avLst/>
          </a:prstGeom>
          <a:ln w="3048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91" name="Editable circular flow"/>
          <p:cNvCxnSpPr/>
          <p:nvPr/>
        </p:nvCxnSpPr>
        <p:spPr>
          <a:xfrm>
            <a:off x="9323735" y="2173053"/>
            <a:ext cx="60144" cy="58080"/>
          </a:xfrm>
          <a:prstGeom prst="line">
            <a:avLst/>
          </a:prstGeom>
          <a:ln w="3048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92" name="Editable circular flow"/>
          <p:cNvCxnSpPr/>
          <p:nvPr/>
        </p:nvCxnSpPr>
        <p:spPr>
          <a:xfrm>
            <a:off x="9383879" y="2231133"/>
            <a:ext cx="55946" cy="62134"/>
          </a:xfrm>
          <a:prstGeom prst="line">
            <a:avLst/>
          </a:prstGeom>
          <a:ln w="3048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93" name="Editable circular flow"/>
          <p:cNvCxnSpPr/>
          <p:nvPr/>
        </p:nvCxnSpPr>
        <p:spPr>
          <a:xfrm>
            <a:off x="9439825" y="2293267"/>
            <a:ext cx="51475" cy="65886"/>
          </a:xfrm>
          <a:prstGeom prst="line">
            <a:avLst/>
          </a:prstGeom>
          <a:ln w="3048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94" name="Editable circular flow"/>
          <p:cNvCxnSpPr/>
          <p:nvPr/>
        </p:nvCxnSpPr>
        <p:spPr>
          <a:xfrm>
            <a:off x="9491300" y="2359153"/>
            <a:ext cx="46754" cy="69315"/>
          </a:xfrm>
          <a:prstGeom prst="line">
            <a:avLst/>
          </a:prstGeom>
          <a:ln w="3048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95" name="Editable circular flow"/>
          <p:cNvCxnSpPr/>
          <p:nvPr/>
        </p:nvCxnSpPr>
        <p:spPr>
          <a:xfrm>
            <a:off x="9538054" y="2428468"/>
            <a:ext cx="41805" cy="72408"/>
          </a:xfrm>
          <a:prstGeom prst="line">
            <a:avLst/>
          </a:prstGeom>
          <a:ln w="3048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96" name="Editable circular flow"/>
          <p:cNvCxnSpPr/>
          <p:nvPr/>
        </p:nvCxnSpPr>
        <p:spPr>
          <a:xfrm>
            <a:off x="9579859" y="2500876"/>
            <a:ext cx="36652" cy="75148"/>
          </a:xfrm>
          <a:prstGeom prst="line">
            <a:avLst/>
          </a:prstGeom>
          <a:ln w="3048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97" name="Editable circular flow"/>
          <p:cNvCxnSpPr/>
          <p:nvPr/>
        </p:nvCxnSpPr>
        <p:spPr>
          <a:xfrm>
            <a:off x="9616511" y="2576024"/>
            <a:ext cx="31320" cy="77522"/>
          </a:xfrm>
          <a:prstGeom prst="line">
            <a:avLst/>
          </a:prstGeom>
          <a:ln w="3048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98" name="Editable circular flow"/>
          <p:cNvCxnSpPr/>
          <p:nvPr/>
        </p:nvCxnSpPr>
        <p:spPr>
          <a:xfrm>
            <a:off x="9647831" y="2653546"/>
            <a:ext cx="25837" cy="79517"/>
          </a:xfrm>
          <a:prstGeom prst="line">
            <a:avLst/>
          </a:prstGeom>
          <a:ln w="3048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99" name="Editable circular flow"/>
          <p:cNvCxnSpPr/>
          <p:nvPr/>
        </p:nvCxnSpPr>
        <p:spPr>
          <a:xfrm>
            <a:off x="9673668" y="2733063"/>
            <a:ext cx="20227" cy="81127"/>
          </a:xfrm>
          <a:prstGeom prst="line">
            <a:avLst/>
          </a:prstGeom>
          <a:ln w="3048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100" name="Editable circular flow"/>
          <p:cNvCxnSpPr/>
          <p:nvPr/>
        </p:nvCxnSpPr>
        <p:spPr>
          <a:xfrm>
            <a:off x="9693895" y="2814190"/>
            <a:ext cx="14519" cy="82339"/>
          </a:xfrm>
          <a:prstGeom prst="line">
            <a:avLst/>
          </a:prstGeom>
          <a:ln w="3048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101" name="Editable circular flow"/>
          <p:cNvCxnSpPr/>
          <p:nvPr/>
        </p:nvCxnSpPr>
        <p:spPr>
          <a:xfrm>
            <a:off x="9708414" y="2896529"/>
            <a:ext cx="8740" cy="83152"/>
          </a:xfrm>
          <a:prstGeom prst="line">
            <a:avLst/>
          </a:prstGeom>
          <a:ln w="3048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102" name="Editable circular flow"/>
          <p:cNvCxnSpPr/>
          <p:nvPr/>
        </p:nvCxnSpPr>
        <p:spPr>
          <a:xfrm>
            <a:off x="9717154" y="2979681"/>
            <a:ext cx="2918" cy="83559"/>
          </a:xfrm>
          <a:prstGeom prst="line">
            <a:avLst/>
          </a:prstGeom>
          <a:ln w="3048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103" name="Editable circular flow"/>
          <p:cNvCxnSpPr/>
          <p:nvPr/>
        </p:nvCxnSpPr>
        <p:spPr>
          <a:xfrm flipH="1">
            <a:off x="9717154" y="3063240"/>
            <a:ext cx="2918" cy="83558"/>
          </a:xfrm>
          <a:prstGeom prst="line">
            <a:avLst/>
          </a:prstGeom>
          <a:ln w="3048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104" name="Editable circular flow"/>
          <p:cNvCxnSpPr/>
          <p:nvPr/>
        </p:nvCxnSpPr>
        <p:spPr>
          <a:xfrm flipH="1">
            <a:off x="9708414" y="3146798"/>
            <a:ext cx="8740" cy="83152"/>
          </a:xfrm>
          <a:prstGeom prst="line">
            <a:avLst/>
          </a:prstGeom>
          <a:ln w="3048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105" name="Editable circular flow"/>
          <p:cNvCxnSpPr/>
          <p:nvPr/>
        </p:nvCxnSpPr>
        <p:spPr>
          <a:xfrm flipH="1">
            <a:off x="9693895" y="3229950"/>
            <a:ext cx="14519" cy="82339"/>
          </a:xfrm>
          <a:prstGeom prst="line">
            <a:avLst/>
          </a:prstGeom>
          <a:ln w="3048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106" name="Editable circular flow"/>
          <p:cNvCxnSpPr/>
          <p:nvPr/>
        </p:nvCxnSpPr>
        <p:spPr>
          <a:xfrm flipH="1">
            <a:off x="9673668" y="3312289"/>
            <a:ext cx="20227" cy="81127"/>
          </a:xfrm>
          <a:prstGeom prst="line">
            <a:avLst/>
          </a:prstGeom>
          <a:ln w="30480">
            <a:solidFill>
              <a:srgbClr val="1764A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7" name="Editable circular flow"/>
          <p:cNvCxnSpPr/>
          <p:nvPr/>
        </p:nvCxnSpPr>
        <p:spPr>
          <a:xfrm flipH="1">
            <a:off x="9648849" y="3393416"/>
            <a:ext cx="24819" cy="76709"/>
          </a:xfrm>
          <a:prstGeom prst="line">
            <a:avLst/>
          </a:prstGeom>
          <a:ln w="3048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108" name="Editable circular flow"/>
          <p:cNvCxnSpPr/>
          <p:nvPr/>
        </p:nvCxnSpPr>
        <p:spPr>
          <a:xfrm flipH="1">
            <a:off x="9618927" y="3470125"/>
            <a:ext cx="29922" cy="74867"/>
          </a:xfrm>
          <a:prstGeom prst="line">
            <a:avLst/>
          </a:prstGeom>
          <a:ln w="3048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109" name="Editable circular flow"/>
          <p:cNvCxnSpPr/>
          <p:nvPr/>
        </p:nvCxnSpPr>
        <p:spPr>
          <a:xfrm flipH="1">
            <a:off x="9584035" y="3544992"/>
            <a:ext cx="34892" cy="72684"/>
          </a:xfrm>
          <a:prstGeom prst="line">
            <a:avLst/>
          </a:prstGeom>
          <a:ln w="3048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110" name="Editable circular flow"/>
          <p:cNvCxnSpPr/>
          <p:nvPr/>
        </p:nvCxnSpPr>
        <p:spPr>
          <a:xfrm flipH="1">
            <a:off x="9544334" y="3617676"/>
            <a:ext cx="39701" cy="70172"/>
          </a:xfrm>
          <a:prstGeom prst="line">
            <a:avLst/>
          </a:prstGeom>
          <a:ln w="3048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111" name="Editable circular flow"/>
          <p:cNvCxnSpPr/>
          <p:nvPr/>
        </p:nvCxnSpPr>
        <p:spPr>
          <a:xfrm flipH="1">
            <a:off x="9500002" y="3687848"/>
            <a:ext cx="44332" cy="67343"/>
          </a:xfrm>
          <a:prstGeom prst="line">
            <a:avLst/>
          </a:prstGeom>
          <a:ln w="3048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112" name="Editable circular flow"/>
          <p:cNvCxnSpPr/>
          <p:nvPr/>
        </p:nvCxnSpPr>
        <p:spPr>
          <a:xfrm flipH="1">
            <a:off x="9451240" y="3755191"/>
            <a:ext cx="48762" cy="64207"/>
          </a:xfrm>
          <a:prstGeom prst="line">
            <a:avLst/>
          </a:prstGeom>
          <a:ln w="3048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113" name="Editable circular flow"/>
          <p:cNvCxnSpPr/>
          <p:nvPr/>
        </p:nvCxnSpPr>
        <p:spPr>
          <a:xfrm flipH="1">
            <a:off x="9398270" y="3819398"/>
            <a:ext cx="52970" cy="60783"/>
          </a:xfrm>
          <a:prstGeom prst="line">
            <a:avLst/>
          </a:prstGeom>
          <a:ln w="3048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114" name="Editable circular flow"/>
          <p:cNvCxnSpPr/>
          <p:nvPr/>
        </p:nvCxnSpPr>
        <p:spPr>
          <a:xfrm flipH="1">
            <a:off x="9341331" y="3880181"/>
            <a:ext cx="56939" cy="57081"/>
          </a:xfrm>
          <a:prstGeom prst="line">
            <a:avLst/>
          </a:prstGeom>
          <a:ln w="3048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115" name="Editable circular flow"/>
          <p:cNvCxnSpPr/>
          <p:nvPr/>
        </p:nvCxnSpPr>
        <p:spPr>
          <a:xfrm flipH="1">
            <a:off x="9280681" y="3937262"/>
            <a:ext cx="60650" cy="53122"/>
          </a:xfrm>
          <a:prstGeom prst="line">
            <a:avLst/>
          </a:prstGeom>
          <a:ln w="3048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116" name="Editable circular flow"/>
          <p:cNvCxnSpPr/>
          <p:nvPr/>
        </p:nvCxnSpPr>
        <p:spPr>
          <a:xfrm flipH="1">
            <a:off x="9216594" y="3990384"/>
            <a:ext cx="64087" cy="48922"/>
          </a:xfrm>
          <a:prstGeom prst="line">
            <a:avLst/>
          </a:prstGeom>
          <a:ln w="3048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117" name="Editable circular flow"/>
          <p:cNvCxnSpPr/>
          <p:nvPr/>
        </p:nvCxnSpPr>
        <p:spPr>
          <a:xfrm flipH="1">
            <a:off x="9149363" y="4039306"/>
            <a:ext cx="67231" cy="44499"/>
          </a:xfrm>
          <a:prstGeom prst="line">
            <a:avLst/>
          </a:prstGeom>
          <a:ln w="3048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118" name="Editable circular flow"/>
          <p:cNvCxnSpPr/>
          <p:nvPr/>
        </p:nvCxnSpPr>
        <p:spPr>
          <a:xfrm flipH="1">
            <a:off x="9079289" y="4083805"/>
            <a:ext cx="70074" cy="39877"/>
          </a:xfrm>
          <a:prstGeom prst="line">
            <a:avLst/>
          </a:prstGeom>
          <a:ln w="3048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119" name="Editable circular flow"/>
          <p:cNvCxnSpPr/>
          <p:nvPr/>
        </p:nvCxnSpPr>
        <p:spPr>
          <a:xfrm flipH="1">
            <a:off x="9006693" y="4123682"/>
            <a:ext cx="72596" cy="35072"/>
          </a:xfrm>
          <a:prstGeom prst="line">
            <a:avLst/>
          </a:prstGeom>
          <a:ln w="3048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120" name="Editable circular flow"/>
          <p:cNvCxnSpPr/>
          <p:nvPr/>
        </p:nvCxnSpPr>
        <p:spPr>
          <a:xfrm flipH="1">
            <a:off x="8931901" y="4158754"/>
            <a:ext cx="74792" cy="30109"/>
          </a:xfrm>
          <a:prstGeom prst="line">
            <a:avLst/>
          </a:prstGeom>
          <a:ln w="3048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121" name="Editable circular flow"/>
          <p:cNvCxnSpPr/>
          <p:nvPr/>
        </p:nvCxnSpPr>
        <p:spPr>
          <a:xfrm flipH="1" flipV="1">
            <a:off x="8053290" y="4165507"/>
            <a:ext cx="78931" cy="30335"/>
          </a:xfrm>
          <a:prstGeom prst="line">
            <a:avLst/>
          </a:prstGeom>
          <a:ln w="2540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122" name="Editable circular flow"/>
          <p:cNvCxnSpPr/>
          <p:nvPr/>
        </p:nvCxnSpPr>
        <p:spPr>
          <a:xfrm flipH="1" flipV="1">
            <a:off x="7976696" y="4129680"/>
            <a:ext cx="76594" cy="35827"/>
          </a:xfrm>
          <a:prstGeom prst="line">
            <a:avLst/>
          </a:prstGeom>
          <a:ln w="2540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123" name="Editable circular flow"/>
          <p:cNvCxnSpPr/>
          <p:nvPr/>
        </p:nvCxnSpPr>
        <p:spPr>
          <a:xfrm flipH="1" flipV="1">
            <a:off x="7902820" y="4088538"/>
            <a:ext cx="73876" cy="41142"/>
          </a:xfrm>
          <a:prstGeom prst="line">
            <a:avLst/>
          </a:prstGeom>
          <a:ln w="2540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124" name="Editable circular flow"/>
          <p:cNvCxnSpPr/>
          <p:nvPr/>
        </p:nvCxnSpPr>
        <p:spPr>
          <a:xfrm flipH="1" flipV="1">
            <a:off x="7832031" y="4042287"/>
            <a:ext cx="70789" cy="46251"/>
          </a:xfrm>
          <a:prstGeom prst="line">
            <a:avLst/>
          </a:prstGeom>
          <a:ln w="2540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125" name="Editable circular flow"/>
          <p:cNvCxnSpPr/>
          <p:nvPr/>
        </p:nvCxnSpPr>
        <p:spPr>
          <a:xfrm flipH="1" flipV="1">
            <a:off x="7764681" y="3991157"/>
            <a:ext cx="67350" cy="51130"/>
          </a:xfrm>
          <a:prstGeom prst="line">
            <a:avLst/>
          </a:prstGeom>
          <a:ln w="2540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126" name="Editable circular flow"/>
          <p:cNvCxnSpPr/>
          <p:nvPr/>
        </p:nvCxnSpPr>
        <p:spPr>
          <a:xfrm flipH="1" flipV="1">
            <a:off x="7701105" y="3935403"/>
            <a:ext cx="63576" cy="55754"/>
          </a:xfrm>
          <a:prstGeom prst="line">
            <a:avLst/>
          </a:prstGeom>
          <a:ln w="2540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127" name="Editable circular flow"/>
          <p:cNvCxnSpPr/>
          <p:nvPr/>
        </p:nvCxnSpPr>
        <p:spPr>
          <a:xfrm flipH="1" flipV="1">
            <a:off x="7641622" y="3875303"/>
            <a:ext cx="59483" cy="60100"/>
          </a:xfrm>
          <a:prstGeom prst="line">
            <a:avLst/>
          </a:prstGeom>
          <a:ln w="2540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128" name="Editable circular flow"/>
          <p:cNvCxnSpPr/>
          <p:nvPr/>
        </p:nvCxnSpPr>
        <p:spPr>
          <a:xfrm flipH="1" flipV="1">
            <a:off x="7586527" y="3811156"/>
            <a:ext cx="55095" cy="64147"/>
          </a:xfrm>
          <a:prstGeom prst="line">
            <a:avLst/>
          </a:prstGeom>
          <a:ln w="2540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129" name="Editable circular flow"/>
          <p:cNvCxnSpPr/>
          <p:nvPr/>
        </p:nvCxnSpPr>
        <p:spPr>
          <a:xfrm flipH="1" flipV="1">
            <a:off x="7536094" y="3743283"/>
            <a:ext cx="50433" cy="67873"/>
          </a:xfrm>
          <a:prstGeom prst="line">
            <a:avLst/>
          </a:prstGeom>
          <a:ln w="2540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130" name="Editable circular flow"/>
          <p:cNvCxnSpPr/>
          <p:nvPr/>
        </p:nvCxnSpPr>
        <p:spPr>
          <a:xfrm flipH="1" flipV="1">
            <a:off x="7490576" y="3672020"/>
            <a:ext cx="45518" cy="71263"/>
          </a:xfrm>
          <a:prstGeom prst="line">
            <a:avLst/>
          </a:prstGeom>
          <a:ln w="2540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131" name="Editable circular flow"/>
          <p:cNvCxnSpPr/>
          <p:nvPr/>
        </p:nvCxnSpPr>
        <p:spPr>
          <a:xfrm flipH="1" flipV="1">
            <a:off x="7450198" y="3597724"/>
            <a:ext cx="40378" cy="74296"/>
          </a:xfrm>
          <a:prstGeom prst="line">
            <a:avLst/>
          </a:prstGeom>
          <a:ln w="2540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132" name="Editable circular flow"/>
          <p:cNvCxnSpPr/>
          <p:nvPr/>
        </p:nvCxnSpPr>
        <p:spPr>
          <a:xfrm flipH="1" flipV="1">
            <a:off x="7415162" y="3520764"/>
            <a:ext cx="35036" cy="76960"/>
          </a:xfrm>
          <a:prstGeom prst="line">
            <a:avLst/>
          </a:prstGeom>
          <a:ln w="2540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133" name="Editable circular flow"/>
          <p:cNvCxnSpPr/>
          <p:nvPr/>
        </p:nvCxnSpPr>
        <p:spPr>
          <a:xfrm flipH="1" flipV="1">
            <a:off x="7385643" y="3441524"/>
            <a:ext cx="29519" cy="79240"/>
          </a:xfrm>
          <a:prstGeom prst="line">
            <a:avLst/>
          </a:prstGeom>
          <a:ln w="2540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134" name="Editable circular flow"/>
          <p:cNvCxnSpPr/>
          <p:nvPr/>
        </p:nvCxnSpPr>
        <p:spPr>
          <a:xfrm flipH="1" flipV="1">
            <a:off x="7361788" y="3360400"/>
            <a:ext cx="23855" cy="81124"/>
          </a:xfrm>
          <a:prstGeom prst="line">
            <a:avLst/>
          </a:prstGeom>
          <a:ln w="2540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135" name="Editable circular flow"/>
          <p:cNvCxnSpPr/>
          <p:nvPr/>
        </p:nvCxnSpPr>
        <p:spPr>
          <a:xfrm flipH="1" flipV="1">
            <a:off x="7343715" y="3277794"/>
            <a:ext cx="18073" cy="82606"/>
          </a:xfrm>
          <a:prstGeom prst="line">
            <a:avLst/>
          </a:prstGeom>
          <a:ln w="2540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136" name="Editable circular flow"/>
          <p:cNvCxnSpPr/>
          <p:nvPr/>
        </p:nvCxnSpPr>
        <p:spPr>
          <a:xfrm flipH="1" flipV="1">
            <a:off x="7331515" y="3194120"/>
            <a:ext cx="12200" cy="83674"/>
          </a:xfrm>
          <a:prstGeom prst="line">
            <a:avLst/>
          </a:prstGeom>
          <a:ln w="2540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137" name="Editable circular flow"/>
          <p:cNvCxnSpPr/>
          <p:nvPr/>
        </p:nvCxnSpPr>
        <p:spPr>
          <a:xfrm flipH="1" flipV="1">
            <a:off x="7325248" y="3109793"/>
            <a:ext cx="6267" cy="84327"/>
          </a:xfrm>
          <a:prstGeom prst="line">
            <a:avLst/>
          </a:prstGeom>
          <a:ln w="2540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138" name="Editable circular flow"/>
          <p:cNvCxnSpPr/>
          <p:nvPr/>
        </p:nvCxnSpPr>
        <p:spPr>
          <a:xfrm flipH="1" flipV="1">
            <a:off x="7324947" y="3025234"/>
            <a:ext cx="301" cy="84559"/>
          </a:xfrm>
          <a:prstGeom prst="line">
            <a:avLst/>
          </a:prstGeom>
          <a:ln w="2540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139" name="Editable circular flow"/>
          <p:cNvCxnSpPr/>
          <p:nvPr/>
        </p:nvCxnSpPr>
        <p:spPr>
          <a:xfrm flipV="1">
            <a:off x="7324947" y="2940864"/>
            <a:ext cx="5664" cy="84370"/>
          </a:xfrm>
          <a:prstGeom prst="line">
            <a:avLst/>
          </a:prstGeom>
          <a:ln w="2540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140" name="Editable circular flow"/>
          <p:cNvCxnSpPr/>
          <p:nvPr/>
        </p:nvCxnSpPr>
        <p:spPr>
          <a:xfrm flipV="1">
            <a:off x="7330611" y="2857105"/>
            <a:ext cx="11602" cy="83759"/>
          </a:xfrm>
          <a:prstGeom prst="line">
            <a:avLst/>
          </a:prstGeom>
          <a:ln w="2540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141" name="Editable circular flow"/>
          <p:cNvCxnSpPr/>
          <p:nvPr/>
        </p:nvCxnSpPr>
        <p:spPr>
          <a:xfrm flipV="1">
            <a:off x="7342213" y="2774372"/>
            <a:ext cx="17483" cy="82733"/>
          </a:xfrm>
          <a:prstGeom prst="line">
            <a:avLst/>
          </a:prstGeom>
          <a:ln w="2540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142" name="Editable circular flow"/>
          <p:cNvCxnSpPr/>
          <p:nvPr/>
        </p:nvCxnSpPr>
        <p:spPr>
          <a:xfrm flipV="1">
            <a:off x="7359696" y="2693079"/>
            <a:ext cx="23275" cy="81293"/>
          </a:xfrm>
          <a:prstGeom prst="line">
            <a:avLst/>
          </a:prstGeom>
          <a:ln w="25400">
            <a:solidFill>
              <a:srgbClr val="1764A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3" name="Editable circular flow"/>
          <p:cNvCxnSpPr/>
          <p:nvPr/>
        </p:nvCxnSpPr>
        <p:spPr>
          <a:xfrm flipV="1">
            <a:off x="7382971" y="2614512"/>
            <a:ext cx="28596" cy="78567"/>
          </a:xfrm>
          <a:prstGeom prst="line">
            <a:avLst/>
          </a:prstGeom>
          <a:ln w="2540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144" name="Editable circular flow"/>
          <p:cNvCxnSpPr/>
          <p:nvPr/>
        </p:nvCxnSpPr>
        <p:spPr>
          <a:xfrm flipV="1">
            <a:off x="7411567" y="2538130"/>
            <a:ext cx="34007" cy="76382"/>
          </a:xfrm>
          <a:prstGeom prst="line">
            <a:avLst/>
          </a:prstGeom>
          <a:ln w="2540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145" name="Editable circular flow"/>
          <p:cNvCxnSpPr/>
          <p:nvPr/>
        </p:nvCxnSpPr>
        <p:spPr>
          <a:xfrm flipV="1">
            <a:off x="7445574" y="2464308"/>
            <a:ext cx="39253" cy="73822"/>
          </a:xfrm>
          <a:prstGeom prst="line">
            <a:avLst/>
          </a:prstGeom>
          <a:ln w="2540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146" name="Editable circular flow"/>
          <p:cNvCxnSpPr/>
          <p:nvPr/>
        </p:nvCxnSpPr>
        <p:spPr>
          <a:xfrm flipV="1">
            <a:off x="7484827" y="2393402"/>
            <a:ext cx="44306" cy="70906"/>
          </a:xfrm>
          <a:prstGeom prst="line">
            <a:avLst/>
          </a:prstGeom>
          <a:ln w="2540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147" name="Editable circular flow"/>
          <p:cNvCxnSpPr/>
          <p:nvPr/>
        </p:nvCxnSpPr>
        <p:spPr>
          <a:xfrm flipV="1">
            <a:off x="7529133" y="2325761"/>
            <a:ext cx="49145" cy="67641"/>
          </a:xfrm>
          <a:prstGeom prst="line">
            <a:avLst/>
          </a:prstGeom>
          <a:ln w="2540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148" name="Editable circular flow"/>
          <p:cNvCxnSpPr/>
          <p:nvPr/>
        </p:nvCxnSpPr>
        <p:spPr>
          <a:xfrm flipV="1">
            <a:off x="7578278" y="2261712"/>
            <a:ext cx="53743" cy="64049"/>
          </a:xfrm>
          <a:prstGeom prst="line">
            <a:avLst/>
          </a:prstGeom>
          <a:ln w="2540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149" name="Editable circular flow"/>
          <p:cNvCxnSpPr/>
          <p:nvPr/>
        </p:nvCxnSpPr>
        <p:spPr>
          <a:xfrm flipV="1">
            <a:off x="7632021" y="2201568"/>
            <a:ext cx="58080" cy="60144"/>
          </a:xfrm>
          <a:prstGeom prst="line">
            <a:avLst/>
          </a:prstGeom>
          <a:ln w="2540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150" name="Editable circular flow"/>
          <p:cNvCxnSpPr/>
          <p:nvPr/>
        </p:nvCxnSpPr>
        <p:spPr>
          <a:xfrm flipV="1">
            <a:off x="7690101" y="2145622"/>
            <a:ext cx="62134" cy="55946"/>
          </a:xfrm>
          <a:prstGeom prst="line">
            <a:avLst/>
          </a:prstGeom>
          <a:ln w="2540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151" name="Editable circular flow"/>
          <p:cNvCxnSpPr/>
          <p:nvPr/>
        </p:nvCxnSpPr>
        <p:spPr>
          <a:xfrm flipV="1">
            <a:off x="7752235" y="2094147"/>
            <a:ext cx="65886" cy="51475"/>
          </a:xfrm>
          <a:prstGeom prst="line">
            <a:avLst/>
          </a:prstGeom>
          <a:ln w="2540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152" name="Editable circular flow"/>
          <p:cNvCxnSpPr/>
          <p:nvPr/>
        </p:nvCxnSpPr>
        <p:spPr>
          <a:xfrm flipV="1">
            <a:off x="7818121" y="2047393"/>
            <a:ext cx="69315" cy="46754"/>
          </a:xfrm>
          <a:prstGeom prst="line">
            <a:avLst/>
          </a:prstGeom>
          <a:ln w="2540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153" name="Editable circular flow"/>
          <p:cNvCxnSpPr/>
          <p:nvPr/>
        </p:nvCxnSpPr>
        <p:spPr>
          <a:xfrm flipV="1">
            <a:off x="7887436" y="2005588"/>
            <a:ext cx="72408" cy="41805"/>
          </a:xfrm>
          <a:prstGeom prst="line">
            <a:avLst/>
          </a:prstGeom>
          <a:ln w="2540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154" name="Editable circular flow"/>
          <p:cNvCxnSpPr/>
          <p:nvPr/>
        </p:nvCxnSpPr>
        <p:spPr>
          <a:xfrm flipV="1">
            <a:off x="7959844" y="1968936"/>
            <a:ext cx="75148" cy="36652"/>
          </a:xfrm>
          <a:prstGeom prst="line">
            <a:avLst/>
          </a:prstGeom>
          <a:ln w="2540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155" name="Editable circular flow"/>
          <p:cNvCxnSpPr/>
          <p:nvPr/>
        </p:nvCxnSpPr>
        <p:spPr>
          <a:xfrm flipV="1">
            <a:off x="8034992" y="1937616"/>
            <a:ext cx="77522" cy="31320"/>
          </a:xfrm>
          <a:prstGeom prst="line">
            <a:avLst/>
          </a:prstGeom>
          <a:ln w="25400">
            <a:solidFill>
              <a:srgbClr val="1764A1"/>
            </a:solidFill>
          </a:ln>
        </p:spPr>
        <p:style>
          <a:lnRef idx="2">
            <a:schemeClr val="accent1"/>
          </a:lnRef>
          <a:fillRef idx="0">
            <a:schemeClr val="accent1"/>
          </a:fillRef>
          <a:effectRef idx="1">
            <a:schemeClr val="accent1"/>
          </a:effectRef>
          <a:fontRef idx="minor">
            <a:schemeClr val="tx1"/>
          </a:fontRef>
        </p:style>
      </p:cxnSp>
      <p:sp>
        <p:nvSpPr>
          <p:cNvPr id="156" name="Node: Agent"/>
          <p:cNvSpPr/>
          <p:nvPr/>
        </p:nvSpPr>
        <p:spPr>
          <a:xfrm>
            <a:off x="7690104" y="1522476"/>
            <a:ext cx="1664208" cy="685800"/>
          </a:xfrm>
          <a:prstGeom prst="roundRect">
            <a:avLst/>
          </a:prstGeom>
          <a:solidFill>
            <a:srgbClr val="EDF4FA"/>
          </a:solidFill>
          <a:ln w="1778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Label: Agent"/>
          <p:cNvSpPr txBox="1"/>
          <p:nvPr/>
        </p:nvSpPr>
        <p:spPr>
          <a:xfrm>
            <a:off x="7754112" y="1549908"/>
            <a:ext cx="1536192" cy="630936"/>
          </a:xfrm>
          <a:prstGeom prst="rect">
            <a:avLst/>
          </a:prstGeom>
          <a:noFill/>
        </p:spPr>
        <p:txBody>
          <a:bodyPr wrap="square" lIns="0" rIns="0" tIns="0" bIns="0" anchor="ctr">
            <a:spAutoFit/>
          </a:bodyPr>
          <a:lstStyle/>
          <a:p>
            <a:pPr algn="ctr"/>
            <a:r>
              <a:rPr sz="2000" b="1" lang="en-US">
                <a:solidFill>
                  <a:srgbClr val="1764A1"/>
                </a:solidFill>
                <a:latin typeface="Arial"/>
              </a:rPr>
              <a:t>Agent</a:t>
            </a:r>
          </a:p>
        </p:txBody>
      </p:sp>
      <p:sp>
        <p:nvSpPr>
          <p:cNvPr id="158" name="Node: Attested / inference"/>
          <p:cNvSpPr/>
          <p:nvPr/>
        </p:nvSpPr>
        <p:spPr>
          <a:xfrm>
            <a:off x="7635240" y="3803904"/>
            <a:ext cx="1773936" cy="914400"/>
          </a:xfrm>
          <a:prstGeom prst="roundRect">
            <a:avLst/>
          </a:prstGeom>
          <a:solidFill>
            <a:srgbClr val="EDF4FA"/>
          </a:solidFill>
          <a:ln w="1778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Label: Attested / inference"/>
          <p:cNvSpPr txBox="1"/>
          <p:nvPr/>
        </p:nvSpPr>
        <p:spPr>
          <a:xfrm>
            <a:off x="7699248" y="3831336"/>
            <a:ext cx="1645919" cy="859536"/>
          </a:xfrm>
          <a:prstGeom prst="rect">
            <a:avLst/>
          </a:prstGeom>
          <a:noFill/>
        </p:spPr>
        <p:txBody>
          <a:bodyPr wrap="square" lIns="0" rIns="0" tIns="0" bIns="0" anchor="ctr">
            <a:spAutoFit/>
          </a:bodyPr>
          <a:lstStyle/>
          <a:p>
            <a:pPr algn="ctr"/>
            <a:r>
              <a:rPr sz="1900" b="1" lang="en-US">
                <a:solidFill>
                  <a:srgbClr val="1764A1"/>
                </a:solidFill>
                <a:latin typeface="Arial"/>
              </a:rPr>
              <a:t>Attested
inference</a:t>
            </a:r>
          </a:p>
        </p:txBody>
      </p:sp>
      <p:sp>
        <p:nvSpPr>
          <p:cNvPr id="160" name="Label: Use"/>
          <p:cNvSpPr txBox="1"/>
          <p:nvPr/>
        </p:nvSpPr>
        <p:spPr>
          <a:xfrm>
            <a:off x="7991856" y="2871216"/>
            <a:ext cx="1060704" cy="384048"/>
          </a:xfrm>
          <a:prstGeom prst="rect">
            <a:avLst/>
          </a:prstGeom>
          <a:noFill/>
        </p:spPr>
        <p:txBody>
          <a:bodyPr wrap="square" lIns="0" rIns="0" tIns="0" bIns="0" anchor="ctr">
            <a:spAutoFit/>
          </a:bodyPr>
          <a:lstStyle/>
          <a:p>
            <a:pPr algn="ctr"/>
            <a:r>
              <a:rPr sz="2400" b="1" lang="en-US">
                <a:solidFill>
                  <a:srgbClr val="1764A1"/>
                </a:solidFill>
                <a:latin typeface="Arial"/>
              </a:rPr>
              <a:t>Use</a:t>
            </a:r>
          </a:p>
        </p:txBody>
      </p:sp>
      <p:sp>
        <p:nvSpPr>
          <p:cNvPr id="161" name="Label: MCP"/>
          <p:cNvSpPr txBox="1"/>
          <p:nvPr/>
        </p:nvSpPr>
        <p:spPr>
          <a:xfrm>
            <a:off x="9948672" y="2889504"/>
            <a:ext cx="768096" cy="310896"/>
          </a:xfrm>
          <a:prstGeom prst="rect">
            <a:avLst/>
          </a:prstGeom>
          <a:noFill/>
        </p:spPr>
        <p:txBody>
          <a:bodyPr wrap="square" lIns="0" rIns="0" tIns="0" bIns="0" anchor="ctr">
            <a:spAutoFit/>
          </a:bodyPr>
          <a:lstStyle/>
          <a:p>
            <a:pPr algn="ctr"/>
            <a:r>
              <a:rPr sz="1700" b="1" lang="en-US">
                <a:solidFill>
                  <a:srgbClr val="1764A1"/>
                </a:solidFill>
                <a:latin typeface="Arial"/>
              </a:rPr>
              <a:t>MCP</a:t>
            </a:r>
          </a:p>
        </p:txBody>
      </p:sp>
      <p:sp>
        <p:nvSpPr>
          <p:cNvPr id="162" name="Label: Result"/>
          <p:cNvSpPr txBox="1"/>
          <p:nvPr/>
        </p:nvSpPr>
        <p:spPr>
          <a:xfrm>
            <a:off x="6473952" y="2889504"/>
            <a:ext cx="868680" cy="310896"/>
          </a:xfrm>
          <a:prstGeom prst="rect">
            <a:avLst/>
          </a:prstGeom>
          <a:noFill/>
        </p:spPr>
        <p:txBody>
          <a:bodyPr wrap="square" lIns="0" rIns="0" tIns="0" bIns="0" anchor="ctr">
            <a:spAutoFit/>
          </a:bodyPr>
          <a:lstStyle/>
          <a:p>
            <a:pPr algn="ctr"/>
            <a:r>
              <a:rPr sz="1500" b="0" lang="en-US">
                <a:solidFill>
                  <a:srgbClr val="67747C"/>
                </a:solidFill>
                <a:latin typeface="Arial"/>
              </a:rPr>
              <a:t>Result</a:t>
            </a:r>
          </a:p>
        </p:txBody>
      </p:sp>
      <p:cxnSp>
        <p:nvCxnSpPr>
          <p:cNvPr id="163" name="Flow"/>
          <p:cNvCxnSpPr/>
          <p:nvPr/>
        </p:nvCxnSpPr>
        <p:spPr>
          <a:xfrm>
            <a:off x="9445752" y="4261104"/>
            <a:ext cx="914400" cy="0"/>
          </a:xfrm>
          <a:prstGeom prst="line">
            <a:avLst/>
          </a:prstGeom>
          <a:ln w="26670">
            <a:solidFill>
              <a:srgbClr val="1764A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4" name="Label: Tool receipt"/>
          <p:cNvSpPr txBox="1"/>
          <p:nvPr/>
        </p:nvSpPr>
        <p:spPr>
          <a:xfrm>
            <a:off x="9381744" y="3666744"/>
            <a:ext cx="1216152" cy="274320"/>
          </a:xfrm>
          <a:prstGeom prst="rect">
            <a:avLst/>
          </a:prstGeom>
          <a:noFill/>
        </p:spPr>
        <p:txBody>
          <a:bodyPr wrap="square" lIns="0" rIns="0" tIns="0" bIns="0" anchor="ctr">
            <a:spAutoFit/>
          </a:bodyPr>
          <a:lstStyle/>
          <a:p>
            <a:pPr algn="ctr"/>
            <a:r>
              <a:rPr sz="1330" b="0" lang="en-US">
                <a:solidFill>
                  <a:srgbClr val="1764A1"/>
                </a:solidFill>
                <a:latin typeface="Arial"/>
              </a:rPr>
              <a:t>Tool receipt</a:t>
            </a:r>
          </a:p>
        </p:txBody>
      </p:sp>
      <p:sp>
        <p:nvSpPr>
          <p:cNvPr id="165" name="Oval 164"/>
          <p:cNvSpPr/>
          <p:nvPr/>
        </p:nvSpPr>
        <p:spPr>
          <a:xfrm>
            <a:off x="10442448" y="3822191"/>
            <a:ext cx="877824" cy="877824"/>
          </a:xfrm>
          <a:prstGeom prst="ellipse">
            <a:avLst/>
          </a:prstGeom>
          <a:solidFill>
            <a:srgbClr val="EDF4FA"/>
          </a:solidFill>
          <a:ln w="1524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Rectangle 165"/>
          <p:cNvSpPr/>
          <p:nvPr/>
        </p:nvSpPr>
        <p:spPr>
          <a:xfrm>
            <a:off x="10764774" y="3942435"/>
            <a:ext cx="388620" cy="481888"/>
          </a:xfrm>
          <a:prstGeom prst="rect">
            <a:avLst/>
          </a:prstGeom>
          <a:solidFill>
            <a:srgbClr val="FFFFFF"/>
          </a:solidFill>
          <a:ln w="1524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Rectangle 166"/>
          <p:cNvSpPr/>
          <p:nvPr/>
        </p:nvSpPr>
        <p:spPr>
          <a:xfrm>
            <a:off x="10725912" y="3981297"/>
            <a:ext cx="388620" cy="481888"/>
          </a:xfrm>
          <a:prstGeom prst="rect">
            <a:avLst/>
          </a:prstGeom>
          <a:solidFill>
            <a:srgbClr val="FFFFFF"/>
          </a:solidFill>
          <a:ln w="1524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Rectangle 167"/>
          <p:cNvSpPr/>
          <p:nvPr/>
        </p:nvSpPr>
        <p:spPr>
          <a:xfrm>
            <a:off x="10687050" y="4020159"/>
            <a:ext cx="388620" cy="481888"/>
          </a:xfrm>
          <a:prstGeom prst="rect">
            <a:avLst/>
          </a:prstGeom>
          <a:solidFill>
            <a:srgbClr val="FFFFFF"/>
          </a:solidFill>
          <a:ln w="1524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9" name="Flow"/>
          <p:cNvCxnSpPr/>
          <p:nvPr/>
        </p:nvCxnSpPr>
        <p:spPr>
          <a:xfrm>
            <a:off x="10764774" y="4152290"/>
            <a:ext cx="225399" cy="0"/>
          </a:xfrm>
          <a:prstGeom prst="line">
            <a:avLst/>
          </a:prstGeom>
          <a:ln w="1524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170" name="Flow"/>
          <p:cNvCxnSpPr/>
          <p:nvPr/>
        </p:nvCxnSpPr>
        <p:spPr>
          <a:xfrm>
            <a:off x="10764774" y="4261104"/>
            <a:ext cx="225399" cy="0"/>
          </a:xfrm>
          <a:prstGeom prst="line">
            <a:avLst/>
          </a:prstGeom>
          <a:ln w="1524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171" name="Flow"/>
          <p:cNvCxnSpPr/>
          <p:nvPr/>
        </p:nvCxnSpPr>
        <p:spPr>
          <a:xfrm>
            <a:off x="10764774" y="4369917"/>
            <a:ext cx="225399" cy="0"/>
          </a:xfrm>
          <a:prstGeom prst="line">
            <a:avLst/>
          </a:prstGeom>
          <a:ln w="15240">
            <a:solidFill>
              <a:srgbClr val="1764A1"/>
            </a:solidFill>
          </a:ln>
        </p:spPr>
        <p:style>
          <a:lnRef idx="2">
            <a:schemeClr val="accent1"/>
          </a:lnRef>
          <a:fillRef idx="0">
            <a:schemeClr val="accent1"/>
          </a:fillRef>
          <a:effectRef idx="1">
            <a:schemeClr val="accent1"/>
          </a:effectRef>
          <a:fontRef idx="minor">
            <a:schemeClr val="tx1"/>
          </a:fontRef>
        </p:style>
      </p:cxnSp>
      <p:sp>
        <p:nvSpPr>
          <p:cNvPr id="172" name="Label: Transparency / log"/>
          <p:cNvSpPr txBox="1"/>
          <p:nvPr/>
        </p:nvSpPr>
        <p:spPr>
          <a:xfrm>
            <a:off x="9829800" y="4818888"/>
            <a:ext cx="2103120" cy="658368"/>
          </a:xfrm>
          <a:prstGeom prst="rect">
            <a:avLst/>
          </a:prstGeom>
          <a:noFill/>
        </p:spPr>
        <p:txBody>
          <a:bodyPr wrap="square" lIns="0" rIns="0" tIns="0" bIns="0" anchor="ctr">
            <a:spAutoFit/>
          </a:bodyPr>
          <a:lstStyle/>
          <a:p>
            <a:pPr algn="ctr"/>
            <a:r>
              <a:rPr sz="1700" b="1" lang="en-US">
                <a:solidFill>
                  <a:srgbClr val="1764A1"/>
                </a:solidFill>
                <a:latin typeface="Arial"/>
              </a:rPr>
              <a:t>Transparency
log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57784" y="292608"/>
            <a:ext cx="8823960" cy="566928"/>
          </a:xfrm>
          <a:prstGeom prst="rect">
            <a:avLst/>
          </a:prstGeom>
          <a:noFill/>
        </p:spPr>
        <p:txBody>
          <a:bodyPr wrap="square" lIns="18288" rIns="18288" tIns="18288" bIns="18288" anchor="t">
            <a:spAutoFit/>
          </a:bodyPr>
          <a:lstStyle/>
          <a:p>
            <a:pPr algn="l"/>
            <a:r>
              <a:rPr sz="2400" b="0" lang="en-US">
                <a:solidFill>
                  <a:srgbClr val="434343"/>
                </a:solidFill>
                <a:latin typeface="Arial"/>
              </a:rPr>
              <a:t>Train. Publish. Use. Record.</a:t>
            </a:r>
          </a:p>
        </p:txBody>
      </p:sp>
      <p:sp>
        <p:nvSpPr>
          <p:cNvPr id="3" name="TextBox 2"/>
          <p:cNvSpPr txBox="1"/>
          <p:nvPr/>
        </p:nvSpPr>
        <p:spPr>
          <a:xfrm>
            <a:off x="566928" y="932688"/>
            <a:ext cx="8869680" cy="201168"/>
          </a:xfrm>
          <a:prstGeom prst="rect">
            <a:avLst/>
          </a:prstGeom>
          <a:noFill/>
        </p:spPr>
        <p:txBody>
          <a:bodyPr wrap="square" lIns="18288" rIns="18288" tIns="18288" bIns="18288" anchor="t">
            <a:spAutoFit/>
          </a:bodyPr>
          <a:lstStyle/>
          <a:p>
            <a:pPr algn="l"/>
            <a:r>
              <a:rPr sz="950" b="1" lang="en-US">
                <a:solidFill>
                  <a:srgbClr val="C40D1E"/>
                </a:solidFill>
                <a:latin typeface="Arial"/>
              </a:rPr>
              <a:t/>
            </a:r>
          </a:p>
        </p:txBody>
      </p:sp>
      <p:sp>
        <p:nvSpPr>
          <p:cNvPr id="4" name="Rectangle 3"/>
          <p:cNvSpPr/>
          <p:nvPr/>
        </p:nvSpPr>
        <p:spPr>
          <a:xfrm>
            <a:off x="557784" y="1188720"/>
            <a:ext cx="10927080" cy="16459"/>
          </a:xfrm>
          <a:prstGeom prst="rect">
            <a:avLst/>
          </a:prstGeom>
          <a:solidFill>
            <a:srgbClr val="C4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91072"/>
            <a:ext cx="914400" cy="201168"/>
          </a:xfrm>
          <a:prstGeom prst="rect">
            <a:avLst/>
          </a:prstGeom>
          <a:noFill/>
        </p:spPr>
        <p:txBody>
          <a:bodyPr wrap="square" lIns="18288" rIns="18288" tIns="18288" bIns="18288" anchor="t">
            <a:spAutoFit/>
          </a:bodyPr>
          <a:lstStyle/>
          <a:p>
            <a:pPr algn="l"/>
            <a:r>
              <a:rPr sz="950" b="0" lang="en-US">
                <a:solidFill>
                  <a:srgbClr val="FFFFFF"/>
                </a:solidFill>
                <a:latin typeface="Arial"/>
              </a:rPr>
              <a:t>Concept C</a:t>
            </a:r>
          </a:p>
        </p:txBody>
      </p:sp>
      <p:sp>
        <p:nvSpPr>
          <p:cNvPr id="6" name="TextBox 5"/>
          <p:cNvSpPr txBox="1"/>
          <p:nvPr/>
        </p:nvSpPr>
        <p:spPr>
          <a:xfrm>
            <a:off x="1600200" y="6291072"/>
            <a:ext cx="8549640" cy="201168"/>
          </a:xfrm>
          <a:prstGeom prst="rect">
            <a:avLst/>
          </a:prstGeom>
          <a:noFill/>
        </p:spPr>
        <p:txBody>
          <a:bodyPr wrap="square" lIns="18288" rIns="18288" tIns="18288" bIns="18288" anchor="t">
            <a:spAutoFit/>
          </a:bodyPr>
          <a:lstStyle/>
          <a:p>
            <a:pPr algn="l"/>
            <a:r>
              <a:rPr sz="850" b="0" lang="en-US">
                <a:solidFill>
                  <a:srgbClr val="FFFFFF"/>
                </a:solidFill>
                <a:latin typeface="Arial"/>
              </a:rPr>
              <a:t>Ramon Mehrpoya  |  Master's Thesis  |  Verifiable Decentralized Federated Machine Learning and Inference for AI Agent Systems  |  VITA-FL</a:t>
            </a:r>
          </a:p>
        </p:txBody>
      </p:sp>
      <p:sp>
        <p:nvSpPr>
          <p:cNvPr id="7" name="TextBox 6"/>
          <p:cNvSpPr txBox="1"/>
          <p:nvPr/>
        </p:nvSpPr>
        <p:spPr>
          <a:xfrm>
            <a:off x="10241280" y="6291072"/>
            <a:ext cx="1399032" cy="201168"/>
          </a:xfrm>
          <a:prstGeom prst="rect">
            <a:avLst/>
          </a:prstGeom>
          <a:noFill/>
        </p:spPr>
        <p:txBody>
          <a:bodyPr wrap="square" lIns="18288" rIns="18288" tIns="18288" bIns="18288" anchor="t">
            <a:spAutoFit/>
          </a:bodyPr>
          <a:lstStyle/>
          <a:p>
            <a:pPr algn="r"/>
            <a:r>
              <a:rPr sz="850" b="0" lang="en-US">
                <a:solidFill>
                  <a:srgbClr val="FFFFFF"/>
                </a:solidFill>
                <a:latin typeface="Arial"/>
              </a:rPr>
              <a:t>20 September 2026</a:t>
            </a:r>
          </a:p>
        </p:txBody>
      </p:sp>
      <p:sp>
        <p:nvSpPr>
          <p:cNvPr id="8" name="Domain navigation: background"/>
          <p:cNvSpPr/>
          <p:nvPr/>
        </p:nvSpPr>
        <p:spPr>
          <a:xfrm>
            <a:off x="9479280" y="472440"/>
            <a:ext cx="1036320" cy="28956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main navigation: DFL badge"/>
          <p:cNvSpPr/>
          <p:nvPr/>
        </p:nvSpPr>
        <p:spPr>
          <a:xfrm>
            <a:off x="9509760" y="502920"/>
            <a:ext cx="411480" cy="228600"/>
          </a:xfrm>
          <a:prstGeom prst="rect">
            <a:avLst/>
          </a:prstGeom>
          <a:solidFill>
            <a:srgbClr val="207548"/>
          </a:solidFill>
          <a:ln w="6985">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main navigation: DFL label"/>
          <p:cNvSpPr txBox="1"/>
          <p:nvPr/>
        </p:nvSpPr>
        <p:spPr>
          <a:xfrm>
            <a:off x="9509760" y="502920"/>
            <a:ext cx="411480" cy="228600"/>
          </a:xfrm>
          <a:prstGeom prst="rect">
            <a:avLst/>
          </a:prstGeom>
          <a:noFill/>
        </p:spPr>
        <p:txBody>
          <a:bodyPr wrap="square" lIns="0" rIns="0" tIns="0" bIns="0" anchor="ctr">
            <a:spAutoFit/>
          </a:bodyPr>
          <a:lstStyle/>
          <a:p>
            <a:pPr algn="ctr"/>
            <a:r>
              <a:rPr sz="840" b="1" lang="en-US">
                <a:solidFill>
                  <a:srgbClr val="FFFFFF"/>
                </a:solidFill>
                <a:latin typeface="Arial"/>
              </a:rPr>
              <a:t>DFL</a:t>
            </a:r>
          </a:p>
        </p:txBody>
      </p:sp>
      <p:sp>
        <p:nvSpPr>
          <p:cNvPr id="11" name="Domain navigation: Agent badge"/>
          <p:cNvSpPr/>
          <p:nvPr/>
        </p:nvSpPr>
        <p:spPr>
          <a:xfrm>
            <a:off x="9982200" y="502920"/>
            <a:ext cx="502920" cy="228600"/>
          </a:xfrm>
          <a:prstGeom prst="rect">
            <a:avLst/>
          </a:prstGeom>
          <a:solidFill>
            <a:srgbClr val="1764A1"/>
          </a:solidFill>
          <a:ln w="6985">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main navigation: Agent label"/>
          <p:cNvSpPr txBox="1"/>
          <p:nvPr/>
        </p:nvSpPr>
        <p:spPr>
          <a:xfrm>
            <a:off x="9982200" y="502920"/>
            <a:ext cx="502920" cy="228600"/>
          </a:xfrm>
          <a:prstGeom prst="rect">
            <a:avLst/>
          </a:prstGeom>
          <a:noFill/>
        </p:spPr>
        <p:txBody>
          <a:bodyPr wrap="square" lIns="0" rIns="0" tIns="0" bIns="0" anchor="ctr">
            <a:spAutoFit/>
          </a:bodyPr>
          <a:lstStyle/>
          <a:p>
            <a:pPr algn="ctr"/>
            <a:r>
              <a:rPr sz="840" b="1" lang="en-US">
                <a:solidFill>
                  <a:srgbClr val="FFFFFF"/>
                </a:solidFill>
                <a:latin typeface="Arial"/>
              </a:rPr>
              <a:t>Agent</a:t>
            </a:r>
          </a:p>
        </p:txBody>
      </p:sp>
      <p:sp>
        <p:nvSpPr>
          <p:cNvPr id="13" name="Oval 12"/>
          <p:cNvSpPr/>
          <p:nvPr/>
        </p:nvSpPr>
        <p:spPr>
          <a:xfrm>
            <a:off x="978408" y="1709928"/>
            <a:ext cx="292608" cy="292608"/>
          </a:xfrm>
          <a:prstGeom prst="ellipse">
            <a:avLst/>
          </a:prstGeom>
          <a:solidFill>
            <a:srgbClr val="207548"/>
          </a:solidFill>
          <a:ln w="1270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Label: 1"/>
          <p:cNvSpPr txBox="1"/>
          <p:nvPr/>
        </p:nvSpPr>
        <p:spPr>
          <a:xfrm>
            <a:off x="978407" y="1709928"/>
            <a:ext cx="292608" cy="292608"/>
          </a:xfrm>
          <a:prstGeom prst="rect">
            <a:avLst/>
          </a:prstGeom>
          <a:noFill/>
        </p:spPr>
        <p:txBody>
          <a:bodyPr wrap="square" lIns="0" rIns="0" tIns="0" bIns="0" anchor="ctr">
            <a:spAutoFit/>
          </a:bodyPr>
          <a:lstStyle/>
          <a:p>
            <a:pPr algn="ctr"/>
            <a:r>
              <a:rPr sz="1200" b="1" lang="en-US">
                <a:solidFill>
                  <a:srgbClr val="FFFFFF"/>
                </a:solidFill>
                <a:latin typeface="Arial"/>
              </a:rPr>
              <a:t>1</a:t>
            </a:r>
          </a:p>
        </p:txBody>
      </p:sp>
      <p:sp>
        <p:nvSpPr>
          <p:cNvPr id="15" name="Label: Train"/>
          <p:cNvSpPr txBox="1"/>
          <p:nvPr/>
        </p:nvSpPr>
        <p:spPr>
          <a:xfrm>
            <a:off x="1435607" y="1627632"/>
            <a:ext cx="1645920" cy="457200"/>
          </a:xfrm>
          <a:prstGeom prst="rect">
            <a:avLst/>
          </a:prstGeom>
          <a:noFill/>
        </p:spPr>
        <p:txBody>
          <a:bodyPr wrap="square" lIns="0" rIns="0" tIns="0" bIns="0" anchor="ctr">
            <a:spAutoFit/>
          </a:bodyPr>
          <a:lstStyle/>
          <a:p>
            <a:pPr algn="l"/>
            <a:r>
              <a:rPr sz="2400" b="1" lang="en-US">
                <a:solidFill>
                  <a:srgbClr val="207548"/>
                </a:solidFill>
                <a:latin typeface="Arial"/>
              </a:rPr>
              <a:t>Train</a:t>
            </a:r>
          </a:p>
        </p:txBody>
      </p:sp>
      <p:cxnSp>
        <p:nvCxnSpPr>
          <p:cNvPr id="16" name="Flow"/>
          <p:cNvCxnSpPr/>
          <p:nvPr/>
        </p:nvCxnSpPr>
        <p:spPr>
          <a:xfrm>
            <a:off x="3035808" y="1865376"/>
            <a:ext cx="576071" cy="0"/>
          </a:xfrm>
          <a:prstGeom prst="line">
            <a:avLst/>
          </a:prstGeom>
          <a:ln w="19050">
            <a:solidFill>
              <a:srgbClr val="67747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3767327" y="1709928"/>
            <a:ext cx="292608" cy="292608"/>
          </a:xfrm>
          <a:prstGeom prst="ellipse">
            <a:avLst/>
          </a:prstGeom>
          <a:solidFill>
            <a:srgbClr val="7446A6"/>
          </a:solidFill>
          <a:ln w="1270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Label: 2"/>
          <p:cNvSpPr txBox="1"/>
          <p:nvPr/>
        </p:nvSpPr>
        <p:spPr>
          <a:xfrm>
            <a:off x="3767327" y="1709928"/>
            <a:ext cx="292608" cy="292608"/>
          </a:xfrm>
          <a:prstGeom prst="rect">
            <a:avLst/>
          </a:prstGeom>
          <a:noFill/>
        </p:spPr>
        <p:txBody>
          <a:bodyPr wrap="square" lIns="0" rIns="0" tIns="0" bIns="0" anchor="ctr">
            <a:spAutoFit/>
          </a:bodyPr>
          <a:lstStyle/>
          <a:p>
            <a:pPr algn="ctr"/>
            <a:r>
              <a:rPr sz="1200" b="1" lang="en-US">
                <a:solidFill>
                  <a:srgbClr val="FFFFFF"/>
                </a:solidFill>
                <a:latin typeface="Arial"/>
              </a:rPr>
              <a:t>2</a:t>
            </a:r>
          </a:p>
        </p:txBody>
      </p:sp>
      <p:sp>
        <p:nvSpPr>
          <p:cNvPr id="19" name="Label: Publish"/>
          <p:cNvSpPr txBox="1"/>
          <p:nvPr/>
        </p:nvSpPr>
        <p:spPr>
          <a:xfrm>
            <a:off x="4224527" y="1627632"/>
            <a:ext cx="1645920" cy="457200"/>
          </a:xfrm>
          <a:prstGeom prst="rect">
            <a:avLst/>
          </a:prstGeom>
          <a:noFill/>
        </p:spPr>
        <p:txBody>
          <a:bodyPr wrap="square" lIns="0" rIns="0" tIns="0" bIns="0" anchor="ctr">
            <a:spAutoFit/>
          </a:bodyPr>
          <a:lstStyle/>
          <a:p>
            <a:pPr algn="l"/>
            <a:r>
              <a:rPr sz="2400" b="1" lang="en-US">
                <a:solidFill>
                  <a:srgbClr val="7446A6"/>
                </a:solidFill>
                <a:latin typeface="Arial"/>
              </a:rPr>
              <a:t>Publish</a:t>
            </a:r>
          </a:p>
        </p:txBody>
      </p:sp>
      <p:cxnSp>
        <p:nvCxnSpPr>
          <p:cNvPr id="20" name="Flow"/>
          <p:cNvCxnSpPr/>
          <p:nvPr/>
        </p:nvCxnSpPr>
        <p:spPr>
          <a:xfrm>
            <a:off x="5824727" y="1865376"/>
            <a:ext cx="576073" cy="0"/>
          </a:xfrm>
          <a:prstGeom prst="line">
            <a:avLst/>
          </a:prstGeom>
          <a:ln w="19050">
            <a:solidFill>
              <a:srgbClr val="67747C"/>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Oval 20"/>
          <p:cNvSpPr/>
          <p:nvPr/>
        </p:nvSpPr>
        <p:spPr>
          <a:xfrm>
            <a:off x="6556248" y="1709928"/>
            <a:ext cx="292608" cy="292608"/>
          </a:xfrm>
          <a:prstGeom prst="ellipse">
            <a:avLst/>
          </a:prstGeom>
          <a:solidFill>
            <a:srgbClr val="1764A1"/>
          </a:solidFill>
          <a:ln w="1270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Label: 3"/>
          <p:cNvSpPr txBox="1"/>
          <p:nvPr/>
        </p:nvSpPr>
        <p:spPr>
          <a:xfrm>
            <a:off x="6556248" y="1709928"/>
            <a:ext cx="292608" cy="292608"/>
          </a:xfrm>
          <a:prstGeom prst="rect">
            <a:avLst/>
          </a:prstGeom>
          <a:noFill/>
        </p:spPr>
        <p:txBody>
          <a:bodyPr wrap="square" lIns="0" rIns="0" tIns="0" bIns="0" anchor="ctr">
            <a:spAutoFit/>
          </a:bodyPr>
          <a:lstStyle/>
          <a:p>
            <a:pPr algn="ctr"/>
            <a:r>
              <a:rPr sz="1200" b="1" lang="en-US">
                <a:solidFill>
                  <a:srgbClr val="FFFFFF"/>
                </a:solidFill>
                <a:latin typeface="Arial"/>
              </a:rPr>
              <a:t>3</a:t>
            </a:r>
          </a:p>
        </p:txBody>
      </p:sp>
      <p:sp>
        <p:nvSpPr>
          <p:cNvPr id="23" name="Label: Use"/>
          <p:cNvSpPr txBox="1"/>
          <p:nvPr/>
        </p:nvSpPr>
        <p:spPr>
          <a:xfrm>
            <a:off x="7013448" y="1627632"/>
            <a:ext cx="1645920" cy="457200"/>
          </a:xfrm>
          <a:prstGeom prst="rect">
            <a:avLst/>
          </a:prstGeom>
          <a:noFill/>
        </p:spPr>
        <p:txBody>
          <a:bodyPr wrap="square" lIns="0" rIns="0" tIns="0" bIns="0" anchor="ctr">
            <a:spAutoFit/>
          </a:bodyPr>
          <a:lstStyle/>
          <a:p>
            <a:pPr algn="l"/>
            <a:r>
              <a:rPr sz="2400" b="1" lang="en-US">
                <a:solidFill>
                  <a:srgbClr val="1764A1"/>
                </a:solidFill>
                <a:latin typeface="Arial"/>
              </a:rPr>
              <a:t>Use</a:t>
            </a:r>
          </a:p>
        </p:txBody>
      </p:sp>
      <p:cxnSp>
        <p:nvCxnSpPr>
          <p:cNvPr id="24" name="Flow"/>
          <p:cNvCxnSpPr/>
          <p:nvPr/>
        </p:nvCxnSpPr>
        <p:spPr>
          <a:xfrm>
            <a:off x="8613648" y="1865376"/>
            <a:ext cx="594360" cy="0"/>
          </a:xfrm>
          <a:prstGeom prst="line">
            <a:avLst/>
          </a:prstGeom>
          <a:ln w="19050">
            <a:solidFill>
              <a:srgbClr val="67747C"/>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9363456" y="1709928"/>
            <a:ext cx="292608" cy="292608"/>
          </a:xfrm>
          <a:prstGeom prst="ellipse">
            <a:avLst/>
          </a:prstGeom>
          <a:solidFill>
            <a:srgbClr val="1764A1"/>
          </a:solidFill>
          <a:ln w="1270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Label: 4"/>
          <p:cNvSpPr txBox="1"/>
          <p:nvPr/>
        </p:nvSpPr>
        <p:spPr>
          <a:xfrm>
            <a:off x="9363456" y="1709928"/>
            <a:ext cx="292608" cy="292608"/>
          </a:xfrm>
          <a:prstGeom prst="rect">
            <a:avLst/>
          </a:prstGeom>
          <a:noFill/>
        </p:spPr>
        <p:txBody>
          <a:bodyPr wrap="square" lIns="0" rIns="0" tIns="0" bIns="0" anchor="ctr">
            <a:spAutoFit/>
          </a:bodyPr>
          <a:lstStyle/>
          <a:p>
            <a:pPr algn="ctr"/>
            <a:r>
              <a:rPr sz="1200" b="1" lang="en-US">
                <a:solidFill>
                  <a:srgbClr val="FFFFFF"/>
                </a:solidFill>
                <a:latin typeface="Arial"/>
              </a:rPr>
              <a:t>4</a:t>
            </a:r>
          </a:p>
        </p:txBody>
      </p:sp>
      <p:sp>
        <p:nvSpPr>
          <p:cNvPr id="27" name="Label: Record"/>
          <p:cNvSpPr txBox="1"/>
          <p:nvPr/>
        </p:nvSpPr>
        <p:spPr>
          <a:xfrm>
            <a:off x="9820656" y="1627632"/>
            <a:ext cx="1645920" cy="457200"/>
          </a:xfrm>
          <a:prstGeom prst="rect">
            <a:avLst/>
          </a:prstGeom>
          <a:noFill/>
        </p:spPr>
        <p:txBody>
          <a:bodyPr wrap="square" lIns="0" rIns="0" tIns="0" bIns="0" anchor="ctr">
            <a:spAutoFit/>
          </a:bodyPr>
          <a:lstStyle/>
          <a:p>
            <a:pPr algn="l"/>
            <a:r>
              <a:rPr sz="2400" b="1" lang="en-US">
                <a:solidFill>
                  <a:srgbClr val="1764A1"/>
                </a:solidFill>
                <a:latin typeface="Arial"/>
              </a:rPr>
              <a:t>Record</a:t>
            </a:r>
          </a:p>
        </p:txBody>
      </p:sp>
      <p:cxnSp>
        <p:nvCxnSpPr>
          <p:cNvPr id="28" name="Flow"/>
          <p:cNvCxnSpPr/>
          <p:nvPr/>
        </p:nvCxnSpPr>
        <p:spPr>
          <a:xfrm>
            <a:off x="3264408" y="2441448"/>
            <a:ext cx="0" cy="2697480"/>
          </a:xfrm>
          <a:prstGeom prst="line">
            <a:avLst/>
          </a:prstGeom>
          <a:ln w="12700">
            <a:solidFill>
              <a:srgbClr val="DAE1E5"/>
            </a:solidFill>
          </a:ln>
        </p:spPr>
        <p:style>
          <a:lnRef idx="2">
            <a:schemeClr val="accent1"/>
          </a:lnRef>
          <a:fillRef idx="0">
            <a:schemeClr val="accent1"/>
          </a:fillRef>
          <a:effectRef idx="1">
            <a:schemeClr val="accent1"/>
          </a:effectRef>
          <a:fontRef idx="minor">
            <a:schemeClr val="tx1"/>
          </a:fontRef>
        </p:style>
      </p:cxnSp>
      <p:cxnSp>
        <p:nvCxnSpPr>
          <p:cNvPr id="29" name="Flow"/>
          <p:cNvCxnSpPr/>
          <p:nvPr/>
        </p:nvCxnSpPr>
        <p:spPr>
          <a:xfrm>
            <a:off x="6062472" y="2441448"/>
            <a:ext cx="0" cy="2697480"/>
          </a:xfrm>
          <a:prstGeom prst="line">
            <a:avLst/>
          </a:prstGeom>
          <a:ln w="12700">
            <a:solidFill>
              <a:srgbClr val="DAE1E5"/>
            </a:solidFill>
          </a:ln>
        </p:spPr>
        <p:style>
          <a:lnRef idx="2">
            <a:schemeClr val="accent1"/>
          </a:lnRef>
          <a:fillRef idx="0">
            <a:schemeClr val="accent1"/>
          </a:fillRef>
          <a:effectRef idx="1">
            <a:schemeClr val="accent1"/>
          </a:effectRef>
          <a:fontRef idx="minor">
            <a:schemeClr val="tx1"/>
          </a:fontRef>
        </p:style>
      </p:cxnSp>
      <p:cxnSp>
        <p:nvCxnSpPr>
          <p:cNvPr id="30" name="Flow"/>
          <p:cNvCxnSpPr/>
          <p:nvPr/>
        </p:nvCxnSpPr>
        <p:spPr>
          <a:xfrm>
            <a:off x="8869680" y="2441448"/>
            <a:ext cx="0" cy="2697480"/>
          </a:xfrm>
          <a:prstGeom prst="line">
            <a:avLst/>
          </a:prstGeom>
          <a:ln w="12700">
            <a:solidFill>
              <a:srgbClr val="DAE1E5"/>
            </a:solidFill>
          </a:ln>
        </p:spPr>
        <p:style>
          <a:lnRef idx="2">
            <a:schemeClr val="accent1"/>
          </a:lnRef>
          <a:fillRef idx="0">
            <a:schemeClr val="accent1"/>
          </a:fillRef>
          <a:effectRef idx="1">
            <a:schemeClr val="accent1"/>
          </a:effectRef>
          <a:fontRef idx="minor">
            <a:schemeClr val="tx1"/>
          </a:fontRef>
        </p:style>
      </p:cxnSp>
      <p:cxnSp>
        <p:nvCxnSpPr>
          <p:cNvPr id="31" name="Editable circular flow"/>
          <p:cNvCxnSpPr/>
          <p:nvPr/>
        </p:nvCxnSpPr>
        <p:spPr>
          <a:xfrm>
            <a:off x="2028791" y="2852217"/>
            <a:ext cx="46237" cy="12389"/>
          </a:xfrm>
          <a:prstGeom prst="line">
            <a:avLst/>
          </a:prstGeom>
          <a:ln w="2667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2" name="Editable circular flow"/>
          <p:cNvCxnSpPr/>
          <p:nvPr/>
        </p:nvCxnSpPr>
        <p:spPr>
          <a:xfrm>
            <a:off x="2075028" y="2864606"/>
            <a:ext cx="45260" cy="15584"/>
          </a:xfrm>
          <a:prstGeom prst="line">
            <a:avLst/>
          </a:prstGeom>
          <a:ln w="2667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3" name="Editable circular flow"/>
          <p:cNvCxnSpPr/>
          <p:nvPr/>
        </p:nvCxnSpPr>
        <p:spPr>
          <a:xfrm>
            <a:off x="2120288" y="2880190"/>
            <a:ext cx="44063" cy="18704"/>
          </a:xfrm>
          <a:prstGeom prst="line">
            <a:avLst/>
          </a:prstGeom>
          <a:ln w="2667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4" name="Editable circular flow"/>
          <p:cNvCxnSpPr/>
          <p:nvPr/>
        </p:nvCxnSpPr>
        <p:spPr>
          <a:xfrm>
            <a:off x="2164351" y="2898894"/>
            <a:ext cx="42651" cy="21731"/>
          </a:xfrm>
          <a:prstGeom prst="line">
            <a:avLst/>
          </a:prstGeom>
          <a:ln w="2667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5" name="Editable circular flow"/>
          <p:cNvCxnSpPr/>
          <p:nvPr/>
        </p:nvCxnSpPr>
        <p:spPr>
          <a:xfrm>
            <a:off x="2207002" y="2920625"/>
            <a:ext cx="41031" cy="24654"/>
          </a:xfrm>
          <a:prstGeom prst="line">
            <a:avLst/>
          </a:prstGeom>
          <a:ln w="2667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6" name="Editable circular flow"/>
          <p:cNvCxnSpPr/>
          <p:nvPr/>
        </p:nvCxnSpPr>
        <p:spPr>
          <a:xfrm>
            <a:off x="2248033" y="2945279"/>
            <a:ext cx="39211" cy="27456"/>
          </a:xfrm>
          <a:prstGeom prst="line">
            <a:avLst/>
          </a:prstGeom>
          <a:ln w="2667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7" name="Editable circular flow"/>
          <p:cNvCxnSpPr/>
          <p:nvPr/>
        </p:nvCxnSpPr>
        <p:spPr>
          <a:xfrm>
            <a:off x="2287244" y="2972735"/>
            <a:ext cx="37201" cy="30125"/>
          </a:xfrm>
          <a:prstGeom prst="line">
            <a:avLst/>
          </a:prstGeom>
          <a:ln w="2667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8" name="Editable circular flow"/>
          <p:cNvCxnSpPr/>
          <p:nvPr/>
        </p:nvCxnSpPr>
        <p:spPr>
          <a:xfrm>
            <a:off x="2324445" y="3002860"/>
            <a:ext cx="35008" cy="32646"/>
          </a:xfrm>
          <a:prstGeom prst="line">
            <a:avLst/>
          </a:prstGeom>
          <a:ln w="2667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9" name="Editable circular flow"/>
          <p:cNvCxnSpPr/>
          <p:nvPr/>
        </p:nvCxnSpPr>
        <p:spPr>
          <a:xfrm>
            <a:off x="2359453" y="3035506"/>
            <a:ext cx="32646" cy="35008"/>
          </a:xfrm>
          <a:prstGeom prst="line">
            <a:avLst/>
          </a:prstGeom>
          <a:ln w="2667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40" name="Editable circular flow"/>
          <p:cNvCxnSpPr/>
          <p:nvPr/>
        </p:nvCxnSpPr>
        <p:spPr>
          <a:xfrm>
            <a:off x="2392099" y="3070514"/>
            <a:ext cx="30125" cy="37201"/>
          </a:xfrm>
          <a:prstGeom prst="line">
            <a:avLst/>
          </a:prstGeom>
          <a:ln w="2667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41" name="Editable circular flow"/>
          <p:cNvCxnSpPr/>
          <p:nvPr/>
        </p:nvCxnSpPr>
        <p:spPr>
          <a:xfrm>
            <a:off x="2422224" y="3107715"/>
            <a:ext cx="27456" cy="39211"/>
          </a:xfrm>
          <a:prstGeom prst="line">
            <a:avLst/>
          </a:prstGeom>
          <a:ln w="2667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42" name="Editable circular flow"/>
          <p:cNvCxnSpPr/>
          <p:nvPr/>
        </p:nvCxnSpPr>
        <p:spPr>
          <a:xfrm>
            <a:off x="2449680" y="3146926"/>
            <a:ext cx="24654" cy="41031"/>
          </a:xfrm>
          <a:prstGeom prst="line">
            <a:avLst/>
          </a:prstGeom>
          <a:ln w="2667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43" name="Editable circular flow"/>
          <p:cNvCxnSpPr/>
          <p:nvPr/>
        </p:nvCxnSpPr>
        <p:spPr>
          <a:xfrm>
            <a:off x="2474334" y="3187957"/>
            <a:ext cx="21731" cy="42651"/>
          </a:xfrm>
          <a:prstGeom prst="line">
            <a:avLst/>
          </a:prstGeom>
          <a:ln w="2667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44" name="Editable circular flow"/>
          <p:cNvCxnSpPr/>
          <p:nvPr/>
        </p:nvCxnSpPr>
        <p:spPr>
          <a:xfrm>
            <a:off x="2496065" y="3230608"/>
            <a:ext cx="18704" cy="44063"/>
          </a:xfrm>
          <a:prstGeom prst="line">
            <a:avLst/>
          </a:prstGeom>
          <a:ln w="2667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45" name="Editable circular flow"/>
          <p:cNvCxnSpPr/>
          <p:nvPr/>
        </p:nvCxnSpPr>
        <p:spPr>
          <a:xfrm>
            <a:off x="2514769" y="3274671"/>
            <a:ext cx="15584" cy="45260"/>
          </a:xfrm>
          <a:prstGeom prst="line">
            <a:avLst/>
          </a:prstGeom>
          <a:ln w="2667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46" name="Editable circular flow"/>
          <p:cNvCxnSpPr/>
          <p:nvPr/>
        </p:nvCxnSpPr>
        <p:spPr>
          <a:xfrm>
            <a:off x="2530353" y="3319931"/>
            <a:ext cx="12389" cy="46237"/>
          </a:xfrm>
          <a:prstGeom prst="line">
            <a:avLst/>
          </a:prstGeom>
          <a:ln w="2667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47" name="Editable circular flow"/>
          <p:cNvCxnSpPr/>
          <p:nvPr/>
        </p:nvCxnSpPr>
        <p:spPr>
          <a:xfrm>
            <a:off x="2542742" y="3366168"/>
            <a:ext cx="9134" cy="46989"/>
          </a:xfrm>
          <a:prstGeom prst="line">
            <a:avLst/>
          </a:prstGeom>
          <a:ln w="2667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48" name="Editable circular flow"/>
          <p:cNvCxnSpPr/>
          <p:nvPr/>
        </p:nvCxnSpPr>
        <p:spPr>
          <a:xfrm>
            <a:off x="2551876" y="3413157"/>
            <a:ext cx="5834" cy="47511"/>
          </a:xfrm>
          <a:prstGeom prst="line">
            <a:avLst/>
          </a:prstGeom>
          <a:ln w="2667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49" name="Editable circular flow"/>
          <p:cNvCxnSpPr/>
          <p:nvPr/>
        </p:nvCxnSpPr>
        <p:spPr>
          <a:xfrm>
            <a:off x="2557710" y="3460668"/>
            <a:ext cx="2505" cy="47803"/>
          </a:xfrm>
          <a:prstGeom prst="line">
            <a:avLst/>
          </a:prstGeom>
          <a:ln w="2667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50" name="Editable circular flow"/>
          <p:cNvCxnSpPr/>
          <p:nvPr/>
        </p:nvCxnSpPr>
        <p:spPr>
          <a:xfrm flipH="1">
            <a:off x="2559380" y="3508471"/>
            <a:ext cx="835" cy="47860"/>
          </a:xfrm>
          <a:prstGeom prst="line">
            <a:avLst/>
          </a:prstGeom>
          <a:ln w="2667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51" name="Editable circular flow"/>
          <p:cNvCxnSpPr/>
          <p:nvPr/>
        </p:nvCxnSpPr>
        <p:spPr>
          <a:xfrm flipH="1">
            <a:off x="2555208" y="3556331"/>
            <a:ext cx="4172" cy="47686"/>
          </a:xfrm>
          <a:prstGeom prst="line">
            <a:avLst/>
          </a:prstGeom>
          <a:ln w="2667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52" name="Editable circular flow"/>
          <p:cNvCxnSpPr/>
          <p:nvPr/>
        </p:nvCxnSpPr>
        <p:spPr>
          <a:xfrm flipH="1">
            <a:off x="2547719" y="3604017"/>
            <a:ext cx="7489" cy="47279"/>
          </a:xfrm>
          <a:prstGeom prst="line">
            <a:avLst/>
          </a:prstGeom>
          <a:ln w="2667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53" name="Editable circular flow"/>
          <p:cNvCxnSpPr/>
          <p:nvPr/>
        </p:nvCxnSpPr>
        <p:spPr>
          <a:xfrm flipH="1">
            <a:off x="2536951" y="3651296"/>
            <a:ext cx="10768" cy="46642"/>
          </a:xfrm>
          <a:prstGeom prst="line">
            <a:avLst/>
          </a:prstGeom>
          <a:ln w="26670">
            <a:solidFill>
              <a:srgbClr val="2075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4" name="Editable circular flow"/>
          <p:cNvCxnSpPr/>
          <p:nvPr/>
        </p:nvCxnSpPr>
        <p:spPr>
          <a:xfrm flipH="1">
            <a:off x="2342234" y="3988154"/>
            <a:ext cx="33848" cy="33848"/>
          </a:xfrm>
          <a:prstGeom prst="line">
            <a:avLst/>
          </a:prstGeom>
          <a:ln w="2667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55" name="Editable circular flow"/>
          <p:cNvCxnSpPr/>
          <p:nvPr/>
        </p:nvCxnSpPr>
        <p:spPr>
          <a:xfrm flipH="1">
            <a:off x="2306107" y="4022002"/>
            <a:ext cx="36127" cy="31404"/>
          </a:xfrm>
          <a:prstGeom prst="line">
            <a:avLst/>
          </a:prstGeom>
          <a:ln w="2667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56" name="Editable circular flow"/>
          <p:cNvCxnSpPr/>
          <p:nvPr/>
        </p:nvCxnSpPr>
        <p:spPr>
          <a:xfrm flipH="1">
            <a:off x="2267878" y="4053406"/>
            <a:ext cx="38229" cy="28808"/>
          </a:xfrm>
          <a:prstGeom prst="line">
            <a:avLst/>
          </a:prstGeom>
          <a:ln w="2667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57" name="Editable circular flow"/>
          <p:cNvCxnSpPr/>
          <p:nvPr/>
        </p:nvCxnSpPr>
        <p:spPr>
          <a:xfrm flipH="1">
            <a:off x="2227733" y="4082214"/>
            <a:ext cx="40145" cy="26071"/>
          </a:xfrm>
          <a:prstGeom prst="line">
            <a:avLst/>
          </a:prstGeom>
          <a:ln w="2667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58" name="Editable circular flow"/>
          <p:cNvCxnSpPr/>
          <p:nvPr/>
        </p:nvCxnSpPr>
        <p:spPr>
          <a:xfrm flipH="1">
            <a:off x="2185866" y="4108285"/>
            <a:ext cx="41867" cy="23207"/>
          </a:xfrm>
          <a:prstGeom prst="line">
            <a:avLst/>
          </a:prstGeom>
          <a:ln w="2667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59" name="Editable circular flow"/>
          <p:cNvCxnSpPr/>
          <p:nvPr/>
        </p:nvCxnSpPr>
        <p:spPr>
          <a:xfrm flipH="1">
            <a:off x="2142483" y="4131492"/>
            <a:ext cx="43383" cy="20230"/>
          </a:xfrm>
          <a:prstGeom prst="line">
            <a:avLst/>
          </a:prstGeom>
          <a:ln w="2667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60" name="Editable circular flow"/>
          <p:cNvCxnSpPr/>
          <p:nvPr/>
        </p:nvCxnSpPr>
        <p:spPr>
          <a:xfrm flipH="1">
            <a:off x="2097794" y="4151722"/>
            <a:ext cx="44689" cy="17154"/>
          </a:xfrm>
          <a:prstGeom prst="line">
            <a:avLst/>
          </a:prstGeom>
          <a:ln w="2667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61" name="Editable circular flow"/>
          <p:cNvCxnSpPr/>
          <p:nvPr/>
        </p:nvCxnSpPr>
        <p:spPr>
          <a:xfrm flipH="1">
            <a:off x="2052018" y="4168876"/>
            <a:ext cx="45776" cy="13995"/>
          </a:xfrm>
          <a:prstGeom prst="line">
            <a:avLst/>
          </a:prstGeom>
          <a:ln w="2667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62" name="Editable circular flow"/>
          <p:cNvCxnSpPr/>
          <p:nvPr/>
        </p:nvCxnSpPr>
        <p:spPr>
          <a:xfrm flipH="1">
            <a:off x="2005376" y="4182871"/>
            <a:ext cx="46642" cy="10768"/>
          </a:xfrm>
          <a:prstGeom prst="line">
            <a:avLst/>
          </a:prstGeom>
          <a:ln w="2667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63" name="Editable circular flow"/>
          <p:cNvCxnSpPr/>
          <p:nvPr/>
        </p:nvCxnSpPr>
        <p:spPr>
          <a:xfrm flipH="1">
            <a:off x="1958097" y="4193639"/>
            <a:ext cx="47279" cy="7489"/>
          </a:xfrm>
          <a:prstGeom prst="line">
            <a:avLst/>
          </a:prstGeom>
          <a:ln w="2667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64" name="Editable circular flow"/>
          <p:cNvCxnSpPr/>
          <p:nvPr/>
        </p:nvCxnSpPr>
        <p:spPr>
          <a:xfrm flipH="1">
            <a:off x="1910411" y="4201128"/>
            <a:ext cx="47686" cy="4172"/>
          </a:xfrm>
          <a:prstGeom prst="line">
            <a:avLst/>
          </a:prstGeom>
          <a:ln w="2667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65" name="Editable circular flow"/>
          <p:cNvCxnSpPr/>
          <p:nvPr/>
        </p:nvCxnSpPr>
        <p:spPr>
          <a:xfrm flipH="1">
            <a:off x="1862551" y="4205300"/>
            <a:ext cx="47860" cy="835"/>
          </a:xfrm>
          <a:prstGeom prst="line">
            <a:avLst/>
          </a:prstGeom>
          <a:ln w="2667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66" name="Editable circular flow"/>
          <p:cNvCxnSpPr/>
          <p:nvPr/>
        </p:nvCxnSpPr>
        <p:spPr>
          <a:xfrm flipH="1" flipV="1">
            <a:off x="1814748" y="4203630"/>
            <a:ext cx="47803" cy="2505"/>
          </a:xfrm>
          <a:prstGeom prst="line">
            <a:avLst/>
          </a:prstGeom>
          <a:ln w="2667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67" name="Editable circular flow"/>
          <p:cNvCxnSpPr/>
          <p:nvPr/>
        </p:nvCxnSpPr>
        <p:spPr>
          <a:xfrm flipH="1" flipV="1">
            <a:off x="1767237" y="4197796"/>
            <a:ext cx="47511" cy="5834"/>
          </a:xfrm>
          <a:prstGeom prst="line">
            <a:avLst/>
          </a:prstGeom>
          <a:ln w="2667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68" name="Editable circular flow"/>
          <p:cNvCxnSpPr/>
          <p:nvPr/>
        </p:nvCxnSpPr>
        <p:spPr>
          <a:xfrm flipH="1" flipV="1">
            <a:off x="1720248" y="4188662"/>
            <a:ext cx="46989" cy="9134"/>
          </a:xfrm>
          <a:prstGeom prst="line">
            <a:avLst/>
          </a:prstGeom>
          <a:ln w="2667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69" name="Editable circular flow"/>
          <p:cNvCxnSpPr/>
          <p:nvPr/>
        </p:nvCxnSpPr>
        <p:spPr>
          <a:xfrm flipH="1" flipV="1">
            <a:off x="1674011" y="4176273"/>
            <a:ext cx="46237" cy="12389"/>
          </a:xfrm>
          <a:prstGeom prst="line">
            <a:avLst/>
          </a:prstGeom>
          <a:ln w="2667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70" name="Editable circular flow"/>
          <p:cNvCxnSpPr/>
          <p:nvPr/>
        </p:nvCxnSpPr>
        <p:spPr>
          <a:xfrm flipH="1" flipV="1">
            <a:off x="1628751" y="4160689"/>
            <a:ext cx="45260" cy="15584"/>
          </a:xfrm>
          <a:prstGeom prst="line">
            <a:avLst/>
          </a:prstGeom>
          <a:ln w="2667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71" name="Editable circular flow"/>
          <p:cNvCxnSpPr/>
          <p:nvPr/>
        </p:nvCxnSpPr>
        <p:spPr>
          <a:xfrm flipH="1" flipV="1">
            <a:off x="1584688" y="4141985"/>
            <a:ext cx="44063" cy="18704"/>
          </a:xfrm>
          <a:prstGeom prst="line">
            <a:avLst/>
          </a:prstGeom>
          <a:ln w="2667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72" name="Editable circular flow"/>
          <p:cNvCxnSpPr/>
          <p:nvPr/>
        </p:nvCxnSpPr>
        <p:spPr>
          <a:xfrm flipH="1" flipV="1">
            <a:off x="1542037" y="4120254"/>
            <a:ext cx="42651" cy="21731"/>
          </a:xfrm>
          <a:prstGeom prst="line">
            <a:avLst/>
          </a:prstGeom>
          <a:ln w="2667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73" name="Editable circular flow"/>
          <p:cNvCxnSpPr/>
          <p:nvPr/>
        </p:nvCxnSpPr>
        <p:spPr>
          <a:xfrm flipH="1" flipV="1">
            <a:off x="1501006" y="4095600"/>
            <a:ext cx="41031" cy="24654"/>
          </a:xfrm>
          <a:prstGeom prst="line">
            <a:avLst/>
          </a:prstGeom>
          <a:ln w="2667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74" name="Editable circular flow"/>
          <p:cNvCxnSpPr/>
          <p:nvPr/>
        </p:nvCxnSpPr>
        <p:spPr>
          <a:xfrm flipH="1" flipV="1">
            <a:off x="1461795" y="4068144"/>
            <a:ext cx="39211" cy="27456"/>
          </a:xfrm>
          <a:prstGeom prst="line">
            <a:avLst/>
          </a:prstGeom>
          <a:ln w="2667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75" name="Editable circular flow"/>
          <p:cNvCxnSpPr/>
          <p:nvPr/>
        </p:nvCxnSpPr>
        <p:spPr>
          <a:xfrm flipH="1" flipV="1">
            <a:off x="1424594" y="4038019"/>
            <a:ext cx="37201" cy="30125"/>
          </a:xfrm>
          <a:prstGeom prst="line">
            <a:avLst/>
          </a:prstGeom>
          <a:ln w="2667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76" name="Editable circular flow"/>
          <p:cNvCxnSpPr/>
          <p:nvPr/>
        </p:nvCxnSpPr>
        <p:spPr>
          <a:xfrm flipH="1" flipV="1">
            <a:off x="1389586" y="4005373"/>
            <a:ext cx="35008" cy="32646"/>
          </a:xfrm>
          <a:prstGeom prst="line">
            <a:avLst/>
          </a:prstGeom>
          <a:ln w="26670">
            <a:solidFill>
              <a:srgbClr val="2075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7" name="Editable circular flow"/>
          <p:cNvCxnSpPr/>
          <p:nvPr/>
        </p:nvCxnSpPr>
        <p:spPr>
          <a:xfrm flipH="1" flipV="1">
            <a:off x="1206297" y="3674711"/>
            <a:ext cx="12389" cy="46237"/>
          </a:xfrm>
          <a:prstGeom prst="line">
            <a:avLst/>
          </a:prstGeom>
          <a:ln w="2667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78" name="Editable circular flow"/>
          <p:cNvCxnSpPr/>
          <p:nvPr/>
        </p:nvCxnSpPr>
        <p:spPr>
          <a:xfrm flipH="1" flipV="1">
            <a:off x="1197163" y="3627722"/>
            <a:ext cx="9134" cy="46989"/>
          </a:xfrm>
          <a:prstGeom prst="line">
            <a:avLst/>
          </a:prstGeom>
          <a:ln w="2667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79" name="Editable circular flow"/>
          <p:cNvCxnSpPr/>
          <p:nvPr/>
        </p:nvCxnSpPr>
        <p:spPr>
          <a:xfrm flipH="1" flipV="1">
            <a:off x="1191329" y="3580211"/>
            <a:ext cx="5834" cy="47511"/>
          </a:xfrm>
          <a:prstGeom prst="line">
            <a:avLst/>
          </a:prstGeom>
          <a:ln w="2667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80" name="Editable circular flow"/>
          <p:cNvCxnSpPr/>
          <p:nvPr/>
        </p:nvCxnSpPr>
        <p:spPr>
          <a:xfrm flipH="1" flipV="1">
            <a:off x="1188824" y="3532408"/>
            <a:ext cx="2505" cy="47803"/>
          </a:xfrm>
          <a:prstGeom prst="line">
            <a:avLst/>
          </a:prstGeom>
          <a:ln w="2667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81" name="Editable circular flow"/>
          <p:cNvCxnSpPr/>
          <p:nvPr/>
        </p:nvCxnSpPr>
        <p:spPr>
          <a:xfrm flipV="1">
            <a:off x="1188824" y="3484548"/>
            <a:ext cx="835" cy="47860"/>
          </a:xfrm>
          <a:prstGeom prst="line">
            <a:avLst/>
          </a:prstGeom>
          <a:ln w="2667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82" name="Editable circular flow"/>
          <p:cNvCxnSpPr/>
          <p:nvPr/>
        </p:nvCxnSpPr>
        <p:spPr>
          <a:xfrm flipV="1">
            <a:off x="1189659" y="3436862"/>
            <a:ext cx="4172" cy="47686"/>
          </a:xfrm>
          <a:prstGeom prst="line">
            <a:avLst/>
          </a:prstGeom>
          <a:ln w="2667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83" name="Editable circular flow"/>
          <p:cNvCxnSpPr/>
          <p:nvPr/>
        </p:nvCxnSpPr>
        <p:spPr>
          <a:xfrm flipV="1">
            <a:off x="1193831" y="3389583"/>
            <a:ext cx="7489" cy="47279"/>
          </a:xfrm>
          <a:prstGeom prst="line">
            <a:avLst/>
          </a:prstGeom>
          <a:ln w="2667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84" name="Editable circular flow"/>
          <p:cNvCxnSpPr/>
          <p:nvPr/>
        </p:nvCxnSpPr>
        <p:spPr>
          <a:xfrm flipV="1">
            <a:off x="1201320" y="3342941"/>
            <a:ext cx="10768" cy="46642"/>
          </a:xfrm>
          <a:prstGeom prst="line">
            <a:avLst/>
          </a:prstGeom>
          <a:ln w="2667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85" name="Editable circular flow"/>
          <p:cNvCxnSpPr/>
          <p:nvPr/>
        </p:nvCxnSpPr>
        <p:spPr>
          <a:xfrm flipV="1">
            <a:off x="1212088" y="3297165"/>
            <a:ext cx="13995" cy="45776"/>
          </a:xfrm>
          <a:prstGeom prst="line">
            <a:avLst/>
          </a:prstGeom>
          <a:ln w="2667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86" name="Editable circular flow"/>
          <p:cNvCxnSpPr/>
          <p:nvPr/>
        </p:nvCxnSpPr>
        <p:spPr>
          <a:xfrm flipV="1">
            <a:off x="1226083" y="3252476"/>
            <a:ext cx="17154" cy="44689"/>
          </a:xfrm>
          <a:prstGeom prst="line">
            <a:avLst/>
          </a:prstGeom>
          <a:ln w="2667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87" name="Editable circular flow"/>
          <p:cNvCxnSpPr/>
          <p:nvPr/>
        </p:nvCxnSpPr>
        <p:spPr>
          <a:xfrm flipV="1">
            <a:off x="1243237" y="3209093"/>
            <a:ext cx="20230" cy="43383"/>
          </a:xfrm>
          <a:prstGeom prst="line">
            <a:avLst/>
          </a:prstGeom>
          <a:ln w="2667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88" name="Editable circular flow"/>
          <p:cNvCxnSpPr/>
          <p:nvPr/>
        </p:nvCxnSpPr>
        <p:spPr>
          <a:xfrm flipV="1">
            <a:off x="1263467" y="3167226"/>
            <a:ext cx="23207" cy="41867"/>
          </a:xfrm>
          <a:prstGeom prst="line">
            <a:avLst/>
          </a:prstGeom>
          <a:ln w="2667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89" name="Editable circular flow"/>
          <p:cNvCxnSpPr/>
          <p:nvPr/>
        </p:nvCxnSpPr>
        <p:spPr>
          <a:xfrm flipV="1">
            <a:off x="1286674" y="3127081"/>
            <a:ext cx="26071" cy="40145"/>
          </a:xfrm>
          <a:prstGeom prst="line">
            <a:avLst/>
          </a:prstGeom>
          <a:ln w="2667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90" name="Editable circular flow"/>
          <p:cNvCxnSpPr/>
          <p:nvPr/>
        </p:nvCxnSpPr>
        <p:spPr>
          <a:xfrm flipV="1">
            <a:off x="1312745" y="3088852"/>
            <a:ext cx="28808" cy="38229"/>
          </a:xfrm>
          <a:prstGeom prst="line">
            <a:avLst/>
          </a:prstGeom>
          <a:ln w="2667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91" name="Editable circular flow"/>
          <p:cNvCxnSpPr/>
          <p:nvPr/>
        </p:nvCxnSpPr>
        <p:spPr>
          <a:xfrm flipV="1">
            <a:off x="1341553" y="3052725"/>
            <a:ext cx="31404" cy="36127"/>
          </a:xfrm>
          <a:prstGeom prst="line">
            <a:avLst/>
          </a:prstGeom>
          <a:ln w="2667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92" name="Editable circular flow"/>
          <p:cNvCxnSpPr/>
          <p:nvPr/>
        </p:nvCxnSpPr>
        <p:spPr>
          <a:xfrm flipV="1">
            <a:off x="1372957" y="3018877"/>
            <a:ext cx="33848" cy="33848"/>
          </a:xfrm>
          <a:prstGeom prst="line">
            <a:avLst/>
          </a:prstGeom>
          <a:ln w="2667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93" name="Editable circular flow"/>
          <p:cNvCxnSpPr/>
          <p:nvPr/>
        </p:nvCxnSpPr>
        <p:spPr>
          <a:xfrm flipV="1">
            <a:off x="1406805" y="2987473"/>
            <a:ext cx="36127" cy="31404"/>
          </a:xfrm>
          <a:prstGeom prst="line">
            <a:avLst/>
          </a:prstGeom>
          <a:ln w="2667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94" name="Editable circular flow"/>
          <p:cNvCxnSpPr/>
          <p:nvPr/>
        </p:nvCxnSpPr>
        <p:spPr>
          <a:xfrm flipV="1">
            <a:off x="1442932" y="2958665"/>
            <a:ext cx="38229" cy="28808"/>
          </a:xfrm>
          <a:prstGeom prst="line">
            <a:avLst/>
          </a:prstGeom>
          <a:ln w="2667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95" name="Editable circular flow"/>
          <p:cNvCxnSpPr/>
          <p:nvPr/>
        </p:nvCxnSpPr>
        <p:spPr>
          <a:xfrm flipV="1">
            <a:off x="1481161" y="2932594"/>
            <a:ext cx="40145" cy="26071"/>
          </a:xfrm>
          <a:prstGeom prst="line">
            <a:avLst/>
          </a:prstGeom>
          <a:ln w="2667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96" name="Editable circular flow"/>
          <p:cNvCxnSpPr/>
          <p:nvPr/>
        </p:nvCxnSpPr>
        <p:spPr>
          <a:xfrm flipV="1">
            <a:off x="1521306" y="2909387"/>
            <a:ext cx="41867" cy="23207"/>
          </a:xfrm>
          <a:prstGeom prst="line">
            <a:avLst/>
          </a:prstGeom>
          <a:ln w="2667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97" name="Editable circular flow"/>
          <p:cNvCxnSpPr/>
          <p:nvPr/>
        </p:nvCxnSpPr>
        <p:spPr>
          <a:xfrm flipV="1">
            <a:off x="1563173" y="2889157"/>
            <a:ext cx="43383" cy="20230"/>
          </a:xfrm>
          <a:prstGeom prst="line">
            <a:avLst/>
          </a:prstGeom>
          <a:ln w="2667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98" name="Editable circular flow"/>
          <p:cNvCxnSpPr/>
          <p:nvPr/>
        </p:nvCxnSpPr>
        <p:spPr>
          <a:xfrm flipV="1">
            <a:off x="1606556" y="2872003"/>
            <a:ext cx="44689" cy="17154"/>
          </a:xfrm>
          <a:prstGeom prst="line">
            <a:avLst/>
          </a:prstGeom>
          <a:ln w="2667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99" name="Editable circular flow"/>
          <p:cNvCxnSpPr/>
          <p:nvPr/>
        </p:nvCxnSpPr>
        <p:spPr>
          <a:xfrm flipV="1">
            <a:off x="1651245" y="2858008"/>
            <a:ext cx="45776" cy="13995"/>
          </a:xfrm>
          <a:prstGeom prst="line">
            <a:avLst/>
          </a:prstGeom>
          <a:ln w="26670">
            <a:solidFill>
              <a:srgbClr val="2075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0" name="Oval 99"/>
          <p:cNvSpPr/>
          <p:nvPr/>
        </p:nvSpPr>
        <p:spPr>
          <a:xfrm>
            <a:off x="1737360" y="2697480"/>
            <a:ext cx="274320" cy="274320"/>
          </a:xfrm>
          <a:prstGeom prst="ellipse">
            <a:avLst/>
          </a:prstGeom>
          <a:solidFill>
            <a:srgbClr val="FFFFFF"/>
          </a:solidFill>
          <a:ln w="1778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Oval 100"/>
          <p:cNvSpPr/>
          <p:nvPr/>
        </p:nvSpPr>
        <p:spPr>
          <a:xfrm>
            <a:off x="2331280" y="3726179"/>
            <a:ext cx="274320" cy="274320"/>
          </a:xfrm>
          <a:prstGeom prst="ellipse">
            <a:avLst/>
          </a:prstGeom>
          <a:solidFill>
            <a:srgbClr val="FFFFFF"/>
          </a:solidFill>
          <a:ln w="1778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Oval 101"/>
          <p:cNvSpPr/>
          <p:nvPr/>
        </p:nvSpPr>
        <p:spPr>
          <a:xfrm>
            <a:off x="1143439" y="3726179"/>
            <a:ext cx="274320" cy="274320"/>
          </a:xfrm>
          <a:prstGeom prst="ellipse">
            <a:avLst/>
          </a:prstGeom>
          <a:solidFill>
            <a:srgbClr val="FFFFFF"/>
          </a:solidFill>
          <a:ln w="1778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Label: DFL"/>
          <p:cNvSpPr txBox="1"/>
          <p:nvPr/>
        </p:nvSpPr>
        <p:spPr>
          <a:xfrm>
            <a:off x="1307591" y="3310128"/>
            <a:ext cx="1133856" cy="420624"/>
          </a:xfrm>
          <a:prstGeom prst="rect">
            <a:avLst/>
          </a:prstGeom>
          <a:noFill/>
        </p:spPr>
        <p:txBody>
          <a:bodyPr wrap="square" lIns="0" rIns="0" tIns="0" bIns="0" anchor="ctr">
            <a:spAutoFit/>
          </a:bodyPr>
          <a:lstStyle/>
          <a:p>
            <a:pPr algn="ctr"/>
            <a:r>
              <a:rPr sz="2000" b="1" lang="en-US">
                <a:solidFill>
                  <a:srgbClr val="207548"/>
                </a:solidFill>
                <a:latin typeface="Arial"/>
              </a:rPr>
              <a:t>DFL</a:t>
            </a:r>
          </a:p>
        </p:txBody>
      </p:sp>
      <p:sp>
        <p:nvSpPr>
          <p:cNvPr id="104" name="Label: Training rounds"/>
          <p:cNvSpPr txBox="1"/>
          <p:nvPr/>
        </p:nvSpPr>
        <p:spPr>
          <a:xfrm>
            <a:off x="713232" y="4645152"/>
            <a:ext cx="2322576" cy="420624"/>
          </a:xfrm>
          <a:prstGeom prst="rect">
            <a:avLst/>
          </a:prstGeom>
          <a:noFill/>
        </p:spPr>
        <p:txBody>
          <a:bodyPr wrap="square" lIns="0" rIns="0" tIns="0" bIns="0" anchor="ctr">
            <a:spAutoFit/>
          </a:bodyPr>
          <a:lstStyle/>
          <a:p>
            <a:pPr algn="ctr"/>
            <a:r>
              <a:rPr sz="1800" b="1" lang="en-US">
                <a:solidFill>
                  <a:srgbClr val="207548"/>
                </a:solidFill>
                <a:latin typeface="Arial"/>
              </a:rPr>
              <a:t>Training rounds</a:t>
            </a:r>
          </a:p>
        </p:txBody>
      </p:sp>
      <p:sp>
        <p:nvSpPr>
          <p:cNvPr id="105" name="Oval 104"/>
          <p:cNvSpPr/>
          <p:nvPr/>
        </p:nvSpPr>
        <p:spPr>
          <a:xfrm>
            <a:off x="4078224" y="2935224"/>
            <a:ext cx="1170432" cy="1170432"/>
          </a:xfrm>
          <a:prstGeom prst="ellipse">
            <a:avLst/>
          </a:prstGeom>
          <a:solidFill>
            <a:srgbClr val="F3EEF8"/>
          </a:solidFill>
          <a:ln w="1524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6" name="Flow"/>
          <p:cNvCxnSpPr/>
          <p:nvPr/>
        </p:nvCxnSpPr>
        <p:spPr>
          <a:xfrm flipV="1">
            <a:off x="4318711" y="3151936"/>
            <a:ext cx="344729" cy="106985"/>
          </a:xfrm>
          <a:prstGeom prst="line">
            <a:avLst/>
          </a:prstGeom>
          <a:ln w="13970">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107" name="Flow"/>
          <p:cNvCxnSpPr/>
          <p:nvPr/>
        </p:nvCxnSpPr>
        <p:spPr>
          <a:xfrm>
            <a:off x="4318711" y="3258921"/>
            <a:ext cx="344729" cy="261519"/>
          </a:xfrm>
          <a:prstGeom prst="line">
            <a:avLst/>
          </a:prstGeom>
          <a:ln w="13970">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108" name="Flow"/>
          <p:cNvCxnSpPr/>
          <p:nvPr/>
        </p:nvCxnSpPr>
        <p:spPr>
          <a:xfrm>
            <a:off x="4318711" y="3258921"/>
            <a:ext cx="344729" cy="630022"/>
          </a:xfrm>
          <a:prstGeom prst="line">
            <a:avLst/>
          </a:prstGeom>
          <a:ln w="13970">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109" name="Flow"/>
          <p:cNvCxnSpPr/>
          <p:nvPr/>
        </p:nvCxnSpPr>
        <p:spPr>
          <a:xfrm flipV="1">
            <a:off x="4318711" y="3151936"/>
            <a:ext cx="344729" cy="630022"/>
          </a:xfrm>
          <a:prstGeom prst="line">
            <a:avLst/>
          </a:prstGeom>
          <a:ln w="13970">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110" name="Flow"/>
          <p:cNvCxnSpPr/>
          <p:nvPr/>
        </p:nvCxnSpPr>
        <p:spPr>
          <a:xfrm flipV="1">
            <a:off x="4318711" y="3520440"/>
            <a:ext cx="344729" cy="261518"/>
          </a:xfrm>
          <a:prstGeom prst="line">
            <a:avLst/>
          </a:prstGeom>
          <a:ln w="13970">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111" name="Flow"/>
          <p:cNvCxnSpPr/>
          <p:nvPr/>
        </p:nvCxnSpPr>
        <p:spPr>
          <a:xfrm>
            <a:off x="4318711" y="3781958"/>
            <a:ext cx="344729" cy="106985"/>
          </a:xfrm>
          <a:prstGeom prst="line">
            <a:avLst/>
          </a:prstGeom>
          <a:ln w="13970">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112" name="Flow"/>
          <p:cNvCxnSpPr/>
          <p:nvPr/>
        </p:nvCxnSpPr>
        <p:spPr>
          <a:xfrm>
            <a:off x="4663440" y="3151936"/>
            <a:ext cx="344728" cy="190196"/>
          </a:xfrm>
          <a:prstGeom prst="line">
            <a:avLst/>
          </a:prstGeom>
          <a:ln w="13970">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113" name="Flow"/>
          <p:cNvCxnSpPr/>
          <p:nvPr/>
        </p:nvCxnSpPr>
        <p:spPr>
          <a:xfrm>
            <a:off x="4663440" y="3151936"/>
            <a:ext cx="344728" cy="546812"/>
          </a:xfrm>
          <a:prstGeom prst="line">
            <a:avLst/>
          </a:prstGeom>
          <a:ln w="13970">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114" name="Flow"/>
          <p:cNvCxnSpPr/>
          <p:nvPr/>
        </p:nvCxnSpPr>
        <p:spPr>
          <a:xfrm flipV="1">
            <a:off x="4663440" y="3342132"/>
            <a:ext cx="344728" cy="178308"/>
          </a:xfrm>
          <a:prstGeom prst="line">
            <a:avLst/>
          </a:prstGeom>
          <a:ln w="13970">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115" name="Flow"/>
          <p:cNvCxnSpPr/>
          <p:nvPr/>
        </p:nvCxnSpPr>
        <p:spPr>
          <a:xfrm>
            <a:off x="4663440" y="3520440"/>
            <a:ext cx="344728" cy="178308"/>
          </a:xfrm>
          <a:prstGeom prst="line">
            <a:avLst/>
          </a:prstGeom>
          <a:ln w="13970">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116" name="Flow"/>
          <p:cNvCxnSpPr/>
          <p:nvPr/>
        </p:nvCxnSpPr>
        <p:spPr>
          <a:xfrm flipV="1">
            <a:off x="4663440" y="3342132"/>
            <a:ext cx="344728" cy="546811"/>
          </a:xfrm>
          <a:prstGeom prst="line">
            <a:avLst/>
          </a:prstGeom>
          <a:ln w="13970">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117" name="Flow"/>
          <p:cNvCxnSpPr/>
          <p:nvPr/>
        </p:nvCxnSpPr>
        <p:spPr>
          <a:xfrm flipV="1">
            <a:off x="4663440" y="3698748"/>
            <a:ext cx="344728" cy="190195"/>
          </a:xfrm>
          <a:prstGeom prst="line">
            <a:avLst/>
          </a:prstGeom>
          <a:ln w="13970">
            <a:solidFill>
              <a:srgbClr val="7446A6"/>
            </a:solidFill>
          </a:ln>
        </p:spPr>
        <p:style>
          <a:lnRef idx="2">
            <a:schemeClr val="accent1"/>
          </a:lnRef>
          <a:fillRef idx="0">
            <a:schemeClr val="accent1"/>
          </a:fillRef>
          <a:effectRef idx="1">
            <a:schemeClr val="accent1"/>
          </a:effectRef>
          <a:fontRef idx="minor">
            <a:schemeClr val="tx1"/>
          </a:fontRef>
        </p:style>
      </p:cxnSp>
      <p:sp>
        <p:nvSpPr>
          <p:cNvPr id="118" name="Oval 117"/>
          <p:cNvSpPr/>
          <p:nvPr/>
        </p:nvSpPr>
        <p:spPr>
          <a:xfrm>
            <a:off x="4253331" y="3193542"/>
            <a:ext cx="130759" cy="130759"/>
          </a:xfrm>
          <a:prstGeom prst="ellipse">
            <a:avLst/>
          </a:prstGeom>
          <a:solidFill>
            <a:srgbClr val="FFFFFF"/>
          </a:solidFill>
          <a:ln w="1524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Oval 118"/>
          <p:cNvSpPr/>
          <p:nvPr/>
        </p:nvSpPr>
        <p:spPr>
          <a:xfrm>
            <a:off x="4253331" y="3716578"/>
            <a:ext cx="130759" cy="130759"/>
          </a:xfrm>
          <a:prstGeom prst="ellipse">
            <a:avLst/>
          </a:prstGeom>
          <a:solidFill>
            <a:srgbClr val="FFFFFF"/>
          </a:solidFill>
          <a:ln w="1524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Oval 119"/>
          <p:cNvSpPr/>
          <p:nvPr/>
        </p:nvSpPr>
        <p:spPr>
          <a:xfrm>
            <a:off x="4598060" y="3086557"/>
            <a:ext cx="130759" cy="130759"/>
          </a:xfrm>
          <a:prstGeom prst="ellipse">
            <a:avLst/>
          </a:prstGeom>
          <a:solidFill>
            <a:srgbClr val="FFFFFF"/>
          </a:solidFill>
          <a:ln w="1524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Oval 120"/>
          <p:cNvSpPr/>
          <p:nvPr/>
        </p:nvSpPr>
        <p:spPr>
          <a:xfrm>
            <a:off x="4598060" y="3455060"/>
            <a:ext cx="130759" cy="130759"/>
          </a:xfrm>
          <a:prstGeom prst="ellipse">
            <a:avLst/>
          </a:prstGeom>
          <a:solidFill>
            <a:srgbClr val="FFFFFF"/>
          </a:solidFill>
          <a:ln w="1524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Oval 121"/>
          <p:cNvSpPr/>
          <p:nvPr/>
        </p:nvSpPr>
        <p:spPr>
          <a:xfrm>
            <a:off x="4598060" y="3823563"/>
            <a:ext cx="130759" cy="130759"/>
          </a:xfrm>
          <a:prstGeom prst="ellipse">
            <a:avLst/>
          </a:prstGeom>
          <a:solidFill>
            <a:srgbClr val="FFFFFF"/>
          </a:solidFill>
          <a:ln w="1524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Oval 122"/>
          <p:cNvSpPr/>
          <p:nvPr/>
        </p:nvSpPr>
        <p:spPr>
          <a:xfrm>
            <a:off x="4942789" y="3276752"/>
            <a:ext cx="130759" cy="130759"/>
          </a:xfrm>
          <a:prstGeom prst="ellipse">
            <a:avLst/>
          </a:prstGeom>
          <a:solidFill>
            <a:srgbClr val="FFFFFF"/>
          </a:solidFill>
          <a:ln w="1524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Oval 123"/>
          <p:cNvSpPr/>
          <p:nvPr/>
        </p:nvSpPr>
        <p:spPr>
          <a:xfrm>
            <a:off x="4942789" y="3633368"/>
            <a:ext cx="130759" cy="130759"/>
          </a:xfrm>
          <a:prstGeom prst="ellipse">
            <a:avLst/>
          </a:prstGeom>
          <a:solidFill>
            <a:srgbClr val="FFFFFF"/>
          </a:solidFill>
          <a:ln w="1524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Label: Published model"/>
          <p:cNvSpPr txBox="1"/>
          <p:nvPr/>
        </p:nvSpPr>
        <p:spPr>
          <a:xfrm>
            <a:off x="3474720" y="4645152"/>
            <a:ext cx="2377440" cy="420624"/>
          </a:xfrm>
          <a:prstGeom prst="rect">
            <a:avLst/>
          </a:prstGeom>
          <a:noFill/>
        </p:spPr>
        <p:txBody>
          <a:bodyPr wrap="square" lIns="0" rIns="0" tIns="0" bIns="0" anchor="ctr">
            <a:spAutoFit/>
          </a:bodyPr>
          <a:lstStyle/>
          <a:p>
            <a:pPr algn="ctr"/>
            <a:r>
              <a:rPr sz="1800" b="1" lang="en-US">
                <a:solidFill>
                  <a:srgbClr val="7446A6"/>
                </a:solidFill>
                <a:latin typeface="Arial"/>
              </a:rPr>
              <a:t>Published model</a:t>
            </a:r>
          </a:p>
        </p:txBody>
      </p:sp>
      <p:sp>
        <p:nvSpPr>
          <p:cNvPr id="126" name="Rounded Rectangle 125"/>
          <p:cNvSpPr/>
          <p:nvPr/>
        </p:nvSpPr>
        <p:spPr>
          <a:xfrm>
            <a:off x="7178954" y="2642616"/>
            <a:ext cx="546811" cy="410108"/>
          </a:xfrm>
          <a:prstGeom prst="roundRect">
            <a:avLst/>
          </a:prstGeom>
          <a:solidFill>
            <a:srgbClr val="FFFFFF"/>
          </a:solidFill>
          <a:ln w="1778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Oval 126"/>
          <p:cNvSpPr/>
          <p:nvPr/>
        </p:nvSpPr>
        <p:spPr>
          <a:xfrm>
            <a:off x="7307244" y="2781421"/>
            <a:ext cx="69402" cy="69402"/>
          </a:xfrm>
          <a:prstGeom prst="ellipse">
            <a:avLst/>
          </a:prstGeom>
          <a:solidFill>
            <a:srgbClr val="1764A1"/>
          </a:solidFill>
          <a:ln w="1016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Oval 127"/>
          <p:cNvSpPr/>
          <p:nvPr/>
        </p:nvSpPr>
        <p:spPr>
          <a:xfrm>
            <a:off x="7528072" y="2781421"/>
            <a:ext cx="69402" cy="69402"/>
          </a:xfrm>
          <a:prstGeom prst="ellipse">
            <a:avLst/>
          </a:prstGeom>
          <a:solidFill>
            <a:srgbClr val="1764A1"/>
          </a:solidFill>
          <a:ln w="1016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9" name="Flow"/>
          <p:cNvCxnSpPr/>
          <p:nvPr/>
        </p:nvCxnSpPr>
        <p:spPr>
          <a:xfrm>
            <a:off x="7357719" y="2958084"/>
            <a:ext cx="189281" cy="0"/>
          </a:xfrm>
          <a:prstGeom prst="line">
            <a:avLst/>
          </a:prstGeom>
          <a:ln w="1524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130" name="Flow"/>
          <p:cNvCxnSpPr/>
          <p:nvPr/>
        </p:nvCxnSpPr>
        <p:spPr>
          <a:xfrm flipV="1">
            <a:off x="7452360" y="2526944"/>
            <a:ext cx="0" cy="115672"/>
          </a:xfrm>
          <a:prstGeom prst="line">
            <a:avLst/>
          </a:prstGeom>
          <a:ln w="15240">
            <a:solidFill>
              <a:srgbClr val="1764A1"/>
            </a:solidFill>
          </a:ln>
        </p:spPr>
        <p:style>
          <a:lnRef idx="2">
            <a:schemeClr val="accent1"/>
          </a:lnRef>
          <a:fillRef idx="0">
            <a:schemeClr val="accent1"/>
          </a:fillRef>
          <a:effectRef idx="1">
            <a:schemeClr val="accent1"/>
          </a:effectRef>
          <a:fontRef idx="minor">
            <a:schemeClr val="tx1"/>
          </a:fontRef>
        </p:style>
      </p:cxnSp>
      <p:sp>
        <p:nvSpPr>
          <p:cNvPr id="131" name="Oval 130"/>
          <p:cNvSpPr/>
          <p:nvPr/>
        </p:nvSpPr>
        <p:spPr>
          <a:xfrm>
            <a:off x="7410297" y="2442819"/>
            <a:ext cx="84124" cy="84124"/>
          </a:xfrm>
          <a:prstGeom prst="ellipse">
            <a:avLst/>
          </a:prstGeom>
          <a:solidFill>
            <a:srgbClr val="FFFFFF"/>
          </a:solidFill>
          <a:ln w="1397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Label: Agent"/>
          <p:cNvSpPr txBox="1"/>
          <p:nvPr/>
        </p:nvSpPr>
        <p:spPr>
          <a:xfrm>
            <a:off x="7827264" y="2706624"/>
            <a:ext cx="950976" cy="310896"/>
          </a:xfrm>
          <a:prstGeom prst="rect">
            <a:avLst/>
          </a:prstGeom>
          <a:noFill/>
        </p:spPr>
        <p:txBody>
          <a:bodyPr wrap="square" lIns="0" rIns="0" tIns="0" bIns="0" anchor="ctr">
            <a:spAutoFit/>
          </a:bodyPr>
          <a:lstStyle/>
          <a:p>
            <a:pPr algn="ctr"/>
            <a:r>
              <a:rPr sz="1700" b="1" lang="en-US">
                <a:solidFill>
                  <a:srgbClr val="1764A1"/>
                </a:solidFill>
                <a:latin typeface="Arial"/>
              </a:rPr>
              <a:t>Agent</a:t>
            </a:r>
          </a:p>
        </p:txBody>
      </p:sp>
      <p:cxnSp>
        <p:nvCxnSpPr>
          <p:cNvPr id="133" name="Flow"/>
          <p:cNvCxnSpPr/>
          <p:nvPr/>
        </p:nvCxnSpPr>
        <p:spPr>
          <a:xfrm>
            <a:off x="7452360" y="3191256"/>
            <a:ext cx="0" cy="521207"/>
          </a:xfrm>
          <a:prstGeom prst="line">
            <a:avLst/>
          </a:prstGeom>
          <a:ln w="25400">
            <a:solidFill>
              <a:srgbClr val="1764A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4" name="Label: MCP"/>
          <p:cNvSpPr txBox="1"/>
          <p:nvPr/>
        </p:nvSpPr>
        <p:spPr>
          <a:xfrm>
            <a:off x="7626096" y="3300984"/>
            <a:ext cx="667512" cy="292608"/>
          </a:xfrm>
          <a:prstGeom prst="rect">
            <a:avLst/>
          </a:prstGeom>
          <a:noFill/>
        </p:spPr>
        <p:txBody>
          <a:bodyPr wrap="square" lIns="0" rIns="0" tIns="0" bIns="0" anchor="ctr">
            <a:spAutoFit/>
          </a:bodyPr>
          <a:lstStyle/>
          <a:p>
            <a:pPr algn="ctr"/>
            <a:r>
              <a:rPr sz="1500" b="1" lang="en-US">
                <a:solidFill>
                  <a:srgbClr val="1764A1"/>
                </a:solidFill>
                <a:latin typeface="Arial"/>
              </a:rPr>
              <a:t>MCP</a:t>
            </a:r>
          </a:p>
        </p:txBody>
      </p:sp>
      <p:sp>
        <p:nvSpPr>
          <p:cNvPr id="135" name="Node: Inference"/>
          <p:cNvSpPr/>
          <p:nvPr/>
        </p:nvSpPr>
        <p:spPr>
          <a:xfrm>
            <a:off x="6519672" y="3753611"/>
            <a:ext cx="1865376" cy="594360"/>
          </a:xfrm>
          <a:prstGeom prst="roundRect">
            <a:avLst/>
          </a:prstGeom>
          <a:solidFill>
            <a:srgbClr val="EDF4FA"/>
          </a:solidFill>
          <a:ln w="1778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Label: Inference"/>
          <p:cNvSpPr txBox="1"/>
          <p:nvPr/>
        </p:nvSpPr>
        <p:spPr>
          <a:xfrm>
            <a:off x="6583680" y="3781044"/>
            <a:ext cx="1737360" cy="539496"/>
          </a:xfrm>
          <a:prstGeom prst="rect">
            <a:avLst/>
          </a:prstGeom>
          <a:noFill/>
        </p:spPr>
        <p:txBody>
          <a:bodyPr wrap="square" lIns="0" rIns="0" tIns="0" bIns="0" anchor="ctr">
            <a:spAutoFit/>
          </a:bodyPr>
          <a:lstStyle/>
          <a:p>
            <a:pPr algn="ctr"/>
            <a:r>
              <a:rPr sz="2000" b="1" lang="en-US">
                <a:solidFill>
                  <a:srgbClr val="1764A1"/>
                </a:solidFill>
                <a:latin typeface="Arial"/>
              </a:rPr>
              <a:t>Inference</a:t>
            </a:r>
          </a:p>
        </p:txBody>
      </p:sp>
      <p:sp>
        <p:nvSpPr>
          <p:cNvPr id="137" name="Label: Attested execution"/>
          <p:cNvSpPr txBox="1"/>
          <p:nvPr/>
        </p:nvSpPr>
        <p:spPr>
          <a:xfrm>
            <a:off x="6263640" y="4645152"/>
            <a:ext cx="2377440" cy="420624"/>
          </a:xfrm>
          <a:prstGeom prst="rect">
            <a:avLst/>
          </a:prstGeom>
          <a:noFill/>
        </p:spPr>
        <p:txBody>
          <a:bodyPr wrap="square" lIns="0" rIns="0" tIns="0" bIns="0" anchor="ctr">
            <a:spAutoFit/>
          </a:bodyPr>
          <a:lstStyle/>
          <a:p>
            <a:pPr algn="ctr"/>
            <a:r>
              <a:rPr sz="1800" b="1" lang="en-US">
                <a:solidFill>
                  <a:srgbClr val="1764A1"/>
                </a:solidFill>
                <a:latin typeface="Arial"/>
              </a:rPr>
              <a:t>Attested execution</a:t>
            </a:r>
          </a:p>
        </p:txBody>
      </p:sp>
      <p:sp>
        <p:nvSpPr>
          <p:cNvPr id="138" name="Oval 137"/>
          <p:cNvSpPr/>
          <p:nvPr/>
        </p:nvSpPr>
        <p:spPr>
          <a:xfrm>
            <a:off x="9674352" y="2935224"/>
            <a:ext cx="1170432" cy="1170432"/>
          </a:xfrm>
          <a:prstGeom prst="ellipse">
            <a:avLst/>
          </a:prstGeom>
          <a:solidFill>
            <a:srgbClr val="EDF4FA"/>
          </a:solidFill>
          <a:ln w="1524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Rectangle 138"/>
          <p:cNvSpPr/>
          <p:nvPr/>
        </p:nvSpPr>
        <p:spPr>
          <a:xfrm>
            <a:off x="10090861" y="3059308"/>
            <a:ext cx="562356" cy="697321"/>
          </a:xfrm>
          <a:prstGeom prst="rect">
            <a:avLst/>
          </a:prstGeom>
          <a:solidFill>
            <a:srgbClr val="FFFFFF"/>
          </a:solidFill>
          <a:ln w="1524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Rectangle 139"/>
          <p:cNvSpPr/>
          <p:nvPr/>
        </p:nvSpPr>
        <p:spPr>
          <a:xfrm>
            <a:off x="10034625" y="3115543"/>
            <a:ext cx="562356" cy="697321"/>
          </a:xfrm>
          <a:prstGeom prst="rect">
            <a:avLst/>
          </a:prstGeom>
          <a:solidFill>
            <a:srgbClr val="FFFFFF"/>
          </a:solidFill>
          <a:ln w="1524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Rectangle 140"/>
          <p:cNvSpPr/>
          <p:nvPr/>
        </p:nvSpPr>
        <p:spPr>
          <a:xfrm>
            <a:off x="9978390" y="3171779"/>
            <a:ext cx="562356" cy="697321"/>
          </a:xfrm>
          <a:prstGeom prst="rect">
            <a:avLst/>
          </a:prstGeom>
          <a:solidFill>
            <a:srgbClr val="FFFFFF"/>
          </a:solidFill>
          <a:ln w="1524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2" name="Flow"/>
          <p:cNvCxnSpPr/>
          <p:nvPr/>
        </p:nvCxnSpPr>
        <p:spPr>
          <a:xfrm>
            <a:off x="10090861" y="3362980"/>
            <a:ext cx="326166" cy="0"/>
          </a:xfrm>
          <a:prstGeom prst="line">
            <a:avLst/>
          </a:prstGeom>
          <a:ln w="1524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143" name="Flow"/>
          <p:cNvCxnSpPr/>
          <p:nvPr/>
        </p:nvCxnSpPr>
        <p:spPr>
          <a:xfrm>
            <a:off x="10090861" y="3520440"/>
            <a:ext cx="326166" cy="0"/>
          </a:xfrm>
          <a:prstGeom prst="line">
            <a:avLst/>
          </a:prstGeom>
          <a:ln w="1524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144" name="Flow"/>
          <p:cNvCxnSpPr/>
          <p:nvPr/>
        </p:nvCxnSpPr>
        <p:spPr>
          <a:xfrm>
            <a:off x="10090861" y="3677899"/>
            <a:ext cx="326166" cy="0"/>
          </a:xfrm>
          <a:prstGeom prst="line">
            <a:avLst/>
          </a:prstGeom>
          <a:ln w="15240">
            <a:solidFill>
              <a:srgbClr val="1764A1"/>
            </a:solidFill>
          </a:ln>
        </p:spPr>
        <p:style>
          <a:lnRef idx="2">
            <a:schemeClr val="accent1"/>
          </a:lnRef>
          <a:fillRef idx="0">
            <a:schemeClr val="accent1"/>
          </a:fillRef>
          <a:effectRef idx="1">
            <a:schemeClr val="accent1"/>
          </a:effectRef>
          <a:fontRef idx="minor">
            <a:schemeClr val="tx1"/>
          </a:fontRef>
        </p:style>
      </p:cxnSp>
      <p:sp>
        <p:nvSpPr>
          <p:cNvPr id="145" name="Label: Transparency log"/>
          <p:cNvSpPr txBox="1"/>
          <p:nvPr/>
        </p:nvSpPr>
        <p:spPr>
          <a:xfrm>
            <a:off x="9034272" y="4645152"/>
            <a:ext cx="2450592" cy="420624"/>
          </a:xfrm>
          <a:prstGeom prst="rect">
            <a:avLst/>
          </a:prstGeom>
          <a:noFill/>
        </p:spPr>
        <p:txBody>
          <a:bodyPr wrap="square" lIns="0" rIns="0" tIns="0" bIns="0" anchor="ctr">
            <a:spAutoFit/>
          </a:bodyPr>
          <a:lstStyle/>
          <a:p>
            <a:pPr algn="ctr"/>
            <a:r>
              <a:rPr sz="1800" b="1" lang="en-US">
                <a:solidFill>
                  <a:srgbClr val="1764A1"/>
                </a:solidFill>
                <a:latin typeface="Arial"/>
              </a:rPr>
              <a:t>Transparency log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57784" y="292608"/>
            <a:ext cx="8823960" cy="566928"/>
          </a:xfrm>
          <a:prstGeom prst="rect">
            <a:avLst/>
          </a:prstGeom>
          <a:noFill/>
        </p:spPr>
        <p:txBody>
          <a:bodyPr wrap="square" lIns="18288" rIns="18288" tIns="18288" bIns="18288" anchor="t">
            <a:spAutoFit/>
          </a:bodyPr>
          <a:lstStyle/>
          <a:p>
            <a:pPr algn="l"/>
            <a:r>
              <a:rPr sz="2150" b="0" lang="en-US">
                <a:solidFill>
                  <a:srgbClr val="434343"/>
                </a:solidFill>
                <a:latin typeface="Arial"/>
              </a:rPr>
              <a:t>The model and the request meet at inference</a:t>
            </a:r>
          </a:p>
        </p:txBody>
      </p:sp>
      <p:sp>
        <p:nvSpPr>
          <p:cNvPr id="3" name="TextBox 2"/>
          <p:cNvSpPr txBox="1"/>
          <p:nvPr/>
        </p:nvSpPr>
        <p:spPr>
          <a:xfrm>
            <a:off x="566928" y="932688"/>
            <a:ext cx="8869680" cy="201168"/>
          </a:xfrm>
          <a:prstGeom prst="rect">
            <a:avLst/>
          </a:prstGeom>
          <a:noFill/>
        </p:spPr>
        <p:txBody>
          <a:bodyPr wrap="square" lIns="18288" rIns="18288" tIns="18288" bIns="18288" anchor="t">
            <a:spAutoFit/>
          </a:bodyPr>
          <a:lstStyle/>
          <a:p>
            <a:pPr algn="l"/>
            <a:r>
              <a:rPr sz="950" b="1" lang="en-US">
                <a:solidFill>
                  <a:srgbClr val="C40D1E"/>
                </a:solidFill>
                <a:latin typeface="Arial"/>
              </a:rPr>
              <a:t/>
            </a:r>
          </a:p>
        </p:txBody>
      </p:sp>
      <p:sp>
        <p:nvSpPr>
          <p:cNvPr id="4" name="Rectangle 3"/>
          <p:cNvSpPr/>
          <p:nvPr/>
        </p:nvSpPr>
        <p:spPr>
          <a:xfrm>
            <a:off x="557784" y="1188720"/>
            <a:ext cx="10927080" cy="16459"/>
          </a:xfrm>
          <a:prstGeom prst="rect">
            <a:avLst/>
          </a:prstGeom>
          <a:solidFill>
            <a:srgbClr val="C4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91072"/>
            <a:ext cx="914400" cy="201168"/>
          </a:xfrm>
          <a:prstGeom prst="rect">
            <a:avLst/>
          </a:prstGeom>
          <a:noFill/>
        </p:spPr>
        <p:txBody>
          <a:bodyPr wrap="square" lIns="18288" rIns="18288" tIns="18288" bIns="18288" anchor="t">
            <a:spAutoFit/>
          </a:bodyPr>
          <a:lstStyle/>
          <a:p>
            <a:pPr algn="l"/>
            <a:r>
              <a:rPr sz="950" b="0" lang="en-US">
                <a:solidFill>
                  <a:srgbClr val="FFFFFF"/>
                </a:solidFill>
                <a:latin typeface="Arial"/>
              </a:rPr>
              <a:t>Concept D</a:t>
            </a:r>
          </a:p>
        </p:txBody>
      </p:sp>
      <p:sp>
        <p:nvSpPr>
          <p:cNvPr id="6" name="TextBox 5"/>
          <p:cNvSpPr txBox="1"/>
          <p:nvPr/>
        </p:nvSpPr>
        <p:spPr>
          <a:xfrm>
            <a:off x="1600200" y="6291072"/>
            <a:ext cx="8549640" cy="201168"/>
          </a:xfrm>
          <a:prstGeom prst="rect">
            <a:avLst/>
          </a:prstGeom>
          <a:noFill/>
        </p:spPr>
        <p:txBody>
          <a:bodyPr wrap="square" lIns="18288" rIns="18288" tIns="18288" bIns="18288" anchor="t">
            <a:spAutoFit/>
          </a:bodyPr>
          <a:lstStyle/>
          <a:p>
            <a:pPr algn="l"/>
            <a:r>
              <a:rPr sz="850" b="0" lang="en-US">
                <a:solidFill>
                  <a:srgbClr val="FFFFFF"/>
                </a:solidFill>
                <a:latin typeface="Arial"/>
              </a:rPr>
              <a:t>Ramon Mehrpoya  |  Master's Thesis  |  Verifiable Decentralized Federated Machine Learning and Inference for AI Agent Systems  |  VITA-FL</a:t>
            </a:r>
          </a:p>
        </p:txBody>
      </p:sp>
      <p:sp>
        <p:nvSpPr>
          <p:cNvPr id="7" name="TextBox 6"/>
          <p:cNvSpPr txBox="1"/>
          <p:nvPr/>
        </p:nvSpPr>
        <p:spPr>
          <a:xfrm>
            <a:off x="10241280" y="6291072"/>
            <a:ext cx="1399032" cy="201168"/>
          </a:xfrm>
          <a:prstGeom prst="rect">
            <a:avLst/>
          </a:prstGeom>
          <a:noFill/>
        </p:spPr>
        <p:txBody>
          <a:bodyPr wrap="square" lIns="18288" rIns="18288" tIns="18288" bIns="18288" anchor="t">
            <a:spAutoFit/>
          </a:bodyPr>
          <a:lstStyle/>
          <a:p>
            <a:pPr algn="r"/>
            <a:r>
              <a:rPr sz="850" b="0" lang="en-US">
                <a:solidFill>
                  <a:srgbClr val="FFFFFF"/>
                </a:solidFill>
                <a:latin typeface="Arial"/>
              </a:rPr>
              <a:t>20 September 2026</a:t>
            </a:r>
          </a:p>
        </p:txBody>
      </p:sp>
      <p:sp>
        <p:nvSpPr>
          <p:cNvPr id="8" name="Domain navigation: background"/>
          <p:cNvSpPr/>
          <p:nvPr/>
        </p:nvSpPr>
        <p:spPr>
          <a:xfrm>
            <a:off x="9479280" y="472440"/>
            <a:ext cx="1036320" cy="28956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main navigation: DFL badge"/>
          <p:cNvSpPr/>
          <p:nvPr/>
        </p:nvSpPr>
        <p:spPr>
          <a:xfrm>
            <a:off x="9509760" y="502920"/>
            <a:ext cx="411480" cy="228600"/>
          </a:xfrm>
          <a:prstGeom prst="rect">
            <a:avLst/>
          </a:prstGeom>
          <a:solidFill>
            <a:srgbClr val="207548"/>
          </a:solidFill>
          <a:ln w="6985">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main navigation: DFL label"/>
          <p:cNvSpPr txBox="1"/>
          <p:nvPr/>
        </p:nvSpPr>
        <p:spPr>
          <a:xfrm>
            <a:off x="9509760" y="502920"/>
            <a:ext cx="411480" cy="228600"/>
          </a:xfrm>
          <a:prstGeom prst="rect">
            <a:avLst/>
          </a:prstGeom>
          <a:noFill/>
        </p:spPr>
        <p:txBody>
          <a:bodyPr wrap="square" lIns="0" rIns="0" tIns="0" bIns="0" anchor="ctr">
            <a:spAutoFit/>
          </a:bodyPr>
          <a:lstStyle/>
          <a:p>
            <a:pPr algn="ctr"/>
            <a:r>
              <a:rPr sz="840" b="1" lang="en-US">
                <a:solidFill>
                  <a:srgbClr val="FFFFFF"/>
                </a:solidFill>
                <a:latin typeface="Arial"/>
              </a:rPr>
              <a:t>DFL</a:t>
            </a:r>
          </a:p>
        </p:txBody>
      </p:sp>
      <p:sp>
        <p:nvSpPr>
          <p:cNvPr id="11" name="Domain navigation: Agent badge"/>
          <p:cNvSpPr/>
          <p:nvPr/>
        </p:nvSpPr>
        <p:spPr>
          <a:xfrm>
            <a:off x="9982200" y="502920"/>
            <a:ext cx="502920" cy="228600"/>
          </a:xfrm>
          <a:prstGeom prst="rect">
            <a:avLst/>
          </a:prstGeom>
          <a:solidFill>
            <a:srgbClr val="1764A1"/>
          </a:solidFill>
          <a:ln w="6985">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main navigation: Agent label"/>
          <p:cNvSpPr txBox="1"/>
          <p:nvPr/>
        </p:nvSpPr>
        <p:spPr>
          <a:xfrm>
            <a:off x="9982200" y="502920"/>
            <a:ext cx="502920" cy="228600"/>
          </a:xfrm>
          <a:prstGeom prst="rect">
            <a:avLst/>
          </a:prstGeom>
          <a:noFill/>
        </p:spPr>
        <p:txBody>
          <a:bodyPr wrap="square" lIns="0" rIns="0" tIns="0" bIns="0" anchor="ctr">
            <a:spAutoFit/>
          </a:bodyPr>
          <a:lstStyle/>
          <a:p>
            <a:pPr algn="ctr"/>
            <a:r>
              <a:rPr sz="840" b="1" lang="en-US">
                <a:solidFill>
                  <a:srgbClr val="FFFFFF"/>
                </a:solidFill>
                <a:latin typeface="Arial"/>
              </a:rPr>
              <a:t>Agent</a:t>
            </a:r>
          </a:p>
        </p:txBody>
      </p:sp>
      <p:sp>
        <p:nvSpPr>
          <p:cNvPr id="13" name="Rounded Rectangle 12"/>
          <p:cNvSpPr/>
          <p:nvPr/>
        </p:nvSpPr>
        <p:spPr>
          <a:xfrm>
            <a:off x="685800" y="1618488"/>
            <a:ext cx="5724144" cy="1618488"/>
          </a:xfrm>
          <a:prstGeom prst="roundRect">
            <a:avLst/>
          </a:prstGeom>
          <a:solidFill>
            <a:srgbClr val="F6FAF7"/>
          </a:solidFill>
          <a:ln w="889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85800" y="3749039"/>
            <a:ext cx="5724144" cy="1554480"/>
          </a:xfrm>
          <a:prstGeom prst="roundRect">
            <a:avLst/>
          </a:prstGeom>
          <a:solidFill>
            <a:srgbClr val="F5F9FC"/>
          </a:solidFill>
          <a:ln w="889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 name="Editable circular flow"/>
          <p:cNvCxnSpPr/>
          <p:nvPr/>
        </p:nvCxnSpPr>
        <p:spPr>
          <a:xfrm>
            <a:off x="1904215" y="1977678"/>
            <a:ext cx="30825" cy="8259"/>
          </a:xfrm>
          <a:prstGeom prst="line">
            <a:avLst/>
          </a:prstGeom>
          <a:ln w="2667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16" name="Editable circular flow"/>
          <p:cNvCxnSpPr/>
          <p:nvPr/>
        </p:nvCxnSpPr>
        <p:spPr>
          <a:xfrm>
            <a:off x="1935040" y="1985937"/>
            <a:ext cx="30173" cy="10390"/>
          </a:xfrm>
          <a:prstGeom prst="line">
            <a:avLst/>
          </a:prstGeom>
          <a:ln w="2667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17" name="Editable circular flow"/>
          <p:cNvCxnSpPr/>
          <p:nvPr/>
        </p:nvCxnSpPr>
        <p:spPr>
          <a:xfrm>
            <a:off x="1965213" y="1996327"/>
            <a:ext cx="29376" cy="12469"/>
          </a:xfrm>
          <a:prstGeom prst="line">
            <a:avLst/>
          </a:prstGeom>
          <a:ln w="2667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18" name="Editable circular flow"/>
          <p:cNvCxnSpPr/>
          <p:nvPr/>
        </p:nvCxnSpPr>
        <p:spPr>
          <a:xfrm>
            <a:off x="1994589" y="2008796"/>
            <a:ext cx="28433" cy="14487"/>
          </a:xfrm>
          <a:prstGeom prst="line">
            <a:avLst/>
          </a:prstGeom>
          <a:ln w="2667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19" name="Editable circular flow"/>
          <p:cNvCxnSpPr/>
          <p:nvPr/>
        </p:nvCxnSpPr>
        <p:spPr>
          <a:xfrm>
            <a:off x="2023022" y="2023283"/>
            <a:ext cx="27354" cy="16436"/>
          </a:xfrm>
          <a:prstGeom prst="line">
            <a:avLst/>
          </a:prstGeom>
          <a:ln w="2667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0" name="Editable circular flow"/>
          <p:cNvCxnSpPr/>
          <p:nvPr/>
        </p:nvCxnSpPr>
        <p:spPr>
          <a:xfrm>
            <a:off x="2050376" y="2039719"/>
            <a:ext cx="26141" cy="18304"/>
          </a:xfrm>
          <a:prstGeom prst="line">
            <a:avLst/>
          </a:prstGeom>
          <a:ln w="2667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1" name="Editable circular flow"/>
          <p:cNvCxnSpPr/>
          <p:nvPr/>
        </p:nvCxnSpPr>
        <p:spPr>
          <a:xfrm>
            <a:off x="2076517" y="2058023"/>
            <a:ext cx="24801" cy="20083"/>
          </a:xfrm>
          <a:prstGeom prst="line">
            <a:avLst/>
          </a:prstGeom>
          <a:ln w="2667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2" name="Editable circular flow"/>
          <p:cNvCxnSpPr/>
          <p:nvPr/>
        </p:nvCxnSpPr>
        <p:spPr>
          <a:xfrm>
            <a:off x="2101318" y="2078106"/>
            <a:ext cx="23339" cy="21764"/>
          </a:xfrm>
          <a:prstGeom prst="line">
            <a:avLst/>
          </a:prstGeom>
          <a:ln w="2667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3" name="Editable circular flow"/>
          <p:cNvCxnSpPr/>
          <p:nvPr/>
        </p:nvCxnSpPr>
        <p:spPr>
          <a:xfrm>
            <a:off x="2124657" y="2099870"/>
            <a:ext cx="21764" cy="23339"/>
          </a:xfrm>
          <a:prstGeom prst="line">
            <a:avLst/>
          </a:prstGeom>
          <a:ln w="2667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4" name="Editable circular flow"/>
          <p:cNvCxnSpPr/>
          <p:nvPr/>
        </p:nvCxnSpPr>
        <p:spPr>
          <a:xfrm>
            <a:off x="2146421" y="2123209"/>
            <a:ext cx="20083" cy="24801"/>
          </a:xfrm>
          <a:prstGeom prst="line">
            <a:avLst/>
          </a:prstGeom>
          <a:ln w="2667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5" name="Editable circular flow"/>
          <p:cNvCxnSpPr/>
          <p:nvPr/>
        </p:nvCxnSpPr>
        <p:spPr>
          <a:xfrm>
            <a:off x="2166504" y="2148010"/>
            <a:ext cx="18304" cy="26141"/>
          </a:xfrm>
          <a:prstGeom prst="line">
            <a:avLst/>
          </a:prstGeom>
          <a:ln w="2667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6" name="Editable circular flow"/>
          <p:cNvCxnSpPr/>
          <p:nvPr/>
        </p:nvCxnSpPr>
        <p:spPr>
          <a:xfrm>
            <a:off x="2184808" y="2174151"/>
            <a:ext cx="16436" cy="27354"/>
          </a:xfrm>
          <a:prstGeom prst="line">
            <a:avLst/>
          </a:prstGeom>
          <a:ln w="2667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7" name="Editable circular flow"/>
          <p:cNvCxnSpPr/>
          <p:nvPr/>
        </p:nvCxnSpPr>
        <p:spPr>
          <a:xfrm>
            <a:off x="2201244" y="2201505"/>
            <a:ext cx="14487" cy="28433"/>
          </a:xfrm>
          <a:prstGeom prst="line">
            <a:avLst/>
          </a:prstGeom>
          <a:ln w="2667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8" name="Editable circular flow"/>
          <p:cNvCxnSpPr/>
          <p:nvPr/>
        </p:nvCxnSpPr>
        <p:spPr>
          <a:xfrm>
            <a:off x="2215731" y="2229938"/>
            <a:ext cx="12469" cy="29376"/>
          </a:xfrm>
          <a:prstGeom prst="line">
            <a:avLst/>
          </a:prstGeom>
          <a:ln w="2667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9" name="Editable circular flow"/>
          <p:cNvCxnSpPr/>
          <p:nvPr/>
        </p:nvCxnSpPr>
        <p:spPr>
          <a:xfrm>
            <a:off x="2228200" y="2259314"/>
            <a:ext cx="10390" cy="30173"/>
          </a:xfrm>
          <a:prstGeom prst="line">
            <a:avLst/>
          </a:prstGeom>
          <a:ln w="2667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0" name="Editable circular flow"/>
          <p:cNvCxnSpPr/>
          <p:nvPr/>
        </p:nvCxnSpPr>
        <p:spPr>
          <a:xfrm>
            <a:off x="2238590" y="2289487"/>
            <a:ext cx="8259" cy="30825"/>
          </a:xfrm>
          <a:prstGeom prst="line">
            <a:avLst/>
          </a:prstGeom>
          <a:ln w="2667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1" name="Editable circular flow"/>
          <p:cNvCxnSpPr/>
          <p:nvPr/>
        </p:nvCxnSpPr>
        <p:spPr>
          <a:xfrm>
            <a:off x="2246849" y="2320312"/>
            <a:ext cx="6090" cy="31326"/>
          </a:xfrm>
          <a:prstGeom prst="line">
            <a:avLst/>
          </a:prstGeom>
          <a:ln w="2667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2" name="Editable circular flow"/>
          <p:cNvCxnSpPr/>
          <p:nvPr/>
        </p:nvCxnSpPr>
        <p:spPr>
          <a:xfrm>
            <a:off x="2252939" y="2351638"/>
            <a:ext cx="3889" cy="31674"/>
          </a:xfrm>
          <a:prstGeom prst="line">
            <a:avLst/>
          </a:prstGeom>
          <a:ln w="2667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3" name="Editable circular flow"/>
          <p:cNvCxnSpPr/>
          <p:nvPr/>
        </p:nvCxnSpPr>
        <p:spPr>
          <a:xfrm>
            <a:off x="2256828" y="2383312"/>
            <a:ext cx="1670" cy="31868"/>
          </a:xfrm>
          <a:prstGeom prst="line">
            <a:avLst/>
          </a:prstGeom>
          <a:ln w="2667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4" name="Editable circular flow"/>
          <p:cNvCxnSpPr/>
          <p:nvPr/>
        </p:nvCxnSpPr>
        <p:spPr>
          <a:xfrm flipH="1">
            <a:off x="2257941" y="2415180"/>
            <a:ext cx="557" cy="31907"/>
          </a:xfrm>
          <a:prstGeom prst="line">
            <a:avLst/>
          </a:prstGeom>
          <a:ln w="2667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5" name="Editable circular flow"/>
          <p:cNvCxnSpPr/>
          <p:nvPr/>
        </p:nvCxnSpPr>
        <p:spPr>
          <a:xfrm flipH="1">
            <a:off x="2255160" y="2447087"/>
            <a:ext cx="2781" cy="31791"/>
          </a:xfrm>
          <a:prstGeom prst="line">
            <a:avLst/>
          </a:prstGeom>
          <a:ln w="2667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6" name="Editable circular flow"/>
          <p:cNvCxnSpPr/>
          <p:nvPr/>
        </p:nvCxnSpPr>
        <p:spPr>
          <a:xfrm flipH="1">
            <a:off x="2250167" y="2478878"/>
            <a:ext cx="4993" cy="31519"/>
          </a:xfrm>
          <a:prstGeom prst="line">
            <a:avLst/>
          </a:prstGeom>
          <a:ln w="2667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7" name="Editable circular flow"/>
          <p:cNvCxnSpPr/>
          <p:nvPr/>
        </p:nvCxnSpPr>
        <p:spPr>
          <a:xfrm flipH="1">
            <a:off x="2242989" y="2510397"/>
            <a:ext cx="7178" cy="31095"/>
          </a:xfrm>
          <a:prstGeom prst="line">
            <a:avLst/>
          </a:prstGeom>
          <a:ln w="26670">
            <a:solidFill>
              <a:srgbClr val="2075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8" name="Editable circular flow"/>
          <p:cNvCxnSpPr/>
          <p:nvPr/>
        </p:nvCxnSpPr>
        <p:spPr>
          <a:xfrm flipH="1">
            <a:off x="2113177" y="2734969"/>
            <a:ext cx="22565" cy="22565"/>
          </a:xfrm>
          <a:prstGeom prst="line">
            <a:avLst/>
          </a:prstGeom>
          <a:ln w="2667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9" name="Editable circular flow"/>
          <p:cNvCxnSpPr/>
          <p:nvPr/>
        </p:nvCxnSpPr>
        <p:spPr>
          <a:xfrm flipH="1">
            <a:off x="2089093" y="2757534"/>
            <a:ext cx="24084" cy="20937"/>
          </a:xfrm>
          <a:prstGeom prst="line">
            <a:avLst/>
          </a:prstGeom>
          <a:ln w="2667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40" name="Editable circular flow"/>
          <p:cNvCxnSpPr/>
          <p:nvPr/>
        </p:nvCxnSpPr>
        <p:spPr>
          <a:xfrm flipH="1">
            <a:off x="2063607" y="2778471"/>
            <a:ext cx="25486" cy="19205"/>
          </a:xfrm>
          <a:prstGeom prst="line">
            <a:avLst/>
          </a:prstGeom>
          <a:ln w="2667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41" name="Editable circular flow"/>
          <p:cNvCxnSpPr/>
          <p:nvPr/>
        </p:nvCxnSpPr>
        <p:spPr>
          <a:xfrm flipH="1">
            <a:off x="2036843" y="2797676"/>
            <a:ext cx="26764" cy="17380"/>
          </a:xfrm>
          <a:prstGeom prst="line">
            <a:avLst/>
          </a:prstGeom>
          <a:ln w="2667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42" name="Editable circular flow"/>
          <p:cNvCxnSpPr/>
          <p:nvPr/>
        </p:nvCxnSpPr>
        <p:spPr>
          <a:xfrm flipH="1">
            <a:off x="2008932" y="2815056"/>
            <a:ext cx="27911" cy="15472"/>
          </a:xfrm>
          <a:prstGeom prst="line">
            <a:avLst/>
          </a:prstGeom>
          <a:ln w="2667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43" name="Editable circular flow"/>
          <p:cNvCxnSpPr/>
          <p:nvPr/>
        </p:nvCxnSpPr>
        <p:spPr>
          <a:xfrm flipH="1">
            <a:off x="1980010" y="2830528"/>
            <a:ext cx="28922" cy="13486"/>
          </a:xfrm>
          <a:prstGeom prst="line">
            <a:avLst/>
          </a:prstGeom>
          <a:ln w="2667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44" name="Editable circular flow"/>
          <p:cNvCxnSpPr/>
          <p:nvPr/>
        </p:nvCxnSpPr>
        <p:spPr>
          <a:xfrm flipH="1">
            <a:off x="1950217" y="2844014"/>
            <a:ext cx="29793" cy="11437"/>
          </a:xfrm>
          <a:prstGeom prst="line">
            <a:avLst/>
          </a:prstGeom>
          <a:ln w="2667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45" name="Editable circular flow"/>
          <p:cNvCxnSpPr/>
          <p:nvPr/>
        </p:nvCxnSpPr>
        <p:spPr>
          <a:xfrm flipH="1">
            <a:off x="1919700" y="2855451"/>
            <a:ext cx="30517" cy="9330"/>
          </a:xfrm>
          <a:prstGeom prst="line">
            <a:avLst/>
          </a:prstGeom>
          <a:ln w="2667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46" name="Editable circular flow"/>
          <p:cNvCxnSpPr/>
          <p:nvPr/>
        </p:nvCxnSpPr>
        <p:spPr>
          <a:xfrm flipH="1">
            <a:off x="1888605" y="2864781"/>
            <a:ext cx="31095" cy="7178"/>
          </a:xfrm>
          <a:prstGeom prst="line">
            <a:avLst/>
          </a:prstGeom>
          <a:ln w="2667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47" name="Editable circular flow"/>
          <p:cNvCxnSpPr/>
          <p:nvPr/>
        </p:nvCxnSpPr>
        <p:spPr>
          <a:xfrm flipH="1">
            <a:off x="1857086" y="2871959"/>
            <a:ext cx="31519" cy="4993"/>
          </a:xfrm>
          <a:prstGeom prst="line">
            <a:avLst/>
          </a:prstGeom>
          <a:ln w="2667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48" name="Editable circular flow"/>
          <p:cNvCxnSpPr/>
          <p:nvPr/>
        </p:nvCxnSpPr>
        <p:spPr>
          <a:xfrm flipH="1">
            <a:off x="1825295" y="2876952"/>
            <a:ext cx="31791" cy="2781"/>
          </a:xfrm>
          <a:prstGeom prst="line">
            <a:avLst/>
          </a:prstGeom>
          <a:ln w="2667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49" name="Editable circular flow"/>
          <p:cNvCxnSpPr/>
          <p:nvPr/>
        </p:nvCxnSpPr>
        <p:spPr>
          <a:xfrm flipH="1">
            <a:off x="1793388" y="2879733"/>
            <a:ext cx="31907" cy="557"/>
          </a:xfrm>
          <a:prstGeom prst="line">
            <a:avLst/>
          </a:prstGeom>
          <a:ln w="2667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50" name="Editable circular flow"/>
          <p:cNvCxnSpPr/>
          <p:nvPr/>
        </p:nvCxnSpPr>
        <p:spPr>
          <a:xfrm flipH="1" flipV="1">
            <a:off x="1761520" y="2878620"/>
            <a:ext cx="31868" cy="1670"/>
          </a:xfrm>
          <a:prstGeom prst="line">
            <a:avLst/>
          </a:prstGeom>
          <a:ln w="2667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51" name="Editable circular flow"/>
          <p:cNvCxnSpPr/>
          <p:nvPr/>
        </p:nvCxnSpPr>
        <p:spPr>
          <a:xfrm flipH="1" flipV="1">
            <a:off x="1729846" y="2874731"/>
            <a:ext cx="31674" cy="3889"/>
          </a:xfrm>
          <a:prstGeom prst="line">
            <a:avLst/>
          </a:prstGeom>
          <a:ln w="2667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52" name="Editable circular flow"/>
          <p:cNvCxnSpPr/>
          <p:nvPr/>
        </p:nvCxnSpPr>
        <p:spPr>
          <a:xfrm flipH="1" flipV="1">
            <a:off x="1698520" y="2868641"/>
            <a:ext cx="31326" cy="6090"/>
          </a:xfrm>
          <a:prstGeom prst="line">
            <a:avLst/>
          </a:prstGeom>
          <a:ln w="2667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53" name="Editable circular flow"/>
          <p:cNvCxnSpPr/>
          <p:nvPr/>
        </p:nvCxnSpPr>
        <p:spPr>
          <a:xfrm flipH="1" flipV="1">
            <a:off x="1667695" y="2860382"/>
            <a:ext cx="30825" cy="8259"/>
          </a:xfrm>
          <a:prstGeom prst="line">
            <a:avLst/>
          </a:prstGeom>
          <a:ln w="2667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54" name="Editable circular flow"/>
          <p:cNvCxnSpPr/>
          <p:nvPr/>
        </p:nvCxnSpPr>
        <p:spPr>
          <a:xfrm flipH="1" flipV="1">
            <a:off x="1637522" y="2849992"/>
            <a:ext cx="30173" cy="10390"/>
          </a:xfrm>
          <a:prstGeom prst="line">
            <a:avLst/>
          </a:prstGeom>
          <a:ln w="2667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55" name="Editable circular flow"/>
          <p:cNvCxnSpPr/>
          <p:nvPr/>
        </p:nvCxnSpPr>
        <p:spPr>
          <a:xfrm flipH="1" flipV="1">
            <a:off x="1608146" y="2837523"/>
            <a:ext cx="29376" cy="12469"/>
          </a:xfrm>
          <a:prstGeom prst="line">
            <a:avLst/>
          </a:prstGeom>
          <a:ln w="2667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56" name="Editable circular flow"/>
          <p:cNvCxnSpPr/>
          <p:nvPr/>
        </p:nvCxnSpPr>
        <p:spPr>
          <a:xfrm flipH="1" flipV="1">
            <a:off x="1579713" y="2823036"/>
            <a:ext cx="28433" cy="14487"/>
          </a:xfrm>
          <a:prstGeom prst="line">
            <a:avLst/>
          </a:prstGeom>
          <a:ln w="2667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57" name="Editable circular flow"/>
          <p:cNvCxnSpPr/>
          <p:nvPr/>
        </p:nvCxnSpPr>
        <p:spPr>
          <a:xfrm flipH="1" flipV="1">
            <a:off x="1552359" y="2806600"/>
            <a:ext cx="27354" cy="16436"/>
          </a:xfrm>
          <a:prstGeom prst="line">
            <a:avLst/>
          </a:prstGeom>
          <a:ln w="2667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58" name="Editable circular flow"/>
          <p:cNvCxnSpPr/>
          <p:nvPr/>
        </p:nvCxnSpPr>
        <p:spPr>
          <a:xfrm flipH="1" flipV="1">
            <a:off x="1526218" y="2788296"/>
            <a:ext cx="26141" cy="18304"/>
          </a:xfrm>
          <a:prstGeom prst="line">
            <a:avLst/>
          </a:prstGeom>
          <a:ln w="2667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59" name="Editable circular flow"/>
          <p:cNvCxnSpPr/>
          <p:nvPr/>
        </p:nvCxnSpPr>
        <p:spPr>
          <a:xfrm flipH="1" flipV="1">
            <a:off x="1501417" y="2768213"/>
            <a:ext cx="24801" cy="20083"/>
          </a:xfrm>
          <a:prstGeom prst="line">
            <a:avLst/>
          </a:prstGeom>
          <a:ln w="2667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60" name="Editable circular flow"/>
          <p:cNvCxnSpPr/>
          <p:nvPr/>
        </p:nvCxnSpPr>
        <p:spPr>
          <a:xfrm flipH="1" flipV="1">
            <a:off x="1478078" y="2746449"/>
            <a:ext cx="23339" cy="21764"/>
          </a:xfrm>
          <a:prstGeom prst="line">
            <a:avLst/>
          </a:prstGeom>
          <a:ln w="26670">
            <a:solidFill>
              <a:srgbClr val="2075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1" name="Editable circular flow"/>
          <p:cNvCxnSpPr/>
          <p:nvPr/>
        </p:nvCxnSpPr>
        <p:spPr>
          <a:xfrm flipH="1" flipV="1">
            <a:off x="1355886" y="2526007"/>
            <a:ext cx="8259" cy="30825"/>
          </a:xfrm>
          <a:prstGeom prst="line">
            <a:avLst/>
          </a:prstGeom>
          <a:ln w="2667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62" name="Editable circular flow"/>
          <p:cNvCxnSpPr/>
          <p:nvPr/>
        </p:nvCxnSpPr>
        <p:spPr>
          <a:xfrm flipH="1" flipV="1">
            <a:off x="1349796" y="2494681"/>
            <a:ext cx="6090" cy="31326"/>
          </a:xfrm>
          <a:prstGeom prst="line">
            <a:avLst/>
          </a:prstGeom>
          <a:ln w="2667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63" name="Editable circular flow"/>
          <p:cNvCxnSpPr/>
          <p:nvPr/>
        </p:nvCxnSpPr>
        <p:spPr>
          <a:xfrm flipH="1" flipV="1">
            <a:off x="1345907" y="2463007"/>
            <a:ext cx="3889" cy="31674"/>
          </a:xfrm>
          <a:prstGeom prst="line">
            <a:avLst/>
          </a:prstGeom>
          <a:ln w="2667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64" name="Editable circular flow"/>
          <p:cNvCxnSpPr/>
          <p:nvPr/>
        </p:nvCxnSpPr>
        <p:spPr>
          <a:xfrm flipH="1" flipV="1">
            <a:off x="1344237" y="2431139"/>
            <a:ext cx="1670" cy="31868"/>
          </a:xfrm>
          <a:prstGeom prst="line">
            <a:avLst/>
          </a:prstGeom>
          <a:ln w="2667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65" name="Editable circular flow"/>
          <p:cNvCxnSpPr/>
          <p:nvPr/>
        </p:nvCxnSpPr>
        <p:spPr>
          <a:xfrm flipV="1">
            <a:off x="1344237" y="2399232"/>
            <a:ext cx="557" cy="31907"/>
          </a:xfrm>
          <a:prstGeom prst="line">
            <a:avLst/>
          </a:prstGeom>
          <a:ln w="2667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66" name="Editable circular flow"/>
          <p:cNvCxnSpPr/>
          <p:nvPr/>
        </p:nvCxnSpPr>
        <p:spPr>
          <a:xfrm flipV="1">
            <a:off x="1344794" y="2367441"/>
            <a:ext cx="2781" cy="31791"/>
          </a:xfrm>
          <a:prstGeom prst="line">
            <a:avLst/>
          </a:prstGeom>
          <a:ln w="2667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67" name="Editable circular flow"/>
          <p:cNvCxnSpPr/>
          <p:nvPr/>
        </p:nvCxnSpPr>
        <p:spPr>
          <a:xfrm flipV="1">
            <a:off x="1347575" y="2335922"/>
            <a:ext cx="4993" cy="31519"/>
          </a:xfrm>
          <a:prstGeom prst="line">
            <a:avLst/>
          </a:prstGeom>
          <a:ln w="2667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68" name="Editable circular flow"/>
          <p:cNvCxnSpPr/>
          <p:nvPr/>
        </p:nvCxnSpPr>
        <p:spPr>
          <a:xfrm flipV="1">
            <a:off x="1352568" y="2304827"/>
            <a:ext cx="7178" cy="31095"/>
          </a:xfrm>
          <a:prstGeom prst="line">
            <a:avLst/>
          </a:prstGeom>
          <a:ln w="2667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69" name="Editable circular flow"/>
          <p:cNvCxnSpPr/>
          <p:nvPr/>
        </p:nvCxnSpPr>
        <p:spPr>
          <a:xfrm flipV="1">
            <a:off x="1359746" y="2274310"/>
            <a:ext cx="9330" cy="30517"/>
          </a:xfrm>
          <a:prstGeom prst="line">
            <a:avLst/>
          </a:prstGeom>
          <a:ln w="2667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70" name="Editable circular flow"/>
          <p:cNvCxnSpPr/>
          <p:nvPr/>
        </p:nvCxnSpPr>
        <p:spPr>
          <a:xfrm flipV="1">
            <a:off x="1369076" y="2244517"/>
            <a:ext cx="11437" cy="29793"/>
          </a:xfrm>
          <a:prstGeom prst="line">
            <a:avLst/>
          </a:prstGeom>
          <a:ln w="2667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71" name="Editable circular flow"/>
          <p:cNvCxnSpPr/>
          <p:nvPr/>
        </p:nvCxnSpPr>
        <p:spPr>
          <a:xfrm flipV="1">
            <a:off x="1380513" y="2215595"/>
            <a:ext cx="13486" cy="28922"/>
          </a:xfrm>
          <a:prstGeom prst="line">
            <a:avLst/>
          </a:prstGeom>
          <a:ln w="2667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72" name="Editable circular flow"/>
          <p:cNvCxnSpPr/>
          <p:nvPr/>
        </p:nvCxnSpPr>
        <p:spPr>
          <a:xfrm flipV="1">
            <a:off x="1393999" y="2187684"/>
            <a:ext cx="15472" cy="27911"/>
          </a:xfrm>
          <a:prstGeom prst="line">
            <a:avLst/>
          </a:prstGeom>
          <a:ln w="2667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73" name="Editable circular flow"/>
          <p:cNvCxnSpPr/>
          <p:nvPr/>
        </p:nvCxnSpPr>
        <p:spPr>
          <a:xfrm flipV="1">
            <a:off x="1409471" y="2160920"/>
            <a:ext cx="17380" cy="26764"/>
          </a:xfrm>
          <a:prstGeom prst="line">
            <a:avLst/>
          </a:prstGeom>
          <a:ln w="2667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74" name="Editable circular flow"/>
          <p:cNvCxnSpPr/>
          <p:nvPr/>
        </p:nvCxnSpPr>
        <p:spPr>
          <a:xfrm flipV="1">
            <a:off x="1426851" y="2135434"/>
            <a:ext cx="19205" cy="25486"/>
          </a:xfrm>
          <a:prstGeom prst="line">
            <a:avLst/>
          </a:prstGeom>
          <a:ln w="2667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75" name="Editable circular flow"/>
          <p:cNvCxnSpPr/>
          <p:nvPr/>
        </p:nvCxnSpPr>
        <p:spPr>
          <a:xfrm flipV="1">
            <a:off x="1446056" y="2111350"/>
            <a:ext cx="20937" cy="24084"/>
          </a:xfrm>
          <a:prstGeom prst="line">
            <a:avLst/>
          </a:prstGeom>
          <a:ln w="2667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76" name="Editable circular flow"/>
          <p:cNvCxnSpPr/>
          <p:nvPr/>
        </p:nvCxnSpPr>
        <p:spPr>
          <a:xfrm flipV="1">
            <a:off x="1466993" y="2088785"/>
            <a:ext cx="22565" cy="22565"/>
          </a:xfrm>
          <a:prstGeom prst="line">
            <a:avLst/>
          </a:prstGeom>
          <a:ln w="2667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77" name="Editable circular flow"/>
          <p:cNvCxnSpPr/>
          <p:nvPr/>
        </p:nvCxnSpPr>
        <p:spPr>
          <a:xfrm flipV="1">
            <a:off x="1489558" y="2067848"/>
            <a:ext cx="24084" cy="20937"/>
          </a:xfrm>
          <a:prstGeom prst="line">
            <a:avLst/>
          </a:prstGeom>
          <a:ln w="2667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78" name="Editable circular flow"/>
          <p:cNvCxnSpPr/>
          <p:nvPr/>
        </p:nvCxnSpPr>
        <p:spPr>
          <a:xfrm flipV="1">
            <a:off x="1513642" y="2048643"/>
            <a:ext cx="25486" cy="19205"/>
          </a:xfrm>
          <a:prstGeom prst="line">
            <a:avLst/>
          </a:prstGeom>
          <a:ln w="2667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79" name="Editable circular flow"/>
          <p:cNvCxnSpPr/>
          <p:nvPr/>
        </p:nvCxnSpPr>
        <p:spPr>
          <a:xfrm flipV="1">
            <a:off x="1539128" y="2031263"/>
            <a:ext cx="26764" cy="17380"/>
          </a:xfrm>
          <a:prstGeom prst="line">
            <a:avLst/>
          </a:prstGeom>
          <a:ln w="2667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80" name="Editable circular flow"/>
          <p:cNvCxnSpPr/>
          <p:nvPr/>
        </p:nvCxnSpPr>
        <p:spPr>
          <a:xfrm flipV="1">
            <a:off x="1565892" y="2015791"/>
            <a:ext cx="27911" cy="15472"/>
          </a:xfrm>
          <a:prstGeom prst="line">
            <a:avLst/>
          </a:prstGeom>
          <a:ln w="2667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81" name="Editable circular flow"/>
          <p:cNvCxnSpPr/>
          <p:nvPr/>
        </p:nvCxnSpPr>
        <p:spPr>
          <a:xfrm flipV="1">
            <a:off x="1593803" y="2002305"/>
            <a:ext cx="28922" cy="13486"/>
          </a:xfrm>
          <a:prstGeom prst="line">
            <a:avLst/>
          </a:prstGeom>
          <a:ln w="2667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82" name="Editable circular flow"/>
          <p:cNvCxnSpPr/>
          <p:nvPr/>
        </p:nvCxnSpPr>
        <p:spPr>
          <a:xfrm flipV="1">
            <a:off x="1622725" y="1990868"/>
            <a:ext cx="29793" cy="11437"/>
          </a:xfrm>
          <a:prstGeom prst="line">
            <a:avLst/>
          </a:prstGeom>
          <a:ln w="2667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83" name="Editable circular flow"/>
          <p:cNvCxnSpPr/>
          <p:nvPr/>
        </p:nvCxnSpPr>
        <p:spPr>
          <a:xfrm flipV="1">
            <a:off x="1652518" y="1981538"/>
            <a:ext cx="30517" cy="9330"/>
          </a:xfrm>
          <a:prstGeom prst="line">
            <a:avLst/>
          </a:prstGeom>
          <a:ln w="26670">
            <a:solidFill>
              <a:srgbClr val="2075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84" name="Oval 83"/>
          <p:cNvSpPr/>
          <p:nvPr/>
        </p:nvSpPr>
        <p:spPr>
          <a:xfrm>
            <a:off x="1664208" y="1828800"/>
            <a:ext cx="274320" cy="274320"/>
          </a:xfrm>
          <a:prstGeom prst="ellipse">
            <a:avLst/>
          </a:prstGeom>
          <a:solidFill>
            <a:srgbClr val="FFFFFF"/>
          </a:solidFill>
          <a:ln w="1778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Oval 84"/>
          <p:cNvSpPr/>
          <p:nvPr/>
        </p:nvSpPr>
        <p:spPr>
          <a:xfrm>
            <a:off x="2060154" y="2514600"/>
            <a:ext cx="274320" cy="274320"/>
          </a:xfrm>
          <a:prstGeom prst="ellipse">
            <a:avLst/>
          </a:prstGeom>
          <a:solidFill>
            <a:srgbClr val="FFFFFF"/>
          </a:solidFill>
          <a:ln w="1778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Oval 85"/>
          <p:cNvSpPr/>
          <p:nvPr/>
        </p:nvSpPr>
        <p:spPr>
          <a:xfrm>
            <a:off x="1268261" y="2514600"/>
            <a:ext cx="274320" cy="274320"/>
          </a:xfrm>
          <a:prstGeom prst="ellipse">
            <a:avLst/>
          </a:prstGeom>
          <a:solidFill>
            <a:srgbClr val="FFFFFF"/>
          </a:solidFill>
          <a:ln w="1778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Label: DFL"/>
          <p:cNvSpPr txBox="1"/>
          <p:nvPr/>
        </p:nvSpPr>
        <p:spPr>
          <a:xfrm>
            <a:off x="1234440" y="2212848"/>
            <a:ext cx="1133856" cy="420624"/>
          </a:xfrm>
          <a:prstGeom prst="rect">
            <a:avLst/>
          </a:prstGeom>
          <a:noFill/>
        </p:spPr>
        <p:txBody>
          <a:bodyPr wrap="square" lIns="0" rIns="0" tIns="0" bIns="0" anchor="ctr">
            <a:spAutoFit/>
          </a:bodyPr>
          <a:lstStyle/>
          <a:p>
            <a:pPr algn="ctr"/>
            <a:r>
              <a:rPr sz="2000" b="1" lang="en-US">
                <a:solidFill>
                  <a:srgbClr val="207548"/>
                </a:solidFill>
                <a:latin typeface="Arial"/>
              </a:rPr>
              <a:t>DFL</a:t>
            </a:r>
          </a:p>
        </p:txBody>
      </p:sp>
      <p:cxnSp>
        <p:nvCxnSpPr>
          <p:cNvPr id="88" name="Flow"/>
          <p:cNvCxnSpPr/>
          <p:nvPr/>
        </p:nvCxnSpPr>
        <p:spPr>
          <a:xfrm>
            <a:off x="2532888" y="2423160"/>
            <a:ext cx="1517903" cy="0"/>
          </a:xfrm>
          <a:prstGeom prst="line">
            <a:avLst/>
          </a:prstGeom>
          <a:ln w="26670">
            <a:solidFill>
              <a:srgbClr val="744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89" name="Label: Publish"/>
          <p:cNvSpPr txBox="1"/>
          <p:nvPr/>
        </p:nvSpPr>
        <p:spPr>
          <a:xfrm>
            <a:off x="2770632" y="1993392"/>
            <a:ext cx="1051560" cy="274320"/>
          </a:xfrm>
          <a:prstGeom prst="rect">
            <a:avLst/>
          </a:prstGeom>
          <a:noFill/>
        </p:spPr>
        <p:txBody>
          <a:bodyPr wrap="square" lIns="0" rIns="0" tIns="0" bIns="0" anchor="ctr">
            <a:spAutoFit/>
          </a:bodyPr>
          <a:lstStyle/>
          <a:p>
            <a:pPr algn="ctr"/>
            <a:r>
              <a:rPr sz="1400" b="0" lang="en-US">
                <a:solidFill>
                  <a:srgbClr val="7446A6"/>
                </a:solidFill>
                <a:latin typeface="Arial"/>
              </a:rPr>
              <a:t>Publish</a:t>
            </a:r>
          </a:p>
        </p:txBody>
      </p:sp>
      <p:sp>
        <p:nvSpPr>
          <p:cNvPr id="90" name="Node: Published / model"/>
          <p:cNvSpPr/>
          <p:nvPr/>
        </p:nvSpPr>
        <p:spPr>
          <a:xfrm>
            <a:off x="4091939" y="1975104"/>
            <a:ext cx="1673352" cy="896112"/>
          </a:xfrm>
          <a:prstGeom prst="roundRect">
            <a:avLst/>
          </a:prstGeom>
          <a:solidFill>
            <a:srgbClr val="F3EEF8"/>
          </a:solidFill>
          <a:ln w="1778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Label: Published / model"/>
          <p:cNvSpPr txBox="1"/>
          <p:nvPr/>
        </p:nvSpPr>
        <p:spPr>
          <a:xfrm>
            <a:off x="4155948" y="2002536"/>
            <a:ext cx="1545336" cy="841247"/>
          </a:xfrm>
          <a:prstGeom prst="rect">
            <a:avLst/>
          </a:prstGeom>
          <a:noFill/>
        </p:spPr>
        <p:txBody>
          <a:bodyPr wrap="square" lIns="0" rIns="0" tIns="0" bIns="0" anchor="ctr">
            <a:spAutoFit/>
          </a:bodyPr>
          <a:lstStyle/>
          <a:p>
            <a:pPr algn="ctr"/>
            <a:r>
              <a:rPr sz="1900" b="1" lang="en-US">
                <a:solidFill>
                  <a:srgbClr val="7446A6"/>
                </a:solidFill>
                <a:latin typeface="Arial"/>
              </a:rPr>
              <a:t>Published
model</a:t>
            </a:r>
          </a:p>
        </p:txBody>
      </p:sp>
      <p:cxnSp>
        <p:nvCxnSpPr>
          <p:cNvPr id="92" name="Flow"/>
          <p:cNvCxnSpPr/>
          <p:nvPr/>
        </p:nvCxnSpPr>
        <p:spPr>
          <a:xfrm>
            <a:off x="5806440" y="2423160"/>
            <a:ext cx="969264" cy="0"/>
          </a:xfrm>
          <a:prstGeom prst="line">
            <a:avLst/>
          </a:prstGeom>
          <a:ln w="29209">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93" name="Flow"/>
          <p:cNvCxnSpPr/>
          <p:nvPr/>
        </p:nvCxnSpPr>
        <p:spPr>
          <a:xfrm>
            <a:off x="6775704" y="2423160"/>
            <a:ext cx="0" cy="731520"/>
          </a:xfrm>
          <a:prstGeom prst="line">
            <a:avLst/>
          </a:prstGeom>
          <a:ln w="29209">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94" name="Flow"/>
          <p:cNvCxnSpPr/>
          <p:nvPr/>
        </p:nvCxnSpPr>
        <p:spPr>
          <a:xfrm>
            <a:off x="6775704" y="3154680"/>
            <a:ext cx="667512" cy="0"/>
          </a:xfrm>
          <a:prstGeom prst="line">
            <a:avLst/>
          </a:prstGeom>
          <a:ln w="29209">
            <a:solidFill>
              <a:srgbClr val="744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95" name="Rounded Rectangle 94"/>
          <p:cNvSpPr/>
          <p:nvPr/>
        </p:nvSpPr>
        <p:spPr>
          <a:xfrm>
            <a:off x="1558869" y="4129430"/>
            <a:ext cx="484997" cy="363748"/>
          </a:xfrm>
          <a:prstGeom prst="roundRect">
            <a:avLst/>
          </a:prstGeom>
          <a:solidFill>
            <a:srgbClr val="FFFFFF"/>
          </a:solidFill>
          <a:ln w="1778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Oval 95"/>
          <p:cNvSpPr/>
          <p:nvPr/>
        </p:nvSpPr>
        <p:spPr>
          <a:xfrm>
            <a:off x="1672657" y="4252545"/>
            <a:ext cx="61557" cy="61557"/>
          </a:xfrm>
          <a:prstGeom prst="ellipse">
            <a:avLst/>
          </a:prstGeom>
          <a:solidFill>
            <a:srgbClr val="1764A1"/>
          </a:solidFill>
          <a:ln w="1016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Oval 96"/>
          <p:cNvSpPr/>
          <p:nvPr/>
        </p:nvSpPr>
        <p:spPr>
          <a:xfrm>
            <a:off x="1868521" y="4252545"/>
            <a:ext cx="61557" cy="61557"/>
          </a:xfrm>
          <a:prstGeom prst="ellipse">
            <a:avLst/>
          </a:prstGeom>
          <a:solidFill>
            <a:srgbClr val="1764A1"/>
          </a:solidFill>
          <a:ln w="1016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8" name="Flow"/>
          <p:cNvCxnSpPr/>
          <p:nvPr/>
        </p:nvCxnSpPr>
        <p:spPr>
          <a:xfrm>
            <a:off x="1717426" y="4409236"/>
            <a:ext cx="167883" cy="0"/>
          </a:xfrm>
          <a:prstGeom prst="line">
            <a:avLst/>
          </a:prstGeom>
          <a:ln w="1524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99" name="Flow"/>
          <p:cNvCxnSpPr/>
          <p:nvPr/>
        </p:nvCxnSpPr>
        <p:spPr>
          <a:xfrm flipV="1">
            <a:off x="1801368" y="4026834"/>
            <a:ext cx="0" cy="102596"/>
          </a:xfrm>
          <a:prstGeom prst="line">
            <a:avLst/>
          </a:prstGeom>
          <a:ln w="15240">
            <a:solidFill>
              <a:srgbClr val="1764A1"/>
            </a:solidFill>
          </a:ln>
        </p:spPr>
        <p:style>
          <a:lnRef idx="2">
            <a:schemeClr val="accent1"/>
          </a:lnRef>
          <a:fillRef idx="0">
            <a:schemeClr val="accent1"/>
          </a:fillRef>
          <a:effectRef idx="1">
            <a:schemeClr val="accent1"/>
          </a:effectRef>
          <a:fontRef idx="minor">
            <a:schemeClr val="tx1"/>
          </a:fontRef>
        </p:style>
      </p:cxnSp>
      <p:sp>
        <p:nvSpPr>
          <p:cNvPr id="100" name="Oval 99"/>
          <p:cNvSpPr/>
          <p:nvPr/>
        </p:nvSpPr>
        <p:spPr>
          <a:xfrm>
            <a:off x="1764060" y="3952219"/>
            <a:ext cx="74615" cy="74615"/>
          </a:xfrm>
          <a:prstGeom prst="ellipse">
            <a:avLst/>
          </a:prstGeom>
          <a:solidFill>
            <a:srgbClr val="FFFFFF"/>
          </a:solidFill>
          <a:ln w="1397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Label: Agent"/>
          <p:cNvSpPr txBox="1"/>
          <p:nvPr/>
        </p:nvSpPr>
        <p:spPr>
          <a:xfrm>
            <a:off x="1197864" y="4690872"/>
            <a:ext cx="1207008" cy="320040"/>
          </a:xfrm>
          <a:prstGeom prst="rect">
            <a:avLst/>
          </a:prstGeom>
          <a:noFill/>
        </p:spPr>
        <p:txBody>
          <a:bodyPr wrap="square" lIns="0" rIns="0" tIns="0" bIns="0" anchor="ctr">
            <a:spAutoFit/>
          </a:bodyPr>
          <a:lstStyle/>
          <a:p>
            <a:pPr algn="ctr"/>
            <a:r>
              <a:rPr sz="1900" b="1" lang="en-US">
                <a:solidFill>
                  <a:srgbClr val="1764A1"/>
                </a:solidFill>
                <a:latin typeface="Arial"/>
              </a:rPr>
              <a:t>Agent</a:t>
            </a:r>
          </a:p>
        </p:txBody>
      </p:sp>
      <p:cxnSp>
        <p:nvCxnSpPr>
          <p:cNvPr id="102" name="Flow"/>
          <p:cNvCxnSpPr/>
          <p:nvPr/>
        </p:nvCxnSpPr>
        <p:spPr>
          <a:xfrm>
            <a:off x="2322576" y="4526280"/>
            <a:ext cx="1773936" cy="0"/>
          </a:xfrm>
          <a:prstGeom prst="line">
            <a:avLst/>
          </a:prstGeom>
          <a:ln w="26670">
            <a:solidFill>
              <a:srgbClr val="1764A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3" name="Node: MCP"/>
          <p:cNvSpPr/>
          <p:nvPr/>
        </p:nvSpPr>
        <p:spPr>
          <a:xfrm>
            <a:off x="4151376" y="4224528"/>
            <a:ext cx="1554480" cy="603504"/>
          </a:xfrm>
          <a:prstGeom prst="roundRect">
            <a:avLst/>
          </a:prstGeom>
          <a:solidFill>
            <a:srgbClr val="EDF4FA"/>
          </a:solidFill>
          <a:ln w="1778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Label: MCP"/>
          <p:cNvSpPr txBox="1"/>
          <p:nvPr/>
        </p:nvSpPr>
        <p:spPr>
          <a:xfrm>
            <a:off x="4215384" y="4251960"/>
            <a:ext cx="1426464" cy="548640"/>
          </a:xfrm>
          <a:prstGeom prst="rect">
            <a:avLst/>
          </a:prstGeom>
          <a:noFill/>
        </p:spPr>
        <p:txBody>
          <a:bodyPr wrap="square" lIns="0" rIns="0" tIns="0" bIns="0" anchor="ctr">
            <a:spAutoFit/>
          </a:bodyPr>
          <a:lstStyle/>
          <a:p>
            <a:pPr algn="ctr"/>
            <a:r>
              <a:rPr sz="2100" b="1" lang="en-US">
                <a:solidFill>
                  <a:srgbClr val="1764A1"/>
                </a:solidFill>
                <a:latin typeface="Arial"/>
              </a:rPr>
              <a:t>MCP</a:t>
            </a:r>
          </a:p>
        </p:txBody>
      </p:sp>
      <p:cxnSp>
        <p:nvCxnSpPr>
          <p:cNvPr id="105" name="Flow"/>
          <p:cNvCxnSpPr/>
          <p:nvPr/>
        </p:nvCxnSpPr>
        <p:spPr>
          <a:xfrm>
            <a:off x="5751576" y="4526280"/>
            <a:ext cx="1024128" cy="0"/>
          </a:xfrm>
          <a:prstGeom prst="line">
            <a:avLst/>
          </a:prstGeom>
          <a:ln w="29209">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106" name="Flow"/>
          <p:cNvCxnSpPr/>
          <p:nvPr/>
        </p:nvCxnSpPr>
        <p:spPr>
          <a:xfrm flipV="1">
            <a:off x="6775704" y="3785615"/>
            <a:ext cx="0" cy="740665"/>
          </a:xfrm>
          <a:prstGeom prst="line">
            <a:avLst/>
          </a:prstGeom>
          <a:ln w="29209">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107" name="Flow"/>
          <p:cNvCxnSpPr/>
          <p:nvPr/>
        </p:nvCxnSpPr>
        <p:spPr>
          <a:xfrm>
            <a:off x="6775704" y="3785615"/>
            <a:ext cx="667512" cy="0"/>
          </a:xfrm>
          <a:prstGeom prst="line">
            <a:avLst/>
          </a:prstGeom>
          <a:ln w="29209">
            <a:solidFill>
              <a:srgbClr val="1764A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8" name="Node: Attested / inference"/>
          <p:cNvSpPr/>
          <p:nvPr/>
        </p:nvSpPr>
        <p:spPr>
          <a:xfrm>
            <a:off x="7479792" y="2889504"/>
            <a:ext cx="1810512" cy="1152144"/>
          </a:xfrm>
          <a:prstGeom prst="roundRect">
            <a:avLst/>
          </a:prstGeom>
          <a:solidFill>
            <a:srgbClr val="EDF4FA"/>
          </a:solidFill>
          <a:ln w="1778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Label: Attested / inference"/>
          <p:cNvSpPr txBox="1"/>
          <p:nvPr/>
        </p:nvSpPr>
        <p:spPr>
          <a:xfrm>
            <a:off x="7543800" y="2916936"/>
            <a:ext cx="1682495" cy="1097280"/>
          </a:xfrm>
          <a:prstGeom prst="rect">
            <a:avLst/>
          </a:prstGeom>
          <a:noFill/>
        </p:spPr>
        <p:txBody>
          <a:bodyPr wrap="square" lIns="0" rIns="0" tIns="0" bIns="0" anchor="ctr">
            <a:spAutoFit/>
          </a:bodyPr>
          <a:lstStyle/>
          <a:p>
            <a:pPr algn="ctr"/>
            <a:r>
              <a:rPr sz="2000" b="1" lang="en-US">
                <a:solidFill>
                  <a:srgbClr val="1764A1"/>
                </a:solidFill>
                <a:latin typeface="Arial"/>
              </a:rPr>
              <a:t>Attested
inference</a:t>
            </a:r>
          </a:p>
        </p:txBody>
      </p:sp>
      <p:cxnSp>
        <p:nvCxnSpPr>
          <p:cNvPr id="110" name="Flow"/>
          <p:cNvCxnSpPr/>
          <p:nvPr/>
        </p:nvCxnSpPr>
        <p:spPr>
          <a:xfrm>
            <a:off x="9336024" y="3465576"/>
            <a:ext cx="1069848" cy="0"/>
          </a:xfrm>
          <a:prstGeom prst="line">
            <a:avLst/>
          </a:prstGeom>
          <a:ln w="26670">
            <a:solidFill>
              <a:srgbClr val="1764A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1" name="Label: Tool receipt"/>
          <p:cNvSpPr txBox="1"/>
          <p:nvPr/>
        </p:nvSpPr>
        <p:spPr>
          <a:xfrm>
            <a:off x="9345168" y="2953512"/>
            <a:ext cx="1097280" cy="320040"/>
          </a:xfrm>
          <a:prstGeom prst="rect">
            <a:avLst/>
          </a:prstGeom>
          <a:noFill/>
        </p:spPr>
        <p:txBody>
          <a:bodyPr wrap="square" lIns="0" rIns="0" tIns="0" bIns="0" anchor="ctr">
            <a:spAutoFit/>
          </a:bodyPr>
          <a:lstStyle/>
          <a:p>
            <a:pPr algn="ctr"/>
            <a:r>
              <a:rPr sz="1330" b="0" lang="en-US">
                <a:solidFill>
                  <a:srgbClr val="1764A1"/>
                </a:solidFill>
                <a:latin typeface="Arial"/>
              </a:rPr>
              <a:t>Tool receipt</a:t>
            </a:r>
          </a:p>
        </p:txBody>
      </p:sp>
      <p:sp>
        <p:nvSpPr>
          <p:cNvPr id="112" name="Oval 111"/>
          <p:cNvSpPr/>
          <p:nvPr/>
        </p:nvSpPr>
        <p:spPr>
          <a:xfrm>
            <a:off x="10524744" y="3026664"/>
            <a:ext cx="877824" cy="877824"/>
          </a:xfrm>
          <a:prstGeom prst="ellipse">
            <a:avLst/>
          </a:prstGeom>
          <a:solidFill>
            <a:srgbClr val="EDF4FA"/>
          </a:solidFill>
          <a:ln w="1524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Rectangle 112"/>
          <p:cNvSpPr/>
          <p:nvPr/>
        </p:nvSpPr>
        <p:spPr>
          <a:xfrm>
            <a:off x="10847070" y="3146907"/>
            <a:ext cx="388620" cy="481888"/>
          </a:xfrm>
          <a:prstGeom prst="rect">
            <a:avLst/>
          </a:prstGeom>
          <a:solidFill>
            <a:srgbClr val="FFFFFF"/>
          </a:solidFill>
          <a:ln w="1524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ectangle 113"/>
          <p:cNvSpPr/>
          <p:nvPr/>
        </p:nvSpPr>
        <p:spPr>
          <a:xfrm>
            <a:off x="10808208" y="3185769"/>
            <a:ext cx="388620" cy="481888"/>
          </a:xfrm>
          <a:prstGeom prst="rect">
            <a:avLst/>
          </a:prstGeom>
          <a:solidFill>
            <a:srgbClr val="FFFFFF"/>
          </a:solidFill>
          <a:ln w="1524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Rectangle 114"/>
          <p:cNvSpPr/>
          <p:nvPr/>
        </p:nvSpPr>
        <p:spPr>
          <a:xfrm>
            <a:off x="10769346" y="3224631"/>
            <a:ext cx="388620" cy="481888"/>
          </a:xfrm>
          <a:prstGeom prst="rect">
            <a:avLst/>
          </a:prstGeom>
          <a:solidFill>
            <a:srgbClr val="FFFFFF"/>
          </a:solidFill>
          <a:ln w="1524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6" name="Flow"/>
          <p:cNvCxnSpPr/>
          <p:nvPr/>
        </p:nvCxnSpPr>
        <p:spPr>
          <a:xfrm>
            <a:off x="10847070" y="3356762"/>
            <a:ext cx="225399" cy="0"/>
          </a:xfrm>
          <a:prstGeom prst="line">
            <a:avLst/>
          </a:prstGeom>
          <a:ln w="1524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117" name="Flow"/>
          <p:cNvCxnSpPr/>
          <p:nvPr/>
        </p:nvCxnSpPr>
        <p:spPr>
          <a:xfrm>
            <a:off x="10847070" y="3465576"/>
            <a:ext cx="225399" cy="0"/>
          </a:xfrm>
          <a:prstGeom prst="line">
            <a:avLst/>
          </a:prstGeom>
          <a:ln w="1524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118" name="Flow"/>
          <p:cNvCxnSpPr/>
          <p:nvPr/>
        </p:nvCxnSpPr>
        <p:spPr>
          <a:xfrm>
            <a:off x="10847070" y="3574389"/>
            <a:ext cx="225399" cy="0"/>
          </a:xfrm>
          <a:prstGeom prst="line">
            <a:avLst/>
          </a:prstGeom>
          <a:ln w="15240">
            <a:solidFill>
              <a:srgbClr val="1764A1"/>
            </a:solidFill>
          </a:ln>
        </p:spPr>
        <p:style>
          <a:lnRef idx="2">
            <a:schemeClr val="accent1"/>
          </a:lnRef>
          <a:fillRef idx="0">
            <a:schemeClr val="accent1"/>
          </a:fillRef>
          <a:effectRef idx="1">
            <a:schemeClr val="accent1"/>
          </a:effectRef>
          <a:fontRef idx="minor">
            <a:schemeClr val="tx1"/>
          </a:fontRef>
        </p:style>
      </p:cxnSp>
      <p:sp>
        <p:nvSpPr>
          <p:cNvPr id="119" name="Label: Transparency / log"/>
          <p:cNvSpPr txBox="1"/>
          <p:nvPr/>
        </p:nvSpPr>
        <p:spPr>
          <a:xfrm>
            <a:off x="9912096" y="4023360"/>
            <a:ext cx="2103120" cy="658368"/>
          </a:xfrm>
          <a:prstGeom prst="rect">
            <a:avLst/>
          </a:prstGeom>
          <a:noFill/>
        </p:spPr>
        <p:txBody>
          <a:bodyPr wrap="square" lIns="0" rIns="0" tIns="0" bIns="0" anchor="ctr">
            <a:spAutoFit/>
          </a:bodyPr>
          <a:lstStyle/>
          <a:p>
            <a:pPr algn="ctr"/>
            <a:r>
              <a:rPr sz="1800" b="1" lang="en-US">
                <a:solidFill>
                  <a:srgbClr val="1764A1"/>
                </a:solidFill>
                <a:latin typeface="Arial"/>
              </a:rPr>
              <a:t>Transparency
log</a:t>
            </a:r>
          </a:p>
        </p:txBody>
      </p:sp>
    </p:spTree>
  </p:cSld>
  <p:clrMapOvr>
    <a:masterClrMapping/>
  </p:clrMapOvr>
</p:sld>
</file>

<file path=ppt/theme/theme1.xml><?xml version="1.0" encoding="utf-8"?>
<a:theme xmlns:a="http://schemas.openxmlformats.org/drawingml/2006/main" name="Titelfolien zur Auswahl">
  <a:themeElements>
    <a:clrScheme name="TU Berlin">
      <a:dk1>
        <a:srgbClr val="434343"/>
      </a:dk1>
      <a:lt1>
        <a:srgbClr val="FFFFFF"/>
      </a:lt1>
      <a:dk2>
        <a:srgbClr val="434343"/>
      </a:dk2>
      <a:lt2>
        <a:srgbClr val="E7E6E6"/>
      </a:lt2>
      <a:accent1>
        <a:srgbClr val="C30D1E"/>
      </a:accent1>
      <a:accent2>
        <a:srgbClr val="B2B2B2"/>
      </a:accent2>
      <a:accent3>
        <a:srgbClr val="FF6C00"/>
      </a:accent3>
      <a:accent4>
        <a:srgbClr val="1F90CC"/>
      </a:accent4>
      <a:accent5>
        <a:srgbClr val="9013FE"/>
      </a:accent5>
      <a:accent6>
        <a:srgbClr val="49CB40"/>
      </a:accent6>
      <a:hlink>
        <a:srgbClr val="C30D1E"/>
      </a:hlink>
      <a:folHlink>
        <a:srgbClr val="C30D1E"/>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äsentation1" id="{AF5D8605-2613-D24D-AB7D-44425CE5E9EB}" vid="{4A2A0730-D474-B642-9EC8-245B2B7F7B17}"/>
    </a:ext>
  </a:extLst>
</a:theme>
</file>

<file path=ppt/theme/theme2.xml><?xml version="1.0" encoding="utf-8"?>
<a:theme xmlns:a="http://schemas.openxmlformats.org/drawingml/2006/main" name="Master für Folgeseiten">
  <a:themeElements>
    <a:clrScheme name="TU Berlin ">
      <a:dk1>
        <a:srgbClr val="434343"/>
      </a:dk1>
      <a:lt1>
        <a:srgbClr val="FFFFFF"/>
      </a:lt1>
      <a:dk2>
        <a:srgbClr val="434343"/>
      </a:dk2>
      <a:lt2>
        <a:srgbClr val="E7E6E6"/>
      </a:lt2>
      <a:accent1>
        <a:srgbClr val="C30D1E"/>
      </a:accent1>
      <a:accent2>
        <a:srgbClr val="B2B2B2"/>
      </a:accent2>
      <a:accent3>
        <a:srgbClr val="FF6C00"/>
      </a:accent3>
      <a:accent4>
        <a:srgbClr val="1F90CC"/>
      </a:accent4>
      <a:accent5>
        <a:srgbClr val="9013FE"/>
      </a:accent5>
      <a:accent6>
        <a:srgbClr val="49CB40"/>
      </a:accent6>
      <a:hlink>
        <a:srgbClr val="C30D1E"/>
      </a:hlink>
      <a:folHlink>
        <a:srgbClr val="C30D1E"/>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äsentation1" id="{AF5D8605-2613-D24D-AB7D-44425CE5E9EB}" vid="{6D2ACD7B-51E4-3F4D-A883-FB2A0ECC7C66}"/>
    </a:ext>
  </a:extLst>
</a:theme>
</file>

<file path=ppt/theme/theme3.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TU-Berlin-Praesentation-Master-einfarbig-Rot</Template>
  <TotalTime>0</TotalTime>
  <Words>59</Words>
  <Application>Microsoft Office PowerPoint</Application>
  <PresentationFormat>Breitbild</PresentationFormat>
  <Paragraphs>5</Paragraphs>
  <Slides>5</Slides>
  <Notes>0</Notes>
  <HiddenSlides>0</HiddenSlides>
  <MMClips>0</MMClips>
  <ScaleCrop>false</ScaleCrop>
  <HeadingPairs>
    <vt:vector size="6" baseType="variant">
      <vt:variant>
        <vt:lpstr>Verwendete Schriftarten</vt:lpstr>
      </vt:variant>
      <vt:variant>
        <vt:i4>3</vt:i4>
      </vt:variant>
      <vt:variant>
        <vt:lpstr>Design</vt:lpstr>
      </vt:variant>
      <vt:variant>
        <vt:i4>2</vt:i4>
      </vt:variant>
      <vt:variant>
        <vt:lpstr>Folientitel</vt:lpstr>
      </vt:variant>
      <vt:variant>
        <vt:i4>5</vt:i4>
      </vt:variant>
    </vt:vector>
  </HeadingPairs>
  <TitlesOfParts>
    <vt:vector size="10" baseType="lpstr">
      <vt:lpstr>Arial</vt:lpstr>
      <vt:lpstr>Calibri</vt:lpstr>
      <vt:lpstr>Symbol</vt:lpstr>
      <vt:lpstr>Titelfolien zur Auswahl</vt:lpstr>
      <vt:lpstr>Master für Folgeseiten</vt:lpstr>
      <vt:lpstr>PowerPoint-Präsentation</vt:lpstr>
      <vt:lpstr>PowerPoint-Präsentation</vt:lpstr>
      <vt:lpstr>PowerPoint-Präsentation</vt:lpstr>
      <vt:lpstr>PowerPoint-Präsentation</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VITA-FL — Lifecycle visualization proposals</dc:title>
  <dc:creator>Ramon Mehrpoya</dc:creator>
  <cp:lastModifiedBy>Friedrich, Ulrike</cp:lastModifiedBy>
  <cp:revision>3</cp:revision>
  <cp:lastPrinted>2021-03-24T16:10:50Z</cp:lastPrinted>
  <dcterms:created xsi:type="dcterms:W3CDTF">2023-04-20T08:54:03Z</dcterms:created>
  <dcterms:modified xsi:type="dcterms:W3CDTF">2025-06-16T09:49:54Z</dcterms:modified>
  <dc:subject>Verifiable Decentralized Federated Machine Learning and Inference for AI Agent Systems</dc:subject>
  <cp:keywords>VITA-FL, DFL, TEE, attested inference, transparency log</cp:keywords>
  <dc:language>en-US</dc:language>
</cp:coreProperties>
</file>