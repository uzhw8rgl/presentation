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I1: Blockchain and IPFS form a stacked core inside the DFL loop. A separate published-model symbol summarizes their handoff to inference.</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shared infrastructure inside the conceptual DFL loop, not sequential training stages. Blockchain coordinates membership and rounds and provides authoritative model references. IPFS carries encrypted model bundles and training artifacts. The active aggregator publishes a finalized model reference and the corresponding artifacts. Placement inside the loop is functional grouping, not a common TEE, trust boundary, or restriction to training-only access. The inference receiver resolves the reference and retrieves the artifacts. Purple arrows show information consumed by the receiver; the receiver initiates retrieval. A single Published model path abstracts both operations, rather than a direct file transfer that bypasses the infrastructure. The two-source variant makes them explicit. The transparency log is separate from the blockchain.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I2: Two infrastructure tiles sit side by side inside the training cycle. The global model at the circle boundary has a compact, abstracted published-model path to inference.</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shared infrastructure inside the conceptual DFL loop, not sequential training stages. Blockchain coordinates membership and rounds and provides authoritative model references. IPFS carries encrypted model bundles and training artifacts. The active aggregator publishes a finalized model reference and the corresponding artifacts. Placement inside the loop is functional grouping, not a common TEE, trust boundary, or restriction to training-only access. The inference receiver resolves the reference and retrieves the artifacts. Purple arrows show information consumed by the receiver; the receiver initiates retrieval. A single Published model path abstracts both operations, rather than a direct file transfer that bypasses the infrastructure. The two-source variant makes them explicit. The transparency log is separate from the blockchain.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I3: Blockchain and IPFS remain inside the DFL circle. Two explicit source paths carry the model reference and model files to inference. The global model stays on the training loop; the paths are retrieval, not extra training phases.</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shared infrastructure inside the conceptual DFL loop, not sequential training stages. Blockchain coordinates membership and rounds and provides authoritative model references. IPFS carries encrypted model bundles and training artifacts. The active aggregator publishes a finalized model reference and the corresponding artifacts. Placement inside the loop is functional grouping, not a common TEE, trust boundary, or restriction to training-only access. The inference receiver resolves the reference and retrieves the artifacts. Purple arrows show information consumed by the receiver; the receiver initiates retrieval. A single Published model path abstracts both operations, rather than a direct file transfer that bypasses the infrastructure. The two-source variant makes them explicit. The transparency log is separate from the blockchain.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I1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179576" y="2167127"/>
            <a:ext cx="3163824" cy="3163824"/>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410886" y="2887468"/>
            <a:ext cx="23898" cy="3796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388073" y="2925437"/>
            <a:ext cx="22813" cy="3863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366366" y="2964069"/>
            <a:ext cx="21707" cy="3926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345780" y="3003331"/>
            <a:ext cx="20586" cy="3986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326333" y="3043194"/>
            <a:ext cx="19447" cy="4043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308041" y="3083624"/>
            <a:ext cx="18292" cy="4096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290917" y="3124589"/>
            <a:ext cx="17124" cy="4146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274976" y="3166057"/>
            <a:ext cx="15941" cy="41937"/>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3250325" y="5239060"/>
            <a:ext cx="42468" cy="144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3292793" y="5223394"/>
            <a:ext cx="42040" cy="1566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3334833" y="5206542"/>
            <a:ext cx="41578" cy="1685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3376411" y="5188518"/>
            <a:ext cx="41085" cy="180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3417496" y="5169336"/>
            <a:ext cx="40556" cy="1918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3458052" y="5149012"/>
            <a:ext cx="39997" cy="203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3498049" y="5127562"/>
            <a:ext cx="39404" cy="2145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3537453" y="5105003"/>
            <a:ext cx="38779" cy="22559"/>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078714" y="2873048"/>
            <a:ext cx="24311" cy="3770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053343" y="2836047"/>
            <a:ext cx="25371" cy="3700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026933" y="2799780"/>
            <a:ext cx="26410" cy="362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3999505" y="2764276"/>
            <a:ext cx="27428" cy="3550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3971081" y="2729565"/>
            <a:ext cx="28424" cy="3471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3941685" y="2695673"/>
            <a:ext cx="29396" cy="3389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3911339" y="2662629"/>
            <a:ext cx="30346" cy="3304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3880068" y="2630459"/>
            <a:ext cx="31271" cy="32170"/>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1773936" y="1879091"/>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1837943" y="1906523"/>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1044896" y="4756830"/>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1108904" y="4784262"/>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3547872" y="3346703"/>
            <a:ext cx="1591056" cy="804672"/>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3611879" y="3374135"/>
            <a:ext cx="1463040" cy="749808"/>
          </a:xfrm>
          <a:prstGeom prst="rect">
            <a:avLst/>
          </a:prstGeom>
          <a:noFill/>
        </p:spPr>
        <p:txBody>
          <a:bodyPr wrap="square" lIns="0" rIns="0" tIns="0" bIns="0" anchor="ctr">
            <a:spAutoFit/>
          </a:bodyPr>
          <a:lstStyle/>
          <a:p>
            <a:pPr algn="ctr"/>
            <a:r>
              <a:rPr sz="1700" b="1" lang="en-US">
                <a:solidFill>
                  <a:srgbClr val="7446A6"/>
                </a:solidFill>
                <a:latin typeface="Arial"/>
              </a:rPr>
              <a:t>Global
model</a:t>
            </a:r>
          </a:p>
        </p:txBody>
      </p:sp>
      <p:sp>
        <p:nvSpPr>
          <p:cNvPr id="44" name="Label: DFL"/>
          <p:cNvSpPr txBox="1"/>
          <p:nvPr/>
        </p:nvSpPr>
        <p:spPr>
          <a:xfrm>
            <a:off x="2176272" y="2523744"/>
            <a:ext cx="1170432" cy="384048"/>
          </a:xfrm>
          <a:prstGeom prst="rect">
            <a:avLst/>
          </a:prstGeom>
          <a:noFill/>
        </p:spPr>
        <p:txBody>
          <a:bodyPr wrap="square" lIns="0" rIns="0" tIns="0" bIns="0" anchor="ctr">
            <a:spAutoFit/>
          </a:bodyPr>
          <a:lstStyle/>
          <a:p>
            <a:pPr algn="ctr"/>
            <a:r>
              <a:rPr sz="2500" b="1" lang="en-US">
                <a:solidFill>
                  <a:srgbClr val="207548"/>
                </a:solidFill>
                <a:latin typeface="Arial"/>
              </a:rPr>
              <a:t>DFL</a:t>
            </a:r>
          </a:p>
        </p:txBody>
      </p:sp>
      <p:sp>
        <p:nvSpPr>
          <p:cNvPr id="45" name="Internal infrastructure: Blockchain"/>
          <p:cNvSpPr/>
          <p:nvPr/>
        </p:nvSpPr>
        <p:spPr>
          <a:xfrm>
            <a:off x="1737360" y="2953512"/>
            <a:ext cx="1773936" cy="676656"/>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abel: Blockchain"/>
          <p:cNvSpPr txBox="1"/>
          <p:nvPr/>
        </p:nvSpPr>
        <p:spPr>
          <a:xfrm>
            <a:off x="1783080" y="3035808"/>
            <a:ext cx="1682495" cy="301752"/>
          </a:xfrm>
          <a:prstGeom prst="rect">
            <a:avLst/>
          </a:prstGeom>
          <a:noFill/>
        </p:spPr>
        <p:txBody>
          <a:bodyPr wrap="square" lIns="0" rIns="0" tIns="0" bIns="0" anchor="ctr">
            <a:spAutoFit/>
          </a:bodyPr>
          <a:lstStyle/>
          <a:p>
            <a:pPr algn="ctr"/>
            <a:r>
              <a:rPr sz="1700" b="1" lang="en-US">
                <a:solidFill>
                  <a:srgbClr val="7446A6"/>
                </a:solidFill>
                <a:latin typeface="Arial"/>
              </a:rPr>
              <a:t>Blockchain</a:t>
            </a:r>
          </a:p>
        </p:txBody>
      </p:sp>
      <p:sp>
        <p:nvSpPr>
          <p:cNvPr id="47" name="Label: Rounds &amp; references"/>
          <p:cNvSpPr txBox="1"/>
          <p:nvPr/>
        </p:nvSpPr>
        <p:spPr>
          <a:xfrm>
            <a:off x="1783080" y="3374136"/>
            <a:ext cx="1682495" cy="210312"/>
          </a:xfrm>
          <a:prstGeom prst="rect">
            <a:avLst/>
          </a:prstGeom>
          <a:noFill/>
        </p:spPr>
        <p:txBody>
          <a:bodyPr wrap="square" lIns="0" rIns="0" tIns="0" bIns="0" anchor="ctr">
            <a:spAutoFit/>
          </a:bodyPr>
          <a:lstStyle/>
          <a:p>
            <a:pPr algn="ctr"/>
            <a:r>
              <a:rPr sz="1250" b="0" lang="en-US">
                <a:solidFill>
                  <a:srgbClr val="7446A6"/>
                </a:solidFill>
                <a:latin typeface="Arial"/>
              </a:rPr>
              <a:t>Rounds &amp; references</a:t>
            </a:r>
          </a:p>
        </p:txBody>
      </p:sp>
      <p:sp>
        <p:nvSpPr>
          <p:cNvPr id="48" name="Internal infrastructure: IPFS"/>
          <p:cNvSpPr/>
          <p:nvPr/>
        </p:nvSpPr>
        <p:spPr>
          <a:xfrm>
            <a:off x="1737360" y="3886200"/>
            <a:ext cx="1773936" cy="676656"/>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abel: IPFS"/>
          <p:cNvSpPr txBox="1"/>
          <p:nvPr/>
        </p:nvSpPr>
        <p:spPr>
          <a:xfrm>
            <a:off x="1783080" y="3968496"/>
            <a:ext cx="1682495" cy="301752"/>
          </a:xfrm>
          <a:prstGeom prst="rect">
            <a:avLst/>
          </a:prstGeom>
          <a:noFill/>
        </p:spPr>
        <p:txBody>
          <a:bodyPr wrap="square" lIns="0" rIns="0" tIns="0" bIns="0" anchor="ctr">
            <a:spAutoFit/>
          </a:bodyPr>
          <a:lstStyle/>
          <a:p>
            <a:pPr algn="ctr"/>
            <a:r>
              <a:rPr sz="1700" b="1" lang="en-US">
                <a:solidFill>
                  <a:srgbClr val="7446A6"/>
                </a:solidFill>
                <a:latin typeface="Arial"/>
              </a:rPr>
              <a:t>IPFS</a:t>
            </a:r>
          </a:p>
        </p:txBody>
      </p:sp>
      <p:sp>
        <p:nvSpPr>
          <p:cNvPr id="50" name="Label: Model files"/>
          <p:cNvSpPr txBox="1"/>
          <p:nvPr/>
        </p:nvSpPr>
        <p:spPr>
          <a:xfrm>
            <a:off x="1783080" y="4306824"/>
            <a:ext cx="1682495" cy="210312"/>
          </a:xfrm>
          <a:prstGeom prst="rect">
            <a:avLst/>
          </a:prstGeom>
          <a:noFill/>
        </p:spPr>
        <p:txBody>
          <a:bodyPr wrap="square" lIns="0" rIns="0" tIns="0" bIns="0" anchor="ctr">
            <a:spAutoFit/>
          </a:bodyPr>
          <a:lstStyle/>
          <a:p>
            <a:pPr algn="ctr"/>
            <a:r>
              <a:rPr sz="1250" b="0" lang="en-US">
                <a:solidFill>
                  <a:srgbClr val="7446A6"/>
                </a:solidFill>
                <a:latin typeface="Arial"/>
              </a:rPr>
              <a:t>Model files</a:t>
            </a:r>
          </a:p>
        </p:txBody>
      </p:sp>
      <p:cxnSp>
        <p:nvCxnSpPr>
          <p:cNvPr id="51" name="Flow"/>
          <p:cNvCxnSpPr/>
          <p:nvPr/>
        </p:nvCxnSpPr>
        <p:spPr>
          <a:xfrm>
            <a:off x="5193792" y="3749039"/>
            <a:ext cx="310896" cy="0"/>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559552" y="3310127"/>
            <a:ext cx="877824" cy="877824"/>
          </a:xfrm>
          <a:prstGeom prst="ellipse">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Flow"/>
          <p:cNvCxnSpPr/>
          <p:nvPr/>
        </p:nvCxnSpPr>
        <p:spPr>
          <a:xfrm flipV="1">
            <a:off x="5773064" y="3508095"/>
            <a:ext cx="225400" cy="6995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4" name="Flow"/>
          <p:cNvCxnSpPr/>
          <p:nvPr/>
        </p:nvCxnSpPr>
        <p:spPr>
          <a:xfrm>
            <a:off x="5773064" y="3578047"/>
            <a:ext cx="225400" cy="17099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Flow"/>
          <p:cNvCxnSpPr/>
          <p:nvPr/>
        </p:nvCxnSpPr>
        <p:spPr>
          <a:xfrm>
            <a:off x="5773064" y="3578047"/>
            <a:ext cx="225400" cy="41193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6" name="Flow"/>
          <p:cNvCxnSpPr/>
          <p:nvPr/>
        </p:nvCxnSpPr>
        <p:spPr>
          <a:xfrm flipV="1">
            <a:off x="5773064" y="3508095"/>
            <a:ext cx="225400" cy="41193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7" name="Flow"/>
          <p:cNvCxnSpPr/>
          <p:nvPr/>
        </p:nvCxnSpPr>
        <p:spPr>
          <a:xfrm flipV="1">
            <a:off x="5773064" y="3749039"/>
            <a:ext cx="225400" cy="170993"/>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8" name="Flow"/>
          <p:cNvCxnSpPr/>
          <p:nvPr/>
        </p:nvCxnSpPr>
        <p:spPr>
          <a:xfrm>
            <a:off x="5773064" y="3920032"/>
            <a:ext cx="225400" cy="6995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9" name="Flow"/>
          <p:cNvCxnSpPr/>
          <p:nvPr/>
        </p:nvCxnSpPr>
        <p:spPr>
          <a:xfrm>
            <a:off x="5998464" y="3508095"/>
            <a:ext cx="225399" cy="12435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0" name="Flow"/>
          <p:cNvCxnSpPr/>
          <p:nvPr/>
        </p:nvCxnSpPr>
        <p:spPr>
          <a:xfrm>
            <a:off x="5998464" y="3508095"/>
            <a:ext cx="225399" cy="357531"/>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1" name="Flow"/>
          <p:cNvCxnSpPr/>
          <p:nvPr/>
        </p:nvCxnSpPr>
        <p:spPr>
          <a:xfrm flipV="1">
            <a:off x="5998464" y="3632453"/>
            <a:ext cx="225399" cy="116586"/>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2" name="Flow"/>
          <p:cNvCxnSpPr/>
          <p:nvPr/>
        </p:nvCxnSpPr>
        <p:spPr>
          <a:xfrm>
            <a:off x="5998464" y="3749039"/>
            <a:ext cx="225399" cy="11658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3" name="Flow"/>
          <p:cNvCxnSpPr/>
          <p:nvPr/>
        </p:nvCxnSpPr>
        <p:spPr>
          <a:xfrm flipV="1">
            <a:off x="5998464" y="3632453"/>
            <a:ext cx="225399" cy="357531"/>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4" name="Flow"/>
          <p:cNvCxnSpPr/>
          <p:nvPr/>
        </p:nvCxnSpPr>
        <p:spPr>
          <a:xfrm flipV="1">
            <a:off x="5998464" y="3865626"/>
            <a:ext cx="225399" cy="12435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5730316" y="3535299"/>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5730316" y="3877284"/>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955715" y="3465347"/>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955715" y="3706291"/>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955715" y="3947236"/>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181115" y="3589705"/>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181115" y="3822877"/>
            <a:ext cx="85496" cy="85496"/>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abel: Published / model"/>
          <p:cNvSpPr txBox="1"/>
          <p:nvPr/>
        </p:nvSpPr>
        <p:spPr>
          <a:xfrm>
            <a:off x="4946904" y="4306824"/>
            <a:ext cx="2103120" cy="658368"/>
          </a:xfrm>
          <a:prstGeom prst="rect">
            <a:avLst/>
          </a:prstGeom>
          <a:noFill/>
        </p:spPr>
        <p:txBody>
          <a:bodyPr wrap="square" lIns="0" rIns="0" tIns="0" bIns="0" anchor="ctr">
            <a:spAutoFit/>
          </a:bodyPr>
          <a:lstStyle/>
          <a:p>
            <a:pPr algn="ctr"/>
            <a:r>
              <a:rPr sz="1800" b="1" lang="en-US">
                <a:solidFill>
                  <a:srgbClr val="7446A6"/>
                </a:solidFill>
                <a:latin typeface="Arial"/>
              </a:rPr>
              <a:t>Published
model</a:t>
            </a:r>
          </a:p>
        </p:txBody>
      </p:sp>
      <p:cxnSp>
        <p:nvCxnSpPr>
          <p:cNvPr id="73" name="Flow"/>
          <p:cNvCxnSpPr/>
          <p:nvPr/>
        </p:nvCxnSpPr>
        <p:spPr>
          <a:xfrm>
            <a:off x="6492240" y="3749039"/>
            <a:ext cx="850391" cy="0"/>
          </a:xfrm>
          <a:prstGeom prst="line">
            <a:avLst/>
          </a:prstGeom>
          <a:ln w="2794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Node: Attested / inference"/>
          <p:cNvSpPr/>
          <p:nvPr/>
        </p:nvSpPr>
        <p:spPr>
          <a:xfrm>
            <a:off x="7388352" y="3268979"/>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Label: Attested / inference"/>
          <p:cNvSpPr txBox="1"/>
          <p:nvPr/>
        </p:nvSpPr>
        <p:spPr>
          <a:xfrm>
            <a:off x="7452360" y="3296411"/>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76" name="Oval 75"/>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1"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2" name="Oval 81"/>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84" name="Flow"/>
          <p:cNvCxnSpPr/>
          <p:nvPr/>
        </p:nvCxnSpPr>
        <p:spPr>
          <a:xfrm>
            <a:off x="8065008" y="2743200"/>
            <a:ext cx="0" cy="46634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Label: MCP"/>
          <p:cNvSpPr txBox="1"/>
          <p:nvPr/>
        </p:nvSpPr>
        <p:spPr>
          <a:xfrm>
            <a:off x="7397496" y="283921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86" name="Flow"/>
          <p:cNvCxnSpPr/>
          <p:nvPr/>
        </p:nvCxnSpPr>
        <p:spPr>
          <a:xfrm flipV="1">
            <a:off x="8540496" y="2743200"/>
            <a:ext cx="0" cy="46634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Label: Result"/>
          <p:cNvSpPr txBox="1"/>
          <p:nvPr/>
        </p:nvSpPr>
        <p:spPr>
          <a:xfrm>
            <a:off x="8668512" y="283921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88" name="Flow"/>
          <p:cNvCxnSpPr/>
          <p:nvPr/>
        </p:nvCxnSpPr>
        <p:spPr>
          <a:xfrm>
            <a:off x="9244584" y="3749039"/>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Label: Tool receipt"/>
          <p:cNvSpPr txBox="1"/>
          <p:nvPr/>
        </p:nvSpPr>
        <p:spPr>
          <a:xfrm>
            <a:off x="9281160" y="3282696"/>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90" name="Oval 89"/>
          <p:cNvSpPr/>
          <p:nvPr/>
        </p:nvSpPr>
        <p:spPr>
          <a:xfrm>
            <a:off x="10433304" y="3310127"/>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0755630" y="343037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716768" y="346923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0677906" y="350809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Flow"/>
          <p:cNvCxnSpPr/>
          <p:nvPr/>
        </p:nvCxnSpPr>
        <p:spPr>
          <a:xfrm>
            <a:off x="10755630" y="364022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5" name="Flow"/>
          <p:cNvCxnSpPr/>
          <p:nvPr/>
        </p:nvCxnSpPr>
        <p:spPr>
          <a:xfrm>
            <a:off x="10755630" y="3749039"/>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6" name="Flow"/>
          <p:cNvCxnSpPr/>
          <p:nvPr/>
        </p:nvCxnSpPr>
        <p:spPr>
          <a:xfrm>
            <a:off x="10755630" y="385785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97" name="Label: Transparency / log"/>
          <p:cNvSpPr txBox="1"/>
          <p:nvPr/>
        </p:nvSpPr>
        <p:spPr>
          <a:xfrm>
            <a:off x="9820656" y="430682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I2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371599" y="1737360"/>
            <a:ext cx="3291840" cy="329184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763623" y="2281944"/>
            <a:ext cx="30740" cy="3512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733892" y="2317073"/>
            <a:ext cx="29731" cy="359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705193" y="2353060"/>
            <a:ext cx="28699" cy="3681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677550" y="2389875"/>
            <a:ext cx="27643" cy="3761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650985" y="2427489"/>
            <a:ext cx="26565" cy="3838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625519" y="2465872"/>
            <a:ext cx="25466" cy="3912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601173" y="2504993"/>
            <a:ext cx="24346" cy="3982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577965" y="2544820"/>
            <a:ext cx="23208" cy="40502"/>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2591524" y="4973116"/>
            <a:ext cx="45256" cy="114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2636780" y="4984557"/>
            <a:ext cx="45561" cy="1015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2682341" y="4994710"/>
            <a:ext cx="45832" cy="885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2728173" y="5003567"/>
            <a:ext cx="46064" cy="755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2774237" y="5011120"/>
            <a:ext cx="46260" cy="624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2820497" y="5017365"/>
            <a:ext cx="46418" cy="493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2866915" y="5022295"/>
            <a:ext cx="46540" cy="361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2913455" y="5025906"/>
            <a:ext cx="46623" cy="2291"/>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658080" y="3250563"/>
            <a:ext cx="3104" cy="4657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653657" y="3204093"/>
            <a:ext cx="4423" cy="4647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647917" y="3157768"/>
            <a:ext cx="5740" cy="4632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4640867" y="3111624"/>
            <a:ext cx="7050" cy="4614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4632510" y="3065699"/>
            <a:ext cx="8357" cy="4592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4622855" y="3020029"/>
            <a:ext cx="9655" cy="4567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4611908" y="2974651"/>
            <a:ext cx="10947" cy="4537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4599679" y="2929602"/>
            <a:ext cx="12229" cy="45049"/>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2029967" y="1449324"/>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2093975" y="1476756"/>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860017" y="4039304"/>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924025" y="4066736"/>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3570250" y="3925004"/>
            <a:ext cx="1591056" cy="804672"/>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3634258" y="3952436"/>
            <a:ext cx="1463040" cy="749808"/>
          </a:xfrm>
          <a:prstGeom prst="rect">
            <a:avLst/>
          </a:prstGeom>
          <a:noFill/>
        </p:spPr>
        <p:txBody>
          <a:bodyPr wrap="square" lIns="0" rIns="0" tIns="0" bIns="0" anchor="ctr">
            <a:spAutoFit/>
          </a:bodyPr>
          <a:lstStyle/>
          <a:p>
            <a:pPr algn="ctr"/>
            <a:r>
              <a:rPr sz="1700" b="1" lang="en-US">
                <a:solidFill>
                  <a:srgbClr val="7446A6"/>
                </a:solidFill>
                <a:latin typeface="Arial"/>
              </a:rPr>
              <a:t>Global
model</a:t>
            </a:r>
          </a:p>
        </p:txBody>
      </p:sp>
      <p:sp>
        <p:nvSpPr>
          <p:cNvPr id="44" name="Label: DFL"/>
          <p:cNvSpPr txBox="1"/>
          <p:nvPr/>
        </p:nvSpPr>
        <p:spPr>
          <a:xfrm>
            <a:off x="2423160" y="2258568"/>
            <a:ext cx="1188720" cy="411480"/>
          </a:xfrm>
          <a:prstGeom prst="rect">
            <a:avLst/>
          </a:prstGeom>
          <a:noFill/>
        </p:spPr>
        <p:txBody>
          <a:bodyPr wrap="square" lIns="0" rIns="0" tIns="0" bIns="0" anchor="ctr">
            <a:spAutoFit/>
          </a:bodyPr>
          <a:lstStyle/>
          <a:p>
            <a:pPr algn="ctr"/>
            <a:r>
              <a:rPr sz="2500" b="1" lang="en-US">
                <a:solidFill>
                  <a:srgbClr val="207548"/>
                </a:solidFill>
                <a:latin typeface="Arial"/>
              </a:rPr>
              <a:t>DFL</a:t>
            </a:r>
          </a:p>
        </p:txBody>
      </p:sp>
      <p:sp>
        <p:nvSpPr>
          <p:cNvPr id="45" name="Internal infrastructure: Blockchain"/>
          <p:cNvSpPr/>
          <p:nvPr/>
        </p:nvSpPr>
        <p:spPr>
          <a:xfrm>
            <a:off x="1499616" y="2807208"/>
            <a:ext cx="1444752" cy="996696"/>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Flow"/>
          <p:cNvCxnSpPr/>
          <p:nvPr/>
        </p:nvCxnSpPr>
        <p:spPr>
          <a:xfrm flipV="1">
            <a:off x="1938528" y="3035808"/>
            <a:ext cx="283464" cy="128016"/>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Flow"/>
          <p:cNvCxnSpPr/>
          <p:nvPr/>
        </p:nvCxnSpPr>
        <p:spPr>
          <a:xfrm>
            <a:off x="2221992" y="3035808"/>
            <a:ext cx="283464" cy="128016"/>
          </a:xfrm>
          <a:prstGeom prst="line">
            <a:avLst/>
          </a:prstGeom>
          <a:ln w="22860">
            <a:solidFill>
              <a:srgbClr val="7446A6"/>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847088" y="3072384"/>
            <a:ext cx="182880" cy="182880"/>
          </a:xfrm>
          <a:prstGeom prst="roundRect">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2130552" y="2944368"/>
            <a:ext cx="182880" cy="182880"/>
          </a:xfrm>
          <a:prstGeom prst="roundRect">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414016" y="3072384"/>
            <a:ext cx="182880" cy="182880"/>
          </a:xfrm>
          <a:prstGeom prst="roundRect">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abel: Blockchain"/>
          <p:cNvSpPr txBox="1"/>
          <p:nvPr/>
        </p:nvSpPr>
        <p:spPr>
          <a:xfrm>
            <a:off x="1536192" y="3465576"/>
            <a:ext cx="1371600" cy="274320"/>
          </a:xfrm>
          <a:prstGeom prst="rect">
            <a:avLst/>
          </a:prstGeom>
          <a:noFill/>
        </p:spPr>
        <p:txBody>
          <a:bodyPr wrap="square" lIns="0" rIns="0" tIns="0" bIns="0" anchor="ctr">
            <a:spAutoFit/>
          </a:bodyPr>
          <a:lstStyle/>
          <a:p>
            <a:pPr algn="ctr"/>
            <a:r>
              <a:rPr sz="1600" b="1" lang="en-US">
                <a:solidFill>
                  <a:srgbClr val="7446A6"/>
                </a:solidFill>
                <a:latin typeface="Arial"/>
              </a:rPr>
              <a:t>Blockchain</a:t>
            </a:r>
          </a:p>
        </p:txBody>
      </p:sp>
      <p:sp>
        <p:nvSpPr>
          <p:cNvPr id="52" name="Internal infrastructure: IPFS"/>
          <p:cNvSpPr/>
          <p:nvPr/>
        </p:nvSpPr>
        <p:spPr>
          <a:xfrm>
            <a:off x="3090672" y="2807208"/>
            <a:ext cx="1444752" cy="996696"/>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Flow"/>
          <p:cNvCxnSpPr/>
          <p:nvPr/>
        </p:nvCxnSpPr>
        <p:spPr>
          <a:xfrm>
            <a:off x="3813048" y="2862072"/>
            <a:ext cx="228600" cy="137160"/>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4" name="Flow"/>
          <p:cNvCxnSpPr/>
          <p:nvPr/>
        </p:nvCxnSpPr>
        <p:spPr>
          <a:xfrm>
            <a:off x="4041648" y="2999232"/>
            <a:ext cx="0" cy="246888"/>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Flow"/>
          <p:cNvCxnSpPr/>
          <p:nvPr/>
        </p:nvCxnSpPr>
        <p:spPr>
          <a:xfrm flipH="1">
            <a:off x="3813048" y="3246120"/>
            <a:ext cx="228600" cy="137160"/>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6" name="Flow"/>
          <p:cNvCxnSpPr/>
          <p:nvPr/>
        </p:nvCxnSpPr>
        <p:spPr>
          <a:xfrm flipH="1" flipV="1">
            <a:off x="3584448" y="3246120"/>
            <a:ext cx="228600" cy="137160"/>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7" name="Flow"/>
          <p:cNvCxnSpPr/>
          <p:nvPr/>
        </p:nvCxnSpPr>
        <p:spPr>
          <a:xfrm flipV="1">
            <a:off x="3584448" y="2999232"/>
            <a:ext cx="0" cy="246888"/>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8" name="Flow"/>
          <p:cNvCxnSpPr/>
          <p:nvPr/>
        </p:nvCxnSpPr>
        <p:spPr>
          <a:xfrm flipV="1">
            <a:off x="3584448" y="2862072"/>
            <a:ext cx="228600" cy="137160"/>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9" name="Flow"/>
          <p:cNvCxnSpPr/>
          <p:nvPr/>
        </p:nvCxnSpPr>
        <p:spPr>
          <a:xfrm>
            <a:off x="3584448" y="2999232"/>
            <a:ext cx="228600" cy="137160"/>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0" name="Flow"/>
          <p:cNvCxnSpPr/>
          <p:nvPr/>
        </p:nvCxnSpPr>
        <p:spPr>
          <a:xfrm flipV="1">
            <a:off x="3813048" y="2999232"/>
            <a:ext cx="228600" cy="137160"/>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1" name="Flow"/>
          <p:cNvCxnSpPr/>
          <p:nvPr/>
        </p:nvCxnSpPr>
        <p:spPr>
          <a:xfrm>
            <a:off x="3813048" y="3136392"/>
            <a:ext cx="0" cy="246888"/>
          </a:xfrm>
          <a:prstGeom prst="line">
            <a:avLst/>
          </a:prstGeom>
          <a:ln w="19050">
            <a:solidFill>
              <a:srgbClr val="7446A6"/>
            </a:solidFill>
          </a:ln>
        </p:spPr>
        <p:style>
          <a:lnRef idx="2">
            <a:schemeClr val="accent1"/>
          </a:lnRef>
          <a:fillRef idx="0">
            <a:schemeClr val="accent1"/>
          </a:fillRef>
          <a:effectRef idx="1">
            <a:schemeClr val="accent1"/>
          </a:effectRef>
          <a:fontRef idx="minor">
            <a:schemeClr val="tx1"/>
          </a:fontRef>
        </p:style>
      </p:cxnSp>
      <p:sp>
        <p:nvSpPr>
          <p:cNvPr id="62" name="Label: IPFS"/>
          <p:cNvSpPr txBox="1"/>
          <p:nvPr/>
        </p:nvSpPr>
        <p:spPr>
          <a:xfrm>
            <a:off x="3127248" y="3465576"/>
            <a:ext cx="1371600" cy="274320"/>
          </a:xfrm>
          <a:prstGeom prst="rect">
            <a:avLst/>
          </a:prstGeom>
          <a:noFill/>
        </p:spPr>
        <p:txBody>
          <a:bodyPr wrap="square" lIns="0" rIns="0" tIns="0" bIns="0" anchor="ctr">
            <a:spAutoFit/>
          </a:bodyPr>
          <a:lstStyle/>
          <a:p>
            <a:pPr algn="ctr"/>
            <a:r>
              <a:rPr sz="1600" b="1" lang="en-US">
                <a:solidFill>
                  <a:srgbClr val="7446A6"/>
                </a:solidFill>
                <a:latin typeface="Arial"/>
              </a:rPr>
              <a:t>IPFS</a:t>
            </a:r>
          </a:p>
        </p:txBody>
      </p:sp>
      <p:cxnSp>
        <p:nvCxnSpPr>
          <p:cNvPr id="63" name="Flow"/>
          <p:cNvCxnSpPr/>
          <p:nvPr/>
        </p:nvCxnSpPr>
        <p:spPr>
          <a:xfrm>
            <a:off x="5216170" y="4327340"/>
            <a:ext cx="2126461" cy="0"/>
          </a:xfrm>
          <a:prstGeom prst="line">
            <a:avLst/>
          </a:prstGeom>
          <a:ln w="29209">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Label: Published model"/>
          <p:cNvSpPr txBox="1"/>
          <p:nvPr/>
        </p:nvSpPr>
        <p:spPr>
          <a:xfrm>
            <a:off x="5349240" y="3815276"/>
            <a:ext cx="1901952" cy="329184"/>
          </a:xfrm>
          <a:prstGeom prst="rect">
            <a:avLst/>
          </a:prstGeom>
          <a:noFill/>
        </p:spPr>
        <p:txBody>
          <a:bodyPr wrap="square" lIns="0" rIns="0" tIns="0" bIns="0" anchor="ctr">
            <a:spAutoFit/>
          </a:bodyPr>
          <a:lstStyle/>
          <a:p>
            <a:pPr algn="ctr"/>
            <a:r>
              <a:rPr sz="1600" b="0" lang="en-US">
                <a:solidFill>
                  <a:srgbClr val="7446A6"/>
                </a:solidFill>
                <a:latin typeface="Arial"/>
              </a:rPr>
              <a:t>Published model</a:t>
            </a:r>
          </a:p>
        </p:txBody>
      </p:sp>
      <p:sp>
        <p:nvSpPr>
          <p:cNvPr id="65" name="Node: Attested / inference"/>
          <p:cNvSpPr/>
          <p:nvPr/>
        </p:nvSpPr>
        <p:spPr>
          <a:xfrm>
            <a:off x="7388352" y="3847280"/>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abel: Attested / inference"/>
          <p:cNvSpPr txBox="1"/>
          <p:nvPr/>
        </p:nvSpPr>
        <p:spPr>
          <a:xfrm>
            <a:off x="7452360" y="3874712"/>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67" name="Oval 66"/>
          <p:cNvSpPr/>
          <p:nvPr/>
        </p:nvSpPr>
        <p:spPr>
          <a:xfrm>
            <a:off x="7854696" y="146304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091525" y="174650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186348" y="184909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349569" y="184909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Flow"/>
          <p:cNvCxnSpPr/>
          <p:nvPr/>
        </p:nvCxnSpPr>
        <p:spPr>
          <a:xfrm>
            <a:off x="8223656" y="197967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2" name="Flow"/>
          <p:cNvCxnSpPr/>
          <p:nvPr/>
        </p:nvCxnSpPr>
        <p:spPr>
          <a:xfrm flipV="1">
            <a:off x="8293608" y="166100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8262518" y="159882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abel: Agent"/>
          <p:cNvSpPr txBox="1"/>
          <p:nvPr/>
        </p:nvSpPr>
        <p:spPr>
          <a:xfrm>
            <a:off x="7242048" y="245973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75" name="Flow"/>
          <p:cNvCxnSpPr/>
          <p:nvPr/>
        </p:nvCxnSpPr>
        <p:spPr>
          <a:xfrm>
            <a:off x="8065008" y="2834640"/>
            <a:ext cx="0" cy="95320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Label: MCP"/>
          <p:cNvSpPr txBox="1"/>
          <p:nvPr/>
        </p:nvSpPr>
        <p:spPr>
          <a:xfrm>
            <a:off x="7397496" y="317408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7" name="Flow"/>
          <p:cNvCxnSpPr/>
          <p:nvPr/>
        </p:nvCxnSpPr>
        <p:spPr>
          <a:xfrm flipV="1">
            <a:off x="8540496" y="2834640"/>
            <a:ext cx="0" cy="95320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Label: Result"/>
          <p:cNvSpPr txBox="1"/>
          <p:nvPr/>
        </p:nvSpPr>
        <p:spPr>
          <a:xfrm>
            <a:off x="8668512" y="317408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9" name="Flow"/>
          <p:cNvCxnSpPr/>
          <p:nvPr/>
        </p:nvCxnSpPr>
        <p:spPr>
          <a:xfrm>
            <a:off x="9244584" y="4327340"/>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Label: Tool receipt"/>
          <p:cNvSpPr txBox="1"/>
          <p:nvPr/>
        </p:nvSpPr>
        <p:spPr>
          <a:xfrm>
            <a:off x="9281160" y="3860996"/>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81" name="Oval 80"/>
          <p:cNvSpPr/>
          <p:nvPr/>
        </p:nvSpPr>
        <p:spPr>
          <a:xfrm>
            <a:off x="10433304" y="388842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755630" y="4008672"/>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716768" y="4047534"/>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677906" y="4086396"/>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Flow"/>
          <p:cNvCxnSpPr/>
          <p:nvPr/>
        </p:nvCxnSpPr>
        <p:spPr>
          <a:xfrm>
            <a:off x="10755630" y="4218527"/>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6" name="Flow"/>
          <p:cNvCxnSpPr/>
          <p:nvPr/>
        </p:nvCxnSpPr>
        <p:spPr>
          <a:xfrm>
            <a:off x="10755630" y="432734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7" name="Flow"/>
          <p:cNvCxnSpPr/>
          <p:nvPr/>
        </p:nvCxnSpPr>
        <p:spPr>
          <a:xfrm>
            <a:off x="10755630" y="4436154"/>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8" name="Label: Transparency / log"/>
          <p:cNvSpPr txBox="1"/>
          <p:nvPr/>
        </p:nvSpPr>
        <p:spPr>
          <a:xfrm>
            <a:off x="9820656" y="488512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I3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1325879" y="1874519"/>
            <a:ext cx="3383280" cy="338328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1728793" y="2434231"/>
            <a:ext cx="31593" cy="3610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1698236" y="2470336"/>
            <a:ext cx="30557" cy="3698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1668740" y="2507322"/>
            <a:ext cx="29496" cy="3783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1640329" y="2545160"/>
            <a:ext cx="28411" cy="3865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1613026" y="2583819"/>
            <a:ext cx="27303" cy="3944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1586852" y="2623268"/>
            <a:ext cx="26174" cy="4020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1561830" y="2663476"/>
            <a:ext cx="25022" cy="409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1537978" y="2704409"/>
            <a:ext cx="23852" cy="41627"/>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a:off x="2579691" y="5200158"/>
            <a:ext cx="46513" cy="1175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a:off x="2626204" y="5211917"/>
            <a:ext cx="46827" cy="1043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a:off x="2673031" y="5222352"/>
            <a:ext cx="47104" cy="910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a:off x="2720135" y="5231455"/>
            <a:ext cx="47344" cy="776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a:off x="2767479" y="5239218"/>
            <a:ext cx="47545" cy="641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a:off x="2815024" y="5245636"/>
            <a:ext cx="47708" cy="50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a:off x="2862732" y="5250703"/>
            <a:ext cx="47832" cy="371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a:off x="2910564" y="5254415"/>
            <a:ext cx="47918" cy="2354"/>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4703651" y="3429756"/>
            <a:ext cx="3190" cy="4787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4699105" y="3381996"/>
            <a:ext cx="4546" cy="4776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4693206" y="3334384"/>
            <a:ext cx="5899" cy="4761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4685960" y="3286958"/>
            <a:ext cx="7246" cy="4742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4677371" y="3239757"/>
            <a:ext cx="8589" cy="4720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4667448" y="3192819"/>
            <a:ext cx="9923" cy="4693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4656197" y="3146181"/>
            <a:ext cx="11251" cy="4663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4643628" y="3099880"/>
            <a:ext cx="12569" cy="46301"/>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2029967" y="1586484"/>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2093975" y="1613916"/>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822565" y="4248408"/>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886573" y="4275840"/>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3607702" y="4134108"/>
            <a:ext cx="1591056" cy="804672"/>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3671710" y="4161540"/>
            <a:ext cx="1463040" cy="749808"/>
          </a:xfrm>
          <a:prstGeom prst="rect">
            <a:avLst/>
          </a:prstGeom>
          <a:noFill/>
        </p:spPr>
        <p:txBody>
          <a:bodyPr wrap="square" lIns="0" rIns="0" tIns="0" bIns="0" anchor="ctr">
            <a:spAutoFit/>
          </a:bodyPr>
          <a:lstStyle/>
          <a:p>
            <a:pPr algn="ctr"/>
            <a:r>
              <a:rPr sz="1700" b="1" lang="en-US">
                <a:solidFill>
                  <a:srgbClr val="7446A6"/>
                </a:solidFill>
                <a:latin typeface="Arial"/>
              </a:rPr>
              <a:t>Global
model</a:t>
            </a:r>
          </a:p>
        </p:txBody>
      </p:sp>
      <p:sp>
        <p:nvSpPr>
          <p:cNvPr id="44" name="Label: DFL"/>
          <p:cNvSpPr txBox="1"/>
          <p:nvPr/>
        </p:nvSpPr>
        <p:spPr>
          <a:xfrm>
            <a:off x="2423160" y="2249424"/>
            <a:ext cx="1188720" cy="365760"/>
          </a:xfrm>
          <a:prstGeom prst="rect">
            <a:avLst/>
          </a:prstGeom>
          <a:noFill/>
        </p:spPr>
        <p:txBody>
          <a:bodyPr wrap="square" lIns="0" rIns="0" tIns="0" bIns="0" anchor="ctr">
            <a:spAutoFit/>
          </a:bodyPr>
          <a:lstStyle/>
          <a:p>
            <a:pPr algn="ctr"/>
            <a:r>
              <a:rPr sz="2400" b="1" lang="en-US">
                <a:solidFill>
                  <a:srgbClr val="207548"/>
                </a:solidFill>
                <a:latin typeface="Arial"/>
              </a:rPr>
              <a:t>DFL</a:t>
            </a:r>
          </a:p>
        </p:txBody>
      </p:sp>
      <p:sp>
        <p:nvSpPr>
          <p:cNvPr id="45" name="Internal infrastructure: Blockchain"/>
          <p:cNvSpPr/>
          <p:nvPr/>
        </p:nvSpPr>
        <p:spPr>
          <a:xfrm>
            <a:off x="2002536" y="2660903"/>
            <a:ext cx="1847088" cy="676656"/>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abel: Blockchain"/>
          <p:cNvSpPr txBox="1"/>
          <p:nvPr/>
        </p:nvSpPr>
        <p:spPr>
          <a:xfrm>
            <a:off x="2048256" y="2743200"/>
            <a:ext cx="1755648" cy="301752"/>
          </a:xfrm>
          <a:prstGeom prst="rect">
            <a:avLst/>
          </a:prstGeom>
          <a:noFill/>
        </p:spPr>
        <p:txBody>
          <a:bodyPr wrap="square" lIns="0" rIns="0" tIns="0" bIns="0" anchor="ctr">
            <a:spAutoFit/>
          </a:bodyPr>
          <a:lstStyle/>
          <a:p>
            <a:pPr algn="ctr"/>
            <a:r>
              <a:rPr sz="1700" b="1" lang="en-US">
                <a:solidFill>
                  <a:srgbClr val="7446A6"/>
                </a:solidFill>
                <a:latin typeface="Arial"/>
              </a:rPr>
              <a:t>Blockchain</a:t>
            </a:r>
          </a:p>
        </p:txBody>
      </p:sp>
      <p:sp>
        <p:nvSpPr>
          <p:cNvPr id="47" name="Label: Rounds &amp; references"/>
          <p:cNvSpPr txBox="1"/>
          <p:nvPr/>
        </p:nvSpPr>
        <p:spPr>
          <a:xfrm>
            <a:off x="2048256" y="3081527"/>
            <a:ext cx="1755648" cy="210312"/>
          </a:xfrm>
          <a:prstGeom prst="rect">
            <a:avLst/>
          </a:prstGeom>
          <a:noFill/>
        </p:spPr>
        <p:txBody>
          <a:bodyPr wrap="square" lIns="0" rIns="0" tIns="0" bIns="0" anchor="ctr">
            <a:spAutoFit/>
          </a:bodyPr>
          <a:lstStyle/>
          <a:p>
            <a:pPr algn="ctr"/>
            <a:r>
              <a:rPr sz="1250" b="0" lang="en-US">
                <a:solidFill>
                  <a:srgbClr val="7446A6"/>
                </a:solidFill>
                <a:latin typeface="Arial"/>
              </a:rPr>
              <a:t>Rounds &amp; references</a:t>
            </a:r>
          </a:p>
        </p:txBody>
      </p:sp>
      <p:sp>
        <p:nvSpPr>
          <p:cNvPr id="48" name="Internal infrastructure: IPFS"/>
          <p:cNvSpPr/>
          <p:nvPr/>
        </p:nvSpPr>
        <p:spPr>
          <a:xfrm>
            <a:off x="2002536" y="3456432"/>
            <a:ext cx="1847088" cy="676656"/>
          </a:xfrm>
          <a:prstGeom prst="roundRect">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abel: IPFS"/>
          <p:cNvSpPr txBox="1"/>
          <p:nvPr/>
        </p:nvSpPr>
        <p:spPr>
          <a:xfrm>
            <a:off x="2048256" y="3538728"/>
            <a:ext cx="1755648" cy="301752"/>
          </a:xfrm>
          <a:prstGeom prst="rect">
            <a:avLst/>
          </a:prstGeom>
          <a:noFill/>
        </p:spPr>
        <p:txBody>
          <a:bodyPr wrap="square" lIns="0" rIns="0" tIns="0" bIns="0" anchor="ctr">
            <a:spAutoFit/>
          </a:bodyPr>
          <a:lstStyle/>
          <a:p>
            <a:pPr algn="ctr"/>
            <a:r>
              <a:rPr sz="1700" b="1" lang="en-US">
                <a:solidFill>
                  <a:srgbClr val="7446A6"/>
                </a:solidFill>
                <a:latin typeface="Arial"/>
              </a:rPr>
              <a:t>IPFS</a:t>
            </a:r>
          </a:p>
        </p:txBody>
      </p:sp>
      <p:sp>
        <p:nvSpPr>
          <p:cNvPr id="50" name="Label: Model files"/>
          <p:cNvSpPr txBox="1"/>
          <p:nvPr/>
        </p:nvSpPr>
        <p:spPr>
          <a:xfrm>
            <a:off x="2048256" y="3877056"/>
            <a:ext cx="1755648" cy="210312"/>
          </a:xfrm>
          <a:prstGeom prst="rect">
            <a:avLst/>
          </a:prstGeom>
          <a:noFill/>
        </p:spPr>
        <p:txBody>
          <a:bodyPr wrap="square" lIns="0" rIns="0" tIns="0" bIns="0" anchor="ctr">
            <a:spAutoFit/>
          </a:bodyPr>
          <a:lstStyle/>
          <a:p>
            <a:pPr algn="ctr"/>
            <a:r>
              <a:rPr sz="1250" b="0" lang="en-US">
                <a:solidFill>
                  <a:srgbClr val="7446A6"/>
                </a:solidFill>
                <a:latin typeface="Arial"/>
              </a:rPr>
              <a:t>Model files</a:t>
            </a:r>
          </a:p>
        </p:txBody>
      </p:sp>
      <p:cxnSp>
        <p:nvCxnSpPr>
          <p:cNvPr id="51" name="Flow"/>
          <p:cNvCxnSpPr/>
          <p:nvPr/>
        </p:nvCxnSpPr>
        <p:spPr>
          <a:xfrm>
            <a:off x="3904487" y="2999232"/>
            <a:ext cx="2752345"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2" name="Flow"/>
          <p:cNvCxnSpPr/>
          <p:nvPr/>
        </p:nvCxnSpPr>
        <p:spPr>
          <a:xfrm>
            <a:off x="6656832" y="2999232"/>
            <a:ext cx="0" cy="493776"/>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3" name="Flow"/>
          <p:cNvCxnSpPr/>
          <p:nvPr/>
        </p:nvCxnSpPr>
        <p:spPr>
          <a:xfrm>
            <a:off x="6656832" y="3493008"/>
            <a:ext cx="685799"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ow"/>
          <p:cNvCxnSpPr/>
          <p:nvPr/>
        </p:nvCxnSpPr>
        <p:spPr>
          <a:xfrm>
            <a:off x="3904487" y="3794760"/>
            <a:ext cx="2752345"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Flow"/>
          <p:cNvCxnSpPr/>
          <p:nvPr/>
        </p:nvCxnSpPr>
        <p:spPr>
          <a:xfrm>
            <a:off x="6656832" y="3794760"/>
            <a:ext cx="0" cy="210312"/>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6" name="Flow"/>
          <p:cNvCxnSpPr/>
          <p:nvPr/>
        </p:nvCxnSpPr>
        <p:spPr>
          <a:xfrm>
            <a:off x="6656832" y="4005072"/>
            <a:ext cx="685799"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Label: Model reference"/>
          <p:cNvSpPr txBox="1"/>
          <p:nvPr/>
        </p:nvSpPr>
        <p:spPr>
          <a:xfrm>
            <a:off x="4882896" y="2596896"/>
            <a:ext cx="1792224" cy="292608"/>
          </a:xfrm>
          <a:prstGeom prst="rect">
            <a:avLst/>
          </a:prstGeom>
          <a:noFill/>
        </p:spPr>
        <p:txBody>
          <a:bodyPr wrap="square" lIns="0" rIns="0" tIns="0" bIns="0" anchor="ctr">
            <a:spAutoFit/>
          </a:bodyPr>
          <a:lstStyle/>
          <a:p>
            <a:pPr algn="ctr"/>
            <a:r>
              <a:rPr sz="1500" b="0" lang="en-US">
                <a:solidFill>
                  <a:srgbClr val="7446A6"/>
                </a:solidFill>
                <a:latin typeface="Arial"/>
              </a:rPr>
              <a:t>Model reference</a:t>
            </a:r>
          </a:p>
        </p:txBody>
      </p:sp>
      <p:sp>
        <p:nvSpPr>
          <p:cNvPr id="58" name="Label: Model files"/>
          <p:cNvSpPr txBox="1"/>
          <p:nvPr/>
        </p:nvSpPr>
        <p:spPr>
          <a:xfrm>
            <a:off x="4928616" y="3986784"/>
            <a:ext cx="1627632" cy="292608"/>
          </a:xfrm>
          <a:prstGeom prst="rect">
            <a:avLst/>
          </a:prstGeom>
          <a:noFill/>
        </p:spPr>
        <p:txBody>
          <a:bodyPr wrap="square" lIns="0" rIns="0" tIns="0" bIns="0" anchor="ctr">
            <a:spAutoFit/>
          </a:bodyPr>
          <a:lstStyle/>
          <a:p>
            <a:pPr algn="ctr"/>
            <a:r>
              <a:rPr sz="1500" b="0" lang="en-US">
                <a:solidFill>
                  <a:srgbClr val="7446A6"/>
                </a:solidFill>
                <a:latin typeface="Arial"/>
              </a:rPr>
              <a:t>Model files</a:t>
            </a:r>
          </a:p>
        </p:txBody>
      </p:sp>
      <p:sp>
        <p:nvSpPr>
          <p:cNvPr id="59" name="Node: Attested / inference"/>
          <p:cNvSpPr/>
          <p:nvPr/>
        </p:nvSpPr>
        <p:spPr>
          <a:xfrm>
            <a:off x="7388352" y="3268979"/>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abel: Attested / inference"/>
          <p:cNvSpPr txBox="1"/>
          <p:nvPr/>
        </p:nvSpPr>
        <p:spPr>
          <a:xfrm>
            <a:off x="7452360" y="3296411"/>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61" name="Oval 60"/>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6"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69" name="Flow"/>
          <p:cNvCxnSpPr/>
          <p:nvPr/>
        </p:nvCxnSpPr>
        <p:spPr>
          <a:xfrm>
            <a:off x="8065008" y="2743200"/>
            <a:ext cx="0" cy="46634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Label: MCP"/>
          <p:cNvSpPr txBox="1"/>
          <p:nvPr/>
        </p:nvSpPr>
        <p:spPr>
          <a:xfrm>
            <a:off x="7397496" y="283921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1" name="Flow"/>
          <p:cNvCxnSpPr/>
          <p:nvPr/>
        </p:nvCxnSpPr>
        <p:spPr>
          <a:xfrm flipV="1">
            <a:off x="8540496" y="2743200"/>
            <a:ext cx="0" cy="46634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Label: Result"/>
          <p:cNvSpPr txBox="1"/>
          <p:nvPr/>
        </p:nvSpPr>
        <p:spPr>
          <a:xfrm>
            <a:off x="8668512" y="283921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3" name="Flow"/>
          <p:cNvCxnSpPr/>
          <p:nvPr/>
        </p:nvCxnSpPr>
        <p:spPr>
          <a:xfrm>
            <a:off x="9244584" y="3749039"/>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Label: Tool receipt"/>
          <p:cNvSpPr txBox="1"/>
          <p:nvPr/>
        </p:nvSpPr>
        <p:spPr>
          <a:xfrm>
            <a:off x="9281160" y="3282696"/>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75" name="Oval 74"/>
          <p:cNvSpPr/>
          <p:nvPr/>
        </p:nvSpPr>
        <p:spPr>
          <a:xfrm>
            <a:off x="10433304" y="3310127"/>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755630" y="343037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716768" y="346923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677906" y="350809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Flow"/>
          <p:cNvCxnSpPr/>
          <p:nvPr/>
        </p:nvCxnSpPr>
        <p:spPr>
          <a:xfrm>
            <a:off x="10755630" y="364022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0" name="Flow"/>
          <p:cNvCxnSpPr/>
          <p:nvPr/>
        </p:nvCxnSpPr>
        <p:spPr>
          <a:xfrm>
            <a:off x="10755630" y="3749039"/>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1" name="Flow"/>
          <p:cNvCxnSpPr/>
          <p:nvPr/>
        </p:nvCxnSpPr>
        <p:spPr>
          <a:xfrm>
            <a:off x="10755630" y="385785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2" name="Label: Transparency / log"/>
          <p:cNvSpPr txBox="1"/>
          <p:nvPr/>
        </p:nvSpPr>
        <p:spPr>
          <a:xfrm>
            <a:off x="9820656" y="430682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Blockchain and IPFS inside the DFL loop</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