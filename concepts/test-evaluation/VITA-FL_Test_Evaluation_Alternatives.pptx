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D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Existing tests cover specific system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TEST CASE, IMPLEMENTATION AND TEST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Representative cases link each requirement to an implemented check."/>
          <p:cNvSpPr txBox="1"/>
          <p:nvPr/>
        </p:nvSpPr>
        <p:spPr>
          <a:xfrm>
            <a:off x="621792" y="1389888"/>
            <a:ext cx="109545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lang="en-US">
                <a:solidFill>
                  <a:srgbClr val="263440"/>
                </a:solidFill>
                <a:latin typeface="Arial"/>
              </a:rPr>
              <a:t>Representative cases link each requirement to an implemented check.</a:t>
            </a:r>
          </a:p>
        </p:txBody>
      </p:sp>
      <p:sp>
        <p:nvSpPr>
          <p:cNvPr id="14" name="Test evaluation: BOUNDARY"/>
          <p:cNvSpPr txBox="1"/>
          <p:nvPr/>
        </p:nvSpPr>
        <p:spPr>
          <a:xfrm>
            <a:off x="758952" y="1892807"/>
            <a:ext cx="149961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BOUNDARY</a:t>
            </a:r>
          </a:p>
        </p:txBody>
      </p:sp>
      <p:sp>
        <p:nvSpPr>
          <p:cNvPr id="15" name="Test evaluation: EXAMPLE ASSERTION"/>
          <p:cNvSpPr txBox="1"/>
          <p:nvPr/>
        </p:nvSpPr>
        <p:spPr>
          <a:xfrm>
            <a:off x="2414016" y="1892807"/>
            <a:ext cx="30358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EXAMPLE ASSERTION</a:t>
            </a:r>
          </a:p>
        </p:txBody>
      </p:sp>
      <p:sp>
        <p:nvSpPr>
          <p:cNvPr id="16" name="Test evaluation: IMPLEMENTED IN"/>
          <p:cNvSpPr txBox="1"/>
          <p:nvPr/>
        </p:nvSpPr>
        <p:spPr>
          <a:xfrm>
            <a:off x="5577840" y="1892807"/>
            <a:ext cx="2999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IMPLEMENTED IN</a:t>
            </a:r>
          </a:p>
        </p:txBody>
      </p:sp>
      <p:sp>
        <p:nvSpPr>
          <p:cNvPr id="17" name="Test evaluation: TEST TYPE"/>
          <p:cNvSpPr txBox="1"/>
          <p:nvPr/>
        </p:nvSpPr>
        <p:spPr>
          <a:xfrm>
            <a:off x="8897112" y="1892807"/>
            <a:ext cx="2468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TEST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221992"/>
            <a:ext cx="1095451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2258568"/>
            <a:ext cx="41148" cy="4709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Training input"/>
          <p:cNvSpPr txBox="1"/>
          <p:nvPr/>
        </p:nvSpPr>
        <p:spPr>
          <a:xfrm>
            <a:off x="758952" y="2272284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207548"/>
                </a:solidFill>
                <a:latin typeface="Arial"/>
              </a:rPr>
              <a:t>Training input</a:t>
            </a:r>
          </a:p>
        </p:txBody>
      </p:sp>
      <p:sp>
        <p:nvSpPr>
          <p:cNvPr id="21" name="Test evaluation: Changed signed label / is rejected"/>
          <p:cNvSpPr txBox="1"/>
          <p:nvPr/>
        </p:nvSpPr>
        <p:spPr>
          <a:xfrm>
            <a:off x="2414016" y="2272284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Changed signed label
is rejected</a:t>
            </a:r>
          </a:p>
        </p:txBody>
      </p:sp>
      <p:sp>
        <p:nvSpPr>
          <p:cNvPr id="22" name="Test evaluation: dfl/neural_network/tests/"/>
          <p:cNvSpPr txBox="1"/>
          <p:nvPr/>
        </p:nvSpPr>
        <p:spPr>
          <a:xfrm>
            <a:off x="5577840" y="2281428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dfl/neural_network/tests/</a:t>
            </a:r>
          </a:p>
        </p:txBody>
      </p:sp>
      <p:sp>
        <p:nvSpPr>
          <p:cNvPr id="23" name="Test evaluation: test_dicom_provenance.py"/>
          <p:cNvSpPr txBox="1"/>
          <p:nvPr/>
        </p:nvSpPr>
        <p:spPr>
          <a:xfrm>
            <a:off x="5577840" y="2473452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test_dicom_provenance.py</a:t>
            </a:r>
          </a:p>
        </p:txBody>
      </p:sp>
      <p:sp>
        <p:nvSpPr>
          <p:cNvPr id="24" name="Test evaluation: Component"/>
          <p:cNvSpPr txBox="1"/>
          <p:nvPr/>
        </p:nvSpPr>
        <p:spPr>
          <a:xfrm>
            <a:off x="8897112" y="228142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Component</a:t>
            </a:r>
          </a:p>
        </p:txBody>
      </p:sp>
      <p:sp>
        <p:nvSpPr>
          <p:cNvPr id="25" name="Test evaluation: Python · signer fixtures"/>
          <p:cNvSpPr txBox="1"/>
          <p:nvPr/>
        </p:nvSpPr>
        <p:spPr>
          <a:xfrm>
            <a:off x="8897112" y="2519172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Python · signer fixtures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2752344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2775204"/>
            <a:ext cx="41148" cy="47091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st evaluation: Round state"/>
          <p:cNvSpPr txBox="1"/>
          <p:nvPr/>
        </p:nvSpPr>
        <p:spPr>
          <a:xfrm>
            <a:off x="758952" y="2788920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7446A6"/>
                </a:solidFill>
                <a:latin typeface="Arial"/>
              </a:rPr>
              <a:t>Round state</a:t>
            </a:r>
          </a:p>
        </p:txBody>
      </p:sp>
      <p:sp>
        <p:nvSpPr>
          <p:cNvPr id="29" name="Test evaluation: Abort preserves the / last finalized model"/>
          <p:cNvSpPr txBox="1"/>
          <p:nvPr/>
        </p:nvSpPr>
        <p:spPr>
          <a:xfrm>
            <a:off x="2414016" y="2788920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Abort preserves the
last finalized model</a:t>
            </a:r>
          </a:p>
        </p:txBody>
      </p:sp>
      <p:sp>
        <p:nvSpPr>
          <p:cNvPr id="30" name="Test evaluation: smart_contracts/test/"/>
          <p:cNvSpPr txBox="1"/>
          <p:nvPr/>
        </p:nvSpPr>
        <p:spPr>
          <a:xfrm>
            <a:off x="5577840" y="2798064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smart_contracts/test/</a:t>
            </a:r>
          </a:p>
        </p:txBody>
      </p:sp>
      <p:sp>
        <p:nvSpPr>
          <p:cNvPr id="31" name="Test evaluation: GMStorageAbort.t.sol"/>
          <p:cNvSpPr txBox="1"/>
          <p:nvPr/>
        </p:nvSpPr>
        <p:spPr>
          <a:xfrm>
            <a:off x="5577840" y="2990088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GMStorageAbort.t.sol</a:t>
            </a:r>
          </a:p>
        </p:txBody>
      </p:sp>
      <p:sp>
        <p:nvSpPr>
          <p:cNvPr id="32" name="Test evaluation: Contract component"/>
          <p:cNvSpPr txBox="1"/>
          <p:nvPr/>
        </p:nvSpPr>
        <p:spPr>
          <a:xfrm>
            <a:off x="8897112" y="279806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7446A6"/>
                </a:solidFill>
                <a:latin typeface="Arial"/>
              </a:rPr>
              <a:t>Contract component</a:t>
            </a:r>
          </a:p>
        </p:txBody>
      </p:sp>
      <p:sp>
        <p:nvSpPr>
          <p:cNvPr id="33" name="Test evaluation: Foundry · local EVM"/>
          <p:cNvSpPr txBox="1"/>
          <p:nvPr/>
        </p:nvSpPr>
        <p:spPr>
          <a:xfrm>
            <a:off x="8897112" y="3035808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Foundry · local EVM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3268980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" y="3291840"/>
            <a:ext cx="41148" cy="4709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st evaluation: Model exchange"/>
          <p:cNvSpPr txBox="1"/>
          <p:nvPr/>
        </p:nvSpPr>
        <p:spPr>
          <a:xfrm>
            <a:off x="758952" y="3305556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207548"/>
                </a:solidFill>
                <a:latin typeface="Arial"/>
              </a:rPr>
              <a:t>Model exchange</a:t>
            </a:r>
          </a:p>
        </p:txBody>
      </p:sp>
      <p:sp>
        <p:nvSpPr>
          <p:cNvPr id="37" name="Test evaluation: No recipient key → / no decryption"/>
          <p:cNvSpPr txBox="1"/>
          <p:nvPr/>
        </p:nvSpPr>
        <p:spPr>
          <a:xfrm>
            <a:off x="2414016" y="3305556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No recipient key →
no decryption</a:t>
            </a:r>
          </a:p>
        </p:txBody>
      </p:sp>
      <p:sp>
        <p:nvSpPr>
          <p:cNvPr id="38" name="Test evaluation: dfl/node_server/test/"/>
          <p:cNvSpPr txBox="1"/>
          <p:nvPr/>
        </p:nvSpPr>
        <p:spPr>
          <a:xfrm>
            <a:off x="5577840" y="3314700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dfl/node_server/test/</a:t>
            </a:r>
          </a:p>
        </p:txBody>
      </p:sp>
      <p:sp>
        <p:nvSpPr>
          <p:cNvPr id="39" name="Test evaluation: gm_crypto.test.js"/>
          <p:cNvSpPr txBox="1"/>
          <p:nvPr/>
        </p:nvSpPr>
        <p:spPr>
          <a:xfrm>
            <a:off x="5577840" y="3506724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gm_crypto.test.js</a:t>
            </a:r>
          </a:p>
        </p:txBody>
      </p:sp>
      <p:sp>
        <p:nvSpPr>
          <p:cNvPr id="40" name="Test evaluation: Component"/>
          <p:cNvSpPr txBox="1"/>
          <p:nvPr/>
        </p:nvSpPr>
        <p:spPr>
          <a:xfrm>
            <a:off x="8897112" y="331470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Component</a:t>
            </a:r>
          </a:p>
        </p:txBody>
      </p:sp>
      <p:sp>
        <p:nvSpPr>
          <p:cNvPr id="41" name="Test evaluation: Node.js · local AES/RSA"/>
          <p:cNvSpPr txBox="1"/>
          <p:nvPr/>
        </p:nvSpPr>
        <p:spPr>
          <a:xfrm>
            <a:off x="8897112" y="3552444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Node.js · local AES/RSA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3785616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" y="3808476"/>
            <a:ext cx="41148" cy="4709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st evaluation: Inference"/>
          <p:cNvSpPr txBox="1"/>
          <p:nvPr/>
        </p:nvSpPr>
        <p:spPr>
          <a:xfrm>
            <a:off x="758952" y="3822191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1764A1"/>
                </a:solidFill>
                <a:latin typeface="Arial"/>
              </a:rPr>
              <a:t>Inference</a:t>
            </a:r>
          </a:p>
        </p:txBody>
      </p:sp>
      <p:sp>
        <p:nvSpPr>
          <p:cNvPr id="45" name="Test evaluation: Substituted request / is rejected"/>
          <p:cNvSpPr txBox="1"/>
          <p:nvPr/>
        </p:nvSpPr>
        <p:spPr>
          <a:xfrm>
            <a:off x="2414016" y="3822191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Substituted request
is rejected</a:t>
            </a:r>
          </a:p>
        </p:txBody>
      </p:sp>
      <p:sp>
        <p:nvSpPr>
          <p:cNvPr id="46" name="Test evaluation: agent/tests/"/>
          <p:cNvSpPr txBox="1"/>
          <p:nvPr/>
        </p:nvSpPr>
        <p:spPr>
          <a:xfrm>
            <a:off x="5577840" y="383133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agent/tests/</a:t>
            </a:r>
          </a:p>
        </p:txBody>
      </p:sp>
      <p:sp>
        <p:nvSpPr>
          <p:cNvPr id="47" name="Test evaluation: test_tee_inference_client.py"/>
          <p:cNvSpPr txBox="1"/>
          <p:nvPr/>
        </p:nvSpPr>
        <p:spPr>
          <a:xfrm>
            <a:off x="5577840" y="4023360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test_tee_inference_client.py</a:t>
            </a:r>
          </a:p>
        </p:txBody>
      </p:sp>
      <p:sp>
        <p:nvSpPr>
          <p:cNvPr id="48" name="Test evaluation: Component"/>
          <p:cNvSpPr txBox="1"/>
          <p:nvPr/>
        </p:nvSpPr>
        <p:spPr>
          <a:xfrm>
            <a:off x="8897112" y="383133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Component</a:t>
            </a:r>
          </a:p>
        </p:txBody>
      </p:sp>
      <p:sp>
        <p:nvSpPr>
          <p:cNvPr id="49" name="Test evaluation: Python · synthetic quote"/>
          <p:cNvSpPr txBox="1"/>
          <p:nvPr/>
        </p:nvSpPr>
        <p:spPr>
          <a:xfrm>
            <a:off x="8897112" y="4069080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Python · synthetic quote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" y="4302252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" y="4325112"/>
            <a:ext cx="41148" cy="4709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st evaluation: Receiver API"/>
          <p:cNvSpPr txBox="1"/>
          <p:nvPr/>
        </p:nvSpPr>
        <p:spPr>
          <a:xfrm>
            <a:off x="758952" y="4338828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1764A1"/>
                </a:solidFill>
                <a:latin typeface="Arial"/>
              </a:rPr>
              <a:t>Receiver API</a:t>
            </a:r>
          </a:p>
        </p:txBody>
      </p:sp>
      <p:sp>
        <p:nvSpPr>
          <p:cNvPr id="53" name="Test evaluation: Log failure → HTTP 503 / and no receipt"/>
          <p:cNvSpPr txBox="1"/>
          <p:nvPr/>
        </p:nvSpPr>
        <p:spPr>
          <a:xfrm>
            <a:off x="2414016" y="4338828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Log failure → HTTP 503
and no receipt</a:t>
            </a:r>
          </a:p>
        </p:txBody>
      </p:sp>
      <p:sp>
        <p:nvSpPr>
          <p:cNvPr id="54" name="Test evaluation: tee_inference/tests/"/>
          <p:cNvSpPr txBox="1"/>
          <p:nvPr/>
        </p:nvSpPr>
        <p:spPr>
          <a:xfrm>
            <a:off x="5577840" y="4347972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tee_inference/tests/</a:t>
            </a:r>
          </a:p>
        </p:txBody>
      </p:sp>
      <p:sp>
        <p:nvSpPr>
          <p:cNvPr id="55" name="Test evaluation: test_authorization.py"/>
          <p:cNvSpPr txBox="1"/>
          <p:nvPr/>
        </p:nvSpPr>
        <p:spPr>
          <a:xfrm>
            <a:off x="5577840" y="4539996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test_authorization.py</a:t>
            </a:r>
          </a:p>
        </p:txBody>
      </p:sp>
      <p:sp>
        <p:nvSpPr>
          <p:cNvPr id="56" name="Test evaluation: Local integration"/>
          <p:cNvSpPr txBox="1"/>
          <p:nvPr/>
        </p:nvSpPr>
        <p:spPr>
          <a:xfrm>
            <a:off x="8897112" y="43479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Local integration</a:t>
            </a:r>
          </a:p>
        </p:txBody>
      </p:sp>
      <p:sp>
        <p:nvSpPr>
          <p:cNvPr id="57" name="Test evaluation: ASGI · mocked log"/>
          <p:cNvSpPr txBox="1"/>
          <p:nvPr/>
        </p:nvSpPr>
        <p:spPr>
          <a:xfrm>
            <a:off x="8897112" y="4585716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ASGI · mocked log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4818888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" y="4983480"/>
            <a:ext cx="10954512" cy="356616"/>
          </a:xfrm>
          <a:prstGeom prst="rect">
            <a:avLst/>
          </a:prstGeom>
          <a:solidFill>
            <a:srgbClr val="F2F5F7"/>
          </a:solidFill>
          <a:ln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st evaluation: Separate end-to-end evidence: one Phala run · 24 training rounds · final inference"/>
          <p:cNvSpPr txBox="1"/>
          <p:nvPr/>
        </p:nvSpPr>
        <p:spPr>
          <a:xfrm>
            <a:off x="777240" y="5010912"/>
            <a:ext cx="10625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Separate end-to-end evidence: one Phala run · 24 training rounds · final inference</a:t>
            </a:r>
          </a:p>
        </p:txBody>
      </p:sp>
      <p:sp>
        <p:nvSpPr>
          <p:cNvPr id="61" name="Test evaluation: Scope: local fixtures and mocked dependencies; live aggregator failover was not exercised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Scope: local fixtures and mocked dependencies; live aggregator failover was not exercised.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Evaluation along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IMPLEMENTED CHECKS AT FOUR SYSTEM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2852928"/>
            <a:ext cx="228600" cy="0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71031" y="2852928"/>
            <a:ext cx="228601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41664" y="2852928"/>
            <a:ext cx="228600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" y="2560320"/>
            <a:ext cx="2542032" cy="5852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st evaluation: Training data"/>
          <p:cNvSpPr txBox="1"/>
          <p:nvPr/>
        </p:nvSpPr>
        <p:spPr>
          <a:xfrm>
            <a:off x="740664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Training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560320"/>
            <a:ext cx="2542032" cy="58521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st evaluation: Round coordination"/>
          <p:cNvSpPr txBox="1"/>
          <p:nvPr/>
        </p:nvSpPr>
        <p:spPr>
          <a:xfrm>
            <a:off x="3511296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Round coordination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560320"/>
            <a:ext cx="2542032" cy="5852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st evaluation: Inference receiver"/>
          <p:cNvSpPr txBox="1"/>
          <p:nvPr/>
        </p:nvSpPr>
        <p:spPr>
          <a:xfrm>
            <a:off x="6281928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Inference receiver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4" y="2560320"/>
            <a:ext cx="2542032" cy="5852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st evaluation: Agent / tool result"/>
          <p:cNvSpPr txBox="1"/>
          <p:nvPr/>
        </p:nvSpPr>
        <p:spPr>
          <a:xfrm>
            <a:off x="9052560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Agent / tool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380744"/>
            <a:ext cx="2542032" cy="1069848"/>
          </a:xfrm>
          <a:prstGeom prst="roundRect">
            <a:avLst/>
          </a:prstGeom>
          <a:solidFill>
            <a:srgbClr val="EDF6F0"/>
          </a:solidFill>
          <a:ln w="1016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1490472"/>
            <a:ext cx="2304288" cy="26517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st evaluation: Component test"/>
          <p:cNvSpPr txBox="1"/>
          <p:nvPr/>
        </p:nvSpPr>
        <p:spPr>
          <a:xfrm>
            <a:off x="832103" y="150418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Component test</a:t>
            </a:r>
          </a:p>
        </p:txBody>
      </p:sp>
      <p:sp>
        <p:nvSpPr>
          <p:cNvPr id="27" name="Test evaluation: Altered label → rejected"/>
          <p:cNvSpPr txBox="1"/>
          <p:nvPr/>
        </p:nvSpPr>
        <p:spPr>
          <a:xfrm>
            <a:off x="786384" y="1746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Altered label → rejected</a:t>
            </a:r>
          </a:p>
        </p:txBody>
      </p:sp>
      <p:sp>
        <p:nvSpPr>
          <p:cNvPr id="28" name="Test evaluation: test_dicom_provenance.py"/>
          <p:cNvSpPr txBox="1"/>
          <p:nvPr/>
        </p:nvSpPr>
        <p:spPr>
          <a:xfrm>
            <a:off x="786384" y="22494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test_dicom_provenance.py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29584"/>
            <a:ext cx="2542032" cy="1069848"/>
          </a:xfrm>
          <a:prstGeom prst="roundRect">
            <a:avLst/>
          </a:prstGeom>
          <a:solidFill>
            <a:srgbClr val="F3EEF8"/>
          </a:solidFill>
          <a:ln w="1016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7872" y="3639312"/>
            <a:ext cx="2304288" cy="26517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st evaluation: Local EVM test"/>
          <p:cNvSpPr txBox="1"/>
          <p:nvPr/>
        </p:nvSpPr>
        <p:spPr>
          <a:xfrm>
            <a:off x="3602736" y="36530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Local EVM test</a:t>
            </a:r>
          </a:p>
        </p:txBody>
      </p:sp>
      <p:sp>
        <p:nvSpPr>
          <p:cNvPr id="32" name="Test evaluation: Abort → model preserved"/>
          <p:cNvSpPr txBox="1"/>
          <p:nvPr/>
        </p:nvSpPr>
        <p:spPr>
          <a:xfrm>
            <a:off x="3557016" y="38953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Abort → model preserved</a:t>
            </a:r>
          </a:p>
        </p:txBody>
      </p:sp>
      <p:sp>
        <p:nvSpPr>
          <p:cNvPr id="33" name="Test evaluation: GMStorageAbort.t.sol"/>
          <p:cNvSpPr txBox="1"/>
          <p:nvPr/>
        </p:nvSpPr>
        <p:spPr>
          <a:xfrm>
            <a:off x="3557016" y="43982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GMStorageAbort.t.sol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380744"/>
            <a:ext cx="2542032" cy="1069848"/>
          </a:xfrm>
          <a:prstGeom prst="roundRect">
            <a:avLst/>
          </a:prstGeom>
          <a:solidFill>
            <a:srgbClr val="EDF4FA"/>
          </a:solidFill>
          <a:ln w="1016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8504" y="1490472"/>
            <a:ext cx="2304288" cy="26517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st evaluation: Local integration test"/>
          <p:cNvSpPr txBox="1"/>
          <p:nvPr/>
        </p:nvSpPr>
        <p:spPr>
          <a:xfrm>
            <a:off x="6373368" y="150418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Local integration test</a:t>
            </a:r>
          </a:p>
        </p:txBody>
      </p:sp>
      <p:sp>
        <p:nvSpPr>
          <p:cNvPr id="37" name="Test evaluation: Log failure → HTTP 503"/>
          <p:cNvSpPr txBox="1"/>
          <p:nvPr/>
        </p:nvSpPr>
        <p:spPr>
          <a:xfrm>
            <a:off x="6327648" y="1746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Log failure → HTTP 503</a:t>
            </a:r>
          </a:p>
        </p:txBody>
      </p:sp>
      <p:sp>
        <p:nvSpPr>
          <p:cNvPr id="38" name="Test evaluation: test_authorization.py"/>
          <p:cNvSpPr txBox="1"/>
          <p:nvPr/>
        </p:nvSpPr>
        <p:spPr>
          <a:xfrm>
            <a:off x="6327648" y="22494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test_authorization.py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529584"/>
            <a:ext cx="2542032" cy="1069848"/>
          </a:xfrm>
          <a:prstGeom prst="roundRect">
            <a:avLst/>
          </a:prstGeom>
          <a:solidFill>
            <a:srgbClr val="EDF4FA"/>
          </a:solidFill>
          <a:ln w="1016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89136" y="3639312"/>
            <a:ext cx="2304288" cy="26517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st evaluation: Component test"/>
          <p:cNvSpPr txBox="1"/>
          <p:nvPr/>
        </p:nvSpPr>
        <p:spPr>
          <a:xfrm>
            <a:off x="9144000" y="36530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Component test</a:t>
            </a:r>
          </a:p>
        </p:txBody>
      </p:sp>
      <p:sp>
        <p:nvSpPr>
          <p:cNvPr id="42" name="Test evaluation: Altered output → rejected"/>
          <p:cNvSpPr txBox="1"/>
          <p:nvPr/>
        </p:nvSpPr>
        <p:spPr>
          <a:xfrm>
            <a:off x="9098280" y="38953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Altered output → rejected</a:t>
            </a:r>
          </a:p>
        </p:txBody>
      </p:sp>
      <p:sp>
        <p:nvSpPr>
          <p:cNvPr id="43" name="Test evaluation: test_sello_v1.py"/>
          <p:cNvSpPr txBox="1"/>
          <p:nvPr/>
        </p:nvSpPr>
        <p:spPr>
          <a:xfrm>
            <a:off x="9098280" y="43982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test_sello_v1.py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29384" y="2450592"/>
            <a:ext cx="0" cy="109728"/>
          </a:xfrm>
          <a:prstGeom prst="line">
            <a:avLst/>
          </a:prstGeom>
          <a:ln w="13970">
            <a:solidFill>
              <a:srgbClr val="207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70648" y="2450592"/>
            <a:ext cx="0" cy="109728"/>
          </a:xfrm>
          <a:prstGeom prst="line">
            <a:avLst/>
          </a:prstGeom>
          <a:ln w="1397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00016" y="3145536"/>
            <a:ext cx="0" cy="384048"/>
          </a:xfrm>
          <a:prstGeom prst="line">
            <a:avLst/>
          </a:prstGeom>
          <a:ln w="1397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41280" y="3145536"/>
            <a:ext cx="0" cy="384048"/>
          </a:xfrm>
          <a:prstGeom prst="line">
            <a:avLst/>
          </a:prstGeom>
          <a:ln w="1397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st evaluation: dfl/neural_network"/>
          <p:cNvSpPr txBox="1"/>
          <p:nvPr/>
        </p:nvSpPr>
        <p:spPr>
          <a:xfrm>
            <a:off x="658368" y="321868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207548"/>
                </a:solidFill>
                <a:latin typeface="Arial"/>
              </a:rPr>
              <a:t>dfl/neural_network</a:t>
            </a:r>
          </a:p>
        </p:txBody>
      </p:sp>
      <p:sp>
        <p:nvSpPr>
          <p:cNvPr id="49" name="Test evaluation: smart_contracts"/>
          <p:cNvSpPr txBox="1"/>
          <p:nvPr/>
        </p:nvSpPr>
        <p:spPr>
          <a:xfrm>
            <a:off x="3429000" y="22219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7446A6"/>
                </a:solidFill>
                <a:latin typeface="Arial"/>
              </a:rPr>
              <a:t>smart_contracts</a:t>
            </a:r>
          </a:p>
        </p:txBody>
      </p:sp>
      <p:sp>
        <p:nvSpPr>
          <p:cNvPr id="50" name="Test evaluation: tee_inference"/>
          <p:cNvSpPr txBox="1"/>
          <p:nvPr/>
        </p:nvSpPr>
        <p:spPr>
          <a:xfrm>
            <a:off x="6199632" y="321868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tee_inference</a:t>
            </a:r>
          </a:p>
        </p:txBody>
      </p:sp>
      <p:sp>
        <p:nvSpPr>
          <p:cNvPr id="51" name="Test evaluation: agent"/>
          <p:cNvSpPr txBox="1"/>
          <p:nvPr/>
        </p:nvSpPr>
        <p:spPr>
          <a:xfrm>
            <a:off x="8970264" y="22219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828032"/>
            <a:ext cx="10853928" cy="484632"/>
          </a:xfrm>
          <a:prstGeom prst="rect">
            <a:avLst/>
          </a:prstGeom>
          <a:solidFill>
            <a:srgbClr val="F2F5F7"/>
          </a:solidFill>
          <a:ln w="762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" y="4933188"/>
            <a:ext cx="1874519" cy="265176"/>
          </a:xfrm>
          <a:prstGeom prst="rect">
            <a:avLst/>
          </a:prstGeom>
          <a:solidFill>
            <a:srgbClr val="263440"/>
          </a:solidFill>
          <a:ln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st evaluation: CLOUD END-TO-END"/>
          <p:cNvSpPr txBox="1"/>
          <p:nvPr/>
        </p:nvSpPr>
        <p:spPr>
          <a:xfrm>
            <a:off x="813815" y="4946903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lang="en-US">
                <a:solidFill>
                  <a:srgbClr val="FFFFFF"/>
                </a:solidFill>
                <a:latin typeface="Arial"/>
              </a:rPr>
              <a:t>CLOUD END-TO-END</a:t>
            </a:r>
          </a:p>
        </p:txBody>
      </p:sp>
      <p:sp>
        <p:nvSpPr>
          <p:cNvPr id="55" name="Test evaluation: Existing Phala run: 6 workers · 24 training rounds · 1 inference"/>
          <p:cNvSpPr txBox="1"/>
          <p:nvPr/>
        </p:nvSpPr>
        <p:spPr>
          <a:xfrm>
            <a:off x="2779776" y="4901184"/>
            <a:ext cx="855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Existing Phala run: 6 workers · 24 training rounds · 1 inference</a:t>
            </a:r>
          </a:p>
        </p:txBody>
      </p:sp>
      <p:sp>
        <p:nvSpPr>
          <p:cNvPr id="56" name="Test evaluation: Local test cases use controlled dependencies. The cloud run demonstrates the deployed workflow; recovery was not triggered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Local test cases use controlled dependencies. The cloud run demonstrates the deployed workflow; recovery was not triggered.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What happens when evidence is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EXISTING TESTS · THREE CONTROLLED FAULT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01  TRAINING DATA"/>
          <p:cNvSpPr txBox="1"/>
          <p:nvPr/>
        </p:nvSpPr>
        <p:spPr>
          <a:xfrm>
            <a:off x="621792" y="1389888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07548"/>
                </a:solidFill>
                <a:latin typeface="Arial"/>
              </a:rPr>
              <a:t>01  TRAINING DATA</a:t>
            </a:r>
          </a:p>
        </p:txBody>
      </p:sp>
      <p:sp>
        <p:nvSpPr>
          <p:cNvPr id="14" name="Test evaluation: COMPONENT UNDER TEST"/>
          <p:cNvSpPr txBox="1"/>
          <p:nvPr/>
        </p:nvSpPr>
        <p:spPr>
          <a:xfrm>
            <a:off x="4297680" y="1389888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15" name="Test evaluation: EXPECTED RESPONSE"/>
          <p:cNvSpPr txBox="1"/>
          <p:nvPr/>
        </p:nvSpPr>
        <p:spPr>
          <a:xfrm>
            <a:off x="8549640" y="1389888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07548"/>
                </a:solidFill>
                <a:latin typeface="Arial"/>
              </a:rPr>
              <a:t>EXPECTED RESPONSE</a:t>
            </a:r>
          </a:p>
        </p:txBody>
      </p:sp>
      <p:sp>
        <p:nvSpPr>
          <p:cNvPr id="16" name="Test evaluation: Modified signed label"/>
          <p:cNvSpPr txBox="1"/>
          <p:nvPr/>
        </p:nvSpPr>
        <p:spPr>
          <a:xfrm>
            <a:off x="804672" y="170078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Modified signed 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792224"/>
            <a:ext cx="54864" cy="10972"/>
          </a:xfrm>
          <a:prstGeom prst="rect">
            <a:avLst/>
          </a:prstGeom>
          <a:solidFill>
            <a:srgbClr val="207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493008" y="2029968"/>
            <a:ext cx="530352" cy="0"/>
          </a:xfrm>
          <a:prstGeom prst="line">
            <a:avLst/>
          </a:prstGeom>
          <a:ln w="2794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78808" y="1700784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Training provenance / verifier"/>
          <p:cNvSpPr txBox="1"/>
          <p:nvPr/>
        </p:nvSpPr>
        <p:spPr>
          <a:xfrm>
            <a:off x="4315968" y="1728216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Training provenance
verifier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029968"/>
            <a:ext cx="612648" cy="0"/>
          </a:xfrm>
          <a:prstGeom prst="line">
            <a:avLst/>
          </a:prstGeom>
          <a:ln w="2794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03336" y="1700784"/>
            <a:ext cx="3154680" cy="658368"/>
          </a:xfrm>
          <a:prstGeom prst="rect">
            <a:avLst/>
          </a:prstGeom>
          <a:solidFill>
            <a:srgbClr val="EDF6F0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st evaluation: Reject / invalid signature"/>
          <p:cNvSpPr txBox="1"/>
          <p:nvPr/>
        </p:nvSpPr>
        <p:spPr>
          <a:xfrm>
            <a:off x="8558784" y="1728216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207548"/>
                </a:solidFill>
                <a:latin typeface="Arial"/>
              </a:rPr>
              <a:t>Reject
invalid signature</a:t>
            </a:r>
          </a:p>
        </p:txBody>
      </p:sp>
      <p:sp>
        <p:nvSpPr>
          <p:cNvPr id="24" name="Test evaluation: test_dicom_provenance.py"/>
          <p:cNvSpPr txBox="1"/>
          <p:nvPr/>
        </p:nvSpPr>
        <p:spPr>
          <a:xfrm>
            <a:off x="804672" y="2423160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test_dicom_provenance.py</a:t>
            </a:r>
          </a:p>
        </p:txBody>
      </p:sp>
      <p:sp>
        <p:nvSpPr>
          <p:cNvPr id="25" name="Test evaluation: Component · Python"/>
          <p:cNvSpPr txBox="1"/>
          <p:nvPr/>
        </p:nvSpPr>
        <p:spPr>
          <a:xfrm>
            <a:off x="5788152" y="242316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Component · Python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670048"/>
            <a:ext cx="10936224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st evaluation: 02  INFERENCE EVIDENCE"/>
          <p:cNvSpPr txBox="1"/>
          <p:nvPr/>
        </p:nvSpPr>
        <p:spPr>
          <a:xfrm>
            <a:off x="621792" y="2697480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1764A1"/>
                </a:solidFill>
                <a:latin typeface="Arial"/>
              </a:rPr>
              <a:t>02  INFERENCE EVIDENCE</a:t>
            </a:r>
          </a:p>
        </p:txBody>
      </p:sp>
      <p:sp>
        <p:nvSpPr>
          <p:cNvPr id="28" name="Test evaluation: COMPONENT UNDER TEST"/>
          <p:cNvSpPr txBox="1"/>
          <p:nvPr/>
        </p:nvSpPr>
        <p:spPr>
          <a:xfrm>
            <a:off x="4297680" y="2697480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29" name="Test evaluation: EXPECTED RESPONSE"/>
          <p:cNvSpPr txBox="1"/>
          <p:nvPr/>
        </p:nvSpPr>
        <p:spPr>
          <a:xfrm>
            <a:off x="8549640" y="2697480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1764A1"/>
                </a:solidFill>
                <a:latin typeface="Arial"/>
              </a:rPr>
              <a:t>EXPECTED RESPONSE</a:t>
            </a:r>
          </a:p>
        </p:txBody>
      </p:sp>
      <p:sp>
        <p:nvSpPr>
          <p:cNvPr id="30" name="Test evaluation: Substituted / inference request"/>
          <p:cNvSpPr txBox="1"/>
          <p:nvPr/>
        </p:nvSpPr>
        <p:spPr>
          <a:xfrm>
            <a:off x="804672" y="3008376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Substituted
inference request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3099816"/>
            <a:ext cx="54864" cy="10972"/>
          </a:xfrm>
          <a:prstGeom prst="rect">
            <a:avLst/>
          </a:prstGeom>
          <a:solidFill>
            <a:srgbClr val="17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493008" y="3337560"/>
            <a:ext cx="530352" cy="0"/>
          </a:xfrm>
          <a:prstGeom prst="line">
            <a:avLst/>
          </a:prstGeom>
          <a:ln w="2794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178808" y="3008376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st evaluation: AIR bundle verifier"/>
          <p:cNvSpPr txBox="1"/>
          <p:nvPr/>
        </p:nvSpPr>
        <p:spPr>
          <a:xfrm>
            <a:off x="4315968" y="3035808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AIR bundle verifier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35240" y="3337560"/>
            <a:ext cx="612648" cy="0"/>
          </a:xfrm>
          <a:prstGeom prst="line">
            <a:avLst/>
          </a:prstGeom>
          <a:ln w="2794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403336" y="3008376"/>
            <a:ext cx="3154680" cy="658368"/>
          </a:xfrm>
          <a:prstGeom prst="rect">
            <a:avLst/>
          </a:prstGeom>
          <a:solidFill>
            <a:srgbClr val="EDF4FA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st evaluation: Reject / request mismatch"/>
          <p:cNvSpPr txBox="1"/>
          <p:nvPr/>
        </p:nvSpPr>
        <p:spPr>
          <a:xfrm>
            <a:off x="8558784" y="3035808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1764A1"/>
                </a:solidFill>
                <a:latin typeface="Arial"/>
              </a:rPr>
              <a:t>Reject
request mismatch</a:t>
            </a:r>
          </a:p>
        </p:txBody>
      </p:sp>
      <p:sp>
        <p:nvSpPr>
          <p:cNvPr id="38" name="Test evaluation: test_tee_inference_client.py"/>
          <p:cNvSpPr txBox="1"/>
          <p:nvPr/>
        </p:nvSpPr>
        <p:spPr>
          <a:xfrm>
            <a:off x="804672" y="3730752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test_tee_inference_client.py</a:t>
            </a:r>
          </a:p>
        </p:txBody>
      </p:sp>
      <p:sp>
        <p:nvSpPr>
          <p:cNvPr id="39" name="Test evaluation: Component · Python"/>
          <p:cNvSpPr txBox="1"/>
          <p:nvPr/>
        </p:nvSpPr>
        <p:spPr>
          <a:xfrm>
            <a:off x="5788152" y="3730752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Component · Python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977639"/>
            <a:ext cx="10936224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st evaluation: 03  TOOL COMPLETION"/>
          <p:cNvSpPr txBox="1"/>
          <p:nvPr/>
        </p:nvSpPr>
        <p:spPr>
          <a:xfrm>
            <a:off x="621792" y="4005072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7446A6"/>
                </a:solidFill>
                <a:latin typeface="Arial"/>
              </a:rPr>
              <a:t>03  TOOL COMPLETION</a:t>
            </a:r>
          </a:p>
        </p:txBody>
      </p:sp>
      <p:sp>
        <p:nvSpPr>
          <p:cNvPr id="42" name="Test evaluation: COMPONENT UNDER TEST"/>
          <p:cNvSpPr txBox="1"/>
          <p:nvPr/>
        </p:nvSpPr>
        <p:spPr>
          <a:xfrm>
            <a:off x="4297680" y="4005072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43" name="Test evaluation: EXPECTED RESPONSE"/>
          <p:cNvSpPr txBox="1"/>
          <p:nvPr/>
        </p:nvSpPr>
        <p:spPr>
          <a:xfrm>
            <a:off x="8549640" y="4005072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7446A6"/>
                </a:solidFill>
                <a:latin typeface="Arial"/>
              </a:rPr>
              <a:t>EXPECTED RESPONSE</a:t>
            </a:r>
          </a:p>
        </p:txBody>
      </p:sp>
      <p:sp>
        <p:nvSpPr>
          <p:cNvPr id="44" name="Test evaluation: Log publication / failure"/>
          <p:cNvSpPr txBox="1"/>
          <p:nvPr/>
        </p:nvSpPr>
        <p:spPr>
          <a:xfrm>
            <a:off x="804672" y="4315968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Log publication
failure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4407407"/>
            <a:ext cx="54864" cy="10972"/>
          </a:xfrm>
          <a:prstGeom prst="rect">
            <a:avLst/>
          </a:prstGeom>
          <a:solidFill>
            <a:srgbClr val="744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93008" y="4645152"/>
            <a:ext cx="530352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178808" y="4315968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st evaluation: Receiver API"/>
          <p:cNvSpPr txBox="1"/>
          <p:nvPr/>
        </p:nvSpPr>
        <p:spPr>
          <a:xfrm>
            <a:off x="4315968" y="4343400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Receiver API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35240" y="4645152"/>
            <a:ext cx="612648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403336" y="4315968"/>
            <a:ext cx="3154680" cy="658368"/>
          </a:xfrm>
          <a:prstGeom prst="rect">
            <a:avLst/>
          </a:prstGeom>
          <a:solidFill>
            <a:srgbClr val="F3EEF8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st evaluation: HTTP 503 / No receipt"/>
          <p:cNvSpPr txBox="1"/>
          <p:nvPr/>
        </p:nvSpPr>
        <p:spPr>
          <a:xfrm>
            <a:off x="8558784" y="4343400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HTTP 503
No receipt</a:t>
            </a:r>
          </a:p>
        </p:txBody>
      </p:sp>
      <p:sp>
        <p:nvSpPr>
          <p:cNvPr id="52" name="Test evaluation: test_authorization.py"/>
          <p:cNvSpPr txBox="1"/>
          <p:nvPr/>
        </p:nvSpPr>
        <p:spPr>
          <a:xfrm>
            <a:off x="804672" y="5038344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test_authorization.py</a:t>
            </a:r>
          </a:p>
        </p:txBody>
      </p:sp>
      <p:sp>
        <p:nvSpPr>
          <p:cNvPr id="53" name="Test evaluation: Local integration · ASGI, mocked log"/>
          <p:cNvSpPr txBox="1"/>
          <p:nvPr/>
        </p:nvSpPr>
        <p:spPr>
          <a:xfrm>
            <a:off x="5788152" y="5038344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Local integration · ASGI, mocked log</a:t>
            </a:r>
          </a:p>
        </p:txBody>
      </p:sp>
      <p:sp>
        <p:nvSpPr>
          <p:cNvPr id="54" name="Test evaluation: Implemented scenarios; expected outcomes shown. Controlled dependencies; no new test-run results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Implemented scenarios; expected outcomes shown. Controlled dependencies; no new test-run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Different tests answer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THREE COMPLEMENTARY LEVELS OF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Checks explain individual decisions. / The deployed run demonstrates composition."/>
          <p:cNvSpPr txBox="1"/>
          <p:nvPr/>
        </p:nvSpPr>
        <p:spPr>
          <a:xfrm>
            <a:off x="667512" y="1490472"/>
            <a:ext cx="699516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 lang="en-US">
                <a:solidFill>
                  <a:srgbClr val="263440"/>
                </a:solidFill>
                <a:latin typeface="Arial"/>
              </a:rPr>
              <a:t>Checks explain individual decisions.
The deployed run demonstrates composition.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53512"/>
            <a:ext cx="3456432" cy="2368296"/>
          </a:xfrm>
          <a:prstGeom prst="rect">
            <a:avLst/>
          </a:prstGeom>
          <a:solidFill>
            <a:srgbClr val="EDF6F0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2953512"/>
            <a:ext cx="3456432" cy="64008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359152"/>
            <a:ext cx="3456432" cy="2962656"/>
          </a:xfrm>
          <a:prstGeom prst="rect">
            <a:avLst/>
          </a:prstGeom>
          <a:solidFill>
            <a:srgbClr val="EDF4FA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359152"/>
            <a:ext cx="3456432" cy="64008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7848" y="1609344"/>
            <a:ext cx="3593592" cy="3712464"/>
          </a:xfrm>
          <a:prstGeom prst="rect">
            <a:avLst/>
          </a:prstGeom>
          <a:solidFill>
            <a:srgbClr val="F3EEF8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7848" y="1609344"/>
            <a:ext cx="3593592" cy="64008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01  COMPONENT / CONTRACT"/>
          <p:cNvSpPr txBox="1"/>
          <p:nvPr/>
        </p:nvSpPr>
        <p:spPr>
          <a:xfrm>
            <a:off x="868680" y="313639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01  COMPONENT / CONTRACT</a:t>
            </a:r>
          </a:p>
        </p:txBody>
      </p:sp>
      <p:sp>
        <p:nvSpPr>
          <p:cNvPr id="21" name="Test evaluation: Do the checks / reject invalid state?"/>
          <p:cNvSpPr txBox="1"/>
          <p:nvPr/>
        </p:nvSpPr>
        <p:spPr>
          <a:xfrm>
            <a:off x="868680" y="3419856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 the checks
reject invalid state?</a:t>
            </a:r>
          </a:p>
        </p:txBody>
      </p:sp>
      <p:sp>
        <p:nvSpPr>
          <p:cNvPr id="22" name="Test evaluation: Modified input rejected; / last finalized model preserved."/>
          <p:cNvSpPr txBox="1"/>
          <p:nvPr/>
        </p:nvSpPr>
        <p:spPr>
          <a:xfrm>
            <a:off x="868680" y="4151376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Modified input rejected;
last finalized model preserved.</a:t>
            </a:r>
          </a:p>
        </p:txBody>
      </p:sp>
      <p:sp>
        <p:nvSpPr>
          <p:cNvPr id="23" name="Test evaluation: …/tests/test_dicom_provenance.py"/>
          <p:cNvSpPr txBox="1"/>
          <p:nvPr/>
        </p:nvSpPr>
        <p:spPr>
          <a:xfrm>
            <a:off x="868680" y="475488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…/tests/test_dicom_provenance.py</a:t>
            </a:r>
          </a:p>
        </p:txBody>
      </p:sp>
      <p:sp>
        <p:nvSpPr>
          <p:cNvPr id="24" name="Test evaluation: …/test/GMStorageAbort.t.sol"/>
          <p:cNvSpPr txBox="1"/>
          <p:nvPr/>
        </p:nvSpPr>
        <p:spPr>
          <a:xfrm>
            <a:off x="868680" y="5020056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…/test/GMStorageAbort.t.sol</a:t>
            </a:r>
          </a:p>
        </p:txBody>
      </p:sp>
      <p:sp>
        <p:nvSpPr>
          <p:cNvPr id="25" name="Test evaluation: 02  LOCAL SERVICE"/>
          <p:cNvSpPr txBox="1"/>
          <p:nvPr/>
        </p:nvSpPr>
        <p:spPr>
          <a:xfrm>
            <a:off x="4498848" y="256032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1764A1"/>
                </a:solidFill>
                <a:latin typeface="Arial"/>
              </a:rPr>
              <a:t>02  LOCAL SERVICE</a:t>
            </a:r>
          </a:p>
        </p:txBody>
      </p:sp>
      <p:sp>
        <p:nvSpPr>
          <p:cNvPr id="26" name="Test evaluation: Does the receiver / fail closed?"/>
          <p:cNvSpPr txBox="1"/>
          <p:nvPr/>
        </p:nvSpPr>
        <p:spPr>
          <a:xfrm>
            <a:off x="4498848" y="2871216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Does the receiver
fail closed?</a:t>
            </a:r>
          </a:p>
        </p:txBody>
      </p:sp>
      <p:sp>
        <p:nvSpPr>
          <p:cNvPr id="27" name="Test evaluation: ASGI request with an injected / log-publication failure:"/>
          <p:cNvSpPr txBox="1"/>
          <p:nvPr/>
        </p:nvSpPr>
        <p:spPr>
          <a:xfrm>
            <a:off x="4498848" y="359359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ASGI request with an injected
log-publication failure:</a:t>
            </a:r>
          </a:p>
        </p:txBody>
      </p:sp>
      <p:sp>
        <p:nvSpPr>
          <p:cNvPr id="28" name="Test evaluation: HTTP 503 · no receipt"/>
          <p:cNvSpPr txBox="1"/>
          <p:nvPr/>
        </p:nvSpPr>
        <p:spPr>
          <a:xfrm>
            <a:off x="4498848" y="4169663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1764A1"/>
                </a:solidFill>
                <a:latin typeface="Arial"/>
              </a:rPr>
              <a:t>HTTP 503 · no receipt</a:t>
            </a:r>
          </a:p>
        </p:txBody>
      </p:sp>
      <p:sp>
        <p:nvSpPr>
          <p:cNvPr id="29" name="Test evaluation: tee_inference/tests/"/>
          <p:cNvSpPr txBox="1"/>
          <p:nvPr/>
        </p:nvSpPr>
        <p:spPr>
          <a:xfrm>
            <a:off x="4498848" y="4736592"/>
            <a:ext cx="30632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tee_inference/tests/</a:t>
            </a:r>
          </a:p>
        </p:txBody>
      </p:sp>
      <p:sp>
        <p:nvSpPr>
          <p:cNvPr id="30" name="Test evaluation: test_authorization.py"/>
          <p:cNvSpPr txBox="1"/>
          <p:nvPr/>
        </p:nvSpPr>
        <p:spPr>
          <a:xfrm>
            <a:off x="4498848" y="4928616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lang="en-US">
                <a:solidFill>
                  <a:srgbClr val="1764A1"/>
                </a:solidFill>
                <a:latin typeface="Arial"/>
              </a:rPr>
              <a:t>test_authorization.py</a:t>
            </a:r>
          </a:p>
        </p:txBody>
      </p:sp>
      <p:sp>
        <p:nvSpPr>
          <p:cNvPr id="31" name="Test evaluation: 03  DEPLOYED WORKFLOW"/>
          <p:cNvSpPr txBox="1"/>
          <p:nvPr/>
        </p:nvSpPr>
        <p:spPr>
          <a:xfrm>
            <a:off x="8138160" y="1810512"/>
            <a:ext cx="31455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7446A6"/>
                </a:solidFill>
                <a:latin typeface="Arial"/>
              </a:rPr>
              <a:t>03  DEPLOYED WORKFLOW</a:t>
            </a:r>
          </a:p>
        </p:txBody>
      </p:sp>
      <p:sp>
        <p:nvSpPr>
          <p:cNvPr id="32" name="Test evaluation: Do the components / work together?"/>
          <p:cNvSpPr txBox="1"/>
          <p:nvPr/>
        </p:nvSpPr>
        <p:spPr>
          <a:xfrm>
            <a:off x="8138160" y="2157984"/>
            <a:ext cx="31455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 the components
work together?</a:t>
            </a:r>
          </a:p>
        </p:txBody>
      </p:sp>
      <p:sp>
        <p:nvSpPr>
          <p:cNvPr id="33" name="Test evaluation: Existing Phala run"/>
          <p:cNvSpPr txBox="1"/>
          <p:nvPr/>
        </p:nvSpPr>
        <p:spPr>
          <a:xfrm>
            <a:off x="8138160" y="2880360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Existing Phala run</a:t>
            </a:r>
          </a:p>
        </p:txBody>
      </p:sp>
      <p:sp>
        <p:nvSpPr>
          <p:cNvPr id="34" name="Test evaluation: 6 workers / 24 training rounds / 1 final inference"/>
          <p:cNvSpPr txBox="1"/>
          <p:nvPr/>
        </p:nvSpPr>
        <p:spPr>
          <a:xfrm>
            <a:off x="8138160" y="3346704"/>
            <a:ext cx="3145536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6 workers
24 training rounds
1 final inference</a:t>
            </a:r>
          </a:p>
        </p:txBody>
      </p:sp>
      <p:sp>
        <p:nvSpPr>
          <p:cNvPr id="35" name="Test evaluation: No injected failure."/>
          <p:cNvSpPr txBox="1"/>
          <p:nvPr/>
        </p:nvSpPr>
        <p:spPr>
          <a:xfrm>
            <a:off x="8138160" y="4425696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No injected failure.</a:t>
            </a:r>
          </a:p>
        </p:txBody>
      </p:sp>
      <p:sp>
        <p:nvSpPr>
          <p:cNvPr id="36" name="Test evaluation: data/evaluation/"/>
          <p:cNvSpPr txBox="1"/>
          <p:nvPr/>
        </p:nvSpPr>
        <p:spPr>
          <a:xfrm>
            <a:off x="8138160" y="4736592"/>
            <a:ext cx="314553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data/evaluation/</a:t>
            </a:r>
          </a:p>
        </p:txBody>
      </p:sp>
      <p:sp>
        <p:nvSpPr>
          <p:cNvPr id="37" name="Test evaluation: Phala run record · 2026-09-01"/>
          <p:cNvSpPr txBox="1"/>
          <p:nvPr/>
        </p:nvSpPr>
        <p:spPr>
          <a:xfrm>
            <a:off x="8138160" y="4928616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lang="en-US">
                <a:solidFill>
                  <a:srgbClr val="7446A6"/>
                </a:solidFill>
                <a:latin typeface="Arial"/>
              </a:rPr>
              <a:t>Phala run record · 2026-09-01</a:t>
            </a:r>
          </a:p>
        </p:txBody>
      </p:sp>
      <p:sp>
        <p:nvSpPr>
          <p:cNvPr id="38" name="Test evaluation: Complementary scopes: controlled checks and local integration support the single deployed functional run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Complementary scopes: controlled checks and local integration support the single deployed functional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Existing tests: four evaluation slide alternatives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