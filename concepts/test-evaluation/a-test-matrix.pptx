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A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One proposed evaluation slide, to be selected before insertion in the main deck.</a:t>
            </a:r>
          </a:p>
          <a:p>
            <a:r>
              <a:rPr lang="en-US"/>
              <a:t>All visible examples are implemented tests. This is an inventory and explanation</a:t>
            </a:r>
          </a:p>
          <a:p>
            <a:r>
              <a:rPr lang="en-US"/>
              <a:t>of the test design, not a new execution report. No test counts or new pass rates</a:t>
            </a:r>
          </a:p>
          <a:p>
            <a:r>
              <a:rPr lang="en-US"/>
              <a:t>are asserted. The existing September 2026 cloud run is separate empirical evidence.</a:t>
            </a:r>
          </a:p>
          <a:p/>
          <a:p>
            <a:r>
              <a:rPr lang="en-US"/>
              <a:t>CLASSIFICATION</a:t>
            </a:r>
          </a:p>
          <a:p>
            <a:r>
              <a:rPr lang="en-US"/>
              <a:t>Component tests exercise real production functions with selected dependencies</a:t>
            </a:r>
          </a:p>
          <a:p>
            <a:r>
              <a:rPr lang="en-US"/>
              <a:t>controlled: training provenance, native AES/RSA model exchange, AIR/Sello checks.</a:t>
            </a:r>
          </a:p>
          <a:p>
            <a:r>
              <a:rPr lang="en-US"/>
              <a:t>Solidity/Foundry examples are local contract component tests; they execute actual</a:t>
            </a:r>
          </a:p>
          <a:p>
            <a:r>
              <a:rPr lang="en-US"/>
              <a:t>contract logic, with registry/selection/TDX verifier stubs depending on the suite.</a:t>
            </a:r>
          </a:p>
          <a:p>
            <a:r>
              <a:rPr lang="en-US"/>
              <a:t>Local integration tests exercise the FastAPI receiver through an ASGI test client,</a:t>
            </a:r>
          </a:p>
          <a:p>
            <a:r>
              <a:rPr lang="en-US"/>
              <a:t>including authorization and receipt-publication error handling. Model loading,</a:t>
            </a:r>
          </a:p>
          <a:p>
            <a:r>
              <a:rPr lang="en-US"/>
              <a:t>transport context and publication dependencies are controlled. They do not run</a:t>
            </a:r>
          </a:p>
          <a:p>
            <a:r>
              <a:rPr lang="en-US"/>
              <a:t>the complete deployed service network.</a:t>
            </a:r>
          </a:p>
          <a:p>
            <a:r>
              <a:rPr lang="en-US"/>
              <a:t>The one Phala execution is the complete deployed workflow: six worker CVMs,</a:t>
            </a:r>
          </a:p>
          <a:p>
            <a:r>
              <a:rPr lang="en-US"/>
              <a:t>24 successful training rounds and one final inference using the round-25 model.</a:t>
            </a:r>
          </a:p>
          <a:p>
            <a:r>
              <a:rPr lang="en-US"/>
              <a:t>It is an existing run record, not an automated fault-injection test suite.</a:t>
            </a:r>
          </a:p>
          <a:p/>
          <a:p>
            <a:r>
              <a:rPr lang="en-US"/>
              <a:t>EXACT ASSERTIONS AND BOUNDARIES</a:t>
            </a:r>
          </a:p>
          <a:p>
            <a:r>
              <a:rPr lang="en-US"/>
              <a:t>Provenance: changing a signed label or image fails signature verification. Real</a:t>
            </a:r>
          </a:p>
          <a:p>
            <a:r>
              <a:rPr lang="en-US"/>
              <a:t>cryptography uses synthetic medical signer fixtures and an on-chain-style local</a:t>
            </a:r>
          </a:p>
          <a:p>
            <a:r>
              <a:rPr lang="en-US"/>
              <a:t>snapshot; clinical provenance and label correctness are outside this assertion.</a:t>
            </a:r>
          </a:p>
          <a:p>
            <a:r>
              <a:rPr lang="en-US"/>
              <a:t>Admission: matching image/Compose evidence is accepted; wrong image is rejected.</a:t>
            </a:r>
          </a:p>
          <a:p>
            <a:r>
              <a:rPr lang="en-US"/>
              <a:t>MockTdxV4Attestation supplies the verifier result; real DCAP is not evaluated here.</a:t>
            </a:r>
          </a:p>
          <a:p>
            <a:r>
              <a:rPr lang="en-US"/>
              <a:t>Contributions: changed package hash, wrong action key and nonce are rejected;</a:t>
            </a:r>
          </a:p>
          <a:p>
            <a:r>
              <a:rPr lang="en-US"/>
              <a:t>identical retry is idempotent. This does not evaluate protocol-valid poisoning.</a:t>
            </a:r>
          </a:p>
          <a:p>
            <a:r>
              <a:rPr lang="en-US"/>
              <a:t>Recovery: timeout reports cannot abort an active submission window; the quorum</a:t>
            </a:r>
          </a:p>
          <a:p>
            <a:r>
              <a:rPr lang="en-US"/>
              <a:t>does not shrink after registry contraction. Abort preserves the last finalized</a:t>
            </a:r>
          </a:p>
          <a:p>
            <a:r>
              <a:rPr lang="en-US"/>
              <a:t>artifacts. Selection-gap recovery after completed publication is a distinct path.</a:t>
            </a:r>
          </a:p>
          <a:p>
            <a:r>
              <a:rPr lang="en-US"/>
              <a:t>There is no positive full timeout-to-quorum-to-abort-to-replacement experiment</a:t>
            </a:r>
          </a:p>
          <a:p>
            <a:r>
              <a:rPr lang="en-US"/>
              <a:t>established by these selected tests. The cloud run did not trigger recovery.</a:t>
            </a:r>
          </a:p>
          <a:p>
            <a:r>
              <a:rPr lang="en-US"/>
              <a:t>Inference: a valid AIR bundle is accepted; a substituted request or modified</a:t>
            </a:r>
          </a:p>
          <a:p>
            <a:r>
              <a:rPr lang="en-US"/>
              <a:t>event log is rejected. The legacy fixture has a synthetic unsigned TDX quote;</a:t>
            </a:r>
          </a:p>
          <a:p>
            <a:r>
              <a:rPr lang="en-US"/>
              <a:t>its AIR signatures/hashes are real but do not establish hardware authentication.</a:t>
            </a:r>
          </a:p>
          <a:p>
            <a:r>
              <a:rPr lang="en-US"/>
              <a:t>Tool receipt: output mutation and the wrong receiver are rejected by real local</a:t>
            </a:r>
          </a:p>
          <a:p>
            <a:r>
              <a:rPr lang="en-US"/>
              <a:t>Sello signature/encryption checks. A missing receipt propagates an error through</a:t>
            </a:r>
          </a:p>
          <a:p>
            <a:r>
              <a:rPr lang="en-US"/>
              <a:t>the client wrapper; these are not measurements of an actual LLM's truthfulness.</a:t>
            </a:r>
          </a:p>
          <a:p>
            <a:r>
              <a:rPr lang="en-US"/>
              <a:t>Service integration: unauthorized calls fail before work; foreign subjects may</a:t>
            </a:r>
          </a:p>
          <a:p>
            <a:r>
              <a:rPr lang="en-US"/>
              <a:t>not access a job. A failed log publication gives HTTP 503 and no receipt. The</a:t>
            </a:r>
          </a:p>
          <a:p>
            <a:r>
              <a:rPr lang="en-US"/>
              <a:t>operation may already have executed and is not rolled back by this failure.</a:t>
            </a:r>
          </a:p>
          <a:p>
            <a:r>
              <a:rPr lang="en-US"/>
              <a:t>The SCITT/log failure is injected through a mock, not a live log outage.</a:t>
            </a:r>
          </a:p>
          <a:p/>
          <a:p>
            <a:r>
              <a:rPr lang="en-US"/>
              <a:t>VERSION SCOPE</a:t>
            </a:r>
          </a:p>
          <a:p>
            <a:r>
              <a:rPr lang="en-US"/>
              <a:t>The main presentation describes the evaluated legacy mTLS/AIR-v1 profile. Newer</a:t>
            </a:r>
          </a:p>
          <a:p>
            <a:r>
              <a:rPr lang="en-US"/>
              <a:t>RA-TLS-specific suites exist but are deliberately not mixed into that run's</a:t>
            </a:r>
          </a:p>
          <a:p>
            <a:r>
              <a:rPr lang="en-US"/>
              <a:t>claims. This slide uses examples from the legacy-compatible suites. A fresh</a:t>
            </a:r>
          </a:p>
          <a:p>
            <a:r>
              <a:rPr lang="en-US"/>
              <a:t>recorded execution should pin the tested commit and profile before reporting</a:t>
            </a:r>
          </a:p>
          <a:p>
            <a:r>
              <a:rPr lang="en-US"/>
              <a:t>additional numerical results. Framework labels describe scope, not pass status.</a:t>
            </a:r>
          </a:p>
          <a:p/>
          <a:p>
            <a:r>
              <a:rPr lang="en-US"/>
              <a:t>PRESENTATION</a:t>
            </a:r>
          </a:p>
          <a:p>
            <a:r>
              <a:rPr lang="en-US"/>
              <a:t>English matches the main deck. Suggested insertion: immediately after current</a:t>
            </a:r>
          </a:p>
          <a:p>
            <a:r>
              <a:rPr lang="en-US"/>
              <a:t>Page 24 (cloud-run overview), before the learning curves. Source names are</a:t>
            </a:r>
          </a:p>
          <a:p>
            <a:r>
              <a:rPr lang="en-US"/>
              <a:t>abbreviated on the slide; exact paths and functions are preserved below.</a:t>
            </a:r>
          </a:p>
          <a:p/>
          <a:p/>
          <a:p>
            <a:r>
              <a:rPr lang="en-US"/>
              <a:t>SOURCE MAP (paths relative to vita-fl):</a:t>
            </a:r>
          </a:p>
          <a:p/>
          <a:p>
            <a:r>
              <a:rPr lang="en-US"/>
              <a:t>dfl/neural_network/tests/test_dicom_provenance.py</a:t>
            </a:r>
          </a:p>
          <a:p>
            <a:r>
              <a:rPr lang="en-US"/>
              <a:t>  test_checked_in_shard_verifies_against_onchain_style_snapshot</a:t>
            </a:r>
          </a:p>
          <a:p>
            <a:r>
              <a:rPr lang="en-US"/>
              <a:t>  test_modified_label_is_rejected</a:t>
            </a:r>
          </a:p>
          <a:p>
            <a:r>
              <a:rPr lang="en-US"/>
              <a:t>  test_modified_image_is_rejected</a:t>
            </a:r>
          </a:p>
          <a:p/>
          <a:p>
            <a:r>
              <a:rPr lang="en-US"/>
              <a:t>smart_contracts/test/DeviceRegistryAttestationBinding.t.sol</a:t>
            </a:r>
          </a:p>
          <a:p>
            <a:r>
              <a:rPr lang="en-US"/>
              <a:t>  testRegistersOnlyWithBoundAppComposeEvidence</a:t>
            </a:r>
          </a:p>
          <a:p>
            <a:r>
              <a:rPr lang="en-US"/>
              <a:t>  testRejectsWrongImageDigestDerivedFromAppCompose</a:t>
            </a:r>
          </a:p>
          <a:p/>
          <a:p>
            <a:r>
              <a:rPr lang="en-US"/>
              <a:t>smart_contracts/test/GMStorageContribution.t.sol</a:t>
            </a:r>
          </a:p>
          <a:p>
            <a:r>
              <a:rPr lang="en-US"/>
              <a:t>  testIdenticalRetryIsIdempotent</a:t>
            </a:r>
          </a:p>
          <a:p>
            <a:r>
              <a:rPr lang="en-US"/>
              <a:t>  testRetryWithChangedPackageHashReverts</a:t>
            </a:r>
          </a:p>
          <a:p>
            <a:r>
              <a:rPr lang="en-US"/>
              <a:t>  testFirstSubmissionRejectsWrongActionKeySignature</a:t>
            </a:r>
          </a:p>
          <a:p/>
          <a:p>
            <a:r>
              <a:rPr lang="en-US"/>
              <a:t>smart_contracts/test/AggregatorSelectionAccess.t.sol</a:t>
            </a:r>
          </a:p>
          <a:p>
            <a:r>
              <a:rPr lang="en-US"/>
              <a:t>  testAuthorizedNonAggregatorCanRecoverSelectionGapAfterCompletedRound</a:t>
            </a:r>
          </a:p>
          <a:p>
            <a:r>
              <a:rPr lang="en-US"/>
              <a:t>  testTimeoutReportCannotAbortAnActiveSubmissionWindow</a:t>
            </a:r>
          </a:p>
          <a:p>
            <a:r>
              <a:rPr lang="en-US"/>
              <a:t>  testTimeoutQuorumDoesNotShrinkAfterRegistryContraction</a:t>
            </a:r>
          </a:p>
          <a:p/>
          <a:p>
            <a:r>
              <a:rPr lang="en-US"/>
              <a:t>smart_contracts/test/GMStorageAbort.t.sol</a:t>
            </a:r>
          </a:p>
          <a:p>
            <a:r>
              <a:rPr lang="en-US"/>
              <a:t>  testAbortBeforePublicationLeavesActiveArtifactsUnchanged</a:t>
            </a:r>
          </a:p>
          <a:p>
            <a:r>
              <a:rPr lang="en-US"/>
              <a:t>  testAbortAfterRejectedPublicationKeepsLastCompletedArtifacts</a:t>
            </a:r>
          </a:p>
          <a:p/>
          <a:p>
            <a:r>
              <a:rPr lang="en-US"/>
              <a:t>dfl/node_server/test/gm_crypto.test.js</a:t>
            </a:r>
          </a:p>
          <a:p>
            <a:r>
              <a:rPr lang="en-US"/>
              <a:t>  gm crypto rejects decryption for participants without a wrapped key</a:t>
            </a:r>
          </a:p>
          <a:p/>
          <a:p>
            <a:r>
              <a:rPr lang="en-US"/>
              <a:t>agent/tests/test_tee_inference_client.py</a:t>
            </a:r>
          </a:p>
          <a:p>
            <a:r>
              <a:rPr lang="en-US"/>
              <a:t>  test_valid_bundle_verifies</a:t>
            </a:r>
          </a:p>
          <a:p>
            <a:r>
              <a:rPr lang="en-US"/>
              <a:t>  test_request_substitution_is_rejected</a:t>
            </a:r>
          </a:p>
          <a:p>
            <a:r>
              <a:rPr lang="en-US"/>
              <a:t>  test_modified_event_log_is_rejected</a:t>
            </a:r>
          </a:p>
          <a:p/>
          <a:p>
            <a:r>
              <a:rPr lang="en-US"/>
              <a:t>tee_inference/tests/test_authorization.py</a:t>
            </a:r>
          </a:p>
          <a:p>
            <a:r>
              <a:rPr lang="en-US"/>
              <a:t>  test_wrong_token_binding_scope_and_expiry_rejected_before_model_load</a:t>
            </a:r>
          </a:p>
          <a:p>
            <a:r>
              <a:rPr lang="en-US"/>
              <a:t>  test_another_authenticated_agent_cannot_read_or_run_job</a:t>
            </a:r>
          </a:p>
          <a:p>
            <a:r>
              <a:rPr lang="en-US"/>
              <a:t>  test_publication_failure_cannot_return_success_without_receipt</a:t>
            </a:r>
          </a:p>
          <a:p/>
          <a:p>
            <a:r>
              <a:rPr lang="en-US"/>
              <a:t>agent/tests/test_sello_v1.py</a:t>
            </a:r>
          </a:p>
          <a:p>
            <a:r>
              <a:rPr lang="en-US"/>
              <a:t>  test_receiver_receipt_round_trip</a:t>
            </a:r>
          </a:p>
          <a:p>
            <a:r>
              <a:rPr lang="en-US"/>
              <a:t>  test_tampered_output_is_rejected</a:t>
            </a:r>
          </a:p>
          <a:p>
            <a:r>
              <a:rPr lang="en-US"/>
              <a:t>  test_wrong_receiver_is_rejected</a:t>
            </a:r>
          </a:p>
          <a:p/>
          <a:p>
            <a:r>
              <a:rPr lang="en-US"/>
              <a:t>agent/tests/test_receiver_transport.py</a:t>
            </a:r>
          </a:p>
          <a:p>
            <a:r>
              <a:rPr lang="en-US"/>
              <a:t>  test_tool_response_without_receipt_fails_closed</a:t>
            </a:r>
          </a:p>
          <a:p/>
          <a:p>
            <a:r>
              <a:rPr lang="en-US"/>
              <a:t>CLOUD RUN: data/evaluation/authoritative-phala-6w-24r-20260901/README.md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Existing tests cover specific system guarantees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TEST CASE, IMPLEMENTATION AND TEST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Test evaluation: Representative cases link each requirement to an implemented check."/>
          <p:cNvSpPr txBox="1"/>
          <p:nvPr/>
        </p:nvSpPr>
        <p:spPr>
          <a:xfrm>
            <a:off x="621792" y="1389888"/>
            <a:ext cx="1095451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0" lang="en-US">
                <a:solidFill>
                  <a:srgbClr val="263440"/>
                </a:solidFill>
                <a:latin typeface="Arial"/>
              </a:rPr>
              <a:t>Representative cases link each requirement to an implemented check.</a:t>
            </a:r>
          </a:p>
        </p:txBody>
      </p:sp>
      <p:sp>
        <p:nvSpPr>
          <p:cNvPr id="14" name="Test evaluation: BOUNDARY"/>
          <p:cNvSpPr txBox="1"/>
          <p:nvPr/>
        </p:nvSpPr>
        <p:spPr>
          <a:xfrm>
            <a:off x="758952" y="1892807"/>
            <a:ext cx="149961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lang="en-US">
                <a:solidFill>
                  <a:srgbClr val="65737D"/>
                </a:solidFill>
                <a:latin typeface="Arial"/>
              </a:rPr>
              <a:t>BOUNDARY</a:t>
            </a:r>
          </a:p>
        </p:txBody>
      </p:sp>
      <p:sp>
        <p:nvSpPr>
          <p:cNvPr id="15" name="Test evaluation: EXAMPLE ASSERTION"/>
          <p:cNvSpPr txBox="1"/>
          <p:nvPr/>
        </p:nvSpPr>
        <p:spPr>
          <a:xfrm>
            <a:off x="2414016" y="1892807"/>
            <a:ext cx="303580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lang="en-US">
                <a:solidFill>
                  <a:srgbClr val="65737D"/>
                </a:solidFill>
                <a:latin typeface="Arial"/>
              </a:rPr>
              <a:t>EXAMPLE ASSERTION</a:t>
            </a:r>
          </a:p>
        </p:txBody>
      </p:sp>
      <p:sp>
        <p:nvSpPr>
          <p:cNvPr id="16" name="Test evaluation: IMPLEMENTED IN"/>
          <p:cNvSpPr txBox="1"/>
          <p:nvPr/>
        </p:nvSpPr>
        <p:spPr>
          <a:xfrm>
            <a:off x="5577840" y="1892807"/>
            <a:ext cx="299923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lang="en-US">
                <a:solidFill>
                  <a:srgbClr val="65737D"/>
                </a:solidFill>
                <a:latin typeface="Arial"/>
              </a:rPr>
              <a:t>IMPLEMENTED IN</a:t>
            </a:r>
          </a:p>
        </p:txBody>
      </p:sp>
      <p:sp>
        <p:nvSpPr>
          <p:cNvPr id="17" name="Test evaluation: TEST TYPE"/>
          <p:cNvSpPr txBox="1"/>
          <p:nvPr/>
        </p:nvSpPr>
        <p:spPr>
          <a:xfrm>
            <a:off x="8897112" y="1892807"/>
            <a:ext cx="24688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lang="en-US">
                <a:solidFill>
                  <a:srgbClr val="65737D"/>
                </a:solidFill>
                <a:latin typeface="Arial"/>
              </a:rPr>
              <a:t>TEST 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221992"/>
            <a:ext cx="10954512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" y="2258568"/>
            <a:ext cx="41148" cy="470916"/>
          </a:xfrm>
          <a:prstGeom prst="rect">
            <a:avLst/>
          </a:prstGeom>
          <a:solidFill>
            <a:srgbClr val="207548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st evaluation: Training input"/>
          <p:cNvSpPr txBox="1"/>
          <p:nvPr/>
        </p:nvSpPr>
        <p:spPr>
          <a:xfrm>
            <a:off x="758952" y="2272284"/>
            <a:ext cx="150876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207548"/>
                </a:solidFill>
                <a:latin typeface="Arial"/>
              </a:rPr>
              <a:t>Training input</a:t>
            </a:r>
          </a:p>
        </p:txBody>
      </p:sp>
      <p:sp>
        <p:nvSpPr>
          <p:cNvPr id="21" name="Test evaluation: Changed signed label / is rejected"/>
          <p:cNvSpPr txBox="1"/>
          <p:nvPr/>
        </p:nvSpPr>
        <p:spPr>
          <a:xfrm>
            <a:off x="2414016" y="2272284"/>
            <a:ext cx="297180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263440"/>
                </a:solidFill>
                <a:latin typeface="Arial"/>
              </a:rPr>
              <a:t>Changed signed label
is rejected</a:t>
            </a:r>
          </a:p>
        </p:txBody>
      </p:sp>
      <p:sp>
        <p:nvSpPr>
          <p:cNvPr id="22" name="Test evaluation: dfl/neural_network/tests/"/>
          <p:cNvSpPr txBox="1"/>
          <p:nvPr/>
        </p:nvSpPr>
        <p:spPr>
          <a:xfrm>
            <a:off x="5577840" y="2281428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dfl/neural_network/tests/</a:t>
            </a:r>
          </a:p>
        </p:txBody>
      </p:sp>
      <p:sp>
        <p:nvSpPr>
          <p:cNvPr id="23" name="Test evaluation: test_dicom_provenance.py"/>
          <p:cNvSpPr txBox="1"/>
          <p:nvPr/>
        </p:nvSpPr>
        <p:spPr>
          <a:xfrm>
            <a:off x="5577840" y="2473452"/>
            <a:ext cx="3090672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test_dicom_provenance.py</a:t>
            </a:r>
          </a:p>
        </p:txBody>
      </p:sp>
      <p:sp>
        <p:nvSpPr>
          <p:cNvPr id="24" name="Test evaluation: Component"/>
          <p:cNvSpPr txBox="1"/>
          <p:nvPr/>
        </p:nvSpPr>
        <p:spPr>
          <a:xfrm>
            <a:off x="8897112" y="2281428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07548"/>
                </a:solidFill>
                <a:latin typeface="Arial"/>
              </a:rPr>
              <a:t>Component</a:t>
            </a:r>
          </a:p>
        </p:txBody>
      </p:sp>
      <p:sp>
        <p:nvSpPr>
          <p:cNvPr id="25" name="Test evaluation: Python · signer fixtures"/>
          <p:cNvSpPr txBox="1"/>
          <p:nvPr/>
        </p:nvSpPr>
        <p:spPr>
          <a:xfrm>
            <a:off x="8897112" y="2519172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Python · signer fixtures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2752344"/>
            <a:ext cx="1078992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" y="2775204"/>
            <a:ext cx="41148" cy="470916"/>
          </a:xfrm>
          <a:prstGeom prst="rect">
            <a:avLst/>
          </a:prstGeom>
          <a:solidFill>
            <a:srgbClr val="7446A6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st evaluation: Round state"/>
          <p:cNvSpPr txBox="1"/>
          <p:nvPr/>
        </p:nvSpPr>
        <p:spPr>
          <a:xfrm>
            <a:off x="758952" y="2788920"/>
            <a:ext cx="150876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7446A6"/>
                </a:solidFill>
                <a:latin typeface="Arial"/>
              </a:rPr>
              <a:t>Round state</a:t>
            </a:r>
          </a:p>
        </p:txBody>
      </p:sp>
      <p:sp>
        <p:nvSpPr>
          <p:cNvPr id="29" name="Test evaluation: Abort preserves the / last finalized model"/>
          <p:cNvSpPr txBox="1"/>
          <p:nvPr/>
        </p:nvSpPr>
        <p:spPr>
          <a:xfrm>
            <a:off x="2414016" y="2788920"/>
            <a:ext cx="297180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263440"/>
                </a:solidFill>
                <a:latin typeface="Arial"/>
              </a:rPr>
              <a:t>Abort preserves the
last finalized model</a:t>
            </a:r>
          </a:p>
        </p:txBody>
      </p:sp>
      <p:sp>
        <p:nvSpPr>
          <p:cNvPr id="30" name="Test evaluation: smart_contracts/test/"/>
          <p:cNvSpPr txBox="1"/>
          <p:nvPr/>
        </p:nvSpPr>
        <p:spPr>
          <a:xfrm>
            <a:off x="5577840" y="2798064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smart_contracts/test/</a:t>
            </a:r>
          </a:p>
        </p:txBody>
      </p:sp>
      <p:sp>
        <p:nvSpPr>
          <p:cNvPr id="31" name="Test evaluation: GMStorageAbort.t.sol"/>
          <p:cNvSpPr txBox="1"/>
          <p:nvPr/>
        </p:nvSpPr>
        <p:spPr>
          <a:xfrm>
            <a:off x="5577840" y="2990088"/>
            <a:ext cx="3090672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GMStorageAbort.t.sol</a:t>
            </a:r>
          </a:p>
        </p:txBody>
      </p:sp>
      <p:sp>
        <p:nvSpPr>
          <p:cNvPr id="32" name="Test evaluation: Contract component"/>
          <p:cNvSpPr txBox="1"/>
          <p:nvPr/>
        </p:nvSpPr>
        <p:spPr>
          <a:xfrm>
            <a:off x="8897112" y="2798064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7446A6"/>
                </a:solidFill>
                <a:latin typeface="Arial"/>
              </a:rPr>
              <a:t>Contract component</a:t>
            </a:r>
          </a:p>
        </p:txBody>
      </p:sp>
      <p:sp>
        <p:nvSpPr>
          <p:cNvPr id="33" name="Test evaluation: Foundry · local EVM"/>
          <p:cNvSpPr txBox="1"/>
          <p:nvPr/>
        </p:nvSpPr>
        <p:spPr>
          <a:xfrm>
            <a:off x="8897112" y="3035808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Foundry · local EVM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" y="3268980"/>
            <a:ext cx="1078992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" y="3291840"/>
            <a:ext cx="41148" cy="470916"/>
          </a:xfrm>
          <a:prstGeom prst="rect">
            <a:avLst/>
          </a:prstGeom>
          <a:solidFill>
            <a:srgbClr val="207548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st evaluation: Model exchange"/>
          <p:cNvSpPr txBox="1"/>
          <p:nvPr/>
        </p:nvSpPr>
        <p:spPr>
          <a:xfrm>
            <a:off x="758952" y="3305556"/>
            <a:ext cx="150876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207548"/>
                </a:solidFill>
                <a:latin typeface="Arial"/>
              </a:rPr>
              <a:t>Model exchange</a:t>
            </a:r>
          </a:p>
        </p:txBody>
      </p:sp>
      <p:sp>
        <p:nvSpPr>
          <p:cNvPr id="37" name="Test evaluation: No recipient key → / no decryption"/>
          <p:cNvSpPr txBox="1"/>
          <p:nvPr/>
        </p:nvSpPr>
        <p:spPr>
          <a:xfrm>
            <a:off x="2414016" y="3305556"/>
            <a:ext cx="297180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263440"/>
                </a:solidFill>
                <a:latin typeface="Arial"/>
              </a:rPr>
              <a:t>No recipient key →
no decryption</a:t>
            </a:r>
          </a:p>
        </p:txBody>
      </p:sp>
      <p:sp>
        <p:nvSpPr>
          <p:cNvPr id="38" name="Test evaluation: dfl/node_server/test/"/>
          <p:cNvSpPr txBox="1"/>
          <p:nvPr/>
        </p:nvSpPr>
        <p:spPr>
          <a:xfrm>
            <a:off x="5577840" y="3314700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dfl/node_server/test/</a:t>
            </a:r>
          </a:p>
        </p:txBody>
      </p:sp>
      <p:sp>
        <p:nvSpPr>
          <p:cNvPr id="39" name="Test evaluation: gm_crypto.test.js"/>
          <p:cNvSpPr txBox="1"/>
          <p:nvPr/>
        </p:nvSpPr>
        <p:spPr>
          <a:xfrm>
            <a:off x="5577840" y="3506724"/>
            <a:ext cx="3090672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gm_crypto.test.js</a:t>
            </a:r>
          </a:p>
        </p:txBody>
      </p:sp>
      <p:sp>
        <p:nvSpPr>
          <p:cNvPr id="40" name="Test evaluation: Component"/>
          <p:cNvSpPr txBox="1"/>
          <p:nvPr/>
        </p:nvSpPr>
        <p:spPr>
          <a:xfrm>
            <a:off x="8897112" y="3314700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07548"/>
                </a:solidFill>
                <a:latin typeface="Arial"/>
              </a:rPr>
              <a:t>Component</a:t>
            </a:r>
          </a:p>
        </p:txBody>
      </p:sp>
      <p:sp>
        <p:nvSpPr>
          <p:cNvPr id="41" name="Test evaluation: Node.js · local AES/RSA"/>
          <p:cNvSpPr txBox="1"/>
          <p:nvPr/>
        </p:nvSpPr>
        <p:spPr>
          <a:xfrm>
            <a:off x="8897112" y="3552444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Node.js · local AES/RSA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" y="3785616"/>
            <a:ext cx="1078992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" y="3808476"/>
            <a:ext cx="41148" cy="470916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st evaluation: Inference"/>
          <p:cNvSpPr txBox="1"/>
          <p:nvPr/>
        </p:nvSpPr>
        <p:spPr>
          <a:xfrm>
            <a:off x="758952" y="3822191"/>
            <a:ext cx="150876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1764A1"/>
                </a:solidFill>
                <a:latin typeface="Arial"/>
              </a:rPr>
              <a:t>Inference</a:t>
            </a:r>
          </a:p>
        </p:txBody>
      </p:sp>
      <p:sp>
        <p:nvSpPr>
          <p:cNvPr id="45" name="Test evaluation: Substituted request / is rejected"/>
          <p:cNvSpPr txBox="1"/>
          <p:nvPr/>
        </p:nvSpPr>
        <p:spPr>
          <a:xfrm>
            <a:off x="2414016" y="3822191"/>
            <a:ext cx="297180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263440"/>
                </a:solidFill>
                <a:latin typeface="Arial"/>
              </a:rPr>
              <a:t>Substituted request
is rejected</a:t>
            </a:r>
          </a:p>
        </p:txBody>
      </p:sp>
      <p:sp>
        <p:nvSpPr>
          <p:cNvPr id="46" name="Test evaluation: agent/tests/"/>
          <p:cNvSpPr txBox="1"/>
          <p:nvPr/>
        </p:nvSpPr>
        <p:spPr>
          <a:xfrm>
            <a:off x="5577840" y="383133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agent/tests/</a:t>
            </a:r>
          </a:p>
        </p:txBody>
      </p:sp>
      <p:sp>
        <p:nvSpPr>
          <p:cNvPr id="47" name="Test evaluation: test_tee_inference_client.py"/>
          <p:cNvSpPr txBox="1"/>
          <p:nvPr/>
        </p:nvSpPr>
        <p:spPr>
          <a:xfrm>
            <a:off x="5577840" y="4023360"/>
            <a:ext cx="3090672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test_tee_inference_client.py</a:t>
            </a:r>
          </a:p>
        </p:txBody>
      </p:sp>
      <p:sp>
        <p:nvSpPr>
          <p:cNvPr id="48" name="Test evaluation: Component"/>
          <p:cNvSpPr txBox="1"/>
          <p:nvPr/>
        </p:nvSpPr>
        <p:spPr>
          <a:xfrm>
            <a:off x="8897112" y="3831336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1764A1"/>
                </a:solidFill>
                <a:latin typeface="Arial"/>
              </a:rPr>
              <a:t>Component</a:t>
            </a:r>
          </a:p>
        </p:txBody>
      </p:sp>
      <p:sp>
        <p:nvSpPr>
          <p:cNvPr id="49" name="Test evaluation: Python · synthetic quote"/>
          <p:cNvSpPr txBox="1"/>
          <p:nvPr/>
        </p:nvSpPr>
        <p:spPr>
          <a:xfrm>
            <a:off x="8897112" y="4069080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Python · synthetic quote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8952" y="4302252"/>
            <a:ext cx="1078992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" y="4325112"/>
            <a:ext cx="41148" cy="470916"/>
          </a:xfrm>
          <a:prstGeom prst="rect">
            <a:avLst/>
          </a:prstGeom>
          <a:solidFill>
            <a:srgbClr val="1764A1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st evaluation: Receiver API"/>
          <p:cNvSpPr txBox="1"/>
          <p:nvPr/>
        </p:nvSpPr>
        <p:spPr>
          <a:xfrm>
            <a:off x="758952" y="4338828"/>
            <a:ext cx="150876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1764A1"/>
                </a:solidFill>
                <a:latin typeface="Arial"/>
              </a:rPr>
              <a:t>Receiver API</a:t>
            </a:r>
          </a:p>
        </p:txBody>
      </p:sp>
      <p:sp>
        <p:nvSpPr>
          <p:cNvPr id="53" name="Test evaluation: Log failure → HTTP 503 / and no receipt"/>
          <p:cNvSpPr txBox="1"/>
          <p:nvPr/>
        </p:nvSpPr>
        <p:spPr>
          <a:xfrm>
            <a:off x="2414016" y="4338828"/>
            <a:ext cx="297180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263440"/>
                </a:solidFill>
                <a:latin typeface="Arial"/>
              </a:rPr>
              <a:t>Log failure → HTTP 503
and no receipt</a:t>
            </a:r>
          </a:p>
        </p:txBody>
      </p:sp>
      <p:sp>
        <p:nvSpPr>
          <p:cNvPr id="54" name="Test evaluation: tee_inference/tests/"/>
          <p:cNvSpPr txBox="1"/>
          <p:nvPr/>
        </p:nvSpPr>
        <p:spPr>
          <a:xfrm>
            <a:off x="5577840" y="4347972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tee_inference/tests/</a:t>
            </a:r>
          </a:p>
        </p:txBody>
      </p:sp>
      <p:sp>
        <p:nvSpPr>
          <p:cNvPr id="55" name="Test evaluation: test_authorization.py"/>
          <p:cNvSpPr txBox="1"/>
          <p:nvPr/>
        </p:nvSpPr>
        <p:spPr>
          <a:xfrm>
            <a:off x="5577840" y="4539996"/>
            <a:ext cx="3090672" cy="2148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63440"/>
                </a:solidFill>
                <a:latin typeface="Arial"/>
              </a:rPr>
              <a:t>test_authorization.py</a:t>
            </a:r>
          </a:p>
        </p:txBody>
      </p:sp>
      <p:sp>
        <p:nvSpPr>
          <p:cNvPr id="56" name="Test evaluation: Local integration"/>
          <p:cNvSpPr txBox="1"/>
          <p:nvPr/>
        </p:nvSpPr>
        <p:spPr>
          <a:xfrm>
            <a:off x="8897112" y="4347972"/>
            <a:ext cx="252374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1764A1"/>
                </a:solidFill>
                <a:latin typeface="Arial"/>
              </a:rPr>
              <a:t>Local integration</a:t>
            </a:r>
          </a:p>
        </p:txBody>
      </p:sp>
      <p:sp>
        <p:nvSpPr>
          <p:cNvPr id="57" name="Test evaluation: ASGI · mocked log"/>
          <p:cNvSpPr txBox="1"/>
          <p:nvPr/>
        </p:nvSpPr>
        <p:spPr>
          <a:xfrm>
            <a:off x="8897112" y="4585716"/>
            <a:ext cx="252374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ASGI · mocked log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" y="4818888"/>
            <a:ext cx="1078992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" y="4983480"/>
            <a:ext cx="10954512" cy="356616"/>
          </a:xfrm>
          <a:prstGeom prst="rect">
            <a:avLst/>
          </a:prstGeom>
          <a:solidFill>
            <a:srgbClr val="F2F5F7"/>
          </a:solidFill>
          <a:ln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st evaluation: Separate end-to-end evidence: one Phala run · 24 training rounds · final inference"/>
          <p:cNvSpPr txBox="1"/>
          <p:nvPr/>
        </p:nvSpPr>
        <p:spPr>
          <a:xfrm>
            <a:off x="777240" y="5010912"/>
            <a:ext cx="10625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lang="en-US">
                <a:solidFill>
                  <a:srgbClr val="263440"/>
                </a:solidFill>
                <a:latin typeface="Arial"/>
              </a:rPr>
              <a:t>Separate end-to-end evidence: one Phala run · 24 training rounds · final inference</a:t>
            </a:r>
          </a:p>
        </p:txBody>
      </p:sp>
      <p:sp>
        <p:nvSpPr>
          <p:cNvPr id="61" name="Test evaluation: Scope: local fixtures and mocked dependencies; live aggregator failover was not exercised."/>
          <p:cNvSpPr txBox="1"/>
          <p:nvPr/>
        </p:nvSpPr>
        <p:spPr>
          <a:xfrm>
            <a:off x="621792" y="5458968"/>
            <a:ext cx="109545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Scope: local fixtures and mocked dependencies; live aggregator failover was not exercised.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