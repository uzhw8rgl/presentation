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D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One proposed evaluation slide, to be selected before insertion in the main deck.</a:t>
            </a:r>
          </a:p>
          <a:p>
            <a:r>
              <a:rPr lang="en-US"/>
              <a:t>All visible examples are implemented tests. This is an inventory and explanation</a:t>
            </a:r>
          </a:p>
          <a:p>
            <a:r>
              <a:rPr lang="en-US"/>
              <a:t>of the test design, not a new execution report. No test counts or new pass rates</a:t>
            </a:r>
          </a:p>
          <a:p>
            <a:r>
              <a:rPr lang="en-US"/>
              <a:t>are asserted. The existing September 2026 cloud run is separate empirical evidence.</a:t>
            </a:r>
          </a:p>
          <a:p/>
          <a:p>
            <a:r>
              <a:rPr lang="en-US"/>
              <a:t>CLASSIFICATION</a:t>
            </a:r>
          </a:p>
          <a:p>
            <a:r>
              <a:rPr lang="en-US"/>
              <a:t>Component tests exercise real production functions with selected dependencies</a:t>
            </a:r>
          </a:p>
          <a:p>
            <a:r>
              <a:rPr lang="en-US"/>
              <a:t>controlled: training provenance, native AES/RSA model exchange, AIR/Sello checks.</a:t>
            </a:r>
          </a:p>
          <a:p>
            <a:r>
              <a:rPr lang="en-US"/>
              <a:t>Solidity/Foundry examples are local contract component tests; they execute actual</a:t>
            </a:r>
          </a:p>
          <a:p>
            <a:r>
              <a:rPr lang="en-US"/>
              <a:t>contract logic, with registry/selection/TDX verifier stubs depending on the suite.</a:t>
            </a:r>
          </a:p>
          <a:p>
            <a:r>
              <a:rPr lang="en-US"/>
              <a:t>Local integration tests exercise the FastAPI receiver through an ASGI test client,</a:t>
            </a:r>
          </a:p>
          <a:p>
            <a:r>
              <a:rPr lang="en-US"/>
              <a:t>including authorization and receipt-publication error handling. Model loading,</a:t>
            </a:r>
          </a:p>
          <a:p>
            <a:r>
              <a:rPr lang="en-US"/>
              <a:t>transport context and publication dependencies are controlled. They do not run</a:t>
            </a:r>
          </a:p>
          <a:p>
            <a:r>
              <a:rPr lang="en-US"/>
              <a:t>the complete deployed service network.</a:t>
            </a:r>
          </a:p>
          <a:p>
            <a:r>
              <a:rPr lang="en-US"/>
              <a:t>The one Phala execution is the complete deployed workflow: six worker CVMs,</a:t>
            </a:r>
          </a:p>
          <a:p>
            <a:r>
              <a:rPr lang="en-US"/>
              <a:t>24 successful training rounds and one final inference using the round-25 model.</a:t>
            </a:r>
          </a:p>
          <a:p>
            <a:r>
              <a:rPr lang="en-US"/>
              <a:t>It is an existing run record, not an automated fault-injection test suite.</a:t>
            </a:r>
          </a:p>
          <a:p/>
          <a:p>
            <a:r>
              <a:rPr lang="en-US"/>
              <a:t>EXACT ASSERTIONS AND BOUNDARIES</a:t>
            </a:r>
          </a:p>
          <a:p>
            <a:r>
              <a:rPr lang="en-US"/>
              <a:t>Provenance: changing a signed label or image fails signature verification. Real</a:t>
            </a:r>
          </a:p>
          <a:p>
            <a:r>
              <a:rPr lang="en-US"/>
              <a:t>cryptography uses synthetic medical signer fixtures and an on-chain-style local</a:t>
            </a:r>
          </a:p>
          <a:p>
            <a:r>
              <a:rPr lang="en-US"/>
              <a:t>snapshot; clinical provenance and label correctness are outside this assertion.</a:t>
            </a:r>
          </a:p>
          <a:p>
            <a:r>
              <a:rPr lang="en-US"/>
              <a:t>Admission: matching image/Compose evidence is accepted; wrong image is rejected.</a:t>
            </a:r>
          </a:p>
          <a:p>
            <a:r>
              <a:rPr lang="en-US"/>
              <a:t>MockTdxV4Attestation supplies the verifier result; real DCAP is not evaluated here.</a:t>
            </a:r>
          </a:p>
          <a:p>
            <a:r>
              <a:rPr lang="en-US"/>
              <a:t>Contributions: changed package hash, wrong action key and nonce are rejected;</a:t>
            </a:r>
          </a:p>
          <a:p>
            <a:r>
              <a:rPr lang="en-US"/>
              <a:t>identical retry is idempotent. This does not evaluate protocol-valid poisoning.</a:t>
            </a:r>
          </a:p>
          <a:p>
            <a:r>
              <a:rPr lang="en-US"/>
              <a:t>Recovery: timeout reports cannot abort an active submission window; the quorum</a:t>
            </a:r>
          </a:p>
          <a:p>
            <a:r>
              <a:rPr lang="en-US"/>
              <a:t>does not shrink after registry contraction. Abort preserves the last finalized</a:t>
            </a:r>
          </a:p>
          <a:p>
            <a:r>
              <a:rPr lang="en-US"/>
              <a:t>artifacts. Selection-gap recovery after completed publication is a distinct path.</a:t>
            </a:r>
          </a:p>
          <a:p>
            <a:r>
              <a:rPr lang="en-US"/>
              <a:t>There is no positive full timeout-to-quorum-to-abort-to-replacement experiment</a:t>
            </a:r>
          </a:p>
          <a:p>
            <a:r>
              <a:rPr lang="en-US"/>
              <a:t>established by these selected tests. The cloud run did not trigger recovery.</a:t>
            </a:r>
          </a:p>
          <a:p>
            <a:r>
              <a:rPr lang="en-US"/>
              <a:t>Inference: a valid AIR bundle is accepted; a substituted request or modified</a:t>
            </a:r>
          </a:p>
          <a:p>
            <a:r>
              <a:rPr lang="en-US"/>
              <a:t>event log is rejected. The legacy fixture has a synthetic unsigned TDX quote;</a:t>
            </a:r>
          </a:p>
          <a:p>
            <a:r>
              <a:rPr lang="en-US"/>
              <a:t>its AIR signatures/hashes are real but do not establish hardware authentication.</a:t>
            </a:r>
          </a:p>
          <a:p>
            <a:r>
              <a:rPr lang="en-US"/>
              <a:t>Tool receipt: output mutation and the wrong receiver are rejected by real local</a:t>
            </a:r>
          </a:p>
          <a:p>
            <a:r>
              <a:rPr lang="en-US"/>
              <a:t>Sello signature/encryption checks. A missing receipt propagates an error through</a:t>
            </a:r>
          </a:p>
          <a:p>
            <a:r>
              <a:rPr lang="en-US"/>
              <a:t>the client wrapper; these are not measurements of an actual LLM's truthfulness.</a:t>
            </a:r>
          </a:p>
          <a:p>
            <a:r>
              <a:rPr lang="en-US"/>
              <a:t>Service integration: unauthorized calls fail before work; foreign subjects may</a:t>
            </a:r>
          </a:p>
          <a:p>
            <a:r>
              <a:rPr lang="en-US"/>
              <a:t>not access a job. A failed log publication gives HTTP 503 and no receipt. The</a:t>
            </a:r>
          </a:p>
          <a:p>
            <a:r>
              <a:rPr lang="en-US"/>
              <a:t>operation may already have executed and is not rolled back by this failure.</a:t>
            </a:r>
          </a:p>
          <a:p>
            <a:r>
              <a:rPr lang="en-US"/>
              <a:t>The SCITT/log failure is injected through a mock, not a live log outage.</a:t>
            </a:r>
          </a:p>
          <a:p/>
          <a:p>
            <a:r>
              <a:rPr lang="en-US"/>
              <a:t>VERSION SCOPE</a:t>
            </a:r>
          </a:p>
          <a:p>
            <a:r>
              <a:rPr lang="en-US"/>
              <a:t>The main presentation describes the evaluated legacy mTLS/AIR-v1 profile. Newer</a:t>
            </a:r>
          </a:p>
          <a:p>
            <a:r>
              <a:rPr lang="en-US"/>
              <a:t>RA-TLS-specific suites exist but are deliberately not mixed into that run's</a:t>
            </a:r>
          </a:p>
          <a:p>
            <a:r>
              <a:rPr lang="en-US"/>
              <a:t>claims. This slide uses examples from the legacy-compatible suites. A fresh</a:t>
            </a:r>
          </a:p>
          <a:p>
            <a:r>
              <a:rPr lang="en-US"/>
              <a:t>recorded execution should pin the tested commit and profile before reporting</a:t>
            </a:r>
          </a:p>
          <a:p>
            <a:r>
              <a:rPr lang="en-US"/>
              <a:t>additional numerical results. Framework labels describe scope, not pass status.</a:t>
            </a:r>
          </a:p>
          <a:p/>
          <a:p>
            <a:r>
              <a:rPr lang="en-US"/>
              <a:t>PRESENTATION</a:t>
            </a:r>
          </a:p>
          <a:p>
            <a:r>
              <a:rPr lang="en-US"/>
              <a:t>English matches the main deck. Suggested insertion: immediately after current</a:t>
            </a:r>
          </a:p>
          <a:p>
            <a:r>
              <a:rPr lang="en-US"/>
              <a:t>Page 24 (cloud-run overview), before the learning curves. Source names are</a:t>
            </a:r>
          </a:p>
          <a:p>
            <a:r>
              <a:rPr lang="en-US"/>
              <a:t>abbreviated on the slide; exact paths and functions are preserved below.</a:t>
            </a:r>
          </a:p>
          <a:p/>
          <a:p/>
          <a:p>
            <a:r>
              <a:rPr lang="en-US"/>
              <a:t>SOURCE MAP (paths relative to vita-fl):</a:t>
            </a:r>
          </a:p>
          <a:p/>
          <a:p>
            <a:r>
              <a:rPr lang="en-US"/>
              <a:t>dfl/neural_network/tests/test_dicom_provenance.py</a:t>
            </a:r>
          </a:p>
          <a:p>
            <a:r>
              <a:rPr lang="en-US"/>
              <a:t>  test_checked_in_shard_verifies_against_onchain_style_snapshot</a:t>
            </a:r>
          </a:p>
          <a:p>
            <a:r>
              <a:rPr lang="en-US"/>
              <a:t>  test_modified_label_is_rejected</a:t>
            </a:r>
          </a:p>
          <a:p>
            <a:r>
              <a:rPr lang="en-US"/>
              <a:t>  test_modified_image_is_rejected</a:t>
            </a:r>
          </a:p>
          <a:p/>
          <a:p>
            <a:r>
              <a:rPr lang="en-US"/>
              <a:t>smart_contracts/test/DeviceRegistryAttestationBinding.t.sol</a:t>
            </a:r>
          </a:p>
          <a:p>
            <a:r>
              <a:rPr lang="en-US"/>
              <a:t>  testRegistersOnlyWithBoundAppComposeEvidence</a:t>
            </a:r>
          </a:p>
          <a:p>
            <a:r>
              <a:rPr lang="en-US"/>
              <a:t>  testRejectsWrongImageDigestDerivedFromAppCompose</a:t>
            </a:r>
          </a:p>
          <a:p/>
          <a:p>
            <a:r>
              <a:rPr lang="en-US"/>
              <a:t>smart_contracts/test/GMStorageContribution.t.sol</a:t>
            </a:r>
          </a:p>
          <a:p>
            <a:r>
              <a:rPr lang="en-US"/>
              <a:t>  testIdenticalRetryIsIdempotent</a:t>
            </a:r>
          </a:p>
          <a:p>
            <a:r>
              <a:rPr lang="en-US"/>
              <a:t>  testRetryWithChangedPackageHashReverts</a:t>
            </a:r>
          </a:p>
          <a:p>
            <a:r>
              <a:rPr lang="en-US"/>
              <a:t>  testFirstSubmissionRejectsWrongActionKeySignature</a:t>
            </a:r>
          </a:p>
          <a:p/>
          <a:p>
            <a:r>
              <a:rPr lang="en-US"/>
              <a:t>smart_contracts/test/AggregatorSelectionAccess.t.sol</a:t>
            </a:r>
          </a:p>
          <a:p>
            <a:r>
              <a:rPr lang="en-US"/>
              <a:t>  testAuthorizedNonAggregatorCanRecoverSelectionGapAfterCompletedRound</a:t>
            </a:r>
          </a:p>
          <a:p>
            <a:r>
              <a:rPr lang="en-US"/>
              <a:t>  testTimeoutReportCannotAbortAnActiveSubmissionWindow</a:t>
            </a:r>
          </a:p>
          <a:p>
            <a:r>
              <a:rPr lang="en-US"/>
              <a:t>  testTimeoutQuorumDoesNotShrinkAfterRegistryContraction</a:t>
            </a:r>
          </a:p>
          <a:p/>
          <a:p>
            <a:r>
              <a:rPr lang="en-US"/>
              <a:t>smart_contracts/test/GMStorageAbort.t.sol</a:t>
            </a:r>
          </a:p>
          <a:p>
            <a:r>
              <a:rPr lang="en-US"/>
              <a:t>  testAbortBeforePublicationLeavesActiveArtifactsUnchanged</a:t>
            </a:r>
          </a:p>
          <a:p>
            <a:r>
              <a:rPr lang="en-US"/>
              <a:t>  testAbortAfterRejectedPublicationKeepsLastCompletedArtifacts</a:t>
            </a:r>
          </a:p>
          <a:p/>
          <a:p>
            <a:r>
              <a:rPr lang="en-US"/>
              <a:t>dfl/node_server/test/gm_crypto.test.js</a:t>
            </a:r>
          </a:p>
          <a:p>
            <a:r>
              <a:rPr lang="en-US"/>
              <a:t>  gm crypto rejects decryption for participants without a wrapped key</a:t>
            </a:r>
          </a:p>
          <a:p/>
          <a:p>
            <a:r>
              <a:rPr lang="en-US"/>
              <a:t>agent/tests/test_tee_inference_client.py</a:t>
            </a:r>
          </a:p>
          <a:p>
            <a:r>
              <a:rPr lang="en-US"/>
              <a:t>  test_valid_bundle_verifies</a:t>
            </a:r>
          </a:p>
          <a:p>
            <a:r>
              <a:rPr lang="en-US"/>
              <a:t>  test_request_substitution_is_rejected</a:t>
            </a:r>
          </a:p>
          <a:p>
            <a:r>
              <a:rPr lang="en-US"/>
              <a:t>  test_modified_event_log_is_rejected</a:t>
            </a:r>
          </a:p>
          <a:p/>
          <a:p>
            <a:r>
              <a:rPr lang="en-US"/>
              <a:t>tee_inference/tests/test_authorization.py</a:t>
            </a:r>
          </a:p>
          <a:p>
            <a:r>
              <a:rPr lang="en-US"/>
              <a:t>  test_wrong_token_binding_scope_and_expiry_rejected_before_model_load</a:t>
            </a:r>
          </a:p>
          <a:p>
            <a:r>
              <a:rPr lang="en-US"/>
              <a:t>  test_another_authenticated_agent_cannot_read_or_run_job</a:t>
            </a:r>
          </a:p>
          <a:p>
            <a:r>
              <a:rPr lang="en-US"/>
              <a:t>  test_publication_failure_cannot_return_success_without_receipt</a:t>
            </a:r>
          </a:p>
          <a:p/>
          <a:p>
            <a:r>
              <a:rPr lang="en-US"/>
              <a:t>agent/tests/test_sello_v1.py</a:t>
            </a:r>
          </a:p>
          <a:p>
            <a:r>
              <a:rPr lang="en-US"/>
              <a:t>  test_receiver_receipt_round_trip</a:t>
            </a:r>
          </a:p>
          <a:p>
            <a:r>
              <a:rPr lang="en-US"/>
              <a:t>  test_tampered_output_is_rejected</a:t>
            </a:r>
          </a:p>
          <a:p>
            <a:r>
              <a:rPr lang="en-US"/>
              <a:t>  test_wrong_receiver_is_rejected</a:t>
            </a:r>
          </a:p>
          <a:p/>
          <a:p>
            <a:r>
              <a:rPr lang="en-US"/>
              <a:t>agent/tests/test_receiver_transport.py</a:t>
            </a:r>
          </a:p>
          <a:p>
            <a:r>
              <a:rPr lang="en-US"/>
              <a:t>  test_tool_response_without_receipt_fails_closed</a:t>
            </a:r>
          </a:p>
          <a:p/>
          <a:p>
            <a:r>
              <a:rPr lang="en-US"/>
              <a:t>CLOUD RUN: data/evaluation/authoritative-phala-6w-24r-20260901/README.md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Different tests answer different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THREE COMPLEMENTARY LEVELS OF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Test evaluation: Checks explain individual decisions. / The deployed run demonstrates composition."/>
          <p:cNvSpPr txBox="1"/>
          <p:nvPr/>
        </p:nvSpPr>
        <p:spPr>
          <a:xfrm>
            <a:off x="667512" y="1490472"/>
            <a:ext cx="6995160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 lang="en-US">
                <a:solidFill>
                  <a:srgbClr val="263440"/>
                </a:solidFill>
                <a:latin typeface="Arial"/>
              </a:rPr>
              <a:t>Checks explain individual decisions.
The deployed run demonstrates composition.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953512"/>
            <a:ext cx="3456432" cy="2368296"/>
          </a:xfrm>
          <a:prstGeom prst="rect">
            <a:avLst/>
          </a:prstGeom>
          <a:solidFill>
            <a:srgbClr val="EDF6F0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2953512"/>
            <a:ext cx="3456432" cy="64008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359152"/>
            <a:ext cx="3456432" cy="2962656"/>
          </a:xfrm>
          <a:prstGeom prst="rect">
            <a:avLst/>
          </a:prstGeom>
          <a:solidFill>
            <a:srgbClr val="EDF4FA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359152"/>
            <a:ext cx="3456432" cy="64008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7848" y="1609344"/>
            <a:ext cx="3593592" cy="3712464"/>
          </a:xfrm>
          <a:prstGeom prst="rect">
            <a:avLst/>
          </a:prstGeom>
          <a:solidFill>
            <a:srgbClr val="F3EEF8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7848" y="1609344"/>
            <a:ext cx="3593592" cy="64008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st evaluation: 01  COMPONENT / CONTRACT"/>
          <p:cNvSpPr txBox="1"/>
          <p:nvPr/>
        </p:nvSpPr>
        <p:spPr>
          <a:xfrm>
            <a:off x="868680" y="3136392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07548"/>
                </a:solidFill>
                <a:latin typeface="Arial"/>
              </a:rPr>
              <a:t>01  COMPONENT / CONTRACT</a:t>
            </a:r>
          </a:p>
        </p:txBody>
      </p:sp>
      <p:sp>
        <p:nvSpPr>
          <p:cNvPr id="21" name="Test evaluation: Do the checks / reject invalid state?"/>
          <p:cNvSpPr txBox="1"/>
          <p:nvPr/>
        </p:nvSpPr>
        <p:spPr>
          <a:xfrm>
            <a:off x="868680" y="3419856"/>
            <a:ext cx="3063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Do the checks
reject invalid state?</a:t>
            </a:r>
          </a:p>
        </p:txBody>
      </p:sp>
      <p:sp>
        <p:nvSpPr>
          <p:cNvPr id="22" name="Test evaluation: Modified input rejected; / last finalized model preserved."/>
          <p:cNvSpPr txBox="1"/>
          <p:nvPr/>
        </p:nvSpPr>
        <p:spPr>
          <a:xfrm>
            <a:off x="868680" y="4151376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Modified input rejected;
last finalized model preserved.</a:t>
            </a:r>
          </a:p>
        </p:txBody>
      </p:sp>
      <p:sp>
        <p:nvSpPr>
          <p:cNvPr id="23" name="Test evaluation: …/tests/test_dicom_provenance.py"/>
          <p:cNvSpPr txBox="1"/>
          <p:nvPr/>
        </p:nvSpPr>
        <p:spPr>
          <a:xfrm>
            <a:off x="868680" y="4754880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07548"/>
                </a:solidFill>
                <a:latin typeface="Arial"/>
              </a:rPr>
              <a:t>…/tests/test_dicom_provenance.py</a:t>
            </a:r>
          </a:p>
        </p:txBody>
      </p:sp>
      <p:sp>
        <p:nvSpPr>
          <p:cNvPr id="24" name="Test evaluation: …/test/GMStorageAbort.t.sol"/>
          <p:cNvSpPr txBox="1"/>
          <p:nvPr/>
        </p:nvSpPr>
        <p:spPr>
          <a:xfrm>
            <a:off x="868680" y="5020056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07548"/>
                </a:solidFill>
                <a:latin typeface="Arial"/>
              </a:rPr>
              <a:t>…/test/GMStorageAbort.t.sol</a:t>
            </a:r>
          </a:p>
        </p:txBody>
      </p:sp>
      <p:sp>
        <p:nvSpPr>
          <p:cNvPr id="25" name="Test evaluation: 02  LOCAL SERVICE"/>
          <p:cNvSpPr txBox="1"/>
          <p:nvPr/>
        </p:nvSpPr>
        <p:spPr>
          <a:xfrm>
            <a:off x="4498848" y="256032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1764A1"/>
                </a:solidFill>
                <a:latin typeface="Arial"/>
              </a:rPr>
              <a:t>02  LOCAL SERVICE</a:t>
            </a:r>
          </a:p>
        </p:txBody>
      </p:sp>
      <p:sp>
        <p:nvSpPr>
          <p:cNvPr id="26" name="Test evaluation: Does the receiver / fail closed?"/>
          <p:cNvSpPr txBox="1"/>
          <p:nvPr/>
        </p:nvSpPr>
        <p:spPr>
          <a:xfrm>
            <a:off x="4498848" y="2871216"/>
            <a:ext cx="3063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Does the receiver
fail closed?</a:t>
            </a:r>
          </a:p>
        </p:txBody>
      </p:sp>
      <p:sp>
        <p:nvSpPr>
          <p:cNvPr id="27" name="Test evaluation: ASGI request with an injected / log-publication failure:"/>
          <p:cNvSpPr txBox="1"/>
          <p:nvPr/>
        </p:nvSpPr>
        <p:spPr>
          <a:xfrm>
            <a:off x="4498848" y="359359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ASGI request with an injected
log-publication failure:</a:t>
            </a:r>
          </a:p>
        </p:txBody>
      </p:sp>
      <p:sp>
        <p:nvSpPr>
          <p:cNvPr id="28" name="Test evaluation: HTTP 503 · no receipt"/>
          <p:cNvSpPr txBox="1"/>
          <p:nvPr/>
        </p:nvSpPr>
        <p:spPr>
          <a:xfrm>
            <a:off x="4498848" y="4169663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1764A1"/>
                </a:solidFill>
                <a:latin typeface="Arial"/>
              </a:rPr>
              <a:t>HTTP 503 · no receipt</a:t>
            </a:r>
          </a:p>
        </p:txBody>
      </p:sp>
      <p:sp>
        <p:nvSpPr>
          <p:cNvPr id="29" name="Test evaluation: tee_inference/tests/"/>
          <p:cNvSpPr txBox="1"/>
          <p:nvPr/>
        </p:nvSpPr>
        <p:spPr>
          <a:xfrm>
            <a:off x="4498848" y="4736592"/>
            <a:ext cx="30632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tee_inference/tests/</a:t>
            </a:r>
          </a:p>
        </p:txBody>
      </p:sp>
      <p:sp>
        <p:nvSpPr>
          <p:cNvPr id="30" name="Test evaluation: test_authorization.py"/>
          <p:cNvSpPr txBox="1"/>
          <p:nvPr/>
        </p:nvSpPr>
        <p:spPr>
          <a:xfrm>
            <a:off x="4498848" y="4928616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lang="en-US">
                <a:solidFill>
                  <a:srgbClr val="1764A1"/>
                </a:solidFill>
                <a:latin typeface="Arial"/>
              </a:rPr>
              <a:t>test_authorization.py</a:t>
            </a:r>
          </a:p>
        </p:txBody>
      </p:sp>
      <p:sp>
        <p:nvSpPr>
          <p:cNvPr id="31" name="Test evaluation: 03  DEPLOYED WORKFLOW"/>
          <p:cNvSpPr txBox="1"/>
          <p:nvPr/>
        </p:nvSpPr>
        <p:spPr>
          <a:xfrm>
            <a:off x="8138160" y="1810512"/>
            <a:ext cx="31455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7446A6"/>
                </a:solidFill>
                <a:latin typeface="Arial"/>
              </a:rPr>
              <a:t>03  DEPLOYED WORKFLOW</a:t>
            </a:r>
          </a:p>
        </p:txBody>
      </p:sp>
      <p:sp>
        <p:nvSpPr>
          <p:cNvPr id="32" name="Test evaluation: Do the components / work together?"/>
          <p:cNvSpPr txBox="1"/>
          <p:nvPr/>
        </p:nvSpPr>
        <p:spPr>
          <a:xfrm>
            <a:off x="8138160" y="2157984"/>
            <a:ext cx="31455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Do the components
work together?</a:t>
            </a:r>
          </a:p>
        </p:txBody>
      </p:sp>
      <p:sp>
        <p:nvSpPr>
          <p:cNvPr id="33" name="Test evaluation: Existing Phala run"/>
          <p:cNvSpPr txBox="1"/>
          <p:nvPr/>
        </p:nvSpPr>
        <p:spPr>
          <a:xfrm>
            <a:off x="8138160" y="2880360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7446A6"/>
                </a:solidFill>
                <a:latin typeface="Arial"/>
              </a:rPr>
              <a:t>Existing Phala run</a:t>
            </a:r>
          </a:p>
        </p:txBody>
      </p:sp>
      <p:sp>
        <p:nvSpPr>
          <p:cNvPr id="34" name="Test evaluation: 6 workers / 24 training rounds / 1 final inference"/>
          <p:cNvSpPr txBox="1"/>
          <p:nvPr/>
        </p:nvSpPr>
        <p:spPr>
          <a:xfrm>
            <a:off x="8138160" y="3346704"/>
            <a:ext cx="3145536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6 workers
24 training rounds
1 final inference</a:t>
            </a:r>
          </a:p>
        </p:txBody>
      </p:sp>
      <p:sp>
        <p:nvSpPr>
          <p:cNvPr id="35" name="Test evaluation: No injected failure."/>
          <p:cNvSpPr txBox="1"/>
          <p:nvPr/>
        </p:nvSpPr>
        <p:spPr>
          <a:xfrm>
            <a:off x="8138160" y="4425696"/>
            <a:ext cx="3145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263440"/>
                </a:solidFill>
                <a:latin typeface="Arial"/>
              </a:rPr>
              <a:t>No injected failure.</a:t>
            </a:r>
          </a:p>
        </p:txBody>
      </p:sp>
      <p:sp>
        <p:nvSpPr>
          <p:cNvPr id="36" name="Test evaluation: data/evaluation/"/>
          <p:cNvSpPr txBox="1"/>
          <p:nvPr/>
        </p:nvSpPr>
        <p:spPr>
          <a:xfrm>
            <a:off x="8138160" y="4736592"/>
            <a:ext cx="314553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data/evaluation/</a:t>
            </a:r>
          </a:p>
        </p:txBody>
      </p:sp>
      <p:sp>
        <p:nvSpPr>
          <p:cNvPr id="37" name="Test evaluation: Phala run record · 2026-09-01"/>
          <p:cNvSpPr txBox="1"/>
          <p:nvPr/>
        </p:nvSpPr>
        <p:spPr>
          <a:xfrm>
            <a:off x="8138160" y="4928616"/>
            <a:ext cx="31455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lang="en-US">
                <a:solidFill>
                  <a:srgbClr val="7446A6"/>
                </a:solidFill>
                <a:latin typeface="Arial"/>
              </a:rPr>
              <a:t>Phala run record · 2026-09-01</a:t>
            </a:r>
          </a:p>
        </p:txBody>
      </p:sp>
      <p:sp>
        <p:nvSpPr>
          <p:cNvPr id="38" name="Test evaluation: Complementary scopes: controlled checks and local integration support the single deployed functional run."/>
          <p:cNvSpPr txBox="1"/>
          <p:nvPr/>
        </p:nvSpPr>
        <p:spPr>
          <a:xfrm>
            <a:off x="621792" y="545896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Complementary scopes: controlled checks and local integration support the single deployed functional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