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Evaluation along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IMPLEMENTED CHECKS AT FOUR SYSTEM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2852928"/>
            <a:ext cx="228600" cy="0"/>
          </a:xfrm>
          <a:prstGeom prst="line">
            <a:avLst/>
          </a:prstGeom>
          <a:ln w="2286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71031" y="2852928"/>
            <a:ext cx="228601" cy="0"/>
          </a:xfrm>
          <a:prstGeom prst="line">
            <a:avLst/>
          </a:prstGeom>
          <a:ln w="2286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41664" y="2852928"/>
            <a:ext cx="228600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" y="2560320"/>
            <a:ext cx="2542032" cy="5852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st evaluation: Training data"/>
          <p:cNvSpPr txBox="1"/>
          <p:nvPr/>
        </p:nvSpPr>
        <p:spPr>
          <a:xfrm>
            <a:off x="740664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Training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560320"/>
            <a:ext cx="2542032" cy="58521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st evaluation: Round coordination"/>
          <p:cNvSpPr txBox="1"/>
          <p:nvPr/>
        </p:nvSpPr>
        <p:spPr>
          <a:xfrm>
            <a:off x="3511296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Round coordination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560320"/>
            <a:ext cx="2542032" cy="5852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st evaluation: Inference receiver"/>
          <p:cNvSpPr txBox="1"/>
          <p:nvPr/>
        </p:nvSpPr>
        <p:spPr>
          <a:xfrm>
            <a:off x="6281928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Inference receiver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4" y="2560320"/>
            <a:ext cx="2542032" cy="5852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st evaluation: Agent / tool result"/>
          <p:cNvSpPr txBox="1"/>
          <p:nvPr/>
        </p:nvSpPr>
        <p:spPr>
          <a:xfrm>
            <a:off x="9052560" y="2679192"/>
            <a:ext cx="237743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</a:rPr>
              <a:t>Agent / tool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380744"/>
            <a:ext cx="2542032" cy="1069848"/>
          </a:xfrm>
          <a:prstGeom prst="roundRect">
            <a:avLst/>
          </a:prstGeom>
          <a:solidFill>
            <a:srgbClr val="EDF6F0"/>
          </a:solidFill>
          <a:ln w="1016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1490472"/>
            <a:ext cx="2304288" cy="26517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st evaluation: Component test"/>
          <p:cNvSpPr txBox="1"/>
          <p:nvPr/>
        </p:nvSpPr>
        <p:spPr>
          <a:xfrm>
            <a:off x="832103" y="150418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Component test</a:t>
            </a:r>
          </a:p>
        </p:txBody>
      </p:sp>
      <p:sp>
        <p:nvSpPr>
          <p:cNvPr id="27" name="Test evaluation: Altered label → rejected"/>
          <p:cNvSpPr txBox="1"/>
          <p:nvPr/>
        </p:nvSpPr>
        <p:spPr>
          <a:xfrm>
            <a:off x="786384" y="1746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Altered label → rejected</a:t>
            </a:r>
          </a:p>
        </p:txBody>
      </p:sp>
      <p:sp>
        <p:nvSpPr>
          <p:cNvPr id="28" name="Test evaluation: test_dicom_provenance.py"/>
          <p:cNvSpPr txBox="1"/>
          <p:nvPr/>
        </p:nvSpPr>
        <p:spPr>
          <a:xfrm>
            <a:off x="786384" y="22494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test_dicom_provenance.py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29584"/>
            <a:ext cx="2542032" cy="1069848"/>
          </a:xfrm>
          <a:prstGeom prst="roundRect">
            <a:avLst/>
          </a:prstGeom>
          <a:solidFill>
            <a:srgbClr val="F3EEF8"/>
          </a:solidFill>
          <a:ln w="1016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7872" y="3639312"/>
            <a:ext cx="2304288" cy="26517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st evaluation: Local EVM test"/>
          <p:cNvSpPr txBox="1"/>
          <p:nvPr/>
        </p:nvSpPr>
        <p:spPr>
          <a:xfrm>
            <a:off x="3602736" y="36530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Local EVM test</a:t>
            </a:r>
          </a:p>
        </p:txBody>
      </p:sp>
      <p:sp>
        <p:nvSpPr>
          <p:cNvPr id="32" name="Test evaluation: Abort → model preserved"/>
          <p:cNvSpPr txBox="1"/>
          <p:nvPr/>
        </p:nvSpPr>
        <p:spPr>
          <a:xfrm>
            <a:off x="3557016" y="38953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Abort → model preserved</a:t>
            </a:r>
          </a:p>
        </p:txBody>
      </p:sp>
      <p:sp>
        <p:nvSpPr>
          <p:cNvPr id="33" name="Test evaluation: GMStorageAbort.t.sol"/>
          <p:cNvSpPr txBox="1"/>
          <p:nvPr/>
        </p:nvSpPr>
        <p:spPr>
          <a:xfrm>
            <a:off x="3557016" y="43982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GMStorageAbort.t.sol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380744"/>
            <a:ext cx="2542032" cy="1069848"/>
          </a:xfrm>
          <a:prstGeom prst="roundRect">
            <a:avLst/>
          </a:prstGeom>
          <a:solidFill>
            <a:srgbClr val="EDF4FA"/>
          </a:solidFill>
          <a:ln w="1016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8504" y="1490472"/>
            <a:ext cx="2304288" cy="26517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st evaluation: Local integration test"/>
          <p:cNvSpPr txBox="1"/>
          <p:nvPr/>
        </p:nvSpPr>
        <p:spPr>
          <a:xfrm>
            <a:off x="6373368" y="150418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Local integration test</a:t>
            </a:r>
          </a:p>
        </p:txBody>
      </p:sp>
      <p:sp>
        <p:nvSpPr>
          <p:cNvPr id="37" name="Test evaluation: Log failure → HTTP 503"/>
          <p:cNvSpPr txBox="1"/>
          <p:nvPr/>
        </p:nvSpPr>
        <p:spPr>
          <a:xfrm>
            <a:off x="6327648" y="17465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Log failure → HTTP 503</a:t>
            </a:r>
          </a:p>
        </p:txBody>
      </p:sp>
      <p:sp>
        <p:nvSpPr>
          <p:cNvPr id="38" name="Test evaluation: test_authorization.py"/>
          <p:cNvSpPr txBox="1"/>
          <p:nvPr/>
        </p:nvSpPr>
        <p:spPr>
          <a:xfrm>
            <a:off x="6327648" y="22494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test_authorization.py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529584"/>
            <a:ext cx="2542032" cy="1069848"/>
          </a:xfrm>
          <a:prstGeom prst="roundRect">
            <a:avLst/>
          </a:prstGeom>
          <a:solidFill>
            <a:srgbClr val="EDF4FA"/>
          </a:solidFill>
          <a:ln w="1016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89136" y="3639312"/>
            <a:ext cx="2304288" cy="26517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st evaluation: Component test"/>
          <p:cNvSpPr txBox="1"/>
          <p:nvPr/>
        </p:nvSpPr>
        <p:spPr>
          <a:xfrm>
            <a:off x="9144000" y="36530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en-US">
                <a:solidFill>
                  <a:srgbClr val="FFFFFF"/>
                </a:solidFill>
                <a:latin typeface="Arial"/>
              </a:rPr>
              <a:t>Component test</a:t>
            </a:r>
          </a:p>
        </p:txBody>
      </p:sp>
      <p:sp>
        <p:nvSpPr>
          <p:cNvPr id="42" name="Test evaluation: Altered output → rejected"/>
          <p:cNvSpPr txBox="1"/>
          <p:nvPr/>
        </p:nvSpPr>
        <p:spPr>
          <a:xfrm>
            <a:off x="9098280" y="38953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Altered output → rejected</a:t>
            </a:r>
          </a:p>
        </p:txBody>
      </p:sp>
      <p:sp>
        <p:nvSpPr>
          <p:cNvPr id="43" name="Test evaluation: test_sello_v1.py"/>
          <p:cNvSpPr txBox="1"/>
          <p:nvPr/>
        </p:nvSpPr>
        <p:spPr>
          <a:xfrm>
            <a:off x="9098280" y="43982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test_sello_v1.py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29384" y="2450592"/>
            <a:ext cx="0" cy="109728"/>
          </a:xfrm>
          <a:prstGeom prst="line">
            <a:avLst/>
          </a:prstGeom>
          <a:ln w="13970">
            <a:solidFill>
              <a:srgbClr val="207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70648" y="2450592"/>
            <a:ext cx="0" cy="109728"/>
          </a:xfrm>
          <a:prstGeom prst="line">
            <a:avLst/>
          </a:prstGeom>
          <a:ln w="1397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00016" y="3145536"/>
            <a:ext cx="0" cy="384048"/>
          </a:xfrm>
          <a:prstGeom prst="line">
            <a:avLst/>
          </a:prstGeom>
          <a:ln w="13970">
            <a:solidFill>
              <a:srgbClr val="744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41280" y="3145536"/>
            <a:ext cx="0" cy="384048"/>
          </a:xfrm>
          <a:prstGeom prst="line">
            <a:avLst/>
          </a:prstGeom>
          <a:ln w="1397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st evaluation: dfl/neural_network"/>
          <p:cNvSpPr txBox="1"/>
          <p:nvPr/>
        </p:nvSpPr>
        <p:spPr>
          <a:xfrm>
            <a:off x="658368" y="321868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207548"/>
                </a:solidFill>
                <a:latin typeface="Arial"/>
              </a:rPr>
              <a:t>dfl/neural_network</a:t>
            </a:r>
          </a:p>
        </p:txBody>
      </p:sp>
      <p:sp>
        <p:nvSpPr>
          <p:cNvPr id="49" name="Test evaluation: smart_contracts"/>
          <p:cNvSpPr txBox="1"/>
          <p:nvPr/>
        </p:nvSpPr>
        <p:spPr>
          <a:xfrm>
            <a:off x="3429000" y="22219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7446A6"/>
                </a:solidFill>
                <a:latin typeface="Arial"/>
              </a:rPr>
              <a:t>smart_contracts</a:t>
            </a:r>
          </a:p>
        </p:txBody>
      </p:sp>
      <p:sp>
        <p:nvSpPr>
          <p:cNvPr id="50" name="Test evaluation: tee_inference"/>
          <p:cNvSpPr txBox="1"/>
          <p:nvPr/>
        </p:nvSpPr>
        <p:spPr>
          <a:xfrm>
            <a:off x="6199632" y="321868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tee_inference</a:t>
            </a:r>
          </a:p>
        </p:txBody>
      </p:sp>
      <p:sp>
        <p:nvSpPr>
          <p:cNvPr id="51" name="Test evaluation: agent"/>
          <p:cNvSpPr txBox="1"/>
          <p:nvPr/>
        </p:nvSpPr>
        <p:spPr>
          <a:xfrm>
            <a:off x="8970264" y="22219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agent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828032"/>
            <a:ext cx="10853928" cy="484632"/>
          </a:xfrm>
          <a:prstGeom prst="rect">
            <a:avLst/>
          </a:prstGeom>
          <a:solidFill>
            <a:srgbClr val="F2F5F7"/>
          </a:solidFill>
          <a:ln w="762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" y="4933188"/>
            <a:ext cx="1874519" cy="265176"/>
          </a:xfrm>
          <a:prstGeom prst="rect">
            <a:avLst/>
          </a:prstGeom>
          <a:solidFill>
            <a:srgbClr val="263440"/>
          </a:solidFill>
          <a:ln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st evaluation: CLOUD END-TO-END"/>
          <p:cNvSpPr txBox="1"/>
          <p:nvPr/>
        </p:nvSpPr>
        <p:spPr>
          <a:xfrm>
            <a:off x="813815" y="4946903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lang="en-US">
                <a:solidFill>
                  <a:srgbClr val="FFFFFF"/>
                </a:solidFill>
                <a:latin typeface="Arial"/>
              </a:rPr>
              <a:t>CLOUD END-TO-END</a:t>
            </a:r>
          </a:p>
        </p:txBody>
      </p:sp>
      <p:sp>
        <p:nvSpPr>
          <p:cNvPr id="55" name="Test evaluation: Existing Phala run: 6 workers · 24 training rounds · 1 inference"/>
          <p:cNvSpPr txBox="1"/>
          <p:nvPr/>
        </p:nvSpPr>
        <p:spPr>
          <a:xfrm>
            <a:off x="2779776" y="4901184"/>
            <a:ext cx="85587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lang="en-US">
                <a:solidFill>
                  <a:srgbClr val="263440"/>
                </a:solidFill>
                <a:latin typeface="Arial"/>
              </a:rPr>
              <a:t>Existing Phala run: 6 workers · 24 training rounds · 1 inference</a:t>
            </a:r>
          </a:p>
        </p:txBody>
      </p:sp>
      <p:sp>
        <p:nvSpPr>
          <p:cNvPr id="56" name="Test evaluation: Local test cases use controlled dependencies. The cloud run demonstrates the deployed workflow; recovery was not triggered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Local test cases use controlled dependencies. The cloud run demonstrates the deployed workflow; recovery was not triggered.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