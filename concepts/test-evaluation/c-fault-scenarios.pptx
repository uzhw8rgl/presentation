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710" r:id="rId2"/>
  </p:sldMasterIdLst>
  <p:notesMasterIdLst>
    <p:notesMasterId r:id="rId8"/>
  </p:notesMasterIdLst>
  <p:sldIdLst>
    <p:sldId id="256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0D1E"/>
    <a:srgbClr val="9013FE"/>
    <a:srgbClr val="1F90CC"/>
    <a:srgbClr val="434343"/>
    <a:srgbClr val="C40E02"/>
    <a:srgbClr val="FFFFFF"/>
    <a:srgbClr val="49CB40"/>
    <a:srgbClr val="C50E1F"/>
    <a:srgbClr val="B2B2B2"/>
    <a:srgbClr val="717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6327"/>
  </p:normalViewPr>
  <p:slideViewPr>
    <p:cSldViewPr snapToGrid="0" snapToObjects="1">
      <p:cViewPr varScale="1">
        <p:scale>
          <a:sx n="81" d="100"/>
          <a:sy n="81" d="100"/>
        </p:scale>
        <p:origin x="5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53" d="100"/>
          <a:sy n="153" d="100"/>
        </p:scale>
        <p:origin x="4920" y="19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A6180F-3EA1-4748-B4F4-956BB5176995}" type="datetimeFigureOut">
              <a:rPr lang="de-DE" smtClean="0"/>
              <a:t>16.06.2025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C3961-1900-1342-BF9B-82C3215CD31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93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lang="en-US"/>
              <a:t>VARIANT C</a:t>
            </a:r>
          </a:p>
          <a:p/>
          <a:p>
            <a:r>
              <a:rPr lang="en-US"/>
              <a:t>PURPOSE</a:t>
            </a:r>
          </a:p>
          <a:p>
            <a:r>
              <a:rPr lang="en-US"/>
              <a:t>One proposed evaluation slide, to be selected before insertion in the main deck.</a:t>
            </a:r>
          </a:p>
          <a:p>
            <a:r>
              <a:rPr lang="en-US"/>
              <a:t>All visible examples are implemented tests. This is an inventory and explanation</a:t>
            </a:r>
          </a:p>
          <a:p>
            <a:r>
              <a:rPr lang="en-US"/>
              <a:t>of the test design, not a new execution report. No test counts or new pass rates</a:t>
            </a:r>
          </a:p>
          <a:p>
            <a:r>
              <a:rPr lang="en-US"/>
              <a:t>are asserted. The existing September 2026 cloud run is separate empirical evidence.</a:t>
            </a:r>
          </a:p>
          <a:p/>
          <a:p>
            <a:r>
              <a:rPr lang="en-US"/>
              <a:t>CLASSIFICATION</a:t>
            </a:r>
          </a:p>
          <a:p>
            <a:r>
              <a:rPr lang="en-US"/>
              <a:t>Component tests exercise real production functions with selected dependencies</a:t>
            </a:r>
          </a:p>
          <a:p>
            <a:r>
              <a:rPr lang="en-US"/>
              <a:t>controlled: training provenance, native AES/RSA model exchange, AIR/Sello checks.</a:t>
            </a:r>
          </a:p>
          <a:p>
            <a:r>
              <a:rPr lang="en-US"/>
              <a:t>Solidity/Foundry examples are local contract component tests; they execute actual</a:t>
            </a:r>
          </a:p>
          <a:p>
            <a:r>
              <a:rPr lang="en-US"/>
              <a:t>contract logic, with registry/selection/TDX verifier stubs depending on the suite.</a:t>
            </a:r>
          </a:p>
          <a:p>
            <a:r>
              <a:rPr lang="en-US"/>
              <a:t>Local integration tests exercise the FastAPI receiver through an ASGI test client,</a:t>
            </a:r>
          </a:p>
          <a:p>
            <a:r>
              <a:rPr lang="en-US"/>
              <a:t>including authorization and receipt-publication error handling. Model loading,</a:t>
            </a:r>
          </a:p>
          <a:p>
            <a:r>
              <a:rPr lang="en-US"/>
              <a:t>transport context and publication dependencies are controlled. They do not run</a:t>
            </a:r>
          </a:p>
          <a:p>
            <a:r>
              <a:rPr lang="en-US"/>
              <a:t>the complete deployed service network.</a:t>
            </a:r>
          </a:p>
          <a:p>
            <a:r>
              <a:rPr lang="en-US"/>
              <a:t>The one Phala execution is the complete deployed workflow: six worker CVMs,</a:t>
            </a:r>
          </a:p>
          <a:p>
            <a:r>
              <a:rPr lang="en-US"/>
              <a:t>24 successful training rounds and one final inference using the round-25 model.</a:t>
            </a:r>
          </a:p>
          <a:p>
            <a:r>
              <a:rPr lang="en-US"/>
              <a:t>It is an existing run record, not an automated fault-injection test suite.</a:t>
            </a:r>
          </a:p>
          <a:p/>
          <a:p>
            <a:r>
              <a:rPr lang="en-US"/>
              <a:t>EXACT ASSERTIONS AND BOUNDARIES</a:t>
            </a:r>
          </a:p>
          <a:p>
            <a:r>
              <a:rPr lang="en-US"/>
              <a:t>Provenance: changing a signed label or image fails signature verification. Real</a:t>
            </a:r>
          </a:p>
          <a:p>
            <a:r>
              <a:rPr lang="en-US"/>
              <a:t>cryptography uses synthetic medical signer fixtures and an on-chain-style local</a:t>
            </a:r>
          </a:p>
          <a:p>
            <a:r>
              <a:rPr lang="en-US"/>
              <a:t>snapshot; clinical provenance and label correctness are outside this assertion.</a:t>
            </a:r>
          </a:p>
          <a:p>
            <a:r>
              <a:rPr lang="en-US"/>
              <a:t>Admission: matching image/Compose evidence is accepted; wrong image is rejected.</a:t>
            </a:r>
          </a:p>
          <a:p>
            <a:r>
              <a:rPr lang="en-US"/>
              <a:t>MockTdxV4Attestation supplies the verifier result; real DCAP is not evaluated here.</a:t>
            </a:r>
          </a:p>
          <a:p>
            <a:r>
              <a:rPr lang="en-US"/>
              <a:t>Contributions: changed package hash, wrong action key and nonce are rejected;</a:t>
            </a:r>
          </a:p>
          <a:p>
            <a:r>
              <a:rPr lang="en-US"/>
              <a:t>identical retry is idempotent. This does not evaluate protocol-valid poisoning.</a:t>
            </a:r>
          </a:p>
          <a:p>
            <a:r>
              <a:rPr lang="en-US"/>
              <a:t>Recovery: timeout reports cannot abort an active submission window; the quorum</a:t>
            </a:r>
          </a:p>
          <a:p>
            <a:r>
              <a:rPr lang="en-US"/>
              <a:t>does not shrink after registry contraction. Abort preserves the last finalized</a:t>
            </a:r>
          </a:p>
          <a:p>
            <a:r>
              <a:rPr lang="en-US"/>
              <a:t>artifacts. Selection-gap recovery after completed publication is a distinct path.</a:t>
            </a:r>
          </a:p>
          <a:p>
            <a:r>
              <a:rPr lang="en-US"/>
              <a:t>There is no positive full timeout-to-quorum-to-abort-to-replacement experiment</a:t>
            </a:r>
          </a:p>
          <a:p>
            <a:r>
              <a:rPr lang="en-US"/>
              <a:t>established by these selected tests. The cloud run did not trigger recovery.</a:t>
            </a:r>
          </a:p>
          <a:p>
            <a:r>
              <a:rPr lang="en-US"/>
              <a:t>Inference: a valid AIR bundle is accepted; a substituted request or modified</a:t>
            </a:r>
          </a:p>
          <a:p>
            <a:r>
              <a:rPr lang="en-US"/>
              <a:t>event log is rejected. The legacy fixture has a synthetic unsigned TDX quote;</a:t>
            </a:r>
          </a:p>
          <a:p>
            <a:r>
              <a:rPr lang="en-US"/>
              <a:t>its AIR signatures/hashes are real but do not establish hardware authentication.</a:t>
            </a:r>
          </a:p>
          <a:p>
            <a:r>
              <a:rPr lang="en-US"/>
              <a:t>Tool receipt: output mutation and the wrong receiver are rejected by real local</a:t>
            </a:r>
          </a:p>
          <a:p>
            <a:r>
              <a:rPr lang="en-US"/>
              <a:t>Sello signature/encryption checks. A missing receipt propagates an error through</a:t>
            </a:r>
          </a:p>
          <a:p>
            <a:r>
              <a:rPr lang="en-US"/>
              <a:t>the client wrapper; these are not measurements of an actual LLM's truthfulness.</a:t>
            </a:r>
          </a:p>
          <a:p>
            <a:r>
              <a:rPr lang="en-US"/>
              <a:t>Service integration: unauthorized calls fail before work; foreign subjects may</a:t>
            </a:r>
          </a:p>
          <a:p>
            <a:r>
              <a:rPr lang="en-US"/>
              <a:t>not access a job. A failed log publication gives HTTP 503 and no receipt. The</a:t>
            </a:r>
          </a:p>
          <a:p>
            <a:r>
              <a:rPr lang="en-US"/>
              <a:t>operation may already have executed and is not rolled back by this failure.</a:t>
            </a:r>
          </a:p>
          <a:p>
            <a:r>
              <a:rPr lang="en-US"/>
              <a:t>The SCITT/log failure is injected through a mock, not a live log outage.</a:t>
            </a:r>
          </a:p>
          <a:p/>
          <a:p>
            <a:r>
              <a:rPr lang="en-US"/>
              <a:t>VERSION SCOPE</a:t>
            </a:r>
          </a:p>
          <a:p>
            <a:r>
              <a:rPr lang="en-US"/>
              <a:t>The main presentation describes the evaluated legacy mTLS/AIR-v1 profile. Newer</a:t>
            </a:r>
          </a:p>
          <a:p>
            <a:r>
              <a:rPr lang="en-US"/>
              <a:t>RA-TLS-specific suites exist but are deliberately not mixed into that run's</a:t>
            </a:r>
          </a:p>
          <a:p>
            <a:r>
              <a:rPr lang="en-US"/>
              <a:t>claims. This slide uses examples from the legacy-compatible suites. A fresh</a:t>
            </a:r>
          </a:p>
          <a:p>
            <a:r>
              <a:rPr lang="en-US"/>
              <a:t>recorded execution should pin the tested commit and profile before reporting</a:t>
            </a:r>
          </a:p>
          <a:p>
            <a:r>
              <a:rPr lang="en-US"/>
              <a:t>additional numerical results. Framework labels describe scope, not pass status.</a:t>
            </a:r>
          </a:p>
          <a:p/>
          <a:p>
            <a:r>
              <a:rPr lang="en-US"/>
              <a:t>PRESENTATION</a:t>
            </a:r>
          </a:p>
          <a:p>
            <a:r>
              <a:rPr lang="en-US"/>
              <a:t>English matches the main deck. Suggested insertion: immediately after current</a:t>
            </a:r>
          </a:p>
          <a:p>
            <a:r>
              <a:rPr lang="en-US"/>
              <a:t>Page 24 (cloud-run overview), before the learning curves. Source names are</a:t>
            </a:r>
          </a:p>
          <a:p>
            <a:r>
              <a:rPr lang="en-US"/>
              <a:t>abbreviated on the slide; exact paths and functions are preserved below.</a:t>
            </a:r>
          </a:p>
          <a:p/>
          <a:p/>
          <a:p>
            <a:r>
              <a:rPr lang="en-US"/>
              <a:t>SOURCE MAP (paths relative to vita-fl):</a:t>
            </a:r>
          </a:p>
          <a:p/>
          <a:p>
            <a:r>
              <a:rPr lang="en-US"/>
              <a:t>dfl/neural_network/tests/test_dicom_provenance.py</a:t>
            </a:r>
          </a:p>
          <a:p>
            <a:r>
              <a:rPr lang="en-US"/>
              <a:t>  test_checked_in_shard_verifies_against_onchain_style_snapshot</a:t>
            </a:r>
          </a:p>
          <a:p>
            <a:r>
              <a:rPr lang="en-US"/>
              <a:t>  test_modified_label_is_rejected</a:t>
            </a:r>
          </a:p>
          <a:p>
            <a:r>
              <a:rPr lang="en-US"/>
              <a:t>  test_modified_image_is_rejected</a:t>
            </a:r>
          </a:p>
          <a:p/>
          <a:p>
            <a:r>
              <a:rPr lang="en-US"/>
              <a:t>smart_contracts/test/DeviceRegistryAttestationBinding.t.sol</a:t>
            </a:r>
          </a:p>
          <a:p>
            <a:r>
              <a:rPr lang="en-US"/>
              <a:t>  testRegistersOnlyWithBoundAppComposeEvidence</a:t>
            </a:r>
          </a:p>
          <a:p>
            <a:r>
              <a:rPr lang="en-US"/>
              <a:t>  testRejectsWrongImageDigestDerivedFromAppCompose</a:t>
            </a:r>
          </a:p>
          <a:p/>
          <a:p>
            <a:r>
              <a:rPr lang="en-US"/>
              <a:t>smart_contracts/test/GMStorageContribution.t.sol</a:t>
            </a:r>
          </a:p>
          <a:p>
            <a:r>
              <a:rPr lang="en-US"/>
              <a:t>  testIdenticalRetryIsIdempotent</a:t>
            </a:r>
          </a:p>
          <a:p>
            <a:r>
              <a:rPr lang="en-US"/>
              <a:t>  testRetryWithChangedPackageHashReverts</a:t>
            </a:r>
          </a:p>
          <a:p>
            <a:r>
              <a:rPr lang="en-US"/>
              <a:t>  testFirstSubmissionRejectsWrongActionKeySignature</a:t>
            </a:r>
          </a:p>
          <a:p/>
          <a:p>
            <a:r>
              <a:rPr lang="en-US"/>
              <a:t>smart_contracts/test/AggregatorSelectionAccess.t.sol</a:t>
            </a:r>
          </a:p>
          <a:p>
            <a:r>
              <a:rPr lang="en-US"/>
              <a:t>  testAuthorizedNonAggregatorCanRecoverSelectionGapAfterCompletedRound</a:t>
            </a:r>
          </a:p>
          <a:p>
            <a:r>
              <a:rPr lang="en-US"/>
              <a:t>  testTimeoutReportCannotAbortAnActiveSubmissionWindow</a:t>
            </a:r>
          </a:p>
          <a:p>
            <a:r>
              <a:rPr lang="en-US"/>
              <a:t>  testTimeoutQuorumDoesNotShrinkAfterRegistryContraction</a:t>
            </a:r>
          </a:p>
          <a:p/>
          <a:p>
            <a:r>
              <a:rPr lang="en-US"/>
              <a:t>smart_contracts/test/GMStorageAbort.t.sol</a:t>
            </a:r>
          </a:p>
          <a:p>
            <a:r>
              <a:rPr lang="en-US"/>
              <a:t>  testAbortBeforePublicationLeavesActiveArtifactsUnchanged</a:t>
            </a:r>
          </a:p>
          <a:p>
            <a:r>
              <a:rPr lang="en-US"/>
              <a:t>  testAbortAfterRejectedPublicationKeepsLastCompletedArtifacts</a:t>
            </a:r>
          </a:p>
          <a:p/>
          <a:p>
            <a:r>
              <a:rPr lang="en-US"/>
              <a:t>dfl/node_server/test/gm_crypto.test.js</a:t>
            </a:r>
          </a:p>
          <a:p>
            <a:r>
              <a:rPr lang="en-US"/>
              <a:t>  gm crypto rejects decryption for participants without a wrapped key</a:t>
            </a:r>
          </a:p>
          <a:p/>
          <a:p>
            <a:r>
              <a:rPr lang="en-US"/>
              <a:t>agent/tests/test_tee_inference_client.py</a:t>
            </a:r>
          </a:p>
          <a:p>
            <a:r>
              <a:rPr lang="en-US"/>
              <a:t>  test_valid_bundle_verifies</a:t>
            </a:r>
          </a:p>
          <a:p>
            <a:r>
              <a:rPr lang="en-US"/>
              <a:t>  test_request_substitution_is_rejected</a:t>
            </a:r>
          </a:p>
          <a:p>
            <a:r>
              <a:rPr lang="en-US"/>
              <a:t>  test_modified_event_log_is_rejected</a:t>
            </a:r>
          </a:p>
          <a:p/>
          <a:p>
            <a:r>
              <a:rPr lang="en-US"/>
              <a:t>tee_inference/tests/test_authorization.py</a:t>
            </a:r>
          </a:p>
          <a:p>
            <a:r>
              <a:rPr lang="en-US"/>
              <a:t>  test_wrong_token_binding_scope_and_expiry_rejected_before_model_load</a:t>
            </a:r>
          </a:p>
          <a:p>
            <a:r>
              <a:rPr lang="en-US"/>
              <a:t>  test_another_authenticated_agent_cannot_read_or_run_job</a:t>
            </a:r>
          </a:p>
          <a:p>
            <a:r>
              <a:rPr lang="en-US"/>
              <a:t>  test_publication_failure_cannot_return_success_without_receipt</a:t>
            </a:r>
          </a:p>
          <a:p/>
          <a:p>
            <a:r>
              <a:rPr lang="en-US"/>
              <a:t>agent/tests/test_sello_v1.py</a:t>
            </a:r>
          </a:p>
          <a:p>
            <a:r>
              <a:rPr lang="en-US"/>
              <a:t>  test_receiver_receipt_round_trip</a:t>
            </a:r>
          </a:p>
          <a:p>
            <a:r>
              <a:rPr lang="en-US"/>
              <a:t>  test_tampered_output_is_rejected</a:t>
            </a:r>
          </a:p>
          <a:p>
            <a:r>
              <a:rPr lang="en-US"/>
              <a:t>  test_wrong_receiver_is_rejected</a:t>
            </a:r>
          </a:p>
          <a:p/>
          <a:p>
            <a:r>
              <a:rPr lang="en-US"/>
              <a:t>agent/tests/test_receiver_transport.py</a:t>
            </a:r>
          </a:p>
          <a:p>
            <a:r>
              <a:rPr lang="en-US"/>
              <a:t>  test_tool_response_without_receipt_fails_closed</a:t>
            </a:r>
          </a:p>
          <a:p/>
          <a:p>
            <a:r>
              <a:rPr lang="en-US"/>
              <a:t>CLOUD RUN: data/evaluation/authoritative-phala-6w-24r-20260901/README.md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- 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3">
            <a:extLst>
              <a:ext uri="{FF2B5EF4-FFF2-40B4-BE49-F238E27FC236}">
                <a16:creationId xmlns:a16="http://schemas.microsoft.com/office/drawing/2014/main" id="{9A036687-F2BF-7B4C-A352-6E1D355D125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6479" y="1260572"/>
            <a:ext cx="8885359" cy="3273604"/>
          </a:xfrm>
          <a:custGeom>
            <a:avLst/>
            <a:gdLst>
              <a:gd name="connsiteX0" fmla="*/ 0 w 8328660"/>
              <a:gd name="connsiteY0" fmla="*/ 0 h 3143274"/>
              <a:gd name="connsiteX1" fmla="*/ 8328660 w 8328660"/>
              <a:gd name="connsiteY1" fmla="*/ 0 h 3143274"/>
              <a:gd name="connsiteX2" fmla="*/ 8328660 w 8328660"/>
              <a:gd name="connsiteY2" fmla="*/ 3143274 h 3143274"/>
              <a:gd name="connsiteX3" fmla="*/ 0 w 8328660"/>
              <a:gd name="connsiteY3" fmla="*/ 3143274 h 3143274"/>
              <a:gd name="connsiteX4" fmla="*/ 0 w 8328660"/>
              <a:gd name="connsiteY4" fmla="*/ 0 h 314327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8660 w 8336280"/>
              <a:gd name="connsiteY2" fmla="*/ 374525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601980 h 3745254"/>
              <a:gd name="connsiteX1" fmla="*/ 8336280 w 8336280"/>
              <a:gd name="connsiteY1" fmla="*/ 0 h 3745254"/>
              <a:gd name="connsiteX2" fmla="*/ 8321040 w 8336280"/>
              <a:gd name="connsiteY2" fmla="*/ 3242334 h 3745254"/>
              <a:gd name="connsiteX3" fmla="*/ 0 w 8336280"/>
              <a:gd name="connsiteY3" fmla="*/ 3745254 h 3745254"/>
              <a:gd name="connsiteX4" fmla="*/ 0 w 8336280"/>
              <a:gd name="connsiteY4" fmla="*/ 601980 h 3745254"/>
              <a:gd name="connsiteX0" fmla="*/ 0 w 8336280"/>
              <a:gd name="connsiteY0" fmla="*/ 286029 h 3429303"/>
              <a:gd name="connsiteX1" fmla="*/ 8336280 w 8336280"/>
              <a:gd name="connsiteY1" fmla="*/ 0 h 3429303"/>
              <a:gd name="connsiteX2" fmla="*/ 8321040 w 8336280"/>
              <a:gd name="connsiteY2" fmla="*/ 2926383 h 3429303"/>
              <a:gd name="connsiteX3" fmla="*/ 0 w 8336280"/>
              <a:gd name="connsiteY3" fmla="*/ 3429303 h 3429303"/>
              <a:gd name="connsiteX4" fmla="*/ 0 w 8336280"/>
              <a:gd name="connsiteY4" fmla="*/ 286029 h 3429303"/>
              <a:gd name="connsiteX0" fmla="*/ 0 w 8339997"/>
              <a:gd name="connsiteY0" fmla="*/ 312049 h 3429303"/>
              <a:gd name="connsiteX1" fmla="*/ 8339997 w 8339997"/>
              <a:gd name="connsiteY1" fmla="*/ 0 h 3429303"/>
              <a:gd name="connsiteX2" fmla="*/ 8324757 w 8339997"/>
              <a:gd name="connsiteY2" fmla="*/ 2926383 h 3429303"/>
              <a:gd name="connsiteX3" fmla="*/ 3717 w 8339997"/>
              <a:gd name="connsiteY3" fmla="*/ 3429303 h 3429303"/>
              <a:gd name="connsiteX4" fmla="*/ 0 w 8339997"/>
              <a:gd name="connsiteY4" fmla="*/ 312049 h 3429303"/>
              <a:gd name="connsiteX0" fmla="*/ 0 w 8343172"/>
              <a:gd name="connsiteY0" fmla="*/ 305699 h 3429303"/>
              <a:gd name="connsiteX1" fmla="*/ 8343172 w 8343172"/>
              <a:gd name="connsiteY1" fmla="*/ 0 h 3429303"/>
              <a:gd name="connsiteX2" fmla="*/ 8327932 w 8343172"/>
              <a:gd name="connsiteY2" fmla="*/ 2926383 h 3429303"/>
              <a:gd name="connsiteX3" fmla="*/ 6892 w 8343172"/>
              <a:gd name="connsiteY3" fmla="*/ 3429303 h 3429303"/>
              <a:gd name="connsiteX4" fmla="*/ 0 w 8343172"/>
              <a:gd name="connsiteY4" fmla="*/ 305699 h 3429303"/>
              <a:gd name="connsiteX0" fmla="*/ 0 w 8349522"/>
              <a:gd name="connsiteY0" fmla="*/ 30887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8874 h 3429303"/>
              <a:gd name="connsiteX0" fmla="*/ 0 w 8352697"/>
              <a:gd name="connsiteY0" fmla="*/ 312049 h 3429303"/>
              <a:gd name="connsiteX1" fmla="*/ 8352697 w 8352697"/>
              <a:gd name="connsiteY1" fmla="*/ 0 h 3429303"/>
              <a:gd name="connsiteX2" fmla="*/ 8337457 w 8352697"/>
              <a:gd name="connsiteY2" fmla="*/ 2926383 h 3429303"/>
              <a:gd name="connsiteX3" fmla="*/ 16417 w 8352697"/>
              <a:gd name="connsiteY3" fmla="*/ 3429303 h 3429303"/>
              <a:gd name="connsiteX4" fmla="*/ 0 w 8352697"/>
              <a:gd name="connsiteY4" fmla="*/ 312049 h 3429303"/>
              <a:gd name="connsiteX0" fmla="*/ 0 w 8349522"/>
              <a:gd name="connsiteY0" fmla="*/ 302524 h 3429303"/>
              <a:gd name="connsiteX1" fmla="*/ 8349522 w 8349522"/>
              <a:gd name="connsiteY1" fmla="*/ 0 h 3429303"/>
              <a:gd name="connsiteX2" fmla="*/ 8334282 w 8349522"/>
              <a:gd name="connsiteY2" fmla="*/ 2926383 h 3429303"/>
              <a:gd name="connsiteX3" fmla="*/ 13242 w 8349522"/>
              <a:gd name="connsiteY3" fmla="*/ 3429303 h 3429303"/>
              <a:gd name="connsiteX4" fmla="*/ 0 w 8349522"/>
              <a:gd name="connsiteY4" fmla="*/ 302524 h 3429303"/>
              <a:gd name="connsiteX0" fmla="*/ 0 w 8349522"/>
              <a:gd name="connsiteY0" fmla="*/ 302524 h 3226103"/>
              <a:gd name="connsiteX1" fmla="*/ 8349522 w 8349522"/>
              <a:gd name="connsiteY1" fmla="*/ 0 h 3226103"/>
              <a:gd name="connsiteX2" fmla="*/ 8334282 w 8349522"/>
              <a:gd name="connsiteY2" fmla="*/ 2926383 h 3226103"/>
              <a:gd name="connsiteX3" fmla="*/ 13242 w 8349522"/>
              <a:gd name="connsiteY3" fmla="*/ 3226103 h 3226103"/>
              <a:gd name="connsiteX4" fmla="*/ 0 w 8349522"/>
              <a:gd name="connsiteY4" fmla="*/ 302524 h 3226103"/>
              <a:gd name="connsiteX0" fmla="*/ 0 w 8883911"/>
              <a:gd name="connsiteY0" fmla="*/ 326274 h 3226103"/>
              <a:gd name="connsiteX1" fmla="*/ 8883911 w 8883911"/>
              <a:gd name="connsiteY1" fmla="*/ 0 h 3226103"/>
              <a:gd name="connsiteX2" fmla="*/ 8868671 w 8883911"/>
              <a:gd name="connsiteY2" fmla="*/ 2926383 h 3226103"/>
              <a:gd name="connsiteX3" fmla="*/ 547631 w 8883911"/>
              <a:gd name="connsiteY3" fmla="*/ 3226103 h 3226103"/>
              <a:gd name="connsiteX4" fmla="*/ 0 w 8883911"/>
              <a:gd name="connsiteY4" fmla="*/ 326274 h 3226103"/>
              <a:gd name="connsiteX0" fmla="*/ 0 w 8872036"/>
              <a:gd name="connsiteY0" fmla="*/ 326274 h 3226103"/>
              <a:gd name="connsiteX1" fmla="*/ 8872036 w 8872036"/>
              <a:gd name="connsiteY1" fmla="*/ 0 h 3226103"/>
              <a:gd name="connsiteX2" fmla="*/ 8856796 w 8872036"/>
              <a:gd name="connsiteY2" fmla="*/ 2926383 h 3226103"/>
              <a:gd name="connsiteX3" fmla="*/ 535756 w 8872036"/>
              <a:gd name="connsiteY3" fmla="*/ 3226103 h 3226103"/>
              <a:gd name="connsiteX4" fmla="*/ 0 w 8872036"/>
              <a:gd name="connsiteY4" fmla="*/ 326274 h 3226103"/>
              <a:gd name="connsiteX0" fmla="*/ 34357 w 8906393"/>
              <a:gd name="connsiteY0" fmla="*/ 326274 h 3273604"/>
              <a:gd name="connsiteX1" fmla="*/ 8906393 w 8906393"/>
              <a:gd name="connsiteY1" fmla="*/ 0 h 3273604"/>
              <a:gd name="connsiteX2" fmla="*/ 8891153 w 8906393"/>
              <a:gd name="connsiteY2" fmla="*/ 2926383 h 3273604"/>
              <a:gd name="connsiteX3" fmla="*/ 98 w 8906393"/>
              <a:gd name="connsiteY3" fmla="*/ 3273604 h 3273604"/>
              <a:gd name="connsiteX4" fmla="*/ 34357 w 8906393"/>
              <a:gd name="connsiteY4" fmla="*/ 326274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1367 w 8907662"/>
              <a:gd name="connsiteY3" fmla="*/ 3273604 h 3273604"/>
              <a:gd name="connsiteX4" fmla="*/ 0 w 8907662"/>
              <a:gd name="connsiteY4" fmla="*/ 338149 h 3273604"/>
              <a:gd name="connsiteX0" fmla="*/ 0 w 8907662"/>
              <a:gd name="connsiteY0" fmla="*/ 338149 h 3273604"/>
              <a:gd name="connsiteX1" fmla="*/ 8907662 w 8907662"/>
              <a:gd name="connsiteY1" fmla="*/ 0 h 3273604"/>
              <a:gd name="connsiteX2" fmla="*/ 8892422 w 8907662"/>
              <a:gd name="connsiteY2" fmla="*/ 2926383 h 3273604"/>
              <a:gd name="connsiteX3" fmla="*/ 32591 w 8907662"/>
              <a:gd name="connsiteY3" fmla="*/ 3273604 h 3273604"/>
              <a:gd name="connsiteX4" fmla="*/ 0 w 8907662"/>
              <a:gd name="connsiteY4" fmla="*/ 338149 h 3273604"/>
              <a:gd name="connsiteX0" fmla="*/ 0 w 8885359"/>
              <a:gd name="connsiteY0" fmla="*/ 338149 h 3273604"/>
              <a:gd name="connsiteX1" fmla="*/ 8885359 w 8885359"/>
              <a:gd name="connsiteY1" fmla="*/ 0 h 3273604"/>
              <a:gd name="connsiteX2" fmla="*/ 8870119 w 8885359"/>
              <a:gd name="connsiteY2" fmla="*/ 2926383 h 3273604"/>
              <a:gd name="connsiteX3" fmla="*/ 10288 w 8885359"/>
              <a:gd name="connsiteY3" fmla="*/ 3273604 h 3273604"/>
              <a:gd name="connsiteX4" fmla="*/ 0 w 8885359"/>
              <a:gd name="connsiteY4" fmla="*/ 338149 h 32736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85359" h="3273604">
                <a:moveTo>
                  <a:pt x="0" y="338149"/>
                </a:moveTo>
                <a:lnTo>
                  <a:pt x="8885359" y="0"/>
                </a:lnTo>
                <a:lnTo>
                  <a:pt x="8870119" y="2926383"/>
                </a:lnTo>
                <a:lnTo>
                  <a:pt x="10288" y="3273604"/>
                </a:lnTo>
                <a:cubicBezTo>
                  <a:pt x="7991" y="2232403"/>
                  <a:pt x="2297" y="1379350"/>
                  <a:pt x="0" y="338149"/>
                </a:cubicBezTo>
                <a:close/>
              </a:path>
            </a:pathLst>
          </a:custGeom>
          <a:solidFill>
            <a:srgbClr val="434343"/>
          </a:solidFill>
        </p:spPr>
        <p:txBody>
          <a:bodyPr lIns="576000"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Platzhalter: Bild Titelfolie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18C730E-B3F8-944F-8BC2-E236CE7245E4}"/>
              </a:ext>
            </a:extLst>
          </p:cNvPr>
          <p:cNvSpPr txBox="1"/>
          <p:nvPr userDrawn="1"/>
        </p:nvSpPr>
        <p:spPr>
          <a:xfrm>
            <a:off x="-2031023" y="2620375"/>
            <a:ext cx="202130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Platzhalterbild ersetzen:</a:t>
            </a:r>
            <a:b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löschen und durch neues Bild ersetzen &gt; über Bildformat &gt; Zuschneiden im Rahmen ggf. nachpositionieren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Copyrightangabe: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Korrektes Copyright angeben (in der Regel Name des*der Fotograf*in), Textfarbe je nach Hintergrund weiß oder schwarz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7B17960-7FEA-3C44-9F5C-B38F41DF0CD3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V1: Titelfolie mit Bild</a:t>
            </a:r>
          </a:p>
        </p:txBody>
      </p:sp>
    </p:spTree>
    <p:extLst>
      <p:ext uri="{BB962C8B-B14F-4D97-AF65-F5344CB8AC3E}">
        <p14:creationId xmlns:p14="http://schemas.microsoft.com/office/powerpoint/2010/main" val="2756911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-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740704DC-2971-A248-9827-94150E3D8746}"/>
              </a:ext>
            </a:extLst>
          </p:cNvPr>
          <p:cNvSpPr txBox="1"/>
          <p:nvPr userDrawn="1"/>
        </p:nvSpPr>
        <p:spPr>
          <a:xfrm>
            <a:off x="9903" y="-313433"/>
            <a:ext cx="17036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V2: Titelfolie ohne Bild</a:t>
            </a:r>
          </a:p>
        </p:txBody>
      </p:sp>
    </p:spTree>
    <p:extLst>
      <p:ext uri="{BB962C8B-B14F-4D97-AF65-F5344CB8AC3E}">
        <p14:creationId xmlns:p14="http://schemas.microsoft.com/office/powerpoint/2010/main" val="150570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nhalt - Text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D7BD4116-72F8-7D4E-846E-4E9887F60C0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0800" y="3175200"/>
            <a:ext cx="9721850" cy="2124075"/>
          </a:xfrm>
          <a:prstGeom prst="rect">
            <a:avLst/>
          </a:prstGeom>
        </p:spPr>
        <p:txBody>
          <a:bodyPr lIns="0" t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Textplatzhalter 2">
            <a:extLst>
              <a:ext uri="{FF2B5EF4-FFF2-40B4-BE49-F238E27FC236}">
                <a16:creationId xmlns:a16="http://schemas.microsoft.com/office/drawing/2014/main" id="{9DAAF3EE-A5B2-F647-838D-0DFAACB4D5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50800" y="1371600"/>
            <a:ext cx="9721850" cy="152637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endParaRPr lang="de-DE" dirty="0"/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5B12DAD6-93EF-5042-858F-4BB3334F10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1431473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alt - Bild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2">
            <a:extLst>
              <a:ext uri="{FF2B5EF4-FFF2-40B4-BE49-F238E27FC236}">
                <a16:creationId xmlns:a16="http://schemas.microsoft.com/office/drawing/2014/main" id="{55FA8C39-046E-E34F-8E80-7B9D099D728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82400"/>
            <a:ext cx="3982945" cy="409358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Arial Regular 18pt, ZA: 24pt </a:t>
            </a:r>
            <a:br>
              <a:rPr lang="de-DE" dirty="0"/>
            </a:b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r>
              <a:rPr lang="de-DE" dirty="0"/>
              <a:t> </a:t>
            </a:r>
            <a:r>
              <a:rPr lang="de-DE" dirty="0" err="1"/>
              <a:t>elitr</a:t>
            </a:r>
            <a:r>
              <a:rPr lang="de-DE" dirty="0"/>
              <a:t>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nonumy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erat, sed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</a:t>
            </a:r>
            <a:r>
              <a:rPr lang="de-DE" dirty="0" err="1"/>
              <a:t>eirmod</a:t>
            </a:r>
            <a:r>
              <a:rPr lang="de-DE" dirty="0"/>
              <a:t> </a:t>
            </a:r>
            <a:r>
              <a:rPr lang="de-DE" dirty="0" err="1"/>
              <a:t>tempor</a:t>
            </a:r>
            <a:r>
              <a:rPr lang="de-DE" dirty="0"/>
              <a:t> </a:t>
            </a:r>
            <a:r>
              <a:rPr lang="de-DE" dirty="0" err="1"/>
              <a:t>invidunt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 </a:t>
            </a:r>
            <a:r>
              <a:rPr lang="de-DE" dirty="0" err="1"/>
              <a:t>labore</a:t>
            </a:r>
            <a:r>
              <a:rPr lang="de-DE" dirty="0"/>
              <a:t> et </a:t>
            </a:r>
            <a:r>
              <a:rPr lang="de-DE" dirty="0" err="1"/>
              <a:t>dolore</a:t>
            </a:r>
            <a:r>
              <a:rPr lang="de-DE" dirty="0"/>
              <a:t> magna </a:t>
            </a:r>
            <a:r>
              <a:rPr lang="de-DE" dirty="0" err="1"/>
              <a:t>aliquyam</a:t>
            </a:r>
            <a:r>
              <a:rPr lang="de-DE" dirty="0"/>
              <a:t> </a:t>
            </a:r>
            <a:r>
              <a:rPr lang="de-DE" dirty="0" err="1"/>
              <a:t>erat</a:t>
            </a:r>
            <a:r>
              <a:rPr lang="de-DE" dirty="0"/>
              <a:t>, </a:t>
            </a:r>
            <a:r>
              <a:rPr lang="de-DE" dirty="0" err="1"/>
              <a:t>sed</a:t>
            </a:r>
            <a:r>
              <a:rPr lang="de-DE" dirty="0"/>
              <a:t> </a:t>
            </a:r>
            <a:r>
              <a:rPr lang="de-DE" dirty="0" err="1"/>
              <a:t>diam</a:t>
            </a:r>
            <a:r>
              <a:rPr lang="de-DE" dirty="0"/>
              <a:t> </a:t>
            </a:r>
            <a:r>
              <a:rPr lang="de-DE" dirty="0" err="1"/>
              <a:t>voluptua</a:t>
            </a:r>
            <a:r>
              <a:rPr lang="de-DE" dirty="0"/>
              <a:t>. At </a:t>
            </a:r>
            <a:r>
              <a:rPr lang="de-DE" dirty="0" err="1"/>
              <a:t>vero</a:t>
            </a:r>
            <a:r>
              <a:rPr lang="de-DE" dirty="0"/>
              <a:t> </a:t>
            </a:r>
            <a:r>
              <a:rPr lang="de-DE" dirty="0" err="1"/>
              <a:t>eos</a:t>
            </a:r>
            <a:r>
              <a:rPr lang="de-DE" dirty="0"/>
              <a:t> et </a:t>
            </a:r>
            <a:r>
              <a:rPr lang="de-DE" dirty="0" err="1"/>
              <a:t>accusam</a:t>
            </a:r>
            <a:r>
              <a:rPr lang="de-DE" dirty="0"/>
              <a:t> et </a:t>
            </a:r>
            <a:r>
              <a:rPr lang="de-DE" dirty="0" err="1"/>
              <a:t>justo</a:t>
            </a:r>
            <a:r>
              <a:rPr lang="de-DE" dirty="0"/>
              <a:t> </a:t>
            </a:r>
            <a:r>
              <a:rPr lang="de-DE" dirty="0" err="1"/>
              <a:t>duo</a:t>
            </a:r>
            <a:r>
              <a:rPr lang="de-DE" dirty="0"/>
              <a:t> </a:t>
            </a:r>
            <a:r>
              <a:rPr lang="de-DE" dirty="0" err="1"/>
              <a:t>dolores</a:t>
            </a:r>
            <a:r>
              <a:rPr lang="de-DE" dirty="0"/>
              <a:t> et </a:t>
            </a:r>
            <a:r>
              <a:rPr lang="de-DE" dirty="0" err="1"/>
              <a:t>ea</a:t>
            </a:r>
            <a:r>
              <a:rPr lang="de-DE" dirty="0"/>
              <a:t> </a:t>
            </a:r>
            <a:r>
              <a:rPr lang="de-DE" dirty="0" err="1"/>
              <a:t>rebum</a:t>
            </a:r>
            <a:r>
              <a:rPr lang="de-DE" dirty="0"/>
              <a:t>. Stet </a:t>
            </a:r>
            <a:r>
              <a:rPr lang="de-DE" dirty="0" err="1"/>
              <a:t>clita</a:t>
            </a:r>
            <a:r>
              <a:rPr lang="de-DE" dirty="0"/>
              <a:t> </a:t>
            </a:r>
            <a:r>
              <a:rPr lang="de-DE" dirty="0" err="1"/>
              <a:t>kasd</a:t>
            </a:r>
            <a:r>
              <a:rPr lang="de-DE" dirty="0"/>
              <a:t> </a:t>
            </a:r>
            <a:r>
              <a:rPr lang="de-DE" dirty="0" err="1"/>
              <a:t>gubergren</a:t>
            </a:r>
            <a:r>
              <a:rPr lang="de-DE" dirty="0"/>
              <a:t>,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sea</a:t>
            </a:r>
            <a:r>
              <a:rPr lang="de-DE" dirty="0"/>
              <a:t> </a:t>
            </a:r>
            <a:r>
              <a:rPr lang="de-DE" dirty="0" err="1"/>
              <a:t>takimata</a:t>
            </a:r>
            <a:br>
              <a:rPr lang="de-DE" dirty="0"/>
            </a:br>
            <a:r>
              <a:rPr lang="de-DE" dirty="0"/>
              <a:t>sanctus </a:t>
            </a:r>
            <a:r>
              <a:rPr lang="de-DE" dirty="0" err="1"/>
              <a:t>est</a:t>
            </a:r>
            <a:r>
              <a:rPr lang="de-DE" dirty="0"/>
              <a:t>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endParaRPr lang="de-DE" dirty="0"/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8BAC5633-896E-0F44-8840-CC87B5BE704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B97D328-84F0-2C4A-BBAB-1E79CDFE9BB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66438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nhalt - Bild und Stichpun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5">
            <a:extLst>
              <a:ext uri="{FF2B5EF4-FFF2-40B4-BE49-F238E27FC236}">
                <a16:creationId xmlns:a16="http://schemas.microsoft.com/office/drawing/2014/main" id="{9278302A-602E-374F-9D64-8FCFB4DC60C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9600" y="1364399"/>
            <a:ext cx="3981600" cy="41112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lnSpc>
                <a:spcPts val="2400"/>
              </a:lnSpc>
              <a:buFont typeface="Symbol" pitchFamily="2" charset="2"/>
              <a:buChar char="-"/>
              <a:defRPr sz="180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Aufzählung 1. Ebene Arial Regular 18 </a:t>
            </a:r>
            <a:r>
              <a:rPr lang="de-DE" dirty="0" err="1"/>
              <a:t>pt</a:t>
            </a:r>
            <a:r>
              <a:rPr lang="de-DE" dirty="0"/>
              <a:t>, ZA: 24 </a:t>
            </a:r>
            <a:r>
              <a:rPr lang="de-DE" dirty="0" err="1"/>
              <a:t>pt</a:t>
            </a:r>
            <a:endParaRPr lang="de-DE" dirty="0"/>
          </a:p>
          <a:p>
            <a:pPr lvl="1"/>
            <a:r>
              <a:rPr lang="de-DE" dirty="0"/>
              <a:t>2. Ebene</a:t>
            </a:r>
          </a:p>
          <a:p>
            <a:pPr lvl="2"/>
            <a:r>
              <a:rPr lang="de-DE" dirty="0"/>
              <a:t>3. Ebene</a:t>
            </a:r>
          </a:p>
          <a:p>
            <a:pPr lvl="3"/>
            <a:r>
              <a:rPr lang="de-DE" dirty="0"/>
              <a:t>4. Ebene</a:t>
            </a:r>
          </a:p>
          <a:p>
            <a:pPr lvl="4"/>
            <a:r>
              <a:rPr lang="de-DE" dirty="0"/>
              <a:t>5. Ebene</a:t>
            </a:r>
          </a:p>
        </p:txBody>
      </p:sp>
      <p:sp>
        <p:nvSpPr>
          <p:cNvPr id="6" name="Bildplatzhalter 2">
            <a:extLst>
              <a:ext uri="{FF2B5EF4-FFF2-40B4-BE49-F238E27FC236}">
                <a16:creationId xmlns:a16="http://schemas.microsoft.com/office/drawing/2014/main" id="{07DD2921-214D-B547-93DD-EB9D2A99CCE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50861" y="1381405"/>
            <a:ext cx="5545139" cy="4093589"/>
          </a:xfrm>
          <a:prstGeom prst="rect">
            <a:avLst/>
          </a:prstGeom>
          <a:solidFill>
            <a:srgbClr val="434343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Platzhalter: Bild</a:t>
            </a:r>
          </a:p>
        </p:txBody>
      </p:sp>
      <p:sp>
        <p:nvSpPr>
          <p:cNvPr id="7" name="Textplatzhalter 17">
            <a:extLst>
              <a:ext uri="{FF2B5EF4-FFF2-40B4-BE49-F238E27FC236}">
                <a16:creationId xmlns:a16="http://schemas.microsoft.com/office/drawing/2014/main" id="{86E90AC2-BC99-614A-AF4F-584EF9915C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867" y="396545"/>
            <a:ext cx="8311908" cy="717437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>
              <a:lnSpc>
                <a:spcPts val="2800"/>
              </a:lnSpc>
              <a:spcBef>
                <a:spcPts val="0"/>
              </a:spcBef>
              <a:buNone/>
              <a:defRPr sz="2400">
                <a:solidFill>
                  <a:srgbClr val="C40D1E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Headline Arial Regular 24pt, ZA: 28pt</a:t>
            </a:r>
            <a:br>
              <a:rPr lang="de-DE" dirty="0"/>
            </a:br>
            <a:r>
              <a:rPr lang="de-DE" dirty="0"/>
              <a:t>optional 2-zeilig</a:t>
            </a:r>
          </a:p>
        </p:txBody>
      </p:sp>
    </p:spTree>
    <p:extLst>
      <p:ext uri="{BB962C8B-B14F-4D97-AF65-F5344CB8AC3E}">
        <p14:creationId xmlns:p14="http://schemas.microsoft.com/office/powerpoint/2010/main" val="32764340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2.xml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image" Target="../media/image4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4">
            <a:extLst>
              <a:ext uri="{FF2B5EF4-FFF2-40B4-BE49-F238E27FC236}">
                <a16:creationId xmlns:a16="http://schemas.microsoft.com/office/drawing/2014/main" id="{B97C5655-F240-634C-9B7B-B6181A1B3AF5}"/>
              </a:ext>
            </a:extLst>
          </p:cNvPr>
          <p:cNvSpPr/>
          <p:nvPr userDrawn="1"/>
        </p:nvSpPr>
        <p:spPr>
          <a:xfrm>
            <a:off x="0" y="1668462"/>
            <a:ext cx="12192000" cy="5189537"/>
          </a:xfrm>
          <a:custGeom>
            <a:avLst/>
            <a:gdLst>
              <a:gd name="connsiteX0" fmla="*/ 0 w 12192000"/>
              <a:gd name="connsiteY0" fmla="*/ 0 h 4760912"/>
              <a:gd name="connsiteX1" fmla="*/ 12192000 w 12192000"/>
              <a:gd name="connsiteY1" fmla="*/ 0 h 4760912"/>
              <a:gd name="connsiteX2" fmla="*/ 12192000 w 12192000"/>
              <a:gd name="connsiteY2" fmla="*/ 4760912 h 4760912"/>
              <a:gd name="connsiteX3" fmla="*/ 0 w 12192000"/>
              <a:gd name="connsiteY3" fmla="*/ 4760912 h 4760912"/>
              <a:gd name="connsiteX4" fmla="*/ 0 w 12192000"/>
              <a:gd name="connsiteY4" fmla="*/ 0 h 4760912"/>
              <a:gd name="connsiteX0" fmla="*/ 0 w 12192000"/>
              <a:gd name="connsiteY0" fmla="*/ 212725 h 4973637"/>
              <a:gd name="connsiteX1" fmla="*/ 12192000 w 12192000"/>
              <a:gd name="connsiteY1" fmla="*/ 0 h 4973637"/>
              <a:gd name="connsiteX2" fmla="*/ 12192000 w 12192000"/>
              <a:gd name="connsiteY2" fmla="*/ 4973637 h 4973637"/>
              <a:gd name="connsiteX3" fmla="*/ 0 w 12192000"/>
              <a:gd name="connsiteY3" fmla="*/ 4973637 h 4973637"/>
              <a:gd name="connsiteX4" fmla="*/ 0 w 12192000"/>
              <a:gd name="connsiteY4" fmla="*/ 212725 h 4973637"/>
              <a:gd name="connsiteX0" fmla="*/ 0 w 12192000"/>
              <a:gd name="connsiteY0" fmla="*/ 428625 h 5189537"/>
              <a:gd name="connsiteX1" fmla="*/ 12192000 w 12192000"/>
              <a:gd name="connsiteY1" fmla="*/ 0 h 5189537"/>
              <a:gd name="connsiteX2" fmla="*/ 12192000 w 12192000"/>
              <a:gd name="connsiteY2" fmla="*/ 5189537 h 5189537"/>
              <a:gd name="connsiteX3" fmla="*/ 0 w 12192000"/>
              <a:gd name="connsiteY3" fmla="*/ 5189537 h 5189537"/>
              <a:gd name="connsiteX4" fmla="*/ 0 w 12192000"/>
              <a:gd name="connsiteY4" fmla="*/ 428625 h 5189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5189537">
                <a:moveTo>
                  <a:pt x="0" y="428625"/>
                </a:moveTo>
                <a:lnTo>
                  <a:pt x="12192000" y="0"/>
                </a:lnTo>
                <a:lnTo>
                  <a:pt x="12192000" y="5189537"/>
                </a:lnTo>
                <a:lnTo>
                  <a:pt x="0" y="5189537"/>
                </a:lnTo>
                <a:lnTo>
                  <a:pt x="0" y="42862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8DDEEBD-D00D-1249-9E02-EDC0548BFCA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388168" y="378741"/>
            <a:ext cx="2250000" cy="774000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0D20A730-187A-274D-A0E6-8412686F8775}"/>
              </a:ext>
            </a:extLst>
          </p:cNvPr>
          <p:cNvSpPr txBox="1"/>
          <p:nvPr userDrawn="1"/>
        </p:nvSpPr>
        <p:spPr>
          <a:xfrm>
            <a:off x="12292755" y="5534561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Titelseiten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Direkt auf dieser Folie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</p:spTree>
    <p:extLst>
      <p:ext uri="{BB962C8B-B14F-4D97-AF65-F5344CB8AC3E}">
        <p14:creationId xmlns:p14="http://schemas.microsoft.com/office/powerpoint/2010/main" val="3079698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47" userDrawn="1">
          <p15:clr>
            <a:srgbClr val="F26B43"/>
          </p15:clr>
        </p15:guide>
        <p15:guide id="2" pos="7333" userDrawn="1">
          <p15:clr>
            <a:srgbClr val="F26B43"/>
          </p15:clr>
        </p15:guide>
        <p15:guide id="3" orient="horz" pos="346" userDrawn="1">
          <p15:clr>
            <a:srgbClr val="F26B43"/>
          </p15:clr>
        </p15:guide>
        <p15:guide id="4" pos="1232" userDrawn="1">
          <p15:clr>
            <a:srgbClr val="F26B43"/>
          </p15:clr>
        </p15:guide>
        <p15:guide id="5" orient="horz" pos="3974" userDrawn="1">
          <p15:clr>
            <a:srgbClr val="F26B43"/>
          </p15:clr>
        </p15:guide>
        <p15:guide id="6" orient="horz" pos="663" userDrawn="1">
          <p15:clr>
            <a:srgbClr val="F26B43"/>
          </p15:clr>
        </p15:guide>
        <p15:guide id="7" orient="horz" pos="1003" userDrawn="1">
          <p15:clr>
            <a:srgbClr val="F26B43"/>
          </p15:clr>
        </p15:guide>
        <p15:guide id="8" orient="horz" pos="1321" userDrawn="1">
          <p15:clr>
            <a:srgbClr val="F26B43"/>
          </p15:clr>
        </p15:guide>
        <p15:guide id="9" orient="horz" pos="1661" userDrawn="1">
          <p15:clr>
            <a:srgbClr val="F26B43"/>
          </p15:clr>
        </p15:guide>
        <p15:guide id="10" orient="horz" pos="2001" userDrawn="1">
          <p15:clr>
            <a:srgbClr val="F26B43"/>
          </p15:clr>
        </p15:guide>
        <p15:guide id="11" orient="horz" pos="3339" userDrawn="1">
          <p15:clr>
            <a:srgbClr val="F26B43"/>
          </p15:clr>
        </p15:guide>
        <p15:guide id="12" orient="horz" pos="2319" userDrawn="1">
          <p15:clr>
            <a:srgbClr val="F26B43"/>
          </p15:clr>
        </p15:guide>
        <p15:guide id="13" orient="horz" pos="2999" userDrawn="1">
          <p15:clr>
            <a:srgbClr val="F26B43"/>
          </p15:clr>
        </p15:guide>
        <p15:guide id="14" orient="horz" pos="3657" userDrawn="1">
          <p15:clr>
            <a:srgbClr val="F26B43"/>
          </p15:clr>
        </p15:guide>
        <p15:guide id="15" orient="horz" pos="2659" userDrawn="1">
          <p15:clr>
            <a:srgbClr val="F26B43"/>
          </p15:clr>
        </p15:guide>
        <p15:guide id="16" pos="2094" userDrawn="1">
          <p15:clr>
            <a:srgbClr val="F26B43"/>
          </p15:clr>
        </p15:guide>
        <p15:guide id="17" pos="2978" userDrawn="1">
          <p15:clr>
            <a:srgbClr val="F26B43"/>
          </p15:clr>
        </p15:guide>
        <p15:guide id="18" pos="3840" userDrawn="1">
          <p15:clr>
            <a:srgbClr val="F26B43"/>
          </p15:clr>
        </p15:guide>
        <p15:guide id="19" pos="4725" userDrawn="1">
          <p15:clr>
            <a:srgbClr val="F26B43"/>
          </p15:clr>
        </p15:guide>
        <p15:guide id="20" pos="5586" userDrawn="1">
          <p15:clr>
            <a:srgbClr val="F26B43"/>
          </p15:clr>
        </p15:guide>
        <p15:guide id="21" pos="6471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1">
            <a:extLst>
              <a:ext uri="{FF2B5EF4-FFF2-40B4-BE49-F238E27FC236}">
                <a16:creationId xmlns:a16="http://schemas.microsoft.com/office/drawing/2014/main" id="{48266648-C51B-EA45-AE41-AF74B0A4657C}"/>
              </a:ext>
            </a:extLst>
          </p:cNvPr>
          <p:cNvSpPr/>
          <p:nvPr userDrawn="1"/>
        </p:nvSpPr>
        <p:spPr>
          <a:xfrm>
            <a:off x="0" y="5748124"/>
            <a:ext cx="12195175" cy="1109875"/>
          </a:xfrm>
          <a:custGeom>
            <a:avLst/>
            <a:gdLst>
              <a:gd name="connsiteX0" fmla="*/ 0 w 12192000"/>
              <a:gd name="connsiteY0" fmla="*/ 0 h 687600"/>
              <a:gd name="connsiteX1" fmla="*/ 12192000 w 12192000"/>
              <a:gd name="connsiteY1" fmla="*/ 0 h 687600"/>
              <a:gd name="connsiteX2" fmla="*/ 12192000 w 12192000"/>
              <a:gd name="connsiteY2" fmla="*/ 687600 h 687600"/>
              <a:gd name="connsiteX3" fmla="*/ 0 w 12192000"/>
              <a:gd name="connsiteY3" fmla="*/ 687600 h 687600"/>
              <a:gd name="connsiteX4" fmla="*/ 0 w 12192000"/>
              <a:gd name="connsiteY4" fmla="*/ 0 h 687600"/>
              <a:gd name="connsiteX0" fmla="*/ 0 w 12195175"/>
              <a:gd name="connsiteY0" fmla="*/ 422275 h 1109875"/>
              <a:gd name="connsiteX1" fmla="*/ 12195175 w 12195175"/>
              <a:gd name="connsiteY1" fmla="*/ 0 h 1109875"/>
              <a:gd name="connsiteX2" fmla="*/ 12192000 w 12195175"/>
              <a:gd name="connsiteY2" fmla="*/ 1109875 h 1109875"/>
              <a:gd name="connsiteX3" fmla="*/ 0 w 12195175"/>
              <a:gd name="connsiteY3" fmla="*/ 1109875 h 1109875"/>
              <a:gd name="connsiteX4" fmla="*/ 0 w 12195175"/>
              <a:gd name="connsiteY4" fmla="*/ 422275 h 110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5175" h="1109875">
                <a:moveTo>
                  <a:pt x="0" y="422275"/>
                </a:moveTo>
                <a:lnTo>
                  <a:pt x="12195175" y="0"/>
                </a:lnTo>
                <a:cubicBezTo>
                  <a:pt x="12194117" y="369958"/>
                  <a:pt x="12193058" y="739917"/>
                  <a:pt x="12192000" y="1109875"/>
                </a:cubicBezTo>
                <a:lnTo>
                  <a:pt x="0" y="1109875"/>
                </a:lnTo>
                <a:lnTo>
                  <a:pt x="0" y="422275"/>
                </a:lnTo>
                <a:close/>
              </a:path>
            </a:pathLst>
          </a:custGeom>
          <a:solidFill>
            <a:srgbClr val="C40D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0A395C2-361B-A14B-9312-A16F3F6780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14598" y="378000"/>
            <a:ext cx="1004400" cy="766068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427D4F0D-9351-B349-8187-43002862F183}"/>
              </a:ext>
            </a:extLst>
          </p:cNvPr>
          <p:cNvSpPr txBox="1"/>
          <p:nvPr userDrawn="1"/>
        </p:nvSpPr>
        <p:spPr>
          <a:xfrm>
            <a:off x="12292755" y="5612990"/>
            <a:ext cx="31024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Folgeseiten – Platzhalter für </a:t>
            </a:r>
            <a:r>
              <a:rPr lang="de-DE" sz="1000" b="1" dirty="0" err="1">
                <a:latin typeface="Arial" panose="020B0604020202020204" pitchFamily="34" charset="0"/>
                <a:cs typeface="Arial" panose="020B0604020202020204" pitchFamily="34" charset="0"/>
              </a:rPr>
              <a:t>Sublogo</a:t>
            </a: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 ändern: 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 &gt; Bild anklicken &gt; Rechtsklick &gt; Bild einfügen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Bild an Rahmen anpassen</a:t>
            </a: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Bild anklicken &gt; Bildformat &gt; Zuschneiden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im Dropdown „Einpassen“ wählen &gt; 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ggf. Bild nochmals neu positionieren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B91FA75A-4E02-534F-A661-8216932850DD}"/>
              </a:ext>
            </a:extLst>
          </p:cNvPr>
          <p:cNvSpPr txBox="1"/>
          <p:nvPr userDrawn="1"/>
        </p:nvSpPr>
        <p:spPr>
          <a:xfrm>
            <a:off x="-2243920" y="6474756"/>
            <a:ext cx="22233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b="1" dirty="0">
                <a:latin typeface="Arial" panose="020B0604020202020204" pitchFamily="34" charset="0"/>
                <a:cs typeface="Arial" panose="020B0604020202020204" pitchFamily="34" charset="0"/>
              </a:rPr>
              <a:t>Informationen in Fußzeile ändern:</a:t>
            </a:r>
            <a:b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00" dirty="0">
                <a:latin typeface="Arial" panose="020B0604020202020204" pitchFamily="34" charset="0"/>
                <a:cs typeface="Arial" panose="020B0604020202020204" pitchFamily="34" charset="0"/>
              </a:rPr>
              <a:t>Folienmaster &gt; Nr. 2 bearbeiten</a:t>
            </a:r>
          </a:p>
        </p:txBody>
      </p:sp>
    </p:spTree>
    <p:extLst>
      <p:ext uri="{BB962C8B-B14F-4D97-AF65-F5344CB8AC3E}">
        <p14:creationId xmlns:p14="http://schemas.microsoft.com/office/powerpoint/2010/main" val="3907247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1" r:id="rId2"/>
    <p:sldLayoutId id="2147483712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7784" y="292608"/>
            <a:ext cx="882396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400" b="0" lang="en-US">
                <a:solidFill>
                  <a:srgbClr val="434343"/>
                </a:solidFill>
                <a:latin typeface="Arial"/>
              </a:rPr>
              <a:t>What happens when evidence is wrong?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869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1" lang="en-US">
                <a:solidFill>
                  <a:srgbClr val="C40D1E"/>
                </a:solidFill>
                <a:latin typeface="Arial"/>
              </a:rPr>
              <a:t>EXISTING TESTS · THREE CONTROLLED FAULT SCENARIOS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57784" y="1188720"/>
            <a:ext cx="10927080" cy="16459"/>
          </a:xfrm>
          <a:prstGeom prst="rect">
            <a:avLst/>
          </a:prstGeom>
          <a:solidFill>
            <a:srgbClr val="C40D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291072"/>
            <a:ext cx="10058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 lang="en-US">
                <a:solidFill>
                  <a:srgbClr val="FFFFFF"/>
                </a:solidFill>
                <a:latin typeface="Arial"/>
              </a:rPr>
              <a:t>Variant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6291072"/>
            <a:ext cx="85496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850" b="0" lang="en-US">
                <a:solidFill>
                  <a:srgbClr val="FFFFFF"/>
                </a:solidFill>
                <a:latin typeface="Arial"/>
              </a:rPr>
              <a:t>Ramon Mehrpoya  |  Master's Thesis  |  Verifiable Decentralized Federated Machine Learning and Inference for AI Agent Systems  |  VITA-FL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291072"/>
            <a:ext cx="1399032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850" b="0" lang="en-US">
                <a:solidFill>
                  <a:srgbClr val="FFFFFF"/>
                </a:solidFill>
                <a:latin typeface="Arial"/>
              </a:rPr>
              <a:t>19 August 2026</a:t>
            </a:r>
          </a:p>
        </p:txBody>
      </p:sp>
      <p:sp>
        <p:nvSpPr>
          <p:cNvPr id="8" name="Domain navigation: background"/>
          <p:cNvSpPr/>
          <p:nvPr/>
        </p:nvSpPr>
        <p:spPr>
          <a:xfrm>
            <a:off x="9479280" y="472440"/>
            <a:ext cx="1036320" cy="2895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main navigation: DFL badge"/>
          <p:cNvSpPr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solidFill>
            <a:srgbClr val="207548"/>
          </a:solidFill>
          <a:ln w="6985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main navigation: DFL label"/>
          <p:cNvSpPr txBox="1"/>
          <p:nvPr/>
        </p:nvSpPr>
        <p:spPr>
          <a:xfrm>
            <a:off x="9509760" y="502920"/>
            <a:ext cx="4114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DFL</a:t>
            </a:r>
          </a:p>
        </p:txBody>
      </p:sp>
      <p:sp>
        <p:nvSpPr>
          <p:cNvPr id="11" name="Domain navigation: Agent badge"/>
          <p:cNvSpPr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solidFill>
            <a:srgbClr val="1764A1"/>
          </a:solidFill>
          <a:ln w="6985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main navigation: Agent label"/>
          <p:cNvSpPr txBox="1"/>
          <p:nvPr/>
        </p:nvSpPr>
        <p:spPr>
          <a:xfrm>
            <a:off x="9982200" y="502920"/>
            <a:ext cx="50292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lang="en-US">
                <a:solidFill>
                  <a:srgbClr val="FFFFFF"/>
                </a:solidFill>
                <a:latin typeface="Arial"/>
              </a:rPr>
              <a:t>Agent</a:t>
            </a:r>
          </a:p>
        </p:txBody>
      </p:sp>
      <p:sp>
        <p:nvSpPr>
          <p:cNvPr id="13" name="Test evaluation: 01  TRAINING DATA"/>
          <p:cNvSpPr txBox="1"/>
          <p:nvPr/>
        </p:nvSpPr>
        <p:spPr>
          <a:xfrm>
            <a:off x="621792" y="1389888"/>
            <a:ext cx="34747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207548"/>
                </a:solidFill>
                <a:latin typeface="Arial"/>
              </a:rPr>
              <a:t>01  TRAINING DATA</a:t>
            </a:r>
          </a:p>
        </p:txBody>
      </p:sp>
      <p:sp>
        <p:nvSpPr>
          <p:cNvPr id="14" name="Test evaluation: COMPONENT UNDER TEST"/>
          <p:cNvSpPr txBox="1"/>
          <p:nvPr/>
        </p:nvSpPr>
        <p:spPr>
          <a:xfrm>
            <a:off x="4297680" y="1389888"/>
            <a:ext cx="2971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COMPONENT UNDER TEST</a:t>
            </a:r>
          </a:p>
        </p:txBody>
      </p:sp>
      <p:sp>
        <p:nvSpPr>
          <p:cNvPr id="15" name="Test evaluation: EXPECTED RESPONSE"/>
          <p:cNvSpPr txBox="1"/>
          <p:nvPr/>
        </p:nvSpPr>
        <p:spPr>
          <a:xfrm>
            <a:off x="8549640" y="1389888"/>
            <a:ext cx="281635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207548"/>
                </a:solidFill>
                <a:latin typeface="Arial"/>
              </a:rPr>
              <a:t>EXPECTED RESPONSE</a:t>
            </a:r>
          </a:p>
        </p:txBody>
      </p:sp>
      <p:sp>
        <p:nvSpPr>
          <p:cNvPr id="16" name="Test evaluation: Modified signed label"/>
          <p:cNvSpPr txBox="1"/>
          <p:nvPr/>
        </p:nvSpPr>
        <p:spPr>
          <a:xfrm>
            <a:off x="804672" y="1700784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lang="en-US">
                <a:solidFill>
                  <a:srgbClr val="263440"/>
                </a:solidFill>
                <a:latin typeface="Arial"/>
              </a:rPr>
              <a:t>Modified signed label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1792224"/>
            <a:ext cx="54864" cy="10972"/>
          </a:xfrm>
          <a:prstGeom prst="rect">
            <a:avLst/>
          </a:prstGeom>
          <a:solidFill>
            <a:srgbClr val="207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3493008" y="2029968"/>
            <a:ext cx="530352" cy="0"/>
          </a:xfrm>
          <a:prstGeom prst="line">
            <a:avLst/>
          </a:prstGeom>
          <a:ln w="27940">
            <a:solidFill>
              <a:srgbClr val="2075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178808" y="1700784"/>
            <a:ext cx="3319272" cy="658368"/>
          </a:xfrm>
          <a:prstGeom prst="rect">
            <a:avLst/>
          </a:prstGeom>
          <a:solidFill>
            <a:srgbClr val="FFFFFF"/>
          </a:solidFill>
          <a:ln w="16510"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st evaluation: Training provenance / verifier"/>
          <p:cNvSpPr txBox="1"/>
          <p:nvPr/>
        </p:nvSpPr>
        <p:spPr>
          <a:xfrm>
            <a:off x="4315968" y="1728216"/>
            <a:ext cx="304495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263440"/>
                </a:solidFill>
                <a:latin typeface="Arial"/>
              </a:rPr>
              <a:t>Training provenance
verifier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35240" y="2029968"/>
            <a:ext cx="612648" cy="0"/>
          </a:xfrm>
          <a:prstGeom prst="line">
            <a:avLst/>
          </a:prstGeom>
          <a:ln w="27940">
            <a:solidFill>
              <a:srgbClr val="20754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403336" y="1700784"/>
            <a:ext cx="3154680" cy="658368"/>
          </a:xfrm>
          <a:prstGeom prst="rect">
            <a:avLst/>
          </a:prstGeom>
          <a:solidFill>
            <a:srgbClr val="EDF6F0"/>
          </a:solidFill>
          <a:ln>
            <a:solidFill>
              <a:srgbClr val="207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st evaluation: Reject / invalid signature"/>
          <p:cNvSpPr txBox="1"/>
          <p:nvPr/>
        </p:nvSpPr>
        <p:spPr>
          <a:xfrm>
            <a:off x="8558784" y="1728216"/>
            <a:ext cx="2843784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lang="en-US">
                <a:solidFill>
                  <a:srgbClr val="207548"/>
                </a:solidFill>
                <a:latin typeface="Arial"/>
              </a:rPr>
              <a:t>Reject
invalid signature</a:t>
            </a:r>
          </a:p>
        </p:txBody>
      </p:sp>
      <p:sp>
        <p:nvSpPr>
          <p:cNvPr id="24" name="Test evaluation: test_dicom_provenance.py"/>
          <p:cNvSpPr txBox="1"/>
          <p:nvPr/>
        </p:nvSpPr>
        <p:spPr>
          <a:xfrm>
            <a:off x="804672" y="2423160"/>
            <a:ext cx="47091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test_dicom_provenance.py</a:t>
            </a:r>
          </a:p>
        </p:txBody>
      </p:sp>
      <p:sp>
        <p:nvSpPr>
          <p:cNvPr id="25" name="Test evaluation: Component · Python"/>
          <p:cNvSpPr txBox="1"/>
          <p:nvPr/>
        </p:nvSpPr>
        <p:spPr>
          <a:xfrm>
            <a:off x="5788152" y="2423160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Component · Python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" y="2670048"/>
            <a:ext cx="10936224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st evaluation: 02  INFERENCE EVIDENCE"/>
          <p:cNvSpPr txBox="1"/>
          <p:nvPr/>
        </p:nvSpPr>
        <p:spPr>
          <a:xfrm>
            <a:off x="621792" y="2697480"/>
            <a:ext cx="34747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1764A1"/>
                </a:solidFill>
                <a:latin typeface="Arial"/>
              </a:rPr>
              <a:t>02  INFERENCE EVIDENCE</a:t>
            </a:r>
          </a:p>
        </p:txBody>
      </p:sp>
      <p:sp>
        <p:nvSpPr>
          <p:cNvPr id="28" name="Test evaluation: COMPONENT UNDER TEST"/>
          <p:cNvSpPr txBox="1"/>
          <p:nvPr/>
        </p:nvSpPr>
        <p:spPr>
          <a:xfrm>
            <a:off x="4297680" y="2697480"/>
            <a:ext cx="2971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COMPONENT UNDER TEST</a:t>
            </a:r>
          </a:p>
        </p:txBody>
      </p:sp>
      <p:sp>
        <p:nvSpPr>
          <p:cNvPr id="29" name="Test evaluation: EXPECTED RESPONSE"/>
          <p:cNvSpPr txBox="1"/>
          <p:nvPr/>
        </p:nvSpPr>
        <p:spPr>
          <a:xfrm>
            <a:off x="8549640" y="2697480"/>
            <a:ext cx="281635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1764A1"/>
                </a:solidFill>
                <a:latin typeface="Arial"/>
              </a:rPr>
              <a:t>EXPECTED RESPONSE</a:t>
            </a:r>
          </a:p>
        </p:txBody>
      </p:sp>
      <p:sp>
        <p:nvSpPr>
          <p:cNvPr id="30" name="Test evaluation: Substituted / inference request"/>
          <p:cNvSpPr txBox="1"/>
          <p:nvPr/>
        </p:nvSpPr>
        <p:spPr>
          <a:xfrm>
            <a:off x="804672" y="3008376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lang="en-US">
                <a:solidFill>
                  <a:srgbClr val="263440"/>
                </a:solidFill>
                <a:latin typeface="Arial"/>
              </a:rPr>
              <a:t>Substituted
inference request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" y="3099816"/>
            <a:ext cx="54864" cy="10972"/>
          </a:xfrm>
          <a:prstGeom prst="rect">
            <a:avLst/>
          </a:prstGeom>
          <a:solidFill>
            <a:srgbClr val="1764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3493008" y="3337560"/>
            <a:ext cx="530352" cy="0"/>
          </a:xfrm>
          <a:prstGeom prst="line">
            <a:avLst/>
          </a:prstGeom>
          <a:ln w="2794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4178808" y="3008376"/>
            <a:ext cx="3319272" cy="658368"/>
          </a:xfrm>
          <a:prstGeom prst="rect">
            <a:avLst/>
          </a:prstGeom>
          <a:solidFill>
            <a:srgbClr val="FFFFFF"/>
          </a:solidFill>
          <a:ln w="16510"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st evaluation: AIR bundle verifier"/>
          <p:cNvSpPr txBox="1"/>
          <p:nvPr/>
        </p:nvSpPr>
        <p:spPr>
          <a:xfrm>
            <a:off x="4315968" y="3035808"/>
            <a:ext cx="304495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263440"/>
                </a:solidFill>
                <a:latin typeface="Arial"/>
              </a:rPr>
              <a:t>AIR bundle verifier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635240" y="3337560"/>
            <a:ext cx="612648" cy="0"/>
          </a:xfrm>
          <a:prstGeom prst="line">
            <a:avLst/>
          </a:prstGeom>
          <a:ln w="27940">
            <a:solidFill>
              <a:srgbClr val="1764A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403336" y="3008376"/>
            <a:ext cx="3154680" cy="658368"/>
          </a:xfrm>
          <a:prstGeom prst="rect">
            <a:avLst/>
          </a:prstGeom>
          <a:solidFill>
            <a:srgbClr val="EDF4FA"/>
          </a:solidFill>
          <a:ln>
            <a:solidFill>
              <a:srgbClr val="1764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st evaluation: Reject / request mismatch"/>
          <p:cNvSpPr txBox="1"/>
          <p:nvPr/>
        </p:nvSpPr>
        <p:spPr>
          <a:xfrm>
            <a:off x="8558784" y="3035808"/>
            <a:ext cx="2843784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lang="en-US">
                <a:solidFill>
                  <a:srgbClr val="1764A1"/>
                </a:solidFill>
                <a:latin typeface="Arial"/>
              </a:rPr>
              <a:t>Reject
request mismatch</a:t>
            </a:r>
          </a:p>
        </p:txBody>
      </p:sp>
      <p:sp>
        <p:nvSpPr>
          <p:cNvPr id="38" name="Test evaluation: test_tee_inference_client.py"/>
          <p:cNvSpPr txBox="1"/>
          <p:nvPr/>
        </p:nvSpPr>
        <p:spPr>
          <a:xfrm>
            <a:off x="804672" y="3730752"/>
            <a:ext cx="47091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test_tee_inference_client.py</a:t>
            </a:r>
          </a:p>
        </p:txBody>
      </p:sp>
      <p:sp>
        <p:nvSpPr>
          <p:cNvPr id="39" name="Test evaluation: Component · Python"/>
          <p:cNvSpPr txBox="1"/>
          <p:nvPr/>
        </p:nvSpPr>
        <p:spPr>
          <a:xfrm>
            <a:off x="5788152" y="3730752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Component · Python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" y="3977639"/>
            <a:ext cx="10936224" cy="10972"/>
          </a:xfrm>
          <a:prstGeom prst="rect">
            <a:avLst/>
          </a:prstGeom>
          <a:solidFill>
            <a:srgbClr val="DCE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st evaluation: 03  TOOL COMPLETION"/>
          <p:cNvSpPr txBox="1"/>
          <p:nvPr/>
        </p:nvSpPr>
        <p:spPr>
          <a:xfrm>
            <a:off x="621792" y="4005072"/>
            <a:ext cx="34747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7446A6"/>
                </a:solidFill>
                <a:latin typeface="Arial"/>
              </a:rPr>
              <a:t>03  TOOL COMPLETION</a:t>
            </a:r>
          </a:p>
        </p:txBody>
      </p:sp>
      <p:sp>
        <p:nvSpPr>
          <p:cNvPr id="42" name="Test evaluation: COMPONENT UNDER TEST"/>
          <p:cNvSpPr txBox="1"/>
          <p:nvPr/>
        </p:nvSpPr>
        <p:spPr>
          <a:xfrm>
            <a:off x="4297680" y="4005072"/>
            <a:ext cx="2971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lang="en-US">
                <a:solidFill>
                  <a:srgbClr val="65737D"/>
                </a:solidFill>
                <a:latin typeface="Arial"/>
              </a:rPr>
              <a:t>COMPONENT UNDER TEST</a:t>
            </a:r>
          </a:p>
        </p:txBody>
      </p:sp>
      <p:sp>
        <p:nvSpPr>
          <p:cNvPr id="43" name="Test evaluation: EXPECTED RESPONSE"/>
          <p:cNvSpPr txBox="1"/>
          <p:nvPr/>
        </p:nvSpPr>
        <p:spPr>
          <a:xfrm>
            <a:off x="8549640" y="4005072"/>
            <a:ext cx="281635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lang="en-US">
                <a:solidFill>
                  <a:srgbClr val="7446A6"/>
                </a:solidFill>
                <a:latin typeface="Arial"/>
              </a:rPr>
              <a:t>EXPECTED RESPONSE</a:t>
            </a:r>
          </a:p>
        </p:txBody>
      </p:sp>
      <p:sp>
        <p:nvSpPr>
          <p:cNvPr id="44" name="Test evaluation: Log publication / failure"/>
          <p:cNvSpPr txBox="1"/>
          <p:nvPr/>
        </p:nvSpPr>
        <p:spPr>
          <a:xfrm>
            <a:off x="804672" y="4315968"/>
            <a:ext cx="265176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900" b="1" lang="en-US">
                <a:solidFill>
                  <a:srgbClr val="263440"/>
                </a:solidFill>
                <a:latin typeface="Arial"/>
              </a:rPr>
              <a:t>Log publication
failure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" y="4407407"/>
            <a:ext cx="54864" cy="10972"/>
          </a:xfrm>
          <a:prstGeom prst="rect">
            <a:avLst/>
          </a:prstGeom>
          <a:solidFill>
            <a:srgbClr val="744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3493008" y="4645152"/>
            <a:ext cx="530352" cy="0"/>
          </a:xfrm>
          <a:prstGeom prst="line">
            <a:avLst/>
          </a:prstGeom>
          <a:ln w="2794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4178808" y="4315968"/>
            <a:ext cx="3319272" cy="658368"/>
          </a:xfrm>
          <a:prstGeom prst="rect">
            <a:avLst/>
          </a:prstGeom>
          <a:solidFill>
            <a:srgbClr val="FFFFFF"/>
          </a:solidFill>
          <a:ln w="16510"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st evaluation: Receiver API"/>
          <p:cNvSpPr txBox="1"/>
          <p:nvPr/>
        </p:nvSpPr>
        <p:spPr>
          <a:xfrm>
            <a:off x="4315968" y="4343400"/>
            <a:ext cx="3044952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lang="en-US">
                <a:solidFill>
                  <a:srgbClr val="263440"/>
                </a:solidFill>
                <a:latin typeface="Arial"/>
              </a:rPr>
              <a:t>Receiver API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635240" y="4645152"/>
            <a:ext cx="612648" cy="0"/>
          </a:xfrm>
          <a:prstGeom prst="line">
            <a:avLst/>
          </a:prstGeom>
          <a:ln w="27940">
            <a:solidFill>
              <a:srgbClr val="7446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8403336" y="4315968"/>
            <a:ext cx="3154680" cy="658368"/>
          </a:xfrm>
          <a:prstGeom prst="rect">
            <a:avLst/>
          </a:prstGeom>
          <a:solidFill>
            <a:srgbClr val="F3EEF8"/>
          </a:solidFill>
          <a:ln>
            <a:solidFill>
              <a:srgbClr val="744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st evaluation: HTTP 503 / No receipt"/>
          <p:cNvSpPr txBox="1"/>
          <p:nvPr/>
        </p:nvSpPr>
        <p:spPr>
          <a:xfrm>
            <a:off x="8558784" y="4343400"/>
            <a:ext cx="2843784" cy="6035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lang="en-US">
                <a:solidFill>
                  <a:srgbClr val="7446A6"/>
                </a:solidFill>
                <a:latin typeface="Arial"/>
              </a:rPr>
              <a:t>HTTP 503
No receipt</a:t>
            </a:r>
          </a:p>
        </p:txBody>
      </p:sp>
      <p:sp>
        <p:nvSpPr>
          <p:cNvPr id="52" name="Test evaluation: test_authorization.py"/>
          <p:cNvSpPr txBox="1"/>
          <p:nvPr/>
        </p:nvSpPr>
        <p:spPr>
          <a:xfrm>
            <a:off x="804672" y="5038344"/>
            <a:ext cx="47091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test_authorization.py</a:t>
            </a:r>
          </a:p>
        </p:txBody>
      </p:sp>
      <p:sp>
        <p:nvSpPr>
          <p:cNvPr id="53" name="Test evaluation: Local integration · ASGI, mocked log"/>
          <p:cNvSpPr txBox="1"/>
          <p:nvPr/>
        </p:nvSpPr>
        <p:spPr>
          <a:xfrm>
            <a:off x="5788152" y="5038344"/>
            <a:ext cx="55778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lang="en-US">
                <a:solidFill>
                  <a:srgbClr val="65737D"/>
                </a:solidFill>
                <a:latin typeface="Arial"/>
              </a:rPr>
              <a:t>Local integration · ASGI, mocked log</a:t>
            </a:r>
          </a:p>
        </p:txBody>
      </p:sp>
      <p:sp>
        <p:nvSpPr>
          <p:cNvPr id="54" name="Test evaluation: Implemented scenarios; expected outcomes shown. Controlled dependencies; no new test-run results."/>
          <p:cNvSpPr txBox="1"/>
          <p:nvPr/>
        </p:nvSpPr>
        <p:spPr>
          <a:xfrm>
            <a:off x="621792" y="5458968"/>
            <a:ext cx="1095451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lang="en-US">
                <a:solidFill>
                  <a:srgbClr val="65737D"/>
                </a:solidFill>
                <a:latin typeface="Arial"/>
              </a:rPr>
              <a:t>Implemented scenarios; expected outcomes shown. Controlled dependencies; no new test-run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elfolien zur Auswahl">
  <a:themeElements>
    <a:clrScheme name="TU Berlin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4A2A0730-D474-B642-9EC8-245B2B7F7B17}"/>
    </a:ext>
  </a:extLst>
</a:theme>
</file>

<file path=ppt/theme/theme2.xml><?xml version="1.0" encoding="utf-8"?>
<a:theme xmlns:a="http://schemas.openxmlformats.org/drawingml/2006/main" name="Master für Folgeseiten">
  <a:themeElements>
    <a:clrScheme name="TU Berlin ">
      <a:dk1>
        <a:srgbClr val="434343"/>
      </a:dk1>
      <a:lt1>
        <a:srgbClr val="FFFFFF"/>
      </a:lt1>
      <a:dk2>
        <a:srgbClr val="434343"/>
      </a:dk2>
      <a:lt2>
        <a:srgbClr val="E7E6E6"/>
      </a:lt2>
      <a:accent1>
        <a:srgbClr val="C30D1E"/>
      </a:accent1>
      <a:accent2>
        <a:srgbClr val="B2B2B2"/>
      </a:accent2>
      <a:accent3>
        <a:srgbClr val="FF6C00"/>
      </a:accent3>
      <a:accent4>
        <a:srgbClr val="1F90CC"/>
      </a:accent4>
      <a:accent5>
        <a:srgbClr val="9013FE"/>
      </a:accent5>
      <a:accent6>
        <a:srgbClr val="49CB40"/>
      </a:accent6>
      <a:hlink>
        <a:srgbClr val="C30D1E"/>
      </a:hlink>
      <a:folHlink>
        <a:srgbClr val="C30D1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1" id="{AF5D8605-2613-D24D-AB7D-44425CE5E9EB}" vid="{6D2ACD7B-51E4-3F4D-A883-FB2A0ECC7C66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TU-Berlin-Praesentation-Master-einfarbig-Rot</Template>
  <TotalTime>0</TotalTime>
  <Words>59</Words>
  <Application>Microsoft Office PowerPoint</Application>
  <PresentationFormat>Breitbild</PresentationFormat>
  <Paragraphs>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Calibri</vt:lpstr>
      <vt:lpstr>Symbol</vt:lpstr>
      <vt:lpstr>Titelfolien zur Auswahl</vt:lpstr>
      <vt:lpstr>Master für Folgeseiten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VITA-FL — Master's Thesis Presentation</dc:title>
  <dc:creator>Ramon Mehrpoya</dc:creator>
  <cp:lastModifiedBy>Friedrich, Ulrike</cp:lastModifiedBy>
  <cp:revision>3</cp:revision>
  <cp:lastPrinted>2021-03-24T16:10:50Z</cp:lastPrinted>
  <dcterms:created xsi:type="dcterms:W3CDTF">2023-04-20T08:54:03Z</dcterms:created>
  <dcterms:modified xsi:type="dcterms:W3CDTF">2025-06-16T09:49:54Z</dcterms:modified>
  <dc:subject>Verifiable Decentralized Federated Machine Learning and Inference for AI Agent Systems</dc:subject>
  <cp:keywords>VITA-FL, DFL, TEE, attested inference, transparency log</cp:keywords>
  <dc:language>en-US</dc:language>
</cp:coreProperties>
</file>