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Alternative replacement for the current test-category slide. Unit/component and</a:t>
            </a:r>
          </a:p>
          <a:p>
            <a:r>
              <a:rPr lang="en-US"/>
              <a:t>local integration tests are grouped together as CI checks and divided by the</a:t>
            </a:r>
          </a:p>
          <a:p>
            <a:r>
              <a:rPr lang="en-US"/>
              <a:t>subject under test. External scenario types are a separate counting unit.</a:t>
            </a:r>
          </a:p>
          <a:p>
            <a:r>
              <a:rPr lang="en-US"/>
              <a:t>Static code/configuration inspection on 27 September 2026; no tests or cloud</a:t>
            </a:r>
          </a:p>
          <a:p>
            <a:r>
              <a:rPr lang="en-US"/>
              <a:t>campaigns were executed to build these slides. Counts are implementation counts,</a:t>
            </a:r>
          </a:p>
          <a:p>
            <a:r>
              <a:rPr lang="en-US"/>
              <a:t>not passed executions or independent empirical samples. The current presentation</a:t>
            </a:r>
          </a:p>
          <a:p>
            <a:r>
              <a:rPr lang="en-US"/>
              <a:t>and its selected test slide remain unchanged pending selection.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A cross-boundary mapping in variant B connects related questions, not equivalent</a:t>
            </a:r>
          </a:p>
          <a:p>
            <a:r>
              <a:rPr lang="en-US"/>
              <a:t>coverage or one-to-one test cases. 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From CI coverage to configured cloud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08176"/>
            <a:ext cx="3831336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08176"/>
            <a:ext cx="3831336" cy="640080"/>
          </a:xfrm>
          <a:prstGeom prst="rect">
            <a:avLst/>
          </a:prstGeom>
          <a:solidFill>
            <a:srgbClr val="EDF4FA"/>
          </a:solidFill>
          <a:ln w="10160"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I/external scope: CI · 878 definitions"/>
          <p:cNvSpPr txBox="1"/>
          <p:nvPr/>
        </p:nvSpPr>
        <p:spPr>
          <a:xfrm>
            <a:off x="813816" y="1508760"/>
            <a:ext cx="34655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lang="en-US">
                <a:solidFill>
                  <a:srgbClr val="1764A1"/>
                </a:solidFill>
                <a:latin typeface="Arial"/>
              </a:rPr>
              <a:t>CI · 878 definitions</a:t>
            </a:r>
          </a:p>
        </p:txBody>
      </p:sp>
      <p:sp>
        <p:nvSpPr>
          <p:cNvPr id="16" name="CI/external scope: Unit / component / integration"/>
          <p:cNvSpPr txBox="1"/>
          <p:nvPr/>
        </p:nvSpPr>
        <p:spPr>
          <a:xfrm>
            <a:off x="813816" y="1869948"/>
            <a:ext cx="34655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1764A1"/>
                </a:solidFill>
                <a:latin typeface="Arial"/>
              </a:rPr>
              <a:t>Unit / component / integration</a:t>
            </a:r>
          </a:p>
        </p:txBody>
      </p:sp>
      <p:sp>
        <p:nvSpPr>
          <p:cNvPr id="17" name="CI/external scope: Learning &amp; models"/>
          <p:cNvSpPr txBox="1"/>
          <p:nvPr/>
        </p:nvSpPr>
        <p:spPr>
          <a:xfrm>
            <a:off x="822960" y="2194560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Learning &amp; models</a:t>
            </a:r>
          </a:p>
        </p:txBody>
      </p:sp>
      <p:sp>
        <p:nvSpPr>
          <p:cNvPr id="18" name="CI/external scope: Data splits · aggregation · model binding"/>
          <p:cNvSpPr txBox="1"/>
          <p:nvPr/>
        </p:nvSpPr>
        <p:spPr>
          <a:xfrm>
            <a:off x="822960" y="2432304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Data splits · aggregation · model binding</a:t>
            </a:r>
          </a:p>
        </p:txBody>
      </p:sp>
      <p:sp>
        <p:nvSpPr>
          <p:cNvPr id="19" name="CI/external scope: 78"/>
          <p:cNvSpPr txBox="1"/>
          <p:nvPr/>
        </p:nvSpPr>
        <p:spPr>
          <a:xfrm>
            <a:off x="3794760" y="2231136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sp>
        <p:nvSpPr>
          <p:cNvPr id="20" name="CI/external scope: Rounds &amp; recovery"/>
          <p:cNvSpPr txBox="1"/>
          <p:nvPr/>
        </p:nvSpPr>
        <p:spPr>
          <a:xfrm>
            <a:off x="822960" y="2601468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Rounds &amp; recovery</a:t>
            </a:r>
          </a:p>
        </p:txBody>
      </p:sp>
      <p:sp>
        <p:nvSpPr>
          <p:cNvPr id="21" name="CI/external scope: Timer · closure · quorum · publication"/>
          <p:cNvSpPr txBox="1"/>
          <p:nvPr/>
        </p:nvSpPr>
        <p:spPr>
          <a:xfrm>
            <a:off x="822960" y="2839211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Timer · closure · quorum · publication</a:t>
            </a:r>
          </a:p>
        </p:txBody>
      </p:sp>
      <p:sp>
        <p:nvSpPr>
          <p:cNvPr id="22" name="CI/external scope: 117"/>
          <p:cNvSpPr txBox="1"/>
          <p:nvPr/>
        </p:nvSpPr>
        <p:spPr>
          <a:xfrm>
            <a:off x="3794760" y="2638044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sp>
        <p:nvSpPr>
          <p:cNvPr id="23" name="CI/external scope: Identity &amp; transport"/>
          <p:cNvSpPr txBox="1"/>
          <p:nvPr/>
        </p:nvSpPr>
        <p:spPr>
          <a:xfrm>
            <a:off x="822960" y="3008376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Identity &amp; transport</a:t>
            </a:r>
          </a:p>
        </p:txBody>
      </p:sp>
      <p:sp>
        <p:nvSpPr>
          <p:cNvPr id="24" name="CI/external scope: Admission · attestation · keys · TLS"/>
          <p:cNvSpPr txBox="1"/>
          <p:nvPr/>
        </p:nvSpPr>
        <p:spPr>
          <a:xfrm>
            <a:off x="822960" y="3246120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Admission · attestation · keys · TLS</a:t>
            </a:r>
          </a:p>
        </p:txBody>
      </p:sp>
      <p:sp>
        <p:nvSpPr>
          <p:cNvPr id="25" name="CI/external scope: 240"/>
          <p:cNvSpPr txBox="1"/>
          <p:nvPr/>
        </p:nvSpPr>
        <p:spPr>
          <a:xfrm>
            <a:off x="3794760" y="3044952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sp>
        <p:nvSpPr>
          <p:cNvPr id="26" name="CI/external scope: Inference &amp; agents"/>
          <p:cNvSpPr txBox="1"/>
          <p:nvPr/>
        </p:nvSpPr>
        <p:spPr>
          <a:xfrm>
            <a:off x="822960" y="3415284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Inference &amp; agents</a:t>
            </a:r>
          </a:p>
        </p:txBody>
      </p:sp>
      <p:sp>
        <p:nvSpPr>
          <p:cNvPr id="27" name="CI/external scope: MCP tools · owned jobs · TEE/ZK"/>
          <p:cNvSpPr txBox="1"/>
          <p:nvPr/>
        </p:nvSpPr>
        <p:spPr>
          <a:xfrm>
            <a:off x="822960" y="3653028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MCP tools · owned jobs · TEE/ZK</a:t>
            </a:r>
          </a:p>
        </p:txBody>
      </p:sp>
      <p:sp>
        <p:nvSpPr>
          <p:cNvPr id="28" name="CI/external scope: 49"/>
          <p:cNvSpPr txBox="1"/>
          <p:nvPr/>
        </p:nvSpPr>
        <p:spPr>
          <a:xfrm>
            <a:off x="3794760" y="3451860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sp>
        <p:nvSpPr>
          <p:cNvPr id="29" name="CI/external scope: Receipts &amp; provenance"/>
          <p:cNvSpPr txBox="1"/>
          <p:nvPr/>
        </p:nvSpPr>
        <p:spPr>
          <a:xfrm>
            <a:off x="822960" y="3822191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Receipts &amp; provenance</a:t>
            </a:r>
          </a:p>
        </p:txBody>
      </p:sp>
      <p:sp>
        <p:nvSpPr>
          <p:cNvPr id="30" name="CI/external scope: AIR · Sello · SCITT · signed input"/>
          <p:cNvSpPr txBox="1"/>
          <p:nvPr/>
        </p:nvSpPr>
        <p:spPr>
          <a:xfrm>
            <a:off x="822960" y="4059935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AIR · Sello · SCITT · signed input</a:t>
            </a:r>
          </a:p>
        </p:txBody>
      </p:sp>
      <p:sp>
        <p:nvSpPr>
          <p:cNvPr id="31" name="CI/external scope: 64"/>
          <p:cNvSpPr txBox="1"/>
          <p:nvPr/>
        </p:nvSpPr>
        <p:spPr>
          <a:xfrm>
            <a:off x="3794760" y="3858768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sp>
        <p:nvSpPr>
          <p:cNvPr id="32" name="CI/external scope: Runtime &amp; telemetry"/>
          <p:cNvSpPr txBox="1"/>
          <p:nvPr/>
        </p:nvSpPr>
        <p:spPr>
          <a:xfrm>
            <a:off x="822960" y="4229100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Runtime &amp; telemetry</a:t>
            </a:r>
          </a:p>
        </p:txBody>
      </p:sp>
      <p:sp>
        <p:nvSpPr>
          <p:cNvPr id="33" name="CI/external scope: Settings · gates · signed-event metrics"/>
          <p:cNvSpPr txBox="1"/>
          <p:nvPr/>
        </p:nvSpPr>
        <p:spPr>
          <a:xfrm>
            <a:off x="822960" y="4466844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Settings · gates · signed-event metrics</a:t>
            </a:r>
          </a:p>
        </p:txBody>
      </p:sp>
      <p:sp>
        <p:nvSpPr>
          <p:cNvPr id="34" name="CI/external scope: 107"/>
          <p:cNvSpPr txBox="1"/>
          <p:nvPr/>
        </p:nvSpPr>
        <p:spPr>
          <a:xfrm>
            <a:off x="3794760" y="4265676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sp>
        <p:nvSpPr>
          <p:cNvPr id="35" name="CI/external scope: Deployment &amp; packaging"/>
          <p:cNvSpPr txBox="1"/>
          <p:nvPr/>
        </p:nvSpPr>
        <p:spPr>
          <a:xfrm>
            <a:off x="822960" y="4636008"/>
            <a:ext cx="28986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40" b="1" lang="en-US">
                <a:solidFill>
                  <a:srgbClr val="263440"/>
                </a:solidFill>
                <a:latin typeface="Arial"/>
              </a:rPr>
              <a:t>Deployment &amp; packaging</a:t>
            </a:r>
          </a:p>
        </p:txBody>
      </p:sp>
      <p:sp>
        <p:nvSpPr>
          <p:cNvPr id="36" name="CI/external scope: Images · revisions · Docker · Terraform"/>
          <p:cNvSpPr txBox="1"/>
          <p:nvPr/>
        </p:nvSpPr>
        <p:spPr>
          <a:xfrm>
            <a:off x="822960" y="4873752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30" b="0" lang="en-US">
                <a:solidFill>
                  <a:srgbClr val="65737D"/>
                </a:solidFill>
                <a:latin typeface="Arial"/>
              </a:rPr>
              <a:t>Images · revisions · Docker · Terraform</a:t>
            </a:r>
          </a:p>
        </p:txBody>
      </p:sp>
      <p:sp>
        <p:nvSpPr>
          <p:cNvPr id="37" name="CI/external scope: 223"/>
          <p:cNvSpPr txBox="1"/>
          <p:nvPr/>
        </p:nvSpPr>
        <p:spPr>
          <a:xfrm>
            <a:off x="3794760" y="4672584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38" name="CI/external scope: GitHub Actions · Ubuntu · push / PR / manual"/>
          <p:cNvSpPr txBox="1"/>
          <p:nvPr/>
        </p:nvSpPr>
        <p:spPr>
          <a:xfrm>
            <a:off x="822960" y="5129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90" b="0" lang="en-US">
                <a:solidFill>
                  <a:srgbClr val="1764A1"/>
                </a:solidFill>
                <a:latin typeface="Arial"/>
              </a:rPr>
              <a:t>GitHub Actions · Ubuntu · push / PR / manual</a:t>
            </a:r>
          </a:p>
        </p:txBody>
      </p:sp>
      <p:sp>
        <p:nvSpPr>
          <p:cNvPr id="39" name="CI/external scope: 8 external scenario modes"/>
          <p:cNvSpPr txBox="1"/>
          <p:nvPr/>
        </p:nvSpPr>
        <p:spPr>
          <a:xfrm>
            <a:off x="4690872" y="1490472"/>
            <a:ext cx="684885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7446A6"/>
                </a:solidFill>
                <a:latin typeface="Arial"/>
              </a:rPr>
              <a:t>8 external scenario modes</a:t>
            </a:r>
          </a:p>
        </p:txBody>
      </p:sp>
      <p:sp>
        <p:nvSpPr>
          <p:cNvPr id="40" name="CI/external scope: SMEW / SMA / vita-fl-td → Phala"/>
          <p:cNvSpPr txBox="1"/>
          <p:nvPr/>
        </p:nvSpPr>
        <p:spPr>
          <a:xfrm>
            <a:off x="4690872" y="1879092"/>
            <a:ext cx="6848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7446A6"/>
                </a:solidFill>
                <a:latin typeface="Arial"/>
              </a:rPr>
              <a:t>SMEW / SMA / vita-fl-td → Phala</a:t>
            </a:r>
          </a:p>
        </p:txBody>
      </p:sp>
      <p:sp>
        <p:nvSpPr>
          <p:cNvPr id="41" name="CI/external scope: SCENARIO"/>
          <p:cNvSpPr txBox="1"/>
          <p:nvPr/>
        </p:nvSpPr>
        <p:spPr>
          <a:xfrm>
            <a:off x="4800600" y="2249424"/>
            <a:ext cx="15270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65737D"/>
                </a:solidFill>
                <a:latin typeface="Arial"/>
              </a:rPr>
              <a:t>SCENARIO</a:t>
            </a:r>
          </a:p>
        </p:txBody>
      </p:sp>
      <p:sp>
        <p:nvSpPr>
          <p:cNvPr id="42" name="CI/external scope: CONDITION → EXPECTED RESPONSE"/>
          <p:cNvSpPr txBox="1"/>
          <p:nvPr/>
        </p:nvSpPr>
        <p:spPr>
          <a:xfrm>
            <a:off x="6547104" y="2249424"/>
            <a:ext cx="47914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65737D"/>
                </a:solidFill>
                <a:latin typeface="Arial"/>
              </a:rPr>
              <a:t>CONDITION → EXPECTED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81728" y="2569464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I/external scope: configuration"/>
          <p:cNvSpPr txBox="1"/>
          <p:nvPr/>
        </p:nvSpPr>
        <p:spPr>
          <a:xfrm>
            <a:off x="4800600" y="2583180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configuration</a:t>
            </a:r>
          </a:p>
        </p:txBody>
      </p:sp>
      <p:sp>
        <p:nvSpPr>
          <p:cNvPr id="45" name="CI/external scope: Readback matches; invalid deadline rejected"/>
          <p:cNvSpPr txBox="1"/>
          <p:nvPr/>
        </p:nvSpPr>
        <p:spPr>
          <a:xfrm>
            <a:off x="6547104" y="2583180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Readback matches; invalid deadline rejected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1728" y="2857500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I/external scope: normal"/>
          <p:cNvSpPr txBox="1"/>
          <p:nvPr/>
        </p:nvSpPr>
        <p:spPr>
          <a:xfrm>
            <a:off x="4800600" y="2871216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normal</a:t>
            </a:r>
          </a:p>
        </p:txBody>
      </p:sp>
      <p:sp>
        <p:nvSpPr>
          <p:cNvPr id="48" name="CI/external scope: 5 completed rounds; final model verified"/>
          <p:cNvSpPr txBox="1"/>
          <p:nvPr/>
        </p:nvSpPr>
        <p:spPr>
          <a:xfrm>
            <a:off x="6547104" y="2871216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5 completed rounds; final model verified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1728" y="3145536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I/external scope: early"/>
          <p:cNvSpPr txBox="1"/>
          <p:nvPr/>
        </p:nvSpPr>
        <p:spPr>
          <a:xfrm>
            <a:off x="4800600" y="3159252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early</a:t>
            </a:r>
          </a:p>
        </p:txBody>
      </p:sp>
      <p:sp>
        <p:nvSpPr>
          <p:cNvPr id="51" name="CI/external scope: Accept 5/5 → close before the deadline"/>
          <p:cNvSpPr txBox="1"/>
          <p:nvPr/>
        </p:nvSpPr>
        <p:spPr>
          <a:xfrm>
            <a:off x="6547104" y="3159252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Accept 5/5 → close before the deadline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81728" y="3433572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I/external scope: partial"/>
          <p:cNvSpPr txBox="1"/>
          <p:nvPr/>
        </p:nvSpPr>
        <p:spPr>
          <a:xfrm>
            <a:off x="4800600" y="3447288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partial</a:t>
            </a:r>
          </a:p>
        </p:txBody>
      </p:sp>
      <p:sp>
        <p:nvSpPr>
          <p:cNvPr id="54" name="CI/external scope: Accept 2/5 → publish those 2 after timeout"/>
          <p:cNvSpPr txBox="1"/>
          <p:nvPr/>
        </p:nvSpPr>
        <p:spPr>
          <a:xfrm>
            <a:off x="6547104" y="3447288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Accept 2/5 → publish those 2 after timeout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81728" y="3721608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I/external scope: zero"/>
          <p:cNvSpPr txBox="1"/>
          <p:nvPr/>
        </p:nvSpPr>
        <p:spPr>
          <a:xfrm>
            <a:off x="4800600" y="3735324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zero</a:t>
            </a:r>
          </a:p>
        </p:txBody>
      </p:sp>
      <p:sp>
        <p:nvSpPr>
          <p:cNvPr id="57" name="CI/external scope: Accept 0/5 → no publication; quorum recovery"/>
          <p:cNvSpPr txBox="1"/>
          <p:nvPr/>
        </p:nvSpPr>
        <p:spPr>
          <a:xfrm>
            <a:off x="6547104" y="3735324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Accept 0/5 → no publication; quorum recovery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81728" y="4009644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I/external scope: recovery"/>
          <p:cNvSpPr txBox="1"/>
          <p:nvPr/>
        </p:nvSpPr>
        <p:spPr>
          <a:xfrm>
            <a:off x="4800600" y="4023359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recovery</a:t>
            </a:r>
          </a:p>
        </p:txBody>
      </p:sp>
      <p:sp>
        <p:nvSpPr>
          <p:cNvPr id="60" name="CI/external scope: Stop aggregator → quorum → new aggregator"/>
          <p:cNvSpPr txBox="1"/>
          <p:nvPr/>
        </p:nvSpPr>
        <p:spPr>
          <a:xfrm>
            <a:off x="6547104" y="4023359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Stop aggregator → quorum → new aggregator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8" y="4297680"/>
            <a:ext cx="6867144" cy="278892"/>
          </a:xfrm>
          <a:prstGeom prst="rect">
            <a:avLst/>
          </a:prstGeom>
          <a:solidFill>
            <a:srgbClr val="F2F5F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I/external scope: inference"/>
          <p:cNvSpPr txBox="1"/>
          <p:nvPr/>
        </p:nvSpPr>
        <p:spPr>
          <a:xfrm>
            <a:off x="4800600" y="4311396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inference</a:t>
            </a:r>
          </a:p>
        </p:txBody>
      </p:sp>
      <p:sp>
        <p:nvSpPr>
          <p:cNvPr id="63" name="CI/external scope: Verify inference using the finalized model"/>
          <p:cNvSpPr txBox="1"/>
          <p:nvPr/>
        </p:nvSpPr>
        <p:spPr>
          <a:xfrm>
            <a:off x="6547104" y="4311396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Verify inference using the finalized model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81728" y="4585716"/>
            <a:ext cx="6867144" cy="2788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I/external scope: security"/>
          <p:cNvSpPr txBox="1"/>
          <p:nvPr/>
        </p:nvSpPr>
        <p:spPr>
          <a:xfrm>
            <a:off x="4800600" y="4599432"/>
            <a:ext cx="1563624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1" lang="en-US">
                <a:solidFill>
                  <a:srgbClr val="7446A6"/>
                </a:solidFill>
                <a:latin typeface="Arial"/>
              </a:rPr>
              <a:t>security</a:t>
            </a:r>
          </a:p>
        </p:txBody>
      </p:sp>
      <p:sp>
        <p:nvSpPr>
          <p:cNvPr id="66" name="CI/external scope: 16 checks: access, contracts + positive control"/>
          <p:cNvSpPr txBox="1"/>
          <p:nvPr/>
        </p:nvSpPr>
        <p:spPr>
          <a:xfrm>
            <a:off x="6547104" y="4599432"/>
            <a:ext cx="480060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10" b="0" lang="en-US">
                <a:solidFill>
                  <a:srgbClr val="263440"/>
                </a:solidFill>
                <a:latin typeface="Arial"/>
              </a:rPr>
              <a:t>16 checks: access, contracts + positive control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81728" y="4983480"/>
            <a:ext cx="6867144" cy="338328"/>
          </a:xfrm>
          <a:prstGeom prst="rect">
            <a:avLst/>
          </a:prstGeom>
          <a:solidFill>
            <a:srgbClr val="F3EEF8"/>
          </a:solidFill>
          <a:ln w="10160">
            <a:solidFill>
              <a:srgbClr val="F3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I/external scope: Additional audit: 17 checks of published SCITT / AIR / TDX / Sello evidence"/>
          <p:cNvSpPr txBox="1"/>
          <p:nvPr/>
        </p:nvSpPr>
        <p:spPr>
          <a:xfrm>
            <a:off x="4809744" y="5020056"/>
            <a:ext cx="6592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1" lang="en-US">
                <a:solidFill>
                  <a:srgbClr val="7446A6"/>
                </a:solidFill>
                <a:latin typeface="Arial"/>
              </a:rPr>
              <a:t>Additional audit: 17 checks of published SCITT / AIR / TDX / Sello evidence</a:t>
            </a:r>
          </a:p>
        </p:txBody>
      </p:sp>
      <p:sp>
        <p:nvSpPr>
          <p:cNvPr id="69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468112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