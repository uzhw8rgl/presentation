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CI checks and external system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08176"/>
            <a:ext cx="5312664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08176"/>
            <a:ext cx="5422392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5312664" cy="640080"/>
          </a:xfrm>
          <a:prstGeom prst="rect">
            <a:avLst/>
          </a:prstGeom>
          <a:solidFill>
            <a:srgbClr val="EDF4FA"/>
          </a:solidFill>
          <a:ln w="10160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08176"/>
            <a:ext cx="5422392" cy="640080"/>
          </a:xfrm>
          <a:prstGeom prst="rect">
            <a:avLst/>
          </a:prstGeom>
          <a:solidFill>
            <a:srgbClr val="F3EEF8"/>
          </a:solidFill>
          <a:ln w="10160">
            <a:solidFill>
              <a:srgbClr val="F3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/external scope: CI · 878 definitions"/>
          <p:cNvSpPr txBox="1"/>
          <p:nvPr/>
        </p:nvSpPr>
        <p:spPr>
          <a:xfrm>
            <a:off x="832104" y="1490472"/>
            <a:ext cx="4928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CI · 878 definitions</a:t>
            </a:r>
          </a:p>
        </p:txBody>
      </p:sp>
      <p:sp>
        <p:nvSpPr>
          <p:cNvPr id="18" name="CI/external scope: Unit / component / integration · GitHub Actions"/>
          <p:cNvSpPr txBox="1"/>
          <p:nvPr/>
        </p:nvSpPr>
        <p:spPr>
          <a:xfrm>
            <a:off x="832104" y="186537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1764A1"/>
                </a:solidFill>
                <a:latin typeface="Arial"/>
              </a:rPr>
              <a:t>Unit / component / integration · GitHub Actions</a:t>
            </a:r>
          </a:p>
        </p:txBody>
      </p:sp>
      <p:sp>
        <p:nvSpPr>
          <p:cNvPr id="19" name="CI/external scope: External · 8 modes + audit"/>
          <p:cNvSpPr txBox="1"/>
          <p:nvPr/>
        </p:nvSpPr>
        <p:spPr>
          <a:xfrm>
            <a:off x="6318504" y="149047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7446A6"/>
                </a:solidFill>
                <a:latin typeface="Arial"/>
              </a:rPr>
              <a:t>External · 8 modes + audit</a:t>
            </a:r>
          </a:p>
        </p:txBody>
      </p:sp>
      <p:sp>
        <p:nvSpPr>
          <p:cNvPr id="20" name="CI/external scope: SMEW → SMA → vita-fl-td · deployed VITA-FL in Phala"/>
          <p:cNvSpPr txBox="1"/>
          <p:nvPr/>
        </p:nvSpPr>
        <p:spPr>
          <a:xfrm>
            <a:off x="6318504" y="186537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7446A6"/>
                </a:solidFill>
                <a:latin typeface="Arial"/>
              </a:rPr>
              <a:t>SMEW → SMA → vita-fl-td · deployed VITA-FL in Phala</a:t>
            </a:r>
          </a:p>
        </p:txBody>
      </p:sp>
      <p:sp>
        <p:nvSpPr>
          <p:cNvPr id="21" name="CI/external scope: Learning &amp; model integrity"/>
          <p:cNvSpPr txBox="1"/>
          <p:nvPr/>
        </p:nvSpPr>
        <p:spPr>
          <a:xfrm>
            <a:off x="832104" y="214884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Learning &amp; model integrity</a:t>
            </a:r>
          </a:p>
        </p:txBody>
      </p:sp>
      <p:sp>
        <p:nvSpPr>
          <p:cNvPr id="22" name="CI/external scope: Data splits · aggregation math · model bindings"/>
          <p:cNvSpPr txBox="1"/>
          <p:nvPr/>
        </p:nvSpPr>
        <p:spPr>
          <a:xfrm>
            <a:off x="832104" y="238201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Data splits · aggregation math · model bindings</a:t>
            </a:r>
          </a:p>
        </p:txBody>
      </p:sp>
      <p:sp>
        <p:nvSpPr>
          <p:cNvPr id="23" name="CI/external scope: 78"/>
          <p:cNvSpPr txBox="1"/>
          <p:nvPr/>
        </p:nvSpPr>
        <p:spPr>
          <a:xfrm>
            <a:off x="5230368" y="218541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" y="258318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I/external scope: Round control &amp; recovery"/>
          <p:cNvSpPr txBox="1"/>
          <p:nvPr/>
        </p:nvSpPr>
        <p:spPr>
          <a:xfrm>
            <a:off x="832104" y="258775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Round control &amp; recovery</a:t>
            </a:r>
          </a:p>
        </p:txBody>
      </p:sp>
      <p:sp>
        <p:nvSpPr>
          <p:cNvPr id="26" name="CI/external scope: Local timer · input closure · quorum · publication"/>
          <p:cNvSpPr txBox="1"/>
          <p:nvPr/>
        </p:nvSpPr>
        <p:spPr>
          <a:xfrm>
            <a:off x="832104" y="282092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Local timer · input closure · quorum · publication</a:t>
            </a:r>
          </a:p>
        </p:txBody>
      </p:sp>
      <p:sp>
        <p:nvSpPr>
          <p:cNvPr id="27" name="CI/external scope: 117"/>
          <p:cNvSpPr txBox="1"/>
          <p:nvPr/>
        </p:nvSpPr>
        <p:spPr>
          <a:xfrm>
            <a:off x="5230368" y="262432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" y="3022092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I/external scope: Identity &amp; secure transport"/>
          <p:cNvSpPr txBox="1"/>
          <p:nvPr/>
        </p:nvSpPr>
        <p:spPr>
          <a:xfrm>
            <a:off x="832104" y="3026664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Identity &amp; secure transport</a:t>
            </a:r>
          </a:p>
        </p:txBody>
      </p:sp>
      <p:sp>
        <p:nvSpPr>
          <p:cNvPr id="30" name="CI/external scope: Admission · quotes · keys · TLS · authorization"/>
          <p:cNvSpPr txBox="1"/>
          <p:nvPr/>
        </p:nvSpPr>
        <p:spPr>
          <a:xfrm>
            <a:off x="832104" y="3259836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Admission · quotes · keys · TLS · authorization</a:t>
            </a:r>
          </a:p>
        </p:txBody>
      </p:sp>
      <p:sp>
        <p:nvSpPr>
          <p:cNvPr id="31" name="CI/external scope: 240"/>
          <p:cNvSpPr txBox="1"/>
          <p:nvPr/>
        </p:nvSpPr>
        <p:spPr>
          <a:xfrm>
            <a:off x="5230368" y="306324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3461004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I/external scope: Inference &amp; agent workflow"/>
          <p:cNvSpPr txBox="1"/>
          <p:nvPr/>
        </p:nvSpPr>
        <p:spPr>
          <a:xfrm>
            <a:off x="832104" y="3465576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Inference &amp; agent workflow</a:t>
            </a:r>
          </a:p>
        </p:txBody>
      </p:sp>
      <p:sp>
        <p:nvSpPr>
          <p:cNvPr id="34" name="CI/external scope: MCP tools · job ownership · TEE/ZK workflow"/>
          <p:cNvSpPr txBox="1"/>
          <p:nvPr/>
        </p:nvSpPr>
        <p:spPr>
          <a:xfrm>
            <a:off x="832104" y="3698748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MCP tools · job ownership · TEE/ZK workflow</a:t>
            </a:r>
          </a:p>
        </p:txBody>
      </p:sp>
      <p:sp>
        <p:nvSpPr>
          <p:cNvPr id="35" name="CI/external scope: 49"/>
          <p:cNvSpPr txBox="1"/>
          <p:nvPr/>
        </p:nvSpPr>
        <p:spPr>
          <a:xfrm>
            <a:off x="5230368" y="3502152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" y="3899915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I/external scope: Receipts &amp; provenance"/>
          <p:cNvSpPr txBox="1"/>
          <p:nvPr/>
        </p:nvSpPr>
        <p:spPr>
          <a:xfrm>
            <a:off x="832104" y="3904487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Receipts &amp; provenance</a:t>
            </a:r>
          </a:p>
        </p:txBody>
      </p:sp>
      <p:sp>
        <p:nvSpPr>
          <p:cNvPr id="38" name="CI/external scope: AIR / Sello / SCITT · signatures · data provenance"/>
          <p:cNvSpPr txBox="1"/>
          <p:nvPr/>
        </p:nvSpPr>
        <p:spPr>
          <a:xfrm>
            <a:off x="832104" y="4137659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AIR / Sello / SCITT · signatures · data provenance</a:t>
            </a:r>
          </a:p>
        </p:txBody>
      </p:sp>
      <p:sp>
        <p:nvSpPr>
          <p:cNvPr id="39" name="CI/external scope: 64"/>
          <p:cNvSpPr txBox="1"/>
          <p:nvPr/>
        </p:nvSpPr>
        <p:spPr>
          <a:xfrm>
            <a:off x="5230368" y="3941063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2104" y="4338827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I/external scope: Runtime control &amp; telemetry"/>
          <p:cNvSpPr txBox="1"/>
          <p:nvPr/>
        </p:nvSpPr>
        <p:spPr>
          <a:xfrm>
            <a:off x="832104" y="434340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Runtime control &amp; telemetry</a:t>
            </a:r>
          </a:p>
        </p:txBody>
      </p:sp>
      <p:sp>
        <p:nvSpPr>
          <p:cNvPr id="42" name="CI/external scope: Configuration · upload gates · worker telemetry"/>
          <p:cNvSpPr txBox="1"/>
          <p:nvPr/>
        </p:nvSpPr>
        <p:spPr>
          <a:xfrm>
            <a:off x="832104" y="457657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Configuration · upload gates · worker telemetry</a:t>
            </a:r>
          </a:p>
        </p:txBody>
      </p:sp>
      <p:sp>
        <p:nvSpPr>
          <p:cNvPr id="43" name="CI/external scope: 107"/>
          <p:cNvSpPr txBox="1"/>
          <p:nvPr/>
        </p:nvSpPr>
        <p:spPr>
          <a:xfrm>
            <a:off x="5230368" y="437997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" y="477774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I/external scope: Deployment &amp; packaging"/>
          <p:cNvSpPr txBox="1"/>
          <p:nvPr/>
        </p:nvSpPr>
        <p:spPr>
          <a:xfrm>
            <a:off x="832104" y="478231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Deployment &amp; packaging</a:t>
            </a:r>
          </a:p>
        </p:txBody>
      </p:sp>
      <p:sp>
        <p:nvSpPr>
          <p:cNvPr id="46" name="CI/external scope: Image policy · revision order · Docker / Terraform"/>
          <p:cNvSpPr txBox="1"/>
          <p:nvPr/>
        </p:nvSpPr>
        <p:spPr>
          <a:xfrm>
            <a:off x="832104" y="501548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Image policy · revision order · Docker / Terraform</a:t>
            </a:r>
          </a:p>
        </p:txBody>
      </p:sp>
      <p:sp>
        <p:nvSpPr>
          <p:cNvPr id="47" name="CI/external scope: 223"/>
          <p:cNvSpPr txBox="1"/>
          <p:nvPr/>
        </p:nvSpPr>
        <p:spPr>
          <a:xfrm>
            <a:off x="5230368" y="481888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48" name="CI/external scope: Settings · configuration"/>
          <p:cNvSpPr txBox="1"/>
          <p:nvPr/>
        </p:nvSpPr>
        <p:spPr>
          <a:xfrm>
            <a:off x="6318504" y="214884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Settings · configuration</a:t>
            </a:r>
          </a:p>
        </p:txBody>
      </p:sp>
      <p:sp>
        <p:nvSpPr>
          <p:cNvPr id="49" name="CI/external scope: Save/read parameters; reject invalid deadlines"/>
          <p:cNvSpPr txBox="1"/>
          <p:nvPr/>
        </p:nvSpPr>
        <p:spPr>
          <a:xfrm>
            <a:off x="6318504" y="241858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Save/read parameters; reject invalid deadlines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18504" y="2638044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I/external scope: Lifecycle · normal / inference"/>
          <p:cNvSpPr txBox="1"/>
          <p:nvPr/>
        </p:nvSpPr>
        <p:spPr>
          <a:xfrm>
            <a:off x="6318504" y="2656332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Lifecycle · normal / inference</a:t>
            </a:r>
          </a:p>
        </p:txBody>
      </p:sp>
      <p:sp>
        <p:nvSpPr>
          <p:cNvPr id="52" name="CI/external scope: Complete training; use and verify the finalized model"/>
          <p:cNvSpPr txBox="1"/>
          <p:nvPr/>
        </p:nvSpPr>
        <p:spPr>
          <a:xfrm>
            <a:off x="6318504" y="2926080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Complete training; use and verify the finalized model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18504" y="3145536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I/external scope: Collection · early / partial / zero"/>
          <p:cNvSpPr txBox="1"/>
          <p:nvPr/>
        </p:nvSpPr>
        <p:spPr>
          <a:xfrm>
            <a:off x="6318504" y="3163824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Collection · early / partial / zero</a:t>
            </a:r>
          </a:p>
        </p:txBody>
      </p:sp>
      <p:sp>
        <p:nvSpPr>
          <p:cNvPr id="55" name="CI/external scope: Close early, publish partial inputs, or recover from zero"/>
          <p:cNvSpPr txBox="1"/>
          <p:nvPr/>
        </p:nvSpPr>
        <p:spPr>
          <a:xfrm>
            <a:off x="6318504" y="3433572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Close early, publish partial inputs, or recover from zero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18504" y="3653028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I/external scope: Recovery · aggregator outage"/>
          <p:cNvSpPr txBox="1"/>
          <p:nvPr/>
        </p:nvSpPr>
        <p:spPr>
          <a:xfrm>
            <a:off x="6318504" y="3671316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Recovery · aggregator outage</a:t>
            </a:r>
          </a:p>
        </p:txBody>
      </p:sp>
      <p:sp>
        <p:nvSpPr>
          <p:cNvPr id="58" name="CI/external scope: Stop CVM; 1/3 → 2/3 → 3/3 votes; elect a replacement"/>
          <p:cNvSpPr txBox="1"/>
          <p:nvPr/>
        </p:nvSpPr>
        <p:spPr>
          <a:xfrm>
            <a:off x="6318504" y="3941064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Stop CVM; 1/3 → 2/3 → 3/3 votes; elect a replacement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18504" y="4160520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I/external scope: Security · access and contract guards"/>
          <p:cNvSpPr txBox="1"/>
          <p:nvPr/>
        </p:nvSpPr>
        <p:spPr>
          <a:xfrm>
            <a:off x="6318504" y="4178808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Security · access and contract guards</a:t>
            </a:r>
          </a:p>
        </p:txBody>
      </p:sp>
      <p:sp>
        <p:nvSpPr>
          <p:cNvPr id="61" name="CI/external scope: 16 checks: access, contracts + positive inference"/>
          <p:cNvSpPr txBox="1"/>
          <p:nvPr/>
        </p:nvSpPr>
        <p:spPr>
          <a:xfrm>
            <a:off x="6318504" y="4448556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16 checks: access, contracts + positive inference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18504" y="4668012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I/external scope: Evidence · published receipt audit"/>
          <p:cNvSpPr txBox="1"/>
          <p:nvPr/>
        </p:nvSpPr>
        <p:spPr>
          <a:xfrm>
            <a:off x="6318504" y="468630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Evidence · published receipt audit</a:t>
            </a:r>
          </a:p>
        </p:txBody>
      </p:sp>
      <p:sp>
        <p:nvSpPr>
          <p:cNvPr id="64" name="CI/external scope: 17 checks: SCITT, AIR/TDX, sessions and Sello"/>
          <p:cNvSpPr txBox="1"/>
          <p:nvPr/>
        </p:nvSpPr>
        <p:spPr>
          <a:xfrm>
            <a:off x="6318504" y="495604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17 checks: SCITT, AIR/TDX, sessions and Sello</a:t>
            </a:r>
          </a:p>
        </p:txBody>
      </p:sp>
      <p:sp>
        <p:nvSpPr>
          <p:cNvPr id="65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468112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