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710" r:id="rId2"/>
  </p:sldMasterIdLst>
  <p:notesMasterIdLst>
    <p:notesMasterId r:id="rId8"/>
  </p:notesMasterIdLst>
  <p:sldIdLst>
    <p:sldId id="256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0D1E"/>
    <a:srgbClr val="9013FE"/>
    <a:srgbClr val="1F90CC"/>
    <a:srgbClr val="434343"/>
    <a:srgbClr val="C40E02"/>
    <a:srgbClr val="FFFFFF"/>
    <a:srgbClr val="49CB40"/>
    <a:srgbClr val="C50E1F"/>
    <a:srgbClr val="B2B2B2"/>
    <a:srgbClr val="71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6327"/>
  </p:normalViewPr>
  <p:slideViewPr>
    <p:cSldViewPr snapToGrid="0" snapToObjects="1">
      <p:cViewPr varScale="1">
        <p:scale>
          <a:sx n="81" d="100"/>
          <a:sy n="81" d="100"/>
        </p:scale>
        <p:origin x="5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53" d="100"/>
          <a:sy n="153" d="100"/>
        </p:scale>
        <p:origin x="4920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180F-3EA1-4748-B4F4-956BB5176995}" type="datetimeFigureOut">
              <a:rPr lang="de-DE" smtClean="0"/>
              <a:t>16.06.2025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3961-1900-1342-BF9B-82C3215CD3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9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VARIANT B</a:t>
            </a:r>
          </a:p>
          <a:p/>
          <a:p>
            <a:r>
              <a:rPr lang="en-US"/>
              <a:t>PURPOSE</a:t>
            </a:r>
          </a:p>
          <a:p>
            <a:r>
              <a:rPr lang="en-US"/>
              <a:t>Alternative replacement for the current test-category slide. Unit/component and</a:t>
            </a:r>
          </a:p>
          <a:p>
            <a:r>
              <a:rPr lang="en-US"/>
              <a:t>local integration tests are grouped together as CI checks and divided by the</a:t>
            </a:r>
          </a:p>
          <a:p>
            <a:r>
              <a:rPr lang="en-US"/>
              <a:t>subject under test. External scenario types are a separate counting unit.</a:t>
            </a:r>
          </a:p>
          <a:p>
            <a:r>
              <a:rPr lang="en-US"/>
              <a:t>Static code/configuration inspection on 27 September 2026; no tests or cloud</a:t>
            </a:r>
          </a:p>
          <a:p>
            <a:r>
              <a:rPr lang="en-US"/>
              <a:t>campaigns were executed to build these slides. Counts are implementation counts,</a:t>
            </a:r>
          </a:p>
          <a:p>
            <a:r>
              <a:rPr lang="en-US"/>
              <a:t>not passed executions or independent empirical samples. The current presentation</a:t>
            </a:r>
          </a:p>
          <a:p>
            <a:r>
              <a:rPr lang="en-US"/>
              <a:t>and its selected test slide remain unchanged pending selection.</a:t>
            </a:r>
          </a:p>
          <a:p/>
          <a:p>
            <a:r>
              <a:rPr lang="en-US"/>
              <a:t>CI BOUNDARY AND COUNTING</a:t>
            </a:r>
          </a:p>
          <a:p>
            <a:r>
              <a:rPr lang="en-US"/>
              <a:t>878 unique CI-selected declarations: 617 Python, 145 Solidity and 116 Node tests.</a:t>
            </a:r>
          </a:p>
          <a:p>
            <a:r>
              <a:rPr lang="en-US"/>
              <a:t>The seven groups are mutually exclusive assignments of test source areas. Each</a:t>
            </a:r>
          </a:p>
          <a:p>
            <a:r>
              <a:rPr lang="en-US"/>
              <a:t>declaration counts once; parametrization, loops, repeated workflow invocations</a:t>
            </a:r>
          </a:p>
          <a:p>
            <a:r>
              <a:rPr lang="en-US"/>
              <a:t>and subtests are not expanded. Conditional skips remain included. The scope is</a:t>
            </a:r>
          </a:p>
          <a:p>
            <a:r>
              <a:rPr lang="en-US"/>
              <a:t>vita-fl/.github/workflows/ci.yml and the explicit test entrypoints it selects.</a:t>
            </a:r>
          </a:p>
          <a:p>
            <a:r>
              <a:rPr lang="en-US"/>
              <a:t>The node job installs Foundry and requires the Anvil transaction tests. The CI</a:t>
            </a:r>
          </a:p>
          <a:p>
            <a:r>
              <a:rPr lang="en-US"/>
              <a:t>runs on GitHub-hosted Ubuntu for push/PR on main and phala_app_key or manual</a:t>
            </a:r>
          </a:p>
          <a:p>
            <a:r>
              <a:rPr lang="en-US"/>
              <a:t>workflow dispatch. Lint, formatting, build steps and the two runtime readiness</a:t>
            </a:r>
          </a:p>
          <a:p>
            <a:r>
              <a:rPr lang="en-US"/>
              <a:t>checks for Anvil/IPFS are additional pipeline checks, excluded from the 878.</a:t>
            </a:r>
          </a:p>
          <a:p>
            <a:r>
              <a:rPr lang="en-US"/>
              <a:t>The previous 808 inventory is historical. No new unit/integration split is</a:t>
            </a:r>
          </a:p>
          <a:p>
            <a:r>
              <a:rPr lang="en-US"/>
              <a:t>asserted: new tests require fresh assertion-level classification if that split</a:t>
            </a:r>
          </a:p>
          <a:p>
            <a:r>
              <a:rPr lang="en-US"/>
              <a:t>is ever needed again. Unit/component/integration are merged by explicit request.</a:t>
            </a:r>
          </a:p>
          <a:p>
            <a:r>
              <a:rPr lang="en-US"/>
              <a:t>Tests of the TD, SMEW and SMA tools are not silently added to the vita-fl CI count.</a:t>
            </a:r>
          </a:p>
          <a:p/>
          <a:p>
            <a:r>
              <a:rPr lang="en-US"/>
              <a:t>EXTERNAL SCOPE AND CONFIGURATION</a:t>
            </a:r>
          </a:p>
          <a:p>
            <a:r>
              <a:rPr lang="en-US"/>
              <a:t>The TD has nine CLI modes. Eight are considered here: configuration, normal,</a:t>
            </a:r>
          </a:p>
          <a:p>
            <a:r>
              <a:rPr lang="en-US"/>
              <a:t>early, partial, zero, recovery, inference and security. The optional manipulation</a:t>
            </a:r>
          </a:p>
          <a:p>
            <a:r>
              <a:rPr lang="en-US"/>
              <a:t>mode is excluded according to the user's requested scope. Tool-order attacks are</a:t>
            </a:r>
          </a:p>
          <a:p>
            <a:r>
              <a:rPr lang="en-US"/>
              <a:t>also excluded. Eight implemented modes do not mean eight passed live scenarios.</a:t>
            </a:r>
          </a:p>
          <a:p>
            <a:r>
              <a:rPr lang="en-US"/>
              <a:t>The selected local Phala profile has six workers, five successful training rounds,</a:t>
            </a:r>
          </a:p>
          <a:p>
            <a:r>
              <a:rPr lang="en-US"/>
              <a:t>client limit five, epoch one, a 45-second collection deadline, a 3600-second</a:t>
            </a:r>
          </a:p>
          <a:p>
            <a:r>
              <a:rPr lang="en-US"/>
              <a:t>scenario deadline, one-second polling, deployed-agent inference, participant</a:t>
            </a:r>
          </a:p>
          <a:p>
            <a:r>
              <a:rPr lang="en-US"/>
              <a:t>coverage and required transparency audit. Configuration is a setup-only check;</a:t>
            </a:r>
          </a:p>
          <a:p>
            <a:r>
              <a:rPr lang="en-US"/>
              <a:t>the five-round setting applies to training scenarios. train_before_inference is</a:t>
            </a:r>
          </a:p>
          <a:p>
            <a:r>
              <a:rPr lang="en-US"/>
              <a:t>enabled for the inference-only mode in this profile. Bootstrap and aborted</a:t>
            </a:r>
          </a:p>
          <a:p>
            <a:r>
              <a:rPr lang="en-US"/>
              <a:t>attempts are excluded from the five successful rounds. Other runs can vary the</a:t>
            </a:r>
          </a:p>
          <a:p>
            <a:r>
              <a:rPr lang="en-US"/>
              <a:t>parameters, so the profile is not attributed to every historical result.</a:t>
            </a:r>
          </a:p>
          <a:p>
            <a:r>
              <a:rPr lang="en-US"/>
              <a:t>SMEW schedules campaigns/repetitions and validates reports; SMA supervises the</a:t>
            </a:r>
          </a:p>
          <a:p>
            <a:r>
              <a:rPr lang="en-US"/>
              <a:t>local TD subprocess and retrieves Prometheus data for the run window. The TD</a:t>
            </a:r>
          </a:p>
          <a:p>
            <a:r>
              <a:rPr lang="en-US"/>
              <a:t>drives the remote VITA-FL deployment, checks assertions and produces the verdict.</a:t>
            </a:r>
          </a:p>
          <a:p>
            <a:r>
              <a:rPr lang="en-US"/>
              <a:t>No general energy measurement is claimed. Measurements currently include round</a:t>
            </a:r>
          </a:p>
          <a:p>
            <a:r>
              <a:rPr lang="en-US"/>
              <a:t>progress, aborted attempts and transaction gas.</a:t>
            </a:r>
          </a:p>
          <a:p/>
          <a:p>
            <a:r>
              <a:rPr lang="en-US"/>
              <a:t>EXTERNAL ORACLES</a:t>
            </a:r>
          </a:p>
          <a:p>
            <a:r>
              <a:rPr lang="en-US"/>
              <a:t>configuration: five training parameters round-trip; invalid timeouts are rejected</a:t>
            </a:r>
          </a:p>
          <a:p>
            <a:r>
              <a:rPr lang="en-US"/>
              <a:t>with HTTP 400 and the saved configuration remains unchanged.</a:t>
            </a:r>
          </a:p>
          <a:p>
            <a:r>
              <a:rPr lang="en-US"/>
              <a:t>normal: completed nonempty rounds, count/root/policy consistency, unchanged frozen</a:t>
            </a:r>
          </a:p>
          <a:p>
            <a:r>
              <a:rPr lang="en-US"/>
              <a:t>roster and all-six-worker participation; finalized-model inference is verified.</a:t>
            </a:r>
          </a:p>
          <a:p>
            <a:r>
              <a:rPr lang="en-US"/>
              <a:t>early/partial/zero: a cooperative admin-controlled upload gate at the deployed</a:t>
            </a:r>
          </a:p>
          <a:p>
            <a:r>
              <a:rPr lang="en-US"/>
              <a:t>receiver limits accepted clients in the first training round. Respectively 5,</a:t>
            </a:r>
          </a:p>
          <a:p>
            <a:r>
              <a:rPr lang="en-US"/>
              <a:t>2 or 0 accepted inputs establish early closure, exact partial publication after</a:t>
            </a:r>
          </a:p>
          <a:p>
            <a:r>
              <a:rPr lang="en-US"/>
              <a:t>the deadline, or no publication followed by quorum recovery. This is explicit</a:t>
            </a:r>
          </a:p>
          <a:p>
            <a:r>
              <a:rPr lang="en-US"/>
              <a:t>test instrumentation; the gate is not described as a network outage. The receipt</a:t>
            </a:r>
          </a:p>
          <a:p>
            <a:r>
              <a:rPr lang="en-US"/>
              <a:t>of a gate command alone does not establish the expected contribution set.</a:t>
            </a:r>
          </a:p>
          <a:p>
            <a:r>
              <a:rPr lang="en-US"/>
              <a:t>recovery: stop and confirm the selected aggregator CVM, observe three distinct</a:t>
            </a:r>
          </a:p>
          <a:p>
            <a:r>
              <a:rPr lang="en-US"/>
              <a:t>eligible reports out of five voters, keep the old state below quorum, then prove</a:t>
            </a:r>
          </a:p>
          <a:p>
            <a:r>
              <a:rPr lang="en-US"/>
              <a:t>abort/reselection on the third vote and successful resumed publication. Restore</a:t>
            </a:r>
          </a:p>
          <a:p>
            <a:r>
              <a:rPr lang="en-US"/>
              <a:t>the CVM; cleanup failure invalidates the run. The local aggregator timer is not</a:t>
            </a:r>
          </a:p>
          <a:p>
            <a:r>
              <a:rPr lang="en-US"/>
              <a:t>replaced or advanced by the driver. Contract vote conditions remain separate.</a:t>
            </a:r>
          </a:p>
          <a:p>
            <a:r>
              <a:rPr lang="en-US"/>
              <a:t>security: 16 required checks comprise five UI/control checks, four read-only EVM</a:t>
            </a:r>
          </a:p>
          <a:p>
            <a:r>
              <a:rPr lang="en-US"/>
              <a:t>guards, one positive inference control and six inference authorization negatives.</a:t>
            </a:r>
          </a:p>
          <a:p>
            <a:r>
              <a:rPr lang="en-US"/>
              <a:t>EVM guards use eth_call; they do not submit an attack transaction. Wrong reasons,</a:t>
            </a:r>
          </a:p>
          <a:p>
            <a:r>
              <a:rPr lang="en-US"/>
              <a:t>TLS/network errors and unavailable positive controls do not count as rejection.</a:t>
            </a:r>
          </a:p>
          <a:p>
            <a:r>
              <a:rPr lang="en-US"/>
              <a:t>Audit: 17 additional checks are 10 SCITT publisher/inclusion checks, one AIR/TDX,</a:t>
            </a:r>
          </a:p>
          <a:p>
            <a:r>
              <a:rPr lang="en-US"/>
              <a:t>three attestation sessions and three Sello receipts. Re-fetch published bytes,</a:t>
            </a:r>
          </a:p>
          <a:p>
            <a:r>
              <a:rPr lang="en-US"/>
              <a:t>verify bindings to this run and local trust policy, decrypt owner-authorized</a:t>
            </a:r>
          </a:p>
          <a:p>
            <a:r>
              <a:rPr lang="en-US"/>
              <a:t>Sello context and request fresh Phala quote appraisal. This is independent</a:t>
            </a:r>
          </a:p>
          <a:p>
            <a:r>
              <a:rPr lang="en-US"/>
              <a:t>execution using production verifier primitives, not an independent Intel DCAP</a:t>
            </a:r>
          </a:p>
          <a:p>
            <a:r>
              <a:rPr lang="en-US"/>
              <a:t>implementation or a reconstruction of the original TLS/PoP handshake.</a:t>
            </a:r>
          </a:p>
          <a:p>
            <a:r>
              <a:rPr lang="en-US"/>
              <a:t>The audit spans inference-enabled scenarios; it is not a ninth scenario mode.</a:t>
            </a:r>
          </a:p>
          <a:p>
            <a:r>
              <a:rPr lang="en-US"/>
              <a:t>16 security checks and 17 audit checks are not added to the scenario count.</a:t>
            </a:r>
          </a:p>
          <a:p/>
          <a:p>
            <a:r>
              <a:rPr lang="en-US"/>
              <a:t>INTERPRETATION</a:t>
            </a:r>
          </a:p>
          <a:p>
            <a:r>
              <a:rPr lang="en-US"/>
              <a:t>This slide inventories configured tests, not clinical quality, LLM reasoning,</a:t>
            </a:r>
          </a:p>
          <a:p>
            <a:r>
              <a:rPr lang="en-US"/>
              <a:t>load capacity or complete coverage of Chapter 4 threats. Configuration and code</a:t>
            </a:r>
          </a:p>
          <a:p>
            <a:r>
              <a:rPr lang="en-US"/>
              <a:t>availability are kept separate from observed live outcomes. Existing reports</a:t>
            </a:r>
          </a:p>
          <a:p>
            <a:r>
              <a:rPr lang="en-US"/>
              <a:t>contain a five-round Recovery PASS and a complete 17-check audit; early, partial,</a:t>
            </a:r>
          </a:p>
          <a:p>
            <a:r>
              <a:rPr lang="en-US"/>
              <a:t>zero and security must not be described as demonstrated successes from that run.</a:t>
            </a:r>
          </a:p>
          <a:p>
            <a:r>
              <a:rPr lang="en-US"/>
              <a:t>A cross-boundary mapping in variant B connects related questions, not equivalent</a:t>
            </a:r>
          </a:p>
          <a:p>
            <a:r>
              <a:rPr lang="en-US"/>
              <a:t>coverage or one-to-one test cases. Some code properties have no live fault probe.</a:t>
            </a:r>
          </a:p>
          <a:p/>
          <a:p>
            <a:r>
              <a:rPr lang="en-US"/>
              <a:t>SOURCE MAP</a:t>
            </a:r>
          </a:p>
          <a:p>
            <a:r>
              <a:rPr lang="en-US"/>
              <a:t>Full current CI declaration manifest and source hashes: ci-inventory.json.</a:t>
            </a:r>
          </a:p>
          <a:p>
            <a:r>
              <a:rPr lang="en-US"/>
              <a:t>External scenario groups and public configuration: external-scope.json.</a:t>
            </a:r>
          </a:p>
          <a:p>
            <a:r>
              <a:rPr lang="en-US"/>
              <a:t>Presentation-facing labels/mapping: slide-data.json.</a:t>
            </a:r>
          </a:p>
          <a:p>
            <a:r>
              <a:rPr lang="en-US"/>
              <a:t>vita-fl/.github/workflows/ci.yml</a:t>
            </a:r>
          </a:p>
          <a:p>
            <a:r>
              <a:rPr lang="en-US"/>
              <a:t>vita-fl-td/src/vita_fl_td/config.py</a:t>
            </a:r>
          </a:p>
          <a:p>
            <a:r>
              <a:rPr lang="en-US"/>
              <a:t>vita-fl-td/src/vita_fl_td/runner.py</a:t>
            </a:r>
          </a:p>
          <a:p>
            <a:r>
              <a:rPr lang="en-US"/>
              <a:t>vita-fl-td/src/vita_fl_td/quorum.py</a:t>
            </a:r>
          </a:p>
          <a:p>
            <a:r>
              <a:rPr lang="en-US"/>
              <a:t>vita-fl-td/src/vita_fl_td/security_bridge.py</a:t>
            </a:r>
          </a:p>
          <a:p>
            <a:r>
              <a:rPr lang="en-US"/>
              <a:t>vita-fl-td/src/vita_fl_td/transparency_audit.py</a:t>
            </a:r>
          </a:p>
          <a:p>
            <a:r>
              <a:rPr lang="en-US"/>
              <a:t>vita-fl-td/docs/security-scenarios.md</a:t>
            </a:r>
          </a:p>
          <a:p>
            <a:r>
              <a:rPr lang="en-US"/>
              <a:t>vita-fl-td/docs/transparency-audit.md</a:t>
            </a:r>
          </a:p>
          <a:p>
            <a:r>
              <a:rPr lang="en-US"/>
              <a:t>SMEW/README.md</a:t>
            </a:r>
          </a:p>
          <a:p>
            <a:r>
              <a:rPr lang="en-US"/>
              <a:t>sustainability-measurement-agent/sma/sma.py</a:t>
            </a:r>
          </a:p>
          <a:p/>
          <a:p/>
          <a:p>
            <a:r>
              <a:rPr lang="en-US"/>
              <a:t>GROUP COUNTS</a:t>
            </a:r>
          </a:p>
          <a:p>
            <a:r>
              <a:rPr lang="en-US"/>
              <a:t>Learning &amp; model integrity: 78 — Data splits · aggregation math · model bindings</a:t>
            </a:r>
          </a:p>
          <a:p>
            <a:r>
              <a:rPr lang="en-US"/>
              <a:t>Round control &amp; recovery: 117 — Local timer · input closure · quorum · publication</a:t>
            </a:r>
          </a:p>
          <a:p>
            <a:r>
              <a:rPr lang="en-US"/>
              <a:t>Identity &amp; secure transport: 240 — Admission · quotes · keys · TLS · authorization</a:t>
            </a:r>
          </a:p>
          <a:p>
            <a:r>
              <a:rPr lang="en-US"/>
              <a:t>Inference &amp; agent workflow: 49 — MCP tools · job ownership · TEE/ZK workflow</a:t>
            </a:r>
          </a:p>
          <a:p>
            <a:r>
              <a:rPr lang="en-US"/>
              <a:t>Receipts &amp; provenance: 64 — AIR / Sello / SCITT · signatures · data provenance</a:t>
            </a:r>
          </a:p>
          <a:p>
            <a:r>
              <a:rPr lang="en-US"/>
              <a:t>Runtime control &amp; telemetry: 107 — Configuration · upload gates · worker telemetry</a:t>
            </a:r>
          </a:p>
          <a:p>
            <a:r>
              <a:rPr lang="en-US"/>
              <a:t>Deployment &amp; packaging: 223 — Image policy · revision order · Docker / Terraform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-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3">
            <a:extLst>
              <a:ext uri="{FF2B5EF4-FFF2-40B4-BE49-F238E27FC236}">
                <a16:creationId xmlns:a16="http://schemas.microsoft.com/office/drawing/2014/main" id="{9A036687-F2BF-7B4C-A352-6E1D355D125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6479" y="1260572"/>
            <a:ext cx="8885359" cy="3273604"/>
          </a:xfrm>
          <a:custGeom>
            <a:avLst/>
            <a:gdLst>
              <a:gd name="connsiteX0" fmla="*/ 0 w 8328660"/>
              <a:gd name="connsiteY0" fmla="*/ 0 h 3143274"/>
              <a:gd name="connsiteX1" fmla="*/ 8328660 w 8328660"/>
              <a:gd name="connsiteY1" fmla="*/ 0 h 3143274"/>
              <a:gd name="connsiteX2" fmla="*/ 8328660 w 8328660"/>
              <a:gd name="connsiteY2" fmla="*/ 3143274 h 3143274"/>
              <a:gd name="connsiteX3" fmla="*/ 0 w 8328660"/>
              <a:gd name="connsiteY3" fmla="*/ 3143274 h 3143274"/>
              <a:gd name="connsiteX4" fmla="*/ 0 w 8328660"/>
              <a:gd name="connsiteY4" fmla="*/ 0 h 314327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8660 w 8336280"/>
              <a:gd name="connsiteY2" fmla="*/ 374525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1040 w 8336280"/>
              <a:gd name="connsiteY2" fmla="*/ 324233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286029 h 3429303"/>
              <a:gd name="connsiteX1" fmla="*/ 8336280 w 8336280"/>
              <a:gd name="connsiteY1" fmla="*/ 0 h 3429303"/>
              <a:gd name="connsiteX2" fmla="*/ 8321040 w 8336280"/>
              <a:gd name="connsiteY2" fmla="*/ 2926383 h 3429303"/>
              <a:gd name="connsiteX3" fmla="*/ 0 w 8336280"/>
              <a:gd name="connsiteY3" fmla="*/ 3429303 h 3429303"/>
              <a:gd name="connsiteX4" fmla="*/ 0 w 8336280"/>
              <a:gd name="connsiteY4" fmla="*/ 286029 h 3429303"/>
              <a:gd name="connsiteX0" fmla="*/ 0 w 8339997"/>
              <a:gd name="connsiteY0" fmla="*/ 312049 h 3429303"/>
              <a:gd name="connsiteX1" fmla="*/ 8339997 w 8339997"/>
              <a:gd name="connsiteY1" fmla="*/ 0 h 3429303"/>
              <a:gd name="connsiteX2" fmla="*/ 8324757 w 8339997"/>
              <a:gd name="connsiteY2" fmla="*/ 2926383 h 3429303"/>
              <a:gd name="connsiteX3" fmla="*/ 3717 w 8339997"/>
              <a:gd name="connsiteY3" fmla="*/ 3429303 h 3429303"/>
              <a:gd name="connsiteX4" fmla="*/ 0 w 8339997"/>
              <a:gd name="connsiteY4" fmla="*/ 312049 h 3429303"/>
              <a:gd name="connsiteX0" fmla="*/ 0 w 8343172"/>
              <a:gd name="connsiteY0" fmla="*/ 305699 h 3429303"/>
              <a:gd name="connsiteX1" fmla="*/ 8343172 w 8343172"/>
              <a:gd name="connsiteY1" fmla="*/ 0 h 3429303"/>
              <a:gd name="connsiteX2" fmla="*/ 8327932 w 8343172"/>
              <a:gd name="connsiteY2" fmla="*/ 2926383 h 3429303"/>
              <a:gd name="connsiteX3" fmla="*/ 6892 w 8343172"/>
              <a:gd name="connsiteY3" fmla="*/ 3429303 h 3429303"/>
              <a:gd name="connsiteX4" fmla="*/ 0 w 8343172"/>
              <a:gd name="connsiteY4" fmla="*/ 305699 h 3429303"/>
              <a:gd name="connsiteX0" fmla="*/ 0 w 8349522"/>
              <a:gd name="connsiteY0" fmla="*/ 30887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8874 h 3429303"/>
              <a:gd name="connsiteX0" fmla="*/ 0 w 8352697"/>
              <a:gd name="connsiteY0" fmla="*/ 312049 h 3429303"/>
              <a:gd name="connsiteX1" fmla="*/ 8352697 w 8352697"/>
              <a:gd name="connsiteY1" fmla="*/ 0 h 3429303"/>
              <a:gd name="connsiteX2" fmla="*/ 8337457 w 8352697"/>
              <a:gd name="connsiteY2" fmla="*/ 2926383 h 3429303"/>
              <a:gd name="connsiteX3" fmla="*/ 16417 w 8352697"/>
              <a:gd name="connsiteY3" fmla="*/ 3429303 h 3429303"/>
              <a:gd name="connsiteX4" fmla="*/ 0 w 8352697"/>
              <a:gd name="connsiteY4" fmla="*/ 312049 h 3429303"/>
              <a:gd name="connsiteX0" fmla="*/ 0 w 8349522"/>
              <a:gd name="connsiteY0" fmla="*/ 30252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2524 h 3429303"/>
              <a:gd name="connsiteX0" fmla="*/ 0 w 8349522"/>
              <a:gd name="connsiteY0" fmla="*/ 302524 h 3226103"/>
              <a:gd name="connsiteX1" fmla="*/ 8349522 w 8349522"/>
              <a:gd name="connsiteY1" fmla="*/ 0 h 3226103"/>
              <a:gd name="connsiteX2" fmla="*/ 8334282 w 8349522"/>
              <a:gd name="connsiteY2" fmla="*/ 2926383 h 3226103"/>
              <a:gd name="connsiteX3" fmla="*/ 13242 w 8349522"/>
              <a:gd name="connsiteY3" fmla="*/ 3226103 h 3226103"/>
              <a:gd name="connsiteX4" fmla="*/ 0 w 8349522"/>
              <a:gd name="connsiteY4" fmla="*/ 302524 h 3226103"/>
              <a:gd name="connsiteX0" fmla="*/ 0 w 8883911"/>
              <a:gd name="connsiteY0" fmla="*/ 326274 h 3226103"/>
              <a:gd name="connsiteX1" fmla="*/ 8883911 w 8883911"/>
              <a:gd name="connsiteY1" fmla="*/ 0 h 3226103"/>
              <a:gd name="connsiteX2" fmla="*/ 8868671 w 8883911"/>
              <a:gd name="connsiteY2" fmla="*/ 2926383 h 3226103"/>
              <a:gd name="connsiteX3" fmla="*/ 547631 w 8883911"/>
              <a:gd name="connsiteY3" fmla="*/ 3226103 h 3226103"/>
              <a:gd name="connsiteX4" fmla="*/ 0 w 8883911"/>
              <a:gd name="connsiteY4" fmla="*/ 326274 h 3226103"/>
              <a:gd name="connsiteX0" fmla="*/ 0 w 8872036"/>
              <a:gd name="connsiteY0" fmla="*/ 326274 h 3226103"/>
              <a:gd name="connsiteX1" fmla="*/ 8872036 w 8872036"/>
              <a:gd name="connsiteY1" fmla="*/ 0 h 3226103"/>
              <a:gd name="connsiteX2" fmla="*/ 8856796 w 8872036"/>
              <a:gd name="connsiteY2" fmla="*/ 2926383 h 3226103"/>
              <a:gd name="connsiteX3" fmla="*/ 535756 w 8872036"/>
              <a:gd name="connsiteY3" fmla="*/ 3226103 h 3226103"/>
              <a:gd name="connsiteX4" fmla="*/ 0 w 8872036"/>
              <a:gd name="connsiteY4" fmla="*/ 326274 h 3226103"/>
              <a:gd name="connsiteX0" fmla="*/ 34357 w 8906393"/>
              <a:gd name="connsiteY0" fmla="*/ 326274 h 3273604"/>
              <a:gd name="connsiteX1" fmla="*/ 8906393 w 8906393"/>
              <a:gd name="connsiteY1" fmla="*/ 0 h 3273604"/>
              <a:gd name="connsiteX2" fmla="*/ 8891153 w 8906393"/>
              <a:gd name="connsiteY2" fmla="*/ 2926383 h 3273604"/>
              <a:gd name="connsiteX3" fmla="*/ 98 w 8906393"/>
              <a:gd name="connsiteY3" fmla="*/ 3273604 h 3273604"/>
              <a:gd name="connsiteX4" fmla="*/ 34357 w 8906393"/>
              <a:gd name="connsiteY4" fmla="*/ 326274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1367 w 8907662"/>
              <a:gd name="connsiteY3" fmla="*/ 3273604 h 3273604"/>
              <a:gd name="connsiteX4" fmla="*/ 0 w 8907662"/>
              <a:gd name="connsiteY4" fmla="*/ 338149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32591 w 8907662"/>
              <a:gd name="connsiteY3" fmla="*/ 3273604 h 3273604"/>
              <a:gd name="connsiteX4" fmla="*/ 0 w 8907662"/>
              <a:gd name="connsiteY4" fmla="*/ 338149 h 3273604"/>
              <a:gd name="connsiteX0" fmla="*/ 0 w 8885359"/>
              <a:gd name="connsiteY0" fmla="*/ 338149 h 3273604"/>
              <a:gd name="connsiteX1" fmla="*/ 8885359 w 8885359"/>
              <a:gd name="connsiteY1" fmla="*/ 0 h 3273604"/>
              <a:gd name="connsiteX2" fmla="*/ 8870119 w 8885359"/>
              <a:gd name="connsiteY2" fmla="*/ 2926383 h 3273604"/>
              <a:gd name="connsiteX3" fmla="*/ 10288 w 8885359"/>
              <a:gd name="connsiteY3" fmla="*/ 3273604 h 3273604"/>
              <a:gd name="connsiteX4" fmla="*/ 0 w 8885359"/>
              <a:gd name="connsiteY4" fmla="*/ 338149 h 327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5359" h="3273604">
                <a:moveTo>
                  <a:pt x="0" y="338149"/>
                </a:moveTo>
                <a:lnTo>
                  <a:pt x="8885359" y="0"/>
                </a:lnTo>
                <a:lnTo>
                  <a:pt x="8870119" y="2926383"/>
                </a:lnTo>
                <a:lnTo>
                  <a:pt x="10288" y="3273604"/>
                </a:lnTo>
                <a:cubicBezTo>
                  <a:pt x="7991" y="2232403"/>
                  <a:pt x="2297" y="1379350"/>
                  <a:pt x="0" y="338149"/>
                </a:cubicBezTo>
                <a:close/>
              </a:path>
            </a:pathLst>
          </a:custGeom>
          <a:solidFill>
            <a:srgbClr val="434343"/>
          </a:solidFill>
        </p:spPr>
        <p:txBody>
          <a:bodyPr lIns="576000"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Platzhalter: Bild Titelfolie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18C730E-B3F8-944F-8BC2-E236CE7245E4}"/>
              </a:ext>
            </a:extLst>
          </p:cNvPr>
          <p:cNvSpPr txBox="1"/>
          <p:nvPr userDrawn="1"/>
        </p:nvSpPr>
        <p:spPr>
          <a:xfrm>
            <a:off x="-2031023" y="2620375"/>
            <a:ext cx="202130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Platzhalterbild ersetzen:</a:t>
            </a:r>
            <a:b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löschen und durch neues Bild ersetzen &gt; über Bildformat &gt; Zuschneiden im Rahmen ggf. nachpositionieren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Copyrightangabe: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Korrektes Copyright angeben (in der Regel Name des*der Fotograf*in), Textfarbe je nach Hintergrund weiß oder schwarz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7B17960-7FEA-3C44-9F5C-B38F41DF0CD3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V1: Titelfolie mit Bild</a:t>
            </a:r>
          </a:p>
        </p:txBody>
      </p:sp>
    </p:spTree>
    <p:extLst>
      <p:ext uri="{BB962C8B-B14F-4D97-AF65-F5344CB8AC3E}">
        <p14:creationId xmlns:p14="http://schemas.microsoft.com/office/powerpoint/2010/main" val="2756911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-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740704DC-2971-A248-9827-94150E3D8746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V2: Titelfolie ohne Bild</a:t>
            </a:r>
          </a:p>
        </p:txBody>
      </p:sp>
    </p:spTree>
    <p:extLst>
      <p:ext uri="{BB962C8B-B14F-4D97-AF65-F5344CB8AC3E}">
        <p14:creationId xmlns:p14="http://schemas.microsoft.com/office/powerpoint/2010/main" val="150570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00" y="3175200"/>
            <a:ext cx="9721850" cy="2124075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9DAAF3EE-A5B2-F647-838D-0DFAACB4D5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00" y="1371600"/>
            <a:ext cx="9721850" cy="15263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endParaRPr lang="de-DE" dirty="0"/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1431473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-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FA8C39-046E-E34F-8E80-7B9D099D7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82400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BAC5633-896E-0F44-8840-CC87B5BE704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B97D328-84F0-2C4A-BBAB-1E79CDFE9B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66438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278302A-602E-374F-9D64-8FCFB4DC60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64399"/>
            <a:ext cx="3981600" cy="41112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7DD2921-214D-B547-93DD-EB9D2A99CC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32764340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2.xml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4">
            <a:extLst>
              <a:ext uri="{FF2B5EF4-FFF2-40B4-BE49-F238E27FC236}">
                <a16:creationId xmlns:a16="http://schemas.microsoft.com/office/drawing/2014/main" id="{B97C5655-F240-634C-9B7B-B6181A1B3AF5}"/>
              </a:ext>
            </a:extLst>
          </p:cNvPr>
          <p:cNvSpPr/>
          <p:nvPr userDrawn="1"/>
        </p:nvSpPr>
        <p:spPr>
          <a:xfrm>
            <a:off x="0" y="1668462"/>
            <a:ext cx="12192000" cy="5189537"/>
          </a:xfrm>
          <a:custGeom>
            <a:avLst/>
            <a:gdLst>
              <a:gd name="connsiteX0" fmla="*/ 0 w 12192000"/>
              <a:gd name="connsiteY0" fmla="*/ 0 h 4760912"/>
              <a:gd name="connsiteX1" fmla="*/ 12192000 w 12192000"/>
              <a:gd name="connsiteY1" fmla="*/ 0 h 4760912"/>
              <a:gd name="connsiteX2" fmla="*/ 12192000 w 12192000"/>
              <a:gd name="connsiteY2" fmla="*/ 4760912 h 4760912"/>
              <a:gd name="connsiteX3" fmla="*/ 0 w 12192000"/>
              <a:gd name="connsiteY3" fmla="*/ 4760912 h 4760912"/>
              <a:gd name="connsiteX4" fmla="*/ 0 w 12192000"/>
              <a:gd name="connsiteY4" fmla="*/ 0 h 4760912"/>
              <a:gd name="connsiteX0" fmla="*/ 0 w 12192000"/>
              <a:gd name="connsiteY0" fmla="*/ 212725 h 4973637"/>
              <a:gd name="connsiteX1" fmla="*/ 12192000 w 12192000"/>
              <a:gd name="connsiteY1" fmla="*/ 0 h 4973637"/>
              <a:gd name="connsiteX2" fmla="*/ 12192000 w 12192000"/>
              <a:gd name="connsiteY2" fmla="*/ 4973637 h 4973637"/>
              <a:gd name="connsiteX3" fmla="*/ 0 w 12192000"/>
              <a:gd name="connsiteY3" fmla="*/ 4973637 h 4973637"/>
              <a:gd name="connsiteX4" fmla="*/ 0 w 12192000"/>
              <a:gd name="connsiteY4" fmla="*/ 212725 h 4973637"/>
              <a:gd name="connsiteX0" fmla="*/ 0 w 12192000"/>
              <a:gd name="connsiteY0" fmla="*/ 428625 h 5189537"/>
              <a:gd name="connsiteX1" fmla="*/ 12192000 w 12192000"/>
              <a:gd name="connsiteY1" fmla="*/ 0 h 5189537"/>
              <a:gd name="connsiteX2" fmla="*/ 12192000 w 12192000"/>
              <a:gd name="connsiteY2" fmla="*/ 5189537 h 5189537"/>
              <a:gd name="connsiteX3" fmla="*/ 0 w 12192000"/>
              <a:gd name="connsiteY3" fmla="*/ 5189537 h 5189537"/>
              <a:gd name="connsiteX4" fmla="*/ 0 w 12192000"/>
              <a:gd name="connsiteY4" fmla="*/ 428625 h 518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189537">
                <a:moveTo>
                  <a:pt x="0" y="428625"/>
                </a:moveTo>
                <a:lnTo>
                  <a:pt x="12192000" y="0"/>
                </a:lnTo>
                <a:lnTo>
                  <a:pt x="12192000" y="5189537"/>
                </a:lnTo>
                <a:lnTo>
                  <a:pt x="0" y="5189537"/>
                </a:lnTo>
                <a:lnTo>
                  <a:pt x="0" y="42862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8DDEEBD-D00D-1249-9E02-EDC0548BFCA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8168" y="378741"/>
            <a:ext cx="2250000" cy="774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D20A730-187A-274D-A0E6-8412686F8775}"/>
              </a:ext>
            </a:extLst>
          </p:cNvPr>
          <p:cNvSpPr txBox="1"/>
          <p:nvPr userDrawn="1"/>
        </p:nvSpPr>
        <p:spPr>
          <a:xfrm>
            <a:off x="12292755" y="5534561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Titelseiten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Direkt auf dieser Folie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</p:spTree>
    <p:extLst>
      <p:ext uri="{BB962C8B-B14F-4D97-AF65-F5344CB8AC3E}">
        <p14:creationId xmlns:p14="http://schemas.microsoft.com/office/powerpoint/2010/main" val="307969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3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4" pos="1232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663" userDrawn="1">
          <p15:clr>
            <a:srgbClr val="F26B43"/>
          </p15:clr>
        </p15:guide>
        <p15:guide id="7" orient="horz" pos="1003" userDrawn="1">
          <p15:clr>
            <a:srgbClr val="F26B43"/>
          </p15:clr>
        </p15:guide>
        <p15:guide id="8" orient="horz" pos="1321" userDrawn="1">
          <p15:clr>
            <a:srgbClr val="F26B43"/>
          </p15:clr>
        </p15:guide>
        <p15:guide id="9" orient="horz" pos="1661" userDrawn="1">
          <p15:clr>
            <a:srgbClr val="F26B43"/>
          </p15:clr>
        </p15:guide>
        <p15:guide id="10" orient="horz" pos="2001" userDrawn="1">
          <p15:clr>
            <a:srgbClr val="F26B43"/>
          </p15:clr>
        </p15:guide>
        <p15:guide id="11" orient="horz" pos="3339" userDrawn="1">
          <p15:clr>
            <a:srgbClr val="F26B43"/>
          </p15:clr>
        </p15:guide>
        <p15:guide id="12" orient="horz" pos="2319" userDrawn="1">
          <p15:clr>
            <a:srgbClr val="F26B43"/>
          </p15:clr>
        </p15:guide>
        <p15:guide id="13" orient="horz" pos="2999" userDrawn="1">
          <p15:clr>
            <a:srgbClr val="F26B43"/>
          </p15:clr>
        </p15:guide>
        <p15:guide id="14" orient="horz" pos="3657" userDrawn="1">
          <p15:clr>
            <a:srgbClr val="F26B43"/>
          </p15:clr>
        </p15:guide>
        <p15:guide id="15" orient="horz" pos="2659" userDrawn="1">
          <p15:clr>
            <a:srgbClr val="F26B43"/>
          </p15:clr>
        </p15:guide>
        <p15:guide id="16" pos="2094" userDrawn="1">
          <p15:clr>
            <a:srgbClr val="F26B43"/>
          </p15:clr>
        </p15:guide>
        <p15:guide id="17" pos="2978" userDrawn="1">
          <p15:clr>
            <a:srgbClr val="F26B43"/>
          </p15:clr>
        </p15:guide>
        <p15:guide id="18" pos="3840" userDrawn="1">
          <p15:clr>
            <a:srgbClr val="F26B43"/>
          </p15:clr>
        </p15:guide>
        <p15:guide id="19" pos="4725" userDrawn="1">
          <p15:clr>
            <a:srgbClr val="F26B43"/>
          </p15:clr>
        </p15:guide>
        <p15:guide id="20" pos="5586" userDrawn="1">
          <p15:clr>
            <a:srgbClr val="F26B43"/>
          </p15:clr>
        </p15:guide>
        <p15:guide id="21" pos="64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">
            <a:extLst>
              <a:ext uri="{FF2B5EF4-FFF2-40B4-BE49-F238E27FC236}">
                <a16:creationId xmlns:a16="http://schemas.microsoft.com/office/drawing/2014/main" id="{48266648-C51B-EA45-AE41-AF74B0A4657C}"/>
              </a:ext>
            </a:extLst>
          </p:cNvPr>
          <p:cNvSpPr/>
          <p:nvPr userDrawn="1"/>
        </p:nvSpPr>
        <p:spPr>
          <a:xfrm>
            <a:off x="0" y="5748124"/>
            <a:ext cx="12195175" cy="1109875"/>
          </a:xfrm>
          <a:custGeom>
            <a:avLst/>
            <a:gdLst>
              <a:gd name="connsiteX0" fmla="*/ 0 w 12192000"/>
              <a:gd name="connsiteY0" fmla="*/ 0 h 687600"/>
              <a:gd name="connsiteX1" fmla="*/ 12192000 w 12192000"/>
              <a:gd name="connsiteY1" fmla="*/ 0 h 687600"/>
              <a:gd name="connsiteX2" fmla="*/ 12192000 w 12192000"/>
              <a:gd name="connsiteY2" fmla="*/ 687600 h 687600"/>
              <a:gd name="connsiteX3" fmla="*/ 0 w 12192000"/>
              <a:gd name="connsiteY3" fmla="*/ 687600 h 687600"/>
              <a:gd name="connsiteX4" fmla="*/ 0 w 12192000"/>
              <a:gd name="connsiteY4" fmla="*/ 0 h 687600"/>
              <a:gd name="connsiteX0" fmla="*/ 0 w 12195175"/>
              <a:gd name="connsiteY0" fmla="*/ 422275 h 1109875"/>
              <a:gd name="connsiteX1" fmla="*/ 12195175 w 12195175"/>
              <a:gd name="connsiteY1" fmla="*/ 0 h 1109875"/>
              <a:gd name="connsiteX2" fmla="*/ 12192000 w 12195175"/>
              <a:gd name="connsiteY2" fmla="*/ 1109875 h 1109875"/>
              <a:gd name="connsiteX3" fmla="*/ 0 w 12195175"/>
              <a:gd name="connsiteY3" fmla="*/ 1109875 h 1109875"/>
              <a:gd name="connsiteX4" fmla="*/ 0 w 12195175"/>
              <a:gd name="connsiteY4" fmla="*/ 422275 h 110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5175" h="11098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A395C2-361B-A14B-9312-A16F3F6780A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14598" y="378000"/>
            <a:ext cx="1004400" cy="766068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427D4F0D-9351-B349-8187-43002862F183}"/>
              </a:ext>
            </a:extLst>
          </p:cNvPr>
          <p:cNvSpPr txBox="1"/>
          <p:nvPr userDrawn="1"/>
        </p:nvSpPr>
        <p:spPr>
          <a:xfrm>
            <a:off x="12292755" y="5612990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Folgeseiten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91FA75A-4E02-534F-A661-8216932850DD}"/>
              </a:ext>
            </a:extLst>
          </p:cNvPr>
          <p:cNvSpPr txBox="1"/>
          <p:nvPr userDrawn="1"/>
        </p:nvSpPr>
        <p:spPr>
          <a:xfrm>
            <a:off x="-2243920" y="6474756"/>
            <a:ext cx="2223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Informationen in Fußzeile ändern: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</a:t>
            </a:r>
          </a:p>
        </p:txBody>
      </p:sp>
    </p:spTree>
    <p:extLst>
      <p:ext uri="{BB962C8B-B14F-4D97-AF65-F5344CB8AC3E}">
        <p14:creationId xmlns:p14="http://schemas.microsoft.com/office/powerpoint/2010/main" val="390724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1" r:id="rId2"/>
    <p:sldLayoutId id="214748371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0" lang="en-US">
                <a:solidFill>
                  <a:srgbClr val="434343"/>
                </a:solidFill>
                <a:latin typeface="Arial"/>
              </a:rPr>
              <a:t>One system, two complementary test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>EVALUATION · CI COVERAGE AND EXTERNAL TEST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Variant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CI/external scope: 878 CI definitions  +  8 external scenario modes and a receipt audit"/>
          <p:cNvSpPr txBox="1"/>
          <p:nvPr/>
        </p:nvSpPr>
        <p:spPr>
          <a:xfrm>
            <a:off x="658368" y="1389888"/>
            <a:ext cx="1089050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 lang="en-US">
                <a:solidFill>
                  <a:srgbClr val="263440"/>
                </a:solidFill>
                <a:latin typeface="Arial"/>
              </a:rPr>
              <a:t>878 CI definitions  +  8 external scenario modes and a receipt audit</a:t>
            </a:r>
          </a:p>
        </p:txBody>
      </p:sp>
      <p:sp>
        <p:nvSpPr>
          <p:cNvPr id="14" name="CI/external scope: TESTED AREA"/>
          <p:cNvSpPr txBox="1"/>
          <p:nvPr/>
        </p:nvSpPr>
        <p:spPr>
          <a:xfrm>
            <a:off x="786384" y="1847088"/>
            <a:ext cx="21671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90" b="1" lang="en-US">
                <a:solidFill>
                  <a:srgbClr val="65737D"/>
                </a:solidFill>
                <a:latin typeface="Arial"/>
              </a:rPr>
              <a:t>TESTED AREA</a:t>
            </a:r>
          </a:p>
        </p:txBody>
      </p:sp>
      <p:sp>
        <p:nvSpPr>
          <p:cNvPr id="15" name="CI/external scope: CI #"/>
          <p:cNvSpPr txBox="1"/>
          <p:nvPr/>
        </p:nvSpPr>
        <p:spPr>
          <a:xfrm>
            <a:off x="2926080" y="1847088"/>
            <a:ext cx="53035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90" b="1" lang="en-US">
                <a:solidFill>
                  <a:srgbClr val="65737D"/>
                </a:solidFill>
                <a:latin typeface="Arial"/>
              </a:rPr>
              <a:t>CI #</a:t>
            </a:r>
          </a:p>
        </p:txBody>
      </p:sp>
      <p:sp>
        <p:nvSpPr>
          <p:cNvPr id="16" name="CI/external scope: CI · UNIT / COMPONENT / INTEGRATION"/>
          <p:cNvSpPr txBox="1"/>
          <p:nvPr/>
        </p:nvSpPr>
        <p:spPr>
          <a:xfrm>
            <a:off x="3621024" y="184708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90" b="1" lang="en-US">
                <a:solidFill>
                  <a:srgbClr val="65737D"/>
                </a:solidFill>
                <a:latin typeface="Arial"/>
              </a:rPr>
              <a:t>CI · UNIT / COMPONENT / INTEGRATION</a:t>
            </a:r>
          </a:p>
        </p:txBody>
      </p:sp>
      <p:sp>
        <p:nvSpPr>
          <p:cNvPr id="17" name="CI/external scope: EXTERNAL · DEPLOYED VITA-FL"/>
          <p:cNvSpPr txBox="1"/>
          <p:nvPr/>
        </p:nvSpPr>
        <p:spPr>
          <a:xfrm>
            <a:off x="7616952" y="1847088"/>
            <a:ext cx="373075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90" b="1" lang="en-US">
                <a:solidFill>
                  <a:srgbClr val="65737D"/>
                </a:solidFill>
                <a:latin typeface="Arial"/>
              </a:rPr>
              <a:t>EXTERNAL · DEPLOYED VITA-FL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221992"/>
            <a:ext cx="10908792" cy="420624"/>
          </a:xfrm>
          <a:prstGeom prst="rect">
            <a:avLst/>
          </a:prstGeom>
          <a:solidFill>
            <a:srgbClr val="F2F5F7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I/external scope: Learning &amp; / model integrity"/>
          <p:cNvSpPr txBox="1"/>
          <p:nvPr/>
        </p:nvSpPr>
        <p:spPr>
          <a:xfrm>
            <a:off x="786384" y="2235708"/>
            <a:ext cx="20116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80" b="1" lang="en-US">
                <a:solidFill>
                  <a:srgbClr val="263440"/>
                </a:solidFill>
                <a:latin typeface="Arial"/>
              </a:rPr>
              <a:t>Learning &amp;
model integrity</a:t>
            </a:r>
          </a:p>
        </p:txBody>
      </p:sp>
      <p:sp>
        <p:nvSpPr>
          <p:cNvPr id="20" name="CI/external scope: 78"/>
          <p:cNvSpPr txBox="1"/>
          <p:nvPr/>
        </p:nvSpPr>
        <p:spPr>
          <a:xfrm>
            <a:off x="2926080" y="2240280"/>
            <a:ext cx="53035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78</a:t>
            </a:r>
          </a:p>
        </p:txBody>
      </p:sp>
      <p:sp>
        <p:nvSpPr>
          <p:cNvPr id="21" name="CI/external scope: Data partitions; aggregation math; / model-bundle authentication"/>
          <p:cNvSpPr txBox="1"/>
          <p:nvPr/>
        </p:nvSpPr>
        <p:spPr>
          <a:xfrm>
            <a:off x="3621024" y="2235708"/>
            <a:ext cx="376732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263440"/>
                </a:solidFill>
                <a:latin typeface="Arial"/>
              </a:rPr>
              <a:t>Data partitions; aggregation math;
model-bundle authentication</a:t>
            </a:r>
          </a:p>
        </p:txBody>
      </p:sp>
      <p:sp>
        <p:nvSpPr>
          <p:cNvPr id="22" name="CI/external scope: normal: 5 completed training rounds / All six workers participate"/>
          <p:cNvSpPr txBox="1"/>
          <p:nvPr/>
        </p:nvSpPr>
        <p:spPr>
          <a:xfrm>
            <a:off x="7616952" y="2235708"/>
            <a:ext cx="37307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7446A6"/>
                </a:solidFill>
                <a:latin typeface="Arial"/>
              </a:rPr>
              <a:t>normal: 5 completed training rounds
All six workers participate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651760"/>
            <a:ext cx="10908792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I/external scope: Round control / &amp; recovery"/>
          <p:cNvSpPr txBox="1"/>
          <p:nvPr/>
        </p:nvSpPr>
        <p:spPr>
          <a:xfrm>
            <a:off x="786384" y="2665476"/>
            <a:ext cx="20116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80" b="1" lang="en-US">
                <a:solidFill>
                  <a:srgbClr val="263440"/>
                </a:solidFill>
                <a:latin typeface="Arial"/>
              </a:rPr>
              <a:t>Round control
&amp; recovery</a:t>
            </a:r>
          </a:p>
        </p:txBody>
      </p:sp>
      <p:sp>
        <p:nvSpPr>
          <p:cNvPr id="25" name="CI/external scope: 117"/>
          <p:cNvSpPr txBox="1"/>
          <p:nvPr/>
        </p:nvSpPr>
        <p:spPr>
          <a:xfrm>
            <a:off x="2926080" y="2670048"/>
            <a:ext cx="53035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117</a:t>
            </a:r>
          </a:p>
        </p:txBody>
      </p:sp>
      <p:sp>
        <p:nvSpPr>
          <p:cNvPr id="26" name="CI/external scope: Local timer; closure; quorum; / atomic publication and round state"/>
          <p:cNvSpPr txBox="1"/>
          <p:nvPr/>
        </p:nvSpPr>
        <p:spPr>
          <a:xfrm>
            <a:off x="3621024" y="2665476"/>
            <a:ext cx="376732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263440"/>
                </a:solidFill>
                <a:latin typeface="Arial"/>
              </a:rPr>
              <a:t>Local timer; closure; quorum;
atomic publication and round state</a:t>
            </a:r>
          </a:p>
        </p:txBody>
      </p:sp>
      <p:sp>
        <p:nvSpPr>
          <p:cNvPr id="27" name="CI/external scope: early / partial / zero; recovery / Deadline, 3-vote quorum, resumed rounds"/>
          <p:cNvSpPr txBox="1"/>
          <p:nvPr/>
        </p:nvSpPr>
        <p:spPr>
          <a:xfrm>
            <a:off x="7616952" y="2665476"/>
            <a:ext cx="37307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7446A6"/>
                </a:solidFill>
                <a:latin typeface="Arial"/>
              </a:rPr>
              <a:t>early / partial / zero; recovery
Deadline, 3-vote quorum, resumed rounds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081528"/>
            <a:ext cx="10908792" cy="420624"/>
          </a:xfrm>
          <a:prstGeom prst="rect">
            <a:avLst/>
          </a:prstGeom>
          <a:solidFill>
            <a:srgbClr val="F2F5F7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I/external scope: Identity &amp; / secure transport"/>
          <p:cNvSpPr txBox="1"/>
          <p:nvPr/>
        </p:nvSpPr>
        <p:spPr>
          <a:xfrm>
            <a:off x="786384" y="3095244"/>
            <a:ext cx="20116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80" b="1" lang="en-US">
                <a:solidFill>
                  <a:srgbClr val="263440"/>
                </a:solidFill>
                <a:latin typeface="Arial"/>
              </a:rPr>
              <a:t>Identity &amp;
secure transport</a:t>
            </a:r>
          </a:p>
        </p:txBody>
      </p:sp>
      <p:sp>
        <p:nvSpPr>
          <p:cNvPr id="30" name="CI/external scope: 240"/>
          <p:cNvSpPr txBox="1"/>
          <p:nvPr/>
        </p:nvSpPr>
        <p:spPr>
          <a:xfrm>
            <a:off x="2926080" y="3099816"/>
            <a:ext cx="53035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240</a:t>
            </a:r>
          </a:p>
        </p:txBody>
      </p:sp>
      <p:sp>
        <p:nvSpPr>
          <p:cNvPr id="31" name="CI/external scope: Admission policies; key binding; / RA-TLS/mTLS and access control"/>
          <p:cNvSpPr txBox="1"/>
          <p:nvPr/>
        </p:nvSpPr>
        <p:spPr>
          <a:xfrm>
            <a:off x="3621024" y="3095244"/>
            <a:ext cx="376732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263440"/>
                </a:solidFill>
                <a:latin typeface="Arial"/>
              </a:rPr>
              <a:t>Admission policies; key binding;
RA-TLS/mTLS and access control</a:t>
            </a:r>
          </a:p>
        </p:txBody>
      </p:sp>
      <p:sp>
        <p:nvSpPr>
          <p:cNvPr id="32" name="CI/external scope: security: reject missing/forged auth / Reject invalid coordination calls"/>
          <p:cNvSpPr txBox="1"/>
          <p:nvPr/>
        </p:nvSpPr>
        <p:spPr>
          <a:xfrm>
            <a:off x="7616952" y="3095244"/>
            <a:ext cx="37307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7446A6"/>
                </a:solidFill>
                <a:latin typeface="Arial"/>
              </a:rPr>
              <a:t>security: reject missing/forged auth
Reject invalid coordination calls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3511296"/>
            <a:ext cx="10908792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I/external scope: Inference &amp; / agent workflow"/>
          <p:cNvSpPr txBox="1"/>
          <p:nvPr/>
        </p:nvSpPr>
        <p:spPr>
          <a:xfrm>
            <a:off x="786384" y="3525012"/>
            <a:ext cx="20116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80" b="1" lang="en-US">
                <a:solidFill>
                  <a:srgbClr val="263440"/>
                </a:solidFill>
                <a:latin typeface="Arial"/>
              </a:rPr>
              <a:t>Inference &amp;
agent workflow</a:t>
            </a:r>
          </a:p>
        </p:txBody>
      </p:sp>
      <p:sp>
        <p:nvSpPr>
          <p:cNvPr id="35" name="CI/external scope: 49"/>
          <p:cNvSpPr txBox="1"/>
          <p:nvPr/>
        </p:nvSpPr>
        <p:spPr>
          <a:xfrm>
            <a:off x="2926080" y="3529584"/>
            <a:ext cx="53035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49</a:t>
            </a:r>
          </a:p>
        </p:txBody>
      </p:sp>
      <p:sp>
        <p:nvSpPr>
          <p:cNvPr id="36" name="CI/external scope: Tool API; job ownership; / TEE and ZK inference lifecycle"/>
          <p:cNvSpPr txBox="1"/>
          <p:nvPr/>
        </p:nvSpPr>
        <p:spPr>
          <a:xfrm>
            <a:off x="3621024" y="3525012"/>
            <a:ext cx="376732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263440"/>
                </a:solidFill>
                <a:latin typeface="Arial"/>
              </a:rPr>
              <a:t>Tool API; job ownership;
TEE and ZK inference lifecycle</a:t>
            </a:r>
          </a:p>
        </p:txBody>
      </p:sp>
      <p:sp>
        <p:nvSpPr>
          <p:cNvPr id="37" name="CI/external scope: inference: finalized-model binding / Deployed agent and actual inference"/>
          <p:cNvSpPr txBox="1"/>
          <p:nvPr/>
        </p:nvSpPr>
        <p:spPr>
          <a:xfrm>
            <a:off x="7616952" y="3525012"/>
            <a:ext cx="37307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7446A6"/>
                </a:solidFill>
                <a:latin typeface="Arial"/>
              </a:rPr>
              <a:t>inference: finalized-model binding
Deployed agent and actual inference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3941064"/>
            <a:ext cx="10908792" cy="420624"/>
          </a:xfrm>
          <a:prstGeom prst="rect">
            <a:avLst/>
          </a:prstGeom>
          <a:solidFill>
            <a:srgbClr val="F2F5F7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I/external scope: Receipts &amp; / provenance"/>
          <p:cNvSpPr txBox="1"/>
          <p:nvPr/>
        </p:nvSpPr>
        <p:spPr>
          <a:xfrm>
            <a:off x="786384" y="3954780"/>
            <a:ext cx="20116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80" b="1" lang="en-US">
                <a:solidFill>
                  <a:srgbClr val="263440"/>
                </a:solidFill>
                <a:latin typeface="Arial"/>
              </a:rPr>
              <a:t>Receipts &amp;
provenance</a:t>
            </a:r>
          </a:p>
        </p:txBody>
      </p:sp>
      <p:sp>
        <p:nvSpPr>
          <p:cNvPr id="40" name="CI/external scope: 64"/>
          <p:cNvSpPr txBox="1"/>
          <p:nvPr/>
        </p:nvSpPr>
        <p:spPr>
          <a:xfrm>
            <a:off x="2926080" y="3959352"/>
            <a:ext cx="53035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64</a:t>
            </a:r>
          </a:p>
        </p:txBody>
      </p:sp>
      <p:sp>
        <p:nvSpPr>
          <p:cNvPr id="41" name="CI/external scope: AIR/Sello checks; log bindings; / signed training-data provenance"/>
          <p:cNvSpPr txBox="1"/>
          <p:nvPr/>
        </p:nvSpPr>
        <p:spPr>
          <a:xfrm>
            <a:off x="3621024" y="3954780"/>
            <a:ext cx="376732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263440"/>
                </a:solidFill>
                <a:latin typeface="Arial"/>
              </a:rPr>
              <a:t>AIR/Sello checks; log bindings;
signed training-data provenance</a:t>
            </a:r>
          </a:p>
        </p:txBody>
      </p:sp>
      <p:sp>
        <p:nvSpPr>
          <p:cNvPr id="42" name="CI/external scope: 17-check published-evidence audit / SCITT · AIR/TDX · sessions · Sello"/>
          <p:cNvSpPr txBox="1"/>
          <p:nvPr/>
        </p:nvSpPr>
        <p:spPr>
          <a:xfrm>
            <a:off x="7616952" y="3954780"/>
            <a:ext cx="37307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7446A6"/>
                </a:solidFill>
                <a:latin typeface="Arial"/>
              </a:rPr>
              <a:t>17-check published-evidence audit
SCITT · AIR/TDX · sessions · Sello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4370831"/>
            <a:ext cx="10908792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I/external scope: Runtime control / &amp; telemetry"/>
          <p:cNvSpPr txBox="1"/>
          <p:nvPr/>
        </p:nvSpPr>
        <p:spPr>
          <a:xfrm>
            <a:off x="786384" y="4384547"/>
            <a:ext cx="20116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80" b="1" lang="en-US">
                <a:solidFill>
                  <a:srgbClr val="263440"/>
                </a:solidFill>
                <a:latin typeface="Arial"/>
              </a:rPr>
              <a:t>Runtime control
&amp; telemetry</a:t>
            </a:r>
          </a:p>
        </p:txBody>
      </p:sp>
      <p:sp>
        <p:nvSpPr>
          <p:cNvPr id="45" name="CI/external scope: 107"/>
          <p:cNvSpPr txBox="1"/>
          <p:nvPr/>
        </p:nvSpPr>
        <p:spPr>
          <a:xfrm>
            <a:off x="2926080" y="4389119"/>
            <a:ext cx="53035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107</a:t>
            </a:r>
          </a:p>
        </p:txBody>
      </p:sp>
      <p:sp>
        <p:nvSpPr>
          <p:cNvPr id="46" name="CI/external scope: Configuration validation; gate / control; signed-event metrics"/>
          <p:cNvSpPr txBox="1"/>
          <p:nvPr/>
        </p:nvSpPr>
        <p:spPr>
          <a:xfrm>
            <a:off x="3621024" y="4384547"/>
            <a:ext cx="376732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263440"/>
                </a:solidFill>
                <a:latin typeface="Arial"/>
              </a:rPr>
              <a:t>Configuration validation; gate
control; signed-event metrics</a:t>
            </a:r>
          </a:p>
        </p:txBody>
      </p:sp>
      <p:sp>
        <p:nvSpPr>
          <p:cNvPr id="47" name="CI/external scope: configuration: exact settings readback / Invalid deadlines leave state unchanged"/>
          <p:cNvSpPr txBox="1"/>
          <p:nvPr/>
        </p:nvSpPr>
        <p:spPr>
          <a:xfrm>
            <a:off x="7616952" y="4384547"/>
            <a:ext cx="37307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7446A6"/>
                </a:solidFill>
                <a:latin typeface="Arial"/>
              </a:rPr>
              <a:t>configuration: exact settings readback
Invalid deadlines leave state unchanged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4800600"/>
            <a:ext cx="10908792" cy="420624"/>
          </a:xfrm>
          <a:prstGeom prst="rect">
            <a:avLst/>
          </a:prstGeom>
          <a:solidFill>
            <a:srgbClr val="F2F5F7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I/external scope: Deployment &amp; / packaging"/>
          <p:cNvSpPr txBox="1"/>
          <p:nvPr/>
        </p:nvSpPr>
        <p:spPr>
          <a:xfrm>
            <a:off x="786384" y="4814316"/>
            <a:ext cx="20116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80" b="1" lang="en-US">
                <a:solidFill>
                  <a:srgbClr val="263440"/>
                </a:solidFill>
                <a:latin typeface="Arial"/>
              </a:rPr>
              <a:t>Deployment &amp;
packaging</a:t>
            </a:r>
          </a:p>
        </p:txBody>
      </p:sp>
      <p:sp>
        <p:nvSpPr>
          <p:cNvPr id="50" name="CI/external scope: 223"/>
          <p:cNvSpPr txBox="1"/>
          <p:nvPr/>
        </p:nvSpPr>
        <p:spPr>
          <a:xfrm>
            <a:off x="2926080" y="4818888"/>
            <a:ext cx="53035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223</a:t>
            </a:r>
          </a:p>
        </p:txBody>
      </p:sp>
      <p:sp>
        <p:nvSpPr>
          <p:cNvPr id="51" name="CI/external scope: Images and deployment order; / Docker contexts; offline Terraform"/>
          <p:cNvSpPr txBox="1"/>
          <p:nvPr/>
        </p:nvSpPr>
        <p:spPr>
          <a:xfrm>
            <a:off x="3621024" y="4814316"/>
            <a:ext cx="376732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263440"/>
                </a:solidFill>
                <a:latin typeface="Arial"/>
              </a:rPr>
              <a:t>Images and deployment order;
Docker contexts; offline Terraform</a:t>
            </a:r>
          </a:p>
        </p:txBody>
      </p:sp>
      <p:sp>
        <p:nvSpPr>
          <p:cNvPr id="52" name="CI/external scope: No external redeployment scenario / Run pins: image, chain and contracts"/>
          <p:cNvSpPr txBox="1"/>
          <p:nvPr/>
        </p:nvSpPr>
        <p:spPr>
          <a:xfrm>
            <a:off x="7616952" y="4814316"/>
            <a:ext cx="37307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7446A6"/>
                </a:solidFill>
                <a:latin typeface="Arial"/>
              </a:rPr>
              <a:t>No external redeployment scenario
Run pins: image, chain and contracts</a:t>
            </a:r>
          </a:p>
        </p:txBody>
      </p:sp>
      <p:sp>
        <p:nvSpPr>
          <p:cNvPr id="53" name="CI/external scope: CI: GitHub Actions / Ubuntu, push + PR + manual.  External: SMEW / SMA / TD → Phala."/>
          <p:cNvSpPr txBox="1"/>
          <p:nvPr/>
        </p:nvSpPr>
        <p:spPr>
          <a:xfrm>
            <a:off x="658368" y="5294376"/>
            <a:ext cx="1089050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 lang="en-US">
                <a:solidFill>
                  <a:srgbClr val="65737D"/>
                </a:solidFill>
                <a:latin typeface="Arial"/>
              </a:rPr>
              <a:t>CI: GitHub Actions / Ubuntu, push + PR + manual.  External: SMEW / SMA / TD → Phala.</a:t>
            </a:r>
          </a:p>
        </p:txBody>
      </p:sp>
      <p:sp>
        <p:nvSpPr>
          <p:cNvPr id="54" name="CI/external scope: Phala training profile: 6 workers · 5 successful rounds · client limit 5 · 45 s deadline. Counts ≠ passed runs."/>
          <p:cNvSpPr txBox="1"/>
          <p:nvPr/>
        </p:nvSpPr>
        <p:spPr>
          <a:xfrm>
            <a:off x="658368" y="5522976"/>
            <a:ext cx="1089050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30" b="0" lang="en-US">
                <a:solidFill>
                  <a:srgbClr val="65737D"/>
                </a:solidFill>
                <a:latin typeface="Arial"/>
              </a:rPr>
              <a:t>Phala training profile: 6 workers · 5 successful rounds · client limit 5 · 45 s deadline. Counts ≠ passed runs.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elfolien zur Auswahl">
  <a:themeElements>
    <a:clrScheme name="TU Berlin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4A2A0730-D474-B642-9EC8-245B2B7F7B17}"/>
    </a:ext>
  </a:extLst>
</a:theme>
</file>

<file path=ppt/theme/theme2.xml><?xml version="1.0" encoding="utf-8"?>
<a:theme xmlns:a="http://schemas.openxmlformats.org/drawingml/2006/main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6D2ACD7B-51E4-3F4D-A883-FB2A0ECC7C66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TU-Berlin-Praesentation-Master-einfarbig-Rot</Template>
  <TotalTime>0</TotalTime>
  <Words>59</Words>
  <Application>Microsoft Office PowerPoint</Application>
  <PresentationFormat>Breitbild</PresentationFormat>
  <Paragraphs>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Symbol</vt:lpstr>
      <vt:lpstr>Titelfolien zur Auswahl</vt:lpstr>
      <vt:lpstr>Master für Folgeseiten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VITA-FL — Master's Thesis Presentation</dc:title>
  <dc:creator>Ramon Mehrpoya</dc:creator>
  <cp:lastModifiedBy>Friedrich, Ulrike</cp:lastModifiedBy>
  <cp:revision>3</cp:revision>
  <cp:lastPrinted>2021-03-24T16:10:50Z</cp:lastPrinted>
  <dcterms:created xsi:type="dcterms:W3CDTF">2023-04-20T08:54:03Z</dcterms:created>
  <dcterms:modified xsi:type="dcterms:W3CDTF">2025-06-16T09:49:54Z</dcterms:modified>
  <dc:subject>Verifiable Decentralized Federated Machine Learning and Inference for AI Agent Systems</dc:subject>
  <cp:keywords>VITA-FL, DFL, TEE, attested inference, transparency log</cp:keywords>
  <dc:language>en-US</dc:language>
</cp:coreProperties>
</file>