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  <p:sldId id="257" r:id="rId6"/>
    <p:sldId id="258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A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Alternative replacement for the current test-category slide. Unit/component and</a:t>
            </a:r>
          </a:p>
          <a:p>
            <a:r>
              <a:rPr lang="en-US"/>
              <a:t>local integration tests are grouped together as CI checks and divided by the</a:t>
            </a:r>
          </a:p>
          <a:p>
            <a:r>
              <a:rPr lang="en-US"/>
              <a:t>subject under test. External scenario types are a separate counting unit.</a:t>
            </a:r>
          </a:p>
          <a:p>
            <a:r>
              <a:rPr lang="en-US"/>
              <a:t>Static code/configuration inspection on 27 September 2026; no tests or cloud</a:t>
            </a:r>
          </a:p>
          <a:p>
            <a:r>
              <a:rPr lang="en-US"/>
              <a:t>campaigns were executed to build these slides. Counts are implementation counts,</a:t>
            </a:r>
          </a:p>
          <a:p>
            <a:r>
              <a:rPr lang="en-US"/>
              <a:t>not passed executions or independent empirical samples. The current presentation</a:t>
            </a:r>
          </a:p>
          <a:p>
            <a:r>
              <a:rPr lang="en-US"/>
              <a:t>and its selected test slide remain unchanged pending selection.</a:t>
            </a:r>
          </a:p>
          <a:p/>
          <a:p>
            <a:r>
              <a:rPr lang="en-US"/>
              <a:t>CI BOUNDARY AND COUNTING</a:t>
            </a:r>
          </a:p>
          <a:p>
            <a:r>
              <a:rPr lang="en-US"/>
              <a:t>878 unique CI-selected declarations: 617 Python, 145 Solidity and 116 Node tests.</a:t>
            </a:r>
          </a:p>
          <a:p>
            <a:r>
              <a:rPr lang="en-US"/>
              <a:t>The seven groups are mutually exclusive assignments of test source areas. Each</a:t>
            </a:r>
          </a:p>
          <a:p>
            <a:r>
              <a:rPr lang="en-US"/>
              <a:t>declaration counts once; parametrization, loops, repeated workflow invocations</a:t>
            </a:r>
          </a:p>
          <a:p>
            <a:r>
              <a:rPr lang="en-US"/>
              <a:t>and subtests are not expanded. Conditional skips remain included. The scope is</a:t>
            </a:r>
          </a:p>
          <a:p>
            <a:r>
              <a:rPr lang="en-US"/>
              <a:t>vita-fl/.github/workflows/ci.yml and the explicit test entrypoints it selects.</a:t>
            </a:r>
          </a:p>
          <a:p>
            <a:r>
              <a:rPr lang="en-US"/>
              <a:t>The node job installs Foundry and requires the Anvil transaction tests. The CI</a:t>
            </a:r>
          </a:p>
          <a:p>
            <a:r>
              <a:rPr lang="en-US"/>
              <a:t>runs on GitHub-hosted Ubuntu for push/PR on main and phala_app_key or manual</a:t>
            </a:r>
          </a:p>
          <a:p>
            <a:r>
              <a:rPr lang="en-US"/>
              <a:t>workflow dispatch. Lint, formatting, build steps and the two runtime readiness</a:t>
            </a:r>
          </a:p>
          <a:p>
            <a:r>
              <a:rPr lang="en-US"/>
              <a:t>checks for Anvil/IPFS are additional pipeline checks, excluded from the 878.</a:t>
            </a:r>
          </a:p>
          <a:p>
            <a:r>
              <a:rPr lang="en-US"/>
              <a:t>The previous 808 inventory is historical. No new unit/integration split is</a:t>
            </a:r>
          </a:p>
          <a:p>
            <a:r>
              <a:rPr lang="en-US"/>
              <a:t>asserted: new tests require fresh assertion-level classification if that split</a:t>
            </a:r>
          </a:p>
          <a:p>
            <a:r>
              <a:rPr lang="en-US"/>
              <a:t>is ever needed again. Unit/component/integration are merged by explicit request.</a:t>
            </a:r>
          </a:p>
          <a:p>
            <a:r>
              <a:rPr lang="en-US"/>
              <a:t>Tests of the TD, SMEW and SMA tools are not silently added to the vita-fl CI count.</a:t>
            </a:r>
          </a:p>
          <a:p/>
          <a:p>
            <a:r>
              <a:rPr lang="en-US"/>
              <a:t>EXTERNAL SCOPE AND CONFIGURATION</a:t>
            </a:r>
          </a:p>
          <a:p>
            <a:r>
              <a:rPr lang="en-US"/>
              <a:t>The TD has nine CLI modes. Eight are considered here: configuration, normal,</a:t>
            </a:r>
          </a:p>
          <a:p>
            <a:r>
              <a:rPr lang="en-US"/>
              <a:t>early, partial, zero, recovery, inference and security. The optional manipulation</a:t>
            </a:r>
          </a:p>
          <a:p>
            <a:r>
              <a:rPr lang="en-US"/>
              <a:t>mode is excluded according to the user's requested scope. Tool-order attacks are</a:t>
            </a:r>
          </a:p>
          <a:p>
            <a:r>
              <a:rPr lang="en-US"/>
              <a:t>also excluded. Eight implemented modes do not mean eight passed live scenarios.</a:t>
            </a:r>
          </a:p>
          <a:p>
            <a:r>
              <a:rPr lang="en-US"/>
              <a:t>The selected local Phala profile has six workers, five successful training rounds,</a:t>
            </a:r>
          </a:p>
          <a:p>
            <a:r>
              <a:rPr lang="en-US"/>
              <a:t>client limit five, epoch one, a 45-second collection deadline, a 3600-second</a:t>
            </a:r>
          </a:p>
          <a:p>
            <a:r>
              <a:rPr lang="en-US"/>
              <a:t>scenario deadline, one-second polling, deployed-agent inference, participant</a:t>
            </a:r>
          </a:p>
          <a:p>
            <a:r>
              <a:rPr lang="en-US"/>
              <a:t>coverage and required transparency audit. Configuration is a setup-only check;</a:t>
            </a:r>
          </a:p>
          <a:p>
            <a:r>
              <a:rPr lang="en-US"/>
              <a:t>the five-round setting applies to training scenarios. train_before_inference is</a:t>
            </a:r>
          </a:p>
          <a:p>
            <a:r>
              <a:rPr lang="en-US"/>
              <a:t>enabled for the inference-only mode in this profile. Bootstrap and aborted</a:t>
            </a:r>
          </a:p>
          <a:p>
            <a:r>
              <a:rPr lang="en-US"/>
              <a:t>attempts are excluded from the five successful rounds. Other runs can vary the</a:t>
            </a:r>
          </a:p>
          <a:p>
            <a:r>
              <a:rPr lang="en-US"/>
              <a:t>parameters, so the profile is not attributed to every historical result.</a:t>
            </a:r>
          </a:p>
          <a:p>
            <a:r>
              <a:rPr lang="en-US"/>
              <a:t>SMEW schedules campaigns/repetitions and validates reports; SMA supervises the</a:t>
            </a:r>
          </a:p>
          <a:p>
            <a:r>
              <a:rPr lang="en-US"/>
              <a:t>local TD subprocess and retrieves Prometheus data for the run window. The TD</a:t>
            </a:r>
          </a:p>
          <a:p>
            <a:r>
              <a:rPr lang="en-US"/>
              <a:t>drives the remote VITA-FL deployment, checks assertions and produces the verdict.</a:t>
            </a:r>
          </a:p>
          <a:p>
            <a:r>
              <a:rPr lang="en-US"/>
              <a:t>No general energy measurement is claimed. Measurements currently include round</a:t>
            </a:r>
          </a:p>
          <a:p>
            <a:r>
              <a:rPr lang="en-US"/>
              <a:t>progress, aborted attempts and transaction gas.</a:t>
            </a:r>
          </a:p>
          <a:p/>
          <a:p>
            <a:r>
              <a:rPr lang="en-US"/>
              <a:t>EXTERNAL ORACLES</a:t>
            </a:r>
          </a:p>
          <a:p>
            <a:r>
              <a:rPr lang="en-US"/>
              <a:t>configuration: five training parameters round-trip; invalid timeouts are rejected</a:t>
            </a:r>
          </a:p>
          <a:p>
            <a:r>
              <a:rPr lang="en-US"/>
              <a:t>with HTTP 400 and the saved configuration remains unchanged.</a:t>
            </a:r>
          </a:p>
          <a:p>
            <a:r>
              <a:rPr lang="en-US"/>
              <a:t>normal: completed nonempty rounds, count/root/policy consistency, unchanged frozen</a:t>
            </a:r>
          </a:p>
          <a:p>
            <a:r>
              <a:rPr lang="en-US"/>
              <a:t>roster and all-six-worker participation; finalized-model inference is verified.</a:t>
            </a:r>
          </a:p>
          <a:p>
            <a:r>
              <a:rPr lang="en-US"/>
              <a:t>early/partial/zero: a cooperative admin-controlled upload gate at the deployed</a:t>
            </a:r>
          </a:p>
          <a:p>
            <a:r>
              <a:rPr lang="en-US"/>
              <a:t>receiver limits accepted clients in the first training round. Respectively 5,</a:t>
            </a:r>
          </a:p>
          <a:p>
            <a:r>
              <a:rPr lang="en-US"/>
              <a:t>2 or 0 accepted inputs establish early closure, exact partial publication after</a:t>
            </a:r>
          </a:p>
          <a:p>
            <a:r>
              <a:rPr lang="en-US"/>
              <a:t>the deadline, or no publication followed by quorum recovery. This is explicit</a:t>
            </a:r>
          </a:p>
          <a:p>
            <a:r>
              <a:rPr lang="en-US"/>
              <a:t>test instrumentation; the gate is not described as a network outage. The receipt</a:t>
            </a:r>
          </a:p>
          <a:p>
            <a:r>
              <a:rPr lang="en-US"/>
              <a:t>of a gate command alone does not establish the expected contribution set.</a:t>
            </a:r>
          </a:p>
          <a:p>
            <a:r>
              <a:rPr lang="en-US"/>
              <a:t>recovery: stop and confirm the selected aggregator CVM, observe three distinct</a:t>
            </a:r>
          </a:p>
          <a:p>
            <a:r>
              <a:rPr lang="en-US"/>
              <a:t>eligible reports out of five voters, keep the old state below quorum, then prove</a:t>
            </a:r>
          </a:p>
          <a:p>
            <a:r>
              <a:rPr lang="en-US"/>
              <a:t>abort/reselection on the third vote and successful resumed publication. Restore</a:t>
            </a:r>
          </a:p>
          <a:p>
            <a:r>
              <a:rPr lang="en-US"/>
              <a:t>the CVM; cleanup failure invalidates the run. The local aggregator timer is not</a:t>
            </a:r>
          </a:p>
          <a:p>
            <a:r>
              <a:rPr lang="en-US"/>
              <a:t>replaced or advanced by the driver. Contract vote conditions remain separate.</a:t>
            </a:r>
          </a:p>
          <a:p>
            <a:r>
              <a:rPr lang="en-US"/>
              <a:t>security: 16 required checks comprise five UI/control checks, four read-only EVM</a:t>
            </a:r>
          </a:p>
          <a:p>
            <a:r>
              <a:rPr lang="en-US"/>
              <a:t>guards, one positive inference control and six inference authorization negatives.</a:t>
            </a:r>
          </a:p>
          <a:p>
            <a:r>
              <a:rPr lang="en-US"/>
              <a:t>EVM guards use eth_call; they do not submit an attack transaction. Wrong reasons,</a:t>
            </a:r>
          </a:p>
          <a:p>
            <a:r>
              <a:rPr lang="en-US"/>
              <a:t>TLS/network errors and unavailable positive controls do not count as rejection.</a:t>
            </a:r>
          </a:p>
          <a:p>
            <a:r>
              <a:rPr lang="en-US"/>
              <a:t>Audit: 17 additional checks are 10 SCITT publisher/inclusion checks, one AIR/TDX,</a:t>
            </a:r>
          </a:p>
          <a:p>
            <a:r>
              <a:rPr lang="en-US"/>
              <a:t>three attestation sessions and three Sello receipts. Re-fetch published bytes,</a:t>
            </a:r>
          </a:p>
          <a:p>
            <a:r>
              <a:rPr lang="en-US"/>
              <a:t>verify bindings to this run and local trust policy, decrypt owner-authorized</a:t>
            </a:r>
          </a:p>
          <a:p>
            <a:r>
              <a:rPr lang="en-US"/>
              <a:t>Sello context and request fresh Phala quote appraisal. This is independent</a:t>
            </a:r>
          </a:p>
          <a:p>
            <a:r>
              <a:rPr lang="en-US"/>
              <a:t>execution using production verifier primitives, not an independent Intel DCAP</a:t>
            </a:r>
          </a:p>
          <a:p>
            <a:r>
              <a:rPr lang="en-US"/>
              <a:t>implementation or a reconstruction of the original TLS/PoP handshake.</a:t>
            </a:r>
          </a:p>
          <a:p>
            <a:r>
              <a:rPr lang="en-US"/>
              <a:t>The audit spans inference-enabled scenarios; it is not a ninth scenario mode.</a:t>
            </a:r>
          </a:p>
          <a:p>
            <a:r>
              <a:rPr lang="en-US"/>
              <a:t>16 security checks and 17 audit checks are not added to the scenario count.</a:t>
            </a:r>
          </a:p>
          <a:p/>
          <a:p>
            <a:r>
              <a:rPr lang="en-US"/>
              <a:t>INTERPRETATION</a:t>
            </a:r>
          </a:p>
          <a:p>
            <a:r>
              <a:rPr lang="en-US"/>
              <a:t>This slide inventories configured tests, not clinical quality, LLM reasoning,</a:t>
            </a:r>
          </a:p>
          <a:p>
            <a:r>
              <a:rPr lang="en-US"/>
              <a:t>load capacity or complete coverage of Chapter 4 threats. Configuration and code</a:t>
            </a:r>
          </a:p>
          <a:p>
            <a:r>
              <a:rPr lang="en-US"/>
              <a:t>availability are kept separate from observed live outcomes. Existing reports</a:t>
            </a:r>
          </a:p>
          <a:p>
            <a:r>
              <a:rPr lang="en-US"/>
              <a:t>contain a five-round Recovery PASS and a complete 17-check audit; early, partial,</a:t>
            </a:r>
          </a:p>
          <a:p>
            <a:r>
              <a:rPr lang="en-US"/>
              <a:t>zero and security must not be described as demonstrated successes from that run.</a:t>
            </a:r>
          </a:p>
          <a:p>
            <a:r>
              <a:rPr lang="en-US"/>
              <a:t>A cross-boundary mapping in variant B connects related questions, not equivalent</a:t>
            </a:r>
          </a:p>
          <a:p>
            <a:r>
              <a:rPr lang="en-US"/>
              <a:t>coverage or one-to-one test cases. Some code properties have no live fault probe.</a:t>
            </a:r>
          </a:p>
          <a:p/>
          <a:p>
            <a:r>
              <a:rPr lang="en-US"/>
              <a:t>SOURCE MAP</a:t>
            </a:r>
          </a:p>
          <a:p>
            <a:r>
              <a:rPr lang="en-US"/>
              <a:t>Full current CI declaration manifest and source hashes: ci-inventory.json.</a:t>
            </a:r>
          </a:p>
          <a:p>
            <a:r>
              <a:rPr lang="en-US"/>
              <a:t>External scenario groups and public configuration: external-scope.json.</a:t>
            </a:r>
          </a:p>
          <a:p>
            <a:r>
              <a:rPr lang="en-US"/>
              <a:t>Presentation-facing labels/mapping: slide-data.json.</a:t>
            </a:r>
          </a:p>
          <a:p>
            <a:r>
              <a:rPr lang="en-US"/>
              <a:t>vita-fl/.github/workflows/ci.yml</a:t>
            </a:r>
          </a:p>
          <a:p>
            <a:r>
              <a:rPr lang="en-US"/>
              <a:t>vita-fl-td/src/vita_fl_td/config.py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vita-fl-td/docs/security-scenarios.md</a:t>
            </a:r>
          </a:p>
          <a:p>
            <a:r>
              <a:rPr lang="en-US"/>
              <a:t>vita-fl-td/docs/transparency-audit.md</a:t>
            </a:r>
          </a:p>
          <a:p>
            <a:r>
              <a:rPr lang="en-US"/>
              <a:t>SMEW/README.md</a:t>
            </a:r>
          </a:p>
          <a:p>
            <a:r>
              <a:rPr lang="en-US"/>
              <a:t>sustainability-measurement-agent/sma/sma.py</a:t>
            </a:r>
          </a:p>
          <a:p/>
          <a:p/>
          <a:p>
            <a:r>
              <a:rPr lang="en-US"/>
              <a:t>GROUP COUNTS</a:t>
            </a:r>
          </a:p>
          <a:p>
            <a:r>
              <a:rPr lang="en-US"/>
              <a:t>Learning &amp; model integrity: 78 — Data splits · aggregation math · model bindings</a:t>
            </a:r>
          </a:p>
          <a:p>
            <a:r>
              <a:rPr lang="en-US"/>
              <a:t>Round control &amp; recovery: 117 — Local timer · input closure · quorum · publication</a:t>
            </a:r>
          </a:p>
          <a:p>
            <a:r>
              <a:rPr lang="en-US"/>
              <a:t>Identity &amp; secure transport: 240 — Admission · quotes · keys · TLS · authorization</a:t>
            </a:r>
          </a:p>
          <a:p>
            <a:r>
              <a:rPr lang="en-US"/>
              <a:t>Inference &amp; agent workflow: 49 — MCP tools · job ownership · TEE/ZK workflow</a:t>
            </a:r>
          </a:p>
          <a:p>
            <a:r>
              <a:rPr lang="en-US"/>
              <a:t>Receipts &amp; provenance: 64 — AIR / Sello / SCITT · signatures · data provenance</a:t>
            </a:r>
          </a:p>
          <a:p>
            <a:r>
              <a:rPr lang="en-US"/>
              <a:t>Runtime control &amp; telemetry: 107 — Configuration · upload gates · worker telemetry</a:t>
            </a:r>
          </a:p>
          <a:p>
            <a:r>
              <a:rPr lang="en-US"/>
              <a:t>Deployment &amp; packaging: 223 — Image policy · revision order · Docker / Terraform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B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Alternative replacement for the current test-category slide. Unit/component and</a:t>
            </a:r>
          </a:p>
          <a:p>
            <a:r>
              <a:rPr lang="en-US"/>
              <a:t>local integration tests are grouped together as CI checks and divided by the</a:t>
            </a:r>
          </a:p>
          <a:p>
            <a:r>
              <a:rPr lang="en-US"/>
              <a:t>subject under test. External scenario types are a separate counting unit.</a:t>
            </a:r>
          </a:p>
          <a:p>
            <a:r>
              <a:rPr lang="en-US"/>
              <a:t>Static code/configuration inspection on 27 September 2026; no tests or cloud</a:t>
            </a:r>
          </a:p>
          <a:p>
            <a:r>
              <a:rPr lang="en-US"/>
              <a:t>campaigns were executed to build these slides. Counts are implementation counts,</a:t>
            </a:r>
          </a:p>
          <a:p>
            <a:r>
              <a:rPr lang="en-US"/>
              <a:t>not passed executions or independent empirical samples. The current presentation</a:t>
            </a:r>
          </a:p>
          <a:p>
            <a:r>
              <a:rPr lang="en-US"/>
              <a:t>and its selected test slide remain unchanged pending selection.</a:t>
            </a:r>
          </a:p>
          <a:p/>
          <a:p>
            <a:r>
              <a:rPr lang="en-US"/>
              <a:t>CI BOUNDARY AND COUNTING</a:t>
            </a:r>
          </a:p>
          <a:p>
            <a:r>
              <a:rPr lang="en-US"/>
              <a:t>878 unique CI-selected declarations: 617 Python, 145 Solidity and 116 Node tests.</a:t>
            </a:r>
          </a:p>
          <a:p>
            <a:r>
              <a:rPr lang="en-US"/>
              <a:t>The seven groups are mutually exclusive assignments of test source areas. Each</a:t>
            </a:r>
          </a:p>
          <a:p>
            <a:r>
              <a:rPr lang="en-US"/>
              <a:t>declaration counts once; parametrization, loops, repeated workflow invocations</a:t>
            </a:r>
          </a:p>
          <a:p>
            <a:r>
              <a:rPr lang="en-US"/>
              <a:t>and subtests are not expanded. Conditional skips remain included. The scope is</a:t>
            </a:r>
          </a:p>
          <a:p>
            <a:r>
              <a:rPr lang="en-US"/>
              <a:t>vita-fl/.github/workflows/ci.yml and the explicit test entrypoints it selects.</a:t>
            </a:r>
          </a:p>
          <a:p>
            <a:r>
              <a:rPr lang="en-US"/>
              <a:t>The node job installs Foundry and requires the Anvil transaction tests. The CI</a:t>
            </a:r>
          </a:p>
          <a:p>
            <a:r>
              <a:rPr lang="en-US"/>
              <a:t>runs on GitHub-hosted Ubuntu for push/PR on main and phala_app_key or manual</a:t>
            </a:r>
          </a:p>
          <a:p>
            <a:r>
              <a:rPr lang="en-US"/>
              <a:t>workflow dispatch. Lint, formatting, build steps and the two runtime readiness</a:t>
            </a:r>
          </a:p>
          <a:p>
            <a:r>
              <a:rPr lang="en-US"/>
              <a:t>checks for Anvil/IPFS are additional pipeline checks, excluded from the 878.</a:t>
            </a:r>
          </a:p>
          <a:p>
            <a:r>
              <a:rPr lang="en-US"/>
              <a:t>The previous 808 inventory is historical. No new unit/integration split is</a:t>
            </a:r>
          </a:p>
          <a:p>
            <a:r>
              <a:rPr lang="en-US"/>
              <a:t>asserted: new tests require fresh assertion-level classification if that split</a:t>
            </a:r>
          </a:p>
          <a:p>
            <a:r>
              <a:rPr lang="en-US"/>
              <a:t>is ever needed again. Unit/component/integration are merged by explicit request.</a:t>
            </a:r>
          </a:p>
          <a:p>
            <a:r>
              <a:rPr lang="en-US"/>
              <a:t>Tests of the TD, SMEW and SMA tools are not silently added to the vita-fl CI count.</a:t>
            </a:r>
          </a:p>
          <a:p/>
          <a:p>
            <a:r>
              <a:rPr lang="en-US"/>
              <a:t>EXTERNAL SCOPE AND CONFIGURATION</a:t>
            </a:r>
          </a:p>
          <a:p>
            <a:r>
              <a:rPr lang="en-US"/>
              <a:t>The TD has nine CLI modes. Eight are considered here: configuration, normal,</a:t>
            </a:r>
          </a:p>
          <a:p>
            <a:r>
              <a:rPr lang="en-US"/>
              <a:t>early, partial, zero, recovery, inference and security. The optional manipulation</a:t>
            </a:r>
          </a:p>
          <a:p>
            <a:r>
              <a:rPr lang="en-US"/>
              <a:t>mode is excluded according to the user's requested scope. Tool-order attacks are</a:t>
            </a:r>
          </a:p>
          <a:p>
            <a:r>
              <a:rPr lang="en-US"/>
              <a:t>also excluded. Eight implemented modes do not mean eight passed live scenarios.</a:t>
            </a:r>
          </a:p>
          <a:p>
            <a:r>
              <a:rPr lang="en-US"/>
              <a:t>The selected local Phala profile has six workers, five successful training rounds,</a:t>
            </a:r>
          </a:p>
          <a:p>
            <a:r>
              <a:rPr lang="en-US"/>
              <a:t>client limit five, epoch one, a 45-second collection deadline, a 3600-second</a:t>
            </a:r>
          </a:p>
          <a:p>
            <a:r>
              <a:rPr lang="en-US"/>
              <a:t>scenario deadline, one-second polling, deployed-agent inference, participant</a:t>
            </a:r>
          </a:p>
          <a:p>
            <a:r>
              <a:rPr lang="en-US"/>
              <a:t>coverage and required transparency audit. Configuration is a setup-only check;</a:t>
            </a:r>
          </a:p>
          <a:p>
            <a:r>
              <a:rPr lang="en-US"/>
              <a:t>the five-round setting applies to training scenarios. train_before_inference is</a:t>
            </a:r>
          </a:p>
          <a:p>
            <a:r>
              <a:rPr lang="en-US"/>
              <a:t>enabled for the inference-only mode in this profile. Bootstrap and aborted</a:t>
            </a:r>
          </a:p>
          <a:p>
            <a:r>
              <a:rPr lang="en-US"/>
              <a:t>attempts are excluded from the five successful rounds. Other runs can vary the</a:t>
            </a:r>
          </a:p>
          <a:p>
            <a:r>
              <a:rPr lang="en-US"/>
              <a:t>parameters, so the profile is not attributed to every historical result.</a:t>
            </a:r>
          </a:p>
          <a:p>
            <a:r>
              <a:rPr lang="en-US"/>
              <a:t>SMEW schedules campaigns/repetitions and validates reports; SMA supervises the</a:t>
            </a:r>
          </a:p>
          <a:p>
            <a:r>
              <a:rPr lang="en-US"/>
              <a:t>local TD subprocess and retrieves Prometheus data for the run window. The TD</a:t>
            </a:r>
          </a:p>
          <a:p>
            <a:r>
              <a:rPr lang="en-US"/>
              <a:t>drives the remote VITA-FL deployment, checks assertions and produces the verdict.</a:t>
            </a:r>
          </a:p>
          <a:p>
            <a:r>
              <a:rPr lang="en-US"/>
              <a:t>No general energy measurement is claimed. Measurements currently include round</a:t>
            </a:r>
          </a:p>
          <a:p>
            <a:r>
              <a:rPr lang="en-US"/>
              <a:t>progress, aborted attempts and transaction gas.</a:t>
            </a:r>
          </a:p>
          <a:p/>
          <a:p>
            <a:r>
              <a:rPr lang="en-US"/>
              <a:t>EXTERNAL ORACLES</a:t>
            </a:r>
          </a:p>
          <a:p>
            <a:r>
              <a:rPr lang="en-US"/>
              <a:t>configuration: five training parameters round-trip; invalid timeouts are rejected</a:t>
            </a:r>
          </a:p>
          <a:p>
            <a:r>
              <a:rPr lang="en-US"/>
              <a:t>with HTTP 400 and the saved configuration remains unchanged.</a:t>
            </a:r>
          </a:p>
          <a:p>
            <a:r>
              <a:rPr lang="en-US"/>
              <a:t>normal: completed nonempty rounds, count/root/policy consistency, unchanged frozen</a:t>
            </a:r>
          </a:p>
          <a:p>
            <a:r>
              <a:rPr lang="en-US"/>
              <a:t>roster and all-six-worker participation; finalized-model inference is verified.</a:t>
            </a:r>
          </a:p>
          <a:p>
            <a:r>
              <a:rPr lang="en-US"/>
              <a:t>early/partial/zero: a cooperative admin-controlled upload gate at the deployed</a:t>
            </a:r>
          </a:p>
          <a:p>
            <a:r>
              <a:rPr lang="en-US"/>
              <a:t>receiver limits accepted clients in the first training round. Respectively 5,</a:t>
            </a:r>
          </a:p>
          <a:p>
            <a:r>
              <a:rPr lang="en-US"/>
              <a:t>2 or 0 accepted inputs establish early closure, exact partial publication after</a:t>
            </a:r>
          </a:p>
          <a:p>
            <a:r>
              <a:rPr lang="en-US"/>
              <a:t>the deadline, or no publication followed by quorum recovery. This is explicit</a:t>
            </a:r>
          </a:p>
          <a:p>
            <a:r>
              <a:rPr lang="en-US"/>
              <a:t>test instrumentation; the gate is not described as a network outage. The receipt</a:t>
            </a:r>
          </a:p>
          <a:p>
            <a:r>
              <a:rPr lang="en-US"/>
              <a:t>of a gate command alone does not establish the expected contribution set.</a:t>
            </a:r>
          </a:p>
          <a:p>
            <a:r>
              <a:rPr lang="en-US"/>
              <a:t>recovery: stop and confirm the selected aggregator CVM, observe three distinct</a:t>
            </a:r>
          </a:p>
          <a:p>
            <a:r>
              <a:rPr lang="en-US"/>
              <a:t>eligible reports out of five voters, keep the old state below quorum, then prove</a:t>
            </a:r>
          </a:p>
          <a:p>
            <a:r>
              <a:rPr lang="en-US"/>
              <a:t>abort/reselection on the third vote and successful resumed publication. Restore</a:t>
            </a:r>
          </a:p>
          <a:p>
            <a:r>
              <a:rPr lang="en-US"/>
              <a:t>the CVM; cleanup failure invalidates the run. The local aggregator timer is not</a:t>
            </a:r>
          </a:p>
          <a:p>
            <a:r>
              <a:rPr lang="en-US"/>
              <a:t>replaced or advanced by the driver. Contract vote conditions remain separate.</a:t>
            </a:r>
          </a:p>
          <a:p>
            <a:r>
              <a:rPr lang="en-US"/>
              <a:t>security: 16 required checks comprise five UI/control checks, four read-only EVM</a:t>
            </a:r>
          </a:p>
          <a:p>
            <a:r>
              <a:rPr lang="en-US"/>
              <a:t>guards, one positive inference control and six inference authorization negatives.</a:t>
            </a:r>
          </a:p>
          <a:p>
            <a:r>
              <a:rPr lang="en-US"/>
              <a:t>EVM guards use eth_call; they do not submit an attack transaction. Wrong reasons,</a:t>
            </a:r>
          </a:p>
          <a:p>
            <a:r>
              <a:rPr lang="en-US"/>
              <a:t>TLS/network errors and unavailable positive controls do not count as rejection.</a:t>
            </a:r>
          </a:p>
          <a:p>
            <a:r>
              <a:rPr lang="en-US"/>
              <a:t>Audit: 17 additional checks are 10 SCITT publisher/inclusion checks, one AIR/TDX,</a:t>
            </a:r>
          </a:p>
          <a:p>
            <a:r>
              <a:rPr lang="en-US"/>
              <a:t>three attestation sessions and three Sello receipts. Re-fetch published bytes,</a:t>
            </a:r>
          </a:p>
          <a:p>
            <a:r>
              <a:rPr lang="en-US"/>
              <a:t>verify bindings to this run and local trust policy, decrypt owner-authorized</a:t>
            </a:r>
          </a:p>
          <a:p>
            <a:r>
              <a:rPr lang="en-US"/>
              <a:t>Sello context and request fresh Phala quote appraisal. This is independent</a:t>
            </a:r>
          </a:p>
          <a:p>
            <a:r>
              <a:rPr lang="en-US"/>
              <a:t>execution using production verifier primitives, not an independent Intel DCAP</a:t>
            </a:r>
          </a:p>
          <a:p>
            <a:r>
              <a:rPr lang="en-US"/>
              <a:t>implementation or a reconstruction of the original TLS/PoP handshake.</a:t>
            </a:r>
          </a:p>
          <a:p>
            <a:r>
              <a:rPr lang="en-US"/>
              <a:t>The audit spans inference-enabled scenarios; it is not a ninth scenario mode.</a:t>
            </a:r>
          </a:p>
          <a:p>
            <a:r>
              <a:rPr lang="en-US"/>
              <a:t>16 security checks and 17 audit checks are not added to the scenario count.</a:t>
            </a:r>
          </a:p>
          <a:p/>
          <a:p>
            <a:r>
              <a:rPr lang="en-US"/>
              <a:t>INTERPRETATION</a:t>
            </a:r>
          </a:p>
          <a:p>
            <a:r>
              <a:rPr lang="en-US"/>
              <a:t>This slide inventories configured tests, not clinical quality, LLM reasoning,</a:t>
            </a:r>
          </a:p>
          <a:p>
            <a:r>
              <a:rPr lang="en-US"/>
              <a:t>load capacity or complete coverage of Chapter 4 threats. Configuration and code</a:t>
            </a:r>
          </a:p>
          <a:p>
            <a:r>
              <a:rPr lang="en-US"/>
              <a:t>availability are kept separate from observed live outcomes. Existing reports</a:t>
            </a:r>
          </a:p>
          <a:p>
            <a:r>
              <a:rPr lang="en-US"/>
              <a:t>contain a five-round Recovery PASS and a complete 17-check audit; early, partial,</a:t>
            </a:r>
          </a:p>
          <a:p>
            <a:r>
              <a:rPr lang="en-US"/>
              <a:t>zero and security must not be described as demonstrated successes from that run.</a:t>
            </a:r>
          </a:p>
          <a:p>
            <a:r>
              <a:rPr lang="en-US"/>
              <a:t>A cross-boundary mapping in variant B connects related questions, not equivalent</a:t>
            </a:r>
          </a:p>
          <a:p>
            <a:r>
              <a:rPr lang="en-US"/>
              <a:t>coverage or one-to-one test cases. Some code properties have no live fault probe.</a:t>
            </a:r>
          </a:p>
          <a:p/>
          <a:p>
            <a:r>
              <a:rPr lang="en-US"/>
              <a:t>SOURCE MAP</a:t>
            </a:r>
          </a:p>
          <a:p>
            <a:r>
              <a:rPr lang="en-US"/>
              <a:t>Full current CI declaration manifest and source hashes: ci-inventory.json.</a:t>
            </a:r>
          </a:p>
          <a:p>
            <a:r>
              <a:rPr lang="en-US"/>
              <a:t>External scenario groups and public configuration: external-scope.json.</a:t>
            </a:r>
          </a:p>
          <a:p>
            <a:r>
              <a:rPr lang="en-US"/>
              <a:t>Presentation-facing labels/mapping: slide-data.json.</a:t>
            </a:r>
          </a:p>
          <a:p>
            <a:r>
              <a:rPr lang="en-US"/>
              <a:t>vita-fl/.github/workflows/ci.yml</a:t>
            </a:r>
          </a:p>
          <a:p>
            <a:r>
              <a:rPr lang="en-US"/>
              <a:t>vita-fl-td/src/vita_fl_td/config.py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vita-fl-td/docs/security-scenarios.md</a:t>
            </a:r>
          </a:p>
          <a:p>
            <a:r>
              <a:rPr lang="en-US"/>
              <a:t>vita-fl-td/docs/transparency-audit.md</a:t>
            </a:r>
          </a:p>
          <a:p>
            <a:r>
              <a:rPr lang="en-US"/>
              <a:t>SMEW/README.md</a:t>
            </a:r>
          </a:p>
          <a:p>
            <a:r>
              <a:rPr lang="en-US"/>
              <a:t>sustainability-measurement-agent/sma/sma.py</a:t>
            </a:r>
          </a:p>
          <a:p/>
          <a:p/>
          <a:p>
            <a:r>
              <a:rPr lang="en-US"/>
              <a:t>GROUP COUNTS</a:t>
            </a:r>
          </a:p>
          <a:p>
            <a:r>
              <a:rPr lang="en-US"/>
              <a:t>Learning &amp; model integrity: 78 — Data splits · aggregation math · model bindings</a:t>
            </a:r>
          </a:p>
          <a:p>
            <a:r>
              <a:rPr lang="en-US"/>
              <a:t>Round control &amp; recovery: 117 — Local timer · input closure · quorum · publication</a:t>
            </a:r>
          </a:p>
          <a:p>
            <a:r>
              <a:rPr lang="en-US"/>
              <a:t>Identity &amp; secure transport: 240 — Admission · quotes · keys · TLS · authorization</a:t>
            </a:r>
          </a:p>
          <a:p>
            <a:r>
              <a:rPr lang="en-US"/>
              <a:t>Inference &amp; agent workflow: 49 — MCP tools · job ownership · TEE/ZK workflow</a:t>
            </a:r>
          </a:p>
          <a:p>
            <a:r>
              <a:rPr lang="en-US"/>
              <a:t>Receipts &amp; provenance: 64 — AIR / Sello / SCITT · signatures · data provenance</a:t>
            </a:r>
          </a:p>
          <a:p>
            <a:r>
              <a:rPr lang="en-US"/>
              <a:t>Runtime control &amp; telemetry: 107 — Configuration · upload gates · worker telemetry</a:t>
            </a:r>
          </a:p>
          <a:p>
            <a:r>
              <a:rPr lang="en-US"/>
              <a:t>Deployment &amp; packaging: 223 — Image policy · revision order · Docker / Terraform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C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Alternative replacement for the current test-category slide. Unit/component and</a:t>
            </a:r>
          </a:p>
          <a:p>
            <a:r>
              <a:rPr lang="en-US"/>
              <a:t>local integration tests are grouped together as CI checks and divided by the</a:t>
            </a:r>
          </a:p>
          <a:p>
            <a:r>
              <a:rPr lang="en-US"/>
              <a:t>subject under test. External scenario types are a separate counting unit.</a:t>
            </a:r>
          </a:p>
          <a:p>
            <a:r>
              <a:rPr lang="en-US"/>
              <a:t>Static code/configuration inspection on 27 September 2026; no tests or cloud</a:t>
            </a:r>
          </a:p>
          <a:p>
            <a:r>
              <a:rPr lang="en-US"/>
              <a:t>campaigns were executed to build these slides. Counts are implementation counts,</a:t>
            </a:r>
          </a:p>
          <a:p>
            <a:r>
              <a:rPr lang="en-US"/>
              <a:t>not passed executions or independent empirical samples. The current presentation</a:t>
            </a:r>
          </a:p>
          <a:p>
            <a:r>
              <a:rPr lang="en-US"/>
              <a:t>and its selected test slide remain unchanged pending selection.</a:t>
            </a:r>
          </a:p>
          <a:p/>
          <a:p>
            <a:r>
              <a:rPr lang="en-US"/>
              <a:t>CI BOUNDARY AND COUNTING</a:t>
            </a:r>
          </a:p>
          <a:p>
            <a:r>
              <a:rPr lang="en-US"/>
              <a:t>878 unique CI-selected declarations: 617 Python, 145 Solidity and 116 Node tests.</a:t>
            </a:r>
          </a:p>
          <a:p>
            <a:r>
              <a:rPr lang="en-US"/>
              <a:t>The seven groups are mutually exclusive assignments of test source areas. Each</a:t>
            </a:r>
          </a:p>
          <a:p>
            <a:r>
              <a:rPr lang="en-US"/>
              <a:t>declaration counts once; parametrization, loops, repeated workflow invocations</a:t>
            </a:r>
          </a:p>
          <a:p>
            <a:r>
              <a:rPr lang="en-US"/>
              <a:t>and subtests are not expanded. Conditional skips remain included. The scope is</a:t>
            </a:r>
          </a:p>
          <a:p>
            <a:r>
              <a:rPr lang="en-US"/>
              <a:t>vita-fl/.github/workflows/ci.yml and the explicit test entrypoints it selects.</a:t>
            </a:r>
          </a:p>
          <a:p>
            <a:r>
              <a:rPr lang="en-US"/>
              <a:t>The node job installs Foundry and requires the Anvil transaction tests. The CI</a:t>
            </a:r>
          </a:p>
          <a:p>
            <a:r>
              <a:rPr lang="en-US"/>
              <a:t>runs on GitHub-hosted Ubuntu for push/PR on main and phala_app_key or manual</a:t>
            </a:r>
          </a:p>
          <a:p>
            <a:r>
              <a:rPr lang="en-US"/>
              <a:t>workflow dispatch. Lint, formatting, build steps and the two runtime readiness</a:t>
            </a:r>
          </a:p>
          <a:p>
            <a:r>
              <a:rPr lang="en-US"/>
              <a:t>checks for Anvil/IPFS are additional pipeline checks, excluded from the 878.</a:t>
            </a:r>
          </a:p>
          <a:p>
            <a:r>
              <a:rPr lang="en-US"/>
              <a:t>The previous 808 inventory is historical. No new unit/integration split is</a:t>
            </a:r>
          </a:p>
          <a:p>
            <a:r>
              <a:rPr lang="en-US"/>
              <a:t>asserted: new tests require fresh assertion-level classification if that split</a:t>
            </a:r>
          </a:p>
          <a:p>
            <a:r>
              <a:rPr lang="en-US"/>
              <a:t>is ever needed again. Unit/component/integration are merged by explicit request.</a:t>
            </a:r>
          </a:p>
          <a:p>
            <a:r>
              <a:rPr lang="en-US"/>
              <a:t>Tests of the TD, SMEW and SMA tools are not silently added to the vita-fl CI count.</a:t>
            </a:r>
          </a:p>
          <a:p/>
          <a:p>
            <a:r>
              <a:rPr lang="en-US"/>
              <a:t>EXTERNAL SCOPE AND CONFIGURATION</a:t>
            </a:r>
          </a:p>
          <a:p>
            <a:r>
              <a:rPr lang="en-US"/>
              <a:t>The TD has nine CLI modes. Eight are considered here: configuration, normal,</a:t>
            </a:r>
          </a:p>
          <a:p>
            <a:r>
              <a:rPr lang="en-US"/>
              <a:t>early, partial, zero, recovery, inference and security. The optional manipulation</a:t>
            </a:r>
          </a:p>
          <a:p>
            <a:r>
              <a:rPr lang="en-US"/>
              <a:t>mode is excluded according to the user's requested scope. Tool-order attacks are</a:t>
            </a:r>
          </a:p>
          <a:p>
            <a:r>
              <a:rPr lang="en-US"/>
              <a:t>also excluded. Eight implemented modes do not mean eight passed live scenarios.</a:t>
            </a:r>
          </a:p>
          <a:p>
            <a:r>
              <a:rPr lang="en-US"/>
              <a:t>The selected local Phala profile has six workers, five successful training rounds,</a:t>
            </a:r>
          </a:p>
          <a:p>
            <a:r>
              <a:rPr lang="en-US"/>
              <a:t>client limit five, epoch one, a 45-second collection deadline, a 3600-second</a:t>
            </a:r>
          </a:p>
          <a:p>
            <a:r>
              <a:rPr lang="en-US"/>
              <a:t>scenario deadline, one-second polling, deployed-agent inference, participant</a:t>
            </a:r>
          </a:p>
          <a:p>
            <a:r>
              <a:rPr lang="en-US"/>
              <a:t>coverage and required transparency audit. Configuration is a setup-only check;</a:t>
            </a:r>
          </a:p>
          <a:p>
            <a:r>
              <a:rPr lang="en-US"/>
              <a:t>the five-round setting applies to training scenarios. train_before_inference is</a:t>
            </a:r>
          </a:p>
          <a:p>
            <a:r>
              <a:rPr lang="en-US"/>
              <a:t>enabled for the inference-only mode in this profile. Bootstrap and aborted</a:t>
            </a:r>
          </a:p>
          <a:p>
            <a:r>
              <a:rPr lang="en-US"/>
              <a:t>attempts are excluded from the five successful rounds. Other runs can vary the</a:t>
            </a:r>
          </a:p>
          <a:p>
            <a:r>
              <a:rPr lang="en-US"/>
              <a:t>parameters, so the profile is not attributed to every historical result.</a:t>
            </a:r>
          </a:p>
          <a:p>
            <a:r>
              <a:rPr lang="en-US"/>
              <a:t>SMEW schedules campaigns/repetitions and validates reports; SMA supervises the</a:t>
            </a:r>
          </a:p>
          <a:p>
            <a:r>
              <a:rPr lang="en-US"/>
              <a:t>local TD subprocess and retrieves Prometheus data for the run window. The TD</a:t>
            </a:r>
          </a:p>
          <a:p>
            <a:r>
              <a:rPr lang="en-US"/>
              <a:t>drives the remote VITA-FL deployment, checks assertions and produces the verdict.</a:t>
            </a:r>
          </a:p>
          <a:p>
            <a:r>
              <a:rPr lang="en-US"/>
              <a:t>No general energy measurement is claimed. Measurements currently include round</a:t>
            </a:r>
          </a:p>
          <a:p>
            <a:r>
              <a:rPr lang="en-US"/>
              <a:t>progress, aborted attempts and transaction gas.</a:t>
            </a:r>
          </a:p>
          <a:p/>
          <a:p>
            <a:r>
              <a:rPr lang="en-US"/>
              <a:t>EXTERNAL ORACLES</a:t>
            </a:r>
          </a:p>
          <a:p>
            <a:r>
              <a:rPr lang="en-US"/>
              <a:t>configuration: five training parameters round-trip; invalid timeouts are rejected</a:t>
            </a:r>
          </a:p>
          <a:p>
            <a:r>
              <a:rPr lang="en-US"/>
              <a:t>with HTTP 400 and the saved configuration remains unchanged.</a:t>
            </a:r>
          </a:p>
          <a:p>
            <a:r>
              <a:rPr lang="en-US"/>
              <a:t>normal: completed nonempty rounds, count/root/policy consistency, unchanged frozen</a:t>
            </a:r>
          </a:p>
          <a:p>
            <a:r>
              <a:rPr lang="en-US"/>
              <a:t>roster and all-six-worker participation; finalized-model inference is verified.</a:t>
            </a:r>
          </a:p>
          <a:p>
            <a:r>
              <a:rPr lang="en-US"/>
              <a:t>early/partial/zero: a cooperative admin-controlled upload gate at the deployed</a:t>
            </a:r>
          </a:p>
          <a:p>
            <a:r>
              <a:rPr lang="en-US"/>
              <a:t>receiver limits accepted clients in the first training round. Respectively 5,</a:t>
            </a:r>
          </a:p>
          <a:p>
            <a:r>
              <a:rPr lang="en-US"/>
              <a:t>2 or 0 accepted inputs establish early closure, exact partial publication after</a:t>
            </a:r>
          </a:p>
          <a:p>
            <a:r>
              <a:rPr lang="en-US"/>
              <a:t>the deadline, or no publication followed by quorum recovery. This is explicit</a:t>
            </a:r>
          </a:p>
          <a:p>
            <a:r>
              <a:rPr lang="en-US"/>
              <a:t>test instrumentation; the gate is not described as a network outage. The receipt</a:t>
            </a:r>
          </a:p>
          <a:p>
            <a:r>
              <a:rPr lang="en-US"/>
              <a:t>of a gate command alone does not establish the expected contribution set.</a:t>
            </a:r>
          </a:p>
          <a:p>
            <a:r>
              <a:rPr lang="en-US"/>
              <a:t>recovery: stop and confirm the selected aggregator CVM, observe three distinct</a:t>
            </a:r>
          </a:p>
          <a:p>
            <a:r>
              <a:rPr lang="en-US"/>
              <a:t>eligible reports out of five voters, keep the old state below quorum, then prove</a:t>
            </a:r>
          </a:p>
          <a:p>
            <a:r>
              <a:rPr lang="en-US"/>
              <a:t>abort/reselection on the third vote and successful resumed publication. Restore</a:t>
            </a:r>
          </a:p>
          <a:p>
            <a:r>
              <a:rPr lang="en-US"/>
              <a:t>the CVM; cleanup failure invalidates the run. The local aggregator timer is not</a:t>
            </a:r>
          </a:p>
          <a:p>
            <a:r>
              <a:rPr lang="en-US"/>
              <a:t>replaced or advanced by the driver. Contract vote conditions remain separate.</a:t>
            </a:r>
          </a:p>
          <a:p>
            <a:r>
              <a:rPr lang="en-US"/>
              <a:t>security: 16 required checks comprise five UI/control checks, four read-only EVM</a:t>
            </a:r>
          </a:p>
          <a:p>
            <a:r>
              <a:rPr lang="en-US"/>
              <a:t>guards, one positive inference control and six inference authorization negatives.</a:t>
            </a:r>
          </a:p>
          <a:p>
            <a:r>
              <a:rPr lang="en-US"/>
              <a:t>EVM guards use eth_call; they do not submit an attack transaction. Wrong reasons,</a:t>
            </a:r>
          </a:p>
          <a:p>
            <a:r>
              <a:rPr lang="en-US"/>
              <a:t>TLS/network errors and unavailable positive controls do not count as rejection.</a:t>
            </a:r>
          </a:p>
          <a:p>
            <a:r>
              <a:rPr lang="en-US"/>
              <a:t>Audit: 17 additional checks are 10 SCITT publisher/inclusion checks, one AIR/TDX,</a:t>
            </a:r>
          </a:p>
          <a:p>
            <a:r>
              <a:rPr lang="en-US"/>
              <a:t>three attestation sessions and three Sello receipts. Re-fetch published bytes,</a:t>
            </a:r>
          </a:p>
          <a:p>
            <a:r>
              <a:rPr lang="en-US"/>
              <a:t>verify bindings to this run and local trust policy, decrypt owner-authorized</a:t>
            </a:r>
          </a:p>
          <a:p>
            <a:r>
              <a:rPr lang="en-US"/>
              <a:t>Sello context and request fresh Phala quote appraisal. This is independent</a:t>
            </a:r>
          </a:p>
          <a:p>
            <a:r>
              <a:rPr lang="en-US"/>
              <a:t>execution using production verifier primitives, not an independent Intel DCAP</a:t>
            </a:r>
          </a:p>
          <a:p>
            <a:r>
              <a:rPr lang="en-US"/>
              <a:t>implementation or a reconstruction of the original TLS/PoP handshake.</a:t>
            </a:r>
          </a:p>
          <a:p>
            <a:r>
              <a:rPr lang="en-US"/>
              <a:t>The audit spans inference-enabled scenarios; it is not a ninth scenario mode.</a:t>
            </a:r>
          </a:p>
          <a:p>
            <a:r>
              <a:rPr lang="en-US"/>
              <a:t>16 security checks and 17 audit checks are not added to the scenario count.</a:t>
            </a:r>
          </a:p>
          <a:p/>
          <a:p>
            <a:r>
              <a:rPr lang="en-US"/>
              <a:t>INTERPRETATION</a:t>
            </a:r>
          </a:p>
          <a:p>
            <a:r>
              <a:rPr lang="en-US"/>
              <a:t>This slide inventories configured tests, not clinical quality, LLM reasoning,</a:t>
            </a:r>
          </a:p>
          <a:p>
            <a:r>
              <a:rPr lang="en-US"/>
              <a:t>load capacity or complete coverage of Chapter 4 threats. Configuration and code</a:t>
            </a:r>
          </a:p>
          <a:p>
            <a:r>
              <a:rPr lang="en-US"/>
              <a:t>availability are kept separate from observed live outcomes. Existing reports</a:t>
            </a:r>
          </a:p>
          <a:p>
            <a:r>
              <a:rPr lang="en-US"/>
              <a:t>contain a five-round Recovery PASS and a complete 17-check audit; early, partial,</a:t>
            </a:r>
          </a:p>
          <a:p>
            <a:r>
              <a:rPr lang="en-US"/>
              <a:t>zero and security must not be described as demonstrated successes from that run.</a:t>
            </a:r>
          </a:p>
          <a:p>
            <a:r>
              <a:rPr lang="en-US"/>
              <a:t>A cross-boundary mapping in variant B connects related questions, not equivalent</a:t>
            </a:r>
          </a:p>
          <a:p>
            <a:r>
              <a:rPr lang="en-US"/>
              <a:t>coverage or one-to-one test cases. Some code properties have no live fault probe.</a:t>
            </a:r>
          </a:p>
          <a:p/>
          <a:p>
            <a:r>
              <a:rPr lang="en-US"/>
              <a:t>SOURCE MAP</a:t>
            </a:r>
          </a:p>
          <a:p>
            <a:r>
              <a:rPr lang="en-US"/>
              <a:t>Full current CI declaration manifest and source hashes: ci-inventory.json.</a:t>
            </a:r>
          </a:p>
          <a:p>
            <a:r>
              <a:rPr lang="en-US"/>
              <a:t>External scenario groups and public configuration: external-scope.json.</a:t>
            </a:r>
          </a:p>
          <a:p>
            <a:r>
              <a:rPr lang="en-US"/>
              <a:t>Presentation-facing labels/mapping: slide-data.json.</a:t>
            </a:r>
          </a:p>
          <a:p>
            <a:r>
              <a:rPr lang="en-US"/>
              <a:t>vita-fl/.github/workflows/ci.yml</a:t>
            </a:r>
          </a:p>
          <a:p>
            <a:r>
              <a:rPr lang="en-US"/>
              <a:t>vita-fl-td/src/vita_fl_td/config.py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vita-fl-td/docs/security-scenarios.md</a:t>
            </a:r>
          </a:p>
          <a:p>
            <a:r>
              <a:rPr lang="en-US"/>
              <a:t>vita-fl-td/docs/transparency-audit.md</a:t>
            </a:r>
          </a:p>
          <a:p>
            <a:r>
              <a:rPr lang="en-US"/>
              <a:t>SMEW/README.md</a:t>
            </a:r>
          </a:p>
          <a:p>
            <a:r>
              <a:rPr lang="en-US"/>
              <a:t>sustainability-measurement-agent/sma/sma.py</a:t>
            </a:r>
          </a:p>
          <a:p/>
          <a:p/>
          <a:p>
            <a:r>
              <a:rPr lang="en-US"/>
              <a:t>GROUP COUNTS</a:t>
            </a:r>
          </a:p>
          <a:p>
            <a:r>
              <a:rPr lang="en-US"/>
              <a:t>Learning &amp; model integrity: 78 — Data splits · aggregation math · model bindings</a:t>
            </a:r>
          </a:p>
          <a:p>
            <a:r>
              <a:rPr lang="en-US"/>
              <a:t>Round control &amp; recovery: 117 — Local timer · input closure · quorum · publication</a:t>
            </a:r>
          </a:p>
          <a:p>
            <a:r>
              <a:rPr lang="en-US"/>
              <a:t>Identity &amp; secure transport: 240 — Admission · quotes · keys · TLS · authorization</a:t>
            </a:r>
          </a:p>
          <a:p>
            <a:r>
              <a:rPr lang="en-US"/>
              <a:t>Inference &amp; agent workflow: 49 — MCP tools · job ownership · TEE/ZK workflow</a:t>
            </a:r>
          </a:p>
          <a:p>
            <a:r>
              <a:rPr lang="en-US"/>
              <a:t>Receipts &amp; provenance: 64 — AIR / Sello / SCITT · signatures · data provenance</a:t>
            </a:r>
          </a:p>
          <a:p>
            <a:r>
              <a:rPr lang="en-US"/>
              <a:t>Runtime control &amp; telemetry: 107 — Configuration · upload gates · worker telemetry</a:t>
            </a:r>
          </a:p>
          <a:p>
            <a:r>
              <a:rPr lang="en-US"/>
              <a:t>Deployment &amp; packaging: 223 — Image policy · revision order · Docker / Terraform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CI checks and external system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CI COVERAGE AND EXTERNAL TEST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408176"/>
            <a:ext cx="5312664" cy="3886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08176"/>
            <a:ext cx="5422392" cy="3886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408176"/>
            <a:ext cx="5312664" cy="640080"/>
          </a:xfrm>
          <a:prstGeom prst="rect">
            <a:avLst/>
          </a:prstGeom>
          <a:solidFill>
            <a:srgbClr val="EDF4FA"/>
          </a:solidFill>
          <a:ln w="10160"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08176"/>
            <a:ext cx="5422392" cy="640080"/>
          </a:xfrm>
          <a:prstGeom prst="rect">
            <a:avLst/>
          </a:prstGeom>
          <a:solidFill>
            <a:srgbClr val="F3EEF8"/>
          </a:solidFill>
          <a:ln w="10160">
            <a:solidFill>
              <a:srgbClr val="F3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I/external scope: CI · 878 definitions"/>
          <p:cNvSpPr txBox="1"/>
          <p:nvPr/>
        </p:nvSpPr>
        <p:spPr>
          <a:xfrm>
            <a:off x="832104" y="1490472"/>
            <a:ext cx="4928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1764A1"/>
                </a:solidFill>
                <a:latin typeface="Arial"/>
              </a:rPr>
              <a:t>CI · 878 definitions</a:t>
            </a:r>
          </a:p>
        </p:txBody>
      </p:sp>
      <p:sp>
        <p:nvSpPr>
          <p:cNvPr id="18" name="CI/external scope: Unit / component / integration · GitHub Actions"/>
          <p:cNvSpPr txBox="1"/>
          <p:nvPr/>
        </p:nvSpPr>
        <p:spPr>
          <a:xfrm>
            <a:off x="832104" y="1865376"/>
            <a:ext cx="49286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1764A1"/>
                </a:solidFill>
                <a:latin typeface="Arial"/>
              </a:rPr>
              <a:t>Unit / component / integration · GitHub Actions</a:t>
            </a:r>
          </a:p>
        </p:txBody>
      </p:sp>
      <p:sp>
        <p:nvSpPr>
          <p:cNvPr id="19" name="CI/external scope: External · 8 modes + audit"/>
          <p:cNvSpPr txBox="1"/>
          <p:nvPr/>
        </p:nvSpPr>
        <p:spPr>
          <a:xfrm>
            <a:off x="6318504" y="1490472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7446A6"/>
                </a:solidFill>
                <a:latin typeface="Arial"/>
              </a:rPr>
              <a:t>External · 8 modes + audit</a:t>
            </a:r>
          </a:p>
        </p:txBody>
      </p:sp>
      <p:sp>
        <p:nvSpPr>
          <p:cNvPr id="20" name="CI/external scope: SMEW → SMA → vita-fl-td · deployed VITA-FL in Phala"/>
          <p:cNvSpPr txBox="1"/>
          <p:nvPr/>
        </p:nvSpPr>
        <p:spPr>
          <a:xfrm>
            <a:off x="6318504" y="1865376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7446A6"/>
                </a:solidFill>
                <a:latin typeface="Arial"/>
              </a:rPr>
              <a:t>SMEW → SMA → vita-fl-td · deployed VITA-FL in Phala</a:t>
            </a:r>
          </a:p>
        </p:txBody>
      </p:sp>
      <p:sp>
        <p:nvSpPr>
          <p:cNvPr id="21" name="CI/external scope: Learning &amp; model integrity"/>
          <p:cNvSpPr txBox="1"/>
          <p:nvPr/>
        </p:nvSpPr>
        <p:spPr>
          <a:xfrm>
            <a:off x="832104" y="2148840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Learning &amp; model integrity</a:t>
            </a:r>
          </a:p>
        </p:txBody>
      </p:sp>
      <p:sp>
        <p:nvSpPr>
          <p:cNvPr id="22" name="CI/external scope: Data splits · aggregation math · model bindings"/>
          <p:cNvSpPr txBox="1"/>
          <p:nvPr/>
        </p:nvSpPr>
        <p:spPr>
          <a:xfrm>
            <a:off x="832104" y="2382012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Data splits · aggregation math · model bindings</a:t>
            </a:r>
          </a:p>
        </p:txBody>
      </p:sp>
      <p:sp>
        <p:nvSpPr>
          <p:cNvPr id="23" name="CI/external scope: 78"/>
          <p:cNvSpPr txBox="1"/>
          <p:nvPr/>
        </p:nvSpPr>
        <p:spPr>
          <a:xfrm>
            <a:off x="5230368" y="2185416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78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104" y="2583180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I/external scope: Round control &amp; recovery"/>
          <p:cNvSpPr txBox="1"/>
          <p:nvPr/>
        </p:nvSpPr>
        <p:spPr>
          <a:xfrm>
            <a:off x="832104" y="2587752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Round control &amp; recovery</a:t>
            </a:r>
          </a:p>
        </p:txBody>
      </p:sp>
      <p:sp>
        <p:nvSpPr>
          <p:cNvPr id="26" name="CI/external scope: Local timer · input closure · quorum · publication"/>
          <p:cNvSpPr txBox="1"/>
          <p:nvPr/>
        </p:nvSpPr>
        <p:spPr>
          <a:xfrm>
            <a:off x="832104" y="2820924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Local timer · input closure · quorum · publication</a:t>
            </a:r>
          </a:p>
        </p:txBody>
      </p:sp>
      <p:sp>
        <p:nvSpPr>
          <p:cNvPr id="27" name="CI/external scope: 117"/>
          <p:cNvSpPr txBox="1"/>
          <p:nvPr/>
        </p:nvSpPr>
        <p:spPr>
          <a:xfrm>
            <a:off x="5230368" y="262432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117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2104" y="3022092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I/external scope: Identity &amp; secure transport"/>
          <p:cNvSpPr txBox="1"/>
          <p:nvPr/>
        </p:nvSpPr>
        <p:spPr>
          <a:xfrm>
            <a:off x="832104" y="3026664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Identity &amp; secure transport</a:t>
            </a:r>
          </a:p>
        </p:txBody>
      </p:sp>
      <p:sp>
        <p:nvSpPr>
          <p:cNvPr id="30" name="CI/external scope: Admission · quotes · keys · TLS · authorization"/>
          <p:cNvSpPr txBox="1"/>
          <p:nvPr/>
        </p:nvSpPr>
        <p:spPr>
          <a:xfrm>
            <a:off x="832104" y="3259836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Admission · quotes · keys · TLS · authorization</a:t>
            </a:r>
          </a:p>
        </p:txBody>
      </p:sp>
      <p:sp>
        <p:nvSpPr>
          <p:cNvPr id="31" name="CI/external scope: 240"/>
          <p:cNvSpPr txBox="1"/>
          <p:nvPr/>
        </p:nvSpPr>
        <p:spPr>
          <a:xfrm>
            <a:off x="5230368" y="3063240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240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4" y="3461004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I/external scope: Inference &amp; agent workflow"/>
          <p:cNvSpPr txBox="1"/>
          <p:nvPr/>
        </p:nvSpPr>
        <p:spPr>
          <a:xfrm>
            <a:off x="832104" y="3465576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Inference &amp; agent workflow</a:t>
            </a:r>
          </a:p>
        </p:txBody>
      </p:sp>
      <p:sp>
        <p:nvSpPr>
          <p:cNvPr id="34" name="CI/external scope: MCP tools · job ownership · TEE/ZK workflow"/>
          <p:cNvSpPr txBox="1"/>
          <p:nvPr/>
        </p:nvSpPr>
        <p:spPr>
          <a:xfrm>
            <a:off x="832104" y="3698748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MCP tools · job ownership · TEE/ZK workflow</a:t>
            </a:r>
          </a:p>
        </p:txBody>
      </p:sp>
      <p:sp>
        <p:nvSpPr>
          <p:cNvPr id="35" name="CI/external scope: 49"/>
          <p:cNvSpPr txBox="1"/>
          <p:nvPr/>
        </p:nvSpPr>
        <p:spPr>
          <a:xfrm>
            <a:off x="5230368" y="3502152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49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2104" y="3899915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I/external scope: Receipts &amp; provenance"/>
          <p:cNvSpPr txBox="1"/>
          <p:nvPr/>
        </p:nvSpPr>
        <p:spPr>
          <a:xfrm>
            <a:off x="832104" y="3904487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Receipts &amp; provenance</a:t>
            </a:r>
          </a:p>
        </p:txBody>
      </p:sp>
      <p:sp>
        <p:nvSpPr>
          <p:cNvPr id="38" name="CI/external scope: AIR / Sello / SCITT · signatures · data provenance"/>
          <p:cNvSpPr txBox="1"/>
          <p:nvPr/>
        </p:nvSpPr>
        <p:spPr>
          <a:xfrm>
            <a:off x="832104" y="4137659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AIR / Sello / SCITT · signatures · data provenance</a:t>
            </a:r>
          </a:p>
        </p:txBody>
      </p:sp>
      <p:sp>
        <p:nvSpPr>
          <p:cNvPr id="39" name="CI/external scope: 64"/>
          <p:cNvSpPr txBox="1"/>
          <p:nvPr/>
        </p:nvSpPr>
        <p:spPr>
          <a:xfrm>
            <a:off x="5230368" y="3941063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64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2104" y="4338827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I/external scope: Runtime control &amp; telemetry"/>
          <p:cNvSpPr txBox="1"/>
          <p:nvPr/>
        </p:nvSpPr>
        <p:spPr>
          <a:xfrm>
            <a:off x="832104" y="4343400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Runtime control &amp; telemetry</a:t>
            </a:r>
          </a:p>
        </p:txBody>
      </p:sp>
      <p:sp>
        <p:nvSpPr>
          <p:cNvPr id="42" name="CI/external scope: Configuration · upload gates · worker telemetry"/>
          <p:cNvSpPr txBox="1"/>
          <p:nvPr/>
        </p:nvSpPr>
        <p:spPr>
          <a:xfrm>
            <a:off x="832104" y="4576572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Configuration · upload gates · worker telemetry</a:t>
            </a:r>
          </a:p>
        </p:txBody>
      </p:sp>
      <p:sp>
        <p:nvSpPr>
          <p:cNvPr id="43" name="CI/external scope: 107"/>
          <p:cNvSpPr txBox="1"/>
          <p:nvPr/>
        </p:nvSpPr>
        <p:spPr>
          <a:xfrm>
            <a:off x="5230368" y="4379976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107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2104" y="4777740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I/external scope: Deployment &amp; packaging"/>
          <p:cNvSpPr txBox="1"/>
          <p:nvPr/>
        </p:nvSpPr>
        <p:spPr>
          <a:xfrm>
            <a:off x="832104" y="4782312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Deployment &amp; packaging</a:t>
            </a:r>
          </a:p>
        </p:txBody>
      </p:sp>
      <p:sp>
        <p:nvSpPr>
          <p:cNvPr id="46" name="CI/external scope: Image policy · revision order · Docker / Terraform"/>
          <p:cNvSpPr txBox="1"/>
          <p:nvPr/>
        </p:nvSpPr>
        <p:spPr>
          <a:xfrm>
            <a:off x="832104" y="5015484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Image policy · revision order · Docker / Terraform</a:t>
            </a:r>
          </a:p>
        </p:txBody>
      </p:sp>
      <p:sp>
        <p:nvSpPr>
          <p:cNvPr id="47" name="CI/external scope: 223"/>
          <p:cNvSpPr txBox="1"/>
          <p:nvPr/>
        </p:nvSpPr>
        <p:spPr>
          <a:xfrm>
            <a:off x="5230368" y="481888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223</a:t>
            </a:r>
          </a:p>
        </p:txBody>
      </p:sp>
      <p:sp>
        <p:nvSpPr>
          <p:cNvPr id="48" name="CI/external scope: Settings · configuration"/>
          <p:cNvSpPr txBox="1"/>
          <p:nvPr/>
        </p:nvSpPr>
        <p:spPr>
          <a:xfrm>
            <a:off x="6318504" y="2148840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Settings · configuration</a:t>
            </a:r>
          </a:p>
        </p:txBody>
      </p:sp>
      <p:sp>
        <p:nvSpPr>
          <p:cNvPr id="49" name="CI/external scope: Save/read parameters; reject invalid deadlines"/>
          <p:cNvSpPr txBox="1"/>
          <p:nvPr/>
        </p:nvSpPr>
        <p:spPr>
          <a:xfrm>
            <a:off x="6318504" y="2418588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Save/read parameters; reject invalid deadlines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318504" y="2638044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I/external scope: Lifecycle · normal / inference"/>
          <p:cNvSpPr txBox="1"/>
          <p:nvPr/>
        </p:nvSpPr>
        <p:spPr>
          <a:xfrm>
            <a:off x="6318504" y="2656332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Lifecycle · normal / inference</a:t>
            </a:r>
          </a:p>
        </p:txBody>
      </p:sp>
      <p:sp>
        <p:nvSpPr>
          <p:cNvPr id="52" name="CI/external scope: Complete training; use and verify the finalized model"/>
          <p:cNvSpPr txBox="1"/>
          <p:nvPr/>
        </p:nvSpPr>
        <p:spPr>
          <a:xfrm>
            <a:off x="6318504" y="2926080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Complete training; use and verify the finalized model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318504" y="3145536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I/external scope: Collection · early / partial / zero"/>
          <p:cNvSpPr txBox="1"/>
          <p:nvPr/>
        </p:nvSpPr>
        <p:spPr>
          <a:xfrm>
            <a:off x="6318504" y="3163824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Collection · early / partial / zero</a:t>
            </a:r>
          </a:p>
        </p:txBody>
      </p:sp>
      <p:sp>
        <p:nvSpPr>
          <p:cNvPr id="55" name="CI/external scope: Close early, publish partial inputs, or recover from zero"/>
          <p:cNvSpPr txBox="1"/>
          <p:nvPr/>
        </p:nvSpPr>
        <p:spPr>
          <a:xfrm>
            <a:off x="6318504" y="3433572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Close early, publish partial inputs, or recover from zero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318504" y="3653028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I/external scope: Recovery · aggregator outage"/>
          <p:cNvSpPr txBox="1"/>
          <p:nvPr/>
        </p:nvSpPr>
        <p:spPr>
          <a:xfrm>
            <a:off x="6318504" y="3671316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Recovery · aggregator outage</a:t>
            </a:r>
          </a:p>
        </p:txBody>
      </p:sp>
      <p:sp>
        <p:nvSpPr>
          <p:cNvPr id="58" name="CI/external scope: Stop CVM; 1/3 → 2/3 → 3/3 votes; elect a replacement"/>
          <p:cNvSpPr txBox="1"/>
          <p:nvPr/>
        </p:nvSpPr>
        <p:spPr>
          <a:xfrm>
            <a:off x="6318504" y="3941064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Stop CVM; 1/3 → 2/3 → 3/3 votes; elect a replacement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318504" y="4160520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I/external scope: Security · access and contract guards"/>
          <p:cNvSpPr txBox="1"/>
          <p:nvPr/>
        </p:nvSpPr>
        <p:spPr>
          <a:xfrm>
            <a:off x="6318504" y="4178808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Security · access and contract guards</a:t>
            </a:r>
          </a:p>
        </p:txBody>
      </p:sp>
      <p:sp>
        <p:nvSpPr>
          <p:cNvPr id="61" name="CI/external scope: 16 checks: access, contracts + positive inference"/>
          <p:cNvSpPr txBox="1"/>
          <p:nvPr/>
        </p:nvSpPr>
        <p:spPr>
          <a:xfrm>
            <a:off x="6318504" y="4448556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16 checks: access, contracts + positive inference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318504" y="4668012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I/external scope: Evidence · published receipt audit"/>
          <p:cNvSpPr txBox="1"/>
          <p:nvPr/>
        </p:nvSpPr>
        <p:spPr>
          <a:xfrm>
            <a:off x="6318504" y="4686300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Evidence · published receipt audit</a:t>
            </a:r>
          </a:p>
        </p:txBody>
      </p:sp>
      <p:sp>
        <p:nvSpPr>
          <p:cNvPr id="64" name="CI/external scope: 17 checks: SCITT, AIR/TDX, sessions and Sello"/>
          <p:cNvSpPr txBox="1"/>
          <p:nvPr/>
        </p:nvSpPr>
        <p:spPr>
          <a:xfrm>
            <a:off x="6318504" y="4956048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17 checks: SCITT, AIR/TDX, sessions and Sello</a:t>
            </a:r>
          </a:p>
        </p:txBody>
      </p:sp>
      <p:sp>
        <p:nvSpPr>
          <p:cNvPr id="65" name="CI/external scope: Phala training profile: 6 workers · 5 successful rounds · client limit 5 · 45 s deadline. Counts ≠ passed runs."/>
          <p:cNvSpPr txBox="1"/>
          <p:nvPr/>
        </p:nvSpPr>
        <p:spPr>
          <a:xfrm>
            <a:off x="658368" y="5468112"/>
            <a:ext cx="10890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65737D"/>
                </a:solidFill>
                <a:latin typeface="Arial"/>
              </a:rPr>
              <a:t>Phala training profile: 6 workers · 5 successful rounds · client limit 5 · 45 s deadline. Counts ≠ passed runs.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One system, two complementary test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CI COVERAGE AND EXTERNAL TEST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CI/external scope: 878 CI definitions  +  8 external scenario modes and a receipt audit"/>
          <p:cNvSpPr txBox="1"/>
          <p:nvPr/>
        </p:nvSpPr>
        <p:spPr>
          <a:xfrm>
            <a:off x="658368" y="1389888"/>
            <a:ext cx="108905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lang="en-US">
                <a:solidFill>
                  <a:srgbClr val="263440"/>
                </a:solidFill>
                <a:latin typeface="Arial"/>
              </a:rPr>
              <a:t>878 CI definitions  +  8 external scenario modes and a receipt audit</a:t>
            </a:r>
          </a:p>
        </p:txBody>
      </p:sp>
      <p:sp>
        <p:nvSpPr>
          <p:cNvPr id="14" name="CI/external scope: TESTED AREA"/>
          <p:cNvSpPr txBox="1"/>
          <p:nvPr/>
        </p:nvSpPr>
        <p:spPr>
          <a:xfrm>
            <a:off x="786384" y="1847088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0" b="1" lang="en-US">
                <a:solidFill>
                  <a:srgbClr val="65737D"/>
                </a:solidFill>
                <a:latin typeface="Arial"/>
              </a:rPr>
              <a:t>TESTED AREA</a:t>
            </a:r>
          </a:p>
        </p:txBody>
      </p:sp>
      <p:sp>
        <p:nvSpPr>
          <p:cNvPr id="15" name="CI/external scope: CI #"/>
          <p:cNvSpPr txBox="1"/>
          <p:nvPr/>
        </p:nvSpPr>
        <p:spPr>
          <a:xfrm>
            <a:off x="2926080" y="1847088"/>
            <a:ext cx="530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0" b="1" lang="en-US">
                <a:solidFill>
                  <a:srgbClr val="65737D"/>
                </a:solidFill>
                <a:latin typeface="Arial"/>
              </a:rPr>
              <a:t>CI #</a:t>
            </a:r>
          </a:p>
        </p:txBody>
      </p:sp>
      <p:sp>
        <p:nvSpPr>
          <p:cNvPr id="16" name="CI/external scope: CI · UNIT / COMPONENT / INTEGRATION"/>
          <p:cNvSpPr txBox="1"/>
          <p:nvPr/>
        </p:nvSpPr>
        <p:spPr>
          <a:xfrm>
            <a:off x="3621024" y="1847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0" b="1" lang="en-US">
                <a:solidFill>
                  <a:srgbClr val="65737D"/>
                </a:solidFill>
                <a:latin typeface="Arial"/>
              </a:rPr>
              <a:t>CI · UNIT / COMPONENT / INTEGRATION</a:t>
            </a:r>
          </a:p>
        </p:txBody>
      </p:sp>
      <p:sp>
        <p:nvSpPr>
          <p:cNvPr id="17" name="CI/external scope: EXTERNAL · DEPLOYED VITA-FL"/>
          <p:cNvSpPr txBox="1"/>
          <p:nvPr/>
        </p:nvSpPr>
        <p:spPr>
          <a:xfrm>
            <a:off x="7616952" y="1847088"/>
            <a:ext cx="37307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0" b="1" lang="en-US">
                <a:solidFill>
                  <a:srgbClr val="65737D"/>
                </a:solidFill>
                <a:latin typeface="Arial"/>
              </a:rPr>
              <a:t>EXTERNAL · DEPLOYED VITA-FL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21992"/>
            <a:ext cx="10908792" cy="420624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I/external scope: Learning &amp; / model integrity"/>
          <p:cNvSpPr txBox="1"/>
          <p:nvPr/>
        </p:nvSpPr>
        <p:spPr>
          <a:xfrm>
            <a:off x="786384" y="2235708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Learning &amp;
model integrity</a:t>
            </a:r>
          </a:p>
        </p:txBody>
      </p:sp>
      <p:sp>
        <p:nvSpPr>
          <p:cNvPr id="20" name="CI/external scope: 78"/>
          <p:cNvSpPr txBox="1"/>
          <p:nvPr/>
        </p:nvSpPr>
        <p:spPr>
          <a:xfrm>
            <a:off x="2926080" y="2240280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78</a:t>
            </a:r>
          </a:p>
        </p:txBody>
      </p:sp>
      <p:sp>
        <p:nvSpPr>
          <p:cNvPr id="21" name="CI/external scope: Data partitions; aggregation math; / model-bundle authentication"/>
          <p:cNvSpPr txBox="1"/>
          <p:nvPr/>
        </p:nvSpPr>
        <p:spPr>
          <a:xfrm>
            <a:off x="3621024" y="2235708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Data partitions; aggregation math;
model-bundle authentication</a:t>
            </a:r>
          </a:p>
        </p:txBody>
      </p:sp>
      <p:sp>
        <p:nvSpPr>
          <p:cNvPr id="22" name="CI/external scope: normal: 5 completed training rounds / All six workers participate"/>
          <p:cNvSpPr txBox="1"/>
          <p:nvPr/>
        </p:nvSpPr>
        <p:spPr>
          <a:xfrm>
            <a:off x="7616952" y="2235708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normal: 5 completed training rounds
All six workers participate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51760"/>
            <a:ext cx="1090879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I/external scope: Round control / &amp; recovery"/>
          <p:cNvSpPr txBox="1"/>
          <p:nvPr/>
        </p:nvSpPr>
        <p:spPr>
          <a:xfrm>
            <a:off x="786384" y="2665476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Round control
&amp; recovery</a:t>
            </a:r>
          </a:p>
        </p:txBody>
      </p:sp>
      <p:sp>
        <p:nvSpPr>
          <p:cNvPr id="25" name="CI/external scope: 117"/>
          <p:cNvSpPr txBox="1"/>
          <p:nvPr/>
        </p:nvSpPr>
        <p:spPr>
          <a:xfrm>
            <a:off x="2926080" y="2670048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117</a:t>
            </a:r>
          </a:p>
        </p:txBody>
      </p:sp>
      <p:sp>
        <p:nvSpPr>
          <p:cNvPr id="26" name="CI/external scope: Local timer; closure; quorum; / atomic publication and round state"/>
          <p:cNvSpPr txBox="1"/>
          <p:nvPr/>
        </p:nvSpPr>
        <p:spPr>
          <a:xfrm>
            <a:off x="3621024" y="2665476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Local timer; closure; quorum;
atomic publication and round state</a:t>
            </a:r>
          </a:p>
        </p:txBody>
      </p:sp>
      <p:sp>
        <p:nvSpPr>
          <p:cNvPr id="27" name="CI/external scope: early / partial / zero; recovery / Deadline, 3-vote quorum, resumed rounds"/>
          <p:cNvSpPr txBox="1"/>
          <p:nvPr/>
        </p:nvSpPr>
        <p:spPr>
          <a:xfrm>
            <a:off x="7616952" y="2665476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early / partial / zero; recovery
Deadline, 3-vote quorum, resumed rounds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081528"/>
            <a:ext cx="10908792" cy="420624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I/external scope: Identity &amp; / secure transport"/>
          <p:cNvSpPr txBox="1"/>
          <p:nvPr/>
        </p:nvSpPr>
        <p:spPr>
          <a:xfrm>
            <a:off x="786384" y="3095244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Identity &amp;
secure transport</a:t>
            </a:r>
          </a:p>
        </p:txBody>
      </p:sp>
      <p:sp>
        <p:nvSpPr>
          <p:cNvPr id="30" name="CI/external scope: 240"/>
          <p:cNvSpPr txBox="1"/>
          <p:nvPr/>
        </p:nvSpPr>
        <p:spPr>
          <a:xfrm>
            <a:off x="2926080" y="3099816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240</a:t>
            </a:r>
          </a:p>
        </p:txBody>
      </p:sp>
      <p:sp>
        <p:nvSpPr>
          <p:cNvPr id="31" name="CI/external scope: Admission policies; key binding; / RA-TLS/mTLS and access control"/>
          <p:cNvSpPr txBox="1"/>
          <p:nvPr/>
        </p:nvSpPr>
        <p:spPr>
          <a:xfrm>
            <a:off x="3621024" y="3095244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Admission policies; key binding;
RA-TLS/mTLS and access control</a:t>
            </a:r>
          </a:p>
        </p:txBody>
      </p:sp>
      <p:sp>
        <p:nvSpPr>
          <p:cNvPr id="32" name="CI/external scope: security: reject missing/forged auth / Reject invalid coordination calls"/>
          <p:cNvSpPr txBox="1"/>
          <p:nvPr/>
        </p:nvSpPr>
        <p:spPr>
          <a:xfrm>
            <a:off x="7616952" y="3095244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security: reject missing/forged auth
Reject invalid coordination calls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511296"/>
            <a:ext cx="1090879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I/external scope: Inference &amp; / agent workflow"/>
          <p:cNvSpPr txBox="1"/>
          <p:nvPr/>
        </p:nvSpPr>
        <p:spPr>
          <a:xfrm>
            <a:off x="786384" y="3525012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Inference &amp;
agent workflow</a:t>
            </a:r>
          </a:p>
        </p:txBody>
      </p:sp>
      <p:sp>
        <p:nvSpPr>
          <p:cNvPr id="35" name="CI/external scope: 49"/>
          <p:cNvSpPr txBox="1"/>
          <p:nvPr/>
        </p:nvSpPr>
        <p:spPr>
          <a:xfrm>
            <a:off x="2926080" y="3529584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49</a:t>
            </a:r>
          </a:p>
        </p:txBody>
      </p:sp>
      <p:sp>
        <p:nvSpPr>
          <p:cNvPr id="36" name="CI/external scope: Tool API; job ownership; / TEE and ZK inference lifecycle"/>
          <p:cNvSpPr txBox="1"/>
          <p:nvPr/>
        </p:nvSpPr>
        <p:spPr>
          <a:xfrm>
            <a:off x="3621024" y="3525012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Tool API; job ownership;
TEE and ZK inference lifecycle</a:t>
            </a:r>
          </a:p>
        </p:txBody>
      </p:sp>
      <p:sp>
        <p:nvSpPr>
          <p:cNvPr id="37" name="CI/external scope: inference: finalized-model binding / Deployed agent and actual inference"/>
          <p:cNvSpPr txBox="1"/>
          <p:nvPr/>
        </p:nvSpPr>
        <p:spPr>
          <a:xfrm>
            <a:off x="7616952" y="3525012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inference: finalized-model binding
Deployed agent and actual inference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941064"/>
            <a:ext cx="10908792" cy="420624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I/external scope: Receipts &amp; / provenance"/>
          <p:cNvSpPr txBox="1"/>
          <p:nvPr/>
        </p:nvSpPr>
        <p:spPr>
          <a:xfrm>
            <a:off x="786384" y="3954780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Receipts &amp;
provenance</a:t>
            </a:r>
          </a:p>
        </p:txBody>
      </p:sp>
      <p:sp>
        <p:nvSpPr>
          <p:cNvPr id="40" name="CI/external scope: 64"/>
          <p:cNvSpPr txBox="1"/>
          <p:nvPr/>
        </p:nvSpPr>
        <p:spPr>
          <a:xfrm>
            <a:off x="2926080" y="3959352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64</a:t>
            </a:r>
          </a:p>
        </p:txBody>
      </p:sp>
      <p:sp>
        <p:nvSpPr>
          <p:cNvPr id="41" name="CI/external scope: AIR/Sello checks; log bindings; / signed training-data provenance"/>
          <p:cNvSpPr txBox="1"/>
          <p:nvPr/>
        </p:nvSpPr>
        <p:spPr>
          <a:xfrm>
            <a:off x="3621024" y="3954780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AIR/Sello checks; log bindings;
signed training-data provenance</a:t>
            </a:r>
          </a:p>
        </p:txBody>
      </p:sp>
      <p:sp>
        <p:nvSpPr>
          <p:cNvPr id="42" name="CI/external scope: 17-check published-evidence audit / SCITT · AIR/TDX · sessions · Sello"/>
          <p:cNvSpPr txBox="1"/>
          <p:nvPr/>
        </p:nvSpPr>
        <p:spPr>
          <a:xfrm>
            <a:off x="7616952" y="3954780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17-check published-evidence audit
SCITT · AIR/TDX · sessions · Sello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370831"/>
            <a:ext cx="1090879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I/external scope: Runtime control / &amp; telemetry"/>
          <p:cNvSpPr txBox="1"/>
          <p:nvPr/>
        </p:nvSpPr>
        <p:spPr>
          <a:xfrm>
            <a:off x="786384" y="4384547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Runtime control
&amp; telemetry</a:t>
            </a:r>
          </a:p>
        </p:txBody>
      </p:sp>
      <p:sp>
        <p:nvSpPr>
          <p:cNvPr id="45" name="CI/external scope: 107"/>
          <p:cNvSpPr txBox="1"/>
          <p:nvPr/>
        </p:nvSpPr>
        <p:spPr>
          <a:xfrm>
            <a:off x="2926080" y="4389119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107</a:t>
            </a:r>
          </a:p>
        </p:txBody>
      </p:sp>
      <p:sp>
        <p:nvSpPr>
          <p:cNvPr id="46" name="CI/external scope: Configuration validation; gate / control; signed-event metrics"/>
          <p:cNvSpPr txBox="1"/>
          <p:nvPr/>
        </p:nvSpPr>
        <p:spPr>
          <a:xfrm>
            <a:off x="3621024" y="4384547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Configuration validation; gate
control; signed-event metrics</a:t>
            </a:r>
          </a:p>
        </p:txBody>
      </p:sp>
      <p:sp>
        <p:nvSpPr>
          <p:cNvPr id="47" name="CI/external scope: configuration: exact settings readback / Invalid deadlines leave state unchanged"/>
          <p:cNvSpPr txBox="1"/>
          <p:nvPr/>
        </p:nvSpPr>
        <p:spPr>
          <a:xfrm>
            <a:off x="7616952" y="4384547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configuration: exact settings readback
Invalid deadlines leave state unchanged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800600"/>
            <a:ext cx="10908792" cy="420624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I/external scope: Deployment &amp; / packaging"/>
          <p:cNvSpPr txBox="1"/>
          <p:nvPr/>
        </p:nvSpPr>
        <p:spPr>
          <a:xfrm>
            <a:off x="786384" y="4814316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80" b="1" lang="en-US">
                <a:solidFill>
                  <a:srgbClr val="263440"/>
                </a:solidFill>
                <a:latin typeface="Arial"/>
              </a:rPr>
              <a:t>Deployment &amp;
packaging</a:t>
            </a:r>
          </a:p>
        </p:txBody>
      </p:sp>
      <p:sp>
        <p:nvSpPr>
          <p:cNvPr id="50" name="CI/external scope: 223"/>
          <p:cNvSpPr txBox="1"/>
          <p:nvPr/>
        </p:nvSpPr>
        <p:spPr>
          <a:xfrm>
            <a:off x="2926080" y="4818888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223</a:t>
            </a:r>
          </a:p>
        </p:txBody>
      </p:sp>
      <p:sp>
        <p:nvSpPr>
          <p:cNvPr id="51" name="CI/external scope: Images and deployment order; / Docker contexts; offline Terraform"/>
          <p:cNvSpPr txBox="1"/>
          <p:nvPr/>
        </p:nvSpPr>
        <p:spPr>
          <a:xfrm>
            <a:off x="3621024" y="4814316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Images and deployment order;
Docker contexts; offline Terraform</a:t>
            </a:r>
          </a:p>
        </p:txBody>
      </p:sp>
      <p:sp>
        <p:nvSpPr>
          <p:cNvPr id="52" name="CI/external scope: No external redeployment scenario / Run pins: image, chain and contracts"/>
          <p:cNvSpPr txBox="1"/>
          <p:nvPr/>
        </p:nvSpPr>
        <p:spPr>
          <a:xfrm>
            <a:off x="7616952" y="4814316"/>
            <a:ext cx="3730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7446A6"/>
                </a:solidFill>
                <a:latin typeface="Arial"/>
              </a:rPr>
              <a:t>No external redeployment scenario
Run pins: image, chain and contracts</a:t>
            </a:r>
          </a:p>
        </p:txBody>
      </p:sp>
      <p:sp>
        <p:nvSpPr>
          <p:cNvPr id="53" name="CI/external scope: CI: GitHub Actions / Ubuntu, push + PR + manual.  External: SMEW / SMA / TD → Phala."/>
          <p:cNvSpPr txBox="1"/>
          <p:nvPr/>
        </p:nvSpPr>
        <p:spPr>
          <a:xfrm>
            <a:off x="658368" y="5294376"/>
            <a:ext cx="108905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CI: GitHub Actions / Ubuntu, push + PR + manual.  External: SMEW / SMA / TD → Phala.</a:t>
            </a:r>
          </a:p>
        </p:txBody>
      </p:sp>
      <p:sp>
        <p:nvSpPr>
          <p:cNvPr id="54" name="CI/external scope: Phala training profile: 6 workers · 5 successful rounds · client limit 5 · 45 s deadline. Counts ≠ passed runs."/>
          <p:cNvSpPr txBox="1"/>
          <p:nvPr/>
        </p:nvSpPr>
        <p:spPr>
          <a:xfrm>
            <a:off x="658368" y="5522976"/>
            <a:ext cx="10890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65737D"/>
                </a:solidFill>
                <a:latin typeface="Arial"/>
              </a:rPr>
              <a:t>Phala training profile: 6 workers · 5 successful rounds · client limit 5 · 45 s deadline. Counts ≠ passed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From CI coverage to configured cloud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CI COVERAGE AND EXTERNAL TEST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408176"/>
            <a:ext cx="3831336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408176"/>
            <a:ext cx="3831336" cy="640080"/>
          </a:xfrm>
          <a:prstGeom prst="rect">
            <a:avLst/>
          </a:prstGeom>
          <a:solidFill>
            <a:srgbClr val="EDF4FA"/>
          </a:solidFill>
          <a:ln w="10160"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I/external scope: CI · 878 definitions"/>
          <p:cNvSpPr txBox="1"/>
          <p:nvPr/>
        </p:nvSpPr>
        <p:spPr>
          <a:xfrm>
            <a:off x="813816" y="1508760"/>
            <a:ext cx="34655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lang="en-US">
                <a:solidFill>
                  <a:srgbClr val="1764A1"/>
                </a:solidFill>
                <a:latin typeface="Arial"/>
              </a:rPr>
              <a:t>CI · 878 definitions</a:t>
            </a:r>
          </a:p>
        </p:txBody>
      </p:sp>
      <p:sp>
        <p:nvSpPr>
          <p:cNvPr id="16" name="CI/external scope: Unit / component / integration"/>
          <p:cNvSpPr txBox="1"/>
          <p:nvPr/>
        </p:nvSpPr>
        <p:spPr>
          <a:xfrm>
            <a:off x="813816" y="1869948"/>
            <a:ext cx="34655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1764A1"/>
                </a:solidFill>
                <a:latin typeface="Arial"/>
              </a:rPr>
              <a:t>Unit / component / integration</a:t>
            </a:r>
          </a:p>
        </p:txBody>
      </p:sp>
      <p:sp>
        <p:nvSpPr>
          <p:cNvPr id="17" name="CI/external scope: Learning &amp; models"/>
          <p:cNvSpPr txBox="1"/>
          <p:nvPr/>
        </p:nvSpPr>
        <p:spPr>
          <a:xfrm>
            <a:off x="822960" y="2194560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Learning &amp; models</a:t>
            </a:r>
          </a:p>
        </p:txBody>
      </p:sp>
      <p:sp>
        <p:nvSpPr>
          <p:cNvPr id="18" name="CI/external scope: Data splits · aggregation · model binding"/>
          <p:cNvSpPr txBox="1"/>
          <p:nvPr/>
        </p:nvSpPr>
        <p:spPr>
          <a:xfrm>
            <a:off x="822960" y="2432304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Data splits · aggregation · model binding</a:t>
            </a:r>
          </a:p>
        </p:txBody>
      </p:sp>
      <p:sp>
        <p:nvSpPr>
          <p:cNvPr id="19" name="CI/external scope: 78"/>
          <p:cNvSpPr txBox="1"/>
          <p:nvPr/>
        </p:nvSpPr>
        <p:spPr>
          <a:xfrm>
            <a:off x="3794760" y="2231136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78</a:t>
            </a:r>
          </a:p>
        </p:txBody>
      </p:sp>
      <p:sp>
        <p:nvSpPr>
          <p:cNvPr id="20" name="CI/external scope: Rounds &amp; recovery"/>
          <p:cNvSpPr txBox="1"/>
          <p:nvPr/>
        </p:nvSpPr>
        <p:spPr>
          <a:xfrm>
            <a:off x="822960" y="2601468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Rounds &amp; recovery</a:t>
            </a:r>
          </a:p>
        </p:txBody>
      </p:sp>
      <p:sp>
        <p:nvSpPr>
          <p:cNvPr id="21" name="CI/external scope: Timer · closure · quorum · publication"/>
          <p:cNvSpPr txBox="1"/>
          <p:nvPr/>
        </p:nvSpPr>
        <p:spPr>
          <a:xfrm>
            <a:off x="822960" y="2839211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Timer · closure · quorum · publication</a:t>
            </a:r>
          </a:p>
        </p:txBody>
      </p:sp>
      <p:sp>
        <p:nvSpPr>
          <p:cNvPr id="22" name="CI/external scope: 117"/>
          <p:cNvSpPr txBox="1"/>
          <p:nvPr/>
        </p:nvSpPr>
        <p:spPr>
          <a:xfrm>
            <a:off x="3794760" y="2638044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117</a:t>
            </a:r>
          </a:p>
        </p:txBody>
      </p:sp>
      <p:sp>
        <p:nvSpPr>
          <p:cNvPr id="23" name="CI/external scope: Identity &amp; transport"/>
          <p:cNvSpPr txBox="1"/>
          <p:nvPr/>
        </p:nvSpPr>
        <p:spPr>
          <a:xfrm>
            <a:off x="822960" y="3008376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Identity &amp; transport</a:t>
            </a:r>
          </a:p>
        </p:txBody>
      </p:sp>
      <p:sp>
        <p:nvSpPr>
          <p:cNvPr id="24" name="CI/external scope: Admission · attestation · keys · TLS"/>
          <p:cNvSpPr txBox="1"/>
          <p:nvPr/>
        </p:nvSpPr>
        <p:spPr>
          <a:xfrm>
            <a:off x="822960" y="3246120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Admission · attestation · keys · TLS</a:t>
            </a:r>
          </a:p>
        </p:txBody>
      </p:sp>
      <p:sp>
        <p:nvSpPr>
          <p:cNvPr id="25" name="CI/external scope: 240"/>
          <p:cNvSpPr txBox="1"/>
          <p:nvPr/>
        </p:nvSpPr>
        <p:spPr>
          <a:xfrm>
            <a:off x="3794760" y="3044952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240</a:t>
            </a:r>
          </a:p>
        </p:txBody>
      </p:sp>
      <p:sp>
        <p:nvSpPr>
          <p:cNvPr id="26" name="CI/external scope: Inference &amp; agents"/>
          <p:cNvSpPr txBox="1"/>
          <p:nvPr/>
        </p:nvSpPr>
        <p:spPr>
          <a:xfrm>
            <a:off x="822960" y="3415284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Inference &amp; agents</a:t>
            </a:r>
          </a:p>
        </p:txBody>
      </p:sp>
      <p:sp>
        <p:nvSpPr>
          <p:cNvPr id="27" name="CI/external scope: MCP tools · owned jobs · TEE/ZK"/>
          <p:cNvSpPr txBox="1"/>
          <p:nvPr/>
        </p:nvSpPr>
        <p:spPr>
          <a:xfrm>
            <a:off x="822960" y="3653028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MCP tools · owned jobs · TEE/ZK</a:t>
            </a:r>
          </a:p>
        </p:txBody>
      </p:sp>
      <p:sp>
        <p:nvSpPr>
          <p:cNvPr id="28" name="CI/external scope: 49"/>
          <p:cNvSpPr txBox="1"/>
          <p:nvPr/>
        </p:nvSpPr>
        <p:spPr>
          <a:xfrm>
            <a:off x="3794760" y="3451860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49</a:t>
            </a:r>
          </a:p>
        </p:txBody>
      </p:sp>
      <p:sp>
        <p:nvSpPr>
          <p:cNvPr id="29" name="CI/external scope: Receipts &amp; provenance"/>
          <p:cNvSpPr txBox="1"/>
          <p:nvPr/>
        </p:nvSpPr>
        <p:spPr>
          <a:xfrm>
            <a:off x="822960" y="3822191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Receipts &amp; provenance</a:t>
            </a:r>
          </a:p>
        </p:txBody>
      </p:sp>
      <p:sp>
        <p:nvSpPr>
          <p:cNvPr id="30" name="CI/external scope: AIR · Sello · SCITT · signed input"/>
          <p:cNvSpPr txBox="1"/>
          <p:nvPr/>
        </p:nvSpPr>
        <p:spPr>
          <a:xfrm>
            <a:off x="822960" y="4059935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AIR · Sello · SCITT · signed input</a:t>
            </a:r>
          </a:p>
        </p:txBody>
      </p:sp>
      <p:sp>
        <p:nvSpPr>
          <p:cNvPr id="31" name="CI/external scope: 64"/>
          <p:cNvSpPr txBox="1"/>
          <p:nvPr/>
        </p:nvSpPr>
        <p:spPr>
          <a:xfrm>
            <a:off x="3794760" y="3858768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64</a:t>
            </a:r>
          </a:p>
        </p:txBody>
      </p:sp>
      <p:sp>
        <p:nvSpPr>
          <p:cNvPr id="32" name="CI/external scope: Runtime &amp; telemetry"/>
          <p:cNvSpPr txBox="1"/>
          <p:nvPr/>
        </p:nvSpPr>
        <p:spPr>
          <a:xfrm>
            <a:off x="822960" y="4229100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Runtime &amp; telemetry</a:t>
            </a:r>
          </a:p>
        </p:txBody>
      </p:sp>
      <p:sp>
        <p:nvSpPr>
          <p:cNvPr id="33" name="CI/external scope: Settings · gates · signed-event metrics"/>
          <p:cNvSpPr txBox="1"/>
          <p:nvPr/>
        </p:nvSpPr>
        <p:spPr>
          <a:xfrm>
            <a:off x="822960" y="4466844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Settings · gates · signed-event metrics</a:t>
            </a:r>
          </a:p>
        </p:txBody>
      </p:sp>
      <p:sp>
        <p:nvSpPr>
          <p:cNvPr id="34" name="CI/external scope: 107"/>
          <p:cNvSpPr txBox="1"/>
          <p:nvPr/>
        </p:nvSpPr>
        <p:spPr>
          <a:xfrm>
            <a:off x="3794760" y="4265676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107</a:t>
            </a:r>
          </a:p>
        </p:txBody>
      </p:sp>
      <p:sp>
        <p:nvSpPr>
          <p:cNvPr id="35" name="CI/external scope: Deployment &amp; packaging"/>
          <p:cNvSpPr txBox="1"/>
          <p:nvPr/>
        </p:nvSpPr>
        <p:spPr>
          <a:xfrm>
            <a:off x="822960" y="4636008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Deployment &amp; packaging</a:t>
            </a:r>
          </a:p>
        </p:txBody>
      </p:sp>
      <p:sp>
        <p:nvSpPr>
          <p:cNvPr id="36" name="CI/external scope: Images · revisions · Docker · Terraform"/>
          <p:cNvSpPr txBox="1"/>
          <p:nvPr/>
        </p:nvSpPr>
        <p:spPr>
          <a:xfrm>
            <a:off x="822960" y="4873752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Images · revisions · Docker · Terraform</a:t>
            </a:r>
          </a:p>
        </p:txBody>
      </p:sp>
      <p:sp>
        <p:nvSpPr>
          <p:cNvPr id="37" name="CI/external scope: 223"/>
          <p:cNvSpPr txBox="1"/>
          <p:nvPr/>
        </p:nvSpPr>
        <p:spPr>
          <a:xfrm>
            <a:off x="3794760" y="4672584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223</a:t>
            </a:r>
          </a:p>
        </p:txBody>
      </p:sp>
      <p:sp>
        <p:nvSpPr>
          <p:cNvPr id="38" name="CI/external scope: GitHub Actions · Ubuntu · push / PR / manual"/>
          <p:cNvSpPr txBox="1"/>
          <p:nvPr/>
        </p:nvSpPr>
        <p:spPr>
          <a:xfrm>
            <a:off x="822960" y="5129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90" b="0" lang="en-US">
                <a:solidFill>
                  <a:srgbClr val="1764A1"/>
                </a:solidFill>
                <a:latin typeface="Arial"/>
              </a:rPr>
              <a:t>GitHub Actions · Ubuntu · push / PR / manual</a:t>
            </a:r>
          </a:p>
        </p:txBody>
      </p:sp>
      <p:sp>
        <p:nvSpPr>
          <p:cNvPr id="39" name="CI/external scope: 8 external scenario modes"/>
          <p:cNvSpPr txBox="1"/>
          <p:nvPr/>
        </p:nvSpPr>
        <p:spPr>
          <a:xfrm>
            <a:off x="4690872" y="1490472"/>
            <a:ext cx="684885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7446A6"/>
                </a:solidFill>
                <a:latin typeface="Arial"/>
              </a:rPr>
              <a:t>8 external scenario modes</a:t>
            </a:r>
          </a:p>
        </p:txBody>
      </p:sp>
      <p:sp>
        <p:nvSpPr>
          <p:cNvPr id="40" name="CI/external scope: SMEW / SMA / vita-fl-td → Phala"/>
          <p:cNvSpPr txBox="1"/>
          <p:nvPr/>
        </p:nvSpPr>
        <p:spPr>
          <a:xfrm>
            <a:off x="4690872" y="1879092"/>
            <a:ext cx="6848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7446A6"/>
                </a:solidFill>
                <a:latin typeface="Arial"/>
              </a:rPr>
              <a:t>SMEW / SMA / vita-fl-td → Phala</a:t>
            </a:r>
          </a:p>
        </p:txBody>
      </p:sp>
      <p:sp>
        <p:nvSpPr>
          <p:cNvPr id="41" name="CI/external scope: SCENARIO"/>
          <p:cNvSpPr txBox="1"/>
          <p:nvPr/>
        </p:nvSpPr>
        <p:spPr>
          <a:xfrm>
            <a:off x="4800600" y="2249424"/>
            <a:ext cx="1527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65737D"/>
                </a:solidFill>
                <a:latin typeface="Arial"/>
              </a:rPr>
              <a:t>SCENARIO</a:t>
            </a:r>
          </a:p>
        </p:txBody>
      </p:sp>
      <p:sp>
        <p:nvSpPr>
          <p:cNvPr id="42" name="CI/external scope: CONDITION → EXPECTED RESPONSE"/>
          <p:cNvSpPr txBox="1"/>
          <p:nvPr/>
        </p:nvSpPr>
        <p:spPr>
          <a:xfrm>
            <a:off x="6547104" y="2249424"/>
            <a:ext cx="47914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65737D"/>
                </a:solidFill>
                <a:latin typeface="Arial"/>
              </a:rPr>
              <a:t>CONDITION → EXPECTED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81728" y="2569464"/>
            <a:ext cx="6867144" cy="278892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I/external scope: configuration"/>
          <p:cNvSpPr txBox="1"/>
          <p:nvPr/>
        </p:nvSpPr>
        <p:spPr>
          <a:xfrm>
            <a:off x="4800600" y="2583180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configuration</a:t>
            </a:r>
          </a:p>
        </p:txBody>
      </p:sp>
      <p:sp>
        <p:nvSpPr>
          <p:cNvPr id="45" name="CI/external scope: Readback matches; invalid deadline rejected"/>
          <p:cNvSpPr txBox="1"/>
          <p:nvPr/>
        </p:nvSpPr>
        <p:spPr>
          <a:xfrm>
            <a:off x="6547104" y="2583180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Readback matches; invalid deadline rejected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81728" y="2857500"/>
            <a:ext cx="6867144" cy="2788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I/external scope: normal"/>
          <p:cNvSpPr txBox="1"/>
          <p:nvPr/>
        </p:nvSpPr>
        <p:spPr>
          <a:xfrm>
            <a:off x="4800600" y="2871216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normal</a:t>
            </a:r>
          </a:p>
        </p:txBody>
      </p:sp>
      <p:sp>
        <p:nvSpPr>
          <p:cNvPr id="48" name="CI/external scope: 5 completed rounds; final model verified"/>
          <p:cNvSpPr txBox="1"/>
          <p:nvPr/>
        </p:nvSpPr>
        <p:spPr>
          <a:xfrm>
            <a:off x="6547104" y="2871216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5 completed rounds; final model verified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81728" y="3145536"/>
            <a:ext cx="6867144" cy="278892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I/external scope: early"/>
          <p:cNvSpPr txBox="1"/>
          <p:nvPr/>
        </p:nvSpPr>
        <p:spPr>
          <a:xfrm>
            <a:off x="4800600" y="3159252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early</a:t>
            </a:r>
          </a:p>
        </p:txBody>
      </p:sp>
      <p:sp>
        <p:nvSpPr>
          <p:cNvPr id="51" name="CI/external scope: Accept 5/5 → close before the deadline"/>
          <p:cNvSpPr txBox="1"/>
          <p:nvPr/>
        </p:nvSpPr>
        <p:spPr>
          <a:xfrm>
            <a:off x="6547104" y="3159252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Accept 5/5 → close before the deadline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81728" y="3433572"/>
            <a:ext cx="6867144" cy="2788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I/external scope: partial"/>
          <p:cNvSpPr txBox="1"/>
          <p:nvPr/>
        </p:nvSpPr>
        <p:spPr>
          <a:xfrm>
            <a:off x="4800600" y="3447288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partial</a:t>
            </a:r>
          </a:p>
        </p:txBody>
      </p:sp>
      <p:sp>
        <p:nvSpPr>
          <p:cNvPr id="54" name="CI/external scope: Accept 2/5 → publish those 2 after timeout"/>
          <p:cNvSpPr txBox="1"/>
          <p:nvPr/>
        </p:nvSpPr>
        <p:spPr>
          <a:xfrm>
            <a:off x="6547104" y="3447288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Accept 2/5 → publish those 2 after timeout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81728" y="3721608"/>
            <a:ext cx="6867144" cy="278892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I/external scope: zero"/>
          <p:cNvSpPr txBox="1"/>
          <p:nvPr/>
        </p:nvSpPr>
        <p:spPr>
          <a:xfrm>
            <a:off x="4800600" y="3735324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zero</a:t>
            </a:r>
          </a:p>
        </p:txBody>
      </p:sp>
      <p:sp>
        <p:nvSpPr>
          <p:cNvPr id="57" name="CI/external scope: Accept 0/5 → no publication; quorum recovery"/>
          <p:cNvSpPr txBox="1"/>
          <p:nvPr/>
        </p:nvSpPr>
        <p:spPr>
          <a:xfrm>
            <a:off x="6547104" y="3735324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Accept 0/5 → no publication; quorum recovery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81728" y="4009644"/>
            <a:ext cx="6867144" cy="2788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I/external scope: recovery"/>
          <p:cNvSpPr txBox="1"/>
          <p:nvPr/>
        </p:nvSpPr>
        <p:spPr>
          <a:xfrm>
            <a:off x="4800600" y="4023359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recovery</a:t>
            </a:r>
          </a:p>
        </p:txBody>
      </p:sp>
      <p:sp>
        <p:nvSpPr>
          <p:cNvPr id="60" name="CI/external scope: Stop aggregator → quorum → new aggregator"/>
          <p:cNvSpPr txBox="1"/>
          <p:nvPr/>
        </p:nvSpPr>
        <p:spPr>
          <a:xfrm>
            <a:off x="6547104" y="4023359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Stop aggregator → quorum → new aggregator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1728" y="4297680"/>
            <a:ext cx="6867144" cy="278892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I/external scope: inference"/>
          <p:cNvSpPr txBox="1"/>
          <p:nvPr/>
        </p:nvSpPr>
        <p:spPr>
          <a:xfrm>
            <a:off x="4800600" y="4311396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inference</a:t>
            </a:r>
          </a:p>
        </p:txBody>
      </p:sp>
      <p:sp>
        <p:nvSpPr>
          <p:cNvPr id="63" name="CI/external scope: Verify inference using the finalized model"/>
          <p:cNvSpPr txBox="1"/>
          <p:nvPr/>
        </p:nvSpPr>
        <p:spPr>
          <a:xfrm>
            <a:off x="6547104" y="4311396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Verify inference using the finalized model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81728" y="4585716"/>
            <a:ext cx="6867144" cy="2788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I/external scope: security"/>
          <p:cNvSpPr txBox="1"/>
          <p:nvPr/>
        </p:nvSpPr>
        <p:spPr>
          <a:xfrm>
            <a:off x="4800600" y="4599432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security</a:t>
            </a:r>
          </a:p>
        </p:txBody>
      </p:sp>
      <p:sp>
        <p:nvSpPr>
          <p:cNvPr id="66" name="CI/external scope: 16 checks: access, contracts + positive control"/>
          <p:cNvSpPr txBox="1"/>
          <p:nvPr/>
        </p:nvSpPr>
        <p:spPr>
          <a:xfrm>
            <a:off x="6547104" y="4599432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16 checks: access, contracts + positive control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81728" y="4983480"/>
            <a:ext cx="6867144" cy="338328"/>
          </a:xfrm>
          <a:prstGeom prst="rect">
            <a:avLst/>
          </a:prstGeom>
          <a:solidFill>
            <a:srgbClr val="F3EEF8"/>
          </a:solidFill>
          <a:ln w="10160">
            <a:solidFill>
              <a:srgbClr val="F3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I/external scope: Additional audit: 17 checks of published SCITT / AIR / TDX / Sello evidence"/>
          <p:cNvSpPr txBox="1"/>
          <p:nvPr/>
        </p:nvSpPr>
        <p:spPr>
          <a:xfrm>
            <a:off x="4809744" y="5020056"/>
            <a:ext cx="65928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 lang="en-US">
                <a:solidFill>
                  <a:srgbClr val="7446A6"/>
                </a:solidFill>
                <a:latin typeface="Arial"/>
              </a:rPr>
              <a:t>Additional audit: 17 checks of published SCITT / AIR / TDX / Sello evidence</a:t>
            </a:r>
          </a:p>
        </p:txBody>
      </p:sp>
      <p:sp>
        <p:nvSpPr>
          <p:cNvPr id="69" name="CI/external scope: Phala training profile: 6 workers · 5 successful rounds · client limit 5 · 45 s deadline. Counts ≠ passed runs."/>
          <p:cNvSpPr txBox="1"/>
          <p:nvPr/>
        </p:nvSpPr>
        <p:spPr>
          <a:xfrm>
            <a:off x="658368" y="5468112"/>
            <a:ext cx="10890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65737D"/>
                </a:solidFill>
                <a:latin typeface="Arial"/>
              </a:rPr>
              <a:t>Phala training profile: 6 workers · 5 successful rounds · client limit 5 · 45 s deadline. Counts ≠ passed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CI coverage and external test configuration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