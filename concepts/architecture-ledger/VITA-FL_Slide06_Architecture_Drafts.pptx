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8"/>
  </p:notesMasterIdLst>
  <p:sldIdLst>
    <p:sldId id="256" r:id="rId7"/>
    <p:sldId id="257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0D1E"/>
    <a:srgbClr val="9013FE"/>
    <a:srgbClr val="1F90CC"/>
    <a:srgbClr val="434343"/>
    <a:srgbClr val="C40E02"/>
    <a:srgbClr val="FFFFFF"/>
    <a:srgbClr val="49CB40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16.06.2025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Layout proposal A: infrastructure between the two blocks for slide 6. Green denotes model production; purple denotes blockchain and IPFS; blue denotes agent orchestration, inference and evidence logging. The DFL and agent/inference responsibilities remain separate; shared infrastructure is not a third execution responsibility. These boxes are functional groups, not deployment or attestation boundaries.</a:t>
            </a:r>
          </a:p>
          <a:p/>
          <a:p>
            <a:r>
              <a:rPr lang="en-US"/>
              <a:t>Ledger -&gt; Receiver TEE supplies the finalized model reference: CIDs, round and publisher key. IPFS -&gt; Receiver TEE supplies the signed, encrypted model bundle and associated artifacts. The receiver independently resolves, retrieves and verifies them. Purple arrowheads depict incoming information; the receiver initiates retrieval. The ledger does not upload model bytes to IPFS. DFL publication arrows summarize the active aggregator publishing artifacts and their references.</a:t>
            </a:r>
          </a:p>
          <a:p/>
          <a:p>
            <a:r>
              <a:rPr lang="en-US"/>
              <a:t>Local code references: vita-fl/tee_inference/service/model_source.py:218; vita-fl/agent/blockchain_source.py:354,544. The MCP/log chain is the existing slide's compact view of tools and evidence, not a detailed call-sequence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Layout proposal B: shared infrastructure below the two blocks for slide 6. Green denotes model production; purple denotes blockchain and IPFS; blue denotes agent orchestration, inference and evidence logging. The DFL and agent/inference responsibilities remain separate; shared infrastructure is not a third execution responsibility. These boxes are functional groups, not deployment or attestation boundaries.</a:t>
            </a:r>
          </a:p>
          <a:p/>
          <a:p>
            <a:r>
              <a:rPr lang="en-US"/>
              <a:t>Ledger -&gt; Receiver TEE supplies the finalized model reference: CIDs, round and publisher key. IPFS -&gt; Receiver TEE supplies the signed, encrypted model bundle and associated artifacts. The receiver independently resolves, retrieves and verifies them. Purple arrowheads depict incoming information; the receiver initiates retrieval. The ledger does not upload model bytes to IPFS. DFL publication arrows summarize the active aggregator publishing artifacts and their references.</a:t>
            </a:r>
          </a:p>
          <a:p/>
          <a:p>
            <a:r>
              <a:rPr lang="en-US"/>
              <a:t>Local code references: vita-fl/tee_inference/service/model_source.py:218; vita-fl/agent/blockchain_source.py:354,544. The MCP/log chain is the existing slide's compact view of tools and evidence, not a detailed call-sequence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 lang="en-US">
                <a:solidFill>
                  <a:srgbClr val="434343"/>
                </a:solidFill>
                <a:latin typeface="Arial"/>
              </a:rPr>
              <a:t>VITA-FL: two responsibility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Page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169920" y="6492240"/>
            <a:ext cx="5417820" cy="3124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15640" y="6537960"/>
            <a:ext cx="701040" cy="21336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6560820"/>
            <a:ext cx="548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08120" y="6537960"/>
            <a:ext cx="1752600" cy="213360"/>
          </a:xfrm>
          <a:prstGeom prst="rect">
            <a:avLst/>
          </a:prstGeom>
          <a:solidFill>
            <a:srgbClr val="7446A6"/>
          </a:solidFill>
          <a:ln w="6985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84320" y="6560820"/>
            <a:ext cx="160020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Blockchain / IPFS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6537960"/>
            <a:ext cx="2682240" cy="21336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28360" y="6560820"/>
            <a:ext cx="25298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 / MCP / Inference / 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" y="1508760"/>
            <a:ext cx="3108960" cy="3200400"/>
          </a:xfrm>
          <a:prstGeom prst="roundRect">
            <a:avLst/>
          </a:prstGeom>
          <a:solidFill>
            <a:srgbClr val="EDF6F0"/>
          </a:solidFill>
          <a:ln w="13970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86200" y="1508760"/>
            <a:ext cx="2432304" cy="3611880"/>
          </a:xfrm>
          <a:prstGeom prst="roundRect">
            <a:avLst/>
          </a:prstGeom>
          <a:solidFill>
            <a:srgbClr val="F3EEF8"/>
          </a:solidFill>
          <a:ln w="1397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19672" y="1508760"/>
            <a:ext cx="5093208" cy="3200400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Shared group frame: DFL and infrastructure / 1"/>
          <p:cNvCxnSpPr/>
          <p:nvPr/>
        </p:nvCxnSpPr>
        <p:spPr>
          <a:xfrm>
            <a:off x="438912" y="1380744"/>
            <a:ext cx="5952744" cy="0"/>
          </a:xfrm>
          <a:prstGeom prst="line">
            <a:avLst/>
          </a:prstGeom>
          <a:ln w="1397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hared group frame: DFL and infrastructure / 2"/>
          <p:cNvCxnSpPr/>
          <p:nvPr/>
        </p:nvCxnSpPr>
        <p:spPr>
          <a:xfrm>
            <a:off x="6391656" y="1380744"/>
            <a:ext cx="0" cy="3867912"/>
          </a:xfrm>
          <a:prstGeom prst="line">
            <a:avLst/>
          </a:prstGeom>
          <a:ln w="1397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hared group frame: DFL and infrastructure / 3"/>
          <p:cNvCxnSpPr/>
          <p:nvPr/>
        </p:nvCxnSpPr>
        <p:spPr>
          <a:xfrm flipH="1">
            <a:off x="438912" y="5248656"/>
            <a:ext cx="5952744" cy="0"/>
          </a:xfrm>
          <a:prstGeom prst="line">
            <a:avLst/>
          </a:prstGeom>
          <a:ln w="1397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hared group frame: DFL and infrastructure / 4"/>
          <p:cNvCxnSpPr/>
          <p:nvPr/>
        </p:nvCxnSpPr>
        <p:spPr>
          <a:xfrm flipV="1">
            <a:off x="438912" y="1380744"/>
            <a:ext cx="0" cy="3867912"/>
          </a:xfrm>
          <a:prstGeom prst="line">
            <a:avLst/>
          </a:prstGeom>
          <a:ln w="1397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hared group frame: Infrastructure and agent / 1"/>
          <p:cNvCxnSpPr/>
          <p:nvPr/>
        </p:nvCxnSpPr>
        <p:spPr>
          <a:xfrm>
            <a:off x="3785615" y="1298448"/>
            <a:ext cx="7973569" cy="0"/>
          </a:xfrm>
          <a:prstGeom prst="line">
            <a:avLst/>
          </a:prstGeom>
          <a:ln w="1397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hared group frame: Infrastructure and agent / 2"/>
          <p:cNvCxnSpPr/>
          <p:nvPr/>
        </p:nvCxnSpPr>
        <p:spPr>
          <a:xfrm>
            <a:off x="11759184" y="1298448"/>
            <a:ext cx="0" cy="4078224"/>
          </a:xfrm>
          <a:prstGeom prst="line">
            <a:avLst/>
          </a:prstGeom>
          <a:ln w="1397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hared group frame: Infrastructure and agent / 3"/>
          <p:cNvCxnSpPr/>
          <p:nvPr/>
        </p:nvCxnSpPr>
        <p:spPr>
          <a:xfrm flipH="1">
            <a:off x="3785615" y="5376672"/>
            <a:ext cx="7973569" cy="0"/>
          </a:xfrm>
          <a:prstGeom prst="line">
            <a:avLst/>
          </a:prstGeom>
          <a:ln w="1397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hared group frame: Infrastructure and agent / 4"/>
          <p:cNvCxnSpPr/>
          <p:nvPr/>
        </p:nvCxnSpPr>
        <p:spPr>
          <a:xfrm flipV="1">
            <a:off x="3785615" y="1298448"/>
            <a:ext cx="0" cy="4078224"/>
          </a:xfrm>
          <a:prstGeom prst="line">
            <a:avLst/>
          </a:prstGeom>
          <a:ln w="1397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95528" y="171907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lang="en-US">
                <a:solidFill>
                  <a:srgbClr val="207548"/>
                </a:solidFill>
                <a:latin typeface="Arial"/>
              </a:rPr>
              <a:t>DFL BLOCK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1719072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lang="en-US">
                <a:solidFill>
                  <a:srgbClr val="7446A6"/>
                </a:solidFill>
                <a:latin typeface="Arial"/>
              </a:rPr>
              <a:t>BLOCKCHAIN / IPFS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9984" y="171907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lang="en-US">
                <a:solidFill>
                  <a:srgbClr val="1764A1"/>
                </a:solidFill>
                <a:latin typeface="Arial"/>
              </a:rPr>
              <a:t>AGENT AND INFERENCE BLOCK</a:t>
            </a:r>
          </a:p>
        </p:txBody>
      </p:sp>
      <p:sp>
        <p:nvSpPr>
          <p:cNvPr id="29" name="Data"/>
          <p:cNvSpPr/>
          <p:nvPr/>
        </p:nvSpPr>
        <p:spPr>
          <a:xfrm>
            <a:off x="795528" y="2340864"/>
            <a:ext cx="1133856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2432304"/>
            <a:ext cx="9509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lang="en-US">
                <a:solidFill>
                  <a:srgbClr val="207548"/>
                </a:solidFill>
                <a:latin typeface="Arial"/>
              </a:rPr>
              <a:t>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2807208"/>
            <a:ext cx="950976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lang="en-US">
                <a:solidFill>
                  <a:srgbClr val="434343"/>
                </a:solidFill>
                <a:latin typeface="Arial"/>
              </a:rPr>
              <a:t>Signed
input</a:t>
            </a:r>
          </a:p>
        </p:txBody>
      </p:sp>
      <p:sp>
        <p:nvSpPr>
          <p:cNvPr id="32" name="Worker"/>
          <p:cNvSpPr/>
          <p:nvPr/>
        </p:nvSpPr>
        <p:spPr>
          <a:xfrm>
            <a:off x="2167128" y="2340864"/>
            <a:ext cx="1271016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58568" y="2432304"/>
            <a:ext cx="10881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lang="en-US">
                <a:solidFill>
                  <a:srgbClr val="207548"/>
                </a:solidFill>
                <a:latin typeface="Arial"/>
              </a:rPr>
              <a:t>WORKER TEE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58568" y="2807208"/>
            <a:ext cx="1088136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lang="en-US">
                <a:solidFill>
                  <a:srgbClr val="434343"/>
                </a:solidFill>
                <a:latin typeface="Arial"/>
              </a:rPr>
              <a:t>Attested
training</a:t>
            </a:r>
          </a:p>
        </p:txBody>
      </p:sp>
      <p:sp>
        <p:nvSpPr>
          <p:cNvPr id="35" name="Ledger"/>
          <p:cNvSpPr/>
          <p:nvPr/>
        </p:nvSpPr>
        <p:spPr>
          <a:xfrm>
            <a:off x="4096512" y="2340864"/>
            <a:ext cx="20116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87952" y="243230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lang="en-US">
                <a:solidFill>
                  <a:srgbClr val="7446A6"/>
                </a:solidFill>
                <a:latin typeface="Arial"/>
              </a:rPr>
              <a:t>LEDGER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87952" y="2807208"/>
            <a:ext cx="1828800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lang="en-US">
                <a:solidFill>
                  <a:srgbClr val="434343"/>
                </a:solidFill>
                <a:latin typeface="Arial"/>
              </a:rPr>
              <a:t>Finalized
model reference</a:t>
            </a:r>
          </a:p>
        </p:txBody>
      </p:sp>
      <p:sp>
        <p:nvSpPr>
          <p:cNvPr id="38" name="IPFS"/>
          <p:cNvSpPr/>
          <p:nvPr/>
        </p:nvSpPr>
        <p:spPr>
          <a:xfrm>
            <a:off x="4096512" y="3685032"/>
            <a:ext cx="20116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87952" y="37764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lang="en-US">
                <a:solidFill>
                  <a:srgbClr val="7446A6"/>
                </a:solidFill>
                <a:latin typeface="Arial"/>
              </a:rPr>
              <a:t>IPFS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87952" y="4151376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lang="en-US">
                <a:solidFill>
                  <a:srgbClr val="434343"/>
                </a:solidFill>
                <a:latin typeface="Arial"/>
              </a:rPr>
              <a:t>Signed, encrypted
model bundle</a:t>
            </a:r>
          </a:p>
        </p:txBody>
      </p:sp>
      <p:sp>
        <p:nvSpPr>
          <p:cNvPr id="41" name="Receiver"/>
          <p:cNvSpPr/>
          <p:nvPr/>
        </p:nvSpPr>
        <p:spPr>
          <a:xfrm>
            <a:off x="6775704" y="2340864"/>
            <a:ext cx="1929384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67144" y="2432304"/>
            <a:ext cx="17465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lang="en-US">
                <a:solidFill>
                  <a:srgbClr val="1764A1"/>
                </a:solidFill>
                <a:latin typeface="Arial"/>
              </a:rPr>
              <a:t>RECEIVER TEE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67144" y="2807208"/>
            <a:ext cx="1746504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lang="en-US">
                <a:solidFill>
                  <a:srgbClr val="434343"/>
                </a:solidFill>
                <a:latin typeface="Arial"/>
              </a:rPr>
              <a:t>Resolve
and infer</a:t>
            </a:r>
          </a:p>
        </p:txBody>
      </p:sp>
      <p:sp>
        <p:nvSpPr>
          <p:cNvPr id="44" name="MCP"/>
          <p:cNvSpPr/>
          <p:nvPr/>
        </p:nvSpPr>
        <p:spPr>
          <a:xfrm>
            <a:off x="8979408" y="2340864"/>
            <a:ext cx="1042415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70848" y="2432304"/>
            <a:ext cx="859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lang="en-US">
                <a:solidFill>
                  <a:srgbClr val="1764A1"/>
                </a:solidFill>
                <a:latin typeface="Arial"/>
              </a:rPr>
              <a:t>MCP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70848" y="2807208"/>
            <a:ext cx="859536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lang="en-US">
                <a:solidFill>
                  <a:srgbClr val="434343"/>
                </a:solidFill>
                <a:latin typeface="Arial"/>
              </a:rPr>
              <a:t>Bounded
tools</a:t>
            </a:r>
          </a:p>
        </p:txBody>
      </p:sp>
      <p:sp>
        <p:nvSpPr>
          <p:cNvPr id="47" name="Log"/>
          <p:cNvSpPr/>
          <p:nvPr/>
        </p:nvSpPr>
        <p:spPr>
          <a:xfrm>
            <a:off x="10287000" y="2340864"/>
            <a:ext cx="107899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378440" y="2432304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lang="en-US">
                <a:solidFill>
                  <a:srgbClr val="1764A1"/>
                </a:solidFill>
                <a:latin typeface="Arial"/>
              </a:rPr>
              <a:t>LOG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78440" y="2807208"/>
            <a:ext cx="896112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lang="en-US">
                <a:solidFill>
                  <a:srgbClr val="434343"/>
                </a:solidFill>
                <a:latin typeface="Arial"/>
              </a:rPr>
              <a:t>Receipts /
evidence</a:t>
            </a:r>
          </a:p>
        </p:txBody>
      </p:sp>
      <p:cxnSp>
        <p:nvCxnSpPr>
          <p:cNvPr id="50" name="Data to worker / 1"/>
          <p:cNvCxnSpPr/>
          <p:nvPr/>
        </p:nvCxnSpPr>
        <p:spPr>
          <a:xfrm>
            <a:off x="1956816" y="2866644"/>
            <a:ext cx="182880" cy="0"/>
          </a:xfrm>
          <a:prstGeom prst="line">
            <a:avLst/>
          </a:prstGeom>
          <a:ln w="17780">
            <a:solidFill>
              <a:srgbClr val="2075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Publish reference / 1"/>
          <p:cNvCxnSpPr/>
          <p:nvPr/>
        </p:nvCxnSpPr>
        <p:spPr>
          <a:xfrm>
            <a:off x="3465576" y="2866644"/>
            <a:ext cx="594360" cy="0"/>
          </a:xfrm>
          <a:prstGeom prst="line">
            <a:avLst/>
          </a:prstGeom>
          <a:ln w="22860">
            <a:solidFill>
              <a:srgbClr val="2075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Publish artifacts / 1"/>
          <p:cNvCxnSpPr/>
          <p:nvPr/>
        </p:nvCxnSpPr>
        <p:spPr>
          <a:xfrm>
            <a:off x="2802636" y="3429000"/>
            <a:ext cx="0" cy="804672"/>
          </a:xfrm>
          <a:prstGeom prst="line">
            <a:avLst/>
          </a:prstGeom>
          <a:ln w="22860">
            <a:solidFill>
              <a:srgbClr val="207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Publish artifacts / 2"/>
          <p:cNvCxnSpPr/>
          <p:nvPr/>
        </p:nvCxnSpPr>
        <p:spPr>
          <a:xfrm>
            <a:off x="2802636" y="4233672"/>
            <a:ext cx="1257300" cy="0"/>
          </a:xfrm>
          <a:prstGeom prst="line">
            <a:avLst/>
          </a:prstGeom>
          <a:ln w="22860">
            <a:solidFill>
              <a:srgbClr val="2075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Ledger to receiver / 1"/>
          <p:cNvCxnSpPr/>
          <p:nvPr/>
        </p:nvCxnSpPr>
        <p:spPr>
          <a:xfrm>
            <a:off x="6135624" y="2866644"/>
            <a:ext cx="603504" cy="0"/>
          </a:xfrm>
          <a:prstGeom prst="line">
            <a:avLst/>
          </a:prstGeom>
          <a:ln w="27940">
            <a:solidFill>
              <a:srgbClr val="744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IPFS to receiver / 1"/>
          <p:cNvCxnSpPr/>
          <p:nvPr/>
        </p:nvCxnSpPr>
        <p:spPr>
          <a:xfrm>
            <a:off x="6135624" y="4233672"/>
            <a:ext cx="320040" cy="0"/>
          </a:xfrm>
          <a:prstGeom prst="line">
            <a:avLst/>
          </a:prstGeom>
          <a:ln w="27940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IPFS to receiver / 2"/>
          <p:cNvCxnSpPr/>
          <p:nvPr/>
        </p:nvCxnSpPr>
        <p:spPr>
          <a:xfrm flipV="1">
            <a:off x="6455664" y="3163824"/>
            <a:ext cx="0" cy="1069848"/>
          </a:xfrm>
          <a:prstGeom prst="line">
            <a:avLst/>
          </a:prstGeom>
          <a:ln w="27940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IPFS to receiver / 3"/>
          <p:cNvCxnSpPr/>
          <p:nvPr/>
        </p:nvCxnSpPr>
        <p:spPr>
          <a:xfrm>
            <a:off x="6455664" y="3163824"/>
            <a:ext cx="283464" cy="0"/>
          </a:xfrm>
          <a:prstGeom prst="line">
            <a:avLst/>
          </a:prstGeom>
          <a:ln w="27940">
            <a:solidFill>
              <a:srgbClr val="744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Receiver to MCP / 1"/>
          <p:cNvCxnSpPr/>
          <p:nvPr/>
        </p:nvCxnSpPr>
        <p:spPr>
          <a:xfrm>
            <a:off x="8732520" y="2866644"/>
            <a:ext cx="210312" cy="0"/>
          </a:xfrm>
          <a:prstGeom prst="line">
            <a:avLst/>
          </a:prstGeom>
          <a:ln w="1778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MCP to log / 1"/>
          <p:cNvCxnSpPr/>
          <p:nvPr/>
        </p:nvCxnSpPr>
        <p:spPr>
          <a:xfrm>
            <a:off x="10049256" y="2866644"/>
            <a:ext cx="201168" cy="0"/>
          </a:xfrm>
          <a:prstGeom prst="line">
            <a:avLst/>
          </a:prstGeom>
          <a:ln w="1778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95528" y="4864608"/>
            <a:ext cx="26517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lang="en-US">
                <a:solidFill>
                  <a:srgbClr val="207548"/>
                </a:solidFill>
                <a:latin typeface="Arial"/>
              </a:rPr>
              <a:t>Produces the model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03136" y="4855464"/>
            <a:ext cx="453542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lang="en-US">
                <a:solidFill>
                  <a:srgbClr val="1764A1"/>
                </a:solidFill>
                <a:latin typeface="Arial"/>
              </a:rPr>
              <a:t>The agent orchestrates tools and evidence.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 lang="en-US">
                <a:solidFill>
                  <a:srgbClr val="434343"/>
                </a:solidFill>
                <a:latin typeface="Arial"/>
              </a:rPr>
              <a:t>VITA-FL: two responsibility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Page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169920" y="6492240"/>
            <a:ext cx="5417820" cy="3124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15640" y="6537960"/>
            <a:ext cx="701040" cy="21336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6560820"/>
            <a:ext cx="5486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08120" y="6537960"/>
            <a:ext cx="1752600" cy="213360"/>
          </a:xfrm>
          <a:prstGeom prst="rect">
            <a:avLst/>
          </a:prstGeom>
          <a:solidFill>
            <a:srgbClr val="7446A6"/>
          </a:solidFill>
          <a:ln w="6985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84320" y="6560820"/>
            <a:ext cx="160020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Blockchain / IPFS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6537960"/>
            <a:ext cx="2682240" cy="21336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28360" y="6560820"/>
            <a:ext cx="2529840" cy="167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 / MCP / Inference / 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" y="1508760"/>
            <a:ext cx="4645152" cy="1901952"/>
          </a:xfrm>
          <a:prstGeom prst="roundRect">
            <a:avLst/>
          </a:prstGeom>
          <a:solidFill>
            <a:srgbClr val="EDF6F0"/>
          </a:solidFill>
          <a:ln w="13970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40680" y="1508760"/>
            <a:ext cx="6172200" cy="1901952"/>
          </a:xfrm>
          <a:prstGeom prst="roundRect">
            <a:avLst/>
          </a:prstGeom>
          <a:solidFill>
            <a:srgbClr val="EDF4FA"/>
          </a:solidFill>
          <a:ln w="1397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6072" y="4279392"/>
            <a:ext cx="11036808" cy="1152144"/>
          </a:xfrm>
          <a:prstGeom prst="roundRect">
            <a:avLst/>
          </a:prstGeom>
          <a:solidFill>
            <a:srgbClr val="F3EEF8"/>
          </a:solidFill>
          <a:ln w="1397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17099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lang="en-US">
                <a:solidFill>
                  <a:srgbClr val="207548"/>
                </a:solidFill>
                <a:latin typeface="Arial"/>
              </a:rPr>
              <a:t>DFL BLOCK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0136" y="1709928"/>
            <a:ext cx="5623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lang="en-US">
                <a:solidFill>
                  <a:srgbClr val="1764A1"/>
                </a:solidFill>
                <a:latin typeface="Arial"/>
              </a:rPr>
              <a:t>AGENT AND INFERENCE BLOCK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" y="44805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lang="en-US">
                <a:solidFill>
                  <a:srgbClr val="7446A6"/>
                </a:solidFill>
                <a:latin typeface="Arial"/>
              </a:rPr>
              <a:t>BLOCKCHAIN / IPFS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" y="489204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7446A6"/>
                </a:solidFill>
                <a:latin typeface="Arial"/>
              </a:rPr>
              <a:t>Shared infrastructure</a:t>
            </a:r>
          </a:p>
        </p:txBody>
      </p:sp>
      <p:sp>
        <p:nvSpPr>
          <p:cNvPr id="22" name="Data"/>
          <p:cNvSpPr/>
          <p:nvPr/>
        </p:nvSpPr>
        <p:spPr>
          <a:xfrm>
            <a:off x="850392" y="2148840"/>
            <a:ext cx="1682496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224028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lang="en-US">
                <a:solidFill>
                  <a:srgbClr val="207548"/>
                </a:solidFill>
                <a:latin typeface="Arial"/>
              </a:rPr>
              <a:t>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2615184"/>
            <a:ext cx="149961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lang="en-US">
                <a:solidFill>
                  <a:srgbClr val="434343"/>
                </a:solidFill>
                <a:latin typeface="Arial"/>
              </a:rPr>
              <a:t>Signed medical input</a:t>
            </a:r>
          </a:p>
        </p:txBody>
      </p:sp>
      <p:sp>
        <p:nvSpPr>
          <p:cNvPr id="25" name="Worker"/>
          <p:cNvSpPr/>
          <p:nvPr/>
        </p:nvSpPr>
        <p:spPr>
          <a:xfrm>
            <a:off x="2990088" y="2148840"/>
            <a:ext cx="192024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81528" y="22402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lang="en-US">
                <a:solidFill>
                  <a:srgbClr val="207548"/>
                </a:solidFill>
                <a:latin typeface="Arial"/>
              </a:rPr>
              <a:t>WORKER TEE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81528" y="261518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lang="en-US">
                <a:solidFill>
                  <a:srgbClr val="434343"/>
                </a:solidFill>
                <a:latin typeface="Arial"/>
              </a:rPr>
              <a:t>Attested training</a:t>
            </a:r>
          </a:p>
        </p:txBody>
      </p:sp>
      <p:sp>
        <p:nvSpPr>
          <p:cNvPr id="28" name="Receiver"/>
          <p:cNvSpPr/>
          <p:nvPr/>
        </p:nvSpPr>
        <p:spPr>
          <a:xfrm>
            <a:off x="5733288" y="2148840"/>
            <a:ext cx="2029968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24727" y="2240280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lang="en-US">
                <a:solidFill>
                  <a:srgbClr val="1764A1"/>
                </a:solidFill>
                <a:latin typeface="Arial"/>
              </a:rPr>
              <a:t>RECEIVER TEE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24727" y="2615184"/>
            <a:ext cx="18470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lang="en-US">
                <a:solidFill>
                  <a:srgbClr val="434343"/>
                </a:solidFill>
                <a:latin typeface="Arial"/>
              </a:rPr>
              <a:t>Resolve and infer</a:t>
            </a:r>
          </a:p>
        </p:txBody>
      </p:sp>
      <p:sp>
        <p:nvSpPr>
          <p:cNvPr id="31" name="MCP"/>
          <p:cNvSpPr/>
          <p:nvPr/>
        </p:nvSpPr>
        <p:spPr>
          <a:xfrm>
            <a:off x="8302752" y="2148840"/>
            <a:ext cx="123444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224028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lang="en-US">
                <a:solidFill>
                  <a:srgbClr val="1764A1"/>
                </a:solidFill>
                <a:latin typeface="Arial"/>
              </a:rPr>
              <a:t>MCP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2615184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lang="en-US">
                <a:solidFill>
                  <a:srgbClr val="434343"/>
                </a:solidFill>
                <a:latin typeface="Arial"/>
              </a:rPr>
              <a:t>Bounded
tools</a:t>
            </a:r>
          </a:p>
        </p:txBody>
      </p:sp>
      <p:sp>
        <p:nvSpPr>
          <p:cNvPr id="34" name="Log"/>
          <p:cNvSpPr/>
          <p:nvPr/>
        </p:nvSpPr>
        <p:spPr>
          <a:xfrm>
            <a:off x="10122408" y="2148840"/>
            <a:ext cx="1216152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13848" y="2240280"/>
            <a:ext cx="10332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lang="en-US">
                <a:solidFill>
                  <a:srgbClr val="1764A1"/>
                </a:solidFill>
                <a:latin typeface="Arial"/>
              </a:rPr>
              <a:t>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13848" y="2615184"/>
            <a:ext cx="10332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lang="en-US">
                <a:solidFill>
                  <a:srgbClr val="434343"/>
                </a:solidFill>
                <a:latin typeface="Arial"/>
              </a:rPr>
              <a:t>Receipts /
evidence</a:t>
            </a:r>
          </a:p>
        </p:txBody>
      </p:sp>
      <p:sp>
        <p:nvSpPr>
          <p:cNvPr id="37" name="Ledger"/>
          <p:cNvSpPr/>
          <p:nvPr/>
        </p:nvSpPr>
        <p:spPr>
          <a:xfrm>
            <a:off x="3922776" y="4462272"/>
            <a:ext cx="2212848" cy="7680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14215" y="4553712"/>
            <a:ext cx="202996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lang="en-US">
                <a:solidFill>
                  <a:srgbClr val="7446A6"/>
                </a:solidFill>
                <a:latin typeface="Arial"/>
              </a:rPr>
              <a:t>LEDGER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14215" y="4855464"/>
            <a:ext cx="2029967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lang="en-US">
                <a:solidFill>
                  <a:srgbClr val="434343"/>
                </a:solidFill>
                <a:latin typeface="Arial"/>
              </a:rPr>
              <a:t>Finalized model reference</a:t>
            </a:r>
          </a:p>
        </p:txBody>
      </p:sp>
      <p:sp>
        <p:nvSpPr>
          <p:cNvPr id="40" name="IPFS"/>
          <p:cNvSpPr/>
          <p:nvPr/>
        </p:nvSpPr>
        <p:spPr>
          <a:xfrm>
            <a:off x="8028431" y="4462272"/>
            <a:ext cx="3264408" cy="7680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19871" y="4553712"/>
            <a:ext cx="308152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lang="en-US">
                <a:solidFill>
                  <a:srgbClr val="7446A6"/>
                </a:solidFill>
                <a:latin typeface="Arial"/>
              </a:rPr>
              <a:t>IPFS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19871" y="4855464"/>
            <a:ext cx="3081527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lang="en-US">
                <a:solidFill>
                  <a:srgbClr val="434343"/>
                </a:solidFill>
                <a:latin typeface="Arial"/>
              </a:rPr>
              <a:t>Signed, encrypted model bundle</a:t>
            </a:r>
          </a:p>
        </p:txBody>
      </p:sp>
      <p:cxnSp>
        <p:nvCxnSpPr>
          <p:cNvPr id="43" name="Data to worker / 1"/>
          <p:cNvCxnSpPr/>
          <p:nvPr/>
        </p:nvCxnSpPr>
        <p:spPr>
          <a:xfrm>
            <a:off x="2569464" y="2679192"/>
            <a:ext cx="384048" cy="0"/>
          </a:xfrm>
          <a:prstGeom prst="line">
            <a:avLst/>
          </a:prstGeom>
          <a:ln w="19050">
            <a:solidFill>
              <a:srgbClr val="2075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Receiver to MCP / 1"/>
          <p:cNvCxnSpPr/>
          <p:nvPr/>
        </p:nvCxnSpPr>
        <p:spPr>
          <a:xfrm>
            <a:off x="7799831" y="2679192"/>
            <a:ext cx="466344" cy="0"/>
          </a:xfrm>
          <a:prstGeom prst="line">
            <a:avLst/>
          </a:prstGeom>
          <a:ln w="1905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MCP to log / 1"/>
          <p:cNvCxnSpPr/>
          <p:nvPr/>
        </p:nvCxnSpPr>
        <p:spPr>
          <a:xfrm>
            <a:off x="9573768" y="2679192"/>
            <a:ext cx="512064" cy="0"/>
          </a:xfrm>
          <a:prstGeom prst="line">
            <a:avLst/>
          </a:prstGeom>
          <a:ln w="1905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Publish model and reference / 1"/>
          <p:cNvCxnSpPr/>
          <p:nvPr/>
        </p:nvCxnSpPr>
        <p:spPr>
          <a:xfrm>
            <a:off x="3950208" y="3191256"/>
            <a:ext cx="0" cy="539496"/>
          </a:xfrm>
          <a:prstGeom prst="line">
            <a:avLst/>
          </a:prstGeom>
          <a:ln w="22860">
            <a:solidFill>
              <a:srgbClr val="207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Publish model and reference / 2"/>
          <p:cNvCxnSpPr/>
          <p:nvPr/>
        </p:nvCxnSpPr>
        <p:spPr>
          <a:xfrm flipH="1">
            <a:off x="3429000" y="3730752"/>
            <a:ext cx="521208" cy="0"/>
          </a:xfrm>
          <a:prstGeom prst="line">
            <a:avLst/>
          </a:prstGeom>
          <a:ln w="22860">
            <a:solidFill>
              <a:srgbClr val="207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Publish model and reference / 3"/>
          <p:cNvCxnSpPr/>
          <p:nvPr/>
        </p:nvCxnSpPr>
        <p:spPr>
          <a:xfrm>
            <a:off x="3429000" y="3730752"/>
            <a:ext cx="0" cy="512064"/>
          </a:xfrm>
          <a:prstGeom prst="line">
            <a:avLst/>
          </a:prstGeom>
          <a:ln w="22860">
            <a:solidFill>
              <a:srgbClr val="2075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59536" y="37673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lang="en-US">
                <a:solidFill>
                  <a:srgbClr val="207548"/>
                </a:solidFill>
                <a:latin typeface="Arial"/>
              </a:rPr>
              <a:t>Publish model + reference</a:t>
            </a:r>
          </a:p>
        </p:txBody>
      </p:sp>
      <p:cxnSp>
        <p:nvCxnSpPr>
          <p:cNvPr id="50" name="Ledger to receiver / 1"/>
          <p:cNvCxnSpPr/>
          <p:nvPr/>
        </p:nvCxnSpPr>
        <p:spPr>
          <a:xfrm flipV="1">
            <a:off x="5029200" y="3657600"/>
            <a:ext cx="0" cy="768096"/>
          </a:xfrm>
          <a:prstGeom prst="line">
            <a:avLst/>
          </a:prstGeom>
          <a:ln w="27940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Ledger to receiver / 2"/>
          <p:cNvCxnSpPr/>
          <p:nvPr/>
        </p:nvCxnSpPr>
        <p:spPr>
          <a:xfrm>
            <a:off x="5029200" y="3657600"/>
            <a:ext cx="1097280" cy="0"/>
          </a:xfrm>
          <a:prstGeom prst="line">
            <a:avLst/>
          </a:prstGeom>
          <a:ln w="27940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Ledger to receiver / 3"/>
          <p:cNvCxnSpPr/>
          <p:nvPr/>
        </p:nvCxnSpPr>
        <p:spPr>
          <a:xfrm flipV="1">
            <a:off x="6126480" y="3191256"/>
            <a:ext cx="0" cy="466344"/>
          </a:xfrm>
          <a:prstGeom prst="line">
            <a:avLst/>
          </a:prstGeom>
          <a:ln w="27940">
            <a:solidFill>
              <a:srgbClr val="744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IPFS to receiver / 1"/>
          <p:cNvCxnSpPr/>
          <p:nvPr/>
        </p:nvCxnSpPr>
        <p:spPr>
          <a:xfrm flipV="1">
            <a:off x="9660636" y="3840480"/>
            <a:ext cx="0" cy="585216"/>
          </a:xfrm>
          <a:prstGeom prst="line">
            <a:avLst/>
          </a:prstGeom>
          <a:ln w="27940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IPFS to receiver / 2"/>
          <p:cNvCxnSpPr/>
          <p:nvPr/>
        </p:nvCxnSpPr>
        <p:spPr>
          <a:xfrm flipH="1">
            <a:off x="7342631" y="3840480"/>
            <a:ext cx="2318005" cy="0"/>
          </a:xfrm>
          <a:prstGeom prst="line">
            <a:avLst/>
          </a:prstGeom>
          <a:ln w="27940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IPFS to receiver / 3"/>
          <p:cNvCxnSpPr/>
          <p:nvPr/>
        </p:nvCxnSpPr>
        <p:spPr>
          <a:xfrm flipV="1">
            <a:off x="7342631" y="3191256"/>
            <a:ext cx="0" cy="649224"/>
          </a:xfrm>
          <a:prstGeom prst="line">
            <a:avLst/>
          </a:prstGeom>
          <a:ln w="27940">
            <a:solidFill>
              <a:srgbClr val="744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184648" y="3849624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lang="en-US">
                <a:solidFill>
                  <a:srgbClr val="7446A6"/>
                </a:solidFill>
                <a:latin typeface="Arial"/>
              </a:rPr>
              <a:t>Model reference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10727" y="3529584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lang="en-US">
                <a:solidFill>
                  <a:srgbClr val="7446A6"/>
                </a:solidFill>
                <a:latin typeface="Arial"/>
              </a:rPr>
              <a:t>Model bundle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0</TotalTime>
  <Words>59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Titelfolien zur Auswahl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VITA-FL — Slide 6 ledger layout proposals</dc:title>
  <dc:creator>Ramon Mehrpoya</dc:creator>
  <cp:lastModifiedBy>Friedrich, Ulrike</cp:lastModifiedBy>
  <cp:revision>3</cp:revision>
  <cp:lastPrinted>2021-03-24T16:10:50Z</cp:lastPrinted>
  <dcterms:created xsi:type="dcterms:W3CDTF">2023-04-20T08:54:03Z</dcterms:created>
  <dcterms:modified xsi:type="dcterms:W3CDTF">2025-06-16T09:49:54Z</dcterms:modified>
  <dc:subject>Verifiable Decentralized Federated Machine Learning and Inference for AI Agent Systems</dc:subject>
  <cp:keywords>VITA-FL, DFL, TEE, attested inference, transparency log</cp:keywords>
  <dc:language>en-US</dc:language>
</cp:coreProperties>
</file>