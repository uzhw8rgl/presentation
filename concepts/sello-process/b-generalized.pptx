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B</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a:p>
            <a:r>
              <a:rPr lang="en-US"/>
              <a:t>GENERALIZED COPY</a:t>
            </a:r>
          </a:p>
          <a:p>
            <a:r>
              <a:rPr lang="en-US"/>
              <a:t>A2/A4 groups context and verifier-result checks before and between API calls. A3/A5 groups Phala quote verification and raw-quote retrieval. The bidirectional API path represents two HTTP transactions with agent-side JSON validation between them, not one atomic verifier call. A6–A8 groups byte equality, AIR signature/bindings, RTMR3 replay and deployment/output policy. Solid flow into A6–A8 is taken only after the API checks complete. A10 has been omitted as a visible diagram step at the user request; runtime inclusion verification remains mandatory in the implementation and is implicit in successful A9 publication. Original step IDs are retained for mapping to the detailed slide. Dashed A1 → 7 → A2/A4 traces the same AIR bundle; all Sello steps are unchanged.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name="Sello AIR process generalized B">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verification overview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GROUPED VERIFICATION RESPONSIBILITIES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Generalized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636776"/>
            <a:ext cx="10991088" cy="1536192"/>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636776"/>
            <a:ext cx="1536192" cy="153619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Runtime"/>
          <p:cNvSpPr txBox="1"/>
          <p:nvPr/>
        </p:nvSpPr>
        <p:spPr>
          <a:xfrm>
            <a:off x="694944" y="1682496"/>
            <a:ext cx="1335024" cy="1444751"/>
          </a:xfrm>
          <a:prstGeom prst="rect">
            <a:avLst/>
          </a:prstGeom>
          <a:noFill/>
        </p:spPr>
        <p:txBody>
          <a:bodyPr wrap="square" lIns="0" rIns="0" tIns="0" bIns="0" anchor="ctr">
            <a:spAutoFit/>
          </a:bodyPr>
          <a:lstStyle/>
          <a:p>
            <a:pPr algn="ctr"/>
            <a:r>
              <a:rPr sz="1520" b="1" lang="en-US">
                <a:solidFill>
                  <a:srgbClr val="FFFFFF"/>
                </a:solidFill>
                <a:latin typeface="Arial"/>
              </a:rPr>
              <a:t>Agent
Runtime</a:t>
            </a:r>
          </a:p>
        </p:txBody>
      </p:sp>
      <p:sp>
        <p:nvSpPr>
          <p:cNvPr id="17" name="Sello AIR process panel"/>
          <p:cNvSpPr/>
          <p:nvPr/>
        </p:nvSpPr>
        <p:spPr>
          <a:xfrm>
            <a:off x="594360" y="3264408"/>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594360" y="3264408"/>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694944" y="3310127"/>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Inference
TEE</a:t>
            </a:r>
          </a:p>
        </p:txBody>
      </p:sp>
      <p:sp>
        <p:nvSpPr>
          <p:cNvPr id="20" name="Sello AIR process panel"/>
          <p:cNvSpPr/>
          <p:nvPr/>
        </p:nvSpPr>
        <p:spPr>
          <a:xfrm>
            <a:off x="594360" y="3941063"/>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594360" y="3941063"/>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694944" y="3986783"/>
            <a:ext cx="1335024" cy="493776"/>
          </a:xfrm>
          <a:prstGeom prst="rect">
            <a:avLst/>
          </a:prstGeom>
          <a:noFill/>
        </p:spPr>
        <p:txBody>
          <a:bodyPr wrap="square" lIns="0" rIns="0" tIns="0" bIns="0" anchor="ctr">
            <a:spAutoFit/>
          </a:bodyPr>
          <a:lstStyle/>
          <a:p>
            <a:pPr algn="ctr"/>
            <a:r>
              <a:rPr sz="1400" b="1" lang="en-US">
                <a:solidFill>
                  <a:srgbClr val="FFFFFF"/>
                </a:solidFill>
                <a:latin typeface="Arial"/>
              </a:rPr>
              <a:t>Transparency
Log</a:t>
            </a:r>
          </a:p>
        </p:txBody>
      </p:sp>
      <p:sp>
        <p:nvSpPr>
          <p:cNvPr id="23" name="Sello AIR process panel"/>
          <p:cNvSpPr/>
          <p:nvPr/>
        </p:nvSpPr>
        <p:spPr>
          <a:xfrm>
            <a:off x="594360" y="4617720"/>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process panel"/>
          <p:cNvSpPr/>
          <p:nvPr/>
        </p:nvSpPr>
        <p:spPr>
          <a:xfrm>
            <a:off x="594360" y="4617720"/>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ctor: Phala API"/>
          <p:cNvSpPr txBox="1"/>
          <p:nvPr/>
        </p:nvSpPr>
        <p:spPr>
          <a:xfrm>
            <a:off x="694944" y="4663440"/>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Phala
API</a:t>
            </a:r>
          </a:p>
        </p:txBody>
      </p:sp>
      <p:cxnSp>
        <p:nvCxnSpPr>
          <p:cNvPr id="26" name="Layer connector: shared"/>
          <p:cNvCxnSpPr/>
          <p:nvPr/>
        </p:nvCxnSpPr>
        <p:spPr>
          <a:xfrm>
            <a:off x="2889503" y="2377440"/>
            <a:ext cx="0" cy="932688"/>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a:off x="3483863" y="3557016"/>
            <a:ext cx="91441"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a:off x="4169664" y="3803904"/>
            <a:ext cx="0" cy="18288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ello"/>
          <p:cNvCxnSpPr/>
          <p:nvPr/>
        </p:nvCxnSpPr>
        <p:spPr>
          <a:xfrm flipV="1">
            <a:off x="4581144" y="3895344"/>
            <a:ext cx="0" cy="9144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0" name="Layer connector: sello"/>
          <p:cNvCxnSpPr/>
          <p:nvPr/>
        </p:nvCxnSpPr>
        <p:spPr>
          <a:xfrm>
            <a:off x="4581144" y="3895344"/>
            <a:ext cx="868680"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1" name="Layer connector: sello"/>
          <p:cNvCxnSpPr/>
          <p:nvPr/>
        </p:nvCxnSpPr>
        <p:spPr>
          <a:xfrm flipV="1">
            <a:off x="5449824" y="3803904"/>
            <a:ext cx="0" cy="9144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hared"/>
          <p:cNvCxnSpPr/>
          <p:nvPr/>
        </p:nvCxnSpPr>
        <p:spPr>
          <a:xfrm flipH="1">
            <a:off x="4809744" y="3557016"/>
            <a:ext cx="45720"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3" name="Layer connector: shared"/>
          <p:cNvCxnSpPr/>
          <p:nvPr/>
        </p:nvCxnSpPr>
        <p:spPr>
          <a:xfrm flipV="1">
            <a:off x="4809744" y="1956816"/>
            <a:ext cx="0" cy="160020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4" name="Layer connector: shared"/>
          <p:cNvCxnSpPr/>
          <p:nvPr/>
        </p:nvCxnSpPr>
        <p:spPr>
          <a:xfrm>
            <a:off x="4809744" y="1956816"/>
            <a:ext cx="45720"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5449824" y="2203704"/>
            <a:ext cx="0" cy="21031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a:off x="6044183" y="2660904"/>
            <a:ext cx="4572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6089904" y="2660904"/>
            <a:ext cx="0" cy="1207008"/>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5879592" y="3867912"/>
            <a:ext cx="2103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9" name="Layer connector: sello"/>
          <p:cNvCxnSpPr/>
          <p:nvPr/>
        </p:nvCxnSpPr>
        <p:spPr>
          <a:xfrm>
            <a:off x="5879592" y="3867912"/>
            <a:ext cx="0" cy="11887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Layer connector: sello"/>
          <p:cNvCxnSpPr/>
          <p:nvPr/>
        </p:nvCxnSpPr>
        <p:spPr>
          <a:xfrm>
            <a:off x="6044183" y="4233672"/>
            <a:ext cx="13716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1" name="Layer connector: sello"/>
          <p:cNvCxnSpPr/>
          <p:nvPr/>
        </p:nvCxnSpPr>
        <p:spPr>
          <a:xfrm flipV="1">
            <a:off x="6181344" y="2208276"/>
            <a:ext cx="0" cy="2025396"/>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2" name="Layer connector: sello"/>
          <p:cNvCxnSpPr/>
          <p:nvPr/>
        </p:nvCxnSpPr>
        <p:spPr>
          <a:xfrm>
            <a:off x="6181344" y="2208276"/>
            <a:ext cx="9144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Layer connector: air"/>
          <p:cNvCxnSpPr/>
          <p:nvPr/>
        </p:nvCxnSpPr>
        <p:spPr>
          <a:xfrm flipV="1">
            <a:off x="3246120" y="3017520"/>
            <a:ext cx="0" cy="292608"/>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4" name="Layer connector: air"/>
          <p:cNvCxnSpPr/>
          <p:nvPr/>
        </p:nvCxnSpPr>
        <p:spPr>
          <a:xfrm>
            <a:off x="3246120" y="3017520"/>
            <a:ext cx="1261872" cy="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5" name="Layer connector: air"/>
          <p:cNvCxnSpPr/>
          <p:nvPr/>
        </p:nvCxnSpPr>
        <p:spPr>
          <a:xfrm flipV="1">
            <a:off x="4507992" y="1828800"/>
            <a:ext cx="0" cy="118872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6" name="Layer connector: air"/>
          <p:cNvCxnSpPr/>
          <p:nvPr/>
        </p:nvCxnSpPr>
        <p:spPr>
          <a:xfrm>
            <a:off x="4507992" y="1828800"/>
            <a:ext cx="347472"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Layer connector: air"/>
          <p:cNvCxnSpPr/>
          <p:nvPr/>
        </p:nvCxnSpPr>
        <p:spPr>
          <a:xfrm>
            <a:off x="6044183" y="1938528"/>
            <a:ext cx="228601"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Sello process: AIR bundle"/>
          <p:cNvSpPr txBox="1"/>
          <p:nvPr/>
        </p:nvSpPr>
        <p:spPr>
          <a:xfrm>
            <a:off x="3364992" y="2798064"/>
            <a:ext cx="1243584" cy="192024"/>
          </a:xfrm>
          <a:prstGeom prst="rect">
            <a:avLst/>
          </a:prstGeom>
          <a:noFill/>
        </p:spPr>
        <p:txBody>
          <a:bodyPr wrap="square" lIns="0" rIns="0" tIns="0" bIns="0" anchor="ctr">
            <a:spAutoFit/>
          </a:bodyPr>
          <a:lstStyle/>
          <a:p>
            <a:pPr algn="ctr"/>
            <a:r>
              <a:rPr sz="1050" b="0" lang="en-US">
                <a:solidFill>
                  <a:srgbClr val="245AA5"/>
                </a:solidFill>
                <a:latin typeface="Arial"/>
              </a:rPr>
              <a:t>AIR bundle</a:t>
            </a:r>
          </a:p>
        </p:txBody>
      </p:sp>
      <p:cxnSp>
        <p:nvCxnSpPr>
          <p:cNvPr id="49" name="Layer connector: air"/>
          <p:cNvCxnSpPr/>
          <p:nvPr/>
        </p:nvCxnSpPr>
        <p:spPr>
          <a:xfrm>
            <a:off x="6793992" y="2770632"/>
            <a:ext cx="0" cy="1892808"/>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Layer connector: air"/>
          <p:cNvCxnSpPr/>
          <p:nvPr/>
        </p:nvCxnSpPr>
        <p:spPr>
          <a:xfrm flipV="1">
            <a:off x="7818120" y="2770632"/>
            <a:ext cx="0" cy="1892808"/>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Layer connector: air"/>
          <p:cNvCxnSpPr/>
          <p:nvPr/>
        </p:nvCxnSpPr>
        <p:spPr>
          <a:xfrm>
            <a:off x="8357616" y="2267712"/>
            <a:ext cx="74980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Layer connector: air"/>
          <p:cNvCxnSpPr/>
          <p:nvPr/>
        </p:nvCxnSpPr>
        <p:spPr>
          <a:xfrm>
            <a:off x="11402568" y="2267712"/>
            <a:ext cx="109728"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3" name="Layer connector: air"/>
          <p:cNvCxnSpPr/>
          <p:nvPr/>
        </p:nvCxnSpPr>
        <p:spPr>
          <a:xfrm>
            <a:off x="11512296" y="2267712"/>
            <a:ext cx="0" cy="196596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4" name="Layer connector: air"/>
          <p:cNvCxnSpPr/>
          <p:nvPr/>
        </p:nvCxnSpPr>
        <p:spPr>
          <a:xfrm flipH="1">
            <a:off x="11402568" y="4233672"/>
            <a:ext cx="10972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Sello AIR process panel"/>
          <p:cNvSpPr/>
          <p:nvPr/>
        </p:nvSpPr>
        <p:spPr>
          <a:xfrm>
            <a:off x="2295144" y="1783080"/>
            <a:ext cx="1188720" cy="594360"/>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ello steps: 1,2,3"/>
          <p:cNvSpPr txBox="1"/>
          <p:nvPr/>
        </p:nvSpPr>
        <p:spPr>
          <a:xfrm>
            <a:off x="2368296" y="1815084"/>
            <a:ext cx="1042416" cy="530352"/>
          </a:xfrm>
          <a:prstGeom prst="rect">
            <a:avLst/>
          </a:prstGeom>
          <a:noFill/>
        </p:spPr>
        <p:txBody>
          <a:bodyPr wrap="square" lIns="0" rIns="0" tIns="0" bIns="0" anchor="ctr">
            <a:spAutoFit/>
          </a:bodyPr>
          <a:lstStyle/>
          <a:p>
            <a:pPr algn="ctr"/>
            <a:r>
              <a:rPr sz="1180" b="1" lang="en-US">
                <a:solidFill>
                  <a:srgbClr val="686868"/>
                </a:solidFill>
                <a:latin typeface="Arial"/>
              </a:rPr>
              <a:t>1–3  Auth
+ session</a:t>
            </a:r>
          </a:p>
        </p:txBody>
      </p:sp>
      <p:sp>
        <p:nvSpPr>
          <p:cNvPr id="57" name="Sello AIR process panel"/>
          <p:cNvSpPr/>
          <p:nvPr/>
        </p:nvSpPr>
        <p:spPr>
          <a:xfrm>
            <a:off x="2295144" y="3310128"/>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IR steps: A1"/>
          <p:cNvSpPr txBox="1"/>
          <p:nvPr/>
        </p:nvSpPr>
        <p:spPr>
          <a:xfrm>
            <a:off x="2368296" y="3342132"/>
            <a:ext cx="1042416" cy="429768"/>
          </a:xfrm>
          <a:prstGeom prst="rect">
            <a:avLst/>
          </a:prstGeom>
          <a:noFill/>
        </p:spPr>
        <p:txBody>
          <a:bodyPr wrap="square" lIns="0" rIns="0" tIns="0" bIns="0" anchor="ctr">
            <a:spAutoFit/>
          </a:bodyPr>
          <a:lstStyle/>
          <a:p>
            <a:pPr algn="ctr"/>
            <a:r>
              <a:rPr sz="1180" b="1" lang="en-US">
                <a:solidFill>
                  <a:srgbClr val="245AA5"/>
                </a:solidFill>
                <a:latin typeface="Arial"/>
              </a:rPr>
              <a:t>A1  Infer
+ AIR</a:t>
            </a:r>
          </a:p>
        </p:txBody>
      </p:sp>
      <p:sp>
        <p:nvSpPr>
          <p:cNvPr id="59" name="Sello AIR process panel"/>
          <p:cNvSpPr/>
          <p:nvPr/>
        </p:nvSpPr>
        <p:spPr>
          <a:xfrm>
            <a:off x="357530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ello steps: 4"/>
          <p:cNvSpPr txBox="1"/>
          <p:nvPr/>
        </p:nvSpPr>
        <p:spPr>
          <a:xfrm>
            <a:off x="364845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4  Seal
Sello</a:t>
            </a:r>
          </a:p>
        </p:txBody>
      </p:sp>
      <p:sp>
        <p:nvSpPr>
          <p:cNvPr id="61" name="Sello AIR process panel"/>
          <p:cNvSpPr/>
          <p:nvPr/>
        </p:nvSpPr>
        <p:spPr>
          <a:xfrm>
            <a:off x="357530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ello steps: 5"/>
          <p:cNvSpPr txBox="1"/>
          <p:nvPr/>
        </p:nvSpPr>
        <p:spPr>
          <a:xfrm>
            <a:off x="364845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5  Log Sello
receipt</a:t>
            </a:r>
          </a:p>
        </p:txBody>
      </p:sp>
      <p:sp>
        <p:nvSpPr>
          <p:cNvPr id="63" name="Sello AIR process panel"/>
          <p:cNvSpPr/>
          <p:nvPr/>
        </p:nvSpPr>
        <p:spPr>
          <a:xfrm>
            <a:off x="485546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ello steps: 6"/>
          <p:cNvSpPr txBox="1"/>
          <p:nvPr/>
        </p:nvSpPr>
        <p:spPr>
          <a:xfrm>
            <a:off x="492861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6  Check
inclusion</a:t>
            </a:r>
          </a:p>
        </p:txBody>
      </p:sp>
      <p:sp>
        <p:nvSpPr>
          <p:cNvPr id="65" name="Sello AIR process panel"/>
          <p:cNvSpPr/>
          <p:nvPr/>
        </p:nvSpPr>
        <p:spPr>
          <a:xfrm>
            <a:off x="4855464" y="1709928"/>
            <a:ext cx="1188720" cy="49377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ello steps: 7"/>
          <p:cNvSpPr txBox="1"/>
          <p:nvPr/>
        </p:nvSpPr>
        <p:spPr>
          <a:xfrm>
            <a:off x="4928616" y="1741932"/>
            <a:ext cx="1042416" cy="429768"/>
          </a:xfrm>
          <a:prstGeom prst="rect">
            <a:avLst/>
          </a:prstGeom>
          <a:noFill/>
        </p:spPr>
        <p:txBody>
          <a:bodyPr wrap="square" lIns="0" rIns="0" tIns="0" bIns="0" anchor="ctr">
            <a:spAutoFit/>
          </a:bodyPr>
          <a:lstStyle/>
          <a:p>
            <a:pPr algn="ctr"/>
            <a:r>
              <a:rPr sz="1150" b="1" lang="en-US">
                <a:solidFill>
                  <a:srgbClr val="686868"/>
                </a:solidFill>
                <a:latin typeface="Arial"/>
              </a:rPr>
              <a:t>7  AIR +
Sello reply</a:t>
            </a:r>
          </a:p>
        </p:txBody>
      </p:sp>
      <p:sp>
        <p:nvSpPr>
          <p:cNvPr id="67" name="Sello AIR process panel"/>
          <p:cNvSpPr/>
          <p:nvPr/>
        </p:nvSpPr>
        <p:spPr>
          <a:xfrm>
            <a:off x="4855464" y="2414016"/>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ello steps: 8"/>
          <p:cNvSpPr txBox="1"/>
          <p:nvPr/>
        </p:nvSpPr>
        <p:spPr>
          <a:xfrm>
            <a:off x="4928616" y="2446020"/>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8  Verify
Sello</a:t>
            </a:r>
          </a:p>
        </p:txBody>
      </p:sp>
      <p:sp>
        <p:nvSpPr>
          <p:cNvPr id="69" name="Sello AIR process panel"/>
          <p:cNvSpPr/>
          <p:nvPr/>
        </p:nvSpPr>
        <p:spPr>
          <a:xfrm>
            <a:off x="485546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ello steps: 9"/>
          <p:cNvSpPr txBox="1"/>
          <p:nvPr/>
        </p:nvSpPr>
        <p:spPr>
          <a:xfrm>
            <a:off x="492861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9  Session
+ audit</a:t>
            </a:r>
          </a:p>
        </p:txBody>
      </p:sp>
      <p:sp>
        <p:nvSpPr>
          <p:cNvPr id="71" name="Sello AIR process panel"/>
          <p:cNvSpPr/>
          <p:nvPr/>
        </p:nvSpPr>
        <p:spPr>
          <a:xfrm>
            <a:off x="6272784" y="1764792"/>
            <a:ext cx="2084831" cy="100584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IR steps: A2,A4"/>
          <p:cNvSpPr txBox="1"/>
          <p:nvPr/>
        </p:nvSpPr>
        <p:spPr>
          <a:xfrm>
            <a:off x="6364224" y="1796795"/>
            <a:ext cx="1901951" cy="246888"/>
          </a:xfrm>
          <a:prstGeom prst="rect">
            <a:avLst/>
          </a:prstGeom>
          <a:noFill/>
        </p:spPr>
        <p:txBody>
          <a:bodyPr wrap="square" lIns="0" rIns="0" tIns="0" bIns="0" anchor="ctr">
            <a:spAutoFit/>
          </a:bodyPr>
          <a:lstStyle/>
          <a:p>
            <a:pPr algn="l"/>
            <a:r>
              <a:rPr sz="1200" b="1" lang="en-US">
                <a:solidFill>
                  <a:srgbClr val="245AA5"/>
                </a:solidFill>
                <a:latin typeface="Arial"/>
              </a:rPr>
              <a:t>A2 / A4  Agent checks</a:t>
            </a:r>
          </a:p>
        </p:txBody>
      </p:sp>
      <p:sp>
        <p:nvSpPr>
          <p:cNvPr id="73" name="Sello process: Context + API results / Before / after API calls"/>
          <p:cNvSpPr txBox="1"/>
          <p:nvPr/>
        </p:nvSpPr>
        <p:spPr>
          <a:xfrm>
            <a:off x="6364224" y="2057400"/>
            <a:ext cx="1901951" cy="681228"/>
          </a:xfrm>
          <a:prstGeom prst="rect">
            <a:avLst/>
          </a:prstGeom>
          <a:noFill/>
        </p:spPr>
        <p:txBody>
          <a:bodyPr wrap="square" lIns="0" rIns="0" tIns="0" bIns="0" anchor="ctr">
            <a:spAutoFit/>
          </a:bodyPr>
          <a:lstStyle/>
          <a:p>
            <a:pPr algn="l"/>
            <a:r>
              <a:rPr sz="1100" b="0" lang="en-US">
                <a:solidFill>
                  <a:srgbClr val="245AA5"/>
                </a:solidFill>
                <a:latin typeface="Arial"/>
              </a:rPr>
              <a:t>Context + API results
Before / after API calls</a:t>
            </a:r>
          </a:p>
        </p:txBody>
      </p:sp>
      <p:sp>
        <p:nvSpPr>
          <p:cNvPr id="74" name="Sello AIR process panel"/>
          <p:cNvSpPr/>
          <p:nvPr/>
        </p:nvSpPr>
        <p:spPr>
          <a:xfrm>
            <a:off x="6272784" y="4663440"/>
            <a:ext cx="2084831"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IR steps: A3,A5"/>
          <p:cNvSpPr txBox="1"/>
          <p:nvPr/>
        </p:nvSpPr>
        <p:spPr>
          <a:xfrm>
            <a:off x="6345936" y="4695444"/>
            <a:ext cx="1938527" cy="429768"/>
          </a:xfrm>
          <a:prstGeom prst="rect">
            <a:avLst/>
          </a:prstGeom>
          <a:noFill/>
        </p:spPr>
        <p:txBody>
          <a:bodyPr wrap="square" lIns="0" rIns="0" tIns="0" bIns="0" anchor="ctr">
            <a:spAutoFit/>
          </a:bodyPr>
          <a:lstStyle/>
          <a:p>
            <a:pPr algn="ctr"/>
            <a:r>
              <a:rPr sz="1160" b="1" lang="en-US">
                <a:solidFill>
                  <a:srgbClr val="245AA5"/>
                </a:solidFill>
                <a:latin typeface="Arial"/>
              </a:rPr>
              <a:t>A3 / A5  Verify quote
+ retrieve raw bytes</a:t>
            </a:r>
          </a:p>
        </p:txBody>
      </p:sp>
      <p:sp>
        <p:nvSpPr>
          <p:cNvPr id="76" name="Sello AIR process panel"/>
          <p:cNvSpPr/>
          <p:nvPr/>
        </p:nvSpPr>
        <p:spPr>
          <a:xfrm>
            <a:off x="9107424" y="1764792"/>
            <a:ext cx="2295144" cy="100584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IR steps: A6,A7,A8"/>
          <p:cNvSpPr txBox="1"/>
          <p:nvPr/>
        </p:nvSpPr>
        <p:spPr>
          <a:xfrm>
            <a:off x="9198864" y="1796795"/>
            <a:ext cx="2112263" cy="246888"/>
          </a:xfrm>
          <a:prstGeom prst="rect">
            <a:avLst/>
          </a:prstGeom>
          <a:noFill/>
        </p:spPr>
        <p:txBody>
          <a:bodyPr wrap="square" lIns="0" rIns="0" tIns="0" bIns="0" anchor="ctr">
            <a:spAutoFit/>
          </a:bodyPr>
          <a:lstStyle/>
          <a:p>
            <a:pPr algn="l"/>
            <a:r>
              <a:rPr sz="1300" b="1" lang="en-US">
                <a:solidFill>
                  <a:srgbClr val="245AA5"/>
                </a:solidFill>
                <a:latin typeface="Arial"/>
              </a:rPr>
              <a:t>A6–A8  Verify AIR</a:t>
            </a:r>
          </a:p>
        </p:txBody>
      </p:sp>
      <p:sp>
        <p:nvSpPr>
          <p:cNvPr id="78" name="Sello process: Signature · bindings / RTMR3 · deployment policy"/>
          <p:cNvSpPr txBox="1"/>
          <p:nvPr/>
        </p:nvSpPr>
        <p:spPr>
          <a:xfrm>
            <a:off x="9198864" y="2057400"/>
            <a:ext cx="2112263" cy="681228"/>
          </a:xfrm>
          <a:prstGeom prst="rect">
            <a:avLst/>
          </a:prstGeom>
          <a:noFill/>
        </p:spPr>
        <p:txBody>
          <a:bodyPr wrap="square" lIns="0" rIns="0" tIns="0" bIns="0" anchor="ctr">
            <a:spAutoFit/>
          </a:bodyPr>
          <a:lstStyle/>
          <a:p>
            <a:pPr algn="l"/>
            <a:r>
              <a:rPr sz="1100" b="0" lang="en-US">
                <a:solidFill>
                  <a:srgbClr val="245AA5"/>
                </a:solidFill>
                <a:latin typeface="Arial"/>
              </a:rPr>
              <a:t>Signature · bindings
RTMR3 · deployment policy</a:t>
            </a:r>
          </a:p>
        </p:txBody>
      </p:sp>
      <p:sp>
        <p:nvSpPr>
          <p:cNvPr id="79" name="Sello AIR process panel"/>
          <p:cNvSpPr/>
          <p:nvPr/>
        </p:nvSpPr>
        <p:spPr>
          <a:xfrm>
            <a:off x="9107424" y="3986784"/>
            <a:ext cx="2295144"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IR steps: A9"/>
          <p:cNvSpPr txBox="1"/>
          <p:nvPr/>
        </p:nvSpPr>
        <p:spPr>
          <a:xfrm>
            <a:off x="9180576" y="4018788"/>
            <a:ext cx="2148839" cy="429768"/>
          </a:xfrm>
          <a:prstGeom prst="rect">
            <a:avLst/>
          </a:prstGeom>
          <a:noFill/>
        </p:spPr>
        <p:txBody>
          <a:bodyPr wrap="square" lIns="0" rIns="0" tIns="0" bIns="0" anchor="ctr">
            <a:spAutoFit/>
          </a:bodyPr>
          <a:lstStyle/>
          <a:p>
            <a:pPr algn="ctr"/>
            <a:r>
              <a:rPr sz="1240" b="1" lang="en-US">
                <a:solidFill>
                  <a:srgbClr val="245AA5"/>
                </a:solidFill>
                <a:latin typeface="Arial"/>
              </a:rPr>
              <a:t>A9  Log AIR bundle</a:t>
            </a:r>
          </a:p>
        </p:txBody>
      </p:sp>
      <p:sp>
        <p:nvSpPr>
          <p:cNvPr id="81" name="Sello process: passed"/>
          <p:cNvSpPr txBox="1"/>
          <p:nvPr/>
        </p:nvSpPr>
        <p:spPr>
          <a:xfrm>
            <a:off x="8430768" y="2052828"/>
            <a:ext cx="585216" cy="182880"/>
          </a:xfrm>
          <a:prstGeom prst="rect">
            <a:avLst/>
          </a:prstGeom>
          <a:noFill/>
        </p:spPr>
        <p:txBody>
          <a:bodyPr wrap="square" lIns="0" rIns="0" tIns="0" bIns="0" anchor="ctr">
            <a:spAutoFit/>
          </a:bodyPr>
          <a:lstStyle/>
          <a:p>
            <a:pPr algn="ctr"/>
            <a:r>
              <a:rPr sz="990" b="0" lang="en-US">
                <a:solidFill>
                  <a:srgbClr val="245AA5"/>
                </a:solidFill>
                <a:latin typeface="Arial"/>
              </a:rPr>
              <a:t>passed</a:t>
            </a:r>
          </a:p>
        </p:txBody>
      </p:sp>
      <p:sp>
        <p:nvSpPr>
          <p:cNvPr id="82" name="Sello AIR process panel"/>
          <p:cNvSpPr/>
          <p:nvPr/>
        </p:nvSpPr>
        <p:spPr>
          <a:xfrm>
            <a:off x="6336792"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Sello process: POST / GET"/>
          <p:cNvSpPr txBox="1"/>
          <p:nvPr/>
        </p:nvSpPr>
        <p:spPr>
          <a:xfrm>
            <a:off x="6364224" y="3433572"/>
            <a:ext cx="859536" cy="182880"/>
          </a:xfrm>
          <a:prstGeom prst="rect">
            <a:avLst/>
          </a:prstGeom>
          <a:noFill/>
        </p:spPr>
        <p:txBody>
          <a:bodyPr wrap="square" lIns="0" rIns="0" tIns="0" bIns="0" anchor="ctr">
            <a:spAutoFit/>
          </a:bodyPr>
          <a:lstStyle/>
          <a:p>
            <a:pPr algn="ctr"/>
            <a:r>
              <a:rPr sz="1000" b="0" lang="en-US">
                <a:solidFill>
                  <a:srgbClr val="245AA5"/>
                </a:solidFill>
                <a:latin typeface="Arial"/>
              </a:rPr>
              <a:t>POST / GET</a:t>
            </a:r>
          </a:p>
        </p:txBody>
      </p:sp>
      <p:sp>
        <p:nvSpPr>
          <p:cNvPr id="84" name="Sello AIR process panel"/>
          <p:cNvSpPr/>
          <p:nvPr/>
        </p:nvSpPr>
        <p:spPr>
          <a:xfrm>
            <a:off x="7360920"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Sello process: JSON / bytes"/>
          <p:cNvSpPr txBox="1"/>
          <p:nvPr/>
        </p:nvSpPr>
        <p:spPr>
          <a:xfrm>
            <a:off x="7370064" y="3433572"/>
            <a:ext cx="896112" cy="182880"/>
          </a:xfrm>
          <a:prstGeom prst="rect">
            <a:avLst/>
          </a:prstGeom>
          <a:noFill/>
        </p:spPr>
        <p:txBody>
          <a:bodyPr wrap="square" lIns="0" rIns="0" tIns="0" bIns="0" anchor="ctr">
            <a:spAutoFit/>
          </a:bodyPr>
          <a:lstStyle/>
          <a:p>
            <a:pPr algn="ctr"/>
            <a:r>
              <a:rPr sz="969" b="0" lang="en-US">
                <a:solidFill>
                  <a:srgbClr val="245AA5"/>
                </a:solidFill>
                <a:latin typeface="Arial"/>
              </a:rPr>
              <a:t>JSON / bytes</a:t>
            </a:r>
          </a:p>
        </p:txBody>
      </p:sp>
      <p:cxnSp>
        <p:nvCxnSpPr>
          <p:cNvPr id="86" name="Layer connector: shared"/>
          <p:cNvCxnSpPr/>
          <p:nvPr/>
        </p:nvCxnSpPr>
        <p:spPr>
          <a:xfrm>
            <a:off x="667512" y="5367528"/>
            <a:ext cx="539496"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Sello process: Solid: execution order"/>
          <p:cNvSpPr txBox="1"/>
          <p:nvPr/>
        </p:nvSpPr>
        <p:spPr>
          <a:xfrm>
            <a:off x="1353312" y="5271516"/>
            <a:ext cx="2578608" cy="192024"/>
          </a:xfrm>
          <a:prstGeom prst="rect">
            <a:avLst/>
          </a:prstGeom>
          <a:noFill/>
        </p:spPr>
        <p:txBody>
          <a:bodyPr wrap="square" lIns="0" rIns="0" tIns="0" bIns="0" anchor="ctr">
            <a:spAutoFit/>
          </a:bodyPr>
          <a:lstStyle/>
          <a:p>
            <a:pPr algn="l"/>
            <a:r>
              <a:rPr sz="1050" b="0" lang="en-US">
                <a:solidFill>
                  <a:srgbClr val="686868"/>
                </a:solidFill>
                <a:latin typeface="Arial"/>
              </a:rPr>
              <a:t>Solid: execution order</a:t>
            </a:r>
          </a:p>
        </p:txBody>
      </p:sp>
      <p:cxnSp>
        <p:nvCxnSpPr>
          <p:cNvPr id="88" name="Layer connector: air"/>
          <p:cNvCxnSpPr/>
          <p:nvPr/>
        </p:nvCxnSpPr>
        <p:spPr>
          <a:xfrm>
            <a:off x="4572000" y="5367528"/>
            <a:ext cx="539496"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9" name="Sello process: Dashed: AIR data reference"/>
          <p:cNvSpPr txBox="1"/>
          <p:nvPr/>
        </p:nvSpPr>
        <p:spPr>
          <a:xfrm>
            <a:off x="5257800" y="5271516"/>
            <a:ext cx="3584448" cy="192024"/>
          </a:xfrm>
          <a:prstGeom prst="rect">
            <a:avLst/>
          </a:prstGeom>
          <a:noFill/>
        </p:spPr>
        <p:txBody>
          <a:bodyPr wrap="square" lIns="0" rIns="0" tIns="0" bIns="0" anchor="ctr">
            <a:spAutoFit/>
          </a:bodyPr>
          <a:lstStyle/>
          <a:p>
            <a:pPr algn="l"/>
            <a:r>
              <a:rPr sz="1050" b="0" lang="en-US">
                <a:solidFill>
                  <a:srgbClr val="245AA5"/>
                </a:solidFill>
                <a:latin typeface="Arial"/>
              </a:rPr>
              <a:t>Dashed: AIR data reference</a:t>
            </a:r>
          </a:p>
        </p:txBody>
      </p:sp>
      <p:sp>
        <p:nvSpPr>
          <p:cNvPr id="90" name="Sello process: LLM selects the tool · Runtime enforces verification."/>
          <p:cNvSpPr txBox="1"/>
          <p:nvPr/>
        </p:nvSpPr>
        <p:spPr>
          <a:xfrm>
            <a:off x="621792" y="5486400"/>
            <a:ext cx="10954512" cy="228600"/>
          </a:xfrm>
          <a:prstGeom prst="rect">
            <a:avLst/>
          </a:prstGeom>
          <a:noFill/>
        </p:spPr>
        <p:txBody>
          <a:bodyPr wrap="square" lIns="0" rIns="0" tIns="0" bIns="0" anchor="ctr">
            <a:spAutoFit/>
          </a:bodyPr>
          <a:lstStyle/>
          <a:p>
            <a:pPr algn="l"/>
            <a:r>
              <a:rPr sz="1320" b="1" lang="en-US">
                <a:solidFill>
                  <a:srgbClr val="343434"/>
                </a:solidFill>
                <a:latin typeface="Arial"/>
              </a:rPr>
              <a:t>LLM selects the tool · Runtime enforces verification.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