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A</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B</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C</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name="Sello AIR process proposal A">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one inference call</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VERTICAL SEQUENCE · THIRD MCP FUNCTION · DISTINCT EVIDENCE LAYERS</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581912"/>
            <a:ext cx="3474720" cy="411480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581912"/>
            <a:ext cx="3474720"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p:cNvSpPr txBox="1"/>
          <p:nvPr/>
        </p:nvSpPr>
        <p:spPr>
          <a:xfrm>
            <a:off x="667512" y="1604772"/>
            <a:ext cx="3328415" cy="256032"/>
          </a:xfrm>
          <a:prstGeom prst="rect">
            <a:avLst/>
          </a:prstGeom>
          <a:noFill/>
        </p:spPr>
        <p:txBody>
          <a:bodyPr wrap="square" lIns="0" rIns="0" tIns="0" bIns="0" anchor="ctr">
            <a:spAutoFit/>
          </a:bodyPr>
          <a:lstStyle/>
          <a:p>
            <a:pPr algn="ctr"/>
            <a:r>
              <a:rPr sz="1639" b="1" lang="en-US">
                <a:solidFill>
                  <a:srgbClr val="FFFFFF"/>
                </a:solidFill>
                <a:latin typeface="Arial"/>
              </a:rPr>
              <a:t>Agent</a:t>
            </a:r>
          </a:p>
        </p:txBody>
      </p:sp>
      <p:sp>
        <p:nvSpPr>
          <p:cNvPr id="17" name="Sello AIR process panel"/>
          <p:cNvSpPr/>
          <p:nvPr/>
        </p:nvSpPr>
        <p:spPr>
          <a:xfrm>
            <a:off x="4352544" y="1581912"/>
            <a:ext cx="3474720" cy="411480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4352544" y="1581912"/>
            <a:ext cx="3474720"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4425696" y="1604772"/>
            <a:ext cx="3328415" cy="256032"/>
          </a:xfrm>
          <a:prstGeom prst="rect">
            <a:avLst/>
          </a:prstGeom>
          <a:noFill/>
        </p:spPr>
        <p:txBody>
          <a:bodyPr wrap="square" lIns="0" rIns="0" tIns="0" bIns="0" anchor="ctr">
            <a:spAutoFit/>
          </a:bodyPr>
          <a:lstStyle/>
          <a:p>
            <a:pPr algn="ctr"/>
            <a:r>
              <a:rPr sz="1639" b="1" lang="en-US">
                <a:solidFill>
                  <a:srgbClr val="FFFFFF"/>
                </a:solidFill>
                <a:latin typeface="Arial"/>
              </a:rPr>
              <a:t>Inference TEE</a:t>
            </a:r>
          </a:p>
        </p:txBody>
      </p:sp>
      <p:sp>
        <p:nvSpPr>
          <p:cNvPr id="20" name="Sello AIR process panel"/>
          <p:cNvSpPr/>
          <p:nvPr/>
        </p:nvSpPr>
        <p:spPr>
          <a:xfrm>
            <a:off x="8110727" y="1581912"/>
            <a:ext cx="3474720" cy="411480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8110727" y="1581912"/>
            <a:ext cx="3474720"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8183879" y="1604772"/>
            <a:ext cx="3328415" cy="256032"/>
          </a:xfrm>
          <a:prstGeom prst="rect">
            <a:avLst/>
          </a:prstGeom>
          <a:noFill/>
        </p:spPr>
        <p:txBody>
          <a:bodyPr wrap="square" lIns="0" rIns="0" tIns="0" bIns="0" anchor="ctr">
            <a:spAutoFit/>
          </a:bodyPr>
          <a:lstStyle/>
          <a:p>
            <a:pPr algn="ctr"/>
            <a:r>
              <a:rPr sz="1639" b="1" lang="en-US">
                <a:solidFill>
                  <a:srgbClr val="FFFFFF"/>
                </a:solidFill>
                <a:latin typeface="Arial"/>
              </a:rPr>
              <a:t>Transparency Log</a:t>
            </a:r>
          </a:p>
        </p:txBody>
      </p:sp>
      <p:cxnSp>
        <p:nvCxnSpPr>
          <p:cNvPr id="23" name="Layer connector: shared"/>
          <p:cNvCxnSpPr/>
          <p:nvPr/>
        </p:nvCxnSpPr>
        <p:spPr>
          <a:xfrm>
            <a:off x="2331720" y="1892807"/>
            <a:ext cx="0" cy="3776473"/>
          </a:xfrm>
          <a:prstGeom prst="line">
            <a:avLst/>
          </a:prstGeom>
          <a:ln w="10160">
            <a:solidFill>
              <a:srgbClr val="B7B7B7"/>
            </a:solidFill>
            <a:prstDash val="dash"/>
          </a:ln>
        </p:spPr>
        <p:style>
          <a:lnRef idx="2">
            <a:schemeClr val="accent1"/>
          </a:lnRef>
          <a:fillRef idx="0">
            <a:schemeClr val="accent1"/>
          </a:fillRef>
          <a:effectRef idx="1">
            <a:schemeClr val="accent1"/>
          </a:effectRef>
          <a:fontRef idx="minor">
            <a:schemeClr val="tx1"/>
          </a:fontRef>
        </p:style>
      </p:cxnSp>
      <p:cxnSp>
        <p:nvCxnSpPr>
          <p:cNvPr id="24" name="Layer connector: shared"/>
          <p:cNvCxnSpPr/>
          <p:nvPr/>
        </p:nvCxnSpPr>
        <p:spPr>
          <a:xfrm>
            <a:off x="6089904" y="1892807"/>
            <a:ext cx="0" cy="3776473"/>
          </a:xfrm>
          <a:prstGeom prst="line">
            <a:avLst/>
          </a:prstGeom>
          <a:ln w="10160">
            <a:solidFill>
              <a:srgbClr val="B7B7B7"/>
            </a:solidFill>
            <a:prstDash val="dash"/>
          </a:ln>
        </p:spPr>
        <p:style>
          <a:lnRef idx="2">
            <a:schemeClr val="accent1"/>
          </a:lnRef>
          <a:fillRef idx="0">
            <a:schemeClr val="accent1"/>
          </a:fillRef>
          <a:effectRef idx="1">
            <a:schemeClr val="accent1"/>
          </a:effectRef>
          <a:fontRef idx="minor">
            <a:schemeClr val="tx1"/>
          </a:fontRef>
        </p:style>
      </p:cxnSp>
      <p:cxnSp>
        <p:nvCxnSpPr>
          <p:cNvPr id="25" name="Layer connector: shared"/>
          <p:cNvCxnSpPr/>
          <p:nvPr/>
        </p:nvCxnSpPr>
        <p:spPr>
          <a:xfrm>
            <a:off x="9848088" y="1892807"/>
            <a:ext cx="0" cy="3776473"/>
          </a:xfrm>
          <a:prstGeom prst="line">
            <a:avLst/>
          </a:prstGeom>
          <a:ln w="10160">
            <a:solidFill>
              <a:srgbClr val="B7B7B7"/>
            </a:solidFill>
            <a:prstDash val="dash"/>
          </a:ln>
        </p:spPr>
        <p:style>
          <a:lnRef idx="2">
            <a:schemeClr val="accent1"/>
          </a:lnRef>
          <a:fillRef idx="0">
            <a:schemeClr val="accent1"/>
          </a:fillRef>
          <a:effectRef idx="1">
            <a:schemeClr val="accent1"/>
          </a:effectRef>
          <a:fontRef idx="minor">
            <a:schemeClr val="tx1"/>
          </a:fontRef>
        </p:style>
      </p:cxnSp>
      <p:cxnSp>
        <p:nvCxnSpPr>
          <p:cNvPr id="26" name="Layer connector: shared"/>
          <p:cNvCxnSpPr/>
          <p:nvPr/>
        </p:nvCxnSpPr>
        <p:spPr>
          <a:xfrm>
            <a:off x="2331720" y="2176272"/>
            <a:ext cx="3758184"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Layer connector: shared"/>
          <p:cNvCxnSpPr/>
          <p:nvPr/>
        </p:nvCxnSpPr>
        <p:spPr>
          <a:xfrm flipH="1">
            <a:off x="2331720" y="2221991"/>
            <a:ext cx="3758184" cy="0"/>
          </a:xfrm>
          <a:prstGeom prst="line">
            <a:avLst/>
          </a:prstGeom>
          <a:ln w="1270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ello steps: 1,2,3"/>
          <p:cNvSpPr txBox="1"/>
          <p:nvPr/>
        </p:nvSpPr>
        <p:spPr>
          <a:xfrm>
            <a:off x="2377439" y="1943100"/>
            <a:ext cx="3666744" cy="205740"/>
          </a:xfrm>
          <a:prstGeom prst="rect">
            <a:avLst/>
          </a:prstGeom>
          <a:noFill/>
        </p:spPr>
        <p:txBody>
          <a:bodyPr wrap="square" lIns="0" rIns="0" tIns="0" bIns="0" anchor="ctr">
            <a:spAutoFit/>
          </a:bodyPr>
          <a:lstStyle/>
          <a:p>
            <a:pPr algn="ctr"/>
            <a:r>
              <a:rPr sz="1240" b="1" lang="en-US">
                <a:solidFill>
                  <a:srgbClr val="686868"/>
                </a:solidFill>
                <a:latin typeface="Arial"/>
              </a:rPr>
              <a:t>1–3  Token · trusted session · call</a:t>
            </a:r>
          </a:p>
        </p:txBody>
      </p:sp>
      <p:sp>
        <p:nvSpPr>
          <p:cNvPr id="29" name="Sello AIR process panel"/>
          <p:cNvSpPr/>
          <p:nvPr/>
        </p:nvSpPr>
        <p:spPr>
          <a:xfrm>
            <a:off x="4535424" y="2340864"/>
            <a:ext cx="3108960" cy="393192"/>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IR steps: A1"/>
          <p:cNvSpPr txBox="1"/>
          <p:nvPr/>
        </p:nvSpPr>
        <p:spPr>
          <a:xfrm>
            <a:off x="4608576" y="2372868"/>
            <a:ext cx="2962656" cy="329184"/>
          </a:xfrm>
          <a:prstGeom prst="rect">
            <a:avLst/>
          </a:prstGeom>
          <a:noFill/>
        </p:spPr>
        <p:txBody>
          <a:bodyPr wrap="square" lIns="0" rIns="0" tIns="0" bIns="0" anchor="ctr">
            <a:spAutoFit/>
          </a:bodyPr>
          <a:lstStyle/>
          <a:p>
            <a:pPr algn="ctr"/>
            <a:r>
              <a:rPr sz="1330" b="1" lang="en-US">
                <a:solidFill>
                  <a:srgbClr val="245AA5"/>
                </a:solidFill>
                <a:latin typeface="Arial"/>
              </a:rPr>
              <a:t>A1  Run inference + create AIR</a:t>
            </a:r>
          </a:p>
        </p:txBody>
      </p:sp>
      <p:sp>
        <p:nvSpPr>
          <p:cNvPr id="31" name="Sello AIR process panel"/>
          <p:cNvSpPr/>
          <p:nvPr/>
        </p:nvSpPr>
        <p:spPr>
          <a:xfrm>
            <a:off x="4535424" y="2852928"/>
            <a:ext cx="3108960" cy="393192"/>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ello steps: 4"/>
          <p:cNvSpPr txBox="1"/>
          <p:nvPr/>
        </p:nvSpPr>
        <p:spPr>
          <a:xfrm>
            <a:off x="4608576" y="2884932"/>
            <a:ext cx="2962656" cy="329184"/>
          </a:xfrm>
          <a:prstGeom prst="rect">
            <a:avLst/>
          </a:prstGeom>
          <a:noFill/>
        </p:spPr>
        <p:txBody>
          <a:bodyPr wrap="square" lIns="0" rIns="0" tIns="0" bIns="0" anchor="ctr">
            <a:spAutoFit/>
          </a:bodyPr>
          <a:lstStyle/>
          <a:p>
            <a:pPr algn="ctr"/>
            <a:r>
              <a:rPr sz="1310" b="1" lang="en-US">
                <a:solidFill>
                  <a:srgbClr val="A84B13"/>
                </a:solidFill>
                <a:latin typeface="Arial"/>
              </a:rPr>
              <a:t>4  Hash · encrypt · sign Sello</a:t>
            </a:r>
          </a:p>
        </p:txBody>
      </p:sp>
      <p:cxnSp>
        <p:nvCxnSpPr>
          <p:cNvPr id="33" name="Layer connector: sello"/>
          <p:cNvCxnSpPr/>
          <p:nvPr/>
        </p:nvCxnSpPr>
        <p:spPr>
          <a:xfrm>
            <a:off x="6089904" y="3538728"/>
            <a:ext cx="3758184"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Sello steps: 5"/>
          <p:cNvSpPr txBox="1"/>
          <p:nvPr/>
        </p:nvSpPr>
        <p:spPr>
          <a:xfrm>
            <a:off x="6135624" y="3305556"/>
            <a:ext cx="3666744" cy="205740"/>
          </a:xfrm>
          <a:prstGeom prst="rect">
            <a:avLst/>
          </a:prstGeom>
          <a:noFill/>
        </p:spPr>
        <p:txBody>
          <a:bodyPr wrap="square" lIns="0" rIns="0" tIns="0" bIns="0" anchor="ctr">
            <a:spAutoFit/>
          </a:bodyPr>
          <a:lstStyle/>
          <a:p>
            <a:pPr algn="ctr"/>
            <a:r>
              <a:rPr sz="1280" b="1" lang="en-US">
                <a:solidFill>
                  <a:srgbClr val="A84B13"/>
                </a:solidFill>
                <a:latin typeface="Arial"/>
              </a:rPr>
              <a:t>5  Publish Sello receipt</a:t>
            </a:r>
          </a:p>
        </p:txBody>
      </p:sp>
      <p:cxnSp>
        <p:nvCxnSpPr>
          <p:cNvPr id="35" name="Layer connector: sello"/>
          <p:cNvCxnSpPr/>
          <p:nvPr/>
        </p:nvCxnSpPr>
        <p:spPr>
          <a:xfrm flipH="1">
            <a:off x="6089904" y="3904487"/>
            <a:ext cx="3758184"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Sello steps: 6"/>
          <p:cNvSpPr txBox="1"/>
          <p:nvPr/>
        </p:nvSpPr>
        <p:spPr>
          <a:xfrm>
            <a:off x="6135624" y="3671315"/>
            <a:ext cx="3666744" cy="205740"/>
          </a:xfrm>
          <a:prstGeom prst="rect">
            <a:avLst/>
          </a:prstGeom>
          <a:noFill/>
        </p:spPr>
        <p:txBody>
          <a:bodyPr wrap="square" lIns="0" rIns="0" tIns="0" bIns="0" anchor="ctr">
            <a:spAutoFit/>
          </a:bodyPr>
          <a:lstStyle/>
          <a:p>
            <a:pPr algn="ctr"/>
            <a:r>
              <a:rPr sz="1250" b="1" lang="en-US">
                <a:solidFill>
                  <a:srgbClr val="A84B13"/>
                </a:solidFill>
                <a:latin typeface="Arial"/>
              </a:rPr>
              <a:t>6  Inclusion proof · TEE checks</a:t>
            </a:r>
          </a:p>
        </p:txBody>
      </p:sp>
      <p:cxnSp>
        <p:nvCxnSpPr>
          <p:cNvPr id="37" name="Layer connector: shared"/>
          <p:cNvCxnSpPr/>
          <p:nvPr/>
        </p:nvCxnSpPr>
        <p:spPr>
          <a:xfrm flipH="1">
            <a:off x="2331720" y="4279392"/>
            <a:ext cx="3758184"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Sello steps: 7"/>
          <p:cNvSpPr txBox="1"/>
          <p:nvPr/>
        </p:nvSpPr>
        <p:spPr>
          <a:xfrm>
            <a:off x="2377439" y="4046220"/>
            <a:ext cx="3666744" cy="205740"/>
          </a:xfrm>
          <a:prstGeom prst="rect">
            <a:avLst/>
          </a:prstGeom>
          <a:noFill/>
        </p:spPr>
        <p:txBody>
          <a:bodyPr wrap="square" lIns="0" rIns="0" tIns="0" bIns="0" anchor="ctr">
            <a:spAutoFit/>
          </a:bodyPr>
          <a:lstStyle/>
          <a:p>
            <a:pPr algn="ctr"/>
            <a:r>
              <a:rPr sz="1220" b="1" lang="en-US">
                <a:solidFill>
                  <a:srgbClr val="686868"/>
                </a:solidFill>
                <a:latin typeface="Arial"/>
              </a:rPr>
              <a:t>7  AIR bundle + Sello receipt + URL</a:t>
            </a:r>
          </a:p>
        </p:txBody>
      </p:sp>
      <p:sp>
        <p:nvSpPr>
          <p:cNvPr id="39" name="Sello AIR process panel"/>
          <p:cNvSpPr/>
          <p:nvPr/>
        </p:nvSpPr>
        <p:spPr>
          <a:xfrm>
            <a:off x="758952" y="4489704"/>
            <a:ext cx="3145536" cy="393192"/>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ello steps: 8"/>
          <p:cNvSpPr txBox="1"/>
          <p:nvPr/>
        </p:nvSpPr>
        <p:spPr>
          <a:xfrm>
            <a:off x="832103" y="4521708"/>
            <a:ext cx="2999232" cy="329184"/>
          </a:xfrm>
          <a:prstGeom prst="rect">
            <a:avLst/>
          </a:prstGeom>
          <a:noFill/>
        </p:spPr>
        <p:txBody>
          <a:bodyPr wrap="square" lIns="0" rIns="0" tIns="0" bIns="0" anchor="ctr">
            <a:spAutoFit/>
          </a:bodyPr>
          <a:lstStyle/>
          <a:p>
            <a:pPr algn="ctr"/>
            <a:r>
              <a:rPr sz="1310" b="1" lang="en-US">
                <a:solidFill>
                  <a:srgbClr val="A84B13"/>
                </a:solidFill>
                <a:latin typeface="Arial"/>
              </a:rPr>
              <a:t>8  Verify Sello + inclusion</a:t>
            </a:r>
          </a:p>
        </p:txBody>
      </p:sp>
      <p:cxnSp>
        <p:nvCxnSpPr>
          <p:cNvPr id="41" name="Layer connector: sello"/>
          <p:cNvCxnSpPr/>
          <p:nvPr/>
        </p:nvCxnSpPr>
        <p:spPr>
          <a:xfrm>
            <a:off x="2331720" y="5120640"/>
            <a:ext cx="7516368"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Sello steps: 9"/>
          <p:cNvSpPr txBox="1"/>
          <p:nvPr/>
        </p:nvSpPr>
        <p:spPr>
          <a:xfrm>
            <a:off x="3977639" y="4887468"/>
            <a:ext cx="5577840" cy="205740"/>
          </a:xfrm>
          <a:prstGeom prst="rect">
            <a:avLst/>
          </a:prstGeom>
          <a:noFill/>
        </p:spPr>
        <p:txBody>
          <a:bodyPr wrap="square" lIns="0" rIns="0" tIns="0" bIns="0" anchor="ctr">
            <a:spAutoFit/>
          </a:bodyPr>
          <a:lstStyle/>
          <a:p>
            <a:pPr algn="ctr"/>
            <a:r>
              <a:rPr sz="1260" b="1" lang="en-US">
                <a:solidFill>
                  <a:srgbClr val="A84B13"/>
                </a:solidFill>
                <a:latin typeface="Arial"/>
              </a:rPr>
              <a:t>9  Log session + encrypted audit context</a:t>
            </a:r>
          </a:p>
        </p:txBody>
      </p:sp>
      <p:sp>
        <p:nvSpPr>
          <p:cNvPr id="43" name="Sello AIR process panel"/>
          <p:cNvSpPr/>
          <p:nvPr/>
        </p:nvSpPr>
        <p:spPr>
          <a:xfrm>
            <a:off x="758952" y="5248656"/>
            <a:ext cx="3145536" cy="36576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IR steps: A2,A3,A4,A5,A6,A7,A8"/>
          <p:cNvSpPr txBox="1"/>
          <p:nvPr/>
        </p:nvSpPr>
        <p:spPr>
          <a:xfrm>
            <a:off x="832103" y="5280660"/>
            <a:ext cx="2999232" cy="301752"/>
          </a:xfrm>
          <a:prstGeom prst="rect">
            <a:avLst/>
          </a:prstGeom>
          <a:noFill/>
        </p:spPr>
        <p:txBody>
          <a:bodyPr wrap="square" lIns="0" rIns="0" tIns="0" bIns="0" anchor="ctr">
            <a:spAutoFit/>
          </a:bodyPr>
          <a:lstStyle/>
          <a:p>
            <a:pPr algn="ctr"/>
            <a:r>
              <a:rPr sz="1290" b="1" lang="en-US">
                <a:solidFill>
                  <a:srgbClr val="245AA5"/>
                </a:solidFill>
                <a:latin typeface="Arial"/>
              </a:rPr>
              <a:t>A2–A8  Verify AIR + TDX</a:t>
            </a:r>
          </a:p>
        </p:txBody>
      </p:sp>
      <p:cxnSp>
        <p:nvCxnSpPr>
          <p:cNvPr id="45" name="Layer connector: air"/>
          <p:cNvCxnSpPr/>
          <p:nvPr/>
        </p:nvCxnSpPr>
        <p:spPr>
          <a:xfrm>
            <a:off x="2331720" y="5650992"/>
            <a:ext cx="751636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AIR steps: A9,A10"/>
          <p:cNvSpPr txBox="1"/>
          <p:nvPr/>
        </p:nvSpPr>
        <p:spPr>
          <a:xfrm>
            <a:off x="4069080" y="5417820"/>
            <a:ext cx="5394960" cy="205740"/>
          </a:xfrm>
          <a:prstGeom prst="rect">
            <a:avLst/>
          </a:prstGeom>
          <a:noFill/>
        </p:spPr>
        <p:txBody>
          <a:bodyPr wrap="square" lIns="0" rIns="0" tIns="0" bIns="0" anchor="ctr">
            <a:spAutoFit/>
          </a:bodyPr>
          <a:lstStyle/>
          <a:p>
            <a:pPr algn="ctr"/>
            <a:r>
              <a:rPr sz="1300" b="1" lang="en-US">
                <a:solidFill>
                  <a:srgbClr val="245AA5"/>
                </a:solidFill>
                <a:latin typeface="Arial"/>
              </a:rPr>
              <a:t>A9–A10  Publish AIR + verify inclusion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ello AIR process proposal B">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complete verification flow</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THIRD MCP FUNCTION · AIR STEPS A1–A10 · FOLLOW STEP NUMBERS</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636776"/>
            <a:ext cx="10991088" cy="1536192"/>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636776"/>
            <a:ext cx="1536192" cy="153619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Runtime"/>
          <p:cNvSpPr txBox="1"/>
          <p:nvPr/>
        </p:nvSpPr>
        <p:spPr>
          <a:xfrm>
            <a:off x="694944" y="1682496"/>
            <a:ext cx="1335024" cy="1444751"/>
          </a:xfrm>
          <a:prstGeom prst="rect">
            <a:avLst/>
          </a:prstGeom>
          <a:noFill/>
        </p:spPr>
        <p:txBody>
          <a:bodyPr wrap="square" lIns="0" rIns="0" tIns="0" bIns="0" anchor="ctr">
            <a:spAutoFit/>
          </a:bodyPr>
          <a:lstStyle/>
          <a:p>
            <a:pPr algn="ctr"/>
            <a:r>
              <a:rPr sz="1520" b="1" lang="en-US">
                <a:solidFill>
                  <a:srgbClr val="FFFFFF"/>
                </a:solidFill>
                <a:latin typeface="Arial"/>
              </a:rPr>
              <a:t>Agent
Runtime</a:t>
            </a:r>
          </a:p>
        </p:txBody>
      </p:sp>
      <p:sp>
        <p:nvSpPr>
          <p:cNvPr id="17" name="Sello AIR process panel"/>
          <p:cNvSpPr/>
          <p:nvPr/>
        </p:nvSpPr>
        <p:spPr>
          <a:xfrm>
            <a:off x="594360" y="3264408"/>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594360" y="3264408"/>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694944" y="3310127"/>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Inference
TEE</a:t>
            </a:r>
          </a:p>
        </p:txBody>
      </p:sp>
      <p:sp>
        <p:nvSpPr>
          <p:cNvPr id="20" name="Sello AIR process panel"/>
          <p:cNvSpPr/>
          <p:nvPr/>
        </p:nvSpPr>
        <p:spPr>
          <a:xfrm>
            <a:off x="594360" y="3941063"/>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594360" y="3941063"/>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694944" y="3986783"/>
            <a:ext cx="1335024" cy="493776"/>
          </a:xfrm>
          <a:prstGeom prst="rect">
            <a:avLst/>
          </a:prstGeom>
          <a:noFill/>
        </p:spPr>
        <p:txBody>
          <a:bodyPr wrap="square" lIns="0" rIns="0" tIns="0" bIns="0" anchor="ctr">
            <a:spAutoFit/>
          </a:bodyPr>
          <a:lstStyle/>
          <a:p>
            <a:pPr algn="ctr"/>
            <a:r>
              <a:rPr sz="1400" b="1" lang="en-US">
                <a:solidFill>
                  <a:srgbClr val="FFFFFF"/>
                </a:solidFill>
                <a:latin typeface="Arial"/>
              </a:rPr>
              <a:t>Transparency
Log</a:t>
            </a:r>
          </a:p>
        </p:txBody>
      </p:sp>
      <p:sp>
        <p:nvSpPr>
          <p:cNvPr id="23" name="Sello AIR process panel"/>
          <p:cNvSpPr/>
          <p:nvPr/>
        </p:nvSpPr>
        <p:spPr>
          <a:xfrm>
            <a:off x="594360" y="4617720"/>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llo AIR process panel"/>
          <p:cNvSpPr/>
          <p:nvPr/>
        </p:nvSpPr>
        <p:spPr>
          <a:xfrm>
            <a:off x="594360" y="4617720"/>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ctor: Phala API"/>
          <p:cNvSpPr txBox="1"/>
          <p:nvPr/>
        </p:nvSpPr>
        <p:spPr>
          <a:xfrm>
            <a:off x="694944" y="4663440"/>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Phala
API</a:t>
            </a:r>
          </a:p>
        </p:txBody>
      </p:sp>
      <p:cxnSp>
        <p:nvCxnSpPr>
          <p:cNvPr id="26" name="Layer connector: shared"/>
          <p:cNvCxnSpPr/>
          <p:nvPr/>
        </p:nvCxnSpPr>
        <p:spPr>
          <a:xfrm>
            <a:off x="2889503" y="2377440"/>
            <a:ext cx="0" cy="932688"/>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Layer connector: shared"/>
          <p:cNvCxnSpPr/>
          <p:nvPr/>
        </p:nvCxnSpPr>
        <p:spPr>
          <a:xfrm>
            <a:off x="3483863" y="3557016"/>
            <a:ext cx="91441"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Layer connector: sello"/>
          <p:cNvCxnSpPr/>
          <p:nvPr/>
        </p:nvCxnSpPr>
        <p:spPr>
          <a:xfrm>
            <a:off x="4169664" y="3803904"/>
            <a:ext cx="0" cy="18288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Layer connector: sello"/>
          <p:cNvCxnSpPr/>
          <p:nvPr/>
        </p:nvCxnSpPr>
        <p:spPr>
          <a:xfrm flipV="1">
            <a:off x="4581144" y="3895344"/>
            <a:ext cx="0" cy="9144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0" name="Layer connector: sello"/>
          <p:cNvCxnSpPr/>
          <p:nvPr/>
        </p:nvCxnSpPr>
        <p:spPr>
          <a:xfrm>
            <a:off x="4581144" y="3895344"/>
            <a:ext cx="868680"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1" name="Layer connector: sello"/>
          <p:cNvCxnSpPr/>
          <p:nvPr/>
        </p:nvCxnSpPr>
        <p:spPr>
          <a:xfrm flipV="1">
            <a:off x="5449824" y="3803904"/>
            <a:ext cx="0" cy="9144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Layer connector: shared"/>
          <p:cNvCxnSpPr/>
          <p:nvPr/>
        </p:nvCxnSpPr>
        <p:spPr>
          <a:xfrm flipH="1">
            <a:off x="4809744" y="3557016"/>
            <a:ext cx="45720"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3" name="Layer connector: shared"/>
          <p:cNvCxnSpPr/>
          <p:nvPr/>
        </p:nvCxnSpPr>
        <p:spPr>
          <a:xfrm flipV="1">
            <a:off x="4809744" y="1956816"/>
            <a:ext cx="0" cy="160020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4" name="Layer connector: shared"/>
          <p:cNvCxnSpPr/>
          <p:nvPr/>
        </p:nvCxnSpPr>
        <p:spPr>
          <a:xfrm>
            <a:off x="4809744" y="1956816"/>
            <a:ext cx="45720"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Layer connector: sello"/>
          <p:cNvCxnSpPr/>
          <p:nvPr/>
        </p:nvCxnSpPr>
        <p:spPr>
          <a:xfrm>
            <a:off x="5449824" y="2203704"/>
            <a:ext cx="0" cy="21031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Layer connector: sello"/>
          <p:cNvCxnSpPr/>
          <p:nvPr/>
        </p:nvCxnSpPr>
        <p:spPr>
          <a:xfrm>
            <a:off x="6044183" y="2660904"/>
            <a:ext cx="4572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7" name="Layer connector: sello"/>
          <p:cNvCxnSpPr/>
          <p:nvPr/>
        </p:nvCxnSpPr>
        <p:spPr>
          <a:xfrm>
            <a:off x="6089904" y="2660904"/>
            <a:ext cx="0" cy="1207008"/>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8" name="Layer connector: sello"/>
          <p:cNvCxnSpPr/>
          <p:nvPr/>
        </p:nvCxnSpPr>
        <p:spPr>
          <a:xfrm flipH="1">
            <a:off x="5879592" y="3867912"/>
            <a:ext cx="210312"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9" name="Layer connector: sello"/>
          <p:cNvCxnSpPr/>
          <p:nvPr/>
        </p:nvCxnSpPr>
        <p:spPr>
          <a:xfrm>
            <a:off x="5879592" y="3867912"/>
            <a:ext cx="0" cy="11887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Layer connector: sello"/>
          <p:cNvCxnSpPr/>
          <p:nvPr/>
        </p:nvCxnSpPr>
        <p:spPr>
          <a:xfrm>
            <a:off x="6044183" y="4233672"/>
            <a:ext cx="13716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1" name="Layer connector: sello"/>
          <p:cNvCxnSpPr/>
          <p:nvPr/>
        </p:nvCxnSpPr>
        <p:spPr>
          <a:xfrm flipV="1">
            <a:off x="6181344" y="2208276"/>
            <a:ext cx="0" cy="2025396"/>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2" name="Layer connector: sello"/>
          <p:cNvCxnSpPr/>
          <p:nvPr/>
        </p:nvCxnSpPr>
        <p:spPr>
          <a:xfrm>
            <a:off x="6181344" y="2208276"/>
            <a:ext cx="91440"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Layer connector: air"/>
          <p:cNvCxnSpPr/>
          <p:nvPr/>
        </p:nvCxnSpPr>
        <p:spPr>
          <a:xfrm flipV="1">
            <a:off x="3246120" y="3017520"/>
            <a:ext cx="0" cy="292608"/>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4" name="Layer connector: air"/>
          <p:cNvCxnSpPr/>
          <p:nvPr/>
        </p:nvCxnSpPr>
        <p:spPr>
          <a:xfrm>
            <a:off x="3246120" y="3017520"/>
            <a:ext cx="1261872" cy="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5" name="Layer connector: air"/>
          <p:cNvCxnSpPr/>
          <p:nvPr/>
        </p:nvCxnSpPr>
        <p:spPr>
          <a:xfrm flipV="1">
            <a:off x="4507992" y="1828800"/>
            <a:ext cx="0" cy="118872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6" name="Layer connector: air"/>
          <p:cNvCxnSpPr/>
          <p:nvPr/>
        </p:nvCxnSpPr>
        <p:spPr>
          <a:xfrm>
            <a:off x="4507992" y="1828800"/>
            <a:ext cx="347472"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Layer connector: air"/>
          <p:cNvCxnSpPr/>
          <p:nvPr/>
        </p:nvCxnSpPr>
        <p:spPr>
          <a:xfrm>
            <a:off x="6044183" y="1938528"/>
            <a:ext cx="228601"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8" name="Sello process: AIR bundle"/>
          <p:cNvSpPr txBox="1"/>
          <p:nvPr/>
        </p:nvSpPr>
        <p:spPr>
          <a:xfrm>
            <a:off x="3364992" y="2798064"/>
            <a:ext cx="1243584" cy="192024"/>
          </a:xfrm>
          <a:prstGeom prst="rect">
            <a:avLst/>
          </a:prstGeom>
          <a:noFill/>
        </p:spPr>
        <p:txBody>
          <a:bodyPr wrap="square" lIns="0" rIns="0" tIns="0" bIns="0" anchor="ctr">
            <a:spAutoFit/>
          </a:bodyPr>
          <a:lstStyle/>
          <a:p>
            <a:pPr algn="ctr"/>
            <a:r>
              <a:rPr sz="1050" b="0" lang="en-US">
                <a:solidFill>
                  <a:srgbClr val="245AA5"/>
                </a:solidFill>
                <a:latin typeface="Arial"/>
              </a:rPr>
              <a:t>AIR bundle</a:t>
            </a:r>
          </a:p>
        </p:txBody>
      </p:sp>
      <p:cxnSp>
        <p:nvCxnSpPr>
          <p:cNvPr id="49" name="Layer connector: air"/>
          <p:cNvCxnSpPr/>
          <p:nvPr/>
        </p:nvCxnSpPr>
        <p:spPr>
          <a:xfrm>
            <a:off x="6867144" y="2651760"/>
            <a:ext cx="0" cy="201168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Layer connector: air"/>
          <p:cNvCxnSpPr/>
          <p:nvPr/>
        </p:nvCxnSpPr>
        <p:spPr>
          <a:xfrm>
            <a:off x="7461504" y="4910327"/>
            <a:ext cx="91440"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1" name="Layer connector: air"/>
          <p:cNvCxnSpPr/>
          <p:nvPr/>
        </p:nvCxnSpPr>
        <p:spPr>
          <a:xfrm flipV="1">
            <a:off x="7552944" y="2208276"/>
            <a:ext cx="0" cy="2702051"/>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2" name="Layer connector: air"/>
          <p:cNvCxnSpPr/>
          <p:nvPr/>
        </p:nvCxnSpPr>
        <p:spPr>
          <a:xfrm>
            <a:off x="7552944" y="2208276"/>
            <a:ext cx="91439"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Layer connector: air"/>
          <p:cNvCxnSpPr/>
          <p:nvPr/>
        </p:nvCxnSpPr>
        <p:spPr>
          <a:xfrm>
            <a:off x="8238744" y="2651760"/>
            <a:ext cx="0" cy="201168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Layer connector: air"/>
          <p:cNvCxnSpPr/>
          <p:nvPr/>
        </p:nvCxnSpPr>
        <p:spPr>
          <a:xfrm>
            <a:off x="8833104" y="4910327"/>
            <a:ext cx="100584"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5" name="Layer connector: air"/>
          <p:cNvCxnSpPr/>
          <p:nvPr/>
        </p:nvCxnSpPr>
        <p:spPr>
          <a:xfrm flipV="1">
            <a:off x="8933688" y="1920240"/>
            <a:ext cx="0" cy="2990087"/>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6" name="Layer connector: air"/>
          <p:cNvCxnSpPr/>
          <p:nvPr/>
        </p:nvCxnSpPr>
        <p:spPr>
          <a:xfrm>
            <a:off x="8933688" y="1920240"/>
            <a:ext cx="173736"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Layer connector: air"/>
          <p:cNvCxnSpPr/>
          <p:nvPr/>
        </p:nvCxnSpPr>
        <p:spPr>
          <a:xfrm>
            <a:off x="10254996" y="2148840"/>
            <a:ext cx="0" cy="73152"/>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Layer connector: air"/>
          <p:cNvCxnSpPr/>
          <p:nvPr/>
        </p:nvCxnSpPr>
        <p:spPr>
          <a:xfrm>
            <a:off x="10254996" y="2496312"/>
            <a:ext cx="0" cy="73152"/>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Layer connector: air"/>
          <p:cNvCxnSpPr/>
          <p:nvPr/>
        </p:nvCxnSpPr>
        <p:spPr>
          <a:xfrm>
            <a:off x="11402568" y="2706624"/>
            <a:ext cx="109728"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0" name="Layer connector: air"/>
          <p:cNvCxnSpPr/>
          <p:nvPr/>
        </p:nvCxnSpPr>
        <p:spPr>
          <a:xfrm>
            <a:off x="11512296" y="2706624"/>
            <a:ext cx="0" cy="1527048"/>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1" name="Layer connector: air"/>
          <p:cNvCxnSpPr/>
          <p:nvPr/>
        </p:nvCxnSpPr>
        <p:spPr>
          <a:xfrm flipH="1">
            <a:off x="11402568" y="4233672"/>
            <a:ext cx="10972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Layer connector: air"/>
          <p:cNvCxnSpPr/>
          <p:nvPr/>
        </p:nvCxnSpPr>
        <p:spPr>
          <a:xfrm flipH="1">
            <a:off x="9025128" y="4233672"/>
            <a:ext cx="82296"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3" name="Layer connector: air"/>
          <p:cNvCxnSpPr/>
          <p:nvPr/>
        </p:nvCxnSpPr>
        <p:spPr>
          <a:xfrm flipV="1">
            <a:off x="9025128" y="3008376"/>
            <a:ext cx="0" cy="1225296"/>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4" name="Layer connector: air"/>
          <p:cNvCxnSpPr/>
          <p:nvPr/>
        </p:nvCxnSpPr>
        <p:spPr>
          <a:xfrm>
            <a:off x="9025128" y="3008376"/>
            <a:ext cx="82296"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ello AIR process panel"/>
          <p:cNvSpPr/>
          <p:nvPr/>
        </p:nvSpPr>
        <p:spPr>
          <a:xfrm>
            <a:off x="2295144" y="1783080"/>
            <a:ext cx="1188720" cy="594360"/>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ello steps: 1,2,3"/>
          <p:cNvSpPr txBox="1"/>
          <p:nvPr/>
        </p:nvSpPr>
        <p:spPr>
          <a:xfrm>
            <a:off x="2368296" y="1815084"/>
            <a:ext cx="1042416" cy="530352"/>
          </a:xfrm>
          <a:prstGeom prst="rect">
            <a:avLst/>
          </a:prstGeom>
          <a:noFill/>
        </p:spPr>
        <p:txBody>
          <a:bodyPr wrap="square" lIns="0" rIns="0" tIns="0" bIns="0" anchor="ctr">
            <a:spAutoFit/>
          </a:bodyPr>
          <a:lstStyle/>
          <a:p>
            <a:pPr algn="ctr"/>
            <a:r>
              <a:rPr sz="1180" b="1" lang="en-US">
                <a:solidFill>
                  <a:srgbClr val="686868"/>
                </a:solidFill>
                <a:latin typeface="Arial"/>
              </a:rPr>
              <a:t>1–3  Auth
+ session</a:t>
            </a:r>
          </a:p>
        </p:txBody>
      </p:sp>
      <p:sp>
        <p:nvSpPr>
          <p:cNvPr id="67" name="Sello AIR process panel"/>
          <p:cNvSpPr/>
          <p:nvPr/>
        </p:nvSpPr>
        <p:spPr>
          <a:xfrm>
            <a:off x="2295144" y="3310128"/>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IR steps: A1"/>
          <p:cNvSpPr txBox="1"/>
          <p:nvPr/>
        </p:nvSpPr>
        <p:spPr>
          <a:xfrm>
            <a:off x="2368296" y="3342132"/>
            <a:ext cx="1042416" cy="429768"/>
          </a:xfrm>
          <a:prstGeom prst="rect">
            <a:avLst/>
          </a:prstGeom>
          <a:noFill/>
        </p:spPr>
        <p:txBody>
          <a:bodyPr wrap="square" lIns="0" rIns="0" tIns="0" bIns="0" anchor="ctr">
            <a:spAutoFit/>
          </a:bodyPr>
          <a:lstStyle/>
          <a:p>
            <a:pPr algn="ctr"/>
            <a:r>
              <a:rPr sz="1180" b="1" lang="en-US">
                <a:solidFill>
                  <a:srgbClr val="245AA5"/>
                </a:solidFill>
                <a:latin typeface="Arial"/>
              </a:rPr>
              <a:t>A1  Infer
+ AIR</a:t>
            </a:r>
          </a:p>
        </p:txBody>
      </p:sp>
      <p:sp>
        <p:nvSpPr>
          <p:cNvPr id="69" name="Sello AIR process panel"/>
          <p:cNvSpPr/>
          <p:nvPr/>
        </p:nvSpPr>
        <p:spPr>
          <a:xfrm>
            <a:off x="357530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ello steps: 4"/>
          <p:cNvSpPr txBox="1"/>
          <p:nvPr/>
        </p:nvSpPr>
        <p:spPr>
          <a:xfrm>
            <a:off x="364845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4  Seal
Sello</a:t>
            </a:r>
          </a:p>
        </p:txBody>
      </p:sp>
      <p:sp>
        <p:nvSpPr>
          <p:cNvPr id="71" name="Sello AIR process panel"/>
          <p:cNvSpPr/>
          <p:nvPr/>
        </p:nvSpPr>
        <p:spPr>
          <a:xfrm>
            <a:off x="357530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ello steps: 5"/>
          <p:cNvSpPr txBox="1"/>
          <p:nvPr/>
        </p:nvSpPr>
        <p:spPr>
          <a:xfrm>
            <a:off x="364845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5  Log Sello
receipt</a:t>
            </a:r>
          </a:p>
        </p:txBody>
      </p:sp>
      <p:sp>
        <p:nvSpPr>
          <p:cNvPr id="73" name="Sello AIR process panel"/>
          <p:cNvSpPr/>
          <p:nvPr/>
        </p:nvSpPr>
        <p:spPr>
          <a:xfrm>
            <a:off x="485546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ello steps: 6"/>
          <p:cNvSpPr txBox="1"/>
          <p:nvPr/>
        </p:nvSpPr>
        <p:spPr>
          <a:xfrm>
            <a:off x="492861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6  Check
inclusion</a:t>
            </a:r>
          </a:p>
        </p:txBody>
      </p:sp>
      <p:sp>
        <p:nvSpPr>
          <p:cNvPr id="75" name="Sello AIR process panel"/>
          <p:cNvSpPr/>
          <p:nvPr/>
        </p:nvSpPr>
        <p:spPr>
          <a:xfrm>
            <a:off x="4855464" y="1709928"/>
            <a:ext cx="1188720" cy="493776"/>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ello steps: 7"/>
          <p:cNvSpPr txBox="1"/>
          <p:nvPr/>
        </p:nvSpPr>
        <p:spPr>
          <a:xfrm>
            <a:off x="4928616" y="1741932"/>
            <a:ext cx="1042416" cy="429768"/>
          </a:xfrm>
          <a:prstGeom prst="rect">
            <a:avLst/>
          </a:prstGeom>
          <a:noFill/>
        </p:spPr>
        <p:txBody>
          <a:bodyPr wrap="square" lIns="0" rIns="0" tIns="0" bIns="0" anchor="ctr">
            <a:spAutoFit/>
          </a:bodyPr>
          <a:lstStyle/>
          <a:p>
            <a:pPr algn="ctr"/>
            <a:r>
              <a:rPr sz="1150" b="1" lang="en-US">
                <a:solidFill>
                  <a:srgbClr val="686868"/>
                </a:solidFill>
                <a:latin typeface="Arial"/>
              </a:rPr>
              <a:t>7  AIR +
Sello reply</a:t>
            </a:r>
          </a:p>
        </p:txBody>
      </p:sp>
      <p:sp>
        <p:nvSpPr>
          <p:cNvPr id="77" name="Sello AIR process panel"/>
          <p:cNvSpPr/>
          <p:nvPr/>
        </p:nvSpPr>
        <p:spPr>
          <a:xfrm>
            <a:off x="4855464" y="2414016"/>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ello steps: 8"/>
          <p:cNvSpPr txBox="1"/>
          <p:nvPr/>
        </p:nvSpPr>
        <p:spPr>
          <a:xfrm>
            <a:off x="4928616" y="2446020"/>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8  Verify
Sello</a:t>
            </a:r>
          </a:p>
        </p:txBody>
      </p:sp>
      <p:sp>
        <p:nvSpPr>
          <p:cNvPr id="79" name="Sello AIR process panel"/>
          <p:cNvSpPr/>
          <p:nvPr/>
        </p:nvSpPr>
        <p:spPr>
          <a:xfrm>
            <a:off x="485546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ello steps: 9"/>
          <p:cNvSpPr txBox="1"/>
          <p:nvPr/>
        </p:nvSpPr>
        <p:spPr>
          <a:xfrm>
            <a:off x="492861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9  Session
+ audit</a:t>
            </a:r>
          </a:p>
        </p:txBody>
      </p:sp>
      <p:sp>
        <p:nvSpPr>
          <p:cNvPr id="81" name="Sello AIR process panel"/>
          <p:cNvSpPr/>
          <p:nvPr/>
        </p:nvSpPr>
        <p:spPr>
          <a:xfrm>
            <a:off x="6272784" y="1764792"/>
            <a:ext cx="1188720" cy="886968"/>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IR steps: A2"/>
          <p:cNvSpPr txBox="1"/>
          <p:nvPr/>
        </p:nvSpPr>
        <p:spPr>
          <a:xfrm>
            <a:off x="6345936" y="1796795"/>
            <a:ext cx="1042416" cy="822959"/>
          </a:xfrm>
          <a:prstGeom prst="rect">
            <a:avLst/>
          </a:prstGeom>
          <a:noFill/>
        </p:spPr>
        <p:txBody>
          <a:bodyPr wrap="square" lIns="0" rIns="0" tIns="0" bIns="0" anchor="ctr">
            <a:spAutoFit/>
          </a:bodyPr>
          <a:lstStyle/>
          <a:p>
            <a:pPr algn="ctr"/>
            <a:r>
              <a:rPr sz="1050" b="1" lang="en-US">
                <a:solidFill>
                  <a:srgbClr val="245AA5"/>
                </a:solidFill>
                <a:latin typeface="Arial"/>
              </a:rPr>
              <a:t>A2  Context
REPORTDATA
platform policy</a:t>
            </a:r>
          </a:p>
        </p:txBody>
      </p:sp>
      <p:sp>
        <p:nvSpPr>
          <p:cNvPr id="83" name="Sello AIR process panel"/>
          <p:cNvSpPr/>
          <p:nvPr/>
        </p:nvSpPr>
        <p:spPr>
          <a:xfrm>
            <a:off x="6272784" y="4663440"/>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IR steps: A3"/>
          <p:cNvSpPr txBox="1"/>
          <p:nvPr/>
        </p:nvSpPr>
        <p:spPr>
          <a:xfrm>
            <a:off x="6345936" y="4695444"/>
            <a:ext cx="1042416" cy="429768"/>
          </a:xfrm>
          <a:prstGeom prst="rect">
            <a:avLst/>
          </a:prstGeom>
          <a:noFill/>
        </p:spPr>
        <p:txBody>
          <a:bodyPr wrap="square" lIns="0" rIns="0" tIns="0" bIns="0" anchor="ctr">
            <a:spAutoFit/>
          </a:bodyPr>
          <a:lstStyle/>
          <a:p>
            <a:pPr algn="ctr"/>
            <a:r>
              <a:rPr sz="1160" b="1" lang="en-US">
                <a:solidFill>
                  <a:srgbClr val="245AA5"/>
                </a:solidFill>
                <a:latin typeface="Arial"/>
              </a:rPr>
              <a:t>A3  Verify
TDX quote</a:t>
            </a:r>
          </a:p>
        </p:txBody>
      </p:sp>
      <p:sp>
        <p:nvSpPr>
          <p:cNvPr id="85" name="Sello AIR process panel"/>
          <p:cNvSpPr/>
          <p:nvPr/>
        </p:nvSpPr>
        <p:spPr>
          <a:xfrm>
            <a:off x="7644383" y="1764792"/>
            <a:ext cx="1188720" cy="886968"/>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IR steps: A4"/>
          <p:cNvSpPr txBox="1"/>
          <p:nvPr/>
        </p:nvSpPr>
        <p:spPr>
          <a:xfrm>
            <a:off x="7717536" y="1796795"/>
            <a:ext cx="1042416" cy="822959"/>
          </a:xfrm>
          <a:prstGeom prst="rect">
            <a:avLst/>
          </a:prstGeom>
          <a:noFill/>
        </p:spPr>
        <p:txBody>
          <a:bodyPr wrap="square" lIns="0" rIns="0" tIns="0" bIns="0" anchor="ctr">
            <a:spAutoFit/>
          </a:bodyPr>
          <a:lstStyle/>
          <a:p>
            <a:pPr algn="ctr"/>
            <a:r>
              <a:rPr sz="1100" b="1" lang="en-US">
                <a:solidFill>
                  <a:srgbClr val="245AA5"/>
                </a:solidFill>
                <a:latin typeface="Arial"/>
              </a:rPr>
              <a:t>A4  Check
JSON flags
+ quote fields</a:t>
            </a:r>
          </a:p>
        </p:txBody>
      </p:sp>
      <p:sp>
        <p:nvSpPr>
          <p:cNvPr id="87" name="Sello AIR process panel"/>
          <p:cNvSpPr/>
          <p:nvPr/>
        </p:nvSpPr>
        <p:spPr>
          <a:xfrm>
            <a:off x="7644383" y="4663440"/>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IR steps: A5"/>
          <p:cNvSpPr txBox="1"/>
          <p:nvPr/>
        </p:nvSpPr>
        <p:spPr>
          <a:xfrm>
            <a:off x="7717536" y="4695444"/>
            <a:ext cx="1042416" cy="429768"/>
          </a:xfrm>
          <a:prstGeom prst="rect">
            <a:avLst/>
          </a:prstGeom>
          <a:noFill/>
        </p:spPr>
        <p:txBody>
          <a:bodyPr wrap="square" lIns="0" rIns="0" tIns="0" bIns="0" anchor="ctr">
            <a:spAutoFit/>
          </a:bodyPr>
          <a:lstStyle/>
          <a:p>
            <a:pPr algn="ctr"/>
            <a:r>
              <a:rPr sz="1160" b="1" lang="en-US">
                <a:solidFill>
                  <a:srgbClr val="245AA5"/>
                </a:solidFill>
                <a:latin typeface="Arial"/>
              </a:rPr>
              <a:t>A5  Return
raw quote</a:t>
            </a:r>
          </a:p>
        </p:txBody>
      </p:sp>
      <p:sp>
        <p:nvSpPr>
          <p:cNvPr id="89" name="Sello AIR process panel"/>
          <p:cNvSpPr/>
          <p:nvPr/>
        </p:nvSpPr>
        <p:spPr>
          <a:xfrm>
            <a:off x="9107424" y="1691640"/>
            <a:ext cx="2295144" cy="45720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IR steps: A6"/>
          <p:cNvSpPr txBox="1"/>
          <p:nvPr/>
        </p:nvSpPr>
        <p:spPr>
          <a:xfrm>
            <a:off x="9180576" y="1723644"/>
            <a:ext cx="2148839" cy="393192"/>
          </a:xfrm>
          <a:prstGeom prst="rect">
            <a:avLst/>
          </a:prstGeom>
          <a:noFill/>
        </p:spPr>
        <p:txBody>
          <a:bodyPr wrap="square" lIns="0" rIns="0" tIns="0" bIns="0" anchor="ctr">
            <a:spAutoFit/>
          </a:bodyPr>
          <a:lstStyle/>
          <a:p>
            <a:pPr algn="ctr"/>
            <a:r>
              <a:rPr sz="1110" b="1" lang="en-US">
                <a:solidFill>
                  <a:srgbClr val="245AA5"/>
                </a:solidFill>
                <a:latin typeface="Arial"/>
              </a:rPr>
              <a:t>A6  Match quote bytes
AIR signature + bindings</a:t>
            </a:r>
          </a:p>
        </p:txBody>
      </p:sp>
      <p:sp>
        <p:nvSpPr>
          <p:cNvPr id="91" name="Sello AIR process panel"/>
          <p:cNvSpPr/>
          <p:nvPr/>
        </p:nvSpPr>
        <p:spPr>
          <a:xfrm>
            <a:off x="9107424" y="2221992"/>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IR steps: A7"/>
          <p:cNvSpPr txBox="1"/>
          <p:nvPr/>
        </p:nvSpPr>
        <p:spPr>
          <a:xfrm>
            <a:off x="9180576" y="2253996"/>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A7  Verify RTMR3</a:t>
            </a:r>
          </a:p>
        </p:txBody>
      </p:sp>
      <p:sp>
        <p:nvSpPr>
          <p:cNvPr id="93" name="Sello AIR process panel"/>
          <p:cNvSpPr/>
          <p:nvPr/>
        </p:nvSpPr>
        <p:spPr>
          <a:xfrm>
            <a:off x="9107424" y="2569464"/>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IR steps: A8"/>
          <p:cNvSpPr txBox="1"/>
          <p:nvPr/>
        </p:nvSpPr>
        <p:spPr>
          <a:xfrm>
            <a:off x="9180576" y="2601468"/>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A8  Deployment policy</a:t>
            </a:r>
          </a:p>
        </p:txBody>
      </p:sp>
      <p:sp>
        <p:nvSpPr>
          <p:cNvPr id="95" name="Sello AIR process panel"/>
          <p:cNvSpPr/>
          <p:nvPr/>
        </p:nvSpPr>
        <p:spPr>
          <a:xfrm>
            <a:off x="9107424" y="3986784"/>
            <a:ext cx="2295144"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IR steps: A9"/>
          <p:cNvSpPr txBox="1"/>
          <p:nvPr/>
        </p:nvSpPr>
        <p:spPr>
          <a:xfrm>
            <a:off x="9180576" y="4018788"/>
            <a:ext cx="2148839" cy="429768"/>
          </a:xfrm>
          <a:prstGeom prst="rect">
            <a:avLst/>
          </a:prstGeom>
          <a:noFill/>
        </p:spPr>
        <p:txBody>
          <a:bodyPr wrap="square" lIns="0" rIns="0" tIns="0" bIns="0" anchor="ctr">
            <a:spAutoFit/>
          </a:bodyPr>
          <a:lstStyle/>
          <a:p>
            <a:pPr algn="ctr"/>
            <a:r>
              <a:rPr sz="1150" b="1" lang="en-US">
                <a:solidFill>
                  <a:srgbClr val="245AA5"/>
                </a:solidFill>
                <a:latin typeface="Arial"/>
              </a:rPr>
              <a:t>A9  Log AIR bundle
+ inclusion evidence</a:t>
            </a:r>
          </a:p>
        </p:txBody>
      </p:sp>
      <p:sp>
        <p:nvSpPr>
          <p:cNvPr id="97" name="Sello AIR process panel"/>
          <p:cNvSpPr/>
          <p:nvPr/>
        </p:nvSpPr>
        <p:spPr>
          <a:xfrm>
            <a:off x="9107424" y="2871216"/>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IR steps: A10"/>
          <p:cNvSpPr txBox="1"/>
          <p:nvPr/>
        </p:nvSpPr>
        <p:spPr>
          <a:xfrm>
            <a:off x="9180576" y="2903220"/>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A10  Inclusion → success</a:t>
            </a:r>
          </a:p>
        </p:txBody>
      </p:sp>
      <p:sp>
        <p:nvSpPr>
          <p:cNvPr id="99" name="Sello AIR process panel"/>
          <p:cNvSpPr/>
          <p:nvPr/>
        </p:nvSpPr>
        <p:spPr>
          <a:xfrm>
            <a:off x="6409944" y="3401568"/>
            <a:ext cx="914400"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ello process: POST quote"/>
          <p:cNvSpPr txBox="1"/>
          <p:nvPr/>
        </p:nvSpPr>
        <p:spPr>
          <a:xfrm>
            <a:off x="6437376" y="3433572"/>
            <a:ext cx="859536" cy="182880"/>
          </a:xfrm>
          <a:prstGeom prst="rect">
            <a:avLst/>
          </a:prstGeom>
          <a:noFill/>
        </p:spPr>
        <p:txBody>
          <a:bodyPr wrap="square" lIns="0" rIns="0" tIns="0" bIns="0" anchor="ctr">
            <a:spAutoFit/>
          </a:bodyPr>
          <a:lstStyle/>
          <a:p>
            <a:pPr algn="ctr"/>
            <a:r>
              <a:rPr sz="1000" b="0" lang="en-US">
                <a:solidFill>
                  <a:srgbClr val="245AA5"/>
                </a:solidFill>
                <a:latin typeface="Arial"/>
              </a:rPr>
              <a:t>POST quote</a:t>
            </a:r>
          </a:p>
        </p:txBody>
      </p:sp>
      <p:sp>
        <p:nvSpPr>
          <p:cNvPr id="101" name="Sello AIR process panel"/>
          <p:cNvSpPr/>
          <p:nvPr/>
        </p:nvSpPr>
        <p:spPr>
          <a:xfrm>
            <a:off x="7818120" y="3401568"/>
            <a:ext cx="841248"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ello process: GET raw"/>
          <p:cNvSpPr txBox="1"/>
          <p:nvPr/>
        </p:nvSpPr>
        <p:spPr>
          <a:xfrm>
            <a:off x="7845552" y="3433572"/>
            <a:ext cx="786384" cy="182880"/>
          </a:xfrm>
          <a:prstGeom prst="rect">
            <a:avLst/>
          </a:prstGeom>
          <a:noFill/>
        </p:spPr>
        <p:txBody>
          <a:bodyPr wrap="square" lIns="0" rIns="0" tIns="0" bIns="0" anchor="ctr">
            <a:spAutoFit/>
          </a:bodyPr>
          <a:lstStyle/>
          <a:p>
            <a:pPr algn="ctr"/>
            <a:r>
              <a:rPr sz="1000" b="0" lang="en-US">
                <a:solidFill>
                  <a:srgbClr val="245AA5"/>
                </a:solidFill>
                <a:latin typeface="Arial"/>
              </a:rPr>
              <a:t>GET raw</a:t>
            </a:r>
          </a:p>
        </p:txBody>
      </p:sp>
      <p:sp>
        <p:nvSpPr>
          <p:cNvPr id="103" name="Sello AIR process panel"/>
          <p:cNvSpPr/>
          <p:nvPr/>
        </p:nvSpPr>
        <p:spPr>
          <a:xfrm>
            <a:off x="7287768" y="4123944"/>
            <a:ext cx="530352" cy="21945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ello process: JSON"/>
          <p:cNvSpPr txBox="1"/>
          <p:nvPr/>
        </p:nvSpPr>
        <p:spPr>
          <a:xfrm>
            <a:off x="7315200" y="4146804"/>
            <a:ext cx="475488" cy="173736"/>
          </a:xfrm>
          <a:prstGeom prst="rect">
            <a:avLst/>
          </a:prstGeom>
          <a:noFill/>
        </p:spPr>
        <p:txBody>
          <a:bodyPr wrap="square" lIns="0" rIns="0" tIns="0" bIns="0" anchor="ctr">
            <a:spAutoFit/>
          </a:bodyPr>
          <a:lstStyle/>
          <a:p>
            <a:pPr algn="ctr"/>
            <a:r>
              <a:rPr sz="980" b="0" lang="en-US">
                <a:solidFill>
                  <a:srgbClr val="245AA5"/>
                </a:solidFill>
                <a:latin typeface="Arial"/>
              </a:rPr>
              <a:t>JSON</a:t>
            </a:r>
          </a:p>
        </p:txBody>
      </p:sp>
      <p:sp>
        <p:nvSpPr>
          <p:cNvPr id="105" name="Sello process: bytes"/>
          <p:cNvSpPr txBox="1"/>
          <p:nvPr/>
        </p:nvSpPr>
        <p:spPr>
          <a:xfrm>
            <a:off x="8421624" y="4151376"/>
            <a:ext cx="438912" cy="164592"/>
          </a:xfrm>
          <a:prstGeom prst="rect">
            <a:avLst/>
          </a:prstGeom>
          <a:noFill/>
        </p:spPr>
        <p:txBody>
          <a:bodyPr wrap="square" lIns="0" rIns="0" tIns="0" bIns="0" anchor="ctr">
            <a:spAutoFit/>
          </a:bodyPr>
          <a:lstStyle/>
          <a:p>
            <a:pPr algn="ctr"/>
            <a:r>
              <a:rPr sz="969" b="0" lang="en-US">
                <a:solidFill>
                  <a:srgbClr val="245AA5"/>
                </a:solidFill>
                <a:latin typeface="Arial"/>
              </a:rPr>
              <a:t>bytes</a:t>
            </a:r>
          </a:p>
        </p:txBody>
      </p:sp>
      <p:cxnSp>
        <p:nvCxnSpPr>
          <p:cNvPr id="106" name="Layer connector: shared"/>
          <p:cNvCxnSpPr/>
          <p:nvPr/>
        </p:nvCxnSpPr>
        <p:spPr>
          <a:xfrm>
            <a:off x="667512" y="5367528"/>
            <a:ext cx="539496"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Sello process: Solid: execution order"/>
          <p:cNvSpPr txBox="1"/>
          <p:nvPr/>
        </p:nvSpPr>
        <p:spPr>
          <a:xfrm>
            <a:off x="1353312" y="5271516"/>
            <a:ext cx="2578608" cy="192024"/>
          </a:xfrm>
          <a:prstGeom prst="rect">
            <a:avLst/>
          </a:prstGeom>
          <a:noFill/>
        </p:spPr>
        <p:txBody>
          <a:bodyPr wrap="square" lIns="0" rIns="0" tIns="0" bIns="0" anchor="ctr">
            <a:spAutoFit/>
          </a:bodyPr>
          <a:lstStyle/>
          <a:p>
            <a:pPr algn="l"/>
            <a:r>
              <a:rPr sz="1050" b="0" lang="en-US">
                <a:solidFill>
                  <a:srgbClr val="686868"/>
                </a:solidFill>
                <a:latin typeface="Arial"/>
              </a:rPr>
              <a:t>Solid: execution order</a:t>
            </a:r>
          </a:p>
        </p:txBody>
      </p:sp>
      <p:cxnSp>
        <p:nvCxnSpPr>
          <p:cNvPr id="108" name="Layer connector: air"/>
          <p:cNvCxnSpPr/>
          <p:nvPr/>
        </p:nvCxnSpPr>
        <p:spPr>
          <a:xfrm>
            <a:off x="4572000" y="5367528"/>
            <a:ext cx="539496"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9" name="Sello process: Dashed: AIR data reference"/>
          <p:cNvSpPr txBox="1"/>
          <p:nvPr/>
        </p:nvSpPr>
        <p:spPr>
          <a:xfrm>
            <a:off x="5257800" y="5271516"/>
            <a:ext cx="3584448" cy="192024"/>
          </a:xfrm>
          <a:prstGeom prst="rect">
            <a:avLst/>
          </a:prstGeom>
          <a:noFill/>
        </p:spPr>
        <p:txBody>
          <a:bodyPr wrap="square" lIns="0" rIns="0" tIns="0" bIns="0" anchor="ctr">
            <a:spAutoFit/>
          </a:bodyPr>
          <a:lstStyle/>
          <a:p>
            <a:pPr algn="l"/>
            <a:r>
              <a:rPr sz="1050" b="0" lang="en-US">
                <a:solidFill>
                  <a:srgbClr val="245AA5"/>
                </a:solidFill>
                <a:latin typeface="Arial"/>
              </a:rPr>
              <a:t>Dashed: AIR data reference</a:t>
            </a:r>
          </a:p>
        </p:txBody>
      </p:sp>
      <p:sp>
        <p:nvSpPr>
          <p:cNvPr id="110" name="Sello process: LLM selects the tool · Runtime enforces verification."/>
          <p:cNvSpPr txBox="1"/>
          <p:nvPr/>
        </p:nvSpPr>
        <p:spPr>
          <a:xfrm>
            <a:off x="621792" y="5486400"/>
            <a:ext cx="10954512" cy="228600"/>
          </a:xfrm>
          <a:prstGeom prst="rect">
            <a:avLst/>
          </a:prstGeom>
          <a:noFill/>
        </p:spPr>
        <p:txBody>
          <a:bodyPr wrap="square" lIns="0" rIns="0" tIns="0" bIns="0" anchor="ctr">
            <a:spAutoFit/>
          </a:bodyPr>
          <a:lstStyle/>
          <a:p>
            <a:pPr algn="l"/>
            <a:r>
              <a:rPr sz="1320" b="1" lang="en-US">
                <a:solidFill>
                  <a:srgbClr val="343434"/>
                </a:solidFill>
                <a:latin typeface="Arial"/>
              </a:rPr>
              <a:t>LLM selects the tool · Runtime enforces verification.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ello AIR process proposal C">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two distinct receipts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THIRD MCP FUNCTION · SELLO BINDS THE RETURNED AIR BUNDLE</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C</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581912"/>
            <a:ext cx="3072384" cy="3941064"/>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581912"/>
            <a:ext cx="3072384"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p:cNvSpPr txBox="1"/>
          <p:nvPr/>
        </p:nvSpPr>
        <p:spPr>
          <a:xfrm>
            <a:off x="667512" y="1604772"/>
            <a:ext cx="2926079" cy="256032"/>
          </a:xfrm>
          <a:prstGeom prst="rect">
            <a:avLst/>
          </a:prstGeom>
          <a:noFill/>
        </p:spPr>
        <p:txBody>
          <a:bodyPr wrap="square" lIns="0" rIns="0" tIns="0" bIns="0" anchor="ctr">
            <a:spAutoFit/>
          </a:bodyPr>
          <a:lstStyle/>
          <a:p>
            <a:pPr algn="ctr"/>
            <a:r>
              <a:rPr sz="1639" b="1" lang="en-US">
                <a:solidFill>
                  <a:srgbClr val="FFFFFF"/>
                </a:solidFill>
                <a:latin typeface="Arial"/>
              </a:rPr>
              <a:t>Agent</a:t>
            </a:r>
          </a:p>
        </p:txBody>
      </p:sp>
      <p:sp>
        <p:nvSpPr>
          <p:cNvPr id="17" name="Sello AIR process panel"/>
          <p:cNvSpPr/>
          <p:nvPr/>
        </p:nvSpPr>
        <p:spPr>
          <a:xfrm>
            <a:off x="4178808" y="1581912"/>
            <a:ext cx="3639312" cy="3941064"/>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4178808" y="1581912"/>
            <a:ext cx="3639312"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4251960" y="1604772"/>
            <a:ext cx="3493008" cy="256032"/>
          </a:xfrm>
          <a:prstGeom prst="rect">
            <a:avLst/>
          </a:prstGeom>
          <a:noFill/>
        </p:spPr>
        <p:txBody>
          <a:bodyPr wrap="square" lIns="0" rIns="0" tIns="0" bIns="0" anchor="ctr">
            <a:spAutoFit/>
          </a:bodyPr>
          <a:lstStyle/>
          <a:p>
            <a:pPr algn="ctr"/>
            <a:r>
              <a:rPr sz="1639" b="1" lang="en-US">
                <a:solidFill>
                  <a:srgbClr val="FFFFFF"/>
                </a:solidFill>
                <a:latin typeface="Arial"/>
              </a:rPr>
              <a:t>Inference TEE</a:t>
            </a:r>
          </a:p>
        </p:txBody>
      </p:sp>
      <p:sp>
        <p:nvSpPr>
          <p:cNvPr id="20" name="Sello AIR process panel"/>
          <p:cNvSpPr/>
          <p:nvPr/>
        </p:nvSpPr>
        <p:spPr>
          <a:xfrm>
            <a:off x="8330183" y="1581912"/>
            <a:ext cx="3255264" cy="3941064"/>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8330183" y="1581912"/>
            <a:ext cx="3255264"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8403336" y="1604772"/>
            <a:ext cx="3108960" cy="256032"/>
          </a:xfrm>
          <a:prstGeom prst="rect">
            <a:avLst/>
          </a:prstGeom>
          <a:noFill/>
        </p:spPr>
        <p:txBody>
          <a:bodyPr wrap="square" lIns="0" rIns="0" tIns="0" bIns="0" anchor="ctr">
            <a:spAutoFit/>
          </a:bodyPr>
          <a:lstStyle/>
          <a:p>
            <a:pPr algn="ctr"/>
            <a:r>
              <a:rPr sz="1639" b="1" lang="en-US">
                <a:solidFill>
                  <a:srgbClr val="FFFFFF"/>
                </a:solidFill>
                <a:latin typeface="Arial"/>
              </a:rPr>
              <a:t>Transparency Log</a:t>
            </a:r>
          </a:p>
        </p:txBody>
      </p:sp>
      <p:cxnSp>
        <p:nvCxnSpPr>
          <p:cNvPr id="23" name="Layer connector: shared"/>
          <p:cNvCxnSpPr/>
          <p:nvPr/>
        </p:nvCxnSpPr>
        <p:spPr>
          <a:xfrm>
            <a:off x="3474720" y="2404872"/>
            <a:ext cx="877824"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Layer connector: shared"/>
          <p:cNvCxnSpPr/>
          <p:nvPr/>
        </p:nvCxnSpPr>
        <p:spPr>
          <a:xfrm>
            <a:off x="5998464" y="2642616"/>
            <a:ext cx="0" cy="164592"/>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Layer connector: sello"/>
          <p:cNvCxnSpPr/>
          <p:nvPr/>
        </p:nvCxnSpPr>
        <p:spPr>
          <a:xfrm>
            <a:off x="7626096" y="3209544"/>
            <a:ext cx="868680"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Layer connector: sello"/>
          <p:cNvCxnSpPr/>
          <p:nvPr/>
        </p:nvCxnSpPr>
        <p:spPr>
          <a:xfrm flipH="1">
            <a:off x="8055864" y="3602736"/>
            <a:ext cx="438912"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27" name="Layer connector: sello"/>
          <p:cNvCxnSpPr/>
          <p:nvPr/>
        </p:nvCxnSpPr>
        <p:spPr>
          <a:xfrm>
            <a:off x="8055864" y="3602736"/>
            <a:ext cx="0" cy="448055"/>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28" name="Layer connector: sello"/>
          <p:cNvCxnSpPr/>
          <p:nvPr/>
        </p:nvCxnSpPr>
        <p:spPr>
          <a:xfrm flipH="1">
            <a:off x="7626096" y="4050791"/>
            <a:ext cx="429768"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Layer connector: shared"/>
          <p:cNvCxnSpPr/>
          <p:nvPr/>
        </p:nvCxnSpPr>
        <p:spPr>
          <a:xfrm flipH="1">
            <a:off x="3913632" y="4050791"/>
            <a:ext cx="438912"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0" name="Layer connector: shared"/>
          <p:cNvCxnSpPr/>
          <p:nvPr/>
        </p:nvCxnSpPr>
        <p:spPr>
          <a:xfrm flipV="1">
            <a:off x="3913632" y="3598164"/>
            <a:ext cx="0" cy="452627"/>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1" name="Layer connector: shared"/>
          <p:cNvCxnSpPr/>
          <p:nvPr/>
        </p:nvCxnSpPr>
        <p:spPr>
          <a:xfrm flipH="1">
            <a:off x="3474720" y="3598164"/>
            <a:ext cx="438912"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Layer connector: sello"/>
          <p:cNvCxnSpPr/>
          <p:nvPr/>
        </p:nvCxnSpPr>
        <p:spPr>
          <a:xfrm>
            <a:off x="2130552" y="3767328"/>
            <a:ext cx="0" cy="7315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Layer connector: sello"/>
          <p:cNvCxnSpPr/>
          <p:nvPr/>
        </p:nvCxnSpPr>
        <p:spPr>
          <a:xfrm>
            <a:off x="2130552" y="4178808"/>
            <a:ext cx="0" cy="36576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4" name="Layer connector: sello"/>
          <p:cNvCxnSpPr/>
          <p:nvPr/>
        </p:nvCxnSpPr>
        <p:spPr>
          <a:xfrm>
            <a:off x="2130552" y="4544568"/>
            <a:ext cx="6364224"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Layer connector: sello"/>
          <p:cNvCxnSpPr/>
          <p:nvPr/>
        </p:nvCxnSpPr>
        <p:spPr>
          <a:xfrm>
            <a:off x="9957816" y="4754880"/>
            <a:ext cx="0" cy="109728"/>
          </a:xfrm>
          <a:prstGeom prst="line">
            <a:avLst/>
          </a:prstGeom>
          <a:ln w="15875">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6" name="Layer connector: sello"/>
          <p:cNvCxnSpPr/>
          <p:nvPr/>
        </p:nvCxnSpPr>
        <p:spPr>
          <a:xfrm flipH="1">
            <a:off x="3913632" y="4864608"/>
            <a:ext cx="6044184" cy="0"/>
          </a:xfrm>
          <a:prstGeom prst="line">
            <a:avLst/>
          </a:prstGeom>
          <a:ln w="15875">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7" name="Layer connector: sello"/>
          <p:cNvCxnSpPr/>
          <p:nvPr/>
        </p:nvCxnSpPr>
        <p:spPr>
          <a:xfrm>
            <a:off x="3913632" y="4864608"/>
            <a:ext cx="0" cy="347472"/>
          </a:xfrm>
          <a:prstGeom prst="line">
            <a:avLst/>
          </a:prstGeom>
          <a:ln w="15875">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8" name="Layer connector: sello"/>
          <p:cNvCxnSpPr/>
          <p:nvPr/>
        </p:nvCxnSpPr>
        <p:spPr>
          <a:xfrm flipH="1">
            <a:off x="3474720" y="5212080"/>
            <a:ext cx="438912" cy="0"/>
          </a:xfrm>
          <a:prstGeom prst="line">
            <a:avLst/>
          </a:prstGeom>
          <a:ln w="15875">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Layer connector: air"/>
          <p:cNvCxnSpPr/>
          <p:nvPr/>
        </p:nvCxnSpPr>
        <p:spPr>
          <a:xfrm>
            <a:off x="2130552" y="5431536"/>
            <a:ext cx="0" cy="219456"/>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40" name="Layer connector: air"/>
          <p:cNvCxnSpPr/>
          <p:nvPr/>
        </p:nvCxnSpPr>
        <p:spPr>
          <a:xfrm>
            <a:off x="2130552" y="5650992"/>
            <a:ext cx="7827264"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41" name="Layer connector: air"/>
          <p:cNvCxnSpPr/>
          <p:nvPr/>
        </p:nvCxnSpPr>
        <p:spPr>
          <a:xfrm flipV="1">
            <a:off x="9957816" y="5431536"/>
            <a:ext cx="0" cy="219456"/>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Sello AIR process panel"/>
          <p:cNvSpPr/>
          <p:nvPr/>
        </p:nvSpPr>
        <p:spPr>
          <a:xfrm>
            <a:off x="786384" y="2084831"/>
            <a:ext cx="2688336" cy="630936"/>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ello steps: 1,2,3"/>
          <p:cNvSpPr txBox="1"/>
          <p:nvPr/>
        </p:nvSpPr>
        <p:spPr>
          <a:xfrm>
            <a:off x="877824" y="2116836"/>
            <a:ext cx="2505456" cy="246888"/>
          </a:xfrm>
          <a:prstGeom prst="rect">
            <a:avLst/>
          </a:prstGeom>
          <a:noFill/>
        </p:spPr>
        <p:txBody>
          <a:bodyPr wrap="square" lIns="0" rIns="0" tIns="0" bIns="0" anchor="ctr">
            <a:spAutoFit/>
          </a:bodyPr>
          <a:lstStyle/>
          <a:p>
            <a:pPr algn="l"/>
            <a:r>
              <a:rPr sz="1360" b="1" lang="en-US">
                <a:solidFill>
                  <a:srgbClr val="686868"/>
                </a:solidFill>
                <a:latin typeface="Arial"/>
              </a:rPr>
              <a:t>1–3  Prepare trusted call</a:t>
            </a:r>
          </a:p>
        </p:txBody>
      </p:sp>
      <p:sp>
        <p:nvSpPr>
          <p:cNvPr id="44" name="Sello process: Token · session · request"/>
          <p:cNvSpPr txBox="1"/>
          <p:nvPr/>
        </p:nvSpPr>
        <p:spPr>
          <a:xfrm>
            <a:off x="877824" y="2377439"/>
            <a:ext cx="2505456" cy="306323"/>
          </a:xfrm>
          <a:prstGeom prst="rect">
            <a:avLst/>
          </a:prstGeom>
          <a:noFill/>
        </p:spPr>
        <p:txBody>
          <a:bodyPr wrap="square" lIns="0" rIns="0" tIns="0" bIns="0" anchor="ctr">
            <a:spAutoFit/>
          </a:bodyPr>
          <a:lstStyle/>
          <a:p>
            <a:pPr algn="l"/>
            <a:r>
              <a:rPr sz="1100" b="0" lang="en-US">
                <a:solidFill>
                  <a:srgbClr val="686868"/>
                </a:solidFill>
                <a:latin typeface="Arial"/>
              </a:rPr>
              <a:t>Token · session · request</a:t>
            </a:r>
          </a:p>
        </p:txBody>
      </p:sp>
      <p:sp>
        <p:nvSpPr>
          <p:cNvPr id="45" name="Sello AIR process panel"/>
          <p:cNvSpPr/>
          <p:nvPr/>
        </p:nvSpPr>
        <p:spPr>
          <a:xfrm>
            <a:off x="4352544" y="2139696"/>
            <a:ext cx="3273552" cy="5029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IR steps: A1"/>
          <p:cNvSpPr txBox="1"/>
          <p:nvPr/>
        </p:nvSpPr>
        <p:spPr>
          <a:xfrm>
            <a:off x="4425696" y="2171700"/>
            <a:ext cx="3127248" cy="438912"/>
          </a:xfrm>
          <a:prstGeom prst="rect">
            <a:avLst/>
          </a:prstGeom>
          <a:noFill/>
        </p:spPr>
        <p:txBody>
          <a:bodyPr wrap="square" lIns="0" rIns="0" tIns="0" bIns="0" anchor="ctr">
            <a:spAutoFit/>
          </a:bodyPr>
          <a:lstStyle/>
          <a:p>
            <a:pPr algn="ctr"/>
            <a:r>
              <a:rPr sz="1400" b="1" lang="en-US">
                <a:solidFill>
                  <a:srgbClr val="245AA5"/>
                </a:solidFill>
                <a:latin typeface="Arial"/>
              </a:rPr>
              <a:t>A1  Inference + AIR receipt</a:t>
            </a:r>
          </a:p>
        </p:txBody>
      </p:sp>
      <p:sp>
        <p:nvSpPr>
          <p:cNvPr id="47" name="Sello AIR process panel"/>
          <p:cNvSpPr/>
          <p:nvPr/>
        </p:nvSpPr>
        <p:spPr>
          <a:xfrm>
            <a:off x="4352544" y="2807208"/>
            <a:ext cx="3273552" cy="795528"/>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ello steps: 4"/>
          <p:cNvSpPr txBox="1"/>
          <p:nvPr/>
        </p:nvSpPr>
        <p:spPr>
          <a:xfrm>
            <a:off x="4443983" y="2839212"/>
            <a:ext cx="3090672" cy="246888"/>
          </a:xfrm>
          <a:prstGeom prst="rect">
            <a:avLst/>
          </a:prstGeom>
          <a:noFill/>
        </p:spPr>
        <p:txBody>
          <a:bodyPr wrap="square" lIns="0" rIns="0" tIns="0" bIns="0" anchor="ctr">
            <a:spAutoFit/>
          </a:bodyPr>
          <a:lstStyle/>
          <a:p>
            <a:pPr algn="l"/>
            <a:r>
              <a:rPr sz="1500" b="1" lang="en-US">
                <a:solidFill>
                  <a:srgbClr val="A84B13"/>
                </a:solidFill>
                <a:latin typeface="Arial"/>
              </a:rPr>
              <a:t>4  Create Sello receipt</a:t>
            </a:r>
          </a:p>
        </p:txBody>
      </p:sp>
      <p:sp>
        <p:nvSpPr>
          <p:cNvPr id="49" name="Sello process: Hash of complete AIR output bundle / HPKE encryption · COSE signature"/>
          <p:cNvSpPr txBox="1"/>
          <p:nvPr/>
        </p:nvSpPr>
        <p:spPr>
          <a:xfrm>
            <a:off x="4443983" y="3099815"/>
            <a:ext cx="3090672" cy="470916"/>
          </a:xfrm>
          <a:prstGeom prst="rect">
            <a:avLst/>
          </a:prstGeom>
          <a:noFill/>
        </p:spPr>
        <p:txBody>
          <a:bodyPr wrap="square" lIns="0" rIns="0" tIns="0" bIns="0" anchor="ctr">
            <a:spAutoFit/>
          </a:bodyPr>
          <a:lstStyle/>
          <a:p>
            <a:pPr algn="l"/>
            <a:r>
              <a:rPr sz="1100" b="0" lang="en-US">
                <a:solidFill>
                  <a:srgbClr val="A84B13"/>
                </a:solidFill>
                <a:latin typeface="Arial"/>
              </a:rPr>
              <a:t>Hash of complete AIR output bundle
HPKE encryption · COSE signature</a:t>
            </a:r>
          </a:p>
        </p:txBody>
      </p:sp>
      <p:sp>
        <p:nvSpPr>
          <p:cNvPr id="50" name="Sello AIR process panel"/>
          <p:cNvSpPr/>
          <p:nvPr/>
        </p:nvSpPr>
        <p:spPr>
          <a:xfrm>
            <a:off x="8494776" y="2852928"/>
            <a:ext cx="2926080" cy="923544"/>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ello steps: 5,6"/>
          <p:cNvSpPr txBox="1"/>
          <p:nvPr/>
        </p:nvSpPr>
        <p:spPr>
          <a:xfrm>
            <a:off x="8567928" y="2884932"/>
            <a:ext cx="2779776" cy="859536"/>
          </a:xfrm>
          <a:prstGeom prst="rect">
            <a:avLst/>
          </a:prstGeom>
          <a:noFill/>
        </p:spPr>
        <p:txBody>
          <a:bodyPr wrap="square" lIns="0" rIns="0" tIns="0" bIns="0" anchor="ctr">
            <a:spAutoFit/>
          </a:bodyPr>
          <a:lstStyle/>
          <a:p>
            <a:pPr algn="ctr"/>
            <a:r>
              <a:rPr sz="1420" b="1" lang="en-US">
                <a:solidFill>
                  <a:srgbClr val="A84B13"/>
                </a:solidFill>
                <a:latin typeface="Arial"/>
              </a:rPr>
              <a:t>5  Register Sello
6  Return inclusion proof</a:t>
            </a:r>
          </a:p>
        </p:txBody>
      </p:sp>
      <p:sp>
        <p:nvSpPr>
          <p:cNvPr id="52" name="Sello AIR process panel"/>
          <p:cNvSpPr/>
          <p:nvPr/>
        </p:nvSpPr>
        <p:spPr>
          <a:xfrm>
            <a:off x="4352544" y="3822191"/>
            <a:ext cx="3273552" cy="457200"/>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ello steps: "/>
          <p:cNvSpPr txBox="1"/>
          <p:nvPr/>
        </p:nvSpPr>
        <p:spPr>
          <a:xfrm>
            <a:off x="4425696" y="3854196"/>
            <a:ext cx="3127248" cy="393192"/>
          </a:xfrm>
          <a:prstGeom prst="rect">
            <a:avLst/>
          </a:prstGeom>
          <a:noFill/>
        </p:spPr>
        <p:txBody>
          <a:bodyPr wrap="square" lIns="0" rIns="0" tIns="0" bIns="0" anchor="ctr">
            <a:spAutoFit/>
          </a:bodyPr>
          <a:lstStyle/>
          <a:p>
            <a:pPr algn="ctr"/>
            <a:r>
              <a:rPr sz="1440" b="1" lang="en-US">
                <a:solidFill>
                  <a:srgbClr val="A84B13"/>
                </a:solidFill>
                <a:latin typeface="Arial"/>
              </a:rPr>
              <a:t>Check Sello inclusion</a:t>
            </a:r>
          </a:p>
        </p:txBody>
      </p:sp>
      <p:sp>
        <p:nvSpPr>
          <p:cNvPr id="54" name="Sello AIR process panel"/>
          <p:cNvSpPr/>
          <p:nvPr/>
        </p:nvSpPr>
        <p:spPr>
          <a:xfrm>
            <a:off x="786384" y="3429000"/>
            <a:ext cx="2688336" cy="338328"/>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Sello steps: 7"/>
          <p:cNvSpPr txBox="1"/>
          <p:nvPr/>
        </p:nvSpPr>
        <p:spPr>
          <a:xfrm>
            <a:off x="859536" y="3461004"/>
            <a:ext cx="2542032" cy="274320"/>
          </a:xfrm>
          <a:prstGeom prst="rect">
            <a:avLst/>
          </a:prstGeom>
          <a:noFill/>
        </p:spPr>
        <p:txBody>
          <a:bodyPr wrap="square" lIns="0" rIns="0" tIns="0" bIns="0" anchor="ctr">
            <a:spAutoFit/>
          </a:bodyPr>
          <a:lstStyle/>
          <a:p>
            <a:pPr algn="ctr"/>
            <a:r>
              <a:rPr sz="1300" b="1" lang="en-US">
                <a:solidFill>
                  <a:srgbClr val="686868"/>
                </a:solidFill>
                <a:latin typeface="Arial"/>
              </a:rPr>
              <a:t>7  AIR + Sello reply</a:t>
            </a:r>
          </a:p>
        </p:txBody>
      </p:sp>
      <p:sp>
        <p:nvSpPr>
          <p:cNvPr id="56" name="Sello AIR process panel"/>
          <p:cNvSpPr/>
          <p:nvPr/>
        </p:nvSpPr>
        <p:spPr>
          <a:xfrm>
            <a:off x="786384" y="3840480"/>
            <a:ext cx="2688336" cy="338328"/>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ello steps: 8"/>
          <p:cNvSpPr txBox="1"/>
          <p:nvPr/>
        </p:nvSpPr>
        <p:spPr>
          <a:xfrm>
            <a:off x="859536" y="3872484"/>
            <a:ext cx="2542032" cy="274320"/>
          </a:xfrm>
          <a:prstGeom prst="rect">
            <a:avLst/>
          </a:prstGeom>
          <a:noFill/>
        </p:spPr>
        <p:txBody>
          <a:bodyPr wrap="square" lIns="0" rIns="0" tIns="0" bIns="0" anchor="ctr">
            <a:spAutoFit/>
          </a:bodyPr>
          <a:lstStyle/>
          <a:p>
            <a:pPr algn="ctr"/>
            <a:r>
              <a:rPr sz="1310" b="1" lang="en-US">
                <a:solidFill>
                  <a:srgbClr val="A84B13"/>
                </a:solidFill>
                <a:latin typeface="Arial"/>
              </a:rPr>
              <a:t>8  Verify Sello</a:t>
            </a:r>
          </a:p>
        </p:txBody>
      </p:sp>
      <p:sp>
        <p:nvSpPr>
          <p:cNvPr id="58" name="Sello AIR process panel"/>
          <p:cNvSpPr/>
          <p:nvPr/>
        </p:nvSpPr>
        <p:spPr>
          <a:xfrm>
            <a:off x="8494776" y="4334256"/>
            <a:ext cx="2926080" cy="420624"/>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Sello steps: 9"/>
          <p:cNvSpPr txBox="1"/>
          <p:nvPr/>
        </p:nvSpPr>
        <p:spPr>
          <a:xfrm>
            <a:off x="8567928" y="4366260"/>
            <a:ext cx="2779776" cy="356616"/>
          </a:xfrm>
          <a:prstGeom prst="rect">
            <a:avLst/>
          </a:prstGeom>
          <a:noFill/>
        </p:spPr>
        <p:txBody>
          <a:bodyPr wrap="square" lIns="0" rIns="0" tIns="0" bIns="0" anchor="ctr">
            <a:spAutoFit/>
          </a:bodyPr>
          <a:lstStyle/>
          <a:p>
            <a:pPr algn="ctr"/>
            <a:r>
              <a:rPr sz="1320" b="1" lang="en-US">
                <a:solidFill>
                  <a:srgbClr val="A84B13"/>
                </a:solidFill>
                <a:latin typeface="Arial"/>
              </a:rPr>
              <a:t>9  Log audit context</a:t>
            </a:r>
          </a:p>
        </p:txBody>
      </p:sp>
      <p:sp>
        <p:nvSpPr>
          <p:cNvPr id="60" name="Sello process: Session + encrypted owner context"/>
          <p:cNvSpPr txBox="1"/>
          <p:nvPr/>
        </p:nvSpPr>
        <p:spPr>
          <a:xfrm>
            <a:off x="4233672" y="4315968"/>
            <a:ext cx="3840480" cy="182880"/>
          </a:xfrm>
          <a:prstGeom prst="rect">
            <a:avLst/>
          </a:prstGeom>
          <a:noFill/>
        </p:spPr>
        <p:txBody>
          <a:bodyPr wrap="square" lIns="0" rIns="0" tIns="0" bIns="0" anchor="ctr">
            <a:spAutoFit/>
          </a:bodyPr>
          <a:lstStyle/>
          <a:p>
            <a:pPr algn="ctr"/>
            <a:r>
              <a:rPr sz="1100" b="0" lang="en-US">
                <a:solidFill>
                  <a:srgbClr val="A84B13"/>
                </a:solidFill>
                <a:latin typeface="Arial"/>
              </a:rPr>
              <a:t>Session + encrypted owner context</a:t>
            </a:r>
          </a:p>
        </p:txBody>
      </p:sp>
      <p:sp>
        <p:nvSpPr>
          <p:cNvPr id="61" name="Sello AIR process panel"/>
          <p:cNvSpPr/>
          <p:nvPr/>
        </p:nvSpPr>
        <p:spPr>
          <a:xfrm>
            <a:off x="786384" y="4992624"/>
            <a:ext cx="2688336" cy="438912"/>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IR steps: A2,A3,A4,A5,A6,A7,A8"/>
          <p:cNvSpPr txBox="1"/>
          <p:nvPr/>
        </p:nvSpPr>
        <p:spPr>
          <a:xfrm>
            <a:off x="859536" y="5024628"/>
            <a:ext cx="2542032" cy="374904"/>
          </a:xfrm>
          <a:prstGeom prst="rect">
            <a:avLst/>
          </a:prstGeom>
          <a:noFill/>
        </p:spPr>
        <p:txBody>
          <a:bodyPr wrap="square" lIns="0" rIns="0" tIns="0" bIns="0" anchor="ctr">
            <a:spAutoFit/>
          </a:bodyPr>
          <a:lstStyle/>
          <a:p>
            <a:pPr algn="ctr"/>
            <a:r>
              <a:rPr sz="1320" b="1" lang="en-US">
                <a:solidFill>
                  <a:srgbClr val="245AA5"/>
                </a:solidFill>
                <a:latin typeface="Arial"/>
              </a:rPr>
              <a:t>A2–A8  Verify AIR / TDX</a:t>
            </a:r>
          </a:p>
        </p:txBody>
      </p:sp>
      <p:sp>
        <p:nvSpPr>
          <p:cNvPr id="63" name="Sello AIR process panel"/>
          <p:cNvSpPr/>
          <p:nvPr/>
        </p:nvSpPr>
        <p:spPr>
          <a:xfrm>
            <a:off x="8494776" y="4992624"/>
            <a:ext cx="2926080" cy="438912"/>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IR steps: A9,A10"/>
          <p:cNvSpPr txBox="1"/>
          <p:nvPr/>
        </p:nvSpPr>
        <p:spPr>
          <a:xfrm>
            <a:off x="8567928" y="5024628"/>
            <a:ext cx="2779776" cy="374904"/>
          </a:xfrm>
          <a:prstGeom prst="rect">
            <a:avLst/>
          </a:prstGeom>
          <a:noFill/>
        </p:spPr>
        <p:txBody>
          <a:bodyPr wrap="square" lIns="0" rIns="0" tIns="0" bIns="0" anchor="ctr">
            <a:spAutoFit/>
          </a:bodyPr>
          <a:lstStyle/>
          <a:p>
            <a:pPr algn="ctr"/>
            <a:r>
              <a:rPr sz="1320" b="1" lang="en-US">
                <a:solidFill>
                  <a:srgbClr val="245AA5"/>
                </a:solidFill>
                <a:latin typeface="Arial"/>
              </a:rPr>
              <a:t>A9–A10  Log + inclusion</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Sello and AIR: separate evidence layers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