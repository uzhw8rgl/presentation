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Visual proposal A · Sello</a:t>
            </a:r>
          </a:p>
          <a:p/>
          <a:p>
            <a:r>
              <a:rPr lang="en-US"/>
              <a:t>SOURCE: Juan Figuera, Notarized Agents: Receiver-Attested Confidential Receipts for AI Agent Actions (2026), arXiv:2606.04193v1. https://arxiv.org/abs/2606.04193</a:t>
            </a:r>
          </a:p>
          <a:p>
            <a:r>
              <a:rPr lang="en-US"/>
              <a:t>The paper moves receipt production to the receiving service, encrypts receipt contents for an independent owner, and combines witnessed logging with owner discovery by token reference.</a:t>
            </a:r>
          </a:p>
          <a:p/>
          <a:p>
            <a:r>
              <a:rPr lang="en-US"/>
              <a:t>CURRENT VITA-FL IMPLEMENTATION (23 September 2026): The three fixed operations are model-bundle fetch, ChestMNIST image selection, and inference. The receiver hashes the exact canonical tool input and raw response, HPKE-encrypts the receipt body, and signs its COSE_Sign1 envelope with a dedicated Ed25519 key. The receiver publishes to SCITT before releasing a successful response. The agent verifies the signature, decrypts the receipt, checks byte commitments and verifies the SCITT publication bundle. A log failure yields HTTP 503; already performed computation is not rolled back. The Sello inference input is a job_id object, not the image pixels. Pixel-level evidence is in the separately published AIR bundle.</a:t>
            </a:r>
          </a:p>
          <a:p/>
          <a:p>
            <a:r>
              <a:rPr lang="en-US"/>
              <a:t>VITA-FL ADDITIONS: dstack-derived receiver key, bound at DCAP admission to Worker 0 and its endpoint in DeviceRegistry; mandatory mTLS; short-lived JWS with audience, action scopes, certificate thumbprint and matching subject. This is transport identity, not attestation of agent code. A random jti is not a one-use store and the token is not bound to the request Digest.</a:t>
            </a:r>
          </a:p>
          <a:p/>
          <a:p>
            <a:r>
              <a:rPr lang="en-US"/>
              <a:t>DEVIATIONS / LIMITS: SCITT/CCF runs as one virtual node with no witness cosigning or independent log-key pin. Retrieval follows a returned publication URL; there is no owner discovery service indexed by token reference. Owner HPKE private key and token-issuer signing seed are configured in the agent runtime: the independent-owner threat boundary is therefore not preserved against compromise of that runtime. Domain evidence remains a separate layer. These slides describe the local implementation, not a newly deployed or evaluated run.</a:t>
            </a:r>
          </a:p>
          <a:p/>
          <a:p>
            <a:r>
              <a:rPr lang="en-US"/>
              <a:t>CODE: vita-fl/agent_receipts/sello_v1.py; agent_receipts/environment.py; agent_receipts/receiver_log.py; agent_receipts/scitt.py; agent_receipts/dstack_key.py; agent/sello_client.py; tee_inference/service/app.py; transport_security/peer.py; phala/dstack-compose.contracts.phala.tftpl.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Visual proposal A · AIR</a:t>
            </a:r>
          </a:p>
          <a:p/>
          <a:p>
            <a:r>
              <a:rPr lang="en-US"/>
              <a:t>SOURCE: B. Tsyrulnikov, Attested Inference Receipt (AIR): A COSE/CWT Profile for Confidential AI Inference, Internet-Draft 02, 5 July 2026. https://www.ietf.org/archive/id/draft-tsyrulnikov-rats-attested-inference-receipt-02.html</a:t>
            </a:r>
          </a:p>
          <a:p>
            <a:r>
              <a:rPr lang="en-US"/>
              <a:t>This is a work-in-progress draft, not a peer-reviewed paper or RFC. It defines signed single-inference evidence and distinguishes receipt validation from platform attestation appraisal.</a:t>
            </a:r>
          </a:p>
          <a:p/>
          <a:p>
            <a:r>
              <a:rPr lang="en-US"/>
              <a:t>CURRENT VITA-FL IMPLEMENTATION (23 September 2026): Native ChestMNIST inference uses deterministic CBOR request, response and model-manifest bytes. A dedicated dstack-derived Ed25519 key signs the AIR-style COSE/CWT receipt. The model Digest is the manifest Digest; that manifest binds the separately available DFL model artifact. The receipt contains commitments, not the original model weights or pixels. The returned domain bundle additionally contains exact numeric request/response bytes, manifest, receipt/key, quote, REPORTDATA, ordered event log and measured app_compose. The agent verifies the bundle and separately publishes it to SCITT. This published bundle contains the input pixels in plaintext; receipt hashing does not make this bundle confidential.</a:t>
            </a:r>
          </a:p>
          <a:p/>
          <a:p>
            <a:r>
              <a:rPr lang="en-US"/>
              <a:t>KEY / WORKLOAD BINDING: The 64-byte TDX REPORTDATA contains a domain-separated hash of the AIR public key and model-manifest Digest, followed by the request Digest. A fresh quote is requested per inference; its Digest is included in the AIR receipt. The verifier checks the AIR signature, request/response/manifest/nonce bindings, REPORTDATA, ordered SHA-384 RTMR3 replay, measured Compose, expected worker-image Digest and deployment policy. This is domain evidence for the numeric DFL inference, not evidence of the agent's LLM prompt or Ollama reasoning.</a:t>
            </a:r>
          </a:p>
          <a:p/>
          <a:p>
            <a:r>
              <a:rPr lang="en-US"/>
              <a:t>DEVIATIONS / LIMITS: The per-call verifier explicitly returns dcap_collateral_verified=False. It does not authenticate the individual quote's Intel signature/certificate chain, TCB or revocation collateral; it relies on separately admitted Worker 0 and its registry-bound Sello receiver identity. It also does not reconcile all signed measurement-map values with the quote registers. The REPORTDATA layout is VITA-FL-specific; it differs from revision 02's illustrated TDX key-binding construction. The nonce is generated by the receiver, not the verifier, and there is no seen-cti store; the 300-second issue-time policy (30-second skew) gives recentness, not full replay protection. Describe the profile as AIR-style. Signature and attestation do not establish model accuracy or prove the forward-pass arithmetic independently of trusted execution.</a:t>
            </a:r>
          </a:p>
          <a:p/>
          <a:p>
            <a:r>
              <a:rPr lang="en-US"/>
              <a:t>CODE: vita-fl/tee_inference/air/v1.py; tee_inference/service/attestation.py; tee_inference/service/jobs.py; tee_inference/protocol/v1.py; agent/tee_inference_client.py; agent/scitt_client.py.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Visual proposal B · Sello</a:t>
            </a:r>
          </a:p>
          <a:p/>
          <a:p>
            <a:r>
              <a:rPr lang="en-US"/>
              <a:t>SOURCE: Juan Figuera, Notarized Agents: Receiver-Attested Confidential Receipts for AI Agent Actions (2026), arXiv:2606.04193v1. https://arxiv.org/abs/2606.04193</a:t>
            </a:r>
          </a:p>
          <a:p>
            <a:r>
              <a:rPr lang="en-US"/>
              <a:t>The paper moves receipt production to the receiving service, encrypts receipt contents for an independent owner, and combines witnessed logging with owner discovery by token reference.</a:t>
            </a:r>
          </a:p>
          <a:p/>
          <a:p>
            <a:r>
              <a:rPr lang="en-US"/>
              <a:t>CURRENT VITA-FL IMPLEMENTATION (23 September 2026): The three fixed operations are model-bundle fetch, ChestMNIST image selection, and inference. The receiver hashes the exact canonical tool input and raw response, HPKE-encrypts the receipt body, and signs its COSE_Sign1 envelope with a dedicated Ed25519 key. The receiver publishes to SCITT before releasing a successful response. The agent verifies the signature, decrypts the receipt, checks byte commitments and verifies the SCITT publication bundle. A log failure yields HTTP 503; already performed computation is not rolled back. The Sello inference input is a job_id object, not the image pixels. Pixel-level evidence is in the separately published AIR bundle.</a:t>
            </a:r>
          </a:p>
          <a:p/>
          <a:p>
            <a:r>
              <a:rPr lang="en-US"/>
              <a:t>VITA-FL ADDITIONS: dstack-derived receiver key, bound at DCAP admission to Worker 0 and its endpoint in DeviceRegistry; mandatory mTLS; short-lived JWS with audience, action scopes, certificate thumbprint and matching subject. This is transport identity, not attestation of agent code. A random jti is not a one-use store and the token is not bound to the request Digest.</a:t>
            </a:r>
          </a:p>
          <a:p/>
          <a:p>
            <a:r>
              <a:rPr lang="en-US"/>
              <a:t>DEVIATIONS / LIMITS: SCITT/CCF runs as one virtual node with no witness cosigning or independent log-key pin. Retrieval follows a returned publication URL; there is no owner discovery service indexed by token reference. Owner HPKE private key and token-issuer signing seed are configured in the agent runtime: the independent-owner threat boundary is therefore not preserved against compromise of that runtime. Domain evidence remains a separate layer. These slides describe the local implementation, not a newly deployed or evaluated run.</a:t>
            </a:r>
          </a:p>
          <a:p/>
          <a:p>
            <a:r>
              <a:rPr lang="en-US"/>
              <a:t>CODE: vita-fl/agent_receipts/sello_v1.py; agent_receipts/environment.py; agent_receipts/receiver_log.py; agent_receipts/scitt.py; agent_receipts/dstack_key.py; agent/sello_client.py; tee_inference/service/app.py; transport_security/peer.py; phala/dstack-compose.contracts.phala.tftpl.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Visual proposal B · AIR</a:t>
            </a:r>
          </a:p>
          <a:p/>
          <a:p>
            <a:r>
              <a:rPr lang="en-US"/>
              <a:t>SOURCE: B. Tsyrulnikov, Attested Inference Receipt (AIR): A COSE/CWT Profile for Confidential AI Inference, Internet-Draft 02, 5 July 2026. https://www.ietf.org/archive/id/draft-tsyrulnikov-rats-attested-inference-receipt-02.html</a:t>
            </a:r>
          </a:p>
          <a:p>
            <a:r>
              <a:rPr lang="en-US"/>
              <a:t>This is a work-in-progress draft, not a peer-reviewed paper or RFC. It defines signed single-inference evidence and distinguishes receipt validation from platform attestation appraisal.</a:t>
            </a:r>
          </a:p>
          <a:p/>
          <a:p>
            <a:r>
              <a:rPr lang="en-US"/>
              <a:t>CURRENT VITA-FL IMPLEMENTATION (23 September 2026): Native ChestMNIST inference uses deterministic CBOR request, response and model-manifest bytes. A dedicated dstack-derived Ed25519 key signs the AIR-style COSE/CWT receipt. The model Digest is the manifest Digest; that manifest binds the separately available DFL model artifact. The receipt contains commitments, not the original model weights or pixels. The returned domain bundle additionally contains exact numeric request/response bytes, manifest, receipt/key, quote, REPORTDATA, ordered event log and measured app_compose. The agent verifies the bundle and separately publishes it to SCITT. This published bundle contains the input pixels in plaintext; receipt hashing does not make this bundle confidential.</a:t>
            </a:r>
          </a:p>
          <a:p/>
          <a:p>
            <a:r>
              <a:rPr lang="en-US"/>
              <a:t>KEY / WORKLOAD BINDING: The 64-byte TDX REPORTDATA contains a domain-separated hash of the AIR public key and model-manifest Digest, followed by the request Digest. A fresh quote is requested per inference; its Digest is included in the AIR receipt. The verifier checks the AIR signature, request/response/manifest/nonce bindings, REPORTDATA, ordered SHA-384 RTMR3 replay, measured Compose, expected worker-image Digest and deployment policy. This is domain evidence for the numeric DFL inference, not evidence of the agent's LLM prompt or Ollama reasoning.</a:t>
            </a:r>
          </a:p>
          <a:p/>
          <a:p>
            <a:r>
              <a:rPr lang="en-US"/>
              <a:t>DEVIATIONS / LIMITS: The per-call verifier explicitly returns dcap_collateral_verified=False. It does not authenticate the individual quote's Intel signature/certificate chain, TCB or revocation collateral; it relies on separately admitted Worker 0 and its registry-bound Sello receiver identity. It also does not reconcile all signed measurement-map values with the quote registers. The REPORTDATA layout is VITA-FL-specific; it differs from revision 02's illustrated TDX key-binding construction. The nonce is generated by the receiver, not the verifier, and there is no seen-cti store; the 300-second issue-time policy (30-second skew) gives recentness, not full replay protection. Describe the profile as AIR-style. Signature and attestation do not establish model accuracy or prove the forward-pass arithmetic independently of trusted execution.</a:t>
            </a:r>
          </a:p>
          <a:p/>
          <a:p>
            <a:r>
              <a:rPr lang="en-US"/>
              <a:t>CODE: vita-fl/tee_inference/air/v1.py; tee_inference/service/attestation.py; tee_inference/service/jobs.py; tee_inference/protocol/v1.py; agent/tee_inference_client.py; agent/scitt_client.py.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Visual proposal C · Sello</a:t>
            </a:r>
          </a:p>
          <a:p/>
          <a:p>
            <a:r>
              <a:rPr lang="en-US"/>
              <a:t>SOURCE: Juan Figuera, Notarized Agents: Receiver-Attested Confidential Receipts for AI Agent Actions (2026), arXiv:2606.04193v1. https://arxiv.org/abs/2606.04193</a:t>
            </a:r>
          </a:p>
          <a:p>
            <a:r>
              <a:rPr lang="en-US"/>
              <a:t>The paper moves receipt production to the receiving service, encrypts receipt contents for an independent owner, and combines witnessed logging with owner discovery by token reference.</a:t>
            </a:r>
          </a:p>
          <a:p/>
          <a:p>
            <a:r>
              <a:rPr lang="en-US"/>
              <a:t>CURRENT VITA-FL IMPLEMENTATION (23 September 2026): The three fixed operations are model-bundle fetch, ChestMNIST image selection, and inference. The receiver hashes the exact canonical tool input and raw response, HPKE-encrypts the receipt body, and signs its COSE_Sign1 envelope with a dedicated Ed25519 key. The receiver publishes to SCITT before releasing a successful response. The agent verifies the signature, decrypts the receipt, checks byte commitments and verifies the SCITT publication bundle. A log failure yields HTTP 503; already performed computation is not rolled back. The Sello inference input is a job_id object, not the image pixels. Pixel-level evidence is in the separately published AIR bundle.</a:t>
            </a:r>
          </a:p>
          <a:p/>
          <a:p>
            <a:r>
              <a:rPr lang="en-US"/>
              <a:t>VITA-FL ADDITIONS: dstack-derived receiver key, bound at DCAP admission to Worker 0 and its endpoint in DeviceRegistry; mandatory mTLS; short-lived JWS with audience, action scopes, certificate thumbprint and matching subject. This is transport identity, not attestation of agent code. A random jti is not a one-use store and the token is not bound to the request Digest.</a:t>
            </a:r>
          </a:p>
          <a:p/>
          <a:p>
            <a:r>
              <a:rPr lang="en-US"/>
              <a:t>DEVIATIONS / LIMITS: SCITT/CCF runs as one virtual node with no witness cosigning or independent log-key pin. Retrieval follows a returned publication URL; there is no owner discovery service indexed by token reference. Owner HPKE private key and token-issuer signing seed are configured in the agent runtime: the independent-owner threat boundary is therefore not preserved against compromise of that runtime. Domain evidence remains a separate layer. These slides describe the local implementation, not a newly deployed or evaluated run.</a:t>
            </a:r>
          </a:p>
          <a:p/>
          <a:p>
            <a:r>
              <a:rPr lang="en-US"/>
              <a:t>CODE: vita-fl/agent_receipts/sello_v1.py; agent_receipts/environment.py; agent_receipts/receiver_log.py; agent_receipts/scitt.py; agent_receipts/dstack_key.py; agent/sello_client.py; tee_inference/service/app.py; transport_security/peer.py; phala/dstack-compose.contracts.phala.tftpl.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Visual proposal C · AIR</a:t>
            </a:r>
          </a:p>
          <a:p/>
          <a:p>
            <a:r>
              <a:rPr lang="en-US"/>
              <a:t>SOURCE: B. Tsyrulnikov, Attested Inference Receipt (AIR): A COSE/CWT Profile for Confidential AI Inference, Internet-Draft 02, 5 July 2026. https://www.ietf.org/archive/id/draft-tsyrulnikov-rats-attested-inference-receipt-02.html</a:t>
            </a:r>
          </a:p>
          <a:p>
            <a:r>
              <a:rPr lang="en-US"/>
              <a:t>This is a work-in-progress draft, not a peer-reviewed paper or RFC. It defines signed single-inference evidence and distinguishes receipt validation from platform attestation appraisal.</a:t>
            </a:r>
          </a:p>
          <a:p/>
          <a:p>
            <a:r>
              <a:rPr lang="en-US"/>
              <a:t>CURRENT VITA-FL IMPLEMENTATION (23 September 2026): Native ChestMNIST inference uses deterministic CBOR request, response and model-manifest bytes. A dedicated dstack-derived Ed25519 key signs the AIR-style COSE/CWT receipt. The model Digest is the manifest Digest; that manifest binds the separately available DFL model artifact. The receipt contains commitments, not the original model weights or pixels. The returned domain bundle additionally contains exact numeric request/response bytes, manifest, receipt/key, quote, REPORTDATA, ordered event log and measured app_compose. The agent verifies the bundle and separately publishes it to SCITT. This published bundle contains the input pixels in plaintext; receipt hashing does not make this bundle confidential.</a:t>
            </a:r>
          </a:p>
          <a:p/>
          <a:p>
            <a:r>
              <a:rPr lang="en-US"/>
              <a:t>KEY / WORKLOAD BINDING: The 64-byte TDX REPORTDATA contains a domain-separated hash of the AIR public key and model-manifest Digest, followed by the request Digest. A fresh quote is requested per inference; its Digest is included in the AIR receipt. The verifier checks the AIR signature, request/response/manifest/nonce bindings, REPORTDATA, ordered SHA-384 RTMR3 replay, measured Compose, expected worker-image Digest and deployment policy. This is domain evidence for the numeric DFL inference, not evidence of the agent's LLM prompt or Ollama reasoning.</a:t>
            </a:r>
          </a:p>
          <a:p/>
          <a:p>
            <a:r>
              <a:rPr lang="en-US"/>
              <a:t>DEVIATIONS / LIMITS: The per-call verifier explicitly returns dcap_collateral_verified=False. It does not authenticate the individual quote's Intel signature/certificate chain, TCB or revocation collateral; it relies on separately admitted Worker 0 and its registry-bound Sello receiver identity. It also does not reconcile all signed measurement-map values with the quote registers. The REPORTDATA layout is VITA-FL-specific; it differs from revision 02's illustrated TDX key-binding construction. The nonce is generated by the receiver, not the verifier, and there is no seen-cti store; the 300-second issue-time policy (30-second skew) gives recentness, not full replay protection. Describe the profile as AIR-style. Signature and attestation do not establish model accuracy or prove the forward-pass arithmetic independently of trusted execution.</a:t>
            </a:r>
          </a:p>
          <a:p/>
          <a:p>
            <a:r>
              <a:rPr lang="en-US"/>
              <a:t>CODE: vita-fl/tee_inference/air/v1.py; tee_inference/service/attestation.py; tee_inference/service/jobs.py; tee_inference/protocol/v1.py; agent/tee_inference_client.py; agent/scitt_client.py.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rxiv.org/abs/2606.04193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ietf.org/archive/id/draft-tsyrulnikov-rats-attested-inference-receipt-02.htm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rxiv.org/abs/2606.04193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ietf.org/archive/id/draft-tsyrulnikov-rats-attested-inference-receipt-02.ht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rxiv.org/abs/2606.04193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ietf.org/archive/id/draft-tsyrulnikov-rats-attested-inference-receipt-02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Sello: the receiver records each tool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A · Sello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1481328"/>
            <a:ext cx="10972800" cy="557784"/>
          </a:xfrm>
          <a:prstGeom prst="roundRect">
            <a:avLst/>
          </a:prstGeom>
          <a:solidFill>
            <a:srgbClr val="F3F5F6"/>
          </a:solidFill>
          <a:ln w="1397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llo AIR: PAPER"/>
          <p:cNvSpPr txBox="1"/>
          <p:nvPr/>
        </p:nvSpPr>
        <p:spPr>
          <a:xfrm>
            <a:off x="786384" y="1645920"/>
            <a:ext cx="9875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67747C"/>
                </a:solidFill>
                <a:latin typeface="Arial"/>
              </a:rPr>
              <a:t>PAPER</a:t>
            </a:r>
          </a:p>
        </p:txBody>
      </p:sp>
      <p:sp>
        <p:nvSpPr>
          <p:cNvPr id="15" name="Sello AIR: Service-signed, owner-encrypted receipts in a witnessed log"/>
          <p:cNvSpPr txBox="1"/>
          <p:nvPr/>
        </p:nvSpPr>
        <p:spPr>
          <a:xfrm>
            <a:off x="1828800" y="1600200"/>
            <a:ext cx="9509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lang="en-US">
                <a:solidFill>
                  <a:srgbClr val="263440"/>
                </a:solidFill>
                <a:latin typeface="Arial"/>
              </a:rPr>
              <a:t>Service-signed, owner-encrypted receipts in a witnessed log</a:t>
            </a:r>
          </a:p>
        </p:txBody>
      </p:sp>
      <p:sp>
        <p:nvSpPr>
          <p:cNvPr id="16" name="Sello AIR: VITA-FL"/>
          <p:cNvSpPr txBox="1"/>
          <p:nvPr/>
        </p:nvSpPr>
        <p:spPr>
          <a:xfrm>
            <a:off x="621792" y="2185416"/>
            <a:ext cx="120700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1764A1"/>
                </a:solidFill>
                <a:latin typeface="Arial"/>
              </a:rPr>
              <a:t>VITA-FL</a:t>
            </a:r>
          </a:p>
        </p:txBody>
      </p:sp>
      <p:sp>
        <p:nvSpPr>
          <p:cNvPr id="17" name="Sello AIR: Model fetch   →   Image selection   →   Inference"/>
          <p:cNvSpPr txBox="1"/>
          <p:nvPr/>
        </p:nvSpPr>
        <p:spPr>
          <a:xfrm>
            <a:off x="1920240" y="2130552"/>
            <a:ext cx="9582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lang="en-US">
                <a:solidFill>
                  <a:srgbClr val="1764A1"/>
                </a:solidFill>
                <a:latin typeface="Arial"/>
              </a:rPr>
              <a:t>Model fetch   →   Image selection   →   Inference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734056"/>
            <a:ext cx="2331720" cy="1216152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llo AIR: Agent"/>
          <p:cNvSpPr txBox="1"/>
          <p:nvPr/>
        </p:nvSpPr>
        <p:spPr>
          <a:xfrm>
            <a:off x="786384" y="2852928"/>
            <a:ext cx="203911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Agent</a:t>
            </a:r>
          </a:p>
        </p:txBody>
      </p:sp>
      <p:sp>
        <p:nvSpPr>
          <p:cNvPr id="20" name="Sello AIR: mTLS + / scoped token"/>
          <p:cNvSpPr txBox="1"/>
          <p:nvPr/>
        </p:nvSpPr>
        <p:spPr>
          <a:xfrm>
            <a:off x="786384" y="3246120"/>
            <a:ext cx="203911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lang="en-US">
                <a:solidFill>
                  <a:srgbClr val="263440"/>
                </a:solidFill>
                <a:latin typeface="Arial"/>
              </a:rPr>
              <a:t>mTLS +
scoped token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39" y="2734056"/>
            <a:ext cx="3886200" cy="1216152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ello AIR: Worker 0 · receiver"/>
          <p:cNvSpPr txBox="1"/>
          <p:nvPr/>
        </p:nvSpPr>
        <p:spPr>
          <a:xfrm>
            <a:off x="3895344" y="2852928"/>
            <a:ext cx="359359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Worker 0 · receiver</a:t>
            </a:r>
          </a:p>
        </p:txBody>
      </p:sp>
      <p:sp>
        <p:nvSpPr>
          <p:cNvPr id="23" name="Sello AIR: Input / output Digests / HPKE encrypt · Ed25519 sign"/>
          <p:cNvSpPr txBox="1"/>
          <p:nvPr/>
        </p:nvSpPr>
        <p:spPr>
          <a:xfrm>
            <a:off x="3895344" y="3246120"/>
            <a:ext cx="359359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lang="en-US">
                <a:solidFill>
                  <a:srgbClr val="263440"/>
                </a:solidFill>
                <a:latin typeface="Arial"/>
              </a:rPr>
              <a:t>Input / output Digests
HPKE encrypt · Ed25519 sign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2734056"/>
            <a:ext cx="3017520" cy="1216152"/>
          </a:xfrm>
          <a:prstGeom prst="roundRect">
            <a:avLst/>
          </a:prstGeom>
          <a:solidFill>
            <a:srgbClr val="F3EEF8"/>
          </a:solidFill>
          <a:ln w="1397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ello AIR: SCITT / CCF"/>
          <p:cNvSpPr txBox="1"/>
          <p:nvPr/>
        </p:nvSpPr>
        <p:spPr>
          <a:xfrm>
            <a:off x="8650224" y="2852928"/>
            <a:ext cx="272491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7446A6"/>
                </a:solidFill>
                <a:latin typeface="Arial"/>
              </a:rPr>
              <a:t>SCITT / CCF</a:t>
            </a:r>
          </a:p>
        </p:txBody>
      </p:sp>
      <p:sp>
        <p:nvSpPr>
          <p:cNvPr id="26" name="Sello AIR: Receipt publication / + inclusion proof"/>
          <p:cNvSpPr txBox="1"/>
          <p:nvPr/>
        </p:nvSpPr>
        <p:spPr>
          <a:xfrm>
            <a:off x="8650224" y="3246120"/>
            <a:ext cx="272491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lang="en-US">
                <a:solidFill>
                  <a:srgbClr val="263440"/>
                </a:solidFill>
                <a:latin typeface="Arial"/>
              </a:rPr>
              <a:t>Receipt publication
+ inclusion proof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017520" y="3337560"/>
            <a:ext cx="676656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ello AIR: Call"/>
          <p:cNvSpPr txBox="1"/>
          <p:nvPr/>
        </p:nvSpPr>
        <p:spPr>
          <a:xfrm>
            <a:off x="3026664" y="298094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lang="en-US">
                <a:solidFill>
                  <a:srgbClr val="1764A1"/>
                </a:solidFill>
                <a:latin typeface="Arial"/>
              </a:rPr>
              <a:t>Call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80960" y="3337560"/>
            <a:ext cx="768096" cy="0"/>
          </a:xfrm>
          <a:prstGeom prst="line">
            <a:avLst/>
          </a:prstGeom>
          <a:ln w="2286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ello AIR: Publish"/>
          <p:cNvSpPr txBox="1"/>
          <p:nvPr/>
        </p:nvSpPr>
        <p:spPr>
          <a:xfrm>
            <a:off x="7671816" y="2980944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0" lang="en-US">
                <a:solidFill>
                  <a:srgbClr val="7446A6"/>
                </a:solidFill>
                <a:latin typeface="Arial"/>
              </a:rPr>
              <a:t>Publish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30968" y="3986784"/>
            <a:ext cx="0" cy="365760"/>
          </a:xfrm>
          <a:prstGeom prst="line">
            <a:avLst/>
          </a:prstGeom>
          <a:ln w="2286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5696712" y="4352544"/>
            <a:ext cx="4334256" cy="0"/>
          </a:xfrm>
          <a:prstGeom prst="line">
            <a:avLst/>
          </a:prstGeom>
          <a:ln w="2286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696712" y="3986784"/>
            <a:ext cx="0" cy="365760"/>
          </a:xfrm>
          <a:prstGeom prst="line">
            <a:avLst/>
          </a:prstGeom>
          <a:ln w="2286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117336" y="4151376"/>
            <a:ext cx="3584448" cy="3657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ello AIR: Inclusion before response"/>
          <p:cNvSpPr txBox="1"/>
          <p:nvPr/>
        </p:nvSpPr>
        <p:spPr>
          <a:xfrm>
            <a:off x="6236208" y="4187952"/>
            <a:ext cx="33467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lang="en-US">
                <a:solidFill>
                  <a:srgbClr val="7446A6"/>
                </a:solidFill>
                <a:latin typeface="Arial"/>
              </a:rPr>
              <a:t>Inclusion before response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3017520" y="3776472"/>
            <a:ext cx="676656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ello AIR: Result"/>
          <p:cNvSpPr txBox="1"/>
          <p:nvPr/>
        </p:nvSpPr>
        <p:spPr>
          <a:xfrm>
            <a:off x="2999232" y="3483864"/>
            <a:ext cx="7132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0" lang="en-US">
                <a:solidFill>
                  <a:srgbClr val="1764A1"/>
                </a:solidFill>
                <a:latin typeface="Arial"/>
              </a:rPr>
              <a:t>Result</a:t>
            </a:r>
          </a:p>
        </p:txBody>
      </p:sp>
      <p:sp>
        <p:nvSpPr>
          <p:cNvPr id="38" name="Sello AIR: Receiver key: dstack → DeviceRegistry"/>
          <p:cNvSpPr txBox="1"/>
          <p:nvPr/>
        </p:nvSpPr>
        <p:spPr>
          <a:xfrm>
            <a:off x="640080" y="4197096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lang="en-US">
                <a:solidFill>
                  <a:srgbClr val="1764A1"/>
                </a:solidFill>
                <a:latin typeface="Arial"/>
              </a:rPr>
              <a:t>Receiver key: dstack → DeviceRegistry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" y="4700016"/>
            <a:ext cx="10972800" cy="713232"/>
          </a:xfrm>
          <a:prstGeom prst="roundRect">
            <a:avLst/>
          </a:prstGeom>
          <a:solidFill>
            <a:srgbClr val="FCF4E9"/>
          </a:solidFill>
          <a:ln w="13970">
            <a:solidFill>
              <a:srgbClr val="986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llo AIR: Prototype / differences"/>
          <p:cNvSpPr txBox="1"/>
          <p:nvPr/>
        </p:nvSpPr>
        <p:spPr>
          <a:xfrm>
            <a:off x="777240" y="4764024"/>
            <a:ext cx="192024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lang="en-US">
                <a:solidFill>
                  <a:srgbClr val="986021"/>
                </a:solidFill>
                <a:latin typeface="Arial"/>
              </a:rPr>
              <a:t>Prototype
differences</a:t>
            </a:r>
          </a:p>
        </p:txBody>
      </p:sp>
      <p:sp>
        <p:nvSpPr>
          <p:cNvPr id="41" name="Sello AIR: No independent log witnesses or owner discovery. / Owner decryption and issuer keys live in the agent runtime."/>
          <p:cNvSpPr txBox="1"/>
          <p:nvPr/>
        </p:nvSpPr>
        <p:spPr>
          <a:xfrm>
            <a:off x="2816352" y="4773168"/>
            <a:ext cx="853135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lang="en-US">
                <a:solidFill>
                  <a:srgbClr val="263440"/>
                </a:solidFill>
                <a:latin typeface="Arial"/>
              </a:rPr>
              <a:t>No independent log witnesses or owner discovery.
Owner decryption and issuer keys live in the agent runtime.</a:t>
            </a:r>
          </a:p>
        </p:txBody>
      </p:sp>
      <p:sp>
        <p:nvSpPr>
          <p:cNvPr id="42" name="Sello AIR: Figuera · Notarized Agents (2026) · arXiv:2606.04193"/>
          <p:cNvSpPr txBox="1"/>
          <p:nvPr/>
        </p:nvSpPr>
        <p:spPr>
          <a:xfrm>
            <a:off x="603504" y="552297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lang="en-US">
                <a:solidFill>
                  <a:srgbClr val="67747C"/>
                </a:solidFill>
                <a:latin typeface="Arial"/>
                <a:hlinkClick r:id="rId3"/>
              </a:rPr>
              <a:t>Figuera · Notarized Agents (2026) · arXiv:2606.04193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AIR: connect the prediction to its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A · 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1481328"/>
            <a:ext cx="10972800" cy="557784"/>
          </a:xfrm>
          <a:prstGeom prst="roundRect">
            <a:avLst/>
          </a:prstGeom>
          <a:solidFill>
            <a:srgbClr val="F3F5F6"/>
          </a:solidFill>
          <a:ln w="1397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llo AIR: AIR DRAFT"/>
          <p:cNvSpPr txBox="1"/>
          <p:nvPr/>
        </p:nvSpPr>
        <p:spPr>
          <a:xfrm>
            <a:off x="786384" y="164592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67747C"/>
                </a:solidFill>
                <a:latin typeface="Arial"/>
              </a:rPr>
              <a:t>AIR DRAFT</a:t>
            </a:r>
          </a:p>
        </p:txBody>
      </p:sp>
      <p:sp>
        <p:nvSpPr>
          <p:cNvPr id="15" name="Sello AIR: Signed commitments to model, request, response and attestation"/>
          <p:cNvSpPr txBox="1"/>
          <p:nvPr/>
        </p:nvSpPr>
        <p:spPr>
          <a:xfrm>
            <a:off x="2304288" y="1600200"/>
            <a:ext cx="9052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lang="en-US">
                <a:solidFill>
                  <a:srgbClr val="263440"/>
                </a:solidFill>
                <a:latin typeface="Arial"/>
              </a:rPr>
              <a:t>Signed commitments to model, request, response and attestation</a:t>
            </a:r>
          </a:p>
        </p:txBody>
      </p:sp>
      <p:sp>
        <p:nvSpPr>
          <p:cNvPr id="16" name="Sello AIR: VITA-FL"/>
          <p:cNvSpPr txBox="1"/>
          <p:nvPr/>
        </p:nvSpPr>
        <p:spPr>
          <a:xfrm>
            <a:off x="621792" y="2221992"/>
            <a:ext cx="120700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1764A1"/>
                </a:solidFill>
                <a:latin typeface="Arial"/>
              </a:rPr>
              <a:t>VITA-FL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" y="2697480"/>
            <a:ext cx="2606040" cy="393192"/>
          </a:xfrm>
          <a:prstGeom prst="roundRect">
            <a:avLst/>
          </a:prstGeom>
          <a:solidFill>
            <a:srgbClr val="EDF6F0"/>
          </a:solidFill>
          <a:ln w="13970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ello AIR: DFL manifest"/>
          <p:cNvSpPr txBox="1"/>
          <p:nvPr/>
        </p:nvSpPr>
        <p:spPr>
          <a:xfrm>
            <a:off x="777240" y="2729484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lang="en-US">
                <a:solidFill>
                  <a:srgbClr val="263440"/>
                </a:solidFill>
                <a:latin typeface="Arial"/>
              </a:rPr>
              <a:t>DFL manifest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82696" y="2894076"/>
            <a:ext cx="310896" cy="0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593592" y="2894076"/>
            <a:ext cx="0" cy="516636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93592" y="3410712"/>
            <a:ext cx="310895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" y="3227832"/>
            <a:ext cx="2606040" cy="393192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ello AIR: Numeric input"/>
          <p:cNvSpPr txBox="1"/>
          <p:nvPr/>
        </p:nvSpPr>
        <p:spPr>
          <a:xfrm>
            <a:off x="777240" y="3259836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lang="en-US">
                <a:solidFill>
                  <a:srgbClr val="263440"/>
                </a:solidFill>
                <a:latin typeface="Arial"/>
              </a:rPr>
              <a:t>Numeric input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82696" y="3424427"/>
            <a:ext cx="310896" cy="0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593592" y="3410712"/>
            <a:ext cx="0" cy="13715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593592" y="3410712"/>
            <a:ext cx="310895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0936" y="3758184"/>
            <a:ext cx="2606040" cy="393192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ello AIR: Prediction"/>
          <p:cNvSpPr txBox="1"/>
          <p:nvPr/>
        </p:nvSpPr>
        <p:spPr>
          <a:xfrm>
            <a:off x="777240" y="3790188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lang="en-US">
                <a:solidFill>
                  <a:srgbClr val="263440"/>
                </a:solidFill>
                <a:latin typeface="Arial"/>
              </a:rPr>
              <a:t>Prediction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82696" y="3954780"/>
            <a:ext cx="310896" cy="0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593592" y="3410712"/>
            <a:ext cx="0" cy="544068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93592" y="3410712"/>
            <a:ext cx="310895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941063" y="2889504"/>
            <a:ext cx="3401568" cy="1042415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ello AIR: AIR-style receipt"/>
          <p:cNvSpPr txBox="1"/>
          <p:nvPr/>
        </p:nvSpPr>
        <p:spPr>
          <a:xfrm>
            <a:off x="4087368" y="3008376"/>
            <a:ext cx="31089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AIR-style receipt</a:t>
            </a:r>
          </a:p>
        </p:txBody>
      </p:sp>
      <p:sp>
        <p:nvSpPr>
          <p:cNvPr id="34" name="Sello AIR: Signed Digests"/>
          <p:cNvSpPr txBox="1"/>
          <p:nvPr/>
        </p:nvSpPr>
        <p:spPr>
          <a:xfrm>
            <a:off x="4087368" y="3401568"/>
            <a:ext cx="310896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lang="en-US">
                <a:solidFill>
                  <a:srgbClr val="263440"/>
                </a:solidFill>
                <a:latin typeface="Arial"/>
              </a:rPr>
              <a:t>Signed Digests</a:t>
            </a:r>
          </a:p>
        </p:txBody>
      </p:sp>
      <p:sp>
        <p:nvSpPr>
          <p:cNvPr id="35" name="Sello AIR: Per-call TDX quote / Key + manifest + request binding"/>
          <p:cNvSpPr txBox="1"/>
          <p:nvPr/>
        </p:nvSpPr>
        <p:spPr>
          <a:xfrm>
            <a:off x="3977639" y="4105656"/>
            <a:ext cx="33192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lang="en-US">
                <a:solidFill>
                  <a:srgbClr val="1764A1"/>
                </a:solidFill>
                <a:latin typeface="Arial"/>
              </a:rPr>
              <a:t>Per-call TDX quote
Key + manifest + request binding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5641848" y="3977639"/>
            <a:ext cx="0" cy="91441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88352" y="3410712"/>
            <a:ext cx="640079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074152" y="2578608"/>
            <a:ext cx="3474720" cy="1216152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llo AIR: Agent checks"/>
          <p:cNvSpPr txBox="1"/>
          <p:nvPr/>
        </p:nvSpPr>
        <p:spPr>
          <a:xfrm>
            <a:off x="8220456" y="2697479"/>
            <a:ext cx="318211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1764A1"/>
                </a:solidFill>
                <a:latin typeface="Arial"/>
              </a:rPr>
              <a:t>Agent checks</a:t>
            </a:r>
          </a:p>
        </p:txBody>
      </p:sp>
      <p:sp>
        <p:nvSpPr>
          <p:cNvPr id="40" name="Sello AIR: Signature · RTMR3 replay / Compose + Image Digest"/>
          <p:cNvSpPr txBox="1"/>
          <p:nvPr/>
        </p:nvSpPr>
        <p:spPr>
          <a:xfrm>
            <a:off x="8220456" y="3090672"/>
            <a:ext cx="318211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lang="en-US">
                <a:solidFill>
                  <a:srgbClr val="263440"/>
                </a:solidFill>
                <a:latin typeface="Arial"/>
              </a:rPr>
              <a:t>Signature · RTMR3 replay
Compose + Image Digest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820656" y="3840480"/>
            <a:ext cx="0" cy="210311"/>
          </a:xfrm>
          <a:prstGeom prst="line">
            <a:avLst/>
          </a:prstGeom>
          <a:ln w="2286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074152" y="4096512"/>
            <a:ext cx="3474720" cy="521207"/>
          </a:xfrm>
          <a:prstGeom prst="roundRect">
            <a:avLst/>
          </a:prstGeom>
          <a:solidFill>
            <a:srgbClr val="F3EEF8"/>
          </a:solidFill>
          <a:ln w="1397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llo AIR: SCITT · full evidence bundle"/>
          <p:cNvSpPr txBox="1"/>
          <p:nvPr/>
        </p:nvSpPr>
        <p:spPr>
          <a:xfrm>
            <a:off x="8193024" y="4187952"/>
            <a:ext cx="3246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7446A6"/>
                </a:solidFill>
                <a:latin typeface="Arial"/>
              </a:rPr>
              <a:t>SCITT · full evidence bundle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" y="4791456"/>
            <a:ext cx="10972800" cy="713232"/>
          </a:xfrm>
          <a:prstGeom prst="roundRect">
            <a:avLst/>
          </a:prstGeom>
          <a:solidFill>
            <a:srgbClr val="FCF4E9"/>
          </a:solidFill>
          <a:ln w="13970">
            <a:solidFill>
              <a:srgbClr val="986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llo AIR: AIR-style / implementation"/>
          <p:cNvSpPr txBox="1"/>
          <p:nvPr/>
        </p:nvSpPr>
        <p:spPr>
          <a:xfrm>
            <a:off x="777240" y="4855464"/>
            <a:ext cx="192024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lang="en-US">
                <a:solidFill>
                  <a:srgbClr val="986021"/>
                </a:solidFill>
                <a:latin typeface="Arial"/>
              </a:rPr>
              <a:t>AIR-style
implementation</a:t>
            </a:r>
          </a:p>
        </p:txBody>
      </p:sp>
      <p:sp>
        <p:nvSpPr>
          <p:cNvPr id="46" name="Sello AIR: Per-call quote authenticity relies on the admitted receiver. / No independent per-call DCAP check or full replay protection."/>
          <p:cNvSpPr txBox="1"/>
          <p:nvPr/>
        </p:nvSpPr>
        <p:spPr>
          <a:xfrm>
            <a:off x="2816352" y="4864608"/>
            <a:ext cx="853135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lang="en-US">
                <a:solidFill>
                  <a:srgbClr val="263440"/>
                </a:solidFill>
                <a:latin typeface="Arial"/>
              </a:rPr>
              <a:t>Per-call quote authenticity relies on the admitted receiver.
No independent per-call DCAP check or full replay protection.</a:t>
            </a:r>
          </a:p>
        </p:txBody>
      </p:sp>
      <p:sp>
        <p:nvSpPr>
          <p:cNvPr id="47" name="Sello AIR: Tsyrulnikov · AIR Internet-Draft 02 (2026) · work in progress"/>
          <p:cNvSpPr txBox="1"/>
          <p:nvPr/>
        </p:nvSpPr>
        <p:spPr>
          <a:xfrm>
            <a:off x="603504" y="552297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lang="en-US">
                <a:solidFill>
                  <a:srgbClr val="67747C"/>
                </a:solidFill>
                <a:latin typeface="Arial"/>
                <a:hlinkClick r:id="rId3"/>
              </a:rPr>
              <a:t>Tsyrulnikov · AIR Internet-Draft 02 (2026) · work in progress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Sello: from receiver receipts to VITA-FL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B · Sello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Sello AIR: FIGUERA · SELLO"/>
          <p:cNvSpPr txBox="1"/>
          <p:nvPr/>
        </p:nvSpPr>
        <p:spPr>
          <a:xfrm>
            <a:off x="2551176" y="1517904"/>
            <a:ext cx="38496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lang="en-US">
                <a:solidFill>
                  <a:srgbClr val="263440"/>
                </a:solidFill>
                <a:latin typeface="Arial"/>
              </a:rPr>
              <a:t>FIGUERA · SELLO</a:t>
            </a:r>
          </a:p>
        </p:txBody>
      </p:sp>
      <p:sp>
        <p:nvSpPr>
          <p:cNvPr id="14" name="Sello AIR: VITA-FL IMPLEMENTATION"/>
          <p:cNvSpPr txBox="1"/>
          <p:nvPr/>
        </p:nvSpPr>
        <p:spPr>
          <a:xfrm>
            <a:off x="7040880" y="1517904"/>
            <a:ext cx="4517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lang="en-US">
                <a:solidFill>
                  <a:srgbClr val="1764A1"/>
                </a:solidFill>
                <a:latin typeface="Arial"/>
              </a:rPr>
              <a:t>VITA-FL IMPLEMENTATION</a:t>
            </a:r>
          </a:p>
        </p:txBody>
      </p:sp>
      <p:sp>
        <p:nvSpPr>
          <p:cNvPr id="15" name="Sello AIR: SIGNER"/>
          <p:cNvSpPr txBox="1"/>
          <p:nvPr/>
        </p:nvSpPr>
        <p:spPr>
          <a:xfrm>
            <a:off x="676656" y="2176272"/>
            <a:ext cx="17647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63440"/>
                </a:solidFill>
                <a:latin typeface="Arial"/>
              </a:rPr>
              <a:t>SIGNER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42032" y="2029968"/>
            <a:ext cx="3858768" cy="667512"/>
          </a:xfrm>
          <a:prstGeom prst="roundRect">
            <a:avLst/>
          </a:prstGeom>
          <a:solidFill>
            <a:srgbClr val="F3F5F6"/>
          </a:solidFill>
          <a:ln w="1397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llo AIR: Receiving service"/>
          <p:cNvSpPr txBox="1"/>
          <p:nvPr/>
        </p:nvSpPr>
        <p:spPr>
          <a:xfrm>
            <a:off x="2706624" y="2084832"/>
            <a:ext cx="35295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lang="en-US">
                <a:solidFill>
                  <a:srgbClr val="263440"/>
                </a:solidFill>
                <a:latin typeface="Arial"/>
              </a:rPr>
              <a:t>Receiving service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55664" y="2363724"/>
            <a:ext cx="530352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040880" y="2029968"/>
            <a:ext cx="4517136" cy="667512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ello AIR: dstack key + DeviceRegistry admission"/>
          <p:cNvSpPr txBox="1"/>
          <p:nvPr/>
        </p:nvSpPr>
        <p:spPr>
          <a:xfrm>
            <a:off x="7223760" y="2084832"/>
            <a:ext cx="4151376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lang="en-US">
                <a:solidFill>
                  <a:srgbClr val="1764A1"/>
                </a:solidFill>
                <a:latin typeface="Arial"/>
              </a:rPr>
              <a:t>dstack key + DeviceRegistry admission</a:t>
            </a:r>
          </a:p>
        </p:txBody>
      </p:sp>
      <p:sp>
        <p:nvSpPr>
          <p:cNvPr id="21" name="Sello AIR: CONTENT"/>
          <p:cNvSpPr txBox="1"/>
          <p:nvPr/>
        </p:nvSpPr>
        <p:spPr>
          <a:xfrm>
            <a:off x="676656" y="2971800"/>
            <a:ext cx="17647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63440"/>
                </a:solidFill>
                <a:latin typeface="Arial"/>
              </a:rPr>
              <a:t>CONTENT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42032" y="2825496"/>
            <a:ext cx="3858768" cy="667512"/>
          </a:xfrm>
          <a:prstGeom prst="roundRect">
            <a:avLst/>
          </a:prstGeom>
          <a:solidFill>
            <a:srgbClr val="F3F5F6"/>
          </a:solidFill>
          <a:ln w="1397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ello AIR: Encrypted action I/O commitments"/>
          <p:cNvSpPr txBox="1"/>
          <p:nvPr/>
        </p:nvSpPr>
        <p:spPr>
          <a:xfrm>
            <a:off x="2706624" y="2880360"/>
            <a:ext cx="35295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lang="en-US">
                <a:solidFill>
                  <a:srgbClr val="263440"/>
                </a:solidFill>
                <a:latin typeface="Arial"/>
              </a:rPr>
              <a:t>Encrypted action I/O commitments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55664" y="3159252"/>
            <a:ext cx="530352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040880" y="2825496"/>
            <a:ext cx="4517136" cy="667512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ello AIR: Model fetch · Image pick · Inference"/>
          <p:cNvSpPr txBox="1"/>
          <p:nvPr/>
        </p:nvSpPr>
        <p:spPr>
          <a:xfrm>
            <a:off x="7223760" y="2880360"/>
            <a:ext cx="4151376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lang="en-US">
                <a:solidFill>
                  <a:srgbClr val="1764A1"/>
                </a:solidFill>
                <a:latin typeface="Arial"/>
              </a:rPr>
              <a:t>Model fetch · Image pick · Inference</a:t>
            </a:r>
          </a:p>
        </p:txBody>
      </p:sp>
      <p:sp>
        <p:nvSpPr>
          <p:cNvPr id="27" name="Sello AIR: LOG / OWNER"/>
          <p:cNvSpPr txBox="1"/>
          <p:nvPr/>
        </p:nvSpPr>
        <p:spPr>
          <a:xfrm>
            <a:off x="676656" y="3767328"/>
            <a:ext cx="17647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63440"/>
                </a:solidFill>
                <a:latin typeface="Arial"/>
              </a:rPr>
              <a:t>LOG / OWNER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42032" y="3621024"/>
            <a:ext cx="3858768" cy="667512"/>
          </a:xfrm>
          <a:prstGeom prst="roundRect">
            <a:avLst/>
          </a:prstGeom>
          <a:solidFill>
            <a:srgbClr val="F3F5F6"/>
          </a:solidFill>
          <a:ln w="1397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ello AIR: Witnessed log / Independent owner discovery"/>
          <p:cNvSpPr txBox="1"/>
          <p:nvPr/>
        </p:nvSpPr>
        <p:spPr>
          <a:xfrm>
            <a:off x="2706624" y="3675887"/>
            <a:ext cx="35295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lang="en-US">
                <a:solidFill>
                  <a:srgbClr val="263440"/>
                </a:solidFill>
                <a:latin typeface="Arial"/>
              </a:rPr>
              <a:t>Witnessed log
Independent owner discovery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55664" y="3954780"/>
            <a:ext cx="530352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040880" y="3621024"/>
            <a:ext cx="4517136" cy="667512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ello AIR: SCITT inclusion; agent decrypts / No witnesses / independent discovery"/>
          <p:cNvSpPr txBox="1"/>
          <p:nvPr/>
        </p:nvSpPr>
        <p:spPr>
          <a:xfrm>
            <a:off x="7223760" y="3675887"/>
            <a:ext cx="4151376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lang="en-US">
                <a:solidFill>
                  <a:srgbClr val="1764A1"/>
                </a:solidFill>
                <a:latin typeface="Arial"/>
              </a:rPr>
              <a:t>SCITT inclusion; agent decrypts
No witnesses / independent discovery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" y="4489704"/>
            <a:ext cx="10927080" cy="402336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ello AIR: Added in VITA-FL: mandatory mTLS + scoped, certificate-bound tokens"/>
          <p:cNvSpPr txBox="1"/>
          <p:nvPr/>
        </p:nvSpPr>
        <p:spPr>
          <a:xfrm>
            <a:off x="804672" y="4526280"/>
            <a:ext cx="1057960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1764A1"/>
                </a:solidFill>
                <a:latin typeface="Arial"/>
              </a:rPr>
              <a:t>Added in VITA-FL: mandatory mTLS + scoped, certificate-bound tokens</a:t>
            </a:r>
          </a:p>
        </p:txBody>
      </p:sp>
      <p:sp>
        <p:nvSpPr>
          <p:cNvPr id="35" name="Sello AIR: Different trust boundary: owner and issuer secrets reside in the agent runtime."/>
          <p:cNvSpPr txBox="1"/>
          <p:nvPr/>
        </p:nvSpPr>
        <p:spPr>
          <a:xfrm>
            <a:off x="676656" y="5056632"/>
            <a:ext cx="108630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986021"/>
                </a:solidFill>
                <a:latin typeface="Arial"/>
              </a:rPr>
              <a:t>Different trust boundary: owner and issuer secrets reside in the agent runtime.</a:t>
            </a:r>
          </a:p>
        </p:txBody>
      </p:sp>
      <p:sp>
        <p:nvSpPr>
          <p:cNvPr id="36" name="Sello AIR: Figuera · Notarized Agents (2026) · arXiv:2606.04193"/>
          <p:cNvSpPr txBox="1"/>
          <p:nvPr/>
        </p:nvSpPr>
        <p:spPr>
          <a:xfrm>
            <a:off x="603504" y="552297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lang="en-US">
                <a:solidFill>
                  <a:srgbClr val="67747C"/>
                </a:solidFill>
                <a:latin typeface="Arial"/>
                <a:hlinkClick r:id="rId3"/>
              </a:rPr>
              <a:t>Figuera · Notarized Agents (2026) · arXiv:2606.04193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AIR: a receipt format inside a larger evidence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B · 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Sello AIR: AIR · DRAFT 02"/>
          <p:cNvSpPr txBox="1"/>
          <p:nvPr/>
        </p:nvSpPr>
        <p:spPr>
          <a:xfrm>
            <a:off x="2551176" y="1517904"/>
            <a:ext cx="38496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lang="en-US">
                <a:solidFill>
                  <a:srgbClr val="263440"/>
                </a:solidFill>
                <a:latin typeface="Arial"/>
              </a:rPr>
              <a:t>AIR · DRAFT 02</a:t>
            </a:r>
          </a:p>
        </p:txBody>
      </p:sp>
      <p:sp>
        <p:nvSpPr>
          <p:cNvPr id="14" name="Sello AIR: VITA-FL IMPLEMENTATION"/>
          <p:cNvSpPr txBox="1"/>
          <p:nvPr/>
        </p:nvSpPr>
        <p:spPr>
          <a:xfrm>
            <a:off x="7040880" y="1517904"/>
            <a:ext cx="4517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lang="en-US">
                <a:solidFill>
                  <a:srgbClr val="1764A1"/>
                </a:solidFill>
                <a:latin typeface="Arial"/>
              </a:rPr>
              <a:t>VITA-FL IMPLEMENTATION</a:t>
            </a:r>
          </a:p>
        </p:txBody>
      </p:sp>
      <p:sp>
        <p:nvSpPr>
          <p:cNvPr id="15" name="Sello AIR: INFERENCE"/>
          <p:cNvSpPr txBox="1"/>
          <p:nvPr/>
        </p:nvSpPr>
        <p:spPr>
          <a:xfrm>
            <a:off x="676656" y="2176272"/>
            <a:ext cx="17647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63440"/>
                </a:solidFill>
                <a:latin typeface="Arial"/>
              </a:rPr>
              <a:t>INFERENCE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42032" y="2029968"/>
            <a:ext cx="3858768" cy="667512"/>
          </a:xfrm>
          <a:prstGeom prst="roundRect">
            <a:avLst/>
          </a:prstGeom>
          <a:solidFill>
            <a:srgbClr val="F3F5F6"/>
          </a:solidFill>
          <a:ln w="1397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llo AIR: Model + request + response"/>
          <p:cNvSpPr txBox="1"/>
          <p:nvPr/>
        </p:nvSpPr>
        <p:spPr>
          <a:xfrm>
            <a:off x="2706624" y="2084832"/>
            <a:ext cx="35295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lang="en-US">
                <a:solidFill>
                  <a:srgbClr val="263440"/>
                </a:solidFill>
                <a:latin typeface="Arial"/>
              </a:rPr>
              <a:t>Model + request + response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55664" y="2363724"/>
            <a:ext cx="530352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040880" y="2029968"/>
            <a:ext cx="4517136" cy="667512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ello AIR: DFL manifest + pixels + prediction"/>
          <p:cNvSpPr txBox="1"/>
          <p:nvPr/>
        </p:nvSpPr>
        <p:spPr>
          <a:xfrm>
            <a:off x="7223760" y="2084832"/>
            <a:ext cx="4151376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lang="en-US">
                <a:solidFill>
                  <a:srgbClr val="1764A1"/>
                </a:solidFill>
                <a:latin typeface="Arial"/>
              </a:rPr>
              <a:t>DFL manifest + pixels + prediction</a:t>
            </a:r>
          </a:p>
        </p:txBody>
      </p:sp>
      <p:sp>
        <p:nvSpPr>
          <p:cNvPr id="21" name="Sello AIR: SIGNATURE"/>
          <p:cNvSpPr txBox="1"/>
          <p:nvPr/>
        </p:nvSpPr>
        <p:spPr>
          <a:xfrm>
            <a:off x="676656" y="2971800"/>
            <a:ext cx="17647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63440"/>
                </a:solidFill>
                <a:latin typeface="Arial"/>
              </a:rPr>
              <a:t>SIGNATURE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42032" y="2825496"/>
            <a:ext cx="3858768" cy="667512"/>
          </a:xfrm>
          <a:prstGeom prst="roundRect">
            <a:avLst/>
          </a:prstGeom>
          <a:solidFill>
            <a:srgbClr val="F3F5F6"/>
          </a:solidFill>
          <a:ln w="1397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ello AIR: COSE / CWT receipt / Attestation-linked signing key"/>
          <p:cNvSpPr txBox="1"/>
          <p:nvPr/>
        </p:nvSpPr>
        <p:spPr>
          <a:xfrm>
            <a:off x="2706624" y="2880360"/>
            <a:ext cx="35295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lang="en-US">
                <a:solidFill>
                  <a:srgbClr val="263440"/>
                </a:solidFill>
                <a:latin typeface="Arial"/>
              </a:rPr>
              <a:t>COSE / CWT receipt
Attestation-linked signing key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55664" y="3159252"/>
            <a:ext cx="530352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040880" y="2825496"/>
            <a:ext cx="4517136" cy="667512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ello AIR: dstack Ed25519 key / Per-call TDX REPORTDATA binding"/>
          <p:cNvSpPr txBox="1"/>
          <p:nvPr/>
        </p:nvSpPr>
        <p:spPr>
          <a:xfrm>
            <a:off x="7223760" y="2880360"/>
            <a:ext cx="4151376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lang="en-US">
                <a:solidFill>
                  <a:srgbClr val="1764A1"/>
                </a:solidFill>
                <a:latin typeface="Arial"/>
              </a:rPr>
              <a:t>dstack Ed25519 key
Per-call TDX REPORTDATA binding</a:t>
            </a:r>
          </a:p>
        </p:txBody>
      </p:sp>
      <p:sp>
        <p:nvSpPr>
          <p:cNvPr id="27" name="Sello AIR: VERIFICATION"/>
          <p:cNvSpPr txBox="1"/>
          <p:nvPr/>
        </p:nvSpPr>
        <p:spPr>
          <a:xfrm>
            <a:off x="676656" y="3767328"/>
            <a:ext cx="17647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63440"/>
                </a:solidFill>
                <a:latin typeface="Arial"/>
              </a:rPr>
              <a:t>VERIFICATION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42032" y="3621024"/>
            <a:ext cx="3858768" cy="667512"/>
          </a:xfrm>
          <a:prstGeom prst="roundRect">
            <a:avLst/>
          </a:prstGeom>
          <a:solidFill>
            <a:srgbClr val="F3F5F6"/>
          </a:solidFill>
          <a:ln w="1397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ello AIR: Receipt validation / Separate platform appraisal"/>
          <p:cNvSpPr txBox="1"/>
          <p:nvPr/>
        </p:nvSpPr>
        <p:spPr>
          <a:xfrm>
            <a:off x="2706624" y="3675887"/>
            <a:ext cx="35295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lang="en-US">
                <a:solidFill>
                  <a:srgbClr val="263440"/>
                </a:solidFill>
                <a:latin typeface="Arial"/>
              </a:rPr>
              <a:t>Receipt validation
Separate platform appraisal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55664" y="3954780"/>
            <a:ext cx="530352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040880" y="3621024"/>
            <a:ext cx="4517136" cy="667512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ello AIR: Receipt + RTMR3 / Image Digest / Per-call DCAP not implemented"/>
          <p:cNvSpPr txBox="1"/>
          <p:nvPr/>
        </p:nvSpPr>
        <p:spPr>
          <a:xfrm>
            <a:off x="7223760" y="3675887"/>
            <a:ext cx="4151376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lang="en-US">
                <a:solidFill>
                  <a:srgbClr val="1764A1"/>
                </a:solidFill>
                <a:latin typeface="Arial"/>
              </a:rPr>
              <a:t>Receipt + RTMR3 / Image Digest
Per-call DCAP not implemented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" y="4489704"/>
            <a:ext cx="10927080" cy="402336"/>
          </a:xfrm>
          <a:prstGeom prst="roundRect">
            <a:avLst/>
          </a:prstGeom>
          <a:solidFill>
            <a:srgbClr val="F3EEF8"/>
          </a:solidFill>
          <a:ln w="1397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ello AIR: VITA-FL integration: agent publishes the complete evidence bundle to SCITT"/>
          <p:cNvSpPr txBox="1"/>
          <p:nvPr/>
        </p:nvSpPr>
        <p:spPr>
          <a:xfrm>
            <a:off x="804672" y="4526280"/>
            <a:ext cx="1057960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7446A6"/>
                </a:solidFill>
                <a:latin typeface="Arial"/>
              </a:rPr>
              <a:t>VITA-FL integration: agent publishes the complete evidence bundle to SCITT</a:t>
            </a:r>
          </a:p>
        </p:txBody>
      </p:sp>
      <p:sp>
        <p:nvSpPr>
          <p:cNvPr id="35" name="Sello AIR: AIR-style: trust relies on the admitted receiver; recentness is not replay protection."/>
          <p:cNvSpPr txBox="1"/>
          <p:nvPr/>
        </p:nvSpPr>
        <p:spPr>
          <a:xfrm>
            <a:off x="676656" y="5056632"/>
            <a:ext cx="108630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986021"/>
                </a:solidFill>
                <a:latin typeface="Arial"/>
              </a:rPr>
              <a:t>AIR-style: trust relies on the admitted receiver; recentness is not replay protection.</a:t>
            </a:r>
          </a:p>
        </p:txBody>
      </p:sp>
      <p:sp>
        <p:nvSpPr>
          <p:cNvPr id="36" name="Sello AIR: Tsyrulnikov · AIR Internet-Draft 02 (2026) · work in progress"/>
          <p:cNvSpPr txBox="1"/>
          <p:nvPr/>
        </p:nvSpPr>
        <p:spPr>
          <a:xfrm>
            <a:off x="603504" y="552297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lang="en-US">
                <a:solidFill>
                  <a:srgbClr val="67747C"/>
                </a:solidFill>
                <a:latin typeface="Arial"/>
                <a:hlinkClick r:id="rId3"/>
              </a:rPr>
              <a:t>Tsyrulnikov · AIR Internet-Draft 02 (2026) · work in progress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Inside a Sello receipt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C · Sello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Sello AIR: Paper: receiver-signed, owner-encrypted receipts + witnessed logging"/>
          <p:cNvSpPr txBox="1"/>
          <p:nvPr/>
        </p:nvSpPr>
        <p:spPr>
          <a:xfrm>
            <a:off x="603504" y="1362456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lang="en-US">
                <a:solidFill>
                  <a:srgbClr val="263440"/>
                </a:solidFill>
                <a:latin typeface="Arial"/>
              </a:rPr>
              <a:t>Paper: receiver-signed, owner-encrypted receipts + witnessed logging</a:t>
            </a:r>
          </a:p>
        </p:txBody>
      </p:sp>
      <p:sp>
        <p:nvSpPr>
          <p:cNvPr id="14" name="Sello AIR: Three fixed tools"/>
          <p:cNvSpPr txBox="1"/>
          <p:nvPr/>
        </p:nvSpPr>
        <p:spPr>
          <a:xfrm>
            <a:off x="603504" y="2011680"/>
            <a:ext cx="20482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lang="en-US">
                <a:solidFill>
                  <a:srgbClr val="1764A1"/>
                </a:solidFill>
                <a:latin typeface="Arial"/>
              </a:rPr>
              <a:t>Three fixed 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2551176"/>
            <a:ext cx="2048256" cy="429768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llo AIR: Fetch model"/>
          <p:cNvSpPr txBox="1"/>
          <p:nvPr/>
        </p:nvSpPr>
        <p:spPr>
          <a:xfrm>
            <a:off x="740664" y="2587752"/>
            <a:ext cx="177393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1764A1"/>
                </a:solidFill>
                <a:latin typeface="Arial"/>
              </a:rPr>
              <a:t>Fetch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3127248"/>
            <a:ext cx="2048256" cy="429768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ello AIR: Select image"/>
          <p:cNvSpPr txBox="1"/>
          <p:nvPr/>
        </p:nvSpPr>
        <p:spPr>
          <a:xfrm>
            <a:off x="740664" y="3163824"/>
            <a:ext cx="177393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1764A1"/>
                </a:solidFill>
                <a:latin typeface="Arial"/>
              </a:rPr>
              <a:t>Select image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" y="3703320"/>
            <a:ext cx="2048256" cy="429768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ello AIR: Run inference"/>
          <p:cNvSpPr txBox="1"/>
          <p:nvPr/>
        </p:nvSpPr>
        <p:spPr>
          <a:xfrm>
            <a:off x="740664" y="3739896"/>
            <a:ext cx="177393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1764A1"/>
                </a:solidFill>
                <a:latin typeface="Arial"/>
              </a:rPr>
              <a:t>Run inference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88336" y="2766060"/>
            <a:ext cx="182880" cy="0"/>
          </a:xfrm>
          <a:prstGeom prst="line">
            <a:avLst/>
          </a:prstGeom>
          <a:ln w="2032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88336" y="3342132"/>
            <a:ext cx="182880" cy="0"/>
          </a:xfrm>
          <a:prstGeom prst="line">
            <a:avLst/>
          </a:prstGeom>
          <a:ln w="2032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688336" y="3918204"/>
            <a:ext cx="182880" cy="0"/>
          </a:xfrm>
          <a:prstGeom prst="line">
            <a:avLst/>
          </a:prstGeom>
          <a:ln w="2032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71216" y="2766060"/>
            <a:ext cx="0" cy="1152144"/>
          </a:xfrm>
          <a:prstGeom prst="line">
            <a:avLst/>
          </a:prstGeom>
          <a:ln w="2032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871216" y="3337560"/>
            <a:ext cx="201168" cy="0"/>
          </a:xfrm>
          <a:prstGeom prst="line">
            <a:avLst/>
          </a:prstGeom>
          <a:ln w="2413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118104" y="1965960"/>
            <a:ext cx="5340096" cy="2304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ello AIR: VITA-FL · signed receipt"/>
          <p:cNvSpPr txBox="1"/>
          <p:nvPr/>
        </p:nvSpPr>
        <p:spPr>
          <a:xfrm>
            <a:off x="3291840" y="2066543"/>
            <a:ext cx="49926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lang="en-US">
                <a:solidFill>
                  <a:srgbClr val="7446A6"/>
                </a:solidFill>
                <a:latin typeface="Arial"/>
              </a:rPr>
              <a:t>VITA-FL · signed receipt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82696" y="2532888"/>
            <a:ext cx="5010912" cy="548640"/>
          </a:xfrm>
          <a:prstGeom prst="roundRect">
            <a:avLst/>
          </a:prstGeom>
          <a:solidFill>
            <a:srgbClr val="F3F5F6"/>
          </a:solidFill>
          <a:ln w="1397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ello AIR: Public header"/>
          <p:cNvSpPr txBox="1"/>
          <p:nvPr/>
        </p:nvSpPr>
        <p:spPr>
          <a:xfrm>
            <a:off x="3429000" y="2560320"/>
            <a:ext cx="471830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 lang="en-US">
                <a:solidFill>
                  <a:srgbClr val="263440"/>
                </a:solidFill>
                <a:latin typeface="Arial"/>
              </a:rPr>
              <a:t>Public header</a:t>
            </a:r>
          </a:p>
        </p:txBody>
      </p:sp>
      <p:sp>
        <p:nvSpPr>
          <p:cNvPr id="30" name="Sello AIR: Receiver key ID · token reference · log URL"/>
          <p:cNvSpPr txBox="1"/>
          <p:nvPr/>
        </p:nvSpPr>
        <p:spPr>
          <a:xfrm>
            <a:off x="3429000" y="2807208"/>
            <a:ext cx="47183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Receiver key ID · token reference · log URL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82696" y="3191256"/>
            <a:ext cx="5010912" cy="612648"/>
          </a:xfrm>
          <a:prstGeom prst="roundRect">
            <a:avLst/>
          </a:prstGeom>
          <a:solidFill>
            <a:srgbClr val="F3EEF8"/>
          </a:solidFill>
          <a:ln w="1397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ello AIR: HPKE-encrypted body"/>
          <p:cNvSpPr txBox="1"/>
          <p:nvPr/>
        </p:nvSpPr>
        <p:spPr>
          <a:xfrm>
            <a:off x="3429000" y="3227832"/>
            <a:ext cx="471830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lang="en-US">
                <a:solidFill>
                  <a:srgbClr val="7446A6"/>
                </a:solidFill>
                <a:latin typeface="Arial"/>
              </a:rPr>
              <a:t>HPKE-encrypted body</a:t>
            </a:r>
          </a:p>
        </p:txBody>
      </p:sp>
      <p:sp>
        <p:nvSpPr>
          <p:cNvPr id="33" name="Sello AIR: Tool · input/output Digests · status · time"/>
          <p:cNvSpPr txBox="1"/>
          <p:nvPr/>
        </p:nvSpPr>
        <p:spPr>
          <a:xfrm>
            <a:off x="3429000" y="3520440"/>
            <a:ext cx="47183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Tool · input/output Digests · status · time</a:t>
            </a:r>
          </a:p>
        </p:txBody>
      </p:sp>
      <p:sp>
        <p:nvSpPr>
          <p:cNvPr id="34" name="Sello AIR: Ed25519 signature over the envelope"/>
          <p:cNvSpPr txBox="1"/>
          <p:nvPr/>
        </p:nvSpPr>
        <p:spPr>
          <a:xfrm>
            <a:off x="3310128" y="3931920"/>
            <a:ext cx="4956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lang="en-US">
                <a:solidFill>
                  <a:srgbClr val="7446A6"/>
                </a:solidFill>
                <a:latin typeface="Arial"/>
              </a:rPr>
              <a:t>Ed25519 signature over the envelope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503920" y="3337560"/>
            <a:ext cx="548640" cy="0"/>
          </a:xfrm>
          <a:prstGeom prst="line">
            <a:avLst/>
          </a:prstGeom>
          <a:ln w="2413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ello AIR: Receiver publishes"/>
          <p:cNvSpPr txBox="1"/>
          <p:nvPr/>
        </p:nvSpPr>
        <p:spPr>
          <a:xfrm>
            <a:off x="9070848" y="2560320"/>
            <a:ext cx="25054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7446A6"/>
                </a:solidFill>
                <a:latin typeface="Arial"/>
              </a:rPr>
              <a:t>Receiver publishes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07424" y="2971800"/>
            <a:ext cx="2468880" cy="1024128"/>
          </a:xfrm>
          <a:prstGeom prst="roundRect">
            <a:avLst/>
          </a:prstGeom>
          <a:solidFill>
            <a:srgbClr val="F3EEF8"/>
          </a:solidFill>
          <a:ln w="1397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llo AIR: SCITT / CCF"/>
          <p:cNvSpPr txBox="1"/>
          <p:nvPr/>
        </p:nvSpPr>
        <p:spPr>
          <a:xfrm>
            <a:off x="9253728" y="3090672"/>
            <a:ext cx="21762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7446A6"/>
                </a:solidFill>
                <a:latin typeface="Arial"/>
              </a:rPr>
              <a:t>SCITT / CCF</a:t>
            </a:r>
          </a:p>
        </p:txBody>
      </p:sp>
      <p:sp>
        <p:nvSpPr>
          <p:cNvPr id="39" name="Sello AIR: Before response"/>
          <p:cNvSpPr txBox="1"/>
          <p:nvPr/>
        </p:nvSpPr>
        <p:spPr>
          <a:xfrm>
            <a:off x="9253728" y="3483864"/>
            <a:ext cx="21762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lang="en-US">
                <a:solidFill>
                  <a:srgbClr val="263440"/>
                </a:solidFill>
                <a:latin typeface="Arial"/>
              </a:rPr>
              <a:t>Before response</a:t>
            </a:r>
          </a:p>
        </p:txBody>
      </p:sp>
      <p:sp>
        <p:nvSpPr>
          <p:cNvPr id="40" name="Sello AIR: Added: dstack key + DeviceRegistry binding · mandatory mTLS"/>
          <p:cNvSpPr txBox="1"/>
          <p:nvPr/>
        </p:nvSpPr>
        <p:spPr>
          <a:xfrm>
            <a:off x="603504" y="435254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lang="en-US">
                <a:solidFill>
                  <a:srgbClr val="1764A1"/>
                </a:solidFill>
                <a:latin typeface="Arial"/>
              </a:rPr>
              <a:t>Added: dstack key + DeviceRegistry binding · mandatory mTLS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" y="4745736"/>
            <a:ext cx="10972800" cy="713232"/>
          </a:xfrm>
          <a:prstGeom prst="roundRect">
            <a:avLst/>
          </a:prstGeom>
          <a:solidFill>
            <a:srgbClr val="FCF4E9"/>
          </a:solidFill>
          <a:ln w="13970">
            <a:solidFill>
              <a:srgbClr val="986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llo AIR: Prototype / boundary"/>
          <p:cNvSpPr txBox="1"/>
          <p:nvPr/>
        </p:nvSpPr>
        <p:spPr>
          <a:xfrm>
            <a:off x="777240" y="4809744"/>
            <a:ext cx="192024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lang="en-US">
                <a:solidFill>
                  <a:srgbClr val="986021"/>
                </a:solidFill>
                <a:latin typeface="Arial"/>
              </a:rPr>
              <a:t>Prototype
boundary</a:t>
            </a:r>
          </a:p>
        </p:txBody>
      </p:sp>
      <p:sp>
        <p:nvSpPr>
          <p:cNvPr id="43" name="Sello AIR: No independent witnesses or owner discovery. / Owner keys reside in the agent runtime."/>
          <p:cNvSpPr txBox="1"/>
          <p:nvPr/>
        </p:nvSpPr>
        <p:spPr>
          <a:xfrm>
            <a:off x="2816352" y="4818888"/>
            <a:ext cx="853135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lang="en-US">
                <a:solidFill>
                  <a:srgbClr val="263440"/>
                </a:solidFill>
                <a:latin typeface="Arial"/>
              </a:rPr>
              <a:t>No independent witnesses or owner discovery.
Owner keys reside in the agent runtime.</a:t>
            </a:r>
          </a:p>
        </p:txBody>
      </p:sp>
      <p:sp>
        <p:nvSpPr>
          <p:cNvPr id="44" name="Sello AIR: Figuera · Notarized Agents (2026) · arXiv:2606.04193"/>
          <p:cNvSpPr txBox="1"/>
          <p:nvPr/>
        </p:nvSpPr>
        <p:spPr>
          <a:xfrm>
            <a:off x="603504" y="552297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lang="en-US">
                <a:solidFill>
                  <a:srgbClr val="67747C"/>
                </a:solidFill>
                <a:latin typeface="Arial"/>
                <a:hlinkClick r:id="rId3"/>
              </a:rPr>
              <a:t>Figuera · Notarized Agents (2026) · arXiv:2606.04193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An AIR receipt inside the inference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C · 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Sello AIR: Draft: signed evidence for one inference; separate attestation appraisal"/>
          <p:cNvSpPr txBox="1"/>
          <p:nvPr/>
        </p:nvSpPr>
        <p:spPr>
          <a:xfrm>
            <a:off x="603504" y="1362456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lang="en-US">
                <a:solidFill>
                  <a:srgbClr val="263440"/>
                </a:solidFill>
                <a:latin typeface="Arial"/>
              </a:rPr>
              <a:t>Draft: signed evidence for one inference; separate attestation appraisal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" y="1929384"/>
            <a:ext cx="6903720" cy="25420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llo AIR: VITA-FL evidence bundle"/>
          <p:cNvSpPr txBox="1"/>
          <p:nvPr/>
        </p:nvSpPr>
        <p:spPr>
          <a:xfrm>
            <a:off x="795528" y="2048256"/>
            <a:ext cx="651052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lang="en-US">
                <a:solidFill>
                  <a:srgbClr val="1764A1"/>
                </a:solidFill>
                <a:latin typeface="Arial"/>
              </a:rPr>
              <a:t>VITA-FL evidence bundle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" y="2587752"/>
            <a:ext cx="6483096" cy="365760"/>
          </a:xfrm>
          <a:prstGeom prst="roundRect">
            <a:avLst/>
          </a:prstGeom>
          <a:solidFill>
            <a:srgbClr val="F3F5F6"/>
          </a:solidFill>
          <a:ln w="1397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llo AIR: Exact image pixels + prediction"/>
          <p:cNvSpPr txBox="1"/>
          <p:nvPr/>
        </p:nvSpPr>
        <p:spPr>
          <a:xfrm>
            <a:off x="987552" y="2606040"/>
            <a:ext cx="61356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lang="en-US">
                <a:solidFill>
                  <a:srgbClr val="263440"/>
                </a:solidFill>
                <a:latin typeface="Arial"/>
              </a:rPr>
              <a:t>Exact image pixels + prediction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" y="3017520"/>
            <a:ext cx="6483096" cy="365760"/>
          </a:xfrm>
          <a:prstGeom prst="roundRect">
            <a:avLst/>
          </a:prstGeom>
          <a:solidFill>
            <a:srgbClr val="F3F5F6"/>
          </a:solidFill>
          <a:ln w="1397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llo AIR: Model manifest → DFL artifact Digest"/>
          <p:cNvSpPr txBox="1"/>
          <p:nvPr/>
        </p:nvSpPr>
        <p:spPr>
          <a:xfrm>
            <a:off x="987552" y="3035808"/>
            <a:ext cx="61356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lang="en-US">
                <a:solidFill>
                  <a:srgbClr val="263440"/>
                </a:solidFill>
                <a:latin typeface="Arial"/>
              </a:rPr>
              <a:t>Model manifest → DFL artifact Digest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" y="3447288"/>
            <a:ext cx="6483096" cy="365760"/>
          </a:xfrm>
          <a:prstGeom prst="roundRect">
            <a:avLst/>
          </a:prstGeom>
          <a:solidFill>
            <a:srgbClr val="F3EEF8"/>
          </a:solidFill>
          <a:ln w="1397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ello AIR: AIR-style receipt · signed Digests"/>
          <p:cNvSpPr txBox="1"/>
          <p:nvPr/>
        </p:nvSpPr>
        <p:spPr>
          <a:xfrm>
            <a:off x="987552" y="3465576"/>
            <a:ext cx="61356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lang="en-US">
                <a:solidFill>
                  <a:srgbClr val="7446A6"/>
                </a:solidFill>
                <a:latin typeface="Arial"/>
              </a:rPr>
              <a:t>AIR-style receipt · signed Digests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" y="3877056"/>
            <a:ext cx="6483096" cy="365760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ello AIR: TDX quote + measured Compose + event log"/>
          <p:cNvSpPr txBox="1"/>
          <p:nvPr/>
        </p:nvSpPr>
        <p:spPr>
          <a:xfrm>
            <a:off x="987552" y="3895344"/>
            <a:ext cx="61356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lang="en-US">
                <a:solidFill>
                  <a:srgbClr val="1764A1"/>
                </a:solidFill>
                <a:latin typeface="Arial"/>
              </a:rPr>
              <a:t>TDX quote + measured Compose + event log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62088" y="2944368"/>
            <a:ext cx="557784" cy="0"/>
          </a:xfrm>
          <a:prstGeom prst="line">
            <a:avLst/>
          </a:prstGeom>
          <a:ln w="2413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74736" y="2258568"/>
            <a:ext cx="3401568" cy="1362456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ello AIR: Agent verifies"/>
          <p:cNvSpPr txBox="1"/>
          <p:nvPr/>
        </p:nvSpPr>
        <p:spPr>
          <a:xfrm>
            <a:off x="8321040" y="2377440"/>
            <a:ext cx="31089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50" b="1" lang="en-US">
                <a:solidFill>
                  <a:srgbClr val="1764A1"/>
                </a:solidFill>
                <a:latin typeface="Arial"/>
              </a:rPr>
              <a:t>Agent verifies</a:t>
            </a:r>
          </a:p>
        </p:txBody>
      </p:sp>
      <p:sp>
        <p:nvSpPr>
          <p:cNvPr id="27" name="Sello AIR: Signature · RTMR3 replay / Bindings + Image Digest"/>
          <p:cNvSpPr txBox="1"/>
          <p:nvPr/>
        </p:nvSpPr>
        <p:spPr>
          <a:xfrm>
            <a:off x="8321040" y="2770632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lang="en-US">
                <a:solidFill>
                  <a:srgbClr val="263440"/>
                </a:solidFill>
                <a:latin typeface="Arial"/>
              </a:rPr>
              <a:t>Signature · RTMR3 replay
Bindings + Image Digest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875520" y="3675887"/>
            <a:ext cx="0" cy="292609"/>
          </a:xfrm>
          <a:prstGeom prst="line">
            <a:avLst/>
          </a:prstGeom>
          <a:ln w="2413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174736" y="4023360"/>
            <a:ext cx="3401568" cy="448056"/>
          </a:xfrm>
          <a:prstGeom prst="roundRect">
            <a:avLst/>
          </a:prstGeom>
          <a:solidFill>
            <a:srgbClr val="F3EEF8"/>
          </a:solidFill>
          <a:ln w="1397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ello AIR: SCITT · published bundle"/>
          <p:cNvSpPr txBox="1"/>
          <p:nvPr/>
        </p:nvSpPr>
        <p:spPr>
          <a:xfrm>
            <a:off x="8302752" y="4069080"/>
            <a:ext cx="314553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7446A6"/>
                </a:solidFill>
                <a:latin typeface="Arial"/>
              </a:rPr>
              <a:t>SCITT · published bundle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" y="4745736"/>
            <a:ext cx="10972800" cy="713232"/>
          </a:xfrm>
          <a:prstGeom prst="roundRect">
            <a:avLst/>
          </a:prstGeom>
          <a:solidFill>
            <a:srgbClr val="FCF4E9"/>
          </a:solidFill>
          <a:ln w="13970">
            <a:solidFill>
              <a:srgbClr val="986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ello AIR: Prototype / boundary"/>
          <p:cNvSpPr txBox="1"/>
          <p:nvPr/>
        </p:nvSpPr>
        <p:spPr>
          <a:xfrm>
            <a:off x="777240" y="4809744"/>
            <a:ext cx="192024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lang="en-US">
                <a:solidFill>
                  <a:srgbClr val="986021"/>
                </a:solidFill>
                <a:latin typeface="Arial"/>
              </a:rPr>
              <a:t>Prototype
boundary</a:t>
            </a:r>
          </a:p>
        </p:txBody>
      </p:sp>
      <p:sp>
        <p:nvSpPr>
          <p:cNvPr id="33" name="Sello AIR: No independent DCAP appraisal per call: relies on admitted receiver. / Published bundle includes unencrypted input pixels."/>
          <p:cNvSpPr txBox="1"/>
          <p:nvPr/>
        </p:nvSpPr>
        <p:spPr>
          <a:xfrm>
            <a:off x="2816352" y="4818888"/>
            <a:ext cx="853135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lang="en-US">
                <a:solidFill>
                  <a:srgbClr val="263440"/>
                </a:solidFill>
                <a:latin typeface="Arial"/>
              </a:rPr>
              <a:t>No independent DCAP appraisal per call: relies on admitted receiver.
Published bundle includes unencrypted input pixels.</a:t>
            </a:r>
          </a:p>
        </p:txBody>
      </p:sp>
      <p:sp>
        <p:nvSpPr>
          <p:cNvPr id="34" name="Sello AIR: Tsyrulnikov · AIR Internet-Draft 02 (2026) · work in progress"/>
          <p:cNvSpPr txBox="1"/>
          <p:nvPr/>
        </p:nvSpPr>
        <p:spPr>
          <a:xfrm>
            <a:off x="603504" y="552297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lang="en-US">
                <a:solidFill>
                  <a:srgbClr val="67747C"/>
                </a:solidFill>
                <a:latin typeface="Arial"/>
                <a:hlinkClick r:id="rId3"/>
              </a:rPr>
              <a:t>Tsyrulnikov · AIR Internet-Draft 02 (2026) · work in progress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Sello and AIR slide alternatives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