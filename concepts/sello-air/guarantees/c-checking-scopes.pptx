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710" r:id="rId2"/>
  </p:sldMasterIdLst>
  <p:notesMasterIdLst>
    <p:notesMasterId r:id="rId8"/>
  </p:notesMasterIdLst>
  <p:sldIdLst>
    <p:sldId id="256" r:id="rId7"/>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40D1E"/>
    <a:srgbClr val="9013FE"/>
    <a:srgbClr val="1F90CC"/>
    <a:srgbClr val="434343"/>
    <a:srgbClr val="C40E02"/>
    <a:srgbClr val="FFFFFF"/>
    <a:srgbClr val="49CB40"/>
    <a:srgbClr val="C50E1F"/>
    <a:srgbClr val="B2B2B2"/>
    <a:srgbClr val="71717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6327"/>
  </p:normalViewPr>
  <p:slideViewPr>
    <p:cSldViewPr snapToGrid="0" snapToObjects="1">
      <p:cViewPr varScale="1">
        <p:scale>
          <a:sx n="81" d="100"/>
          <a:sy n="81" d="100"/>
        </p:scale>
        <p:origin x="542" y="48"/>
      </p:cViewPr>
      <p:guideLst/>
    </p:cSldViewPr>
  </p:slideViewPr>
  <p:notesTextViewPr>
    <p:cViewPr>
      <p:scale>
        <a:sx n="1" d="1"/>
        <a:sy n="1" d="1"/>
      </p:scale>
      <p:origin x="0" y="0"/>
    </p:cViewPr>
  </p:notesTextViewPr>
  <p:notesViewPr>
    <p:cSldViewPr snapToGrid="0" snapToObjects="1" showGuides="1">
      <p:cViewPr varScale="1">
        <p:scale>
          <a:sx n="153" d="100"/>
          <a:sy n="153" d="100"/>
        </p:scale>
        <p:origin x="4920" y="19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A6180F-3EA1-4748-B4F4-956BB5176995}" type="datetimeFigureOut">
              <a:rPr lang="de-DE" smtClean="0"/>
              <a:t>16.06.2025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3C3961-1900-1342-BF9B-82C3215CD312}" type="slidenum">
              <a:rPr lang="de-DE" smtClean="0"/>
              <a:t>‹Nr.›</a:t>
            </a:fld>
            <a:endParaRPr lang="de-DE"/>
          </a:p>
        </p:txBody>
      </p:sp>
    </p:spTree>
    <p:extLst>
      <p:ext uri="{BB962C8B-B14F-4D97-AF65-F5344CB8AC3E}">
        <p14:creationId xmlns:p14="http://schemas.microsoft.com/office/powerpoint/2010/main" val="848931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COMBINED ASSURANCE VARIANT C</a:t>
            </a:r>
          </a:p>
          <a:p/>
          <a:p>
            <a:r>
              <a:rPr lang="en-US"/>
              <a:t>SOURCE: Juan Figuera, Notarized Agents: Receiver-Attested Confidential Receipts for AI Agent Actions (2026), arXiv:2606.04193v1. https://arxiv.org/abs/2606.04193</a:t>
            </a:r>
          </a:p>
          <a:p>
            <a:r>
              <a:rPr lang="en-US"/>
              <a:t>The paper moves receipt production to the receiving service, encrypts receipt contents for an independent owner, and combines witnessed logging with owner discovery by token reference.</a:t>
            </a:r>
          </a:p>
          <a:p/>
          <a:p>
            <a:r>
              <a:rPr lang="en-US"/>
              <a:t>CURRENT VITA-FL IMPLEMENTATION (23 September 2026): The three fixed operations are model-bundle fetch, ChestMNIST image selection, and inference. The receiver hashes the exact canonical tool input and raw response, HPKE-encrypts the receipt body, and signs its COSE_Sign1 envelope with a dedicated Ed25519 key. The receiver publishes to SCITT before releasing a successful response. The agent verifies the signature, decrypts the receipt, checks byte commitments and verifies the SCITT publication bundle. A log failure yields HTTP 503; already performed computation is not rolled back. The Sello inference input is a job_id object, not the image pixels. Pixel-level evidence is in the separately published AIR bundle.</a:t>
            </a:r>
          </a:p>
          <a:p/>
          <a:p>
            <a:r>
              <a:rPr lang="en-US"/>
              <a:t>VITA-FL ADDITIONS: dstack-derived receiver key, bound at DCAP admission to Worker 0 and its endpoint in DeviceRegistry; mandatory mTLS; short-lived JWS with audience, action scopes, certificate thumbprint and matching subject. This is transport identity, not attestation of agent code. A random jti is not a one-use store and the token is not bound to the request Digest.</a:t>
            </a:r>
          </a:p>
          <a:p/>
          <a:p>
            <a:r>
              <a:rPr lang="en-US"/>
              <a:t>DEVIATIONS / LIMITS: SCITT/CCF runs as one virtual node with no witness cosigning or independent log-key pin. Retrieval follows a returned publication URL; there is no owner discovery service indexed by token reference. Owner HPKE private key and token-issuer signing seed are configured in the agent runtime: the independent-owner threat boundary is therefore not preserved against compromise of that runtime. Domain evidence remains a separate layer. These slides describe the local implementation, not a newly deployed or evaluated run.</a:t>
            </a:r>
          </a:p>
          <a:p/>
          <a:p>
            <a:r>
              <a:rPr lang="en-US"/>
              <a:t>CODE: vita-fl/agent_receipts/sello_v1.py; agent_receipts/environment.py; agent_receipts/receiver_log.py; agent_receipts/scitt.py; agent_receipts/dstack_key.py; agent/sello_client.py; tee_inference/service/app.py; transport_security/peer.py; phala/dstack-compose.contracts.phala.tftpl.</a:t>
            </a:r>
          </a:p>
          <a:p/>
          <a:p>
            <a:r>
              <a:rPr lang="en-US"/>
              <a:t>SOURCE: B. Tsyrulnikov, Attested Inference Receipt (AIR): A COSE/CWT Profile for Confidential AI Inference, Internet-Draft 02, 5 July 2026. https://www.ietf.org/archive/id/draft-tsyrulnikov-rats-attested-inference-receipt-02.html</a:t>
            </a:r>
          </a:p>
          <a:p>
            <a:r>
              <a:rPr lang="en-US"/>
              <a:t>This is a work-in-progress draft, not a peer-reviewed paper or RFC. It defines signed single-inference evidence and distinguishes receipt validation from platform attestation appraisal.</a:t>
            </a:r>
          </a:p>
          <a:p/>
          <a:p>
            <a:r>
              <a:rPr lang="en-US"/>
              <a:t>CURRENT VITA-FL IMPLEMENTATION (23 September 2026): Native ChestMNIST inference uses deterministic CBOR request, response and model-manifest bytes. A dedicated dstack-derived Ed25519 key signs the AIR-style COSE/CWT receipt. The model Digest is the manifest Digest; that manifest binds the separately available DFL model artifact. The receipt contains commitments, not the original model weights or pixels. The returned domain bundle additionally contains exact numeric request/response bytes, manifest, receipt/key, quote, REPORTDATA, ordered event log and measured app_compose. The agent verifies the bundle and separately publishes it to SCITT. This published bundle contains the input pixels in plaintext; receipt hashing does not make this bundle confidential.</a:t>
            </a:r>
          </a:p>
          <a:p/>
          <a:p>
            <a:r>
              <a:rPr lang="en-US"/>
              <a:t>KEY / WORKLOAD BINDING: The 64-byte TDX REPORTDATA contains a domain-separated hash of the AIR public key and model-manifest Digest, followed by the request Digest. A fresh quote is requested per inference; its Digest is included in the AIR receipt. The verifier checks the AIR signature, request/response/manifest/nonce bindings, REPORTDATA, ordered SHA-384 RTMR3 replay, measured Compose, expected worker-image Digest and deployment policy. This is domain evidence for the numeric DFL inference, not evidence of the agent's LLM prompt or Ollama reasoning.</a:t>
            </a:r>
          </a:p>
          <a:p/>
          <a:p>
            <a:r>
              <a:rPr lang="en-US"/>
              <a:t>DEVIATIONS / LIMITS: The per-call verifier explicitly returns dcap_collateral_verified=False. It does not authenticate the individual quote's Intel signature/certificate chain, TCB or revocation collateral; it relies on separately admitted Worker 0 and its registry-bound Sello receiver identity. It also does not reconcile all signed measurement-map values with the quote registers. The REPORTDATA layout is VITA-FL-specific; it differs from revision 02's illustrated TDX key-binding construction. The nonce is generated by the receiver, not the verifier, and there is no seen-cti store; the 300-second issue-time policy (30-second skew) gives recentness, not full replay protection. Describe the profile as AIR-style. Signature and attestation do not establish model accuracy or prove the forward-pass arithmetic independently of trusted execution.</a:t>
            </a:r>
          </a:p>
          <a:p/>
          <a:p>
            <a:r>
              <a:rPr lang="en-US"/>
              <a:t>CODE: vita-fl/tee_inference/air/v1.py; tee_inference/service/attestation.py; tee_inference/service/jobs.py; tee_inference/protocol/v1.py; agent/tee_inference_client.py; agent/scitt_client.py.</a:t>
            </a:r>
          </a:p>
          <a:p/>
          <a:p>
            <a:r>
              <a:rPr lang="en-US"/>
              <a:t>USER REQUEST: Explain together, on one slide, the implemented responsibilities and guarantees of Sello and AIR. This is the current prototype, not the proposed RA-TLS + Phala API extension.</a:t>
            </a:r>
          </a:p>
          <a:p/>
          <a:p>
            <a:r>
              <a:rPr lang="en-US"/>
              <a:t>EXACT TASKS AND ENFORCED CHECKS</a:t>
            </a:r>
          </a:p>
          <a:p>
            <a:r>
              <a:rPr lang="en-US"/>
              <a:t>AIR data integrity: Ed25519 signature and SHA-256 commitments to the exact deterministic-CBOR model manifest, complete numeric inference request, response and quote. Substitution is detected relative to the authenticated signing identity. The manifest commits to model artifacts; model weights themselves are not placed inside the receipt.</a:t>
            </a:r>
          </a:p>
          <a:p>
            <a:r>
              <a:rPr lang="en-US"/>
              <a:t>AIR quote binding: REPORTDATA = SHA256("MasterThesis.AIR.key.v1" || AIR_public_key || manifest_hash) || request_hash. The response is bound by the AIR signature, not directly by the existing REPORTDATA. The receipt also hashes the quote.</a:t>
            </a:r>
          </a:p>
          <a:p>
            <a:r>
              <a:rPr lang="en-US"/>
              <a:t>AIR configuration: RTMR3 is replayed from the ordered event log. Compose hash, expected image digest and configured Chain-ID, GMStorage, DeviceRegistry and RPC endpoint are compared. This is quote-field consistency and deployment policy checking; per-inference Intel quote cryptography remains unverified.</a:t>
            </a:r>
          </a:p>
          <a:p>
            <a:r>
              <a:rPr lang="en-US"/>
              <a:t>Sello authorization: mandatory PKI mTLS plus signed, short-lived token; agent subject, receiver origin/audience, allowed action scope, certificate thumbprint and expiration must match. Jobs belong to the authenticated subject. This transport is not RA-TLS.</a:t>
            </a:r>
          </a:p>
          <a:p>
            <a:r>
              <a:rPr lang="en-US"/>
              <a:t>Sello response evidence: admitted receiver's Ed25519 signature binds action, exact logical tool input hash, exact output hash, token reference and result status. Agent compares them to the actual invocation. For run inference, tool input is the canonical job_id object, while output is the complete AIR evidence bundle. It is not evidence about the LLM's reasoning or original chat prompt.</a:t>
            </a:r>
          </a:p>
          <a:p>
            <a:r>
              <a:rPr lang="en-US"/>
              <a:t>Sello confidentiality: HPKE encrypts the receipt body for the owner. Signature covers the encrypted receipt; public envelope metadata remain visible. The owner private key and token issuer seed are currently in the agent runtime.</a:t>
            </a:r>
          </a:p>
          <a:p>
            <a:r>
              <a:rPr lang="en-US"/>
              <a:t>Publication: receiver publishes Sello before releasing a successful response; agent verifies Sello and its SCITT receipt, checks AIR and separately registers the AIR bundle. No successful verified tool result is released on publication failure. Computation precedes publication and is not rolled back when logging fails.</a:t>
            </a:r>
          </a:p>
          <a:p/>
          <a:p>
            <a:r>
              <a:rPr lang="en-US"/>
              <a:t>SCOPE OF GUARANTEES</a:t>
            </a:r>
          </a:p>
          <a:p>
            <a:r>
              <a:rPr lang="en-US"/>
              <a:t>Current AIR verifier reports dcap_collateral_verified=False. Prior on-chain admission and registry-bound receiver identity remain trust inputs. It does not reconcile every signed measurement-map entry with the quote. AIR nonce is receiver-generated, and neither AIR nor Sello provides an exactly-once execution guarantee.</a:t>
            </a:r>
          </a:p>
          <a:p>
            <a:r>
              <a:rPr lang="en-US"/>
              <a:t>The separate AIR bundle contains unencrypted input and output bytes. HPKE privacy applies only to the Sello receipt. SCITT is a single CCF Virtual Mode node without independent witnesses or a pinned log key; development TLS disables server certificate verification and the Phala log uses tmpfs. Registration proves inclusion against the obtained service keys, not permanent availability or a globally unique history. No medical accuracy or independent arithmetic proof is claimed.</a:t>
            </a:r>
          </a:p>
          <a:p/>
          <a:p>
            <a:r>
              <a:rPr lang="en-US"/>
              <a:t>LAYOUT: All diagrams are native, editable PowerPoint shapes. Main deck is kept as a separate artifact. Colour role: blue = Sello/tool interaction; green = AIR/numeric DFL inference; purple = shared logging.</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el - Text und Bild">
    <p:spTree>
      <p:nvGrpSpPr>
        <p:cNvPr id="1" name=""/>
        <p:cNvGrpSpPr/>
        <p:nvPr/>
      </p:nvGrpSpPr>
      <p:grpSpPr>
        <a:xfrm>
          <a:off x="0" y="0"/>
          <a:ext cx="0" cy="0"/>
          <a:chOff x="0" y="0"/>
          <a:chExt cx="0" cy="0"/>
        </a:xfrm>
      </p:grpSpPr>
      <p:sp>
        <p:nvSpPr>
          <p:cNvPr id="3" name="Bildplatzhalter 23">
            <a:extLst>
              <a:ext uri="{FF2B5EF4-FFF2-40B4-BE49-F238E27FC236}">
                <a16:creationId xmlns:a16="http://schemas.microsoft.com/office/drawing/2014/main" id="{9A036687-F2BF-7B4C-A352-6E1D355D125D}"/>
              </a:ext>
            </a:extLst>
          </p:cNvPr>
          <p:cNvSpPr>
            <a:spLocks noGrp="1"/>
          </p:cNvSpPr>
          <p:nvPr>
            <p:ph type="pic" sz="quarter" idx="17" hasCustomPrompt="1"/>
          </p:nvPr>
        </p:nvSpPr>
        <p:spPr>
          <a:xfrm>
            <a:off x="-6479" y="1260572"/>
            <a:ext cx="8885359" cy="3273604"/>
          </a:xfrm>
          <a:custGeom>
            <a:avLst/>
            <a:gdLst>
              <a:gd name="connsiteX0" fmla="*/ 0 w 8328660"/>
              <a:gd name="connsiteY0" fmla="*/ 0 h 3143274"/>
              <a:gd name="connsiteX1" fmla="*/ 8328660 w 8328660"/>
              <a:gd name="connsiteY1" fmla="*/ 0 h 3143274"/>
              <a:gd name="connsiteX2" fmla="*/ 8328660 w 8328660"/>
              <a:gd name="connsiteY2" fmla="*/ 3143274 h 3143274"/>
              <a:gd name="connsiteX3" fmla="*/ 0 w 8328660"/>
              <a:gd name="connsiteY3" fmla="*/ 3143274 h 3143274"/>
              <a:gd name="connsiteX4" fmla="*/ 0 w 8328660"/>
              <a:gd name="connsiteY4" fmla="*/ 0 h 3143274"/>
              <a:gd name="connsiteX0" fmla="*/ 0 w 8336280"/>
              <a:gd name="connsiteY0" fmla="*/ 601980 h 3745254"/>
              <a:gd name="connsiteX1" fmla="*/ 8336280 w 8336280"/>
              <a:gd name="connsiteY1" fmla="*/ 0 h 3745254"/>
              <a:gd name="connsiteX2" fmla="*/ 8328660 w 8336280"/>
              <a:gd name="connsiteY2" fmla="*/ 3745254 h 3745254"/>
              <a:gd name="connsiteX3" fmla="*/ 0 w 8336280"/>
              <a:gd name="connsiteY3" fmla="*/ 3745254 h 3745254"/>
              <a:gd name="connsiteX4" fmla="*/ 0 w 8336280"/>
              <a:gd name="connsiteY4" fmla="*/ 601980 h 3745254"/>
              <a:gd name="connsiteX0" fmla="*/ 0 w 8336280"/>
              <a:gd name="connsiteY0" fmla="*/ 601980 h 3745254"/>
              <a:gd name="connsiteX1" fmla="*/ 8336280 w 8336280"/>
              <a:gd name="connsiteY1" fmla="*/ 0 h 3745254"/>
              <a:gd name="connsiteX2" fmla="*/ 8321040 w 8336280"/>
              <a:gd name="connsiteY2" fmla="*/ 3242334 h 3745254"/>
              <a:gd name="connsiteX3" fmla="*/ 0 w 8336280"/>
              <a:gd name="connsiteY3" fmla="*/ 3745254 h 3745254"/>
              <a:gd name="connsiteX4" fmla="*/ 0 w 8336280"/>
              <a:gd name="connsiteY4" fmla="*/ 601980 h 3745254"/>
              <a:gd name="connsiteX0" fmla="*/ 0 w 8336280"/>
              <a:gd name="connsiteY0" fmla="*/ 286029 h 3429303"/>
              <a:gd name="connsiteX1" fmla="*/ 8336280 w 8336280"/>
              <a:gd name="connsiteY1" fmla="*/ 0 h 3429303"/>
              <a:gd name="connsiteX2" fmla="*/ 8321040 w 8336280"/>
              <a:gd name="connsiteY2" fmla="*/ 2926383 h 3429303"/>
              <a:gd name="connsiteX3" fmla="*/ 0 w 8336280"/>
              <a:gd name="connsiteY3" fmla="*/ 3429303 h 3429303"/>
              <a:gd name="connsiteX4" fmla="*/ 0 w 8336280"/>
              <a:gd name="connsiteY4" fmla="*/ 286029 h 3429303"/>
              <a:gd name="connsiteX0" fmla="*/ 0 w 8339997"/>
              <a:gd name="connsiteY0" fmla="*/ 312049 h 3429303"/>
              <a:gd name="connsiteX1" fmla="*/ 8339997 w 8339997"/>
              <a:gd name="connsiteY1" fmla="*/ 0 h 3429303"/>
              <a:gd name="connsiteX2" fmla="*/ 8324757 w 8339997"/>
              <a:gd name="connsiteY2" fmla="*/ 2926383 h 3429303"/>
              <a:gd name="connsiteX3" fmla="*/ 3717 w 8339997"/>
              <a:gd name="connsiteY3" fmla="*/ 3429303 h 3429303"/>
              <a:gd name="connsiteX4" fmla="*/ 0 w 8339997"/>
              <a:gd name="connsiteY4" fmla="*/ 312049 h 3429303"/>
              <a:gd name="connsiteX0" fmla="*/ 0 w 8343172"/>
              <a:gd name="connsiteY0" fmla="*/ 305699 h 3429303"/>
              <a:gd name="connsiteX1" fmla="*/ 8343172 w 8343172"/>
              <a:gd name="connsiteY1" fmla="*/ 0 h 3429303"/>
              <a:gd name="connsiteX2" fmla="*/ 8327932 w 8343172"/>
              <a:gd name="connsiteY2" fmla="*/ 2926383 h 3429303"/>
              <a:gd name="connsiteX3" fmla="*/ 6892 w 8343172"/>
              <a:gd name="connsiteY3" fmla="*/ 3429303 h 3429303"/>
              <a:gd name="connsiteX4" fmla="*/ 0 w 8343172"/>
              <a:gd name="connsiteY4" fmla="*/ 305699 h 3429303"/>
              <a:gd name="connsiteX0" fmla="*/ 0 w 8349522"/>
              <a:gd name="connsiteY0" fmla="*/ 30887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8874 h 3429303"/>
              <a:gd name="connsiteX0" fmla="*/ 0 w 8352697"/>
              <a:gd name="connsiteY0" fmla="*/ 312049 h 3429303"/>
              <a:gd name="connsiteX1" fmla="*/ 8352697 w 8352697"/>
              <a:gd name="connsiteY1" fmla="*/ 0 h 3429303"/>
              <a:gd name="connsiteX2" fmla="*/ 8337457 w 8352697"/>
              <a:gd name="connsiteY2" fmla="*/ 2926383 h 3429303"/>
              <a:gd name="connsiteX3" fmla="*/ 16417 w 8352697"/>
              <a:gd name="connsiteY3" fmla="*/ 3429303 h 3429303"/>
              <a:gd name="connsiteX4" fmla="*/ 0 w 8352697"/>
              <a:gd name="connsiteY4" fmla="*/ 312049 h 3429303"/>
              <a:gd name="connsiteX0" fmla="*/ 0 w 8349522"/>
              <a:gd name="connsiteY0" fmla="*/ 30252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2524 h 3429303"/>
              <a:gd name="connsiteX0" fmla="*/ 0 w 8349522"/>
              <a:gd name="connsiteY0" fmla="*/ 302524 h 3226103"/>
              <a:gd name="connsiteX1" fmla="*/ 8349522 w 8349522"/>
              <a:gd name="connsiteY1" fmla="*/ 0 h 3226103"/>
              <a:gd name="connsiteX2" fmla="*/ 8334282 w 8349522"/>
              <a:gd name="connsiteY2" fmla="*/ 2926383 h 3226103"/>
              <a:gd name="connsiteX3" fmla="*/ 13242 w 8349522"/>
              <a:gd name="connsiteY3" fmla="*/ 3226103 h 3226103"/>
              <a:gd name="connsiteX4" fmla="*/ 0 w 8349522"/>
              <a:gd name="connsiteY4" fmla="*/ 302524 h 3226103"/>
              <a:gd name="connsiteX0" fmla="*/ 0 w 8883911"/>
              <a:gd name="connsiteY0" fmla="*/ 326274 h 3226103"/>
              <a:gd name="connsiteX1" fmla="*/ 8883911 w 8883911"/>
              <a:gd name="connsiteY1" fmla="*/ 0 h 3226103"/>
              <a:gd name="connsiteX2" fmla="*/ 8868671 w 8883911"/>
              <a:gd name="connsiteY2" fmla="*/ 2926383 h 3226103"/>
              <a:gd name="connsiteX3" fmla="*/ 547631 w 8883911"/>
              <a:gd name="connsiteY3" fmla="*/ 3226103 h 3226103"/>
              <a:gd name="connsiteX4" fmla="*/ 0 w 8883911"/>
              <a:gd name="connsiteY4" fmla="*/ 326274 h 3226103"/>
              <a:gd name="connsiteX0" fmla="*/ 0 w 8872036"/>
              <a:gd name="connsiteY0" fmla="*/ 326274 h 3226103"/>
              <a:gd name="connsiteX1" fmla="*/ 8872036 w 8872036"/>
              <a:gd name="connsiteY1" fmla="*/ 0 h 3226103"/>
              <a:gd name="connsiteX2" fmla="*/ 8856796 w 8872036"/>
              <a:gd name="connsiteY2" fmla="*/ 2926383 h 3226103"/>
              <a:gd name="connsiteX3" fmla="*/ 535756 w 8872036"/>
              <a:gd name="connsiteY3" fmla="*/ 3226103 h 3226103"/>
              <a:gd name="connsiteX4" fmla="*/ 0 w 8872036"/>
              <a:gd name="connsiteY4" fmla="*/ 326274 h 3226103"/>
              <a:gd name="connsiteX0" fmla="*/ 34357 w 8906393"/>
              <a:gd name="connsiteY0" fmla="*/ 326274 h 3273604"/>
              <a:gd name="connsiteX1" fmla="*/ 8906393 w 8906393"/>
              <a:gd name="connsiteY1" fmla="*/ 0 h 3273604"/>
              <a:gd name="connsiteX2" fmla="*/ 8891153 w 8906393"/>
              <a:gd name="connsiteY2" fmla="*/ 2926383 h 3273604"/>
              <a:gd name="connsiteX3" fmla="*/ 98 w 8906393"/>
              <a:gd name="connsiteY3" fmla="*/ 3273604 h 3273604"/>
              <a:gd name="connsiteX4" fmla="*/ 34357 w 8906393"/>
              <a:gd name="connsiteY4" fmla="*/ 326274 h 3273604"/>
              <a:gd name="connsiteX0" fmla="*/ 0 w 8907662"/>
              <a:gd name="connsiteY0" fmla="*/ 338149 h 3273604"/>
              <a:gd name="connsiteX1" fmla="*/ 8907662 w 8907662"/>
              <a:gd name="connsiteY1" fmla="*/ 0 h 3273604"/>
              <a:gd name="connsiteX2" fmla="*/ 8892422 w 8907662"/>
              <a:gd name="connsiteY2" fmla="*/ 2926383 h 3273604"/>
              <a:gd name="connsiteX3" fmla="*/ 1367 w 8907662"/>
              <a:gd name="connsiteY3" fmla="*/ 3273604 h 3273604"/>
              <a:gd name="connsiteX4" fmla="*/ 0 w 8907662"/>
              <a:gd name="connsiteY4" fmla="*/ 338149 h 3273604"/>
              <a:gd name="connsiteX0" fmla="*/ 0 w 8907662"/>
              <a:gd name="connsiteY0" fmla="*/ 338149 h 3273604"/>
              <a:gd name="connsiteX1" fmla="*/ 8907662 w 8907662"/>
              <a:gd name="connsiteY1" fmla="*/ 0 h 3273604"/>
              <a:gd name="connsiteX2" fmla="*/ 8892422 w 8907662"/>
              <a:gd name="connsiteY2" fmla="*/ 2926383 h 3273604"/>
              <a:gd name="connsiteX3" fmla="*/ 32591 w 8907662"/>
              <a:gd name="connsiteY3" fmla="*/ 3273604 h 3273604"/>
              <a:gd name="connsiteX4" fmla="*/ 0 w 8907662"/>
              <a:gd name="connsiteY4" fmla="*/ 338149 h 3273604"/>
              <a:gd name="connsiteX0" fmla="*/ 0 w 8885359"/>
              <a:gd name="connsiteY0" fmla="*/ 338149 h 3273604"/>
              <a:gd name="connsiteX1" fmla="*/ 8885359 w 8885359"/>
              <a:gd name="connsiteY1" fmla="*/ 0 h 3273604"/>
              <a:gd name="connsiteX2" fmla="*/ 8870119 w 8885359"/>
              <a:gd name="connsiteY2" fmla="*/ 2926383 h 3273604"/>
              <a:gd name="connsiteX3" fmla="*/ 10288 w 8885359"/>
              <a:gd name="connsiteY3" fmla="*/ 3273604 h 3273604"/>
              <a:gd name="connsiteX4" fmla="*/ 0 w 8885359"/>
              <a:gd name="connsiteY4" fmla="*/ 338149 h 3273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5359" h="3273604">
                <a:moveTo>
                  <a:pt x="0" y="338149"/>
                </a:moveTo>
                <a:lnTo>
                  <a:pt x="8885359" y="0"/>
                </a:lnTo>
                <a:lnTo>
                  <a:pt x="8870119" y="2926383"/>
                </a:lnTo>
                <a:lnTo>
                  <a:pt x="10288" y="3273604"/>
                </a:lnTo>
                <a:cubicBezTo>
                  <a:pt x="7991" y="2232403"/>
                  <a:pt x="2297" y="1379350"/>
                  <a:pt x="0" y="338149"/>
                </a:cubicBezTo>
                <a:close/>
              </a:path>
            </a:pathLst>
          </a:custGeom>
          <a:solidFill>
            <a:srgbClr val="434343"/>
          </a:solidFill>
        </p:spPr>
        <p:txBody>
          <a:bodyPr lIns="576000" anchor="ctr" anchorCtr="0"/>
          <a:lstStyle>
            <a:lvl1pPr marL="0" indent="0" algn="ctr">
              <a:buNone/>
              <a:defRPr>
                <a:solidFill>
                  <a:schemeClr val="bg1"/>
                </a:solidFill>
                <a:latin typeface="Arial" panose="020B0604020202020204" pitchFamily="34" charset="0"/>
                <a:cs typeface="Arial" panose="020B0604020202020204" pitchFamily="34" charset="0"/>
              </a:defRPr>
            </a:lvl1pPr>
          </a:lstStyle>
          <a:p>
            <a:r>
              <a:rPr lang="de-DE" dirty="0"/>
              <a:t>Platzhalter: Bild Titelfolie</a:t>
            </a:r>
          </a:p>
        </p:txBody>
      </p:sp>
      <p:sp>
        <p:nvSpPr>
          <p:cNvPr id="4" name="Textfeld 3">
            <a:extLst>
              <a:ext uri="{FF2B5EF4-FFF2-40B4-BE49-F238E27FC236}">
                <a16:creationId xmlns:a16="http://schemas.microsoft.com/office/drawing/2014/main" id="{F18C730E-B3F8-944F-8BC2-E236CE7245E4}"/>
              </a:ext>
            </a:extLst>
          </p:cNvPr>
          <p:cNvSpPr txBox="1"/>
          <p:nvPr userDrawn="1"/>
        </p:nvSpPr>
        <p:spPr>
          <a:xfrm>
            <a:off x="-2031023" y="2620375"/>
            <a:ext cx="2021305" cy="1785104"/>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Platzhalterbild ersetzen:</a:t>
            </a:r>
            <a:br>
              <a:rPr lang="de-DE" sz="1000" b="1"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löschen und durch neues Bild ersetzen &gt; über Bildformat &gt; Zuschneiden im Rahmen ggf. nachpositionieren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Copyrightangabe: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Korrektes Copyright angeben (in der Regel Name des*der Fotograf*in), Textfarbe je nach Hintergrund weiß oder schwarz</a:t>
            </a:r>
          </a:p>
        </p:txBody>
      </p:sp>
      <p:sp>
        <p:nvSpPr>
          <p:cNvPr id="5" name="Textfeld 4">
            <a:extLst>
              <a:ext uri="{FF2B5EF4-FFF2-40B4-BE49-F238E27FC236}">
                <a16:creationId xmlns:a16="http://schemas.microsoft.com/office/drawing/2014/main" id="{A7B17960-7FEA-3C44-9F5C-B38F41DF0CD3}"/>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V1: Titelfolie mit Bild</a:t>
            </a:r>
          </a:p>
        </p:txBody>
      </p:sp>
    </p:spTree>
    <p:extLst>
      <p:ext uri="{BB962C8B-B14F-4D97-AF65-F5344CB8AC3E}">
        <p14:creationId xmlns:p14="http://schemas.microsoft.com/office/powerpoint/2010/main" val="2756911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el - Text ">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740704DC-2971-A248-9827-94150E3D8746}"/>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V2: Titelfolie ohne Bild</a:t>
            </a:r>
          </a:p>
        </p:txBody>
      </p:sp>
    </p:spTree>
    <p:extLst>
      <p:ext uri="{BB962C8B-B14F-4D97-AF65-F5344CB8AC3E}">
        <p14:creationId xmlns:p14="http://schemas.microsoft.com/office/powerpoint/2010/main" val="1505704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Inhalt - Text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D7BD4116-72F8-7D4E-846E-4E9887F60C02}"/>
              </a:ext>
            </a:extLst>
          </p:cNvPr>
          <p:cNvSpPr>
            <a:spLocks noGrp="1"/>
          </p:cNvSpPr>
          <p:nvPr>
            <p:ph type="body" sz="quarter" idx="18" hasCustomPrompt="1"/>
          </p:nvPr>
        </p:nvSpPr>
        <p:spPr>
          <a:xfrm>
            <a:off x="550800" y="3175200"/>
            <a:ext cx="9721850" cy="2124075"/>
          </a:xfrm>
          <a:prstGeom prst="rect">
            <a:avLst/>
          </a:prstGeom>
        </p:spPr>
        <p:txBody>
          <a:bodyPr lIns="0" t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Textplatzhalter 2">
            <a:extLst>
              <a:ext uri="{FF2B5EF4-FFF2-40B4-BE49-F238E27FC236}">
                <a16:creationId xmlns:a16="http://schemas.microsoft.com/office/drawing/2014/main" id="{9DAAF3EE-A5B2-F647-838D-0DFAACB4D556}"/>
              </a:ext>
            </a:extLst>
          </p:cNvPr>
          <p:cNvSpPr>
            <a:spLocks noGrp="1"/>
          </p:cNvSpPr>
          <p:nvPr>
            <p:ph type="body" sz="quarter" idx="17" hasCustomPrompt="1"/>
          </p:nvPr>
        </p:nvSpPr>
        <p:spPr>
          <a:xfrm>
            <a:off x="550800" y="1371600"/>
            <a:ext cx="9721850" cy="1526370"/>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endParaRPr lang="de-DE" dirty="0"/>
          </a:p>
        </p:txBody>
      </p:sp>
      <p:sp>
        <p:nvSpPr>
          <p:cNvPr id="7" name="Textplatzhalter 17">
            <a:extLst>
              <a:ext uri="{FF2B5EF4-FFF2-40B4-BE49-F238E27FC236}">
                <a16:creationId xmlns:a16="http://schemas.microsoft.com/office/drawing/2014/main" id="{5B12DAD6-93EF-5042-858F-4BB3334F107E}"/>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1431473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Inhalt - Bild und Text">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55FA8C39-046E-E34F-8E80-7B9D099D728B}"/>
              </a:ext>
            </a:extLst>
          </p:cNvPr>
          <p:cNvSpPr>
            <a:spLocks noGrp="1"/>
          </p:cNvSpPr>
          <p:nvPr>
            <p:ph type="body" sz="quarter" idx="18" hasCustomPrompt="1"/>
          </p:nvPr>
        </p:nvSpPr>
        <p:spPr>
          <a:xfrm>
            <a:off x="6519600" y="1382400"/>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br>
              <a:rPr lang="de-DE" dirty="0"/>
            </a:b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br>
              <a:rPr lang="de-DE" dirty="0"/>
            </a:br>
            <a:r>
              <a:rPr lang="de-DE" dirty="0"/>
              <a:t>sanctus </a:t>
            </a:r>
            <a:r>
              <a:rPr lang="de-DE" dirty="0" err="1"/>
              <a:t>est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Lorem</a:t>
            </a:r>
            <a:r>
              <a:rPr lang="de-DE" dirty="0"/>
              <a:t> </a:t>
            </a:r>
            <a:r>
              <a:rPr lang="de-DE" dirty="0" err="1"/>
              <a:t>ipsum</a:t>
            </a:r>
            <a:endParaRPr lang="de-DE" dirty="0"/>
          </a:p>
        </p:txBody>
      </p:sp>
      <p:sp>
        <p:nvSpPr>
          <p:cNvPr id="6" name="Bildplatzhalter 2">
            <a:extLst>
              <a:ext uri="{FF2B5EF4-FFF2-40B4-BE49-F238E27FC236}">
                <a16:creationId xmlns:a16="http://schemas.microsoft.com/office/drawing/2014/main" id="{8BAC5633-896E-0F44-8840-CC87B5BE7045}"/>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B97D328-84F0-2C4A-BBAB-1E79CDFE9BBF}"/>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664388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Inhalt - Bild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9278302A-602E-374F-9D64-8FCFB4DC60C0}"/>
              </a:ext>
            </a:extLst>
          </p:cNvPr>
          <p:cNvSpPr>
            <a:spLocks noGrp="1"/>
          </p:cNvSpPr>
          <p:nvPr>
            <p:ph type="body" sz="quarter" idx="18" hasCustomPrompt="1"/>
          </p:nvPr>
        </p:nvSpPr>
        <p:spPr>
          <a:xfrm>
            <a:off x="6519600" y="1364399"/>
            <a:ext cx="3981600" cy="4111200"/>
          </a:xfrm>
          <a:prstGeom prst="rect">
            <a:avLst/>
          </a:prstGeom>
        </p:spPr>
        <p:txBody>
          <a:bodyPr lIns="0" tIns="0" rIns="0" b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Bildplatzhalter 2">
            <a:extLst>
              <a:ext uri="{FF2B5EF4-FFF2-40B4-BE49-F238E27FC236}">
                <a16:creationId xmlns:a16="http://schemas.microsoft.com/office/drawing/2014/main" id="{07DD2921-214D-B547-93DD-EB9D2A99CCEE}"/>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6E90AC2-BC99-614A-AF4F-584EF9915C55}"/>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32764340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theme" Target="../theme/theme2.xml"/><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image" Target="../media/image4.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hteck 4">
            <a:extLst>
              <a:ext uri="{FF2B5EF4-FFF2-40B4-BE49-F238E27FC236}">
                <a16:creationId xmlns:a16="http://schemas.microsoft.com/office/drawing/2014/main" id="{B97C5655-F240-634C-9B7B-B6181A1B3AF5}"/>
              </a:ext>
            </a:extLst>
          </p:cNvPr>
          <p:cNvSpPr/>
          <p:nvPr userDrawn="1"/>
        </p:nvSpPr>
        <p:spPr>
          <a:xfrm>
            <a:off x="0" y="1668462"/>
            <a:ext cx="12192000" cy="5189537"/>
          </a:xfrm>
          <a:custGeom>
            <a:avLst/>
            <a:gdLst>
              <a:gd name="connsiteX0" fmla="*/ 0 w 12192000"/>
              <a:gd name="connsiteY0" fmla="*/ 0 h 4760912"/>
              <a:gd name="connsiteX1" fmla="*/ 12192000 w 12192000"/>
              <a:gd name="connsiteY1" fmla="*/ 0 h 4760912"/>
              <a:gd name="connsiteX2" fmla="*/ 12192000 w 12192000"/>
              <a:gd name="connsiteY2" fmla="*/ 4760912 h 4760912"/>
              <a:gd name="connsiteX3" fmla="*/ 0 w 12192000"/>
              <a:gd name="connsiteY3" fmla="*/ 4760912 h 4760912"/>
              <a:gd name="connsiteX4" fmla="*/ 0 w 12192000"/>
              <a:gd name="connsiteY4" fmla="*/ 0 h 4760912"/>
              <a:gd name="connsiteX0" fmla="*/ 0 w 12192000"/>
              <a:gd name="connsiteY0" fmla="*/ 212725 h 4973637"/>
              <a:gd name="connsiteX1" fmla="*/ 12192000 w 12192000"/>
              <a:gd name="connsiteY1" fmla="*/ 0 h 4973637"/>
              <a:gd name="connsiteX2" fmla="*/ 12192000 w 12192000"/>
              <a:gd name="connsiteY2" fmla="*/ 4973637 h 4973637"/>
              <a:gd name="connsiteX3" fmla="*/ 0 w 12192000"/>
              <a:gd name="connsiteY3" fmla="*/ 4973637 h 4973637"/>
              <a:gd name="connsiteX4" fmla="*/ 0 w 12192000"/>
              <a:gd name="connsiteY4" fmla="*/ 212725 h 4973637"/>
              <a:gd name="connsiteX0" fmla="*/ 0 w 12192000"/>
              <a:gd name="connsiteY0" fmla="*/ 428625 h 5189537"/>
              <a:gd name="connsiteX1" fmla="*/ 12192000 w 12192000"/>
              <a:gd name="connsiteY1" fmla="*/ 0 h 5189537"/>
              <a:gd name="connsiteX2" fmla="*/ 12192000 w 12192000"/>
              <a:gd name="connsiteY2" fmla="*/ 5189537 h 5189537"/>
              <a:gd name="connsiteX3" fmla="*/ 0 w 12192000"/>
              <a:gd name="connsiteY3" fmla="*/ 5189537 h 5189537"/>
              <a:gd name="connsiteX4" fmla="*/ 0 w 12192000"/>
              <a:gd name="connsiteY4" fmla="*/ 428625 h 5189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89537">
                <a:moveTo>
                  <a:pt x="0" y="428625"/>
                </a:moveTo>
                <a:lnTo>
                  <a:pt x="12192000" y="0"/>
                </a:lnTo>
                <a:lnTo>
                  <a:pt x="12192000" y="5189537"/>
                </a:lnTo>
                <a:lnTo>
                  <a:pt x="0" y="5189537"/>
                </a:lnTo>
                <a:lnTo>
                  <a:pt x="0" y="42862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a:extLst>
              <a:ext uri="{FF2B5EF4-FFF2-40B4-BE49-F238E27FC236}">
                <a16:creationId xmlns:a16="http://schemas.microsoft.com/office/drawing/2014/main" id="{F8DDEEBD-D00D-1249-9E02-EDC0548BFCAC}"/>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9388168" y="378741"/>
            <a:ext cx="2250000" cy="774000"/>
          </a:xfrm>
          <a:prstGeom prst="rect">
            <a:avLst/>
          </a:prstGeom>
        </p:spPr>
      </p:pic>
      <p:sp>
        <p:nvSpPr>
          <p:cNvPr id="4" name="Textfeld 3">
            <a:extLst>
              <a:ext uri="{FF2B5EF4-FFF2-40B4-BE49-F238E27FC236}">
                <a16:creationId xmlns:a16="http://schemas.microsoft.com/office/drawing/2014/main" id="{0D20A730-187A-274D-A0E6-8412686F8775}"/>
              </a:ext>
            </a:extLst>
          </p:cNvPr>
          <p:cNvSpPr txBox="1"/>
          <p:nvPr userDrawn="1"/>
        </p:nvSpPr>
        <p:spPr>
          <a:xfrm>
            <a:off x="12292755" y="5534561"/>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Titelseiten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Direkt auf dieser Folie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Tree>
    <p:extLst>
      <p:ext uri="{BB962C8B-B14F-4D97-AF65-F5344CB8AC3E}">
        <p14:creationId xmlns:p14="http://schemas.microsoft.com/office/powerpoint/2010/main" val="3079698843"/>
      </p:ext>
    </p:extLst>
  </p:cSld>
  <p:clrMap bg1="lt1" tx1="dk1" bg2="lt2" tx2="dk2" accent1="accent1" accent2="accent2" accent3="accent3" accent4="accent4" accent5="accent5" accent6="accent6" hlink="hlink" folHlink="folHlink"/>
  <p:sldLayoutIdLst>
    <p:sldLayoutId id="2147483714" r:id="rId1"/>
    <p:sldLayoutId id="2147483713" r:id="rId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347" userDrawn="1">
          <p15:clr>
            <a:srgbClr val="F26B43"/>
          </p15:clr>
        </p15:guide>
        <p15:guide id="2" pos="7333" userDrawn="1">
          <p15:clr>
            <a:srgbClr val="F26B43"/>
          </p15:clr>
        </p15:guide>
        <p15:guide id="3" orient="horz" pos="346" userDrawn="1">
          <p15:clr>
            <a:srgbClr val="F26B43"/>
          </p15:clr>
        </p15:guide>
        <p15:guide id="4" pos="1232" userDrawn="1">
          <p15:clr>
            <a:srgbClr val="F26B43"/>
          </p15:clr>
        </p15:guide>
        <p15:guide id="5" orient="horz" pos="3974" userDrawn="1">
          <p15:clr>
            <a:srgbClr val="F26B43"/>
          </p15:clr>
        </p15:guide>
        <p15:guide id="6" orient="horz" pos="663" userDrawn="1">
          <p15:clr>
            <a:srgbClr val="F26B43"/>
          </p15:clr>
        </p15:guide>
        <p15:guide id="7" orient="horz" pos="1003" userDrawn="1">
          <p15:clr>
            <a:srgbClr val="F26B43"/>
          </p15:clr>
        </p15:guide>
        <p15:guide id="8" orient="horz" pos="1321" userDrawn="1">
          <p15:clr>
            <a:srgbClr val="F26B43"/>
          </p15:clr>
        </p15:guide>
        <p15:guide id="9" orient="horz" pos="1661" userDrawn="1">
          <p15:clr>
            <a:srgbClr val="F26B43"/>
          </p15:clr>
        </p15:guide>
        <p15:guide id="10" orient="horz" pos="2001" userDrawn="1">
          <p15:clr>
            <a:srgbClr val="F26B43"/>
          </p15:clr>
        </p15:guide>
        <p15:guide id="11" orient="horz" pos="3339" userDrawn="1">
          <p15:clr>
            <a:srgbClr val="F26B43"/>
          </p15:clr>
        </p15:guide>
        <p15:guide id="12" orient="horz" pos="2319" userDrawn="1">
          <p15:clr>
            <a:srgbClr val="F26B43"/>
          </p15:clr>
        </p15:guide>
        <p15:guide id="13" orient="horz" pos="2999" userDrawn="1">
          <p15:clr>
            <a:srgbClr val="F26B43"/>
          </p15:clr>
        </p15:guide>
        <p15:guide id="14" orient="horz" pos="3657" userDrawn="1">
          <p15:clr>
            <a:srgbClr val="F26B43"/>
          </p15:clr>
        </p15:guide>
        <p15:guide id="15" orient="horz" pos="2659" userDrawn="1">
          <p15:clr>
            <a:srgbClr val="F26B43"/>
          </p15:clr>
        </p15:guide>
        <p15:guide id="16" pos="2094" userDrawn="1">
          <p15:clr>
            <a:srgbClr val="F26B43"/>
          </p15:clr>
        </p15:guide>
        <p15:guide id="17" pos="2978" userDrawn="1">
          <p15:clr>
            <a:srgbClr val="F26B43"/>
          </p15:clr>
        </p15:guide>
        <p15:guide id="18" pos="3840" userDrawn="1">
          <p15:clr>
            <a:srgbClr val="F26B43"/>
          </p15:clr>
        </p15:guide>
        <p15:guide id="19" pos="4725" userDrawn="1">
          <p15:clr>
            <a:srgbClr val="F26B43"/>
          </p15:clr>
        </p15:guide>
        <p15:guide id="20" pos="5586" userDrawn="1">
          <p15:clr>
            <a:srgbClr val="F26B43"/>
          </p15:clr>
        </p15:guide>
        <p15:guide id="21" pos="647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1">
            <a:extLst>
              <a:ext uri="{FF2B5EF4-FFF2-40B4-BE49-F238E27FC236}">
                <a16:creationId xmlns:a16="http://schemas.microsoft.com/office/drawing/2014/main" id="{48266648-C51B-EA45-AE41-AF74B0A4657C}"/>
              </a:ext>
            </a:extLst>
          </p:cNvPr>
          <p:cNvSpPr/>
          <p:nvPr userDrawn="1"/>
        </p:nvSpPr>
        <p:spPr>
          <a:xfrm>
            <a:off x="0" y="5748124"/>
            <a:ext cx="12195175" cy="1109875"/>
          </a:xfrm>
          <a:custGeom>
            <a:avLst/>
            <a:gdLst>
              <a:gd name="connsiteX0" fmla="*/ 0 w 12192000"/>
              <a:gd name="connsiteY0" fmla="*/ 0 h 687600"/>
              <a:gd name="connsiteX1" fmla="*/ 12192000 w 12192000"/>
              <a:gd name="connsiteY1" fmla="*/ 0 h 687600"/>
              <a:gd name="connsiteX2" fmla="*/ 12192000 w 12192000"/>
              <a:gd name="connsiteY2" fmla="*/ 687600 h 687600"/>
              <a:gd name="connsiteX3" fmla="*/ 0 w 12192000"/>
              <a:gd name="connsiteY3" fmla="*/ 687600 h 687600"/>
              <a:gd name="connsiteX4" fmla="*/ 0 w 12192000"/>
              <a:gd name="connsiteY4" fmla="*/ 0 h 687600"/>
              <a:gd name="connsiteX0" fmla="*/ 0 w 12195175"/>
              <a:gd name="connsiteY0" fmla="*/ 422275 h 1109875"/>
              <a:gd name="connsiteX1" fmla="*/ 12195175 w 12195175"/>
              <a:gd name="connsiteY1" fmla="*/ 0 h 1109875"/>
              <a:gd name="connsiteX2" fmla="*/ 12192000 w 12195175"/>
              <a:gd name="connsiteY2" fmla="*/ 1109875 h 1109875"/>
              <a:gd name="connsiteX3" fmla="*/ 0 w 12195175"/>
              <a:gd name="connsiteY3" fmla="*/ 1109875 h 1109875"/>
              <a:gd name="connsiteX4" fmla="*/ 0 w 12195175"/>
              <a:gd name="connsiteY4" fmla="*/ 422275 h 1109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5175" h="1109875">
                <a:moveTo>
                  <a:pt x="0" y="422275"/>
                </a:moveTo>
                <a:lnTo>
                  <a:pt x="12195175" y="0"/>
                </a:lnTo>
                <a:cubicBezTo>
                  <a:pt x="12194117" y="369958"/>
                  <a:pt x="12193058" y="739917"/>
                  <a:pt x="12192000" y="1109875"/>
                </a:cubicBezTo>
                <a:lnTo>
                  <a:pt x="0" y="1109875"/>
                </a:lnTo>
                <a:lnTo>
                  <a:pt x="0" y="42227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a:extLst>
              <a:ext uri="{FF2B5EF4-FFF2-40B4-BE49-F238E27FC236}">
                <a16:creationId xmlns:a16="http://schemas.microsoft.com/office/drawing/2014/main" id="{90A395C2-361B-A14B-9312-A16F3F6780AF}"/>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614598" y="378000"/>
            <a:ext cx="1004400" cy="766068"/>
          </a:xfrm>
          <a:prstGeom prst="rect">
            <a:avLst/>
          </a:prstGeom>
        </p:spPr>
      </p:pic>
      <p:sp>
        <p:nvSpPr>
          <p:cNvPr id="12" name="Textfeld 11">
            <a:extLst>
              <a:ext uri="{FF2B5EF4-FFF2-40B4-BE49-F238E27FC236}">
                <a16:creationId xmlns:a16="http://schemas.microsoft.com/office/drawing/2014/main" id="{427D4F0D-9351-B349-8187-43002862F183}"/>
              </a:ext>
            </a:extLst>
          </p:cNvPr>
          <p:cNvSpPr txBox="1"/>
          <p:nvPr userDrawn="1"/>
        </p:nvSpPr>
        <p:spPr>
          <a:xfrm>
            <a:off x="12292755" y="5612990"/>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Folgeseiten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Folienmaster &gt; Nr. 2 bearbeiten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
        <p:nvSpPr>
          <p:cNvPr id="13" name="Textfeld 12">
            <a:extLst>
              <a:ext uri="{FF2B5EF4-FFF2-40B4-BE49-F238E27FC236}">
                <a16:creationId xmlns:a16="http://schemas.microsoft.com/office/drawing/2014/main" id="{B91FA75A-4E02-534F-A661-8216932850DD}"/>
              </a:ext>
            </a:extLst>
          </p:cNvPr>
          <p:cNvSpPr txBox="1"/>
          <p:nvPr userDrawn="1"/>
        </p:nvSpPr>
        <p:spPr>
          <a:xfrm>
            <a:off x="-2243920" y="6474756"/>
            <a:ext cx="2223344" cy="400110"/>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Informationen in Fußzeile ändern:</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Folienmaster &gt; Nr. 2 bearbeiten</a:t>
            </a:r>
          </a:p>
        </p:txBody>
      </p:sp>
    </p:spTree>
    <p:extLst>
      <p:ext uri="{BB962C8B-B14F-4D97-AF65-F5344CB8AC3E}">
        <p14:creationId xmlns:p14="http://schemas.microsoft.com/office/powerpoint/2010/main" val="3907247464"/>
      </p:ext>
    </p:extLst>
  </p:cSld>
  <p:clrMap bg1="lt1" tx1="dk1" bg2="lt2" tx2="dk2" accent1="accent1" accent2="accent2" accent3="accent3" accent4="accent4" accent5="accent5" accent6="accent6" hlink="hlink" folHlink="folHlink"/>
  <p:sldLayoutIdLst>
    <p:sldLayoutId id="2147483707" r:id="rId1"/>
    <p:sldLayoutId id="2147483711" r:id="rId2"/>
    <p:sldLayoutId id="2147483712"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hyperlink" Target="https://arxiv.org/abs/2606.04193" TargetMode="External"/><Relationship Id="rId4" Type="http://schemas.openxmlformats.org/officeDocument/2006/relationships/hyperlink" Target="https://www.ietf.org/archive/id/draft-tsyrulnikov-rats-attested-inference-receipt-02.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150" b="0" lang="en-US">
                <a:solidFill>
                  <a:srgbClr val="434343"/>
                </a:solidFill>
                <a:latin typeface="Arial"/>
              </a:rPr>
              <a:t>Two scopes of evidence, one verified tool result</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CURRENT VITA-FL IMPLEMENTATION</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100584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Variant C</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Rectangle 7"/>
          <p:cNvSpPr/>
          <p:nvPr/>
        </p:nvSpPr>
        <p:spPr>
          <a:xfrm>
            <a:off x="0" y="5733288"/>
            <a:ext cx="12191999" cy="39319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2"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sp>
        <p:nvSpPr>
          <p:cNvPr id="14" name="Sello AIR: Sello covers the tool call; AIR binds its model, input and result."/>
          <p:cNvSpPr txBox="1"/>
          <p:nvPr/>
        </p:nvSpPr>
        <p:spPr>
          <a:xfrm>
            <a:off x="621792" y="1344168"/>
            <a:ext cx="10936224" cy="466344"/>
          </a:xfrm>
          <a:prstGeom prst="rect">
            <a:avLst/>
          </a:prstGeom>
          <a:noFill/>
        </p:spPr>
        <p:txBody>
          <a:bodyPr wrap="square" lIns="0" rIns="0" tIns="0" bIns="0" anchor="ctr">
            <a:spAutoFit/>
          </a:bodyPr>
          <a:lstStyle/>
          <a:p>
            <a:pPr algn="l"/>
            <a:r>
              <a:rPr sz="1900" b="0" lang="en-US">
                <a:solidFill>
                  <a:srgbClr val="263440"/>
                </a:solidFill>
                <a:latin typeface="Arial"/>
              </a:rPr>
              <a:t>Sello covers the tool call; AIR binds its model, input and result.</a:t>
            </a:r>
          </a:p>
        </p:txBody>
      </p:sp>
      <p:sp>
        <p:nvSpPr>
          <p:cNvPr id="15" name="Rounded Rectangle 14"/>
          <p:cNvSpPr/>
          <p:nvPr/>
        </p:nvSpPr>
        <p:spPr>
          <a:xfrm>
            <a:off x="630936" y="1874519"/>
            <a:ext cx="10917936" cy="2880360"/>
          </a:xfrm>
          <a:prstGeom prst="roundRect">
            <a:avLst/>
          </a:prstGeom>
          <a:solidFill>
            <a:srgbClr val="FFFFFF"/>
          </a:solidFill>
          <a:ln w="21590">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2104" y="2002536"/>
            <a:ext cx="3172968" cy="292608"/>
          </a:xfrm>
          <a:prstGeom prst="rect">
            <a:avLst/>
          </a:prstGeom>
          <a:solidFill>
            <a:srgbClr val="1764A1"/>
          </a:solidFill>
          <a:ln>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ello AIR: SELLO  /  TOOL INTERACTION"/>
          <p:cNvSpPr txBox="1"/>
          <p:nvPr/>
        </p:nvSpPr>
        <p:spPr>
          <a:xfrm>
            <a:off x="896112" y="2016252"/>
            <a:ext cx="3044952" cy="265176"/>
          </a:xfrm>
          <a:prstGeom prst="rect">
            <a:avLst/>
          </a:prstGeom>
          <a:noFill/>
        </p:spPr>
        <p:txBody>
          <a:bodyPr wrap="square" lIns="0" rIns="0" tIns="0" bIns="0" anchor="ctr">
            <a:spAutoFit/>
          </a:bodyPr>
          <a:lstStyle/>
          <a:p>
            <a:pPr algn="ctr"/>
            <a:r>
              <a:rPr sz="1400" b="1" lang="en-US">
                <a:solidFill>
                  <a:srgbClr val="FFFFFF"/>
                </a:solidFill>
                <a:latin typeface="Arial"/>
              </a:rPr>
              <a:t>SELLO  /  TOOL INTERACTION</a:t>
            </a:r>
          </a:p>
        </p:txBody>
      </p:sp>
      <p:sp>
        <p:nvSpPr>
          <p:cNvPr id="18" name="Sello AIR: Scopes of evidence — separate receipts"/>
          <p:cNvSpPr txBox="1"/>
          <p:nvPr/>
        </p:nvSpPr>
        <p:spPr>
          <a:xfrm>
            <a:off x="7232904" y="1993392"/>
            <a:ext cx="4096512" cy="301752"/>
          </a:xfrm>
          <a:prstGeom prst="rect">
            <a:avLst/>
          </a:prstGeom>
          <a:noFill/>
        </p:spPr>
        <p:txBody>
          <a:bodyPr wrap="square" lIns="0" rIns="0" tIns="0" bIns="0" anchor="ctr">
            <a:spAutoFit/>
          </a:bodyPr>
          <a:lstStyle/>
          <a:p>
            <a:pPr algn="l"/>
            <a:r>
              <a:rPr sz="1400" b="0" lang="en-US">
                <a:solidFill>
                  <a:srgbClr val="67747C"/>
                </a:solidFill>
                <a:latin typeface="Arial"/>
              </a:rPr>
              <a:t>Scopes of evidence — separate receipts</a:t>
            </a:r>
          </a:p>
        </p:txBody>
      </p:sp>
      <p:sp>
        <p:nvSpPr>
          <p:cNvPr id="19" name="Sello AIR: Who may call?"/>
          <p:cNvSpPr txBox="1"/>
          <p:nvPr/>
        </p:nvSpPr>
        <p:spPr>
          <a:xfrm>
            <a:off x="850392" y="2551176"/>
            <a:ext cx="1956816" cy="310896"/>
          </a:xfrm>
          <a:prstGeom prst="rect">
            <a:avLst/>
          </a:prstGeom>
          <a:noFill/>
        </p:spPr>
        <p:txBody>
          <a:bodyPr wrap="square" lIns="0" rIns="0" tIns="0" bIns="0" anchor="ctr">
            <a:spAutoFit/>
          </a:bodyPr>
          <a:lstStyle/>
          <a:p>
            <a:pPr algn="l"/>
            <a:r>
              <a:rPr sz="1800" b="1" lang="en-US">
                <a:solidFill>
                  <a:srgbClr val="1764A1"/>
                </a:solidFill>
                <a:latin typeface="Arial"/>
              </a:rPr>
              <a:t>Who may call?</a:t>
            </a:r>
          </a:p>
        </p:txBody>
      </p:sp>
      <p:sp>
        <p:nvSpPr>
          <p:cNvPr id="20" name="Sello AIR: mTLS + signed token"/>
          <p:cNvSpPr txBox="1"/>
          <p:nvPr/>
        </p:nvSpPr>
        <p:spPr>
          <a:xfrm>
            <a:off x="850392" y="2980944"/>
            <a:ext cx="1947672" cy="539496"/>
          </a:xfrm>
          <a:prstGeom prst="rect">
            <a:avLst/>
          </a:prstGeom>
          <a:noFill/>
        </p:spPr>
        <p:txBody>
          <a:bodyPr wrap="square" lIns="0" rIns="0" tIns="0" bIns="0" anchor="ctr">
            <a:spAutoFit/>
          </a:bodyPr>
          <a:lstStyle/>
          <a:p>
            <a:pPr algn="l"/>
            <a:r>
              <a:rPr sz="1700" b="1" lang="en-US">
                <a:solidFill>
                  <a:srgbClr val="263440"/>
                </a:solidFill>
                <a:latin typeface="Arial"/>
              </a:rPr>
              <a:t>mTLS + signed token</a:t>
            </a:r>
          </a:p>
        </p:txBody>
      </p:sp>
      <p:sp>
        <p:nvSpPr>
          <p:cNvPr id="21" name="Sello AIR: Identity + scope / Certificate / Expiry · job owner"/>
          <p:cNvSpPr txBox="1"/>
          <p:nvPr/>
        </p:nvSpPr>
        <p:spPr>
          <a:xfrm>
            <a:off x="850392" y="3602736"/>
            <a:ext cx="1965960" cy="877824"/>
          </a:xfrm>
          <a:prstGeom prst="rect">
            <a:avLst/>
          </a:prstGeom>
          <a:noFill/>
        </p:spPr>
        <p:txBody>
          <a:bodyPr wrap="square" lIns="0" rIns="0" tIns="0" bIns="0" anchor="ctr">
            <a:spAutoFit/>
          </a:bodyPr>
          <a:lstStyle/>
          <a:p>
            <a:pPr algn="l"/>
            <a:r>
              <a:rPr sz="1550" b="0" lang="en-US">
                <a:solidFill>
                  <a:srgbClr val="263440"/>
                </a:solidFill>
                <a:latin typeface="Arial"/>
              </a:rPr>
              <a:t>Identity + scope
Certificate
Expiry · job owner</a:t>
            </a:r>
          </a:p>
        </p:txBody>
      </p:sp>
      <p:cxnSp>
        <p:nvCxnSpPr>
          <p:cNvPr id="22" name="Connector 21"/>
          <p:cNvCxnSpPr/>
          <p:nvPr/>
        </p:nvCxnSpPr>
        <p:spPr>
          <a:xfrm>
            <a:off x="2798064" y="3410712"/>
            <a:ext cx="146304" cy="0"/>
          </a:xfrm>
          <a:prstGeom prst="line">
            <a:avLst/>
          </a:prstGeom>
          <a:ln w="2286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2971800" y="2432304"/>
            <a:ext cx="5495544" cy="2167128"/>
          </a:xfrm>
          <a:prstGeom prst="roundRect">
            <a:avLst/>
          </a:prstGeom>
          <a:solidFill>
            <a:srgbClr val="EDF6F0"/>
          </a:solidFill>
          <a:ln w="1905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ello AIR: AIR  /  NUMERIC INFERENCE"/>
          <p:cNvSpPr txBox="1"/>
          <p:nvPr/>
        </p:nvSpPr>
        <p:spPr>
          <a:xfrm>
            <a:off x="3154680" y="2569464"/>
            <a:ext cx="5129784" cy="301752"/>
          </a:xfrm>
          <a:prstGeom prst="rect">
            <a:avLst/>
          </a:prstGeom>
          <a:noFill/>
        </p:spPr>
        <p:txBody>
          <a:bodyPr wrap="square" lIns="0" rIns="0" tIns="0" bIns="0" anchor="ctr">
            <a:spAutoFit/>
          </a:bodyPr>
          <a:lstStyle/>
          <a:p>
            <a:pPr algn="l"/>
            <a:r>
              <a:rPr sz="1700" b="1" lang="en-US">
                <a:solidFill>
                  <a:srgbClr val="207548"/>
                </a:solidFill>
                <a:latin typeface="Arial"/>
              </a:rPr>
              <a:t>AIR  /  NUMERIC INFERENCE</a:t>
            </a:r>
          </a:p>
        </p:txBody>
      </p:sp>
      <p:sp>
        <p:nvSpPr>
          <p:cNvPr id="25" name="Rounded Rectangle 24"/>
          <p:cNvSpPr/>
          <p:nvPr/>
        </p:nvSpPr>
        <p:spPr>
          <a:xfrm>
            <a:off x="3154680" y="2962656"/>
            <a:ext cx="1481328" cy="384048"/>
          </a:xfrm>
          <a:prstGeom prst="roundRect">
            <a:avLst/>
          </a:prstGeom>
          <a:solidFill>
            <a:srgbClr val="FFFFFF"/>
          </a:solidFill>
          <a:ln w="1143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ello AIR: Model"/>
          <p:cNvSpPr txBox="1"/>
          <p:nvPr/>
        </p:nvSpPr>
        <p:spPr>
          <a:xfrm>
            <a:off x="3191256" y="2999232"/>
            <a:ext cx="1408176" cy="292608"/>
          </a:xfrm>
          <a:prstGeom prst="rect">
            <a:avLst/>
          </a:prstGeom>
          <a:noFill/>
        </p:spPr>
        <p:txBody>
          <a:bodyPr wrap="square" lIns="0" rIns="0" tIns="0" bIns="0" anchor="ctr">
            <a:spAutoFit/>
          </a:bodyPr>
          <a:lstStyle/>
          <a:p>
            <a:pPr algn="ctr"/>
            <a:r>
              <a:rPr sz="1700" b="1" lang="en-US">
                <a:solidFill>
                  <a:srgbClr val="207548"/>
                </a:solidFill>
                <a:latin typeface="Arial"/>
              </a:rPr>
              <a:t>Model</a:t>
            </a:r>
          </a:p>
        </p:txBody>
      </p:sp>
      <p:sp>
        <p:nvSpPr>
          <p:cNvPr id="27" name="Rounded Rectangle 26"/>
          <p:cNvSpPr/>
          <p:nvPr/>
        </p:nvSpPr>
        <p:spPr>
          <a:xfrm>
            <a:off x="4928616" y="2962656"/>
            <a:ext cx="1481328" cy="384048"/>
          </a:xfrm>
          <a:prstGeom prst="roundRect">
            <a:avLst/>
          </a:prstGeom>
          <a:solidFill>
            <a:srgbClr val="FFFFFF"/>
          </a:solidFill>
          <a:ln w="1143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ello AIR: Input"/>
          <p:cNvSpPr txBox="1"/>
          <p:nvPr/>
        </p:nvSpPr>
        <p:spPr>
          <a:xfrm>
            <a:off x="4965192" y="2999232"/>
            <a:ext cx="1408176" cy="292608"/>
          </a:xfrm>
          <a:prstGeom prst="rect">
            <a:avLst/>
          </a:prstGeom>
          <a:noFill/>
        </p:spPr>
        <p:txBody>
          <a:bodyPr wrap="square" lIns="0" rIns="0" tIns="0" bIns="0" anchor="ctr">
            <a:spAutoFit/>
          </a:bodyPr>
          <a:lstStyle/>
          <a:p>
            <a:pPr algn="ctr"/>
            <a:r>
              <a:rPr sz="1700" b="1" lang="en-US">
                <a:solidFill>
                  <a:srgbClr val="207548"/>
                </a:solidFill>
                <a:latin typeface="Arial"/>
              </a:rPr>
              <a:t>Input</a:t>
            </a:r>
          </a:p>
        </p:txBody>
      </p:sp>
      <p:sp>
        <p:nvSpPr>
          <p:cNvPr id="29" name="Rounded Rectangle 28"/>
          <p:cNvSpPr/>
          <p:nvPr/>
        </p:nvSpPr>
        <p:spPr>
          <a:xfrm>
            <a:off x="6702552" y="2962656"/>
            <a:ext cx="1572768" cy="384048"/>
          </a:xfrm>
          <a:prstGeom prst="roundRect">
            <a:avLst/>
          </a:prstGeom>
          <a:solidFill>
            <a:srgbClr val="FFFFFF"/>
          </a:solidFill>
          <a:ln w="11430">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ello AIR: Result"/>
          <p:cNvSpPr txBox="1"/>
          <p:nvPr/>
        </p:nvSpPr>
        <p:spPr>
          <a:xfrm>
            <a:off x="6739128" y="2999232"/>
            <a:ext cx="1499616" cy="292608"/>
          </a:xfrm>
          <a:prstGeom prst="rect">
            <a:avLst/>
          </a:prstGeom>
          <a:noFill/>
        </p:spPr>
        <p:txBody>
          <a:bodyPr wrap="square" lIns="0" rIns="0" tIns="0" bIns="0" anchor="ctr">
            <a:spAutoFit/>
          </a:bodyPr>
          <a:lstStyle/>
          <a:p>
            <a:pPr algn="ctr"/>
            <a:r>
              <a:rPr sz="1700" b="1" lang="en-US">
                <a:solidFill>
                  <a:srgbClr val="207548"/>
                </a:solidFill>
                <a:latin typeface="Arial"/>
              </a:rPr>
              <a:t>Result</a:t>
            </a:r>
          </a:p>
        </p:txBody>
      </p:sp>
      <p:cxnSp>
        <p:nvCxnSpPr>
          <p:cNvPr id="31" name="Connector 30"/>
          <p:cNvCxnSpPr/>
          <p:nvPr/>
        </p:nvCxnSpPr>
        <p:spPr>
          <a:xfrm>
            <a:off x="4645152" y="3154680"/>
            <a:ext cx="256032" cy="0"/>
          </a:xfrm>
          <a:prstGeom prst="line">
            <a:avLst/>
          </a:prstGeom>
          <a:ln w="1778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6419088" y="3154680"/>
            <a:ext cx="256032" cy="0"/>
          </a:xfrm>
          <a:prstGeom prst="line">
            <a:avLst/>
          </a:prstGeom>
          <a:ln w="17780">
            <a:solidFill>
              <a:srgbClr val="2075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Sello AIR: Signed hashes detect changed data"/>
          <p:cNvSpPr txBox="1"/>
          <p:nvPr/>
        </p:nvSpPr>
        <p:spPr>
          <a:xfrm>
            <a:off x="3154680" y="3456432"/>
            <a:ext cx="5129784" cy="329184"/>
          </a:xfrm>
          <a:prstGeom prst="rect">
            <a:avLst/>
          </a:prstGeom>
          <a:noFill/>
        </p:spPr>
        <p:txBody>
          <a:bodyPr wrap="square" lIns="0" rIns="0" tIns="0" bIns="0" anchor="ctr">
            <a:spAutoFit/>
          </a:bodyPr>
          <a:lstStyle/>
          <a:p>
            <a:pPr algn="l"/>
            <a:r>
              <a:rPr sz="1600" b="0" lang="en-US">
                <a:solidFill>
                  <a:srgbClr val="263440"/>
                </a:solidFill>
                <a:latin typeface="Arial"/>
              </a:rPr>
              <a:t>Signed hashes detect changed data</a:t>
            </a:r>
          </a:p>
        </p:txBody>
      </p:sp>
      <p:sp>
        <p:nvSpPr>
          <p:cNvPr id="34" name="Sello AIR: REPORTDATA binds key + model + input"/>
          <p:cNvSpPr txBox="1"/>
          <p:nvPr/>
        </p:nvSpPr>
        <p:spPr>
          <a:xfrm>
            <a:off x="3154680" y="3803904"/>
            <a:ext cx="5129784" cy="310896"/>
          </a:xfrm>
          <a:prstGeom prst="rect">
            <a:avLst/>
          </a:prstGeom>
          <a:noFill/>
        </p:spPr>
        <p:txBody>
          <a:bodyPr wrap="square" lIns="0" rIns="0" tIns="0" bIns="0" anchor="ctr">
            <a:spAutoFit/>
          </a:bodyPr>
          <a:lstStyle/>
          <a:p>
            <a:pPr algn="l"/>
            <a:r>
              <a:rPr sz="1550" b="0" lang="en-US">
                <a:solidFill>
                  <a:srgbClr val="263440"/>
                </a:solidFill>
                <a:latin typeface="Arial"/>
              </a:rPr>
              <a:t>REPORTDATA binds key + model + input</a:t>
            </a:r>
          </a:p>
        </p:txBody>
      </p:sp>
      <p:sp>
        <p:nvSpPr>
          <p:cNvPr id="35" name="Sello AIR: Replay RTMR3; match deployment policy"/>
          <p:cNvSpPr txBox="1"/>
          <p:nvPr/>
        </p:nvSpPr>
        <p:spPr>
          <a:xfrm>
            <a:off x="3154680" y="4151376"/>
            <a:ext cx="5129784" cy="310896"/>
          </a:xfrm>
          <a:prstGeom prst="rect">
            <a:avLst/>
          </a:prstGeom>
          <a:noFill/>
        </p:spPr>
        <p:txBody>
          <a:bodyPr wrap="square" lIns="0" rIns="0" tIns="0" bIns="0" anchor="ctr">
            <a:spAutoFit/>
          </a:bodyPr>
          <a:lstStyle/>
          <a:p>
            <a:pPr algn="l"/>
            <a:r>
              <a:rPr sz="1550" b="0" lang="en-US">
                <a:solidFill>
                  <a:srgbClr val="263440"/>
                </a:solidFill>
                <a:latin typeface="Arial"/>
              </a:rPr>
              <a:t>Replay RTMR3; match deployment policy</a:t>
            </a:r>
          </a:p>
        </p:txBody>
      </p:sp>
      <p:cxnSp>
        <p:nvCxnSpPr>
          <p:cNvPr id="36" name="Connector 35"/>
          <p:cNvCxnSpPr/>
          <p:nvPr/>
        </p:nvCxnSpPr>
        <p:spPr>
          <a:xfrm>
            <a:off x="8494776" y="3410712"/>
            <a:ext cx="173736" cy="0"/>
          </a:xfrm>
          <a:prstGeom prst="line">
            <a:avLst/>
          </a:prstGeom>
          <a:ln w="22860">
            <a:solidFill>
              <a:srgbClr val="1764A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Sello AIR: What was returned?"/>
          <p:cNvSpPr txBox="1"/>
          <p:nvPr/>
        </p:nvSpPr>
        <p:spPr>
          <a:xfrm>
            <a:off x="8723376" y="2551176"/>
            <a:ext cx="2596896" cy="310896"/>
          </a:xfrm>
          <a:prstGeom prst="rect">
            <a:avLst/>
          </a:prstGeom>
          <a:noFill/>
        </p:spPr>
        <p:txBody>
          <a:bodyPr wrap="square" lIns="0" rIns="0" tIns="0" bIns="0" anchor="ctr">
            <a:spAutoFit/>
          </a:bodyPr>
          <a:lstStyle/>
          <a:p>
            <a:pPr algn="l"/>
            <a:r>
              <a:rPr sz="1800" b="1" lang="en-US">
                <a:solidFill>
                  <a:srgbClr val="1764A1"/>
                </a:solidFill>
                <a:latin typeface="Arial"/>
              </a:rPr>
              <a:t>What was returned?</a:t>
            </a:r>
          </a:p>
        </p:txBody>
      </p:sp>
      <p:sp>
        <p:nvSpPr>
          <p:cNvPr id="38" name="Sello AIR: Receiver signs the receipt"/>
          <p:cNvSpPr txBox="1"/>
          <p:nvPr/>
        </p:nvSpPr>
        <p:spPr>
          <a:xfrm>
            <a:off x="8723376" y="2980944"/>
            <a:ext cx="2587752" cy="539496"/>
          </a:xfrm>
          <a:prstGeom prst="rect">
            <a:avLst/>
          </a:prstGeom>
          <a:noFill/>
        </p:spPr>
        <p:txBody>
          <a:bodyPr wrap="square" lIns="0" rIns="0" tIns="0" bIns="0" anchor="ctr">
            <a:spAutoFit/>
          </a:bodyPr>
          <a:lstStyle/>
          <a:p>
            <a:pPr algn="l"/>
            <a:r>
              <a:rPr sz="1700" b="1" lang="en-US">
                <a:solidFill>
                  <a:srgbClr val="263440"/>
                </a:solidFill>
                <a:latin typeface="Arial"/>
              </a:rPr>
              <a:t>Receiver signs the receipt</a:t>
            </a:r>
          </a:p>
        </p:txBody>
      </p:sp>
      <p:sp>
        <p:nvSpPr>
          <p:cNvPr id="39" name="Sello AIR: Action · I/O hashes / Token · status"/>
          <p:cNvSpPr txBox="1"/>
          <p:nvPr/>
        </p:nvSpPr>
        <p:spPr>
          <a:xfrm>
            <a:off x="8723376" y="3621024"/>
            <a:ext cx="2578608" cy="548640"/>
          </a:xfrm>
          <a:prstGeom prst="rect">
            <a:avLst/>
          </a:prstGeom>
          <a:noFill/>
        </p:spPr>
        <p:txBody>
          <a:bodyPr wrap="square" lIns="0" rIns="0" tIns="0" bIns="0" anchor="ctr">
            <a:spAutoFit/>
          </a:bodyPr>
          <a:lstStyle/>
          <a:p>
            <a:pPr algn="l"/>
            <a:r>
              <a:rPr sz="1550" b="0" lang="en-US">
                <a:solidFill>
                  <a:srgbClr val="263440"/>
                </a:solidFill>
                <a:latin typeface="Arial"/>
              </a:rPr>
              <a:t>Action · I/O hashes
Token · status</a:t>
            </a:r>
          </a:p>
        </p:txBody>
      </p:sp>
      <p:sp>
        <p:nvSpPr>
          <p:cNvPr id="40" name="Sello AIR: HPKE: owner only"/>
          <p:cNvSpPr txBox="1"/>
          <p:nvPr/>
        </p:nvSpPr>
        <p:spPr>
          <a:xfrm>
            <a:off x="8723376" y="4224528"/>
            <a:ext cx="2578608" cy="393192"/>
          </a:xfrm>
          <a:prstGeom prst="rect">
            <a:avLst/>
          </a:prstGeom>
          <a:noFill/>
        </p:spPr>
        <p:txBody>
          <a:bodyPr wrap="square" lIns="0" rIns="0" tIns="0" bIns="0" anchor="ctr">
            <a:spAutoFit/>
          </a:bodyPr>
          <a:lstStyle/>
          <a:p>
            <a:pPr algn="l"/>
            <a:r>
              <a:rPr sz="1550" b="1" lang="en-US">
                <a:solidFill>
                  <a:srgbClr val="1764A1"/>
                </a:solidFill>
                <a:latin typeface="Arial"/>
              </a:rPr>
              <a:t>HPKE: owner only</a:t>
            </a:r>
          </a:p>
        </p:txBody>
      </p:sp>
      <p:sp>
        <p:nvSpPr>
          <p:cNvPr id="41" name="Rounded Rectangle 40"/>
          <p:cNvSpPr/>
          <p:nvPr/>
        </p:nvSpPr>
        <p:spPr>
          <a:xfrm>
            <a:off x="630936" y="4910328"/>
            <a:ext cx="10917936" cy="576072"/>
          </a:xfrm>
          <a:prstGeom prst="roundRect">
            <a:avLst/>
          </a:prstGeom>
          <a:solidFill>
            <a:srgbClr val="F3EEF8"/>
          </a:solidFill>
          <a:ln w="13970">
            <a:solidFill>
              <a:srgbClr val="744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ello AIR: Log"/>
          <p:cNvSpPr txBox="1"/>
          <p:nvPr/>
        </p:nvSpPr>
        <p:spPr>
          <a:xfrm>
            <a:off x="813816" y="5020056"/>
            <a:ext cx="1298448" cy="292608"/>
          </a:xfrm>
          <a:prstGeom prst="rect">
            <a:avLst/>
          </a:prstGeom>
          <a:noFill/>
        </p:spPr>
        <p:txBody>
          <a:bodyPr wrap="square" lIns="0" rIns="0" tIns="0" bIns="0" anchor="ctr">
            <a:spAutoFit/>
          </a:bodyPr>
          <a:lstStyle/>
          <a:p>
            <a:pPr algn="l"/>
            <a:r>
              <a:rPr sz="1800" b="1" lang="en-US">
                <a:solidFill>
                  <a:srgbClr val="7446A6"/>
                </a:solidFill>
                <a:latin typeface="Arial"/>
              </a:rPr>
              <a:t>Log</a:t>
            </a:r>
          </a:p>
        </p:txBody>
      </p:sp>
      <p:sp>
        <p:nvSpPr>
          <p:cNvPr id="43" name="Sello AIR: Sello before reply  →  agent checks SCITT  →  AIR registered separately"/>
          <p:cNvSpPr txBox="1"/>
          <p:nvPr/>
        </p:nvSpPr>
        <p:spPr>
          <a:xfrm>
            <a:off x="2295144" y="4946904"/>
            <a:ext cx="9043416" cy="256032"/>
          </a:xfrm>
          <a:prstGeom prst="rect">
            <a:avLst/>
          </a:prstGeom>
          <a:noFill/>
        </p:spPr>
        <p:txBody>
          <a:bodyPr wrap="square" lIns="0" rIns="0" tIns="0" bIns="0" anchor="ctr">
            <a:spAutoFit/>
          </a:bodyPr>
          <a:lstStyle/>
          <a:p>
            <a:pPr algn="l"/>
            <a:r>
              <a:rPr sz="1600" b="0" lang="en-US">
                <a:solidFill>
                  <a:srgbClr val="263440"/>
                </a:solidFill>
                <a:latin typeface="Arial"/>
              </a:rPr>
              <a:t>Sello before reply  →  agent checks SCITT  →  AIR registered separately</a:t>
            </a:r>
          </a:p>
        </p:txBody>
      </p:sp>
      <p:sp>
        <p:nvSpPr>
          <p:cNvPr id="44" name="Sello AIR: HPKE protects the Sello receipt only; the AIR bundle includes plaintext input/output."/>
          <p:cNvSpPr txBox="1"/>
          <p:nvPr/>
        </p:nvSpPr>
        <p:spPr>
          <a:xfrm>
            <a:off x="2295144" y="5221224"/>
            <a:ext cx="9043416" cy="219456"/>
          </a:xfrm>
          <a:prstGeom prst="rect">
            <a:avLst/>
          </a:prstGeom>
          <a:noFill/>
        </p:spPr>
        <p:txBody>
          <a:bodyPr wrap="square" lIns="0" rIns="0" tIns="0" bIns="0" anchor="ctr">
            <a:spAutoFit/>
          </a:bodyPr>
          <a:lstStyle/>
          <a:p>
            <a:pPr algn="l"/>
            <a:r>
              <a:rPr sz="1350" b="0" lang="en-US">
                <a:solidFill>
                  <a:srgbClr val="67747C"/>
                </a:solidFill>
                <a:latin typeface="Arial"/>
              </a:rPr>
              <a:t>HPKE protects the Sello receipt only; the AIR bundle includes plaintext input/output.</a:t>
            </a:r>
          </a:p>
        </p:txBody>
      </p:sp>
      <p:sp>
        <p:nvSpPr>
          <p:cNvPr id="45" name="Sello AIR: Scope: per-inference Intel quote verification is absent; TEE trust relies on prior worker admission."/>
          <p:cNvSpPr txBox="1"/>
          <p:nvPr/>
        </p:nvSpPr>
        <p:spPr>
          <a:xfrm>
            <a:off x="630936" y="5568696"/>
            <a:ext cx="10936224" cy="265176"/>
          </a:xfrm>
          <a:prstGeom prst="rect">
            <a:avLst/>
          </a:prstGeom>
          <a:noFill/>
        </p:spPr>
        <p:txBody>
          <a:bodyPr wrap="square" lIns="0" rIns="0" tIns="0" bIns="0" anchor="ctr">
            <a:spAutoFit/>
          </a:bodyPr>
          <a:lstStyle/>
          <a:p>
            <a:pPr algn="l"/>
            <a:r>
              <a:rPr sz="1200" b="0" lang="en-US">
                <a:solidFill>
                  <a:srgbClr val="986021"/>
                </a:solidFill>
                <a:latin typeface="Arial"/>
              </a:rPr>
              <a:t>Scope: per-inference Intel quote verification is absent; TEE trust relies on prior worker admission.</a:t>
            </a:r>
          </a:p>
        </p:txBody>
      </p:sp>
      <p:sp>
        <p:nvSpPr>
          <p:cNvPr id="46" name="Sello AIR: Sello-inspired profile · Figuera (2026)"/>
          <p:cNvSpPr txBox="1"/>
          <p:nvPr/>
        </p:nvSpPr>
        <p:spPr>
          <a:xfrm>
            <a:off x="630936" y="5879592"/>
            <a:ext cx="5212080" cy="201168"/>
          </a:xfrm>
          <a:prstGeom prst="rect">
            <a:avLst/>
          </a:prstGeom>
          <a:noFill/>
        </p:spPr>
        <p:txBody>
          <a:bodyPr wrap="square" lIns="0" rIns="0" tIns="0" bIns="0" anchor="ctr">
            <a:spAutoFit/>
          </a:bodyPr>
          <a:lstStyle/>
          <a:p>
            <a:pPr algn="l"/>
            <a:r>
              <a:rPr sz="1000" b="0" lang="en-US">
                <a:solidFill>
                  <a:srgbClr val="67747C"/>
                </a:solidFill>
                <a:latin typeface="Arial"/>
                <a:hlinkClick r:id="rId3"/>
              </a:rPr>
              <a:t>Sello-inspired profile · Figuera (2026)</a:t>
            </a:r>
          </a:p>
        </p:txBody>
      </p:sp>
      <p:sp>
        <p:nvSpPr>
          <p:cNvPr id="47" name="Sello AIR: AIR-style profile · Tsyrulnikov, Internet-Draft 02 (2026)"/>
          <p:cNvSpPr txBox="1"/>
          <p:nvPr/>
        </p:nvSpPr>
        <p:spPr>
          <a:xfrm>
            <a:off x="5943600" y="5879592"/>
            <a:ext cx="5577840" cy="201168"/>
          </a:xfrm>
          <a:prstGeom prst="rect">
            <a:avLst/>
          </a:prstGeom>
          <a:noFill/>
        </p:spPr>
        <p:txBody>
          <a:bodyPr wrap="square" lIns="0" rIns="0" tIns="0" bIns="0" anchor="ctr">
            <a:spAutoFit/>
          </a:bodyPr>
          <a:lstStyle/>
          <a:p>
            <a:pPr algn="l"/>
            <a:r>
              <a:rPr sz="1000" b="0" lang="en-US">
                <a:solidFill>
                  <a:srgbClr val="67747C"/>
                </a:solidFill>
                <a:latin typeface="Arial"/>
                <a:hlinkClick r:id="rId4"/>
              </a:rPr>
              <a:t>AIR-style profile · Tsyrulnikov, Internet-Draft 02 (2026)</a:t>
            </a:r>
          </a:p>
        </p:txBody>
      </p:sp>
    </p:spTree>
  </p:cSld>
  <p:clrMapOvr>
    <a:masterClrMapping/>
  </p:clrMapOvr>
</p:sld>
</file>

<file path=ppt/theme/theme1.xml><?xml version="1.0" encoding="utf-8"?>
<a:theme xmlns:a="http://schemas.openxmlformats.org/drawingml/2006/main" name="Titelfolien zur Auswahl">
  <a:themeElements>
    <a:clrScheme name="TU Berlin">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4A2A0730-D474-B642-9EC8-245B2B7F7B17}"/>
    </a:ext>
  </a:extLst>
</a:theme>
</file>

<file path=ppt/theme/theme2.xml><?xml version="1.0" encoding="utf-8"?>
<a:theme xmlns:a="http://schemas.openxmlformats.org/drawingml/2006/main" name="Master für Folgeseiten">
  <a:themeElements>
    <a:clrScheme name="TU Berlin ">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6D2ACD7B-51E4-3F4D-A883-FB2A0ECC7C66}"/>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TU-Berlin-Praesentation-Master-einfarbig-Rot</Template>
  <TotalTime>0</TotalTime>
  <Words>59</Words>
  <Application>Microsoft Office PowerPoint</Application>
  <PresentationFormat>Breitbild</PresentationFormat>
  <Paragraphs>5</Paragraphs>
  <Slides>5</Slides>
  <Notes>0</Notes>
  <HiddenSlides>0</HiddenSlides>
  <MMClips>0</MMClips>
  <ScaleCrop>false</ScaleCrop>
  <HeadingPairs>
    <vt:vector size="6" baseType="variant">
      <vt:variant>
        <vt:lpstr>Verwendete Schriftarten</vt:lpstr>
      </vt:variant>
      <vt:variant>
        <vt:i4>3</vt:i4>
      </vt:variant>
      <vt:variant>
        <vt:lpstr>Design</vt:lpstr>
      </vt:variant>
      <vt:variant>
        <vt:i4>2</vt:i4>
      </vt:variant>
      <vt:variant>
        <vt:lpstr>Folientitel</vt:lpstr>
      </vt:variant>
      <vt:variant>
        <vt:i4>5</vt:i4>
      </vt:variant>
    </vt:vector>
  </HeadingPairs>
  <TitlesOfParts>
    <vt:vector size="10" baseType="lpstr">
      <vt:lpstr>Arial</vt:lpstr>
      <vt:lpstr>Calibri</vt:lpstr>
      <vt:lpstr>Symbol</vt:lpstr>
      <vt:lpstr>Titelfolien zur Auswahl</vt:lpstr>
      <vt:lpstr>Master für Folgeseiten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 · Prüfbereiche — VITA-FL Sello / AIR</dc:title>
  <dc:creator>Ramon Mehrpoya</dc:creator>
  <cp:lastModifiedBy>Friedrich, Ulrike</cp:lastModifiedBy>
  <cp:revision>3</cp:revision>
  <cp:lastPrinted>2021-03-24T16:10:50Z</cp:lastPrinted>
  <dcterms:created xsi:type="dcterms:W3CDTF">2023-04-20T08:54:03Z</dcterms:created>
  <dcterms:modified xsi:type="dcterms:W3CDTF">2025-06-16T09:49:54Z</dcterms:modified>
  <dc:subject>Verifiable Decentralized Federated Machine Learning and Inference for AI Agent Systems</dc:subject>
  <cp:keywords>VITA-FL, DFL, TEE, attested inference, transparency log</cp:keywords>
  <dc:language>en-US</dc:language>
</cp:coreProperties>
</file>