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A</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B</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C</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D</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and AIR: two layers of evidence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llo AIR: Sello checks the tool interaction. AIR binds the numeric infer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checks the tool interaction. AIR binds the numeric inference.</a:t>
            </a:r>
          </a:p>
        </p:txBody>
      </p:sp>
      <p:sp>
        <p:nvSpPr>
          <p:cNvPr id="15"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8"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20" name="Rectangle 19"/>
          <p:cNvSpPr/>
          <p:nvPr/>
        </p:nvSpPr>
        <p:spPr>
          <a:xfrm>
            <a:off x="630936" y="1901952"/>
            <a:ext cx="5330952" cy="2926080"/>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 y="1915668"/>
            <a:ext cx="5303520" cy="557784"/>
          </a:xfrm>
          <a:prstGeom prst="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IR: Sello"/>
          <p:cNvSpPr txBox="1"/>
          <p:nvPr/>
        </p:nvSpPr>
        <p:spPr>
          <a:xfrm>
            <a:off x="813815" y="2011680"/>
            <a:ext cx="1325880" cy="438912"/>
          </a:xfrm>
          <a:prstGeom prst="rect">
            <a:avLst/>
          </a:prstGeom>
          <a:noFill/>
        </p:spPr>
        <p:txBody>
          <a:bodyPr wrap="square" lIns="0" rIns="0" tIns="0" bIns="0" anchor="ctr">
            <a:spAutoFit/>
          </a:bodyPr>
          <a:lstStyle/>
          <a:p>
            <a:pPr algn="l"/>
            <a:r>
              <a:rPr sz="2600" b="1" lang="en-US">
                <a:solidFill>
                  <a:srgbClr val="1764A1"/>
                </a:solidFill>
                <a:latin typeface="Arial"/>
              </a:rPr>
              <a:t>Sello</a:t>
            </a:r>
          </a:p>
        </p:txBody>
      </p:sp>
      <p:sp>
        <p:nvSpPr>
          <p:cNvPr id="23" name="Sello AIR: Tool interaction"/>
          <p:cNvSpPr txBox="1"/>
          <p:nvPr/>
        </p:nvSpPr>
        <p:spPr>
          <a:xfrm>
            <a:off x="2139696" y="2048256"/>
            <a:ext cx="3602736" cy="301752"/>
          </a:xfrm>
          <a:prstGeom prst="rect">
            <a:avLst/>
          </a:prstGeom>
          <a:noFill/>
        </p:spPr>
        <p:txBody>
          <a:bodyPr wrap="square" lIns="0" rIns="0" tIns="0" bIns="0" anchor="ctr">
            <a:spAutoFit/>
          </a:bodyPr>
          <a:lstStyle/>
          <a:p>
            <a:pPr algn="l"/>
            <a:r>
              <a:rPr sz="1800" b="0" lang="en-US">
                <a:solidFill>
                  <a:srgbClr val="1764A1"/>
                </a:solidFill>
                <a:latin typeface="Arial"/>
              </a:rPr>
              <a:t>Tool interaction</a:t>
            </a:r>
          </a:p>
        </p:txBody>
      </p:sp>
      <p:sp>
        <p:nvSpPr>
          <p:cNvPr id="24" name="Oval 23"/>
          <p:cNvSpPr/>
          <p:nvPr/>
        </p:nvSpPr>
        <p:spPr>
          <a:xfrm>
            <a:off x="813815" y="2574036"/>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IR: 1"/>
          <p:cNvSpPr txBox="1"/>
          <p:nvPr/>
        </p:nvSpPr>
        <p:spPr>
          <a:xfrm>
            <a:off x="813815" y="2583179"/>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26" name="Sello AIR: An authorised agent may call"/>
          <p:cNvSpPr txBox="1"/>
          <p:nvPr/>
        </p:nvSpPr>
        <p:spPr>
          <a:xfrm>
            <a:off x="1197864" y="2560320"/>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An authorised agent may call</a:t>
            </a:r>
          </a:p>
        </p:txBody>
      </p:sp>
      <p:sp>
        <p:nvSpPr>
          <p:cNvPr id="27" name="Sello AIR: mTLS + token: identity, Inference TEE, / scope, certificate, expiry; job ownership."/>
          <p:cNvSpPr txBox="1"/>
          <p:nvPr/>
        </p:nvSpPr>
        <p:spPr>
          <a:xfrm>
            <a:off x="1197864" y="2852927"/>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mTLS + token: identity, Inference TEE,
scope, certificate, expiry; job ownership.</a:t>
            </a:r>
          </a:p>
        </p:txBody>
      </p:sp>
      <p:sp>
        <p:nvSpPr>
          <p:cNvPr id="28" name="Oval 27"/>
          <p:cNvSpPr/>
          <p:nvPr/>
        </p:nvSpPr>
        <p:spPr>
          <a:xfrm>
            <a:off x="813815" y="3314700"/>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ello AIR: 2"/>
          <p:cNvSpPr txBox="1"/>
          <p:nvPr/>
        </p:nvSpPr>
        <p:spPr>
          <a:xfrm>
            <a:off x="813815" y="3323844"/>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30" name="Sello AIR: A signed record of the tool call"/>
          <p:cNvSpPr txBox="1"/>
          <p:nvPr/>
        </p:nvSpPr>
        <p:spPr>
          <a:xfrm>
            <a:off x="1197864" y="3300984"/>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A signed record of the tool call</a:t>
            </a:r>
          </a:p>
        </p:txBody>
      </p:sp>
      <p:sp>
        <p:nvSpPr>
          <p:cNvPr id="31" name="Sello AIR: Inference TEE signs action, input/output hashes, / token reference and result status."/>
          <p:cNvSpPr txBox="1"/>
          <p:nvPr/>
        </p:nvSpPr>
        <p:spPr>
          <a:xfrm>
            <a:off x="1197864" y="3593591"/>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Inference TEE signs action, input/output hashes,
token reference and result status.</a:t>
            </a:r>
          </a:p>
        </p:txBody>
      </p:sp>
      <p:sp>
        <p:nvSpPr>
          <p:cNvPr id="32" name="Oval 31"/>
          <p:cNvSpPr/>
          <p:nvPr/>
        </p:nvSpPr>
        <p:spPr>
          <a:xfrm>
            <a:off x="813815" y="4055363"/>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llo AIR: 3"/>
          <p:cNvSpPr txBox="1"/>
          <p:nvPr/>
        </p:nvSpPr>
        <p:spPr>
          <a:xfrm>
            <a:off x="813815" y="4064507"/>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34" name="Sello AIR: The receipt body stays encrypted"/>
          <p:cNvSpPr txBox="1"/>
          <p:nvPr/>
        </p:nvSpPr>
        <p:spPr>
          <a:xfrm>
            <a:off x="1197864" y="4041648"/>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The receipt body stays encrypted</a:t>
            </a:r>
          </a:p>
        </p:txBody>
      </p:sp>
      <p:sp>
        <p:nvSpPr>
          <p:cNvPr id="35" name="Sello AIR: HPKE seals the Sello receipt for the owner."/>
          <p:cNvSpPr txBox="1"/>
          <p:nvPr/>
        </p:nvSpPr>
        <p:spPr>
          <a:xfrm>
            <a:off x="1197864" y="4334256"/>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HPKE seals the Sello receipt for the owner.</a:t>
            </a:r>
          </a:p>
        </p:txBody>
      </p:sp>
      <p:sp>
        <p:nvSpPr>
          <p:cNvPr id="36" name="Rectangle 35"/>
          <p:cNvSpPr/>
          <p:nvPr/>
        </p:nvSpPr>
        <p:spPr>
          <a:xfrm>
            <a:off x="6217920" y="1901952"/>
            <a:ext cx="5330952" cy="2926080"/>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1636" y="1915668"/>
            <a:ext cx="5303520" cy="557784"/>
          </a:xfrm>
          <a:prstGeom prst="rect">
            <a:avLst/>
          </a:prstGeom>
          <a:solidFill>
            <a:srgbClr val="EDF6F0"/>
          </a:solidFill>
          <a:ln>
            <a:solidFill>
              <a:srgbClr val="EDF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ello AIR: AIR"/>
          <p:cNvSpPr txBox="1"/>
          <p:nvPr/>
        </p:nvSpPr>
        <p:spPr>
          <a:xfrm>
            <a:off x="6400800" y="2011680"/>
            <a:ext cx="1325880" cy="438912"/>
          </a:xfrm>
          <a:prstGeom prst="rect">
            <a:avLst/>
          </a:prstGeom>
          <a:noFill/>
        </p:spPr>
        <p:txBody>
          <a:bodyPr wrap="square" lIns="0" rIns="0" tIns="0" bIns="0" anchor="ctr">
            <a:spAutoFit/>
          </a:bodyPr>
          <a:lstStyle/>
          <a:p>
            <a:pPr algn="l"/>
            <a:r>
              <a:rPr sz="2600" b="1" lang="en-US">
                <a:solidFill>
                  <a:srgbClr val="207548"/>
                </a:solidFill>
                <a:latin typeface="Arial"/>
              </a:rPr>
              <a:t>AIR</a:t>
            </a:r>
          </a:p>
        </p:txBody>
      </p:sp>
      <p:sp>
        <p:nvSpPr>
          <p:cNvPr id="39" name="Sello AIR: Attested Inference Receipt"/>
          <p:cNvSpPr txBox="1"/>
          <p:nvPr/>
        </p:nvSpPr>
        <p:spPr>
          <a:xfrm>
            <a:off x="7726679" y="2048256"/>
            <a:ext cx="3602736" cy="301752"/>
          </a:xfrm>
          <a:prstGeom prst="rect">
            <a:avLst/>
          </a:prstGeom>
          <a:noFill/>
        </p:spPr>
        <p:txBody>
          <a:bodyPr wrap="square" lIns="0" rIns="0" tIns="0" bIns="0" anchor="ctr">
            <a:spAutoFit/>
          </a:bodyPr>
          <a:lstStyle/>
          <a:p>
            <a:pPr algn="l"/>
            <a:r>
              <a:rPr sz="1800" b="0" lang="en-US">
                <a:solidFill>
                  <a:srgbClr val="207548"/>
                </a:solidFill>
                <a:latin typeface="Arial"/>
              </a:rPr>
              <a:t>Attested Inference Receipt</a:t>
            </a:r>
          </a:p>
        </p:txBody>
      </p:sp>
      <p:sp>
        <p:nvSpPr>
          <p:cNvPr id="40" name="Oval 39"/>
          <p:cNvSpPr/>
          <p:nvPr/>
        </p:nvSpPr>
        <p:spPr>
          <a:xfrm>
            <a:off x="6400800" y="2574036"/>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ello AIR: 1"/>
          <p:cNvSpPr txBox="1"/>
          <p:nvPr/>
        </p:nvSpPr>
        <p:spPr>
          <a:xfrm>
            <a:off x="6400800" y="2583179"/>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42" name="Sello AIR: Model, input and result stay linked"/>
          <p:cNvSpPr txBox="1"/>
          <p:nvPr/>
        </p:nvSpPr>
        <p:spPr>
          <a:xfrm>
            <a:off x="6784848" y="2560320"/>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Model, input and result stay linked</a:t>
            </a:r>
          </a:p>
        </p:txBody>
      </p:sp>
      <p:sp>
        <p:nvSpPr>
          <p:cNvPr id="43" name="Sello AIR: Ed25519 signs their hashes and the quote hash."/>
          <p:cNvSpPr txBox="1"/>
          <p:nvPr/>
        </p:nvSpPr>
        <p:spPr>
          <a:xfrm>
            <a:off x="6784848" y="2852927"/>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Ed25519 signs their hashes and the quote hash.</a:t>
            </a:r>
          </a:p>
        </p:txBody>
      </p:sp>
      <p:sp>
        <p:nvSpPr>
          <p:cNvPr id="44" name="Oval 43"/>
          <p:cNvSpPr/>
          <p:nvPr/>
        </p:nvSpPr>
        <p:spPr>
          <a:xfrm>
            <a:off x="6400800" y="3314700"/>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ello AIR: 2"/>
          <p:cNvSpPr txBox="1"/>
          <p:nvPr/>
        </p:nvSpPr>
        <p:spPr>
          <a:xfrm>
            <a:off x="6400800" y="3323844"/>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46" name="Sello AIR: The receipt key is bound to the quote"/>
          <p:cNvSpPr txBox="1"/>
          <p:nvPr/>
        </p:nvSpPr>
        <p:spPr>
          <a:xfrm>
            <a:off x="6784848" y="3300984"/>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The receipt key is bound to the quote</a:t>
            </a:r>
          </a:p>
        </p:txBody>
      </p:sp>
      <p:sp>
        <p:nvSpPr>
          <p:cNvPr id="47" name="Sello AIR: REPORTDATA: key + manifest + request. / The AIR signature binds the result."/>
          <p:cNvSpPr txBox="1"/>
          <p:nvPr/>
        </p:nvSpPr>
        <p:spPr>
          <a:xfrm>
            <a:off x="6784848" y="3593591"/>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REPORTDATA: key + manifest + request.
The AIR signature binds the result.</a:t>
            </a:r>
          </a:p>
        </p:txBody>
      </p:sp>
      <p:sp>
        <p:nvSpPr>
          <p:cNvPr id="48" name="Oval 47"/>
          <p:cNvSpPr/>
          <p:nvPr/>
        </p:nvSpPr>
        <p:spPr>
          <a:xfrm>
            <a:off x="6400800" y="4055363"/>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ello AIR: 3"/>
          <p:cNvSpPr txBox="1"/>
          <p:nvPr/>
        </p:nvSpPr>
        <p:spPr>
          <a:xfrm>
            <a:off x="6400800" y="4064507"/>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50" name="Sello AIR: Deployment policy is checked"/>
          <p:cNvSpPr txBox="1"/>
          <p:nvPr/>
        </p:nvSpPr>
        <p:spPr>
          <a:xfrm>
            <a:off x="6784848" y="4041648"/>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Deployment policy is checked</a:t>
            </a:r>
          </a:p>
        </p:txBody>
      </p:sp>
      <p:sp>
        <p:nvSpPr>
          <p:cNvPr id="51" name="Sello AIR: Replay RTMR3; compare Compose, image digest, / chain, contracts and RPC."/>
          <p:cNvSpPr txBox="1"/>
          <p:nvPr/>
        </p:nvSpPr>
        <p:spPr>
          <a:xfrm>
            <a:off x="6784848" y="4334256"/>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Replay RTMR3; compare Compose, image digest,
chain, contracts and RPC.</a:t>
            </a:r>
          </a:p>
        </p:txBody>
      </p:sp>
      <p:sp>
        <p:nvSpPr>
          <p:cNvPr id="52" name="Rounded Rectangle 51"/>
          <p:cNvSpPr/>
          <p:nvPr/>
        </p:nvSpPr>
        <p:spPr>
          <a:xfrm>
            <a:off x="630936" y="4965192"/>
            <a:ext cx="10917936" cy="612648"/>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86384" y="5143500"/>
            <a:ext cx="1335024" cy="256032"/>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ello AIR: SHARED LOG"/>
          <p:cNvSpPr txBox="1"/>
          <p:nvPr/>
        </p:nvSpPr>
        <p:spPr>
          <a:xfrm>
            <a:off x="850392" y="5157216"/>
            <a:ext cx="1207007" cy="228600"/>
          </a:xfrm>
          <a:prstGeom prst="rect">
            <a:avLst/>
          </a:prstGeom>
          <a:noFill/>
        </p:spPr>
        <p:txBody>
          <a:bodyPr wrap="square" lIns="0" rIns="0" tIns="0" bIns="0" anchor="ctr">
            <a:spAutoFit/>
          </a:bodyPr>
          <a:lstStyle/>
          <a:p>
            <a:pPr algn="ctr"/>
            <a:r>
              <a:rPr sz="1150" b="1" lang="en-US">
                <a:solidFill>
                  <a:srgbClr val="FFFFFF"/>
                </a:solidFill>
                <a:latin typeface="Arial"/>
              </a:rPr>
              <a:t>SHARED LOG</a:t>
            </a:r>
          </a:p>
        </p:txBody>
      </p:sp>
      <p:sp>
        <p:nvSpPr>
          <p:cNvPr id="55" name="Sello AIR: Inference TEE logs Sello before reply"/>
          <p:cNvSpPr txBox="1"/>
          <p:nvPr/>
        </p:nvSpPr>
        <p:spPr>
          <a:xfrm>
            <a:off x="2295144" y="5125212"/>
            <a:ext cx="4261104" cy="292608"/>
          </a:xfrm>
          <a:prstGeom prst="rect">
            <a:avLst/>
          </a:prstGeom>
          <a:noFill/>
        </p:spPr>
        <p:txBody>
          <a:bodyPr wrap="square" lIns="0" rIns="0" tIns="0" bIns="0" anchor="ctr">
            <a:spAutoFit/>
          </a:bodyPr>
          <a:lstStyle/>
          <a:p>
            <a:pPr algn="l"/>
            <a:r>
              <a:rPr sz="1500" b="1" lang="en-US">
                <a:solidFill>
                  <a:srgbClr val="7446A6"/>
                </a:solidFill>
                <a:latin typeface="Arial"/>
              </a:rPr>
              <a:t>Inference TEE logs Sello before reply</a:t>
            </a:r>
          </a:p>
        </p:txBody>
      </p:sp>
      <p:cxnSp>
        <p:nvCxnSpPr>
          <p:cNvPr id="56" name="Connector 55"/>
          <p:cNvCxnSpPr/>
          <p:nvPr/>
        </p:nvCxnSpPr>
        <p:spPr>
          <a:xfrm>
            <a:off x="6656832" y="5271516"/>
            <a:ext cx="283464" cy="0"/>
          </a:xfrm>
          <a:prstGeom prst="line">
            <a:avLst/>
          </a:prstGeom>
          <a:ln w="1905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Sello AIR: Agent verifies Transparency Log / and logs AIR"/>
          <p:cNvSpPr txBox="1"/>
          <p:nvPr/>
        </p:nvSpPr>
        <p:spPr>
          <a:xfrm>
            <a:off x="7114032" y="5015484"/>
            <a:ext cx="4224528" cy="512064"/>
          </a:xfrm>
          <a:prstGeom prst="rect">
            <a:avLst/>
          </a:prstGeom>
          <a:noFill/>
        </p:spPr>
        <p:txBody>
          <a:bodyPr wrap="square" lIns="0" rIns="0" tIns="0" bIns="0" anchor="ctr">
            <a:spAutoFit/>
          </a:bodyPr>
          <a:lstStyle/>
          <a:p>
            <a:pPr algn="l"/>
            <a:r>
              <a:rPr sz="1500" b="1" lang="en-US">
                <a:solidFill>
                  <a:srgbClr val="7446A6"/>
                </a:solidFill>
                <a:latin typeface="Arial"/>
              </a:rPr>
              <a:t>Agent verifies Transparency Log
and logs AIR</a:t>
            </a:r>
          </a:p>
        </p:txBody>
      </p:sp>
      <p:sp>
        <p:nvSpPr>
          <p:cNvPr id="58"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59"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Sello + AIR: checks along the inference workflow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2"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4" name="Sello AIR: Sello authorizes and records the tool call; AIR binds the numeric inference evid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authorizes and records the tool call; AIR binds the numeric inference evidence.</a:t>
            </a:r>
          </a:p>
        </p:txBody>
      </p:sp>
      <p:cxnSp>
        <p:nvCxnSpPr>
          <p:cNvPr id="15" name="Connector 14"/>
          <p:cNvCxnSpPr/>
          <p:nvPr/>
        </p:nvCxnSpPr>
        <p:spPr>
          <a:xfrm>
            <a:off x="2116836" y="2093976"/>
            <a:ext cx="2340864" cy="0"/>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905756" y="2093976"/>
            <a:ext cx="234086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694676" y="2093976"/>
            <a:ext cx="2340864" cy="0"/>
          </a:xfrm>
          <a:prstGeom prst="line">
            <a:avLst/>
          </a:prstGeom>
          <a:ln w="2540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723644" y="1911095"/>
            <a:ext cx="365760" cy="365760"/>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IR: 1"/>
          <p:cNvSpPr txBox="1"/>
          <p:nvPr/>
        </p:nvSpPr>
        <p:spPr>
          <a:xfrm>
            <a:off x="172364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20" name="Rounded Rectangle 19"/>
          <p:cNvSpPr/>
          <p:nvPr/>
        </p:nvSpPr>
        <p:spPr>
          <a:xfrm>
            <a:off x="630936" y="2432304"/>
            <a:ext cx="2551176" cy="2231136"/>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8096" y="2313432"/>
            <a:ext cx="2276856" cy="274320"/>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IR: SELLO"/>
          <p:cNvSpPr txBox="1"/>
          <p:nvPr/>
        </p:nvSpPr>
        <p:spPr>
          <a:xfrm>
            <a:off x="832103"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SELLO</a:t>
            </a:r>
          </a:p>
        </p:txBody>
      </p:sp>
      <p:sp>
        <p:nvSpPr>
          <p:cNvPr id="23" name="Sello AIR: Authorize"/>
          <p:cNvSpPr txBox="1"/>
          <p:nvPr/>
        </p:nvSpPr>
        <p:spPr>
          <a:xfrm>
            <a:off x="777240" y="2724912"/>
            <a:ext cx="2258568" cy="329184"/>
          </a:xfrm>
          <a:prstGeom prst="rect">
            <a:avLst/>
          </a:prstGeom>
          <a:noFill/>
        </p:spPr>
        <p:txBody>
          <a:bodyPr wrap="square" lIns="0" rIns="0" tIns="0" bIns="0" anchor="ctr">
            <a:spAutoFit/>
          </a:bodyPr>
          <a:lstStyle/>
          <a:p>
            <a:pPr algn="l"/>
            <a:r>
              <a:rPr sz="1800" b="1" lang="en-US">
                <a:solidFill>
                  <a:srgbClr val="1764A1"/>
                </a:solidFill>
                <a:latin typeface="Arial"/>
              </a:rPr>
              <a:t>Authorize</a:t>
            </a:r>
          </a:p>
        </p:txBody>
      </p:sp>
      <p:sp>
        <p:nvSpPr>
          <p:cNvPr id="24" name="Sello AIR: mTLS + token: / identity, receiver, / scope, certificate, / expiry; job owner."/>
          <p:cNvSpPr txBox="1"/>
          <p:nvPr/>
        </p:nvSpPr>
        <p:spPr>
          <a:xfrm>
            <a:off x="77724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mTLS + token:
identity, receiver,
scope, certificate,
expiry; job owner.</a:t>
            </a:r>
          </a:p>
        </p:txBody>
      </p:sp>
      <p:sp>
        <p:nvSpPr>
          <p:cNvPr id="25" name="Oval 24"/>
          <p:cNvSpPr/>
          <p:nvPr/>
        </p:nvSpPr>
        <p:spPr>
          <a:xfrm>
            <a:off x="4512564" y="1911095"/>
            <a:ext cx="365760" cy="365760"/>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llo AIR: 2"/>
          <p:cNvSpPr txBox="1"/>
          <p:nvPr/>
        </p:nvSpPr>
        <p:spPr>
          <a:xfrm>
            <a:off x="451256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27" name="Rounded Rectangle 26"/>
          <p:cNvSpPr/>
          <p:nvPr/>
        </p:nvSpPr>
        <p:spPr>
          <a:xfrm>
            <a:off x="3419856" y="2432304"/>
            <a:ext cx="2551176" cy="223113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57016" y="2313432"/>
            <a:ext cx="2276856" cy="274320"/>
          </a:xfrm>
          <a:prstGeom prst="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ello AIR: AIR"/>
          <p:cNvSpPr txBox="1"/>
          <p:nvPr/>
        </p:nvSpPr>
        <p:spPr>
          <a:xfrm>
            <a:off x="3621024"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AIR</a:t>
            </a:r>
          </a:p>
        </p:txBody>
      </p:sp>
      <p:sp>
        <p:nvSpPr>
          <p:cNvPr id="30" name="Sello AIR: Build AIR bundle"/>
          <p:cNvSpPr txBox="1"/>
          <p:nvPr/>
        </p:nvSpPr>
        <p:spPr>
          <a:xfrm>
            <a:off x="3566160" y="2724912"/>
            <a:ext cx="2258568" cy="329184"/>
          </a:xfrm>
          <a:prstGeom prst="rect">
            <a:avLst/>
          </a:prstGeom>
          <a:noFill/>
        </p:spPr>
        <p:txBody>
          <a:bodyPr wrap="square" lIns="0" rIns="0" tIns="0" bIns="0" anchor="ctr">
            <a:spAutoFit/>
          </a:bodyPr>
          <a:lstStyle/>
          <a:p>
            <a:pPr algn="l"/>
            <a:r>
              <a:rPr sz="1800" b="1" lang="en-US">
                <a:solidFill>
                  <a:srgbClr val="207548"/>
                </a:solidFill>
                <a:latin typeface="Arial"/>
              </a:rPr>
              <a:t>Build AIR bundle</a:t>
            </a:r>
          </a:p>
        </p:txBody>
      </p:sp>
      <p:sp>
        <p:nvSpPr>
          <p:cNvPr id="31" name="Sello AIR: Sign model / I/O / / quote hashes. / Attach REPORTDATA, / RTMR3 log and / Compose evidence."/>
          <p:cNvSpPr txBox="1"/>
          <p:nvPr/>
        </p:nvSpPr>
        <p:spPr>
          <a:xfrm>
            <a:off x="356616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Sign model / I/O /
quote hashes.
Attach REPORTDATA,
RTMR3 log and
Compose evidence.</a:t>
            </a:r>
          </a:p>
        </p:txBody>
      </p:sp>
      <p:sp>
        <p:nvSpPr>
          <p:cNvPr id="32" name="Oval 31"/>
          <p:cNvSpPr/>
          <p:nvPr/>
        </p:nvSpPr>
        <p:spPr>
          <a:xfrm>
            <a:off x="7301484" y="1911095"/>
            <a:ext cx="365760" cy="365760"/>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llo AIR: 3"/>
          <p:cNvSpPr txBox="1"/>
          <p:nvPr/>
        </p:nvSpPr>
        <p:spPr>
          <a:xfrm>
            <a:off x="730148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34" name="Rounded Rectangle 33"/>
          <p:cNvSpPr/>
          <p:nvPr/>
        </p:nvSpPr>
        <p:spPr>
          <a:xfrm>
            <a:off x="6208776" y="2432304"/>
            <a:ext cx="2551176" cy="2231136"/>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45936" y="2313432"/>
            <a:ext cx="2276856" cy="274320"/>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ello AIR: SELLO"/>
          <p:cNvSpPr txBox="1"/>
          <p:nvPr/>
        </p:nvSpPr>
        <p:spPr>
          <a:xfrm>
            <a:off x="6409944"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SELLO</a:t>
            </a:r>
          </a:p>
        </p:txBody>
      </p:sp>
      <p:sp>
        <p:nvSpPr>
          <p:cNvPr id="37" name="Sello AIR: Seal receipt"/>
          <p:cNvSpPr txBox="1"/>
          <p:nvPr/>
        </p:nvSpPr>
        <p:spPr>
          <a:xfrm>
            <a:off x="6355080" y="2724912"/>
            <a:ext cx="2258568" cy="329184"/>
          </a:xfrm>
          <a:prstGeom prst="rect">
            <a:avLst/>
          </a:prstGeom>
          <a:noFill/>
        </p:spPr>
        <p:txBody>
          <a:bodyPr wrap="square" lIns="0" rIns="0" tIns="0" bIns="0" anchor="ctr">
            <a:spAutoFit/>
          </a:bodyPr>
          <a:lstStyle/>
          <a:p>
            <a:pPr algn="l"/>
            <a:r>
              <a:rPr sz="1800" b="1" lang="en-US">
                <a:solidFill>
                  <a:srgbClr val="1764A1"/>
                </a:solidFill>
                <a:latin typeface="Arial"/>
              </a:rPr>
              <a:t>Seal receipt</a:t>
            </a:r>
          </a:p>
        </p:txBody>
      </p:sp>
      <p:sp>
        <p:nvSpPr>
          <p:cNvPr id="38" name="Sello AIR: HPKE encrypts body. / Receiver signature / binds action, I/O / hashes, token ref. / and result status."/>
          <p:cNvSpPr txBox="1"/>
          <p:nvPr/>
        </p:nvSpPr>
        <p:spPr>
          <a:xfrm>
            <a:off x="635508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HPKE encrypts body.
Receiver signature
binds action, I/O
hashes, token ref.
and result status.</a:t>
            </a:r>
          </a:p>
        </p:txBody>
      </p:sp>
      <p:sp>
        <p:nvSpPr>
          <p:cNvPr id="39" name="Oval 38"/>
          <p:cNvSpPr/>
          <p:nvPr/>
        </p:nvSpPr>
        <p:spPr>
          <a:xfrm>
            <a:off x="10090404" y="1911095"/>
            <a:ext cx="365760" cy="365760"/>
          </a:xfrm>
          <a:prstGeom prst="ellipse">
            <a:avLst/>
          </a:prstGeom>
          <a:solidFill>
            <a:srgbClr val="7446A6"/>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AIR: 4"/>
          <p:cNvSpPr txBox="1"/>
          <p:nvPr/>
        </p:nvSpPr>
        <p:spPr>
          <a:xfrm>
            <a:off x="10090404" y="1920239"/>
            <a:ext cx="365760" cy="347472"/>
          </a:xfrm>
          <a:prstGeom prst="rect">
            <a:avLst/>
          </a:prstGeom>
          <a:noFill/>
        </p:spPr>
        <p:txBody>
          <a:bodyPr wrap="square" lIns="0" rIns="0" tIns="0" bIns="0" anchor="ctr">
            <a:spAutoFit/>
          </a:bodyPr>
          <a:lstStyle/>
          <a:p>
            <a:pPr algn="ctr"/>
            <a:r>
              <a:rPr sz="1200" b="1" lang="en-US">
                <a:solidFill>
                  <a:srgbClr val="FFFFFF"/>
                </a:solidFill>
                <a:latin typeface="Arial"/>
              </a:rPr>
              <a:t>4</a:t>
            </a:r>
          </a:p>
        </p:txBody>
      </p:sp>
      <p:sp>
        <p:nvSpPr>
          <p:cNvPr id="41" name="Rounded Rectangle 40"/>
          <p:cNvSpPr/>
          <p:nvPr/>
        </p:nvSpPr>
        <p:spPr>
          <a:xfrm>
            <a:off x="8997696" y="2432304"/>
            <a:ext cx="2551176" cy="223113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34856" y="2313432"/>
            <a:ext cx="2276856" cy="274320"/>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ello AIR: RECEIVER + AGENT"/>
          <p:cNvSpPr txBox="1"/>
          <p:nvPr/>
        </p:nvSpPr>
        <p:spPr>
          <a:xfrm>
            <a:off x="9198864" y="2327148"/>
            <a:ext cx="2148840" cy="246888"/>
          </a:xfrm>
          <a:prstGeom prst="rect">
            <a:avLst/>
          </a:prstGeom>
          <a:noFill/>
        </p:spPr>
        <p:txBody>
          <a:bodyPr wrap="square" lIns="0" rIns="0" tIns="0" bIns="0" anchor="ctr">
            <a:spAutoFit/>
          </a:bodyPr>
          <a:lstStyle/>
          <a:p>
            <a:pPr algn="ctr"/>
            <a:r>
              <a:rPr sz="1250" b="1" lang="en-US">
                <a:solidFill>
                  <a:srgbClr val="FFFFFF"/>
                </a:solidFill>
                <a:latin typeface="Arial"/>
              </a:rPr>
              <a:t>RECEIVER + AGENT</a:t>
            </a:r>
          </a:p>
        </p:txBody>
      </p:sp>
      <p:sp>
        <p:nvSpPr>
          <p:cNvPr id="44" name="Sello AIR: Log and verify"/>
          <p:cNvSpPr txBox="1"/>
          <p:nvPr/>
        </p:nvSpPr>
        <p:spPr>
          <a:xfrm>
            <a:off x="9144000" y="2724912"/>
            <a:ext cx="2258568" cy="329184"/>
          </a:xfrm>
          <a:prstGeom prst="rect">
            <a:avLst/>
          </a:prstGeom>
          <a:noFill/>
        </p:spPr>
        <p:txBody>
          <a:bodyPr wrap="square" lIns="0" rIns="0" tIns="0" bIns="0" anchor="ctr">
            <a:spAutoFit/>
          </a:bodyPr>
          <a:lstStyle/>
          <a:p>
            <a:pPr algn="l"/>
            <a:r>
              <a:rPr sz="1800" b="1" lang="en-US">
                <a:solidFill>
                  <a:srgbClr val="7446A6"/>
                </a:solidFill>
                <a:latin typeface="Arial"/>
              </a:rPr>
              <a:t>Log and verify</a:t>
            </a:r>
          </a:p>
        </p:txBody>
      </p:sp>
      <p:sp>
        <p:nvSpPr>
          <p:cNvPr id="45" name="Sello AIR: Log Sello first. / Agent checks Sello, / AIR + runtime policy; / checks SCITT and / then registers AIR."/>
          <p:cNvSpPr txBox="1"/>
          <p:nvPr/>
        </p:nvSpPr>
        <p:spPr>
          <a:xfrm>
            <a:off x="9144000" y="3136392"/>
            <a:ext cx="2258568" cy="1371600"/>
          </a:xfrm>
          <a:prstGeom prst="rect">
            <a:avLst/>
          </a:prstGeom>
          <a:noFill/>
        </p:spPr>
        <p:txBody>
          <a:bodyPr wrap="square" lIns="0" rIns="0" tIns="0" bIns="0" anchor="ctr">
            <a:spAutoFit/>
          </a:bodyPr>
          <a:lstStyle/>
          <a:p>
            <a:pPr algn="l"/>
            <a:r>
              <a:rPr sz="1600" b="0" lang="en-US">
                <a:solidFill>
                  <a:srgbClr val="263440"/>
                </a:solidFill>
                <a:latin typeface="Arial"/>
              </a:rPr>
              <a:t>Log Sello first.
Agent checks Sello,
AIR + runtime policy;
checks SCITT and
then registers AIR.</a:t>
            </a:r>
          </a:p>
        </p:txBody>
      </p:sp>
      <p:sp>
        <p:nvSpPr>
          <p:cNvPr id="46" name="Rounded Rectangle 45"/>
          <p:cNvSpPr/>
          <p:nvPr/>
        </p:nvSpPr>
        <p:spPr>
          <a:xfrm>
            <a:off x="630936" y="4882896"/>
            <a:ext cx="10917936" cy="53949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ello AIR: Release rule"/>
          <p:cNvSpPr txBox="1"/>
          <p:nvPr/>
        </p:nvSpPr>
        <p:spPr>
          <a:xfrm>
            <a:off x="804672" y="4983480"/>
            <a:ext cx="2002536" cy="301752"/>
          </a:xfrm>
          <a:prstGeom prst="rect">
            <a:avLst/>
          </a:prstGeom>
          <a:noFill/>
        </p:spPr>
        <p:txBody>
          <a:bodyPr wrap="square" lIns="0" rIns="0" tIns="0" bIns="0" anchor="ctr">
            <a:spAutoFit/>
          </a:bodyPr>
          <a:lstStyle/>
          <a:p>
            <a:pPr algn="l"/>
            <a:r>
              <a:rPr sz="1600" b="1" lang="en-US">
                <a:solidFill>
                  <a:srgbClr val="7446A6"/>
                </a:solidFill>
                <a:latin typeface="Arial"/>
              </a:rPr>
              <a:t>Release rule</a:t>
            </a:r>
          </a:p>
        </p:txBody>
      </p:sp>
      <p:sp>
        <p:nvSpPr>
          <p:cNvPr id="48" name="Sello AIR: A verified result is returned only after receipt, AIR and log checks succeed."/>
          <p:cNvSpPr txBox="1"/>
          <p:nvPr/>
        </p:nvSpPr>
        <p:spPr>
          <a:xfrm>
            <a:off x="2862072" y="4937760"/>
            <a:ext cx="8449056" cy="402336"/>
          </a:xfrm>
          <a:prstGeom prst="rect">
            <a:avLst/>
          </a:prstGeom>
          <a:noFill/>
        </p:spPr>
        <p:txBody>
          <a:bodyPr wrap="square" lIns="0" rIns="0" tIns="0" bIns="0" anchor="ctr">
            <a:spAutoFit/>
          </a:bodyPr>
          <a:lstStyle/>
          <a:p>
            <a:pPr algn="l"/>
            <a:r>
              <a:rPr sz="1650" b="0" lang="en-US">
                <a:solidFill>
                  <a:srgbClr val="263440"/>
                </a:solidFill>
                <a:latin typeface="Arial"/>
              </a:rPr>
              <a:t>A verified result is returned only after receipt, AIR and log checks succeed.</a:t>
            </a:r>
          </a:p>
        </p:txBody>
      </p:sp>
      <p:sp>
        <p:nvSpPr>
          <p:cNvPr id="49" name="Sello AIR: Scope: per-inference Intel quote verification is absent; TEE trust relies on prior worker admission."/>
          <p:cNvSpPr txBox="1"/>
          <p:nvPr/>
        </p:nvSpPr>
        <p:spPr>
          <a:xfrm>
            <a:off x="630936" y="5568696"/>
            <a:ext cx="10936224" cy="265176"/>
          </a:xfrm>
          <a:prstGeom prst="rect">
            <a:avLst/>
          </a:prstGeom>
          <a:noFill/>
        </p:spPr>
        <p:txBody>
          <a:bodyPr wrap="square" lIns="0" rIns="0" tIns="0" bIns="0" anchor="ctr">
            <a:spAutoFit/>
          </a:bodyPr>
          <a:lstStyle/>
          <a:p>
            <a:pPr algn="l"/>
            <a:r>
              <a:rPr sz="1200" b="0" lang="en-US">
                <a:solidFill>
                  <a:srgbClr val="986021"/>
                </a:solidFill>
                <a:latin typeface="Arial"/>
              </a:rPr>
              <a:t>Scope: per-inference Intel quote verification is absent; TEE trust relies on prior worker admission.</a:t>
            </a:r>
          </a:p>
        </p:txBody>
      </p:sp>
      <p:sp>
        <p:nvSpPr>
          <p:cNvPr id="50"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51"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Two scopes of evidence, one verified tool result</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2"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4" name="Sello AIR: Sello covers the tool call; AIR binds its model, input and result."/>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covers the tool call; AIR binds its model, input and result.</a:t>
            </a:r>
          </a:p>
        </p:txBody>
      </p:sp>
      <p:sp>
        <p:nvSpPr>
          <p:cNvPr id="15" name="Rounded Rectangle 14"/>
          <p:cNvSpPr/>
          <p:nvPr/>
        </p:nvSpPr>
        <p:spPr>
          <a:xfrm>
            <a:off x="630936" y="1874519"/>
            <a:ext cx="10917936" cy="2880360"/>
          </a:xfrm>
          <a:prstGeom prst="roundRect">
            <a:avLst/>
          </a:prstGeom>
          <a:solidFill>
            <a:srgbClr val="FFFFFF"/>
          </a:solidFill>
          <a:ln w="2159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2002536"/>
            <a:ext cx="3172968" cy="292608"/>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ello AIR: SELLO  /  TOOL INTERACTION"/>
          <p:cNvSpPr txBox="1"/>
          <p:nvPr/>
        </p:nvSpPr>
        <p:spPr>
          <a:xfrm>
            <a:off x="896112" y="2016252"/>
            <a:ext cx="3044952" cy="265176"/>
          </a:xfrm>
          <a:prstGeom prst="rect">
            <a:avLst/>
          </a:prstGeom>
          <a:noFill/>
        </p:spPr>
        <p:txBody>
          <a:bodyPr wrap="square" lIns="0" rIns="0" tIns="0" bIns="0" anchor="ctr">
            <a:spAutoFit/>
          </a:bodyPr>
          <a:lstStyle/>
          <a:p>
            <a:pPr algn="ctr"/>
            <a:r>
              <a:rPr sz="1400" b="1" lang="en-US">
                <a:solidFill>
                  <a:srgbClr val="FFFFFF"/>
                </a:solidFill>
                <a:latin typeface="Arial"/>
              </a:rPr>
              <a:t>SELLO  /  TOOL INTERACTION</a:t>
            </a:r>
          </a:p>
        </p:txBody>
      </p:sp>
      <p:sp>
        <p:nvSpPr>
          <p:cNvPr id="18" name="Sello AIR: Scopes of evidence — separate receipts"/>
          <p:cNvSpPr txBox="1"/>
          <p:nvPr/>
        </p:nvSpPr>
        <p:spPr>
          <a:xfrm>
            <a:off x="7232904" y="1993392"/>
            <a:ext cx="4096512" cy="301752"/>
          </a:xfrm>
          <a:prstGeom prst="rect">
            <a:avLst/>
          </a:prstGeom>
          <a:noFill/>
        </p:spPr>
        <p:txBody>
          <a:bodyPr wrap="square" lIns="0" rIns="0" tIns="0" bIns="0" anchor="ctr">
            <a:spAutoFit/>
          </a:bodyPr>
          <a:lstStyle/>
          <a:p>
            <a:pPr algn="l"/>
            <a:r>
              <a:rPr sz="1400" b="0" lang="en-US">
                <a:solidFill>
                  <a:srgbClr val="67747C"/>
                </a:solidFill>
                <a:latin typeface="Arial"/>
              </a:rPr>
              <a:t>Scopes of evidence — separate receipts</a:t>
            </a:r>
          </a:p>
        </p:txBody>
      </p:sp>
      <p:sp>
        <p:nvSpPr>
          <p:cNvPr id="19" name="Sello AIR: Who may call?"/>
          <p:cNvSpPr txBox="1"/>
          <p:nvPr/>
        </p:nvSpPr>
        <p:spPr>
          <a:xfrm>
            <a:off x="850392" y="2551176"/>
            <a:ext cx="1956816" cy="310896"/>
          </a:xfrm>
          <a:prstGeom prst="rect">
            <a:avLst/>
          </a:prstGeom>
          <a:noFill/>
        </p:spPr>
        <p:txBody>
          <a:bodyPr wrap="square" lIns="0" rIns="0" tIns="0" bIns="0" anchor="ctr">
            <a:spAutoFit/>
          </a:bodyPr>
          <a:lstStyle/>
          <a:p>
            <a:pPr algn="l"/>
            <a:r>
              <a:rPr sz="1800" b="1" lang="en-US">
                <a:solidFill>
                  <a:srgbClr val="1764A1"/>
                </a:solidFill>
                <a:latin typeface="Arial"/>
              </a:rPr>
              <a:t>Who may call?</a:t>
            </a:r>
          </a:p>
        </p:txBody>
      </p:sp>
      <p:sp>
        <p:nvSpPr>
          <p:cNvPr id="20" name="Sello AIR: mTLS + signed token"/>
          <p:cNvSpPr txBox="1"/>
          <p:nvPr/>
        </p:nvSpPr>
        <p:spPr>
          <a:xfrm>
            <a:off x="850392" y="2980944"/>
            <a:ext cx="1947672" cy="539496"/>
          </a:xfrm>
          <a:prstGeom prst="rect">
            <a:avLst/>
          </a:prstGeom>
          <a:noFill/>
        </p:spPr>
        <p:txBody>
          <a:bodyPr wrap="square" lIns="0" rIns="0" tIns="0" bIns="0" anchor="ctr">
            <a:spAutoFit/>
          </a:bodyPr>
          <a:lstStyle/>
          <a:p>
            <a:pPr algn="l"/>
            <a:r>
              <a:rPr sz="1700" b="1" lang="en-US">
                <a:solidFill>
                  <a:srgbClr val="263440"/>
                </a:solidFill>
                <a:latin typeface="Arial"/>
              </a:rPr>
              <a:t>mTLS + signed token</a:t>
            </a:r>
          </a:p>
        </p:txBody>
      </p:sp>
      <p:sp>
        <p:nvSpPr>
          <p:cNvPr id="21" name="Sello AIR: Identity + scope / Certificate / Expiry · job owner"/>
          <p:cNvSpPr txBox="1"/>
          <p:nvPr/>
        </p:nvSpPr>
        <p:spPr>
          <a:xfrm>
            <a:off x="850392" y="3602736"/>
            <a:ext cx="1965960" cy="877824"/>
          </a:xfrm>
          <a:prstGeom prst="rect">
            <a:avLst/>
          </a:prstGeom>
          <a:noFill/>
        </p:spPr>
        <p:txBody>
          <a:bodyPr wrap="square" lIns="0" rIns="0" tIns="0" bIns="0" anchor="ctr">
            <a:spAutoFit/>
          </a:bodyPr>
          <a:lstStyle/>
          <a:p>
            <a:pPr algn="l"/>
            <a:r>
              <a:rPr sz="1550" b="0" lang="en-US">
                <a:solidFill>
                  <a:srgbClr val="263440"/>
                </a:solidFill>
                <a:latin typeface="Arial"/>
              </a:rPr>
              <a:t>Identity + scope
Certificate
Expiry · job owner</a:t>
            </a:r>
          </a:p>
        </p:txBody>
      </p:sp>
      <p:cxnSp>
        <p:nvCxnSpPr>
          <p:cNvPr id="22" name="Connector 21"/>
          <p:cNvCxnSpPr/>
          <p:nvPr/>
        </p:nvCxnSpPr>
        <p:spPr>
          <a:xfrm>
            <a:off x="2798064" y="3410712"/>
            <a:ext cx="14630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971800" y="2432304"/>
            <a:ext cx="5495544" cy="2167128"/>
          </a:xfrm>
          <a:prstGeom prst="roundRect">
            <a:avLst/>
          </a:prstGeom>
          <a:solidFill>
            <a:srgbClr val="EDF6F0"/>
          </a:solidFill>
          <a:ln w="190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AIR  /  NUMERIC INFERENCE"/>
          <p:cNvSpPr txBox="1"/>
          <p:nvPr/>
        </p:nvSpPr>
        <p:spPr>
          <a:xfrm>
            <a:off x="3154680" y="2569464"/>
            <a:ext cx="5129784" cy="301752"/>
          </a:xfrm>
          <a:prstGeom prst="rect">
            <a:avLst/>
          </a:prstGeom>
          <a:noFill/>
        </p:spPr>
        <p:txBody>
          <a:bodyPr wrap="square" lIns="0" rIns="0" tIns="0" bIns="0" anchor="ctr">
            <a:spAutoFit/>
          </a:bodyPr>
          <a:lstStyle/>
          <a:p>
            <a:pPr algn="l"/>
            <a:r>
              <a:rPr sz="1700" b="1" lang="en-US">
                <a:solidFill>
                  <a:srgbClr val="207548"/>
                </a:solidFill>
                <a:latin typeface="Arial"/>
              </a:rPr>
              <a:t>AIR  /  NUMERIC INFERENCE</a:t>
            </a:r>
          </a:p>
        </p:txBody>
      </p:sp>
      <p:sp>
        <p:nvSpPr>
          <p:cNvPr id="25" name="Rounded Rectangle 24"/>
          <p:cNvSpPr/>
          <p:nvPr/>
        </p:nvSpPr>
        <p:spPr>
          <a:xfrm>
            <a:off x="3154680" y="2962656"/>
            <a:ext cx="1481328" cy="384048"/>
          </a:xfrm>
          <a:prstGeom prst="roundRect">
            <a:avLst/>
          </a:prstGeom>
          <a:solidFill>
            <a:srgbClr val="FFFFFF"/>
          </a:solidFill>
          <a:ln w="1143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llo AIR: Model"/>
          <p:cNvSpPr txBox="1"/>
          <p:nvPr/>
        </p:nvSpPr>
        <p:spPr>
          <a:xfrm>
            <a:off x="3191256" y="2999232"/>
            <a:ext cx="1408176" cy="292608"/>
          </a:xfrm>
          <a:prstGeom prst="rect">
            <a:avLst/>
          </a:prstGeom>
          <a:noFill/>
        </p:spPr>
        <p:txBody>
          <a:bodyPr wrap="square" lIns="0" rIns="0" tIns="0" bIns="0" anchor="ctr">
            <a:spAutoFit/>
          </a:bodyPr>
          <a:lstStyle/>
          <a:p>
            <a:pPr algn="ctr"/>
            <a:r>
              <a:rPr sz="1700" b="1" lang="en-US">
                <a:solidFill>
                  <a:srgbClr val="207548"/>
                </a:solidFill>
                <a:latin typeface="Arial"/>
              </a:rPr>
              <a:t>Model</a:t>
            </a:r>
          </a:p>
        </p:txBody>
      </p:sp>
      <p:sp>
        <p:nvSpPr>
          <p:cNvPr id="27" name="Rounded Rectangle 26"/>
          <p:cNvSpPr/>
          <p:nvPr/>
        </p:nvSpPr>
        <p:spPr>
          <a:xfrm>
            <a:off x="4928616" y="2962656"/>
            <a:ext cx="1481328" cy="384048"/>
          </a:xfrm>
          <a:prstGeom prst="roundRect">
            <a:avLst/>
          </a:prstGeom>
          <a:solidFill>
            <a:srgbClr val="FFFFFF"/>
          </a:solidFill>
          <a:ln w="1143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ello AIR: Input"/>
          <p:cNvSpPr txBox="1"/>
          <p:nvPr/>
        </p:nvSpPr>
        <p:spPr>
          <a:xfrm>
            <a:off x="4965192" y="2999232"/>
            <a:ext cx="1408176" cy="292608"/>
          </a:xfrm>
          <a:prstGeom prst="rect">
            <a:avLst/>
          </a:prstGeom>
          <a:noFill/>
        </p:spPr>
        <p:txBody>
          <a:bodyPr wrap="square" lIns="0" rIns="0" tIns="0" bIns="0" anchor="ctr">
            <a:spAutoFit/>
          </a:bodyPr>
          <a:lstStyle/>
          <a:p>
            <a:pPr algn="ctr"/>
            <a:r>
              <a:rPr sz="1700" b="1" lang="en-US">
                <a:solidFill>
                  <a:srgbClr val="207548"/>
                </a:solidFill>
                <a:latin typeface="Arial"/>
              </a:rPr>
              <a:t>Input</a:t>
            </a:r>
          </a:p>
        </p:txBody>
      </p:sp>
      <p:sp>
        <p:nvSpPr>
          <p:cNvPr id="29" name="Rounded Rectangle 28"/>
          <p:cNvSpPr/>
          <p:nvPr/>
        </p:nvSpPr>
        <p:spPr>
          <a:xfrm>
            <a:off x="6702552" y="2962656"/>
            <a:ext cx="1572768" cy="384048"/>
          </a:xfrm>
          <a:prstGeom prst="roundRect">
            <a:avLst/>
          </a:prstGeom>
          <a:solidFill>
            <a:srgbClr val="FFFFFF"/>
          </a:solidFill>
          <a:ln w="1143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ello AIR: Result"/>
          <p:cNvSpPr txBox="1"/>
          <p:nvPr/>
        </p:nvSpPr>
        <p:spPr>
          <a:xfrm>
            <a:off x="6739128" y="2999232"/>
            <a:ext cx="1499616" cy="292608"/>
          </a:xfrm>
          <a:prstGeom prst="rect">
            <a:avLst/>
          </a:prstGeom>
          <a:noFill/>
        </p:spPr>
        <p:txBody>
          <a:bodyPr wrap="square" lIns="0" rIns="0" tIns="0" bIns="0" anchor="ctr">
            <a:spAutoFit/>
          </a:bodyPr>
          <a:lstStyle/>
          <a:p>
            <a:pPr algn="ctr"/>
            <a:r>
              <a:rPr sz="1700" b="1" lang="en-US">
                <a:solidFill>
                  <a:srgbClr val="207548"/>
                </a:solidFill>
                <a:latin typeface="Arial"/>
              </a:rPr>
              <a:t>Result</a:t>
            </a:r>
          </a:p>
        </p:txBody>
      </p:sp>
      <p:cxnSp>
        <p:nvCxnSpPr>
          <p:cNvPr id="31" name="Connector 30"/>
          <p:cNvCxnSpPr/>
          <p:nvPr/>
        </p:nvCxnSpPr>
        <p:spPr>
          <a:xfrm>
            <a:off x="4645152" y="3154680"/>
            <a:ext cx="256032" cy="0"/>
          </a:xfrm>
          <a:prstGeom prst="line">
            <a:avLst/>
          </a:prstGeom>
          <a:ln w="1778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19088" y="3154680"/>
            <a:ext cx="256032" cy="0"/>
          </a:xfrm>
          <a:prstGeom prst="line">
            <a:avLst/>
          </a:prstGeom>
          <a:ln w="1778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ello AIR: Signed hashes detect changed data"/>
          <p:cNvSpPr txBox="1"/>
          <p:nvPr/>
        </p:nvSpPr>
        <p:spPr>
          <a:xfrm>
            <a:off x="3154680" y="3456432"/>
            <a:ext cx="5129784" cy="329184"/>
          </a:xfrm>
          <a:prstGeom prst="rect">
            <a:avLst/>
          </a:prstGeom>
          <a:noFill/>
        </p:spPr>
        <p:txBody>
          <a:bodyPr wrap="square" lIns="0" rIns="0" tIns="0" bIns="0" anchor="ctr">
            <a:spAutoFit/>
          </a:bodyPr>
          <a:lstStyle/>
          <a:p>
            <a:pPr algn="l"/>
            <a:r>
              <a:rPr sz="1600" b="0" lang="en-US">
                <a:solidFill>
                  <a:srgbClr val="263440"/>
                </a:solidFill>
                <a:latin typeface="Arial"/>
              </a:rPr>
              <a:t>Signed hashes detect changed data</a:t>
            </a:r>
          </a:p>
        </p:txBody>
      </p:sp>
      <p:sp>
        <p:nvSpPr>
          <p:cNvPr id="34" name="Sello AIR: REPORTDATA binds key + model + input"/>
          <p:cNvSpPr txBox="1"/>
          <p:nvPr/>
        </p:nvSpPr>
        <p:spPr>
          <a:xfrm>
            <a:off x="3154680" y="3803904"/>
            <a:ext cx="5129784" cy="310896"/>
          </a:xfrm>
          <a:prstGeom prst="rect">
            <a:avLst/>
          </a:prstGeom>
          <a:noFill/>
        </p:spPr>
        <p:txBody>
          <a:bodyPr wrap="square" lIns="0" rIns="0" tIns="0" bIns="0" anchor="ctr">
            <a:spAutoFit/>
          </a:bodyPr>
          <a:lstStyle/>
          <a:p>
            <a:pPr algn="l"/>
            <a:r>
              <a:rPr sz="1550" b="0" lang="en-US">
                <a:solidFill>
                  <a:srgbClr val="263440"/>
                </a:solidFill>
                <a:latin typeface="Arial"/>
              </a:rPr>
              <a:t>REPORTDATA binds key + model + input</a:t>
            </a:r>
          </a:p>
        </p:txBody>
      </p:sp>
      <p:sp>
        <p:nvSpPr>
          <p:cNvPr id="35" name="Sello AIR: Replay RTMR3; match deployment policy"/>
          <p:cNvSpPr txBox="1"/>
          <p:nvPr/>
        </p:nvSpPr>
        <p:spPr>
          <a:xfrm>
            <a:off x="3154680" y="4151376"/>
            <a:ext cx="5129784" cy="310896"/>
          </a:xfrm>
          <a:prstGeom prst="rect">
            <a:avLst/>
          </a:prstGeom>
          <a:noFill/>
        </p:spPr>
        <p:txBody>
          <a:bodyPr wrap="square" lIns="0" rIns="0" tIns="0" bIns="0" anchor="ctr">
            <a:spAutoFit/>
          </a:bodyPr>
          <a:lstStyle/>
          <a:p>
            <a:pPr algn="l"/>
            <a:r>
              <a:rPr sz="1550" b="0" lang="en-US">
                <a:solidFill>
                  <a:srgbClr val="263440"/>
                </a:solidFill>
                <a:latin typeface="Arial"/>
              </a:rPr>
              <a:t>Replay RTMR3; match deployment policy</a:t>
            </a:r>
          </a:p>
        </p:txBody>
      </p:sp>
      <p:cxnSp>
        <p:nvCxnSpPr>
          <p:cNvPr id="36" name="Connector 35"/>
          <p:cNvCxnSpPr/>
          <p:nvPr/>
        </p:nvCxnSpPr>
        <p:spPr>
          <a:xfrm>
            <a:off x="8494776" y="3410712"/>
            <a:ext cx="173736"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Sello AIR: What was returned?"/>
          <p:cNvSpPr txBox="1"/>
          <p:nvPr/>
        </p:nvSpPr>
        <p:spPr>
          <a:xfrm>
            <a:off x="8723376" y="2551176"/>
            <a:ext cx="2596896" cy="310896"/>
          </a:xfrm>
          <a:prstGeom prst="rect">
            <a:avLst/>
          </a:prstGeom>
          <a:noFill/>
        </p:spPr>
        <p:txBody>
          <a:bodyPr wrap="square" lIns="0" rIns="0" tIns="0" bIns="0" anchor="ctr">
            <a:spAutoFit/>
          </a:bodyPr>
          <a:lstStyle/>
          <a:p>
            <a:pPr algn="l"/>
            <a:r>
              <a:rPr sz="1800" b="1" lang="en-US">
                <a:solidFill>
                  <a:srgbClr val="1764A1"/>
                </a:solidFill>
                <a:latin typeface="Arial"/>
              </a:rPr>
              <a:t>What was returned?</a:t>
            </a:r>
          </a:p>
        </p:txBody>
      </p:sp>
      <p:sp>
        <p:nvSpPr>
          <p:cNvPr id="38" name="Sello AIR: Receiver signs the receipt"/>
          <p:cNvSpPr txBox="1"/>
          <p:nvPr/>
        </p:nvSpPr>
        <p:spPr>
          <a:xfrm>
            <a:off x="8723376" y="2980944"/>
            <a:ext cx="2587752" cy="539496"/>
          </a:xfrm>
          <a:prstGeom prst="rect">
            <a:avLst/>
          </a:prstGeom>
          <a:noFill/>
        </p:spPr>
        <p:txBody>
          <a:bodyPr wrap="square" lIns="0" rIns="0" tIns="0" bIns="0" anchor="ctr">
            <a:spAutoFit/>
          </a:bodyPr>
          <a:lstStyle/>
          <a:p>
            <a:pPr algn="l"/>
            <a:r>
              <a:rPr sz="1700" b="1" lang="en-US">
                <a:solidFill>
                  <a:srgbClr val="263440"/>
                </a:solidFill>
                <a:latin typeface="Arial"/>
              </a:rPr>
              <a:t>Receiver signs the receipt</a:t>
            </a:r>
          </a:p>
        </p:txBody>
      </p:sp>
      <p:sp>
        <p:nvSpPr>
          <p:cNvPr id="39" name="Sello AIR: Action · I/O hashes / Token · status"/>
          <p:cNvSpPr txBox="1"/>
          <p:nvPr/>
        </p:nvSpPr>
        <p:spPr>
          <a:xfrm>
            <a:off x="8723376" y="3621024"/>
            <a:ext cx="2578608" cy="548640"/>
          </a:xfrm>
          <a:prstGeom prst="rect">
            <a:avLst/>
          </a:prstGeom>
          <a:noFill/>
        </p:spPr>
        <p:txBody>
          <a:bodyPr wrap="square" lIns="0" rIns="0" tIns="0" bIns="0" anchor="ctr">
            <a:spAutoFit/>
          </a:bodyPr>
          <a:lstStyle/>
          <a:p>
            <a:pPr algn="l"/>
            <a:r>
              <a:rPr sz="1550" b="0" lang="en-US">
                <a:solidFill>
                  <a:srgbClr val="263440"/>
                </a:solidFill>
                <a:latin typeface="Arial"/>
              </a:rPr>
              <a:t>Action · I/O hashes
Token · status</a:t>
            </a:r>
          </a:p>
        </p:txBody>
      </p:sp>
      <p:sp>
        <p:nvSpPr>
          <p:cNvPr id="40" name="Sello AIR: HPKE: owner only"/>
          <p:cNvSpPr txBox="1"/>
          <p:nvPr/>
        </p:nvSpPr>
        <p:spPr>
          <a:xfrm>
            <a:off x="8723376" y="4224528"/>
            <a:ext cx="2578608" cy="393192"/>
          </a:xfrm>
          <a:prstGeom prst="rect">
            <a:avLst/>
          </a:prstGeom>
          <a:noFill/>
        </p:spPr>
        <p:txBody>
          <a:bodyPr wrap="square" lIns="0" rIns="0" tIns="0" bIns="0" anchor="ctr">
            <a:spAutoFit/>
          </a:bodyPr>
          <a:lstStyle/>
          <a:p>
            <a:pPr algn="l"/>
            <a:r>
              <a:rPr sz="1550" b="1" lang="en-US">
                <a:solidFill>
                  <a:srgbClr val="1764A1"/>
                </a:solidFill>
                <a:latin typeface="Arial"/>
              </a:rPr>
              <a:t>HPKE: owner only</a:t>
            </a:r>
          </a:p>
        </p:txBody>
      </p:sp>
      <p:sp>
        <p:nvSpPr>
          <p:cNvPr id="41" name="Rounded Rectangle 40"/>
          <p:cNvSpPr/>
          <p:nvPr/>
        </p:nvSpPr>
        <p:spPr>
          <a:xfrm>
            <a:off x="630936" y="4910328"/>
            <a:ext cx="10917936" cy="576072"/>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ello AIR: Log"/>
          <p:cNvSpPr txBox="1"/>
          <p:nvPr/>
        </p:nvSpPr>
        <p:spPr>
          <a:xfrm>
            <a:off x="813816" y="5020056"/>
            <a:ext cx="1298448" cy="292608"/>
          </a:xfrm>
          <a:prstGeom prst="rect">
            <a:avLst/>
          </a:prstGeom>
          <a:noFill/>
        </p:spPr>
        <p:txBody>
          <a:bodyPr wrap="square" lIns="0" rIns="0" tIns="0" bIns="0" anchor="ctr">
            <a:spAutoFit/>
          </a:bodyPr>
          <a:lstStyle/>
          <a:p>
            <a:pPr algn="l"/>
            <a:r>
              <a:rPr sz="1800" b="1" lang="en-US">
                <a:solidFill>
                  <a:srgbClr val="7446A6"/>
                </a:solidFill>
                <a:latin typeface="Arial"/>
              </a:rPr>
              <a:t>Log</a:t>
            </a:r>
          </a:p>
        </p:txBody>
      </p:sp>
      <p:sp>
        <p:nvSpPr>
          <p:cNvPr id="43" name="Sello AIR: Sello before reply  →  agent checks SCITT  →  AIR registered separately"/>
          <p:cNvSpPr txBox="1"/>
          <p:nvPr/>
        </p:nvSpPr>
        <p:spPr>
          <a:xfrm>
            <a:off x="2295144" y="4946904"/>
            <a:ext cx="9043416" cy="256032"/>
          </a:xfrm>
          <a:prstGeom prst="rect">
            <a:avLst/>
          </a:prstGeom>
          <a:noFill/>
        </p:spPr>
        <p:txBody>
          <a:bodyPr wrap="square" lIns="0" rIns="0" tIns="0" bIns="0" anchor="ctr">
            <a:spAutoFit/>
          </a:bodyPr>
          <a:lstStyle/>
          <a:p>
            <a:pPr algn="l"/>
            <a:r>
              <a:rPr sz="1600" b="0" lang="en-US">
                <a:solidFill>
                  <a:srgbClr val="263440"/>
                </a:solidFill>
                <a:latin typeface="Arial"/>
              </a:rPr>
              <a:t>Sello before reply  →  agent checks SCITT  →  AIR registered separately</a:t>
            </a:r>
          </a:p>
        </p:txBody>
      </p:sp>
      <p:sp>
        <p:nvSpPr>
          <p:cNvPr id="44" name="Sello AIR: HPKE protects the Sello receipt only; the AIR bundle includes plaintext input/output."/>
          <p:cNvSpPr txBox="1"/>
          <p:nvPr/>
        </p:nvSpPr>
        <p:spPr>
          <a:xfrm>
            <a:off x="2295144" y="5221224"/>
            <a:ext cx="9043416" cy="219456"/>
          </a:xfrm>
          <a:prstGeom prst="rect">
            <a:avLst/>
          </a:prstGeom>
          <a:noFill/>
        </p:spPr>
        <p:txBody>
          <a:bodyPr wrap="square" lIns="0" rIns="0" tIns="0" bIns="0" anchor="ctr">
            <a:spAutoFit/>
          </a:bodyPr>
          <a:lstStyle/>
          <a:p>
            <a:pPr algn="l"/>
            <a:r>
              <a:rPr sz="1350" b="0" lang="en-US">
                <a:solidFill>
                  <a:srgbClr val="67747C"/>
                </a:solidFill>
                <a:latin typeface="Arial"/>
              </a:rPr>
              <a:t>HPKE protects the Sello receipt only; the AIR bundle includes plaintext input/output.</a:t>
            </a:r>
          </a:p>
        </p:txBody>
      </p:sp>
      <p:sp>
        <p:nvSpPr>
          <p:cNvPr id="45" name="Sello AIR: Scope: per-inference Intel quote verification is absent; TEE trust relies on prior worker admission."/>
          <p:cNvSpPr txBox="1"/>
          <p:nvPr/>
        </p:nvSpPr>
        <p:spPr>
          <a:xfrm>
            <a:off x="630936" y="5568696"/>
            <a:ext cx="10936224" cy="265176"/>
          </a:xfrm>
          <a:prstGeom prst="rect">
            <a:avLst/>
          </a:prstGeom>
          <a:noFill/>
        </p:spPr>
        <p:txBody>
          <a:bodyPr wrap="square" lIns="0" rIns="0" tIns="0" bIns="0" anchor="ctr">
            <a:spAutoFit/>
          </a:bodyPr>
          <a:lstStyle/>
          <a:p>
            <a:pPr algn="l"/>
            <a:r>
              <a:rPr sz="1200" b="0" lang="en-US">
                <a:solidFill>
                  <a:srgbClr val="986021"/>
                </a:solidFill>
                <a:latin typeface="Arial"/>
              </a:rPr>
              <a:t>Scope: per-inference Intel quote verification is absent; TEE trust relies on prior worker admission.</a:t>
            </a:r>
          </a:p>
        </p:txBody>
      </p:sp>
      <p:sp>
        <p:nvSpPr>
          <p:cNvPr id="46"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47"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which changes are detected?</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D</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2"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4" name="Sello AIR: Sello verifies the tool interaction; AIR binds the numeric inference evid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verifies the tool interaction; AIR binds the numeric inference evidence.</a:t>
            </a:r>
          </a:p>
        </p:txBody>
      </p:sp>
      <p:sp>
        <p:nvSpPr>
          <p:cNvPr id="15" name="Sello AIR: SCENARIO"/>
          <p:cNvSpPr txBox="1"/>
          <p:nvPr/>
        </p:nvSpPr>
        <p:spPr>
          <a:xfrm>
            <a:off x="768096" y="1874519"/>
            <a:ext cx="2212848" cy="265176"/>
          </a:xfrm>
          <a:prstGeom prst="rect">
            <a:avLst/>
          </a:prstGeom>
          <a:noFill/>
        </p:spPr>
        <p:txBody>
          <a:bodyPr wrap="square" lIns="0" rIns="0" tIns="0" bIns="0" anchor="ctr">
            <a:spAutoFit/>
          </a:bodyPr>
          <a:lstStyle/>
          <a:p>
            <a:pPr algn="l"/>
            <a:r>
              <a:rPr sz="1200" b="1" lang="en-US">
                <a:solidFill>
                  <a:srgbClr val="67747C"/>
                </a:solidFill>
                <a:latin typeface="Arial"/>
              </a:rPr>
              <a:t>SCENARIO</a:t>
            </a:r>
          </a:p>
        </p:txBody>
      </p:sp>
      <p:sp>
        <p:nvSpPr>
          <p:cNvPr id="16" name="Sello AIR: IMPLEMENTED CHECK"/>
          <p:cNvSpPr txBox="1"/>
          <p:nvPr/>
        </p:nvSpPr>
        <p:spPr>
          <a:xfrm>
            <a:off x="3182112" y="1874519"/>
            <a:ext cx="4736592" cy="265176"/>
          </a:xfrm>
          <a:prstGeom prst="rect">
            <a:avLst/>
          </a:prstGeom>
          <a:noFill/>
        </p:spPr>
        <p:txBody>
          <a:bodyPr wrap="square" lIns="0" rIns="0" tIns="0" bIns="0" anchor="ctr">
            <a:spAutoFit/>
          </a:bodyPr>
          <a:lstStyle/>
          <a:p>
            <a:pPr algn="l"/>
            <a:r>
              <a:rPr sz="1200" b="1" lang="en-US">
                <a:solidFill>
                  <a:srgbClr val="67747C"/>
                </a:solidFill>
                <a:latin typeface="Arial"/>
              </a:rPr>
              <a:t>IMPLEMENTED CHECK</a:t>
            </a:r>
          </a:p>
        </p:txBody>
      </p:sp>
      <p:sp>
        <p:nvSpPr>
          <p:cNvPr id="17" name="Sello AIR: ENFORCED OUTCOME"/>
          <p:cNvSpPr txBox="1"/>
          <p:nvPr/>
        </p:nvSpPr>
        <p:spPr>
          <a:xfrm>
            <a:off x="8220456" y="1874519"/>
            <a:ext cx="3145536" cy="265176"/>
          </a:xfrm>
          <a:prstGeom prst="rect">
            <a:avLst/>
          </a:prstGeom>
          <a:noFill/>
        </p:spPr>
        <p:txBody>
          <a:bodyPr wrap="square" lIns="0" rIns="0" tIns="0" bIns="0" anchor="ctr">
            <a:spAutoFit/>
          </a:bodyPr>
          <a:lstStyle/>
          <a:p>
            <a:pPr algn="l"/>
            <a:r>
              <a:rPr sz="1200" b="1" lang="en-US">
                <a:solidFill>
                  <a:srgbClr val="67747C"/>
                </a:solidFill>
                <a:latin typeface="Arial"/>
              </a:rPr>
              <a:t>ENFORCED OUTCOME</a:t>
            </a:r>
          </a:p>
        </p:txBody>
      </p:sp>
      <p:cxnSp>
        <p:nvCxnSpPr>
          <p:cNvPr id="18" name="Connector 17"/>
          <p:cNvCxnSpPr/>
          <p:nvPr/>
        </p:nvCxnSpPr>
        <p:spPr>
          <a:xfrm>
            <a:off x="630936" y="2194560"/>
            <a:ext cx="1091793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30936" y="2318004"/>
            <a:ext cx="32004" cy="329184"/>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llo AIR: Unauthorized caller"/>
          <p:cNvSpPr txBox="1"/>
          <p:nvPr/>
        </p:nvSpPr>
        <p:spPr>
          <a:xfrm>
            <a:off x="768096" y="2223820"/>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Unauthorized caller</a:t>
            </a:r>
          </a:p>
        </p:txBody>
      </p:sp>
      <p:sp>
        <p:nvSpPr>
          <p:cNvPr id="21" name="Sello AIR: Sello · mTLS + signed token: subject, audience, / scope, certificate thumbprint and expiry"/>
          <p:cNvSpPr txBox="1"/>
          <p:nvPr/>
        </p:nvSpPr>
        <p:spPr>
          <a:xfrm>
            <a:off x="3182112" y="2223820"/>
            <a:ext cx="4736592" cy="525780"/>
          </a:xfrm>
          <a:prstGeom prst="rect">
            <a:avLst/>
          </a:prstGeom>
          <a:noFill/>
        </p:spPr>
        <p:txBody>
          <a:bodyPr wrap="square" lIns="0" rIns="0" tIns="0" bIns="0" anchor="ctr">
            <a:spAutoFit/>
          </a:bodyPr>
          <a:lstStyle/>
          <a:p>
            <a:pPr algn="l"/>
            <a:r>
              <a:rPr sz="1540" b="0" lang="en-US">
                <a:solidFill>
                  <a:srgbClr val="1764A1"/>
                </a:solidFill>
                <a:latin typeface="Arial"/>
              </a:rPr>
              <a:t>Sello · mTLS + signed token: subject, audience,
scope, certificate thumbprint and expiry</a:t>
            </a:r>
          </a:p>
        </p:txBody>
      </p:sp>
      <p:sp>
        <p:nvSpPr>
          <p:cNvPr id="22" name="Sello AIR: Rejects identity, scope / or token mismatches"/>
          <p:cNvSpPr txBox="1"/>
          <p:nvPr/>
        </p:nvSpPr>
        <p:spPr>
          <a:xfrm>
            <a:off x="8220456" y="2223820"/>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Rejects identity, scope
or token mismatches</a:t>
            </a:r>
          </a:p>
        </p:txBody>
      </p:sp>
      <p:cxnSp>
        <p:nvCxnSpPr>
          <p:cNvPr id="23" name="Connector 22"/>
          <p:cNvCxnSpPr/>
          <p:nvPr/>
        </p:nvCxnSpPr>
        <p:spPr>
          <a:xfrm>
            <a:off x="630936" y="2756916"/>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30936" y="2852928"/>
            <a:ext cx="32004" cy="329184"/>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IR: Substituted tool result"/>
          <p:cNvSpPr txBox="1"/>
          <p:nvPr/>
        </p:nvSpPr>
        <p:spPr>
          <a:xfrm>
            <a:off x="768096" y="2758744"/>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Substituted tool result</a:t>
            </a:r>
          </a:p>
        </p:txBody>
      </p:sp>
      <p:sp>
        <p:nvSpPr>
          <p:cNvPr id="26" name="Sello AIR: Sello · receiver signature: action, exact I/O, / token reference and result status"/>
          <p:cNvSpPr txBox="1"/>
          <p:nvPr/>
        </p:nvSpPr>
        <p:spPr>
          <a:xfrm>
            <a:off x="3182112" y="2758744"/>
            <a:ext cx="4736592" cy="525780"/>
          </a:xfrm>
          <a:prstGeom prst="rect">
            <a:avLst/>
          </a:prstGeom>
          <a:noFill/>
        </p:spPr>
        <p:txBody>
          <a:bodyPr wrap="square" lIns="0" rIns="0" tIns="0" bIns="0" anchor="ctr">
            <a:spAutoFit/>
          </a:bodyPr>
          <a:lstStyle/>
          <a:p>
            <a:pPr algn="l"/>
            <a:r>
              <a:rPr sz="1540" b="0" lang="en-US">
                <a:solidFill>
                  <a:srgbClr val="1764A1"/>
                </a:solidFill>
                <a:latin typeface="Arial"/>
              </a:rPr>
              <a:t>Sello · receiver signature: action, exact I/O,
token reference and result status</a:t>
            </a:r>
          </a:p>
        </p:txBody>
      </p:sp>
      <p:sp>
        <p:nvSpPr>
          <p:cNvPr id="27" name="Sello AIR: Detects substituted / tool input or output"/>
          <p:cNvSpPr txBox="1"/>
          <p:nvPr/>
        </p:nvSpPr>
        <p:spPr>
          <a:xfrm>
            <a:off x="8220456" y="2758744"/>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Detects substituted
tool input or output</a:t>
            </a:r>
          </a:p>
        </p:txBody>
      </p:sp>
      <p:cxnSp>
        <p:nvCxnSpPr>
          <p:cNvPr id="28" name="Connector 27"/>
          <p:cNvCxnSpPr/>
          <p:nvPr/>
        </p:nvCxnSpPr>
        <p:spPr>
          <a:xfrm>
            <a:off x="630936" y="3291840"/>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30936" y="3387852"/>
            <a:ext cx="32004" cy="329184"/>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ello AIR: Exposed receipt body"/>
          <p:cNvSpPr txBox="1"/>
          <p:nvPr/>
        </p:nvSpPr>
        <p:spPr>
          <a:xfrm>
            <a:off x="768096" y="3293668"/>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Exposed receipt body</a:t>
            </a:r>
          </a:p>
        </p:txBody>
      </p:sp>
      <p:sp>
        <p:nvSpPr>
          <p:cNvPr id="31" name="Sello AIR: Sello · HPKE encryption to the owner’s key"/>
          <p:cNvSpPr txBox="1"/>
          <p:nvPr/>
        </p:nvSpPr>
        <p:spPr>
          <a:xfrm>
            <a:off x="3182112" y="3293668"/>
            <a:ext cx="4736592" cy="525780"/>
          </a:xfrm>
          <a:prstGeom prst="rect">
            <a:avLst/>
          </a:prstGeom>
          <a:noFill/>
        </p:spPr>
        <p:txBody>
          <a:bodyPr wrap="square" lIns="0" rIns="0" tIns="0" bIns="0" anchor="ctr">
            <a:spAutoFit/>
          </a:bodyPr>
          <a:lstStyle/>
          <a:p>
            <a:pPr algn="l"/>
            <a:r>
              <a:rPr sz="1540" b="0" lang="en-US">
                <a:solidFill>
                  <a:srgbClr val="1764A1"/>
                </a:solidFill>
                <a:latin typeface="Arial"/>
              </a:rPr>
              <a:t>Sello · HPKE encryption to the owner’s key</a:t>
            </a:r>
          </a:p>
        </p:txBody>
      </p:sp>
      <p:sp>
        <p:nvSpPr>
          <p:cNvPr id="32" name="Sello AIR: Hides the Sello body; / AIR bundle is plaintext"/>
          <p:cNvSpPr txBox="1"/>
          <p:nvPr/>
        </p:nvSpPr>
        <p:spPr>
          <a:xfrm>
            <a:off x="8220456" y="3293668"/>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Hides the Sello body;
AIR bundle is plaintext</a:t>
            </a:r>
          </a:p>
        </p:txBody>
      </p:sp>
      <p:cxnSp>
        <p:nvCxnSpPr>
          <p:cNvPr id="33" name="Connector 32"/>
          <p:cNvCxnSpPr/>
          <p:nvPr/>
        </p:nvCxnSpPr>
        <p:spPr>
          <a:xfrm>
            <a:off x="630936" y="3826764"/>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30936" y="3922776"/>
            <a:ext cx="32004" cy="329184"/>
          </a:xfrm>
          <a:prstGeom prst="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ello AIR: Swapped inference data"/>
          <p:cNvSpPr txBox="1"/>
          <p:nvPr/>
        </p:nvSpPr>
        <p:spPr>
          <a:xfrm>
            <a:off x="768096" y="3828592"/>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Swapped inference data</a:t>
            </a:r>
          </a:p>
        </p:txBody>
      </p:sp>
      <p:sp>
        <p:nvSpPr>
          <p:cNvPr id="36" name="Sello AIR: AIR · signed data / quote hashes; REPORTDATA / binds AIR key, manifest and request"/>
          <p:cNvSpPr txBox="1"/>
          <p:nvPr/>
        </p:nvSpPr>
        <p:spPr>
          <a:xfrm>
            <a:off x="3182112" y="3828592"/>
            <a:ext cx="4736592" cy="525780"/>
          </a:xfrm>
          <a:prstGeom prst="rect">
            <a:avLst/>
          </a:prstGeom>
          <a:noFill/>
        </p:spPr>
        <p:txBody>
          <a:bodyPr wrap="square" lIns="0" rIns="0" tIns="0" bIns="0" anchor="ctr">
            <a:spAutoFit/>
          </a:bodyPr>
          <a:lstStyle/>
          <a:p>
            <a:pPr algn="l"/>
            <a:r>
              <a:rPr sz="1540" b="0" lang="en-US">
                <a:solidFill>
                  <a:srgbClr val="207548"/>
                </a:solidFill>
                <a:latin typeface="Arial"/>
              </a:rPr>
              <a:t>AIR · signed data / quote hashes; REPORTDATA
binds AIR key, manifest and request</a:t>
            </a:r>
          </a:p>
        </p:txBody>
      </p:sp>
      <p:sp>
        <p:nvSpPr>
          <p:cNvPr id="37" name="Sello AIR: Detects data and / quote-binding mismatches"/>
          <p:cNvSpPr txBox="1"/>
          <p:nvPr/>
        </p:nvSpPr>
        <p:spPr>
          <a:xfrm>
            <a:off x="8220456" y="3828592"/>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Detects data and
quote-binding mismatches</a:t>
            </a:r>
          </a:p>
        </p:txBody>
      </p:sp>
      <p:cxnSp>
        <p:nvCxnSpPr>
          <p:cNvPr id="38" name="Connector 37"/>
          <p:cNvCxnSpPr/>
          <p:nvPr/>
        </p:nvCxnSpPr>
        <p:spPr>
          <a:xfrm>
            <a:off x="630936" y="4361688"/>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30936" y="4457700"/>
            <a:ext cx="32004" cy="329184"/>
          </a:xfrm>
          <a:prstGeom prst="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AIR: Different deployment"/>
          <p:cNvSpPr txBox="1"/>
          <p:nvPr/>
        </p:nvSpPr>
        <p:spPr>
          <a:xfrm>
            <a:off x="768096" y="4363516"/>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Different deployment</a:t>
            </a:r>
          </a:p>
        </p:txBody>
      </p:sp>
      <p:sp>
        <p:nvSpPr>
          <p:cNvPr id="41" name="Sello AIR: AIR · RTMR3 replay; Compose / image; / chain, storage, registry and RPC checks"/>
          <p:cNvSpPr txBox="1"/>
          <p:nvPr/>
        </p:nvSpPr>
        <p:spPr>
          <a:xfrm>
            <a:off x="3182112" y="4363516"/>
            <a:ext cx="4736592" cy="525780"/>
          </a:xfrm>
          <a:prstGeom prst="rect">
            <a:avLst/>
          </a:prstGeom>
          <a:noFill/>
        </p:spPr>
        <p:txBody>
          <a:bodyPr wrap="square" lIns="0" rIns="0" tIns="0" bIns="0" anchor="ctr">
            <a:spAutoFit/>
          </a:bodyPr>
          <a:lstStyle/>
          <a:p>
            <a:pPr algn="l"/>
            <a:r>
              <a:rPr sz="1540" b="0" lang="en-US">
                <a:solidFill>
                  <a:srgbClr val="207548"/>
                </a:solidFill>
                <a:latin typeface="Arial"/>
              </a:rPr>
              <a:t>AIR · RTMR3 replay; Compose / image;
chain, storage, registry and RPC checks</a:t>
            </a:r>
          </a:p>
        </p:txBody>
      </p:sp>
      <p:sp>
        <p:nvSpPr>
          <p:cNvPr id="42" name="Sello AIR: Rejects configuration / outside the expected policy"/>
          <p:cNvSpPr txBox="1"/>
          <p:nvPr/>
        </p:nvSpPr>
        <p:spPr>
          <a:xfrm>
            <a:off x="8220456" y="4363516"/>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Rejects configuration
outside the expected policy</a:t>
            </a:r>
          </a:p>
        </p:txBody>
      </p:sp>
      <p:cxnSp>
        <p:nvCxnSpPr>
          <p:cNvPr id="43" name="Connector 42"/>
          <p:cNvCxnSpPr/>
          <p:nvPr/>
        </p:nvCxnSpPr>
        <p:spPr>
          <a:xfrm>
            <a:off x="630936" y="4896612"/>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30936" y="4992624"/>
            <a:ext cx="32004" cy="329184"/>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ello AIR: Missing log entry"/>
          <p:cNvSpPr txBox="1"/>
          <p:nvPr/>
        </p:nvSpPr>
        <p:spPr>
          <a:xfrm>
            <a:off x="768096" y="4898440"/>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Missing log entry</a:t>
            </a:r>
          </a:p>
        </p:txBody>
      </p:sp>
      <p:sp>
        <p:nvSpPr>
          <p:cNvPr id="46" name="Sello AIR: SCITT · publication receipts verified / before a successful verified tool result"/>
          <p:cNvSpPr txBox="1"/>
          <p:nvPr/>
        </p:nvSpPr>
        <p:spPr>
          <a:xfrm>
            <a:off x="3182112" y="4898440"/>
            <a:ext cx="4736592" cy="525780"/>
          </a:xfrm>
          <a:prstGeom prst="rect">
            <a:avLst/>
          </a:prstGeom>
          <a:noFill/>
        </p:spPr>
        <p:txBody>
          <a:bodyPr wrap="square" lIns="0" rIns="0" tIns="0" bIns="0" anchor="ctr">
            <a:spAutoFit/>
          </a:bodyPr>
          <a:lstStyle/>
          <a:p>
            <a:pPr algn="l"/>
            <a:r>
              <a:rPr sz="1540" b="0" lang="en-US">
                <a:solidFill>
                  <a:srgbClr val="7446A6"/>
                </a:solidFill>
                <a:latin typeface="Arial"/>
              </a:rPr>
              <a:t>SCITT · publication receipts verified
before a successful verified tool result</a:t>
            </a:r>
          </a:p>
        </p:txBody>
      </p:sp>
      <p:sp>
        <p:nvSpPr>
          <p:cNvPr id="47" name="Sello AIR: Withholds success; / execution is not rolled back"/>
          <p:cNvSpPr txBox="1"/>
          <p:nvPr/>
        </p:nvSpPr>
        <p:spPr>
          <a:xfrm>
            <a:off x="8220456" y="4898440"/>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Withholds success;
execution is not rolled back</a:t>
            </a:r>
          </a:p>
        </p:txBody>
      </p:sp>
      <p:cxnSp>
        <p:nvCxnSpPr>
          <p:cNvPr id="48" name="Connector 47"/>
          <p:cNvCxnSpPr/>
          <p:nvPr/>
        </p:nvCxnSpPr>
        <p:spPr>
          <a:xfrm>
            <a:off x="630936" y="5431536"/>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49" name="Sello AIR: Scope: per-inference Intel quote verification is absent; TEE trust relies on prior worker admission."/>
          <p:cNvSpPr txBox="1"/>
          <p:nvPr/>
        </p:nvSpPr>
        <p:spPr>
          <a:xfrm>
            <a:off x="630936" y="5568696"/>
            <a:ext cx="10936224" cy="265176"/>
          </a:xfrm>
          <a:prstGeom prst="rect">
            <a:avLst/>
          </a:prstGeom>
          <a:noFill/>
        </p:spPr>
        <p:txBody>
          <a:bodyPr wrap="square" lIns="0" rIns="0" tIns="0" bIns="0" anchor="ctr">
            <a:spAutoFit/>
          </a:bodyPr>
          <a:lstStyle/>
          <a:p>
            <a:pPr algn="l"/>
            <a:r>
              <a:rPr sz="1200" b="0" lang="en-US">
                <a:solidFill>
                  <a:srgbClr val="986021"/>
                </a:solidFill>
                <a:latin typeface="Arial"/>
              </a:rPr>
              <a:t>Scope: per-inference Intel quote verification is absent; TEE trust relies on prior worker admission.</a:t>
            </a:r>
          </a:p>
        </p:txBody>
      </p:sp>
      <p:sp>
        <p:nvSpPr>
          <p:cNvPr id="50"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51"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Sello and AIR: tasks and guarantees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Four alternative combined single slides: comparison, workflow, scope map and manipulation matrix</dc:subject>
  <cp:keywords>VITA-FL, DFL, TEE, attested inference, transparency log</cp:keywords>
  <dc:language>en-US</dc:language>
</cp:coreProperties>
</file>