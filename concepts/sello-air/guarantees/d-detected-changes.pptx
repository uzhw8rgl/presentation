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D</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 AIR: which changes are detected?</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D</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verifies the tool interaction; AIR binds the numeric inference evid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verifies the tool interaction; AIR binds the numeric inference evidence.</a:t>
            </a:r>
          </a:p>
        </p:txBody>
      </p:sp>
      <p:sp>
        <p:nvSpPr>
          <p:cNvPr id="15" name="Sello AIR: SCENARIO"/>
          <p:cNvSpPr txBox="1"/>
          <p:nvPr/>
        </p:nvSpPr>
        <p:spPr>
          <a:xfrm>
            <a:off x="768096" y="1874519"/>
            <a:ext cx="2212848" cy="265176"/>
          </a:xfrm>
          <a:prstGeom prst="rect">
            <a:avLst/>
          </a:prstGeom>
          <a:noFill/>
        </p:spPr>
        <p:txBody>
          <a:bodyPr wrap="square" lIns="0" rIns="0" tIns="0" bIns="0" anchor="ctr">
            <a:spAutoFit/>
          </a:bodyPr>
          <a:lstStyle/>
          <a:p>
            <a:pPr algn="l"/>
            <a:r>
              <a:rPr sz="1200" b="1" lang="en-US">
                <a:solidFill>
                  <a:srgbClr val="67747C"/>
                </a:solidFill>
                <a:latin typeface="Arial"/>
              </a:rPr>
              <a:t>SCENARIO</a:t>
            </a:r>
          </a:p>
        </p:txBody>
      </p:sp>
      <p:sp>
        <p:nvSpPr>
          <p:cNvPr id="16" name="Sello AIR: IMPLEMENTED CHECK"/>
          <p:cNvSpPr txBox="1"/>
          <p:nvPr/>
        </p:nvSpPr>
        <p:spPr>
          <a:xfrm>
            <a:off x="3182112" y="1874519"/>
            <a:ext cx="4736592" cy="265176"/>
          </a:xfrm>
          <a:prstGeom prst="rect">
            <a:avLst/>
          </a:prstGeom>
          <a:noFill/>
        </p:spPr>
        <p:txBody>
          <a:bodyPr wrap="square" lIns="0" rIns="0" tIns="0" bIns="0" anchor="ctr">
            <a:spAutoFit/>
          </a:bodyPr>
          <a:lstStyle/>
          <a:p>
            <a:pPr algn="l"/>
            <a:r>
              <a:rPr sz="1200" b="1" lang="en-US">
                <a:solidFill>
                  <a:srgbClr val="67747C"/>
                </a:solidFill>
                <a:latin typeface="Arial"/>
              </a:rPr>
              <a:t>IMPLEMENTED CHECK</a:t>
            </a:r>
          </a:p>
        </p:txBody>
      </p:sp>
      <p:sp>
        <p:nvSpPr>
          <p:cNvPr id="17" name="Sello AIR: ENFORCED OUTCOME"/>
          <p:cNvSpPr txBox="1"/>
          <p:nvPr/>
        </p:nvSpPr>
        <p:spPr>
          <a:xfrm>
            <a:off x="8220456" y="1874519"/>
            <a:ext cx="3145536" cy="265176"/>
          </a:xfrm>
          <a:prstGeom prst="rect">
            <a:avLst/>
          </a:prstGeom>
          <a:noFill/>
        </p:spPr>
        <p:txBody>
          <a:bodyPr wrap="square" lIns="0" rIns="0" tIns="0" bIns="0" anchor="ctr">
            <a:spAutoFit/>
          </a:bodyPr>
          <a:lstStyle/>
          <a:p>
            <a:pPr algn="l"/>
            <a:r>
              <a:rPr sz="1200" b="1" lang="en-US">
                <a:solidFill>
                  <a:srgbClr val="67747C"/>
                </a:solidFill>
                <a:latin typeface="Arial"/>
              </a:rPr>
              <a:t>ENFORCED OUTCOME</a:t>
            </a:r>
          </a:p>
        </p:txBody>
      </p:sp>
      <p:cxnSp>
        <p:nvCxnSpPr>
          <p:cNvPr id="18" name="Connector 17"/>
          <p:cNvCxnSpPr/>
          <p:nvPr/>
        </p:nvCxnSpPr>
        <p:spPr>
          <a:xfrm>
            <a:off x="630936" y="2194560"/>
            <a:ext cx="1091793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30936" y="2318004"/>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ello AIR: Unauthorized caller"/>
          <p:cNvSpPr txBox="1"/>
          <p:nvPr/>
        </p:nvSpPr>
        <p:spPr>
          <a:xfrm>
            <a:off x="768096" y="2223820"/>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Unauthorized caller</a:t>
            </a:r>
          </a:p>
        </p:txBody>
      </p:sp>
      <p:sp>
        <p:nvSpPr>
          <p:cNvPr id="21" name="Sello AIR: Sello · mTLS + signed token: subject, audience, / scope, certificate thumbprint and expiry"/>
          <p:cNvSpPr txBox="1"/>
          <p:nvPr/>
        </p:nvSpPr>
        <p:spPr>
          <a:xfrm>
            <a:off x="3182112" y="2223820"/>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mTLS + signed token: subject, audience,
scope, certificate thumbprint and expiry</a:t>
            </a:r>
          </a:p>
        </p:txBody>
      </p:sp>
      <p:sp>
        <p:nvSpPr>
          <p:cNvPr id="22" name="Sello AIR: Rejects identity, scope / or token mismatches"/>
          <p:cNvSpPr txBox="1"/>
          <p:nvPr/>
        </p:nvSpPr>
        <p:spPr>
          <a:xfrm>
            <a:off x="8220456" y="2223820"/>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Rejects identity, scope
or token mismatches</a:t>
            </a:r>
          </a:p>
        </p:txBody>
      </p:sp>
      <p:cxnSp>
        <p:nvCxnSpPr>
          <p:cNvPr id="23" name="Connector 22"/>
          <p:cNvCxnSpPr/>
          <p:nvPr/>
        </p:nvCxnSpPr>
        <p:spPr>
          <a:xfrm>
            <a:off x="630936" y="2756916"/>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30936" y="2852928"/>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IR: Substituted tool result"/>
          <p:cNvSpPr txBox="1"/>
          <p:nvPr/>
        </p:nvSpPr>
        <p:spPr>
          <a:xfrm>
            <a:off x="768096" y="2758744"/>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Substituted tool result</a:t>
            </a:r>
          </a:p>
        </p:txBody>
      </p:sp>
      <p:sp>
        <p:nvSpPr>
          <p:cNvPr id="26" name="Sello AIR: Sello · receiver signature: action, exact I/O, / token reference and result status"/>
          <p:cNvSpPr txBox="1"/>
          <p:nvPr/>
        </p:nvSpPr>
        <p:spPr>
          <a:xfrm>
            <a:off x="3182112" y="2758744"/>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receiver signature: action, exact I/O,
token reference and result status</a:t>
            </a:r>
          </a:p>
        </p:txBody>
      </p:sp>
      <p:sp>
        <p:nvSpPr>
          <p:cNvPr id="27" name="Sello AIR: Detects substituted / tool input or output"/>
          <p:cNvSpPr txBox="1"/>
          <p:nvPr/>
        </p:nvSpPr>
        <p:spPr>
          <a:xfrm>
            <a:off x="8220456" y="2758744"/>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Detects substituted
tool input or output</a:t>
            </a:r>
          </a:p>
        </p:txBody>
      </p:sp>
      <p:cxnSp>
        <p:nvCxnSpPr>
          <p:cNvPr id="28" name="Connector 27"/>
          <p:cNvCxnSpPr/>
          <p:nvPr/>
        </p:nvCxnSpPr>
        <p:spPr>
          <a:xfrm>
            <a:off x="630936" y="3291840"/>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30936" y="3387852"/>
            <a:ext cx="32004" cy="329184"/>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lo AIR: Exposed receipt body"/>
          <p:cNvSpPr txBox="1"/>
          <p:nvPr/>
        </p:nvSpPr>
        <p:spPr>
          <a:xfrm>
            <a:off x="768096" y="3293668"/>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Exposed receipt body</a:t>
            </a:r>
          </a:p>
        </p:txBody>
      </p:sp>
      <p:sp>
        <p:nvSpPr>
          <p:cNvPr id="31" name="Sello AIR: Sello · HPKE encryption to the owner’s key"/>
          <p:cNvSpPr txBox="1"/>
          <p:nvPr/>
        </p:nvSpPr>
        <p:spPr>
          <a:xfrm>
            <a:off x="3182112" y="3293668"/>
            <a:ext cx="4736592" cy="525780"/>
          </a:xfrm>
          <a:prstGeom prst="rect">
            <a:avLst/>
          </a:prstGeom>
          <a:noFill/>
        </p:spPr>
        <p:txBody>
          <a:bodyPr wrap="square" lIns="0" rIns="0" tIns="0" bIns="0" anchor="ctr">
            <a:spAutoFit/>
          </a:bodyPr>
          <a:lstStyle/>
          <a:p>
            <a:pPr algn="l"/>
            <a:r>
              <a:rPr sz="1540" b="0" lang="en-US">
                <a:solidFill>
                  <a:srgbClr val="1764A1"/>
                </a:solidFill>
                <a:latin typeface="Arial"/>
              </a:rPr>
              <a:t>Sello · HPKE encryption to the owner’s key</a:t>
            </a:r>
          </a:p>
        </p:txBody>
      </p:sp>
      <p:sp>
        <p:nvSpPr>
          <p:cNvPr id="32" name="Sello AIR: Hides the Sello body; / AIR bundle is plaintext"/>
          <p:cNvSpPr txBox="1"/>
          <p:nvPr/>
        </p:nvSpPr>
        <p:spPr>
          <a:xfrm>
            <a:off x="8220456" y="3293668"/>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Hides the Sello body;
AIR bundle is plaintext</a:t>
            </a:r>
          </a:p>
        </p:txBody>
      </p:sp>
      <p:cxnSp>
        <p:nvCxnSpPr>
          <p:cNvPr id="33" name="Connector 32"/>
          <p:cNvCxnSpPr/>
          <p:nvPr/>
        </p:nvCxnSpPr>
        <p:spPr>
          <a:xfrm>
            <a:off x="630936" y="3826764"/>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30936" y="3922776"/>
            <a:ext cx="32004" cy="329184"/>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ello AIR: Swapped inference data"/>
          <p:cNvSpPr txBox="1"/>
          <p:nvPr/>
        </p:nvSpPr>
        <p:spPr>
          <a:xfrm>
            <a:off x="768096" y="3828592"/>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Swapped inference data</a:t>
            </a:r>
          </a:p>
        </p:txBody>
      </p:sp>
      <p:sp>
        <p:nvSpPr>
          <p:cNvPr id="36" name="Sello AIR: AIR · signed data / quote hashes; REPORTDATA / binds AIR key, manifest and request"/>
          <p:cNvSpPr txBox="1"/>
          <p:nvPr/>
        </p:nvSpPr>
        <p:spPr>
          <a:xfrm>
            <a:off x="3182112" y="3828592"/>
            <a:ext cx="4736592" cy="525780"/>
          </a:xfrm>
          <a:prstGeom prst="rect">
            <a:avLst/>
          </a:prstGeom>
          <a:noFill/>
        </p:spPr>
        <p:txBody>
          <a:bodyPr wrap="square" lIns="0" rIns="0" tIns="0" bIns="0" anchor="ctr">
            <a:spAutoFit/>
          </a:bodyPr>
          <a:lstStyle/>
          <a:p>
            <a:pPr algn="l"/>
            <a:r>
              <a:rPr sz="1540" b="0" lang="en-US">
                <a:solidFill>
                  <a:srgbClr val="207548"/>
                </a:solidFill>
                <a:latin typeface="Arial"/>
              </a:rPr>
              <a:t>AIR · signed data / quote hashes; REPORTDATA
binds AIR key, manifest and request</a:t>
            </a:r>
          </a:p>
        </p:txBody>
      </p:sp>
      <p:sp>
        <p:nvSpPr>
          <p:cNvPr id="37" name="Sello AIR: Detects data and / quote-binding mismatches"/>
          <p:cNvSpPr txBox="1"/>
          <p:nvPr/>
        </p:nvSpPr>
        <p:spPr>
          <a:xfrm>
            <a:off x="8220456" y="3828592"/>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Detects data and
quote-binding mismatches</a:t>
            </a:r>
          </a:p>
        </p:txBody>
      </p:sp>
      <p:cxnSp>
        <p:nvCxnSpPr>
          <p:cNvPr id="38" name="Connector 37"/>
          <p:cNvCxnSpPr/>
          <p:nvPr/>
        </p:nvCxnSpPr>
        <p:spPr>
          <a:xfrm>
            <a:off x="630936" y="4361688"/>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630936" y="4457700"/>
            <a:ext cx="32004" cy="329184"/>
          </a:xfrm>
          <a:prstGeom prst="rect">
            <a:avLst/>
          </a:prstGeom>
          <a:solidFill>
            <a:srgbClr val="207548"/>
          </a:solidFill>
          <a:ln>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ello AIR: Different deployment"/>
          <p:cNvSpPr txBox="1"/>
          <p:nvPr/>
        </p:nvSpPr>
        <p:spPr>
          <a:xfrm>
            <a:off x="768096" y="4363516"/>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Different deployment</a:t>
            </a:r>
          </a:p>
        </p:txBody>
      </p:sp>
      <p:sp>
        <p:nvSpPr>
          <p:cNvPr id="41" name="Sello AIR: AIR · RTMR3 replay; Compose / image; / chain, storage, registry and RPC checks"/>
          <p:cNvSpPr txBox="1"/>
          <p:nvPr/>
        </p:nvSpPr>
        <p:spPr>
          <a:xfrm>
            <a:off x="3182112" y="4363516"/>
            <a:ext cx="4736592" cy="525780"/>
          </a:xfrm>
          <a:prstGeom prst="rect">
            <a:avLst/>
          </a:prstGeom>
          <a:noFill/>
        </p:spPr>
        <p:txBody>
          <a:bodyPr wrap="square" lIns="0" rIns="0" tIns="0" bIns="0" anchor="ctr">
            <a:spAutoFit/>
          </a:bodyPr>
          <a:lstStyle/>
          <a:p>
            <a:pPr algn="l"/>
            <a:r>
              <a:rPr sz="1540" b="0" lang="en-US">
                <a:solidFill>
                  <a:srgbClr val="207548"/>
                </a:solidFill>
                <a:latin typeface="Arial"/>
              </a:rPr>
              <a:t>AIR · RTMR3 replay; Compose / image;
chain, storage, registry and RPC checks</a:t>
            </a:r>
          </a:p>
        </p:txBody>
      </p:sp>
      <p:sp>
        <p:nvSpPr>
          <p:cNvPr id="42" name="Sello AIR: Rejects configuration / outside the expected policy"/>
          <p:cNvSpPr txBox="1"/>
          <p:nvPr/>
        </p:nvSpPr>
        <p:spPr>
          <a:xfrm>
            <a:off x="8220456" y="4363516"/>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Rejects configuration
outside the expected policy</a:t>
            </a:r>
          </a:p>
        </p:txBody>
      </p:sp>
      <p:cxnSp>
        <p:nvCxnSpPr>
          <p:cNvPr id="43" name="Connector 42"/>
          <p:cNvCxnSpPr/>
          <p:nvPr/>
        </p:nvCxnSpPr>
        <p:spPr>
          <a:xfrm>
            <a:off x="630936" y="4896612"/>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30936" y="4992624"/>
            <a:ext cx="32004" cy="329184"/>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llo AIR: Missing log entry"/>
          <p:cNvSpPr txBox="1"/>
          <p:nvPr/>
        </p:nvSpPr>
        <p:spPr>
          <a:xfrm>
            <a:off x="768096" y="4898440"/>
            <a:ext cx="2212848" cy="525780"/>
          </a:xfrm>
          <a:prstGeom prst="rect">
            <a:avLst/>
          </a:prstGeom>
          <a:noFill/>
        </p:spPr>
        <p:txBody>
          <a:bodyPr wrap="square" lIns="0" rIns="0" tIns="0" bIns="0" anchor="ctr">
            <a:spAutoFit/>
          </a:bodyPr>
          <a:lstStyle/>
          <a:p>
            <a:pPr algn="l"/>
            <a:r>
              <a:rPr sz="1639" b="1" lang="en-US">
                <a:solidFill>
                  <a:srgbClr val="263440"/>
                </a:solidFill>
                <a:latin typeface="Arial"/>
              </a:rPr>
              <a:t>Missing log entry</a:t>
            </a:r>
          </a:p>
        </p:txBody>
      </p:sp>
      <p:sp>
        <p:nvSpPr>
          <p:cNvPr id="46" name="Sello AIR: SCITT · publication receipts verified / before a successful verified tool result"/>
          <p:cNvSpPr txBox="1"/>
          <p:nvPr/>
        </p:nvSpPr>
        <p:spPr>
          <a:xfrm>
            <a:off x="3182112" y="4898440"/>
            <a:ext cx="4736592" cy="525780"/>
          </a:xfrm>
          <a:prstGeom prst="rect">
            <a:avLst/>
          </a:prstGeom>
          <a:noFill/>
        </p:spPr>
        <p:txBody>
          <a:bodyPr wrap="square" lIns="0" rIns="0" tIns="0" bIns="0" anchor="ctr">
            <a:spAutoFit/>
          </a:bodyPr>
          <a:lstStyle/>
          <a:p>
            <a:pPr algn="l"/>
            <a:r>
              <a:rPr sz="1540" b="0" lang="en-US">
                <a:solidFill>
                  <a:srgbClr val="7446A6"/>
                </a:solidFill>
                <a:latin typeface="Arial"/>
              </a:rPr>
              <a:t>SCITT · publication receipts verified
before a successful verified tool result</a:t>
            </a:r>
          </a:p>
        </p:txBody>
      </p:sp>
      <p:sp>
        <p:nvSpPr>
          <p:cNvPr id="47" name="Sello AIR: Withholds success; / execution is not rolled back"/>
          <p:cNvSpPr txBox="1"/>
          <p:nvPr/>
        </p:nvSpPr>
        <p:spPr>
          <a:xfrm>
            <a:off x="8220456" y="4898440"/>
            <a:ext cx="3145536" cy="525780"/>
          </a:xfrm>
          <a:prstGeom prst="rect">
            <a:avLst/>
          </a:prstGeom>
          <a:noFill/>
        </p:spPr>
        <p:txBody>
          <a:bodyPr wrap="square" lIns="0" rIns="0" tIns="0" bIns="0" anchor="ctr">
            <a:spAutoFit/>
          </a:bodyPr>
          <a:lstStyle/>
          <a:p>
            <a:pPr algn="l"/>
            <a:r>
              <a:rPr sz="1540" b="0" lang="en-US">
                <a:solidFill>
                  <a:srgbClr val="263440"/>
                </a:solidFill>
                <a:latin typeface="Arial"/>
              </a:rPr>
              <a:t>Withholds success;
execution is not rolled back</a:t>
            </a:r>
          </a:p>
        </p:txBody>
      </p:sp>
      <p:cxnSp>
        <p:nvCxnSpPr>
          <p:cNvPr id="48" name="Connector 47"/>
          <p:cNvCxnSpPr/>
          <p:nvPr/>
        </p:nvCxnSpPr>
        <p:spPr>
          <a:xfrm>
            <a:off x="630936" y="5431536"/>
            <a:ext cx="10917936" cy="0"/>
          </a:xfrm>
          <a:prstGeom prst="line">
            <a:avLst/>
          </a:prstGeom>
          <a:ln w="8255">
            <a:solidFill>
              <a:srgbClr val="DEE4E8"/>
            </a:solidFill>
          </a:ln>
        </p:spPr>
        <p:style>
          <a:lnRef idx="2">
            <a:schemeClr val="accent1"/>
          </a:lnRef>
          <a:fillRef idx="0">
            <a:schemeClr val="accent1"/>
          </a:fillRef>
          <a:effectRef idx="1">
            <a:schemeClr val="accent1"/>
          </a:effectRef>
          <a:fontRef idx="minor">
            <a:schemeClr val="tx1"/>
          </a:fontRef>
        </p:style>
      </p:cxnSp>
      <p:sp>
        <p:nvSpPr>
          <p:cNvPr id="49"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50"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1"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 · Manipulationen — VITA-FL Sello / AIR</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