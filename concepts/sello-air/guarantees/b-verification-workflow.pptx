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COMBINED ASSURANCE VARIANT B</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Main deck is kept as a separate artifact.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arxiv.org/abs/2606.04193" TargetMode="External"/><Relationship Id="rId4" Type="http://schemas.openxmlformats.org/officeDocument/2006/relationships/hyperlink" Target="https://www.ietf.org/archive/id/draft-tsyrulnikov-rats-attested-inference-receipt-02.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Sello + AIR: checks along the inference workflow</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2"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4" name="Sello AIR: Sello authorizes and records the tool call; AIR binds the numeric inference evidence."/>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authorizes and records the tool call; AIR binds the numeric inference evidence.</a:t>
            </a:r>
          </a:p>
        </p:txBody>
      </p:sp>
      <p:cxnSp>
        <p:nvCxnSpPr>
          <p:cNvPr id="15" name="Connector 14"/>
          <p:cNvCxnSpPr/>
          <p:nvPr/>
        </p:nvCxnSpPr>
        <p:spPr>
          <a:xfrm>
            <a:off x="2116836" y="2093976"/>
            <a:ext cx="2340864" cy="0"/>
          </a:xfrm>
          <a:prstGeom prst="line">
            <a:avLst/>
          </a:prstGeom>
          <a:ln w="2540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905756" y="2093976"/>
            <a:ext cx="2340864"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694676" y="2093976"/>
            <a:ext cx="2340864" cy="0"/>
          </a:xfrm>
          <a:prstGeom prst="line">
            <a:avLst/>
          </a:prstGeom>
          <a:ln w="2540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723644" y="1911095"/>
            <a:ext cx="365760" cy="365760"/>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IR: 1"/>
          <p:cNvSpPr txBox="1"/>
          <p:nvPr/>
        </p:nvSpPr>
        <p:spPr>
          <a:xfrm>
            <a:off x="1723644" y="1920239"/>
            <a:ext cx="365760" cy="347472"/>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20" name="Rounded Rectangle 19"/>
          <p:cNvSpPr/>
          <p:nvPr/>
        </p:nvSpPr>
        <p:spPr>
          <a:xfrm>
            <a:off x="630936" y="2432304"/>
            <a:ext cx="2551176" cy="2231136"/>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8096" y="2313432"/>
            <a:ext cx="2276856" cy="274320"/>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IR: SELLO"/>
          <p:cNvSpPr txBox="1"/>
          <p:nvPr/>
        </p:nvSpPr>
        <p:spPr>
          <a:xfrm>
            <a:off x="832103" y="2327148"/>
            <a:ext cx="2148840" cy="246888"/>
          </a:xfrm>
          <a:prstGeom prst="rect">
            <a:avLst/>
          </a:prstGeom>
          <a:noFill/>
        </p:spPr>
        <p:txBody>
          <a:bodyPr wrap="square" lIns="0" rIns="0" tIns="0" bIns="0" anchor="ctr">
            <a:spAutoFit/>
          </a:bodyPr>
          <a:lstStyle/>
          <a:p>
            <a:pPr algn="ctr"/>
            <a:r>
              <a:rPr sz="1250" b="1" lang="en-US">
                <a:solidFill>
                  <a:srgbClr val="FFFFFF"/>
                </a:solidFill>
                <a:latin typeface="Arial"/>
              </a:rPr>
              <a:t>SELLO</a:t>
            </a:r>
          </a:p>
        </p:txBody>
      </p:sp>
      <p:sp>
        <p:nvSpPr>
          <p:cNvPr id="23" name="Sello AIR: Authorize"/>
          <p:cNvSpPr txBox="1"/>
          <p:nvPr/>
        </p:nvSpPr>
        <p:spPr>
          <a:xfrm>
            <a:off x="777240" y="2724912"/>
            <a:ext cx="2258568" cy="329184"/>
          </a:xfrm>
          <a:prstGeom prst="rect">
            <a:avLst/>
          </a:prstGeom>
          <a:noFill/>
        </p:spPr>
        <p:txBody>
          <a:bodyPr wrap="square" lIns="0" rIns="0" tIns="0" bIns="0" anchor="ctr">
            <a:spAutoFit/>
          </a:bodyPr>
          <a:lstStyle/>
          <a:p>
            <a:pPr algn="l"/>
            <a:r>
              <a:rPr sz="1800" b="1" lang="en-US">
                <a:solidFill>
                  <a:srgbClr val="1764A1"/>
                </a:solidFill>
                <a:latin typeface="Arial"/>
              </a:rPr>
              <a:t>Authorize</a:t>
            </a:r>
          </a:p>
        </p:txBody>
      </p:sp>
      <p:sp>
        <p:nvSpPr>
          <p:cNvPr id="24" name="Sello AIR: mTLS + token: / identity, receiver, / scope, certificate, / expiry; job owner."/>
          <p:cNvSpPr txBox="1"/>
          <p:nvPr/>
        </p:nvSpPr>
        <p:spPr>
          <a:xfrm>
            <a:off x="777240" y="3136392"/>
            <a:ext cx="2258568" cy="1371600"/>
          </a:xfrm>
          <a:prstGeom prst="rect">
            <a:avLst/>
          </a:prstGeom>
          <a:noFill/>
        </p:spPr>
        <p:txBody>
          <a:bodyPr wrap="square" lIns="0" rIns="0" tIns="0" bIns="0" anchor="ctr">
            <a:spAutoFit/>
          </a:bodyPr>
          <a:lstStyle/>
          <a:p>
            <a:pPr algn="l"/>
            <a:r>
              <a:rPr sz="1600" b="0" lang="en-US">
                <a:solidFill>
                  <a:srgbClr val="263440"/>
                </a:solidFill>
                <a:latin typeface="Arial"/>
              </a:rPr>
              <a:t>mTLS + token:
identity, receiver,
scope, certificate,
expiry; job owner.</a:t>
            </a:r>
          </a:p>
        </p:txBody>
      </p:sp>
      <p:sp>
        <p:nvSpPr>
          <p:cNvPr id="25" name="Oval 24"/>
          <p:cNvSpPr/>
          <p:nvPr/>
        </p:nvSpPr>
        <p:spPr>
          <a:xfrm>
            <a:off x="4512564" y="1911095"/>
            <a:ext cx="365760" cy="365760"/>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llo AIR: 2"/>
          <p:cNvSpPr txBox="1"/>
          <p:nvPr/>
        </p:nvSpPr>
        <p:spPr>
          <a:xfrm>
            <a:off x="4512564" y="1920239"/>
            <a:ext cx="365760" cy="347472"/>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27" name="Rounded Rectangle 26"/>
          <p:cNvSpPr/>
          <p:nvPr/>
        </p:nvSpPr>
        <p:spPr>
          <a:xfrm>
            <a:off x="3419856" y="2432304"/>
            <a:ext cx="2551176" cy="223113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57016" y="2313432"/>
            <a:ext cx="2276856" cy="274320"/>
          </a:xfrm>
          <a:prstGeom prst="rect">
            <a:avLst/>
          </a:prstGeom>
          <a:solidFill>
            <a:srgbClr val="207548"/>
          </a:solidFill>
          <a:ln>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ello AIR: AIR"/>
          <p:cNvSpPr txBox="1"/>
          <p:nvPr/>
        </p:nvSpPr>
        <p:spPr>
          <a:xfrm>
            <a:off x="3621024" y="2327148"/>
            <a:ext cx="2148840" cy="246888"/>
          </a:xfrm>
          <a:prstGeom prst="rect">
            <a:avLst/>
          </a:prstGeom>
          <a:noFill/>
        </p:spPr>
        <p:txBody>
          <a:bodyPr wrap="square" lIns="0" rIns="0" tIns="0" bIns="0" anchor="ctr">
            <a:spAutoFit/>
          </a:bodyPr>
          <a:lstStyle/>
          <a:p>
            <a:pPr algn="ctr"/>
            <a:r>
              <a:rPr sz="1250" b="1" lang="en-US">
                <a:solidFill>
                  <a:srgbClr val="FFFFFF"/>
                </a:solidFill>
                <a:latin typeface="Arial"/>
              </a:rPr>
              <a:t>AIR</a:t>
            </a:r>
          </a:p>
        </p:txBody>
      </p:sp>
      <p:sp>
        <p:nvSpPr>
          <p:cNvPr id="30" name="Sello AIR: Build AIR bundle"/>
          <p:cNvSpPr txBox="1"/>
          <p:nvPr/>
        </p:nvSpPr>
        <p:spPr>
          <a:xfrm>
            <a:off x="3566160" y="2724912"/>
            <a:ext cx="2258568" cy="329184"/>
          </a:xfrm>
          <a:prstGeom prst="rect">
            <a:avLst/>
          </a:prstGeom>
          <a:noFill/>
        </p:spPr>
        <p:txBody>
          <a:bodyPr wrap="square" lIns="0" rIns="0" tIns="0" bIns="0" anchor="ctr">
            <a:spAutoFit/>
          </a:bodyPr>
          <a:lstStyle/>
          <a:p>
            <a:pPr algn="l"/>
            <a:r>
              <a:rPr sz="1800" b="1" lang="en-US">
                <a:solidFill>
                  <a:srgbClr val="207548"/>
                </a:solidFill>
                <a:latin typeface="Arial"/>
              </a:rPr>
              <a:t>Build AIR bundle</a:t>
            </a:r>
          </a:p>
        </p:txBody>
      </p:sp>
      <p:sp>
        <p:nvSpPr>
          <p:cNvPr id="31" name="Sello AIR: Sign model / I/O / / quote hashes. / Attach REPORTDATA, / RTMR3 log and / Compose evidence."/>
          <p:cNvSpPr txBox="1"/>
          <p:nvPr/>
        </p:nvSpPr>
        <p:spPr>
          <a:xfrm>
            <a:off x="3566160" y="3136392"/>
            <a:ext cx="2258568" cy="1371600"/>
          </a:xfrm>
          <a:prstGeom prst="rect">
            <a:avLst/>
          </a:prstGeom>
          <a:noFill/>
        </p:spPr>
        <p:txBody>
          <a:bodyPr wrap="square" lIns="0" rIns="0" tIns="0" bIns="0" anchor="ctr">
            <a:spAutoFit/>
          </a:bodyPr>
          <a:lstStyle/>
          <a:p>
            <a:pPr algn="l"/>
            <a:r>
              <a:rPr sz="1600" b="0" lang="en-US">
                <a:solidFill>
                  <a:srgbClr val="263440"/>
                </a:solidFill>
                <a:latin typeface="Arial"/>
              </a:rPr>
              <a:t>Sign model / I/O /
quote hashes.
Attach REPORTDATA,
RTMR3 log and
Compose evidence.</a:t>
            </a:r>
          </a:p>
        </p:txBody>
      </p:sp>
      <p:sp>
        <p:nvSpPr>
          <p:cNvPr id="32" name="Oval 31"/>
          <p:cNvSpPr/>
          <p:nvPr/>
        </p:nvSpPr>
        <p:spPr>
          <a:xfrm>
            <a:off x="7301484" y="1911095"/>
            <a:ext cx="365760" cy="365760"/>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ello AIR: 3"/>
          <p:cNvSpPr txBox="1"/>
          <p:nvPr/>
        </p:nvSpPr>
        <p:spPr>
          <a:xfrm>
            <a:off x="7301484" y="1920239"/>
            <a:ext cx="365760" cy="347472"/>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34" name="Rounded Rectangle 33"/>
          <p:cNvSpPr/>
          <p:nvPr/>
        </p:nvSpPr>
        <p:spPr>
          <a:xfrm>
            <a:off x="6208776" y="2432304"/>
            <a:ext cx="2551176" cy="2231136"/>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45936" y="2313432"/>
            <a:ext cx="2276856" cy="274320"/>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ello AIR: SELLO"/>
          <p:cNvSpPr txBox="1"/>
          <p:nvPr/>
        </p:nvSpPr>
        <p:spPr>
          <a:xfrm>
            <a:off x="6409944" y="2327148"/>
            <a:ext cx="2148840" cy="246888"/>
          </a:xfrm>
          <a:prstGeom prst="rect">
            <a:avLst/>
          </a:prstGeom>
          <a:noFill/>
        </p:spPr>
        <p:txBody>
          <a:bodyPr wrap="square" lIns="0" rIns="0" tIns="0" bIns="0" anchor="ctr">
            <a:spAutoFit/>
          </a:bodyPr>
          <a:lstStyle/>
          <a:p>
            <a:pPr algn="ctr"/>
            <a:r>
              <a:rPr sz="1250" b="1" lang="en-US">
                <a:solidFill>
                  <a:srgbClr val="FFFFFF"/>
                </a:solidFill>
                <a:latin typeface="Arial"/>
              </a:rPr>
              <a:t>SELLO</a:t>
            </a:r>
          </a:p>
        </p:txBody>
      </p:sp>
      <p:sp>
        <p:nvSpPr>
          <p:cNvPr id="37" name="Sello AIR: Seal receipt"/>
          <p:cNvSpPr txBox="1"/>
          <p:nvPr/>
        </p:nvSpPr>
        <p:spPr>
          <a:xfrm>
            <a:off x="6355080" y="2724912"/>
            <a:ext cx="2258568" cy="329184"/>
          </a:xfrm>
          <a:prstGeom prst="rect">
            <a:avLst/>
          </a:prstGeom>
          <a:noFill/>
        </p:spPr>
        <p:txBody>
          <a:bodyPr wrap="square" lIns="0" rIns="0" tIns="0" bIns="0" anchor="ctr">
            <a:spAutoFit/>
          </a:bodyPr>
          <a:lstStyle/>
          <a:p>
            <a:pPr algn="l"/>
            <a:r>
              <a:rPr sz="1800" b="1" lang="en-US">
                <a:solidFill>
                  <a:srgbClr val="1764A1"/>
                </a:solidFill>
                <a:latin typeface="Arial"/>
              </a:rPr>
              <a:t>Seal receipt</a:t>
            </a:r>
          </a:p>
        </p:txBody>
      </p:sp>
      <p:sp>
        <p:nvSpPr>
          <p:cNvPr id="38" name="Sello AIR: HPKE encrypts body. / Receiver signature / binds action, I/O / hashes, token ref. / and result status."/>
          <p:cNvSpPr txBox="1"/>
          <p:nvPr/>
        </p:nvSpPr>
        <p:spPr>
          <a:xfrm>
            <a:off x="6355080" y="3136392"/>
            <a:ext cx="2258568" cy="1371600"/>
          </a:xfrm>
          <a:prstGeom prst="rect">
            <a:avLst/>
          </a:prstGeom>
          <a:noFill/>
        </p:spPr>
        <p:txBody>
          <a:bodyPr wrap="square" lIns="0" rIns="0" tIns="0" bIns="0" anchor="ctr">
            <a:spAutoFit/>
          </a:bodyPr>
          <a:lstStyle/>
          <a:p>
            <a:pPr algn="l"/>
            <a:r>
              <a:rPr sz="1600" b="0" lang="en-US">
                <a:solidFill>
                  <a:srgbClr val="263440"/>
                </a:solidFill>
                <a:latin typeface="Arial"/>
              </a:rPr>
              <a:t>HPKE encrypts body.
Receiver signature
binds action, I/O
hashes, token ref.
and result status.</a:t>
            </a:r>
          </a:p>
        </p:txBody>
      </p:sp>
      <p:sp>
        <p:nvSpPr>
          <p:cNvPr id="39" name="Oval 38"/>
          <p:cNvSpPr/>
          <p:nvPr/>
        </p:nvSpPr>
        <p:spPr>
          <a:xfrm>
            <a:off x="10090404" y="1911095"/>
            <a:ext cx="365760" cy="365760"/>
          </a:xfrm>
          <a:prstGeom prst="ellipse">
            <a:avLst/>
          </a:prstGeom>
          <a:solidFill>
            <a:srgbClr val="7446A6"/>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ello AIR: 4"/>
          <p:cNvSpPr txBox="1"/>
          <p:nvPr/>
        </p:nvSpPr>
        <p:spPr>
          <a:xfrm>
            <a:off x="10090404" y="1920239"/>
            <a:ext cx="365760" cy="347472"/>
          </a:xfrm>
          <a:prstGeom prst="rect">
            <a:avLst/>
          </a:prstGeom>
          <a:noFill/>
        </p:spPr>
        <p:txBody>
          <a:bodyPr wrap="square" lIns="0" rIns="0" tIns="0" bIns="0" anchor="ctr">
            <a:spAutoFit/>
          </a:bodyPr>
          <a:lstStyle/>
          <a:p>
            <a:pPr algn="ctr"/>
            <a:r>
              <a:rPr sz="1200" b="1" lang="en-US">
                <a:solidFill>
                  <a:srgbClr val="FFFFFF"/>
                </a:solidFill>
                <a:latin typeface="Arial"/>
              </a:rPr>
              <a:t>4</a:t>
            </a:r>
          </a:p>
        </p:txBody>
      </p:sp>
      <p:sp>
        <p:nvSpPr>
          <p:cNvPr id="41" name="Rounded Rectangle 40"/>
          <p:cNvSpPr/>
          <p:nvPr/>
        </p:nvSpPr>
        <p:spPr>
          <a:xfrm>
            <a:off x="8997696" y="2432304"/>
            <a:ext cx="2551176" cy="223113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34856" y="2313432"/>
            <a:ext cx="2276856" cy="274320"/>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ello AIR: RECEIVER + AGENT"/>
          <p:cNvSpPr txBox="1"/>
          <p:nvPr/>
        </p:nvSpPr>
        <p:spPr>
          <a:xfrm>
            <a:off x="9198864" y="2327148"/>
            <a:ext cx="2148840" cy="246888"/>
          </a:xfrm>
          <a:prstGeom prst="rect">
            <a:avLst/>
          </a:prstGeom>
          <a:noFill/>
        </p:spPr>
        <p:txBody>
          <a:bodyPr wrap="square" lIns="0" rIns="0" tIns="0" bIns="0" anchor="ctr">
            <a:spAutoFit/>
          </a:bodyPr>
          <a:lstStyle/>
          <a:p>
            <a:pPr algn="ctr"/>
            <a:r>
              <a:rPr sz="1250" b="1" lang="en-US">
                <a:solidFill>
                  <a:srgbClr val="FFFFFF"/>
                </a:solidFill>
                <a:latin typeface="Arial"/>
              </a:rPr>
              <a:t>RECEIVER + AGENT</a:t>
            </a:r>
          </a:p>
        </p:txBody>
      </p:sp>
      <p:sp>
        <p:nvSpPr>
          <p:cNvPr id="44" name="Sello AIR: Log and verify"/>
          <p:cNvSpPr txBox="1"/>
          <p:nvPr/>
        </p:nvSpPr>
        <p:spPr>
          <a:xfrm>
            <a:off x="9144000" y="2724912"/>
            <a:ext cx="2258568" cy="329184"/>
          </a:xfrm>
          <a:prstGeom prst="rect">
            <a:avLst/>
          </a:prstGeom>
          <a:noFill/>
        </p:spPr>
        <p:txBody>
          <a:bodyPr wrap="square" lIns="0" rIns="0" tIns="0" bIns="0" anchor="ctr">
            <a:spAutoFit/>
          </a:bodyPr>
          <a:lstStyle/>
          <a:p>
            <a:pPr algn="l"/>
            <a:r>
              <a:rPr sz="1800" b="1" lang="en-US">
                <a:solidFill>
                  <a:srgbClr val="7446A6"/>
                </a:solidFill>
                <a:latin typeface="Arial"/>
              </a:rPr>
              <a:t>Log and verify</a:t>
            </a:r>
          </a:p>
        </p:txBody>
      </p:sp>
      <p:sp>
        <p:nvSpPr>
          <p:cNvPr id="45" name="Sello AIR: Log Sello first. / Agent checks Sello, / AIR + runtime policy; / checks SCITT and / then registers AIR."/>
          <p:cNvSpPr txBox="1"/>
          <p:nvPr/>
        </p:nvSpPr>
        <p:spPr>
          <a:xfrm>
            <a:off x="9144000" y="3136392"/>
            <a:ext cx="2258568" cy="1371600"/>
          </a:xfrm>
          <a:prstGeom prst="rect">
            <a:avLst/>
          </a:prstGeom>
          <a:noFill/>
        </p:spPr>
        <p:txBody>
          <a:bodyPr wrap="square" lIns="0" rIns="0" tIns="0" bIns="0" anchor="ctr">
            <a:spAutoFit/>
          </a:bodyPr>
          <a:lstStyle/>
          <a:p>
            <a:pPr algn="l"/>
            <a:r>
              <a:rPr sz="1600" b="0" lang="en-US">
                <a:solidFill>
                  <a:srgbClr val="263440"/>
                </a:solidFill>
                <a:latin typeface="Arial"/>
              </a:rPr>
              <a:t>Log Sello first.
Agent checks Sello,
AIR + runtime policy;
checks SCITT and
then registers AIR.</a:t>
            </a:r>
          </a:p>
        </p:txBody>
      </p:sp>
      <p:sp>
        <p:nvSpPr>
          <p:cNvPr id="46" name="Rounded Rectangle 45"/>
          <p:cNvSpPr/>
          <p:nvPr/>
        </p:nvSpPr>
        <p:spPr>
          <a:xfrm>
            <a:off x="630936" y="4882896"/>
            <a:ext cx="10917936" cy="53949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ello AIR: Release rule"/>
          <p:cNvSpPr txBox="1"/>
          <p:nvPr/>
        </p:nvSpPr>
        <p:spPr>
          <a:xfrm>
            <a:off x="804672" y="4983480"/>
            <a:ext cx="2002536" cy="301752"/>
          </a:xfrm>
          <a:prstGeom prst="rect">
            <a:avLst/>
          </a:prstGeom>
          <a:noFill/>
        </p:spPr>
        <p:txBody>
          <a:bodyPr wrap="square" lIns="0" rIns="0" tIns="0" bIns="0" anchor="ctr">
            <a:spAutoFit/>
          </a:bodyPr>
          <a:lstStyle/>
          <a:p>
            <a:pPr algn="l"/>
            <a:r>
              <a:rPr sz="1600" b="1" lang="en-US">
                <a:solidFill>
                  <a:srgbClr val="7446A6"/>
                </a:solidFill>
                <a:latin typeface="Arial"/>
              </a:rPr>
              <a:t>Release rule</a:t>
            </a:r>
          </a:p>
        </p:txBody>
      </p:sp>
      <p:sp>
        <p:nvSpPr>
          <p:cNvPr id="48" name="Sello AIR: A verified result is returned only after receipt, AIR and log checks succeed."/>
          <p:cNvSpPr txBox="1"/>
          <p:nvPr/>
        </p:nvSpPr>
        <p:spPr>
          <a:xfrm>
            <a:off x="2862072" y="4937760"/>
            <a:ext cx="8449056" cy="402336"/>
          </a:xfrm>
          <a:prstGeom prst="rect">
            <a:avLst/>
          </a:prstGeom>
          <a:noFill/>
        </p:spPr>
        <p:txBody>
          <a:bodyPr wrap="square" lIns="0" rIns="0" tIns="0" bIns="0" anchor="ctr">
            <a:spAutoFit/>
          </a:bodyPr>
          <a:lstStyle/>
          <a:p>
            <a:pPr algn="l"/>
            <a:r>
              <a:rPr sz="1650" b="0" lang="en-US">
                <a:solidFill>
                  <a:srgbClr val="263440"/>
                </a:solidFill>
                <a:latin typeface="Arial"/>
              </a:rPr>
              <a:t>A verified result is returned only after receipt, AIR and log checks succeed.</a:t>
            </a:r>
          </a:p>
        </p:txBody>
      </p:sp>
      <p:sp>
        <p:nvSpPr>
          <p:cNvPr id="49" name="Sello AIR: Scope: per-inference Intel quote verification is absent; TEE trust relies on prior worker admission."/>
          <p:cNvSpPr txBox="1"/>
          <p:nvPr/>
        </p:nvSpPr>
        <p:spPr>
          <a:xfrm>
            <a:off x="630936" y="5568696"/>
            <a:ext cx="10936224" cy="265176"/>
          </a:xfrm>
          <a:prstGeom prst="rect">
            <a:avLst/>
          </a:prstGeom>
          <a:noFill/>
        </p:spPr>
        <p:txBody>
          <a:bodyPr wrap="square" lIns="0" rIns="0" tIns="0" bIns="0" anchor="ctr">
            <a:spAutoFit/>
          </a:bodyPr>
          <a:lstStyle/>
          <a:p>
            <a:pPr algn="l"/>
            <a:r>
              <a:rPr sz="1200" b="0" lang="en-US">
                <a:solidFill>
                  <a:srgbClr val="986021"/>
                </a:solidFill>
                <a:latin typeface="Arial"/>
              </a:rPr>
              <a:t>Scope: per-inference Intel quote verification is absent; TEE trust relies on prior worker admission.</a:t>
            </a:r>
          </a:p>
        </p:txBody>
      </p:sp>
      <p:sp>
        <p:nvSpPr>
          <p:cNvPr id="50"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Sello-inspired profile · Figuera (2026)</a:t>
            </a:r>
          </a:p>
        </p:txBody>
      </p:sp>
      <p:sp>
        <p:nvSpPr>
          <p:cNvPr id="51"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4"/>
              </a:rPr>
              <a:t>AIR-style profile · Tsyrulnikov, Internet-Draft 02 (2026)</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 Ablauf — VITA-FL Sello / AIR</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