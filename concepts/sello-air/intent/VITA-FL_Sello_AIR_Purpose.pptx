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A · Sello</a:t>
            </a:r>
          </a:p>
          <a:p/>
          <a:p>
            <a:r>
              <a:rPr lang="en-US"/>
              <a:t>SOURCE: Juan Figuera, Notarized Agents: Receiver-Attested Confidential Receipts for AI Agent Actions (2026), arXiv:2606.04193v1. https://arxiv.org/abs/2606.04193</a:t>
            </a:r>
          </a:p>
          <a:p>
            <a:r>
              <a:rPr lang="en-US"/>
              <a:t>The paper moves receipt production to the receiving service, encrypts receipt contents for an independent owner, and combines witnessed logging with owner discovery by token reference.</a:t>
            </a:r>
          </a:p>
          <a:p/>
          <a:p>
            <a:r>
              <a:rPr lang="en-US"/>
              <a:t>CURRENT VITA-FL IMPLEMENTATION (23 September 2026): The three fixed operations are model-bundle fetch, ChestMNIST image selection, and inference. The receiver hashes the exact canonical tool input and raw response, HPKE-encrypts the receipt body, and signs its COSE_Sign1 envelope with a dedicated Ed25519 key. The receiver publishes to SCITT before releasing a successful response. The agent verifies the signature, decrypts the receipt, checks byte commitments and verifies the SCITT publication bundle. A log failure yields HTTP 503; already performed computation is not rolled back. The Sello inference input is a job_id object, not the image pixels. Pixel-level evidence is in the separately published AIR bundle.</a:t>
            </a:r>
          </a:p>
          <a:p/>
          <a:p>
            <a:r>
              <a:rPr lang="en-US"/>
              <a:t>VITA-FL ADDITIONS: dstack-derived receiver key, bound at DCAP admission to Worker 0 and its endpoint in DeviceRegistry; mandatory mTLS; short-lived JWS with audience, action scopes, certificate thumbprint and matching subject. This is transport identity, not attestation of agent code. A random jti is not a one-use store and the token is not bound to the request Digest.</a:t>
            </a:r>
          </a:p>
          <a:p/>
          <a:p>
            <a:r>
              <a:rPr lang="en-US"/>
              <a:t>DEVIATIONS / LIMITS: SCITT/CCF runs as one virtual node with no witness cosigning or independent log-key pin. Retrieval follows a returned publication URL; there is no owner discovery service indexed by token reference. Owner HPKE private key and token-issuer signing seed are configured in the agent runtime: the independent-owner threat boundary is therefore not preserved against compromise of that runtime. Domain evidence remains a separate layer. These slides describe the local implementation, not a newly deployed or evaluated run.</a:t>
            </a:r>
          </a:p>
          <a:p/>
          <a:p>
            <a:r>
              <a:rPr lang="en-US"/>
              <a:t>CODE: vita-fl/agent_receipts/sello_v1.py; agent_receipts/environment.py; agent_receipts/receiver_log.py; agent_receipts/scitt.py; agent_receipts/dstack_key.py; agent/sello_client.py; tee_inference/service/app.py; transport_security/peer.py; phala/dstack-compose.contracts.phala.tftpl.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A · AIR</a:t>
            </a:r>
          </a:p>
          <a:p/>
          <a:p>
            <a:r>
              <a:rPr lang="en-US"/>
              <a:t>SOURCE: B. Tsyrulnikov, Attested Inference Receipt (AIR): A COSE/CWT Profile for Confidential AI Inference, Internet-Draft 02, 5 July 2026. https://www.ietf.org/archive/id/draft-tsyrulnikov-rats-attested-inference-receipt-02.html</a:t>
            </a:r>
          </a:p>
          <a:p>
            <a:r>
              <a:rPr lang="en-US"/>
              <a:t>This is a work-in-progress draft, not a peer-reviewed paper or RFC. It defines signed single-inference evidence and distinguishes receipt validation from platform attestation appraisal.</a:t>
            </a:r>
          </a:p>
          <a:p/>
          <a:p>
            <a:r>
              <a:rPr lang="en-US"/>
              <a:t>CURRENT VITA-FL IMPLEMENTATION (23 September 2026): Native ChestMNIST inference uses deterministic CBOR request, response and model-manifest bytes. A dedicated dstack-derived Ed25519 key signs the AIR-style COSE/CWT receipt. The model Digest is the manifest Digest; that manifest binds the separately available DFL model artifact. The receipt contains commitments, not the original model weights or pixels. The returned domain bundle additionally contains exact numeric request/response bytes, manifest, receipt/key, quote, REPORTDATA, ordered event log and measured app_compose. The agent verifies the bundle and separately publishes it to SCITT. This published bundle contains the input pixels in plaintext; receipt hashing does not make this bundle confidential.</a:t>
            </a:r>
          </a:p>
          <a:p/>
          <a:p>
            <a:r>
              <a:rPr lang="en-US"/>
              <a:t>KEY / WORKLOAD BINDING: The 64-byte TDX REPORTDATA contains a domain-separated hash of the AIR public key and model-manifest Digest, followed by the request Digest. A fresh quote is requested per inference; its Digest is included in the AIR receipt. The verifier checks the AIR signature, request/response/manifest/nonce bindings, REPORTDATA, ordered SHA-384 RTMR3 replay, measured Compose, expected worker-image Digest and deployment policy. This is domain evidence for the numeric DFL inference, not evidence of the agent's LLM prompt or Ollama reasoning.</a:t>
            </a:r>
          </a:p>
          <a:p/>
          <a:p>
            <a:r>
              <a:rPr lang="en-US"/>
              <a:t>DEVIATIONS / LIMITS: The per-call verifier explicitly returns dcap_collateral_verified=False. It does not authenticate the individual quote's Intel signature/certificate chain, TCB or revocation collateral; it relies on separately admitted Worker 0 and its registry-bound Sello receiver identity. It also does not reconcile all signed measurement-map values with the quote registers. The REPORTDATA layout is VITA-FL-specific; it differs from revision 02's illustrated TDX key-binding construction. The nonce is generated by the receiver, not the verifier, and there is no seen-cti store; the 300-second issue-time policy (30-second skew) gives recentness, not full replay protection. Describe the profile as AIR-style. Signature and attestation do not establish model accuracy or prove the forward-pass arithmetic independently of trusted execution.</a:t>
            </a:r>
          </a:p>
          <a:p/>
          <a:p>
            <a:r>
              <a:rPr lang="en-US"/>
              <a:t>CODE: vita-fl/tee_inference/air/v1.py; tee_inference/service/attestation.py; tee_inference/service/jobs.py; tee_inference/protocol/v1.py; agent/tee_inference_client.py; agent/scitt_client.py.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B · Sello</a:t>
            </a:r>
          </a:p>
          <a:p/>
          <a:p>
            <a:r>
              <a:rPr lang="en-US"/>
              <a:t>SOURCE: Juan Figuera, Notarized Agents: Receiver-Attested Confidential Receipts for AI Agent Actions (2026), arXiv:2606.04193v1. https://arxiv.org/abs/2606.04193</a:t>
            </a:r>
          </a:p>
          <a:p>
            <a:r>
              <a:rPr lang="en-US"/>
              <a:t>The paper moves receipt production to the receiving service, encrypts receipt contents for an independent owner, and combines witnessed logging with owner discovery by token reference.</a:t>
            </a:r>
          </a:p>
          <a:p/>
          <a:p>
            <a:r>
              <a:rPr lang="en-US"/>
              <a:t>CURRENT VITA-FL IMPLEMENTATION (23 September 2026): The three fixed operations are model-bundle fetch, ChestMNIST image selection, and inference. The receiver hashes the exact canonical tool input and raw response, HPKE-encrypts the receipt body, and signs its COSE_Sign1 envelope with a dedicated Ed25519 key. The receiver publishes to SCITT before releasing a successful response. The agent verifies the signature, decrypts the receipt, checks byte commitments and verifies the SCITT publication bundle. A log failure yields HTTP 503; already performed computation is not rolled back. The Sello inference input is a job_id object, not the image pixels. Pixel-level evidence is in the separately published AIR bundle.</a:t>
            </a:r>
          </a:p>
          <a:p/>
          <a:p>
            <a:r>
              <a:rPr lang="en-US"/>
              <a:t>VITA-FL ADDITIONS: dstack-derived receiver key, bound at DCAP admission to Worker 0 and its endpoint in DeviceRegistry; mandatory mTLS; short-lived JWS with audience, action scopes, certificate thumbprint and matching subject. This is transport identity, not attestation of agent code. A random jti is not a one-use store and the token is not bound to the request Digest.</a:t>
            </a:r>
          </a:p>
          <a:p/>
          <a:p>
            <a:r>
              <a:rPr lang="en-US"/>
              <a:t>DEVIATIONS / LIMITS: SCITT/CCF runs as one virtual node with no witness cosigning or independent log-key pin. Retrieval follows a returned publication URL; there is no owner discovery service indexed by token reference. Owner HPKE private key and token-issuer signing seed are configured in the agent runtime: the independent-owner threat boundary is therefore not preserved against compromise of that runtime. Domain evidence remains a separate layer. These slides describe the local implementation, not a newly deployed or evaluated run.</a:t>
            </a:r>
          </a:p>
          <a:p/>
          <a:p>
            <a:r>
              <a:rPr lang="en-US"/>
              <a:t>CODE: vita-fl/agent_receipts/sello_v1.py; agent_receipts/environment.py; agent_receipts/receiver_log.py; agent_receipts/scitt.py; agent_receipts/dstack_key.py; agent/sello_client.py; tee_inference/service/app.py; transport_security/peer.py; phala/dstack-compose.contracts.phala.tftpl.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B · AIR</a:t>
            </a:r>
          </a:p>
          <a:p/>
          <a:p>
            <a:r>
              <a:rPr lang="en-US"/>
              <a:t>SOURCE: B. Tsyrulnikov, Attested Inference Receipt (AIR): A COSE/CWT Profile for Confidential AI Inference, Internet-Draft 02, 5 July 2026. https://www.ietf.org/archive/id/draft-tsyrulnikov-rats-attested-inference-receipt-02.html</a:t>
            </a:r>
          </a:p>
          <a:p>
            <a:r>
              <a:rPr lang="en-US"/>
              <a:t>This is a work-in-progress draft, not a peer-reviewed paper or RFC. It defines signed single-inference evidence and distinguishes receipt validation from platform attestation appraisal.</a:t>
            </a:r>
          </a:p>
          <a:p/>
          <a:p>
            <a:r>
              <a:rPr lang="en-US"/>
              <a:t>CURRENT VITA-FL IMPLEMENTATION (23 September 2026): Native ChestMNIST inference uses deterministic CBOR request, response and model-manifest bytes. A dedicated dstack-derived Ed25519 key signs the AIR-style COSE/CWT receipt. The model Digest is the manifest Digest; that manifest binds the separately available DFL model artifact. The receipt contains commitments, not the original model weights or pixels. The returned domain bundle additionally contains exact numeric request/response bytes, manifest, receipt/key, quote, REPORTDATA, ordered event log and measured app_compose. The agent verifies the bundle and separately publishes it to SCITT. This published bundle contains the input pixels in plaintext; receipt hashing does not make this bundle confidential.</a:t>
            </a:r>
          </a:p>
          <a:p/>
          <a:p>
            <a:r>
              <a:rPr lang="en-US"/>
              <a:t>KEY / WORKLOAD BINDING: The 64-byte TDX REPORTDATA contains a domain-separated hash of the AIR public key and model-manifest Digest, followed by the request Digest. A fresh quote is requested per inference; its Digest is included in the AIR receipt. The verifier checks the AIR signature, request/response/manifest/nonce bindings, REPORTDATA, ordered SHA-384 RTMR3 replay, measured Compose, expected worker-image Digest and deployment policy. This is domain evidence for the numeric DFL inference, not evidence of the agent's LLM prompt or Ollama reasoning.</a:t>
            </a:r>
          </a:p>
          <a:p/>
          <a:p>
            <a:r>
              <a:rPr lang="en-US"/>
              <a:t>DEVIATIONS / LIMITS: The per-call verifier explicitly returns dcap_collateral_verified=False. It does not authenticate the individual quote's Intel signature/certificate chain, TCB or revocation collateral; it relies on separately admitted Worker 0 and its registry-bound Sello receiver identity. It also does not reconcile all signed measurement-map values with the quote registers. The REPORTDATA layout is VITA-FL-specific; it differs from revision 02's illustrated TDX key-binding construction. The nonce is generated by the receiver, not the verifier, and there is no seen-cti store; the 300-second issue-time policy (30-second skew) gives recentness, not full replay protection. Describe the profile as AIR-style. Signature and attestation do not establish model accuracy or prove the forward-pass arithmetic independently of trusted execution.</a:t>
            </a:r>
          </a:p>
          <a:p/>
          <a:p>
            <a:r>
              <a:rPr lang="en-US"/>
              <a:t>CODE: vita-fl/tee_inference/air/v1.py; tee_inference/service/attestation.py; tee_inference/service/jobs.py; tee_inference/protocol/v1.py; agent/tee_inference_client.py; agent/scitt_client.py.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abs/2606.0419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ietf.org/archive/id/draft-tsyrulnikov-rats-attested-inference-receipt-02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606.0419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etf.org/archive/id/draft-tsyrulnikov-rats-attested-inference-receipt-0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Sello: make the agent’s actions accountable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A · Sello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Sello AIR: An agent controls its own history. Its owner may never see an omitted action."/>
          <p:cNvSpPr txBox="1"/>
          <p:nvPr/>
        </p:nvSpPr>
        <p:spPr>
          <a:xfrm>
            <a:off x="621792" y="1399032"/>
            <a:ext cx="109362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 lang="en-US">
                <a:solidFill>
                  <a:srgbClr val="263440"/>
                </a:solidFill>
                <a:latin typeface="Arial"/>
              </a:rPr>
              <a:t>An agent controls its own history. Its owner may never see an omitted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139696"/>
            <a:ext cx="3886200" cy="27706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llo AIR: THE PAPER’S INTENTION"/>
          <p:cNvSpPr txBox="1"/>
          <p:nvPr/>
        </p:nvSpPr>
        <p:spPr>
          <a:xfrm>
            <a:off x="813816" y="2276856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263440"/>
                </a:solidFill>
                <a:latin typeface="Arial"/>
              </a:rPr>
              <a:t>THE PAPER’S INTENTION</a:t>
            </a:r>
          </a:p>
        </p:txBody>
      </p:sp>
      <p:sp>
        <p:nvSpPr>
          <p:cNvPr id="16" name="Sello AIR: Independent audit / of agent actions"/>
          <p:cNvSpPr txBox="1"/>
          <p:nvPr/>
        </p:nvSpPr>
        <p:spPr>
          <a:xfrm>
            <a:off x="822960" y="2770632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263440"/>
                </a:solidFill>
                <a:latin typeface="Arial"/>
              </a:rPr>
              <a:t>Independent audit
of agent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3483864" cy="466344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llo AIR: Service records the action"/>
          <p:cNvSpPr txBox="1"/>
          <p:nvPr/>
        </p:nvSpPr>
        <p:spPr>
          <a:xfrm>
            <a:off x="932688" y="3803903"/>
            <a:ext cx="326440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en-US">
                <a:solidFill>
                  <a:srgbClr val="263440"/>
                </a:solidFill>
                <a:latin typeface="Arial"/>
              </a:rPr>
              <a:t>Service records the action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9464" y="4242816"/>
            <a:ext cx="0" cy="155448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ello AIR: Owner recovers a private record"/>
          <p:cNvSpPr txBox="1"/>
          <p:nvPr/>
        </p:nvSpPr>
        <p:spPr>
          <a:xfrm>
            <a:off x="832104" y="4462272"/>
            <a:ext cx="345643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Owner recovers a private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7448" y="2139696"/>
            <a:ext cx="6830568" cy="27706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llo AIR: WHAT I IMPLEMENTED IN VITA-FL"/>
          <p:cNvSpPr txBox="1"/>
          <p:nvPr/>
        </p:nvSpPr>
        <p:spPr>
          <a:xfrm>
            <a:off x="4937760" y="2276856"/>
            <a:ext cx="63825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1764A1"/>
                </a:solidFill>
                <a:latin typeface="Arial"/>
              </a:rPr>
              <a:t>WHAT I IMPLEMENTED IN VITA-FL</a:t>
            </a:r>
          </a:p>
        </p:txBody>
      </p:sp>
      <p:sp>
        <p:nvSpPr>
          <p:cNvPr id="23" name="Sello AIR: An auditable record of the / three model-use steps."/>
          <p:cNvSpPr txBox="1"/>
          <p:nvPr/>
        </p:nvSpPr>
        <p:spPr>
          <a:xfrm>
            <a:off x="4937760" y="2770632"/>
            <a:ext cx="636422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1764A1"/>
                </a:solidFill>
                <a:latin typeface="Arial"/>
              </a:rPr>
              <a:t>An auditable record of the
three model-use steps.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712463"/>
            <a:ext cx="1984248" cy="694944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llo AIR: Load / model"/>
          <p:cNvSpPr txBox="1"/>
          <p:nvPr/>
        </p:nvSpPr>
        <p:spPr>
          <a:xfrm>
            <a:off x="5047488" y="3767327"/>
            <a:ext cx="176479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Load
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712463"/>
            <a:ext cx="1984248" cy="694944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llo AIR: Select / X-ray"/>
          <p:cNvSpPr txBox="1"/>
          <p:nvPr/>
        </p:nvSpPr>
        <p:spPr>
          <a:xfrm>
            <a:off x="7242048" y="3767327"/>
            <a:ext cx="176479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Select
X-ray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712463"/>
            <a:ext cx="1984248" cy="694944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llo AIR: Run / inference"/>
          <p:cNvSpPr txBox="1"/>
          <p:nvPr/>
        </p:nvSpPr>
        <p:spPr>
          <a:xfrm>
            <a:off x="9436607" y="3767327"/>
            <a:ext cx="176479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Run
inference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0" y="4059936"/>
            <a:ext cx="146304" cy="0"/>
          </a:xfrm>
          <a:prstGeom prst="line">
            <a:avLst/>
          </a:prstGeom>
          <a:ln w="1905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0" y="4059936"/>
            <a:ext cx="146304" cy="0"/>
          </a:xfrm>
          <a:prstGeom prst="line">
            <a:avLst/>
          </a:prstGeom>
          <a:ln w="1905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ello AIR: Receiver records each call before returning success."/>
          <p:cNvSpPr txBox="1"/>
          <p:nvPr/>
        </p:nvSpPr>
        <p:spPr>
          <a:xfrm>
            <a:off x="4956048" y="4526280"/>
            <a:ext cx="632764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Receiver records each call before returning success.</a:t>
            </a:r>
          </a:p>
        </p:txBody>
      </p:sp>
      <p:sp>
        <p:nvSpPr>
          <p:cNvPr id="33" name="Sello AIR: Scope: receipts are checked inside the agent service; independent owner oversight remains open."/>
          <p:cNvSpPr txBox="1"/>
          <p:nvPr/>
        </p:nvSpPr>
        <p:spPr>
          <a:xfrm>
            <a:off x="667512" y="5184648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67747C"/>
                </a:solidFill>
                <a:latin typeface="Arial"/>
              </a:rPr>
              <a:t>Scope: receipts are checked inside the agent service; independent owner oversight remains open.</a:t>
            </a:r>
          </a:p>
        </p:txBody>
      </p:sp>
      <p:sp>
        <p:nvSpPr>
          <p:cNvPr id="34" name="Sello AIR: Figuera · Notarized Agents (2026) · arXiv:2606.04193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Figuera · Notarized Agents (2026) · arXiv:2606.04193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AIR: trace a prediction back to the model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A · 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Sello AIR: A prediction alone does not show which model processed which input."/>
          <p:cNvSpPr txBox="1"/>
          <p:nvPr/>
        </p:nvSpPr>
        <p:spPr>
          <a:xfrm>
            <a:off x="621792" y="1399032"/>
            <a:ext cx="109362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 lang="en-US">
                <a:solidFill>
                  <a:srgbClr val="263440"/>
                </a:solidFill>
                <a:latin typeface="Arial"/>
              </a:rPr>
              <a:t>A prediction alone does not show which model processed which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139696"/>
            <a:ext cx="3886200" cy="27706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llo AIR: THE DRAFT’S INTENTION"/>
          <p:cNvSpPr txBox="1"/>
          <p:nvPr/>
        </p:nvSpPr>
        <p:spPr>
          <a:xfrm>
            <a:off x="813816" y="2276856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263440"/>
                </a:solidFill>
                <a:latin typeface="Arial"/>
              </a:rPr>
              <a:t>THE DRAFT’S INTENTION</a:t>
            </a:r>
          </a:p>
        </p:txBody>
      </p:sp>
      <p:sp>
        <p:nvSpPr>
          <p:cNvPr id="16" name="Sello AIR: Make one inference / checkable by others."/>
          <p:cNvSpPr txBox="1"/>
          <p:nvPr/>
        </p:nvSpPr>
        <p:spPr>
          <a:xfrm>
            <a:off x="822960" y="2770632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263440"/>
                </a:solidFill>
                <a:latin typeface="Arial"/>
              </a:rPr>
              <a:t>Make one inference
checkable by others.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76472"/>
            <a:ext cx="3483864" cy="475488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llo AIR: Model + input + result"/>
          <p:cNvSpPr txBox="1"/>
          <p:nvPr/>
        </p:nvSpPr>
        <p:spPr>
          <a:xfrm>
            <a:off x="932688" y="3831335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263440"/>
                </a:solidFill>
                <a:latin typeface="Arial"/>
              </a:rPr>
              <a:t>Model + input + result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9464" y="4279392"/>
            <a:ext cx="0" cy="146304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ello AIR: Linked to execution evidence"/>
          <p:cNvSpPr txBox="1"/>
          <p:nvPr/>
        </p:nvSpPr>
        <p:spPr>
          <a:xfrm>
            <a:off x="832104" y="4498848"/>
            <a:ext cx="345643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Linked to execution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7448" y="2139696"/>
            <a:ext cx="6830568" cy="27706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llo AIR: WHAT I IMPLEMENTED IN VITA-FL"/>
          <p:cNvSpPr txBox="1"/>
          <p:nvPr/>
        </p:nvSpPr>
        <p:spPr>
          <a:xfrm>
            <a:off x="4937760" y="2276856"/>
            <a:ext cx="63825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1764A1"/>
                </a:solidFill>
                <a:latin typeface="Arial"/>
              </a:rPr>
              <a:t>WHAT I IMPLEMENTED IN VITA-FL</a:t>
            </a:r>
          </a:p>
        </p:txBody>
      </p:sp>
      <p:sp>
        <p:nvSpPr>
          <p:cNvPr id="23" name="Sello AIR: Connect the published DFL model / to its later use by the agent."/>
          <p:cNvSpPr txBox="1"/>
          <p:nvPr/>
        </p:nvSpPr>
        <p:spPr>
          <a:xfrm>
            <a:off x="4937760" y="2770632"/>
            <a:ext cx="636422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1764A1"/>
                </a:solidFill>
                <a:latin typeface="Arial"/>
              </a:rPr>
              <a:t>Connect the published DFL model
to its later use by the agent.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739896"/>
            <a:ext cx="2121408" cy="704088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llo AIR: Published / DFL model"/>
          <p:cNvSpPr txBox="1"/>
          <p:nvPr/>
        </p:nvSpPr>
        <p:spPr>
          <a:xfrm>
            <a:off x="5047488" y="3794759"/>
            <a:ext cx="190195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207548"/>
                </a:solidFill>
                <a:latin typeface="Arial"/>
              </a:rPr>
              <a:t>Published
DFL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4072" y="3739896"/>
            <a:ext cx="2532888" cy="704088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llo AIR: Selected X-ray / + prediction"/>
          <p:cNvSpPr txBox="1"/>
          <p:nvPr/>
        </p:nvSpPr>
        <p:spPr>
          <a:xfrm>
            <a:off x="7543800" y="3794759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Selected X-ray
+ prediction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04888" y="4087368"/>
            <a:ext cx="274320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12680" y="4087368"/>
            <a:ext cx="292608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51008" y="3739896"/>
            <a:ext cx="987552" cy="704088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ello AIR: Audit / record"/>
          <p:cNvSpPr txBox="1"/>
          <p:nvPr/>
        </p:nvSpPr>
        <p:spPr>
          <a:xfrm>
            <a:off x="10460736" y="3794759"/>
            <a:ext cx="76809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lang="en-US">
                <a:solidFill>
                  <a:srgbClr val="7446A6"/>
                </a:solidFill>
                <a:latin typeface="Arial"/>
              </a:rPr>
              <a:t>Audit
record</a:t>
            </a:r>
          </a:p>
        </p:txBody>
      </p:sp>
      <p:sp>
        <p:nvSpPr>
          <p:cNvPr id="32" name="Sello AIR: Preserve the checked evidence for later review."/>
          <p:cNvSpPr txBox="1"/>
          <p:nvPr/>
        </p:nvSpPr>
        <p:spPr>
          <a:xfrm>
            <a:off x="4956048" y="4544568"/>
            <a:ext cx="632764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Preserve the checked evidence for later review.</a:t>
            </a:r>
          </a:p>
        </p:txBody>
      </p:sp>
      <p:sp>
        <p:nvSpPr>
          <p:cNvPr id="33" name="Sello AIR: Adaptation: integrated with DFL and later auditing; execution trust relies on worker admission."/>
          <p:cNvSpPr txBox="1"/>
          <p:nvPr/>
        </p:nvSpPr>
        <p:spPr>
          <a:xfrm>
            <a:off x="667512" y="5184648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67747C"/>
                </a:solidFill>
                <a:latin typeface="Arial"/>
              </a:rPr>
              <a:t>Adaptation: integrated with DFL and later auditing; execution trust relies on worker admission.</a:t>
            </a:r>
          </a:p>
        </p:txBody>
      </p:sp>
      <p:sp>
        <p:nvSpPr>
          <p:cNvPr id="34" name="Sello AIR: Tsyrulnikov · AIR Internet-Draft 02 (2026) · work in progress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Tsyrulnikov · AIR Internet-Draft 02 (2026) · work 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Sello: back the agent’s report with a service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B · Sello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" y="1463040"/>
            <a:ext cx="10927080" cy="722376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Sello AIR icon: agent / 1"/>
          <p:cNvCxnSpPr/>
          <p:nvPr/>
        </p:nvCxnSpPr>
        <p:spPr>
          <a:xfrm>
            <a:off x="1024128" y="1675638"/>
            <a:ext cx="0" cy="60007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ello AIR icon: agent / 2"/>
          <p:cNvSpPr/>
          <p:nvPr/>
        </p:nvSpPr>
        <p:spPr>
          <a:xfrm>
            <a:off x="1006125" y="1645634"/>
            <a:ext cx="36004" cy="36004"/>
          </a:xfrm>
          <a:prstGeom prst="ellipse">
            <a:avLst/>
          </a:prstGeom>
          <a:solidFill>
            <a:srgbClr val="1764A1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llo AIR icon: agent / 3"/>
          <p:cNvSpPr/>
          <p:nvPr/>
        </p:nvSpPr>
        <p:spPr>
          <a:xfrm>
            <a:off x="880110" y="1735645"/>
            <a:ext cx="288036" cy="240030"/>
          </a:xfrm>
          <a:prstGeom prst="roundRect">
            <a:avLst/>
          </a:prstGeom>
          <a:solidFill>
            <a:srgbClr val="EDF4FA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Sello AIR icon: agent / 4"/>
          <p:cNvCxnSpPr/>
          <p:nvPr/>
        </p:nvCxnSpPr>
        <p:spPr>
          <a:xfrm>
            <a:off x="844105" y="1807654"/>
            <a:ext cx="0" cy="84011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llo AIR icon: agent / 5"/>
          <p:cNvCxnSpPr/>
          <p:nvPr/>
        </p:nvCxnSpPr>
        <p:spPr>
          <a:xfrm>
            <a:off x="1204150" y="1807654"/>
            <a:ext cx="0" cy="84011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llo AIR icon: agent / 6"/>
          <p:cNvSpPr/>
          <p:nvPr/>
        </p:nvSpPr>
        <p:spPr>
          <a:xfrm>
            <a:off x="940117" y="1807654"/>
            <a:ext cx="36004" cy="36004"/>
          </a:xfrm>
          <a:prstGeom prst="ellipse">
            <a:avLst/>
          </a:prstGeom>
          <a:solidFill>
            <a:srgbClr val="1764A1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llo AIR icon: agent / 7"/>
          <p:cNvSpPr/>
          <p:nvPr/>
        </p:nvSpPr>
        <p:spPr>
          <a:xfrm>
            <a:off x="1072134" y="1807654"/>
            <a:ext cx="36004" cy="36004"/>
          </a:xfrm>
          <a:prstGeom prst="ellipse">
            <a:avLst/>
          </a:prstGeom>
          <a:solidFill>
            <a:srgbClr val="1764A1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Sello AIR icon: agent / 8"/>
          <p:cNvCxnSpPr/>
          <p:nvPr/>
        </p:nvCxnSpPr>
        <p:spPr>
          <a:xfrm>
            <a:off x="964120" y="1915668"/>
            <a:ext cx="120015" cy="0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ello AIR: Agent reports"/>
          <p:cNvSpPr txBox="1"/>
          <p:nvPr/>
        </p:nvSpPr>
        <p:spPr>
          <a:xfrm>
            <a:off x="1389888" y="1655064"/>
            <a:ext cx="1929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1764A1"/>
                </a:solidFill>
                <a:latin typeface="Arial"/>
              </a:rPr>
              <a:t>Agent reports</a:t>
            </a:r>
          </a:p>
        </p:txBody>
      </p:sp>
      <p:sp>
        <p:nvSpPr>
          <p:cNvPr id="23" name="Sello AIR: “I loaded the model and ran the inference.”"/>
          <p:cNvSpPr txBox="1"/>
          <p:nvPr/>
        </p:nvSpPr>
        <p:spPr>
          <a:xfrm>
            <a:off x="3401568" y="1591056"/>
            <a:ext cx="79095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1764A1"/>
                </a:solidFill>
                <a:latin typeface="Arial"/>
              </a:rPr>
              <a:t>“I loaded the model and ran the inference.”</a:t>
            </a:r>
          </a:p>
        </p:txBody>
      </p:sp>
      <p:sp>
        <p:nvSpPr>
          <p:cNvPr id="24" name="Sello AIR: PAPER’S AIM"/>
          <p:cNvSpPr txBox="1"/>
          <p:nvPr/>
        </p:nvSpPr>
        <p:spPr>
          <a:xfrm>
            <a:off x="658368" y="2414016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263440"/>
                </a:solidFill>
                <a:latin typeface="Arial"/>
              </a:rPr>
              <a:t>PAPER’S AIM</a:t>
            </a:r>
          </a:p>
        </p:txBody>
      </p:sp>
      <p:sp>
        <p:nvSpPr>
          <p:cNvPr id="25" name="Sello AIR: The owner can privately audit actions without trusting the agent or its operator."/>
          <p:cNvSpPr txBox="1"/>
          <p:nvPr/>
        </p:nvSpPr>
        <p:spPr>
          <a:xfrm>
            <a:off x="2761488" y="2313432"/>
            <a:ext cx="872337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The owner can privately audit actions without trusting the agent or its operator.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" y="3008376"/>
            <a:ext cx="10899648" cy="10972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llo AIR: MY IMPLEMENTATION"/>
          <p:cNvSpPr txBox="1"/>
          <p:nvPr/>
        </p:nvSpPr>
        <p:spPr>
          <a:xfrm>
            <a:off x="658368" y="3209544"/>
            <a:ext cx="36758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1764A1"/>
                </a:solidFill>
                <a:latin typeface="Arial"/>
              </a:rPr>
              <a:t>MY IMPLEMENTATION</a:t>
            </a:r>
          </a:p>
        </p:txBody>
      </p:sp>
      <p:sp>
        <p:nvSpPr>
          <p:cNvPr id="28" name="Sello AIR: The receiver records the three steps."/>
          <p:cNvSpPr txBox="1"/>
          <p:nvPr/>
        </p:nvSpPr>
        <p:spPr>
          <a:xfrm>
            <a:off x="4572000" y="3163824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lang="en-US">
                <a:solidFill>
                  <a:srgbClr val="1764A1"/>
                </a:solidFill>
                <a:latin typeface="Arial"/>
              </a:rPr>
              <a:t>The receiver records the three steps.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803904"/>
            <a:ext cx="3429000" cy="5303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ello AIR: Model loaded"/>
          <p:cNvSpPr txBox="1"/>
          <p:nvPr/>
        </p:nvSpPr>
        <p:spPr>
          <a:xfrm>
            <a:off x="768096" y="3858768"/>
            <a:ext cx="320954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Model loaded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72868" y="4370832"/>
            <a:ext cx="0" cy="27432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379976" y="3803904"/>
            <a:ext cx="3429000" cy="5303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llo AIR: X-ray selected"/>
          <p:cNvSpPr txBox="1"/>
          <p:nvPr/>
        </p:nvSpPr>
        <p:spPr>
          <a:xfrm>
            <a:off x="4489704" y="3858768"/>
            <a:ext cx="320954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X-ray selected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4476" y="4370832"/>
            <a:ext cx="0" cy="27432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01583" y="3803904"/>
            <a:ext cx="3429000" cy="5303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ello AIR: Inference run"/>
          <p:cNvSpPr txBox="1"/>
          <p:nvPr/>
        </p:nvSpPr>
        <p:spPr>
          <a:xfrm>
            <a:off x="8211311" y="3858768"/>
            <a:ext cx="320954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Inference run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16084" y="4370832"/>
            <a:ext cx="0" cy="27432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142232" y="4069080"/>
            <a:ext cx="182880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3840" y="4069080"/>
            <a:ext cx="182880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8368" y="4700016"/>
            <a:ext cx="10872216" cy="347472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llo AIR: Receipts are logged before success is returned; the agent checks them."/>
          <p:cNvSpPr txBox="1"/>
          <p:nvPr/>
        </p:nvSpPr>
        <p:spPr>
          <a:xfrm>
            <a:off x="850392" y="4727448"/>
            <a:ext cx="104881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Receipts are logged before success is returned; the agent checks them.</a:t>
            </a:r>
          </a:p>
        </p:txBody>
      </p:sp>
      <p:sp>
        <p:nvSpPr>
          <p:cNvPr id="42" name="Sello AIR: Scope: receipts are checked inside the agent service; independent owner oversight remains open."/>
          <p:cNvSpPr txBox="1"/>
          <p:nvPr/>
        </p:nvSpPr>
        <p:spPr>
          <a:xfrm>
            <a:off x="667512" y="5184648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67747C"/>
                </a:solidFill>
                <a:latin typeface="Arial"/>
              </a:rPr>
              <a:t>Scope: receipts are checked inside the agent service; independent owner oversight remains open.</a:t>
            </a:r>
          </a:p>
        </p:txBody>
      </p:sp>
      <p:sp>
        <p:nvSpPr>
          <p:cNvPr id="43" name="Sello AIR: Figuera · Notarized Agents (2026) · arXiv:2606.04193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Figuera · Notarized Agents (2026) · arXiv:2606.04193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AIR: give the prediction a traceable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B · 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" y="1463040"/>
            <a:ext cx="10927080" cy="722376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Sello AIR icon: agent / 1"/>
          <p:cNvCxnSpPr/>
          <p:nvPr/>
        </p:nvCxnSpPr>
        <p:spPr>
          <a:xfrm>
            <a:off x="1024128" y="1675638"/>
            <a:ext cx="0" cy="60007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ello AIR icon: agent / 2"/>
          <p:cNvSpPr/>
          <p:nvPr/>
        </p:nvSpPr>
        <p:spPr>
          <a:xfrm>
            <a:off x="1006125" y="1645634"/>
            <a:ext cx="36004" cy="36004"/>
          </a:xfrm>
          <a:prstGeom prst="ellipse">
            <a:avLst/>
          </a:prstGeom>
          <a:solidFill>
            <a:srgbClr val="1764A1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llo AIR icon: agent / 3"/>
          <p:cNvSpPr/>
          <p:nvPr/>
        </p:nvSpPr>
        <p:spPr>
          <a:xfrm>
            <a:off x="880110" y="1735645"/>
            <a:ext cx="288036" cy="240030"/>
          </a:xfrm>
          <a:prstGeom prst="roundRect">
            <a:avLst/>
          </a:prstGeom>
          <a:solidFill>
            <a:srgbClr val="EDF4FA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Sello AIR icon: agent / 4"/>
          <p:cNvCxnSpPr/>
          <p:nvPr/>
        </p:nvCxnSpPr>
        <p:spPr>
          <a:xfrm>
            <a:off x="844105" y="1807654"/>
            <a:ext cx="0" cy="84011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llo AIR icon: agent / 5"/>
          <p:cNvCxnSpPr/>
          <p:nvPr/>
        </p:nvCxnSpPr>
        <p:spPr>
          <a:xfrm>
            <a:off x="1204150" y="1807654"/>
            <a:ext cx="0" cy="84011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llo AIR icon: agent / 6"/>
          <p:cNvSpPr/>
          <p:nvPr/>
        </p:nvSpPr>
        <p:spPr>
          <a:xfrm>
            <a:off x="940117" y="1807654"/>
            <a:ext cx="36004" cy="36004"/>
          </a:xfrm>
          <a:prstGeom prst="ellipse">
            <a:avLst/>
          </a:prstGeom>
          <a:solidFill>
            <a:srgbClr val="1764A1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llo AIR icon: agent / 7"/>
          <p:cNvSpPr/>
          <p:nvPr/>
        </p:nvSpPr>
        <p:spPr>
          <a:xfrm>
            <a:off x="1072134" y="1807654"/>
            <a:ext cx="36004" cy="36004"/>
          </a:xfrm>
          <a:prstGeom prst="ellipse">
            <a:avLst/>
          </a:prstGeom>
          <a:solidFill>
            <a:srgbClr val="1764A1"/>
          </a:solidFill>
          <a:ln w="17039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Sello AIR icon: agent / 8"/>
          <p:cNvCxnSpPr/>
          <p:nvPr/>
        </p:nvCxnSpPr>
        <p:spPr>
          <a:xfrm>
            <a:off x="964120" y="1915668"/>
            <a:ext cx="120015" cy="0"/>
          </a:xfrm>
          <a:prstGeom prst="line">
            <a:avLst/>
          </a:prstGeom>
          <a:ln w="17039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ello AIR: Agent reports"/>
          <p:cNvSpPr txBox="1"/>
          <p:nvPr/>
        </p:nvSpPr>
        <p:spPr>
          <a:xfrm>
            <a:off x="1389888" y="1655064"/>
            <a:ext cx="1929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1764A1"/>
                </a:solidFill>
                <a:latin typeface="Arial"/>
              </a:rPr>
              <a:t>Agent reports</a:t>
            </a:r>
          </a:p>
        </p:txBody>
      </p:sp>
      <p:sp>
        <p:nvSpPr>
          <p:cNvPr id="23" name="Sello AIR: “Our shared model produced this result.”"/>
          <p:cNvSpPr txBox="1"/>
          <p:nvPr/>
        </p:nvSpPr>
        <p:spPr>
          <a:xfrm>
            <a:off x="3401568" y="1591056"/>
            <a:ext cx="79095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1764A1"/>
                </a:solidFill>
                <a:latin typeface="Arial"/>
              </a:rPr>
              <a:t>“Our shared model produced this result.”</a:t>
            </a:r>
          </a:p>
        </p:txBody>
      </p:sp>
      <p:sp>
        <p:nvSpPr>
          <p:cNvPr id="24" name="Sello AIR: DRAFT’S AIM"/>
          <p:cNvSpPr txBox="1"/>
          <p:nvPr/>
        </p:nvSpPr>
        <p:spPr>
          <a:xfrm>
            <a:off x="658368" y="2414016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263440"/>
                </a:solidFill>
                <a:latin typeface="Arial"/>
              </a:rPr>
              <a:t>DRAFT’S AIM</a:t>
            </a:r>
          </a:p>
        </p:txBody>
      </p:sp>
      <p:sp>
        <p:nvSpPr>
          <p:cNvPr id="25" name="Sello AIR: Make one result traceable to its model, input and execution."/>
          <p:cNvSpPr txBox="1"/>
          <p:nvPr/>
        </p:nvSpPr>
        <p:spPr>
          <a:xfrm>
            <a:off x="2761488" y="2313432"/>
            <a:ext cx="872337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Make one result traceable to its model, input and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" y="3008376"/>
            <a:ext cx="10899648" cy="10972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llo AIR: MY IMPLEMENTATION"/>
          <p:cNvSpPr txBox="1"/>
          <p:nvPr/>
        </p:nvSpPr>
        <p:spPr>
          <a:xfrm>
            <a:off x="658368" y="3209544"/>
            <a:ext cx="36758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1764A1"/>
                </a:solidFill>
                <a:latin typeface="Arial"/>
              </a:rPr>
              <a:t>MY IMPLEMENTATION</a:t>
            </a:r>
          </a:p>
        </p:txBody>
      </p:sp>
      <p:sp>
        <p:nvSpPr>
          <p:cNvPr id="28" name="Sello AIR: Link the DFL model to its later use."/>
          <p:cNvSpPr txBox="1"/>
          <p:nvPr/>
        </p:nvSpPr>
        <p:spPr>
          <a:xfrm>
            <a:off x="4572000" y="3163824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lang="en-US">
                <a:solidFill>
                  <a:srgbClr val="1764A1"/>
                </a:solidFill>
                <a:latin typeface="Arial"/>
              </a:rPr>
              <a:t>Link the DFL model to its later use.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803904"/>
            <a:ext cx="3209544" cy="612648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ello AIR: Published DFL model"/>
          <p:cNvSpPr txBox="1"/>
          <p:nvPr/>
        </p:nvSpPr>
        <p:spPr>
          <a:xfrm>
            <a:off x="768096" y="3858768"/>
            <a:ext cx="299008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207548"/>
                </a:solidFill>
                <a:latin typeface="Arial"/>
              </a:rPr>
              <a:t>Published DFL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803904"/>
            <a:ext cx="3886200" cy="612648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llo AIR: This X-ray + this prediction"/>
          <p:cNvSpPr txBox="1"/>
          <p:nvPr/>
        </p:nvSpPr>
        <p:spPr>
          <a:xfrm>
            <a:off x="4471416" y="3858768"/>
            <a:ext cx="3666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This X-ray + this prediction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803904"/>
            <a:ext cx="2788920" cy="612648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llo AIR: Later review"/>
          <p:cNvSpPr txBox="1"/>
          <p:nvPr/>
        </p:nvSpPr>
        <p:spPr>
          <a:xfrm>
            <a:off x="8851392" y="3858768"/>
            <a:ext cx="256946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7446A6"/>
                </a:solidFill>
                <a:latin typeface="Arial"/>
              </a:rPr>
              <a:t>Later review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22776" y="4114800"/>
            <a:ext cx="384048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02752" y="4114800"/>
            <a:ext cx="384048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8368" y="4700016"/>
            <a:ext cx="10872216" cy="347472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llo AIR: The agent checks the linked evidence and preserves it in the transparency log."/>
          <p:cNvSpPr txBox="1"/>
          <p:nvPr/>
        </p:nvSpPr>
        <p:spPr>
          <a:xfrm>
            <a:off x="850392" y="4727448"/>
            <a:ext cx="104881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The agent checks the linked evidence and preserves it in the transparency log.</a:t>
            </a:r>
          </a:p>
        </p:txBody>
      </p:sp>
      <p:sp>
        <p:nvSpPr>
          <p:cNvPr id="39" name="Sello AIR: Scope: trust in the executing service relies on its prior admission as a worker."/>
          <p:cNvSpPr txBox="1"/>
          <p:nvPr/>
        </p:nvSpPr>
        <p:spPr>
          <a:xfrm>
            <a:off x="667512" y="5184648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67747C"/>
                </a:solidFill>
                <a:latin typeface="Arial"/>
              </a:rPr>
              <a:t>Scope: trust in the executing service relies on its prior admission as a worker.</a:t>
            </a:r>
          </a:p>
        </p:txBody>
      </p:sp>
      <p:sp>
        <p:nvSpPr>
          <p:cNvPr id="40" name="Sello AIR: Tsyrulnikov · AIR Internet-Draft 02 (2026) · work in progress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Tsyrulnikov · AIR Internet-Draft 02 (2026) · work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Sello and AIR: intention and implementation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