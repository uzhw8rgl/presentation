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 id="259" r:id="rId4"/>
    <p:sldId id="260" r:id="rId3"/>
    <p:sldId id="261" r:id="rId13"/>
    <p:sldId id="262" r:id="rId14"/>
    <p:sldId id="263"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Farbsystem: A ist die empfohlene Navigation, B und C sind Alternativen.</a:t>
            </a:r>
          </a:p>
          <a:p/>
          <a:p>
            <a:r>
              <a:rPr lang="en-US"/>
              <a:t>Colors describe functional domains, not trust levels or deployment boundaries. TU red remains the existing brand color. Use explicit STOP/error labels for failures. The transparency log belongs to the blue evidence path; blockchain and IPFS share purple but retain separate roles.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Ersatz für Folie 6. Die drei Farben bezeichnen Funktionsbereiche; die zwei Verantwortungsketten bleiben erhalten.</a:t>
            </a:r>
          </a:p>
          <a:p/>
          <a:p>
            <a:r>
              <a:rPr lang="en-US"/>
              <a:t>DFL computes the model. Contracts coordinate and finalize references, not tensor arithmetic. The receiver independently resolves the authoritative bundle, fetches its artifacts, and verifies them. The log is part of the blue evidence domain, not the blockchain. The layout is a functional map, not a process/deployment isolation claim. Sources: vita-fl/dfl/neural_network/cli.py:1276; smart_contracts/src/core/GMStorage.sol:180; tee_inference/service/model_source.py:218; tee_inference/service/app.py:118.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Ersatz für Folie 14. Blau und Violett sind gleichzeitig aktiv; Ledger und IPFS bleiben getrennte Rollen.</a:t>
            </a:r>
          </a:p>
          <a:p/>
          <a:p>
            <a:r>
              <a:rPr lang="en-US"/>
              <a:t>The finalized bundle contains the historical publisher-key snapshot. The request does not choose a CID, round, publisher, or local model path. Sources: agent/blockchain_source.py:357,561,656; tee_inference/service/model_source.py:218.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Ersatz für Folie 16. Eine Bereichsfarbe, klar beschriftete Akteure und Pfeile. Gezeigt ist der TEE-Pfad mit Sello.</a:t>
            </a:r>
          </a:p>
          <a:p/>
          <a:p>
            <a:r>
              <a:rPr lang="en-US"/>
              <a:t>Shown: receipt-enabled TEE profile. Six public MCP tools exist in total: three for TEE and three for ZK. Each receiver action publishes its receipt before returning success. The agent validates and registers the complete inference evidence bundle as a fourth record. Sello is configuration-dependent; SELLO_REQUIRED enforces it. Sources: agent/mcp_server.py:45,316; tee_inference/service/app.py:118; agent/tee_inference_client.py:691; agent_receipts/environment.py:30.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Neue Folienidee nach Folie 14 oder 16, alternativ als Backup. Zwei Designbeispiele aus implementierten Fehlerpfaden.</a:t>
            </a:r>
          </a:p>
          <a:p/>
          <a:p>
            <a:r>
              <a:rPr lang="en-US"/>
              <a:t>These are design examples derived from rejection code, not newly performed attack experiments. In scenario 1, the bytes do not match the finalized reference/signature. In scenario 2, Sello receipts are enabled. A failed log publication causes HTTP 503 and does not roll back an already executed action. Sources: agent/blockchain_source.py:656; tee_inference/service/model_source.py:218; tee_inference/service/app.py:137-149; agent_receipts/receiver_log.py:25.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Neue Folienidee als vereinfachter Ersatz für Folie 18 oder als Backup nach Folie 17.</a:t>
            </a:r>
          </a:p>
          <a:p/>
          <a:p>
            <a:r>
              <a:rPr lang="en-US"/>
              <a:t>Evidence has scoped guarantees. Current aggregation uses equal-weight FedAvg and does not offer semantic poisoning resistance. The inference verifier checks AIR signature, hashes, REPORTDATA, RTMR3 replay and image/contract policy, but returns dcap_collateral_verified=False. This is distinct from on-chain DFL admission. The CCF log is single-node virtual mode. Sources: dfl/neural_network/cli.py:1276; agent/tee_inference_client.py:542,636; agent_receipts/scitt.py:93; transparency_log/README.md:3,34.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Neue empirische Folienidee nach Folie 19 oder als Backup zu Folie 10. Direkt aus dem archivierten Einzelrun erzeugt.</a:t>
            </a:r>
          </a:p>
          <a:p/>
          <a:p>
            <a:r>
              <a:rPr lang="en-US"/>
              <a:t>Data: vita-fl/data/evaluation/authoritative-phala-6w-24r-20260901/round_metrics.csv and worker_activity.csv. A marks the selected aggregator, T marks a training contributor; five accepted client models per round. Counts VM0-5 are 2,3,4,4,9,2. Federated rounds 1-24 publish global model rounds 2-25. This single run shows role changes, not long-run selection fairness or recovery effectiveness; zero aborted attempts were observed.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Neue Motivationsfolie nach der Arztperspektive (Folie 3), vor der technischen Antwort. Krankenhäuser wollen gemeinsam lernen und sensible Daten unter eigener Kontrolle behalten.</a:t>
            </a:r>
          </a:p>
          <a:p/>
          <a:p>
            <a:r>
              <a:rPr lang="en-US"/>
              <a:t>This is the target hospital scenario, not a claim of deployment in real hospitals. Hospitals want to protect patient confidentiality, decide who can access their records, and avoid pooling raw patient data in one central training repository. Federated learning addresses that motivation by training where data is held and exchanging model updates. The shared global model is an artifact, not a permanent central training server: VITA-FL selects a temporary aggregator. The code trains on local dataset shards and encrypts exported local model parameters; model updates here means full local models, not only gradients. The proof of concept was evaluated with ChestMNIST on Phala. It does not establish that real patient records remained within hospital premises. Federated learning and encryption alone do not establish a formal privacy guarantee against information leakage from models. Sources: vita-fl/dfl/neural_network/cli.py:991-1004,1069-1077; vita-fl/dfl/neural_network/README.md:9-10,22-23. Suggested narration: Hospitals have a second concern beyond the quality of a prediction: they must retain control of sensitive records. They want to benefit from collaboration without creating a central pool of raw patient data. This motivates local training and protected model exchange in VITA-FL.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01752"/>
            <a:ext cx="9829800" cy="521207"/>
          </a:xfrm>
          <a:prstGeom prst="rect">
            <a:avLst/>
          </a:prstGeom>
          <a:noFill/>
        </p:spPr>
        <p:txBody>
          <a:bodyPr wrap="square" lIns="0" rIns="0" tIns="0" bIns="0" anchor="t">
            <a:spAutoFit/>
          </a:bodyPr>
          <a:lstStyle/>
          <a:p>
            <a:pPr algn="l"/>
            <a:r>
              <a:rPr sz="2300" b="0" lang="en-US">
                <a:solidFill>
                  <a:srgbClr val="263440"/>
                </a:solidFill>
                <a:latin typeface="Arial"/>
              </a:rPr>
              <a:t>One color per domain. One map throughout the talk.</a:t>
            </a:r>
          </a:p>
        </p:txBody>
      </p:sp>
      <p:sp>
        <p:nvSpPr>
          <p:cNvPr id="3" name="Rectangle 2"/>
          <p:cNvSpPr/>
          <p:nvPr/>
        </p:nvSpPr>
        <p:spPr>
          <a:xfrm>
            <a:off x="594360" y="932688"/>
            <a:ext cx="987552" cy="265176"/>
          </a:xfrm>
          <a:prstGeom prst="rect">
            <a:avLst/>
          </a:prstGeom>
          <a:solidFill>
            <a:srgbClr val="207548"/>
          </a:solidFill>
          <a:ln w="762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7512" y="990295"/>
            <a:ext cx="841248" cy="173736"/>
          </a:xfrm>
          <a:prstGeom prst="rect">
            <a:avLst/>
          </a:prstGeom>
          <a:noFill/>
        </p:spPr>
        <p:txBody>
          <a:bodyPr wrap="square" lIns="0" rIns="0" tIns="0" bIns="0" anchor="t">
            <a:spAutoFit/>
          </a:bodyPr>
          <a:lstStyle/>
          <a:p>
            <a:pPr algn="l"/>
            <a:r>
              <a:rPr sz="950" b="1" lang="en-US">
                <a:solidFill>
                  <a:srgbClr val="FFFFFF"/>
                </a:solidFill>
                <a:latin typeface="Arial"/>
              </a:rPr>
              <a:t>DFL</a:t>
            </a:r>
          </a:p>
        </p:txBody>
      </p:sp>
      <p:sp>
        <p:nvSpPr>
          <p:cNvPr id="5" name="Rectangle 4"/>
          <p:cNvSpPr/>
          <p:nvPr/>
        </p:nvSpPr>
        <p:spPr>
          <a:xfrm>
            <a:off x="1691640" y="932688"/>
            <a:ext cx="3675887" cy="265176"/>
          </a:xfrm>
          <a:prstGeom prst="rect">
            <a:avLst/>
          </a:prstGeom>
          <a:solidFill>
            <a:srgbClr val="1764A1"/>
          </a:solidFill>
          <a:ln w="762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64792" y="990295"/>
            <a:ext cx="3529583" cy="173736"/>
          </a:xfrm>
          <a:prstGeom prst="rect">
            <a:avLst/>
          </a:prstGeom>
          <a:noFill/>
        </p:spPr>
        <p:txBody>
          <a:bodyPr wrap="square" lIns="0" rIns="0" tIns="0" bIns="0" anchor="t">
            <a:spAutoFit/>
          </a:bodyPr>
          <a:lstStyle/>
          <a:p>
            <a:pPr algn="l"/>
            <a:r>
              <a:rPr sz="950" b="1" lang="en-US">
                <a:solidFill>
                  <a:srgbClr val="FFFFFF"/>
                </a:solidFill>
                <a:latin typeface="Arial"/>
              </a:rPr>
              <a:t>Agent / MCP / Inference / Log</a:t>
            </a:r>
          </a:p>
        </p:txBody>
      </p:sp>
      <p:sp>
        <p:nvSpPr>
          <p:cNvPr id="7" name="Rectangle 6"/>
          <p:cNvSpPr/>
          <p:nvPr/>
        </p:nvSpPr>
        <p:spPr>
          <a:xfrm>
            <a:off x="5477256" y="932688"/>
            <a:ext cx="2395728" cy="265176"/>
          </a:xfrm>
          <a:prstGeom prst="rect">
            <a:avLst/>
          </a:prstGeom>
          <a:solidFill>
            <a:srgbClr val="7446A6"/>
          </a:solidFill>
          <a:ln w="762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0408" y="990295"/>
            <a:ext cx="2249424" cy="173736"/>
          </a:xfrm>
          <a:prstGeom prst="rect">
            <a:avLst/>
          </a:prstGeom>
          <a:noFill/>
        </p:spPr>
        <p:txBody>
          <a:bodyPr wrap="square" lIns="0" rIns="0" tIns="0" bIns="0" anchor="t">
            <a:spAutoFit/>
          </a:bodyPr>
          <a:lstStyle/>
          <a:p>
            <a:pPr algn="l"/>
            <a:r>
              <a:rPr sz="950" b="1" lang="en-US">
                <a:solidFill>
                  <a:srgbClr val="FFFFFF"/>
                </a:solidFill>
                <a:latin typeface="Arial"/>
              </a:rPr>
              <a:t>Blockchain / IPFS</a:t>
            </a:r>
          </a:p>
        </p:txBody>
      </p:sp>
      <p:sp>
        <p:nvSpPr>
          <p:cNvPr id="9" name="Rectangle 8"/>
          <p:cNvSpPr/>
          <p:nvPr/>
        </p:nvSpPr>
        <p:spPr>
          <a:xfrm>
            <a:off x="566928" y="1307592"/>
            <a:ext cx="10927080" cy="10972"/>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300216"/>
            <a:ext cx="1188720" cy="201168"/>
          </a:xfrm>
          <a:prstGeom prst="rect">
            <a:avLst/>
          </a:prstGeom>
          <a:noFill/>
        </p:spPr>
        <p:txBody>
          <a:bodyPr wrap="square" lIns="0" rIns="0" tIns="0" bIns="0" anchor="t">
            <a:spAutoFit/>
          </a:bodyPr>
          <a:lstStyle/>
          <a:p>
            <a:pPr algn="l"/>
            <a:r>
              <a:rPr sz="900" b="0" lang="en-US">
                <a:solidFill>
                  <a:srgbClr val="FFFFFF"/>
                </a:solidFill>
                <a:latin typeface="Arial"/>
              </a:rPr>
              <a:t>Concept 01</a:t>
            </a:r>
          </a:p>
        </p:txBody>
      </p:sp>
      <p:sp>
        <p:nvSpPr>
          <p:cNvPr id="11" name="TextBox 10"/>
          <p:cNvSpPr txBox="1"/>
          <p:nvPr/>
        </p:nvSpPr>
        <p:spPr>
          <a:xfrm>
            <a:off x="1828800" y="6300216"/>
            <a:ext cx="8046720" cy="201168"/>
          </a:xfrm>
          <a:prstGeom prst="rect">
            <a:avLst/>
          </a:prstGeom>
          <a:noFill/>
        </p:spPr>
        <p:txBody>
          <a:bodyPr wrap="square" lIns="0" rIns="0" tIns="0" bIns="0" anchor="t">
            <a:spAutoFit/>
          </a:bodyPr>
          <a:lstStyle/>
          <a:p>
            <a:pPr algn="l"/>
            <a:r>
              <a:rPr sz="900" b="0" lang="en-US">
                <a:solidFill>
                  <a:srgbClr val="FFFFFF"/>
                </a:solidFill>
                <a:latin typeface="Arial"/>
              </a:rPr>
              <a:t>VITA-FL  |  Design proposals  |  Ramon Mehrpoya</a:t>
            </a:r>
          </a:p>
        </p:txBody>
      </p:sp>
      <p:sp>
        <p:nvSpPr>
          <p:cNvPr id="12" name="TextBox 11"/>
          <p:cNvSpPr txBox="1"/>
          <p:nvPr/>
        </p:nvSpPr>
        <p:spPr>
          <a:xfrm>
            <a:off x="9985248" y="6300216"/>
            <a:ext cx="1655064" cy="201168"/>
          </a:xfrm>
          <a:prstGeom prst="rect">
            <a:avLst/>
          </a:prstGeom>
          <a:noFill/>
        </p:spPr>
        <p:txBody>
          <a:bodyPr wrap="square" lIns="0" rIns="0" tIns="0" bIns="0" anchor="t">
            <a:spAutoFit/>
          </a:bodyPr>
          <a:lstStyle/>
          <a:p>
            <a:pPr algn="l"/>
            <a:r>
              <a:rPr sz="830" b="0" lang="en-US">
                <a:solidFill>
                  <a:srgbClr val="FFFFFF"/>
                </a:solidFill>
                <a:latin typeface="Arial"/>
              </a:rPr>
              <a:t>06 September 2026</a:t>
            </a:r>
          </a:p>
        </p:txBody>
      </p:sp>
      <p:sp>
        <p:nvSpPr>
          <p:cNvPr id="13" name="Rectangle 12"/>
          <p:cNvSpPr/>
          <p:nvPr/>
        </p:nvSpPr>
        <p:spPr>
          <a:xfrm>
            <a:off x="603504" y="1572768"/>
            <a:ext cx="3566160" cy="1828800"/>
          </a:xfrm>
          <a:prstGeom prst="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504" y="1572768"/>
            <a:ext cx="3566160" cy="68580"/>
          </a:xfrm>
          <a:prstGeom prst="rect">
            <a:avLst/>
          </a:prstGeom>
          <a:solidFill>
            <a:srgbClr val="207548"/>
          </a:solidFill>
          <a:ln>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773936"/>
            <a:ext cx="3218688" cy="210312"/>
          </a:xfrm>
          <a:prstGeom prst="rect">
            <a:avLst/>
          </a:prstGeom>
          <a:noFill/>
        </p:spPr>
        <p:txBody>
          <a:bodyPr wrap="square" lIns="0" rIns="0" tIns="0" bIns="0" anchor="t">
            <a:spAutoFit/>
          </a:bodyPr>
          <a:lstStyle/>
          <a:p>
            <a:pPr algn="l"/>
            <a:r>
              <a:rPr sz="1050" b="1" lang="en-US">
                <a:solidFill>
                  <a:srgbClr val="207548"/>
                </a:solidFill>
                <a:latin typeface="Arial"/>
              </a:rPr>
              <a:t>DFL</a:t>
            </a:r>
          </a:p>
        </p:txBody>
      </p:sp>
      <p:sp>
        <p:nvSpPr>
          <p:cNvPr id="16" name="TextBox 15"/>
          <p:cNvSpPr txBox="1"/>
          <p:nvPr/>
        </p:nvSpPr>
        <p:spPr>
          <a:xfrm>
            <a:off x="777240" y="2148840"/>
            <a:ext cx="3218688" cy="356616"/>
          </a:xfrm>
          <a:prstGeom prst="rect">
            <a:avLst/>
          </a:prstGeom>
          <a:noFill/>
        </p:spPr>
        <p:txBody>
          <a:bodyPr wrap="square" lIns="0" rIns="0" tIns="0" bIns="0" anchor="t">
            <a:spAutoFit/>
          </a:bodyPr>
          <a:lstStyle/>
          <a:p>
            <a:pPr algn="l"/>
            <a:r>
              <a:rPr sz="1600" b="1" lang="en-US">
                <a:solidFill>
                  <a:srgbClr val="207548"/>
                </a:solidFill>
                <a:latin typeface="Arial"/>
              </a:rPr>
              <a:t>Produce the model</a:t>
            </a:r>
          </a:p>
        </p:txBody>
      </p:sp>
      <p:sp>
        <p:nvSpPr>
          <p:cNvPr id="17" name="TextBox 16"/>
          <p:cNvSpPr txBox="1"/>
          <p:nvPr/>
        </p:nvSpPr>
        <p:spPr>
          <a:xfrm>
            <a:off x="777240" y="2660904"/>
            <a:ext cx="3218688" cy="548640"/>
          </a:xfrm>
          <a:prstGeom prst="rect">
            <a:avLst/>
          </a:prstGeom>
          <a:noFill/>
        </p:spPr>
        <p:txBody>
          <a:bodyPr wrap="square" lIns="0" rIns="0" tIns="0" bIns="0" anchor="t">
            <a:spAutoFit/>
          </a:bodyPr>
          <a:lstStyle/>
          <a:p>
            <a:pPr algn="l"/>
            <a:r>
              <a:rPr sz="1250" b="0" lang="en-US">
                <a:solidFill>
                  <a:srgbClr val="263440"/>
                </a:solidFill>
                <a:latin typeface="Arial"/>
              </a:rPr>
              <a:t>Signed inputs
Worker TEEs / FedAvg</a:t>
            </a:r>
          </a:p>
        </p:txBody>
      </p:sp>
      <p:sp>
        <p:nvSpPr>
          <p:cNvPr id="18" name="TextBox 17"/>
          <p:cNvSpPr txBox="1"/>
          <p:nvPr/>
        </p:nvSpPr>
        <p:spPr>
          <a:xfrm>
            <a:off x="777240" y="3182112"/>
            <a:ext cx="3017520" cy="155448"/>
          </a:xfrm>
          <a:prstGeom prst="rect">
            <a:avLst/>
          </a:prstGeom>
          <a:noFill/>
        </p:spPr>
        <p:txBody>
          <a:bodyPr wrap="square" lIns="0" rIns="0" tIns="0" bIns="0" anchor="t">
            <a:spAutoFit/>
          </a:bodyPr>
          <a:lstStyle/>
          <a:p>
            <a:pPr algn="l"/>
            <a:r>
              <a:rPr sz="819" b="0" lang="en-US">
                <a:solidFill>
                  <a:srgbClr val="5D6973"/>
                </a:solidFill>
                <a:latin typeface="Arial"/>
              </a:rPr>
              <a:t>#207548</a:t>
            </a:r>
          </a:p>
        </p:txBody>
      </p:sp>
      <p:sp>
        <p:nvSpPr>
          <p:cNvPr id="19" name="Rectangle 18"/>
          <p:cNvSpPr/>
          <p:nvPr/>
        </p:nvSpPr>
        <p:spPr>
          <a:xfrm>
            <a:off x="4306824" y="1572768"/>
            <a:ext cx="3566160" cy="1828800"/>
          </a:xfrm>
          <a:prstGeom prst="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06824" y="1572768"/>
            <a:ext cx="3566160" cy="68580"/>
          </a:xfrm>
          <a:prstGeom prst="rect">
            <a:avLst/>
          </a:prstGeom>
          <a:solidFill>
            <a:srgbClr val="1764A1"/>
          </a:solidFill>
          <a:ln>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1773936"/>
            <a:ext cx="3218688" cy="210312"/>
          </a:xfrm>
          <a:prstGeom prst="rect">
            <a:avLst/>
          </a:prstGeom>
          <a:noFill/>
        </p:spPr>
        <p:txBody>
          <a:bodyPr wrap="square" lIns="0" rIns="0" tIns="0" bIns="0" anchor="t">
            <a:spAutoFit/>
          </a:bodyPr>
          <a:lstStyle/>
          <a:p>
            <a:pPr algn="l"/>
            <a:r>
              <a:rPr sz="1050" b="1" lang="en-US">
                <a:solidFill>
                  <a:srgbClr val="1764A1"/>
                </a:solidFill>
                <a:latin typeface="Arial"/>
              </a:rPr>
              <a:t>AGENT / MCP / INFERENCE / LOG</a:t>
            </a:r>
          </a:p>
        </p:txBody>
      </p:sp>
      <p:sp>
        <p:nvSpPr>
          <p:cNvPr id="22" name="TextBox 21"/>
          <p:cNvSpPr txBox="1"/>
          <p:nvPr/>
        </p:nvSpPr>
        <p:spPr>
          <a:xfrm>
            <a:off x="4480560" y="2148840"/>
            <a:ext cx="3218688" cy="356616"/>
          </a:xfrm>
          <a:prstGeom prst="rect">
            <a:avLst/>
          </a:prstGeom>
          <a:noFill/>
        </p:spPr>
        <p:txBody>
          <a:bodyPr wrap="square" lIns="0" rIns="0" tIns="0" bIns="0" anchor="t">
            <a:spAutoFit/>
          </a:bodyPr>
          <a:lstStyle/>
          <a:p>
            <a:pPr algn="l"/>
            <a:r>
              <a:rPr sz="1600" b="1" lang="en-US">
                <a:solidFill>
                  <a:srgbClr val="1764A1"/>
                </a:solidFill>
                <a:latin typeface="Arial"/>
              </a:rPr>
              <a:t>Use it and provide evidence</a:t>
            </a:r>
          </a:p>
        </p:txBody>
      </p:sp>
      <p:sp>
        <p:nvSpPr>
          <p:cNvPr id="23" name="TextBox 22"/>
          <p:cNvSpPr txBox="1"/>
          <p:nvPr/>
        </p:nvSpPr>
        <p:spPr>
          <a:xfrm>
            <a:off x="4480560" y="2660904"/>
            <a:ext cx="3218688" cy="548640"/>
          </a:xfrm>
          <a:prstGeom prst="rect">
            <a:avLst/>
          </a:prstGeom>
          <a:noFill/>
        </p:spPr>
        <p:txBody>
          <a:bodyPr wrap="square" lIns="0" rIns="0" tIns="0" bIns="0" anchor="t">
            <a:spAutoFit/>
          </a:bodyPr>
          <a:lstStyle/>
          <a:p>
            <a:pPr algn="l"/>
            <a:r>
              <a:rPr sz="1250" b="0" lang="en-US">
                <a:solidFill>
                  <a:srgbClr val="263440"/>
                </a:solidFill>
                <a:latin typeface="Arial"/>
              </a:rPr>
              <a:t>Bounded tools / Receiver TEE
AIR / receipts / transparency</a:t>
            </a:r>
          </a:p>
        </p:txBody>
      </p:sp>
      <p:sp>
        <p:nvSpPr>
          <p:cNvPr id="24" name="TextBox 23"/>
          <p:cNvSpPr txBox="1"/>
          <p:nvPr/>
        </p:nvSpPr>
        <p:spPr>
          <a:xfrm>
            <a:off x="4480560" y="3182112"/>
            <a:ext cx="3017520" cy="155448"/>
          </a:xfrm>
          <a:prstGeom prst="rect">
            <a:avLst/>
          </a:prstGeom>
          <a:noFill/>
        </p:spPr>
        <p:txBody>
          <a:bodyPr wrap="square" lIns="0" rIns="0" tIns="0" bIns="0" anchor="t">
            <a:spAutoFit/>
          </a:bodyPr>
          <a:lstStyle/>
          <a:p>
            <a:pPr algn="l"/>
            <a:r>
              <a:rPr sz="819" b="0" lang="en-US">
                <a:solidFill>
                  <a:srgbClr val="5D6973"/>
                </a:solidFill>
                <a:latin typeface="Arial"/>
              </a:rPr>
              <a:t>#1764A1</a:t>
            </a:r>
          </a:p>
        </p:txBody>
      </p:sp>
      <p:sp>
        <p:nvSpPr>
          <p:cNvPr id="25" name="Rectangle 24"/>
          <p:cNvSpPr/>
          <p:nvPr/>
        </p:nvSpPr>
        <p:spPr>
          <a:xfrm>
            <a:off x="8010144" y="1572768"/>
            <a:ext cx="3566160" cy="1828800"/>
          </a:xfrm>
          <a:prstGeom prst="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10144" y="1572768"/>
            <a:ext cx="3566160" cy="68580"/>
          </a:xfrm>
          <a:prstGeom prst="rect">
            <a:avLst/>
          </a:prstGeom>
          <a:solidFill>
            <a:srgbClr val="7446A6"/>
          </a:solidFill>
          <a:ln>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83879" y="1773936"/>
            <a:ext cx="3218688" cy="210312"/>
          </a:xfrm>
          <a:prstGeom prst="rect">
            <a:avLst/>
          </a:prstGeom>
          <a:noFill/>
        </p:spPr>
        <p:txBody>
          <a:bodyPr wrap="square" lIns="0" rIns="0" tIns="0" bIns="0" anchor="t">
            <a:spAutoFit/>
          </a:bodyPr>
          <a:lstStyle/>
          <a:p>
            <a:pPr algn="l"/>
            <a:r>
              <a:rPr sz="1050" b="1" lang="en-US">
                <a:solidFill>
                  <a:srgbClr val="7446A6"/>
                </a:solidFill>
                <a:latin typeface="Arial"/>
              </a:rPr>
              <a:t>BLOCKCHAIN / IPFS</a:t>
            </a:r>
          </a:p>
        </p:txBody>
      </p:sp>
      <p:sp>
        <p:nvSpPr>
          <p:cNvPr id="28" name="TextBox 27"/>
          <p:cNvSpPr txBox="1"/>
          <p:nvPr/>
        </p:nvSpPr>
        <p:spPr>
          <a:xfrm>
            <a:off x="8183879" y="2148840"/>
            <a:ext cx="3218688" cy="356616"/>
          </a:xfrm>
          <a:prstGeom prst="rect">
            <a:avLst/>
          </a:prstGeom>
          <a:noFill/>
        </p:spPr>
        <p:txBody>
          <a:bodyPr wrap="square" lIns="0" rIns="0" tIns="0" bIns="0" anchor="t">
            <a:spAutoFit/>
          </a:bodyPr>
          <a:lstStyle/>
          <a:p>
            <a:pPr algn="l"/>
            <a:r>
              <a:rPr sz="1600" b="1" lang="en-US">
                <a:solidFill>
                  <a:srgbClr val="7446A6"/>
                </a:solidFill>
                <a:latin typeface="Arial"/>
              </a:rPr>
              <a:t>Coordinate and store</a:t>
            </a:r>
          </a:p>
        </p:txBody>
      </p:sp>
      <p:sp>
        <p:nvSpPr>
          <p:cNvPr id="29" name="TextBox 28"/>
          <p:cNvSpPr txBox="1"/>
          <p:nvPr/>
        </p:nvSpPr>
        <p:spPr>
          <a:xfrm>
            <a:off x="8183879" y="2660904"/>
            <a:ext cx="3218688" cy="548640"/>
          </a:xfrm>
          <a:prstGeom prst="rect">
            <a:avLst/>
          </a:prstGeom>
          <a:noFill/>
        </p:spPr>
        <p:txBody>
          <a:bodyPr wrap="square" lIns="0" rIns="0" tIns="0" bIns="0" anchor="t">
            <a:spAutoFit/>
          </a:bodyPr>
          <a:lstStyle/>
          <a:p>
            <a:pPr algn="l"/>
            <a:r>
              <a:rPr sz="1250" b="0" lang="en-US">
                <a:solidFill>
                  <a:srgbClr val="263440"/>
                </a:solidFill>
                <a:latin typeface="Arial"/>
              </a:rPr>
              <a:t>Finalized model references
Encrypted model artifacts</a:t>
            </a:r>
          </a:p>
        </p:txBody>
      </p:sp>
      <p:sp>
        <p:nvSpPr>
          <p:cNvPr id="30" name="TextBox 29"/>
          <p:cNvSpPr txBox="1"/>
          <p:nvPr/>
        </p:nvSpPr>
        <p:spPr>
          <a:xfrm>
            <a:off x="8183879" y="3182112"/>
            <a:ext cx="3017520" cy="155448"/>
          </a:xfrm>
          <a:prstGeom prst="rect">
            <a:avLst/>
          </a:prstGeom>
          <a:noFill/>
        </p:spPr>
        <p:txBody>
          <a:bodyPr wrap="square" lIns="0" rIns="0" tIns="0" bIns="0" anchor="t">
            <a:spAutoFit/>
          </a:bodyPr>
          <a:lstStyle/>
          <a:p>
            <a:pPr algn="l"/>
            <a:r>
              <a:rPr sz="819" b="0" lang="en-US">
                <a:solidFill>
                  <a:srgbClr val="5D6973"/>
                </a:solidFill>
                <a:latin typeface="Arial"/>
              </a:rPr>
              <a:t>#7446A6</a:t>
            </a:r>
          </a:p>
        </p:txBody>
      </p:sp>
      <p:sp>
        <p:nvSpPr>
          <p:cNvPr id="31" name="TextBox 30"/>
          <p:cNvSpPr txBox="1"/>
          <p:nvPr/>
        </p:nvSpPr>
        <p:spPr>
          <a:xfrm>
            <a:off x="630936" y="3675887"/>
            <a:ext cx="5212080" cy="210312"/>
          </a:xfrm>
          <a:prstGeom prst="rect">
            <a:avLst/>
          </a:prstGeom>
          <a:noFill/>
        </p:spPr>
        <p:txBody>
          <a:bodyPr wrap="square" lIns="0" rIns="0" tIns="0" bIns="0" anchor="t">
            <a:spAutoFit/>
          </a:bodyPr>
          <a:lstStyle/>
          <a:p>
            <a:pPr algn="l"/>
            <a:r>
              <a:rPr sz="1050" b="1" lang="en-US">
                <a:solidFill>
                  <a:srgbClr val="263440"/>
                </a:solidFill>
                <a:latin typeface="Arial"/>
              </a:rPr>
              <a:t>A  PERSISTENT CHIPS  /  RECOMMENDED</a:t>
            </a:r>
          </a:p>
        </p:txBody>
      </p:sp>
      <p:sp>
        <p:nvSpPr>
          <p:cNvPr id="32" name="Rectangle 31"/>
          <p:cNvSpPr/>
          <p:nvPr/>
        </p:nvSpPr>
        <p:spPr>
          <a:xfrm>
            <a:off x="630936" y="4023360"/>
            <a:ext cx="888796" cy="238658"/>
          </a:xfrm>
          <a:prstGeom prst="rect">
            <a:avLst/>
          </a:prstGeom>
          <a:solidFill>
            <a:srgbClr val="F5F6F7"/>
          </a:solidFill>
          <a:ln w="762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772" y="4075206"/>
            <a:ext cx="757123" cy="156362"/>
          </a:xfrm>
          <a:prstGeom prst="rect">
            <a:avLst/>
          </a:prstGeom>
          <a:noFill/>
        </p:spPr>
        <p:txBody>
          <a:bodyPr wrap="square" lIns="0" rIns="0" tIns="0" bIns="0" anchor="t">
            <a:spAutoFit/>
          </a:bodyPr>
          <a:lstStyle/>
          <a:p>
            <a:pPr algn="l"/>
            <a:r>
              <a:rPr sz="855" b="1" lang="en-US">
                <a:solidFill>
                  <a:srgbClr val="5D6973"/>
                </a:solidFill>
                <a:latin typeface="Arial"/>
              </a:rPr>
              <a:t>DFL</a:t>
            </a:r>
          </a:p>
        </p:txBody>
      </p:sp>
      <p:sp>
        <p:nvSpPr>
          <p:cNvPr id="34" name="Rectangle 33"/>
          <p:cNvSpPr/>
          <p:nvPr/>
        </p:nvSpPr>
        <p:spPr>
          <a:xfrm>
            <a:off x="1618488" y="4023360"/>
            <a:ext cx="3308299" cy="238658"/>
          </a:xfrm>
          <a:prstGeom prst="rect">
            <a:avLst/>
          </a:prstGeom>
          <a:solidFill>
            <a:srgbClr val="1764A1"/>
          </a:solidFill>
          <a:ln w="762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84324" y="4075206"/>
            <a:ext cx="3176625" cy="156362"/>
          </a:xfrm>
          <a:prstGeom prst="rect">
            <a:avLst/>
          </a:prstGeom>
          <a:noFill/>
        </p:spPr>
        <p:txBody>
          <a:bodyPr wrap="square" lIns="0" rIns="0" tIns="0" bIns="0" anchor="t">
            <a:spAutoFit/>
          </a:bodyPr>
          <a:lstStyle/>
          <a:p>
            <a:pPr algn="l"/>
            <a:r>
              <a:rPr sz="855" b="1" lang="en-US">
                <a:solidFill>
                  <a:srgbClr val="FFFFFF"/>
                </a:solidFill>
                <a:latin typeface="Arial"/>
              </a:rPr>
              <a:t>Agent / MCP / Inference / Log</a:t>
            </a:r>
          </a:p>
        </p:txBody>
      </p:sp>
      <p:sp>
        <p:nvSpPr>
          <p:cNvPr id="36" name="Rectangle 35"/>
          <p:cNvSpPr/>
          <p:nvPr/>
        </p:nvSpPr>
        <p:spPr>
          <a:xfrm>
            <a:off x="5025542" y="4023360"/>
            <a:ext cx="2156155" cy="238658"/>
          </a:xfrm>
          <a:prstGeom prst="rect">
            <a:avLst/>
          </a:prstGeom>
          <a:solidFill>
            <a:srgbClr val="7446A6"/>
          </a:solidFill>
          <a:ln w="762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91379" y="4075206"/>
            <a:ext cx="2024481" cy="156362"/>
          </a:xfrm>
          <a:prstGeom prst="rect">
            <a:avLst/>
          </a:prstGeom>
          <a:noFill/>
        </p:spPr>
        <p:txBody>
          <a:bodyPr wrap="square" lIns="0" rIns="0" tIns="0" bIns="0" anchor="t">
            <a:spAutoFit/>
          </a:bodyPr>
          <a:lstStyle/>
          <a:p>
            <a:pPr algn="l"/>
            <a:r>
              <a:rPr sz="855" b="1" lang="en-US">
                <a:solidFill>
                  <a:srgbClr val="FFFFFF"/>
                </a:solidFill>
                <a:latin typeface="Arial"/>
              </a:rPr>
              <a:t>Blockchain / IPFS</a:t>
            </a:r>
          </a:p>
        </p:txBody>
      </p:sp>
      <p:sp>
        <p:nvSpPr>
          <p:cNvPr id="38" name="TextBox 37"/>
          <p:cNvSpPr txBox="1"/>
          <p:nvPr/>
        </p:nvSpPr>
        <p:spPr>
          <a:xfrm>
            <a:off x="7680960" y="4041648"/>
            <a:ext cx="3794760" cy="265176"/>
          </a:xfrm>
          <a:prstGeom prst="rect">
            <a:avLst/>
          </a:prstGeom>
          <a:noFill/>
        </p:spPr>
        <p:txBody>
          <a:bodyPr wrap="square" lIns="0" rIns="0" tIns="0" bIns="0" anchor="t">
            <a:spAutoFit/>
          </a:bodyPr>
          <a:lstStyle/>
          <a:p>
            <a:pPr algn="l"/>
            <a:r>
              <a:rPr sz="1200" b="0" lang="en-US">
                <a:solidFill>
                  <a:srgbClr val="5D6973"/>
                </a:solidFill>
                <a:latin typeface="Arial"/>
              </a:rPr>
              <a:t>Activate both domains at a handoff.</a:t>
            </a:r>
          </a:p>
        </p:txBody>
      </p:sp>
      <p:sp>
        <p:nvSpPr>
          <p:cNvPr id="39" name="TextBox 38"/>
          <p:cNvSpPr txBox="1"/>
          <p:nvPr/>
        </p:nvSpPr>
        <p:spPr>
          <a:xfrm>
            <a:off x="630936" y="4617720"/>
            <a:ext cx="5212080" cy="210312"/>
          </a:xfrm>
          <a:prstGeom prst="rect">
            <a:avLst/>
          </a:prstGeom>
          <a:noFill/>
        </p:spPr>
        <p:txBody>
          <a:bodyPr wrap="square" lIns="0" rIns="0" tIns="0" bIns="0" anchor="t">
            <a:spAutoFit/>
          </a:bodyPr>
          <a:lstStyle/>
          <a:p>
            <a:pPr algn="l"/>
            <a:r>
              <a:rPr sz="1050" b="1" lang="en-US">
                <a:solidFill>
                  <a:srgbClr val="263440"/>
                </a:solidFill>
                <a:latin typeface="Arial"/>
              </a:rPr>
              <a:t>B  UNDERLINED SECTIONS</a:t>
            </a:r>
          </a:p>
        </p:txBody>
      </p:sp>
      <p:sp>
        <p:nvSpPr>
          <p:cNvPr id="40" name="TextBox 39"/>
          <p:cNvSpPr txBox="1"/>
          <p:nvPr/>
        </p:nvSpPr>
        <p:spPr>
          <a:xfrm>
            <a:off x="630936" y="4965192"/>
            <a:ext cx="651784" cy="126735"/>
          </a:xfrm>
          <a:prstGeom prst="rect">
            <a:avLst/>
          </a:prstGeom>
          <a:noFill/>
        </p:spPr>
        <p:txBody>
          <a:bodyPr wrap="square" lIns="0" rIns="0" tIns="0" bIns="0" anchor="t">
            <a:spAutoFit/>
          </a:bodyPr>
          <a:lstStyle/>
          <a:p>
            <a:pPr algn="l"/>
            <a:r>
              <a:rPr sz="620" b="0" lang="en-US">
                <a:solidFill>
                  <a:srgbClr val="5D6973"/>
                </a:solidFill>
                <a:latin typeface="Arial"/>
              </a:rPr>
              <a:t>DFL</a:t>
            </a:r>
          </a:p>
        </p:txBody>
      </p:sp>
      <p:sp>
        <p:nvSpPr>
          <p:cNvPr id="41" name="Rectangle 40"/>
          <p:cNvSpPr/>
          <p:nvPr/>
        </p:nvSpPr>
        <p:spPr>
          <a:xfrm>
            <a:off x="630936" y="5134173"/>
            <a:ext cx="579363" cy="27157"/>
          </a:xfrm>
          <a:prstGeom prst="rect">
            <a:avLst/>
          </a:prstGeom>
          <a:solidFill>
            <a:srgbClr val="D7DEE3"/>
          </a:solidFill>
          <a:ln w="254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55140" y="4965192"/>
            <a:ext cx="2426086" cy="126735"/>
          </a:xfrm>
          <a:prstGeom prst="rect">
            <a:avLst/>
          </a:prstGeom>
          <a:noFill/>
        </p:spPr>
        <p:txBody>
          <a:bodyPr wrap="square" lIns="0" rIns="0" tIns="0" bIns="0" anchor="t">
            <a:spAutoFit/>
          </a:bodyPr>
          <a:lstStyle/>
          <a:p>
            <a:pPr algn="l"/>
            <a:r>
              <a:rPr sz="620" b="1" lang="en-US">
                <a:solidFill>
                  <a:srgbClr val="1764A1"/>
                </a:solidFill>
                <a:latin typeface="Arial"/>
              </a:rPr>
              <a:t>Agent / MCP / Inference / Log</a:t>
            </a:r>
          </a:p>
        </p:txBody>
      </p:sp>
      <p:sp>
        <p:nvSpPr>
          <p:cNvPr id="43" name="Rectangle 42"/>
          <p:cNvSpPr/>
          <p:nvPr/>
        </p:nvSpPr>
        <p:spPr>
          <a:xfrm>
            <a:off x="1355140" y="5134173"/>
            <a:ext cx="2353665" cy="27157"/>
          </a:xfrm>
          <a:prstGeom prst="rect">
            <a:avLst/>
          </a:prstGeom>
          <a:solidFill>
            <a:srgbClr val="1764A1"/>
          </a:solidFill>
          <a:ln w="25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53647" y="4965192"/>
            <a:ext cx="1581180" cy="126735"/>
          </a:xfrm>
          <a:prstGeom prst="rect">
            <a:avLst/>
          </a:prstGeom>
          <a:noFill/>
        </p:spPr>
        <p:txBody>
          <a:bodyPr wrap="square" lIns="0" rIns="0" tIns="0" bIns="0" anchor="t">
            <a:spAutoFit/>
          </a:bodyPr>
          <a:lstStyle/>
          <a:p>
            <a:pPr algn="l"/>
            <a:r>
              <a:rPr sz="620" b="0" lang="en-US">
                <a:solidFill>
                  <a:srgbClr val="5D6973"/>
                </a:solidFill>
                <a:latin typeface="Arial"/>
              </a:rPr>
              <a:t>Blockchain / IPFS</a:t>
            </a:r>
          </a:p>
        </p:txBody>
      </p:sp>
      <p:sp>
        <p:nvSpPr>
          <p:cNvPr id="45" name="Rectangle 44"/>
          <p:cNvSpPr/>
          <p:nvPr/>
        </p:nvSpPr>
        <p:spPr>
          <a:xfrm>
            <a:off x="3853647" y="5134173"/>
            <a:ext cx="1508760" cy="27157"/>
          </a:xfrm>
          <a:prstGeom prst="rect">
            <a:avLst/>
          </a:prstGeom>
          <a:solidFill>
            <a:srgbClr val="D7DEE3"/>
          </a:solidFill>
          <a:ln w="254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0960" y="4617720"/>
            <a:ext cx="3749039" cy="210312"/>
          </a:xfrm>
          <a:prstGeom prst="rect">
            <a:avLst/>
          </a:prstGeom>
          <a:noFill/>
        </p:spPr>
        <p:txBody>
          <a:bodyPr wrap="square" lIns="0" rIns="0" tIns="0" bIns="0" anchor="t">
            <a:spAutoFit/>
          </a:bodyPr>
          <a:lstStyle/>
          <a:p>
            <a:pPr algn="l"/>
            <a:r>
              <a:rPr sz="1050" b="1" lang="en-US">
                <a:solidFill>
                  <a:srgbClr val="263440"/>
                </a:solidFill>
                <a:latin typeface="Arial"/>
              </a:rPr>
              <a:t>C  REPEATED MINI-MAP</a:t>
            </a:r>
          </a:p>
        </p:txBody>
      </p:sp>
      <p:sp>
        <p:nvSpPr>
          <p:cNvPr id="47" name="Rectangle 46"/>
          <p:cNvSpPr/>
          <p:nvPr/>
        </p:nvSpPr>
        <p:spPr>
          <a:xfrm>
            <a:off x="7680960" y="4956048"/>
            <a:ext cx="1024128" cy="256032"/>
          </a:xfrm>
          <a:prstGeom prst="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17536" y="5010912"/>
            <a:ext cx="950976" cy="137160"/>
          </a:xfrm>
          <a:prstGeom prst="rect">
            <a:avLst/>
          </a:prstGeom>
          <a:noFill/>
        </p:spPr>
        <p:txBody>
          <a:bodyPr wrap="square" lIns="0" rIns="0" tIns="0" bIns="0" anchor="t">
            <a:spAutoFit/>
          </a:bodyPr>
          <a:lstStyle/>
          <a:p>
            <a:pPr algn="ctr"/>
            <a:r>
              <a:rPr sz="800" b="1" lang="en-US">
                <a:solidFill>
                  <a:srgbClr val="207548"/>
                </a:solidFill>
                <a:latin typeface="Arial"/>
              </a:rPr>
              <a:t>DFL</a:t>
            </a:r>
          </a:p>
        </p:txBody>
      </p:sp>
      <p:sp>
        <p:nvSpPr>
          <p:cNvPr id="49" name="Rectangle 48"/>
          <p:cNvSpPr/>
          <p:nvPr/>
        </p:nvSpPr>
        <p:spPr>
          <a:xfrm>
            <a:off x="8842248" y="4956048"/>
            <a:ext cx="2587752" cy="256032"/>
          </a:xfrm>
          <a:prstGeom prst="rect">
            <a:avLst/>
          </a:prstGeom>
          <a:solidFill>
            <a:srgbClr val="1764A1"/>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78824" y="5010912"/>
            <a:ext cx="2514600" cy="137160"/>
          </a:xfrm>
          <a:prstGeom prst="rect">
            <a:avLst/>
          </a:prstGeom>
          <a:noFill/>
        </p:spPr>
        <p:txBody>
          <a:bodyPr wrap="square" lIns="0" rIns="0" tIns="0" bIns="0" anchor="t">
            <a:spAutoFit/>
          </a:bodyPr>
          <a:lstStyle/>
          <a:p>
            <a:pPr algn="ctr"/>
            <a:r>
              <a:rPr sz="800" b="1" lang="en-US">
                <a:solidFill>
                  <a:srgbClr val="FFFFFF"/>
                </a:solidFill>
                <a:latin typeface="Arial"/>
              </a:rPr>
              <a:t>Agent / Inference / Log</a:t>
            </a:r>
          </a:p>
        </p:txBody>
      </p:sp>
      <p:sp>
        <p:nvSpPr>
          <p:cNvPr id="51" name="Rectangle 50"/>
          <p:cNvSpPr/>
          <p:nvPr/>
        </p:nvSpPr>
        <p:spPr>
          <a:xfrm>
            <a:off x="7680960" y="5276088"/>
            <a:ext cx="3749039" cy="237744"/>
          </a:xfrm>
          <a:prstGeom prst="rect">
            <a:avLst/>
          </a:prstGeom>
          <a:solidFill>
            <a:srgbClr val="FFFFFF"/>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17536" y="5321808"/>
            <a:ext cx="3675887" cy="155448"/>
          </a:xfrm>
          <a:prstGeom prst="rect">
            <a:avLst/>
          </a:prstGeom>
          <a:noFill/>
        </p:spPr>
        <p:txBody>
          <a:bodyPr wrap="square" lIns="0" rIns="0" tIns="0" bIns="0" anchor="t">
            <a:spAutoFit/>
          </a:bodyPr>
          <a:lstStyle/>
          <a:p>
            <a:pPr algn="ctr"/>
            <a:r>
              <a:rPr sz="800" b="1" lang="en-US">
                <a:solidFill>
                  <a:srgbClr val="7446A6"/>
                </a:solidFill>
                <a:latin typeface="Arial"/>
              </a:rPr>
              <a:t>Blockchain / IPFS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01752"/>
            <a:ext cx="9829800" cy="521207"/>
          </a:xfrm>
          <a:prstGeom prst="rect">
            <a:avLst/>
          </a:prstGeom>
          <a:noFill/>
        </p:spPr>
        <p:txBody>
          <a:bodyPr wrap="square" lIns="0" rIns="0" tIns="0" bIns="0" anchor="t">
            <a:spAutoFit/>
          </a:bodyPr>
          <a:lstStyle/>
          <a:p>
            <a:pPr algn="l"/>
            <a:r>
              <a:rPr sz="2300" b="0" lang="en-US">
                <a:solidFill>
                  <a:srgbClr val="263440"/>
                </a:solidFill>
                <a:latin typeface="Arial"/>
              </a:rPr>
              <a:t>Two responsibility blocks, shared infrastructure</a:t>
            </a:r>
          </a:p>
        </p:txBody>
      </p:sp>
      <p:sp>
        <p:nvSpPr>
          <p:cNvPr id="3" name="Rectangle 2"/>
          <p:cNvSpPr/>
          <p:nvPr/>
        </p:nvSpPr>
        <p:spPr>
          <a:xfrm>
            <a:off x="594360" y="932688"/>
            <a:ext cx="987552" cy="265176"/>
          </a:xfrm>
          <a:prstGeom prst="rect">
            <a:avLst/>
          </a:prstGeom>
          <a:solidFill>
            <a:srgbClr val="207548"/>
          </a:solidFill>
          <a:ln w="762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7512" y="990295"/>
            <a:ext cx="841248" cy="173736"/>
          </a:xfrm>
          <a:prstGeom prst="rect">
            <a:avLst/>
          </a:prstGeom>
          <a:noFill/>
        </p:spPr>
        <p:txBody>
          <a:bodyPr wrap="square" lIns="0" rIns="0" tIns="0" bIns="0" anchor="t">
            <a:spAutoFit/>
          </a:bodyPr>
          <a:lstStyle/>
          <a:p>
            <a:pPr algn="l"/>
            <a:r>
              <a:rPr sz="950" b="1" lang="en-US">
                <a:solidFill>
                  <a:srgbClr val="FFFFFF"/>
                </a:solidFill>
                <a:latin typeface="Arial"/>
              </a:rPr>
              <a:t>DFL</a:t>
            </a:r>
          </a:p>
        </p:txBody>
      </p:sp>
      <p:sp>
        <p:nvSpPr>
          <p:cNvPr id="5" name="Rectangle 4"/>
          <p:cNvSpPr/>
          <p:nvPr/>
        </p:nvSpPr>
        <p:spPr>
          <a:xfrm>
            <a:off x="1691640" y="932688"/>
            <a:ext cx="3675887" cy="265176"/>
          </a:xfrm>
          <a:prstGeom prst="rect">
            <a:avLst/>
          </a:prstGeom>
          <a:solidFill>
            <a:srgbClr val="1764A1"/>
          </a:solidFill>
          <a:ln w="762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64792" y="990295"/>
            <a:ext cx="3529583" cy="173736"/>
          </a:xfrm>
          <a:prstGeom prst="rect">
            <a:avLst/>
          </a:prstGeom>
          <a:noFill/>
        </p:spPr>
        <p:txBody>
          <a:bodyPr wrap="square" lIns="0" rIns="0" tIns="0" bIns="0" anchor="t">
            <a:spAutoFit/>
          </a:bodyPr>
          <a:lstStyle/>
          <a:p>
            <a:pPr algn="l"/>
            <a:r>
              <a:rPr sz="950" b="1" lang="en-US">
                <a:solidFill>
                  <a:srgbClr val="FFFFFF"/>
                </a:solidFill>
                <a:latin typeface="Arial"/>
              </a:rPr>
              <a:t>Agent / MCP / Inference / Log</a:t>
            </a:r>
          </a:p>
        </p:txBody>
      </p:sp>
      <p:sp>
        <p:nvSpPr>
          <p:cNvPr id="7" name="Rectangle 6"/>
          <p:cNvSpPr/>
          <p:nvPr/>
        </p:nvSpPr>
        <p:spPr>
          <a:xfrm>
            <a:off x="5477256" y="932688"/>
            <a:ext cx="2395728" cy="265176"/>
          </a:xfrm>
          <a:prstGeom prst="rect">
            <a:avLst/>
          </a:prstGeom>
          <a:solidFill>
            <a:srgbClr val="7446A6"/>
          </a:solidFill>
          <a:ln w="762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0408" y="990295"/>
            <a:ext cx="2249424" cy="173736"/>
          </a:xfrm>
          <a:prstGeom prst="rect">
            <a:avLst/>
          </a:prstGeom>
          <a:noFill/>
        </p:spPr>
        <p:txBody>
          <a:bodyPr wrap="square" lIns="0" rIns="0" tIns="0" bIns="0" anchor="t">
            <a:spAutoFit/>
          </a:bodyPr>
          <a:lstStyle/>
          <a:p>
            <a:pPr algn="l"/>
            <a:r>
              <a:rPr sz="950" b="1" lang="en-US">
                <a:solidFill>
                  <a:srgbClr val="FFFFFF"/>
                </a:solidFill>
                <a:latin typeface="Arial"/>
              </a:rPr>
              <a:t>Blockchain / IPFS</a:t>
            </a:r>
          </a:p>
        </p:txBody>
      </p:sp>
      <p:sp>
        <p:nvSpPr>
          <p:cNvPr id="9" name="Rectangle 8"/>
          <p:cNvSpPr/>
          <p:nvPr/>
        </p:nvSpPr>
        <p:spPr>
          <a:xfrm>
            <a:off x="566928" y="1307592"/>
            <a:ext cx="10927080" cy="10972"/>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300216"/>
            <a:ext cx="1188720" cy="201168"/>
          </a:xfrm>
          <a:prstGeom prst="rect">
            <a:avLst/>
          </a:prstGeom>
          <a:noFill/>
        </p:spPr>
        <p:txBody>
          <a:bodyPr wrap="square" lIns="0" rIns="0" tIns="0" bIns="0" anchor="t">
            <a:spAutoFit/>
          </a:bodyPr>
          <a:lstStyle/>
          <a:p>
            <a:pPr algn="l"/>
            <a:r>
              <a:rPr sz="900" b="0" lang="en-US">
                <a:solidFill>
                  <a:srgbClr val="FFFFFF"/>
                </a:solidFill>
                <a:latin typeface="Arial"/>
              </a:rPr>
              <a:t>Concept 02</a:t>
            </a:r>
          </a:p>
        </p:txBody>
      </p:sp>
      <p:sp>
        <p:nvSpPr>
          <p:cNvPr id="11" name="TextBox 10"/>
          <p:cNvSpPr txBox="1"/>
          <p:nvPr/>
        </p:nvSpPr>
        <p:spPr>
          <a:xfrm>
            <a:off x="1828800" y="6300216"/>
            <a:ext cx="8046720" cy="201168"/>
          </a:xfrm>
          <a:prstGeom prst="rect">
            <a:avLst/>
          </a:prstGeom>
          <a:noFill/>
        </p:spPr>
        <p:txBody>
          <a:bodyPr wrap="square" lIns="0" rIns="0" tIns="0" bIns="0" anchor="t">
            <a:spAutoFit/>
          </a:bodyPr>
          <a:lstStyle/>
          <a:p>
            <a:pPr algn="l"/>
            <a:r>
              <a:rPr sz="900" b="0" lang="en-US">
                <a:solidFill>
                  <a:srgbClr val="FFFFFF"/>
                </a:solidFill>
                <a:latin typeface="Arial"/>
              </a:rPr>
              <a:t>VITA-FL  |  Design proposals  |  Ramon Mehrpoya</a:t>
            </a:r>
          </a:p>
        </p:txBody>
      </p:sp>
      <p:sp>
        <p:nvSpPr>
          <p:cNvPr id="12" name="TextBox 11"/>
          <p:cNvSpPr txBox="1"/>
          <p:nvPr/>
        </p:nvSpPr>
        <p:spPr>
          <a:xfrm>
            <a:off x="9985248" y="6300216"/>
            <a:ext cx="1655064" cy="201168"/>
          </a:xfrm>
          <a:prstGeom prst="rect">
            <a:avLst/>
          </a:prstGeom>
          <a:noFill/>
        </p:spPr>
        <p:txBody>
          <a:bodyPr wrap="square" lIns="0" rIns="0" tIns="0" bIns="0" anchor="t">
            <a:spAutoFit/>
          </a:bodyPr>
          <a:lstStyle/>
          <a:p>
            <a:pPr algn="l"/>
            <a:r>
              <a:rPr sz="830" b="0" lang="en-US">
                <a:solidFill>
                  <a:srgbClr val="FFFFFF"/>
                </a:solidFill>
                <a:latin typeface="Arial"/>
              </a:rPr>
              <a:t>06 September 2026</a:t>
            </a:r>
          </a:p>
        </p:txBody>
      </p:sp>
      <p:sp>
        <p:nvSpPr>
          <p:cNvPr id="13" name="Rectangle 12"/>
          <p:cNvSpPr/>
          <p:nvPr/>
        </p:nvSpPr>
        <p:spPr>
          <a:xfrm>
            <a:off x="603504" y="1572768"/>
            <a:ext cx="5285232" cy="2103120"/>
          </a:xfrm>
          <a:prstGeom prst="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1764792"/>
            <a:ext cx="4919472" cy="210312"/>
          </a:xfrm>
          <a:prstGeom prst="rect">
            <a:avLst/>
          </a:prstGeom>
          <a:noFill/>
        </p:spPr>
        <p:txBody>
          <a:bodyPr wrap="square" lIns="0" rIns="0" tIns="0" bIns="0" anchor="t">
            <a:spAutoFit/>
          </a:bodyPr>
          <a:lstStyle/>
          <a:p>
            <a:pPr algn="l"/>
            <a:r>
              <a:rPr sz="1050" b="1" lang="en-US">
                <a:solidFill>
                  <a:srgbClr val="207548"/>
                </a:solidFill>
                <a:latin typeface="Arial"/>
              </a:rPr>
              <a:t>01  DFL</a:t>
            </a:r>
          </a:p>
        </p:txBody>
      </p:sp>
      <p:sp>
        <p:nvSpPr>
          <p:cNvPr id="15" name="TextBox 14"/>
          <p:cNvSpPr txBox="1"/>
          <p:nvPr/>
        </p:nvSpPr>
        <p:spPr>
          <a:xfrm>
            <a:off x="786384" y="2093976"/>
            <a:ext cx="4919472" cy="329184"/>
          </a:xfrm>
          <a:prstGeom prst="rect">
            <a:avLst/>
          </a:prstGeom>
          <a:noFill/>
        </p:spPr>
        <p:txBody>
          <a:bodyPr wrap="square" lIns="0" rIns="0" tIns="0" bIns="0" anchor="t">
            <a:spAutoFit/>
          </a:bodyPr>
          <a:lstStyle/>
          <a:p>
            <a:pPr algn="l"/>
            <a:r>
              <a:rPr sz="1600" b="1" lang="en-US">
                <a:solidFill>
                  <a:srgbClr val="207548"/>
                </a:solidFill>
                <a:latin typeface="Arial"/>
              </a:rPr>
              <a:t>Produces the global model</a:t>
            </a:r>
          </a:p>
        </p:txBody>
      </p:sp>
      <p:sp>
        <p:nvSpPr>
          <p:cNvPr id="16" name="Rectangle 15"/>
          <p:cNvSpPr/>
          <p:nvPr/>
        </p:nvSpPr>
        <p:spPr>
          <a:xfrm>
            <a:off x="6135624" y="1572768"/>
            <a:ext cx="5440680" cy="2103120"/>
          </a:xfrm>
          <a:prstGeom prst="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764792"/>
            <a:ext cx="5074920" cy="210312"/>
          </a:xfrm>
          <a:prstGeom prst="rect">
            <a:avLst/>
          </a:prstGeom>
          <a:noFill/>
        </p:spPr>
        <p:txBody>
          <a:bodyPr wrap="square" lIns="0" rIns="0" tIns="0" bIns="0" anchor="t">
            <a:spAutoFit/>
          </a:bodyPr>
          <a:lstStyle/>
          <a:p>
            <a:pPr algn="l"/>
            <a:r>
              <a:rPr sz="1050" b="1" lang="en-US">
                <a:solidFill>
                  <a:srgbClr val="1764A1"/>
                </a:solidFill>
                <a:latin typeface="Arial"/>
              </a:rPr>
              <a:t>02  AGENT / INFERENCE</a:t>
            </a:r>
          </a:p>
        </p:txBody>
      </p:sp>
      <p:sp>
        <p:nvSpPr>
          <p:cNvPr id="18" name="TextBox 17"/>
          <p:cNvSpPr txBox="1"/>
          <p:nvPr/>
        </p:nvSpPr>
        <p:spPr>
          <a:xfrm>
            <a:off x="6318504" y="2093976"/>
            <a:ext cx="5074920" cy="329184"/>
          </a:xfrm>
          <a:prstGeom prst="rect">
            <a:avLst/>
          </a:prstGeom>
          <a:noFill/>
        </p:spPr>
        <p:txBody>
          <a:bodyPr wrap="square" lIns="0" rIns="0" tIns="0" bIns="0" anchor="t">
            <a:spAutoFit/>
          </a:bodyPr>
          <a:lstStyle/>
          <a:p>
            <a:pPr algn="l"/>
            <a:r>
              <a:rPr sz="1600" b="1" lang="en-US">
                <a:solidFill>
                  <a:srgbClr val="1764A1"/>
                </a:solidFill>
                <a:latin typeface="Arial"/>
              </a:rPr>
              <a:t>Uses the model and records evidence</a:t>
            </a:r>
          </a:p>
        </p:txBody>
      </p:sp>
      <p:sp>
        <p:nvSpPr>
          <p:cNvPr id="19" name="Rectangle 18"/>
          <p:cNvSpPr/>
          <p:nvPr/>
        </p:nvSpPr>
        <p:spPr>
          <a:xfrm>
            <a:off x="786384" y="2660904"/>
            <a:ext cx="1444752" cy="795528"/>
          </a:xfrm>
          <a:prstGeom prst="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798064"/>
            <a:ext cx="1188720" cy="338328"/>
          </a:xfrm>
          <a:prstGeom prst="rect">
            <a:avLst/>
          </a:prstGeom>
          <a:noFill/>
        </p:spPr>
        <p:txBody>
          <a:bodyPr wrap="square" lIns="0" rIns="0" tIns="0" bIns="0" anchor="t">
            <a:spAutoFit/>
          </a:bodyPr>
          <a:lstStyle/>
          <a:p>
            <a:pPr algn="ctr"/>
            <a:r>
              <a:rPr sz="1200" b="1" lang="en-US">
                <a:solidFill>
                  <a:srgbClr val="207548"/>
                </a:solidFill>
                <a:latin typeface="Arial"/>
              </a:rPr>
              <a:t>Signed inputs</a:t>
            </a:r>
          </a:p>
        </p:txBody>
      </p:sp>
      <p:sp>
        <p:nvSpPr>
          <p:cNvPr id="21" name="TextBox 20"/>
          <p:cNvSpPr txBox="1"/>
          <p:nvPr/>
        </p:nvSpPr>
        <p:spPr>
          <a:xfrm>
            <a:off x="914400" y="3136392"/>
            <a:ext cx="1188720" cy="201168"/>
          </a:xfrm>
          <a:prstGeom prst="rect">
            <a:avLst/>
          </a:prstGeom>
          <a:noFill/>
        </p:spPr>
        <p:txBody>
          <a:bodyPr wrap="square" lIns="0" rIns="0" tIns="0" bIns="0" anchor="t">
            <a:spAutoFit/>
          </a:bodyPr>
          <a:lstStyle/>
          <a:p>
            <a:pPr algn="ctr"/>
            <a:r>
              <a:rPr sz="1000" b="0" lang="en-US">
                <a:solidFill>
                  <a:srgbClr val="263440"/>
                </a:solidFill>
                <a:latin typeface="Arial"/>
              </a:rPr>
              <a:t>Medical data</a:t>
            </a:r>
          </a:p>
        </p:txBody>
      </p:sp>
      <p:cxnSp>
        <p:nvCxnSpPr>
          <p:cNvPr id="22" name="Connector 21"/>
          <p:cNvCxnSpPr/>
          <p:nvPr/>
        </p:nvCxnSpPr>
        <p:spPr>
          <a:xfrm>
            <a:off x="2249424" y="3035808"/>
            <a:ext cx="182880" cy="0"/>
          </a:xfrm>
          <a:prstGeom prst="line">
            <a:avLst/>
          </a:prstGeom>
          <a:ln w="190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2450592" y="2660904"/>
            <a:ext cx="1444752" cy="795528"/>
          </a:xfrm>
          <a:prstGeom prst="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78608" y="2798064"/>
            <a:ext cx="1188720" cy="338328"/>
          </a:xfrm>
          <a:prstGeom prst="rect">
            <a:avLst/>
          </a:prstGeom>
          <a:noFill/>
        </p:spPr>
        <p:txBody>
          <a:bodyPr wrap="square" lIns="0" rIns="0" tIns="0" bIns="0" anchor="t">
            <a:spAutoFit/>
          </a:bodyPr>
          <a:lstStyle/>
          <a:p>
            <a:pPr algn="ctr"/>
            <a:r>
              <a:rPr sz="1200" b="1" lang="en-US">
                <a:solidFill>
                  <a:srgbClr val="207548"/>
                </a:solidFill>
                <a:latin typeface="Arial"/>
              </a:rPr>
              <a:t>Worker TEEs</a:t>
            </a:r>
          </a:p>
        </p:txBody>
      </p:sp>
      <p:sp>
        <p:nvSpPr>
          <p:cNvPr id="25" name="TextBox 24"/>
          <p:cNvSpPr txBox="1"/>
          <p:nvPr/>
        </p:nvSpPr>
        <p:spPr>
          <a:xfrm>
            <a:off x="2578608" y="3136392"/>
            <a:ext cx="1188720" cy="201168"/>
          </a:xfrm>
          <a:prstGeom prst="rect">
            <a:avLst/>
          </a:prstGeom>
          <a:noFill/>
        </p:spPr>
        <p:txBody>
          <a:bodyPr wrap="square" lIns="0" rIns="0" tIns="0" bIns="0" anchor="t">
            <a:spAutoFit/>
          </a:bodyPr>
          <a:lstStyle/>
          <a:p>
            <a:pPr algn="ctr"/>
            <a:r>
              <a:rPr sz="1000" b="0" lang="en-US">
                <a:solidFill>
                  <a:srgbClr val="263440"/>
                </a:solidFill>
                <a:latin typeface="Arial"/>
              </a:rPr>
              <a:t>Local training</a:t>
            </a:r>
          </a:p>
        </p:txBody>
      </p:sp>
      <p:cxnSp>
        <p:nvCxnSpPr>
          <p:cNvPr id="26" name="Connector 25"/>
          <p:cNvCxnSpPr/>
          <p:nvPr/>
        </p:nvCxnSpPr>
        <p:spPr>
          <a:xfrm>
            <a:off x="3913632" y="3035808"/>
            <a:ext cx="182880" cy="0"/>
          </a:xfrm>
          <a:prstGeom prst="line">
            <a:avLst/>
          </a:prstGeom>
          <a:ln w="190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114800" y="2660904"/>
            <a:ext cx="1444752" cy="795528"/>
          </a:xfrm>
          <a:prstGeom prst="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42816" y="2798064"/>
            <a:ext cx="1188720" cy="338328"/>
          </a:xfrm>
          <a:prstGeom prst="rect">
            <a:avLst/>
          </a:prstGeom>
          <a:noFill/>
        </p:spPr>
        <p:txBody>
          <a:bodyPr wrap="square" lIns="0" rIns="0" tIns="0" bIns="0" anchor="t">
            <a:spAutoFit/>
          </a:bodyPr>
          <a:lstStyle/>
          <a:p>
            <a:pPr algn="ctr"/>
            <a:r>
              <a:rPr sz="1200" b="1" lang="en-US">
                <a:solidFill>
                  <a:srgbClr val="207548"/>
                </a:solidFill>
                <a:latin typeface="Arial"/>
              </a:rPr>
              <a:t>FedAvg</a:t>
            </a:r>
          </a:p>
        </p:txBody>
      </p:sp>
      <p:sp>
        <p:nvSpPr>
          <p:cNvPr id="29" name="TextBox 28"/>
          <p:cNvSpPr txBox="1"/>
          <p:nvPr/>
        </p:nvSpPr>
        <p:spPr>
          <a:xfrm>
            <a:off x="4242816" y="3136392"/>
            <a:ext cx="1188720" cy="201168"/>
          </a:xfrm>
          <a:prstGeom prst="rect">
            <a:avLst/>
          </a:prstGeom>
          <a:noFill/>
        </p:spPr>
        <p:txBody>
          <a:bodyPr wrap="square" lIns="0" rIns="0" tIns="0" bIns="0" anchor="t">
            <a:spAutoFit/>
          </a:bodyPr>
          <a:lstStyle/>
          <a:p>
            <a:pPr algn="ctr"/>
            <a:r>
              <a:rPr sz="1000" b="0" lang="en-US">
                <a:solidFill>
                  <a:srgbClr val="263440"/>
                </a:solidFill>
                <a:latin typeface="Arial"/>
              </a:rPr>
              <a:t>One aggregator</a:t>
            </a:r>
          </a:p>
        </p:txBody>
      </p:sp>
      <p:sp>
        <p:nvSpPr>
          <p:cNvPr id="30" name="Rectangle 29"/>
          <p:cNvSpPr/>
          <p:nvPr/>
        </p:nvSpPr>
        <p:spPr>
          <a:xfrm>
            <a:off x="6318504" y="2660904"/>
            <a:ext cx="1490472" cy="795528"/>
          </a:xfrm>
          <a:prstGeom prst="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2798064"/>
            <a:ext cx="1234439" cy="338328"/>
          </a:xfrm>
          <a:prstGeom prst="rect">
            <a:avLst/>
          </a:prstGeom>
          <a:noFill/>
        </p:spPr>
        <p:txBody>
          <a:bodyPr wrap="square" lIns="0" rIns="0" tIns="0" bIns="0" anchor="t">
            <a:spAutoFit/>
          </a:bodyPr>
          <a:lstStyle/>
          <a:p>
            <a:pPr algn="ctr"/>
            <a:r>
              <a:rPr sz="1200" b="1" lang="en-US">
                <a:solidFill>
                  <a:srgbClr val="1764A1"/>
                </a:solidFill>
                <a:latin typeface="Arial"/>
              </a:rPr>
              <a:t>Agent / MCP</a:t>
            </a:r>
          </a:p>
        </p:txBody>
      </p:sp>
      <p:sp>
        <p:nvSpPr>
          <p:cNvPr id="32" name="TextBox 31"/>
          <p:cNvSpPr txBox="1"/>
          <p:nvPr/>
        </p:nvSpPr>
        <p:spPr>
          <a:xfrm>
            <a:off x="6446520" y="3136392"/>
            <a:ext cx="1234439" cy="201168"/>
          </a:xfrm>
          <a:prstGeom prst="rect">
            <a:avLst/>
          </a:prstGeom>
          <a:noFill/>
        </p:spPr>
        <p:txBody>
          <a:bodyPr wrap="square" lIns="0" rIns="0" tIns="0" bIns="0" anchor="t">
            <a:spAutoFit/>
          </a:bodyPr>
          <a:lstStyle/>
          <a:p>
            <a:pPr algn="ctr"/>
            <a:r>
              <a:rPr sz="980" b="0" lang="en-US">
                <a:solidFill>
                  <a:srgbClr val="263440"/>
                </a:solidFill>
                <a:latin typeface="Arial"/>
              </a:rPr>
              <a:t>Orchestrates</a:t>
            </a:r>
          </a:p>
        </p:txBody>
      </p:sp>
      <p:cxnSp>
        <p:nvCxnSpPr>
          <p:cNvPr id="33" name="Connector 32"/>
          <p:cNvCxnSpPr/>
          <p:nvPr/>
        </p:nvCxnSpPr>
        <p:spPr>
          <a:xfrm>
            <a:off x="7827264" y="3035808"/>
            <a:ext cx="182880" cy="0"/>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8028432" y="2660904"/>
            <a:ext cx="1490472" cy="795528"/>
          </a:xfrm>
          <a:prstGeom prst="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56448" y="2798064"/>
            <a:ext cx="1234439" cy="338328"/>
          </a:xfrm>
          <a:prstGeom prst="rect">
            <a:avLst/>
          </a:prstGeom>
          <a:noFill/>
        </p:spPr>
        <p:txBody>
          <a:bodyPr wrap="square" lIns="0" rIns="0" tIns="0" bIns="0" anchor="t">
            <a:spAutoFit/>
          </a:bodyPr>
          <a:lstStyle/>
          <a:p>
            <a:pPr algn="ctr"/>
            <a:r>
              <a:rPr sz="1200" b="1" lang="en-US">
                <a:solidFill>
                  <a:srgbClr val="1764A1"/>
                </a:solidFill>
                <a:latin typeface="Arial"/>
              </a:rPr>
              <a:t>Receiver TEE</a:t>
            </a:r>
          </a:p>
        </p:txBody>
      </p:sp>
      <p:sp>
        <p:nvSpPr>
          <p:cNvPr id="36" name="TextBox 35"/>
          <p:cNvSpPr txBox="1"/>
          <p:nvPr/>
        </p:nvSpPr>
        <p:spPr>
          <a:xfrm>
            <a:off x="8156448" y="3136392"/>
            <a:ext cx="1234439" cy="201168"/>
          </a:xfrm>
          <a:prstGeom prst="rect">
            <a:avLst/>
          </a:prstGeom>
          <a:noFill/>
        </p:spPr>
        <p:txBody>
          <a:bodyPr wrap="square" lIns="0" rIns="0" tIns="0" bIns="0" anchor="t">
            <a:spAutoFit/>
          </a:bodyPr>
          <a:lstStyle/>
          <a:p>
            <a:pPr algn="ctr"/>
            <a:r>
              <a:rPr sz="980" b="0" lang="en-US">
                <a:solidFill>
                  <a:srgbClr val="263440"/>
                </a:solidFill>
                <a:latin typeface="Arial"/>
              </a:rPr>
              <a:t>Verifies / infers</a:t>
            </a:r>
          </a:p>
        </p:txBody>
      </p:sp>
      <p:cxnSp>
        <p:nvCxnSpPr>
          <p:cNvPr id="37" name="Connector 36"/>
          <p:cNvCxnSpPr/>
          <p:nvPr/>
        </p:nvCxnSpPr>
        <p:spPr>
          <a:xfrm>
            <a:off x="9537192" y="3035808"/>
            <a:ext cx="182880" cy="0"/>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9738360" y="2660904"/>
            <a:ext cx="1490472" cy="795528"/>
          </a:xfrm>
          <a:prstGeom prst="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66376" y="2798064"/>
            <a:ext cx="1234439" cy="338328"/>
          </a:xfrm>
          <a:prstGeom prst="rect">
            <a:avLst/>
          </a:prstGeom>
          <a:noFill/>
        </p:spPr>
        <p:txBody>
          <a:bodyPr wrap="square" lIns="0" rIns="0" tIns="0" bIns="0" anchor="t">
            <a:spAutoFit/>
          </a:bodyPr>
          <a:lstStyle/>
          <a:p>
            <a:pPr algn="ctr"/>
            <a:r>
              <a:rPr sz="1200" b="1" lang="en-US">
                <a:solidFill>
                  <a:srgbClr val="1764A1"/>
                </a:solidFill>
                <a:latin typeface="Arial"/>
              </a:rPr>
              <a:t>Log</a:t>
            </a:r>
          </a:p>
        </p:txBody>
      </p:sp>
      <p:sp>
        <p:nvSpPr>
          <p:cNvPr id="40" name="TextBox 39"/>
          <p:cNvSpPr txBox="1"/>
          <p:nvPr/>
        </p:nvSpPr>
        <p:spPr>
          <a:xfrm>
            <a:off x="9866376" y="3136392"/>
            <a:ext cx="1234439" cy="201168"/>
          </a:xfrm>
          <a:prstGeom prst="rect">
            <a:avLst/>
          </a:prstGeom>
          <a:noFill/>
        </p:spPr>
        <p:txBody>
          <a:bodyPr wrap="square" lIns="0" rIns="0" tIns="0" bIns="0" anchor="t">
            <a:spAutoFit/>
          </a:bodyPr>
          <a:lstStyle/>
          <a:p>
            <a:pPr algn="ctr"/>
            <a:r>
              <a:rPr sz="980" b="0" lang="en-US">
                <a:solidFill>
                  <a:srgbClr val="263440"/>
                </a:solidFill>
                <a:latin typeface="Arial"/>
              </a:rPr>
              <a:t>Records receipts</a:t>
            </a:r>
          </a:p>
        </p:txBody>
      </p:sp>
      <p:cxnSp>
        <p:nvCxnSpPr>
          <p:cNvPr id="41" name="Connector 40"/>
          <p:cNvCxnSpPr/>
          <p:nvPr/>
        </p:nvCxnSpPr>
        <p:spPr>
          <a:xfrm>
            <a:off x="3017520" y="3685032"/>
            <a:ext cx="0" cy="548640"/>
          </a:xfrm>
          <a:prstGeom prst="line">
            <a:avLst/>
          </a:prstGeom>
          <a:ln w="190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0392" y="3776472"/>
            <a:ext cx="1993392" cy="393192"/>
          </a:xfrm>
          <a:prstGeom prst="rect">
            <a:avLst/>
          </a:prstGeom>
          <a:noFill/>
        </p:spPr>
        <p:txBody>
          <a:bodyPr wrap="square" lIns="0" rIns="0" tIns="0" bIns="0" anchor="t">
            <a:spAutoFit/>
          </a:bodyPr>
          <a:lstStyle/>
          <a:p>
            <a:pPr algn="l"/>
            <a:r>
              <a:rPr sz="1010" b="1" lang="en-US">
                <a:solidFill>
                  <a:srgbClr val="207548"/>
                </a:solidFill>
                <a:latin typeface="Arial"/>
              </a:rPr>
              <a:t>Publish model + references</a:t>
            </a:r>
          </a:p>
        </p:txBody>
      </p:sp>
      <p:cxnSp>
        <p:nvCxnSpPr>
          <p:cNvPr id="43" name="Connector 42"/>
          <p:cNvCxnSpPr/>
          <p:nvPr/>
        </p:nvCxnSpPr>
        <p:spPr>
          <a:xfrm flipV="1">
            <a:off x="8750808" y="3685032"/>
            <a:ext cx="0" cy="548640"/>
          </a:xfrm>
          <a:prstGeom prst="line">
            <a:avLst/>
          </a:prstGeom>
          <a:ln w="1905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942832" y="3840480"/>
            <a:ext cx="2377440" cy="246888"/>
          </a:xfrm>
          <a:prstGeom prst="rect">
            <a:avLst/>
          </a:prstGeom>
          <a:noFill/>
        </p:spPr>
        <p:txBody>
          <a:bodyPr wrap="square" lIns="0" rIns="0" tIns="0" bIns="0" anchor="t">
            <a:spAutoFit/>
          </a:bodyPr>
          <a:lstStyle/>
          <a:p>
            <a:pPr algn="l"/>
            <a:r>
              <a:rPr sz="1100" b="1" lang="en-US">
                <a:solidFill>
                  <a:srgbClr val="7446A6"/>
                </a:solidFill>
                <a:latin typeface="Arial"/>
              </a:rPr>
              <a:t>Resolve + retrieve</a:t>
            </a:r>
          </a:p>
        </p:txBody>
      </p:sp>
      <p:sp>
        <p:nvSpPr>
          <p:cNvPr id="45" name="Rectangle 44"/>
          <p:cNvSpPr/>
          <p:nvPr/>
        </p:nvSpPr>
        <p:spPr>
          <a:xfrm>
            <a:off x="603504" y="4242816"/>
            <a:ext cx="10972800" cy="950976"/>
          </a:xfrm>
          <a:prstGeom prst="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4443984"/>
            <a:ext cx="2523744" cy="210312"/>
          </a:xfrm>
          <a:prstGeom prst="rect">
            <a:avLst/>
          </a:prstGeom>
          <a:noFill/>
        </p:spPr>
        <p:txBody>
          <a:bodyPr wrap="square" lIns="0" rIns="0" tIns="0" bIns="0" anchor="t">
            <a:spAutoFit/>
          </a:bodyPr>
          <a:lstStyle/>
          <a:p>
            <a:pPr algn="l"/>
            <a:r>
              <a:rPr sz="1050" b="1" lang="en-US">
                <a:solidFill>
                  <a:srgbClr val="7446A6"/>
                </a:solidFill>
                <a:latin typeface="Arial"/>
              </a:rPr>
              <a:t>SHARED INFRASTRUCTURE</a:t>
            </a:r>
          </a:p>
        </p:txBody>
      </p:sp>
      <p:sp>
        <p:nvSpPr>
          <p:cNvPr id="47" name="TextBox 46"/>
          <p:cNvSpPr txBox="1"/>
          <p:nvPr/>
        </p:nvSpPr>
        <p:spPr>
          <a:xfrm>
            <a:off x="3474720" y="4407408"/>
            <a:ext cx="2926080" cy="274320"/>
          </a:xfrm>
          <a:prstGeom prst="rect">
            <a:avLst/>
          </a:prstGeom>
          <a:noFill/>
        </p:spPr>
        <p:txBody>
          <a:bodyPr wrap="square" lIns="0" rIns="0" tIns="0" bIns="0" anchor="t">
            <a:spAutoFit/>
          </a:bodyPr>
          <a:lstStyle/>
          <a:p>
            <a:pPr algn="l"/>
            <a:r>
              <a:rPr sz="1600" b="1" lang="en-US">
                <a:solidFill>
                  <a:srgbClr val="7446A6"/>
                </a:solidFill>
                <a:latin typeface="Arial"/>
              </a:rPr>
              <a:t>Blockchain</a:t>
            </a:r>
          </a:p>
        </p:txBody>
      </p:sp>
      <p:sp>
        <p:nvSpPr>
          <p:cNvPr id="48" name="TextBox 47"/>
          <p:cNvSpPr txBox="1"/>
          <p:nvPr/>
        </p:nvSpPr>
        <p:spPr>
          <a:xfrm>
            <a:off x="3474720" y="4791456"/>
            <a:ext cx="3776472" cy="201168"/>
          </a:xfrm>
          <a:prstGeom prst="rect">
            <a:avLst/>
          </a:prstGeom>
          <a:noFill/>
        </p:spPr>
        <p:txBody>
          <a:bodyPr wrap="square" lIns="0" rIns="0" tIns="0" bIns="0" anchor="t">
            <a:spAutoFit/>
          </a:bodyPr>
          <a:lstStyle/>
          <a:p>
            <a:pPr algn="l"/>
            <a:r>
              <a:rPr sz="1100" b="0" lang="en-US">
                <a:solidFill>
                  <a:srgbClr val="263440"/>
                </a:solidFill>
                <a:latin typeface="Arial"/>
              </a:rPr>
              <a:t>Finalized state / round / publisher</a:t>
            </a:r>
          </a:p>
        </p:txBody>
      </p:sp>
      <p:cxnSp>
        <p:nvCxnSpPr>
          <p:cNvPr id="49" name="Connector 48"/>
          <p:cNvCxnSpPr/>
          <p:nvPr/>
        </p:nvCxnSpPr>
        <p:spPr>
          <a:xfrm>
            <a:off x="7342631" y="4434840"/>
            <a:ext cx="0" cy="566928"/>
          </a:xfrm>
          <a:prstGeom prst="line">
            <a:avLst/>
          </a:prstGeom>
          <a:ln w="10160">
            <a:solidFill>
              <a:srgbClr val="7446A6"/>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635240" y="4407408"/>
            <a:ext cx="3200400" cy="274320"/>
          </a:xfrm>
          <a:prstGeom prst="rect">
            <a:avLst/>
          </a:prstGeom>
          <a:noFill/>
        </p:spPr>
        <p:txBody>
          <a:bodyPr wrap="square" lIns="0" rIns="0" tIns="0" bIns="0" anchor="t">
            <a:spAutoFit/>
          </a:bodyPr>
          <a:lstStyle/>
          <a:p>
            <a:pPr algn="l"/>
            <a:r>
              <a:rPr sz="1600" b="1" lang="en-US">
                <a:solidFill>
                  <a:srgbClr val="7446A6"/>
                </a:solidFill>
                <a:latin typeface="Arial"/>
              </a:rPr>
              <a:t>IPFS</a:t>
            </a:r>
          </a:p>
        </p:txBody>
      </p:sp>
      <p:sp>
        <p:nvSpPr>
          <p:cNvPr id="51" name="TextBox 50"/>
          <p:cNvSpPr txBox="1"/>
          <p:nvPr/>
        </p:nvSpPr>
        <p:spPr>
          <a:xfrm>
            <a:off x="7635240" y="4791456"/>
            <a:ext cx="3749039" cy="201168"/>
          </a:xfrm>
          <a:prstGeom prst="rect">
            <a:avLst/>
          </a:prstGeom>
          <a:noFill/>
        </p:spPr>
        <p:txBody>
          <a:bodyPr wrap="square" lIns="0" rIns="0" tIns="0" bIns="0" anchor="t">
            <a:spAutoFit/>
          </a:bodyPr>
          <a:lstStyle/>
          <a:p>
            <a:pPr algn="l"/>
            <a:r>
              <a:rPr sz="1100" b="0" lang="en-US">
                <a:solidFill>
                  <a:srgbClr val="263440"/>
                </a:solidFill>
                <a:latin typeface="Arial"/>
              </a:rPr>
              <a:t>Encrypted model / signature / keys</a:t>
            </a:r>
          </a:p>
        </p:txBody>
      </p:sp>
      <p:sp>
        <p:nvSpPr>
          <p:cNvPr id="52" name="Rectangle 51"/>
          <p:cNvSpPr/>
          <p:nvPr/>
        </p:nvSpPr>
        <p:spPr>
          <a:xfrm>
            <a:off x="603504" y="5294376"/>
            <a:ext cx="10917936" cy="9144"/>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8368" y="5404104"/>
            <a:ext cx="10771632" cy="301752"/>
          </a:xfrm>
          <a:prstGeom prst="rect">
            <a:avLst/>
          </a:prstGeom>
          <a:noFill/>
        </p:spPr>
        <p:txBody>
          <a:bodyPr wrap="square" lIns="0" rIns="0" tIns="0" bIns="0" anchor="t">
            <a:spAutoFit/>
          </a:bodyPr>
          <a:lstStyle/>
          <a:p>
            <a:pPr algn="ctr"/>
            <a:r>
              <a:rPr sz="1400" b="1" lang="en-US">
                <a:solidFill>
                  <a:srgbClr val="263440"/>
                </a:solidFill>
                <a:latin typeface="Arial"/>
              </a:rPr>
              <a:t>Finalized references and encrypted artifacts connect model production to verified 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01752"/>
            <a:ext cx="9829800" cy="521207"/>
          </a:xfrm>
          <a:prstGeom prst="rect">
            <a:avLst/>
          </a:prstGeom>
          <a:noFill/>
        </p:spPr>
        <p:txBody>
          <a:bodyPr wrap="square" lIns="0" rIns="0" tIns="0" bIns="0" anchor="t">
            <a:spAutoFit/>
          </a:bodyPr>
          <a:lstStyle/>
          <a:p>
            <a:pPr algn="l"/>
            <a:r>
              <a:rPr sz="2300" b="0" lang="en-US">
                <a:solidFill>
                  <a:srgbClr val="263440"/>
                </a:solidFill>
                <a:latin typeface="Arial"/>
              </a:rPr>
              <a:t>The receiver resolves the model independently</a:t>
            </a:r>
          </a:p>
        </p:txBody>
      </p:sp>
      <p:sp>
        <p:nvSpPr>
          <p:cNvPr id="3" name="Rectangle 2"/>
          <p:cNvSpPr/>
          <p:nvPr/>
        </p:nvSpPr>
        <p:spPr>
          <a:xfrm>
            <a:off x="594360" y="932688"/>
            <a:ext cx="987552" cy="265176"/>
          </a:xfrm>
          <a:prstGeom prst="rect">
            <a:avLst/>
          </a:prstGeom>
          <a:solidFill>
            <a:srgbClr val="F5F6F7"/>
          </a:solidFill>
          <a:ln w="762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7512" y="990295"/>
            <a:ext cx="841248" cy="173736"/>
          </a:xfrm>
          <a:prstGeom prst="rect">
            <a:avLst/>
          </a:prstGeom>
          <a:noFill/>
        </p:spPr>
        <p:txBody>
          <a:bodyPr wrap="square" lIns="0" rIns="0" tIns="0" bIns="0" anchor="t">
            <a:spAutoFit/>
          </a:bodyPr>
          <a:lstStyle/>
          <a:p>
            <a:pPr algn="l"/>
            <a:r>
              <a:rPr sz="950" b="1" lang="en-US">
                <a:solidFill>
                  <a:srgbClr val="5D6973"/>
                </a:solidFill>
                <a:latin typeface="Arial"/>
              </a:rPr>
              <a:t>DFL</a:t>
            </a:r>
          </a:p>
        </p:txBody>
      </p:sp>
      <p:sp>
        <p:nvSpPr>
          <p:cNvPr id="5" name="Rectangle 4"/>
          <p:cNvSpPr/>
          <p:nvPr/>
        </p:nvSpPr>
        <p:spPr>
          <a:xfrm>
            <a:off x="1691640" y="932688"/>
            <a:ext cx="3675887" cy="265176"/>
          </a:xfrm>
          <a:prstGeom prst="rect">
            <a:avLst/>
          </a:prstGeom>
          <a:solidFill>
            <a:srgbClr val="1764A1"/>
          </a:solidFill>
          <a:ln w="762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64792" y="990295"/>
            <a:ext cx="3529583" cy="173736"/>
          </a:xfrm>
          <a:prstGeom prst="rect">
            <a:avLst/>
          </a:prstGeom>
          <a:noFill/>
        </p:spPr>
        <p:txBody>
          <a:bodyPr wrap="square" lIns="0" rIns="0" tIns="0" bIns="0" anchor="t">
            <a:spAutoFit/>
          </a:bodyPr>
          <a:lstStyle/>
          <a:p>
            <a:pPr algn="l"/>
            <a:r>
              <a:rPr sz="950" b="1" lang="en-US">
                <a:solidFill>
                  <a:srgbClr val="FFFFFF"/>
                </a:solidFill>
                <a:latin typeface="Arial"/>
              </a:rPr>
              <a:t>Agent / MCP / Inference / Log</a:t>
            </a:r>
          </a:p>
        </p:txBody>
      </p:sp>
      <p:sp>
        <p:nvSpPr>
          <p:cNvPr id="7" name="Rectangle 6"/>
          <p:cNvSpPr/>
          <p:nvPr/>
        </p:nvSpPr>
        <p:spPr>
          <a:xfrm>
            <a:off x="5477256" y="932688"/>
            <a:ext cx="2395728" cy="265176"/>
          </a:xfrm>
          <a:prstGeom prst="rect">
            <a:avLst/>
          </a:prstGeom>
          <a:solidFill>
            <a:srgbClr val="7446A6"/>
          </a:solidFill>
          <a:ln w="762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0408" y="990295"/>
            <a:ext cx="2249424" cy="173736"/>
          </a:xfrm>
          <a:prstGeom prst="rect">
            <a:avLst/>
          </a:prstGeom>
          <a:noFill/>
        </p:spPr>
        <p:txBody>
          <a:bodyPr wrap="square" lIns="0" rIns="0" tIns="0" bIns="0" anchor="t">
            <a:spAutoFit/>
          </a:bodyPr>
          <a:lstStyle/>
          <a:p>
            <a:pPr algn="l"/>
            <a:r>
              <a:rPr sz="950" b="1" lang="en-US">
                <a:solidFill>
                  <a:srgbClr val="FFFFFF"/>
                </a:solidFill>
                <a:latin typeface="Arial"/>
              </a:rPr>
              <a:t>Blockchain / IPFS</a:t>
            </a:r>
          </a:p>
        </p:txBody>
      </p:sp>
      <p:sp>
        <p:nvSpPr>
          <p:cNvPr id="9" name="Rectangle 8"/>
          <p:cNvSpPr/>
          <p:nvPr/>
        </p:nvSpPr>
        <p:spPr>
          <a:xfrm>
            <a:off x="566928" y="1307592"/>
            <a:ext cx="10927080" cy="10972"/>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300216"/>
            <a:ext cx="1188720" cy="201168"/>
          </a:xfrm>
          <a:prstGeom prst="rect">
            <a:avLst/>
          </a:prstGeom>
          <a:noFill/>
        </p:spPr>
        <p:txBody>
          <a:bodyPr wrap="square" lIns="0" rIns="0" tIns="0" bIns="0" anchor="t">
            <a:spAutoFit/>
          </a:bodyPr>
          <a:lstStyle/>
          <a:p>
            <a:pPr algn="l"/>
            <a:r>
              <a:rPr sz="900" b="0" lang="en-US">
                <a:solidFill>
                  <a:srgbClr val="FFFFFF"/>
                </a:solidFill>
                <a:latin typeface="Arial"/>
              </a:rPr>
              <a:t>Concept 03</a:t>
            </a:r>
          </a:p>
        </p:txBody>
      </p:sp>
      <p:sp>
        <p:nvSpPr>
          <p:cNvPr id="11" name="TextBox 10"/>
          <p:cNvSpPr txBox="1"/>
          <p:nvPr/>
        </p:nvSpPr>
        <p:spPr>
          <a:xfrm>
            <a:off x="1828800" y="6300216"/>
            <a:ext cx="8046720" cy="201168"/>
          </a:xfrm>
          <a:prstGeom prst="rect">
            <a:avLst/>
          </a:prstGeom>
          <a:noFill/>
        </p:spPr>
        <p:txBody>
          <a:bodyPr wrap="square" lIns="0" rIns="0" tIns="0" bIns="0" anchor="t">
            <a:spAutoFit/>
          </a:bodyPr>
          <a:lstStyle/>
          <a:p>
            <a:pPr algn="l"/>
            <a:r>
              <a:rPr sz="900" b="0" lang="en-US">
                <a:solidFill>
                  <a:srgbClr val="FFFFFF"/>
                </a:solidFill>
                <a:latin typeface="Arial"/>
              </a:rPr>
              <a:t>VITA-FL  |  Design proposals  |  Ramon Mehrpoya</a:t>
            </a:r>
          </a:p>
        </p:txBody>
      </p:sp>
      <p:sp>
        <p:nvSpPr>
          <p:cNvPr id="12" name="TextBox 11"/>
          <p:cNvSpPr txBox="1"/>
          <p:nvPr/>
        </p:nvSpPr>
        <p:spPr>
          <a:xfrm>
            <a:off x="9985248" y="6300216"/>
            <a:ext cx="1655064" cy="201168"/>
          </a:xfrm>
          <a:prstGeom prst="rect">
            <a:avLst/>
          </a:prstGeom>
          <a:noFill/>
        </p:spPr>
        <p:txBody>
          <a:bodyPr wrap="square" lIns="0" rIns="0" tIns="0" bIns="0" anchor="t">
            <a:spAutoFit/>
          </a:bodyPr>
          <a:lstStyle/>
          <a:p>
            <a:pPr algn="l"/>
            <a:r>
              <a:rPr sz="830" b="0" lang="en-US">
                <a:solidFill>
                  <a:srgbClr val="FFFFFF"/>
                </a:solidFill>
                <a:latin typeface="Arial"/>
              </a:rPr>
              <a:t>06 September 2026</a:t>
            </a:r>
          </a:p>
        </p:txBody>
      </p:sp>
      <p:sp>
        <p:nvSpPr>
          <p:cNvPr id="13" name="Rectangle 12"/>
          <p:cNvSpPr/>
          <p:nvPr/>
        </p:nvSpPr>
        <p:spPr>
          <a:xfrm>
            <a:off x="612648" y="1609344"/>
            <a:ext cx="3246120" cy="594360"/>
          </a:xfrm>
          <a:prstGeom prst="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1783080"/>
            <a:ext cx="2898648" cy="265176"/>
          </a:xfrm>
          <a:prstGeom prst="rect">
            <a:avLst/>
          </a:prstGeom>
          <a:noFill/>
        </p:spPr>
        <p:txBody>
          <a:bodyPr wrap="square" lIns="0" rIns="0" tIns="0" bIns="0" anchor="t">
            <a:spAutoFit/>
          </a:bodyPr>
          <a:lstStyle/>
          <a:p>
            <a:pPr algn="l"/>
            <a:r>
              <a:rPr sz="1320" b="1" lang="en-US">
                <a:solidFill>
                  <a:srgbClr val="1764A1"/>
                </a:solidFill>
                <a:latin typeface="Arial"/>
              </a:rPr>
              <a:t>Agent: prepare current model</a:t>
            </a:r>
          </a:p>
        </p:txBody>
      </p:sp>
      <p:cxnSp>
        <p:nvCxnSpPr>
          <p:cNvPr id="15" name="Connector 14"/>
          <p:cNvCxnSpPr/>
          <p:nvPr/>
        </p:nvCxnSpPr>
        <p:spPr>
          <a:xfrm>
            <a:off x="3858768" y="1901952"/>
            <a:ext cx="804672" cy="0"/>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28032" y="1792224"/>
            <a:ext cx="6510528" cy="274320"/>
          </a:xfrm>
          <a:prstGeom prst="rect">
            <a:avLst/>
          </a:prstGeom>
          <a:noFill/>
        </p:spPr>
        <p:txBody>
          <a:bodyPr wrap="square" lIns="0" rIns="0" tIns="0" bIns="0" anchor="t">
            <a:spAutoFit/>
          </a:bodyPr>
          <a:lstStyle/>
          <a:p>
            <a:pPr algn="l"/>
            <a:r>
              <a:rPr sz="1400" b="1" lang="en-US">
                <a:solidFill>
                  <a:srgbClr val="1764A1"/>
                </a:solidFill>
                <a:latin typeface="Arial"/>
              </a:rPr>
              <a:t>No caller-selected CID, round, publisher or path</a:t>
            </a:r>
          </a:p>
        </p:txBody>
      </p:sp>
      <p:sp>
        <p:nvSpPr>
          <p:cNvPr id="17" name="Rectangle 16"/>
          <p:cNvSpPr/>
          <p:nvPr/>
        </p:nvSpPr>
        <p:spPr>
          <a:xfrm>
            <a:off x="612648" y="2578608"/>
            <a:ext cx="3246120" cy="1051560"/>
          </a:xfrm>
          <a:prstGeom prst="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2743200"/>
            <a:ext cx="2880360" cy="210312"/>
          </a:xfrm>
          <a:prstGeom prst="rect">
            <a:avLst/>
          </a:prstGeom>
          <a:noFill/>
        </p:spPr>
        <p:txBody>
          <a:bodyPr wrap="square" lIns="0" rIns="0" tIns="0" bIns="0" anchor="t">
            <a:spAutoFit/>
          </a:bodyPr>
          <a:lstStyle/>
          <a:p>
            <a:pPr algn="l"/>
            <a:r>
              <a:rPr sz="1050" b="1" lang="en-US">
                <a:solidFill>
                  <a:srgbClr val="7446A6"/>
                </a:solidFill>
                <a:latin typeface="Arial"/>
              </a:rPr>
              <a:t>BLOCKCHAIN / AUTHORITY</a:t>
            </a:r>
          </a:p>
        </p:txBody>
      </p:sp>
      <p:sp>
        <p:nvSpPr>
          <p:cNvPr id="19" name="TextBox 18"/>
          <p:cNvSpPr txBox="1"/>
          <p:nvPr/>
        </p:nvSpPr>
        <p:spPr>
          <a:xfrm>
            <a:off x="804672" y="3099815"/>
            <a:ext cx="2880360" cy="448056"/>
          </a:xfrm>
          <a:prstGeom prst="rect">
            <a:avLst/>
          </a:prstGeom>
          <a:noFill/>
        </p:spPr>
        <p:txBody>
          <a:bodyPr wrap="square" lIns="0" rIns="0" tIns="0" bIns="0" anchor="t">
            <a:spAutoFit/>
          </a:bodyPr>
          <a:lstStyle/>
          <a:p>
            <a:pPr algn="l"/>
            <a:r>
              <a:rPr sz="1240" b="0" lang="en-US">
                <a:solidFill>
                  <a:srgbClr val="263440"/>
                </a:solidFill>
                <a:latin typeface="Arial"/>
              </a:rPr>
              <a:t>Finalized round + CIDs
Publisher-key snapshot</a:t>
            </a:r>
          </a:p>
        </p:txBody>
      </p:sp>
      <p:cxnSp>
        <p:nvCxnSpPr>
          <p:cNvPr id="20" name="Connector 19"/>
          <p:cNvCxnSpPr/>
          <p:nvPr/>
        </p:nvCxnSpPr>
        <p:spPr>
          <a:xfrm>
            <a:off x="3867912" y="3118103"/>
            <a:ext cx="795528" cy="0"/>
          </a:xfrm>
          <a:prstGeom prst="line">
            <a:avLst/>
          </a:prstGeom>
          <a:ln w="1905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12648" y="3886200"/>
            <a:ext cx="3246120" cy="1051560"/>
          </a:xfrm>
          <a:prstGeom prst="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4050791"/>
            <a:ext cx="2880360" cy="210312"/>
          </a:xfrm>
          <a:prstGeom prst="rect">
            <a:avLst/>
          </a:prstGeom>
          <a:noFill/>
        </p:spPr>
        <p:txBody>
          <a:bodyPr wrap="square" lIns="0" rIns="0" tIns="0" bIns="0" anchor="t">
            <a:spAutoFit/>
          </a:bodyPr>
          <a:lstStyle/>
          <a:p>
            <a:pPr algn="l"/>
            <a:r>
              <a:rPr sz="1050" b="1" lang="en-US">
                <a:solidFill>
                  <a:srgbClr val="7446A6"/>
                </a:solidFill>
                <a:latin typeface="Arial"/>
              </a:rPr>
              <a:t>IPFS / ARTIFACTS</a:t>
            </a:r>
          </a:p>
        </p:txBody>
      </p:sp>
      <p:sp>
        <p:nvSpPr>
          <p:cNvPr id="23" name="TextBox 22"/>
          <p:cNvSpPr txBox="1"/>
          <p:nvPr/>
        </p:nvSpPr>
        <p:spPr>
          <a:xfrm>
            <a:off x="804672" y="4407408"/>
            <a:ext cx="2880360" cy="448056"/>
          </a:xfrm>
          <a:prstGeom prst="rect">
            <a:avLst/>
          </a:prstGeom>
          <a:noFill/>
        </p:spPr>
        <p:txBody>
          <a:bodyPr wrap="square" lIns="0" rIns="0" tIns="0" bIns="0" anchor="t">
            <a:spAutoFit/>
          </a:bodyPr>
          <a:lstStyle/>
          <a:p>
            <a:pPr algn="l"/>
            <a:r>
              <a:rPr sz="1240" b="0" lang="en-US">
                <a:solidFill>
                  <a:srgbClr val="263440"/>
                </a:solidFill>
                <a:latin typeface="Arial"/>
              </a:rPr>
              <a:t>Encrypted model + signature
Recipient key bundle</a:t>
            </a:r>
          </a:p>
        </p:txBody>
      </p:sp>
      <p:cxnSp>
        <p:nvCxnSpPr>
          <p:cNvPr id="24" name="Connector 23"/>
          <p:cNvCxnSpPr/>
          <p:nvPr/>
        </p:nvCxnSpPr>
        <p:spPr>
          <a:xfrm>
            <a:off x="3867912" y="4425696"/>
            <a:ext cx="795528" cy="0"/>
          </a:xfrm>
          <a:prstGeom prst="line">
            <a:avLst/>
          </a:prstGeom>
          <a:ln w="1905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681728" y="2578608"/>
            <a:ext cx="6894576" cy="2359152"/>
          </a:xfrm>
          <a:prstGeom prst="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92040" y="2761488"/>
            <a:ext cx="6309360" cy="210312"/>
          </a:xfrm>
          <a:prstGeom prst="rect">
            <a:avLst/>
          </a:prstGeom>
          <a:noFill/>
        </p:spPr>
        <p:txBody>
          <a:bodyPr wrap="square" lIns="0" rIns="0" tIns="0" bIns="0" anchor="t">
            <a:spAutoFit/>
          </a:bodyPr>
          <a:lstStyle/>
          <a:p>
            <a:pPr algn="l"/>
            <a:r>
              <a:rPr sz="1050" b="1" lang="en-US">
                <a:solidFill>
                  <a:srgbClr val="1764A1"/>
                </a:solidFill>
                <a:latin typeface="Arial"/>
              </a:rPr>
              <a:t>MEASURED RECEIVER</a:t>
            </a:r>
          </a:p>
        </p:txBody>
      </p:sp>
      <p:sp>
        <p:nvSpPr>
          <p:cNvPr id="27" name="TextBox 26"/>
          <p:cNvSpPr txBox="1"/>
          <p:nvPr/>
        </p:nvSpPr>
        <p:spPr>
          <a:xfrm>
            <a:off x="4892040" y="3182112"/>
            <a:ext cx="1947672" cy="310896"/>
          </a:xfrm>
          <a:prstGeom prst="rect">
            <a:avLst/>
          </a:prstGeom>
          <a:noFill/>
        </p:spPr>
        <p:txBody>
          <a:bodyPr wrap="square" lIns="0" rIns="0" tIns="0" bIns="0" anchor="t">
            <a:spAutoFit/>
          </a:bodyPr>
          <a:lstStyle/>
          <a:p>
            <a:pPr algn="l"/>
            <a:r>
              <a:rPr sz="1500" b="1" lang="en-US">
                <a:solidFill>
                  <a:srgbClr val="1764A1"/>
                </a:solidFill>
                <a:latin typeface="Arial"/>
              </a:rPr>
              <a:t>1  RESOLVE</a:t>
            </a:r>
          </a:p>
        </p:txBody>
      </p:sp>
      <p:sp>
        <p:nvSpPr>
          <p:cNvPr id="28" name="TextBox 27"/>
          <p:cNvSpPr txBox="1"/>
          <p:nvPr/>
        </p:nvSpPr>
        <p:spPr>
          <a:xfrm>
            <a:off x="4892040" y="3666744"/>
            <a:ext cx="1920240" cy="539496"/>
          </a:xfrm>
          <a:prstGeom prst="rect">
            <a:avLst/>
          </a:prstGeom>
          <a:noFill/>
        </p:spPr>
        <p:txBody>
          <a:bodyPr wrap="square" lIns="0" rIns="0" tIns="0" bIns="0" anchor="t">
            <a:spAutoFit/>
          </a:bodyPr>
          <a:lstStyle/>
          <a:p>
            <a:pPr algn="l"/>
            <a:r>
              <a:rPr sz="1300" b="0" lang="en-US">
                <a:solidFill>
                  <a:srgbClr val="263440"/>
                </a:solidFill>
                <a:latin typeface="Arial"/>
              </a:rPr>
              <a:t>Finalized ledger
bundle</a:t>
            </a:r>
          </a:p>
        </p:txBody>
      </p:sp>
      <p:sp>
        <p:nvSpPr>
          <p:cNvPr id="29" name="TextBox 28"/>
          <p:cNvSpPr txBox="1"/>
          <p:nvPr/>
        </p:nvSpPr>
        <p:spPr>
          <a:xfrm>
            <a:off x="7040879" y="3182112"/>
            <a:ext cx="1947672" cy="310896"/>
          </a:xfrm>
          <a:prstGeom prst="rect">
            <a:avLst/>
          </a:prstGeom>
          <a:noFill/>
        </p:spPr>
        <p:txBody>
          <a:bodyPr wrap="square" lIns="0" rIns="0" tIns="0" bIns="0" anchor="t">
            <a:spAutoFit/>
          </a:bodyPr>
          <a:lstStyle/>
          <a:p>
            <a:pPr algn="l"/>
            <a:r>
              <a:rPr sz="1500" b="1" lang="en-US">
                <a:solidFill>
                  <a:srgbClr val="1764A1"/>
                </a:solidFill>
                <a:latin typeface="Arial"/>
              </a:rPr>
              <a:t>2  RETRIEVE</a:t>
            </a:r>
          </a:p>
        </p:txBody>
      </p:sp>
      <p:sp>
        <p:nvSpPr>
          <p:cNvPr id="30" name="TextBox 29"/>
          <p:cNvSpPr txBox="1"/>
          <p:nvPr/>
        </p:nvSpPr>
        <p:spPr>
          <a:xfrm>
            <a:off x="7040879" y="3666744"/>
            <a:ext cx="1920240" cy="539496"/>
          </a:xfrm>
          <a:prstGeom prst="rect">
            <a:avLst/>
          </a:prstGeom>
          <a:noFill/>
        </p:spPr>
        <p:txBody>
          <a:bodyPr wrap="square" lIns="0" rIns="0" tIns="0" bIns="0" anchor="t">
            <a:spAutoFit/>
          </a:bodyPr>
          <a:lstStyle/>
          <a:p>
            <a:pPr algn="l"/>
            <a:r>
              <a:rPr sz="1300" b="0" lang="en-US">
                <a:solidFill>
                  <a:srgbClr val="263440"/>
                </a:solidFill>
                <a:latin typeface="Arial"/>
              </a:rPr>
              <a:t>Named artifacts
Unwrap / decrypt</a:t>
            </a:r>
          </a:p>
        </p:txBody>
      </p:sp>
      <p:sp>
        <p:nvSpPr>
          <p:cNvPr id="31" name="TextBox 30"/>
          <p:cNvSpPr txBox="1"/>
          <p:nvPr/>
        </p:nvSpPr>
        <p:spPr>
          <a:xfrm>
            <a:off x="9189720" y="3182112"/>
            <a:ext cx="1947672" cy="310896"/>
          </a:xfrm>
          <a:prstGeom prst="rect">
            <a:avLst/>
          </a:prstGeom>
          <a:noFill/>
        </p:spPr>
        <p:txBody>
          <a:bodyPr wrap="square" lIns="0" rIns="0" tIns="0" bIns="0" anchor="t">
            <a:spAutoFit/>
          </a:bodyPr>
          <a:lstStyle/>
          <a:p>
            <a:pPr algn="l"/>
            <a:r>
              <a:rPr sz="1500" b="1" lang="en-US">
                <a:solidFill>
                  <a:srgbClr val="1764A1"/>
                </a:solidFill>
                <a:latin typeface="Arial"/>
              </a:rPr>
              <a:t>3  VERIFY</a:t>
            </a:r>
          </a:p>
        </p:txBody>
      </p:sp>
      <p:sp>
        <p:nvSpPr>
          <p:cNvPr id="32" name="TextBox 31"/>
          <p:cNvSpPr txBox="1"/>
          <p:nvPr/>
        </p:nvSpPr>
        <p:spPr>
          <a:xfrm>
            <a:off x="9189720" y="3666744"/>
            <a:ext cx="1920240" cy="539496"/>
          </a:xfrm>
          <a:prstGeom prst="rect">
            <a:avLst/>
          </a:prstGeom>
          <a:noFill/>
        </p:spPr>
        <p:txBody>
          <a:bodyPr wrap="square" lIns="0" rIns="0" tIns="0" bIns="0" anchor="t">
            <a:spAutoFit/>
          </a:bodyPr>
          <a:lstStyle/>
          <a:p>
            <a:pPr algn="l"/>
            <a:r>
              <a:rPr sz="1300" b="0" lang="en-US">
                <a:solidFill>
                  <a:srgbClr val="263440"/>
                </a:solidFill>
                <a:latin typeface="Arial"/>
              </a:rPr>
              <a:t>Hashes / round
Publisher key</a:t>
            </a:r>
          </a:p>
        </p:txBody>
      </p:sp>
      <p:sp>
        <p:nvSpPr>
          <p:cNvPr id="33" name="Rectangle 32"/>
          <p:cNvSpPr/>
          <p:nvPr/>
        </p:nvSpPr>
        <p:spPr>
          <a:xfrm>
            <a:off x="4892040" y="4416552"/>
            <a:ext cx="6473952" cy="329184"/>
          </a:xfrm>
          <a:prstGeom prst="rect">
            <a:avLst/>
          </a:prstGeom>
          <a:solidFill>
            <a:srgbClr val="1764A1"/>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0056" y="4480560"/>
            <a:ext cx="6217920" cy="210312"/>
          </a:xfrm>
          <a:prstGeom prst="rect">
            <a:avLst/>
          </a:prstGeom>
          <a:noFill/>
        </p:spPr>
        <p:txBody>
          <a:bodyPr wrap="square" lIns="0" rIns="0" tIns="0" bIns="0" anchor="t">
            <a:spAutoFit/>
          </a:bodyPr>
          <a:lstStyle/>
          <a:p>
            <a:pPr algn="ctr"/>
            <a:r>
              <a:rPr sz="1250" b="1" lang="en-US">
                <a:solidFill>
                  <a:srgbClr val="FFFFFF"/>
                </a:solidFill>
                <a:latin typeface="Arial"/>
              </a:rPr>
              <a:t>Install the exact model — or reject</a:t>
            </a:r>
          </a:p>
        </p:txBody>
      </p:sp>
      <p:sp>
        <p:nvSpPr>
          <p:cNvPr id="35" name="Rectangle 34"/>
          <p:cNvSpPr/>
          <p:nvPr/>
        </p:nvSpPr>
        <p:spPr>
          <a:xfrm>
            <a:off x="603504" y="5294376"/>
            <a:ext cx="10917936" cy="9144"/>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404104"/>
            <a:ext cx="10771632" cy="301752"/>
          </a:xfrm>
          <a:prstGeom prst="rect">
            <a:avLst/>
          </a:prstGeom>
          <a:noFill/>
        </p:spPr>
        <p:txBody>
          <a:bodyPr wrap="square" lIns="0" rIns="0" tIns="0" bIns="0" anchor="t">
            <a:spAutoFit/>
          </a:bodyPr>
          <a:lstStyle/>
          <a:p>
            <a:pPr algn="ctr"/>
            <a:r>
              <a:rPr sz="1400" b="1" lang="en-US">
                <a:solidFill>
                  <a:srgbClr val="263440"/>
                </a:solidFill>
                <a:latin typeface="Arial"/>
              </a:rPr>
              <a:t>Blockchain identifies what is current. IPFS supplies bytes. The receiver checks both.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01752"/>
            <a:ext cx="9829800" cy="521207"/>
          </a:xfrm>
          <a:prstGeom prst="rect">
            <a:avLst/>
          </a:prstGeom>
          <a:noFill/>
        </p:spPr>
        <p:txBody>
          <a:bodyPr wrap="square" lIns="0" rIns="0" tIns="0" bIns="0" anchor="t">
            <a:spAutoFit/>
          </a:bodyPr>
          <a:lstStyle/>
          <a:p>
            <a:pPr algn="l"/>
            <a:r>
              <a:rPr sz="2300" b="0" lang="en-US">
                <a:solidFill>
                  <a:srgbClr val="263440"/>
                </a:solidFill>
                <a:latin typeface="Arial"/>
              </a:rPr>
              <a:t>Three TEE tool calls, four log records</a:t>
            </a:r>
          </a:p>
        </p:txBody>
      </p:sp>
      <p:sp>
        <p:nvSpPr>
          <p:cNvPr id="3" name="TextBox 2"/>
          <p:cNvSpPr txBox="1"/>
          <p:nvPr/>
        </p:nvSpPr>
        <p:spPr>
          <a:xfrm>
            <a:off x="594360" y="932688"/>
            <a:ext cx="987552" cy="192024"/>
          </a:xfrm>
          <a:prstGeom prst="rect">
            <a:avLst/>
          </a:prstGeom>
          <a:noFill/>
        </p:spPr>
        <p:txBody>
          <a:bodyPr wrap="square" lIns="0" rIns="0" tIns="0" bIns="0" anchor="t">
            <a:spAutoFit/>
          </a:bodyPr>
          <a:lstStyle/>
          <a:p>
            <a:pPr algn="l"/>
            <a:r>
              <a:rPr sz="940" b="0" lang="en-US">
                <a:solidFill>
                  <a:srgbClr val="5D6973"/>
                </a:solidFill>
                <a:latin typeface="Arial"/>
              </a:rPr>
              <a:t>DFL</a:t>
            </a:r>
          </a:p>
        </p:txBody>
      </p:sp>
      <p:sp>
        <p:nvSpPr>
          <p:cNvPr id="4" name="Rectangle 3"/>
          <p:cNvSpPr/>
          <p:nvPr/>
        </p:nvSpPr>
        <p:spPr>
          <a:xfrm>
            <a:off x="594360" y="1188720"/>
            <a:ext cx="877824" cy="41148"/>
          </a:xfrm>
          <a:prstGeom prst="rect">
            <a:avLst/>
          </a:prstGeom>
          <a:solidFill>
            <a:srgbClr val="D7DEE3"/>
          </a:solidFill>
          <a:ln w="254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91640" y="932688"/>
            <a:ext cx="3675887" cy="192024"/>
          </a:xfrm>
          <a:prstGeom prst="rect">
            <a:avLst/>
          </a:prstGeom>
          <a:noFill/>
        </p:spPr>
        <p:txBody>
          <a:bodyPr wrap="square" lIns="0" rIns="0" tIns="0" bIns="0" anchor="t">
            <a:spAutoFit/>
          </a:bodyPr>
          <a:lstStyle/>
          <a:p>
            <a:pPr algn="l"/>
            <a:r>
              <a:rPr sz="940" b="1" lang="en-US">
                <a:solidFill>
                  <a:srgbClr val="1764A1"/>
                </a:solidFill>
                <a:latin typeface="Arial"/>
              </a:rPr>
              <a:t>Agent / MCP / Inference / Log</a:t>
            </a:r>
          </a:p>
        </p:txBody>
      </p:sp>
      <p:sp>
        <p:nvSpPr>
          <p:cNvPr id="6" name="Rectangle 5"/>
          <p:cNvSpPr/>
          <p:nvPr/>
        </p:nvSpPr>
        <p:spPr>
          <a:xfrm>
            <a:off x="1691640" y="1188720"/>
            <a:ext cx="3566159" cy="41148"/>
          </a:xfrm>
          <a:prstGeom prst="rect">
            <a:avLst/>
          </a:prstGeom>
          <a:solidFill>
            <a:srgbClr val="1764A1"/>
          </a:solidFill>
          <a:ln w="25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7256" y="932688"/>
            <a:ext cx="2395728" cy="192024"/>
          </a:xfrm>
          <a:prstGeom prst="rect">
            <a:avLst/>
          </a:prstGeom>
          <a:noFill/>
        </p:spPr>
        <p:txBody>
          <a:bodyPr wrap="square" lIns="0" rIns="0" tIns="0" bIns="0" anchor="t">
            <a:spAutoFit/>
          </a:bodyPr>
          <a:lstStyle/>
          <a:p>
            <a:pPr algn="l"/>
            <a:r>
              <a:rPr sz="940" b="0" lang="en-US">
                <a:solidFill>
                  <a:srgbClr val="5D6973"/>
                </a:solidFill>
                <a:latin typeface="Arial"/>
              </a:rPr>
              <a:t>Blockchain / IPFS</a:t>
            </a:r>
          </a:p>
        </p:txBody>
      </p:sp>
      <p:sp>
        <p:nvSpPr>
          <p:cNvPr id="8" name="Rectangle 7"/>
          <p:cNvSpPr/>
          <p:nvPr/>
        </p:nvSpPr>
        <p:spPr>
          <a:xfrm>
            <a:off x="5477256" y="1188720"/>
            <a:ext cx="2286000" cy="41148"/>
          </a:xfrm>
          <a:prstGeom prst="rect">
            <a:avLst/>
          </a:prstGeom>
          <a:solidFill>
            <a:srgbClr val="D7DEE3"/>
          </a:solidFill>
          <a:ln w="254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307592"/>
            <a:ext cx="10927080" cy="10972"/>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300216"/>
            <a:ext cx="1188720" cy="201168"/>
          </a:xfrm>
          <a:prstGeom prst="rect">
            <a:avLst/>
          </a:prstGeom>
          <a:noFill/>
        </p:spPr>
        <p:txBody>
          <a:bodyPr wrap="square" lIns="0" rIns="0" tIns="0" bIns="0" anchor="t">
            <a:spAutoFit/>
          </a:bodyPr>
          <a:lstStyle/>
          <a:p>
            <a:pPr algn="l"/>
            <a:r>
              <a:rPr sz="900" b="0" lang="en-US">
                <a:solidFill>
                  <a:srgbClr val="FFFFFF"/>
                </a:solidFill>
                <a:latin typeface="Arial"/>
              </a:rPr>
              <a:t>Concept 04</a:t>
            </a:r>
          </a:p>
        </p:txBody>
      </p:sp>
      <p:sp>
        <p:nvSpPr>
          <p:cNvPr id="11" name="TextBox 10"/>
          <p:cNvSpPr txBox="1"/>
          <p:nvPr/>
        </p:nvSpPr>
        <p:spPr>
          <a:xfrm>
            <a:off x="1828800" y="6300216"/>
            <a:ext cx="8046720" cy="201168"/>
          </a:xfrm>
          <a:prstGeom prst="rect">
            <a:avLst/>
          </a:prstGeom>
          <a:noFill/>
        </p:spPr>
        <p:txBody>
          <a:bodyPr wrap="square" lIns="0" rIns="0" tIns="0" bIns="0" anchor="t">
            <a:spAutoFit/>
          </a:bodyPr>
          <a:lstStyle/>
          <a:p>
            <a:pPr algn="l"/>
            <a:r>
              <a:rPr sz="900" b="0" lang="en-US">
                <a:solidFill>
                  <a:srgbClr val="FFFFFF"/>
                </a:solidFill>
                <a:latin typeface="Arial"/>
              </a:rPr>
              <a:t>VITA-FL  |  Design proposals  |  Ramon Mehrpoya</a:t>
            </a:r>
          </a:p>
        </p:txBody>
      </p:sp>
      <p:sp>
        <p:nvSpPr>
          <p:cNvPr id="12" name="TextBox 11"/>
          <p:cNvSpPr txBox="1"/>
          <p:nvPr/>
        </p:nvSpPr>
        <p:spPr>
          <a:xfrm>
            <a:off x="9985248" y="6300216"/>
            <a:ext cx="1655064" cy="201168"/>
          </a:xfrm>
          <a:prstGeom prst="rect">
            <a:avLst/>
          </a:prstGeom>
          <a:noFill/>
        </p:spPr>
        <p:txBody>
          <a:bodyPr wrap="square" lIns="0" rIns="0" tIns="0" bIns="0" anchor="t">
            <a:spAutoFit/>
          </a:bodyPr>
          <a:lstStyle/>
          <a:p>
            <a:pPr algn="l"/>
            <a:r>
              <a:rPr sz="830" b="0" lang="en-US">
                <a:solidFill>
                  <a:srgbClr val="FFFFFF"/>
                </a:solidFill>
                <a:latin typeface="Arial"/>
              </a:rPr>
              <a:t>06 September 2026</a:t>
            </a:r>
          </a:p>
        </p:txBody>
      </p:sp>
      <p:sp>
        <p:nvSpPr>
          <p:cNvPr id="13" name="Rectangle 12"/>
          <p:cNvSpPr/>
          <p:nvPr/>
        </p:nvSpPr>
        <p:spPr>
          <a:xfrm>
            <a:off x="621792" y="1591056"/>
            <a:ext cx="2304288" cy="612648"/>
          </a:xfrm>
          <a:prstGeom prst="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1737360"/>
            <a:ext cx="2103120" cy="201168"/>
          </a:xfrm>
          <a:prstGeom prst="rect">
            <a:avLst/>
          </a:prstGeom>
          <a:noFill/>
        </p:spPr>
        <p:txBody>
          <a:bodyPr wrap="square" lIns="0" rIns="0" tIns="0" bIns="0" anchor="t">
            <a:spAutoFit/>
          </a:bodyPr>
          <a:lstStyle/>
          <a:p>
            <a:pPr algn="ctr"/>
            <a:r>
              <a:rPr sz="1200" b="1" lang="en-US">
                <a:solidFill>
                  <a:srgbClr val="1764A1"/>
                </a:solidFill>
                <a:latin typeface="Arial"/>
              </a:rPr>
              <a:t>AGENT / MCP</a:t>
            </a:r>
          </a:p>
        </p:txBody>
      </p:sp>
      <p:sp>
        <p:nvSpPr>
          <p:cNvPr id="15" name="TextBox 14"/>
          <p:cNvSpPr txBox="1"/>
          <p:nvPr/>
        </p:nvSpPr>
        <p:spPr>
          <a:xfrm>
            <a:off x="219456" y="2258568"/>
            <a:ext cx="3108960" cy="201168"/>
          </a:xfrm>
          <a:prstGeom prst="rect">
            <a:avLst/>
          </a:prstGeom>
          <a:noFill/>
        </p:spPr>
        <p:txBody>
          <a:bodyPr wrap="square" lIns="0" rIns="0" tIns="0" bIns="0" anchor="t">
            <a:spAutoFit/>
          </a:bodyPr>
          <a:lstStyle/>
          <a:p>
            <a:pPr algn="ctr"/>
            <a:r>
              <a:rPr sz="1019" b="0" lang="en-US">
                <a:solidFill>
                  <a:srgbClr val="5D6973"/>
                </a:solidFill>
                <a:latin typeface="Arial"/>
              </a:rPr>
              <a:t>Bounded orchestration</a:t>
            </a:r>
          </a:p>
        </p:txBody>
      </p:sp>
      <p:cxnSp>
        <p:nvCxnSpPr>
          <p:cNvPr id="16" name="Connector 15"/>
          <p:cNvCxnSpPr/>
          <p:nvPr/>
        </p:nvCxnSpPr>
        <p:spPr>
          <a:xfrm>
            <a:off x="1773936" y="2596896"/>
            <a:ext cx="0" cy="2295144"/>
          </a:xfrm>
          <a:prstGeom prst="line">
            <a:avLst/>
          </a:prstGeom>
          <a:ln w="12700">
            <a:solidFill>
              <a:srgbClr val="D7DEE3"/>
            </a:solidFill>
            <a:prstDash val="dash"/>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882896" y="1591056"/>
            <a:ext cx="2304288" cy="612648"/>
          </a:xfrm>
          <a:prstGeom prst="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83479" y="1737360"/>
            <a:ext cx="2103120" cy="201168"/>
          </a:xfrm>
          <a:prstGeom prst="rect">
            <a:avLst/>
          </a:prstGeom>
          <a:noFill/>
        </p:spPr>
        <p:txBody>
          <a:bodyPr wrap="square" lIns="0" rIns="0" tIns="0" bIns="0" anchor="t">
            <a:spAutoFit/>
          </a:bodyPr>
          <a:lstStyle/>
          <a:p>
            <a:pPr algn="ctr"/>
            <a:r>
              <a:rPr sz="1200" b="1" lang="en-US">
                <a:solidFill>
                  <a:srgbClr val="1764A1"/>
                </a:solidFill>
                <a:latin typeface="Arial"/>
              </a:rPr>
              <a:t>RECEIVER TEE</a:t>
            </a:r>
          </a:p>
        </p:txBody>
      </p:sp>
      <p:sp>
        <p:nvSpPr>
          <p:cNvPr id="19" name="TextBox 18"/>
          <p:cNvSpPr txBox="1"/>
          <p:nvPr/>
        </p:nvSpPr>
        <p:spPr>
          <a:xfrm>
            <a:off x="4480559" y="2258568"/>
            <a:ext cx="3108960" cy="201168"/>
          </a:xfrm>
          <a:prstGeom prst="rect">
            <a:avLst/>
          </a:prstGeom>
          <a:noFill/>
        </p:spPr>
        <p:txBody>
          <a:bodyPr wrap="square" lIns="0" rIns="0" tIns="0" bIns="0" anchor="t">
            <a:spAutoFit/>
          </a:bodyPr>
          <a:lstStyle/>
          <a:p>
            <a:pPr algn="ctr"/>
            <a:r>
              <a:rPr sz="1019" b="0" lang="en-US">
                <a:solidFill>
                  <a:srgbClr val="5D6973"/>
                </a:solidFill>
                <a:latin typeface="Arial"/>
              </a:rPr>
              <a:t>Model + image + inference</a:t>
            </a:r>
          </a:p>
        </p:txBody>
      </p:sp>
      <p:cxnSp>
        <p:nvCxnSpPr>
          <p:cNvPr id="20" name="Connector 19"/>
          <p:cNvCxnSpPr/>
          <p:nvPr/>
        </p:nvCxnSpPr>
        <p:spPr>
          <a:xfrm>
            <a:off x="6035040" y="2596896"/>
            <a:ext cx="0" cy="2295144"/>
          </a:xfrm>
          <a:prstGeom prst="line">
            <a:avLst/>
          </a:prstGeom>
          <a:ln w="12700">
            <a:solidFill>
              <a:srgbClr val="D7DEE3"/>
            </a:solidFill>
            <a:prstDash val="dash"/>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098280" y="1591056"/>
            <a:ext cx="2304288" cy="612648"/>
          </a:xfrm>
          <a:prstGeom prst="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98864" y="1737360"/>
            <a:ext cx="2103120" cy="201168"/>
          </a:xfrm>
          <a:prstGeom prst="rect">
            <a:avLst/>
          </a:prstGeom>
          <a:noFill/>
        </p:spPr>
        <p:txBody>
          <a:bodyPr wrap="square" lIns="0" rIns="0" tIns="0" bIns="0" anchor="t">
            <a:spAutoFit/>
          </a:bodyPr>
          <a:lstStyle/>
          <a:p>
            <a:pPr algn="ctr"/>
            <a:r>
              <a:rPr sz="1200" b="1" lang="en-US">
                <a:solidFill>
                  <a:srgbClr val="1764A1"/>
                </a:solidFill>
                <a:latin typeface="Arial"/>
              </a:rPr>
              <a:t>TRANSPARENCY LOG</a:t>
            </a:r>
          </a:p>
        </p:txBody>
      </p:sp>
      <p:sp>
        <p:nvSpPr>
          <p:cNvPr id="23" name="TextBox 22"/>
          <p:cNvSpPr txBox="1"/>
          <p:nvPr/>
        </p:nvSpPr>
        <p:spPr>
          <a:xfrm>
            <a:off x="8695944" y="2258568"/>
            <a:ext cx="3108960" cy="201168"/>
          </a:xfrm>
          <a:prstGeom prst="rect">
            <a:avLst/>
          </a:prstGeom>
          <a:noFill/>
        </p:spPr>
        <p:txBody>
          <a:bodyPr wrap="square" lIns="0" rIns="0" tIns="0" bIns="0" anchor="t">
            <a:spAutoFit/>
          </a:bodyPr>
          <a:lstStyle/>
          <a:p>
            <a:pPr algn="ctr"/>
            <a:r>
              <a:rPr sz="1019" b="0" lang="en-US">
                <a:solidFill>
                  <a:srgbClr val="5D6973"/>
                </a:solidFill>
                <a:latin typeface="Arial"/>
              </a:rPr>
              <a:t>Receiver receipts + bundle</a:t>
            </a:r>
          </a:p>
        </p:txBody>
      </p:sp>
      <p:cxnSp>
        <p:nvCxnSpPr>
          <p:cNvPr id="24" name="Connector 23"/>
          <p:cNvCxnSpPr/>
          <p:nvPr/>
        </p:nvCxnSpPr>
        <p:spPr>
          <a:xfrm>
            <a:off x="10250424" y="2596896"/>
            <a:ext cx="0" cy="2295144"/>
          </a:xfrm>
          <a:prstGeom prst="line">
            <a:avLst/>
          </a:prstGeom>
          <a:ln w="12700">
            <a:solidFill>
              <a:srgbClr val="D7DEE3"/>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2536" y="2496312"/>
            <a:ext cx="3794760" cy="219456"/>
          </a:xfrm>
          <a:prstGeom prst="rect">
            <a:avLst/>
          </a:prstGeom>
          <a:noFill/>
        </p:spPr>
        <p:txBody>
          <a:bodyPr wrap="square" lIns="0" rIns="0" tIns="0" bIns="0" anchor="t">
            <a:spAutoFit/>
          </a:bodyPr>
          <a:lstStyle/>
          <a:p>
            <a:pPr algn="l"/>
            <a:r>
              <a:rPr sz="1250" b="1" lang="en-US">
                <a:solidFill>
                  <a:srgbClr val="1764A1"/>
                </a:solidFill>
                <a:latin typeface="Arial"/>
              </a:rPr>
              <a:t>1  Prepare model</a:t>
            </a:r>
          </a:p>
        </p:txBody>
      </p:sp>
      <p:cxnSp>
        <p:nvCxnSpPr>
          <p:cNvPr id="26" name="Connector 25"/>
          <p:cNvCxnSpPr/>
          <p:nvPr/>
        </p:nvCxnSpPr>
        <p:spPr>
          <a:xfrm>
            <a:off x="1792224" y="2734056"/>
            <a:ext cx="4206240" cy="0"/>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09360" y="2496312"/>
            <a:ext cx="3685032" cy="219456"/>
          </a:xfrm>
          <a:prstGeom prst="rect">
            <a:avLst/>
          </a:prstGeom>
          <a:noFill/>
        </p:spPr>
        <p:txBody>
          <a:bodyPr wrap="square" lIns="0" rIns="0" tIns="0" bIns="0" anchor="t">
            <a:spAutoFit/>
          </a:bodyPr>
          <a:lstStyle/>
          <a:p>
            <a:pPr algn="l"/>
            <a:r>
              <a:rPr sz="1160" b="1" lang="en-US">
                <a:solidFill>
                  <a:srgbClr val="1764A1"/>
                </a:solidFill>
                <a:latin typeface="Arial"/>
              </a:rPr>
              <a:t>Receipt 1 → register</a:t>
            </a:r>
          </a:p>
        </p:txBody>
      </p:sp>
      <p:cxnSp>
        <p:nvCxnSpPr>
          <p:cNvPr id="28" name="Connector 27"/>
          <p:cNvCxnSpPr/>
          <p:nvPr/>
        </p:nvCxnSpPr>
        <p:spPr>
          <a:xfrm>
            <a:off x="6062472" y="2734056"/>
            <a:ext cx="4142232" cy="0"/>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0" y="2825496"/>
            <a:ext cx="3611880" cy="182880"/>
          </a:xfrm>
          <a:prstGeom prst="rect">
            <a:avLst/>
          </a:prstGeom>
          <a:noFill/>
        </p:spPr>
        <p:txBody>
          <a:bodyPr wrap="square" lIns="0" rIns="0" tIns="0" bIns="0" anchor="t">
            <a:spAutoFit/>
          </a:bodyPr>
          <a:lstStyle/>
          <a:p>
            <a:pPr algn="l"/>
            <a:r>
              <a:rPr sz="960" b="0" lang="en-US">
                <a:solidFill>
                  <a:srgbClr val="5D6973"/>
                </a:solidFill>
                <a:latin typeface="Arial"/>
              </a:rPr>
              <a:t>verify inclusion proof</a:t>
            </a:r>
          </a:p>
        </p:txBody>
      </p:sp>
      <p:cxnSp>
        <p:nvCxnSpPr>
          <p:cNvPr id="30" name="Connector 29"/>
          <p:cNvCxnSpPr/>
          <p:nvPr/>
        </p:nvCxnSpPr>
        <p:spPr>
          <a:xfrm flipH="1">
            <a:off x="6062472" y="3044952"/>
            <a:ext cx="4142232" cy="0"/>
          </a:xfrm>
          <a:prstGeom prst="line">
            <a:avLst/>
          </a:prstGeom>
          <a:ln w="10160">
            <a:solidFill>
              <a:srgbClr val="5D697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002536" y="2825496"/>
            <a:ext cx="3611880" cy="182880"/>
          </a:xfrm>
          <a:prstGeom prst="rect">
            <a:avLst/>
          </a:prstGeom>
          <a:noFill/>
        </p:spPr>
        <p:txBody>
          <a:bodyPr wrap="square" lIns="0" rIns="0" tIns="0" bIns="0" anchor="t">
            <a:spAutoFit/>
          </a:bodyPr>
          <a:lstStyle/>
          <a:p>
            <a:pPr algn="l"/>
            <a:r>
              <a:rPr sz="960" b="0" lang="en-US">
                <a:solidFill>
                  <a:srgbClr val="5D6973"/>
                </a:solidFill>
                <a:latin typeface="Arial"/>
              </a:rPr>
              <a:t>then return success</a:t>
            </a:r>
          </a:p>
        </p:txBody>
      </p:sp>
      <p:cxnSp>
        <p:nvCxnSpPr>
          <p:cNvPr id="32" name="Connector 31"/>
          <p:cNvCxnSpPr/>
          <p:nvPr/>
        </p:nvCxnSpPr>
        <p:spPr>
          <a:xfrm flipH="1">
            <a:off x="1792224" y="3044952"/>
            <a:ext cx="4206240" cy="0"/>
          </a:xfrm>
          <a:prstGeom prst="line">
            <a:avLst/>
          </a:prstGeom>
          <a:ln w="10160">
            <a:solidFill>
              <a:srgbClr val="5D697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02536" y="3191256"/>
            <a:ext cx="3794760" cy="219456"/>
          </a:xfrm>
          <a:prstGeom prst="rect">
            <a:avLst/>
          </a:prstGeom>
          <a:noFill/>
        </p:spPr>
        <p:txBody>
          <a:bodyPr wrap="square" lIns="0" rIns="0" tIns="0" bIns="0" anchor="t">
            <a:spAutoFit/>
          </a:bodyPr>
          <a:lstStyle/>
          <a:p>
            <a:pPr algn="l"/>
            <a:r>
              <a:rPr sz="1250" b="1" lang="en-US">
                <a:solidFill>
                  <a:srgbClr val="1764A1"/>
                </a:solidFill>
                <a:latin typeface="Arial"/>
              </a:rPr>
              <a:t>2  Select image / create job</a:t>
            </a:r>
          </a:p>
        </p:txBody>
      </p:sp>
      <p:cxnSp>
        <p:nvCxnSpPr>
          <p:cNvPr id="34" name="Connector 33"/>
          <p:cNvCxnSpPr/>
          <p:nvPr/>
        </p:nvCxnSpPr>
        <p:spPr>
          <a:xfrm>
            <a:off x="1792224" y="3429000"/>
            <a:ext cx="4206240" cy="0"/>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309360" y="3191256"/>
            <a:ext cx="3685032" cy="219456"/>
          </a:xfrm>
          <a:prstGeom prst="rect">
            <a:avLst/>
          </a:prstGeom>
          <a:noFill/>
        </p:spPr>
        <p:txBody>
          <a:bodyPr wrap="square" lIns="0" rIns="0" tIns="0" bIns="0" anchor="t">
            <a:spAutoFit/>
          </a:bodyPr>
          <a:lstStyle/>
          <a:p>
            <a:pPr algn="l"/>
            <a:r>
              <a:rPr sz="1160" b="1" lang="en-US">
                <a:solidFill>
                  <a:srgbClr val="1764A1"/>
                </a:solidFill>
                <a:latin typeface="Arial"/>
              </a:rPr>
              <a:t>Receipt 2 → register</a:t>
            </a:r>
          </a:p>
        </p:txBody>
      </p:sp>
      <p:cxnSp>
        <p:nvCxnSpPr>
          <p:cNvPr id="36" name="Connector 35"/>
          <p:cNvCxnSpPr/>
          <p:nvPr/>
        </p:nvCxnSpPr>
        <p:spPr>
          <a:xfrm>
            <a:off x="6062472" y="3429000"/>
            <a:ext cx="4142232" cy="0"/>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0" y="3520440"/>
            <a:ext cx="3611880" cy="182880"/>
          </a:xfrm>
          <a:prstGeom prst="rect">
            <a:avLst/>
          </a:prstGeom>
          <a:noFill/>
        </p:spPr>
        <p:txBody>
          <a:bodyPr wrap="square" lIns="0" rIns="0" tIns="0" bIns="0" anchor="t">
            <a:spAutoFit/>
          </a:bodyPr>
          <a:lstStyle/>
          <a:p>
            <a:pPr algn="l"/>
            <a:r>
              <a:rPr sz="960" b="0" lang="en-US">
                <a:solidFill>
                  <a:srgbClr val="5D6973"/>
                </a:solidFill>
                <a:latin typeface="Arial"/>
              </a:rPr>
              <a:t>verify inclusion proof</a:t>
            </a:r>
          </a:p>
        </p:txBody>
      </p:sp>
      <p:cxnSp>
        <p:nvCxnSpPr>
          <p:cNvPr id="38" name="Connector 37"/>
          <p:cNvCxnSpPr/>
          <p:nvPr/>
        </p:nvCxnSpPr>
        <p:spPr>
          <a:xfrm flipH="1">
            <a:off x="6062472" y="3739896"/>
            <a:ext cx="4142232" cy="0"/>
          </a:xfrm>
          <a:prstGeom prst="line">
            <a:avLst/>
          </a:prstGeom>
          <a:ln w="10160">
            <a:solidFill>
              <a:srgbClr val="5D697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002536" y="3520440"/>
            <a:ext cx="3611880" cy="182880"/>
          </a:xfrm>
          <a:prstGeom prst="rect">
            <a:avLst/>
          </a:prstGeom>
          <a:noFill/>
        </p:spPr>
        <p:txBody>
          <a:bodyPr wrap="square" lIns="0" rIns="0" tIns="0" bIns="0" anchor="t">
            <a:spAutoFit/>
          </a:bodyPr>
          <a:lstStyle/>
          <a:p>
            <a:pPr algn="l"/>
            <a:r>
              <a:rPr sz="960" b="0" lang="en-US">
                <a:solidFill>
                  <a:srgbClr val="5D6973"/>
                </a:solidFill>
                <a:latin typeface="Arial"/>
              </a:rPr>
              <a:t>then return success</a:t>
            </a:r>
          </a:p>
        </p:txBody>
      </p:sp>
      <p:cxnSp>
        <p:nvCxnSpPr>
          <p:cNvPr id="40" name="Connector 39"/>
          <p:cNvCxnSpPr/>
          <p:nvPr/>
        </p:nvCxnSpPr>
        <p:spPr>
          <a:xfrm flipH="1">
            <a:off x="1792224" y="3739896"/>
            <a:ext cx="4206240" cy="0"/>
          </a:xfrm>
          <a:prstGeom prst="line">
            <a:avLst/>
          </a:prstGeom>
          <a:ln w="10160">
            <a:solidFill>
              <a:srgbClr val="5D697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002536" y="3886200"/>
            <a:ext cx="3794760" cy="219456"/>
          </a:xfrm>
          <a:prstGeom prst="rect">
            <a:avLst/>
          </a:prstGeom>
          <a:noFill/>
        </p:spPr>
        <p:txBody>
          <a:bodyPr wrap="square" lIns="0" rIns="0" tIns="0" bIns="0" anchor="t">
            <a:spAutoFit/>
          </a:bodyPr>
          <a:lstStyle/>
          <a:p>
            <a:pPr algn="l"/>
            <a:r>
              <a:rPr sz="1250" b="1" lang="en-US">
                <a:solidFill>
                  <a:srgbClr val="1764A1"/>
                </a:solidFill>
                <a:latin typeface="Arial"/>
              </a:rPr>
              <a:t>3  Infer / emit evidence</a:t>
            </a:r>
          </a:p>
        </p:txBody>
      </p:sp>
      <p:cxnSp>
        <p:nvCxnSpPr>
          <p:cNvPr id="42" name="Connector 41"/>
          <p:cNvCxnSpPr/>
          <p:nvPr/>
        </p:nvCxnSpPr>
        <p:spPr>
          <a:xfrm>
            <a:off x="1792224" y="4123944"/>
            <a:ext cx="4206240" cy="0"/>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309360" y="3886200"/>
            <a:ext cx="3685032" cy="219456"/>
          </a:xfrm>
          <a:prstGeom prst="rect">
            <a:avLst/>
          </a:prstGeom>
          <a:noFill/>
        </p:spPr>
        <p:txBody>
          <a:bodyPr wrap="square" lIns="0" rIns="0" tIns="0" bIns="0" anchor="t">
            <a:spAutoFit/>
          </a:bodyPr>
          <a:lstStyle/>
          <a:p>
            <a:pPr algn="l"/>
            <a:r>
              <a:rPr sz="1160" b="1" lang="en-US">
                <a:solidFill>
                  <a:srgbClr val="1764A1"/>
                </a:solidFill>
                <a:latin typeface="Arial"/>
              </a:rPr>
              <a:t>Receipt 3 → register</a:t>
            </a:r>
          </a:p>
        </p:txBody>
      </p:sp>
      <p:cxnSp>
        <p:nvCxnSpPr>
          <p:cNvPr id="44" name="Connector 43"/>
          <p:cNvCxnSpPr/>
          <p:nvPr/>
        </p:nvCxnSpPr>
        <p:spPr>
          <a:xfrm>
            <a:off x="6062472" y="4123944"/>
            <a:ext cx="4142232" cy="0"/>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400800" y="4215383"/>
            <a:ext cx="3611880" cy="182880"/>
          </a:xfrm>
          <a:prstGeom prst="rect">
            <a:avLst/>
          </a:prstGeom>
          <a:noFill/>
        </p:spPr>
        <p:txBody>
          <a:bodyPr wrap="square" lIns="0" rIns="0" tIns="0" bIns="0" anchor="t">
            <a:spAutoFit/>
          </a:bodyPr>
          <a:lstStyle/>
          <a:p>
            <a:pPr algn="l"/>
            <a:r>
              <a:rPr sz="960" b="0" lang="en-US">
                <a:solidFill>
                  <a:srgbClr val="5D6973"/>
                </a:solidFill>
                <a:latin typeface="Arial"/>
              </a:rPr>
              <a:t>verify inclusion proof</a:t>
            </a:r>
          </a:p>
        </p:txBody>
      </p:sp>
      <p:cxnSp>
        <p:nvCxnSpPr>
          <p:cNvPr id="46" name="Connector 45"/>
          <p:cNvCxnSpPr/>
          <p:nvPr/>
        </p:nvCxnSpPr>
        <p:spPr>
          <a:xfrm flipH="1">
            <a:off x="6062472" y="4434840"/>
            <a:ext cx="4142232" cy="0"/>
          </a:xfrm>
          <a:prstGeom prst="line">
            <a:avLst/>
          </a:prstGeom>
          <a:ln w="10160">
            <a:solidFill>
              <a:srgbClr val="5D697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002536" y="4215383"/>
            <a:ext cx="3611880" cy="182880"/>
          </a:xfrm>
          <a:prstGeom prst="rect">
            <a:avLst/>
          </a:prstGeom>
          <a:noFill/>
        </p:spPr>
        <p:txBody>
          <a:bodyPr wrap="square" lIns="0" rIns="0" tIns="0" bIns="0" anchor="t">
            <a:spAutoFit/>
          </a:bodyPr>
          <a:lstStyle/>
          <a:p>
            <a:pPr algn="l"/>
            <a:r>
              <a:rPr sz="960" b="0" lang="en-US">
                <a:solidFill>
                  <a:srgbClr val="5D6973"/>
                </a:solidFill>
                <a:latin typeface="Arial"/>
              </a:rPr>
              <a:t>then return success</a:t>
            </a:r>
          </a:p>
        </p:txBody>
      </p:sp>
      <p:cxnSp>
        <p:nvCxnSpPr>
          <p:cNvPr id="48" name="Connector 47"/>
          <p:cNvCxnSpPr/>
          <p:nvPr/>
        </p:nvCxnSpPr>
        <p:spPr>
          <a:xfrm flipH="1">
            <a:off x="1792224" y="4434840"/>
            <a:ext cx="4206240" cy="0"/>
          </a:xfrm>
          <a:prstGeom prst="line">
            <a:avLst/>
          </a:prstGeom>
          <a:ln w="10160">
            <a:solidFill>
              <a:srgbClr val="5D697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002536" y="4736592"/>
            <a:ext cx="7882127" cy="256032"/>
          </a:xfrm>
          <a:prstGeom prst="rect">
            <a:avLst/>
          </a:prstGeom>
          <a:noFill/>
        </p:spPr>
        <p:txBody>
          <a:bodyPr wrap="square" lIns="0" rIns="0" tIns="0" bIns="0" anchor="t">
            <a:spAutoFit/>
          </a:bodyPr>
          <a:lstStyle/>
          <a:p>
            <a:pPr algn="l"/>
            <a:r>
              <a:rPr sz="1240" b="1" lang="en-US">
                <a:solidFill>
                  <a:srgbClr val="1764A1"/>
                </a:solidFill>
                <a:latin typeface="Arial"/>
              </a:rPr>
              <a:t>4  Agent verifies and registers the complete inference bundle</a:t>
            </a:r>
          </a:p>
        </p:txBody>
      </p:sp>
      <p:cxnSp>
        <p:nvCxnSpPr>
          <p:cNvPr id="50" name="Connector 49"/>
          <p:cNvCxnSpPr/>
          <p:nvPr/>
        </p:nvCxnSpPr>
        <p:spPr>
          <a:xfrm>
            <a:off x="1792224" y="5074920"/>
            <a:ext cx="8412480"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603504" y="5294376"/>
            <a:ext cx="10917936" cy="9144"/>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 y="5404104"/>
            <a:ext cx="10771632" cy="301752"/>
          </a:xfrm>
          <a:prstGeom prst="rect">
            <a:avLst/>
          </a:prstGeom>
          <a:noFill/>
        </p:spPr>
        <p:txBody>
          <a:bodyPr wrap="square" lIns="0" rIns="0" tIns="0" bIns="0" anchor="t">
            <a:spAutoFit/>
          </a:bodyPr>
          <a:lstStyle/>
          <a:p>
            <a:pPr algn="ctr"/>
            <a:r>
              <a:rPr sz="1400" b="1" lang="en-US">
                <a:solidFill>
                  <a:srgbClr val="1764A1"/>
                </a:solidFill>
                <a:latin typeface="Arial"/>
              </a:rPr>
              <a:t>Receipt before success — for every receiver action in the Sello-enabled path.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01752"/>
            <a:ext cx="9829800" cy="521207"/>
          </a:xfrm>
          <a:prstGeom prst="rect">
            <a:avLst/>
          </a:prstGeom>
          <a:noFill/>
        </p:spPr>
        <p:txBody>
          <a:bodyPr wrap="square" lIns="0" rIns="0" tIns="0" bIns="0" anchor="t">
            <a:spAutoFit/>
          </a:bodyPr>
          <a:lstStyle/>
          <a:p>
            <a:pPr algn="l"/>
            <a:r>
              <a:rPr sz="2300" b="0" lang="en-US">
                <a:solidFill>
                  <a:srgbClr val="263440"/>
                </a:solidFill>
                <a:latin typeface="Arial"/>
              </a:rPr>
              <a:t>What happens when a check fails?</a:t>
            </a:r>
          </a:p>
        </p:txBody>
      </p:sp>
      <p:sp>
        <p:nvSpPr>
          <p:cNvPr id="3" name="Rectangle 2"/>
          <p:cNvSpPr/>
          <p:nvPr/>
        </p:nvSpPr>
        <p:spPr>
          <a:xfrm>
            <a:off x="594360" y="932688"/>
            <a:ext cx="987552" cy="265176"/>
          </a:xfrm>
          <a:prstGeom prst="rect">
            <a:avLst/>
          </a:prstGeom>
          <a:solidFill>
            <a:srgbClr val="F5F6F7"/>
          </a:solidFill>
          <a:ln w="762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7512" y="990295"/>
            <a:ext cx="841248" cy="173736"/>
          </a:xfrm>
          <a:prstGeom prst="rect">
            <a:avLst/>
          </a:prstGeom>
          <a:noFill/>
        </p:spPr>
        <p:txBody>
          <a:bodyPr wrap="square" lIns="0" rIns="0" tIns="0" bIns="0" anchor="t">
            <a:spAutoFit/>
          </a:bodyPr>
          <a:lstStyle/>
          <a:p>
            <a:pPr algn="l"/>
            <a:r>
              <a:rPr sz="950" b="1" lang="en-US">
                <a:solidFill>
                  <a:srgbClr val="5D6973"/>
                </a:solidFill>
                <a:latin typeface="Arial"/>
              </a:rPr>
              <a:t>DFL</a:t>
            </a:r>
          </a:p>
        </p:txBody>
      </p:sp>
      <p:sp>
        <p:nvSpPr>
          <p:cNvPr id="5" name="Rectangle 4"/>
          <p:cNvSpPr/>
          <p:nvPr/>
        </p:nvSpPr>
        <p:spPr>
          <a:xfrm>
            <a:off x="1691640" y="932688"/>
            <a:ext cx="3675887" cy="265176"/>
          </a:xfrm>
          <a:prstGeom prst="rect">
            <a:avLst/>
          </a:prstGeom>
          <a:solidFill>
            <a:srgbClr val="1764A1"/>
          </a:solidFill>
          <a:ln w="762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64792" y="990295"/>
            <a:ext cx="3529583" cy="173736"/>
          </a:xfrm>
          <a:prstGeom prst="rect">
            <a:avLst/>
          </a:prstGeom>
          <a:noFill/>
        </p:spPr>
        <p:txBody>
          <a:bodyPr wrap="square" lIns="0" rIns="0" tIns="0" bIns="0" anchor="t">
            <a:spAutoFit/>
          </a:bodyPr>
          <a:lstStyle/>
          <a:p>
            <a:pPr algn="l"/>
            <a:r>
              <a:rPr sz="950" b="1" lang="en-US">
                <a:solidFill>
                  <a:srgbClr val="FFFFFF"/>
                </a:solidFill>
                <a:latin typeface="Arial"/>
              </a:rPr>
              <a:t>Agent / MCP / Inference / Log</a:t>
            </a:r>
          </a:p>
        </p:txBody>
      </p:sp>
      <p:sp>
        <p:nvSpPr>
          <p:cNvPr id="7" name="Rectangle 6"/>
          <p:cNvSpPr/>
          <p:nvPr/>
        </p:nvSpPr>
        <p:spPr>
          <a:xfrm>
            <a:off x="5477256" y="932688"/>
            <a:ext cx="2395728" cy="265176"/>
          </a:xfrm>
          <a:prstGeom prst="rect">
            <a:avLst/>
          </a:prstGeom>
          <a:solidFill>
            <a:srgbClr val="7446A6"/>
          </a:solidFill>
          <a:ln w="762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0408" y="990295"/>
            <a:ext cx="2249424" cy="173736"/>
          </a:xfrm>
          <a:prstGeom prst="rect">
            <a:avLst/>
          </a:prstGeom>
          <a:noFill/>
        </p:spPr>
        <p:txBody>
          <a:bodyPr wrap="square" lIns="0" rIns="0" tIns="0" bIns="0" anchor="t">
            <a:spAutoFit/>
          </a:bodyPr>
          <a:lstStyle/>
          <a:p>
            <a:pPr algn="l"/>
            <a:r>
              <a:rPr sz="950" b="1" lang="en-US">
                <a:solidFill>
                  <a:srgbClr val="FFFFFF"/>
                </a:solidFill>
                <a:latin typeface="Arial"/>
              </a:rPr>
              <a:t>Blockchain / IPFS</a:t>
            </a:r>
          </a:p>
        </p:txBody>
      </p:sp>
      <p:sp>
        <p:nvSpPr>
          <p:cNvPr id="9" name="Rectangle 8"/>
          <p:cNvSpPr/>
          <p:nvPr/>
        </p:nvSpPr>
        <p:spPr>
          <a:xfrm>
            <a:off x="566928" y="1307592"/>
            <a:ext cx="10927080" cy="10972"/>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300216"/>
            <a:ext cx="1188720" cy="201168"/>
          </a:xfrm>
          <a:prstGeom prst="rect">
            <a:avLst/>
          </a:prstGeom>
          <a:noFill/>
        </p:spPr>
        <p:txBody>
          <a:bodyPr wrap="square" lIns="0" rIns="0" tIns="0" bIns="0" anchor="t">
            <a:spAutoFit/>
          </a:bodyPr>
          <a:lstStyle/>
          <a:p>
            <a:pPr algn="l"/>
            <a:r>
              <a:rPr sz="900" b="0" lang="en-US">
                <a:solidFill>
                  <a:srgbClr val="FFFFFF"/>
                </a:solidFill>
                <a:latin typeface="Arial"/>
              </a:rPr>
              <a:t>Concept 05</a:t>
            </a:r>
          </a:p>
        </p:txBody>
      </p:sp>
      <p:sp>
        <p:nvSpPr>
          <p:cNvPr id="11" name="TextBox 10"/>
          <p:cNvSpPr txBox="1"/>
          <p:nvPr/>
        </p:nvSpPr>
        <p:spPr>
          <a:xfrm>
            <a:off x="1828800" y="6300216"/>
            <a:ext cx="8046720" cy="201168"/>
          </a:xfrm>
          <a:prstGeom prst="rect">
            <a:avLst/>
          </a:prstGeom>
          <a:noFill/>
        </p:spPr>
        <p:txBody>
          <a:bodyPr wrap="square" lIns="0" rIns="0" tIns="0" bIns="0" anchor="t">
            <a:spAutoFit/>
          </a:bodyPr>
          <a:lstStyle/>
          <a:p>
            <a:pPr algn="l"/>
            <a:r>
              <a:rPr sz="900" b="0" lang="en-US">
                <a:solidFill>
                  <a:srgbClr val="FFFFFF"/>
                </a:solidFill>
                <a:latin typeface="Arial"/>
              </a:rPr>
              <a:t>VITA-FL  |  Design proposals  |  Ramon Mehrpoya</a:t>
            </a:r>
          </a:p>
        </p:txBody>
      </p:sp>
      <p:sp>
        <p:nvSpPr>
          <p:cNvPr id="12" name="TextBox 11"/>
          <p:cNvSpPr txBox="1"/>
          <p:nvPr/>
        </p:nvSpPr>
        <p:spPr>
          <a:xfrm>
            <a:off x="9985248" y="6300216"/>
            <a:ext cx="1655064" cy="201168"/>
          </a:xfrm>
          <a:prstGeom prst="rect">
            <a:avLst/>
          </a:prstGeom>
          <a:noFill/>
        </p:spPr>
        <p:txBody>
          <a:bodyPr wrap="square" lIns="0" rIns="0" tIns="0" bIns="0" anchor="t">
            <a:spAutoFit/>
          </a:bodyPr>
          <a:lstStyle/>
          <a:p>
            <a:pPr algn="l"/>
            <a:r>
              <a:rPr sz="830" b="0" lang="en-US">
                <a:solidFill>
                  <a:srgbClr val="FFFFFF"/>
                </a:solidFill>
                <a:latin typeface="Arial"/>
              </a:rPr>
              <a:t>06 September 2026</a:t>
            </a:r>
          </a:p>
        </p:txBody>
      </p:sp>
      <p:sp>
        <p:nvSpPr>
          <p:cNvPr id="13" name="TextBox 12"/>
          <p:cNvSpPr txBox="1"/>
          <p:nvPr/>
        </p:nvSpPr>
        <p:spPr>
          <a:xfrm>
            <a:off x="640080" y="1508760"/>
            <a:ext cx="10835640" cy="219456"/>
          </a:xfrm>
          <a:prstGeom prst="rect">
            <a:avLst/>
          </a:prstGeom>
          <a:noFill/>
        </p:spPr>
        <p:txBody>
          <a:bodyPr wrap="square" lIns="0" rIns="0" tIns="0" bIns="0" anchor="t">
            <a:spAutoFit/>
          </a:bodyPr>
          <a:lstStyle/>
          <a:p>
            <a:pPr algn="l"/>
            <a:r>
              <a:rPr sz="1050" b="0" lang="en-US">
                <a:solidFill>
                  <a:srgbClr val="5D6973"/>
                </a:solidFill>
                <a:latin typeface="Arial"/>
              </a:rPr>
              <a:t>Illustrative code paths · receipt publication shown with Sello enabled</a:t>
            </a:r>
          </a:p>
        </p:txBody>
      </p:sp>
      <p:sp>
        <p:nvSpPr>
          <p:cNvPr id="14" name="TextBox 13"/>
          <p:cNvSpPr txBox="1"/>
          <p:nvPr/>
        </p:nvSpPr>
        <p:spPr>
          <a:xfrm>
            <a:off x="640080" y="1810512"/>
            <a:ext cx="10835640" cy="210312"/>
          </a:xfrm>
          <a:prstGeom prst="rect">
            <a:avLst/>
          </a:prstGeom>
          <a:noFill/>
        </p:spPr>
        <p:txBody>
          <a:bodyPr wrap="square" lIns="0" rIns="0" tIns="0" bIns="0" anchor="t">
            <a:spAutoFit/>
          </a:bodyPr>
          <a:lstStyle/>
          <a:p>
            <a:pPr algn="l"/>
            <a:r>
              <a:rPr sz="1050" b="1" lang="en-US">
                <a:solidFill>
                  <a:srgbClr val="263440"/>
                </a:solidFill>
                <a:latin typeface="Arial"/>
              </a:rPr>
              <a:t>01  AN ARTIFACT IS SUBSTITUTED</a:t>
            </a:r>
          </a:p>
        </p:txBody>
      </p:sp>
      <p:sp>
        <p:nvSpPr>
          <p:cNvPr id="15" name="TextBox 14"/>
          <p:cNvSpPr txBox="1"/>
          <p:nvPr/>
        </p:nvSpPr>
        <p:spPr>
          <a:xfrm>
            <a:off x="640080" y="3584448"/>
            <a:ext cx="10835640" cy="210312"/>
          </a:xfrm>
          <a:prstGeom prst="rect">
            <a:avLst/>
          </a:prstGeom>
          <a:noFill/>
        </p:spPr>
        <p:txBody>
          <a:bodyPr wrap="square" lIns="0" rIns="0" tIns="0" bIns="0" anchor="t">
            <a:spAutoFit/>
          </a:bodyPr>
          <a:lstStyle/>
          <a:p>
            <a:pPr algn="l"/>
            <a:r>
              <a:rPr sz="1050" b="1" lang="en-US">
                <a:solidFill>
                  <a:srgbClr val="263440"/>
                </a:solidFill>
                <a:latin typeface="Arial"/>
              </a:rPr>
              <a:t>02  RECEIPT PUBLICATION FAILS</a:t>
            </a:r>
          </a:p>
        </p:txBody>
      </p:sp>
      <p:sp>
        <p:nvSpPr>
          <p:cNvPr id="16" name="Rectangle 15"/>
          <p:cNvSpPr/>
          <p:nvPr/>
        </p:nvSpPr>
        <p:spPr>
          <a:xfrm>
            <a:off x="640080" y="2139696"/>
            <a:ext cx="3081528" cy="1161288"/>
          </a:xfrm>
          <a:prstGeom prst="rect">
            <a:avLst/>
          </a:prstGeom>
          <a:solidFill>
            <a:srgbClr val="FFFFFF"/>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276856"/>
            <a:ext cx="2825496" cy="338328"/>
          </a:xfrm>
          <a:prstGeom prst="rect">
            <a:avLst/>
          </a:prstGeom>
          <a:noFill/>
        </p:spPr>
        <p:txBody>
          <a:bodyPr wrap="square" lIns="0" rIns="0" tIns="0" bIns="0" anchor="t">
            <a:spAutoFit/>
          </a:bodyPr>
          <a:lstStyle/>
          <a:p>
            <a:pPr algn="ctr"/>
            <a:r>
              <a:rPr sz="1400" b="1" lang="en-US">
                <a:solidFill>
                  <a:srgbClr val="7446A6"/>
                </a:solidFill>
                <a:latin typeface="Arial"/>
              </a:rPr>
              <a:t>IPFS / bundle</a:t>
            </a:r>
          </a:p>
        </p:txBody>
      </p:sp>
      <p:sp>
        <p:nvSpPr>
          <p:cNvPr id="18" name="TextBox 17"/>
          <p:cNvSpPr txBox="1"/>
          <p:nvPr/>
        </p:nvSpPr>
        <p:spPr>
          <a:xfrm>
            <a:off x="768096" y="2706624"/>
            <a:ext cx="2825496" cy="502920"/>
          </a:xfrm>
          <a:prstGeom prst="rect">
            <a:avLst/>
          </a:prstGeom>
          <a:noFill/>
        </p:spPr>
        <p:txBody>
          <a:bodyPr wrap="square" lIns="0" rIns="0" tIns="0" bIns="0" anchor="t">
            <a:spAutoFit/>
          </a:bodyPr>
          <a:lstStyle/>
          <a:p>
            <a:pPr algn="ctr"/>
            <a:r>
              <a:rPr sz="1200" b="0" lang="en-US">
                <a:solidFill>
                  <a:srgbClr val="263440"/>
                </a:solidFill>
                <a:latin typeface="Arial"/>
              </a:rPr>
              <a:t>Bytes do not match
the finalized reference</a:t>
            </a:r>
          </a:p>
        </p:txBody>
      </p:sp>
      <p:cxnSp>
        <p:nvCxnSpPr>
          <p:cNvPr id="19" name="Connector 18"/>
          <p:cNvCxnSpPr/>
          <p:nvPr/>
        </p:nvCxnSpPr>
        <p:spPr>
          <a:xfrm>
            <a:off x="3767328" y="2715768"/>
            <a:ext cx="457200" cy="0"/>
          </a:xfrm>
          <a:prstGeom prst="line">
            <a:avLst/>
          </a:prstGeom>
          <a:ln w="19050">
            <a:solidFill>
              <a:srgbClr val="5D69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270248" y="2139696"/>
            <a:ext cx="3337560" cy="1161288"/>
          </a:xfrm>
          <a:prstGeom prst="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98264" y="2276856"/>
            <a:ext cx="3081528" cy="338328"/>
          </a:xfrm>
          <a:prstGeom prst="rect">
            <a:avLst/>
          </a:prstGeom>
          <a:noFill/>
        </p:spPr>
        <p:txBody>
          <a:bodyPr wrap="square" lIns="0" rIns="0" tIns="0" bIns="0" anchor="t">
            <a:spAutoFit/>
          </a:bodyPr>
          <a:lstStyle/>
          <a:p>
            <a:pPr algn="ctr"/>
            <a:r>
              <a:rPr sz="1400" b="1" lang="en-US">
                <a:solidFill>
                  <a:srgbClr val="1764A1"/>
                </a:solidFill>
                <a:latin typeface="Arial"/>
              </a:rPr>
              <a:t>Receiver verification</a:t>
            </a:r>
          </a:p>
        </p:txBody>
      </p:sp>
      <p:sp>
        <p:nvSpPr>
          <p:cNvPr id="22" name="TextBox 21"/>
          <p:cNvSpPr txBox="1"/>
          <p:nvPr/>
        </p:nvSpPr>
        <p:spPr>
          <a:xfrm>
            <a:off x="4398264" y="2706624"/>
            <a:ext cx="3081528" cy="502920"/>
          </a:xfrm>
          <a:prstGeom prst="rect">
            <a:avLst/>
          </a:prstGeom>
          <a:noFill/>
        </p:spPr>
        <p:txBody>
          <a:bodyPr wrap="square" lIns="0" rIns="0" tIns="0" bIns="0" anchor="t">
            <a:spAutoFit/>
          </a:bodyPr>
          <a:lstStyle/>
          <a:p>
            <a:pPr algn="ctr"/>
            <a:r>
              <a:rPr sz="1200" b="0" lang="en-US">
                <a:solidFill>
                  <a:srgbClr val="263440"/>
                </a:solidFill>
                <a:latin typeface="Arial"/>
              </a:rPr>
              <a:t>Hash / signature check
fails</a:t>
            </a:r>
          </a:p>
        </p:txBody>
      </p:sp>
      <p:cxnSp>
        <p:nvCxnSpPr>
          <p:cNvPr id="23" name="Connector 22"/>
          <p:cNvCxnSpPr/>
          <p:nvPr/>
        </p:nvCxnSpPr>
        <p:spPr>
          <a:xfrm>
            <a:off x="7644383" y="2715768"/>
            <a:ext cx="457200" cy="0"/>
          </a:xfrm>
          <a:prstGeom prst="line">
            <a:avLst/>
          </a:prstGeom>
          <a:ln w="19050">
            <a:solidFill>
              <a:srgbClr val="5D69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156448" y="2139696"/>
            <a:ext cx="3355848" cy="1161288"/>
          </a:xfrm>
          <a:prstGeom prst="rect">
            <a:avLst/>
          </a:prstGeom>
          <a:solidFill>
            <a:srgbClr val="F3F5F6"/>
          </a:solidFill>
          <a:ln w="1397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2249424"/>
            <a:ext cx="347472" cy="411480"/>
          </a:xfrm>
          <a:prstGeom prst="rect">
            <a:avLst/>
          </a:prstGeom>
          <a:noFill/>
        </p:spPr>
        <p:txBody>
          <a:bodyPr wrap="square" lIns="0" rIns="0" tIns="0" bIns="0" anchor="t">
            <a:spAutoFit/>
          </a:bodyPr>
          <a:lstStyle/>
          <a:p>
            <a:pPr algn="l"/>
            <a:r>
              <a:rPr sz="2400" b="1" lang="en-US">
                <a:solidFill>
                  <a:srgbClr val="C40D1E"/>
                </a:solidFill>
                <a:latin typeface="Arial"/>
              </a:rPr>
              <a:t>×</a:t>
            </a:r>
          </a:p>
        </p:txBody>
      </p:sp>
      <p:sp>
        <p:nvSpPr>
          <p:cNvPr id="26" name="TextBox 25"/>
          <p:cNvSpPr txBox="1"/>
          <p:nvPr/>
        </p:nvSpPr>
        <p:spPr>
          <a:xfrm>
            <a:off x="8732520" y="2340864"/>
            <a:ext cx="2624328" cy="274320"/>
          </a:xfrm>
          <a:prstGeom prst="rect">
            <a:avLst/>
          </a:prstGeom>
          <a:noFill/>
        </p:spPr>
        <p:txBody>
          <a:bodyPr wrap="square" lIns="0" rIns="0" tIns="0" bIns="0" anchor="t">
            <a:spAutoFit/>
          </a:bodyPr>
          <a:lstStyle/>
          <a:p>
            <a:pPr algn="l"/>
            <a:r>
              <a:rPr sz="1090" b="1" lang="en-US">
                <a:solidFill>
                  <a:srgbClr val="263440"/>
                </a:solidFill>
                <a:latin typeface="Arial"/>
              </a:rPr>
              <a:t>MODEL REJECTED</a:t>
            </a:r>
          </a:p>
        </p:txBody>
      </p:sp>
      <p:sp>
        <p:nvSpPr>
          <p:cNvPr id="27" name="TextBox 26"/>
          <p:cNvSpPr txBox="1"/>
          <p:nvPr/>
        </p:nvSpPr>
        <p:spPr>
          <a:xfrm>
            <a:off x="8348472" y="2798063"/>
            <a:ext cx="2953512" cy="365760"/>
          </a:xfrm>
          <a:prstGeom prst="rect">
            <a:avLst/>
          </a:prstGeom>
          <a:noFill/>
        </p:spPr>
        <p:txBody>
          <a:bodyPr wrap="square" lIns="0" rIns="0" tIns="0" bIns="0" anchor="t">
            <a:spAutoFit/>
          </a:bodyPr>
          <a:lstStyle/>
          <a:p>
            <a:pPr algn="ctr"/>
            <a:r>
              <a:rPr sz="1150" b="0" lang="en-US">
                <a:solidFill>
                  <a:srgbClr val="5D6973"/>
                </a:solidFill>
                <a:latin typeface="Arial"/>
              </a:rPr>
              <a:t>No installation</a:t>
            </a:r>
          </a:p>
        </p:txBody>
      </p:sp>
      <p:sp>
        <p:nvSpPr>
          <p:cNvPr id="28" name="Rectangle 27"/>
          <p:cNvSpPr/>
          <p:nvPr/>
        </p:nvSpPr>
        <p:spPr>
          <a:xfrm>
            <a:off x="640080" y="3913632"/>
            <a:ext cx="3081528" cy="1161288"/>
          </a:xfrm>
          <a:prstGeom prst="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 y="4050792"/>
            <a:ext cx="2825496" cy="338328"/>
          </a:xfrm>
          <a:prstGeom prst="rect">
            <a:avLst/>
          </a:prstGeom>
          <a:noFill/>
        </p:spPr>
        <p:txBody>
          <a:bodyPr wrap="square" lIns="0" rIns="0" tIns="0" bIns="0" anchor="t">
            <a:spAutoFit/>
          </a:bodyPr>
          <a:lstStyle/>
          <a:p>
            <a:pPr algn="ctr"/>
            <a:r>
              <a:rPr sz="1400" b="1" lang="en-US">
                <a:solidFill>
                  <a:srgbClr val="1764A1"/>
                </a:solidFill>
                <a:latin typeface="Arial"/>
              </a:rPr>
              <a:t>Receiver action</a:t>
            </a:r>
          </a:p>
        </p:txBody>
      </p:sp>
      <p:sp>
        <p:nvSpPr>
          <p:cNvPr id="30" name="TextBox 29"/>
          <p:cNvSpPr txBox="1"/>
          <p:nvPr/>
        </p:nvSpPr>
        <p:spPr>
          <a:xfrm>
            <a:off x="768096" y="4480560"/>
            <a:ext cx="2825496" cy="502920"/>
          </a:xfrm>
          <a:prstGeom prst="rect">
            <a:avLst/>
          </a:prstGeom>
          <a:noFill/>
        </p:spPr>
        <p:txBody>
          <a:bodyPr wrap="square" lIns="0" rIns="0" tIns="0" bIns="0" anchor="t">
            <a:spAutoFit/>
          </a:bodyPr>
          <a:lstStyle/>
          <a:p>
            <a:pPr algn="ctr"/>
            <a:r>
              <a:rPr sz="1200" b="0" lang="en-US">
                <a:solidFill>
                  <a:srgbClr val="263440"/>
                </a:solidFill>
                <a:latin typeface="Arial"/>
              </a:rPr>
              <a:t>Action ran; receipt
publication is attempted</a:t>
            </a:r>
          </a:p>
        </p:txBody>
      </p:sp>
      <p:cxnSp>
        <p:nvCxnSpPr>
          <p:cNvPr id="31" name="Connector 30"/>
          <p:cNvCxnSpPr/>
          <p:nvPr/>
        </p:nvCxnSpPr>
        <p:spPr>
          <a:xfrm>
            <a:off x="3767328" y="4489704"/>
            <a:ext cx="457200" cy="0"/>
          </a:xfrm>
          <a:prstGeom prst="line">
            <a:avLst/>
          </a:prstGeom>
          <a:ln w="19050">
            <a:solidFill>
              <a:srgbClr val="5D69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4270248" y="3913632"/>
            <a:ext cx="3337560" cy="1161288"/>
          </a:xfrm>
          <a:prstGeom prst="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98264" y="4050792"/>
            <a:ext cx="3081528" cy="338328"/>
          </a:xfrm>
          <a:prstGeom prst="rect">
            <a:avLst/>
          </a:prstGeom>
          <a:noFill/>
        </p:spPr>
        <p:txBody>
          <a:bodyPr wrap="square" lIns="0" rIns="0" tIns="0" bIns="0" anchor="t">
            <a:spAutoFit/>
          </a:bodyPr>
          <a:lstStyle/>
          <a:p>
            <a:pPr algn="ctr"/>
            <a:r>
              <a:rPr sz="1400" b="1" lang="en-US">
                <a:solidFill>
                  <a:srgbClr val="1764A1"/>
                </a:solidFill>
                <a:latin typeface="Arial"/>
              </a:rPr>
              <a:t>Transparency log</a:t>
            </a:r>
          </a:p>
        </p:txBody>
      </p:sp>
      <p:sp>
        <p:nvSpPr>
          <p:cNvPr id="34" name="TextBox 33"/>
          <p:cNvSpPr txBox="1"/>
          <p:nvPr/>
        </p:nvSpPr>
        <p:spPr>
          <a:xfrm>
            <a:off x="4398264" y="4480560"/>
            <a:ext cx="3081528" cy="502920"/>
          </a:xfrm>
          <a:prstGeom prst="rect">
            <a:avLst/>
          </a:prstGeom>
          <a:noFill/>
        </p:spPr>
        <p:txBody>
          <a:bodyPr wrap="square" lIns="0" rIns="0" tIns="0" bIns="0" anchor="t">
            <a:spAutoFit/>
          </a:bodyPr>
          <a:lstStyle/>
          <a:p>
            <a:pPr algn="ctr"/>
            <a:r>
              <a:rPr sz="1200" b="0" lang="en-US">
                <a:solidFill>
                  <a:srgbClr val="263440"/>
                </a:solidFill>
                <a:latin typeface="Arial"/>
              </a:rPr>
              <a:t>Receipt cannot
be committed</a:t>
            </a:r>
          </a:p>
        </p:txBody>
      </p:sp>
      <p:cxnSp>
        <p:nvCxnSpPr>
          <p:cNvPr id="35" name="Connector 34"/>
          <p:cNvCxnSpPr/>
          <p:nvPr/>
        </p:nvCxnSpPr>
        <p:spPr>
          <a:xfrm>
            <a:off x="7644383" y="4489704"/>
            <a:ext cx="457200" cy="0"/>
          </a:xfrm>
          <a:prstGeom prst="line">
            <a:avLst/>
          </a:prstGeom>
          <a:ln w="19050">
            <a:solidFill>
              <a:srgbClr val="5D69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8156448" y="3913632"/>
            <a:ext cx="3355848" cy="1161288"/>
          </a:xfrm>
          <a:prstGeom prst="rect">
            <a:avLst/>
          </a:prstGeom>
          <a:solidFill>
            <a:srgbClr val="F3F5F6"/>
          </a:solidFill>
          <a:ln w="1397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21040" y="4023360"/>
            <a:ext cx="347472" cy="411480"/>
          </a:xfrm>
          <a:prstGeom prst="rect">
            <a:avLst/>
          </a:prstGeom>
          <a:noFill/>
        </p:spPr>
        <p:txBody>
          <a:bodyPr wrap="square" lIns="0" rIns="0" tIns="0" bIns="0" anchor="t">
            <a:spAutoFit/>
          </a:bodyPr>
          <a:lstStyle/>
          <a:p>
            <a:pPr algn="l"/>
            <a:r>
              <a:rPr sz="2400" b="1" lang="en-US">
                <a:solidFill>
                  <a:srgbClr val="C40D1E"/>
                </a:solidFill>
                <a:latin typeface="Arial"/>
              </a:rPr>
              <a:t>×</a:t>
            </a:r>
          </a:p>
        </p:txBody>
      </p:sp>
      <p:sp>
        <p:nvSpPr>
          <p:cNvPr id="38" name="TextBox 37"/>
          <p:cNvSpPr txBox="1"/>
          <p:nvPr/>
        </p:nvSpPr>
        <p:spPr>
          <a:xfrm>
            <a:off x="8732520" y="4114800"/>
            <a:ext cx="2624328" cy="274320"/>
          </a:xfrm>
          <a:prstGeom prst="rect">
            <a:avLst/>
          </a:prstGeom>
          <a:noFill/>
        </p:spPr>
        <p:txBody>
          <a:bodyPr wrap="square" lIns="0" rIns="0" tIns="0" bIns="0" anchor="t">
            <a:spAutoFit/>
          </a:bodyPr>
          <a:lstStyle/>
          <a:p>
            <a:pPr algn="l"/>
            <a:r>
              <a:rPr sz="1090" b="1" lang="en-US">
                <a:solidFill>
                  <a:srgbClr val="263440"/>
                </a:solidFill>
                <a:latin typeface="Arial"/>
              </a:rPr>
              <a:t>NO SUCCESS RESPONSE</a:t>
            </a:r>
          </a:p>
        </p:txBody>
      </p:sp>
      <p:sp>
        <p:nvSpPr>
          <p:cNvPr id="39" name="TextBox 38"/>
          <p:cNvSpPr txBox="1"/>
          <p:nvPr/>
        </p:nvSpPr>
        <p:spPr>
          <a:xfrm>
            <a:off x="8348472" y="4572000"/>
            <a:ext cx="2953512" cy="365760"/>
          </a:xfrm>
          <a:prstGeom prst="rect">
            <a:avLst/>
          </a:prstGeom>
          <a:noFill/>
        </p:spPr>
        <p:txBody>
          <a:bodyPr wrap="square" lIns="0" rIns="0" tIns="0" bIns="0" anchor="t">
            <a:spAutoFit/>
          </a:bodyPr>
          <a:lstStyle/>
          <a:p>
            <a:pPr algn="ctr"/>
            <a:r>
              <a:rPr sz="1150" b="0" lang="en-US">
                <a:solidFill>
                  <a:srgbClr val="5D6973"/>
                </a:solidFill>
                <a:latin typeface="Arial"/>
              </a:rPr>
              <a:t>HTTP 503; action may have run</a:t>
            </a:r>
          </a:p>
        </p:txBody>
      </p:sp>
      <p:sp>
        <p:nvSpPr>
          <p:cNvPr id="40" name="Rectangle 39"/>
          <p:cNvSpPr/>
          <p:nvPr/>
        </p:nvSpPr>
        <p:spPr>
          <a:xfrm>
            <a:off x="603504" y="5294376"/>
            <a:ext cx="10917936" cy="9144"/>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404104"/>
            <a:ext cx="10771632" cy="301752"/>
          </a:xfrm>
          <a:prstGeom prst="rect">
            <a:avLst/>
          </a:prstGeom>
          <a:noFill/>
        </p:spPr>
        <p:txBody>
          <a:bodyPr wrap="square" lIns="0" rIns="0" tIns="0" bIns="0" anchor="t">
            <a:spAutoFit/>
          </a:bodyPr>
          <a:lstStyle/>
          <a:p>
            <a:pPr algn="ctr"/>
            <a:r>
              <a:rPr sz="1350" b="1" lang="en-US">
                <a:solidFill>
                  <a:srgbClr val="263440"/>
                </a:solidFill>
                <a:latin typeface="Arial"/>
              </a:rPr>
              <a:t>Visible rejection explains the mechanism; it does not demonstrate every threat is covered.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01752"/>
            <a:ext cx="9829800" cy="521207"/>
          </a:xfrm>
          <a:prstGeom prst="rect">
            <a:avLst/>
          </a:prstGeom>
          <a:noFill/>
        </p:spPr>
        <p:txBody>
          <a:bodyPr wrap="square" lIns="0" rIns="0" tIns="0" bIns="0" anchor="t">
            <a:spAutoFit/>
          </a:bodyPr>
          <a:lstStyle/>
          <a:p>
            <a:pPr algn="l"/>
            <a:r>
              <a:rPr sz="2300" b="0" lang="en-US">
                <a:solidFill>
                  <a:srgbClr val="263440"/>
                </a:solidFill>
                <a:latin typeface="Arial"/>
              </a:rPr>
              <a:t>What does each piece of evidence establish?</a:t>
            </a:r>
          </a:p>
        </p:txBody>
      </p:sp>
      <p:sp>
        <p:nvSpPr>
          <p:cNvPr id="3" name="Rectangle 2"/>
          <p:cNvSpPr/>
          <p:nvPr/>
        </p:nvSpPr>
        <p:spPr>
          <a:xfrm>
            <a:off x="594360" y="932688"/>
            <a:ext cx="987552" cy="265176"/>
          </a:xfrm>
          <a:prstGeom prst="rect">
            <a:avLst/>
          </a:prstGeom>
          <a:solidFill>
            <a:srgbClr val="207548"/>
          </a:solidFill>
          <a:ln w="762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7512" y="990295"/>
            <a:ext cx="841248" cy="173736"/>
          </a:xfrm>
          <a:prstGeom prst="rect">
            <a:avLst/>
          </a:prstGeom>
          <a:noFill/>
        </p:spPr>
        <p:txBody>
          <a:bodyPr wrap="square" lIns="0" rIns="0" tIns="0" bIns="0" anchor="t">
            <a:spAutoFit/>
          </a:bodyPr>
          <a:lstStyle/>
          <a:p>
            <a:pPr algn="l"/>
            <a:r>
              <a:rPr sz="950" b="1" lang="en-US">
                <a:solidFill>
                  <a:srgbClr val="FFFFFF"/>
                </a:solidFill>
                <a:latin typeface="Arial"/>
              </a:rPr>
              <a:t>DFL</a:t>
            </a:r>
          </a:p>
        </p:txBody>
      </p:sp>
      <p:sp>
        <p:nvSpPr>
          <p:cNvPr id="5" name="Rectangle 4"/>
          <p:cNvSpPr/>
          <p:nvPr/>
        </p:nvSpPr>
        <p:spPr>
          <a:xfrm>
            <a:off x="1691640" y="932688"/>
            <a:ext cx="3675887" cy="265176"/>
          </a:xfrm>
          <a:prstGeom prst="rect">
            <a:avLst/>
          </a:prstGeom>
          <a:solidFill>
            <a:srgbClr val="1764A1"/>
          </a:solidFill>
          <a:ln w="762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64792" y="990295"/>
            <a:ext cx="3529583" cy="173736"/>
          </a:xfrm>
          <a:prstGeom prst="rect">
            <a:avLst/>
          </a:prstGeom>
          <a:noFill/>
        </p:spPr>
        <p:txBody>
          <a:bodyPr wrap="square" lIns="0" rIns="0" tIns="0" bIns="0" anchor="t">
            <a:spAutoFit/>
          </a:bodyPr>
          <a:lstStyle/>
          <a:p>
            <a:pPr algn="l"/>
            <a:r>
              <a:rPr sz="950" b="1" lang="en-US">
                <a:solidFill>
                  <a:srgbClr val="FFFFFF"/>
                </a:solidFill>
                <a:latin typeface="Arial"/>
              </a:rPr>
              <a:t>Agent / MCP / Inference / Log</a:t>
            </a:r>
          </a:p>
        </p:txBody>
      </p:sp>
      <p:sp>
        <p:nvSpPr>
          <p:cNvPr id="7" name="Rectangle 6"/>
          <p:cNvSpPr/>
          <p:nvPr/>
        </p:nvSpPr>
        <p:spPr>
          <a:xfrm>
            <a:off x="5477256" y="932688"/>
            <a:ext cx="2395728" cy="265176"/>
          </a:xfrm>
          <a:prstGeom prst="rect">
            <a:avLst/>
          </a:prstGeom>
          <a:solidFill>
            <a:srgbClr val="7446A6"/>
          </a:solidFill>
          <a:ln w="762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0408" y="990295"/>
            <a:ext cx="2249424" cy="173736"/>
          </a:xfrm>
          <a:prstGeom prst="rect">
            <a:avLst/>
          </a:prstGeom>
          <a:noFill/>
        </p:spPr>
        <p:txBody>
          <a:bodyPr wrap="square" lIns="0" rIns="0" tIns="0" bIns="0" anchor="t">
            <a:spAutoFit/>
          </a:bodyPr>
          <a:lstStyle/>
          <a:p>
            <a:pPr algn="l"/>
            <a:r>
              <a:rPr sz="950" b="1" lang="en-US">
                <a:solidFill>
                  <a:srgbClr val="FFFFFF"/>
                </a:solidFill>
                <a:latin typeface="Arial"/>
              </a:rPr>
              <a:t>Blockchain / IPFS</a:t>
            </a:r>
          </a:p>
        </p:txBody>
      </p:sp>
      <p:sp>
        <p:nvSpPr>
          <p:cNvPr id="9" name="Rectangle 8"/>
          <p:cNvSpPr/>
          <p:nvPr/>
        </p:nvSpPr>
        <p:spPr>
          <a:xfrm>
            <a:off x="566928" y="1307592"/>
            <a:ext cx="10927080" cy="10972"/>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300216"/>
            <a:ext cx="1188720" cy="201168"/>
          </a:xfrm>
          <a:prstGeom prst="rect">
            <a:avLst/>
          </a:prstGeom>
          <a:noFill/>
        </p:spPr>
        <p:txBody>
          <a:bodyPr wrap="square" lIns="0" rIns="0" tIns="0" bIns="0" anchor="t">
            <a:spAutoFit/>
          </a:bodyPr>
          <a:lstStyle/>
          <a:p>
            <a:pPr algn="l"/>
            <a:r>
              <a:rPr sz="900" b="0" lang="en-US">
                <a:solidFill>
                  <a:srgbClr val="FFFFFF"/>
                </a:solidFill>
                <a:latin typeface="Arial"/>
              </a:rPr>
              <a:t>Concept 06</a:t>
            </a:r>
          </a:p>
        </p:txBody>
      </p:sp>
      <p:sp>
        <p:nvSpPr>
          <p:cNvPr id="11" name="TextBox 10"/>
          <p:cNvSpPr txBox="1"/>
          <p:nvPr/>
        </p:nvSpPr>
        <p:spPr>
          <a:xfrm>
            <a:off x="1828800" y="6300216"/>
            <a:ext cx="8046720" cy="201168"/>
          </a:xfrm>
          <a:prstGeom prst="rect">
            <a:avLst/>
          </a:prstGeom>
          <a:noFill/>
        </p:spPr>
        <p:txBody>
          <a:bodyPr wrap="square" lIns="0" rIns="0" tIns="0" bIns="0" anchor="t">
            <a:spAutoFit/>
          </a:bodyPr>
          <a:lstStyle/>
          <a:p>
            <a:pPr algn="l"/>
            <a:r>
              <a:rPr sz="900" b="0" lang="en-US">
                <a:solidFill>
                  <a:srgbClr val="FFFFFF"/>
                </a:solidFill>
                <a:latin typeface="Arial"/>
              </a:rPr>
              <a:t>VITA-FL  |  Design proposals  |  Ramon Mehrpoya</a:t>
            </a:r>
          </a:p>
        </p:txBody>
      </p:sp>
      <p:sp>
        <p:nvSpPr>
          <p:cNvPr id="12" name="TextBox 11"/>
          <p:cNvSpPr txBox="1"/>
          <p:nvPr/>
        </p:nvSpPr>
        <p:spPr>
          <a:xfrm>
            <a:off x="9985248" y="6300216"/>
            <a:ext cx="1655064" cy="201168"/>
          </a:xfrm>
          <a:prstGeom prst="rect">
            <a:avLst/>
          </a:prstGeom>
          <a:noFill/>
        </p:spPr>
        <p:txBody>
          <a:bodyPr wrap="square" lIns="0" rIns="0" tIns="0" bIns="0" anchor="t">
            <a:spAutoFit/>
          </a:bodyPr>
          <a:lstStyle/>
          <a:p>
            <a:pPr algn="l"/>
            <a:r>
              <a:rPr sz="830" b="0" lang="en-US">
                <a:solidFill>
                  <a:srgbClr val="FFFFFF"/>
                </a:solidFill>
                <a:latin typeface="Arial"/>
              </a:rPr>
              <a:t>06 September 2026</a:t>
            </a:r>
          </a:p>
        </p:txBody>
      </p:sp>
      <p:sp>
        <p:nvSpPr>
          <p:cNvPr id="13" name="TextBox 12"/>
          <p:cNvSpPr txBox="1"/>
          <p:nvPr/>
        </p:nvSpPr>
        <p:spPr>
          <a:xfrm>
            <a:off x="777240" y="1627632"/>
            <a:ext cx="2414016" cy="210312"/>
          </a:xfrm>
          <a:prstGeom prst="rect">
            <a:avLst/>
          </a:prstGeom>
          <a:noFill/>
        </p:spPr>
        <p:txBody>
          <a:bodyPr wrap="square" lIns="0" rIns="0" tIns="0" bIns="0" anchor="t">
            <a:spAutoFit/>
          </a:bodyPr>
          <a:lstStyle/>
          <a:p>
            <a:pPr algn="l"/>
            <a:r>
              <a:rPr sz="1050" b="1" lang="en-US">
                <a:solidFill>
                  <a:srgbClr val="5D6973"/>
                </a:solidFill>
                <a:latin typeface="Arial"/>
              </a:rPr>
              <a:t>EVIDENCE</a:t>
            </a:r>
          </a:p>
        </p:txBody>
      </p:sp>
      <p:sp>
        <p:nvSpPr>
          <p:cNvPr id="14" name="TextBox 13"/>
          <p:cNvSpPr txBox="1"/>
          <p:nvPr/>
        </p:nvSpPr>
        <p:spPr>
          <a:xfrm>
            <a:off x="3392424" y="1627632"/>
            <a:ext cx="3822191" cy="210312"/>
          </a:xfrm>
          <a:prstGeom prst="rect">
            <a:avLst/>
          </a:prstGeom>
          <a:noFill/>
        </p:spPr>
        <p:txBody>
          <a:bodyPr wrap="square" lIns="0" rIns="0" tIns="0" bIns="0" anchor="t">
            <a:spAutoFit/>
          </a:bodyPr>
          <a:lstStyle/>
          <a:p>
            <a:pPr algn="l"/>
            <a:r>
              <a:rPr sz="1050" b="1" lang="en-US">
                <a:solidFill>
                  <a:srgbClr val="5D6973"/>
                </a:solidFill>
                <a:latin typeface="Arial"/>
              </a:rPr>
              <a:t>QUESTION IT ANSWERS</a:t>
            </a:r>
          </a:p>
        </p:txBody>
      </p:sp>
      <p:sp>
        <p:nvSpPr>
          <p:cNvPr id="15" name="TextBox 14"/>
          <p:cNvSpPr txBox="1"/>
          <p:nvPr/>
        </p:nvSpPr>
        <p:spPr>
          <a:xfrm>
            <a:off x="7726679" y="1627632"/>
            <a:ext cx="3401568" cy="210312"/>
          </a:xfrm>
          <a:prstGeom prst="rect">
            <a:avLst/>
          </a:prstGeom>
          <a:noFill/>
        </p:spPr>
        <p:txBody>
          <a:bodyPr wrap="square" lIns="0" rIns="0" tIns="0" bIns="0" anchor="t">
            <a:spAutoFit/>
          </a:bodyPr>
          <a:lstStyle/>
          <a:p>
            <a:pPr algn="l"/>
            <a:r>
              <a:rPr sz="1050" b="1" lang="en-US">
                <a:solidFill>
                  <a:srgbClr val="5D6973"/>
                </a:solidFill>
                <a:latin typeface="Arial"/>
              </a:rPr>
              <a:t>BOUNDARY</a:t>
            </a:r>
          </a:p>
        </p:txBody>
      </p:sp>
      <p:sp>
        <p:nvSpPr>
          <p:cNvPr id="16" name="Rectangle 15"/>
          <p:cNvSpPr/>
          <p:nvPr/>
        </p:nvSpPr>
        <p:spPr>
          <a:xfrm>
            <a:off x="621792" y="1975104"/>
            <a:ext cx="10927080" cy="694944"/>
          </a:xfrm>
          <a:prstGeom prst="rect">
            <a:avLst/>
          </a:prstGeom>
          <a:solidFill>
            <a:srgbClr val="FFFFFF"/>
          </a:solidFill>
          <a:ln w="1397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1975104"/>
            <a:ext cx="50292" cy="694944"/>
          </a:xfrm>
          <a:prstGeom prst="rect">
            <a:avLst/>
          </a:prstGeom>
          <a:solidFill>
            <a:srgbClr val="207548"/>
          </a:solidFill>
          <a:ln>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2185416"/>
            <a:ext cx="2377440" cy="292608"/>
          </a:xfrm>
          <a:prstGeom prst="rect">
            <a:avLst/>
          </a:prstGeom>
          <a:noFill/>
        </p:spPr>
        <p:txBody>
          <a:bodyPr wrap="square" lIns="0" rIns="0" tIns="0" bIns="0" anchor="t">
            <a:spAutoFit/>
          </a:bodyPr>
          <a:lstStyle/>
          <a:p>
            <a:pPr algn="l"/>
            <a:r>
              <a:rPr sz="1340" b="1" lang="en-US">
                <a:solidFill>
                  <a:srgbClr val="207548"/>
                </a:solidFill>
                <a:latin typeface="Arial"/>
              </a:rPr>
              <a:t>DFL statements</a:t>
            </a:r>
          </a:p>
        </p:txBody>
      </p:sp>
      <p:sp>
        <p:nvSpPr>
          <p:cNvPr id="19" name="TextBox 18"/>
          <p:cNvSpPr txBox="1"/>
          <p:nvPr/>
        </p:nvSpPr>
        <p:spPr>
          <a:xfrm>
            <a:off x="3392424" y="2112264"/>
            <a:ext cx="4142232" cy="484632"/>
          </a:xfrm>
          <a:prstGeom prst="rect">
            <a:avLst/>
          </a:prstGeom>
          <a:noFill/>
        </p:spPr>
        <p:txBody>
          <a:bodyPr wrap="square" lIns="0" rIns="0" tIns="0" bIns="0" anchor="t">
            <a:spAutoFit/>
          </a:bodyPr>
          <a:lstStyle/>
          <a:p>
            <a:pPr algn="l"/>
            <a:r>
              <a:rPr sz="1210" b="0" lang="en-US">
                <a:solidFill>
                  <a:srgbClr val="263440"/>
                </a:solidFill>
                <a:latin typeface="Arial"/>
              </a:rPr>
              <a:t>Which accepted inputs and output
are bound to this round?</a:t>
            </a:r>
          </a:p>
        </p:txBody>
      </p:sp>
      <p:sp>
        <p:nvSpPr>
          <p:cNvPr id="20" name="TextBox 19"/>
          <p:cNvSpPr txBox="1"/>
          <p:nvPr/>
        </p:nvSpPr>
        <p:spPr>
          <a:xfrm>
            <a:off x="7726679" y="2112264"/>
            <a:ext cx="3557016" cy="484632"/>
          </a:xfrm>
          <a:prstGeom prst="rect">
            <a:avLst/>
          </a:prstGeom>
          <a:noFill/>
        </p:spPr>
        <p:txBody>
          <a:bodyPr wrap="square" lIns="0" rIns="0" tIns="0" bIns="0" anchor="t">
            <a:spAutoFit/>
          </a:bodyPr>
          <a:lstStyle/>
          <a:p>
            <a:pPr algn="l"/>
            <a:r>
              <a:rPr sz="1160" b="0" lang="en-US">
                <a:solidFill>
                  <a:srgbClr val="5D6973"/>
                </a:solidFill>
                <a:latin typeface="Arial"/>
              </a:rPr>
              <a:t>Signed data can still
be semantically harmful.</a:t>
            </a:r>
          </a:p>
        </p:txBody>
      </p:sp>
      <p:sp>
        <p:nvSpPr>
          <p:cNvPr id="21" name="Rectangle 20"/>
          <p:cNvSpPr/>
          <p:nvPr/>
        </p:nvSpPr>
        <p:spPr>
          <a:xfrm>
            <a:off x="621792" y="2743200"/>
            <a:ext cx="10927080" cy="694944"/>
          </a:xfrm>
          <a:prstGeom prst="rect">
            <a:avLst/>
          </a:prstGeom>
          <a:solidFill>
            <a:srgbClr val="FFFFFF"/>
          </a:solidFill>
          <a:ln w="1397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 y="2743200"/>
            <a:ext cx="50292" cy="694944"/>
          </a:xfrm>
          <a:prstGeom prst="rect">
            <a:avLst/>
          </a:prstGeom>
          <a:solidFill>
            <a:srgbClr val="7446A6"/>
          </a:solidFill>
          <a:ln>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2953512"/>
            <a:ext cx="2377440" cy="292608"/>
          </a:xfrm>
          <a:prstGeom prst="rect">
            <a:avLst/>
          </a:prstGeom>
          <a:noFill/>
        </p:spPr>
        <p:txBody>
          <a:bodyPr wrap="square" lIns="0" rIns="0" tIns="0" bIns="0" anchor="t">
            <a:spAutoFit/>
          </a:bodyPr>
          <a:lstStyle/>
          <a:p>
            <a:pPr algn="l"/>
            <a:r>
              <a:rPr sz="1340" b="1" lang="en-US">
                <a:solidFill>
                  <a:srgbClr val="7446A6"/>
                </a:solidFill>
                <a:latin typeface="Arial"/>
              </a:rPr>
              <a:t>Finalized bundle</a:t>
            </a:r>
          </a:p>
        </p:txBody>
      </p:sp>
      <p:sp>
        <p:nvSpPr>
          <p:cNvPr id="24" name="TextBox 23"/>
          <p:cNvSpPr txBox="1"/>
          <p:nvPr/>
        </p:nvSpPr>
        <p:spPr>
          <a:xfrm>
            <a:off x="3392424" y="2880360"/>
            <a:ext cx="4142232" cy="484632"/>
          </a:xfrm>
          <a:prstGeom prst="rect">
            <a:avLst/>
          </a:prstGeom>
          <a:noFill/>
        </p:spPr>
        <p:txBody>
          <a:bodyPr wrap="square" lIns="0" rIns="0" tIns="0" bIns="0" anchor="t">
            <a:spAutoFit/>
          </a:bodyPr>
          <a:lstStyle/>
          <a:p>
            <a:pPr algn="l"/>
            <a:r>
              <a:rPr sz="1210" b="0" lang="en-US">
                <a:solidFill>
                  <a:srgbClr val="263440"/>
                </a:solidFill>
                <a:latin typeface="Arial"/>
              </a:rPr>
              <a:t>Which model reference and publisher
are authoritative?</a:t>
            </a:r>
          </a:p>
        </p:txBody>
      </p:sp>
      <p:sp>
        <p:nvSpPr>
          <p:cNvPr id="25" name="TextBox 24"/>
          <p:cNvSpPr txBox="1"/>
          <p:nvPr/>
        </p:nvSpPr>
        <p:spPr>
          <a:xfrm>
            <a:off x="7726679" y="2880360"/>
            <a:ext cx="3557016" cy="484632"/>
          </a:xfrm>
          <a:prstGeom prst="rect">
            <a:avLst/>
          </a:prstGeom>
          <a:noFill/>
        </p:spPr>
        <p:txBody>
          <a:bodyPr wrap="square" lIns="0" rIns="0" tIns="0" bIns="0" anchor="t">
            <a:spAutoFit/>
          </a:bodyPr>
          <a:lstStyle/>
          <a:p>
            <a:pPr algn="l"/>
            <a:r>
              <a:rPr sz="1160" b="0" lang="en-US">
                <a:solidFill>
                  <a:srgbClr val="5D6973"/>
                </a:solidFill>
                <a:latin typeface="Arial"/>
              </a:rPr>
              <a:t>IPFS availability is
a separate concern.</a:t>
            </a:r>
          </a:p>
        </p:txBody>
      </p:sp>
      <p:sp>
        <p:nvSpPr>
          <p:cNvPr id="26" name="Rectangle 25"/>
          <p:cNvSpPr/>
          <p:nvPr/>
        </p:nvSpPr>
        <p:spPr>
          <a:xfrm>
            <a:off x="621792" y="3511296"/>
            <a:ext cx="10927080" cy="694944"/>
          </a:xfrm>
          <a:prstGeom prst="rect">
            <a:avLst/>
          </a:prstGeom>
          <a:solidFill>
            <a:srgbClr val="FFFFFF"/>
          </a:solidFill>
          <a:ln w="1397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 y="3511296"/>
            <a:ext cx="50292" cy="694944"/>
          </a:xfrm>
          <a:prstGeom prst="rect">
            <a:avLst/>
          </a:prstGeom>
          <a:solidFill>
            <a:srgbClr val="1764A1"/>
          </a:solidFill>
          <a:ln>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5528" y="3721608"/>
            <a:ext cx="2377440" cy="292608"/>
          </a:xfrm>
          <a:prstGeom prst="rect">
            <a:avLst/>
          </a:prstGeom>
          <a:noFill/>
        </p:spPr>
        <p:txBody>
          <a:bodyPr wrap="square" lIns="0" rIns="0" tIns="0" bIns="0" anchor="t">
            <a:spAutoFit/>
          </a:bodyPr>
          <a:lstStyle/>
          <a:p>
            <a:pPr algn="l"/>
            <a:r>
              <a:rPr sz="1340" b="1" lang="en-US">
                <a:solidFill>
                  <a:srgbClr val="1764A1"/>
                </a:solidFill>
                <a:latin typeface="Arial"/>
              </a:rPr>
              <a:t>AIR + quote bindings</a:t>
            </a:r>
          </a:p>
        </p:txBody>
      </p:sp>
      <p:sp>
        <p:nvSpPr>
          <p:cNvPr id="29" name="TextBox 28"/>
          <p:cNvSpPr txBox="1"/>
          <p:nvPr/>
        </p:nvSpPr>
        <p:spPr>
          <a:xfrm>
            <a:off x="3392424" y="3648456"/>
            <a:ext cx="4142232" cy="484632"/>
          </a:xfrm>
          <a:prstGeom prst="rect">
            <a:avLst/>
          </a:prstGeom>
          <a:noFill/>
        </p:spPr>
        <p:txBody>
          <a:bodyPr wrap="square" lIns="0" rIns="0" tIns="0" bIns="0" anchor="t">
            <a:spAutoFit/>
          </a:bodyPr>
          <a:lstStyle/>
          <a:p>
            <a:pPr algn="l"/>
            <a:r>
              <a:rPr sz="1210" b="0" lang="en-US">
                <a:solidFill>
                  <a:srgbClr val="263440"/>
                </a:solidFill>
                <a:latin typeface="Arial"/>
              </a:rPr>
              <a:t>Which model, request, response
and workload policy are linked?</a:t>
            </a:r>
          </a:p>
        </p:txBody>
      </p:sp>
      <p:sp>
        <p:nvSpPr>
          <p:cNvPr id="30" name="TextBox 29"/>
          <p:cNvSpPr txBox="1"/>
          <p:nvPr/>
        </p:nvSpPr>
        <p:spPr>
          <a:xfrm>
            <a:off x="7726679" y="3648456"/>
            <a:ext cx="3557016" cy="484632"/>
          </a:xfrm>
          <a:prstGeom prst="rect">
            <a:avLst/>
          </a:prstGeom>
          <a:noFill/>
        </p:spPr>
        <p:txBody>
          <a:bodyPr wrap="square" lIns="0" rIns="0" tIns="0" bIns="0" anchor="t">
            <a:spAutoFit/>
          </a:bodyPr>
          <a:lstStyle/>
          <a:p>
            <a:pPr algn="l"/>
            <a:r>
              <a:rPr sz="1160" b="0" lang="en-US">
                <a:solidFill>
                  <a:srgbClr val="5D6973"/>
                </a:solidFill>
                <a:latin typeface="Arial"/>
              </a:rPr>
              <a:t>The inference verifier lacks
full DCAP collateral appraisal.</a:t>
            </a:r>
          </a:p>
        </p:txBody>
      </p:sp>
      <p:sp>
        <p:nvSpPr>
          <p:cNvPr id="31" name="Rectangle 30"/>
          <p:cNvSpPr/>
          <p:nvPr/>
        </p:nvSpPr>
        <p:spPr>
          <a:xfrm>
            <a:off x="621792" y="4279392"/>
            <a:ext cx="10927080" cy="694944"/>
          </a:xfrm>
          <a:prstGeom prst="rect">
            <a:avLst/>
          </a:prstGeom>
          <a:solidFill>
            <a:srgbClr val="FFFFFF"/>
          </a:solidFill>
          <a:ln w="1397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 y="4279392"/>
            <a:ext cx="50292" cy="694944"/>
          </a:xfrm>
          <a:prstGeom prst="rect">
            <a:avLst/>
          </a:prstGeom>
          <a:solidFill>
            <a:srgbClr val="1764A1"/>
          </a:solidFill>
          <a:ln>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 y="4489704"/>
            <a:ext cx="2377440" cy="292608"/>
          </a:xfrm>
          <a:prstGeom prst="rect">
            <a:avLst/>
          </a:prstGeom>
          <a:noFill/>
        </p:spPr>
        <p:txBody>
          <a:bodyPr wrap="square" lIns="0" rIns="0" tIns="0" bIns="0" anchor="t">
            <a:spAutoFit/>
          </a:bodyPr>
          <a:lstStyle/>
          <a:p>
            <a:pPr algn="l"/>
            <a:r>
              <a:rPr sz="1340" b="1" lang="en-US">
                <a:solidFill>
                  <a:srgbClr val="1764A1"/>
                </a:solidFill>
                <a:latin typeface="Arial"/>
              </a:rPr>
              <a:t>Tool + log receipts</a:t>
            </a:r>
          </a:p>
        </p:txBody>
      </p:sp>
      <p:sp>
        <p:nvSpPr>
          <p:cNvPr id="34" name="TextBox 33"/>
          <p:cNvSpPr txBox="1"/>
          <p:nvPr/>
        </p:nvSpPr>
        <p:spPr>
          <a:xfrm>
            <a:off x="3392424" y="4416552"/>
            <a:ext cx="4142232" cy="484632"/>
          </a:xfrm>
          <a:prstGeom prst="rect">
            <a:avLst/>
          </a:prstGeom>
          <a:noFill/>
        </p:spPr>
        <p:txBody>
          <a:bodyPr wrap="square" lIns="0" rIns="0" tIns="0" bIns="0" anchor="t">
            <a:spAutoFit/>
          </a:bodyPr>
          <a:lstStyle/>
          <a:p>
            <a:pPr algn="l"/>
            <a:r>
              <a:rPr sz="1210" b="0" lang="en-US">
                <a:solidFill>
                  <a:srgbClr val="263440"/>
                </a:solidFill>
                <a:latin typeface="Arial"/>
              </a:rPr>
              <a:t>Which action was signed by the receiver,
and which statement was recorded?</a:t>
            </a:r>
          </a:p>
        </p:txBody>
      </p:sp>
      <p:sp>
        <p:nvSpPr>
          <p:cNvPr id="35" name="TextBox 34"/>
          <p:cNvSpPr txBox="1"/>
          <p:nvPr/>
        </p:nvSpPr>
        <p:spPr>
          <a:xfrm>
            <a:off x="7726679" y="4416552"/>
            <a:ext cx="3557016" cy="484632"/>
          </a:xfrm>
          <a:prstGeom prst="rect">
            <a:avLst/>
          </a:prstGeom>
          <a:noFill/>
        </p:spPr>
        <p:txBody>
          <a:bodyPr wrap="square" lIns="0" rIns="0" tIns="0" bIns="0" anchor="t">
            <a:spAutoFit/>
          </a:bodyPr>
          <a:lstStyle/>
          <a:p>
            <a:pPr algn="l"/>
            <a:r>
              <a:rPr sz="1160" b="0" lang="en-US">
                <a:solidFill>
                  <a:srgbClr val="5D6973"/>
                </a:solidFill>
                <a:latin typeface="Arial"/>
              </a:rPr>
              <a:t>The current log is a
single-node virtual CCF service.</a:t>
            </a:r>
          </a:p>
        </p:txBody>
      </p:sp>
      <p:sp>
        <p:nvSpPr>
          <p:cNvPr id="36" name="Rectangle 35"/>
          <p:cNvSpPr/>
          <p:nvPr/>
        </p:nvSpPr>
        <p:spPr>
          <a:xfrm>
            <a:off x="603504" y="5294376"/>
            <a:ext cx="10917936" cy="9144"/>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404104"/>
            <a:ext cx="10771632" cy="301752"/>
          </a:xfrm>
          <a:prstGeom prst="rect">
            <a:avLst/>
          </a:prstGeom>
          <a:noFill/>
        </p:spPr>
        <p:txBody>
          <a:bodyPr wrap="square" lIns="0" rIns="0" tIns="0" bIns="0" anchor="t">
            <a:spAutoFit/>
          </a:bodyPr>
          <a:lstStyle/>
          <a:p>
            <a:pPr algn="ctr"/>
            <a:r>
              <a:rPr sz="1370" b="1" lang="en-US">
                <a:solidFill>
                  <a:srgbClr val="263440"/>
                </a:solidFill>
                <a:latin typeface="Arial"/>
              </a:rPr>
              <a:t>Technical provenance and bindings are evidence. Clinical utility needs its own evaluation.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01752"/>
            <a:ext cx="9829800" cy="521207"/>
          </a:xfrm>
          <a:prstGeom prst="rect">
            <a:avLst/>
          </a:prstGeom>
          <a:noFill/>
        </p:spPr>
        <p:txBody>
          <a:bodyPr wrap="square" lIns="0" rIns="0" tIns="0" bIns="0" anchor="t">
            <a:spAutoFit/>
          </a:bodyPr>
          <a:lstStyle/>
          <a:p>
            <a:pPr algn="l"/>
            <a:r>
              <a:rPr sz="2300" b="0" lang="en-US">
                <a:solidFill>
                  <a:srgbClr val="263440"/>
                </a:solidFill>
                <a:latin typeface="Arial"/>
              </a:rPr>
              <a:t>Who aggregated in the actual 24-round run?</a:t>
            </a:r>
          </a:p>
        </p:txBody>
      </p:sp>
      <p:sp>
        <p:nvSpPr>
          <p:cNvPr id="3" name="Rectangle 2"/>
          <p:cNvSpPr/>
          <p:nvPr/>
        </p:nvSpPr>
        <p:spPr>
          <a:xfrm>
            <a:off x="594360" y="932688"/>
            <a:ext cx="987552" cy="265176"/>
          </a:xfrm>
          <a:prstGeom prst="rect">
            <a:avLst/>
          </a:prstGeom>
          <a:solidFill>
            <a:srgbClr val="207548"/>
          </a:solidFill>
          <a:ln w="762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7512" y="990295"/>
            <a:ext cx="841248" cy="173736"/>
          </a:xfrm>
          <a:prstGeom prst="rect">
            <a:avLst/>
          </a:prstGeom>
          <a:noFill/>
        </p:spPr>
        <p:txBody>
          <a:bodyPr wrap="square" lIns="0" rIns="0" tIns="0" bIns="0" anchor="t">
            <a:spAutoFit/>
          </a:bodyPr>
          <a:lstStyle/>
          <a:p>
            <a:pPr algn="l"/>
            <a:r>
              <a:rPr sz="950" b="1" lang="en-US">
                <a:solidFill>
                  <a:srgbClr val="FFFFFF"/>
                </a:solidFill>
                <a:latin typeface="Arial"/>
              </a:rPr>
              <a:t>DFL</a:t>
            </a:r>
          </a:p>
        </p:txBody>
      </p:sp>
      <p:sp>
        <p:nvSpPr>
          <p:cNvPr id="5" name="Rectangle 4"/>
          <p:cNvSpPr/>
          <p:nvPr/>
        </p:nvSpPr>
        <p:spPr>
          <a:xfrm>
            <a:off x="1691640" y="932688"/>
            <a:ext cx="3675887" cy="265176"/>
          </a:xfrm>
          <a:prstGeom prst="rect">
            <a:avLst/>
          </a:prstGeom>
          <a:solidFill>
            <a:srgbClr val="F5F6F7"/>
          </a:solidFill>
          <a:ln w="762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64792" y="990295"/>
            <a:ext cx="3529583" cy="173736"/>
          </a:xfrm>
          <a:prstGeom prst="rect">
            <a:avLst/>
          </a:prstGeom>
          <a:noFill/>
        </p:spPr>
        <p:txBody>
          <a:bodyPr wrap="square" lIns="0" rIns="0" tIns="0" bIns="0" anchor="t">
            <a:spAutoFit/>
          </a:bodyPr>
          <a:lstStyle/>
          <a:p>
            <a:pPr algn="l"/>
            <a:r>
              <a:rPr sz="950" b="1" lang="en-US">
                <a:solidFill>
                  <a:srgbClr val="5D6973"/>
                </a:solidFill>
                <a:latin typeface="Arial"/>
              </a:rPr>
              <a:t>Agent / MCP / Inference / Log</a:t>
            </a:r>
          </a:p>
        </p:txBody>
      </p:sp>
      <p:sp>
        <p:nvSpPr>
          <p:cNvPr id="7" name="Rectangle 6"/>
          <p:cNvSpPr/>
          <p:nvPr/>
        </p:nvSpPr>
        <p:spPr>
          <a:xfrm>
            <a:off x="5477256" y="932688"/>
            <a:ext cx="2395728" cy="265176"/>
          </a:xfrm>
          <a:prstGeom prst="rect">
            <a:avLst/>
          </a:prstGeom>
          <a:solidFill>
            <a:srgbClr val="F5F6F7"/>
          </a:solidFill>
          <a:ln w="762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0408" y="990295"/>
            <a:ext cx="2249424" cy="173736"/>
          </a:xfrm>
          <a:prstGeom prst="rect">
            <a:avLst/>
          </a:prstGeom>
          <a:noFill/>
        </p:spPr>
        <p:txBody>
          <a:bodyPr wrap="square" lIns="0" rIns="0" tIns="0" bIns="0" anchor="t">
            <a:spAutoFit/>
          </a:bodyPr>
          <a:lstStyle/>
          <a:p>
            <a:pPr algn="l"/>
            <a:r>
              <a:rPr sz="950" b="1" lang="en-US">
                <a:solidFill>
                  <a:srgbClr val="5D6973"/>
                </a:solidFill>
                <a:latin typeface="Arial"/>
              </a:rPr>
              <a:t>Blockchain / IPFS</a:t>
            </a:r>
          </a:p>
        </p:txBody>
      </p:sp>
      <p:sp>
        <p:nvSpPr>
          <p:cNvPr id="9" name="Rectangle 8"/>
          <p:cNvSpPr/>
          <p:nvPr/>
        </p:nvSpPr>
        <p:spPr>
          <a:xfrm>
            <a:off x="566928" y="1307592"/>
            <a:ext cx="10927080" cy="10972"/>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300216"/>
            <a:ext cx="1188720" cy="201168"/>
          </a:xfrm>
          <a:prstGeom prst="rect">
            <a:avLst/>
          </a:prstGeom>
          <a:noFill/>
        </p:spPr>
        <p:txBody>
          <a:bodyPr wrap="square" lIns="0" rIns="0" tIns="0" bIns="0" anchor="t">
            <a:spAutoFit/>
          </a:bodyPr>
          <a:lstStyle/>
          <a:p>
            <a:pPr algn="l"/>
            <a:r>
              <a:rPr sz="900" b="0" lang="en-US">
                <a:solidFill>
                  <a:srgbClr val="FFFFFF"/>
                </a:solidFill>
                <a:latin typeface="Arial"/>
              </a:rPr>
              <a:t>Concept 07</a:t>
            </a:r>
          </a:p>
        </p:txBody>
      </p:sp>
      <p:sp>
        <p:nvSpPr>
          <p:cNvPr id="11" name="TextBox 10"/>
          <p:cNvSpPr txBox="1"/>
          <p:nvPr/>
        </p:nvSpPr>
        <p:spPr>
          <a:xfrm>
            <a:off x="1828800" y="6300216"/>
            <a:ext cx="8046720" cy="201168"/>
          </a:xfrm>
          <a:prstGeom prst="rect">
            <a:avLst/>
          </a:prstGeom>
          <a:noFill/>
        </p:spPr>
        <p:txBody>
          <a:bodyPr wrap="square" lIns="0" rIns="0" tIns="0" bIns="0" anchor="t">
            <a:spAutoFit/>
          </a:bodyPr>
          <a:lstStyle/>
          <a:p>
            <a:pPr algn="l"/>
            <a:r>
              <a:rPr sz="900" b="0" lang="en-US">
                <a:solidFill>
                  <a:srgbClr val="FFFFFF"/>
                </a:solidFill>
                <a:latin typeface="Arial"/>
              </a:rPr>
              <a:t>VITA-FL  |  Design proposals  |  Ramon Mehrpoya</a:t>
            </a:r>
          </a:p>
        </p:txBody>
      </p:sp>
      <p:sp>
        <p:nvSpPr>
          <p:cNvPr id="12" name="TextBox 11"/>
          <p:cNvSpPr txBox="1"/>
          <p:nvPr/>
        </p:nvSpPr>
        <p:spPr>
          <a:xfrm>
            <a:off x="9985248" y="6300216"/>
            <a:ext cx="1655064" cy="201168"/>
          </a:xfrm>
          <a:prstGeom prst="rect">
            <a:avLst/>
          </a:prstGeom>
          <a:noFill/>
        </p:spPr>
        <p:txBody>
          <a:bodyPr wrap="square" lIns="0" rIns="0" tIns="0" bIns="0" anchor="t">
            <a:spAutoFit/>
          </a:bodyPr>
          <a:lstStyle/>
          <a:p>
            <a:pPr algn="l"/>
            <a:r>
              <a:rPr sz="830" b="0" lang="en-US">
                <a:solidFill>
                  <a:srgbClr val="FFFFFF"/>
                </a:solidFill>
                <a:latin typeface="Arial"/>
              </a:rPr>
              <a:t>06 September 2026</a:t>
            </a:r>
          </a:p>
        </p:txBody>
      </p:sp>
      <p:sp>
        <p:nvSpPr>
          <p:cNvPr id="13" name="TextBox 12"/>
          <p:cNvSpPr txBox="1"/>
          <p:nvPr/>
        </p:nvSpPr>
        <p:spPr>
          <a:xfrm>
            <a:off x="649224" y="1636776"/>
            <a:ext cx="10789920" cy="365760"/>
          </a:xfrm>
          <a:prstGeom prst="rect">
            <a:avLst/>
          </a:prstGeom>
          <a:noFill/>
        </p:spPr>
        <p:txBody>
          <a:bodyPr wrap="square" lIns="0" rIns="0" tIns="0" bIns="0" anchor="t">
            <a:spAutoFit/>
          </a:bodyPr>
          <a:lstStyle/>
          <a:p>
            <a:pPr algn="l"/>
            <a:r>
              <a:rPr sz="1700" b="1" lang="en-US">
                <a:solidFill>
                  <a:srgbClr val="207548"/>
                </a:solidFill>
                <a:latin typeface="Arial"/>
              </a:rPr>
              <a:t>Six workers · one aggregator and five training contributors per round</a:t>
            </a:r>
          </a:p>
        </p:txBody>
      </p:sp>
      <p:sp>
        <p:nvSpPr>
          <p:cNvPr id="14" name="TextBox 13"/>
          <p:cNvSpPr txBox="1"/>
          <p:nvPr/>
        </p:nvSpPr>
        <p:spPr>
          <a:xfrm>
            <a:off x="1572768" y="2148840"/>
            <a:ext cx="7315200" cy="210312"/>
          </a:xfrm>
          <a:prstGeom prst="rect">
            <a:avLst/>
          </a:prstGeom>
          <a:noFill/>
        </p:spPr>
        <p:txBody>
          <a:bodyPr wrap="square" lIns="0" rIns="0" tIns="0" bIns="0" anchor="t">
            <a:spAutoFit/>
          </a:bodyPr>
          <a:lstStyle/>
          <a:p>
            <a:pPr algn="l"/>
            <a:r>
              <a:rPr sz="1060" b="0" lang="en-US">
                <a:solidFill>
                  <a:srgbClr val="5D6973"/>
                </a:solidFill>
                <a:latin typeface="Arial"/>
              </a:rPr>
              <a:t>Federated round</a:t>
            </a:r>
          </a:p>
        </p:txBody>
      </p:sp>
      <p:sp>
        <p:nvSpPr>
          <p:cNvPr id="15" name="TextBox 14"/>
          <p:cNvSpPr txBox="1"/>
          <p:nvPr/>
        </p:nvSpPr>
        <p:spPr>
          <a:xfrm>
            <a:off x="10424160" y="2148840"/>
            <a:ext cx="941832" cy="210312"/>
          </a:xfrm>
          <a:prstGeom prst="rect">
            <a:avLst/>
          </a:prstGeom>
          <a:noFill/>
        </p:spPr>
        <p:txBody>
          <a:bodyPr wrap="square" lIns="0" rIns="0" tIns="0" bIns="0" anchor="t">
            <a:spAutoFit/>
          </a:bodyPr>
          <a:lstStyle/>
          <a:p>
            <a:pPr algn="l"/>
            <a:r>
              <a:rPr sz="1060" b="1" lang="en-US">
                <a:solidFill>
                  <a:srgbClr val="5D6973"/>
                </a:solidFill>
                <a:latin typeface="Arial"/>
              </a:rPr>
              <a:t>Total A</a:t>
            </a:r>
          </a:p>
        </p:txBody>
      </p:sp>
      <p:sp>
        <p:nvSpPr>
          <p:cNvPr id="16" name="TextBox 15"/>
          <p:cNvSpPr txBox="1"/>
          <p:nvPr/>
        </p:nvSpPr>
        <p:spPr>
          <a:xfrm>
            <a:off x="1572768"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1</a:t>
            </a:r>
          </a:p>
        </p:txBody>
      </p:sp>
      <p:sp>
        <p:nvSpPr>
          <p:cNvPr id="17" name="TextBox 16"/>
          <p:cNvSpPr txBox="1"/>
          <p:nvPr/>
        </p:nvSpPr>
        <p:spPr>
          <a:xfrm>
            <a:off x="1926640"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2</a:t>
            </a:r>
          </a:p>
        </p:txBody>
      </p:sp>
      <p:sp>
        <p:nvSpPr>
          <p:cNvPr id="18" name="TextBox 17"/>
          <p:cNvSpPr txBox="1"/>
          <p:nvPr/>
        </p:nvSpPr>
        <p:spPr>
          <a:xfrm>
            <a:off x="2280513"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3</a:t>
            </a:r>
          </a:p>
        </p:txBody>
      </p:sp>
      <p:sp>
        <p:nvSpPr>
          <p:cNvPr id="19" name="TextBox 18"/>
          <p:cNvSpPr txBox="1"/>
          <p:nvPr/>
        </p:nvSpPr>
        <p:spPr>
          <a:xfrm>
            <a:off x="2634386"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4</a:t>
            </a:r>
          </a:p>
        </p:txBody>
      </p:sp>
      <p:sp>
        <p:nvSpPr>
          <p:cNvPr id="20" name="TextBox 19"/>
          <p:cNvSpPr txBox="1"/>
          <p:nvPr/>
        </p:nvSpPr>
        <p:spPr>
          <a:xfrm>
            <a:off x="2988259"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5</a:t>
            </a:r>
          </a:p>
        </p:txBody>
      </p:sp>
      <p:sp>
        <p:nvSpPr>
          <p:cNvPr id="21" name="TextBox 20"/>
          <p:cNvSpPr txBox="1"/>
          <p:nvPr/>
        </p:nvSpPr>
        <p:spPr>
          <a:xfrm>
            <a:off x="3342132"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6</a:t>
            </a:r>
          </a:p>
        </p:txBody>
      </p:sp>
      <p:sp>
        <p:nvSpPr>
          <p:cNvPr id="22" name="TextBox 21"/>
          <p:cNvSpPr txBox="1"/>
          <p:nvPr/>
        </p:nvSpPr>
        <p:spPr>
          <a:xfrm>
            <a:off x="3696004"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7</a:t>
            </a:r>
          </a:p>
        </p:txBody>
      </p:sp>
      <p:sp>
        <p:nvSpPr>
          <p:cNvPr id="23" name="TextBox 22"/>
          <p:cNvSpPr txBox="1"/>
          <p:nvPr/>
        </p:nvSpPr>
        <p:spPr>
          <a:xfrm>
            <a:off x="4049877"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8</a:t>
            </a:r>
          </a:p>
        </p:txBody>
      </p:sp>
      <p:sp>
        <p:nvSpPr>
          <p:cNvPr id="24" name="TextBox 23"/>
          <p:cNvSpPr txBox="1"/>
          <p:nvPr/>
        </p:nvSpPr>
        <p:spPr>
          <a:xfrm>
            <a:off x="4403750"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9</a:t>
            </a:r>
          </a:p>
        </p:txBody>
      </p:sp>
      <p:sp>
        <p:nvSpPr>
          <p:cNvPr id="25" name="TextBox 24"/>
          <p:cNvSpPr txBox="1"/>
          <p:nvPr/>
        </p:nvSpPr>
        <p:spPr>
          <a:xfrm>
            <a:off x="4757623"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10</a:t>
            </a:r>
          </a:p>
        </p:txBody>
      </p:sp>
      <p:sp>
        <p:nvSpPr>
          <p:cNvPr id="26" name="TextBox 25"/>
          <p:cNvSpPr txBox="1"/>
          <p:nvPr/>
        </p:nvSpPr>
        <p:spPr>
          <a:xfrm>
            <a:off x="5111496"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11</a:t>
            </a:r>
          </a:p>
        </p:txBody>
      </p:sp>
      <p:sp>
        <p:nvSpPr>
          <p:cNvPr id="27" name="TextBox 26"/>
          <p:cNvSpPr txBox="1"/>
          <p:nvPr/>
        </p:nvSpPr>
        <p:spPr>
          <a:xfrm>
            <a:off x="5465368"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12</a:t>
            </a:r>
          </a:p>
        </p:txBody>
      </p:sp>
      <p:sp>
        <p:nvSpPr>
          <p:cNvPr id="28" name="TextBox 27"/>
          <p:cNvSpPr txBox="1"/>
          <p:nvPr/>
        </p:nvSpPr>
        <p:spPr>
          <a:xfrm>
            <a:off x="5819241"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13</a:t>
            </a:r>
          </a:p>
        </p:txBody>
      </p:sp>
      <p:sp>
        <p:nvSpPr>
          <p:cNvPr id="29" name="TextBox 28"/>
          <p:cNvSpPr txBox="1"/>
          <p:nvPr/>
        </p:nvSpPr>
        <p:spPr>
          <a:xfrm>
            <a:off x="6173114"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14</a:t>
            </a:r>
          </a:p>
        </p:txBody>
      </p:sp>
      <p:sp>
        <p:nvSpPr>
          <p:cNvPr id="30" name="TextBox 29"/>
          <p:cNvSpPr txBox="1"/>
          <p:nvPr/>
        </p:nvSpPr>
        <p:spPr>
          <a:xfrm>
            <a:off x="6526987"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15</a:t>
            </a:r>
          </a:p>
        </p:txBody>
      </p:sp>
      <p:sp>
        <p:nvSpPr>
          <p:cNvPr id="31" name="TextBox 30"/>
          <p:cNvSpPr txBox="1"/>
          <p:nvPr/>
        </p:nvSpPr>
        <p:spPr>
          <a:xfrm>
            <a:off x="6880859"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16</a:t>
            </a:r>
          </a:p>
        </p:txBody>
      </p:sp>
      <p:sp>
        <p:nvSpPr>
          <p:cNvPr id="32" name="TextBox 31"/>
          <p:cNvSpPr txBox="1"/>
          <p:nvPr/>
        </p:nvSpPr>
        <p:spPr>
          <a:xfrm>
            <a:off x="7234732"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17</a:t>
            </a:r>
          </a:p>
        </p:txBody>
      </p:sp>
      <p:sp>
        <p:nvSpPr>
          <p:cNvPr id="33" name="TextBox 32"/>
          <p:cNvSpPr txBox="1"/>
          <p:nvPr/>
        </p:nvSpPr>
        <p:spPr>
          <a:xfrm>
            <a:off x="7588605"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18</a:t>
            </a:r>
          </a:p>
        </p:txBody>
      </p:sp>
      <p:sp>
        <p:nvSpPr>
          <p:cNvPr id="34" name="TextBox 33"/>
          <p:cNvSpPr txBox="1"/>
          <p:nvPr/>
        </p:nvSpPr>
        <p:spPr>
          <a:xfrm>
            <a:off x="7942478"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19</a:t>
            </a:r>
          </a:p>
        </p:txBody>
      </p:sp>
      <p:sp>
        <p:nvSpPr>
          <p:cNvPr id="35" name="TextBox 34"/>
          <p:cNvSpPr txBox="1"/>
          <p:nvPr/>
        </p:nvSpPr>
        <p:spPr>
          <a:xfrm>
            <a:off x="8296351"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20</a:t>
            </a:r>
          </a:p>
        </p:txBody>
      </p:sp>
      <p:sp>
        <p:nvSpPr>
          <p:cNvPr id="36" name="TextBox 35"/>
          <p:cNvSpPr txBox="1"/>
          <p:nvPr/>
        </p:nvSpPr>
        <p:spPr>
          <a:xfrm>
            <a:off x="8650224"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21</a:t>
            </a:r>
          </a:p>
        </p:txBody>
      </p:sp>
      <p:sp>
        <p:nvSpPr>
          <p:cNvPr id="37" name="TextBox 36"/>
          <p:cNvSpPr txBox="1"/>
          <p:nvPr/>
        </p:nvSpPr>
        <p:spPr>
          <a:xfrm>
            <a:off x="9004096"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22</a:t>
            </a:r>
          </a:p>
        </p:txBody>
      </p:sp>
      <p:sp>
        <p:nvSpPr>
          <p:cNvPr id="38" name="TextBox 37"/>
          <p:cNvSpPr txBox="1"/>
          <p:nvPr/>
        </p:nvSpPr>
        <p:spPr>
          <a:xfrm>
            <a:off x="9357969"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23</a:t>
            </a:r>
          </a:p>
        </p:txBody>
      </p:sp>
      <p:sp>
        <p:nvSpPr>
          <p:cNvPr id="39" name="TextBox 38"/>
          <p:cNvSpPr txBox="1"/>
          <p:nvPr/>
        </p:nvSpPr>
        <p:spPr>
          <a:xfrm>
            <a:off x="9711842" y="2359152"/>
            <a:ext cx="321868" cy="173736"/>
          </a:xfrm>
          <a:prstGeom prst="rect">
            <a:avLst/>
          </a:prstGeom>
          <a:noFill/>
        </p:spPr>
        <p:txBody>
          <a:bodyPr wrap="square" lIns="0" rIns="0" tIns="0" bIns="0" anchor="t">
            <a:spAutoFit/>
          </a:bodyPr>
          <a:lstStyle/>
          <a:p>
            <a:pPr algn="ctr"/>
            <a:r>
              <a:rPr sz="850" b="0" lang="en-US">
                <a:solidFill>
                  <a:srgbClr val="5D6973"/>
                </a:solidFill>
                <a:latin typeface="Arial"/>
              </a:rPr>
              <a:t>24</a:t>
            </a:r>
          </a:p>
        </p:txBody>
      </p:sp>
      <p:sp>
        <p:nvSpPr>
          <p:cNvPr id="40" name="TextBox 39"/>
          <p:cNvSpPr txBox="1"/>
          <p:nvPr/>
        </p:nvSpPr>
        <p:spPr>
          <a:xfrm>
            <a:off x="667512" y="2596896"/>
            <a:ext cx="804672" cy="219456"/>
          </a:xfrm>
          <a:prstGeom prst="rect">
            <a:avLst/>
          </a:prstGeom>
          <a:noFill/>
        </p:spPr>
        <p:txBody>
          <a:bodyPr wrap="square" lIns="0" rIns="0" tIns="0" bIns="0" anchor="t">
            <a:spAutoFit/>
          </a:bodyPr>
          <a:lstStyle/>
          <a:p>
            <a:pPr algn="l"/>
            <a:r>
              <a:rPr sz="1220" b="1" lang="en-US">
                <a:solidFill>
                  <a:srgbClr val="207548"/>
                </a:solidFill>
                <a:latin typeface="Arial"/>
              </a:rPr>
              <a:t>VM-0</a:t>
            </a:r>
          </a:p>
        </p:txBody>
      </p:sp>
      <p:sp>
        <p:nvSpPr>
          <p:cNvPr id="41" name="Rectangle 40"/>
          <p:cNvSpPr/>
          <p:nvPr/>
        </p:nvSpPr>
        <p:spPr>
          <a:xfrm>
            <a:off x="1572768"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572768"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43" name="Rectangle 42"/>
          <p:cNvSpPr/>
          <p:nvPr/>
        </p:nvSpPr>
        <p:spPr>
          <a:xfrm>
            <a:off x="1926640"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26640"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45" name="Rectangle 44"/>
          <p:cNvSpPr/>
          <p:nvPr/>
        </p:nvSpPr>
        <p:spPr>
          <a:xfrm>
            <a:off x="2280513"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80513"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47" name="Rectangle 46"/>
          <p:cNvSpPr/>
          <p:nvPr/>
        </p:nvSpPr>
        <p:spPr>
          <a:xfrm>
            <a:off x="2634386"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634386"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49" name="Rectangle 48"/>
          <p:cNvSpPr/>
          <p:nvPr/>
        </p:nvSpPr>
        <p:spPr>
          <a:xfrm>
            <a:off x="2988259"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88259"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51" name="Rectangle 50"/>
          <p:cNvSpPr/>
          <p:nvPr/>
        </p:nvSpPr>
        <p:spPr>
          <a:xfrm>
            <a:off x="3342132"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42132"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53" name="Rectangle 52"/>
          <p:cNvSpPr/>
          <p:nvPr/>
        </p:nvSpPr>
        <p:spPr>
          <a:xfrm>
            <a:off x="3696004"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96004"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55" name="Rectangle 54"/>
          <p:cNvSpPr/>
          <p:nvPr/>
        </p:nvSpPr>
        <p:spPr>
          <a:xfrm>
            <a:off x="4049877"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49877"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57" name="Rectangle 56"/>
          <p:cNvSpPr/>
          <p:nvPr/>
        </p:nvSpPr>
        <p:spPr>
          <a:xfrm>
            <a:off x="4403750"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403750"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59" name="Rectangle 58"/>
          <p:cNvSpPr/>
          <p:nvPr/>
        </p:nvSpPr>
        <p:spPr>
          <a:xfrm>
            <a:off x="4757623"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757623"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61" name="Rectangle 60"/>
          <p:cNvSpPr/>
          <p:nvPr/>
        </p:nvSpPr>
        <p:spPr>
          <a:xfrm>
            <a:off x="5111496"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111496"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63" name="Rectangle 62"/>
          <p:cNvSpPr/>
          <p:nvPr/>
        </p:nvSpPr>
        <p:spPr>
          <a:xfrm>
            <a:off x="5465368"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465368"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65" name="Rectangle 64"/>
          <p:cNvSpPr/>
          <p:nvPr/>
        </p:nvSpPr>
        <p:spPr>
          <a:xfrm>
            <a:off x="5819241"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819241"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67" name="Rectangle 66"/>
          <p:cNvSpPr/>
          <p:nvPr/>
        </p:nvSpPr>
        <p:spPr>
          <a:xfrm>
            <a:off x="6173114"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73114"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69" name="Rectangle 68"/>
          <p:cNvSpPr/>
          <p:nvPr/>
        </p:nvSpPr>
        <p:spPr>
          <a:xfrm>
            <a:off x="6526987"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526987"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71" name="Rectangle 70"/>
          <p:cNvSpPr/>
          <p:nvPr/>
        </p:nvSpPr>
        <p:spPr>
          <a:xfrm>
            <a:off x="6880859"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880859"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73" name="Rectangle 72"/>
          <p:cNvSpPr/>
          <p:nvPr/>
        </p:nvSpPr>
        <p:spPr>
          <a:xfrm>
            <a:off x="7234732"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234732"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75" name="Rectangle 74"/>
          <p:cNvSpPr/>
          <p:nvPr/>
        </p:nvSpPr>
        <p:spPr>
          <a:xfrm>
            <a:off x="7588605"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588605"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77" name="Rectangle 76"/>
          <p:cNvSpPr/>
          <p:nvPr/>
        </p:nvSpPr>
        <p:spPr>
          <a:xfrm>
            <a:off x="7942478"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942478"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79" name="Rectangle 78"/>
          <p:cNvSpPr/>
          <p:nvPr/>
        </p:nvSpPr>
        <p:spPr>
          <a:xfrm>
            <a:off x="8296351" y="249631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296351" y="257403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81" name="Rectangle 80"/>
          <p:cNvSpPr/>
          <p:nvPr/>
        </p:nvSpPr>
        <p:spPr>
          <a:xfrm>
            <a:off x="8650224"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650224"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83" name="Rectangle 82"/>
          <p:cNvSpPr/>
          <p:nvPr/>
        </p:nvSpPr>
        <p:spPr>
          <a:xfrm>
            <a:off x="9004096" y="249631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004096" y="257403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85" name="Rectangle 84"/>
          <p:cNvSpPr/>
          <p:nvPr/>
        </p:nvSpPr>
        <p:spPr>
          <a:xfrm>
            <a:off x="9357969"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357969"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87" name="Rectangle 86"/>
          <p:cNvSpPr/>
          <p:nvPr/>
        </p:nvSpPr>
        <p:spPr>
          <a:xfrm>
            <a:off x="9711842" y="24963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711842" y="25740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89" name="TextBox 88"/>
          <p:cNvSpPr txBox="1"/>
          <p:nvPr/>
        </p:nvSpPr>
        <p:spPr>
          <a:xfrm>
            <a:off x="10524744" y="2574036"/>
            <a:ext cx="731520" cy="246888"/>
          </a:xfrm>
          <a:prstGeom prst="rect">
            <a:avLst/>
          </a:prstGeom>
          <a:noFill/>
        </p:spPr>
        <p:txBody>
          <a:bodyPr wrap="square" lIns="0" rIns="0" tIns="0" bIns="0" anchor="t">
            <a:spAutoFit/>
          </a:bodyPr>
          <a:lstStyle/>
          <a:p>
            <a:pPr algn="ctr"/>
            <a:r>
              <a:rPr sz="1400" b="1" lang="en-US">
                <a:solidFill>
                  <a:srgbClr val="207548"/>
                </a:solidFill>
                <a:latin typeface="Arial"/>
              </a:rPr>
              <a:t>2</a:t>
            </a:r>
          </a:p>
        </p:txBody>
      </p:sp>
      <p:sp>
        <p:nvSpPr>
          <p:cNvPr id="90" name="TextBox 89"/>
          <p:cNvSpPr txBox="1"/>
          <p:nvPr/>
        </p:nvSpPr>
        <p:spPr>
          <a:xfrm>
            <a:off x="667512" y="2969971"/>
            <a:ext cx="804672" cy="219456"/>
          </a:xfrm>
          <a:prstGeom prst="rect">
            <a:avLst/>
          </a:prstGeom>
          <a:noFill/>
        </p:spPr>
        <p:txBody>
          <a:bodyPr wrap="square" lIns="0" rIns="0" tIns="0" bIns="0" anchor="t">
            <a:spAutoFit/>
          </a:bodyPr>
          <a:lstStyle/>
          <a:p>
            <a:pPr algn="l"/>
            <a:r>
              <a:rPr sz="1220" b="1" lang="en-US">
                <a:solidFill>
                  <a:srgbClr val="207548"/>
                </a:solidFill>
                <a:latin typeface="Arial"/>
              </a:rPr>
              <a:t>VM-1</a:t>
            </a:r>
          </a:p>
        </p:txBody>
      </p:sp>
      <p:sp>
        <p:nvSpPr>
          <p:cNvPr id="91" name="Rectangle 90"/>
          <p:cNvSpPr/>
          <p:nvPr/>
        </p:nvSpPr>
        <p:spPr>
          <a:xfrm>
            <a:off x="1572768"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572768"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93" name="Rectangle 92"/>
          <p:cNvSpPr/>
          <p:nvPr/>
        </p:nvSpPr>
        <p:spPr>
          <a:xfrm>
            <a:off x="1926640"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926640"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95" name="Rectangle 94"/>
          <p:cNvSpPr/>
          <p:nvPr/>
        </p:nvSpPr>
        <p:spPr>
          <a:xfrm>
            <a:off x="2280513"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280513"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97" name="Rectangle 96"/>
          <p:cNvSpPr/>
          <p:nvPr/>
        </p:nvSpPr>
        <p:spPr>
          <a:xfrm>
            <a:off x="2634386"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634386"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99" name="Rectangle 98"/>
          <p:cNvSpPr/>
          <p:nvPr/>
        </p:nvSpPr>
        <p:spPr>
          <a:xfrm>
            <a:off x="2988259"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988259"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01" name="Rectangle 100"/>
          <p:cNvSpPr/>
          <p:nvPr/>
        </p:nvSpPr>
        <p:spPr>
          <a:xfrm>
            <a:off x="3342132"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342132"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03" name="Rectangle 102"/>
          <p:cNvSpPr/>
          <p:nvPr/>
        </p:nvSpPr>
        <p:spPr>
          <a:xfrm>
            <a:off x="3696004"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696004"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05" name="Rectangle 104"/>
          <p:cNvSpPr/>
          <p:nvPr/>
        </p:nvSpPr>
        <p:spPr>
          <a:xfrm>
            <a:off x="4049877"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049877"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07" name="Rectangle 106"/>
          <p:cNvSpPr/>
          <p:nvPr/>
        </p:nvSpPr>
        <p:spPr>
          <a:xfrm>
            <a:off x="4403750"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403750"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09" name="Rectangle 108"/>
          <p:cNvSpPr/>
          <p:nvPr/>
        </p:nvSpPr>
        <p:spPr>
          <a:xfrm>
            <a:off x="4757623"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757623"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11" name="Rectangle 110"/>
          <p:cNvSpPr/>
          <p:nvPr/>
        </p:nvSpPr>
        <p:spPr>
          <a:xfrm>
            <a:off x="5111496"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111496"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13" name="Rectangle 112"/>
          <p:cNvSpPr/>
          <p:nvPr/>
        </p:nvSpPr>
        <p:spPr>
          <a:xfrm>
            <a:off x="5465368"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465368"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15" name="Rectangle 114"/>
          <p:cNvSpPr/>
          <p:nvPr/>
        </p:nvSpPr>
        <p:spPr>
          <a:xfrm>
            <a:off x="5819241"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819241"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17" name="Rectangle 116"/>
          <p:cNvSpPr/>
          <p:nvPr/>
        </p:nvSpPr>
        <p:spPr>
          <a:xfrm>
            <a:off x="6173114"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173114"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19" name="Rectangle 118"/>
          <p:cNvSpPr/>
          <p:nvPr/>
        </p:nvSpPr>
        <p:spPr>
          <a:xfrm>
            <a:off x="6526987" y="2869387"/>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526987" y="2947111"/>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121" name="Rectangle 120"/>
          <p:cNvSpPr/>
          <p:nvPr/>
        </p:nvSpPr>
        <p:spPr>
          <a:xfrm>
            <a:off x="6880859"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880859"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23" name="Rectangle 122"/>
          <p:cNvSpPr/>
          <p:nvPr/>
        </p:nvSpPr>
        <p:spPr>
          <a:xfrm>
            <a:off x="7234732" y="2869387"/>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34732" y="2947111"/>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125" name="Rectangle 124"/>
          <p:cNvSpPr/>
          <p:nvPr/>
        </p:nvSpPr>
        <p:spPr>
          <a:xfrm>
            <a:off x="7588605"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588605"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27" name="Rectangle 126"/>
          <p:cNvSpPr/>
          <p:nvPr/>
        </p:nvSpPr>
        <p:spPr>
          <a:xfrm>
            <a:off x="7942478"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7942478"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29" name="Rectangle 128"/>
          <p:cNvSpPr/>
          <p:nvPr/>
        </p:nvSpPr>
        <p:spPr>
          <a:xfrm>
            <a:off x="8296351"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8296351"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31" name="Rectangle 130"/>
          <p:cNvSpPr/>
          <p:nvPr/>
        </p:nvSpPr>
        <p:spPr>
          <a:xfrm>
            <a:off x="8650224"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8650224"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33" name="Rectangle 132"/>
          <p:cNvSpPr/>
          <p:nvPr/>
        </p:nvSpPr>
        <p:spPr>
          <a:xfrm>
            <a:off x="9004096"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9004096"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35" name="Rectangle 134"/>
          <p:cNvSpPr/>
          <p:nvPr/>
        </p:nvSpPr>
        <p:spPr>
          <a:xfrm>
            <a:off x="9357969" y="286938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9357969" y="294711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37" name="Rectangle 136"/>
          <p:cNvSpPr/>
          <p:nvPr/>
        </p:nvSpPr>
        <p:spPr>
          <a:xfrm>
            <a:off x="9711842" y="2869387"/>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9711842" y="2947111"/>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139" name="TextBox 138"/>
          <p:cNvSpPr txBox="1"/>
          <p:nvPr/>
        </p:nvSpPr>
        <p:spPr>
          <a:xfrm>
            <a:off x="10524744" y="2947111"/>
            <a:ext cx="731520" cy="246888"/>
          </a:xfrm>
          <a:prstGeom prst="rect">
            <a:avLst/>
          </a:prstGeom>
          <a:noFill/>
        </p:spPr>
        <p:txBody>
          <a:bodyPr wrap="square" lIns="0" rIns="0" tIns="0" bIns="0" anchor="t">
            <a:spAutoFit/>
          </a:bodyPr>
          <a:lstStyle/>
          <a:p>
            <a:pPr algn="ctr"/>
            <a:r>
              <a:rPr sz="1400" b="1" lang="en-US">
                <a:solidFill>
                  <a:srgbClr val="207548"/>
                </a:solidFill>
                <a:latin typeface="Arial"/>
              </a:rPr>
              <a:t>3</a:t>
            </a:r>
          </a:p>
        </p:txBody>
      </p:sp>
      <p:sp>
        <p:nvSpPr>
          <p:cNvPr id="140" name="TextBox 139"/>
          <p:cNvSpPr txBox="1"/>
          <p:nvPr/>
        </p:nvSpPr>
        <p:spPr>
          <a:xfrm>
            <a:off x="667512" y="3343046"/>
            <a:ext cx="804672" cy="219456"/>
          </a:xfrm>
          <a:prstGeom prst="rect">
            <a:avLst/>
          </a:prstGeom>
          <a:noFill/>
        </p:spPr>
        <p:txBody>
          <a:bodyPr wrap="square" lIns="0" rIns="0" tIns="0" bIns="0" anchor="t">
            <a:spAutoFit/>
          </a:bodyPr>
          <a:lstStyle/>
          <a:p>
            <a:pPr algn="l"/>
            <a:r>
              <a:rPr sz="1220" b="1" lang="en-US">
                <a:solidFill>
                  <a:srgbClr val="207548"/>
                </a:solidFill>
                <a:latin typeface="Arial"/>
              </a:rPr>
              <a:t>VM-2</a:t>
            </a:r>
          </a:p>
        </p:txBody>
      </p:sp>
      <p:sp>
        <p:nvSpPr>
          <p:cNvPr id="141" name="Rectangle 140"/>
          <p:cNvSpPr/>
          <p:nvPr/>
        </p:nvSpPr>
        <p:spPr>
          <a:xfrm>
            <a:off x="1572768" y="324246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572768" y="332018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143" name="Rectangle 142"/>
          <p:cNvSpPr/>
          <p:nvPr/>
        </p:nvSpPr>
        <p:spPr>
          <a:xfrm>
            <a:off x="1926640" y="324246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926640" y="332018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145" name="Rectangle 144"/>
          <p:cNvSpPr/>
          <p:nvPr/>
        </p:nvSpPr>
        <p:spPr>
          <a:xfrm>
            <a:off x="2280513"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2280513"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47" name="Rectangle 146"/>
          <p:cNvSpPr/>
          <p:nvPr/>
        </p:nvSpPr>
        <p:spPr>
          <a:xfrm>
            <a:off x="2634386"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2634386"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49" name="Rectangle 148"/>
          <p:cNvSpPr/>
          <p:nvPr/>
        </p:nvSpPr>
        <p:spPr>
          <a:xfrm>
            <a:off x="2988259"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2988259"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51" name="Rectangle 150"/>
          <p:cNvSpPr/>
          <p:nvPr/>
        </p:nvSpPr>
        <p:spPr>
          <a:xfrm>
            <a:off x="3342132"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3342132"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53" name="Rectangle 152"/>
          <p:cNvSpPr/>
          <p:nvPr/>
        </p:nvSpPr>
        <p:spPr>
          <a:xfrm>
            <a:off x="3696004"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3696004"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55" name="Rectangle 154"/>
          <p:cNvSpPr/>
          <p:nvPr/>
        </p:nvSpPr>
        <p:spPr>
          <a:xfrm>
            <a:off x="4049877"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49877"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57" name="Rectangle 156"/>
          <p:cNvSpPr/>
          <p:nvPr/>
        </p:nvSpPr>
        <p:spPr>
          <a:xfrm>
            <a:off x="4403750"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4403750"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59" name="Rectangle 158"/>
          <p:cNvSpPr/>
          <p:nvPr/>
        </p:nvSpPr>
        <p:spPr>
          <a:xfrm>
            <a:off x="4757623"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4757623"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61" name="Rectangle 160"/>
          <p:cNvSpPr/>
          <p:nvPr/>
        </p:nvSpPr>
        <p:spPr>
          <a:xfrm>
            <a:off x="5111496"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111496"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63" name="Rectangle 162"/>
          <p:cNvSpPr/>
          <p:nvPr/>
        </p:nvSpPr>
        <p:spPr>
          <a:xfrm>
            <a:off x="5465368" y="324246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5465368" y="332018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165" name="Rectangle 164"/>
          <p:cNvSpPr/>
          <p:nvPr/>
        </p:nvSpPr>
        <p:spPr>
          <a:xfrm>
            <a:off x="5819241"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819241"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67" name="Rectangle 166"/>
          <p:cNvSpPr/>
          <p:nvPr/>
        </p:nvSpPr>
        <p:spPr>
          <a:xfrm>
            <a:off x="6173114"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6173114"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69" name="Rectangle 168"/>
          <p:cNvSpPr/>
          <p:nvPr/>
        </p:nvSpPr>
        <p:spPr>
          <a:xfrm>
            <a:off x="6526987"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6526987"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71" name="Rectangle 170"/>
          <p:cNvSpPr/>
          <p:nvPr/>
        </p:nvSpPr>
        <p:spPr>
          <a:xfrm>
            <a:off x="6880859"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880859"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73" name="Rectangle 172"/>
          <p:cNvSpPr/>
          <p:nvPr/>
        </p:nvSpPr>
        <p:spPr>
          <a:xfrm>
            <a:off x="7234732"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7234732"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75" name="Rectangle 174"/>
          <p:cNvSpPr/>
          <p:nvPr/>
        </p:nvSpPr>
        <p:spPr>
          <a:xfrm>
            <a:off x="7588605"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7588605"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77" name="Rectangle 176"/>
          <p:cNvSpPr/>
          <p:nvPr/>
        </p:nvSpPr>
        <p:spPr>
          <a:xfrm>
            <a:off x="7942478"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7942478"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79" name="Rectangle 178"/>
          <p:cNvSpPr/>
          <p:nvPr/>
        </p:nvSpPr>
        <p:spPr>
          <a:xfrm>
            <a:off x="8296351"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8296351"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81" name="Rectangle 180"/>
          <p:cNvSpPr/>
          <p:nvPr/>
        </p:nvSpPr>
        <p:spPr>
          <a:xfrm>
            <a:off x="8650224"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8650224"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83" name="Rectangle 182"/>
          <p:cNvSpPr/>
          <p:nvPr/>
        </p:nvSpPr>
        <p:spPr>
          <a:xfrm>
            <a:off x="9004096"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9004096"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85" name="Rectangle 184"/>
          <p:cNvSpPr/>
          <p:nvPr/>
        </p:nvSpPr>
        <p:spPr>
          <a:xfrm>
            <a:off x="9357969" y="324246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357969" y="332018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187" name="Rectangle 186"/>
          <p:cNvSpPr/>
          <p:nvPr/>
        </p:nvSpPr>
        <p:spPr>
          <a:xfrm>
            <a:off x="9711842" y="324246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9711842" y="332018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89" name="TextBox 188"/>
          <p:cNvSpPr txBox="1"/>
          <p:nvPr/>
        </p:nvSpPr>
        <p:spPr>
          <a:xfrm>
            <a:off x="10524744" y="3320186"/>
            <a:ext cx="731520" cy="246888"/>
          </a:xfrm>
          <a:prstGeom prst="rect">
            <a:avLst/>
          </a:prstGeom>
          <a:noFill/>
        </p:spPr>
        <p:txBody>
          <a:bodyPr wrap="square" lIns="0" rIns="0" tIns="0" bIns="0" anchor="t">
            <a:spAutoFit/>
          </a:bodyPr>
          <a:lstStyle/>
          <a:p>
            <a:pPr algn="ctr"/>
            <a:r>
              <a:rPr sz="1400" b="1" lang="en-US">
                <a:solidFill>
                  <a:srgbClr val="207548"/>
                </a:solidFill>
                <a:latin typeface="Arial"/>
              </a:rPr>
              <a:t>4</a:t>
            </a:r>
          </a:p>
        </p:txBody>
      </p:sp>
      <p:sp>
        <p:nvSpPr>
          <p:cNvPr id="190" name="TextBox 189"/>
          <p:cNvSpPr txBox="1"/>
          <p:nvPr/>
        </p:nvSpPr>
        <p:spPr>
          <a:xfrm>
            <a:off x="667512" y="3716121"/>
            <a:ext cx="804672" cy="219456"/>
          </a:xfrm>
          <a:prstGeom prst="rect">
            <a:avLst/>
          </a:prstGeom>
          <a:noFill/>
        </p:spPr>
        <p:txBody>
          <a:bodyPr wrap="square" lIns="0" rIns="0" tIns="0" bIns="0" anchor="t">
            <a:spAutoFit/>
          </a:bodyPr>
          <a:lstStyle/>
          <a:p>
            <a:pPr algn="l"/>
            <a:r>
              <a:rPr sz="1220" b="1" lang="en-US">
                <a:solidFill>
                  <a:srgbClr val="207548"/>
                </a:solidFill>
                <a:latin typeface="Arial"/>
              </a:rPr>
              <a:t>VM-3</a:t>
            </a:r>
          </a:p>
        </p:txBody>
      </p:sp>
      <p:sp>
        <p:nvSpPr>
          <p:cNvPr id="191" name="Rectangle 190"/>
          <p:cNvSpPr/>
          <p:nvPr/>
        </p:nvSpPr>
        <p:spPr>
          <a:xfrm>
            <a:off x="1572768"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1572768"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93" name="Rectangle 192"/>
          <p:cNvSpPr/>
          <p:nvPr/>
        </p:nvSpPr>
        <p:spPr>
          <a:xfrm>
            <a:off x="1926640"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1926640"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95" name="Rectangle 194"/>
          <p:cNvSpPr/>
          <p:nvPr/>
        </p:nvSpPr>
        <p:spPr>
          <a:xfrm>
            <a:off x="2280513"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2280513"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97" name="Rectangle 196"/>
          <p:cNvSpPr/>
          <p:nvPr/>
        </p:nvSpPr>
        <p:spPr>
          <a:xfrm>
            <a:off x="2634386"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2634386"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199" name="Rectangle 198"/>
          <p:cNvSpPr/>
          <p:nvPr/>
        </p:nvSpPr>
        <p:spPr>
          <a:xfrm>
            <a:off x="2988259" y="3615537"/>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2988259" y="3693261"/>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01" name="Rectangle 200"/>
          <p:cNvSpPr/>
          <p:nvPr/>
        </p:nvSpPr>
        <p:spPr>
          <a:xfrm>
            <a:off x="3342132"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3342132"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03" name="Rectangle 202"/>
          <p:cNvSpPr/>
          <p:nvPr/>
        </p:nvSpPr>
        <p:spPr>
          <a:xfrm>
            <a:off x="3696004" y="3615537"/>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3696004" y="3693261"/>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05" name="Rectangle 204"/>
          <p:cNvSpPr/>
          <p:nvPr/>
        </p:nvSpPr>
        <p:spPr>
          <a:xfrm>
            <a:off x="4049877"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4049877"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07" name="Rectangle 206"/>
          <p:cNvSpPr/>
          <p:nvPr/>
        </p:nvSpPr>
        <p:spPr>
          <a:xfrm>
            <a:off x="4403750"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4403750"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09" name="Rectangle 208"/>
          <p:cNvSpPr/>
          <p:nvPr/>
        </p:nvSpPr>
        <p:spPr>
          <a:xfrm>
            <a:off x="4757623" y="3615537"/>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4757623" y="3693261"/>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11" name="Rectangle 210"/>
          <p:cNvSpPr/>
          <p:nvPr/>
        </p:nvSpPr>
        <p:spPr>
          <a:xfrm>
            <a:off x="5111496"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5111496"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13" name="Rectangle 212"/>
          <p:cNvSpPr/>
          <p:nvPr/>
        </p:nvSpPr>
        <p:spPr>
          <a:xfrm>
            <a:off x="5465368"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5465368"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15" name="Rectangle 214"/>
          <p:cNvSpPr/>
          <p:nvPr/>
        </p:nvSpPr>
        <p:spPr>
          <a:xfrm>
            <a:off x="5819241"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5819241"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17" name="Rectangle 216"/>
          <p:cNvSpPr/>
          <p:nvPr/>
        </p:nvSpPr>
        <p:spPr>
          <a:xfrm>
            <a:off x="6173114"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6173114"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19" name="Rectangle 218"/>
          <p:cNvSpPr/>
          <p:nvPr/>
        </p:nvSpPr>
        <p:spPr>
          <a:xfrm>
            <a:off x="6526987"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6526987"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21" name="Rectangle 220"/>
          <p:cNvSpPr/>
          <p:nvPr/>
        </p:nvSpPr>
        <p:spPr>
          <a:xfrm>
            <a:off x="6880859" y="3615537"/>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6880859" y="3693261"/>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23" name="Rectangle 222"/>
          <p:cNvSpPr/>
          <p:nvPr/>
        </p:nvSpPr>
        <p:spPr>
          <a:xfrm>
            <a:off x="7234732"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7234732"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25" name="Rectangle 224"/>
          <p:cNvSpPr/>
          <p:nvPr/>
        </p:nvSpPr>
        <p:spPr>
          <a:xfrm>
            <a:off x="7588605"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7588605"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27" name="Rectangle 226"/>
          <p:cNvSpPr/>
          <p:nvPr/>
        </p:nvSpPr>
        <p:spPr>
          <a:xfrm>
            <a:off x="7942478"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7942478"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29" name="Rectangle 228"/>
          <p:cNvSpPr/>
          <p:nvPr/>
        </p:nvSpPr>
        <p:spPr>
          <a:xfrm>
            <a:off x="8296351"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8296351"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31" name="Rectangle 230"/>
          <p:cNvSpPr/>
          <p:nvPr/>
        </p:nvSpPr>
        <p:spPr>
          <a:xfrm>
            <a:off x="8650224"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8650224"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33" name="Rectangle 232"/>
          <p:cNvSpPr/>
          <p:nvPr/>
        </p:nvSpPr>
        <p:spPr>
          <a:xfrm>
            <a:off x="9004096"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9004096"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35" name="Rectangle 234"/>
          <p:cNvSpPr/>
          <p:nvPr/>
        </p:nvSpPr>
        <p:spPr>
          <a:xfrm>
            <a:off x="9357969"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9357969"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37" name="Rectangle 236"/>
          <p:cNvSpPr/>
          <p:nvPr/>
        </p:nvSpPr>
        <p:spPr>
          <a:xfrm>
            <a:off x="9711842" y="3615537"/>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9711842" y="3693261"/>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39" name="TextBox 238"/>
          <p:cNvSpPr txBox="1"/>
          <p:nvPr/>
        </p:nvSpPr>
        <p:spPr>
          <a:xfrm>
            <a:off x="10524744" y="3693261"/>
            <a:ext cx="731520" cy="246888"/>
          </a:xfrm>
          <a:prstGeom prst="rect">
            <a:avLst/>
          </a:prstGeom>
          <a:noFill/>
        </p:spPr>
        <p:txBody>
          <a:bodyPr wrap="square" lIns="0" rIns="0" tIns="0" bIns="0" anchor="t">
            <a:spAutoFit/>
          </a:bodyPr>
          <a:lstStyle/>
          <a:p>
            <a:pPr algn="ctr"/>
            <a:r>
              <a:rPr sz="1400" b="1" lang="en-US">
                <a:solidFill>
                  <a:srgbClr val="207548"/>
                </a:solidFill>
                <a:latin typeface="Arial"/>
              </a:rPr>
              <a:t>4</a:t>
            </a:r>
          </a:p>
        </p:txBody>
      </p:sp>
      <p:sp>
        <p:nvSpPr>
          <p:cNvPr id="240" name="TextBox 239"/>
          <p:cNvSpPr txBox="1"/>
          <p:nvPr/>
        </p:nvSpPr>
        <p:spPr>
          <a:xfrm>
            <a:off x="667512" y="4089196"/>
            <a:ext cx="804672" cy="219456"/>
          </a:xfrm>
          <a:prstGeom prst="rect">
            <a:avLst/>
          </a:prstGeom>
          <a:noFill/>
        </p:spPr>
        <p:txBody>
          <a:bodyPr wrap="square" lIns="0" rIns="0" tIns="0" bIns="0" anchor="t">
            <a:spAutoFit/>
          </a:bodyPr>
          <a:lstStyle/>
          <a:p>
            <a:pPr algn="l"/>
            <a:r>
              <a:rPr sz="1220" b="1" lang="en-US">
                <a:solidFill>
                  <a:srgbClr val="207548"/>
                </a:solidFill>
                <a:latin typeface="Arial"/>
              </a:rPr>
              <a:t>VM-4</a:t>
            </a:r>
          </a:p>
        </p:txBody>
      </p:sp>
      <p:sp>
        <p:nvSpPr>
          <p:cNvPr id="241" name="Rectangle 240"/>
          <p:cNvSpPr/>
          <p:nvPr/>
        </p:nvSpPr>
        <p:spPr>
          <a:xfrm>
            <a:off x="1572768"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1572768"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43" name="Rectangle 242"/>
          <p:cNvSpPr/>
          <p:nvPr/>
        </p:nvSpPr>
        <p:spPr>
          <a:xfrm>
            <a:off x="1926640"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1926640"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45" name="Rectangle 244"/>
          <p:cNvSpPr/>
          <p:nvPr/>
        </p:nvSpPr>
        <p:spPr>
          <a:xfrm>
            <a:off x="2280513" y="398861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2280513" y="406633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47" name="Rectangle 246"/>
          <p:cNvSpPr/>
          <p:nvPr/>
        </p:nvSpPr>
        <p:spPr>
          <a:xfrm>
            <a:off x="2634386" y="398861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2634386" y="406633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49" name="Rectangle 248"/>
          <p:cNvSpPr/>
          <p:nvPr/>
        </p:nvSpPr>
        <p:spPr>
          <a:xfrm>
            <a:off x="2988259"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2988259"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51" name="Rectangle 250"/>
          <p:cNvSpPr/>
          <p:nvPr/>
        </p:nvSpPr>
        <p:spPr>
          <a:xfrm>
            <a:off x="3342132" y="398861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3342132" y="406633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53" name="Rectangle 252"/>
          <p:cNvSpPr/>
          <p:nvPr/>
        </p:nvSpPr>
        <p:spPr>
          <a:xfrm>
            <a:off x="3696004"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3696004"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55" name="Rectangle 254"/>
          <p:cNvSpPr/>
          <p:nvPr/>
        </p:nvSpPr>
        <p:spPr>
          <a:xfrm>
            <a:off x="4049877" y="398861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4049877" y="406633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57" name="Rectangle 256"/>
          <p:cNvSpPr/>
          <p:nvPr/>
        </p:nvSpPr>
        <p:spPr>
          <a:xfrm>
            <a:off x="4403750" y="398861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4403750" y="406633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59" name="Rectangle 258"/>
          <p:cNvSpPr/>
          <p:nvPr/>
        </p:nvSpPr>
        <p:spPr>
          <a:xfrm>
            <a:off x="4757623"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4757623"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61" name="Rectangle 260"/>
          <p:cNvSpPr/>
          <p:nvPr/>
        </p:nvSpPr>
        <p:spPr>
          <a:xfrm>
            <a:off x="5111496" y="398861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5111496" y="406633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63" name="Rectangle 262"/>
          <p:cNvSpPr/>
          <p:nvPr/>
        </p:nvSpPr>
        <p:spPr>
          <a:xfrm>
            <a:off x="5465368"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5465368"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65" name="Rectangle 264"/>
          <p:cNvSpPr/>
          <p:nvPr/>
        </p:nvSpPr>
        <p:spPr>
          <a:xfrm>
            <a:off x="5819241" y="398861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5819241" y="406633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67" name="Rectangle 266"/>
          <p:cNvSpPr/>
          <p:nvPr/>
        </p:nvSpPr>
        <p:spPr>
          <a:xfrm>
            <a:off x="6173114" y="398861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6173114" y="406633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69" name="Rectangle 268"/>
          <p:cNvSpPr/>
          <p:nvPr/>
        </p:nvSpPr>
        <p:spPr>
          <a:xfrm>
            <a:off x="6526987"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6526987"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71" name="Rectangle 270"/>
          <p:cNvSpPr/>
          <p:nvPr/>
        </p:nvSpPr>
        <p:spPr>
          <a:xfrm>
            <a:off x="6880859"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6880859"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73" name="Rectangle 272"/>
          <p:cNvSpPr/>
          <p:nvPr/>
        </p:nvSpPr>
        <p:spPr>
          <a:xfrm>
            <a:off x="7234732"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7234732"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75" name="Rectangle 274"/>
          <p:cNvSpPr/>
          <p:nvPr/>
        </p:nvSpPr>
        <p:spPr>
          <a:xfrm>
            <a:off x="7588605"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7588605"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77" name="Rectangle 276"/>
          <p:cNvSpPr/>
          <p:nvPr/>
        </p:nvSpPr>
        <p:spPr>
          <a:xfrm>
            <a:off x="7942478" y="3988612"/>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7942478" y="4066336"/>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279" name="Rectangle 278"/>
          <p:cNvSpPr/>
          <p:nvPr/>
        </p:nvSpPr>
        <p:spPr>
          <a:xfrm>
            <a:off x="8296351"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8296351"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81" name="Rectangle 280"/>
          <p:cNvSpPr/>
          <p:nvPr/>
        </p:nvSpPr>
        <p:spPr>
          <a:xfrm>
            <a:off x="8650224"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8650224"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83" name="Rectangle 282"/>
          <p:cNvSpPr/>
          <p:nvPr/>
        </p:nvSpPr>
        <p:spPr>
          <a:xfrm>
            <a:off x="9004096"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9004096"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85" name="Rectangle 284"/>
          <p:cNvSpPr/>
          <p:nvPr/>
        </p:nvSpPr>
        <p:spPr>
          <a:xfrm>
            <a:off x="9357969"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9357969"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87" name="Rectangle 286"/>
          <p:cNvSpPr/>
          <p:nvPr/>
        </p:nvSpPr>
        <p:spPr>
          <a:xfrm>
            <a:off x="9711842" y="3988612"/>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9711842" y="4066336"/>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89" name="TextBox 288"/>
          <p:cNvSpPr txBox="1"/>
          <p:nvPr/>
        </p:nvSpPr>
        <p:spPr>
          <a:xfrm>
            <a:off x="10524744" y="4066336"/>
            <a:ext cx="731520" cy="246888"/>
          </a:xfrm>
          <a:prstGeom prst="rect">
            <a:avLst/>
          </a:prstGeom>
          <a:noFill/>
        </p:spPr>
        <p:txBody>
          <a:bodyPr wrap="square" lIns="0" rIns="0" tIns="0" bIns="0" anchor="t">
            <a:spAutoFit/>
          </a:bodyPr>
          <a:lstStyle/>
          <a:p>
            <a:pPr algn="ctr"/>
            <a:r>
              <a:rPr sz="1400" b="1" lang="en-US">
                <a:solidFill>
                  <a:srgbClr val="207548"/>
                </a:solidFill>
                <a:latin typeface="Arial"/>
              </a:rPr>
              <a:t>9</a:t>
            </a:r>
          </a:p>
        </p:txBody>
      </p:sp>
      <p:sp>
        <p:nvSpPr>
          <p:cNvPr id="290" name="TextBox 289"/>
          <p:cNvSpPr txBox="1"/>
          <p:nvPr/>
        </p:nvSpPr>
        <p:spPr>
          <a:xfrm>
            <a:off x="667512" y="4462272"/>
            <a:ext cx="804672" cy="219456"/>
          </a:xfrm>
          <a:prstGeom prst="rect">
            <a:avLst/>
          </a:prstGeom>
          <a:noFill/>
        </p:spPr>
        <p:txBody>
          <a:bodyPr wrap="square" lIns="0" rIns="0" tIns="0" bIns="0" anchor="t">
            <a:spAutoFit/>
          </a:bodyPr>
          <a:lstStyle/>
          <a:p>
            <a:pPr algn="l"/>
            <a:r>
              <a:rPr sz="1220" b="1" lang="en-US">
                <a:solidFill>
                  <a:srgbClr val="207548"/>
                </a:solidFill>
                <a:latin typeface="Arial"/>
              </a:rPr>
              <a:t>VM-5</a:t>
            </a:r>
          </a:p>
        </p:txBody>
      </p:sp>
      <p:sp>
        <p:nvSpPr>
          <p:cNvPr id="291" name="Rectangle 290"/>
          <p:cNvSpPr/>
          <p:nvPr/>
        </p:nvSpPr>
        <p:spPr>
          <a:xfrm>
            <a:off x="1572768"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572768"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93" name="Rectangle 292"/>
          <p:cNvSpPr/>
          <p:nvPr/>
        </p:nvSpPr>
        <p:spPr>
          <a:xfrm>
            <a:off x="1926640"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926640"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95" name="Rectangle 294"/>
          <p:cNvSpPr/>
          <p:nvPr/>
        </p:nvSpPr>
        <p:spPr>
          <a:xfrm>
            <a:off x="2280513"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2280513"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97" name="Rectangle 296"/>
          <p:cNvSpPr/>
          <p:nvPr/>
        </p:nvSpPr>
        <p:spPr>
          <a:xfrm>
            <a:off x="2634386"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2634386"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299" name="Rectangle 298"/>
          <p:cNvSpPr/>
          <p:nvPr/>
        </p:nvSpPr>
        <p:spPr>
          <a:xfrm>
            <a:off x="2988259"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2988259"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01" name="Rectangle 300"/>
          <p:cNvSpPr/>
          <p:nvPr/>
        </p:nvSpPr>
        <p:spPr>
          <a:xfrm>
            <a:off x="3342132"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3342132"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03" name="Rectangle 302"/>
          <p:cNvSpPr/>
          <p:nvPr/>
        </p:nvSpPr>
        <p:spPr>
          <a:xfrm>
            <a:off x="3696004"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TextBox 303"/>
          <p:cNvSpPr txBox="1"/>
          <p:nvPr/>
        </p:nvSpPr>
        <p:spPr>
          <a:xfrm>
            <a:off x="3696004"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05" name="Rectangle 304"/>
          <p:cNvSpPr/>
          <p:nvPr/>
        </p:nvSpPr>
        <p:spPr>
          <a:xfrm>
            <a:off x="4049877"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TextBox 305"/>
          <p:cNvSpPr txBox="1"/>
          <p:nvPr/>
        </p:nvSpPr>
        <p:spPr>
          <a:xfrm>
            <a:off x="4049877"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07" name="Rectangle 306"/>
          <p:cNvSpPr/>
          <p:nvPr/>
        </p:nvSpPr>
        <p:spPr>
          <a:xfrm>
            <a:off x="4403750"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4403750"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09" name="Rectangle 308"/>
          <p:cNvSpPr/>
          <p:nvPr/>
        </p:nvSpPr>
        <p:spPr>
          <a:xfrm>
            <a:off x="4757623"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TextBox 309"/>
          <p:cNvSpPr txBox="1"/>
          <p:nvPr/>
        </p:nvSpPr>
        <p:spPr>
          <a:xfrm>
            <a:off x="4757623"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11" name="Rectangle 310"/>
          <p:cNvSpPr/>
          <p:nvPr/>
        </p:nvSpPr>
        <p:spPr>
          <a:xfrm>
            <a:off x="5111496"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5111496"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13" name="Rectangle 312"/>
          <p:cNvSpPr/>
          <p:nvPr/>
        </p:nvSpPr>
        <p:spPr>
          <a:xfrm>
            <a:off x="5465368"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5465368"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15" name="Rectangle 314"/>
          <p:cNvSpPr/>
          <p:nvPr/>
        </p:nvSpPr>
        <p:spPr>
          <a:xfrm>
            <a:off x="5819241"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5819241"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17" name="Rectangle 316"/>
          <p:cNvSpPr/>
          <p:nvPr/>
        </p:nvSpPr>
        <p:spPr>
          <a:xfrm>
            <a:off x="6173114"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TextBox 317"/>
          <p:cNvSpPr txBox="1"/>
          <p:nvPr/>
        </p:nvSpPr>
        <p:spPr>
          <a:xfrm>
            <a:off x="6173114"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19" name="Rectangle 318"/>
          <p:cNvSpPr/>
          <p:nvPr/>
        </p:nvSpPr>
        <p:spPr>
          <a:xfrm>
            <a:off x="6526987"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TextBox 319"/>
          <p:cNvSpPr txBox="1"/>
          <p:nvPr/>
        </p:nvSpPr>
        <p:spPr>
          <a:xfrm>
            <a:off x="6526987"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21" name="Rectangle 320"/>
          <p:cNvSpPr/>
          <p:nvPr/>
        </p:nvSpPr>
        <p:spPr>
          <a:xfrm>
            <a:off x="6880859"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TextBox 321"/>
          <p:cNvSpPr txBox="1"/>
          <p:nvPr/>
        </p:nvSpPr>
        <p:spPr>
          <a:xfrm>
            <a:off x="6880859"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23" name="Rectangle 322"/>
          <p:cNvSpPr/>
          <p:nvPr/>
        </p:nvSpPr>
        <p:spPr>
          <a:xfrm>
            <a:off x="7234732"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7234732"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25" name="Rectangle 324"/>
          <p:cNvSpPr/>
          <p:nvPr/>
        </p:nvSpPr>
        <p:spPr>
          <a:xfrm>
            <a:off x="7588605" y="4361688"/>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TextBox 325"/>
          <p:cNvSpPr txBox="1"/>
          <p:nvPr/>
        </p:nvSpPr>
        <p:spPr>
          <a:xfrm>
            <a:off x="7588605" y="4439412"/>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327" name="Rectangle 326"/>
          <p:cNvSpPr/>
          <p:nvPr/>
        </p:nvSpPr>
        <p:spPr>
          <a:xfrm>
            <a:off x="7942478"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7942478"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29" name="Rectangle 328"/>
          <p:cNvSpPr/>
          <p:nvPr/>
        </p:nvSpPr>
        <p:spPr>
          <a:xfrm>
            <a:off x="8296351"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8296351"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31" name="Rectangle 330"/>
          <p:cNvSpPr/>
          <p:nvPr/>
        </p:nvSpPr>
        <p:spPr>
          <a:xfrm>
            <a:off x="8650224" y="4361688"/>
            <a:ext cx="321868" cy="329184"/>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TextBox 331"/>
          <p:cNvSpPr txBox="1"/>
          <p:nvPr/>
        </p:nvSpPr>
        <p:spPr>
          <a:xfrm>
            <a:off x="8650224" y="4439412"/>
            <a:ext cx="321868" cy="210312"/>
          </a:xfrm>
          <a:prstGeom prst="rect">
            <a:avLst/>
          </a:prstGeom>
          <a:noFill/>
        </p:spPr>
        <p:txBody>
          <a:bodyPr wrap="square" lIns="0" rIns="0" tIns="0" bIns="0" anchor="t">
            <a:spAutoFit/>
          </a:bodyPr>
          <a:lstStyle/>
          <a:p>
            <a:pPr algn="ctr"/>
            <a:r>
              <a:rPr sz="1120" b="1" lang="en-US">
                <a:solidFill>
                  <a:srgbClr val="FFFFFF"/>
                </a:solidFill>
                <a:latin typeface="Arial"/>
              </a:rPr>
              <a:t>A</a:t>
            </a:r>
          </a:p>
        </p:txBody>
      </p:sp>
      <p:sp>
        <p:nvSpPr>
          <p:cNvPr id="333" name="Rectangle 332"/>
          <p:cNvSpPr/>
          <p:nvPr/>
        </p:nvSpPr>
        <p:spPr>
          <a:xfrm>
            <a:off x="9004096"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9004096"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35" name="Rectangle 334"/>
          <p:cNvSpPr/>
          <p:nvPr/>
        </p:nvSpPr>
        <p:spPr>
          <a:xfrm>
            <a:off x="9357969"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9357969"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37" name="Rectangle 336"/>
          <p:cNvSpPr/>
          <p:nvPr/>
        </p:nvSpPr>
        <p:spPr>
          <a:xfrm>
            <a:off x="9711842" y="4361688"/>
            <a:ext cx="321868" cy="329184"/>
          </a:xfrm>
          <a:prstGeom prst="rect">
            <a:avLst/>
          </a:prstGeom>
          <a:solidFill>
            <a:srgbClr val="EDF6F0"/>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9711842" y="4439412"/>
            <a:ext cx="321868" cy="210312"/>
          </a:xfrm>
          <a:prstGeom prst="rect">
            <a:avLst/>
          </a:prstGeom>
          <a:noFill/>
        </p:spPr>
        <p:txBody>
          <a:bodyPr wrap="square" lIns="0" rIns="0" tIns="0" bIns="0" anchor="t">
            <a:spAutoFit/>
          </a:bodyPr>
          <a:lstStyle/>
          <a:p>
            <a:pPr algn="ctr"/>
            <a:r>
              <a:rPr sz="1120" b="0" lang="en-US">
                <a:solidFill>
                  <a:srgbClr val="207548"/>
                </a:solidFill>
                <a:latin typeface="Arial"/>
              </a:rPr>
              <a:t>T</a:t>
            </a:r>
          </a:p>
        </p:txBody>
      </p:sp>
      <p:sp>
        <p:nvSpPr>
          <p:cNvPr id="339" name="TextBox 338"/>
          <p:cNvSpPr txBox="1"/>
          <p:nvPr/>
        </p:nvSpPr>
        <p:spPr>
          <a:xfrm>
            <a:off x="10524744" y="4439412"/>
            <a:ext cx="731520" cy="246888"/>
          </a:xfrm>
          <a:prstGeom prst="rect">
            <a:avLst/>
          </a:prstGeom>
          <a:noFill/>
        </p:spPr>
        <p:txBody>
          <a:bodyPr wrap="square" lIns="0" rIns="0" tIns="0" bIns="0" anchor="t">
            <a:spAutoFit/>
          </a:bodyPr>
          <a:lstStyle/>
          <a:p>
            <a:pPr algn="ctr"/>
            <a:r>
              <a:rPr sz="1400" b="1" lang="en-US">
                <a:solidFill>
                  <a:srgbClr val="207548"/>
                </a:solidFill>
                <a:latin typeface="Arial"/>
              </a:rPr>
              <a:t>2</a:t>
            </a:r>
          </a:p>
        </p:txBody>
      </p:sp>
      <p:sp>
        <p:nvSpPr>
          <p:cNvPr id="340" name="Rectangle 339"/>
          <p:cNvSpPr/>
          <p:nvPr/>
        </p:nvSpPr>
        <p:spPr>
          <a:xfrm>
            <a:off x="667512" y="4892040"/>
            <a:ext cx="256032" cy="246888"/>
          </a:xfrm>
          <a:prstGeom prst="rect">
            <a:avLst/>
          </a:prstGeom>
          <a:solidFill>
            <a:srgbClr val="207548"/>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TextBox 340"/>
          <p:cNvSpPr txBox="1"/>
          <p:nvPr/>
        </p:nvSpPr>
        <p:spPr>
          <a:xfrm>
            <a:off x="667512" y="4946904"/>
            <a:ext cx="256032" cy="155448"/>
          </a:xfrm>
          <a:prstGeom prst="rect">
            <a:avLst/>
          </a:prstGeom>
          <a:noFill/>
        </p:spPr>
        <p:txBody>
          <a:bodyPr wrap="square" lIns="0" rIns="0" tIns="0" bIns="0" anchor="t">
            <a:spAutoFit/>
          </a:bodyPr>
          <a:lstStyle/>
          <a:p>
            <a:pPr algn="ctr"/>
            <a:r>
              <a:rPr sz="850" b="1" lang="en-US">
                <a:solidFill>
                  <a:srgbClr val="FFFFFF"/>
                </a:solidFill>
                <a:latin typeface="Arial"/>
              </a:rPr>
              <a:t>A</a:t>
            </a:r>
          </a:p>
        </p:txBody>
      </p:sp>
      <p:sp>
        <p:nvSpPr>
          <p:cNvPr id="342" name="TextBox 341"/>
          <p:cNvSpPr txBox="1"/>
          <p:nvPr/>
        </p:nvSpPr>
        <p:spPr>
          <a:xfrm>
            <a:off x="1005840" y="4928616"/>
            <a:ext cx="1600200" cy="228600"/>
          </a:xfrm>
          <a:prstGeom prst="rect">
            <a:avLst/>
          </a:prstGeom>
          <a:noFill/>
        </p:spPr>
        <p:txBody>
          <a:bodyPr wrap="square" lIns="0" rIns="0" tIns="0" bIns="0" anchor="t">
            <a:spAutoFit/>
          </a:bodyPr>
          <a:lstStyle/>
          <a:p>
            <a:pPr algn="l"/>
            <a:r>
              <a:rPr sz="1110" b="0" lang="en-US">
                <a:solidFill>
                  <a:srgbClr val="207548"/>
                </a:solidFill>
                <a:latin typeface="Arial"/>
              </a:rPr>
              <a:t>Aggregation</a:t>
            </a:r>
          </a:p>
        </p:txBody>
      </p:sp>
      <p:sp>
        <p:nvSpPr>
          <p:cNvPr id="343" name="Rectangle 342"/>
          <p:cNvSpPr/>
          <p:nvPr/>
        </p:nvSpPr>
        <p:spPr>
          <a:xfrm>
            <a:off x="2752344" y="4892040"/>
            <a:ext cx="256032" cy="246888"/>
          </a:xfrm>
          <a:prstGeom prst="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TextBox 343"/>
          <p:cNvSpPr txBox="1"/>
          <p:nvPr/>
        </p:nvSpPr>
        <p:spPr>
          <a:xfrm>
            <a:off x="2752344" y="4946904"/>
            <a:ext cx="256032" cy="155448"/>
          </a:xfrm>
          <a:prstGeom prst="rect">
            <a:avLst/>
          </a:prstGeom>
          <a:noFill/>
        </p:spPr>
        <p:txBody>
          <a:bodyPr wrap="square" lIns="0" rIns="0" tIns="0" bIns="0" anchor="t">
            <a:spAutoFit/>
          </a:bodyPr>
          <a:lstStyle/>
          <a:p>
            <a:pPr algn="ctr"/>
            <a:r>
              <a:rPr sz="850" b="0" lang="en-US">
                <a:solidFill>
                  <a:srgbClr val="207548"/>
                </a:solidFill>
                <a:latin typeface="Arial"/>
              </a:rPr>
              <a:t>T</a:t>
            </a:r>
          </a:p>
        </p:txBody>
      </p:sp>
      <p:sp>
        <p:nvSpPr>
          <p:cNvPr id="345" name="TextBox 344"/>
          <p:cNvSpPr txBox="1"/>
          <p:nvPr/>
        </p:nvSpPr>
        <p:spPr>
          <a:xfrm>
            <a:off x="3099816" y="4928616"/>
            <a:ext cx="2103120" cy="228600"/>
          </a:xfrm>
          <a:prstGeom prst="rect">
            <a:avLst/>
          </a:prstGeom>
          <a:noFill/>
        </p:spPr>
        <p:txBody>
          <a:bodyPr wrap="square" lIns="0" rIns="0" tIns="0" bIns="0" anchor="t">
            <a:spAutoFit/>
          </a:bodyPr>
          <a:lstStyle/>
          <a:p>
            <a:pPr algn="l"/>
            <a:r>
              <a:rPr sz="1110" b="0" lang="en-US">
                <a:solidFill>
                  <a:srgbClr val="207548"/>
                </a:solidFill>
                <a:latin typeface="Arial"/>
              </a:rPr>
              <a:t>Local training</a:t>
            </a:r>
          </a:p>
        </p:txBody>
      </p:sp>
      <p:sp>
        <p:nvSpPr>
          <p:cNvPr id="346" name="TextBox 345"/>
          <p:cNvSpPr txBox="1"/>
          <p:nvPr/>
        </p:nvSpPr>
        <p:spPr>
          <a:xfrm>
            <a:off x="5897880" y="4928616"/>
            <a:ext cx="5541264" cy="246888"/>
          </a:xfrm>
          <a:prstGeom prst="rect">
            <a:avLst/>
          </a:prstGeom>
          <a:noFill/>
        </p:spPr>
        <p:txBody>
          <a:bodyPr wrap="square" lIns="0" rIns="0" tIns="0" bIns="0" anchor="t">
            <a:spAutoFit/>
          </a:bodyPr>
          <a:lstStyle/>
          <a:p>
            <a:pPr algn="l"/>
            <a:r>
              <a:rPr sz="1260" b="1" lang="en-US">
                <a:solidFill>
                  <a:srgbClr val="207548"/>
                </a:solidFill>
                <a:latin typeface="Arial"/>
              </a:rPr>
              <a:t>24 rounds × 5 updates = 120 contributions</a:t>
            </a:r>
          </a:p>
        </p:txBody>
      </p:sp>
      <p:sp>
        <p:nvSpPr>
          <p:cNvPr id="347" name="Rectangle 346"/>
          <p:cNvSpPr/>
          <p:nvPr/>
        </p:nvSpPr>
        <p:spPr>
          <a:xfrm>
            <a:off x="603504" y="5294376"/>
            <a:ext cx="10917936" cy="9144"/>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TextBox 347"/>
          <p:cNvSpPr txBox="1"/>
          <p:nvPr/>
        </p:nvSpPr>
        <p:spPr>
          <a:xfrm>
            <a:off x="658368" y="5404104"/>
            <a:ext cx="10771632" cy="301752"/>
          </a:xfrm>
          <a:prstGeom prst="rect">
            <a:avLst/>
          </a:prstGeom>
          <a:noFill/>
        </p:spPr>
        <p:txBody>
          <a:bodyPr wrap="square" lIns="0" rIns="0" tIns="0" bIns="0" anchor="t">
            <a:spAutoFit/>
          </a:bodyPr>
          <a:lstStyle/>
          <a:p>
            <a:pPr algn="ctr"/>
            <a:r>
              <a:rPr sz="1340" b="1" lang="en-US">
                <a:solidFill>
                  <a:srgbClr val="263440"/>
                </a:solidFill>
                <a:latin typeface="Arial"/>
              </a:rPr>
              <a:t>Role rotation is visible. One run does not establish long-run fairness or recovery behavior.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01752"/>
            <a:ext cx="9829800" cy="521207"/>
          </a:xfrm>
          <a:prstGeom prst="rect">
            <a:avLst/>
          </a:prstGeom>
          <a:noFill/>
        </p:spPr>
        <p:txBody>
          <a:bodyPr wrap="square" lIns="0" rIns="0" tIns="0" bIns="0" anchor="t">
            <a:spAutoFit/>
          </a:bodyPr>
          <a:lstStyle/>
          <a:p>
            <a:pPr algn="l"/>
            <a:r>
              <a:rPr sz="2300" b="0" lang="en-US">
                <a:solidFill>
                  <a:srgbClr val="263440"/>
                </a:solidFill>
                <a:latin typeface="Arial"/>
              </a:rPr>
              <a:t>Hospitals want to keep control of patient data</a:t>
            </a:r>
          </a:p>
        </p:txBody>
      </p:sp>
      <p:sp>
        <p:nvSpPr>
          <p:cNvPr id="3" name="Rectangle 2"/>
          <p:cNvSpPr/>
          <p:nvPr/>
        </p:nvSpPr>
        <p:spPr>
          <a:xfrm>
            <a:off x="594360" y="932688"/>
            <a:ext cx="987552" cy="265176"/>
          </a:xfrm>
          <a:prstGeom prst="rect">
            <a:avLst/>
          </a:prstGeom>
          <a:solidFill>
            <a:srgbClr val="207548"/>
          </a:solidFill>
          <a:ln w="762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7512" y="990295"/>
            <a:ext cx="841248" cy="173736"/>
          </a:xfrm>
          <a:prstGeom prst="rect">
            <a:avLst/>
          </a:prstGeom>
          <a:noFill/>
        </p:spPr>
        <p:txBody>
          <a:bodyPr wrap="square" lIns="0" rIns="0" tIns="0" bIns="0" anchor="t">
            <a:spAutoFit/>
          </a:bodyPr>
          <a:lstStyle/>
          <a:p>
            <a:pPr algn="l"/>
            <a:r>
              <a:rPr sz="950" b="1" lang="en-US">
                <a:solidFill>
                  <a:srgbClr val="FFFFFF"/>
                </a:solidFill>
                <a:latin typeface="Arial"/>
              </a:rPr>
              <a:t>DFL</a:t>
            </a:r>
          </a:p>
        </p:txBody>
      </p:sp>
      <p:sp>
        <p:nvSpPr>
          <p:cNvPr id="5" name="Rectangle 4"/>
          <p:cNvSpPr/>
          <p:nvPr/>
        </p:nvSpPr>
        <p:spPr>
          <a:xfrm>
            <a:off x="1691640" y="932688"/>
            <a:ext cx="3675887" cy="265176"/>
          </a:xfrm>
          <a:prstGeom prst="rect">
            <a:avLst/>
          </a:prstGeom>
          <a:solidFill>
            <a:srgbClr val="F5F6F7"/>
          </a:solidFill>
          <a:ln w="762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64792" y="990295"/>
            <a:ext cx="3529583" cy="173736"/>
          </a:xfrm>
          <a:prstGeom prst="rect">
            <a:avLst/>
          </a:prstGeom>
          <a:noFill/>
        </p:spPr>
        <p:txBody>
          <a:bodyPr wrap="square" lIns="0" rIns="0" tIns="0" bIns="0" anchor="t">
            <a:spAutoFit/>
          </a:bodyPr>
          <a:lstStyle/>
          <a:p>
            <a:pPr algn="l"/>
            <a:r>
              <a:rPr sz="950" b="1" lang="en-US">
                <a:solidFill>
                  <a:srgbClr val="5D6973"/>
                </a:solidFill>
                <a:latin typeface="Arial"/>
              </a:rPr>
              <a:t>Agent / MCP / Inference / Log</a:t>
            </a:r>
          </a:p>
        </p:txBody>
      </p:sp>
      <p:sp>
        <p:nvSpPr>
          <p:cNvPr id="7" name="Rectangle 6"/>
          <p:cNvSpPr/>
          <p:nvPr/>
        </p:nvSpPr>
        <p:spPr>
          <a:xfrm>
            <a:off x="5477256" y="932688"/>
            <a:ext cx="2395728" cy="265176"/>
          </a:xfrm>
          <a:prstGeom prst="rect">
            <a:avLst/>
          </a:prstGeom>
          <a:solidFill>
            <a:srgbClr val="F5F6F7"/>
          </a:solidFill>
          <a:ln w="7620">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50408" y="990295"/>
            <a:ext cx="2249424" cy="173736"/>
          </a:xfrm>
          <a:prstGeom prst="rect">
            <a:avLst/>
          </a:prstGeom>
          <a:noFill/>
        </p:spPr>
        <p:txBody>
          <a:bodyPr wrap="square" lIns="0" rIns="0" tIns="0" bIns="0" anchor="t">
            <a:spAutoFit/>
          </a:bodyPr>
          <a:lstStyle/>
          <a:p>
            <a:pPr algn="l"/>
            <a:r>
              <a:rPr sz="950" b="1" lang="en-US">
                <a:solidFill>
                  <a:srgbClr val="5D6973"/>
                </a:solidFill>
                <a:latin typeface="Arial"/>
              </a:rPr>
              <a:t>Blockchain / IPFS</a:t>
            </a:r>
          </a:p>
        </p:txBody>
      </p:sp>
      <p:sp>
        <p:nvSpPr>
          <p:cNvPr id="9" name="Rectangle 8"/>
          <p:cNvSpPr/>
          <p:nvPr/>
        </p:nvSpPr>
        <p:spPr>
          <a:xfrm>
            <a:off x="566928" y="1307592"/>
            <a:ext cx="10927080" cy="10972"/>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300216"/>
            <a:ext cx="1188720" cy="201168"/>
          </a:xfrm>
          <a:prstGeom prst="rect">
            <a:avLst/>
          </a:prstGeom>
          <a:noFill/>
        </p:spPr>
        <p:txBody>
          <a:bodyPr wrap="square" lIns="0" rIns="0" tIns="0" bIns="0" anchor="t">
            <a:spAutoFit/>
          </a:bodyPr>
          <a:lstStyle/>
          <a:p>
            <a:pPr algn="l"/>
            <a:r>
              <a:rPr sz="900" b="0" lang="en-US">
                <a:solidFill>
                  <a:srgbClr val="FFFFFF"/>
                </a:solidFill>
                <a:latin typeface="Arial"/>
              </a:rPr>
              <a:t>Concept 08</a:t>
            </a:r>
          </a:p>
        </p:txBody>
      </p:sp>
      <p:sp>
        <p:nvSpPr>
          <p:cNvPr id="11" name="TextBox 10"/>
          <p:cNvSpPr txBox="1"/>
          <p:nvPr/>
        </p:nvSpPr>
        <p:spPr>
          <a:xfrm>
            <a:off x="1828800" y="6300216"/>
            <a:ext cx="8046720" cy="201168"/>
          </a:xfrm>
          <a:prstGeom prst="rect">
            <a:avLst/>
          </a:prstGeom>
          <a:noFill/>
        </p:spPr>
        <p:txBody>
          <a:bodyPr wrap="square" lIns="0" rIns="0" tIns="0" bIns="0" anchor="t">
            <a:spAutoFit/>
          </a:bodyPr>
          <a:lstStyle/>
          <a:p>
            <a:pPr algn="l"/>
            <a:r>
              <a:rPr sz="900" b="0" lang="en-US">
                <a:solidFill>
                  <a:srgbClr val="FFFFFF"/>
                </a:solidFill>
                <a:latin typeface="Arial"/>
              </a:rPr>
              <a:t>VITA-FL  |  Design proposals  |  Ramon Mehrpoya</a:t>
            </a:r>
          </a:p>
        </p:txBody>
      </p:sp>
      <p:sp>
        <p:nvSpPr>
          <p:cNvPr id="12" name="TextBox 11"/>
          <p:cNvSpPr txBox="1"/>
          <p:nvPr/>
        </p:nvSpPr>
        <p:spPr>
          <a:xfrm>
            <a:off x="9985248" y="6300216"/>
            <a:ext cx="1655064" cy="201168"/>
          </a:xfrm>
          <a:prstGeom prst="rect">
            <a:avLst/>
          </a:prstGeom>
          <a:noFill/>
        </p:spPr>
        <p:txBody>
          <a:bodyPr wrap="square" lIns="0" rIns="0" tIns="0" bIns="0" anchor="t">
            <a:spAutoFit/>
          </a:bodyPr>
          <a:lstStyle/>
          <a:p>
            <a:pPr algn="l"/>
            <a:r>
              <a:rPr sz="830" b="0" lang="en-US">
                <a:solidFill>
                  <a:srgbClr val="FFFFFF"/>
                </a:solidFill>
                <a:latin typeface="Arial"/>
              </a:rPr>
              <a:t>06 September 2026</a:t>
            </a:r>
          </a:p>
        </p:txBody>
      </p:sp>
      <p:sp>
        <p:nvSpPr>
          <p:cNvPr id="13" name="TextBox 12"/>
          <p:cNvSpPr txBox="1"/>
          <p:nvPr/>
        </p:nvSpPr>
        <p:spPr>
          <a:xfrm>
            <a:off x="658368" y="1609344"/>
            <a:ext cx="10881360" cy="347472"/>
          </a:xfrm>
          <a:prstGeom prst="rect">
            <a:avLst/>
          </a:prstGeom>
          <a:noFill/>
        </p:spPr>
        <p:txBody>
          <a:bodyPr wrap="square" lIns="0" rIns="0" tIns="0" bIns="0" anchor="t">
            <a:spAutoFit/>
          </a:bodyPr>
          <a:lstStyle/>
          <a:p>
            <a:pPr algn="l"/>
            <a:r>
              <a:rPr sz="1570" b="1" lang="en-US">
                <a:solidFill>
                  <a:srgbClr val="207548"/>
                </a:solidFill>
                <a:latin typeface="Arial"/>
              </a:rPr>
              <a:t>Patient confidentiality · control over access · no central pool of raw records</a:t>
            </a:r>
          </a:p>
        </p:txBody>
      </p:sp>
      <p:sp>
        <p:nvSpPr>
          <p:cNvPr id="14" name="Rectangle 13"/>
          <p:cNvSpPr/>
          <p:nvPr/>
        </p:nvSpPr>
        <p:spPr>
          <a:xfrm>
            <a:off x="640080" y="2139696"/>
            <a:ext cx="3429000" cy="2048256"/>
          </a:xfrm>
          <a:prstGeom prst="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4964" y="2605857"/>
            <a:ext cx="466344" cy="214518"/>
          </a:xfrm>
          <a:prstGeom prst="rect">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57559" y="2363358"/>
            <a:ext cx="261152" cy="457017"/>
          </a:xfrm>
          <a:prstGeom prst="rect">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94867" y="2409992"/>
            <a:ext cx="186537" cy="139903"/>
          </a:xfrm>
          <a:prstGeom prst="round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3520" y="2414656"/>
            <a:ext cx="149230" cy="111922"/>
          </a:xfrm>
          <a:prstGeom prst="rect">
            <a:avLst/>
          </a:prstGeom>
          <a:noFill/>
        </p:spPr>
        <p:txBody>
          <a:bodyPr wrap="square" lIns="0" rIns="0" tIns="0" bIns="0" anchor="ctr">
            <a:spAutoFit/>
          </a:bodyPr>
          <a:lstStyle/>
          <a:p>
            <a:pPr algn="ctr"/>
            <a:r>
              <a:rPr sz="867" b="1" lang="en-US">
                <a:solidFill>
                  <a:srgbClr val="FFFFFF"/>
                </a:solidFill>
                <a:latin typeface="Arial"/>
              </a:rPr>
              <a:t>H</a:t>
            </a:r>
          </a:p>
        </p:txBody>
      </p:sp>
      <p:sp>
        <p:nvSpPr>
          <p:cNvPr id="19" name="Rectangle 18"/>
          <p:cNvSpPr/>
          <p:nvPr/>
        </p:nvSpPr>
        <p:spPr>
          <a:xfrm>
            <a:off x="1036838" y="2671145"/>
            <a:ext cx="102595" cy="149230"/>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7608" y="2671145"/>
            <a:ext cx="65288" cy="65288"/>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23375" y="2671145"/>
            <a:ext cx="65288" cy="65288"/>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17904" y="2450592"/>
            <a:ext cx="2340864" cy="347472"/>
          </a:xfrm>
          <a:prstGeom prst="rect">
            <a:avLst/>
          </a:prstGeom>
          <a:noFill/>
        </p:spPr>
        <p:txBody>
          <a:bodyPr wrap="square" lIns="0" rIns="0" tIns="0" bIns="0" anchor="t">
            <a:spAutoFit/>
          </a:bodyPr>
          <a:lstStyle/>
          <a:p>
            <a:pPr algn="l"/>
            <a:r>
              <a:rPr sz="1800" b="1" lang="en-US">
                <a:solidFill>
                  <a:srgbClr val="207548"/>
                </a:solidFill>
                <a:latin typeface="Arial"/>
              </a:rPr>
              <a:t>Hospital A</a:t>
            </a:r>
          </a:p>
        </p:txBody>
      </p:sp>
      <p:sp>
        <p:nvSpPr>
          <p:cNvPr id="23" name="Rectangle 22"/>
          <p:cNvSpPr/>
          <p:nvPr/>
        </p:nvSpPr>
        <p:spPr>
          <a:xfrm>
            <a:off x="822959" y="3008376"/>
            <a:ext cx="3063240" cy="539496"/>
          </a:xfrm>
          <a:prstGeom prst="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96695" y="3090672"/>
            <a:ext cx="219456" cy="246888"/>
          </a:xfrm>
          <a:prstGeom prst="ellipse">
            <a:avLst/>
          </a:prstGeom>
          <a:solidFill>
            <a:srgbClr val="FFFFFF"/>
          </a:solidFill>
          <a:ln w="1651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41832" y="3218688"/>
            <a:ext cx="329184" cy="210312"/>
          </a:xfrm>
          <a:prstGeom prst="rect">
            <a:avLst/>
          </a:prstGeom>
          <a:solidFill>
            <a:srgbClr val="207548"/>
          </a:solidFill>
          <a:ln w="762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78992" y="3273552"/>
            <a:ext cx="54864" cy="54864"/>
          </a:xfrm>
          <a:prstGeom prst="ellipse">
            <a:avLst/>
          </a:prstGeom>
          <a:solidFill>
            <a:srgbClr val="FFFFFF"/>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08176" y="3145536"/>
            <a:ext cx="2176272" cy="246888"/>
          </a:xfrm>
          <a:prstGeom prst="rect">
            <a:avLst/>
          </a:prstGeom>
          <a:noFill/>
        </p:spPr>
        <p:txBody>
          <a:bodyPr wrap="square" lIns="0" rIns="0" tIns="0" bIns="0" anchor="t">
            <a:spAutoFit/>
          </a:bodyPr>
          <a:lstStyle/>
          <a:p>
            <a:pPr algn="l"/>
            <a:r>
              <a:rPr sz="1220" b="1" lang="en-US">
                <a:solidFill>
                  <a:srgbClr val="263440"/>
                </a:solidFill>
                <a:latin typeface="Arial"/>
              </a:rPr>
              <a:t>Local patient records</a:t>
            </a:r>
          </a:p>
        </p:txBody>
      </p:sp>
      <p:sp>
        <p:nvSpPr>
          <p:cNvPr id="28" name="TextBox 27"/>
          <p:cNvSpPr txBox="1"/>
          <p:nvPr/>
        </p:nvSpPr>
        <p:spPr>
          <a:xfrm>
            <a:off x="822959" y="3749039"/>
            <a:ext cx="3063240" cy="256032"/>
          </a:xfrm>
          <a:prstGeom prst="rect">
            <a:avLst/>
          </a:prstGeom>
          <a:noFill/>
        </p:spPr>
        <p:txBody>
          <a:bodyPr wrap="square" lIns="0" rIns="0" tIns="0" bIns="0" anchor="t">
            <a:spAutoFit/>
          </a:bodyPr>
          <a:lstStyle/>
          <a:p>
            <a:pPr algn="ctr"/>
            <a:r>
              <a:rPr sz="1230" b="1" lang="en-US">
                <a:solidFill>
                  <a:srgbClr val="207548"/>
                </a:solidFill>
                <a:latin typeface="Arial"/>
              </a:rPr>
              <a:t>Train locally → model update</a:t>
            </a:r>
          </a:p>
        </p:txBody>
      </p:sp>
      <p:sp>
        <p:nvSpPr>
          <p:cNvPr id="29" name="Rectangle 28"/>
          <p:cNvSpPr/>
          <p:nvPr/>
        </p:nvSpPr>
        <p:spPr>
          <a:xfrm>
            <a:off x="4370832" y="2139696"/>
            <a:ext cx="3429000" cy="2048256"/>
          </a:xfrm>
          <a:prstGeom prst="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85716" y="2605857"/>
            <a:ext cx="466344" cy="214518"/>
          </a:xfrm>
          <a:prstGeom prst="rect">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88311" y="2363358"/>
            <a:ext cx="261152" cy="457017"/>
          </a:xfrm>
          <a:prstGeom prst="rect">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725619" y="2409992"/>
            <a:ext cx="186537" cy="139903"/>
          </a:xfrm>
          <a:prstGeom prst="round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44272" y="2414656"/>
            <a:ext cx="149230" cy="111922"/>
          </a:xfrm>
          <a:prstGeom prst="rect">
            <a:avLst/>
          </a:prstGeom>
          <a:noFill/>
        </p:spPr>
        <p:txBody>
          <a:bodyPr wrap="square" lIns="0" rIns="0" tIns="0" bIns="0" anchor="ctr">
            <a:spAutoFit/>
          </a:bodyPr>
          <a:lstStyle/>
          <a:p>
            <a:pPr algn="ctr"/>
            <a:r>
              <a:rPr sz="867" b="1" lang="en-US">
                <a:solidFill>
                  <a:srgbClr val="FFFFFF"/>
                </a:solidFill>
                <a:latin typeface="Arial"/>
              </a:rPr>
              <a:t>H</a:t>
            </a:r>
          </a:p>
        </p:txBody>
      </p:sp>
      <p:sp>
        <p:nvSpPr>
          <p:cNvPr id="34" name="Rectangle 33"/>
          <p:cNvSpPr/>
          <p:nvPr/>
        </p:nvSpPr>
        <p:spPr>
          <a:xfrm>
            <a:off x="4767590" y="2671145"/>
            <a:ext cx="102595" cy="149230"/>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8360" y="2671145"/>
            <a:ext cx="65288" cy="65288"/>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954127" y="2671145"/>
            <a:ext cx="65288" cy="65288"/>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48656" y="2450592"/>
            <a:ext cx="2340864" cy="347472"/>
          </a:xfrm>
          <a:prstGeom prst="rect">
            <a:avLst/>
          </a:prstGeom>
          <a:noFill/>
        </p:spPr>
        <p:txBody>
          <a:bodyPr wrap="square" lIns="0" rIns="0" tIns="0" bIns="0" anchor="t">
            <a:spAutoFit/>
          </a:bodyPr>
          <a:lstStyle/>
          <a:p>
            <a:pPr algn="l"/>
            <a:r>
              <a:rPr sz="1800" b="1" lang="en-US">
                <a:solidFill>
                  <a:srgbClr val="207548"/>
                </a:solidFill>
                <a:latin typeface="Arial"/>
              </a:rPr>
              <a:t>Hospital B</a:t>
            </a:r>
          </a:p>
        </p:txBody>
      </p:sp>
      <p:sp>
        <p:nvSpPr>
          <p:cNvPr id="38" name="Rectangle 37"/>
          <p:cNvSpPr/>
          <p:nvPr/>
        </p:nvSpPr>
        <p:spPr>
          <a:xfrm>
            <a:off x="4553712" y="3008376"/>
            <a:ext cx="3063240" cy="539496"/>
          </a:xfrm>
          <a:prstGeom prst="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727448" y="3090672"/>
            <a:ext cx="219456" cy="246888"/>
          </a:xfrm>
          <a:prstGeom prst="ellipse">
            <a:avLst/>
          </a:prstGeom>
          <a:solidFill>
            <a:srgbClr val="FFFFFF"/>
          </a:solidFill>
          <a:ln w="1651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72584" y="3218688"/>
            <a:ext cx="329184" cy="210312"/>
          </a:xfrm>
          <a:prstGeom prst="rect">
            <a:avLst/>
          </a:prstGeom>
          <a:solidFill>
            <a:srgbClr val="207548"/>
          </a:solidFill>
          <a:ln w="762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809744" y="3273552"/>
            <a:ext cx="54864" cy="54864"/>
          </a:xfrm>
          <a:prstGeom prst="ellipse">
            <a:avLst/>
          </a:prstGeom>
          <a:solidFill>
            <a:srgbClr val="FFFFFF"/>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38928" y="3145536"/>
            <a:ext cx="2176272" cy="246888"/>
          </a:xfrm>
          <a:prstGeom prst="rect">
            <a:avLst/>
          </a:prstGeom>
          <a:noFill/>
        </p:spPr>
        <p:txBody>
          <a:bodyPr wrap="square" lIns="0" rIns="0" tIns="0" bIns="0" anchor="t">
            <a:spAutoFit/>
          </a:bodyPr>
          <a:lstStyle/>
          <a:p>
            <a:pPr algn="l"/>
            <a:r>
              <a:rPr sz="1220" b="1" lang="en-US">
                <a:solidFill>
                  <a:srgbClr val="263440"/>
                </a:solidFill>
                <a:latin typeface="Arial"/>
              </a:rPr>
              <a:t>Local patient records</a:t>
            </a:r>
          </a:p>
        </p:txBody>
      </p:sp>
      <p:sp>
        <p:nvSpPr>
          <p:cNvPr id="43" name="TextBox 42"/>
          <p:cNvSpPr txBox="1"/>
          <p:nvPr/>
        </p:nvSpPr>
        <p:spPr>
          <a:xfrm>
            <a:off x="4553712" y="3749039"/>
            <a:ext cx="3063240" cy="256032"/>
          </a:xfrm>
          <a:prstGeom prst="rect">
            <a:avLst/>
          </a:prstGeom>
          <a:noFill/>
        </p:spPr>
        <p:txBody>
          <a:bodyPr wrap="square" lIns="0" rIns="0" tIns="0" bIns="0" anchor="t">
            <a:spAutoFit/>
          </a:bodyPr>
          <a:lstStyle/>
          <a:p>
            <a:pPr algn="ctr"/>
            <a:r>
              <a:rPr sz="1230" b="1" lang="en-US">
                <a:solidFill>
                  <a:srgbClr val="207548"/>
                </a:solidFill>
                <a:latin typeface="Arial"/>
              </a:rPr>
              <a:t>Train locally → model update</a:t>
            </a:r>
          </a:p>
        </p:txBody>
      </p:sp>
      <p:sp>
        <p:nvSpPr>
          <p:cNvPr id="44" name="Rectangle 43"/>
          <p:cNvSpPr/>
          <p:nvPr/>
        </p:nvSpPr>
        <p:spPr>
          <a:xfrm>
            <a:off x="8101583" y="2139696"/>
            <a:ext cx="3429000" cy="2048256"/>
          </a:xfrm>
          <a:prstGeom prst="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316467" y="2605857"/>
            <a:ext cx="466344" cy="214518"/>
          </a:xfrm>
          <a:prstGeom prst="rect">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419063" y="2363358"/>
            <a:ext cx="261152" cy="457017"/>
          </a:xfrm>
          <a:prstGeom prst="rect">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456371" y="2409992"/>
            <a:ext cx="186537" cy="139903"/>
          </a:xfrm>
          <a:prstGeom prst="round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75024" y="2414656"/>
            <a:ext cx="149230" cy="111922"/>
          </a:xfrm>
          <a:prstGeom prst="rect">
            <a:avLst/>
          </a:prstGeom>
          <a:noFill/>
        </p:spPr>
        <p:txBody>
          <a:bodyPr wrap="square" lIns="0" rIns="0" tIns="0" bIns="0" anchor="ctr">
            <a:spAutoFit/>
          </a:bodyPr>
          <a:lstStyle/>
          <a:p>
            <a:pPr algn="ctr"/>
            <a:r>
              <a:rPr sz="867" b="1" lang="en-US">
                <a:solidFill>
                  <a:srgbClr val="FFFFFF"/>
                </a:solidFill>
                <a:latin typeface="Arial"/>
              </a:rPr>
              <a:t>H</a:t>
            </a:r>
          </a:p>
        </p:txBody>
      </p:sp>
      <p:sp>
        <p:nvSpPr>
          <p:cNvPr id="49" name="Rectangle 48"/>
          <p:cNvSpPr/>
          <p:nvPr/>
        </p:nvSpPr>
        <p:spPr>
          <a:xfrm>
            <a:off x="8498342" y="2671145"/>
            <a:ext cx="102595" cy="149230"/>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349112" y="2671145"/>
            <a:ext cx="65288" cy="65288"/>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684879" y="2671145"/>
            <a:ext cx="65288" cy="65288"/>
          </a:xfrm>
          <a:prstGeom prst="rect">
            <a:avLst/>
          </a:prstGeom>
          <a:solidFill>
            <a:srgbClr val="207548"/>
          </a:solidFill>
          <a:ln w="63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79408" y="2450592"/>
            <a:ext cx="2340864" cy="347472"/>
          </a:xfrm>
          <a:prstGeom prst="rect">
            <a:avLst/>
          </a:prstGeom>
          <a:noFill/>
        </p:spPr>
        <p:txBody>
          <a:bodyPr wrap="square" lIns="0" rIns="0" tIns="0" bIns="0" anchor="t">
            <a:spAutoFit/>
          </a:bodyPr>
          <a:lstStyle/>
          <a:p>
            <a:pPr algn="l"/>
            <a:r>
              <a:rPr sz="1800" b="1" lang="en-US">
                <a:solidFill>
                  <a:srgbClr val="207548"/>
                </a:solidFill>
                <a:latin typeface="Arial"/>
              </a:rPr>
              <a:t>Hospital C</a:t>
            </a:r>
          </a:p>
        </p:txBody>
      </p:sp>
      <p:sp>
        <p:nvSpPr>
          <p:cNvPr id="53" name="Rectangle 52"/>
          <p:cNvSpPr/>
          <p:nvPr/>
        </p:nvSpPr>
        <p:spPr>
          <a:xfrm>
            <a:off x="8284463" y="3008376"/>
            <a:ext cx="3063240" cy="539496"/>
          </a:xfrm>
          <a:prstGeom prst="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458200" y="3090672"/>
            <a:ext cx="219456" cy="246888"/>
          </a:xfrm>
          <a:prstGeom prst="ellipse">
            <a:avLst/>
          </a:prstGeom>
          <a:solidFill>
            <a:srgbClr val="FFFFFF"/>
          </a:solidFill>
          <a:ln w="1651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403336" y="3218688"/>
            <a:ext cx="329184" cy="210312"/>
          </a:xfrm>
          <a:prstGeom prst="rect">
            <a:avLst/>
          </a:prstGeom>
          <a:solidFill>
            <a:srgbClr val="207548"/>
          </a:solidFill>
          <a:ln w="762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540496" y="3273552"/>
            <a:ext cx="54864" cy="54864"/>
          </a:xfrm>
          <a:prstGeom prst="ellipse">
            <a:avLst/>
          </a:prstGeom>
          <a:solidFill>
            <a:srgbClr val="FFFFFF"/>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869680" y="3145536"/>
            <a:ext cx="2176272" cy="246888"/>
          </a:xfrm>
          <a:prstGeom prst="rect">
            <a:avLst/>
          </a:prstGeom>
          <a:noFill/>
        </p:spPr>
        <p:txBody>
          <a:bodyPr wrap="square" lIns="0" rIns="0" tIns="0" bIns="0" anchor="t">
            <a:spAutoFit/>
          </a:bodyPr>
          <a:lstStyle/>
          <a:p>
            <a:pPr algn="l"/>
            <a:r>
              <a:rPr sz="1220" b="1" lang="en-US">
                <a:solidFill>
                  <a:srgbClr val="263440"/>
                </a:solidFill>
                <a:latin typeface="Arial"/>
              </a:rPr>
              <a:t>Local patient records</a:t>
            </a:r>
          </a:p>
        </p:txBody>
      </p:sp>
      <p:sp>
        <p:nvSpPr>
          <p:cNvPr id="58" name="TextBox 57"/>
          <p:cNvSpPr txBox="1"/>
          <p:nvPr/>
        </p:nvSpPr>
        <p:spPr>
          <a:xfrm>
            <a:off x="8284463" y="3749039"/>
            <a:ext cx="3063240" cy="256032"/>
          </a:xfrm>
          <a:prstGeom prst="rect">
            <a:avLst/>
          </a:prstGeom>
          <a:noFill/>
        </p:spPr>
        <p:txBody>
          <a:bodyPr wrap="square" lIns="0" rIns="0" tIns="0" bIns="0" anchor="t">
            <a:spAutoFit/>
          </a:bodyPr>
          <a:lstStyle/>
          <a:p>
            <a:pPr algn="ctr"/>
            <a:r>
              <a:rPr sz="1230" b="1" lang="en-US">
                <a:solidFill>
                  <a:srgbClr val="207548"/>
                </a:solidFill>
                <a:latin typeface="Arial"/>
              </a:rPr>
              <a:t>Train locally → model update</a:t>
            </a:r>
          </a:p>
        </p:txBody>
      </p:sp>
      <p:cxnSp>
        <p:nvCxnSpPr>
          <p:cNvPr id="59" name="Connector 58"/>
          <p:cNvCxnSpPr/>
          <p:nvPr/>
        </p:nvCxnSpPr>
        <p:spPr>
          <a:xfrm>
            <a:off x="2354580" y="4197096"/>
            <a:ext cx="0" cy="704088"/>
          </a:xfrm>
          <a:prstGeom prst="line">
            <a:avLst/>
          </a:prstGeom>
          <a:ln w="190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354580" y="4901184"/>
            <a:ext cx="1979676" cy="0"/>
          </a:xfrm>
          <a:prstGeom prst="line">
            <a:avLst/>
          </a:prstGeom>
          <a:ln w="190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816084" y="4197096"/>
            <a:ext cx="0" cy="704088"/>
          </a:xfrm>
          <a:prstGeom prst="line">
            <a:avLst/>
          </a:prstGeom>
          <a:ln w="190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7863840" y="4901184"/>
            <a:ext cx="1952244" cy="0"/>
          </a:xfrm>
          <a:prstGeom prst="line">
            <a:avLst/>
          </a:prstGeom>
          <a:ln w="190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085332" y="4197096"/>
            <a:ext cx="0" cy="438912"/>
          </a:xfrm>
          <a:prstGeom prst="line">
            <a:avLst/>
          </a:prstGeom>
          <a:ln w="190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1481328" y="5010912"/>
            <a:ext cx="2834640" cy="228600"/>
          </a:xfrm>
          <a:prstGeom prst="rect">
            <a:avLst/>
          </a:prstGeom>
          <a:noFill/>
        </p:spPr>
        <p:txBody>
          <a:bodyPr wrap="square" lIns="0" rIns="0" tIns="0" bIns="0" anchor="t">
            <a:spAutoFit/>
          </a:bodyPr>
          <a:lstStyle/>
          <a:p>
            <a:pPr algn="ctr"/>
            <a:r>
              <a:rPr sz="1080" b="1" lang="en-US">
                <a:solidFill>
                  <a:srgbClr val="207548"/>
                </a:solidFill>
                <a:latin typeface="Arial"/>
              </a:rPr>
              <a:t>Protected model updates</a:t>
            </a:r>
          </a:p>
        </p:txBody>
      </p:sp>
      <p:sp>
        <p:nvSpPr>
          <p:cNvPr id="65" name="TextBox 64"/>
          <p:cNvSpPr txBox="1"/>
          <p:nvPr/>
        </p:nvSpPr>
        <p:spPr>
          <a:xfrm>
            <a:off x="7872983" y="5010912"/>
            <a:ext cx="2834640" cy="228600"/>
          </a:xfrm>
          <a:prstGeom prst="rect">
            <a:avLst/>
          </a:prstGeom>
          <a:noFill/>
        </p:spPr>
        <p:txBody>
          <a:bodyPr wrap="square" lIns="0" rIns="0" tIns="0" bIns="0" anchor="t">
            <a:spAutoFit/>
          </a:bodyPr>
          <a:lstStyle/>
          <a:p>
            <a:pPr algn="ctr"/>
            <a:r>
              <a:rPr sz="1080" b="1" lang="en-US">
                <a:solidFill>
                  <a:srgbClr val="207548"/>
                </a:solidFill>
                <a:latin typeface="Arial"/>
              </a:rPr>
              <a:t>Protected model updates</a:t>
            </a:r>
          </a:p>
        </p:txBody>
      </p:sp>
      <p:sp>
        <p:nvSpPr>
          <p:cNvPr id="66" name="Rectangle 65"/>
          <p:cNvSpPr/>
          <p:nvPr/>
        </p:nvSpPr>
        <p:spPr>
          <a:xfrm>
            <a:off x="4379976" y="4663440"/>
            <a:ext cx="3429000" cy="475488"/>
          </a:xfrm>
          <a:prstGeom prst="rect">
            <a:avLst/>
          </a:prstGeom>
          <a:solidFill>
            <a:srgbClr val="207548"/>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53712" y="4773168"/>
            <a:ext cx="3081528" cy="292608"/>
          </a:xfrm>
          <a:prstGeom prst="rect">
            <a:avLst/>
          </a:prstGeom>
          <a:noFill/>
        </p:spPr>
        <p:txBody>
          <a:bodyPr wrap="square" lIns="0" rIns="0" tIns="0" bIns="0" anchor="t">
            <a:spAutoFit/>
          </a:bodyPr>
          <a:lstStyle/>
          <a:p>
            <a:pPr algn="ctr"/>
            <a:r>
              <a:rPr sz="1570" b="1" lang="en-US">
                <a:solidFill>
                  <a:srgbClr val="FFFFFF"/>
                </a:solidFill>
                <a:latin typeface="Arial"/>
              </a:rPr>
              <a:t>Shared global model</a:t>
            </a:r>
          </a:p>
        </p:txBody>
      </p:sp>
      <p:sp>
        <p:nvSpPr>
          <p:cNvPr id="68" name="Rectangle 67"/>
          <p:cNvSpPr/>
          <p:nvPr/>
        </p:nvSpPr>
        <p:spPr>
          <a:xfrm>
            <a:off x="603504" y="5294376"/>
            <a:ext cx="10917936" cy="9144"/>
          </a:xfrm>
          <a:prstGeom prst="rect">
            <a:avLst/>
          </a:prstGeom>
          <a:solidFill>
            <a:srgbClr val="D7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58368" y="5404104"/>
            <a:ext cx="10771632" cy="301752"/>
          </a:xfrm>
          <a:prstGeom prst="rect">
            <a:avLst/>
          </a:prstGeom>
          <a:noFill/>
        </p:spPr>
        <p:txBody>
          <a:bodyPr wrap="square" lIns="0" rIns="0" tIns="0" bIns="0" anchor="t">
            <a:spAutoFit/>
          </a:bodyPr>
          <a:lstStyle/>
          <a:p>
            <a:pPr algn="ctr"/>
            <a:r>
              <a:rPr sz="1420" b="1" lang="en-US">
                <a:solidFill>
                  <a:srgbClr val="207548"/>
                </a:solidFill>
                <a:latin typeface="Arial"/>
              </a:rPr>
              <a:t>Train where the data is held. Collaborate through protected model exchange.</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Color navigation and slide concepts</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