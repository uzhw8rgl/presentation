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 follows the actors. Worker packages go directly to the aggregator, commitments and closure are on chain, computation stays in the TEE, and IPFS holds the encrypted publication before finalization.</a:t>
            </a:r>
          </a:p>
          <a:p/>
          <a:p>
            <a:r>
              <a:rPr lang="en-US"/>
              <a:t>These diagrams show a regular training round, not round-0 bootstrap. The aggregation rule is equal-weight FedAvg, with no validation-loss gate in the active policy.</a:t>
            </a:r>
          </a:p>
          <a:p/>
          <a:p>
            <a:r>
              <a:rPr lang="en-US"/>
              <a:t>Workers send encrypted, signed local-model packages directly to the current aggregator over authenticated HTTPS. These local updates are not stored in IPFS. The receiver verifies package signatures and expected context, decrypts the package, compares its plaintext model hash with the worker commitment, and records the worker's action-key-signed commitment on chain through GMStorage. One logical worker has at most one consistent accepted submission.</a:t>
            </a:r>
          </a:p>
          <a:p/>
          <a:p>
            <a:r>
              <a:rPr lang="en-US"/>
              <a:t>The selected aggregator closes the input window only when the policy-required minimum is reached. AggregationPolicy freezes an ordered input fingerprint and explicit accepted count. inputRoot is a rolling Keccak accumulator over accepted worker/commitment pairs in admission order, not a Merkle root. Closing disallows further submissions. Deadline expiry does not automatically close the round or bypass the minimum. The visible phrase frozen input set means this fingerprint plus count and per-worker records; it is not an on-chain copy of the model tensors.</a:t>
            </a:r>
          </a:p>
          <a:p/>
          <a:p>
            <a:r>
              <a:rPr lang="en-US"/>
              <a:t>Within the TEE, server.ts stages authorized model files whose SHA-256 hashes match the corresponding on-chain records and rechecks the hashes after copying. The local file count must exactly equal the immutable accepted count. Python then sorts unique worker-address filenames canonically, loads all staged models, checks the count, and computes the arithmetic mean of every corresponding state-dict tensor with equal weight per accepted model. This ordering is distinct from admission order in the rolling input commitment. Invalid or incomplete inputs block aggregation. Deterministic execution here refers to the pinned implementation and ordered inputs, not universal bitwise reproducibility across arbitrary hardware or software environments.</a:t>
            </a:r>
          </a:p>
          <a:p/>
          <a:p>
            <a:r>
              <a:rPr lang="en-US"/>
              <a:t>The resulting model is RSA-signed, encrypted in an AES-GCM model bundle, and published to IPFS together with its encrypted-bundle signature and per-recipient key bundle. The aggregator obtains all three CIDs before creating the aggregation statement. The action key signs an EIP-712 statement binding round, aggregator, input fingerprint/count, algorithm/policy, output model and bundle hashes, publication hash over the three CIDs, and nonce. The signature domain binds chain ID and GMStorage. This action signature is separate from the RSA model-package signature.</a:t>
            </a:r>
          </a:p>
          <a:p/>
          <a:p>
            <a:r>
              <a:rPr lang="en-US"/>
              <a:t>GMStorage.finalizeRoundWithAggregation validates current aggregator authorization, closed inputs, nonempty references and hashes, and unpublished round state. AggregationPolicy reconstructs the statement using stored frozen inputs and policy, then verifies the registered action-key signature. Solidity does not rerun FedAvg; correct computation is trusted to the previously attested application holding that key. The single finalization transaction records model references/evidence, marks the round complete, updates counters and advances the round. IPFS publication happened earlier and is not atomic with the blockchain transaction. Next-aggregator selection is a subsequent call, not part of this finalization transaction.</a:t>
            </a:r>
          </a:p>
          <a:p/>
          <a:p>
            <a:r>
              <a:rPr lang="en-US"/>
              <a:t>Source map, checked against local prototype on 20 September 2026:</a:t>
            </a:r>
          </a:p>
          <a:p>
            <a:r>
              <a:rPr lang="en-US"/>
              <a:t>vita-fl/dfl/node_server/src/server.ts:625–702,1310–1365,1930–2004,2229–2330,2786–2828</a:t>
            </a:r>
          </a:p>
          <a:p>
            <a:r>
              <a:rPr lang="en-US"/>
              <a:t>vita-fl/dfl/neural_network/cli.py:1248–1320</a:t>
            </a:r>
          </a:p>
          <a:p>
            <a:r>
              <a:rPr lang="en-US"/>
              <a:t>vita-fl/dfl/node_server/src/ipfs.ts:300–367</a:t>
            </a:r>
          </a:p>
          <a:p>
            <a:r>
              <a:rPr lang="en-US"/>
              <a:t>vita-fl/dfl/node_server/src/bc_client.ts:542–650</a:t>
            </a:r>
          </a:p>
          <a:p>
            <a:r>
              <a:rPr lang="en-US"/>
              <a:t>vita-fl/smart_contracts/src/core/GMStorage.sol:180–248,294–373</a:t>
            </a:r>
          </a:p>
          <a:p>
            <a:r>
              <a:rPr lang="en-US"/>
              <a:t>vita-fl/smart_contracts/src/core/AggregationPolicy.sol:16,203–215,260–305</a:t>
            </a:r>
          </a:p>
          <a:p>
            <a:r>
              <a:rPr lang="en-US"/>
              <a:t>vita-fl/smart_contracts/src/core/AggregatorSelection.sol:169–195</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B follows the model data. Three workers are an illustration, not the measured experiment configuration. All accepted files must be present and hash-matched. The mean uses every accepted model with equal weight; signed publication follows IPFS upload.</a:t>
            </a:r>
          </a:p>
          <a:p/>
          <a:p>
            <a:r>
              <a:rPr lang="en-US"/>
              <a:t>These diagrams show a regular training round, not round-0 bootstrap. The aggregation rule is equal-weight FedAvg, with no validation-loss gate in the active policy.</a:t>
            </a:r>
          </a:p>
          <a:p/>
          <a:p>
            <a:r>
              <a:rPr lang="en-US"/>
              <a:t>Workers send encrypted, signed local-model packages directly to the current aggregator over authenticated HTTPS. These local updates are not stored in IPFS. The receiver verifies package signatures and expected context, decrypts the package, compares its plaintext model hash with the worker commitment, and records the worker's action-key-signed commitment on chain through GMStorage. One logical worker has at most one consistent accepted submission.</a:t>
            </a:r>
          </a:p>
          <a:p/>
          <a:p>
            <a:r>
              <a:rPr lang="en-US"/>
              <a:t>The selected aggregator closes the input window only when the policy-required minimum is reached. AggregationPolicy freezes an ordered input fingerprint and explicit accepted count. inputRoot is a rolling Keccak accumulator over accepted worker/commitment pairs in admission order, not a Merkle root. Closing disallows further submissions. Deadline expiry does not automatically close the round or bypass the minimum. The visible phrase frozen input set means this fingerprint plus count and per-worker records; it is not an on-chain copy of the model tensors.</a:t>
            </a:r>
          </a:p>
          <a:p/>
          <a:p>
            <a:r>
              <a:rPr lang="en-US"/>
              <a:t>Within the TEE, server.ts stages authorized model files whose SHA-256 hashes match the corresponding on-chain records and rechecks the hashes after copying. The local file count must exactly equal the immutable accepted count. Python then sorts unique worker-address filenames canonically, loads all staged models, checks the count, and computes the arithmetic mean of every corresponding state-dict tensor with equal weight per accepted model. This ordering is distinct from admission order in the rolling input commitment. Invalid or incomplete inputs block aggregation. Deterministic execution here refers to the pinned implementation and ordered inputs, not universal bitwise reproducibility across arbitrary hardware or software environments.</a:t>
            </a:r>
          </a:p>
          <a:p/>
          <a:p>
            <a:r>
              <a:rPr lang="en-US"/>
              <a:t>The resulting model is RSA-signed, encrypted in an AES-GCM model bundle, and published to IPFS together with its encrypted-bundle signature and per-recipient key bundle. The aggregator obtains all three CIDs before creating the aggregation statement. The action key signs an EIP-712 statement binding round, aggregator, input fingerprint/count, algorithm/policy, output model and bundle hashes, publication hash over the three CIDs, and nonce. The signature domain binds chain ID and GMStorage. This action signature is separate from the RSA model-package signature.</a:t>
            </a:r>
          </a:p>
          <a:p/>
          <a:p>
            <a:r>
              <a:rPr lang="en-US"/>
              <a:t>GMStorage.finalizeRoundWithAggregation validates current aggregator authorization, closed inputs, nonempty references and hashes, and unpublished round state. AggregationPolicy reconstructs the statement using stored frozen inputs and policy, then verifies the registered action-key signature. Solidity does not rerun FedAvg; correct computation is trusted to the previously attested application holding that key. The single finalization transaction records model references/evidence, marks the round complete, updates counters and advances the round. IPFS publication happened earlier and is not atomic with the blockchain transaction. Next-aggregator selection is a subsequent call, not part of this finalization transaction.</a:t>
            </a:r>
          </a:p>
          <a:p/>
          <a:p>
            <a:r>
              <a:rPr lang="en-US"/>
              <a:t>Source map, checked against local prototype on 20 September 2026:</a:t>
            </a:r>
          </a:p>
          <a:p>
            <a:r>
              <a:rPr lang="en-US"/>
              <a:t>vita-fl/dfl/node_server/src/server.ts:625–702,1310–1365,1930–2004,2229–2330,2786–2828</a:t>
            </a:r>
          </a:p>
          <a:p>
            <a:r>
              <a:rPr lang="en-US"/>
              <a:t>vita-fl/dfl/neural_network/cli.py:1248–1320</a:t>
            </a:r>
          </a:p>
          <a:p>
            <a:r>
              <a:rPr lang="en-US"/>
              <a:t>vita-fl/dfl/node_server/src/ipfs.ts:300–367</a:t>
            </a:r>
          </a:p>
          <a:p>
            <a:r>
              <a:rPr lang="en-US"/>
              <a:t>vita-fl/dfl/node_server/src/bc_client.ts:542–650</a:t>
            </a:r>
          </a:p>
          <a:p>
            <a:r>
              <a:rPr lang="en-US"/>
              <a:t>vita-fl/smart_contracts/src/core/GMStorage.sol:180–248,294–373</a:t>
            </a:r>
          </a:p>
          <a:p>
            <a:r>
              <a:rPr lang="en-US"/>
              <a:t>vita-fl/smart_contracts/src/core/AggregationPolicy.sol:16,203–215,260–305</a:t>
            </a:r>
          </a:p>
          <a:p>
            <a:r>
              <a:rPr lang="en-US"/>
              <a:t>vita-fl/smart_contracts/src/core/AggregatorSelection.sol:169–195</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Evidence-centred view: frozen round context and an already published global model feed the action-key-signed aggregation statement. GMStorage verifies the registered signer and context, then publishes references and advances the round in a single transaction.</a:t>
            </a:r>
          </a:p>
          <a:p/>
          <a:p>
            <a:r>
              <a:rPr lang="en-US"/>
              <a:t>These diagrams show a regular training round, not round-0 bootstrap. The aggregation rule is equal-weight FedAvg, with no validation-loss gate in the active policy.</a:t>
            </a:r>
          </a:p>
          <a:p/>
          <a:p>
            <a:r>
              <a:rPr lang="en-US"/>
              <a:t>Workers send encrypted, signed local-model packages directly to the current aggregator over authenticated HTTPS. These local updates are not stored in IPFS. The receiver verifies package signatures and expected context, decrypts the package, compares its plaintext model hash with the worker commitment, and records the worker's action-key-signed commitment on chain through GMStorage. One logical worker has at most one consistent accepted submission.</a:t>
            </a:r>
          </a:p>
          <a:p/>
          <a:p>
            <a:r>
              <a:rPr lang="en-US"/>
              <a:t>The selected aggregator closes the input window only when the policy-required minimum is reached. AggregationPolicy freezes an ordered input fingerprint and explicit accepted count. inputRoot is a rolling Keccak accumulator over accepted worker/commitment pairs in admission order, not a Merkle root. Closing disallows further submissions. Deadline expiry does not automatically close the round or bypass the minimum. The visible phrase frozen input set means this fingerprint plus count and per-worker records; it is not an on-chain copy of the model tensors.</a:t>
            </a:r>
          </a:p>
          <a:p/>
          <a:p>
            <a:r>
              <a:rPr lang="en-US"/>
              <a:t>Within the TEE, server.ts stages authorized model files whose SHA-256 hashes match the corresponding on-chain records and rechecks the hashes after copying. The local file count must exactly equal the immutable accepted count. Python then sorts unique worker-address filenames canonically, loads all staged models, checks the count, and computes the arithmetic mean of every corresponding state-dict tensor with equal weight per accepted model. This ordering is distinct from admission order in the rolling input commitment. Invalid or incomplete inputs block aggregation. Deterministic execution here refers to the pinned implementation and ordered inputs, not universal bitwise reproducibility across arbitrary hardware or software environments.</a:t>
            </a:r>
          </a:p>
          <a:p/>
          <a:p>
            <a:r>
              <a:rPr lang="en-US"/>
              <a:t>The resulting model is RSA-signed, encrypted in an AES-GCM model bundle, and published to IPFS together with its encrypted-bundle signature and per-recipient key bundle. The aggregator obtains all three CIDs before creating the aggregation statement. The action key signs an EIP-712 statement binding round, aggregator, input fingerprint/count, algorithm/policy, output model and bundle hashes, publication hash over the three CIDs, and nonce. The signature domain binds chain ID and GMStorage. This action signature is separate from the RSA model-package signature.</a:t>
            </a:r>
          </a:p>
          <a:p/>
          <a:p>
            <a:r>
              <a:rPr lang="en-US"/>
              <a:t>GMStorage.finalizeRoundWithAggregation validates current aggregator authorization, closed inputs, nonempty references and hashes, and unpublished round state. AggregationPolicy reconstructs the statement using stored frozen inputs and policy, then verifies the registered action-key signature. Solidity does not rerun FedAvg; correct computation is trusted to the previously attested application holding that key. The single finalization transaction records model references/evidence, marks the round complete, updates counters and advances the round. IPFS publication happened earlier and is not atomic with the blockchain transaction. Next-aggregator selection is a subsequent call, not part of this finalization transaction.</a:t>
            </a:r>
          </a:p>
          <a:p/>
          <a:p>
            <a:r>
              <a:rPr lang="en-US"/>
              <a:t>Source map, checked against local prototype on 20 September 2026:</a:t>
            </a:r>
          </a:p>
          <a:p>
            <a:r>
              <a:rPr lang="en-US"/>
              <a:t>vita-fl/dfl/node_server/src/server.ts:625–702,1310–1365,1930–2004,2229–2330,2786–2828</a:t>
            </a:r>
          </a:p>
          <a:p>
            <a:r>
              <a:rPr lang="en-US"/>
              <a:t>vita-fl/dfl/neural_network/cli.py:1248–1320</a:t>
            </a:r>
          </a:p>
          <a:p>
            <a:r>
              <a:rPr lang="en-US"/>
              <a:t>vita-fl/dfl/node_server/src/ipfs.ts:300–367</a:t>
            </a:r>
          </a:p>
          <a:p>
            <a:r>
              <a:rPr lang="en-US"/>
              <a:t>vita-fl/dfl/node_server/src/bc_client.ts:542–650</a:t>
            </a:r>
          </a:p>
          <a:p>
            <a:r>
              <a:rPr lang="en-US"/>
              <a:t>vita-fl/smart_contracts/src/core/GMStorage.sol:180–248,294–373</a:t>
            </a:r>
          </a:p>
          <a:p>
            <a:r>
              <a:rPr lang="en-US"/>
              <a:t>vita-fl/smart_contracts/src/core/AggregationPolicy.sol:16,203–215,260–305</a:t>
            </a:r>
          </a:p>
          <a:p>
            <a:r>
              <a:rPr lang="en-US"/>
              <a:t>vita-fl/smart_contracts/src/core/AggregatorSelection.sol:169–195</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Who does what during aggregation?</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Aggregation: Workers"/>
          <p:cNvSpPr txBox="1"/>
          <p:nvPr/>
        </p:nvSpPr>
        <p:spPr>
          <a:xfrm>
            <a:off x="594360" y="1435608"/>
            <a:ext cx="1865376" cy="347472"/>
          </a:xfrm>
          <a:prstGeom prst="rect">
            <a:avLst/>
          </a:prstGeom>
          <a:noFill/>
        </p:spPr>
        <p:txBody>
          <a:bodyPr wrap="square" lIns="0" rIns="0" tIns="0" bIns="0" anchor="ctr">
            <a:spAutoFit/>
          </a:bodyPr>
          <a:lstStyle/>
          <a:p>
            <a:pPr algn="ctr"/>
            <a:r>
              <a:rPr sz="2100" b="1" lang="en-US">
                <a:solidFill>
                  <a:srgbClr val="207548"/>
                </a:solidFill>
                <a:latin typeface="Arial"/>
              </a:rPr>
              <a:t>Workers</a:t>
            </a:r>
          </a:p>
        </p:txBody>
      </p:sp>
      <p:sp>
        <p:nvSpPr>
          <p:cNvPr id="14" name="Aggregation: Aggregator TEE"/>
          <p:cNvSpPr txBox="1"/>
          <p:nvPr/>
        </p:nvSpPr>
        <p:spPr>
          <a:xfrm>
            <a:off x="2843784" y="1435608"/>
            <a:ext cx="2852928" cy="347472"/>
          </a:xfrm>
          <a:prstGeom prst="rect">
            <a:avLst/>
          </a:prstGeom>
          <a:noFill/>
        </p:spPr>
        <p:txBody>
          <a:bodyPr wrap="square" lIns="0" rIns="0" tIns="0" bIns="0" anchor="ctr">
            <a:spAutoFit/>
          </a:bodyPr>
          <a:lstStyle/>
          <a:p>
            <a:pPr algn="ctr"/>
            <a:r>
              <a:rPr sz="2100" b="1" lang="en-US">
                <a:solidFill>
                  <a:srgbClr val="207548"/>
                </a:solidFill>
                <a:latin typeface="Arial"/>
              </a:rPr>
              <a:t>Aggregator TEE</a:t>
            </a:r>
          </a:p>
        </p:txBody>
      </p:sp>
      <p:sp>
        <p:nvSpPr>
          <p:cNvPr id="15" name="Aggregation: IPFS"/>
          <p:cNvSpPr txBox="1"/>
          <p:nvPr/>
        </p:nvSpPr>
        <p:spPr>
          <a:xfrm>
            <a:off x="6281928" y="1435608"/>
            <a:ext cx="1965960" cy="347472"/>
          </a:xfrm>
          <a:prstGeom prst="rect">
            <a:avLst/>
          </a:prstGeom>
          <a:noFill/>
        </p:spPr>
        <p:txBody>
          <a:bodyPr wrap="square" lIns="0" rIns="0" tIns="0" bIns="0" anchor="ctr">
            <a:spAutoFit/>
          </a:bodyPr>
          <a:lstStyle/>
          <a:p>
            <a:pPr algn="ctr"/>
            <a:r>
              <a:rPr sz="2100" b="1" lang="en-US">
                <a:solidFill>
                  <a:srgbClr val="7446A6"/>
                </a:solidFill>
                <a:latin typeface="Arial"/>
              </a:rPr>
              <a:t>IPFS</a:t>
            </a:r>
          </a:p>
        </p:txBody>
      </p:sp>
      <p:sp>
        <p:nvSpPr>
          <p:cNvPr id="16" name="Aggregation: Blockchain"/>
          <p:cNvSpPr txBox="1"/>
          <p:nvPr/>
        </p:nvSpPr>
        <p:spPr>
          <a:xfrm>
            <a:off x="8759952" y="1435608"/>
            <a:ext cx="2834640" cy="347472"/>
          </a:xfrm>
          <a:prstGeom prst="rect">
            <a:avLst/>
          </a:prstGeom>
          <a:noFill/>
        </p:spPr>
        <p:txBody>
          <a:bodyPr wrap="square" lIns="0" rIns="0" tIns="0" bIns="0" anchor="ctr">
            <a:spAutoFit/>
          </a:bodyPr>
          <a:lstStyle/>
          <a:p>
            <a:pPr algn="ctr"/>
            <a:r>
              <a:rPr sz="2100" b="1" lang="en-US">
                <a:solidFill>
                  <a:srgbClr val="7446A6"/>
                </a:solidFill>
                <a:latin typeface="Arial"/>
              </a:rPr>
              <a:t>Blockchain</a:t>
            </a:r>
          </a:p>
        </p:txBody>
      </p:sp>
      <p:cxnSp>
        <p:nvCxnSpPr>
          <p:cNvPr id="17" name="Connector 16"/>
          <p:cNvCxnSpPr/>
          <p:nvPr/>
        </p:nvCxnSpPr>
        <p:spPr>
          <a:xfrm>
            <a:off x="2578608" y="1901952"/>
            <a:ext cx="0" cy="3419856"/>
          </a:xfrm>
          <a:prstGeom prst="line">
            <a:avLst/>
          </a:prstGeom>
          <a:ln w="12700">
            <a:solidFill>
              <a:srgbClr val="DCE2E7"/>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961888" y="1901952"/>
            <a:ext cx="0" cy="3419856"/>
          </a:xfrm>
          <a:prstGeom prst="line">
            <a:avLst/>
          </a:prstGeom>
          <a:ln w="12700">
            <a:solidFill>
              <a:srgbClr val="DCE2E7"/>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22208" y="1901952"/>
            <a:ext cx="0" cy="3419856"/>
          </a:xfrm>
          <a:prstGeom prst="line">
            <a:avLst/>
          </a:prstGeom>
          <a:ln w="12700">
            <a:solidFill>
              <a:srgbClr val="DCE2E7"/>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58368" y="2176272"/>
            <a:ext cx="411480" cy="51206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59" y="2286000"/>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5256"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0664"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59" y="2432304"/>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61288" y="2176272"/>
            <a:ext cx="411480" cy="51206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243584"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25880" y="2286000"/>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408176"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243584"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325880" y="2432304"/>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408176"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664208" y="2176272"/>
            <a:ext cx="411480" cy="51206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746504"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828800" y="2286000"/>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911096" y="2286000"/>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746504"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828800" y="2432304"/>
            <a:ext cx="67056" cy="11430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11096" y="2432304"/>
            <a:ext cx="67056" cy="11430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ggregation: Signed, encrypted / local models"/>
          <p:cNvSpPr txBox="1"/>
          <p:nvPr/>
        </p:nvSpPr>
        <p:spPr>
          <a:xfrm>
            <a:off x="594360" y="2862072"/>
            <a:ext cx="1865376" cy="557784"/>
          </a:xfrm>
          <a:prstGeom prst="rect">
            <a:avLst/>
          </a:prstGeom>
          <a:noFill/>
        </p:spPr>
        <p:txBody>
          <a:bodyPr wrap="square" lIns="0" rIns="0" tIns="0" bIns="0" anchor="ctr">
            <a:spAutoFit/>
          </a:bodyPr>
          <a:lstStyle/>
          <a:p>
            <a:pPr algn="ctr"/>
            <a:r>
              <a:rPr sz="1500" b="0" lang="en-US">
                <a:solidFill>
                  <a:srgbClr val="263440"/>
                </a:solidFill>
                <a:latin typeface="Arial"/>
              </a:rPr>
              <a:t>Signed, encrypted
local models</a:t>
            </a:r>
          </a:p>
        </p:txBody>
      </p:sp>
      <p:cxnSp>
        <p:nvCxnSpPr>
          <p:cNvPr id="42" name="Connector 41"/>
          <p:cNvCxnSpPr/>
          <p:nvPr/>
        </p:nvCxnSpPr>
        <p:spPr>
          <a:xfrm>
            <a:off x="2139696" y="2487168"/>
            <a:ext cx="649224" cy="0"/>
          </a:xfrm>
          <a:prstGeom prst="line">
            <a:avLst/>
          </a:prstGeom>
          <a:ln w="2540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2843784" y="2084831"/>
            <a:ext cx="2852928" cy="832104"/>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ggregation: Receive + verify"/>
          <p:cNvSpPr txBox="1"/>
          <p:nvPr/>
        </p:nvSpPr>
        <p:spPr>
          <a:xfrm>
            <a:off x="2999232" y="2185416"/>
            <a:ext cx="2542032" cy="310896"/>
          </a:xfrm>
          <a:prstGeom prst="rect">
            <a:avLst/>
          </a:prstGeom>
          <a:noFill/>
        </p:spPr>
        <p:txBody>
          <a:bodyPr wrap="square" lIns="0" rIns="0" tIns="0" bIns="0" anchor="ctr">
            <a:spAutoFit/>
          </a:bodyPr>
          <a:lstStyle/>
          <a:p>
            <a:pPr algn="ctr"/>
            <a:r>
              <a:rPr sz="1700" b="1" lang="en-US">
                <a:solidFill>
                  <a:srgbClr val="207548"/>
                </a:solidFill>
                <a:latin typeface="Arial"/>
              </a:rPr>
              <a:t>Receive + verify</a:t>
            </a:r>
          </a:p>
        </p:txBody>
      </p:sp>
      <p:sp>
        <p:nvSpPr>
          <p:cNvPr id="45" name="Aggregation: Hashes and signatures"/>
          <p:cNvSpPr txBox="1"/>
          <p:nvPr/>
        </p:nvSpPr>
        <p:spPr>
          <a:xfrm>
            <a:off x="2999232" y="2596896"/>
            <a:ext cx="2542032" cy="219456"/>
          </a:xfrm>
          <a:prstGeom prst="rect">
            <a:avLst/>
          </a:prstGeom>
          <a:noFill/>
        </p:spPr>
        <p:txBody>
          <a:bodyPr wrap="square" lIns="0" rIns="0" tIns="0" bIns="0" anchor="ctr">
            <a:spAutoFit/>
          </a:bodyPr>
          <a:lstStyle/>
          <a:p>
            <a:pPr algn="ctr"/>
            <a:r>
              <a:rPr sz="1350" b="0" lang="en-US">
                <a:solidFill>
                  <a:srgbClr val="263440"/>
                </a:solidFill>
                <a:latin typeface="Arial"/>
              </a:rPr>
              <a:t>Hashes and signatures</a:t>
            </a:r>
          </a:p>
        </p:txBody>
      </p:sp>
      <p:cxnSp>
        <p:nvCxnSpPr>
          <p:cNvPr id="46" name="Connector 45"/>
          <p:cNvCxnSpPr/>
          <p:nvPr/>
        </p:nvCxnSpPr>
        <p:spPr>
          <a:xfrm>
            <a:off x="5751576" y="2500884"/>
            <a:ext cx="2953512"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Aggregation: Record commitments"/>
          <p:cNvSpPr txBox="1"/>
          <p:nvPr/>
        </p:nvSpPr>
        <p:spPr>
          <a:xfrm>
            <a:off x="5961888" y="2112264"/>
            <a:ext cx="2560320" cy="246888"/>
          </a:xfrm>
          <a:prstGeom prst="rect">
            <a:avLst/>
          </a:prstGeom>
          <a:noFill/>
        </p:spPr>
        <p:txBody>
          <a:bodyPr wrap="square" lIns="0" rIns="0" tIns="0" bIns="0" anchor="ctr">
            <a:spAutoFit/>
          </a:bodyPr>
          <a:lstStyle/>
          <a:p>
            <a:pPr algn="ctr"/>
            <a:r>
              <a:rPr sz="1300" b="0" lang="en-US">
                <a:solidFill>
                  <a:srgbClr val="7446A6"/>
                </a:solidFill>
                <a:latin typeface="Arial"/>
              </a:rPr>
              <a:t>Record commitments</a:t>
            </a:r>
          </a:p>
        </p:txBody>
      </p:sp>
      <p:sp>
        <p:nvSpPr>
          <p:cNvPr id="48" name="Rounded Rectangle 47"/>
          <p:cNvSpPr/>
          <p:nvPr/>
        </p:nvSpPr>
        <p:spPr>
          <a:xfrm>
            <a:off x="8759952" y="2084831"/>
            <a:ext cx="2834640" cy="832104"/>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Aggregation: Accept commitments"/>
          <p:cNvSpPr txBox="1"/>
          <p:nvPr/>
        </p:nvSpPr>
        <p:spPr>
          <a:xfrm>
            <a:off x="8915400" y="2185416"/>
            <a:ext cx="2523744" cy="310896"/>
          </a:xfrm>
          <a:prstGeom prst="rect">
            <a:avLst/>
          </a:prstGeom>
          <a:noFill/>
        </p:spPr>
        <p:txBody>
          <a:bodyPr wrap="square" lIns="0" rIns="0" tIns="0" bIns="0" anchor="ctr">
            <a:spAutoFit/>
          </a:bodyPr>
          <a:lstStyle/>
          <a:p>
            <a:pPr algn="ctr"/>
            <a:r>
              <a:rPr sz="1600" b="1" lang="en-US">
                <a:solidFill>
                  <a:srgbClr val="7446A6"/>
                </a:solidFill>
                <a:latin typeface="Arial"/>
              </a:rPr>
              <a:t>Accept commitments</a:t>
            </a:r>
          </a:p>
        </p:txBody>
      </p:sp>
      <p:sp>
        <p:nvSpPr>
          <p:cNvPr id="50" name="Aggregation: Worker · model hash"/>
          <p:cNvSpPr txBox="1"/>
          <p:nvPr/>
        </p:nvSpPr>
        <p:spPr>
          <a:xfrm>
            <a:off x="8915400" y="2596896"/>
            <a:ext cx="2523744" cy="219456"/>
          </a:xfrm>
          <a:prstGeom prst="rect">
            <a:avLst/>
          </a:prstGeom>
          <a:noFill/>
        </p:spPr>
        <p:txBody>
          <a:bodyPr wrap="square" lIns="0" rIns="0" tIns="0" bIns="0" anchor="ctr">
            <a:spAutoFit/>
          </a:bodyPr>
          <a:lstStyle/>
          <a:p>
            <a:pPr algn="ctr"/>
            <a:r>
              <a:rPr sz="1350" b="0" lang="en-US">
                <a:solidFill>
                  <a:srgbClr val="263440"/>
                </a:solidFill>
                <a:latin typeface="Arial"/>
              </a:rPr>
              <a:t>Worker · model hash</a:t>
            </a:r>
          </a:p>
        </p:txBody>
      </p:sp>
      <p:cxnSp>
        <p:nvCxnSpPr>
          <p:cNvPr id="51" name="Connector 50"/>
          <p:cNvCxnSpPr/>
          <p:nvPr/>
        </p:nvCxnSpPr>
        <p:spPr>
          <a:xfrm>
            <a:off x="10177272" y="2953512"/>
            <a:ext cx="0" cy="27432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8759952" y="3273552"/>
            <a:ext cx="2834640" cy="832104"/>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ggregation: Aggregator closes"/>
          <p:cNvSpPr txBox="1"/>
          <p:nvPr/>
        </p:nvSpPr>
        <p:spPr>
          <a:xfrm>
            <a:off x="8915400" y="3374136"/>
            <a:ext cx="2523744" cy="310896"/>
          </a:xfrm>
          <a:prstGeom prst="rect">
            <a:avLst/>
          </a:prstGeom>
          <a:noFill/>
        </p:spPr>
        <p:txBody>
          <a:bodyPr wrap="square" lIns="0" rIns="0" tIns="0" bIns="0" anchor="ctr">
            <a:spAutoFit/>
          </a:bodyPr>
          <a:lstStyle/>
          <a:p>
            <a:pPr algn="ctr"/>
            <a:r>
              <a:rPr sz="1600" b="1" lang="en-US">
                <a:solidFill>
                  <a:srgbClr val="7446A6"/>
                </a:solidFill>
                <a:latin typeface="Arial"/>
              </a:rPr>
              <a:t>Aggregator closes</a:t>
            </a:r>
          </a:p>
        </p:txBody>
      </p:sp>
      <p:sp>
        <p:nvSpPr>
          <p:cNvPr id="54" name="Aggregation: Freeze fingerprint + count"/>
          <p:cNvSpPr txBox="1"/>
          <p:nvPr/>
        </p:nvSpPr>
        <p:spPr>
          <a:xfrm>
            <a:off x="8887968" y="3785615"/>
            <a:ext cx="2578608" cy="219456"/>
          </a:xfrm>
          <a:prstGeom prst="rect">
            <a:avLst/>
          </a:prstGeom>
          <a:noFill/>
        </p:spPr>
        <p:txBody>
          <a:bodyPr wrap="square" lIns="0" rIns="0" tIns="0" bIns="0" anchor="ctr">
            <a:spAutoFit/>
          </a:bodyPr>
          <a:lstStyle/>
          <a:p>
            <a:pPr algn="ctr"/>
            <a:r>
              <a:rPr sz="1300" b="0" lang="en-US">
                <a:solidFill>
                  <a:srgbClr val="263440"/>
                </a:solidFill>
                <a:latin typeface="Arial"/>
              </a:rPr>
              <a:t>Freeze fingerprint + count</a:t>
            </a:r>
          </a:p>
        </p:txBody>
      </p:sp>
      <p:cxnSp>
        <p:nvCxnSpPr>
          <p:cNvPr id="55" name="Connector 54"/>
          <p:cNvCxnSpPr/>
          <p:nvPr/>
        </p:nvCxnSpPr>
        <p:spPr>
          <a:xfrm flipH="1">
            <a:off x="5751576" y="3689604"/>
            <a:ext cx="2953512"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Aggregation: Frozen input set"/>
          <p:cNvSpPr txBox="1"/>
          <p:nvPr/>
        </p:nvSpPr>
        <p:spPr>
          <a:xfrm>
            <a:off x="5961888" y="3300984"/>
            <a:ext cx="2560320" cy="246888"/>
          </a:xfrm>
          <a:prstGeom prst="rect">
            <a:avLst/>
          </a:prstGeom>
          <a:noFill/>
        </p:spPr>
        <p:txBody>
          <a:bodyPr wrap="square" lIns="0" rIns="0" tIns="0" bIns="0" anchor="ctr">
            <a:spAutoFit/>
          </a:bodyPr>
          <a:lstStyle/>
          <a:p>
            <a:pPr algn="ctr"/>
            <a:r>
              <a:rPr sz="1300" b="0" lang="en-US">
                <a:solidFill>
                  <a:srgbClr val="7446A6"/>
                </a:solidFill>
                <a:latin typeface="Arial"/>
              </a:rPr>
              <a:t>Frozen input set</a:t>
            </a:r>
          </a:p>
        </p:txBody>
      </p:sp>
      <p:sp>
        <p:nvSpPr>
          <p:cNvPr id="57" name="Rounded Rectangle 56"/>
          <p:cNvSpPr/>
          <p:nvPr/>
        </p:nvSpPr>
        <p:spPr>
          <a:xfrm>
            <a:off x="2843784" y="3273552"/>
            <a:ext cx="2852928" cy="832104"/>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ggregation: Check input set"/>
          <p:cNvSpPr txBox="1"/>
          <p:nvPr/>
        </p:nvSpPr>
        <p:spPr>
          <a:xfrm>
            <a:off x="2999232" y="3374136"/>
            <a:ext cx="2542032" cy="310896"/>
          </a:xfrm>
          <a:prstGeom prst="rect">
            <a:avLst/>
          </a:prstGeom>
          <a:noFill/>
        </p:spPr>
        <p:txBody>
          <a:bodyPr wrap="square" lIns="0" rIns="0" tIns="0" bIns="0" anchor="ctr">
            <a:spAutoFit/>
          </a:bodyPr>
          <a:lstStyle/>
          <a:p>
            <a:pPr algn="ctr"/>
            <a:r>
              <a:rPr sz="1550" b="1" lang="en-US">
                <a:solidFill>
                  <a:srgbClr val="207548"/>
                </a:solidFill>
                <a:latin typeface="Arial"/>
              </a:rPr>
              <a:t>Check input set</a:t>
            </a:r>
          </a:p>
        </p:txBody>
      </p:sp>
      <p:sp>
        <p:nvSpPr>
          <p:cNvPr id="59" name="Aggregation: Exact files + exact count"/>
          <p:cNvSpPr txBox="1"/>
          <p:nvPr/>
        </p:nvSpPr>
        <p:spPr>
          <a:xfrm>
            <a:off x="2999232" y="3785615"/>
            <a:ext cx="2542032" cy="219456"/>
          </a:xfrm>
          <a:prstGeom prst="rect">
            <a:avLst/>
          </a:prstGeom>
          <a:noFill/>
        </p:spPr>
        <p:txBody>
          <a:bodyPr wrap="square" lIns="0" rIns="0" tIns="0" bIns="0" anchor="ctr">
            <a:spAutoFit/>
          </a:bodyPr>
          <a:lstStyle/>
          <a:p>
            <a:pPr algn="ctr"/>
            <a:r>
              <a:rPr sz="1300" b="0" lang="en-US">
                <a:solidFill>
                  <a:srgbClr val="263440"/>
                </a:solidFill>
                <a:latin typeface="Arial"/>
              </a:rPr>
              <a:t>Exact files + exact count</a:t>
            </a:r>
          </a:p>
        </p:txBody>
      </p:sp>
      <p:cxnSp>
        <p:nvCxnSpPr>
          <p:cNvPr id="60" name="Connector 59"/>
          <p:cNvCxnSpPr/>
          <p:nvPr/>
        </p:nvCxnSpPr>
        <p:spPr>
          <a:xfrm>
            <a:off x="4270248" y="4142232"/>
            <a:ext cx="0" cy="210312"/>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843784" y="4398264"/>
            <a:ext cx="2852928" cy="905256"/>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ggregation: Compute FedAvg"/>
          <p:cNvSpPr txBox="1"/>
          <p:nvPr/>
        </p:nvSpPr>
        <p:spPr>
          <a:xfrm>
            <a:off x="2999232" y="4489704"/>
            <a:ext cx="2542032" cy="292608"/>
          </a:xfrm>
          <a:prstGeom prst="rect">
            <a:avLst/>
          </a:prstGeom>
          <a:noFill/>
        </p:spPr>
        <p:txBody>
          <a:bodyPr wrap="square" lIns="0" rIns="0" tIns="0" bIns="0" anchor="ctr">
            <a:spAutoFit/>
          </a:bodyPr>
          <a:lstStyle/>
          <a:p>
            <a:pPr algn="ctr"/>
            <a:r>
              <a:rPr sz="1650" b="1" lang="en-US">
                <a:solidFill>
                  <a:srgbClr val="207548"/>
                </a:solidFill>
                <a:latin typeface="Arial"/>
              </a:rPr>
              <a:t>Compute FedAvg</a:t>
            </a:r>
          </a:p>
        </p:txBody>
      </p:sp>
      <p:sp>
        <p:nvSpPr>
          <p:cNvPr id="63" name="Aggregation: Equal mean per parameter / Encrypt + sign output"/>
          <p:cNvSpPr txBox="1"/>
          <p:nvPr/>
        </p:nvSpPr>
        <p:spPr>
          <a:xfrm>
            <a:off x="2999232" y="4818888"/>
            <a:ext cx="2542032" cy="429768"/>
          </a:xfrm>
          <a:prstGeom prst="rect">
            <a:avLst/>
          </a:prstGeom>
          <a:noFill/>
        </p:spPr>
        <p:txBody>
          <a:bodyPr wrap="square" lIns="0" rIns="0" tIns="0" bIns="0" anchor="ctr">
            <a:spAutoFit/>
          </a:bodyPr>
          <a:lstStyle/>
          <a:p>
            <a:pPr algn="ctr"/>
            <a:r>
              <a:rPr sz="1300" b="0" lang="en-US">
                <a:solidFill>
                  <a:srgbClr val="263440"/>
                </a:solidFill>
                <a:latin typeface="Arial"/>
              </a:rPr>
              <a:t>Equal mean per parameter
Encrypt + sign output</a:t>
            </a:r>
          </a:p>
        </p:txBody>
      </p:sp>
      <p:cxnSp>
        <p:nvCxnSpPr>
          <p:cNvPr id="64" name="Connector 63"/>
          <p:cNvCxnSpPr/>
          <p:nvPr/>
        </p:nvCxnSpPr>
        <p:spPr>
          <a:xfrm>
            <a:off x="5751576" y="4681728"/>
            <a:ext cx="475488"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6281928" y="4398264"/>
            <a:ext cx="1965960" cy="90525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ggregation: Store bundle"/>
          <p:cNvSpPr txBox="1"/>
          <p:nvPr/>
        </p:nvSpPr>
        <p:spPr>
          <a:xfrm>
            <a:off x="6419088" y="4489704"/>
            <a:ext cx="1691640" cy="292608"/>
          </a:xfrm>
          <a:prstGeom prst="rect">
            <a:avLst/>
          </a:prstGeom>
          <a:noFill/>
        </p:spPr>
        <p:txBody>
          <a:bodyPr wrap="square" lIns="0" rIns="0" tIns="0" bIns="0" anchor="ctr">
            <a:spAutoFit/>
          </a:bodyPr>
          <a:lstStyle/>
          <a:p>
            <a:pPr algn="ctr"/>
            <a:r>
              <a:rPr sz="1600" b="1" lang="en-US">
                <a:solidFill>
                  <a:srgbClr val="7446A6"/>
                </a:solidFill>
                <a:latin typeface="Arial"/>
              </a:rPr>
              <a:t>Store bundle</a:t>
            </a:r>
          </a:p>
        </p:txBody>
      </p:sp>
      <p:sp>
        <p:nvSpPr>
          <p:cNvPr id="67" name="Aggregation: Model · signature / recipient keys"/>
          <p:cNvSpPr txBox="1"/>
          <p:nvPr/>
        </p:nvSpPr>
        <p:spPr>
          <a:xfrm>
            <a:off x="6419088" y="4837176"/>
            <a:ext cx="1691640" cy="393192"/>
          </a:xfrm>
          <a:prstGeom prst="rect">
            <a:avLst/>
          </a:prstGeom>
          <a:noFill/>
        </p:spPr>
        <p:txBody>
          <a:bodyPr wrap="square" lIns="0" rIns="0" tIns="0" bIns="0" anchor="ctr">
            <a:spAutoFit/>
          </a:bodyPr>
          <a:lstStyle/>
          <a:p>
            <a:pPr algn="ctr"/>
            <a:r>
              <a:rPr sz="1280" b="0" lang="en-US">
                <a:solidFill>
                  <a:srgbClr val="263440"/>
                </a:solidFill>
                <a:latin typeface="Arial"/>
              </a:rPr>
              <a:t>Model · signature
recipient keys</a:t>
            </a:r>
          </a:p>
        </p:txBody>
      </p:sp>
      <p:sp>
        <p:nvSpPr>
          <p:cNvPr id="68" name="Rounded Rectangle 67"/>
          <p:cNvSpPr/>
          <p:nvPr/>
        </p:nvSpPr>
        <p:spPr>
          <a:xfrm>
            <a:off x="8759952" y="4398264"/>
            <a:ext cx="2834640" cy="90525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ggregation: Finalize round"/>
          <p:cNvSpPr txBox="1"/>
          <p:nvPr/>
        </p:nvSpPr>
        <p:spPr>
          <a:xfrm>
            <a:off x="8915400" y="4489704"/>
            <a:ext cx="2523744" cy="292608"/>
          </a:xfrm>
          <a:prstGeom prst="rect">
            <a:avLst/>
          </a:prstGeom>
          <a:noFill/>
        </p:spPr>
        <p:txBody>
          <a:bodyPr wrap="square" lIns="0" rIns="0" tIns="0" bIns="0" anchor="ctr">
            <a:spAutoFit/>
          </a:bodyPr>
          <a:lstStyle/>
          <a:p>
            <a:pPr algn="ctr"/>
            <a:r>
              <a:rPr sz="1700" b="1" lang="en-US">
                <a:solidFill>
                  <a:srgbClr val="7446A6"/>
                </a:solidFill>
                <a:latin typeface="Arial"/>
              </a:rPr>
              <a:t>Finalize round</a:t>
            </a:r>
          </a:p>
        </p:txBody>
      </p:sp>
      <p:sp>
        <p:nvSpPr>
          <p:cNvPr id="70" name="Aggregation: Verify signed statement / Publish CIDs · advance"/>
          <p:cNvSpPr txBox="1"/>
          <p:nvPr/>
        </p:nvSpPr>
        <p:spPr>
          <a:xfrm>
            <a:off x="8915400" y="4818888"/>
            <a:ext cx="2523744" cy="429768"/>
          </a:xfrm>
          <a:prstGeom prst="rect">
            <a:avLst/>
          </a:prstGeom>
          <a:noFill/>
        </p:spPr>
        <p:txBody>
          <a:bodyPr wrap="square" lIns="0" rIns="0" tIns="0" bIns="0" anchor="ctr">
            <a:spAutoFit/>
          </a:bodyPr>
          <a:lstStyle/>
          <a:p>
            <a:pPr algn="ctr"/>
            <a:r>
              <a:rPr sz="1300" b="0" lang="en-US">
                <a:solidFill>
                  <a:srgbClr val="263440"/>
                </a:solidFill>
                <a:latin typeface="Arial"/>
              </a:rPr>
              <a:t>Verify signed statement
Publish CIDs · advance</a:t>
            </a:r>
          </a:p>
        </p:txBody>
      </p:sp>
      <p:cxnSp>
        <p:nvCxnSpPr>
          <p:cNvPr id="71" name="Connector 70"/>
          <p:cNvCxnSpPr/>
          <p:nvPr/>
        </p:nvCxnSpPr>
        <p:spPr>
          <a:xfrm>
            <a:off x="4270248" y="5349240"/>
            <a:ext cx="0" cy="283464"/>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270248" y="5632704"/>
            <a:ext cx="5907024"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0177272" y="5349240"/>
            <a:ext cx="0" cy="283464"/>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Aggregation: Signed statement + IPFS CIDs · one transaction"/>
          <p:cNvSpPr txBox="1"/>
          <p:nvPr/>
        </p:nvSpPr>
        <p:spPr>
          <a:xfrm>
            <a:off x="4690872" y="5349240"/>
            <a:ext cx="5148072" cy="219456"/>
          </a:xfrm>
          <a:prstGeom prst="rect">
            <a:avLst/>
          </a:prstGeom>
          <a:noFill/>
        </p:spPr>
        <p:txBody>
          <a:bodyPr wrap="square" lIns="0" rIns="0" tIns="0" bIns="0" anchor="ctr">
            <a:spAutoFit/>
          </a:bodyPr>
          <a:lstStyle/>
          <a:p>
            <a:pPr algn="ctr"/>
            <a:r>
              <a:rPr sz="1300" b="0" lang="en-US">
                <a:solidFill>
                  <a:srgbClr val="7446A6"/>
                </a:solidFill>
                <a:latin typeface="Arial"/>
              </a:rPr>
              <a:t>Signed statement + IPFS CIDs · one transaction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One fixed input set becomes one global model</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Aggregation: CLOSED INPUT SET"/>
          <p:cNvSpPr txBox="1"/>
          <p:nvPr/>
        </p:nvSpPr>
        <p:spPr>
          <a:xfrm>
            <a:off x="594360" y="1417320"/>
            <a:ext cx="2788920" cy="274320"/>
          </a:xfrm>
          <a:prstGeom prst="rect">
            <a:avLst/>
          </a:prstGeom>
          <a:noFill/>
        </p:spPr>
        <p:txBody>
          <a:bodyPr wrap="square" lIns="0" rIns="0" tIns="0" bIns="0" anchor="ctr">
            <a:spAutoFit/>
          </a:bodyPr>
          <a:lstStyle/>
          <a:p>
            <a:pPr algn="ctr"/>
            <a:r>
              <a:rPr sz="1500" b="1" lang="en-US">
                <a:solidFill>
                  <a:srgbClr val="207548"/>
                </a:solidFill>
                <a:latin typeface="Arial"/>
              </a:rPr>
              <a:t>CLOSED INPUT SET</a:t>
            </a:r>
          </a:p>
        </p:txBody>
      </p:sp>
      <p:sp>
        <p:nvSpPr>
          <p:cNvPr id="14" name="Rounded Rectangle 13"/>
          <p:cNvSpPr/>
          <p:nvPr/>
        </p:nvSpPr>
        <p:spPr>
          <a:xfrm>
            <a:off x="594360" y="1856231"/>
            <a:ext cx="2788920" cy="3282696"/>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3816" y="2167128"/>
            <a:ext cx="530352" cy="55778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6112" y="2276856"/>
            <a:ext cx="106679" cy="13716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8032" y="2276856"/>
            <a:ext cx="106679" cy="13716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9952" y="2276856"/>
            <a:ext cx="106679" cy="13716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 y="2446020"/>
            <a:ext cx="106679" cy="13716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8032" y="2446020"/>
            <a:ext cx="106679" cy="13716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39952" y="2446020"/>
            <a:ext cx="106679" cy="13716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ggregation: Worker A"/>
          <p:cNvSpPr txBox="1"/>
          <p:nvPr/>
        </p:nvSpPr>
        <p:spPr>
          <a:xfrm>
            <a:off x="1499616" y="2176272"/>
            <a:ext cx="1499616" cy="265176"/>
          </a:xfrm>
          <a:prstGeom prst="rect">
            <a:avLst/>
          </a:prstGeom>
          <a:noFill/>
        </p:spPr>
        <p:txBody>
          <a:bodyPr wrap="square" lIns="0" rIns="0" tIns="0" bIns="0" anchor="ctr">
            <a:spAutoFit/>
          </a:bodyPr>
          <a:lstStyle/>
          <a:p>
            <a:pPr algn="l"/>
            <a:r>
              <a:rPr sz="1600" b="1" lang="en-US">
                <a:solidFill>
                  <a:srgbClr val="207548"/>
                </a:solidFill>
                <a:latin typeface="Arial"/>
              </a:rPr>
              <a:t>Worker A</a:t>
            </a:r>
          </a:p>
        </p:txBody>
      </p:sp>
      <p:sp>
        <p:nvSpPr>
          <p:cNvPr id="23" name="Aggregation: Hash matched"/>
          <p:cNvSpPr txBox="1"/>
          <p:nvPr/>
        </p:nvSpPr>
        <p:spPr>
          <a:xfrm>
            <a:off x="1499616" y="2505456"/>
            <a:ext cx="1499616" cy="219456"/>
          </a:xfrm>
          <a:prstGeom prst="rect">
            <a:avLst/>
          </a:prstGeom>
          <a:noFill/>
        </p:spPr>
        <p:txBody>
          <a:bodyPr wrap="square" lIns="0" rIns="0" tIns="0" bIns="0" anchor="ctr">
            <a:spAutoFit/>
          </a:bodyPr>
          <a:lstStyle/>
          <a:p>
            <a:pPr algn="l"/>
            <a:r>
              <a:rPr sz="1300" b="0" lang="en-US">
                <a:solidFill>
                  <a:srgbClr val="263440"/>
                </a:solidFill>
                <a:latin typeface="Arial"/>
              </a:rPr>
              <a:t>Hash matched</a:t>
            </a:r>
          </a:p>
        </p:txBody>
      </p:sp>
      <p:sp>
        <p:nvSpPr>
          <p:cNvPr id="24" name="Rounded Rectangle 23"/>
          <p:cNvSpPr/>
          <p:nvPr/>
        </p:nvSpPr>
        <p:spPr>
          <a:xfrm>
            <a:off x="813816" y="2898648"/>
            <a:ext cx="530352" cy="55778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6112" y="3008376"/>
            <a:ext cx="106679" cy="13716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18032" y="3008376"/>
            <a:ext cx="106679" cy="13716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9952" y="3008376"/>
            <a:ext cx="106679" cy="13716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6112" y="3177540"/>
            <a:ext cx="106679" cy="13716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18032" y="3177540"/>
            <a:ext cx="106679" cy="13716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9952" y="3177540"/>
            <a:ext cx="106679" cy="13716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ggregation: Worker B"/>
          <p:cNvSpPr txBox="1"/>
          <p:nvPr/>
        </p:nvSpPr>
        <p:spPr>
          <a:xfrm>
            <a:off x="1499616" y="2907791"/>
            <a:ext cx="1499616" cy="265176"/>
          </a:xfrm>
          <a:prstGeom prst="rect">
            <a:avLst/>
          </a:prstGeom>
          <a:noFill/>
        </p:spPr>
        <p:txBody>
          <a:bodyPr wrap="square" lIns="0" rIns="0" tIns="0" bIns="0" anchor="ctr">
            <a:spAutoFit/>
          </a:bodyPr>
          <a:lstStyle/>
          <a:p>
            <a:pPr algn="l"/>
            <a:r>
              <a:rPr sz="1600" b="1" lang="en-US">
                <a:solidFill>
                  <a:srgbClr val="207548"/>
                </a:solidFill>
                <a:latin typeface="Arial"/>
              </a:rPr>
              <a:t>Worker B</a:t>
            </a:r>
          </a:p>
        </p:txBody>
      </p:sp>
      <p:sp>
        <p:nvSpPr>
          <p:cNvPr id="32" name="Aggregation: Hash matched"/>
          <p:cNvSpPr txBox="1"/>
          <p:nvPr/>
        </p:nvSpPr>
        <p:spPr>
          <a:xfrm>
            <a:off x="1499616" y="3236976"/>
            <a:ext cx="1499616" cy="219456"/>
          </a:xfrm>
          <a:prstGeom prst="rect">
            <a:avLst/>
          </a:prstGeom>
          <a:noFill/>
        </p:spPr>
        <p:txBody>
          <a:bodyPr wrap="square" lIns="0" rIns="0" tIns="0" bIns="0" anchor="ctr">
            <a:spAutoFit/>
          </a:bodyPr>
          <a:lstStyle/>
          <a:p>
            <a:pPr algn="l"/>
            <a:r>
              <a:rPr sz="1300" b="0" lang="en-US">
                <a:solidFill>
                  <a:srgbClr val="263440"/>
                </a:solidFill>
                <a:latin typeface="Arial"/>
              </a:rPr>
              <a:t>Hash matched</a:t>
            </a:r>
          </a:p>
        </p:txBody>
      </p:sp>
      <p:sp>
        <p:nvSpPr>
          <p:cNvPr id="33" name="Rounded Rectangle 32"/>
          <p:cNvSpPr/>
          <p:nvPr/>
        </p:nvSpPr>
        <p:spPr>
          <a:xfrm>
            <a:off x="813816" y="3630168"/>
            <a:ext cx="530352" cy="557784"/>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6112" y="3739896"/>
            <a:ext cx="106679" cy="13716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18032" y="3739896"/>
            <a:ext cx="106679" cy="13716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39952" y="3739896"/>
            <a:ext cx="106679" cy="13716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6112" y="3909059"/>
            <a:ext cx="106679" cy="13716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8032" y="3909059"/>
            <a:ext cx="106679" cy="137160"/>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39952" y="3909059"/>
            <a:ext cx="106679" cy="137160"/>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ggregation: Worker C"/>
          <p:cNvSpPr txBox="1"/>
          <p:nvPr/>
        </p:nvSpPr>
        <p:spPr>
          <a:xfrm>
            <a:off x="1499616" y="3639312"/>
            <a:ext cx="1499616" cy="265176"/>
          </a:xfrm>
          <a:prstGeom prst="rect">
            <a:avLst/>
          </a:prstGeom>
          <a:noFill/>
        </p:spPr>
        <p:txBody>
          <a:bodyPr wrap="square" lIns="0" rIns="0" tIns="0" bIns="0" anchor="ctr">
            <a:spAutoFit/>
          </a:bodyPr>
          <a:lstStyle/>
          <a:p>
            <a:pPr algn="l"/>
            <a:r>
              <a:rPr sz="1600" b="1" lang="en-US">
                <a:solidFill>
                  <a:srgbClr val="207548"/>
                </a:solidFill>
                <a:latin typeface="Arial"/>
              </a:rPr>
              <a:t>Worker C</a:t>
            </a:r>
          </a:p>
        </p:txBody>
      </p:sp>
      <p:sp>
        <p:nvSpPr>
          <p:cNvPr id="41" name="Aggregation: Hash matched"/>
          <p:cNvSpPr txBox="1"/>
          <p:nvPr/>
        </p:nvSpPr>
        <p:spPr>
          <a:xfrm>
            <a:off x="1499616" y="3968496"/>
            <a:ext cx="1499616" cy="219456"/>
          </a:xfrm>
          <a:prstGeom prst="rect">
            <a:avLst/>
          </a:prstGeom>
          <a:noFill/>
        </p:spPr>
        <p:txBody>
          <a:bodyPr wrap="square" lIns="0" rIns="0" tIns="0" bIns="0" anchor="ctr">
            <a:spAutoFit/>
          </a:bodyPr>
          <a:lstStyle/>
          <a:p>
            <a:pPr algn="l"/>
            <a:r>
              <a:rPr sz="1300" b="0" lang="en-US">
                <a:solidFill>
                  <a:srgbClr val="263440"/>
                </a:solidFill>
                <a:latin typeface="Arial"/>
              </a:rPr>
              <a:t>Hash matched</a:t>
            </a:r>
          </a:p>
        </p:txBody>
      </p:sp>
      <p:sp>
        <p:nvSpPr>
          <p:cNvPr id="42" name="Aggregation: 3 accepted / 3 must be used"/>
          <p:cNvSpPr txBox="1"/>
          <p:nvPr/>
        </p:nvSpPr>
        <p:spPr>
          <a:xfrm>
            <a:off x="795528" y="4453128"/>
            <a:ext cx="2386584" cy="548640"/>
          </a:xfrm>
          <a:prstGeom prst="rect">
            <a:avLst/>
          </a:prstGeom>
          <a:noFill/>
        </p:spPr>
        <p:txBody>
          <a:bodyPr wrap="square" lIns="0" rIns="0" tIns="0" bIns="0" anchor="ctr">
            <a:spAutoFit/>
          </a:bodyPr>
          <a:lstStyle/>
          <a:p>
            <a:pPr algn="ctr"/>
            <a:r>
              <a:rPr sz="1500" b="1" lang="en-US">
                <a:solidFill>
                  <a:srgbClr val="207548"/>
                </a:solidFill>
                <a:latin typeface="Arial"/>
              </a:rPr>
              <a:t>3 accepted
3 must be used</a:t>
            </a:r>
          </a:p>
        </p:txBody>
      </p:sp>
      <p:sp>
        <p:nvSpPr>
          <p:cNvPr id="43" name="Aggregation: Example: three accepted models"/>
          <p:cNvSpPr txBox="1"/>
          <p:nvPr/>
        </p:nvSpPr>
        <p:spPr>
          <a:xfrm>
            <a:off x="594360" y="5294376"/>
            <a:ext cx="2788920" cy="237744"/>
          </a:xfrm>
          <a:prstGeom prst="rect">
            <a:avLst/>
          </a:prstGeom>
          <a:noFill/>
        </p:spPr>
        <p:txBody>
          <a:bodyPr wrap="square" lIns="0" rIns="0" tIns="0" bIns="0" anchor="ctr">
            <a:spAutoFit/>
          </a:bodyPr>
          <a:lstStyle/>
          <a:p>
            <a:pPr algn="ctr"/>
            <a:r>
              <a:rPr sz="1250" b="0" lang="en-US">
                <a:solidFill>
                  <a:srgbClr val="67747C"/>
                </a:solidFill>
                <a:latin typeface="Arial"/>
              </a:rPr>
              <a:t>Example: three accepted models</a:t>
            </a:r>
          </a:p>
        </p:txBody>
      </p:sp>
      <p:cxnSp>
        <p:nvCxnSpPr>
          <p:cNvPr id="44" name="Connector 43"/>
          <p:cNvCxnSpPr/>
          <p:nvPr/>
        </p:nvCxnSpPr>
        <p:spPr>
          <a:xfrm>
            <a:off x="3438144" y="3136392"/>
            <a:ext cx="585216" cy="0"/>
          </a:xfrm>
          <a:prstGeom prst="line">
            <a:avLst/>
          </a:prstGeom>
          <a:ln w="2540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4087368" y="2148840"/>
            <a:ext cx="2084831" cy="2084831"/>
          </a:xfrm>
          <a:prstGeom prst="ellipse">
            <a:avLst/>
          </a:prstGeom>
          <a:solidFill>
            <a:srgbClr val="EDF6F0"/>
          </a:solidFill>
          <a:ln w="2159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ggregation: FedAvg"/>
          <p:cNvSpPr txBox="1"/>
          <p:nvPr/>
        </p:nvSpPr>
        <p:spPr>
          <a:xfrm>
            <a:off x="4242816" y="2633472"/>
            <a:ext cx="1773936" cy="411480"/>
          </a:xfrm>
          <a:prstGeom prst="rect">
            <a:avLst/>
          </a:prstGeom>
          <a:noFill/>
        </p:spPr>
        <p:txBody>
          <a:bodyPr wrap="square" lIns="0" rIns="0" tIns="0" bIns="0" anchor="ctr">
            <a:spAutoFit/>
          </a:bodyPr>
          <a:lstStyle/>
          <a:p>
            <a:pPr algn="ctr"/>
            <a:r>
              <a:rPr sz="2500" b="1" lang="en-US">
                <a:solidFill>
                  <a:srgbClr val="207548"/>
                </a:solidFill>
                <a:latin typeface="Arial"/>
              </a:rPr>
              <a:t>FedAvg</a:t>
            </a:r>
          </a:p>
        </p:txBody>
      </p:sp>
      <p:sp>
        <p:nvSpPr>
          <p:cNvPr id="47" name="Aggregation: Average each / parameter"/>
          <p:cNvSpPr txBox="1"/>
          <p:nvPr/>
        </p:nvSpPr>
        <p:spPr>
          <a:xfrm>
            <a:off x="4270248" y="3182112"/>
            <a:ext cx="1719072" cy="585216"/>
          </a:xfrm>
          <a:prstGeom prst="rect">
            <a:avLst/>
          </a:prstGeom>
          <a:noFill/>
        </p:spPr>
        <p:txBody>
          <a:bodyPr wrap="square" lIns="0" rIns="0" tIns="0" bIns="0" anchor="ctr">
            <a:spAutoFit/>
          </a:bodyPr>
          <a:lstStyle/>
          <a:p>
            <a:pPr algn="ctr"/>
            <a:r>
              <a:rPr sz="1600" b="0" lang="en-US">
                <a:solidFill>
                  <a:srgbClr val="263440"/>
                </a:solidFill>
                <a:latin typeface="Arial"/>
              </a:rPr>
              <a:t>Average each
parameter</a:t>
            </a:r>
          </a:p>
        </p:txBody>
      </p:sp>
      <p:sp>
        <p:nvSpPr>
          <p:cNvPr id="48" name="Aggregation: Equal weight per model"/>
          <p:cNvSpPr txBox="1"/>
          <p:nvPr/>
        </p:nvSpPr>
        <p:spPr>
          <a:xfrm>
            <a:off x="3803904" y="1645920"/>
            <a:ext cx="2651760" cy="256032"/>
          </a:xfrm>
          <a:prstGeom prst="rect">
            <a:avLst/>
          </a:prstGeom>
          <a:noFill/>
        </p:spPr>
        <p:txBody>
          <a:bodyPr wrap="square" lIns="0" rIns="0" tIns="0" bIns="0" anchor="ctr">
            <a:spAutoFit/>
          </a:bodyPr>
          <a:lstStyle/>
          <a:p>
            <a:pPr algn="ctr"/>
            <a:r>
              <a:rPr sz="1400" b="0" lang="en-US">
                <a:solidFill>
                  <a:srgbClr val="207548"/>
                </a:solidFill>
                <a:latin typeface="Arial"/>
              </a:rPr>
              <a:t>Equal weight per model</a:t>
            </a:r>
          </a:p>
        </p:txBody>
      </p:sp>
      <p:cxnSp>
        <p:nvCxnSpPr>
          <p:cNvPr id="49" name="Connector 48"/>
          <p:cNvCxnSpPr/>
          <p:nvPr/>
        </p:nvCxnSpPr>
        <p:spPr>
          <a:xfrm>
            <a:off x="6227064" y="3136392"/>
            <a:ext cx="585216" cy="0"/>
          </a:xfrm>
          <a:prstGeom prst="line">
            <a:avLst/>
          </a:prstGeom>
          <a:ln w="2540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6867144" y="2679192"/>
            <a:ext cx="804672" cy="914400"/>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949440" y="2788920"/>
            <a:ext cx="198120" cy="315468"/>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162800" y="2788920"/>
            <a:ext cx="198120" cy="315468"/>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376160" y="2788920"/>
            <a:ext cx="198120" cy="315468"/>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949440" y="3136392"/>
            <a:ext cx="198120" cy="315468"/>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62800" y="3136392"/>
            <a:ext cx="198120" cy="315468"/>
          </a:xfrm>
          <a:prstGeom prst="rect">
            <a:avLst/>
          </a:prstGeom>
          <a:solidFill>
            <a:srgbClr val="ED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376160" y="3136392"/>
            <a:ext cx="198120" cy="315468"/>
          </a:xfrm>
          <a:prstGeom prst="rect">
            <a:avLst/>
          </a:prstGeom>
          <a:solidFill>
            <a:srgbClr val="20754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ggregation: Global / model"/>
          <p:cNvSpPr txBox="1"/>
          <p:nvPr/>
        </p:nvSpPr>
        <p:spPr>
          <a:xfrm>
            <a:off x="6711696" y="3685032"/>
            <a:ext cx="1115568" cy="585216"/>
          </a:xfrm>
          <a:prstGeom prst="rect">
            <a:avLst/>
          </a:prstGeom>
          <a:noFill/>
        </p:spPr>
        <p:txBody>
          <a:bodyPr wrap="square" lIns="0" rIns="0" tIns="0" bIns="0" anchor="ctr">
            <a:spAutoFit/>
          </a:bodyPr>
          <a:lstStyle/>
          <a:p>
            <a:pPr algn="ctr"/>
            <a:r>
              <a:rPr sz="1600" b="1" lang="en-US">
                <a:solidFill>
                  <a:srgbClr val="207548"/>
                </a:solidFill>
                <a:latin typeface="Arial"/>
              </a:rPr>
              <a:t>Global
model</a:t>
            </a:r>
          </a:p>
        </p:txBody>
      </p:sp>
      <p:cxnSp>
        <p:nvCxnSpPr>
          <p:cNvPr id="58" name="Connector 57"/>
          <p:cNvCxnSpPr/>
          <p:nvPr/>
        </p:nvCxnSpPr>
        <p:spPr>
          <a:xfrm>
            <a:off x="7726679" y="3136392"/>
            <a:ext cx="1143001" cy="0"/>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Aggregation: Encrypt"/>
          <p:cNvSpPr txBox="1"/>
          <p:nvPr/>
        </p:nvSpPr>
        <p:spPr>
          <a:xfrm>
            <a:off x="7717536" y="2779776"/>
            <a:ext cx="1124712" cy="246888"/>
          </a:xfrm>
          <a:prstGeom prst="rect">
            <a:avLst/>
          </a:prstGeom>
          <a:noFill/>
        </p:spPr>
        <p:txBody>
          <a:bodyPr wrap="square" lIns="0" rIns="0" tIns="0" bIns="0" anchor="ctr">
            <a:spAutoFit/>
          </a:bodyPr>
          <a:lstStyle/>
          <a:p>
            <a:pPr algn="ctr"/>
            <a:r>
              <a:rPr sz="1300" b="0" lang="en-US">
                <a:solidFill>
                  <a:srgbClr val="7446A6"/>
                </a:solidFill>
                <a:latin typeface="Arial"/>
              </a:rPr>
              <a:t>Encrypt</a:t>
            </a:r>
          </a:p>
        </p:txBody>
      </p:sp>
      <p:sp>
        <p:nvSpPr>
          <p:cNvPr id="60" name="Rounded Rectangle 59"/>
          <p:cNvSpPr/>
          <p:nvPr/>
        </p:nvSpPr>
        <p:spPr>
          <a:xfrm>
            <a:off x="8924544" y="2478024"/>
            <a:ext cx="2670048" cy="1325880"/>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ggregation: IPFS"/>
          <p:cNvSpPr txBox="1"/>
          <p:nvPr/>
        </p:nvSpPr>
        <p:spPr>
          <a:xfrm>
            <a:off x="9098280" y="2633472"/>
            <a:ext cx="2322576" cy="338328"/>
          </a:xfrm>
          <a:prstGeom prst="rect">
            <a:avLst/>
          </a:prstGeom>
          <a:noFill/>
        </p:spPr>
        <p:txBody>
          <a:bodyPr wrap="square" lIns="0" rIns="0" tIns="0" bIns="0" anchor="ctr">
            <a:spAutoFit/>
          </a:bodyPr>
          <a:lstStyle/>
          <a:p>
            <a:pPr algn="ctr"/>
            <a:r>
              <a:rPr sz="2200" b="1" lang="en-US">
                <a:solidFill>
                  <a:srgbClr val="7446A6"/>
                </a:solidFill>
                <a:latin typeface="Arial"/>
              </a:rPr>
              <a:t>IPFS</a:t>
            </a:r>
          </a:p>
        </p:txBody>
      </p:sp>
      <p:sp>
        <p:nvSpPr>
          <p:cNvPr id="62" name="Aggregation: Encrypted model bundle / Signature + recipient keys"/>
          <p:cNvSpPr txBox="1"/>
          <p:nvPr/>
        </p:nvSpPr>
        <p:spPr>
          <a:xfrm>
            <a:off x="9098280" y="3172968"/>
            <a:ext cx="2322576" cy="502920"/>
          </a:xfrm>
          <a:prstGeom prst="rect">
            <a:avLst/>
          </a:prstGeom>
          <a:noFill/>
        </p:spPr>
        <p:txBody>
          <a:bodyPr wrap="square" lIns="0" rIns="0" tIns="0" bIns="0" anchor="ctr">
            <a:spAutoFit/>
          </a:bodyPr>
          <a:lstStyle/>
          <a:p>
            <a:pPr algn="ctr"/>
            <a:r>
              <a:rPr sz="1350" b="0" lang="en-US">
                <a:solidFill>
                  <a:srgbClr val="263440"/>
                </a:solidFill>
                <a:latin typeface="Arial"/>
              </a:rPr>
              <a:t>Encrypted model bundle
Signature + recipient keys</a:t>
            </a:r>
          </a:p>
        </p:txBody>
      </p:sp>
      <p:cxnSp>
        <p:nvCxnSpPr>
          <p:cNvPr id="63" name="Connector 62"/>
          <p:cNvCxnSpPr/>
          <p:nvPr/>
        </p:nvCxnSpPr>
        <p:spPr>
          <a:xfrm>
            <a:off x="10259568" y="3849624"/>
            <a:ext cx="0" cy="448056"/>
          </a:xfrm>
          <a:prstGeom prst="line">
            <a:avLst/>
          </a:prstGeom>
          <a:ln w="2286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504688" y="4297680"/>
            <a:ext cx="4754880" cy="0"/>
          </a:xfrm>
          <a:prstGeom prst="line">
            <a:avLst/>
          </a:prstGeom>
          <a:ln w="2286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504688" y="4297680"/>
            <a:ext cx="0" cy="36576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Aggregation: Three IPFS CIDs"/>
          <p:cNvSpPr txBox="1"/>
          <p:nvPr/>
        </p:nvSpPr>
        <p:spPr>
          <a:xfrm>
            <a:off x="7927848" y="3968496"/>
            <a:ext cx="2157984" cy="237744"/>
          </a:xfrm>
          <a:prstGeom prst="rect">
            <a:avLst/>
          </a:prstGeom>
          <a:noFill/>
        </p:spPr>
        <p:txBody>
          <a:bodyPr wrap="square" lIns="0" rIns="0" tIns="0" bIns="0" anchor="ctr">
            <a:spAutoFit/>
          </a:bodyPr>
          <a:lstStyle/>
          <a:p>
            <a:pPr algn="ctr"/>
            <a:r>
              <a:rPr sz="1300" b="0" lang="en-US">
                <a:solidFill>
                  <a:srgbClr val="7446A6"/>
                </a:solidFill>
                <a:latin typeface="Arial"/>
              </a:rPr>
              <a:t>Three IPFS CIDs</a:t>
            </a:r>
          </a:p>
        </p:txBody>
      </p:sp>
      <p:sp>
        <p:nvSpPr>
          <p:cNvPr id="67" name="Rounded Rectangle 66"/>
          <p:cNvSpPr/>
          <p:nvPr/>
        </p:nvSpPr>
        <p:spPr>
          <a:xfrm>
            <a:off x="3913632" y="4709160"/>
            <a:ext cx="3200400" cy="813816"/>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ggregation: Aggregator signs"/>
          <p:cNvSpPr txBox="1"/>
          <p:nvPr/>
        </p:nvSpPr>
        <p:spPr>
          <a:xfrm>
            <a:off x="4087368" y="4809744"/>
            <a:ext cx="2852928" cy="292608"/>
          </a:xfrm>
          <a:prstGeom prst="rect">
            <a:avLst/>
          </a:prstGeom>
          <a:noFill/>
        </p:spPr>
        <p:txBody>
          <a:bodyPr wrap="square" lIns="0" rIns="0" tIns="0" bIns="0" anchor="ctr">
            <a:spAutoFit/>
          </a:bodyPr>
          <a:lstStyle/>
          <a:p>
            <a:pPr algn="ctr"/>
            <a:r>
              <a:rPr sz="1800" b="1" lang="en-US">
                <a:solidFill>
                  <a:srgbClr val="207548"/>
                </a:solidFill>
                <a:latin typeface="Arial"/>
              </a:rPr>
              <a:t>Aggregator signs</a:t>
            </a:r>
          </a:p>
        </p:txBody>
      </p:sp>
      <p:sp>
        <p:nvSpPr>
          <p:cNvPr id="69" name="Aggregation: Inputs · rule · output · CIDs"/>
          <p:cNvSpPr txBox="1"/>
          <p:nvPr/>
        </p:nvSpPr>
        <p:spPr>
          <a:xfrm>
            <a:off x="4087368" y="5230368"/>
            <a:ext cx="2852928" cy="210312"/>
          </a:xfrm>
          <a:prstGeom prst="rect">
            <a:avLst/>
          </a:prstGeom>
          <a:noFill/>
        </p:spPr>
        <p:txBody>
          <a:bodyPr wrap="square" lIns="0" rIns="0" tIns="0" bIns="0" anchor="ctr">
            <a:spAutoFit/>
          </a:bodyPr>
          <a:lstStyle/>
          <a:p>
            <a:pPr algn="ctr"/>
            <a:r>
              <a:rPr sz="1300" b="0" lang="en-US">
                <a:solidFill>
                  <a:srgbClr val="263440"/>
                </a:solidFill>
                <a:latin typeface="Arial"/>
              </a:rPr>
              <a:t>Inputs · rule · output · CIDs</a:t>
            </a:r>
          </a:p>
        </p:txBody>
      </p:sp>
      <p:cxnSp>
        <p:nvCxnSpPr>
          <p:cNvPr id="70" name="Connector 69"/>
          <p:cNvCxnSpPr/>
          <p:nvPr/>
        </p:nvCxnSpPr>
        <p:spPr>
          <a:xfrm>
            <a:off x="7168896" y="5116068"/>
            <a:ext cx="1161287" cy="0"/>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Aggregation: One tx"/>
          <p:cNvSpPr txBox="1"/>
          <p:nvPr/>
        </p:nvSpPr>
        <p:spPr>
          <a:xfrm>
            <a:off x="7196328" y="4745736"/>
            <a:ext cx="1106424" cy="237744"/>
          </a:xfrm>
          <a:prstGeom prst="rect">
            <a:avLst/>
          </a:prstGeom>
          <a:noFill/>
        </p:spPr>
        <p:txBody>
          <a:bodyPr wrap="square" lIns="0" rIns="0" tIns="0" bIns="0" anchor="ctr">
            <a:spAutoFit/>
          </a:bodyPr>
          <a:lstStyle/>
          <a:p>
            <a:pPr algn="ctr"/>
            <a:r>
              <a:rPr sz="1300" b="0" lang="en-US">
                <a:solidFill>
                  <a:srgbClr val="7446A6"/>
                </a:solidFill>
                <a:latin typeface="Arial"/>
              </a:rPr>
              <a:t>One tx</a:t>
            </a:r>
          </a:p>
        </p:txBody>
      </p:sp>
      <p:sp>
        <p:nvSpPr>
          <p:cNvPr id="72" name="Rounded Rectangle 71"/>
          <p:cNvSpPr/>
          <p:nvPr/>
        </p:nvSpPr>
        <p:spPr>
          <a:xfrm>
            <a:off x="8385048" y="4709160"/>
            <a:ext cx="3209544" cy="813816"/>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ggregation: Blockchain finalizes"/>
          <p:cNvSpPr txBox="1"/>
          <p:nvPr/>
        </p:nvSpPr>
        <p:spPr>
          <a:xfrm>
            <a:off x="8540496" y="4809744"/>
            <a:ext cx="2898648" cy="292608"/>
          </a:xfrm>
          <a:prstGeom prst="rect">
            <a:avLst/>
          </a:prstGeom>
          <a:noFill/>
        </p:spPr>
        <p:txBody>
          <a:bodyPr wrap="square" lIns="0" rIns="0" tIns="0" bIns="0" anchor="ctr">
            <a:spAutoFit/>
          </a:bodyPr>
          <a:lstStyle/>
          <a:p>
            <a:pPr algn="ctr"/>
            <a:r>
              <a:rPr sz="1700" b="1" lang="en-US">
                <a:solidFill>
                  <a:srgbClr val="7446A6"/>
                </a:solidFill>
                <a:latin typeface="Arial"/>
              </a:rPr>
              <a:t>Blockchain finalizes</a:t>
            </a:r>
          </a:p>
        </p:txBody>
      </p:sp>
      <p:sp>
        <p:nvSpPr>
          <p:cNvPr id="74" name="Aggregation: Check signature · publish · advance"/>
          <p:cNvSpPr txBox="1"/>
          <p:nvPr/>
        </p:nvSpPr>
        <p:spPr>
          <a:xfrm>
            <a:off x="8513064" y="5230368"/>
            <a:ext cx="2953512" cy="210312"/>
          </a:xfrm>
          <a:prstGeom prst="rect">
            <a:avLst/>
          </a:prstGeom>
          <a:noFill/>
        </p:spPr>
        <p:txBody>
          <a:bodyPr wrap="square" lIns="0" rIns="0" tIns="0" bIns="0" anchor="ctr">
            <a:spAutoFit/>
          </a:bodyPr>
          <a:lstStyle/>
          <a:p>
            <a:pPr algn="ctr"/>
            <a:r>
              <a:rPr sz="1250" b="0" lang="en-US">
                <a:solidFill>
                  <a:srgbClr val="263440"/>
                </a:solidFill>
                <a:latin typeface="Arial"/>
              </a:rPr>
              <a:t>Check signature · publish · advance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One signed statement binds the round to its result</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C</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sp>
        <p:nvSpPr>
          <p:cNvPr id="13" name="Aggregation: TEE AGGREGATOR"/>
          <p:cNvSpPr txBox="1"/>
          <p:nvPr/>
        </p:nvSpPr>
        <p:spPr>
          <a:xfrm>
            <a:off x="594360" y="1399032"/>
            <a:ext cx="2743200" cy="292608"/>
          </a:xfrm>
          <a:prstGeom prst="rect">
            <a:avLst/>
          </a:prstGeom>
          <a:noFill/>
        </p:spPr>
        <p:txBody>
          <a:bodyPr wrap="square" lIns="0" rIns="0" tIns="0" bIns="0" anchor="ctr">
            <a:spAutoFit/>
          </a:bodyPr>
          <a:lstStyle/>
          <a:p>
            <a:pPr algn="ctr"/>
            <a:r>
              <a:rPr sz="1400" b="1" lang="en-US">
                <a:solidFill>
                  <a:srgbClr val="207548"/>
                </a:solidFill>
                <a:latin typeface="Arial"/>
              </a:rPr>
              <a:t>TEE AGGREGATOR</a:t>
            </a:r>
          </a:p>
        </p:txBody>
      </p:sp>
      <p:sp>
        <p:nvSpPr>
          <p:cNvPr id="14" name="Aggregation: BOUND BY ONE SIGNATURE"/>
          <p:cNvSpPr txBox="1"/>
          <p:nvPr/>
        </p:nvSpPr>
        <p:spPr>
          <a:xfrm>
            <a:off x="3895344" y="1399032"/>
            <a:ext cx="3813048" cy="292608"/>
          </a:xfrm>
          <a:prstGeom prst="rect">
            <a:avLst/>
          </a:prstGeom>
          <a:noFill/>
        </p:spPr>
        <p:txBody>
          <a:bodyPr wrap="square" lIns="0" rIns="0" tIns="0" bIns="0" anchor="ctr">
            <a:spAutoFit/>
          </a:bodyPr>
          <a:lstStyle/>
          <a:p>
            <a:pPr algn="ctr"/>
            <a:r>
              <a:rPr sz="1400" b="1" lang="en-US">
                <a:solidFill>
                  <a:srgbClr val="207548"/>
                </a:solidFill>
                <a:latin typeface="Arial"/>
              </a:rPr>
              <a:t>BOUND BY ONE SIGNATURE</a:t>
            </a:r>
          </a:p>
        </p:txBody>
      </p:sp>
      <p:sp>
        <p:nvSpPr>
          <p:cNvPr id="15" name="Aggregation: ON-CHAIN FINALIZATION"/>
          <p:cNvSpPr txBox="1"/>
          <p:nvPr/>
        </p:nvSpPr>
        <p:spPr>
          <a:xfrm>
            <a:off x="8321040" y="1399032"/>
            <a:ext cx="3264408" cy="292608"/>
          </a:xfrm>
          <a:prstGeom prst="rect">
            <a:avLst/>
          </a:prstGeom>
          <a:noFill/>
        </p:spPr>
        <p:txBody>
          <a:bodyPr wrap="square" lIns="0" rIns="0" tIns="0" bIns="0" anchor="ctr">
            <a:spAutoFit/>
          </a:bodyPr>
          <a:lstStyle/>
          <a:p>
            <a:pPr algn="ctr"/>
            <a:r>
              <a:rPr sz="1400" b="1" lang="en-US">
                <a:solidFill>
                  <a:srgbClr val="7446A6"/>
                </a:solidFill>
                <a:latin typeface="Arial"/>
              </a:rPr>
              <a:t>ON-CHAIN FINALIZATION</a:t>
            </a:r>
          </a:p>
        </p:txBody>
      </p:sp>
      <p:sp>
        <p:nvSpPr>
          <p:cNvPr id="16" name="Rounded Rectangle 15"/>
          <p:cNvSpPr/>
          <p:nvPr/>
        </p:nvSpPr>
        <p:spPr>
          <a:xfrm>
            <a:off x="594360" y="1847088"/>
            <a:ext cx="2743200" cy="1353312"/>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ggregation: Closed inputs"/>
          <p:cNvSpPr txBox="1"/>
          <p:nvPr/>
        </p:nvSpPr>
        <p:spPr>
          <a:xfrm>
            <a:off x="777240" y="1938528"/>
            <a:ext cx="2377440" cy="320040"/>
          </a:xfrm>
          <a:prstGeom prst="rect">
            <a:avLst/>
          </a:prstGeom>
          <a:noFill/>
        </p:spPr>
        <p:txBody>
          <a:bodyPr wrap="square" lIns="0" rIns="0" tIns="0" bIns="0" anchor="ctr">
            <a:spAutoFit/>
          </a:bodyPr>
          <a:lstStyle/>
          <a:p>
            <a:pPr algn="ctr"/>
            <a:r>
              <a:rPr sz="2100" b="1" lang="en-US">
                <a:solidFill>
                  <a:srgbClr val="207548"/>
                </a:solidFill>
                <a:latin typeface="Arial"/>
              </a:rPr>
              <a:t>Closed inputs</a:t>
            </a:r>
          </a:p>
        </p:txBody>
      </p:sp>
      <p:sp>
        <p:nvSpPr>
          <p:cNvPr id="18" name="Aggregation: Round + aggregator"/>
          <p:cNvSpPr txBox="1"/>
          <p:nvPr/>
        </p:nvSpPr>
        <p:spPr>
          <a:xfrm>
            <a:off x="768096" y="2350008"/>
            <a:ext cx="2395728" cy="246888"/>
          </a:xfrm>
          <a:prstGeom prst="rect">
            <a:avLst/>
          </a:prstGeom>
          <a:noFill/>
        </p:spPr>
        <p:txBody>
          <a:bodyPr wrap="square" lIns="0" rIns="0" tIns="0" bIns="0" anchor="ctr">
            <a:spAutoFit/>
          </a:bodyPr>
          <a:lstStyle/>
          <a:p>
            <a:pPr algn="ctr"/>
            <a:r>
              <a:rPr sz="1400" b="0" lang="en-US">
                <a:solidFill>
                  <a:srgbClr val="263440"/>
                </a:solidFill>
                <a:latin typeface="Arial"/>
              </a:rPr>
              <a:t>Round + aggregator</a:t>
            </a:r>
          </a:p>
        </p:txBody>
      </p:sp>
      <p:sp>
        <p:nvSpPr>
          <p:cNvPr id="19" name="Aggregation: Input fingerprint + count"/>
          <p:cNvSpPr txBox="1"/>
          <p:nvPr/>
        </p:nvSpPr>
        <p:spPr>
          <a:xfrm>
            <a:off x="768096" y="2624328"/>
            <a:ext cx="2395728" cy="246888"/>
          </a:xfrm>
          <a:prstGeom prst="rect">
            <a:avLst/>
          </a:prstGeom>
          <a:noFill/>
        </p:spPr>
        <p:txBody>
          <a:bodyPr wrap="square" lIns="0" rIns="0" tIns="0" bIns="0" anchor="ctr">
            <a:spAutoFit/>
          </a:bodyPr>
          <a:lstStyle/>
          <a:p>
            <a:pPr algn="ctr"/>
            <a:r>
              <a:rPr sz="1400" b="0" lang="en-US">
                <a:solidFill>
                  <a:srgbClr val="263440"/>
                </a:solidFill>
                <a:latin typeface="Arial"/>
              </a:rPr>
              <a:t>Input fingerprint + count</a:t>
            </a:r>
          </a:p>
        </p:txBody>
      </p:sp>
      <p:sp>
        <p:nvSpPr>
          <p:cNvPr id="20" name="Aggregation: FedAvg + active policy"/>
          <p:cNvSpPr txBox="1"/>
          <p:nvPr/>
        </p:nvSpPr>
        <p:spPr>
          <a:xfrm>
            <a:off x="768096" y="2898648"/>
            <a:ext cx="2395728" cy="246888"/>
          </a:xfrm>
          <a:prstGeom prst="rect">
            <a:avLst/>
          </a:prstGeom>
          <a:noFill/>
        </p:spPr>
        <p:txBody>
          <a:bodyPr wrap="square" lIns="0" rIns="0" tIns="0" bIns="0" anchor="ctr">
            <a:spAutoFit/>
          </a:bodyPr>
          <a:lstStyle/>
          <a:p>
            <a:pPr algn="ctr"/>
            <a:r>
              <a:rPr sz="1400" b="0" lang="en-US">
                <a:solidFill>
                  <a:srgbClr val="263440"/>
                </a:solidFill>
                <a:latin typeface="Arial"/>
              </a:rPr>
              <a:t>FedAvg + active policy</a:t>
            </a:r>
          </a:p>
        </p:txBody>
      </p:sp>
      <p:sp>
        <p:nvSpPr>
          <p:cNvPr id="21" name="Rounded Rectangle 20"/>
          <p:cNvSpPr/>
          <p:nvPr/>
        </p:nvSpPr>
        <p:spPr>
          <a:xfrm>
            <a:off x="594360" y="3557016"/>
            <a:ext cx="2743200" cy="1600200"/>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ggregation: Published output"/>
          <p:cNvSpPr txBox="1"/>
          <p:nvPr/>
        </p:nvSpPr>
        <p:spPr>
          <a:xfrm>
            <a:off x="758952" y="3648456"/>
            <a:ext cx="2414016" cy="329184"/>
          </a:xfrm>
          <a:prstGeom prst="rect">
            <a:avLst/>
          </a:prstGeom>
          <a:noFill/>
        </p:spPr>
        <p:txBody>
          <a:bodyPr wrap="square" lIns="0" rIns="0" tIns="0" bIns="0" anchor="ctr">
            <a:spAutoFit/>
          </a:bodyPr>
          <a:lstStyle/>
          <a:p>
            <a:pPr algn="ctr"/>
            <a:r>
              <a:rPr sz="1800" b="1" lang="en-US">
                <a:solidFill>
                  <a:srgbClr val="207548"/>
                </a:solidFill>
                <a:latin typeface="Arial"/>
              </a:rPr>
              <a:t>Published output</a:t>
            </a:r>
          </a:p>
        </p:txBody>
      </p:sp>
      <p:sp>
        <p:nvSpPr>
          <p:cNvPr id="23" name="Aggregation: Signed, encrypted model"/>
          <p:cNvSpPr txBox="1"/>
          <p:nvPr/>
        </p:nvSpPr>
        <p:spPr>
          <a:xfrm>
            <a:off x="731520" y="4041648"/>
            <a:ext cx="2468880" cy="283464"/>
          </a:xfrm>
          <a:prstGeom prst="rect">
            <a:avLst/>
          </a:prstGeom>
          <a:noFill/>
        </p:spPr>
        <p:txBody>
          <a:bodyPr wrap="square" lIns="0" rIns="0" tIns="0" bIns="0" anchor="ctr">
            <a:spAutoFit/>
          </a:bodyPr>
          <a:lstStyle/>
          <a:p>
            <a:pPr algn="ctr"/>
            <a:r>
              <a:rPr sz="1350" b="0" lang="en-US">
                <a:solidFill>
                  <a:srgbClr val="263440"/>
                </a:solidFill>
                <a:latin typeface="Arial"/>
              </a:rPr>
              <a:t>Signed, encrypted model</a:t>
            </a:r>
          </a:p>
        </p:txBody>
      </p:sp>
      <p:sp>
        <p:nvSpPr>
          <p:cNvPr id="24" name="Rounded Rectangle 23"/>
          <p:cNvSpPr/>
          <p:nvPr/>
        </p:nvSpPr>
        <p:spPr>
          <a:xfrm>
            <a:off x="768096" y="4462272"/>
            <a:ext cx="694944" cy="374904"/>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ggregation: IPFS"/>
          <p:cNvSpPr txBox="1"/>
          <p:nvPr/>
        </p:nvSpPr>
        <p:spPr>
          <a:xfrm>
            <a:off x="841247" y="4494276"/>
            <a:ext cx="548640" cy="310896"/>
          </a:xfrm>
          <a:prstGeom prst="rect">
            <a:avLst/>
          </a:prstGeom>
          <a:noFill/>
        </p:spPr>
        <p:txBody>
          <a:bodyPr wrap="square" lIns="0" rIns="0" tIns="0" bIns="0" anchor="ctr">
            <a:spAutoFit/>
          </a:bodyPr>
          <a:lstStyle/>
          <a:p>
            <a:pPr algn="ctr"/>
            <a:r>
              <a:rPr sz="1500" b="1" lang="en-US">
                <a:solidFill>
                  <a:srgbClr val="1764A1"/>
                </a:solidFill>
                <a:latin typeface="Arial"/>
              </a:rPr>
              <a:t>IPFS</a:t>
            </a:r>
          </a:p>
        </p:txBody>
      </p:sp>
      <p:sp>
        <p:nvSpPr>
          <p:cNvPr id="26" name="Aggregation: Model + signature / Recipient keys"/>
          <p:cNvSpPr txBox="1"/>
          <p:nvPr/>
        </p:nvSpPr>
        <p:spPr>
          <a:xfrm>
            <a:off x="1572768" y="4379976"/>
            <a:ext cx="1554480" cy="548640"/>
          </a:xfrm>
          <a:prstGeom prst="rect">
            <a:avLst/>
          </a:prstGeom>
          <a:noFill/>
        </p:spPr>
        <p:txBody>
          <a:bodyPr wrap="square" lIns="0" rIns="0" tIns="0" bIns="0" anchor="ctr">
            <a:spAutoFit/>
          </a:bodyPr>
          <a:lstStyle/>
          <a:p>
            <a:pPr algn="l"/>
            <a:r>
              <a:rPr sz="1300" b="0" lang="en-US">
                <a:solidFill>
                  <a:srgbClr val="263440"/>
                </a:solidFill>
                <a:latin typeface="Arial"/>
              </a:rPr>
              <a:t>Model + signature
Recipient keys</a:t>
            </a:r>
          </a:p>
        </p:txBody>
      </p:sp>
      <p:sp>
        <p:nvSpPr>
          <p:cNvPr id="27" name="Aggregation: Three CIDs returned"/>
          <p:cNvSpPr txBox="1"/>
          <p:nvPr/>
        </p:nvSpPr>
        <p:spPr>
          <a:xfrm>
            <a:off x="768096" y="4846320"/>
            <a:ext cx="2395728" cy="246888"/>
          </a:xfrm>
          <a:prstGeom prst="rect">
            <a:avLst/>
          </a:prstGeom>
          <a:noFill/>
        </p:spPr>
        <p:txBody>
          <a:bodyPr wrap="square" lIns="0" rIns="0" tIns="0" bIns="0" anchor="ctr">
            <a:spAutoFit/>
          </a:bodyPr>
          <a:lstStyle/>
          <a:p>
            <a:pPr algn="ctr"/>
            <a:r>
              <a:rPr sz="1400" b="1" lang="en-US">
                <a:solidFill>
                  <a:srgbClr val="1764A1"/>
                </a:solidFill>
                <a:latin typeface="Arial"/>
              </a:rPr>
              <a:t>Three CIDs returned</a:t>
            </a:r>
          </a:p>
        </p:txBody>
      </p:sp>
      <p:cxnSp>
        <p:nvCxnSpPr>
          <p:cNvPr id="28" name="Connector 27"/>
          <p:cNvCxnSpPr/>
          <p:nvPr/>
        </p:nvCxnSpPr>
        <p:spPr>
          <a:xfrm>
            <a:off x="3355848" y="2551176"/>
            <a:ext cx="512064" cy="0"/>
          </a:xfrm>
          <a:prstGeom prst="line">
            <a:avLst/>
          </a:prstGeom>
          <a:ln w="2540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355848" y="4352544"/>
            <a:ext cx="512064" cy="0"/>
          </a:xfrm>
          <a:prstGeom prst="line">
            <a:avLst/>
          </a:prstGeom>
          <a:ln w="2540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895344" y="1847088"/>
            <a:ext cx="3813048" cy="3310128"/>
          </a:xfrm>
          <a:prstGeom prst="roundRect">
            <a:avLst/>
          </a:prstGeom>
          <a:solidFill>
            <a:srgbClr val="FFFFFF"/>
          </a:solidFill>
          <a:ln w="2286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ggregation: Aggregation statement"/>
          <p:cNvSpPr txBox="1"/>
          <p:nvPr/>
        </p:nvSpPr>
        <p:spPr>
          <a:xfrm>
            <a:off x="4087368" y="1965960"/>
            <a:ext cx="3429000" cy="347472"/>
          </a:xfrm>
          <a:prstGeom prst="rect">
            <a:avLst/>
          </a:prstGeom>
          <a:noFill/>
        </p:spPr>
        <p:txBody>
          <a:bodyPr wrap="square" lIns="0" rIns="0" tIns="0" bIns="0" anchor="ctr">
            <a:spAutoFit/>
          </a:bodyPr>
          <a:lstStyle/>
          <a:p>
            <a:pPr algn="ctr"/>
            <a:r>
              <a:rPr sz="1900" b="1" lang="en-US">
                <a:solidFill>
                  <a:srgbClr val="207548"/>
                </a:solidFill>
                <a:latin typeface="Arial"/>
              </a:rPr>
              <a:t>Aggregation statement</a:t>
            </a:r>
          </a:p>
        </p:txBody>
      </p:sp>
      <p:cxnSp>
        <p:nvCxnSpPr>
          <p:cNvPr id="32" name="Connector 31"/>
          <p:cNvCxnSpPr/>
          <p:nvPr/>
        </p:nvCxnSpPr>
        <p:spPr>
          <a:xfrm>
            <a:off x="4105656" y="2432304"/>
            <a:ext cx="3392423" cy="0"/>
          </a:xfrm>
          <a:prstGeom prst="line">
            <a:avLst/>
          </a:prstGeom>
          <a:ln w="10160">
            <a:solidFill>
              <a:srgbClr val="207548"/>
            </a:solidFill>
          </a:ln>
        </p:spPr>
        <p:style>
          <a:lnRef idx="2">
            <a:schemeClr val="accent1"/>
          </a:lnRef>
          <a:fillRef idx="0">
            <a:schemeClr val="accent1"/>
          </a:fillRef>
          <a:effectRef idx="1">
            <a:schemeClr val="accent1"/>
          </a:effectRef>
          <a:fontRef idx="minor">
            <a:schemeClr val="tx1"/>
          </a:fontRef>
        </p:style>
      </p:cxnSp>
      <p:sp>
        <p:nvSpPr>
          <p:cNvPr id="33" name="Aggregation: Round · aggregator · nonce"/>
          <p:cNvSpPr txBox="1"/>
          <p:nvPr/>
        </p:nvSpPr>
        <p:spPr>
          <a:xfrm>
            <a:off x="4133087" y="2542032"/>
            <a:ext cx="3355848" cy="292608"/>
          </a:xfrm>
          <a:prstGeom prst="rect">
            <a:avLst/>
          </a:prstGeom>
          <a:noFill/>
        </p:spPr>
        <p:txBody>
          <a:bodyPr wrap="square" lIns="0" rIns="0" tIns="0" bIns="0" anchor="ctr">
            <a:spAutoFit/>
          </a:bodyPr>
          <a:lstStyle/>
          <a:p>
            <a:pPr algn="l"/>
            <a:r>
              <a:rPr sz="1350" b="0" lang="en-US">
                <a:solidFill>
                  <a:srgbClr val="263440"/>
                </a:solidFill>
                <a:latin typeface="Arial"/>
              </a:rPr>
              <a:t>Round · aggregator · nonce</a:t>
            </a:r>
          </a:p>
        </p:txBody>
      </p:sp>
      <p:sp>
        <p:nvSpPr>
          <p:cNvPr id="34" name="Aggregation: Frozen input fingerprint + count"/>
          <p:cNvSpPr txBox="1"/>
          <p:nvPr/>
        </p:nvSpPr>
        <p:spPr>
          <a:xfrm>
            <a:off x="4133087" y="2971800"/>
            <a:ext cx="3355848" cy="292608"/>
          </a:xfrm>
          <a:prstGeom prst="rect">
            <a:avLst/>
          </a:prstGeom>
          <a:noFill/>
        </p:spPr>
        <p:txBody>
          <a:bodyPr wrap="square" lIns="0" rIns="0" tIns="0" bIns="0" anchor="ctr">
            <a:spAutoFit/>
          </a:bodyPr>
          <a:lstStyle/>
          <a:p>
            <a:pPr algn="l"/>
            <a:r>
              <a:rPr sz="1350" b="0" lang="en-US">
                <a:solidFill>
                  <a:srgbClr val="263440"/>
                </a:solidFill>
                <a:latin typeface="Arial"/>
              </a:rPr>
              <a:t>Frozen input fingerprint + count</a:t>
            </a:r>
          </a:p>
        </p:txBody>
      </p:sp>
      <p:sp>
        <p:nvSpPr>
          <p:cNvPr id="35" name="Aggregation: Algorithm + policy"/>
          <p:cNvSpPr txBox="1"/>
          <p:nvPr/>
        </p:nvSpPr>
        <p:spPr>
          <a:xfrm>
            <a:off x="4133087" y="3401568"/>
            <a:ext cx="3355848" cy="292608"/>
          </a:xfrm>
          <a:prstGeom prst="rect">
            <a:avLst/>
          </a:prstGeom>
          <a:noFill/>
        </p:spPr>
        <p:txBody>
          <a:bodyPr wrap="square" lIns="0" rIns="0" tIns="0" bIns="0" anchor="ctr">
            <a:spAutoFit/>
          </a:bodyPr>
          <a:lstStyle/>
          <a:p>
            <a:pPr algn="l"/>
            <a:r>
              <a:rPr sz="1350" b="0" lang="en-US">
                <a:solidFill>
                  <a:srgbClr val="263440"/>
                </a:solidFill>
                <a:latin typeface="Arial"/>
              </a:rPr>
              <a:t>Algorithm + policy</a:t>
            </a:r>
          </a:p>
        </p:txBody>
      </p:sp>
      <p:sp>
        <p:nvSpPr>
          <p:cNvPr id="36" name="Aggregation: Model hash + encrypted-bundle hash"/>
          <p:cNvSpPr txBox="1"/>
          <p:nvPr/>
        </p:nvSpPr>
        <p:spPr>
          <a:xfrm>
            <a:off x="4133087" y="3831335"/>
            <a:ext cx="3355848" cy="292608"/>
          </a:xfrm>
          <a:prstGeom prst="rect">
            <a:avLst/>
          </a:prstGeom>
          <a:noFill/>
        </p:spPr>
        <p:txBody>
          <a:bodyPr wrap="square" lIns="0" rIns="0" tIns="0" bIns="0" anchor="ctr">
            <a:spAutoFit/>
          </a:bodyPr>
          <a:lstStyle/>
          <a:p>
            <a:pPr algn="l"/>
            <a:r>
              <a:rPr sz="1350" b="0" lang="en-US">
                <a:solidFill>
                  <a:srgbClr val="263440"/>
                </a:solidFill>
                <a:latin typeface="Arial"/>
              </a:rPr>
              <a:t>Model hash + encrypted-bundle hash</a:t>
            </a:r>
          </a:p>
        </p:txBody>
      </p:sp>
      <p:sp>
        <p:nvSpPr>
          <p:cNvPr id="37" name="Aggregation: Publication hash: three IPFS CIDs"/>
          <p:cNvSpPr txBox="1"/>
          <p:nvPr/>
        </p:nvSpPr>
        <p:spPr>
          <a:xfrm>
            <a:off x="4133087" y="4261104"/>
            <a:ext cx="3355848" cy="292608"/>
          </a:xfrm>
          <a:prstGeom prst="rect">
            <a:avLst/>
          </a:prstGeom>
          <a:noFill/>
        </p:spPr>
        <p:txBody>
          <a:bodyPr wrap="square" lIns="0" rIns="0" tIns="0" bIns="0" anchor="ctr">
            <a:spAutoFit/>
          </a:bodyPr>
          <a:lstStyle/>
          <a:p>
            <a:pPr algn="l"/>
            <a:r>
              <a:rPr sz="1350" b="0" lang="en-US">
                <a:solidFill>
                  <a:srgbClr val="263440"/>
                </a:solidFill>
                <a:latin typeface="Arial"/>
              </a:rPr>
              <a:t>Publication hash: three IPFS CIDs</a:t>
            </a:r>
          </a:p>
        </p:txBody>
      </p:sp>
      <p:sp>
        <p:nvSpPr>
          <p:cNvPr id="38" name="Rounded Rectangle 37"/>
          <p:cNvSpPr/>
          <p:nvPr/>
        </p:nvSpPr>
        <p:spPr>
          <a:xfrm>
            <a:off x="4078224" y="4773168"/>
            <a:ext cx="3438144" cy="256032"/>
          </a:xfrm>
          <a:prstGeom prst="roundRect">
            <a:avLst/>
          </a:prstGeom>
          <a:solidFill>
            <a:srgbClr val="207548"/>
          </a:solidFill>
          <a:ln>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ggregation: EIP-712 signature · action key"/>
          <p:cNvSpPr txBox="1"/>
          <p:nvPr/>
        </p:nvSpPr>
        <p:spPr>
          <a:xfrm>
            <a:off x="4114800" y="4777740"/>
            <a:ext cx="3364992" cy="228600"/>
          </a:xfrm>
          <a:prstGeom prst="rect">
            <a:avLst/>
          </a:prstGeom>
          <a:noFill/>
        </p:spPr>
        <p:txBody>
          <a:bodyPr wrap="square" lIns="0" rIns="0" tIns="0" bIns="0" anchor="ctr">
            <a:spAutoFit/>
          </a:bodyPr>
          <a:lstStyle/>
          <a:p>
            <a:pPr algn="ctr"/>
            <a:r>
              <a:rPr sz="1350" b="1" lang="en-US">
                <a:solidFill>
                  <a:srgbClr val="FFFFFF"/>
                </a:solidFill>
                <a:latin typeface="Arial"/>
              </a:rPr>
              <a:t>EIP-712 signature · action key</a:t>
            </a:r>
          </a:p>
        </p:txBody>
      </p:sp>
      <p:cxnSp>
        <p:nvCxnSpPr>
          <p:cNvPr id="40" name="Connector 39"/>
          <p:cNvCxnSpPr/>
          <p:nvPr/>
        </p:nvCxnSpPr>
        <p:spPr>
          <a:xfrm>
            <a:off x="7735824" y="3172968"/>
            <a:ext cx="530351" cy="0"/>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321040" y="1847088"/>
            <a:ext cx="3264408" cy="1984248"/>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ggregation: GMStorage"/>
          <p:cNvSpPr txBox="1"/>
          <p:nvPr/>
        </p:nvSpPr>
        <p:spPr>
          <a:xfrm>
            <a:off x="8522208" y="1975104"/>
            <a:ext cx="2862072" cy="365760"/>
          </a:xfrm>
          <a:prstGeom prst="rect">
            <a:avLst/>
          </a:prstGeom>
          <a:noFill/>
        </p:spPr>
        <p:txBody>
          <a:bodyPr wrap="square" lIns="0" rIns="0" tIns="0" bIns="0" anchor="ctr">
            <a:spAutoFit/>
          </a:bodyPr>
          <a:lstStyle/>
          <a:p>
            <a:pPr algn="ctr"/>
            <a:r>
              <a:rPr sz="2400" b="1" lang="en-US">
                <a:solidFill>
                  <a:srgbClr val="7446A6"/>
                </a:solidFill>
                <a:latin typeface="Arial"/>
              </a:rPr>
              <a:t>GMStorage</a:t>
            </a:r>
          </a:p>
        </p:txBody>
      </p:sp>
      <p:sp>
        <p:nvSpPr>
          <p:cNvPr id="43" name="Aggregation: Checks via AggregationPolicy"/>
          <p:cNvSpPr txBox="1"/>
          <p:nvPr/>
        </p:nvSpPr>
        <p:spPr>
          <a:xfrm>
            <a:off x="8458200" y="2423160"/>
            <a:ext cx="2990088" cy="283464"/>
          </a:xfrm>
          <a:prstGeom prst="rect">
            <a:avLst/>
          </a:prstGeom>
          <a:noFill/>
        </p:spPr>
        <p:txBody>
          <a:bodyPr wrap="square" lIns="0" rIns="0" tIns="0" bIns="0" anchor="ctr">
            <a:spAutoFit/>
          </a:bodyPr>
          <a:lstStyle/>
          <a:p>
            <a:pPr algn="ctr"/>
            <a:r>
              <a:rPr sz="1400" b="1" lang="en-US">
                <a:solidFill>
                  <a:srgbClr val="7446A6"/>
                </a:solidFill>
                <a:latin typeface="Arial"/>
              </a:rPr>
              <a:t>Checks via AggregationPolicy</a:t>
            </a:r>
          </a:p>
        </p:txBody>
      </p:sp>
      <p:sp>
        <p:nvSpPr>
          <p:cNvPr id="44" name="Aggregation: Registered action-key signature"/>
          <p:cNvSpPr txBox="1"/>
          <p:nvPr/>
        </p:nvSpPr>
        <p:spPr>
          <a:xfrm>
            <a:off x="8503920" y="2852928"/>
            <a:ext cx="2898648" cy="274320"/>
          </a:xfrm>
          <a:prstGeom prst="rect">
            <a:avLst/>
          </a:prstGeom>
          <a:noFill/>
        </p:spPr>
        <p:txBody>
          <a:bodyPr wrap="square" lIns="0" rIns="0" tIns="0" bIns="0" anchor="ctr">
            <a:spAutoFit/>
          </a:bodyPr>
          <a:lstStyle/>
          <a:p>
            <a:pPr algn="ctr"/>
            <a:r>
              <a:rPr sz="1400" b="0" lang="en-US">
                <a:solidFill>
                  <a:srgbClr val="263440"/>
                </a:solidFill>
                <a:latin typeface="Arial"/>
              </a:rPr>
              <a:t>Registered action-key signature</a:t>
            </a:r>
          </a:p>
        </p:txBody>
      </p:sp>
      <p:sp>
        <p:nvSpPr>
          <p:cNvPr id="45" name="Aggregation: Aggregator + closed inputs"/>
          <p:cNvSpPr txBox="1"/>
          <p:nvPr/>
        </p:nvSpPr>
        <p:spPr>
          <a:xfrm>
            <a:off x="8467344" y="3182112"/>
            <a:ext cx="2971800" cy="274320"/>
          </a:xfrm>
          <a:prstGeom prst="rect">
            <a:avLst/>
          </a:prstGeom>
          <a:noFill/>
        </p:spPr>
        <p:txBody>
          <a:bodyPr wrap="square" lIns="0" rIns="0" tIns="0" bIns="0" anchor="ctr">
            <a:spAutoFit/>
          </a:bodyPr>
          <a:lstStyle/>
          <a:p>
            <a:pPr algn="ctr"/>
            <a:r>
              <a:rPr sz="1400" b="0" lang="en-US">
                <a:solidFill>
                  <a:srgbClr val="263440"/>
                </a:solidFill>
                <a:latin typeface="Arial"/>
              </a:rPr>
              <a:t>Aggregator + closed inputs</a:t>
            </a:r>
          </a:p>
        </p:txBody>
      </p:sp>
      <p:sp>
        <p:nvSpPr>
          <p:cNvPr id="46" name="Aggregation: Policy + publication context"/>
          <p:cNvSpPr txBox="1"/>
          <p:nvPr/>
        </p:nvSpPr>
        <p:spPr>
          <a:xfrm>
            <a:off x="8467344" y="3511296"/>
            <a:ext cx="2971800" cy="274320"/>
          </a:xfrm>
          <a:prstGeom prst="rect">
            <a:avLst/>
          </a:prstGeom>
          <a:noFill/>
        </p:spPr>
        <p:txBody>
          <a:bodyPr wrap="square" lIns="0" rIns="0" tIns="0" bIns="0" anchor="ctr">
            <a:spAutoFit/>
          </a:bodyPr>
          <a:lstStyle/>
          <a:p>
            <a:pPr algn="ctr"/>
            <a:r>
              <a:rPr sz="1400" b="0" lang="en-US">
                <a:solidFill>
                  <a:srgbClr val="263440"/>
                </a:solidFill>
                <a:latin typeface="Arial"/>
              </a:rPr>
              <a:t>Policy + publication context</a:t>
            </a:r>
          </a:p>
        </p:txBody>
      </p:sp>
      <p:cxnSp>
        <p:nvCxnSpPr>
          <p:cNvPr id="47" name="Connector 46"/>
          <p:cNvCxnSpPr/>
          <p:nvPr/>
        </p:nvCxnSpPr>
        <p:spPr>
          <a:xfrm>
            <a:off x="9948672" y="3858768"/>
            <a:ext cx="0" cy="237744"/>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321040" y="4133087"/>
            <a:ext cx="3264408" cy="1024128"/>
          </a:xfrm>
          <a:prstGeom prst="roundRect">
            <a:avLst/>
          </a:prstGeom>
          <a:solidFill>
            <a:srgbClr val="FFFFFF"/>
          </a:solidFill>
          <a:ln w="2286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Aggregation: Single transaction"/>
          <p:cNvSpPr txBox="1"/>
          <p:nvPr/>
        </p:nvSpPr>
        <p:spPr>
          <a:xfrm>
            <a:off x="8476488" y="4251960"/>
            <a:ext cx="2953512" cy="310896"/>
          </a:xfrm>
          <a:prstGeom prst="rect">
            <a:avLst/>
          </a:prstGeom>
          <a:noFill/>
        </p:spPr>
        <p:txBody>
          <a:bodyPr wrap="square" lIns="0" rIns="0" tIns="0" bIns="0" anchor="ctr">
            <a:spAutoFit/>
          </a:bodyPr>
          <a:lstStyle/>
          <a:p>
            <a:pPr algn="ctr"/>
            <a:r>
              <a:rPr sz="1750" b="1" lang="en-US">
                <a:solidFill>
                  <a:srgbClr val="7446A6"/>
                </a:solidFill>
                <a:latin typeface="Arial"/>
              </a:rPr>
              <a:t>Single transaction</a:t>
            </a:r>
          </a:p>
        </p:txBody>
      </p:sp>
      <p:sp>
        <p:nvSpPr>
          <p:cNvPr id="50" name="Aggregation: Store references + evidence / Complete round → next round"/>
          <p:cNvSpPr txBox="1"/>
          <p:nvPr/>
        </p:nvSpPr>
        <p:spPr>
          <a:xfrm>
            <a:off x="8476488" y="4626864"/>
            <a:ext cx="2953512" cy="466344"/>
          </a:xfrm>
          <a:prstGeom prst="rect">
            <a:avLst/>
          </a:prstGeom>
          <a:noFill/>
        </p:spPr>
        <p:txBody>
          <a:bodyPr wrap="square" lIns="0" rIns="0" tIns="0" bIns="0" anchor="ctr">
            <a:spAutoFit/>
          </a:bodyPr>
          <a:lstStyle/>
          <a:p>
            <a:pPr algn="ctr"/>
            <a:r>
              <a:rPr sz="1400" b="0" lang="en-US">
                <a:solidFill>
                  <a:srgbClr val="263440"/>
                </a:solidFill>
                <a:latin typeface="Arial"/>
              </a:rPr>
              <a:t>Store references + evidence
Complete round → next round</a:t>
            </a:r>
          </a:p>
        </p:txBody>
      </p:sp>
      <p:sp>
        <p:nvSpPr>
          <p:cNvPr id="51" name="Aggregation: FedAvg executes inside the attested TEE; the chain checks the signed statement."/>
          <p:cNvSpPr txBox="1"/>
          <p:nvPr/>
        </p:nvSpPr>
        <p:spPr>
          <a:xfrm>
            <a:off x="621792" y="5376672"/>
            <a:ext cx="10963656" cy="301752"/>
          </a:xfrm>
          <a:prstGeom prst="rect">
            <a:avLst/>
          </a:prstGeom>
          <a:noFill/>
        </p:spPr>
        <p:txBody>
          <a:bodyPr wrap="square" lIns="0" rIns="0" tIns="0" bIns="0" anchor="ctr">
            <a:spAutoFit/>
          </a:bodyPr>
          <a:lstStyle/>
          <a:p>
            <a:pPr algn="ctr"/>
            <a:r>
              <a:rPr sz="1600" b="0" lang="en-US">
                <a:solidFill>
                  <a:srgbClr val="263440"/>
                </a:solidFill>
                <a:latin typeface="Arial"/>
              </a:rPr>
              <a:t>FedAvg executes inside the attested TEE; the chain checks the signed statement.</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Aggregation round alternatives</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