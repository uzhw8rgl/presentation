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40"/>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804" autoAdjust="0"/>
    <p:restoredTop sz="96327"/>
  </p:normalViewPr>
  <p:slideViewPr>
    <p:cSldViewPr snapToGrid="0" snapToObjects="1">
      <p:cViewPr varScale="1">
        <p:scale>
          <a:sx n="143" d="100"/>
          <a:sy n="143" d="100"/>
        </p:scale>
        <p:origin x="224" y="552"/>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20.08.26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presentation introduces VITA-FL, a prototype that connects verifiable decentralized federated learning to attested inference in an AI-agent system. The central question is not only whether a prediction appears plausible. It is whether a user can inspect which model, which input, and which measured workload actually produced that result—and whether the supporting evidence was retained independently of the conversational claim.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Prior work typically treats decentralized model production, agent orchestration, and verifiable inference as separate concerns. The gap lies in composing these mechanisms into one deployment-oriented path. The thesis therefore asks how a DFL model can remain attributable from production to inference, how integrity and selected availability properties can be strengthened during training, and how a concrete inference can be bound to measured execution and transparent tool use.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VITA-FL separates two responsibilities. The DFL block admits measured workers, consumes attributable medical inputs, coordinates rounds, and publishes an encrypted and signed model. The agent and inference block independently resolves that publication and performs inference in a measured receiver workload. The language-model agent can initiate the workflow, but it cannot choose a local model, override a failed check, or convert missing evidence into a successful result.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Before publication, the system checks several distinct claims. Attestation determines whether an admitted participant runs the expected workload. Independent source signatures authenticate the image and its annotation. The ledger fixes the round context, aggregator, accepted inputs, and policy. Finally, deterministic candidate selection can retain the parent model when validation loss degrades beyond the configured threshold. This narrows specific attack paths, but it is not a proof of general Byzantine-robust learning.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first clarification is that both alternatives execute off chain. The design question is which evidence accompanies that execution. A zero-knowledge proof can establish strong computational correctness for exactly the relation encoded by a circuit and may keep witness values private. It does not by itself identify the native software stack, prove training history, or establish operational key custody. The experimental ZK branch required circuit setup, proof keys, witness generation, proving, and verification. VITA-FL instead needs a stateful workflow with native training and inference, ledger and IPFS interaction, protected model recovery, and application-bound keys. Intel TDX isolation and DCAP evidence, appraised against explicit policy, address that operational-provenance claim directly while retaining Intel, Phala/dstack, policy, and key custody as trust anchors. The choice therefore does not reject ZK: it reserves ZK for narrow encoded-computation claims where the additional translation and proving cost is justified. References: IETF RFC 9334; Intel TDX/DCAP documentation; Chen et al., ZKML, EuroSys 2024, https://doi.org/10.1145/3627703.3650088; and https://docs.ezkl.xyz/getting-started/.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workload does not validate its own claim. The measured Phala CVM asks the Intel TDX Quoting Enclave to turn its TD report into Quote V4 evidence. A verifier validates the Intel-rooted PCK chain, certificate validity and revocation information, Quoting Enclave identity, platform TCB status, measurements, and REPORTDATA. In dstack, the separately attested KMS verifies quote and policy before deriving deterministic 32-byte material bound to the application identity and requested path. The application receives it through /var/run/dstack.sock. VITA-FL uses separate paths to derive the secp256k1 action authority, an AES-256-GCM wrapping key for a random RSA-3072 participant key, and the Ed25519 AIR key. The VITA-FL registry independently verifies the live quote on chain, including the pinned dstack base tuple, replayed RTMR3 event log, workload policy, REPORTDATA, and enrollment binding. Official references: https://github.com/Dstack-TEE/dstack, https://docs.phala.com/phala-cloud/key-management/get-a-key, and https://cc-enabling.trustedservices.intel.com/intel-tdx-enabling-guide/02/infrastructure_setup/.</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Each authorized worker receives weight score plus one. In the example the weights sum to 14, so the displayed probabilities are one, two, four, and seven divided by 14. For the normal selection, the contract hashes prevrandao, the block timestamp, block number, round, and the current aggregator public address. The resulting 256-bit value is converted to an integer and reduced modulo the total weight. This produces one ticket from zero through 13. The ticket is then mapped into the cumulative intervals in the displayed worker order: A receives zero, B one through two, C three through six, and D seven through 13. A ticket of five therefore selects Worker C. The interval widths—not the hash itself—create the probabilities. prevrandao is the EVM-accessible beacon-chain RANDAO value specified by EIP-4399 and is pseudorandom rather than an unbiased randomness oracle. Source: https://eips.ethereum.org/EIPS/eip-4399.</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model handoff connects decentralized production to inference. Large artifacts remain outside the ledger, but the ledger authoritatively identifies the current publication and its references. Encryption protects model confidentiality, the publisher signature authenticates its origin, and content identifiers bind the retrieved objects. The measured receiver resolves and verifies this state itself. As a result, the agent cannot substitute an arbitrary local path or silently select a stale model.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Figuera's Sello protocol starts from a trust-boundary problem: a compromised agent or operator cannot be the sole source of truth about its own actions. The agent presents a signed JWS authorization token that binds the owner's HPKE public key and permitted log policy. The called service verifies that token, performs or denies the action, and hashes the exact input and output. It encrypts the receipt body to the owner with HPKE, signs the encrypted envelope with its own Ed25519 key in COSE_Sign1, and submits it to a witness-cosigned Merkle transparency log. The owner later discovers entries by the token-derived reference, verifies inclusion and the service key, and decrypts locally. VITA-FL adopts a Sello-inspired profile and additionally fails closed unless the receiver publishes its receipt before returning a successful tool result. Sello does not prove that a call was never made and does not prevent collusion by a receiving service. Source: Juan Figuera, Notarized Agents: Receiver-Attested Confidential Receipts for AI Agent Actions, arXiv:2606.04193, 2026.</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evaluation distinguishes live integration, participant-scale experiments, and automated negative tests. The Phala run exercised the connected services, training, all three MCP operations, and attested inference. Separate experiments completed 50-round runs with 10, 50, and 100 participants. Negative tests checked whether manipulated, stale, or context-mismatched objects fail closed. The later adaptive aggregation extension has component and binding tests, but no dedicated live adversarial-robustness experiment.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three completed ChestMNIST runs each expose forty-nine learned global models from rounds two through fifty; round one is the bootstrap state. Loss falls from approximately 0.62 to 0.188 and exact match rises to approximately fifty-three percent. The trajectories for ten, fifty, and one hundred participants almost overlap. This is an observed single run per scale, so it validates repeatable protocol execution but is not statistical evidence of scale invariance.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optimization curves must not be read as clinical success. At round fifty, macro AUROC is approximately 0.504, 0.507, and 0.508 for ten, fifty, and one hundred participants. Micro F1 falls to about 0.0001 and macro F1 to about 0.0005 to 0.001. Loss reduction and rising exact match are therefore explained by majority-negative behavior under severe class imbalance. These runs validate protocol execution and participant scaling, not diagnostic utility.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complete inference path produced three receiver-signed tool receipts and one complete evidence-bundle record. The provenance evaluation accepted all 78,468 prepared training samples and rejected targeted changes to pixels, labels, and signer policy. All participant-scale experiments reached round 50. However, macro AUROC remained close to 0.50 and the F1 scores approached zero. These results demonstrate protocol execution and evidence binding, not useful diagnostic performance.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conclusion is specific to the evaluated systems path. VITA-FL connects the ledger-selected model, encrypted and signed handoff, TDX/AIR inference evidence, three receiver-signed tool receipts, and SCITT recording without making the conversational model a root of trust. Exact identities, freshness values, artifacts, inputs, and outputs are checked across component boundaries and mismatches fail closed. The prioritized outlook follows Chapter 8. First, the image digest needs a complete signed source-to-build-to-deployment chain through reproducible or attestable builds, signed provenance, verified software bills of materials, image signatures, vulnerability gates, and digest-pinned automation. Second, transparency should move to independent operators with durable replication, witnessed or gossiped checkpoints, external anchoring, and split-view testing. Third, assurance should expand to robust aggregation and poisoning tests, native DICOM provenance, purpose-specific inference identities with attested key delegation, larger and batched inference, and repeated failure-injection runs. These are future-work items, not demonstrated properties. The result remains a reproducible proof of concept rather than a production-ready or clinically validated platform.</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eips.ethereum.org/EIPS/eip-439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6072" y="548640"/>
            <a:ext cx="5303520" cy="221599"/>
          </a:xfrm>
          <a:prstGeom prst="rect">
            <a:avLst/>
          </a:prstGeom>
          <a:noFill/>
        </p:spPr>
        <p:txBody>
          <a:bodyPr wrap="square" lIns="18288" tIns="18288" rIns="18288" bIns="18288" anchor="t">
            <a:spAutoFit/>
          </a:bodyPr>
          <a:lstStyle/>
          <a:p>
            <a:pPr algn="l"/>
            <a:r>
              <a:rPr lang="en-US" sz="1200" b="1" dirty="0">
                <a:solidFill>
                  <a:srgbClr val="C40D1E"/>
                </a:solidFill>
                <a:latin typeface="Arial"/>
              </a:rPr>
              <a:t>MASTER'S THESIS PRESENTATION</a:t>
            </a:r>
          </a:p>
        </p:txBody>
      </p:sp>
      <p:sp>
        <p:nvSpPr>
          <p:cNvPr id="3" name="TextBox 2"/>
          <p:cNvSpPr txBox="1"/>
          <p:nvPr/>
        </p:nvSpPr>
        <p:spPr>
          <a:xfrm>
            <a:off x="611932" y="4861920"/>
            <a:ext cx="8460352" cy="775597"/>
          </a:xfrm>
          <a:prstGeom prst="rect">
            <a:avLst/>
          </a:prstGeom>
          <a:noFill/>
        </p:spPr>
        <p:txBody>
          <a:bodyPr wrap="square" lIns="18288" tIns="18288" rIns="18288" bIns="18288" anchor="t">
            <a:spAutoFit/>
          </a:bodyPr>
          <a:lstStyle/>
          <a:p>
            <a:pPr algn="l"/>
            <a:r>
              <a:rPr lang="en-US" sz="2400" b="0" dirty="0">
                <a:solidFill>
                  <a:srgbClr val="FFFFFF"/>
                </a:solidFill>
                <a:latin typeface="Arial"/>
              </a:rPr>
              <a:t>Verifiable Decentralized Federated Machine Learning and Inference for AI Agent Systems</a:t>
            </a:r>
          </a:p>
        </p:txBody>
      </p:sp>
      <p:sp>
        <p:nvSpPr>
          <p:cNvPr id="11" name="TextBox 10"/>
          <p:cNvSpPr txBox="1"/>
          <p:nvPr/>
        </p:nvSpPr>
        <p:spPr>
          <a:xfrm>
            <a:off x="621792" y="5925312"/>
            <a:ext cx="2468880" cy="256032"/>
          </a:xfrm>
          <a:prstGeom prst="rect">
            <a:avLst/>
          </a:prstGeom>
          <a:noFill/>
        </p:spPr>
        <p:txBody>
          <a:bodyPr wrap="square" lIns="18288" tIns="18288" rIns="18288" bIns="18288" anchor="t">
            <a:spAutoFit/>
          </a:bodyPr>
          <a:lstStyle/>
          <a:p>
            <a:pPr algn="l"/>
            <a:r>
              <a:rPr lang="en-US" sz="1500" b="1">
                <a:solidFill>
                  <a:srgbClr val="FFFFFF"/>
                </a:solidFill>
                <a:latin typeface="Arial"/>
              </a:rPr>
              <a:t>Ramon Mehrpoya</a:t>
            </a:r>
          </a:p>
        </p:txBody>
      </p:sp>
      <p:sp>
        <p:nvSpPr>
          <p:cNvPr id="12" name="TextBox 11"/>
          <p:cNvSpPr txBox="1"/>
          <p:nvPr/>
        </p:nvSpPr>
        <p:spPr>
          <a:xfrm>
            <a:off x="621792" y="6254496"/>
            <a:ext cx="3657600" cy="219456"/>
          </a:xfrm>
          <a:prstGeom prst="rect">
            <a:avLst/>
          </a:prstGeom>
          <a:noFill/>
        </p:spPr>
        <p:txBody>
          <a:bodyPr wrap="square" lIns="18288" tIns="18288" rIns="18288" bIns="18288" anchor="t">
            <a:spAutoFit/>
          </a:bodyPr>
          <a:lstStyle/>
          <a:p>
            <a:pPr algn="l"/>
            <a:r>
              <a:rPr lang="en-US" sz="1100" b="0">
                <a:solidFill>
                  <a:srgbClr val="FFFFFF"/>
                </a:solidFill>
                <a:latin typeface="Arial"/>
              </a:rPr>
              <a:t>Master's Thesis</a:t>
            </a:r>
          </a:p>
        </p:txBody>
      </p:sp>
      <p:sp>
        <p:nvSpPr>
          <p:cNvPr id="13" name="TextBox 12"/>
          <p:cNvSpPr txBox="1"/>
          <p:nvPr/>
        </p:nvSpPr>
        <p:spPr>
          <a:xfrm>
            <a:off x="9921240" y="6254496"/>
            <a:ext cx="1719072" cy="219456"/>
          </a:xfrm>
          <a:prstGeom prst="rect">
            <a:avLst/>
          </a:prstGeom>
          <a:noFill/>
        </p:spPr>
        <p:txBody>
          <a:bodyPr wrap="square" lIns="18288" tIns="18288" rIns="18288" bIns="18288" anchor="t">
            <a:spAutoFit/>
          </a:bodyPr>
          <a:lstStyle/>
          <a:p>
            <a:pPr algn="r"/>
            <a:r>
              <a:rPr lang="en-US" sz="1100" b="0">
                <a:solidFill>
                  <a:srgbClr val="FFFFFF"/>
                </a:solidFill>
                <a:latin typeface="Arial"/>
              </a:rPr>
              <a:t>19 August 2026</a:t>
            </a:r>
          </a:p>
        </p:txBody>
      </p:sp>
      <p:pic>
        <p:nvPicPr>
          <p:cNvPr id="14" name="Bildplatzhalter 7" descr="Ein Bild, das draußen, Baum, Straße, Bürgersteig enthält.&#10;&#10;Automatisch generierte Beschreibung">
            <a:extLst>
              <a:ext uri="{FF2B5EF4-FFF2-40B4-BE49-F238E27FC236}">
                <a16:creationId xmlns:a16="http://schemas.microsoft.com/office/drawing/2014/main" id="{8C3B2A11-4E53-79CC-0485-F326EE871361}"/>
              </a:ext>
            </a:extLst>
          </p:cNvPr>
          <p:cNvPicPr>
            <a:picLocks noChangeAspect="1"/>
          </p:cNvPicPr>
          <p:nvPr/>
        </p:nvPicPr>
        <p:blipFill rotWithShape="1">
          <a:blip r:embed="rId3"/>
          <a:srcRect t="38334" b="6404"/>
          <a:stretch/>
        </p:blipFill>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12" name="TextBox 11"/>
          <p:cNvSpPr txBox="1"/>
          <p:nvPr/>
        </p:nvSpPr>
        <p:spPr>
          <a:xfrm>
            <a:off x="4956048" y="1499616"/>
            <a:ext cx="5989320" cy="438912"/>
          </a:xfrm>
          <a:prstGeom prst="rect">
            <a:avLst/>
          </a:prstGeom>
          <a:noFill/>
        </p:spPr>
        <p:txBody>
          <a:bodyPr wrap="square" lIns="18288" tIns="18288" rIns="18288" bIns="18288" anchor="ctr">
            <a:spAutoFit/>
          </a:bodyPr>
          <a:lstStyle/>
          <a:p>
            <a:pPr algn="l"/>
            <a:r>
              <a:rPr lang="en-US" sz="2600" b="1">
                <a:solidFill>
                  <a:srgbClr val="434343"/>
                </a:solidFill>
                <a:latin typeface="Arial"/>
              </a:rPr>
              <a:t>Ramon Mehrpoya</a:t>
            </a:r>
          </a:p>
        </p:txBody>
      </p:sp>
      <p:sp>
        <p:nvSpPr>
          <p:cNvPr id="13" name="TextBox 12"/>
          <p:cNvSpPr txBox="1"/>
          <p:nvPr/>
        </p:nvSpPr>
        <p:spPr>
          <a:xfrm>
            <a:off x="4965192" y="2359152"/>
            <a:ext cx="2423160" cy="182880"/>
          </a:xfrm>
          <a:prstGeom prst="rect">
            <a:avLst/>
          </a:prstGeom>
          <a:noFill/>
        </p:spPr>
        <p:txBody>
          <a:bodyPr wrap="square" lIns="18288" tIns="18288" rIns="18288" bIns="18288" anchor="ctr">
            <a:spAutoFit/>
          </a:bodyPr>
          <a:lstStyle/>
          <a:p>
            <a:pPr algn="l"/>
            <a:r>
              <a:rPr lang="en-US" sz="840" b="1">
                <a:solidFill>
                  <a:srgbClr val="C40D1E"/>
                </a:solidFill>
                <a:latin typeface="Arial"/>
              </a:rPr>
              <a:t>ACADEMIC BACKGROUND</a:t>
            </a:r>
          </a:p>
        </p:txBody>
      </p:sp>
      <p:sp>
        <p:nvSpPr>
          <p:cNvPr id="14" name="TextBox 13"/>
          <p:cNvSpPr txBox="1"/>
          <p:nvPr/>
        </p:nvSpPr>
        <p:spPr>
          <a:xfrm>
            <a:off x="4965192" y="2615184"/>
            <a:ext cx="5897880" cy="283464"/>
          </a:xfrm>
          <a:prstGeom prst="rect">
            <a:avLst/>
          </a:prstGeom>
          <a:noFill/>
        </p:spPr>
        <p:txBody>
          <a:bodyPr wrap="square" lIns="18288" tIns="18288" rIns="18288" bIns="18288" anchor="ctr">
            <a:spAutoFit/>
          </a:bodyPr>
          <a:lstStyle/>
          <a:p>
            <a:pPr algn="l"/>
            <a:r>
              <a:rPr lang="en-US" sz="1260" b="1">
                <a:solidFill>
                  <a:srgbClr val="434343"/>
                </a:solidFill>
                <a:latin typeface="Arial"/>
              </a:rPr>
              <a:t>Bachelor's degree in Business Informatics · TU Berlin</a:t>
            </a:r>
          </a:p>
        </p:txBody>
      </p:sp>
      <p:sp>
        <p:nvSpPr>
          <p:cNvPr id="15" name="TextBox 14"/>
          <p:cNvSpPr txBox="1"/>
          <p:nvPr/>
        </p:nvSpPr>
        <p:spPr>
          <a:xfrm>
            <a:off x="4965192" y="2898648"/>
            <a:ext cx="5897880" cy="283464"/>
          </a:xfrm>
          <a:prstGeom prst="rect">
            <a:avLst/>
          </a:prstGeom>
          <a:noFill/>
        </p:spPr>
        <p:txBody>
          <a:bodyPr wrap="square" lIns="18288" tIns="18288" rIns="18288" bIns="18288" anchor="ctr">
            <a:spAutoFit/>
          </a:bodyPr>
          <a:lstStyle/>
          <a:p>
            <a:pPr algn="l"/>
            <a:r>
              <a:rPr lang="en-US" sz="1260" b="1">
                <a:solidFill>
                  <a:srgbClr val="434343"/>
                </a:solidFill>
                <a:latin typeface="Arial"/>
              </a:rPr>
              <a:t>Master's thesis candidate · Computer Science · TU Berlin</a:t>
            </a:r>
          </a:p>
        </p:txBody>
      </p:sp>
      <p:sp>
        <p:nvSpPr>
          <p:cNvPr id="16" name="TextBox 15"/>
          <p:cNvSpPr txBox="1"/>
          <p:nvPr/>
        </p:nvSpPr>
        <p:spPr>
          <a:xfrm>
            <a:off x="4965192" y="3209544"/>
            <a:ext cx="3154680" cy="182880"/>
          </a:xfrm>
          <a:prstGeom prst="rect">
            <a:avLst/>
          </a:prstGeom>
          <a:noFill/>
        </p:spPr>
        <p:txBody>
          <a:bodyPr wrap="square" lIns="18288" tIns="18288" rIns="18288" bIns="18288" anchor="ctr">
            <a:spAutoFit/>
          </a:bodyPr>
          <a:lstStyle/>
          <a:p>
            <a:pPr algn="l"/>
            <a:r>
              <a:rPr lang="en-US" sz="840" b="1">
                <a:solidFill>
                  <a:srgbClr val="C40D1E"/>
                </a:solidFill>
                <a:latin typeface="Arial"/>
              </a:rPr>
              <a:t>PROJECT EXPERIENCE AT ISE, TU BERLIN</a:t>
            </a:r>
          </a:p>
        </p:txBody>
      </p:sp>
      <p:sp>
        <p:nvSpPr>
          <p:cNvPr id="17" name="Rounded Rectangle 16"/>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29200" y="3575304"/>
            <a:ext cx="1801368" cy="164592"/>
          </a:xfrm>
          <a:prstGeom prst="rect">
            <a:avLst/>
          </a:prstGeom>
          <a:noFill/>
        </p:spPr>
        <p:txBody>
          <a:bodyPr wrap="square" lIns="18288" tIns="18288" rIns="18288" bIns="18288" anchor="ctr">
            <a:spAutoFit/>
          </a:bodyPr>
          <a:lstStyle/>
          <a:p>
            <a:pPr algn="ctr"/>
            <a:r>
              <a:rPr lang="en-US" sz="780" b="1">
                <a:solidFill>
                  <a:srgbClr val="2F8F46"/>
                </a:solidFill>
                <a:latin typeface="Arial"/>
              </a:rPr>
              <a:t>GAIA-X 4 PLC-AAD</a:t>
            </a:r>
          </a:p>
        </p:txBody>
      </p:sp>
      <p:sp>
        <p:nvSpPr>
          <p:cNvPr id="19" name="TextBox 18"/>
          <p:cNvSpPr txBox="1"/>
          <p:nvPr/>
        </p:nvSpPr>
        <p:spPr>
          <a:xfrm>
            <a:off x="5047488" y="3858768"/>
            <a:ext cx="1764792" cy="320040"/>
          </a:xfrm>
          <a:prstGeom prst="rect">
            <a:avLst/>
          </a:prstGeom>
          <a:noFill/>
        </p:spPr>
        <p:txBody>
          <a:bodyPr wrap="square" lIns="18288" tIns="18288" rIns="18288" bIns="18288" anchor="ctr">
            <a:spAutoFit/>
          </a:bodyPr>
          <a:lstStyle/>
          <a:p>
            <a:pPr algn="ctr"/>
            <a:r>
              <a:rPr lang="en-US" sz="840" b="1">
                <a:solidFill>
                  <a:srgbClr val="434343"/>
                </a:solidFill>
                <a:latin typeface="Arial"/>
              </a:rPr>
              <a:t>Blockchain &amp;
encryption</a:t>
            </a:r>
          </a:p>
        </p:txBody>
      </p:sp>
      <p:cxnSp>
        <p:nvCxnSpPr>
          <p:cNvPr id="20" name="Connector 19"/>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050024" y="3575304"/>
            <a:ext cx="1801368" cy="164592"/>
          </a:xfrm>
          <a:prstGeom prst="rect">
            <a:avLst/>
          </a:prstGeom>
          <a:noFill/>
        </p:spPr>
        <p:txBody>
          <a:bodyPr wrap="square" lIns="18288" tIns="18288" rIns="18288" bIns="18288" anchor="ctr">
            <a:spAutoFit/>
          </a:bodyPr>
          <a:lstStyle/>
          <a:p>
            <a:pPr algn="ctr"/>
            <a:r>
              <a:rPr lang="en-US" sz="780" b="1">
                <a:solidFill>
                  <a:srgbClr val="1F90CC"/>
                </a:solidFill>
                <a:latin typeface="Arial"/>
              </a:rPr>
              <a:t>ZOKRATES PLUS</a:t>
            </a:r>
          </a:p>
        </p:txBody>
      </p:sp>
      <p:sp>
        <p:nvSpPr>
          <p:cNvPr id="23" name="TextBox 22"/>
          <p:cNvSpPr txBox="1"/>
          <p:nvPr/>
        </p:nvSpPr>
        <p:spPr>
          <a:xfrm>
            <a:off x="7068312" y="3858768"/>
            <a:ext cx="1764792" cy="320040"/>
          </a:xfrm>
          <a:prstGeom prst="rect">
            <a:avLst/>
          </a:prstGeom>
          <a:noFill/>
        </p:spPr>
        <p:txBody>
          <a:bodyPr wrap="square" lIns="18288" tIns="18288" rIns="18288" bIns="18288" anchor="ctr">
            <a:spAutoFit/>
          </a:bodyPr>
          <a:lstStyle/>
          <a:p>
            <a:pPr algn="ctr"/>
            <a:r>
              <a:rPr lang="en-US" sz="840" b="1">
                <a:solidFill>
                  <a:srgbClr val="434343"/>
                </a:solidFill>
                <a:latin typeface="Arial"/>
              </a:rPr>
              <a:t>ZK · TEE · remote
attestation · DFL</a:t>
            </a:r>
          </a:p>
        </p:txBody>
      </p:sp>
      <p:cxnSp>
        <p:nvCxnSpPr>
          <p:cNvPr id="24" name="Connector 23"/>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061704" y="3575304"/>
            <a:ext cx="1801368" cy="164592"/>
          </a:xfrm>
          <a:prstGeom prst="rect">
            <a:avLst/>
          </a:prstGeom>
          <a:noFill/>
        </p:spPr>
        <p:txBody>
          <a:bodyPr wrap="square" lIns="18288" tIns="18288" rIns="18288" bIns="18288" anchor="ctr">
            <a:spAutoFit/>
          </a:bodyPr>
          <a:lstStyle/>
          <a:p>
            <a:pPr algn="ctr"/>
            <a:r>
              <a:rPr lang="en-US" sz="780" b="1">
                <a:solidFill>
                  <a:srgbClr val="FF6C00"/>
                </a:solidFill>
                <a:latin typeface="Arial"/>
              </a:rPr>
              <a:t>ZODIAC</a:t>
            </a:r>
          </a:p>
        </p:txBody>
      </p:sp>
      <p:sp>
        <p:nvSpPr>
          <p:cNvPr id="27" name="TextBox 26"/>
          <p:cNvSpPr txBox="1"/>
          <p:nvPr/>
        </p:nvSpPr>
        <p:spPr>
          <a:xfrm>
            <a:off x="9079992" y="3858768"/>
            <a:ext cx="1764792" cy="320040"/>
          </a:xfrm>
          <a:prstGeom prst="rect">
            <a:avLst/>
          </a:prstGeom>
          <a:noFill/>
        </p:spPr>
        <p:txBody>
          <a:bodyPr wrap="square" lIns="18288" tIns="18288" rIns="18288" bIns="18288" anchor="ctr">
            <a:spAutoFit/>
          </a:bodyPr>
          <a:lstStyle/>
          <a:p>
            <a:pPr algn="ctr"/>
            <a:r>
              <a:rPr lang="en-US" sz="840" b="1">
                <a:solidFill>
                  <a:srgbClr val="434343"/>
                </a:solidFill>
                <a:latin typeface="Arial"/>
              </a:rPr>
              <a:t>AI agents &amp;
MCP tools</a:t>
            </a:r>
          </a:p>
        </p:txBody>
      </p:sp>
      <p:cxnSp>
        <p:nvCxnSpPr>
          <p:cNvPr id="28" name="Connector 27"/>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93792" y="4718304"/>
            <a:ext cx="1572768" cy="164592"/>
          </a:xfrm>
          <a:prstGeom prst="rect">
            <a:avLst/>
          </a:prstGeom>
          <a:noFill/>
        </p:spPr>
        <p:txBody>
          <a:bodyPr wrap="square" lIns="18288" tIns="18288" rIns="18288" bIns="18288" anchor="ctr">
            <a:spAutoFit/>
          </a:bodyPr>
          <a:lstStyle/>
          <a:p>
            <a:pPr algn="l"/>
            <a:r>
              <a:rPr lang="en-US" sz="780" b="1">
                <a:solidFill>
                  <a:srgbClr val="C40D1E"/>
                </a:solidFill>
                <a:latin typeface="Arial"/>
              </a:rPr>
              <a:t>THESIS PROTOTYPE</a:t>
            </a:r>
          </a:p>
        </p:txBody>
      </p:sp>
      <p:sp>
        <p:nvSpPr>
          <p:cNvPr id="31" name="TextBox 30"/>
          <p:cNvSpPr txBox="1"/>
          <p:nvPr/>
        </p:nvSpPr>
        <p:spPr>
          <a:xfrm>
            <a:off x="5193792" y="4937760"/>
            <a:ext cx="1234440" cy="265176"/>
          </a:xfrm>
          <a:prstGeom prst="rect">
            <a:avLst/>
          </a:prstGeom>
          <a:noFill/>
        </p:spPr>
        <p:txBody>
          <a:bodyPr wrap="square" lIns="18288" tIns="18288" rIns="18288" bIns="18288" anchor="ctr">
            <a:spAutoFit/>
          </a:bodyPr>
          <a:lstStyle/>
          <a:p>
            <a:pPr algn="l"/>
            <a:r>
              <a:rPr lang="en-US" sz="1620" b="1">
                <a:solidFill>
                  <a:srgbClr val="434343"/>
                </a:solidFill>
                <a:latin typeface="Arial"/>
              </a:rPr>
              <a:t>VITA-FL</a:t>
            </a:r>
          </a:p>
        </p:txBody>
      </p:sp>
      <p:sp>
        <p:nvSpPr>
          <p:cNvPr id="32" name="TextBox 31"/>
          <p:cNvSpPr txBox="1"/>
          <p:nvPr/>
        </p:nvSpPr>
        <p:spPr>
          <a:xfrm>
            <a:off x="6519672" y="4919472"/>
            <a:ext cx="4041648" cy="347472"/>
          </a:xfrm>
          <a:prstGeom prst="rect">
            <a:avLst/>
          </a:prstGeom>
          <a:noFill/>
        </p:spPr>
        <p:txBody>
          <a:bodyPr wrap="square" lIns="18288" tIns="18288" rIns="18288" bIns="18288" anchor="ctr">
            <a:spAutoFit/>
          </a:bodyPr>
          <a:lstStyle/>
          <a:p>
            <a:pPr algn="l"/>
            <a:r>
              <a:rPr lang="en-US" sz="960" b="1">
                <a:solidFill>
                  <a:srgbClr val="434343"/>
                </a:solidFill>
                <a:latin typeface="Arial"/>
              </a:rPr>
              <a:t>Verifiable Inference and Trust Architecture
for Federated Learning</a:t>
            </a:r>
          </a:p>
        </p:txBody>
      </p:sp>
      <p:pic>
        <p:nvPicPr>
          <p:cNvPr id="34" name="Grafik 33">
            <a:extLst>
              <a:ext uri="{FF2B5EF4-FFF2-40B4-BE49-F238E27FC236}">
                <a16:creationId xmlns:a16="http://schemas.microsoft.com/office/drawing/2014/main" id="{70A53C39-527E-830D-8D76-422BF8442FC4}"/>
              </a:ext>
            </a:extLst>
          </p:cNvPr>
          <p:cNvPicPr>
            <a:picLocks noChangeAspect="1"/>
          </p:cNvPicPr>
          <p:nvPr/>
        </p:nvPicPr>
        <p:blipFill>
          <a:blip r:embed="rId3"/>
          <a:stretch>
            <a:fillRect/>
          </a:stretch>
        </p:blipFill>
        <p:spPr>
          <a:xfrm>
            <a:off x="1183714" y="1465752"/>
            <a:ext cx="2588620" cy="388049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xray_concept.png"/>
          <p:cNvPicPr>
            <a:picLocks noChangeAspect="1"/>
          </p:cNvPicPr>
          <p:nvPr/>
        </p:nvPicPr>
        <p:blipFill>
          <a:blip r:embed="rId3"/>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tIns="18288" rIns="18288" bIns="18288" anchor="t">
            <a:spAutoFit/>
          </a:bodyPr>
          <a:lstStyle/>
          <a:p>
            <a:pPr algn="ctr"/>
            <a:r>
              <a:rPr lang="en-US" sz="2000" b="1">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4"/>
          <a:stretch>
            <a:fillRect/>
          </a:stretch>
        </p:blipFill>
        <p:spPr>
          <a:xfrm>
            <a:off x="3822191" y="1417320"/>
            <a:ext cx="7479792" cy="4169663"/>
          </a:xfrm>
          <a:prstGeom prst="rect">
            <a:avLst/>
          </a:prstGeom>
        </p:spPr>
      </p:pic>
      <p:sp>
        <p:nvSpPr>
          <p:cNvPr id="12" name="Rounded Rectangle 11"/>
          <p:cNvSpPr/>
          <p:nvPr/>
        </p:nvSpPr>
        <p:spPr>
          <a:xfrm>
            <a:off x="4087368"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08736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53128" y="2029968"/>
            <a:ext cx="2487168" cy="182880"/>
          </a:xfrm>
          <a:prstGeom prst="rect">
            <a:avLst/>
          </a:prstGeom>
          <a:noFill/>
        </p:spPr>
        <p:txBody>
          <a:bodyPr wrap="square" lIns="18288" tIns="18288" rIns="18288" bIns="18288" anchor="t">
            <a:spAutoFit/>
          </a:bodyPr>
          <a:lstStyle/>
          <a:p>
            <a:pPr algn="l"/>
            <a:r>
              <a:rPr lang="en-US" sz="950" b="1">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tIns="18288" rIns="18288" bIns="18288" anchor="ctr">
            <a:spAutoFit/>
          </a:bodyPr>
          <a:lstStyle/>
          <a:p>
            <a:pPr algn="l"/>
            <a:r>
              <a:rPr lang="en-US" sz="2500" b="1">
                <a:solidFill>
                  <a:srgbClr val="434343"/>
                </a:solidFill>
                <a:latin typeface="Arial"/>
              </a:rPr>
              <a:t>“Can’t I just
ask an AI?”</a:t>
            </a:r>
          </a:p>
        </p:txBody>
      </p:sp>
      <p:sp>
        <p:nvSpPr>
          <p:cNvPr id="16" name="TextBox 15"/>
          <p:cNvSpPr txBox="1"/>
          <p:nvPr/>
        </p:nvSpPr>
        <p:spPr>
          <a:xfrm>
            <a:off x="4453128" y="3593592"/>
            <a:ext cx="2542032" cy="393192"/>
          </a:xfrm>
          <a:prstGeom prst="rect">
            <a:avLst/>
          </a:prstGeom>
          <a:noFill/>
        </p:spPr>
        <p:txBody>
          <a:bodyPr wrap="square" lIns="18288" tIns="18288" rIns="18288" bIns="18288" anchor="ctr">
            <a:spAutoFit/>
          </a:bodyPr>
          <a:lstStyle/>
          <a:p>
            <a:pPr algn="l"/>
            <a:r>
              <a:rPr lang="en-US" sz="1050" b="1">
                <a:solidFill>
                  <a:srgbClr val="686868"/>
                </a:solidFill>
                <a:latin typeface="Arial"/>
              </a:rPr>
              <a:t>But is it suitable
for clinical use?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3"/>
          <a:stretch>
            <a:fillRect/>
          </a:stretch>
        </p:blipFill>
        <p:spPr>
          <a:xfrm>
            <a:off x="886968" y="1417320"/>
            <a:ext cx="7479792" cy="4169663"/>
          </a:xfrm>
          <a:prstGeom prst="rect">
            <a:avLst/>
          </a:prstGeom>
        </p:spPr>
      </p:pic>
      <p:sp>
        <p:nvSpPr>
          <p:cNvPr id="9" name="Rounded Rectangle 8"/>
          <p:cNvSpPr/>
          <p:nvPr/>
        </p:nvSpPr>
        <p:spPr>
          <a:xfrm>
            <a:off x="4892040"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01928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193792" y="2029968"/>
            <a:ext cx="2542032" cy="182880"/>
          </a:xfrm>
          <a:prstGeom prst="rect">
            <a:avLst/>
          </a:prstGeom>
          <a:noFill/>
        </p:spPr>
        <p:txBody>
          <a:bodyPr wrap="square" lIns="18288" tIns="18288" rIns="18288" bIns="18288" anchor="t">
            <a:spAutoFit/>
          </a:bodyPr>
          <a:lstStyle/>
          <a:p>
            <a:pPr algn="l"/>
            <a:r>
              <a:rPr lang="en-US" sz="950" b="1">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tIns="18288" rIns="18288" bIns="18288" anchor="ctr">
            <a:spAutoFit/>
          </a:bodyPr>
          <a:lstStyle/>
          <a:p>
            <a:pPr algn="l"/>
            <a:r>
              <a:rPr lang="en-US" sz="1850" b="1">
                <a:solidFill>
                  <a:srgbClr val="434343"/>
                </a:solidFill>
                <a:latin typeface="Arial"/>
              </a:rPr>
              <a:t>“Then we need more
than an AI model.”</a:t>
            </a:r>
          </a:p>
        </p:txBody>
      </p:sp>
      <p:sp>
        <p:nvSpPr>
          <p:cNvPr id="13" name="TextBox 12"/>
          <p:cNvSpPr txBox="1"/>
          <p:nvPr/>
        </p:nvSpPr>
        <p:spPr>
          <a:xfrm>
            <a:off x="5074920" y="3474720"/>
            <a:ext cx="2761488" cy="393192"/>
          </a:xfrm>
          <a:prstGeom prst="rect">
            <a:avLst/>
          </a:prstGeom>
          <a:noFill/>
        </p:spPr>
        <p:txBody>
          <a:bodyPr wrap="square" lIns="18288" tIns="18288" rIns="18288" bIns="18288" anchor="t">
            <a:spAutoFit/>
          </a:bodyPr>
          <a:lstStyle/>
          <a:p>
            <a:pPr algn="l"/>
            <a:r>
              <a:rPr lang="en-US" sz="969" b="1">
                <a:solidFill>
                  <a:srgbClr val="686868"/>
                </a:solidFill>
                <a:latin typeface="Arial"/>
              </a:rPr>
              <a:t>Training, execution, and publication
must form one inspectable path.</a:t>
            </a:r>
          </a:p>
        </p:txBody>
      </p:sp>
      <p:sp>
        <p:nvSpPr>
          <p:cNvPr id="14" name="Rounded Rectangle 13"/>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961120" y="1627632"/>
            <a:ext cx="2423160" cy="182880"/>
          </a:xfrm>
          <a:prstGeom prst="rect">
            <a:avLst/>
          </a:prstGeom>
          <a:noFill/>
        </p:spPr>
        <p:txBody>
          <a:bodyPr wrap="square" lIns="18288" tIns="18288" rIns="18288" bIns="18288" anchor="t">
            <a:spAutoFit/>
          </a:bodyPr>
          <a:lstStyle/>
          <a:p>
            <a:pPr algn="ctr"/>
            <a:r>
              <a:rPr lang="en-US" sz="819" b="1">
                <a:solidFill>
                  <a:srgbClr val="FFFFFF"/>
                </a:solidFill>
                <a:latin typeface="Arial"/>
              </a:rPr>
              <a:t>REQUIRED SYSTEM ARCHITECTURE</a:t>
            </a:r>
          </a:p>
        </p:txBody>
      </p:sp>
      <p:sp>
        <p:nvSpPr>
          <p:cNvPr id="16" name="Rounded Rectangle 15"/>
          <p:cNvSpPr/>
          <p:nvPr/>
        </p:nvSpPr>
        <p:spPr>
          <a:xfrm>
            <a:off x="8979408" y="192024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079992" y="1993392"/>
            <a:ext cx="219456" cy="219456"/>
          </a:xfrm>
          <a:prstGeom prst="ellipse">
            <a:avLst/>
          </a:prstGeom>
          <a:solidFill>
            <a:srgbClr val="2F8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07424" y="2020824"/>
            <a:ext cx="164592" cy="146304"/>
          </a:xfrm>
          <a:prstGeom prst="rect">
            <a:avLst/>
          </a:prstGeom>
          <a:noFill/>
        </p:spPr>
        <p:txBody>
          <a:bodyPr wrap="square" lIns="0" tIns="0" rIns="0" bIns="0" anchor="ctr">
            <a:spAutoFit/>
          </a:bodyPr>
          <a:lstStyle/>
          <a:p>
            <a:pPr algn="ctr"/>
            <a:r>
              <a:rPr lang="en-US" sz="700" b="1">
                <a:solidFill>
                  <a:srgbClr val="FFFFFF"/>
                </a:solidFill>
                <a:latin typeface="Arial"/>
              </a:rPr>
              <a:t>1</a:t>
            </a:r>
          </a:p>
        </p:txBody>
      </p:sp>
      <p:sp>
        <p:nvSpPr>
          <p:cNvPr id="19" name="TextBox 18"/>
          <p:cNvSpPr txBox="1"/>
          <p:nvPr/>
        </p:nvSpPr>
        <p:spPr>
          <a:xfrm>
            <a:off x="9390888" y="2029968"/>
            <a:ext cx="1847088" cy="155448"/>
          </a:xfrm>
          <a:prstGeom prst="rect">
            <a:avLst/>
          </a:prstGeom>
          <a:noFill/>
        </p:spPr>
        <p:txBody>
          <a:bodyPr wrap="square" lIns="0" tIns="0" rIns="0" bIns="0" anchor="ctr">
            <a:spAutoFit/>
          </a:bodyPr>
          <a:lstStyle/>
          <a:p>
            <a:pPr algn="l"/>
            <a:r>
              <a:rPr lang="en-US" sz="750" b="1">
                <a:solidFill>
                  <a:srgbClr val="FFFFFF"/>
                </a:solidFill>
                <a:latin typeface="Arial"/>
              </a:rPr>
              <a:t>SIGNED MEDICAL DATA</a:t>
            </a:r>
          </a:p>
        </p:txBody>
      </p:sp>
      <p:cxnSp>
        <p:nvCxnSpPr>
          <p:cNvPr id="20" name="Connector 19"/>
          <p:cNvCxnSpPr/>
          <p:nvPr/>
        </p:nvCxnSpPr>
        <p:spPr>
          <a:xfrm>
            <a:off x="10168128" y="230428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79408" y="248716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9079992" y="2560320"/>
            <a:ext cx="219456" cy="219456"/>
          </a:xfrm>
          <a:prstGeom prst="ellipse">
            <a:avLst/>
          </a:prstGeom>
          <a:solidFill>
            <a:srgbClr val="1F9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107424" y="2587752"/>
            <a:ext cx="164592" cy="146304"/>
          </a:xfrm>
          <a:prstGeom prst="rect">
            <a:avLst/>
          </a:prstGeom>
          <a:noFill/>
        </p:spPr>
        <p:txBody>
          <a:bodyPr wrap="square" lIns="0" tIns="0" rIns="0" bIns="0" anchor="ctr">
            <a:spAutoFit/>
          </a:bodyPr>
          <a:lstStyle/>
          <a:p>
            <a:pPr algn="ctr"/>
            <a:r>
              <a:rPr lang="en-US" sz="700" b="1">
                <a:solidFill>
                  <a:srgbClr val="FFFFFF"/>
                </a:solidFill>
                <a:latin typeface="Arial"/>
              </a:rPr>
              <a:t>2</a:t>
            </a:r>
          </a:p>
        </p:txBody>
      </p:sp>
      <p:sp>
        <p:nvSpPr>
          <p:cNvPr id="24" name="TextBox 23"/>
          <p:cNvSpPr txBox="1"/>
          <p:nvPr/>
        </p:nvSpPr>
        <p:spPr>
          <a:xfrm>
            <a:off x="9390888" y="2596896"/>
            <a:ext cx="1847088" cy="155448"/>
          </a:xfrm>
          <a:prstGeom prst="rect">
            <a:avLst/>
          </a:prstGeom>
          <a:noFill/>
        </p:spPr>
        <p:txBody>
          <a:bodyPr wrap="square" lIns="0" tIns="0" rIns="0" bIns="0" anchor="ctr">
            <a:spAutoFit/>
          </a:bodyPr>
          <a:lstStyle/>
          <a:p>
            <a:pPr algn="l"/>
            <a:r>
              <a:rPr lang="en-US" sz="750" b="1">
                <a:solidFill>
                  <a:srgbClr val="FFFFFF"/>
                </a:solidFill>
                <a:latin typeface="Arial"/>
              </a:rPr>
              <a:t>ATTESTED DFL</a:t>
            </a:r>
          </a:p>
        </p:txBody>
      </p:sp>
      <p:cxnSp>
        <p:nvCxnSpPr>
          <p:cNvPr id="25" name="Connector 24"/>
          <p:cNvCxnSpPr/>
          <p:nvPr/>
        </p:nvCxnSpPr>
        <p:spPr>
          <a:xfrm>
            <a:off x="10168128" y="2871216"/>
            <a:ext cx="0" cy="146304"/>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979408" y="3044952"/>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9079992" y="3118104"/>
            <a:ext cx="219456" cy="219456"/>
          </a:xfrm>
          <a:prstGeom prst="ellipse">
            <a:avLst/>
          </a:prstGeom>
          <a:solidFill>
            <a:srgbClr val="7A3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107424" y="3145536"/>
            <a:ext cx="164592" cy="146304"/>
          </a:xfrm>
          <a:prstGeom prst="rect">
            <a:avLst/>
          </a:prstGeom>
          <a:noFill/>
        </p:spPr>
        <p:txBody>
          <a:bodyPr wrap="square" lIns="0" tIns="0" rIns="0" bIns="0" anchor="ctr">
            <a:spAutoFit/>
          </a:bodyPr>
          <a:lstStyle/>
          <a:p>
            <a:pPr algn="ctr"/>
            <a:r>
              <a:rPr lang="en-US" sz="700" b="1">
                <a:solidFill>
                  <a:srgbClr val="FFFFFF"/>
                </a:solidFill>
                <a:latin typeface="Arial"/>
              </a:rPr>
              <a:t>3</a:t>
            </a:r>
          </a:p>
        </p:txBody>
      </p:sp>
      <p:sp>
        <p:nvSpPr>
          <p:cNvPr id="29" name="TextBox 28"/>
          <p:cNvSpPr txBox="1"/>
          <p:nvPr/>
        </p:nvSpPr>
        <p:spPr>
          <a:xfrm>
            <a:off x="9390888" y="3154680"/>
            <a:ext cx="1847088" cy="155448"/>
          </a:xfrm>
          <a:prstGeom prst="rect">
            <a:avLst/>
          </a:prstGeom>
          <a:noFill/>
        </p:spPr>
        <p:txBody>
          <a:bodyPr wrap="square" lIns="0" tIns="0" rIns="0" bIns="0" anchor="ctr">
            <a:spAutoFit/>
          </a:bodyPr>
          <a:lstStyle/>
          <a:p>
            <a:pPr algn="l"/>
            <a:r>
              <a:rPr lang="en-US" sz="750" b="1">
                <a:solidFill>
                  <a:srgbClr val="FFFFFF"/>
                </a:solidFill>
                <a:latin typeface="Arial"/>
              </a:rPr>
              <a:t>VERIFIED MODEL STATE</a:t>
            </a:r>
          </a:p>
        </p:txBody>
      </p:sp>
      <p:cxnSp>
        <p:nvCxnSpPr>
          <p:cNvPr id="30" name="Connector 29"/>
          <p:cNvCxnSpPr/>
          <p:nvPr/>
        </p:nvCxnSpPr>
        <p:spPr>
          <a:xfrm>
            <a:off x="10168128" y="3429000"/>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979408" y="361188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9079992" y="3685032"/>
            <a:ext cx="219456" cy="219456"/>
          </a:xfrm>
          <a:prstGeom prst="ellipse">
            <a:avLst/>
          </a:prstGeom>
          <a:solidFill>
            <a:srgbClr val="F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107424" y="3712464"/>
            <a:ext cx="164592" cy="146304"/>
          </a:xfrm>
          <a:prstGeom prst="rect">
            <a:avLst/>
          </a:prstGeom>
          <a:noFill/>
        </p:spPr>
        <p:txBody>
          <a:bodyPr wrap="square" lIns="0" tIns="0" rIns="0" bIns="0" anchor="ctr">
            <a:spAutoFit/>
          </a:bodyPr>
          <a:lstStyle/>
          <a:p>
            <a:pPr algn="ctr"/>
            <a:r>
              <a:rPr lang="en-US" sz="700" b="1">
                <a:solidFill>
                  <a:srgbClr val="FFFFFF"/>
                </a:solidFill>
                <a:latin typeface="Arial"/>
              </a:rPr>
              <a:t>4</a:t>
            </a:r>
          </a:p>
        </p:txBody>
      </p:sp>
      <p:sp>
        <p:nvSpPr>
          <p:cNvPr id="34" name="TextBox 33"/>
          <p:cNvSpPr txBox="1"/>
          <p:nvPr/>
        </p:nvSpPr>
        <p:spPr>
          <a:xfrm>
            <a:off x="9390888" y="3721608"/>
            <a:ext cx="1847088" cy="155448"/>
          </a:xfrm>
          <a:prstGeom prst="rect">
            <a:avLst/>
          </a:prstGeom>
          <a:noFill/>
        </p:spPr>
        <p:txBody>
          <a:bodyPr wrap="square" lIns="0" tIns="0" rIns="0" bIns="0" anchor="ctr">
            <a:spAutoFit/>
          </a:bodyPr>
          <a:lstStyle/>
          <a:p>
            <a:pPr algn="l"/>
            <a:r>
              <a:rPr lang="en-US" sz="750" b="1">
                <a:solidFill>
                  <a:srgbClr val="FFFFFF"/>
                </a:solidFill>
                <a:latin typeface="Arial"/>
              </a:rPr>
              <a:t>AGENT + INFERENCE TEE</a:t>
            </a:r>
          </a:p>
        </p:txBody>
      </p:sp>
      <p:cxnSp>
        <p:nvCxnSpPr>
          <p:cNvPr id="35" name="Connector 34"/>
          <p:cNvCxnSpPr/>
          <p:nvPr/>
        </p:nvCxnSpPr>
        <p:spPr>
          <a:xfrm>
            <a:off x="10168128" y="399592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79408" y="417880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9079992" y="4251960"/>
            <a:ext cx="219456" cy="219456"/>
          </a:xfrm>
          <a:prstGeom prst="ellipse">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107424" y="4279392"/>
            <a:ext cx="164592" cy="146304"/>
          </a:xfrm>
          <a:prstGeom prst="rect">
            <a:avLst/>
          </a:prstGeom>
          <a:noFill/>
        </p:spPr>
        <p:txBody>
          <a:bodyPr wrap="square" lIns="0" tIns="0" rIns="0" bIns="0" anchor="ctr">
            <a:spAutoFit/>
          </a:bodyPr>
          <a:lstStyle/>
          <a:p>
            <a:pPr algn="ctr"/>
            <a:r>
              <a:rPr lang="en-US" sz="700" b="1">
                <a:solidFill>
                  <a:srgbClr val="FFFFFF"/>
                </a:solidFill>
                <a:latin typeface="Arial"/>
              </a:rPr>
              <a:t>5</a:t>
            </a:r>
          </a:p>
        </p:txBody>
      </p:sp>
      <p:sp>
        <p:nvSpPr>
          <p:cNvPr id="39" name="TextBox 38"/>
          <p:cNvSpPr txBox="1"/>
          <p:nvPr/>
        </p:nvSpPr>
        <p:spPr>
          <a:xfrm>
            <a:off x="9390888" y="4288536"/>
            <a:ext cx="1847088" cy="155448"/>
          </a:xfrm>
          <a:prstGeom prst="rect">
            <a:avLst/>
          </a:prstGeom>
          <a:noFill/>
        </p:spPr>
        <p:txBody>
          <a:bodyPr wrap="square" lIns="0" tIns="0" rIns="0" bIns="0" anchor="ctr">
            <a:spAutoFit/>
          </a:bodyPr>
          <a:lstStyle/>
          <a:p>
            <a:pPr algn="l"/>
            <a:r>
              <a:rPr lang="en-US" sz="750" b="1">
                <a:solidFill>
                  <a:srgbClr val="FFFFFF"/>
                </a:solidFill>
                <a:latin typeface="Arial"/>
              </a:rPr>
              <a:t>TRANSPARENCY LOG</a:t>
            </a:r>
          </a:p>
        </p:txBody>
      </p:sp>
      <p:sp>
        <p:nvSpPr>
          <p:cNvPr id="40" name="TextBox 39"/>
          <p:cNvSpPr txBox="1"/>
          <p:nvPr/>
        </p:nvSpPr>
        <p:spPr>
          <a:xfrm>
            <a:off x="9015984" y="5010912"/>
            <a:ext cx="2313432" cy="182880"/>
          </a:xfrm>
          <a:prstGeom prst="rect">
            <a:avLst/>
          </a:prstGeom>
          <a:noFill/>
        </p:spPr>
        <p:txBody>
          <a:bodyPr wrap="square" lIns="18288" tIns="18288" rIns="18288" bIns="18288" anchor="t">
            <a:spAutoFit/>
          </a:bodyPr>
          <a:lstStyle/>
          <a:p>
            <a:pPr algn="ctr"/>
            <a:r>
              <a:rPr lang="en-US" sz="780" b="1">
                <a:solidFill>
                  <a:srgbClr val="FFFFFF"/>
                </a:solidFill>
                <a:latin typeface="Arial"/>
              </a:rPr>
              <a:t>Evidence follows every result.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THE MISSING COMPOSITION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1572768"/>
            <a:ext cx="2971800" cy="292608"/>
          </a:xfrm>
          <a:prstGeom prst="rect">
            <a:avLst/>
          </a:prstGeom>
          <a:noFill/>
        </p:spPr>
        <p:txBody>
          <a:bodyPr wrap="square" lIns="18288" tIns="18288" rIns="18288" bIns="18288" anchor="ctr">
            <a:spAutoFit/>
          </a:bodyPr>
          <a:lstStyle/>
          <a:p>
            <a:pPr algn="ctr"/>
            <a:r>
              <a:rPr lang="en-US" sz="1700" b="1">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tIns="18288" rIns="18288" bIns="18288" anchor="ctr">
            <a:spAutoFit/>
          </a:bodyPr>
          <a:lstStyle/>
          <a:p>
            <a:pPr algn="ctr"/>
            <a:r>
              <a:rPr lang="en-US" sz="1050" b="0">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tIns="18288" rIns="18288" bIns="18288" anchor="ctr">
            <a:spAutoFit/>
          </a:bodyPr>
          <a:lstStyle/>
          <a:p>
            <a:pPr algn="ctr"/>
            <a:r>
              <a:rPr lang="en-US" sz="2200" b="1">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54296" y="1572768"/>
            <a:ext cx="2971800" cy="292608"/>
          </a:xfrm>
          <a:prstGeom prst="rect">
            <a:avLst/>
          </a:prstGeom>
          <a:noFill/>
        </p:spPr>
        <p:txBody>
          <a:bodyPr wrap="square" lIns="18288" tIns="18288" rIns="18288" bIns="18288" anchor="ctr">
            <a:spAutoFit/>
          </a:bodyPr>
          <a:lstStyle/>
          <a:p>
            <a:pPr algn="ctr"/>
            <a:r>
              <a:rPr lang="en-US" sz="1700" b="1">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tIns="18288" rIns="18288" bIns="18288" anchor="ctr">
            <a:spAutoFit/>
          </a:bodyPr>
          <a:lstStyle/>
          <a:p>
            <a:pPr algn="ctr"/>
            <a:r>
              <a:rPr lang="en-US" sz="1050" b="0">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tIns="18288" rIns="18288" bIns="18288" anchor="ctr">
            <a:spAutoFit/>
          </a:bodyPr>
          <a:lstStyle/>
          <a:p>
            <a:pPr algn="ctr"/>
            <a:r>
              <a:rPr lang="en-US" sz="2200" b="1">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21624" y="1572768"/>
            <a:ext cx="2971800" cy="292608"/>
          </a:xfrm>
          <a:prstGeom prst="rect">
            <a:avLst/>
          </a:prstGeom>
          <a:noFill/>
        </p:spPr>
        <p:txBody>
          <a:bodyPr wrap="square" lIns="18288" tIns="18288" rIns="18288" bIns="18288" anchor="ctr">
            <a:spAutoFit/>
          </a:bodyPr>
          <a:lstStyle/>
          <a:p>
            <a:pPr algn="ctr"/>
            <a:r>
              <a:rPr lang="en-US" sz="1700" b="1">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tIns="18288" rIns="18288" bIns="18288" anchor="ctr">
            <a:spAutoFit/>
          </a:bodyPr>
          <a:lstStyle/>
          <a:p>
            <a:pPr algn="ctr"/>
            <a:r>
              <a:rPr lang="en-US" sz="1050" b="0">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761488"/>
            <a:ext cx="10451592" cy="329184"/>
          </a:xfrm>
          <a:prstGeom prst="rect">
            <a:avLst/>
          </a:prstGeom>
          <a:noFill/>
        </p:spPr>
        <p:txBody>
          <a:bodyPr wrap="square" lIns="18288" tIns="18288" rIns="18288" bIns="18288" anchor="ctr">
            <a:spAutoFit/>
          </a:bodyPr>
          <a:lstStyle/>
          <a:p>
            <a:pPr algn="ctr"/>
            <a:r>
              <a:rPr lang="en-US" sz="1500" b="1">
                <a:solidFill>
                  <a:srgbClr val="FFFFFF"/>
                </a:solidFill>
                <a:latin typeface="Arial"/>
              </a:rPr>
              <a:t>Gap: no inspectable path from decentralized training to verified inference.</a:t>
            </a:r>
          </a:p>
        </p:txBody>
      </p:sp>
      <p:sp>
        <p:nvSpPr>
          <p:cNvPr id="21" name="Rounded Rectangle 20"/>
          <p:cNvSpPr/>
          <p:nvPr/>
        </p:nvSpPr>
        <p:spPr>
          <a:xfrm>
            <a:off x="621792" y="3383280"/>
            <a:ext cx="3502152" cy="2048256"/>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8" y="3611880"/>
            <a:ext cx="1051560" cy="310896"/>
          </a:xfrm>
          <a:prstGeom prst="rect">
            <a:avLst/>
          </a:prstGeom>
          <a:noFill/>
        </p:spPr>
        <p:txBody>
          <a:bodyPr wrap="square" lIns="18288" tIns="18288" rIns="18288" bIns="18288" anchor="ctr">
            <a:spAutoFit/>
          </a:bodyPr>
          <a:lstStyle/>
          <a:p>
            <a:pPr algn="l"/>
            <a:r>
              <a:rPr lang="en-US" sz="1500" b="1">
                <a:solidFill>
                  <a:srgbClr val="2F8F46"/>
                </a:solidFill>
                <a:latin typeface="Arial"/>
              </a:rPr>
              <a:t>RQ 1</a:t>
            </a:r>
          </a:p>
        </p:txBody>
      </p:sp>
      <p:sp>
        <p:nvSpPr>
          <p:cNvPr id="23" name="TextBox 22"/>
          <p:cNvSpPr txBox="1"/>
          <p:nvPr/>
        </p:nvSpPr>
        <p:spPr>
          <a:xfrm>
            <a:off x="841248" y="4069080"/>
            <a:ext cx="3063240" cy="1188720"/>
          </a:xfrm>
          <a:prstGeom prst="rect">
            <a:avLst/>
          </a:prstGeom>
          <a:noFill/>
        </p:spPr>
        <p:txBody>
          <a:bodyPr wrap="square" lIns="18288" tIns="18288" rIns="18288" bIns="18288" anchor="ctr">
            <a:spAutoFit/>
          </a:bodyPr>
          <a:lstStyle/>
          <a:p>
            <a:pPr algn="l"/>
            <a:r>
              <a:rPr lang="en-US" sz="1450" b="1">
                <a:solidFill>
                  <a:srgbClr val="434343"/>
                </a:solidFill>
                <a:latin typeface="Arial"/>
              </a:rPr>
              <a:t>How can a DFL model be integrated into an agent system through a trust-minimized, user-inspectable path?</a:t>
            </a:r>
          </a:p>
        </p:txBody>
      </p:sp>
      <p:sp>
        <p:nvSpPr>
          <p:cNvPr id="24" name="Rounded Rectangle 23"/>
          <p:cNvSpPr/>
          <p:nvPr/>
        </p:nvSpPr>
        <p:spPr>
          <a:xfrm>
            <a:off x="4343400" y="3383280"/>
            <a:ext cx="3502152" cy="2048256"/>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62856" y="3611880"/>
            <a:ext cx="1051560" cy="310896"/>
          </a:xfrm>
          <a:prstGeom prst="rect">
            <a:avLst/>
          </a:prstGeom>
          <a:noFill/>
        </p:spPr>
        <p:txBody>
          <a:bodyPr wrap="square" lIns="18288" tIns="18288" rIns="18288" bIns="18288" anchor="ctr">
            <a:spAutoFit/>
          </a:bodyPr>
          <a:lstStyle/>
          <a:p>
            <a:pPr algn="l"/>
            <a:r>
              <a:rPr lang="en-US" sz="1500" b="1">
                <a:solidFill>
                  <a:srgbClr val="1F90CC"/>
                </a:solidFill>
                <a:latin typeface="Arial"/>
              </a:rPr>
              <a:t>RQ 1.1</a:t>
            </a:r>
          </a:p>
        </p:txBody>
      </p:sp>
      <p:sp>
        <p:nvSpPr>
          <p:cNvPr id="26" name="TextBox 25"/>
          <p:cNvSpPr txBox="1"/>
          <p:nvPr/>
        </p:nvSpPr>
        <p:spPr>
          <a:xfrm>
            <a:off x="4562856" y="4069080"/>
            <a:ext cx="3063240" cy="1188720"/>
          </a:xfrm>
          <a:prstGeom prst="rect">
            <a:avLst/>
          </a:prstGeom>
          <a:noFill/>
        </p:spPr>
        <p:txBody>
          <a:bodyPr wrap="square" lIns="18288" tIns="18288" rIns="18288" bIns="18288" anchor="ctr">
            <a:spAutoFit/>
          </a:bodyPr>
          <a:lstStyle/>
          <a:p>
            <a:pPr algn="l"/>
            <a:r>
              <a:rPr lang="en-US" sz="1450" b="1">
                <a:solidFill>
                  <a:srgbClr val="434343"/>
                </a:solidFill>
                <a:latin typeface="Arial"/>
              </a:rPr>
              <a:t>How can DFL strengthen integrity, accountable provenance, and selected availability properties?</a:t>
            </a:r>
          </a:p>
        </p:txBody>
      </p:sp>
      <p:sp>
        <p:nvSpPr>
          <p:cNvPr id="27" name="Rounded Rectangle 26"/>
          <p:cNvSpPr/>
          <p:nvPr/>
        </p:nvSpPr>
        <p:spPr>
          <a:xfrm>
            <a:off x="8065008" y="3383280"/>
            <a:ext cx="3502152" cy="2048256"/>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284464" y="3611880"/>
            <a:ext cx="1051560" cy="310896"/>
          </a:xfrm>
          <a:prstGeom prst="rect">
            <a:avLst/>
          </a:prstGeom>
          <a:noFill/>
        </p:spPr>
        <p:txBody>
          <a:bodyPr wrap="square" lIns="18288" tIns="18288" rIns="18288" bIns="18288" anchor="ctr">
            <a:spAutoFit/>
          </a:bodyPr>
          <a:lstStyle/>
          <a:p>
            <a:pPr algn="l"/>
            <a:r>
              <a:rPr lang="en-US" sz="1500" b="1">
                <a:solidFill>
                  <a:srgbClr val="7A35B5"/>
                </a:solidFill>
                <a:latin typeface="Arial"/>
              </a:rPr>
              <a:t>RQ 1.2</a:t>
            </a:r>
          </a:p>
        </p:txBody>
      </p:sp>
      <p:sp>
        <p:nvSpPr>
          <p:cNvPr id="29" name="TextBox 28"/>
          <p:cNvSpPr txBox="1"/>
          <p:nvPr/>
        </p:nvSpPr>
        <p:spPr>
          <a:xfrm>
            <a:off x="8284464" y="4069080"/>
            <a:ext cx="3063240" cy="1188720"/>
          </a:xfrm>
          <a:prstGeom prst="rect">
            <a:avLst/>
          </a:prstGeom>
          <a:noFill/>
        </p:spPr>
        <p:txBody>
          <a:bodyPr wrap="square" lIns="18288" tIns="18288" rIns="18288" bIns="18288" anchor="ctr">
            <a:spAutoFit/>
          </a:bodyPr>
          <a:lstStyle/>
          <a:p>
            <a:pPr algn="l"/>
            <a:r>
              <a:rPr lang="en-US" sz="1450" b="1">
                <a:solidFill>
                  <a:srgbClr val="434343"/>
                </a:solidFill>
                <a:latin typeface="Arial"/>
              </a:rPr>
              <a:t>How can inference over the current DFL model be bound to attested execution and transparently recorded tool use?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endParaRP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576072" y="1380744"/>
            <a:ext cx="5468112" cy="4032504"/>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153912" y="1380744"/>
            <a:ext cx="5458968" cy="4032504"/>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581912"/>
            <a:ext cx="1645920" cy="274320"/>
          </a:xfrm>
          <a:prstGeom prst="rect">
            <a:avLst/>
          </a:prstGeom>
          <a:noFill/>
        </p:spPr>
        <p:txBody>
          <a:bodyPr wrap="square" lIns="18288" tIns="18288" rIns="18288" bIns="18288" anchor="t">
            <a:spAutoFit/>
          </a:bodyPr>
          <a:lstStyle/>
          <a:p>
            <a:pPr algn="l"/>
            <a:r>
              <a:rPr lang="en-US" sz="1400" b="1">
                <a:solidFill>
                  <a:srgbClr val="2F8F46"/>
                </a:solidFill>
                <a:latin typeface="Arial"/>
              </a:rPr>
              <a:t>DFL BLOCK</a:t>
            </a:r>
          </a:p>
        </p:txBody>
      </p:sp>
      <p:sp>
        <p:nvSpPr>
          <p:cNvPr id="11" name="TextBox 10"/>
          <p:cNvSpPr txBox="1"/>
          <p:nvPr/>
        </p:nvSpPr>
        <p:spPr>
          <a:xfrm>
            <a:off x="6382512" y="1581912"/>
            <a:ext cx="3108960" cy="274320"/>
          </a:xfrm>
          <a:prstGeom prst="rect">
            <a:avLst/>
          </a:prstGeom>
          <a:noFill/>
        </p:spPr>
        <p:txBody>
          <a:bodyPr wrap="square" lIns="18288" tIns="18288" rIns="18288" bIns="18288" anchor="t">
            <a:spAutoFit/>
          </a:bodyPr>
          <a:lstStyle/>
          <a:p>
            <a:pPr algn="l"/>
            <a:r>
              <a:rPr lang="en-US" sz="1400" b="1">
                <a:solidFill>
                  <a:srgbClr val="1F90CC"/>
                </a:solidFill>
                <a:latin typeface="Arial"/>
              </a:rPr>
              <a:t>AGENT AND INFERENCE BLOCK</a:t>
            </a:r>
          </a:p>
        </p:txBody>
      </p:sp>
      <p:sp>
        <p:nvSpPr>
          <p:cNvPr id="12" name="Rounded Rectangle 11"/>
          <p:cNvSpPr/>
          <p:nvPr/>
        </p:nvSpPr>
        <p:spPr>
          <a:xfrm>
            <a:off x="841248"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96112" y="2276856"/>
            <a:ext cx="1188719" cy="292608"/>
          </a:xfrm>
          <a:prstGeom prst="rect">
            <a:avLst/>
          </a:prstGeom>
          <a:noFill/>
        </p:spPr>
        <p:txBody>
          <a:bodyPr wrap="square" lIns="18288" tIns="18288" rIns="18288" bIns="18288" anchor="ctr">
            <a:spAutoFit/>
          </a:bodyPr>
          <a:lstStyle/>
          <a:p>
            <a:pPr algn="ctr"/>
            <a:r>
              <a:rPr lang="en-US" sz="1150" b="1">
                <a:solidFill>
                  <a:srgbClr val="2F8F46"/>
                </a:solidFill>
                <a:latin typeface="Arial"/>
              </a:rPr>
              <a:t>DATA</a:t>
            </a:r>
          </a:p>
        </p:txBody>
      </p:sp>
      <p:sp>
        <p:nvSpPr>
          <p:cNvPr id="14" name="TextBox 13"/>
          <p:cNvSpPr txBox="1"/>
          <p:nvPr/>
        </p:nvSpPr>
        <p:spPr>
          <a:xfrm>
            <a:off x="896112" y="2642616"/>
            <a:ext cx="1188719" cy="566928"/>
          </a:xfrm>
          <a:prstGeom prst="rect">
            <a:avLst/>
          </a:prstGeom>
          <a:noFill/>
        </p:spPr>
        <p:txBody>
          <a:bodyPr wrap="square" lIns="18288" tIns="18288" rIns="18288" bIns="18288" anchor="ctr">
            <a:spAutoFit/>
          </a:bodyPr>
          <a:lstStyle/>
          <a:p>
            <a:pPr algn="ctr"/>
            <a:r>
              <a:rPr lang="en-US" sz="1000" b="1">
                <a:solidFill>
                  <a:srgbClr val="434343"/>
                </a:solidFill>
                <a:latin typeface="Arial"/>
              </a:rPr>
              <a:t>Signed medical
input</a:t>
            </a:r>
          </a:p>
        </p:txBody>
      </p:sp>
      <p:sp>
        <p:nvSpPr>
          <p:cNvPr id="15" name="Rounded Rectangle 14"/>
          <p:cNvSpPr/>
          <p:nvPr/>
        </p:nvSpPr>
        <p:spPr>
          <a:xfrm>
            <a:off x="2331720"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386584" y="2276856"/>
            <a:ext cx="1188719" cy="292608"/>
          </a:xfrm>
          <a:prstGeom prst="rect">
            <a:avLst/>
          </a:prstGeom>
          <a:noFill/>
        </p:spPr>
        <p:txBody>
          <a:bodyPr wrap="square" lIns="18288" tIns="18288" rIns="18288" bIns="18288" anchor="ctr">
            <a:spAutoFit/>
          </a:bodyPr>
          <a:lstStyle/>
          <a:p>
            <a:pPr algn="ctr"/>
            <a:r>
              <a:rPr lang="en-US" sz="1150" b="1">
                <a:solidFill>
                  <a:srgbClr val="2F8F46"/>
                </a:solidFill>
                <a:latin typeface="Arial"/>
              </a:rPr>
              <a:t>WORKER TEE</a:t>
            </a:r>
          </a:p>
        </p:txBody>
      </p:sp>
      <p:sp>
        <p:nvSpPr>
          <p:cNvPr id="17" name="TextBox 16"/>
          <p:cNvSpPr txBox="1"/>
          <p:nvPr/>
        </p:nvSpPr>
        <p:spPr>
          <a:xfrm>
            <a:off x="2386584" y="2642616"/>
            <a:ext cx="1188719" cy="566928"/>
          </a:xfrm>
          <a:prstGeom prst="rect">
            <a:avLst/>
          </a:prstGeom>
          <a:noFill/>
        </p:spPr>
        <p:txBody>
          <a:bodyPr wrap="square" lIns="18288" tIns="18288" rIns="18288" bIns="18288" anchor="ctr">
            <a:spAutoFit/>
          </a:bodyPr>
          <a:lstStyle/>
          <a:p>
            <a:pPr algn="ctr"/>
            <a:r>
              <a:rPr lang="en-US" sz="1000" b="1">
                <a:solidFill>
                  <a:srgbClr val="434343"/>
                </a:solidFill>
                <a:latin typeface="Arial"/>
              </a:rPr>
              <a:t>Attested
training</a:t>
            </a:r>
          </a:p>
        </p:txBody>
      </p:sp>
      <p:sp>
        <p:nvSpPr>
          <p:cNvPr id="18" name="Rounded Rectangle 17"/>
          <p:cNvSpPr/>
          <p:nvPr/>
        </p:nvSpPr>
        <p:spPr>
          <a:xfrm>
            <a:off x="3913632"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968496" y="2276856"/>
            <a:ext cx="1188719" cy="292608"/>
          </a:xfrm>
          <a:prstGeom prst="rect">
            <a:avLst/>
          </a:prstGeom>
          <a:noFill/>
        </p:spPr>
        <p:txBody>
          <a:bodyPr wrap="square" lIns="18288" tIns="18288" rIns="18288" bIns="18288" anchor="ctr">
            <a:spAutoFit/>
          </a:bodyPr>
          <a:lstStyle/>
          <a:p>
            <a:pPr algn="ctr"/>
            <a:r>
              <a:rPr lang="en-US" sz="1150" b="1">
                <a:solidFill>
                  <a:srgbClr val="2F8F46"/>
                </a:solidFill>
                <a:latin typeface="Arial"/>
              </a:rPr>
              <a:t>LEDGER</a:t>
            </a:r>
          </a:p>
        </p:txBody>
      </p:sp>
      <p:sp>
        <p:nvSpPr>
          <p:cNvPr id="20" name="TextBox 19"/>
          <p:cNvSpPr txBox="1"/>
          <p:nvPr/>
        </p:nvSpPr>
        <p:spPr>
          <a:xfrm>
            <a:off x="3968496" y="2642616"/>
            <a:ext cx="1188719" cy="566928"/>
          </a:xfrm>
          <a:prstGeom prst="rect">
            <a:avLst/>
          </a:prstGeom>
          <a:noFill/>
        </p:spPr>
        <p:txBody>
          <a:bodyPr wrap="square" lIns="18288" tIns="18288" rIns="18288" bIns="18288" anchor="ctr">
            <a:spAutoFit/>
          </a:bodyPr>
          <a:lstStyle/>
          <a:p>
            <a:pPr algn="ctr"/>
            <a:r>
              <a:rPr lang="en-US" sz="1000" b="1">
                <a:solidFill>
                  <a:srgbClr val="434343"/>
                </a:solidFill>
                <a:latin typeface="Arial"/>
              </a:rPr>
              <a:t>Coordination
and publication</a:t>
            </a:r>
          </a:p>
        </p:txBody>
      </p:sp>
      <p:sp>
        <p:nvSpPr>
          <p:cNvPr id="21" name="Rounded Rectangle 20"/>
          <p:cNvSpPr/>
          <p:nvPr/>
        </p:nvSpPr>
        <p:spPr>
          <a:xfrm>
            <a:off x="6656832" y="2121408"/>
            <a:ext cx="16276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711696" y="2276856"/>
            <a:ext cx="1517904" cy="292608"/>
          </a:xfrm>
          <a:prstGeom prst="rect">
            <a:avLst/>
          </a:prstGeom>
          <a:noFill/>
        </p:spPr>
        <p:txBody>
          <a:bodyPr wrap="square" lIns="18288" tIns="18288" rIns="18288" bIns="18288" anchor="ctr">
            <a:spAutoFit/>
          </a:bodyPr>
          <a:lstStyle/>
          <a:p>
            <a:pPr algn="ctr"/>
            <a:r>
              <a:rPr lang="en-US" sz="1150" b="1">
                <a:solidFill>
                  <a:srgbClr val="1F90CC"/>
                </a:solidFill>
                <a:latin typeface="Arial"/>
              </a:rPr>
              <a:t>RECEIVER TEE</a:t>
            </a:r>
          </a:p>
        </p:txBody>
      </p:sp>
      <p:sp>
        <p:nvSpPr>
          <p:cNvPr id="23" name="TextBox 22"/>
          <p:cNvSpPr txBox="1"/>
          <p:nvPr/>
        </p:nvSpPr>
        <p:spPr>
          <a:xfrm>
            <a:off x="6711696" y="2642616"/>
            <a:ext cx="1517904" cy="566928"/>
          </a:xfrm>
          <a:prstGeom prst="rect">
            <a:avLst/>
          </a:prstGeom>
          <a:noFill/>
        </p:spPr>
        <p:txBody>
          <a:bodyPr wrap="square" lIns="18288" tIns="18288" rIns="18288" bIns="18288" anchor="ctr">
            <a:spAutoFit/>
          </a:bodyPr>
          <a:lstStyle/>
          <a:p>
            <a:pPr algn="ctr"/>
            <a:r>
              <a:rPr lang="en-US" sz="1000" b="1">
                <a:solidFill>
                  <a:srgbClr val="434343"/>
                </a:solidFill>
                <a:latin typeface="Arial"/>
              </a:rPr>
              <a:t>Independent resolution
and inference</a:t>
            </a:r>
          </a:p>
        </p:txBody>
      </p:sp>
      <p:sp>
        <p:nvSpPr>
          <p:cNvPr id="24" name="Rounded Rectangle 23"/>
          <p:cNvSpPr/>
          <p:nvPr/>
        </p:nvSpPr>
        <p:spPr>
          <a:xfrm>
            <a:off x="8668512" y="2121408"/>
            <a:ext cx="11704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723376" y="2276856"/>
            <a:ext cx="1060704" cy="292608"/>
          </a:xfrm>
          <a:prstGeom prst="rect">
            <a:avLst/>
          </a:prstGeom>
          <a:noFill/>
        </p:spPr>
        <p:txBody>
          <a:bodyPr wrap="square" lIns="18288" tIns="18288" rIns="18288" bIns="18288" anchor="ctr">
            <a:spAutoFit/>
          </a:bodyPr>
          <a:lstStyle/>
          <a:p>
            <a:pPr algn="ctr"/>
            <a:r>
              <a:rPr lang="en-US" sz="1150" b="1">
                <a:solidFill>
                  <a:srgbClr val="1F90CC"/>
                </a:solidFill>
                <a:latin typeface="Arial"/>
              </a:rPr>
              <a:t>MCP</a:t>
            </a:r>
          </a:p>
        </p:txBody>
      </p:sp>
      <p:sp>
        <p:nvSpPr>
          <p:cNvPr id="26" name="TextBox 25"/>
          <p:cNvSpPr txBox="1"/>
          <p:nvPr/>
        </p:nvSpPr>
        <p:spPr>
          <a:xfrm>
            <a:off x="8723376" y="2642616"/>
            <a:ext cx="1060704" cy="566928"/>
          </a:xfrm>
          <a:prstGeom prst="rect">
            <a:avLst/>
          </a:prstGeom>
          <a:noFill/>
        </p:spPr>
        <p:txBody>
          <a:bodyPr wrap="square" lIns="18288" tIns="18288" rIns="18288" bIns="18288" anchor="ctr">
            <a:spAutoFit/>
          </a:bodyPr>
          <a:lstStyle/>
          <a:p>
            <a:pPr algn="ctr"/>
            <a:r>
              <a:rPr lang="en-US" sz="1000" b="1">
                <a:solidFill>
                  <a:srgbClr val="434343"/>
                </a:solidFill>
                <a:latin typeface="Arial"/>
              </a:rPr>
              <a:t>Three bounded
tools</a:t>
            </a:r>
          </a:p>
        </p:txBody>
      </p:sp>
      <p:sp>
        <p:nvSpPr>
          <p:cNvPr id="27" name="Rounded Rectangle 26"/>
          <p:cNvSpPr/>
          <p:nvPr/>
        </p:nvSpPr>
        <p:spPr>
          <a:xfrm>
            <a:off x="10094976" y="2121408"/>
            <a:ext cx="1170432" cy="1243584"/>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149840" y="2276856"/>
            <a:ext cx="1060704" cy="292608"/>
          </a:xfrm>
          <a:prstGeom prst="rect">
            <a:avLst/>
          </a:prstGeom>
          <a:noFill/>
        </p:spPr>
        <p:txBody>
          <a:bodyPr wrap="square" lIns="18288" tIns="18288" rIns="18288" bIns="18288" anchor="ctr">
            <a:spAutoFit/>
          </a:bodyPr>
          <a:lstStyle/>
          <a:p>
            <a:pPr algn="ctr"/>
            <a:r>
              <a:rPr lang="en-US" sz="1150" b="1">
                <a:solidFill>
                  <a:srgbClr val="7A35B5"/>
                </a:solidFill>
                <a:latin typeface="Arial"/>
              </a:rPr>
              <a:t>LOG</a:t>
            </a:r>
          </a:p>
        </p:txBody>
      </p:sp>
      <p:sp>
        <p:nvSpPr>
          <p:cNvPr id="29" name="TextBox 28"/>
          <p:cNvSpPr txBox="1"/>
          <p:nvPr/>
        </p:nvSpPr>
        <p:spPr>
          <a:xfrm>
            <a:off x="10149840" y="2642616"/>
            <a:ext cx="1060704" cy="566928"/>
          </a:xfrm>
          <a:prstGeom prst="rect">
            <a:avLst/>
          </a:prstGeom>
          <a:noFill/>
        </p:spPr>
        <p:txBody>
          <a:bodyPr wrap="square" lIns="18288" tIns="18288" rIns="18288" bIns="18288" anchor="ctr">
            <a:spAutoFit/>
          </a:bodyPr>
          <a:lstStyle/>
          <a:p>
            <a:pPr algn="ctr"/>
            <a:r>
              <a:rPr lang="en-US" sz="1000" b="1">
                <a:solidFill>
                  <a:srgbClr val="434343"/>
                </a:solidFill>
                <a:latin typeface="Arial"/>
              </a:rPr>
              <a:t>Receipts and
evidence</a:t>
            </a:r>
          </a:p>
        </p:txBody>
      </p:sp>
      <p:cxnSp>
        <p:nvCxnSpPr>
          <p:cNvPr id="30" name="Connector 29"/>
          <p:cNvCxnSpPr/>
          <p:nvPr/>
        </p:nvCxnSpPr>
        <p:spPr>
          <a:xfrm>
            <a:off x="2139696" y="2752344"/>
            <a:ext cx="15544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30168" y="2752344"/>
            <a:ext cx="24688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284464" y="2752344"/>
            <a:ext cx="347472"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38944" y="2752344"/>
            <a:ext cx="219456"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084064" y="3602736"/>
            <a:ext cx="2084831" cy="88696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212080" y="3758184"/>
            <a:ext cx="1828800" cy="237744"/>
          </a:xfrm>
          <a:prstGeom prst="rect">
            <a:avLst/>
          </a:prstGeom>
          <a:noFill/>
        </p:spPr>
        <p:txBody>
          <a:bodyPr wrap="square" lIns="18288" tIns="18288" rIns="18288" bIns="18288" anchor="t">
            <a:spAutoFit/>
          </a:bodyPr>
          <a:lstStyle/>
          <a:p>
            <a:pPr algn="ctr"/>
            <a:r>
              <a:rPr lang="en-US" sz="1400" b="1">
                <a:solidFill>
                  <a:srgbClr val="7A35B5"/>
                </a:solidFill>
                <a:latin typeface="Arial"/>
              </a:rPr>
              <a:t>IPFS</a:t>
            </a:r>
          </a:p>
        </p:txBody>
      </p:sp>
      <p:sp>
        <p:nvSpPr>
          <p:cNvPr id="36" name="TextBox 35"/>
          <p:cNvSpPr txBox="1"/>
          <p:nvPr/>
        </p:nvSpPr>
        <p:spPr>
          <a:xfrm>
            <a:off x="5230368" y="4105656"/>
            <a:ext cx="1792224" cy="219456"/>
          </a:xfrm>
          <a:prstGeom prst="rect">
            <a:avLst/>
          </a:prstGeom>
          <a:noFill/>
        </p:spPr>
        <p:txBody>
          <a:bodyPr wrap="square" lIns="18288" tIns="18288" rIns="18288" bIns="18288" anchor="t">
            <a:spAutoFit/>
          </a:bodyPr>
          <a:lstStyle/>
          <a:p>
            <a:pPr algn="ctr"/>
            <a:r>
              <a:rPr lang="en-US" sz="1050" b="1">
                <a:solidFill>
                  <a:srgbClr val="434343"/>
                </a:solidFill>
                <a:latin typeface="Arial"/>
              </a:rPr>
              <a:t>Signed, encrypted model</a:t>
            </a:r>
          </a:p>
        </p:txBody>
      </p:sp>
      <p:cxnSp>
        <p:nvCxnSpPr>
          <p:cNvPr id="37" name="Connector 36"/>
          <p:cNvCxnSpPr/>
          <p:nvPr/>
        </p:nvCxnSpPr>
        <p:spPr>
          <a:xfrm>
            <a:off x="5212080" y="3291840"/>
            <a:ext cx="420624"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583680" y="3291840"/>
            <a:ext cx="457200"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32688" y="3922776"/>
            <a:ext cx="3931920" cy="566928"/>
          </a:xfrm>
          <a:prstGeom prst="rect">
            <a:avLst/>
          </a:prstGeom>
          <a:noFill/>
        </p:spPr>
        <p:txBody>
          <a:bodyPr wrap="square" lIns="18288" tIns="18288" rIns="18288" bIns="18288" anchor="ctr">
            <a:spAutoFit/>
          </a:bodyPr>
          <a:lstStyle/>
          <a:p>
            <a:pPr algn="ctr"/>
            <a:r>
              <a:rPr lang="en-US" sz="1650" b="1">
                <a:solidFill>
                  <a:srgbClr val="434343"/>
                </a:solidFill>
                <a:latin typeface="Arial"/>
              </a:rPr>
              <a:t>The DFL block produces the authoritative model state.</a:t>
            </a:r>
          </a:p>
        </p:txBody>
      </p:sp>
      <p:sp>
        <p:nvSpPr>
          <p:cNvPr id="40" name="TextBox 39"/>
          <p:cNvSpPr txBox="1"/>
          <p:nvPr/>
        </p:nvSpPr>
        <p:spPr>
          <a:xfrm>
            <a:off x="7150608" y="3922776"/>
            <a:ext cx="4005072" cy="566928"/>
          </a:xfrm>
          <a:prstGeom prst="rect">
            <a:avLst/>
          </a:prstGeom>
          <a:noFill/>
        </p:spPr>
        <p:txBody>
          <a:bodyPr wrap="square" lIns="18288" tIns="18288" rIns="18288" bIns="18288" anchor="ctr">
            <a:spAutoFit/>
          </a:bodyPr>
          <a:lstStyle/>
          <a:p>
            <a:pPr algn="ctr"/>
            <a:r>
              <a:rPr lang="en-US" sz="1650" b="1">
                <a:solidFill>
                  <a:srgbClr val="434343"/>
                </a:solidFill>
                <a:latin typeface="Arial"/>
              </a:rPr>
              <a:t>The agent orchestrates the deterministic components.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cxnSp>
        <p:nvCxnSpPr>
          <p:cNvPr id="8" name="Connector 7"/>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392424" y="2157984"/>
            <a:ext cx="13659" cy="22939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406083" y="2387374"/>
            <a:ext cx="24723" cy="21877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430806" y="2606152"/>
            <a:ext cx="35786" cy="2081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571352" y="3198819"/>
            <a:ext cx="68976" cy="17633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640328" y="3375152"/>
            <a:ext cx="80038" cy="16572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720366" y="3540872"/>
            <a:ext cx="91101" cy="15511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4026859" y="3974366"/>
            <a:ext cx="124291" cy="123274"/>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151150" y="4097640"/>
            <a:ext cx="135354" cy="112664"/>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286504" y="4210304"/>
            <a:ext cx="146416" cy="10205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758944" y="4484624"/>
            <a:ext cx="179606" cy="7021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938550" y="4554840"/>
            <a:ext cx="190669" cy="5960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5129219" y="4614446"/>
            <a:ext cx="201733" cy="48994"/>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H="1">
            <a:off x="8791024" y="2157984"/>
            <a:ext cx="14648" cy="22939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H="1">
            <a:off x="8765370" y="2387374"/>
            <a:ext cx="25654" cy="21877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H="1">
            <a:off x="8728710" y="2606152"/>
            <a:ext cx="36660" cy="2081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H="1">
            <a:off x="8552688" y="3198819"/>
            <a:ext cx="69680" cy="17633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H="1">
            <a:off x="8472000" y="3375152"/>
            <a:ext cx="80688" cy="16572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380306" y="3540872"/>
            <a:ext cx="91694" cy="15511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039184" y="3974366"/>
            <a:ext cx="124714" cy="123274"/>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7903464" y="4097640"/>
            <a:ext cx="135720" cy="112664"/>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7756736" y="4210304"/>
            <a:ext cx="146728" cy="10205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7250514" y="4484624"/>
            <a:ext cx="179747" cy="7021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7059760" y="4554840"/>
            <a:ext cx="190754" cy="5960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6858000" y="4614446"/>
            <a:ext cx="201760" cy="48994"/>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914807" y="3922776"/>
            <a:ext cx="73745" cy="11892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8835813" y="4041704"/>
            <a:ext cx="78994" cy="1109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8751570" y="4152617"/>
            <a:ext cx="84243" cy="10289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8467344" y="4437267"/>
            <a:ext cx="99991" cy="7885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8362103" y="4516120"/>
            <a:ext cx="105241" cy="7083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251613" y="4586957"/>
            <a:ext cx="110490" cy="6282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7888647" y="4751380"/>
            <a:ext cx="126238" cy="3877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7757160" y="4790157"/>
            <a:ext cx="131487" cy="3076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7620423" y="4820920"/>
            <a:ext cx="136737" cy="227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flipV="1">
            <a:off x="7178717" y="4863817"/>
            <a:ext cx="152485" cy="129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flipV="1">
            <a:off x="7020983" y="4854504"/>
            <a:ext cx="157734" cy="93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flipV="1">
            <a:off x="6858000" y="4837176"/>
            <a:ext cx="162983" cy="17328"/>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3200400" y="3922776"/>
            <a:ext cx="74704" cy="11892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3275104" y="4041704"/>
            <a:ext cx="79840" cy="1109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3354944" y="4152617"/>
            <a:ext cx="84978" cy="10289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3625285" y="4437267"/>
            <a:ext cx="100387" cy="7885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3725672" y="4516120"/>
            <a:ext cx="105522" cy="7083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831194" y="4586957"/>
            <a:ext cx="110660" cy="6282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4178582" y="4751380"/>
            <a:ext cx="126068" cy="3877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4304650" y="4790157"/>
            <a:ext cx="131206" cy="3076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4435856" y="4820920"/>
            <a:ext cx="136341" cy="227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4860290" y="4863817"/>
            <a:ext cx="151750" cy="129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5012040" y="4854504"/>
            <a:ext cx="156888" cy="93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5168928" y="4837176"/>
            <a:ext cx="162024" cy="17328"/>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TextBox 219"/>
          <p:cNvSpPr txBox="1"/>
          <p:nvPr/>
        </p:nvSpPr>
        <p:spPr>
          <a:xfrm>
            <a:off x="6217920" y="4096512"/>
            <a:ext cx="1325880" cy="164592"/>
          </a:xfrm>
          <a:prstGeom prst="rect">
            <a:avLst/>
          </a:prstGeom>
          <a:noFill/>
        </p:spPr>
        <p:txBody>
          <a:bodyPr wrap="square" lIns="18288" tIns="18288" rIns="18288" bIns="18288" anchor="t">
            <a:spAutoFit/>
          </a:bodyPr>
          <a:lstStyle/>
          <a:p>
            <a:pPr algn="l"/>
            <a:r>
              <a:rPr lang="en-US" sz="780" b="1">
                <a:solidFill>
                  <a:srgbClr val="1F90CC"/>
                </a:solidFill>
                <a:latin typeface="Arial"/>
              </a:rPr>
              <a:t>Aggregated publication</a:t>
            </a:r>
          </a:p>
        </p:txBody>
      </p:sp>
      <p:sp>
        <p:nvSpPr>
          <p:cNvPr id="221" name="Rounded Rectangle 220"/>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Rectangle 221"/>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Rectangle 222"/>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Rounded Rectangle 223"/>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TextBox 224"/>
          <p:cNvSpPr txBox="1"/>
          <p:nvPr/>
        </p:nvSpPr>
        <p:spPr>
          <a:xfrm>
            <a:off x="2902671" y="1631015"/>
            <a:ext cx="119969" cy="89976"/>
          </a:xfrm>
          <a:prstGeom prst="rect">
            <a:avLst/>
          </a:prstGeom>
          <a:noFill/>
        </p:spPr>
        <p:txBody>
          <a:bodyPr wrap="square" lIns="0" tIns="0" rIns="0" bIns="0" anchor="ctr">
            <a:spAutoFit/>
          </a:bodyPr>
          <a:lstStyle/>
          <a:p>
            <a:pPr algn="ctr"/>
            <a:r>
              <a:rPr lang="en-US" sz="697" b="1">
                <a:solidFill>
                  <a:srgbClr val="FFFFFF"/>
                </a:solidFill>
                <a:latin typeface="Arial"/>
              </a:rPr>
              <a:t>H</a:t>
            </a:r>
          </a:p>
        </p:txBody>
      </p:sp>
      <p:sp>
        <p:nvSpPr>
          <p:cNvPr id="226" name="Rectangle 225"/>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Rectangle 226"/>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Rectangle 227"/>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TextBox 228"/>
          <p:cNvSpPr txBox="1"/>
          <p:nvPr/>
        </p:nvSpPr>
        <p:spPr>
          <a:xfrm>
            <a:off x="3246120" y="1591056"/>
            <a:ext cx="841247" cy="173736"/>
          </a:xfrm>
          <a:prstGeom prst="rect">
            <a:avLst/>
          </a:prstGeom>
          <a:noFill/>
        </p:spPr>
        <p:txBody>
          <a:bodyPr wrap="square" lIns="18288" tIns="18288" rIns="18288" bIns="18288" anchor="t">
            <a:spAutoFit/>
          </a:bodyPr>
          <a:lstStyle/>
          <a:p>
            <a:pPr algn="l"/>
            <a:r>
              <a:rPr lang="en-US" sz="1050" b="1">
                <a:solidFill>
                  <a:srgbClr val="434343"/>
                </a:solidFill>
                <a:latin typeface="Arial"/>
              </a:rPr>
              <a:t>Hospital A</a:t>
            </a:r>
          </a:p>
        </p:txBody>
      </p:sp>
      <p:sp>
        <p:nvSpPr>
          <p:cNvPr id="230" name="TextBox 229"/>
          <p:cNvSpPr txBox="1"/>
          <p:nvPr/>
        </p:nvSpPr>
        <p:spPr>
          <a:xfrm>
            <a:off x="3246120" y="1828800"/>
            <a:ext cx="841247" cy="146304"/>
          </a:xfrm>
          <a:prstGeom prst="rect">
            <a:avLst/>
          </a:prstGeom>
          <a:noFill/>
        </p:spPr>
        <p:txBody>
          <a:bodyPr wrap="square" lIns="18288" tIns="18288" rIns="18288" bIns="18288" anchor="t">
            <a:spAutoFit/>
          </a:bodyPr>
          <a:lstStyle/>
          <a:p>
            <a:pPr algn="l"/>
            <a:r>
              <a:rPr lang="en-US" sz="770" b="0">
                <a:solidFill>
                  <a:srgbClr val="434343"/>
                </a:solidFill>
                <a:latin typeface="Arial"/>
              </a:rPr>
              <a:t>Local training</a:t>
            </a:r>
          </a:p>
        </p:txBody>
      </p:sp>
      <p:sp>
        <p:nvSpPr>
          <p:cNvPr id="231" name="Rounded Rectangle 230"/>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Rectangle 231"/>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Rounded Rectangle 233"/>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8315919" y="1631015"/>
            <a:ext cx="119969" cy="89976"/>
          </a:xfrm>
          <a:prstGeom prst="rect">
            <a:avLst/>
          </a:prstGeom>
          <a:noFill/>
        </p:spPr>
        <p:txBody>
          <a:bodyPr wrap="square" lIns="0" tIns="0" rIns="0" bIns="0" anchor="ctr">
            <a:spAutoFit/>
          </a:bodyPr>
          <a:lstStyle/>
          <a:p>
            <a:pPr algn="ctr"/>
            <a:r>
              <a:rPr lang="en-US" sz="697" b="1">
                <a:solidFill>
                  <a:srgbClr val="FFFFFF"/>
                </a:solidFill>
                <a:latin typeface="Arial"/>
              </a:rPr>
              <a:t>H</a:t>
            </a:r>
          </a:p>
        </p:txBody>
      </p:sp>
      <p:sp>
        <p:nvSpPr>
          <p:cNvPr id="236" name="Rectangle 235"/>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Rectangle 236"/>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Rectangle 237"/>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TextBox 238"/>
          <p:cNvSpPr txBox="1"/>
          <p:nvPr/>
        </p:nvSpPr>
        <p:spPr>
          <a:xfrm>
            <a:off x="8659368" y="1591056"/>
            <a:ext cx="841247" cy="173736"/>
          </a:xfrm>
          <a:prstGeom prst="rect">
            <a:avLst/>
          </a:prstGeom>
          <a:noFill/>
        </p:spPr>
        <p:txBody>
          <a:bodyPr wrap="square" lIns="18288" tIns="18288" rIns="18288" bIns="18288" anchor="t">
            <a:spAutoFit/>
          </a:bodyPr>
          <a:lstStyle/>
          <a:p>
            <a:pPr algn="l"/>
            <a:r>
              <a:rPr lang="en-US" sz="1050" b="1">
                <a:solidFill>
                  <a:srgbClr val="434343"/>
                </a:solidFill>
                <a:latin typeface="Arial"/>
              </a:rPr>
              <a:t>Hospital B</a:t>
            </a:r>
          </a:p>
        </p:txBody>
      </p:sp>
      <p:sp>
        <p:nvSpPr>
          <p:cNvPr id="240" name="TextBox 239"/>
          <p:cNvSpPr txBox="1"/>
          <p:nvPr/>
        </p:nvSpPr>
        <p:spPr>
          <a:xfrm>
            <a:off x="8659368" y="1828800"/>
            <a:ext cx="841247" cy="146304"/>
          </a:xfrm>
          <a:prstGeom prst="rect">
            <a:avLst/>
          </a:prstGeom>
          <a:noFill/>
        </p:spPr>
        <p:txBody>
          <a:bodyPr wrap="square" lIns="18288" tIns="18288" rIns="18288" bIns="18288" anchor="t">
            <a:spAutoFit/>
          </a:bodyPr>
          <a:lstStyle/>
          <a:p>
            <a:pPr algn="l"/>
            <a:r>
              <a:rPr lang="en-US" sz="770" b="0">
                <a:solidFill>
                  <a:srgbClr val="434343"/>
                </a:solidFill>
                <a:latin typeface="Arial"/>
              </a:rPr>
              <a:t>Local training</a:t>
            </a:r>
          </a:p>
        </p:txBody>
      </p:sp>
      <p:sp>
        <p:nvSpPr>
          <p:cNvPr id="241" name="Rounded Rectangle 240"/>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Rectangle 241"/>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Rectangle 242"/>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Rounded Rectangle 243"/>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TextBox 244"/>
          <p:cNvSpPr txBox="1"/>
          <p:nvPr/>
        </p:nvSpPr>
        <p:spPr>
          <a:xfrm>
            <a:off x="9266895" y="3532967"/>
            <a:ext cx="119969" cy="89976"/>
          </a:xfrm>
          <a:prstGeom prst="rect">
            <a:avLst/>
          </a:prstGeom>
          <a:noFill/>
        </p:spPr>
        <p:txBody>
          <a:bodyPr wrap="square" lIns="0" tIns="0" rIns="0" bIns="0" anchor="ctr">
            <a:spAutoFit/>
          </a:bodyPr>
          <a:lstStyle/>
          <a:p>
            <a:pPr algn="ctr"/>
            <a:r>
              <a:rPr lang="en-US" sz="697" b="1">
                <a:solidFill>
                  <a:srgbClr val="FFFFFF"/>
                </a:solidFill>
                <a:latin typeface="Arial"/>
              </a:rPr>
              <a:t>H</a:t>
            </a:r>
          </a:p>
        </p:txBody>
      </p:sp>
      <p:sp>
        <p:nvSpPr>
          <p:cNvPr id="246" name="Rectangle 245"/>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Rectangle 246"/>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Rectangle 247"/>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TextBox 248"/>
          <p:cNvSpPr txBox="1"/>
          <p:nvPr/>
        </p:nvSpPr>
        <p:spPr>
          <a:xfrm>
            <a:off x="9610344" y="3493008"/>
            <a:ext cx="841247" cy="173736"/>
          </a:xfrm>
          <a:prstGeom prst="rect">
            <a:avLst/>
          </a:prstGeom>
          <a:noFill/>
        </p:spPr>
        <p:txBody>
          <a:bodyPr wrap="square" lIns="18288" tIns="18288" rIns="18288" bIns="18288" anchor="t">
            <a:spAutoFit/>
          </a:bodyPr>
          <a:lstStyle/>
          <a:p>
            <a:pPr algn="l"/>
            <a:r>
              <a:rPr lang="en-US" sz="1050" b="1">
                <a:solidFill>
                  <a:srgbClr val="434343"/>
                </a:solidFill>
                <a:latin typeface="Arial"/>
              </a:rPr>
              <a:t>Hospital C</a:t>
            </a:r>
          </a:p>
        </p:txBody>
      </p:sp>
      <p:sp>
        <p:nvSpPr>
          <p:cNvPr id="250" name="TextBox 249"/>
          <p:cNvSpPr txBox="1"/>
          <p:nvPr/>
        </p:nvSpPr>
        <p:spPr>
          <a:xfrm>
            <a:off x="9610344" y="3730752"/>
            <a:ext cx="841247" cy="146304"/>
          </a:xfrm>
          <a:prstGeom prst="rect">
            <a:avLst/>
          </a:prstGeom>
          <a:noFill/>
        </p:spPr>
        <p:txBody>
          <a:bodyPr wrap="square" lIns="18288" tIns="18288" rIns="18288" bIns="18288" anchor="t">
            <a:spAutoFit/>
          </a:bodyPr>
          <a:lstStyle/>
          <a:p>
            <a:pPr algn="l"/>
            <a:r>
              <a:rPr lang="en-US" sz="770" b="0">
                <a:solidFill>
                  <a:srgbClr val="434343"/>
                </a:solidFill>
                <a:latin typeface="Arial"/>
              </a:rPr>
              <a:t>Local training</a:t>
            </a:r>
          </a:p>
        </p:txBody>
      </p:sp>
      <p:sp>
        <p:nvSpPr>
          <p:cNvPr id="251" name="Rounded Rectangle 250"/>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Rectangle 251"/>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Rectangle 252"/>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Rounded Rectangle 253"/>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TextBox 254"/>
          <p:cNvSpPr txBox="1"/>
          <p:nvPr/>
        </p:nvSpPr>
        <p:spPr>
          <a:xfrm>
            <a:off x="5499567" y="4602815"/>
            <a:ext cx="119969" cy="89976"/>
          </a:xfrm>
          <a:prstGeom prst="rect">
            <a:avLst/>
          </a:prstGeom>
          <a:noFill/>
        </p:spPr>
        <p:txBody>
          <a:bodyPr wrap="square" lIns="0" tIns="0" rIns="0" bIns="0" anchor="ctr">
            <a:spAutoFit/>
          </a:bodyPr>
          <a:lstStyle/>
          <a:p>
            <a:pPr algn="ctr"/>
            <a:r>
              <a:rPr lang="en-US" sz="697" b="1">
                <a:solidFill>
                  <a:srgbClr val="FFFFFF"/>
                </a:solidFill>
                <a:latin typeface="Arial"/>
              </a:rPr>
              <a:t>H</a:t>
            </a:r>
          </a:p>
        </p:txBody>
      </p:sp>
      <p:sp>
        <p:nvSpPr>
          <p:cNvPr id="256" name="Rectangle 255"/>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Rectangle 256"/>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Rectangle 257"/>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TextBox 258"/>
          <p:cNvSpPr txBox="1"/>
          <p:nvPr/>
        </p:nvSpPr>
        <p:spPr>
          <a:xfrm>
            <a:off x="5843016" y="4562856"/>
            <a:ext cx="1060704" cy="173736"/>
          </a:xfrm>
          <a:prstGeom prst="rect">
            <a:avLst/>
          </a:prstGeom>
          <a:noFill/>
        </p:spPr>
        <p:txBody>
          <a:bodyPr wrap="square" lIns="18288" tIns="18288" rIns="18288" bIns="18288" anchor="t">
            <a:spAutoFit/>
          </a:bodyPr>
          <a:lstStyle/>
          <a:p>
            <a:pPr algn="l"/>
            <a:r>
              <a:rPr lang="en-US" sz="1050" b="1">
                <a:solidFill>
                  <a:srgbClr val="434343"/>
                </a:solidFill>
                <a:latin typeface="Arial"/>
              </a:rPr>
              <a:t>Hospital D</a:t>
            </a:r>
          </a:p>
        </p:txBody>
      </p:sp>
      <p:sp>
        <p:nvSpPr>
          <p:cNvPr id="260" name="TextBox 259"/>
          <p:cNvSpPr txBox="1"/>
          <p:nvPr/>
        </p:nvSpPr>
        <p:spPr>
          <a:xfrm>
            <a:off x="5843016" y="4800600"/>
            <a:ext cx="1060704" cy="146304"/>
          </a:xfrm>
          <a:prstGeom prst="rect">
            <a:avLst/>
          </a:prstGeom>
          <a:noFill/>
        </p:spPr>
        <p:txBody>
          <a:bodyPr wrap="square" lIns="18288" tIns="18288" rIns="18288" bIns="18288" anchor="t">
            <a:spAutoFit/>
          </a:bodyPr>
          <a:lstStyle/>
          <a:p>
            <a:pPr algn="l"/>
            <a:r>
              <a:rPr lang="en-US" sz="770" b="0">
                <a:solidFill>
                  <a:srgbClr val="434343"/>
                </a:solidFill>
                <a:latin typeface="Arial"/>
              </a:rPr>
              <a:t>Local training</a:t>
            </a:r>
          </a:p>
        </p:txBody>
      </p:sp>
      <p:sp>
        <p:nvSpPr>
          <p:cNvPr id="261" name="TextBox 260"/>
          <p:cNvSpPr txBox="1"/>
          <p:nvPr/>
        </p:nvSpPr>
        <p:spPr>
          <a:xfrm>
            <a:off x="5824727" y="4974336"/>
            <a:ext cx="1133856" cy="118872"/>
          </a:xfrm>
          <a:prstGeom prst="rect">
            <a:avLst/>
          </a:prstGeom>
          <a:noFill/>
        </p:spPr>
        <p:txBody>
          <a:bodyPr wrap="square" lIns="18288" tIns="18288" rIns="18288" bIns="18288" anchor="t">
            <a:spAutoFit/>
          </a:bodyPr>
          <a:lstStyle/>
          <a:p>
            <a:pPr algn="l"/>
            <a:r>
              <a:rPr lang="en-US" sz="600" b="1">
                <a:solidFill>
                  <a:srgbClr val="C40D1E"/>
                </a:solidFill>
                <a:latin typeface="Arial"/>
              </a:rPr>
              <a:t>Temporary aggregator</a:t>
            </a:r>
          </a:p>
        </p:txBody>
      </p:sp>
      <p:sp>
        <p:nvSpPr>
          <p:cNvPr id="262" name="Rounded Rectangle 261"/>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Rectangle 262"/>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Rectangle 263"/>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Rounded Rectangle 264"/>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TextBox 265"/>
          <p:cNvSpPr txBox="1"/>
          <p:nvPr/>
        </p:nvSpPr>
        <p:spPr>
          <a:xfrm>
            <a:off x="1951695" y="3532967"/>
            <a:ext cx="119969" cy="89976"/>
          </a:xfrm>
          <a:prstGeom prst="rect">
            <a:avLst/>
          </a:prstGeom>
          <a:noFill/>
        </p:spPr>
        <p:txBody>
          <a:bodyPr wrap="square" lIns="0" tIns="0" rIns="0" bIns="0" anchor="ctr">
            <a:spAutoFit/>
          </a:bodyPr>
          <a:lstStyle/>
          <a:p>
            <a:pPr algn="ctr"/>
            <a:r>
              <a:rPr lang="en-US" sz="697" b="1">
                <a:solidFill>
                  <a:srgbClr val="FFFFFF"/>
                </a:solidFill>
                <a:latin typeface="Arial"/>
              </a:rPr>
              <a:t>H</a:t>
            </a:r>
          </a:p>
        </p:txBody>
      </p:sp>
      <p:sp>
        <p:nvSpPr>
          <p:cNvPr id="267" name="Rectangle 266"/>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Rectangle 267"/>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Rectangle 268"/>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TextBox 269"/>
          <p:cNvSpPr txBox="1"/>
          <p:nvPr/>
        </p:nvSpPr>
        <p:spPr>
          <a:xfrm>
            <a:off x="2295144" y="3493008"/>
            <a:ext cx="841247" cy="173736"/>
          </a:xfrm>
          <a:prstGeom prst="rect">
            <a:avLst/>
          </a:prstGeom>
          <a:noFill/>
        </p:spPr>
        <p:txBody>
          <a:bodyPr wrap="square" lIns="18288" tIns="18288" rIns="18288" bIns="18288" anchor="t">
            <a:spAutoFit/>
          </a:bodyPr>
          <a:lstStyle/>
          <a:p>
            <a:pPr algn="l"/>
            <a:r>
              <a:rPr lang="en-US" sz="1050" b="1">
                <a:solidFill>
                  <a:srgbClr val="434343"/>
                </a:solidFill>
                <a:latin typeface="Arial"/>
              </a:rPr>
              <a:t>Hospital E</a:t>
            </a:r>
          </a:p>
        </p:txBody>
      </p:sp>
      <p:sp>
        <p:nvSpPr>
          <p:cNvPr id="271" name="TextBox 270"/>
          <p:cNvSpPr txBox="1"/>
          <p:nvPr/>
        </p:nvSpPr>
        <p:spPr>
          <a:xfrm>
            <a:off x="2295144" y="3730752"/>
            <a:ext cx="841247" cy="146304"/>
          </a:xfrm>
          <a:prstGeom prst="rect">
            <a:avLst/>
          </a:prstGeom>
          <a:noFill/>
        </p:spPr>
        <p:txBody>
          <a:bodyPr wrap="square" lIns="18288" tIns="18288" rIns="18288" bIns="18288" anchor="t">
            <a:spAutoFit/>
          </a:bodyPr>
          <a:lstStyle/>
          <a:p>
            <a:pPr algn="l"/>
            <a:r>
              <a:rPr lang="en-US" sz="770" b="0">
                <a:solidFill>
                  <a:srgbClr val="434343"/>
                </a:solidFill>
                <a:latin typeface="Arial"/>
              </a:rPr>
              <a:t>Local training</a:t>
            </a:r>
          </a:p>
        </p:txBody>
      </p:sp>
      <p:sp>
        <p:nvSpPr>
          <p:cNvPr id="272" name="Rounded Rectangle 271"/>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TextBox 272"/>
          <p:cNvSpPr txBox="1"/>
          <p:nvPr/>
        </p:nvSpPr>
        <p:spPr>
          <a:xfrm>
            <a:off x="5084064" y="2441448"/>
            <a:ext cx="2020824" cy="201168"/>
          </a:xfrm>
          <a:prstGeom prst="rect">
            <a:avLst/>
          </a:prstGeom>
          <a:noFill/>
        </p:spPr>
        <p:txBody>
          <a:bodyPr wrap="square" lIns="18288" tIns="18288" rIns="18288" bIns="18288" anchor="t">
            <a:spAutoFit/>
          </a:bodyPr>
          <a:lstStyle/>
          <a:p>
            <a:pPr algn="ctr"/>
            <a:r>
              <a:rPr lang="en-US" sz="1050" b="1">
                <a:solidFill>
                  <a:srgbClr val="C40D1E"/>
                </a:solidFill>
                <a:latin typeface="Arial"/>
              </a:rPr>
              <a:t>CURRENT ENCRYPTED</a:t>
            </a:r>
          </a:p>
        </p:txBody>
      </p:sp>
      <p:sp>
        <p:nvSpPr>
          <p:cNvPr id="274" name="TextBox 273"/>
          <p:cNvSpPr txBox="1"/>
          <p:nvPr/>
        </p:nvSpPr>
        <p:spPr>
          <a:xfrm>
            <a:off x="4846320" y="2807208"/>
            <a:ext cx="2496312" cy="310896"/>
          </a:xfrm>
          <a:prstGeom prst="rect">
            <a:avLst/>
          </a:prstGeom>
          <a:noFill/>
        </p:spPr>
        <p:txBody>
          <a:bodyPr wrap="square" lIns="18288" tIns="18288" rIns="18288" bIns="18288" anchor="t">
            <a:spAutoFit/>
          </a:bodyPr>
          <a:lstStyle/>
          <a:p>
            <a:pPr algn="ctr"/>
            <a:r>
              <a:rPr lang="en-US" sz="1950" b="1">
                <a:solidFill>
                  <a:srgbClr val="434343"/>
                </a:solidFill>
                <a:latin typeface="Arial"/>
              </a:rPr>
              <a:t>GLOBAL MODEL</a:t>
            </a:r>
          </a:p>
        </p:txBody>
      </p:sp>
      <p:cxnSp>
        <p:nvCxnSpPr>
          <p:cNvPr id="275" name="Connector 274"/>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3" name="Rounded Rectangle 282"/>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TextBox 283"/>
          <p:cNvSpPr txBox="1"/>
          <p:nvPr/>
        </p:nvSpPr>
        <p:spPr>
          <a:xfrm>
            <a:off x="6025896" y="3282696"/>
            <a:ext cx="146304" cy="109728"/>
          </a:xfrm>
          <a:prstGeom prst="rect">
            <a:avLst/>
          </a:prstGeom>
          <a:noFill/>
        </p:spPr>
        <p:txBody>
          <a:bodyPr wrap="square" lIns="0" tIns="0" rIns="0" bIns="0" anchor="t">
            <a:spAutoFit/>
          </a:bodyPr>
          <a:lstStyle/>
          <a:p>
            <a:pPr algn="ctr"/>
            <a:r>
              <a:rPr lang="en-US" sz="800" b="1">
                <a:solidFill>
                  <a:srgbClr val="FFFFFF"/>
                </a:solidFill>
                <a:latin typeface="Arial"/>
              </a:rPr>
              <a:t>•</a:t>
            </a:r>
          </a:p>
        </p:txBody>
      </p:sp>
      <p:sp>
        <p:nvSpPr>
          <p:cNvPr id="285" name="Rounded Rectangle 284"/>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TextBox 285"/>
          <p:cNvSpPr txBox="1"/>
          <p:nvPr/>
        </p:nvSpPr>
        <p:spPr>
          <a:xfrm>
            <a:off x="5202936" y="3616452"/>
            <a:ext cx="1792224" cy="109728"/>
          </a:xfrm>
          <a:prstGeom prst="rect">
            <a:avLst/>
          </a:prstGeom>
          <a:noFill/>
        </p:spPr>
        <p:txBody>
          <a:bodyPr wrap="square" lIns="0" tIns="0" rIns="0" bIns="0" anchor="t">
            <a:spAutoFit/>
          </a:bodyPr>
          <a:lstStyle/>
          <a:p>
            <a:pPr algn="ctr"/>
            <a:r>
              <a:rPr lang="en-US" sz="770" b="0">
                <a:solidFill>
                  <a:srgbClr val="434343"/>
                </a:solidFill>
                <a:latin typeface="Arial"/>
              </a:rPr>
              <a:t>Resolved from the ledger</a:t>
            </a:r>
          </a:p>
        </p:txBody>
      </p:sp>
      <p:sp>
        <p:nvSpPr>
          <p:cNvPr id="287" name="Rounded Rectangle 286"/>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TextBox 287"/>
          <p:cNvSpPr txBox="1"/>
          <p:nvPr/>
        </p:nvSpPr>
        <p:spPr>
          <a:xfrm>
            <a:off x="731520" y="1810512"/>
            <a:ext cx="1271016" cy="164592"/>
          </a:xfrm>
          <a:prstGeom prst="rect">
            <a:avLst/>
          </a:prstGeom>
          <a:noFill/>
        </p:spPr>
        <p:txBody>
          <a:bodyPr wrap="square" lIns="18288" tIns="18288" rIns="18288" bIns="18288" anchor="t">
            <a:spAutoFit/>
          </a:bodyPr>
          <a:lstStyle/>
          <a:p>
            <a:pPr algn="ctr"/>
            <a:r>
              <a:rPr lang="en-US" sz="1000" b="1">
                <a:solidFill>
                  <a:srgbClr val="C40D1E"/>
                </a:solidFill>
                <a:latin typeface="Arial"/>
              </a:rPr>
              <a:t>DATA FLOW</a:t>
            </a:r>
          </a:p>
        </p:txBody>
      </p:sp>
      <p:cxnSp>
        <p:nvCxnSpPr>
          <p:cNvPr id="289" name="Connector 288"/>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0" name="TextBox 289"/>
          <p:cNvSpPr txBox="1"/>
          <p:nvPr/>
        </p:nvSpPr>
        <p:spPr>
          <a:xfrm>
            <a:off x="1298448" y="2093976"/>
            <a:ext cx="832104" cy="146304"/>
          </a:xfrm>
          <a:prstGeom prst="rect">
            <a:avLst/>
          </a:prstGeom>
          <a:noFill/>
        </p:spPr>
        <p:txBody>
          <a:bodyPr wrap="square" lIns="18288" tIns="18288" rIns="18288" bIns="18288" anchor="t">
            <a:spAutoFit/>
          </a:bodyPr>
          <a:lstStyle/>
          <a:p>
            <a:pPr algn="l"/>
            <a:r>
              <a:rPr lang="en-US" sz="740" b="0">
                <a:solidFill>
                  <a:srgbClr val="434343"/>
                </a:solidFill>
                <a:latin typeface="Arial"/>
              </a:rPr>
              <a:t>Encrypted model</a:t>
            </a:r>
          </a:p>
        </p:txBody>
      </p:sp>
      <p:cxnSp>
        <p:nvCxnSpPr>
          <p:cNvPr id="291" name="Connector 290"/>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2" name="TextBox 291"/>
          <p:cNvSpPr txBox="1"/>
          <p:nvPr/>
        </p:nvSpPr>
        <p:spPr>
          <a:xfrm>
            <a:off x="1298448" y="2414016"/>
            <a:ext cx="832104" cy="146304"/>
          </a:xfrm>
          <a:prstGeom prst="rect">
            <a:avLst/>
          </a:prstGeom>
          <a:noFill/>
        </p:spPr>
        <p:txBody>
          <a:bodyPr wrap="square" lIns="18288" tIns="18288" rIns="18288" bIns="18288" anchor="t">
            <a:spAutoFit/>
          </a:bodyPr>
          <a:lstStyle/>
          <a:p>
            <a:pPr algn="l"/>
            <a:r>
              <a:rPr lang="en-US" sz="740" b="0">
                <a:solidFill>
                  <a:srgbClr val="434343"/>
                </a:solidFill>
                <a:latin typeface="Arial"/>
              </a:rPr>
              <a:t>Signed update</a:t>
            </a:r>
          </a:p>
        </p:txBody>
      </p:sp>
      <p:cxnSp>
        <p:nvCxnSpPr>
          <p:cNvPr id="293" name="Connector 292"/>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TextBox 293"/>
          <p:cNvSpPr txBox="1"/>
          <p:nvPr/>
        </p:nvSpPr>
        <p:spPr>
          <a:xfrm>
            <a:off x="1298448" y="2734056"/>
            <a:ext cx="832104" cy="146304"/>
          </a:xfrm>
          <a:prstGeom prst="rect">
            <a:avLst/>
          </a:prstGeom>
          <a:noFill/>
        </p:spPr>
        <p:txBody>
          <a:bodyPr wrap="square" lIns="18288" tIns="18288" rIns="18288" bIns="18288" anchor="t">
            <a:spAutoFit/>
          </a:bodyPr>
          <a:lstStyle/>
          <a:p>
            <a:pPr algn="l"/>
            <a:r>
              <a:rPr lang="en-US" sz="740" b="0">
                <a:solidFill>
                  <a:srgbClr val="434343"/>
                </a:solidFill>
                <a:latin typeface="Arial"/>
              </a:rPr>
              <a:t>Publication</a:t>
            </a:r>
          </a:p>
        </p:txBody>
      </p:sp>
      <p:cxnSp>
        <p:nvCxnSpPr>
          <p:cNvPr id="295" name="Connector 294"/>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6" name="TextBox 295"/>
          <p:cNvSpPr txBox="1"/>
          <p:nvPr/>
        </p:nvSpPr>
        <p:spPr>
          <a:xfrm>
            <a:off x="1298448" y="3026664"/>
            <a:ext cx="832104" cy="146304"/>
          </a:xfrm>
          <a:prstGeom prst="rect">
            <a:avLst/>
          </a:prstGeom>
          <a:noFill/>
        </p:spPr>
        <p:txBody>
          <a:bodyPr wrap="square" lIns="18288" tIns="18288" rIns="18288" bIns="18288" anchor="t">
            <a:spAutoFit/>
          </a:bodyPr>
          <a:lstStyle/>
          <a:p>
            <a:pPr algn="l"/>
            <a:r>
              <a:rPr lang="en-US" sz="600" b="0">
                <a:solidFill>
                  <a:srgbClr val="434343"/>
                </a:solidFill>
                <a:latin typeface="Arial"/>
              </a:rPr>
              <a:t>Aggregator rotation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Block 1: verifiable model production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FOUR CONTROL POINTS BEFORE MODEL PUBLICATION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594360" y="1399032"/>
            <a:ext cx="2487168" cy="126187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1600200"/>
            <a:ext cx="347472" cy="228600"/>
          </a:xfrm>
          <a:prstGeom prst="rect">
            <a:avLst/>
          </a:prstGeom>
          <a:noFill/>
        </p:spPr>
        <p:txBody>
          <a:bodyPr wrap="square" lIns="18288" tIns="18288" rIns="18288" bIns="18288" anchor="t">
            <a:spAutoFit/>
          </a:bodyPr>
          <a:lstStyle/>
          <a:p>
            <a:pPr algn="l"/>
            <a:r>
              <a:rPr lang="en-US" sz="1100" b="1">
                <a:solidFill>
                  <a:srgbClr val="2F8F46"/>
                </a:solidFill>
                <a:latin typeface="Arial"/>
              </a:rPr>
              <a:t>01</a:t>
            </a:r>
          </a:p>
        </p:txBody>
      </p:sp>
      <p:sp>
        <p:nvSpPr>
          <p:cNvPr id="10" name="TextBox 9"/>
          <p:cNvSpPr txBox="1"/>
          <p:nvPr/>
        </p:nvSpPr>
        <p:spPr>
          <a:xfrm>
            <a:off x="1152144" y="1572768"/>
            <a:ext cx="1673352" cy="274320"/>
          </a:xfrm>
          <a:prstGeom prst="rect">
            <a:avLst/>
          </a:prstGeom>
          <a:noFill/>
        </p:spPr>
        <p:txBody>
          <a:bodyPr wrap="square" lIns="18288" tIns="18288" rIns="18288" bIns="18288" anchor="t">
            <a:spAutoFit/>
          </a:bodyPr>
          <a:lstStyle/>
          <a:p>
            <a:pPr algn="l"/>
            <a:r>
              <a:rPr lang="en-US" sz="1350" b="1">
                <a:solidFill>
                  <a:srgbClr val="2F8F46"/>
                </a:solidFill>
                <a:latin typeface="Arial"/>
              </a:rPr>
              <a:t>INPUT</a:t>
            </a:r>
          </a:p>
        </p:txBody>
      </p:sp>
      <p:sp>
        <p:nvSpPr>
          <p:cNvPr id="11" name="TextBox 10"/>
          <p:cNvSpPr txBox="1"/>
          <p:nvPr/>
        </p:nvSpPr>
        <p:spPr>
          <a:xfrm>
            <a:off x="749808" y="1993392"/>
            <a:ext cx="2176272" cy="457200"/>
          </a:xfrm>
          <a:prstGeom prst="rect">
            <a:avLst/>
          </a:prstGeom>
          <a:noFill/>
        </p:spPr>
        <p:txBody>
          <a:bodyPr wrap="square" lIns="18288" tIns="18288" rIns="18288" bIns="18288" anchor="t">
            <a:spAutoFit/>
          </a:bodyPr>
          <a:lstStyle/>
          <a:p>
            <a:pPr algn="ctr"/>
            <a:r>
              <a:rPr lang="en-US" sz="1250" b="1">
                <a:solidFill>
                  <a:srgbClr val="434343"/>
                </a:solidFill>
                <a:latin typeface="Arial"/>
              </a:rPr>
              <a:t>Device signs image
Radiologist signs label</a:t>
            </a:r>
          </a:p>
        </p:txBody>
      </p:sp>
      <p:cxnSp>
        <p:nvCxnSpPr>
          <p:cNvPr id="12" name="Connector 11"/>
          <p:cNvCxnSpPr/>
          <p:nvPr/>
        </p:nvCxnSpPr>
        <p:spPr>
          <a:xfrm>
            <a:off x="3099816" y="2029968"/>
            <a:ext cx="246887"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83279" y="1399032"/>
            <a:ext cx="2487168" cy="126187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29584" y="1600200"/>
            <a:ext cx="347472" cy="228600"/>
          </a:xfrm>
          <a:prstGeom prst="rect">
            <a:avLst/>
          </a:prstGeom>
          <a:noFill/>
        </p:spPr>
        <p:txBody>
          <a:bodyPr wrap="square" lIns="18288" tIns="18288" rIns="18288" bIns="18288" anchor="t">
            <a:spAutoFit/>
          </a:bodyPr>
          <a:lstStyle/>
          <a:p>
            <a:pPr algn="l"/>
            <a:r>
              <a:rPr lang="en-US" sz="1100" b="1">
                <a:solidFill>
                  <a:srgbClr val="1F90CC"/>
                </a:solidFill>
                <a:latin typeface="Arial"/>
              </a:rPr>
              <a:t>02</a:t>
            </a:r>
          </a:p>
        </p:txBody>
      </p:sp>
      <p:sp>
        <p:nvSpPr>
          <p:cNvPr id="15" name="TextBox 14"/>
          <p:cNvSpPr txBox="1"/>
          <p:nvPr/>
        </p:nvSpPr>
        <p:spPr>
          <a:xfrm>
            <a:off x="3941063" y="1572768"/>
            <a:ext cx="1673352" cy="274320"/>
          </a:xfrm>
          <a:prstGeom prst="rect">
            <a:avLst/>
          </a:prstGeom>
          <a:noFill/>
        </p:spPr>
        <p:txBody>
          <a:bodyPr wrap="square" lIns="18288" tIns="18288" rIns="18288" bIns="18288" anchor="t">
            <a:spAutoFit/>
          </a:bodyPr>
          <a:lstStyle/>
          <a:p>
            <a:pPr algn="l"/>
            <a:r>
              <a:rPr lang="en-US" sz="1350" b="1">
                <a:solidFill>
                  <a:srgbClr val="1F90CC"/>
                </a:solidFill>
                <a:latin typeface="Arial"/>
              </a:rPr>
              <a:t>ADMISSION</a:t>
            </a:r>
          </a:p>
        </p:txBody>
      </p:sp>
      <p:sp>
        <p:nvSpPr>
          <p:cNvPr id="16" name="TextBox 15"/>
          <p:cNvSpPr txBox="1"/>
          <p:nvPr/>
        </p:nvSpPr>
        <p:spPr>
          <a:xfrm>
            <a:off x="3538727" y="1993392"/>
            <a:ext cx="2176272" cy="457200"/>
          </a:xfrm>
          <a:prstGeom prst="rect">
            <a:avLst/>
          </a:prstGeom>
          <a:noFill/>
        </p:spPr>
        <p:txBody>
          <a:bodyPr wrap="square" lIns="18288" tIns="18288" rIns="18288" bIns="18288" anchor="t">
            <a:spAutoFit/>
          </a:bodyPr>
          <a:lstStyle/>
          <a:p>
            <a:pPr algn="ctr"/>
            <a:r>
              <a:rPr lang="en-US" sz="1250" b="1">
                <a:solidFill>
                  <a:srgbClr val="434343"/>
                </a:solidFill>
                <a:latin typeface="Arial"/>
              </a:rPr>
              <a:t>TDX/DCAP · RTMR3 replay
REPORTDATA binding</a:t>
            </a:r>
          </a:p>
        </p:txBody>
      </p:sp>
      <p:cxnSp>
        <p:nvCxnSpPr>
          <p:cNvPr id="17" name="Connector 16"/>
          <p:cNvCxnSpPr/>
          <p:nvPr/>
        </p:nvCxnSpPr>
        <p:spPr>
          <a:xfrm>
            <a:off x="5888736" y="2029968"/>
            <a:ext cx="246887"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1399032"/>
            <a:ext cx="2487168" cy="126187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18504" y="1600200"/>
            <a:ext cx="347472" cy="228600"/>
          </a:xfrm>
          <a:prstGeom prst="rect">
            <a:avLst/>
          </a:prstGeom>
          <a:noFill/>
        </p:spPr>
        <p:txBody>
          <a:bodyPr wrap="square" lIns="18288" tIns="18288" rIns="18288" bIns="18288" anchor="t">
            <a:spAutoFit/>
          </a:bodyPr>
          <a:lstStyle/>
          <a:p>
            <a:pPr algn="l"/>
            <a:r>
              <a:rPr lang="en-US" sz="1100" b="1">
                <a:solidFill>
                  <a:srgbClr val="7A35B5"/>
                </a:solidFill>
                <a:latin typeface="Arial"/>
              </a:rPr>
              <a:t>03</a:t>
            </a:r>
          </a:p>
        </p:txBody>
      </p:sp>
      <p:sp>
        <p:nvSpPr>
          <p:cNvPr id="20" name="TextBox 19"/>
          <p:cNvSpPr txBox="1"/>
          <p:nvPr/>
        </p:nvSpPr>
        <p:spPr>
          <a:xfrm>
            <a:off x="6729984" y="1572768"/>
            <a:ext cx="1673352" cy="274320"/>
          </a:xfrm>
          <a:prstGeom prst="rect">
            <a:avLst/>
          </a:prstGeom>
          <a:noFill/>
        </p:spPr>
        <p:txBody>
          <a:bodyPr wrap="square" lIns="18288" tIns="18288" rIns="18288" bIns="18288" anchor="t">
            <a:spAutoFit/>
          </a:bodyPr>
          <a:lstStyle/>
          <a:p>
            <a:pPr algn="l"/>
            <a:r>
              <a:rPr lang="en-US" sz="1350" b="1">
                <a:solidFill>
                  <a:srgbClr val="7A35B5"/>
                </a:solidFill>
                <a:latin typeface="Arial"/>
              </a:rPr>
              <a:t>ROUND</a:t>
            </a:r>
          </a:p>
        </p:txBody>
      </p:sp>
      <p:sp>
        <p:nvSpPr>
          <p:cNvPr id="21" name="TextBox 20"/>
          <p:cNvSpPr txBox="1"/>
          <p:nvPr/>
        </p:nvSpPr>
        <p:spPr>
          <a:xfrm>
            <a:off x="6327648" y="1993392"/>
            <a:ext cx="2176272" cy="457200"/>
          </a:xfrm>
          <a:prstGeom prst="rect">
            <a:avLst/>
          </a:prstGeom>
          <a:noFill/>
        </p:spPr>
        <p:txBody>
          <a:bodyPr wrap="square" lIns="18288" tIns="18288" rIns="18288" bIns="18288" anchor="t">
            <a:spAutoFit/>
          </a:bodyPr>
          <a:lstStyle/>
          <a:p>
            <a:pPr algn="ctr"/>
            <a:r>
              <a:rPr lang="en-US" sz="1250" b="1">
                <a:solidFill>
                  <a:srgbClr val="434343"/>
                </a:solidFill>
                <a:latin typeface="Arial"/>
              </a:rPr>
              <a:t>Ledger fixes aggregator,
input root, and policy</a:t>
            </a:r>
          </a:p>
        </p:txBody>
      </p:sp>
      <p:cxnSp>
        <p:nvCxnSpPr>
          <p:cNvPr id="22" name="Connector 21"/>
          <p:cNvCxnSpPr/>
          <p:nvPr/>
        </p:nvCxnSpPr>
        <p:spPr>
          <a:xfrm>
            <a:off x="8677656" y="2029968"/>
            <a:ext cx="246888"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961119" y="1399032"/>
            <a:ext cx="2487168" cy="126187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07424" y="1600200"/>
            <a:ext cx="347472" cy="228600"/>
          </a:xfrm>
          <a:prstGeom prst="rect">
            <a:avLst/>
          </a:prstGeom>
          <a:noFill/>
        </p:spPr>
        <p:txBody>
          <a:bodyPr wrap="square" lIns="18288" tIns="18288" rIns="18288" bIns="18288" anchor="t">
            <a:spAutoFit/>
          </a:bodyPr>
          <a:lstStyle/>
          <a:p>
            <a:pPr algn="l"/>
            <a:r>
              <a:rPr lang="en-US" sz="1100" b="1">
                <a:solidFill>
                  <a:srgbClr val="FF6C00"/>
                </a:solidFill>
                <a:latin typeface="Arial"/>
              </a:rPr>
              <a:t>04</a:t>
            </a:r>
          </a:p>
        </p:txBody>
      </p:sp>
      <p:sp>
        <p:nvSpPr>
          <p:cNvPr id="25" name="TextBox 24"/>
          <p:cNvSpPr txBox="1"/>
          <p:nvPr/>
        </p:nvSpPr>
        <p:spPr>
          <a:xfrm>
            <a:off x="9518903" y="1572768"/>
            <a:ext cx="1673352" cy="274320"/>
          </a:xfrm>
          <a:prstGeom prst="rect">
            <a:avLst/>
          </a:prstGeom>
          <a:noFill/>
        </p:spPr>
        <p:txBody>
          <a:bodyPr wrap="square" lIns="18288" tIns="18288" rIns="18288" bIns="18288" anchor="t">
            <a:spAutoFit/>
          </a:bodyPr>
          <a:lstStyle/>
          <a:p>
            <a:pPr algn="l"/>
            <a:r>
              <a:rPr lang="en-US" sz="1350" b="1">
                <a:solidFill>
                  <a:srgbClr val="FF6C00"/>
                </a:solidFill>
                <a:latin typeface="Arial"/>
              </a:rPr>
              <a:t>AGGREGATION</a:t>
            </a:r>
          </a:p>
        </p:txBody>
      </p:sp>
      <p:sp>
        <p:nvSpPr>
          <p:cNvPr id="26" name="TextBox 25"/>
          <p:cNvSpPr txBox="1"/>
          <p:nvPr/>
        </p:nvSpPr>
        <p:spPr>
          <a:xfrm>
            <a:off x="9116567" y="1993392"/>
            <a:ext cx="2176272" cy="457200"/>
          </a:xfrm>
          <a:prstGeom prst="rect">
            <a:avLst/>
          </a:prstGeom>
          <a:noFill/>
        </p:spPr>
        <p:txBody>
          <a:bodyPr wrap="square" lIns="18288" tIns="18288" rIns="18288" bIns="18288" anchor="t">
            <a:spAutoFit/>
          </a:bodyPr>
          <a:lstStyle/>
          <a:p>
            <a:pPr algn="ctr"/>
            <a:r>
              <a:rPr lang="en-US" sz="1250" b="1">
                <a:solidFill>
                  <a:srgbClr val="434343"/>
                </a:solidFill>
                <a:latin typeface="Arial"/>
              </a:rPr>
              <a:t>Candidate comparison
Parent-loss guard</a:t>
            </a:r>
          </a:p>
        </p:txBody>
      </p:sp>
      <p:sp>
        <p:nvSpPr>
          <p:cNvPr id="27" name="Rounded Rectangle 26"/>
          <p:cNvSpPr/>
          <p:nvPr/>
        </p:nvSpPr>
        <p:spPr>
          <a:xfrm>
            <a:off x="640080" y="2999232"/>
            <a:ext cx="3364992" cy="19019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7" y="3227832"/>
            <a:ext cx="2962656" cy="329184"/>
          </a:xfrm>
          <a:prstGeom prst="rect">
            <a:avLst/>
          </a:prstGeom>
          <a:noFill/>
        </p:spPr>
        <p:txBody>
          <a:bodyPr wrap="square" lIns="18288" tIns="18288" rIns="18288" bIns="18288" anchor="t">
            <a:spAutoFit/>
          </a:bodyPr>
          <a:lstStyle/>
          <a:p>
            <a:pPr algn="l"/>
            <a:r>
              <a:rPr lang="en-US" sz="1600" b="1">
                <a:solidFill>
                  <a:srgbClr val="1F90CC"/>
                </a:solidFill>
                <a:latin typeface="Arial"/>
              </a:rPr>
              <a:t>Measured workload identity</a:t>
            </a:r>
          </a:p>
        </p:txBody>
      </p:sp>
      <p:sp>
        <p:nvSpPr>
          <p:cNvPr id="29" name="TextBox 28"/>
          <p:cNvSpPr txBox="1"/>
          <p:nvPr/>
        </p:nvSpPr>
        <p:spPr>
          <a:xfrm>
            <a:off x="841247" y="3749039"/>
            <a:ext cx="2944368" cy="841248"/>
          </a:xfrm>
          <a:prstGeom prst="rect">
            <a:avLst/>
          </a:prstGeom>
          <a:noFill/>
        </p:spPr>
        <p:txBody>
          <a:bodyPr wrap="square" lIns="18288" tIns="18288" rIns="18288" bIns="18288" anchor="t">
            <a:spAutoFit/>
          </a:bodyPr>
          <a:lstStyle/>
          <a:p>
            <a:pPr algn="l"/>
            <a:r>
              <a:rPr lang="en-US" sz="1400" b="0">
                <a:solidFill>
                  <a:srgbClr val="434343"/>
                </a:solidFill>
                <a:latin typeface="Arial"/>
              </a:rPr>
              <a:t>Registration binds the image, policy, participant, action key, endpoints, and freshness.</a:t>
            </a:r>
          </a:p>
        </p:txBody>
      </p:sp>
      <p:sp>
        <p:nvSpPr>
          <p:cNvPr id="30" name="Rounded Rectangle 29"/>
          <p:cNvSpPr/>
          <p:nvPr/>
        </p:nvSpPr>
        <p:spPr>
          <a:xfrm>
            <a:off x="4325112" y="2999232"/>
            <a:ext cx="3364992" cy="19019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26280" y="3227832"/>
            <a:ext cx="2962656" cy="329184"/>
          </a:xfrm>
          <a:prstGeom prst="rect">
            <a:avLst/>
          </a:prstGeom>
          <a:noFill/>
        </p:spPr>
        <p:txBody>
          <a:bodyPr wrap="square" lIns="18288" tIns="18288" rIns="18288" bIns="18288" anchor="t">
            <a:spAutoFit/>
          </a:bodyPr>
          <a:lstStyle/>
          <a:p>
            <a:pPr algn="l"/>
            <a:r>
              <a:rPr lang="en-US" sz="1600" b="1">
                <a:solidFill>
                  <a:srgbClr val="2F8F46"/>
                </a:solidFill>
                <a:latin typeface="Arial"/>
              </a:rPr>
              <a:t>Input provenance</a:t>
            </a:r>
          </a:p>
        </p:txBody>
      </p:sp>
      <p:sp>
        <p:nvSpPr>
          <p:cNvPr id="32" name="TextBox 31"/>
          <p:cNvSpPr txBox="1"/>
          <p:nvPr/>
        </p:nvSpPr>
        <p:spPr>
          <a:xfrm>
            <a:off x="4526280" y="3749039"/>
            <a:ext cx="2944368" cy="841248"/>
          </a:xfrm>
          <a:prstGeom prst="rect">
            <a:avLst/>
          </a:prstGeom>
          <a:noFill/>
        </p:spPr>
        <p:txBody>
          <a:bodyPr wrap="square" lIns="18288" tIns="18288" rIns="18288" bIns="18288" anchor="t">
            <a:spAutoFit/>
          </a:bodyPr>
          <a:lstStyle/>
          <a:p>
            <a:pPr algn="l"/>
            <a:r>
              <a:rPr lang="en-US" sz="1400" b="0">
                <a:solidFill>
                  <a:srgbClr val="434343"/>
                </a:solidFill>
                <a:latin typeface="Arial"/>
              </a:rPr>
              <a:t>Independent RSA signatures authenticate pixels and labels; active signers are resolved from the ledger.</a:t>
            </a:r>
          </a:p>
        </p:txBody>
      </p:sp>
      <p:sp>
        <p:nvSpPr>
          <p:cNvPr id="33" name="Rounded Rectangle 32"/>
          <p:cNvSpPr/>
          <p:nvPr/>
        </p:nvSpPr>
        <p:spPr>
          <a:xfrm>
            <a:off x="8010144" y="2999232"/>
            <a:ext cx="3364992" cy="19019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11312" y="3227832"/>
            <a:ext cx="2962656" cy="329184"/>
          </a:xfrm>
          <a:prstGeom prst="rect">
            <a:avLst/>
          </a:prstGeom>
          <a:noFill/>
        </p:spPr>
        <p:txBody>
          <a:bodyPr wrap="square" lIns="18288" tIns="18288" rIns="18288" bIns="18288" anchor="t">
            <a:spAutoFit/>
          </a:bodyPr>
          <a:lstStyle/>
          <a:p>
            <a:pPr algn="l"/>
            <a:r>
              <a:rPr lang="en-US" sz="1600" b="1">
                <a:solidFill>
                  <a:srgbClr val="7A35B5"/>
                </a:solidFill>
                <a:latin typeface="Arial"/>
              </a:rPr>
              <a:t>Publication integrity</a:t>
            </a:r>
          </a:p>
        </p:txBody>
      </p:sp>
      <p:sp>
        <p:nvSpPr>
          <p:cNvPr id="35" name="TextBox 34"/>
          <p:cNvSpPr txBox="1"/>
          <p:nvPr/>
        </p:nvSpPr>
        <p:spPr>
          <a:xfrm>
            <a:off x="8211312" y="3749039"/>
            <a:ext cx="2944368" cy="841248"/>
          </a:xfrm>
          <a:prstGeom prst="rect">
            <a:avLst/>
          </a:prstGeom>
          <a:noFill/>
        </p:spPr>
        <p:txBody>
          <a:bodyPr wrap="square" lIns="18288" tIns="18288" rIns="18288" bIns="18288" anchor="t">
            <a:spAutoFit/>
          </a:bodyPr>
          <a:lstStyle/>
          <a:p>
            <a:pPr algn="l"/>
            <a:r>
              <a:rPr lang="en-US" sz="1400" b="0">
                <a:solidFill>
                  <a:srgbClr val="434343"/>
                </a:solidFill>
                <a:latin typeface="Arial"/>
              </a:rPr>
              <a:t>Atomic finalization binds the closed input root to the algorithm, policy, output, and nonce.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Why attested off-chain execution—not ZK everywhere?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BOTH EXECUTE OFF-CHAIN · THE EVIDENCE AND TRUST ASSUMPTIONS DIFFER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ectangle 7"/>
          <p:cNvSpPr/>
          <p:nvPr/>
        </p:nvSpPr>
        <p:spPr>
          <a:xfrm>
            <a:off x="603504" y="1344168"/>
            <a:ext cx="10972800" cy="466344"/>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1457352"/>
            <a:ext cx="10570464" cy="230832"/>
          </a:xfrm>
          <a:prstGeom prst="rect">
            <a:avLst/>
          </a:prstGeom>
          <a:noFill/>
        </p:spPr>
        <p:txBody>
          <a:bodyPr wrap="square" lIns="18288" tIns="18288" rIns="18288" bIns="18288" anchor="ctr">
            <a:spAutoFit/>
          </a:bodyPr>
          <a:lstStyle/>
          <a:p>
            <a:pPr algn="ctr"/>
            <a:r>
              <a:rPr lang="en-US" sz="1050" b="1" dirty="0">
                <a:solidFill>
                  <a:srgbClr val="C40D1E"/>
                </a:solidFill>
                <a:latin typeface="Arial"/>
              </a:rPr>
              <a:t>ASK FIRST   </a:t>
            </a:r>
            <a:r>
              <a:rPr lang="en-US" sz="1260" b="1" dirty="0">
                <a:solidFill>
                  <a:srgbClr val="434343"/>
                </a:solidFill>
                <a:latin typeface="Arial"/>
              </a:rPr>
              <a:t>Do we need proof of one circuit — or provenance for a stateful native service?</a:t>
            </a:r>
          </a:p>
        </p:txBody>
      </p:sp>
      <p:sp>
        <p:nvSpPr>
          <p:cNvPr id="10" name="Rounded Rectangle 9"/>
          <p:cNvSpPr/>
          <p:nvPr/>
        </p:nvSpPr>
        <p:spPr>
          <a:xfrm>
            <a:off x="566928" y="1984248"/>
            <a:ext cx="5376672" cy="2395728"/>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5528" y="2194560"/>
            <a:ext cx="3593592" cy="265176"/>
          </a:xfrm>
          <a:prstGeom prst="rect">
            <a:avLst/>
          </a:prstGeom>
          <a:noFill/>
        </p:spPr>
        <p:txBody>
          <a:bodyPr wrap="square" lIns="18288" tIns="18288" rIns="18288" bIns="18288" anchor="t">
            <a:spAutoFit/>
          </a:bodyPr>
          <a:lstStyle/>
          <a:p>
            <a:pPr algn="l"/>
            <a:r>
              <a:rPr lang="en-US" sz="1420" b="1">
                <a:solidFill>
                  <a:srgbClr val="1F90CC"/>
                </a:solidFill>
                <a:latin typeface="Arial"/>
              </a:rPr>
              <a:t>TEE + REMOTE ATTESTATION</a:t>
            </a:r>
          </a:p>
        </p:txBody>
      </p:sp>
      <p:sp>
        <p:nvSpPr>
          <p:cNvPr id="14" name="TextBox 13"/>
          <p:cNvSpPr txBox="1"/>
          <p:nvPr/>
        </p:nvSpPr>
        <p:spPr>
          <a:xfrm>
            <a:off x="813816" y="2560320"/>
            <a:ext cx="4846320" cy="201168"/>
          </a:xfrm>
          <a:prstGeom prst="rect">
            <a:avLst/>
          </a:prstGeom>
          <a:noFill/>
        </p:spPr>
        <p:txBody>
          <a:bodyPr wrap="square" lIns="18288" tIns="18288" rIns="18288" bIns="18288" anchor="t">
            <a:spAutoFit/>
          </a:bodyPr>
          <a:lstStyle/>
          <a:p>
            <a:pPr algn="l"/>
            <a:r>
              <a:rPr lang="en-US" sz="980" b="1">
                <a:solidFill>
                  <a:srgbClr val="1F90CC"/>
                </a:solidFill>
                <a:latin typeface="Arial"/>
              </a:rPr>
              <a:t>MEASURED NATIVE WORKLOAD</a:t>
            </a:r>
          </a:p>
        </p:txBody>
      </p:sp>
      <p:sp>
        <p:nvSpPr>
          <p:cNvPr id="15" name="TextBox 14"/>
          <p:cNvSpPr txBox="1"/>
          <p:nvPr/>
        </p:nvSpPr>
        <p:spPr>
          <a:xfrm>
            <a:off x="804672" y="2834640"/>
            <a:ext cx="4882896" cy="1353312"/>
          </a:xfrm>
          <a:prstGeom prst="rect">
            <a:avLst/>
          </a:prstGeom>
          <a:noFill/>
        </p:spPr>
        <p:txBody>
          <a:bodyPr wrap="square" lIns="27432" tIns="18288" rIns="27432" bIns="18288">
            <a:spAutoFit/>
          </a:bodyPr>
          <a:lstStyle/>
          <a:p>
            <a:pPr>
              <a:lnSpc>
                <a:spcPct val="100000"/>
              </a:lnSpc>
              <a:spcAft>
                <a:spcPts val="200"/>
              </a:spcAft>
            </a:pPr>
            <a:r>
              <a:rPr lang="en-US" sz="1000">
                <a:solidFill>
                  <a:srgbClr val="1F90CC"/>
                </a:solidFill>
                <a:latin typeface="Arial"/>
              </a:rPr>
              <a:t>●  </a:t>
            </a:r>
            <a:r>
              <a:rPr lang="en-US" sz="1050">
                <a:solidFill>
                  <a:srgbClr val="434343"/>
                </a:solidFill>
                <a:latin typeface="Arial"/>
              </a:rPr>
              <a:t>Native PyTorch, ledger/IPFS I/O, and key custody stay in one stateful workflow</a:t>
            </a:r>
          </a:p>
          <a:p>
            <a:pPr>
              <a:lnSpc>
                <a:spcPct val="100000"/>
              </a:lnSpc>
              <a:spcAft>
                <a:spcPts val="200"/>
              </a:spcAft>
            </a:pPr>
            <a:r>
              <a:rPr lang="en-US" sz="1000">
                <a:solidFill>
                  <a:srgbClr val="1F90CC"/>
                </a:solidFill>
                <a:latin typeface="Arial"/>
              </a:rPr>
              <a:t>●  </a:t>
            </a:r>
            <a:r>
              <a:rPr lang="en-US" sz="1050">
                <a:solidFill>
                  <a:srgbClr val="434343"/>
                </a:solidFill>
                <a:latin typeface="Arial"/>
              </a:rPr>
              <a:t>TDX isolation protects model, data, and secrets while they are in use</a:t>
            </a:r>
          </a:p>
          <a:p>
            <a:pPr>
              <a:lnSpc>
                <a:spcPct val="100000"/>
              </a:lnSpc>
              <a:spcAft>
                <a:spcPts val="200"/>
              </a:spcAft>
            </a:pPr>
            <a:r>
              <a:rPr lang="en-US" sz="1000">
                <a:solidFill>
                  <a:srgbClr val="1F90CC"/>
                </a:solidFill>
                <a:latin typeface="Arial"/>
              </a:rPr>
              <a:t>●  </a:t>
            </a:r>
            <a:r>
              <a:rPr lang="en-US" sz="1050">
                <a:solidFill>
                  <a:srgbClr val="434343"/>
                </a:solidFill>
                <a:latin typeface="Arial"/>
              </a:rPr>
              <a:t>DCAP evidence plus policy bind the TCB, image/Compose, identities, endpoints, and freshness</a:t>
            </a:r>
          </a:p>
          <a:p>
            <a:pPr>
              <a:lnSpc>
                <a:spcPct val="100000"/>
              </a:lnSpc>
              <a:spcAft>
                <a:spcPts val="200"/>
              </a:spcAft>
            </a:pPr>
            <a:r>
              <a:rPr lang="en-US" sz="1000">
                <a:solidFill>
                  <a:srgbClr val="1F90CC"/>
                </a:solidFill>
                <a:latin typeface="Arial"/>
              </a:rPr>
              <a:t>●  </a:t>
            </a:r>
            <a:r>
              <a:rPr lang="en-US" sz="1050">
                <a:solidFill>
                  <a:srgbClr val="434343"/>
                </a:solidFill>
                <a:latin typeface="Arial"/>
              </a:rPr>
              <a:t>The finalized model stays in its native training representation</a:t>
            </a:r>
          </a:p>
        </p:txBody>
      </p:sp>
      <p:sp>
        <p:nvSpPr>
          <p:cNvPr id="16" name="Rounded Rectangle 15"/>
          <p:cNvSpPr/>
          <p:nvPr/>
        </p:nvSpPr>
        <p:spPr>
          <a:xfrm>
            <a:off x="6236208" y="1984248"/>
            <a:ext cx="5376672" cy="2395728"/>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64808" y="2194560"/>
            <a:ext cx="3593592" cy="265176"/>
          </a:xfrm>
          <a:prstGeom prst="rect">
            <a:avLst/>
          </a:prstGeom>
          <a:noFill/>
        </p:spPr>
        <p:txBody>
          <a:bodyPr wrap="square" lIns="18288" tIns="18288" rIns="18288" bIns="18288" anchor="t">
            <a:spAutoFit/>
          </a:bodyPr>
          <a:lstStyle/>
          <a:p>
            <a:pPr algn="l"/>
            <a:r>
              <a:rPr lang="en-US" sz="1420" b="1">
                <a:solidFill>
                  <a:srgbClr val="7A35B5"/>
                </a:solidFill>
                <a:latin typeface="Arial"/>
              </a:rPr>
              <a:t>ZK-PROVED COMPUTATION</a:t>
            </a:r>
          </a:p>
        </p:txBody>
      </p:sp>
      <p:sp>
        <p:nvSpPr>
          <p:cNvPr id="20" name="TextBox 19"/>
          <p:cNvSpPr txBox="1"/>
          <p:nvPr/>
        </p:nvSpPr>
        <p:spPr>
          <a:xfrm>
            <a:off x="6483096" y="2560320"/>
            <a:ext cx="4846320" cy="201168"/>
          </a:xfrm>
          <a:prstGeom prst="rect">
            <a:avLst/>
          </a:prstGeom>
          <a:noFill/>
        </p:spPr>
        <p:txBody>
          <a:bodyPr wrap="square" lIns="18288" tIns="18288" rIns="18288" bIns="18288" anchor="t">
            <a:spAutoFit/>
          </a:bodyPr>
          <a:lstStyle/>
          <a:p>
            <a:pPr algn="l"/>
            <a:r>
              <a:rPr lang="en-US" sz="980" b="1">
                <a:solidFill>
                  <a:srgbClr val="7A35B5"/>
                </a:solidFill>
                <a:latin typeface="Arial"/>
              </a:rPr>
              <a:t>EXACT ENCODED RELATION</a:t>
            </a:r>
          </a:p>
        </p:txBody>
      </p:sp>
      <p:sp>
        <p:nvSpPr>
          <p:cNvPr id="21" name="TextBox 20"/>
          <p:cNvSpPr txBox="1"/>
          <p:nvPr/>
        </p:nvSpPr>
        <p:spPr>
          <a:xfrm>
            <a:off x="6473952" y="2834640"/>
            <a:ext cx="4882896" cy="1457835"/>
          </a:xfrm>
          <a:prstGeom prst="rect">
            <a:avLst/>
          </a:prstGeom>
          <a:noFill/>
        </p:spPr>
        <p:txBody>
          <a:bodyPr wrap="square" lIns="27432" tIns="18288" rIns="27432" bIns="18288">
            <a:spAutoFit/>
          </a:bodyPr>
          <a:lstStyle/>
          <a:p>
            <a:pPr>
              <a:lnSpc>
                <a:spcPct val="100000"/>
              </a:lnSpc>
              <a:spcAft>
                <a:spcPts val="200"/>
              </a:spcAft>
            </a:pPr>
            <a:r>
              <a:rPr lang="en-US" sz="1000" dirty="0">
                <a:solidFill>
                  <a:srgbClr val="7A35B5"/>
                </a:solidFill>
                <a:latin typeface="Arial"/>
              </a:rPr>
              <a:t>●  </a:t>
            </a:r>
            <a:r>
              <a:rPr lang="en-US" sz="1050" dirty="0">
                <a:solidFill>
                  <a:srgbClr val="434343"/>
                </a:solidFill>
                <a:latin typeface="Arial"/>
              </a:rPr>
              <a:t>Strong correctness for one precisely encoded model–input–output relation</a:t>
            </a:r>
          </a:p>
          <a:p>
            <a:pPr>
              <a:lnSpc>
                <a:spcPct val="100000"/>
              </a:lnSpc>
              <a:spcAft>
                <a:spcPts val="200"/>
              </a:spcAft>
            </a:pPr>
            <a:r>
              <a:rPr lang="en-US" sz="1000" dirty="0">
                <a:solidFill>
                  <a:srgbClr val="7A35B5"/>
                </a:solidFill>
                <a:latin typeface="Arial"/>
              </a:rPr>
              <a:t>●  </a:t>
            </a:r>
            <a:r>
              <a:rPr lang="en-US" sz="1050" dirty="0">
                <a:solidFill>
                  <a:srgbClr val="434343"/>
                </a:solidFill>
                <a:latin typeface="Arial"/>
              </a:rPr>
              <a:t>Circuit setup/keys → witness → proof → verify</a:t>
            </a:r>
          </a:p>
          <a:p>
            <a:pPr>
              <a:lnSpc>
                <a:spcPct val="100000"/>
              </a:lnSpc>
              <a:spcAft>
                <a:spcPts val="200"/>
              </a:spcAft>
            </a:pPr>
            <a:r>
              <a:rPr lang="en-US" sz="1000" dirty="0">
                <a:solidFill>
                  <a:srgbClr val="7A35B5"/>
                </a:solidFill>
                <a:latin typeface="Arial"/>
              </a:rPr>
              <a:t>●  </a:t>
            </a:r>
            <a:r>
              <a:rPr lang="en-US" sz="1050" dirty="0">
                <a:solidFill>
                  <a:srgbClr val="434343"/>
                </a:solidFill>
                <a:latin typeface="Arial"/>
              </a:rPr>
              <a:t>Translation, quantization, setup, and proving cost change with the model or circuit</a:t>
            </a:r>
          </a:p>
          <a:p>
            <a:pPr>
              <a:lnSpc>
                <a:spcPct val="100000"/>
              </a:lnSpc>
              <a:spcAft>
                <a:spcPts val="200"/>
              </a:spcAft>
            </a:pPr>
            <a:r>
              <a:rPr lang="en-US" sz="1000" dirty="0">
                <a:solidFill>
                  <a:srgbClr val="7A35B5"/>
                </a:solidFill>
                <a:latin typeface="Arial"/>
              </a:rPr>
              <a:t>●  </a:t>
            </a:r>
            <a:r>
              <a:rPr lang="en-US" sz="1050" dirty="0">
                <a:solidFill>
                  <a:srgbClr val="434343"/>
                </a:solidFill>
                <a:latin typeface="Arial"/>
              </a:rPr>
              <a:t>The proof alone does not establish native runtime identity, training history, or key custody</a:t>
            </a:r>
          </a:p>
          <a:p>
            <a:pPr>
              <a:lnSpc>
                <a:spcPct val="100000"/>
              </a:lnSpc>
              <a:spcAft>
                <a:spcPts val="200"/>
              </a:spcAft>
            </a:pPr>
            <a:r>
              <a:rPr lang="en-US" sz="1050" dirty="0">
                <a:solidFill>
                  <a:srgbClr val="7A35B5"/>
                </a:solidFill>
                <a:latin typeface="Arial"/>
              </a:rPr>
              <a:t>● </a:t>
            </a:r>
            <a:r>
              <a:rPr lang="en-US" sz="1050" dirty="0">
                <a:solidFill>
                  <a:srgbClr val="434343"/>
                </a:solidFill>
                <a:latin typeface="Arial"/>
              </a:rPr>
              <a:t>Decryption, encryption and signing of the model is very resource intensive </a:t>
            </a:r>
          </a:p>
          <a:p>
            <a:pPr>
              <a:lnSpc>
                <a:spcPct val="100000"/>
              </a:lnSpc>
              <a:spcAft>
                <a:spcPts val="200"/>
              </a:spcAft>
            </a:pPr>
            <a:r>
              <a:rPr lang="en-US" sz="1050" dirty="0">
                <a:solidFill>
                  <a:srgbClr val="7A35B5"/>
                </a:solidFill>
                <a:latin typeface="Arial"/>
              </a:rPr>
              <a:t>● </a:t>
            </a:r>
            <a:r>
              <a:rPr lang="en-US" sz="1050" dirty="0">
                <a:solidFill>
                  <a:srgbClr val="434343"/>
                </a:solidFill>
                <a:latin typeface="Arial"/>
              </a:rPr>
              <a:t>Secret Keys are known to the user </a:t>
            </a:r>
          </a:p>
        </p:txBody>
      </p:sp>
      <p:sp>
        <p:nvSpPr>
          <p:cNvPr id="24" name="TextBox 23"/>
          <p:cNvSpPr txBox="1"/>
          <p:nvPr/>
        </p:nvSpPr>
        <p:spPr>
          <a:xfrm>
            <a:off x="704088" y="5349240"/>
            <a:ext cx="10771632" cy="118872"/>
          </a:xfrm>
          <a:prstGeom prst="rect">
            <a:avLst/>
          </a:prstGeom>
          <a:noFill/>
        </p:spPr>
        <p:txBody>
          <a:bodyPr wrap="square" lIns="0" tIns="0" rIns="0" bIns="0" anchor="t">
            <a:spAutoFit/>
          </a:bodyPr>
          <a:lstStyle/>
          <a:p>
            <a:pPr algn="ctr"/>
            <a:r>
              <a:rPr lang="en-US" sz="730" b="0">
                <a:solidFill>
                  <a:srgbClr val="434343"/>
                </a:solidFill>
                <a:latin typeface="Arial"/>
              </a:rPr>
              <a:t>Sources: RFC 9334 · Intel TDX/DCAP · Chen et al., EuroSys ’24 · EZKL docs.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From Intel-backed evidence to app-bound secrets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LIVE PHALA PATH · INDEPENDENT QUOTE VERIFICATION · PATH-SEPARATED DSTACK KEYS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438912" y="1353312"/>
            <a:ext cx="6547104" cy="3986784"/>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4944" y="1536192"/>
            <a:ext cx="2331720" cy="228600"/>
          </a:xfrm>
          <a:prstGeom prst="rect">
            <a:avLst/>
          </a:prstGeom>
          <a:noFill/>
        </p:spPr>
        <p:txBody>
          <a:bodyPr wrap="square" lIns="18288" tIns="18288" rIns="18288" bIns="18288" anchor="t">
            <a:spAutoFit/>
          </a:bodyPr>
          <a:lstStyle/>
          <a:p>
            <a:pPr algn="l"/>
            <a:r>
              <a:rPr lang="en-US" sz="1250" b="1">
                <a:solidFill>
                  <a:srgbClr val="FF6C00"/>
                </a:solidFill>
                <a:latin typeface="Arial"/>
              </a:rPr>
              <a:t>A · VERIFY THE TDX EVIDENCE</a:t>
            </a:r>
          </a:p>
        </p:txBody>
      </p:sp>
      <p:sp>
        <p:nvSpPr>
          <p:cNvPr id="10" name="Rounded Rectangle 9"/>
          <p:cNvSpPr/>
          <p:nvPr/>
        </p:nvSpPr>
        <p:spPr>
          <a:xfrm>
            <a:off x="2761488" y="1481328"/>
            <a:ext cx="3858768" cy="548640"/>
          </a:xfrm>
          <a:prstGeom prst="roundRect">
            <a:avLst/>
          </a:prstGeom>
          <a:solidFill>
            <a:srgbClr val="FFFFFF"/>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07792" y="1572768"/>
            <a:ext cx="3566160" cy="164592"/>
          </a:xfrm>
          <a:prstGeom prst="rect">
            <a:avLst/>
          </a:prstGeom>
          <a:noFill/>
        </p:spPr>
        <p:txBody>
          <a:bodyPr wrap="square" lIns="18288" tIns="18288" rIns="18288" bIns="18288" anchor="ctr">
            <a:spAutoFit/>
          </a:bodyPr>
          <a:lstStyle/>
          <a:p>
            <a:pPr algn="ctr"/>
            <a:r>
              <a:rPr lang="en-US" sz="950" b="1">
                <a:solidFill>
                  <a:srgbClr val="FF6C00"/>
                </a:solidFill>
                <a:latin typeface="Arial"/>
              </a:rPr>
              <a:t>INTEL PCS / PCCS COLLATERAL</a:t>
            </a:r>
          </a:p>
        </p:txBody>
      </p:sp>
      <p:sp>
        <p:nvSpPr>
          <p:cNvPr id="12" name="TextBox 11"/>
          <p:cNvSpPr txBox="1"/>
          <p:nvPr/>
        </p:nvSpPr>
        <p:spPr>
          <a:xfrm>
            <a:off x="2907792" y="1783080"/>
            <a:ext cx="3566160" cy="137160"/>
          </a:xfrm>
          <a:prstGeom prst="rect">
            <a:avLst/>
          </a:prstGeom>
          <a:noFill/>
        </p:spPr>
        <p:txBody>
          <a:bodyPr wrap="square" lIns="18288" tIns="18288" rIns="18288" bIns="18288" anchor="ctr">
            <a:spAutoFit/>
          </a:bodyPr>
          <a:lstStyle/>
          <a:p>
            <a:pPr algn="ctr"/>
            <a:r>
              <a:rPr lang="en-US" sz="800" b="0">
                <a:solidFill>
                  <a:srgbClr val="434343"/>
                </a:solidFill>
                <a:latin typeface="Arial"/>
              </a:rPr>
              <a:t>PCK chain + validity · CRLs · QE identity · TCB info</a:t>
            </a:r>
          </a:p>
        </p:txBody>
      </p:sp>
      <p:sp>
        <p:nvSpPr>
          <p:cNvPr id="13" name="Rounded Rectangle 12"/>
          <p:cNvSpPr/>
          <p:nvPr/>
        </p:nvSpPr>
        <p:spPr>
          <a:xfrm>
            <a:off x="694944" y="2267712"/>
            <a:ext cx="1627632" cy="1298448"/>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32104" y="2459736"/>
            <a:ext cx="1353312" cy="228600"/>
          </a:xfrm>
          <a:prstGeom prst="rect">
            <a:avLst/>
          </a:prstGeom>
          <a:noFill/>
        </p:spPr>
        <p:txBody>
          <a:bodyPr wrap="square" lIns="18288" tIns="18288" rIns="18288" bIns="18288" anchor="t">
            <a:spAutoFit/>
          </a:bodyPr>
          <a:lstStyle/>
          <a:p>
            <a:pPr algn="ctr"/>
            <a:r>
              <a:rPr lang="en-US" sz="1150" b="1">
                <a:solidFill>
                  <a:srgbClr val="1F90CC"/>
                </a:solidFill>
                <a:latin typeface="Arial"/>
              </a:rPr>
              <a:t>MEASURED CVM</a:t>
            </a:r>
          </a:p>
        </p:txBody>
      </p:sp>
      <p:sp>
        <p:nvSpPr>
          <p:cNvPr id="15" name="TextBox 14"/>
          <p:cNvSpPr txBox="1"/>
          <p:nvPr/>
        </p:nvSpPr>
        <p:spPr>
          <a:xfrm>
            <a:off x="832104" y="2779776"/>
            <a:ext cx="1353312" cy="603504"/>
          </a:xfrm>
          <a:prstGeom prst="rect">
            <a:avLst/>
          </a:prstGeom>
          <a:noFill/>
        </p:spPr>
        <p:txBody>
          <a:bodyPr wrap="square" lIns="18288" tIns="18288" rIns="18288" bIns="18288" anchor="ctr">
            <a:spAutoFit/>
          </a:bodyPr>
          <a:lstStyle/>
          <a:p>
            <a:pPr algn="ctr"/>
            <a:r>
              <a:rPr lang="en-US" sz="960" b="1">
                <a:solidFill>
                  <a:srgbClr val="434343"/>
                </a:solidFill>
                <a:latin typeface="Arial"/>
              </a:rPr>
              <a:t>MRTD + RTMR0–2
RTMR3 event log
REPORTDATA</a:t>
            </a:r>
          </a:p>
        </p:txBody>
      </p:sp>
      <p:sp>
        <p:nvSpPr>
          <p:cNvPr id="16" name="Rounded Rectangle 15"/>
          <p:cNvSpPr/>
          <p:nvPr/>
        </p:nvSpPr>
        <p:spPr>
          <a:xfrm>
            <a:off x="2596896" y="2267712"/>
            <a:ext cx="1517904" cy="1298448"/>
          </a:xfrm>
          <a:prstGeom prst="roundRect">
            <a:avLst/>
          </a:prstGeom>
          <a:solidFill>
            <a:srgbClr val="FBEAEC"/>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724912" y="2459736"/>
            <a:ext cx="1261872" cy="228600"/>
          </a:xfrm>
          <a:prstGeom prst="rect">
            <a:avLst/>
          </a:prstGeom>
          <a:noFill/>
        </p:spPr>
        <p:txBody>
          <a:bodyPr wrap="square" lIns="18288" tIns="18288" rIns="18288" bIns="18288" anchor="t">
            <a:spAutoFit/>
          </a:bodyPr>
          <a:lstStyle/>
          <a:p>
            <a:pPr algn="ctr"/>
            <a:r>
              <a:rPr lang="en-US" sz="1150" b="1">
                <a:solidFill>
                  <a:srgbClr val="C40D1E"/>
                </a:solidFill>
                <a:latin typeface="Arial"/>
              </a:rPr>
              <a:t>TDX QUOTE V4</a:t>
            </a:r>
          </a:p>
        </p:txBody>
      </p:sp>
      <p:sp>
        <p:nvSpPr>
          <p:cNvPr id="18" name="TextBox 17"/>
          <p:cNvSpPr txBox="1"/>
          <p:nvPr/>
        </p:nvSpPr>
        <p:spPr>
          <a:xfrm>
            <a:off x="2724912" y="2852928"/>
            <a:ext cx="1261872" cy="420624"/>
          </a:xfrm>
          <a:prstGeom prst="rect">
            <a:avLst/>
          </a:prstGeom>
          <a:noFill/>
        </p:spPr>
        <p:txBody>
          <a:bodyPr wrap="square" lIns="18288" tIns="18288" rIns="18288" bIns="18288" anchor="ctr">
            <a:spAutoFit/>
          </a:bodyPr>
          <a:lstStyle/>
          <a:p>
            <a:pPr algn="ctr"/>
            <a:r>
              <a:rPr lang="en-US" sz="919" b="1">
                <a:solidFill>
                  <a:srgbClr val="434343"/>
                </a:solidFill>
                <a:latin typeface="Arial"/>
              </a:rPr>
              <a:t>Quoting Enclave signature
PCK certificate</a:t>
            </a:r>
          </a:p>
        </p:txBody>
      </p:sp>
      <p:sp>
        <p:nvSpPr>
          <p:cNvPr id="19" name="Rounded Rectangle 18"/>
          <p:cNvSpPr/>
          <p:nvPr/>
        </p:nvSpPr>
        <p:spPr>
          <a:xfrm>
            <a:off x="4407408" y="2157984"/>
            <a:ext cx="2194560" cy="1536192"/>
          </a:xfrm>
          <a:prstGeom prst="roundRect">
            <a:avLst/>
          </a:prstGeom>
          <a:solidFill>
            <a:srgbClr val="FFFFFF"/>
          </a:solidFill>
          <a:ln w="1778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608576" y="2350008"/>
            <a:ext cx="1792224" cy="228600"/>
          </a:xfrm>
          <a:prstGeom prst="rect">
            <a:avLst/>
          </a:prstGeom>
          <a:noFill/>
        </p:spPr>
        <p:txBody>
          <a:bodyPr wrap="square" lIns="18288" tIns="18288" rIns="18288" bIns="18288" anchor="t">
            <a:spAutoFit/>
          </a:bodyPr>
          <a:lstStyle/>
          <a:p>
            <a:pPr algn="ctr"/>
            <a:r>
              <a:rPr lang="en-US" sz="1200" b="1">
                <a:solidFill>
                  <a:srgbClr val="FF6C00"/>
                </a:solidFill>
                <a:latin typeface="Arial"/>
              </a:rPr>
              <a:t>DCAP VERIFIER</a:t>
            </a:r>
          </a:p>
        </p:txBody>
      </p:sp>
      <p:sp>
        <p:nvSpPr>
          <p:cNvPr id="21" name="TextBox 20"/>
          <p:cNvSpPr txBox="1"/>
          <p:nvPr/>
        </p:nvSpPr>
        <p:spPr>
          <a:xfrm>
            <a:off x="4608576" y="2724912"/>
            <a:ext cx="1792224" cy="685800"/>
          </a:xfrm>
          <a:prstGeom prst="rect">
            <a:avLst/>
          </a:prstGeom>
          <a:noFill/>
        </p:spPr>
        <p:txBody>
          <a:bodyPr wrap="square" lIns="18288" tIns="18288" rIns="18288" bIns="18288" anchor="ctr">
            <a:spAutoFit/>
          </a:bodyPr>
          <a:lstStyle/>
          <a:p>
            <a:pPr algn="ctr"/>
            <a:r>
              <a:rPr lang="en-US" sz="960" b="1">
                <a:solidFill>
                  <a:srgbClr val="434343"/>
                </a:solidFill>
                <a:latin typeface="Arial"/>
              </a:rPr>
              <a:t>Intel-rooted signatures
Revocation + TCB status
Measurements + challenge</a:t>
            </a:r>
          </a:p>
        </p:txBody>
      </p:sp>
      <p:cxnSp>
        <p:nvCxnSpPr>
          <p:cNvPr id="22" name="Connector 21"/>
          <p:cNvCxnSpPr/>
          <p:nvPr/>
        </p:nvCxnSpPr>
        <p:spPr>
          <a:xfrm>
            <a:off x="2331720" y="2916936"/>
            <a:ext cx="219456" cy="0"/>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123944" y="2916936"/>
            <a:ext cx="228600" cy="0"/>
          </a:xfrm>
          <a:prstGeom prst="line">
            <a:avLst/>
          </a:prstGeom>
          <a:ln w="2032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468112" y="2039112"/>
            <a:ext cx="0" cy="91440"/>
          </a:xfrm>
          <a:prstGeom prst="line">
            <a:avLst/>
          </a:prstGeom>
          <a:ln w="1778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562856" y="3895344"/>
            <a:ext cx="1883664" cy="502920"/>
          </a:xfrm>
          <a:prstGeom prst="roundRect">
            <a:avLst/>
          </a:prstGeom>
          <a:solidFill>
            <a:srgbClr val="EAF6ED"/>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81728" y="4041648"/>
            <a:ext cx="1645920" cy="201168"/>
          </a:xfrm>
          <a:prstGeom prst="rect">
            <a:avLst/>
          </a:prstGeom>
          <a:noFill/>
        </p:spPr>
        <p:txBody>
          <a:bodyPr wrap="square" lIns="18288" tIns="18288" rIns="18288" bIns="18288" anchor="ctr">
            <a:spAutoFit/>
          </a:bodyPr>
          <a:lstStyle/>
          <a:p>
            <a:pPr algn="ctr"/>
            <a:r>
              <a:rPr lang="en-US" sz="1040" b="1">
                <a:solidFill>
                  <a:srgbClr val="2F8F46"/>
                </a:solidFill>
                <a:latin typeface="Arial"/>
              </a:rPr>
              <a:t>VERIFIED APP IDENTITY</a:t>
            </a:r>
          </a:p>
        </p:txBody>
      </p:sp>
      <p:cxnSp>
        <p:nvCxnSpPr>
          <p:cNvPr id="27" name="Connector 26"/>
          <p:cNvCxnSpPr/>
          <p:nvPr/>
        </p:nvCxnSpPr>
        <p:spPr>
          <a:xfrm>
            <a:off x="5504688" y="3703320"/>
            <a:ext cx="0" cy="164592"/>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13232" y="3931920"/>
            <a:ext cx="3401568" cy="1005840"/>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14400" y="4114800"/>
            <a:ext cx="2999232" cy="201168"/>
          </a:xfrm>
          <a:prstGeom prst="rect">
            <a:avLst/>
          </a:prstGeom>
          <a:noFill/>
        </p:spPr>
        <p:txBody>
          <a:bodyPr wrap="square" lIns="18288" tIns="18288" rIns="18288" bIns="18288" anchor="t">
            <a:spAutoFit/>
          </a:bodyPr>
          <a:lstStyle/>
          <a:p>
            <a:pPr algn="l"/>
            <a:r>
              <a:rPr lang="en-US" sz="1060" b="1">
                <a:solidFill>
                  <a:srgbClr val="7A35B5"/>
                </a:solidFill>
                <a:latin typeface="Arial"/>
              </a:rPr>
              <a:t>VITA-FL ON-CHAIN ADMISSION</a:t>
            </a:r>
          </a:p>
        </p:txBody>
      </p:sp>
      <p:sp>
        <p:nvSpPr>
          <p:cNvPr id="30" name="TextBox 29"/>
          <p:cNvSpPr txBox="1"/>
          <p:nvPr/>
        </p:nvSpPr>
        <p:spPr>
          <a:xfrm>
            <a:off x="914400" y="4407408"/>
            <a:ext cx="2999232" cy="393192"/>
          </a:xfrm>
          <a:prstGeom prst="rect">
            <a:avLst/>
          </a:prstGeom>
          <a:noFill/>
        </p:spPr>
        <p:txBody>
          <a:bodyPr wrap="square" lIns="18288" tIns="18288" rIns="18288" bIns="18288" anchor="ctr">
            <a:spAutoFit/>
          </a:bodyPr>
          <a:lstStyle/>
          <a:p>
            <a:pPr algn="l"/>
            <a:r>
              <a:rPr lang="en-US" sz="869" b="1">
                <a:solidFill>
                  <a:srgbClr val="434343"/>
                </a:solidFill>
                <a:latin typeface="Arial"/>
              </a:rPr>
              <a:t>Independently checks the pinned base tuple, replays RTMR3, and binds workload, participant, action key, and nonce.</a:t>
            </a:r>
          </a:p>
        </p:txBody>
      </p:sp>
      <p:cxnSp>
        <p:nvCxnSpPr>
          <p:cNvPr id="31" name="Connector 30"/>
          <p:cNvCxnSpPr/>
          <p:nvPr/>
        </p:nvCxnSpPr>
        <p:spPr>
          <a:xfrm>
            <a:off x="3355848" y="3584448"/>
            <a:ext cx="0" cy="320039"/>
          </a:xfrm>
          <a:prstGeom prst="line">
            <a:avLst/>
          </a:prstGeom>
          <a:ln w="17780">
            <a:solidFill>
              <a:srgbClr val="7A35B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150608" y="1353312"/>
            <a:ext cx="4590288" cy="398678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88352" y="1536192"/>
            <a:ext cx="4041648" cy="228600"/>
          </a:xfrm>
          <a:prstGeom prst="rect">
            <a:avLst/>
          </a:prstGeom>
          <a:noFill/>
        </p:spPr>
        <p:txBody>
          <a:bodyPr wrap="square" lIns="18288" tIns="18288" rIns="18288" bIns="18288" anchor="t">
            <a:spAutoFit/>
          </a:bodyPr>
          <a:lstStyle/>
          <a:p>
            <a:pPr algn="l"/>
            <a:r>
              <a:rPr lang="en-US" sz="1180" b="1">
                <a:solidFill>
                  <a:srgbClr val="1F90CC"/>
                </a:solidFill>
                <a:latin typeface="Arial"/>
              </a:rPr>
              <a:t>B · DERIVE APP-BOUND SECRETS</a:t>
            </a:r>
          </a:p>
        </p:txBody>
      </p:sp>
      <p:sp>
        <p:nvSpPr>
          <p:cNvPr id="34" name="Rounded Rectangle 33"/>
          <p:cNvSpPr/>
          <p:nvPr/>
        </p:nvSpPr>
        <p:spPr>
          <a:xfrm>
            <a:off x="7406640" y="1901952"/>
            <a:ext cx="4087368" cy="93268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635240" y="2185416"/>
            <a:ext cx="310896" cy="310896"/>
          </a:xfrm>
          <a:prstGeom prst="ellipse">
            <a:avLst/>
          </a:prstGeom>
          <a:solidFill>
            <a:srgbClr val="FFFFFF"/>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6" name="Connector 35"/>
          <p:cNvCxnSpPr/>
          <p:nvPr/>
        </p:nvCxnSpPr>
        <p:spPr>
          <a:xfrm>
            <a:off x="7927848" y="2340864"/>
            <a:ext cx="329183"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147304" y="2340864"/>
            <a:ext cx="0" cy="14630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247888" y="2340864"/>
            <a:ext cx="0" cy="10058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394192" y="2093976"/>
            <a:ext cx="2816352" cy="219456"/>
          </a:xfrm>
          <a:prstGeom prst="rect">
            <a:avLst/>
          </a:prstGeom>
          <a:noFill/>
        </p:spPr>
        <p:txBody>
          <a:bodyPr wrap="square" lIns="18288" tIns="18288" rIns="18288" bIns="18288" anchor="t">
            <a:spAutoFit/>
          </a:bodyPr>
          <a:lstStyle/>
          <a:p>
            <a:pPr algn="ctr"/>
            <a:r>
              <a:rPr lang="en-US" sz="1220" b="1">
                <a:solidFill>
                  <a:srgbClr val="2F8F46"/>
                </a:solidFill>
                <a:latin typeface="Arial"/>
              </a:rPr>
              <a:t>ATTESTED DSTACK KMS</a:t>
            </a:r>
          </a:p>
        </p:txBody>
      </p:sp>
      <p:sp>
        <p:nvSpPr>
          <p:cNvPr id="40" name="TextBox 39"/>
          <p:cNvSpPr txBox="1"/>
          <p:nvPr/>
        </p:nvSpPr>
        <p:spPr>
          <a:xfrm>
            <a:off x="8394192" y="2404872"/>
            <a:ext cx="2816352" cy="210312"/>
          </a:xfrm>
          <a:prstGeom prst="rect">
            <a:avLst/>
          </a:prstGeom>
          <a:noFill/>
        </p:spPr>
        <p:txBody>
          <a:bodyPr wrap="square" lIns="18288" tIns="18288" rIns="18288" bIns="18288" anchor="t">
            <a:spAutoFit/>
          </a:bodyPr>
          <a:lstStyle/>
          <a:p>
            <a:pPr algn="ctr"/>
            <a:r>
              <a:rPr lang="en-US" sz="919" b="1">
                <a:solidFill>
                  <a:srgbClr val="434343"/>
                </a:solidFill>
                <a:latin typeface="Arial"/>
              </a:rPr>
              <a:t>Verifies quote + policy · protects the KMS root secret</a:t>
            </a:r>
          </a:p>
        </p:txBody>
      </p:sp>
      <p:cxnSp>
        <p:nvCxnSpPr>
          <p:cNvPr id="41" name="Connector 40"/>
          <p:cNvCxnSpPr/>
          <p:nvPr/>
        </p:nvCxnSpPr>
        <p:spPr>
          <a:xfrm flipV="1">
            <a:off x="6473952" y="2487168"/>
            <a:ext cx="877823" cy="1655064"/>
          </a:xfrm>
          <a:prstGeom prst="line">
            <a:avLst/>
          </a:prstGeom>
          <a:ln w="20320">
            <a:solidFill>
              <a:srgbClr val="2F8F4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845552" y="3054096"/>
            <a:ext cx="3127248" cy="429768"/>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973568" y="3163824"/>
            <a:ext cx="2871216" cy="201168"/>
          </a:xfrm>
          <a:prstGeom prst="rect">
            <a:avLst/>
          </a:prstGeom>
          <a:noFill/>
        </p:spPr>
        <p:txBody>
          <a:bodyPr wrap="square" lIns="18288" tIns="18288" rIns="18288" bIns="18288" anchor="ctr">
            <a:spAutoFit/>
          </a:bodyPr>
          <a:lstStyle/>
          <a:p>
            <a:pPr algn="ctr"/>
            <a:r>
              <a:rPr lang="en-US" sz="1010" b="1">
                <a:solidFill>
                  <a:srgbClr val="1F90CC"/>
                </a:solidFill>
                <a:latin typeface="Arial"/>
              </a:rPr>
              <a:t>GetKey(app ID, path) via dstack.sock</a:t>
            </a:r>
          </a:p>
        </p:txBody>
      </p:sp>
      <p:cxnSp>
        <p:nvCxnSpPr>
          <p:cNvPr id="44" name="Connector 43"/>
          <p:cNvCxnSpPr/>
          <p:nvPr/>
        </p:nvCxnSpPr>
        <p:spPr>
          <a:xfrm>
            <a:off x="9409176" y="2843784"/>
            <a:ext cx="0" cy="182880"/>
          </a:xfrm>
          <a:prstGeom prst="line">
            <a:avLst/>
          </a:prstGeom>
          <a:ln w="1778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370064" y="3730752"/>
            <a:ext cx="128016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443216" y="3886200"/>
            <a:ext cx="1133856" cy="182880"/>
          </a:xfrm>
          <a:prstGeom prst="rect">
            <a:avLst/>
          </a:prstGeom>
          <a:noFill/>
        </p:spPr>
        <p:txBody>
          <a:bodyPr wrap="square" lIns="18288" tIns="18288" rIns="18288" bIns="18288" anchor="t">
            <a:spAutoFit/>
          </a:bodyPr>
          <a:lstStyle/>
          <a:p>
            <a:pPr algn="ctr"/>
            <a:r>
              <a:rPr lang="en-US" sz="860" b="1">
                <a:solidFill>
                  <a:srgbClr val="1F90CC"/>
                </a:solidFill>
                <a:latin typeface="Arial"/>
              </a:rPr>
              <a:t>ACTION</a:t>
            </a:r>
          </a:p>
        </p:txBody>
      </p:sp>
      <p:sp>
        <p:nvSpPr>
          <p:cNvPr id="47" name="TextBox 46"/>
          <p:cNvSpPr txBox="1"/>
          <p:nvPr/>
        </p:nvSpPr>
        <p:spPr>
          <a:xfrm>
            <a:off x="7443216" y="4178808"/>
            <a:ext cx="1133856" cy="347472"/>
          </a:xfrm>
          <a:prstGeom prst="rect">
            <a:avLst/>
          </a:prstGeom>
          <a:noFill/>
        </p:spPr>
        <p:txBody>
          <a:bodyPr wrap="square" lIns="18288" tIns="18288" rIns="18288" bIns="18288" anchor="ctr">
            <a:spAutoFit/>
          </a:bodyPr>
          <a:lstStyle/>
          <a:p>
            <a:pPr algn="ctr"/>
            <a:r>
              <a:rPr lang="en-US" sz="869" b="1">
                <a:solidFill>
                  <a:srgbClr val="434343"/>
                </a:solidFill>
                <a:latin typeface="Arial"/>
              </a:rPr>
              <a:t>HMAC →
secp256k1</a:t>
            </a:r>
          </a:p>
        </p:txBody>
      </p:sp>
      <p:sp>
        <p:nvSpPr>
          <p:cNvPr id="48" name="Rounded Rectangle 47"/>
          <p:cNvSpPr/>
          <p:nvPr/>
        </p:nvSpPr>
        <p:spPr>
          <a:xfrm>
            <a:off x="8796528" y="3730752"/>
            <a:ext cx="128016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869680" y="3886200"/>
            <a:ext cx="1133856" cy="182880"/>
          </a:xfrm>
          <a:prstGeom prst="rect">
            <a:avLst/>
          </a:prstGeom>
          <a:noFill/>
        </p:spPr>
        <p:txBody>
          <a:bodyPr wrap="square" lIns="18288" tIns="18288" rIns="18288" bIns="18288" anchor="t">
            <a:spAutoFit/>
          </a:bodyPr>
          <a:lstStyle/>
          <a:p>
            <a:pPr algn="ctr"/>
            <a:r>
              <a:rPr lang="en-US" sz="860" b="1">
                <a:solidFill>
                  <a:srgbClr val="FF6C00"/>
                </a:solidFill>
                <a:latin typeface="Arial"/>
              </a:rPr>
              <a:t>RSA CUSTODY</a:t>
            </a:r>
          </a:p>
        </p:txBody>
      </p:sp>
      <p:sp>
        <p:nvSpPr>
          <p:cNvPr id="50" name="TextBox 49"/>
          <p:cNvSpPr txBox="1"/>
          <p:nvPr/>
        </p:nvSpPr>
        <p:spPr>
          <a:xfrm>
            <a:off x="8869680" y="4178808"/>
            <a:ext cx="1133856" cy="347472"/>
          </a:xfrm>
          <a:prstGeom prst="rect">
            <a:avLst/>
          </a:prstGeom>
          <a:noFill/>
        </p:spPr>
        <p:txBody>
          <a:bodyPr wrap="square" lIns="18288" tIns="18288" rIns="18288" bIns="18288" anchor="ctr">
            <a:spAutoFit/>
          </a:bodyPr>
          <a:lstStyle/>
          <a:p>
            <a:pPr algn="ctr"/>
            <a:r>
              <a:rPr lang="en-US" sz="869" b="1">
                <a:solidFill>
                  <a:srgbClr val="434343"/>
                </a:solidFill>
                <a:latin typeface="Arial"/>
              </a:rPr>
              <a:t>HKDF →
AES-GCM wrap</a:t>
            </a:r>
          </a:p>
        </p:txBody>
      </p:sp>
      <p:sp>
        <p:nvSpPr>
          <p:cNvPr id="51" name="Rounded Rectangle 50"/>
          <p:cNvSpPr/>
          <p:nvPr/>
        </p:nvSpPr>
        <p:spPr>
          <a:xfrm>
            <a:off x="10222992" y="3730752"/>
            <a:ext cx="1280160" cy="9875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296144" y="3886200"/>
            <a:ext cx="1133856" cy="182880"/>
          </a:xfrm>
          <a:prstGeom prst="rect">
            <a:avLst/>
          </a:prstGeom>
          <a:noFill/>
        </p:spPr>
        <p:txBody>
          <a:bodyPr wrap="square" lIns="18288" tIns="18288" rIns="18288" bIns="18288" anchor="t">
            <a:spAutoFit/>
          </a:bodyPr>
          <a:lstStyle/>
          <a:p>
            <a:pPr algn="ctr"/>
            <a:r>
              <a:rPr lang="en-US" sz="860" b="1">
                <a:solidFill>
                  <a:srgbClr val="7A35B5"/>
                </a:solidFill>
                <a:latin typeface="Arial"/>
              </a:rPr>
              <a:t>AIR RECEIPT</a:t>
            </a:r>
          </a:p>
        </p:txBody>
      </p:sp>
      <p:sp>
        <p:nvSpPr>
          <p:cNvPr id="53" name="TextBox 52"/>
          <p:cNvSpPr txBox="1"/>
          <p:nvPr/>
        </p:nvSpPr>
        <p:spPr>
          <a:xfrm>
            <a:off x="10296144" y="4178808"/>
            <a:ext cx="1133856" cy="347472"/>
          </a:xfrm>
          <a:prstGeom prst="rect">
            <a:avLst/>
          </a:prstGeom>
          <a:noFill/>
        </p:spPr>
        <p:txBody>
          <a:bodyPr wrap="square" lIns="18288" tIns="18288" rIns="18288" bIns="18288" anchor="ctr">
            <a:spAutoFit/>
          </a:bodyPr>
          <a:lstStyle/>
          <a:p>
            <a:pPr algn="ctr"/>
            <a:r>
              <a:rPr lang="en-US" sz="869" b="1">
                <a:solidFill>
                  <a:srgbClr val="434343"/>
                </a:solidFill>
                <a:latin typeface="Arial"/>
              </a:rPr>
              <a:t>Ed25519
signing key</a:t>
            </a:r>
          </a:p>
        </p:txBody>
      </p:sp>
      <p:cxnSp>
        <p:nvCxnSpPr>
          <p:cNvPr id="54" name="Connector 53"/>
          <p:cNvCxnSpPr/>
          <p:nvPr/>
        </p:nvCxnSpPr>
        <p:spPr>
          <a:xfrm>
            <a:off x="9409176" y="3493008"/>
            <a:ext cx="0" cy="182879"/>
          </a:xfrm>
          <a:prstGeom prst="line">
            <a:avLst/>
          </a:prstGeom>
          <a:ln w="1778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388352" y="4809744"/>
            <a:ext cx="4114800" cy="292608"/>
          </a:xfrm>
          <a:prstGeom prst="rect">
            <a:avLst/>
          </a:prstGeom>
          <a:noFill/>
        </p:spPr>
        <p:txBody>
          <a:bodyPr wrap="square" lIns="18288" tIns="18288" rIns="18288" bIns="18288" anchor="ctr">
            <a:spAutoFit/>
          </a:bodyPr>
          <a:lstStyle/>
          <a:p>
            <a:pPr algn="ctr"/>
            <a:r>
              <a:rPr lang="en-US" sz="810" b="1">
                <a:solidFill>
                  <a:srgbClr val="434343"/>
                </a:solidFill>
                <a:latin typeface="Arial"/>
              </a:rPr>
              <a:t>Same app + path ⇒ same key
Different app or path ⇒ different key</a:t>
            </a:r>
          </a:p>
        </p:txBody>
      </p:sp>
      <p:sp>
        <p:nvSpPr>
          <p:cNvPr id="56" name="TextBox 55"/>
          <p:cNvSpPr txBox="1"/>
          <p:nvPr/>
        </p:nvSpPr>
        <p:spPr>
          <a:xfrm>
            <a:off x="7388352" y="5138928"/>
            <a:ext cx="4114800" cy="128016"/>
          </a:xfrm>
          <a:prstGeom prst="rect">
            <a:avLst/>
          </a:prstGeom>
          <a:noFill/>
        </p:spPr>
        <p:txBody>
          <a:bodyPr wrap="square" lIns="0" tIns="0" rIns="0" bIns="0" anchor="ctr">
            <a:spAutoFit/>
          </a:bodyPr>
          <a:lstStyle/>
          <a:p>
            <a:pPr algn="ctr"/>
            <a:r>
              <a:rPr lang="en-US" sz="740" b="1">
                <a:solidFill>
                  <a:srgbClr val="C40D1E"/>
                </a:solidFill>
                <a:latin typeface="Arial"/>
              </a:rPr>
              <a:t>App-bound ≠ non-exportable: protect returned material.</a:t>
            </a:r>
          </a:p>
        </p:txBody>
      </p:sp>
      <p:sp>
        <p:nvSpPr>
          <p:cNvPr id="57" name="Rectangle 56"/>
          <p:cNvSpPr/>
          <p:nvPr/>
        </p:nvSpPr>
        <p:spPr>
          <a:xfrm>
            <a:off x="658368" y="5431536"/>
            <a:ext cx="10890504" cy="274320"/>
          </a:xfrm>
          <a:prstGeom prst="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841248" y="5495544"/>
            <a:ext cx="10524744" cy="146304"/>
          </a:xfrm>
          <a:prstGeom prst="rect">
            <a:avLst/>
          </a:prstGeom>
          <a:noFill/>
        </p:spPr>
        <p:txBody>
          <a:bodyPr wrap="square" lIns="0" tIns="0" rIns="0" bIns="0" anchor="ctr">
            <a:spAutoFit/>
          </a:bodyPr>
          <a:lstStyle/>
          <a:p>
            <a:pPr algn="ctr"/>
            <a:r>
              <a:rPr lang="en-US" sz="960" b="1">
                <a:solidFill>
                  <a:srgbClr val="C40D1E"/>
                </a:solidFill>
                <a:latin typeface="Arial"/>
              </a:rPr>
              <a:t>Attestation authenticates measured identity—not bug-free code; Intel TDX and the KMS TEE remain trust anchors.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ectangle 7"/>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32688" y="1481328"/>
            <a:ext cx="10332720" cy="256032"/>
          </a:xfrm>
          <a:prstGeom prst="rect">
            <a:avLst/>
          </a:prstGeom>
          <a:noFill/>
        </p:spPr>
        <p:txBody>
          <a:bodyPr wrap="square" lIns="0" tIns="0" rIns="0" bIns="0" anchor="ctr">
            <a:spAutoFit/>
          </a:bodyPr>
          <a:lstStyle/>
          <a:p>
            <a:pPr algn="ctr"/>
            <a:r>
              <a:rPr sz="1700" b="1" lang="en-US">
                <a:solidFill>
                  <a:srgbClr val="434343"/>
                </a:solidFill>
                <a:latin typeface="Arial"/>
              </a:rPr>
              <a:t>P(worker i) = (score_i + 1) / Σ(score_j + 1)</a:t>
            </a:r>
          </a:p>
        </p:txBody>
      </p:sp>
      <p:sp>
        <p:nvSpPr>
          <p:cNvPr id="10" name="Rounded Rectangle 9"/>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96112" y="2176272"/>
            <a:ext cx="2249424" cy="182880"/>
          </a:xfrm>
          <a:prstGeom prst="rect">
            <a:avLst/>
          </a:prstGeom>
          <a:noFill/>
        </p:spPr>
        <p:txBody>
          <a:bodyPr wrap="square" lIns="18288" tIns="18288" rIns="18288" bIns="18288" anchor="t">
            <a:spAutoFit/>
          </a:bodyPr>
          <a:lstStyle/>
          <a:p>
            <a:pPr algn="ctr"/>
            <a:r>
              <a:rPr lang="en-US" sz="1050" b="1">
                <a:solidFill>
                  <a:srgbClr val="1F90CC"/>
                </a:solidFill>
                <a:latin typeface="Arial"/>
              </a:rPr>
              <a:t>WORKER A</a:t>
            </a:r>
          </a:p>
        </p:txBody>
      </p:sp>
      <p:sp>
        <p:nvSpPr>
          <p:cNvPr id="12" name="TextBox 11"/>
          <p:cNvSpPr txBox="1"/>
          <p:nvPr/>
        </p:nvSpPr>
        <p:spPr>
          <a:xfrm>
            <a:off x="896112" y="2487168"/>
            <a:ext cx="2249424" cy="210312"/>
          </a:xfrm>
          <a:prstGeom prst="rect">
            <a:avLst/>
          </a:prstGeom>
          <a:noFill/>
        </p:spPr>
        <p:txBody>
          <a:bodyPr wrap="square" lIns="18288" tIns="18288" rIns="18288" bIns="18288" anchor="ctr">
            <a:spAutoFit/>
          </a:bodyPr>
          <a:lstStyle/>
          <a:p>
            <a:pPr algn="ctr"/>
            <a:r>
              <a:rPr lang="en-US" sz="1200" b="1">
                <a:solidFill>
                  <a:srgbClr val="434343"/>
                </a:solidFill>
                <a:latin typeface="Arial"/>
              </a:rPr>
              <a:t>score 0  →  weight 1</a:t>
            </a:r>
          </a:p>
        </p:txBody>
      </p:sp>
      <p:sp>
        <p:nvSpPr>
          <p:cNvPr id="13" name="Rounded Rectangle 12"/>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94176" y="2176272"/>
            <a:ext cx="2249424" cy="182880"/>
          </a:xfrm>
          <a:prstGeom prst="rect">
            <a:avLst/>
          </a:prstGeom>
          <a:noFill/>
        </p:spPr>
        <p:txBody>
          <a:bodyPr wrap="square" lIns="18288" tIns="18288" rIns="18288" bIns="18288" anchor="t">
            <a:spAutoFit/>
          </a:bodyPr>
          <a:lstStyle/>
          <a:p>
            <a:pPr algn="ctr"/>
            <a:r>
              <a:rPr lang="en-US" sz="1050" b="1">
                <a:solidFill>
                  <a:srgbClr val="C40D1E"/>
                </a:solidFill>
                <a:latin typeface="Arial"/>
              </a:rPr>
              <a:t>WORKER B</a:t>
            </a:r>
          </a:p>
        </p:txBody>
      </p:sp>
      <p:sp>
        <p:nvSpPr>
          <p:cNvPr id="15" name="TextBox 14"/>
          <p:cNvSpPr txBox="1"/>
          <p:nvPr/>
        </p:nvSpPr>
        <p:spPr>
          <a:xfrm>
            <a:off x="3694176" y="2487168"/>
            <a:ext cx="2249424" cy="210312"/>
          </a:xfrm>
          <a:prstGeom prst="rect">
            <a:avLst/>
          </a:prstGeom>
          <a:noFill/>
        </p:spPr>
        <p:txBody>
          <a:bodyPr wrap="square" lIns="18288" tIns="18288" rIns="18288" bIns="18288" anchor="ctr">
            <a:spAutoFit/>
          </a:bodyPr>
          <a:lstStyle/>
          <a:p>
            <a:pPr algn="ctr"/>
            <a:r>
              <a:rPr lang="en-US" sz="1200" b="1">
                <a:solidFill>
                  <a:srgbClr val="434343"/>
                </a:solidFill>
                <a:latin typeface="Arial"/>
              </a:rPr>
              <a:t>score 1  →  weight 2</a:t>
            </a:r>
          </a:p>
        </p:txBody>
      </p:sp>
      <p:sp>
        <p:nvSpPr>
          <p:cNvPr id="16" name="Rounded Rectangle 15"/>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0" y="2176272"/>
            <a:ext cx="2249424" cy="182880"/>
          </a:xfrm>
          <a:prstGeom prst="rect">
            <a:avLst/>
          </a:prstGeom>
          <a:noFill/>
        </p:spPr>
        <p:txBody>
          <a:bodyPr wrap="square" lIns="18288" tIns="18288" rIns="18288" bIns="18288" anchor="t">
            <a:spAutoFit/>
          </a:bodyPr>
          <a:lstStyle/>
          <a:p>
            <a:pPr algn="ctr"/>
            <a:r>
              <a:rPr lang="en-US" sz="1050" b="1">
                <a:solidFill>
                  <a:srgbClr val="2F8F46"/>
                </a:solidFill>
                <a:latin typeface="Arial"/>
              </a:rPr>
              <a:t>WORKER C</a:t>
            </a:r>
          </a:p>
        </p:txBody>
      </p:sp>
      <p:sp>
        <p:nvSpPr>
          <p:cNvPr id="18" name="TextBox 17"/>
          <p:cNvSpPr txBox="1"/>
          <p:nvPr/>
        </p:nvSpPr>
        <p:spPr>
          <a:xfrm>
            <a:off x="6492240" y="2487168"/>
            <a:ext cx="2249424" cy="210312"/>
          </a:xfrm>
          <a:prstGeom prst="rect">
            <a:avLst/>
          </a:prstGeom>
          <a:noFill/>
        </p:spPr>
        <p:txBody>
          <a:bodyPr wrap="square" lIns="18288" tIns="18288" rIns="18288" bIns="18288" anchor="ctr">
            <a:spAutoFit/>
          </a:bodyPr>
          <a:lstStyle/>
          <a:p>
            <a:pPr algn="ctr"/>
            <a:r>
              <a:rPr lang="en-US" sz="1200" b="1">
                <a:solidFill>
                  <a:srgbClr val="434343"/>
                </a:solidFill>
                <a:latin typeface="Arial"/>
              </a:rPr>
              <a:t>score 3  →  weight 4</a:t>
            </a:r>
          </a:p>
        </p:txBody>
      </p:sp>
      <p:sp>
        <p:nvSpPr>
          <p:cNvPr id="19" name="Rounded Rectangle 18"/>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290303" y="2176272"/>
            <a:ext cx="2249424" cy="182880"/>
          </a:xfrm>
          <a:prstGeom prst="rect">
            <a:avLst/>
          </a:prstGeom>
          <a:noFill/>
        </p:spPr>
        <p:txBody>
          <a:bodyPr wrap="square" lIns="18288" tIns="18288" rIns="18288" bIns="18288" anchor="t">
            <a:spAutoFit/>
          </a:bodyPr>
          <a:lstStyle/>
          <a:p>
            <a:pPr algn="ctr"/>
            <a:r>
              <a:rPr lang="en-US" sz="1050" b="1">
                <a:solidFill>
                  <a:srgbClr val="7A35B5"/>
                </a:solidFill>
                <a:latin typeface="Arial"/>
              </a:rPr>
              <a:t>WORKER D</a:t>
            </a:r>
          </a:p>
        </p:txBody>
      </p:sp>
      <p:sp>
        <p:nvSpPr>
          <p:cNvPr id="21" name="TextBox 20"/>
          <p:cNvSpPr txBox="1"/>
          <p:nvPr/>
        </p:nvSpPr>
        <p:spPr>
          <a:xfrm>
            <a:off x="9290303" y="2487168"/>
            <a:ext cx="2249424" cy="210312"/>
          </a:xfrm>
          <a:prstGeom prst="rect">
            <a:avLst/>
          </a:prstGeom>
          <a:noFill/>
        </p:spPr>
        <p:txBody>
          <a:bodyPr wrap="square" lIns="18288" tIns="18288" rIns="18288" bIns="18288" anchor="ctr">
            <a:spAutoFit/>
          </a:bodyPr>
          <a:lstStyle/>
          <a:p>
            <a:pPr algn="ctr"/>
            <a:r>
              <a:rPr lang="en-US" sz="1200" b="1">
                <a:solidFill>
                  <a:srgbClr val="434343"/>
                </a:solidFill>
                <a:latin typeface="Arial"/>
              </a:rPr>
              <a:t>score 6  →  weight 7</a:t>
            </a:r>
          </a:p>
        </p:txBody>
      </p:sp>
      <p:sp>
        <p:nvSpPr>
          <p:cNvPr id="22" name="Rectangle 21"/>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32688" y="3383280"/>
            <a:ext cx="702781" cy="237744"/>
          </a:xfrm>
          <a:prstGeom prst="rect">
            <a:avLst/>
          </a:prstGeom>
          <a:noFill/>
        </p:spPr>
        <p:txBody>
          <a:bodyPr wrap="square" lIns="0" tIns="0" rIns="0" bIns="0" anchor="ctr">
            <a:spAutoFit/>
          </a:bodyPr>
          <a:lstStyle/>
          <a:p>
            <a:pPr algn="ctr"/>
            <a:r>
              <a:rPr lang="en-US" sz="819" b="1">
                <a:solidFill>
                  <a:srgbClr val="FFFFFF"/>
                </a:solidFill>
                <a:latin typeface="Arial"/>
              </a:rPr>
              <a:t>7.1%</a:t>
            </a:r>
          </a:p>
        </p:txBody>
      </p:sp>
      <p:sp>
        <p:nvSpPr>
          <p:cNvPr id="24" name="Rectangle 23"/>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672045" y="3383280"/>
            <a:ext cx="1442139" cy="237744"/>
          </a:xfrm>
          <a:prstGeom prst="rect">
            <a:avLst/>
          </a:prstGeom>
          <a:noFill/>
        </p:spPr>
        <p:txBody>
          <a:bodyPr wrap="square" lIns="0" tIns="0" rIns="0" bIns="0" anchor="ctr">
            <a:spAutoFit/>
          </a:bodyPr>
          <a:lstStyle/>
          <a:p>
            <a:pPr algn="ctr"/>
            <a:r>
              <a:rPr lang="en-US" sz="1000" b="1">
                <a:solidFill>
                  <a:srgbClr val="FFFFFF"/>
                </a:solidFill>
                <a:latin typeface="Arial"/>
              </a:rPr>
              <a:t>14.3%</a:t>
            </a:r>
          </a:p>
        </p:txBody>
      </p:sp>
      <p:sp>
        <p:nvSpPr>
          <p:cNvPr id="26" name="Rectangle 25"/>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150761" y="3383280"/>
            <a:ext cx="2920854" cy="237744"/>
          </a:xfrm>
          <a:prstGeom prst="rect">
            <a:avLst/>
          </a:prstGeom>
          <a:noFill/>
        </p:spPr>
        <p:txBody>
          <a:bodyPr wrap="square" lIns="0" tIns="0" rIns="0" bIns="0" anchor="ctr">
            <a:spAutoFit/>
          </a:bodyPr>
          <a:lstStyle/>
          <a:p>
            <a:pPr algn="ctr"/>
            <a:r>
              <a:rPr lang="en-US" sz="1000" b="1">
                <a:solidFill>
                  <a:srgbClr val="FFFFFF"/>
                </a:solidFill>
                <a:latin typeface="Arial"/>
              </a:rPr>
              <a:t>28.6%</a:t>
            </a:r>
          </a:p>
        </p:txBody>
      </p:sp>
      <p:sp>
        <p:nvSpPr>
          <p:cNvPr id="28" name="Rectangle 27"/>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108192" y="3383280"/>
            <a:ext cx="5138928" cy="237744"/>
          </a:xfrm>
          <a:prstGeom prst="rect">
            <a:avLst/>
          </a:prstGeom>
          <a:noFill/>
        </p:spPr>
        <p:txBody>
          <a:bodyPr wrap="square" lIns="0" tIns="0" rIns="0" bIns="0" anchor="ctr">
            <a:spAutoFit/>
          </a:bodyPr>
          <a:lstStyle/>
          <a:p>
            <a:pPr algn="ctr"/>
            <a:r>
              <a:rPr lang="en-US" sz="1000" b="1">
                <a:solidFill>
                  <a:srgbClr val="FFFFFF"/>
                </a:solidFill>
                <a:latin typeface="Arial"/>
              </a:rPr>
              <a:t>50.0%</a:t>
            </a:r>
          </a:p>
        </p:txBody>
      </p:sp>
      <p:sp>
        <p:nvSpPr>
          <p:cNvPr id="30" name="Rectangle 29"/>
          <p:cNvSpPr/>
          <p:nvPr/>
        </p:nvSpPr>
        <p:spPr>
          <a:xfrm>
            <a:off x="749808" y="4005072"/>
            <a:ext cx="106984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 y="4178808"/>
            <a:ext cx="10332720" cy="201168"/>
          </a:xfrm>
          <a:prstGeom prst="rect">
            <a:avLst/>
          </a:prstGeom>
          <a:noFill/>
        </p:spPr>
        <p:txBody>
          <a:bodyPr wrap="square" lIns="18288" rIns="18288" tIns="18288" bIns="18288" anchor="ctr">
            <a:spAutoFit/>
          </a:bodyPr>
          <a:lstStyle/>
          <a:p>
            <a:pPr algn="ctr"/>
            <a:r>
              <a:rPr sz="1000" b="1" lang="en-US">
                <a:solidFill>
                  <a:srgbClr val="C40D1E"/>
                </a:solidFill>
                <a:latin typeface="Arial"/>
              </a:rPr>
              <a:t>1 · HASH DRAW CONTEXT   </a:t>
            </a:r>
            <a:r>
              <a:rPr sz="1019" b="1" lang="en-US">
                <a:solidFill>
                  <a:srgbClr val="434343"/>
                </a:solidFill>
                <a:latin typeface="Arial"/>
              </a:rPr>
              <a:t>r = uint256(keccak256(prevrandao, timestamp, block number, round, current aggregator public address))</a:t>
            </a:r>
          </a:p>
        </p:txBody>
      </p:sp>
      <p:sp>
        <p:nvSpPr>
          <p:cNvPr id="32" name="Rounded Rectangle 31"/>
          <p:cNvSpPr/>
          <p:nvPr/>
        </p:nvSpPr>
        <p:spPr>
          <a:xfrm>
            <a:off x="749808" y="4718304"/>
            <a:ext cx="5285232" cy="7132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4855464"/>
            <a:ext cx="1993392" cy="182880"/>
          </a:xfrm>
          <a:prstGeom prst="rect">
            <a:avLst/>
          </a:prstGeom>
          <a:noFill/>
        </p:spPr>
        <p:txBody>
          <a:bodyPr wrap="square" lIns="18288" rIns="18288" tIns="18288" bIns="18288" anchor="t">
            <a:spAutoFit/>
          </a:bodyPr>
          <a:lstStyle/>
          <a:p>
            <a:pPr algn="l"/>
            <a:r>
              <a:rPr sz="1050" b="1" lang="en-US">
                <a:solidFill>
                  <a:srgbClr val="1F90CC"/>
                </a:solidFill>
                <a:latin typeface="Arial"/>
              </a:rPr>
              <a:t>2 · DRAW ONE TICKET</a:t>
            </a:r>
          </a:p>
        </p:txBody>
      </p:sp>
      <p:sp>
        <p:nvSpPr>
          <p:cNvPr id="34" name="TextBox 33"/>
          <p:cNvSpPr txBox="1"/>
          <p:nvPr/>
        </p:nvSpPr>
        <p:spPr>
          <a:xfrm>
            <a:off x="987552" y="5093208"/>
            <a:ext cx="4754880" cy="201168"/>
          </a:xfrm>
          <a:prstGeom prst="rect">
            <a:avLst/>
          </a:prstGeom>
          <a:noFill/>
        </p:spPr>
        <p:txBody>
          <a:bodyPr wrap="square" lIns="18288" rIns="18288" tIns="18288" bIns="18288" anchor="ctr">
            <a:spAutoFit/>
          </a:bodyPr>
          <a:lstStyle/>
          <a:p>
            <a:pPr algn="ctr"/>
            <a:r>
              <a:rPr sz="1220" b="1" lang="en-US">
                <a:solidFill>
                  <a:srgbClr val="434343"/>
                </a:solidFill>
                <a:latin typeface="Arial"/>
              </a:rPr>
              <a:t>ticket = r mod W = r mod 14  ∈  {0, …, 13}</a:t>
            </a:r>
          </a:p>
        </p:txBody>
      </p:sp>
      <p:sp>
        <p:nvSpPr>
          <p:cNvPr id="35" name="Rounded Rectangle 34"/>
          <p:cNvSpPr/>
          <p:nvPr/>
        </p:nvSpPr>
        <p:spPr>
          <a:xfrm>
            <a:off x="6199632" y="4718304"/>
            <a:ext cx="5248656" cy="7132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4855464"/>
            <a:ext cx="2926080" cy="182880"/>
          </a:xfrm>
          <a:prstGeom prst="rect">
            <a:avLst/>
          </a:prstGeom>
          <a:noFill/>
        </p:spPr>
        <p:txBody>
          <a:bodyPr wrap="square" lIns="18288" rIns="18288" tIns="18288" bIns="18288" anchor="t">
            <a:spAutoFit/>
          </a:bodyPr>
          <a:lstStyle/>
          <a:p>
            <a:pPr algn="l"/>
            <a:r>
              <a:rPr sz="1050" b="1" lang="en-US">
                <a:solidFill>
                  <a:srgbClr val="2F8F46"/>
                </a:solidFill>
                <a:latin typeface="Arial"/>
              </a:rPr>
              <a:t>3 · MAP TO CUMULATIVE INTERVAL</a:t>
            </a:r>
          </a:p>
        </p:txBody>
      </p:sp>
      <p:sp>
        <p:nvSpPr>
          <p:cNvPr id="37" name="TextBox 36"/>
          <p:cNvSpPr txBox="1"/>
          <p:nvPr/>
        </p:nvSpPr>
        <p:spPr>
          <a:xfrm>
            <a:off x="6437376" y="5093208"/>
            <a:ext cx="4736592" cy="201168"/>
          </a:xfrm>
          <a:prstGeom prst="rect">
            <a:avLst/>
          </a:prstGeom>
          <a:noFill/>
        </p:spPr>
        <p:txBody>
          <a:bodyPr wrap="square" lIns="18288" rIns="18288" tIns="18288" bIns="18288" anchor="ctr">
            <a:spAutoFit/>
          </a:bodyPr>
          <a:lstStyle/>
          <a:p>
            <a:pPr algn="ctr"/>
            <a:r>
              <a:rPr sz="1040" b="1" lang="en-US">
                <a:solidFill>
                  <a:srgbClr val="434343"/>
                </a:solidFill>
                <a:latin typeface="Arial"/>
              </a:rPr>
              <a:t>A: 0   ·   B: 1–2   ·   C: 3–6   ·   D: 7–13   |   Example: 5 → C</a:t>
            </a:r>
          </a:p>
        </p:txBody>
      </p:sp>
      <p:sp>
        <p:nvSpPr>
          <p:cNvPr id="38" name="TextBox 37"/>
          <p:cNvSpPr txBox="1"/>
          <p:nvPr/>
        </p:nvSpPr>
        <p:spPr>
          <a:xfrm>
            <a:off x="822960" y="5577840"/>
            <a:ext cx="10552176" cy="146304"/>
          </a:xfrm>
          <a:prstGeom prst="rect">
            <a:avLst/>
          </a:prstGeom>
          <a:noFill/>
        </p:spPr>
        <p:txBody>
          <a:bodyPr wrap="square" lIns="18288" rIns="18288" tIns="18288" bIns="18288" anchor="ctr">
            <a:spAutoFit/>
          </a:bodyPr>
          <a:lstStyle/>
          <a:p>
            <a:pPr algn="ctr"/>
            <a:r>
              <a:rPr sz="750" b="0" lang="en-US">
                <a:solidFill>
                  <a:srgbClr val="434343"/>
                </a:solidFill>
                <a:latin typeface="Arial"/>
              </a:rPr>
              <a:t>prevrandao pseudorandom value: </a:t>
            </a:r>
            <a:r>
              <a:rPr sz="750" b="0" lang="en-US">
                <a:solidFill>
                  <a:srgbClr val="C40D1E"/>
                </a:solidFill>
                <a:latin typeface="Arial"/>
                <a:hlinkClick r:id="rId3"/>
              </a:rPr>
              <a:t>https://eips.ethereum.org/EIPS/eip-4399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438912" y="1399032"/>
            <a:ext cx="2066543" cy="1874519"/>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1572768"/>
            <a:ext cx="310896" cy="201168"/>
          </a:xfrm>
          <a:prstGeom prst="rect">
            <a:avLst/>
          </a:prstGeom>
          <a:noFill/>
        </p:spPr>
        <p:txBody>
          <a:bodyPr wrap="square" lIns="18288" tIns="18288" rIns="18288" bIns="18288" anchor="t">
            <a:spAutoFit/>
          </a:bodyPr>
          <a:lstStyle/>
          <a:p>
            <a:pPr algn="l"/>
            <a:r>
              <a:rPr lang="en-US" sz="1050" b="1">
                <a:solidFill>
                  <a:srgbClr val="1F90CC"/>
                </a:solidFill>
                <a:latin typeface="Arial"/>
              </a:rPr>
              <a:t>01</a:t>
            </a:r>
          </a:p>
        </p:txBody>
      </p:sp>
      <p:sp>
        <p:nvSpPr>
          <p:cNvPr id="10" name="TextBox 9"/>
          <p:cNvSpPr txBox="1"/>
          <p:nvPr/>
        </p:nvSpPr>
        <p:spPr>
          <a:xfrm>
            <a:off x="914400" y="1554480"/>
            <a:ext cx="1408176" cy="246888"/>
          </a:xfrm>
          <a:prstGeom prst="rect">
            <a:avLst/>
          </a:prstGeom>
          <a:noFill/>
        </p:spPr>
        <p:txBody>
          <a:bodyPr wrap="square" lIns="18288" tIns="18288" rIns="18288" bIns="18288" anchor="t">
            <a:spAutoFit/>
          </a:bodyPr>
          <a:lstStyle/>
          <a:p>
            <a:pPr algn="l"/>
            <a:r>
              <a:rPr lang="en-US" sz="1120" b="1">
                <a:solidFill>
                  <a:srgbClr val="1F90CC"/>
                </a:solidFill>
                <a:latin typeface="Arial"/>
              </a:rPr>
              <a:t>OBSERVE</a:t>
            </a:r>
          </a:p>
        </p:txBody>
      </p:sp>
      <p:sp>
        <p:nvSpPr>
          <p:cNvPr id="11" name="TextBox 10"/>
          <p:cNvSpPr txBox="1"/>
          <p:nvPr/>
        </p:nvSpPr>
        <p:spPr>
          <a:xfrm>
            <a:off x="603503" y="1975104"/>
            <a:ext cx="1737360" cy="1024128"/>
          </a:xfrm>
          <a:prstGeom prst="rect">
            <a:avLst/>
          </a:prstGeom>
          <a:noFill/>
        </p:spPr>
        <p:txBody>
          <a:bodyPr wrap="square" lIns="18288" tIns="18288" rIns="18288" bIns="18288" anchor="ctr">
            <a:spAutoFit/>
          </a:bodyPr>
          <a:lstStyle/>
          <a:p>
            <a:pPr algn="ctr"/>
            <a:r>
              <a:rPr lang="en-US" sz="1050" b="1">
                <a:solidFill>
                  <a:srgbClr val="434343"/>
                </a:solidFill>
                <a:latin typeface="Arial"/>
              </a:rPr>
              <a:t>Workers detect repeated lack of round progress.</a:t>
            </a:r>
          </a:p>
        </p:txBody>
      </p:sp>
      <p:cxnSp>
        <p:nvCxnSpPr>
          <p:cNvPr id="12" name="Connector 11"/>
          <p:cNvCxnSpPr/>
          <p:nvPr/>
        </p:nvCxnSpPr>
        <p:spPr>
          <a:xfrm>
            <a:off x="2523744" y="2331720"/>
            <a:ext cx="201168"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70632" y="1399032"/>
            <a:ext cx="2066543" cy="1874519"/>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07791" y="1572768"/>
            <a:ext cx="310896" cy="201168"/>
          </a:xfrm>
          <a:prstGeom prst="rect">
            <a:avLst/>
          </a:prstGeom>
          <a:noFill/>
        </p:spPr>
        <p:txBody>
          <a:bodyPr wrap="square" lIns="18288" tIns="18288" rIns="18288" bIns="18288" anchor="t">
            <a:spAutoFit/>
          </a:bodyPr>
          <a:lstStyle/>
          <a:p>
            <a:pPr algn="l"/>
            <a:r>
              <a:rPr lang="en-US" sz="1050" b="1">
                <a:solidFill>
                  <a:srgbClr val="2F8F46"/>
                </a:solidFill>
                <a:latin typeface="Arial"/>
              </a:rPr>
              <a:t>02</a:t>
            </a:r>
          </a:p>
        </p:txBody>
      </p:sp>
      <p:sp>
        <p:nvSpPr>
          <p:cNvPr id="15" name="TextBox 14"/>
          <p:cNvSpPr txBox="1"/>
          <p:nvPr/>
        </p:nvSpPr>
        <p:spPr>
          <a:xfrm>
            <a:off x="3246120" y="1554480"/>
            <a:ext cx="1408176" cy="246888"/>
          </a:xfrm>
          <a:prstGeom prst="rect">
            <a:avLst/>
          </a:prstGeom>
          <a:noFill/>
        </p:spPr>
        <p:txBody>
          <a:bodyPr wrap="square" lIns="18288" tIns="18288" rIns="18288" bIns="18288" anchor="t">
            <a:spAutoFit/>
          </a:bodyPr>
          <a:lstStyle/>
          <a:p>
            <a:pPr algn="l"/>
            <a:r>
              <a:rPr lang="en-US" sz="1120" b="1">
                <a:solidFill>
                  <a:srgbClr val="2F8F46"/>
                </a:solidFill>
                <a:latin typeface="Arial"/>
              </a:rPr>
              <a:t>REPORT</a:t>
            </a:r>
          </a:p>
        </p:txBody>
      </p:sp>
      <p:sp>
        <p:nvSpPr>
          <p:cNvPr id="16" name="TextBox 15"/>
          <p:cNvSpPr txBox="1"/>
          <p:nvPr/>
        </p:nvSpPr>
        <p:spPr>
          <a:xfrm>
            <a:off x="2935224" y="1975104"/>
            <a:ext cx="1737360" cy="1024128"/>
          </a:xfrm>
          <a:prstGeom prst="rect">
            <a:avLst/>
          </a:prstGeom>
          <a:noFill/>
        </p:spPr>
        <p:txBody>
          <a:bodyPr wrap="square" lIns="18288" tIns="18288" rIns="18288" bIns="18288" anchor="ctr">
            <a:spAutoFit/>
          </a:bodyPr>
          <a:lstStyle/>
          <a:p>
            <a:pPr algn="ctr"/>
            <a:r>
              <a:rPr lang="en-US" sz="1050" b="1">
                <a:solidFill>
                  <a:srgbClr val="434343"/>
                </a:solidFill>
                <a:latin typeface="Arial"/>
              </a:rPr>
              <a:t>Action key signs the exact round and aggregator; duplicates reject.</a:t>
            </a:r>
          </a:p>
        </p:txBody>
      </p:sp>
      <p:cxnSp>
        <p:nvCxnSpPr>
          <p:cNvPr id="17" name="Connector 16"/>
          <p:cNvCxnSpPr/>
          <p:nvPr/>
        </p:nvCxnSpPr>
        <p:spPr>
          <a:xfrm>
            <a:off x="4855464" y="2331720"/>
            <a:ext cx="201167"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102352" y="1399032"/>
            <a:ext cx="2066543" cy="1874519"/>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239512" y="1572768"/>
            <a:ext cx="310896" cy="201168"/>
          </a:xfrm>
          <a:prstGeom prst="rect">
            <a:avLst/>
          </a:prstGeom>
          <a:noFill/>
        </p:spPr>
        <p:txBody>
          <a:bodyPr wrap="square" lIns="18288" tIns="18288" rIns="18288" bIns="18288" anchor="t">
            <a:spAutoFit/>
          </a:bodyPr>
          <a:lstStyle/>
          <a:p>
            <a:pPr algn="l"/>
            <a:r>
              <a:rPr lang="en-US" sz="1050" b="1">
                <a:solidFill>
                  <a:srgbClr val="7A35B5"/>
                </a:solidFill>
                <a:latin typeface="Arial"/>
              </a:rPr>
              <a:t>03</a:t>
            </a:r>
          </a:p>
        </p:txBody>
      </p:sp>
      <p:sp>
        <p:nvSpPr>
          <p:cNvPr id="20" name="TextBox 19"/>
          <p:cNvSpPr txBox="1"/>
          <p:nvPr/>
        </p:nvSpPr>
        <p:spPr>
          <a:xfrm>
            <a:off x="5577840" y="1554480"/>
            <a:ext cx="1408176" cy="246888"/>
          </a:xfrm>
          <a:prstGeom prst="rect">
            <a:avLst/>
          </a:prstGeom>
          <a:noFill/>
        </p:spPr>
        <p:txBody>
          <a:bodyPr wrap="square" lIns="18288" tIns="18288" rIns="18288" bIns="18288" anchor="t">
            <a:spAutoFit/>
          </a:bodyPr>
          <a:lstStyle/>
          <a:p>
            <a:pPr algn="l"/>
            <a:r>
              <a:rPr lang="en-US" sz="1120" b="1">
                <a:solidFill>
                  <a:srgbClr val="7A35B5"/>
                </a:solidFill>
                <a:latin typeface="Arial"/>
              </a:rPr>
              <a:t>FREEZE QUORUM</a:t>
            </a:r>
          </a:p>
        </p:txBody>
      </p:sp>
      <p:sp>
        <p:nvSpPr>
          <p:cNvPr id="21" name="TextBox 20"/>
          <p:cNvSpPr txBox="1"/>
          <p:nvPr/>
        </p:nvSpPr>
        <p:spPr>
          <a:xfrm>
            <a:off x="5266944" y="1975104"/>
            <a:ext cx="1737360" cy="1024128"/>
          </a:xfrm>
          <a:prstGeom prst="rect">
            <a:avLst/>
          </a:prstGeom>
          <a:noFill/>
        </p:spPr>
        <p:txBody>
          <a:bodyPr wrap="square" lIns="18288" tIns="18288" rIns="18288" bIns="18288" anchor="ctr">
            <a:spAutoFit/>
          </a:bodyPr>
          <a:lstStyle/>
          <a:p>
            <a:pPr algn="ctr"/>
            <a:r>
              <a:rPr lang="en-US" sz="1050" b="1">
                <a:solidFill>
                  <a:srgbClr val="434343"/>
                </a:solidFill>
                <a:latin typeface="Arial"/>
              </a:rPr>
              <a:t>First report snapshots E reporters; q = ceil(E·p/100), p = 50%.</a:t>
            </a:r>
          </a:p>
        </p:txBody>
      </p:sp>
      <p:cxnSp>
        <p:nvCxnSpPr>
          <p:cNvPr id="22" name="Connector 21"/>
          <p:cNvCxnSpPr/>
          <p:nvPr/>
        </p:nvCxnSpPr>
        <p:spPr>
          <a:xfrm>
            <a:off x="7187183" y="2331720"/>
            <a:ext cx="201169"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34071" y="1399032"/>
            <a:ext cx="2066543" cy="1874519"/>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571231" y="1572768"/>
            <a:ext cx="310896" cy="201168"/>
          </a:xfrm>
          <a:prstGeom prst="rect">
            <a:avLst/>
          </a:prstGeom>
          <a:noFill/>
        </p:spPr>
        <p:txBody>
          <a:bodyPr wrap="square" lIns="18288" tIns="18288" rIns="18288" bIns="18288" anchor="t">
            <a:spAutoFit/>
          </a:bodyPr>
          <a:lstStyle/>
          <a:p>
            <a:pPr algn="l"/>
            <a:r>
              <a:rPr lang="en-US" sz="1050" b="1">
                <a:solidFill>
                  <a:srgbClr val="C40D1E"/>
                </a:solidFill>
                <a:latin typeface="Arial"/>
              </a:rPr>
              <a:t>04</a:t>
            </a:r>
          </a:p>
        </p:txBody>
      </p:sp>
      <p:sp>
        <p:nvSpPr>
          <p:cNvPr id="25" name="TextBox 24"/>
          <p:cNvSpPr txBox="1"/>
          <p:nvPr/>
        </p:nvSpPr>
        <p:spPr>
          <a:xfrm>
            <a:off x="7909559" y="1554480"/>
            <a:ext cx="1408176" cy="246888"/>
          </a:xfrm>
          <a:prstGeom prst="rect">
            <a:avLst/>
          </a:prstGeom>
          <a:noFill/>
        </p:spPr>
        <p:txBody>
          <a:bodyPr wrap="square" lIns="18288" tIns="18288" rIns="18288" bIns="18288" anchor="t">
            <a:spAutoFit/>
          </a:bodyPr>
          <a:lstStyle/>
          <a:p>
            <a:pPr algn="l"/>
            <a:r>
              <a:rPr lang="en-US" sz="1120" b="1">
                <a:solidFill>
                  <a:srgbClr val="C40D1E"/>
                </a:solidFill>
                <a:latin typeface="Arial"/>
              </a:rPr>
              <a:t>ABORT</a:t>
            </a:r>
          </a:p>
        </p:txBody>
      </p:sp>
      <p:sp>
        <p:nvSpPr>
          <p:cNvPr id="26" name="TextBox 25"/>
          <p:cNvSpPr txBox="1"/>
          <p:nvPr/>
        </p:nvSpPr>
        <p:spPr>
          <a:xfrm>
            <a:off x="7598663" y="1975104"/>
            <a:ext cx="1737360" cy="1024128"/>
          </a:xfrm>
          <a:prstGeom prst="rect">
            <a:avLst/>
          </a:prstGeom>
          <a:noFill/>
        </p:spPr>
        <p:txBody>
          <a:bodyPr wrap="square" lIns="18288" tIns="18288" rIns="18288" bIns="18288" anchor="ctr">
            <a:spAutoFit/>
          </a:bodyPr>
          <a:lstStyle/>
          <a:p>
            <a:pPr algn="ctr"/>
            <a:r>
              <a:rPr lang="en-US" sz="1050" b="1">
                <a:solidFill>
                  <a:srgbClr val="434343"/>
                </a:solidFill>
                <a:latin typeface="Arial"/>
              </a:rPr>
              <a:t>Penalize the failed aggregator, mark round r aborted, advance to r+1.</a:t>
            </a:r>
          </a:p>
        </p:txBody>
      </p:sp>
      <p:cxnSp>
        <p:nvCxnSpPr>
          <p:cNvPr id="27" name="Connector 26"/>
          <p:cNvCxnSpPr/>
          <p:nvPr/>
        </p:nvCxnSpPr>
        <p:spPr>
          <a:xfrm>
            <a:off x="9518903" y="2331720"/>
            <a:ext cx="201169"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765792" y="1399032"/>
            <a:ext cx="2066543" cy="1874519"/>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902952" y="1572768"/>
            <a:ext cx="310896" cy="201168"/>
          </a:xfrm>
          <a:prstGeom prst="rect">
            <a:avLst/>
          </a:prstGeom>
          <a:noFill/>
        </p:spPr>
        <p:txBody>
          <a:bodyPr wrap="square" lIns="18288" tIns="18288" rIns="18288" bIns="18288" anchor="t">
            <a:spAutoFit/>
          </a:bodyPr>
          <a:lstStyle/>
          <a:p>
            <a:pPr algn="l"/>
            <a:r>
              <a:rPr lang="en-US" sz="1050" b="1">
                <a:solidFill>
                  <a:srgbClr val="FF6C00"/>
                </a:solidFill>
                <a:latin typeface="Arial"/>
              </a:rPr>
              <a:t>05</a:t>
            </a:r>
          </a:p>
        </p:txBody>
      </p:sp>
      <p:sp>
        <p:nvSpPr>
          <p:cNvPr id="30" name="TextBox 29"/>
          <p:cNvSpPr txBox="1"/>
          <p:nvPr/>
        </p:nvSpPr>
        <p:spPr>
          <a:xfrm>
            <a:off x="10241280" y="1554480"/>
            <a:ext cx="1408176" cy="246888"/>
          </a:xfrm>
          <a:prstGeom prst="rect">
            <a:avLst/>
          </a:prstGeom>
          <a:noFill/>
        </p:spPr>
        <p:txBody>
          <a:bodyPr wrap="square" lIns="18288" tIns="18288" rIns="18288" bIns="18288" anchor="t">
            <a:spAutoFit/>
          </a:bodyPr>
          <a:lstStyle/>
          <a:p>
            <a:pPr algn="l"/>
            <a:r>
              <a:rPr lang="en-US" sz="1120" b="1">
                <a:solidFill>
                  <a:srgbClr val="FF6C00"/>
                </a:solidFill>
                <a:latin typeface="Arial"/>
              </a:rPr>
              <a:t>REPLACE</a:t>
            </a:r>
          </a:p>
        </p:txBody>
      </p:sp>
      <p:sp>
        <p:nvSpPr>
          <p:cNvPr id="31" name="TextBox 30"/>
          <p:cNvSpPr txBox="1"/>
          <p:nvPr/>
        </p:nvSpPr>
        <p:spPr>
          <a:xfrm>
            <a:off x="9930384" y="1975104"/>
            <a:ext cx="1737360" cy="1024128"/>
          </a:xfrm>
          <a:prstGeom prst="rect">
            <a:avLst/>
          </a:prstGeom>
          <a:noFill/>
        </p:spPr>
        <p:txBody>
          <a:bodyPr wrap="square" lIns="18288" tIns="18288" rIns="18288" bIns="18288" anchor="ctr">
            <a:spAutoFit/>
          </a:bodyPr>
          <a:lstStyle/>
          <a:p>
            <a:pPr algn="ctr"/>
            <a:r>
              <a:rPr lang="en-US" sz="1050" b="1">
                <a:solidFill>
                  <a:srgbClr val="434343"/>
                </a:solidFill>
                <a:latin typeface="Arial"/>
              </a:rPr>
              <a:t>Weighted draw excludes the failed address; state returns to TRAINING.</a:t>
            </a:r>
          </a:p>
        </p:txBody>
      </p:sp>
      <p:sp>
        <p:nvSpPr>
          <p:cNvPr id="32" name="TextBox 31"/>
          <p:cNvSpPr txBox="1"/>
          <p:nvPr/>
        </p:nvSpPr>
        <p:spPr>
          <a:xfrm>
            <a:off x="713232" y="3602736"/>
            <a:ext cx="1645920" cy="219456"/>
          </a:xfrm>
          <a:prstGeom prst="rect">
            <a:avLst/>
          </a:prstGeom>
          <a:noFill/>
        </p:spPr>
        <p:txBody>
          <a:bodyPr wrap="square" lIns="18288" tIns="18288" rIns="18288" bIns="18288" anchor="t">
            <a:spAutoFit/>
          </a:bodyPr>
          <a:lstStyle/>
          <a:p>
            <a:pPr algn="l"/>
            <a:r>
              <a:rPr lang="en-US" sz="1150" b="1">
                <a:solidFill>
                  <a:srgbClr val="C40D1E"/>
                </a:solidFill>
                <a:latin typeface="Arial"/>
              </a:rPr>
              <a:t>STATE TRANSITION</a:t>
            </a:r>
          </a:p>
        </p:txBody>
      </p:sp>
      <p:sp>
        <p:nvSpPr>
          <p:cNvPr id="33" name="Rounded Rectangle 32"/>
          <p:cNvSpPr/>
          <p:nvPr/>
        </p:nvSpPr>
        <p:spPr>
          <a:xfrm>
            <a:off x="713232" y="3877056"/>
            <a:ext cx="3273552" cy="97840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77824" y="4059936"/>
            <a:ext cx="2944368" cy="201168"/>
          </a:xfrm>
          <a:prstGeom prst="rect">
            <a:avLst/>
          </a:prstGeom>
          <a:noFill/>
        </p:spPr>
        <p:txBody>
          <a:bodyPr wrap="square" lIns="18288" tIns="18288" rIns="18288" bIns="18288" anchor="t">
            <a:spAutoFit/>
          </a:bodyPr>
          <a:lstStyle/>
          <a:p>
            <a:pPr algn="ctr"/>
            <a:r>
              <a:rPr lang="en-US" sz="1050" b="1">
                <a:solidFill>
                  <a:srgbClr val="2F8F46"/>
                </a:solidFill>
                <a:latin typeface="Arial"/>
              </a:rPr>
              <a:t>LAST FINALIZED STATE</a:t>
            </a:r>
          </a:p>
        </p:txBody>
      </p:sp>
      <p:sp>
        <p:nvSpPr>
          <p:cNvPr id="35" name="TextBox 34"/>
          <p:cNvSpPr txBox="1"/>
          <p:nvPr/>
        </p:nvSpPr>
        <p:spPr>
          <a:xfrm>
            <a:off x="877824" y="4352544"/>
            <a:ext cx="2944368" cy="237744"/>
          </a:xfrm>
          <a:prstGeom prst="rect">
            <a:avLst/>
          </a:prstGeom>
          <a:noFill/>
        </p:spPr>
        <p:txBody>
          <a:bodyPr wrap="square" lIns="18288" tIns="18288" rIns="18288" bIns="18288" anchor="t">
            <a:spAutoFit/>
          </a:bodyPr>
          <a:lstStyle/>
          <a:p>
            <a:pPr algn="ctr"/>
            <a:r>
              <a:rPr lang="en-US" sz="1150" b="1">
                <a:solidFill>
                  <a:srgbClr val="434343"/>
                </a:solidFill>
                <a:latin typeface="Arial"/>
              </a:rPr>
              <a:t>Model M(r−1) remains authoritative</a:t>
            </a:r>
          </a:p>
        </p:txBody>
      </p:sp>
      <p:cxnSp>
        <p:nvCxnSpPr>
          <p:cNvPr id="36" name="Connector 35"/>
          <p:cNvCxnSpPr/>
          <p:nvPr/>
        </p:nvCxnSpPr>
        <p:spPr>
          <a:xfrm>
            <a:off x="4005072" y="4361688"/>
            <a:ext cx="274320" cy="0"/>
          </a:xfrm>
          <a:prstGeom prst="line">
            <a:avLst/>
          </a:prstGeom>
          <a:ln w="1778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315968" y="3877056"/>
            <a:ext cx="3273552" cy="97840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480559" y="4059936"/>
            <a:ext cx="2944368" cy="201168"/>
          </a:xfrm>
          <a:prstGeom prst="rect">
            <a:avLst/>
          </a:prstGeom>
          <a:noFill/>
        </p:spPr>
        <p:txBody>
          <a:bodyPr wrap="square" lIns="18288" tIns="18288" rIns="18288" bIns="18288" anchor="t">
            <a:spAutoFit/>
          </a:bodyPr>
          <a:lstStyle/>
          <a:p>
            <a:pPr algn="ctr"/>
            <a:r>
              <a:rPr lang="en-US" sz="1050" b="1">
                <a:solidFill>
                  <a:srgbClr val="C40D1E"/>
                </a:solidFill>
                <a:latin typeface="Arial"/>
              </a:rPr>
              <a:t>FAILED ATTEMPT</a:t>
            </a:r>
          </a:p>
        </p:txBody>
      </p:sp>
      <p:sp>
        <p:nvSpPr>
          <p:cNvPr id="39" name="TextBox 38"/>
          <p:cNvSpPr txBox="1"/>
          <p:nvPr/>
        </p:nvSpPr>
        <p:spPr>
          <a:xfrm>
            <a:off x="4480559" y="4352544"/>
            <a:ext cx="2944368" cy="237744"/>
          </a:xfrm>
          <a:prstGeom prst="rect">
            <a:avLst/>
          </a:prstGeom>
          <a:noFill/>
        </p:spPr>
        <p:txBody>
          <a:bodyPr wrap="square" lIns="18288" tIns="18288" rIns="18288" bIns="18288" anchor="t">
            <a:spAutoFit/>
          </a:bodyPr>
          <a:lstStyle/>
          <a:p>
            <a:pPr algn="ctr"/>
            <a:r>
              <a:rPr lang="en-US" sz="1150" b="1">
                <a:solidFill>
                  <a:srgbClr val="434343"/>
                </a:solidFill>
                <a:latin typeface="Arial"/>
              </a:rPr>
              <a:t>Round r is recorded as aborted</a:t>
            </a:r>
          </a:p>
        </p:txBody>
      </p:sp>
      <p:cxnSp>
        <p:nvCxnSpPr>
          <p:cNvPr id="40" name="Connector 39"/>
          <p:cNvCxnSpPr/>
          <p:nvPr/>
        </p:nvCxnSpPr>
        <p:spPr>
          <a:xfrm>
            <a:off x="7607808" y="4361688"/>
            <a:ext cx="274319" cy="0"/>
          </a:xfrm>
          <a:prstGeom prst="line">
            <a:avLst/>
          </a:prstGeom>
          <a:ln w="1778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7918704" y="3877056"/>
            <a:ext cx="3273552" cy="97840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083296" y="4059936"/>
            <a:ext cx="2944368" cy="201168"/>
          </a:xfrm>
          <a:prstGeom prst="rect">
            <a:avLst/>
          </a:prstGeom>
          <a:noFill/>
        </p:spPr>
        <p:txBody>
          <a:bodyPr wrap="square" lIns="18288" tIns="18288" rIns="18288" bIns="18288" anchor="t">
            <a:spAutoFit/>
          </a:bodyPr>
          <a:lstStyle/>
          <a:p>
            <a:pPr algn="ctr"/>
            <a:r>
              <a:rPr lang="en-US" sz="1050" b="1">
                <a:solidFill>
                  <a:srgbClr val="1F90CC"/>
                </a:solidFill>
                <a:latin typeface="Arial"/>
              </a:rPr>
              <a:t>SUCCESSOR ROUND</a:t>
            </a:r>
          </a:p>
        </p:txBody>
      </p:sp>
      <p:sp>
        <p:nvSpPr>
          <p:cNvPr id="43" name="TextBox 42"/>
          <p:cNvSpPr txBox="1"/>
          <p:nvPr/>
        </p:nvSpPr>
        <p:spPr>
          <a:xfrm>
            <a:off x="8083296" y="4352544"/>
            <a:ext cx="2944368" cy="237744"/>
          </a:xfrm>
          <a:prstGeom prst="rect">
            <a:avLst/>
          </a:prstGeom>
          <a:noFill/>
        </p:spPr>
        <p:txBody>
          <a:bodyPr wrap="square" lIns="18288" tIns="18288" rIns="18288" bIns="18288" anchor="t">
            <a:spAutoFit/>
          </a:bodyPr>
          <a:lstStyle/>
          <a:p>
            <a:pPr algn="ctr"/>
            <a:r>
              <a:rPr lang="en-US" sz="1150" b="1">
                <a:solidFill>
                  <a:srgbClr val="434343"/>
                </a:solidFill>
                <a:latin typeface="Arial"/>
              </a:rPr>
              <a:t>Round r+1 restarts from M(r−1)</a:t>
            </a:r>
          </a:p>
        </p:txBody>
      </p:sp>
      <p:sp>
        <p:nvSpPr>
          <p:cNvPr id="44" name="Rectangle 43"/>
          <p:cNvSpPr/>
          <p:nvPr/>
        </p:nvSpPr>
        <p:spPr>
          <a:xfrm>
            <a:off x="1298448" y="5093208"/>
            <a:ext cx="9601200" cy="44805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499616" y="5193792"/>
            <a:ext cx="9198864" cy="246888"/>
          </a:xfrm>
          <a:prstGeom prst="rect">
            <a:avLst/>
          </a:prstGeom>
          <a:noFill/>
        </p:spPr>
        <p:txBody>
          <a:bodyPr wrap="square" lIns="18288" tIns="18288" rIns="18288" bIns="18288" anchor="ctr">
            <a:spAutoFit/>
          </a:bodyPr>
          <a:lstStyle/>
          <a:p>
            <a:pPr algn="ctr"/>
            <a:r>
              <a:rPr lang="en-US" sz="1280" b="1">
                <a:solidFill>
                  <a:srgbClr val="FFFFFF"/>
                </a:solidFill>
                <a:latin typeface="Arial"/>
              </a:rPr>
              <a:t>No blockchain rewind: the failed attempt is abandoned and the previous finalized model is preserved.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The critical boundary: authoritative model handoff</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ARTIFACT IDENTITY SURVIVES UNTRUSTED STORAGE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685800" y="1682496"/>
            <a:ext cx="2980944" cy="1947672"/>
          </a:xfrm>
          <a:prstGeom prst="roundRect">
            <a:avLst/>
          </a:prstGeom>
          <a:solidFill>
            <a:srgbClr val="FBEAEC"/>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50392" y="1956816"/>
            <a:ext cx="2651760" cy="292608"/>
          </a:xfrm>
          <a:prstGeom prst="rect">
            <a:avLst/>
          </a:prstGeom>
          <a:noFill/>
        </p:spPr>
        <p:txBody>
          <a:bodyPr wrap="square" lIns="18288" tIns="18288" rIns="18288" bIns="18288" anchor="t">
            <a:spAutoFit/>
          </a:bodyPr>
          <a:lstStyle/>
          <a:p>
            <a:pPr algn="ctr"/>
            <a:r>
              <a:rPr lang="en-US" sz="1700" b="1">
                <a:solidFill>
                  <a:srgbClr val="C40D1E"/>
                </a:solidFill>
                <a:latin typeface="Arial"/>
              </a:rPr>
              <a:t>LEDGER</a:t>
            </a:r>
          </a:p>
        </p:txBody>
      </p:sp>
      <p:sp>
        <p:nvSpPr>
          <p:cNvPr id="10" name="TextBox 9"/>
          <p:cNvSpPr txBox="1"/>
          <p:nvPr/>
        </p:nvSpPr>
        <p:spPr>
          <a:xfrm>
            <a:off x="868680" y="2560320"/>
            <a:ext cx="2615184" cy="658368"/>
          </a:xfrm>
          <a:prstGeom prst="rect">
            <a:avLst/>
          </a:prstGeom>
          <a:noFill/>
        </p:spPr>
        <p:txBody>
          <a:bodyPr wrap="square" lIns="18288" tIns="18288" rIns="18288" bIns="18288" anchor="t">
            <a:spAutoFit/>
          </a:bodyPr>
          <a:lstStyle/>
          <a:p>
            <a:pPr algn="ctr"/>
            <a:r>
              <a:rPr lang="en-US" sz="1600" b="1">
                <a:solidFill>
                  <a:srgbClr val="434343"/>
                </a:solidFill>
                <a:latin typeface="Arial"/>
              </a:rPr>
              <a:t>Round · publisher
Model, key, and signature CIDs</a:t>
            </a:r>
          </a:p>
        </p:txBody>
      </p:sp>
      <p:sp>
        <p:nvSpPr>
          <p:cNvPr id="11" name="Rounded Rectangle 10"/>
          <p:cNvSpPr/>
          <p:nvPr/>
        </p:nvSpPr>
        <p:spPr>
          <a:xfrm>
            <a:off x="4315968" y="1682496"/>
            <a:ext cx="2980944" cy="1947672"/>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80559" y="1956816"/>
            <a:ext cx="2651760" cy="292608"/>
          </a:xfrm>
          <a:prstGeom prst="rect">
            <a:avLst/>
          </a:prstGeom>
          <a:noFill/>
        </p:spPr>
        <p:txBody>
          <a:bodyPr wrap="square" lIns="18288" tIns="18288" rIns="18288" bIns="18288" anchor="t">
            <a:spAutoFit/>
          </a:bodyPr>
          <a:lstStyle/>
          <a:p>
            <a:pPr algn="ctr"/>
            <a:r>
              <a:rPr lang="en-US" sz="1700" b="1">
                <a:solidFill>
                  <a:srgbClr val="7A35B5"/>
                </a:solidFill>
                <a:latin typeface="Arial"/>
              </a:rPr>
              <a:t>IPFS</a:t>
            </a:r>
          </a:p>
        </p:txBody>
      </p:sp>
      <p:sp>
        <p:nvSpPr>
          <p:cNvPr id="13" name="TextBox 12"/>
          <p:cNvSpPr txBox="1"/>
          <p:nvPr/>
        </p:nvSpPr>
        <p:spPr>
          <a:xfrm>
            <a:off x="4498848" y="2560320"/>
            <a:ext cx="2615184" cy="658368"/>
          </a:xfrm>
          <a:prstGeom prst="rect">
            <a:avLst/>
          </a:prstGeom>
          <a:noFill/>
        </p:spPr>
        <p:txBody>
          <a:bodyPr wrap="square" lIns="18288" tIns="18288" rIns="18288" bIns="18288" anchor="t">
            <a:spAutoFit/>
          </a:bodyPr>
          <a:lstStyle/>
          <a:p>
            <a:pPr algn="ctr"/>
            <a:r>
              <a:rPr lang="en-US" sz="1600" b="1">
                <a:solidFill>
                  <a:srgbClr val="434343"/>
                </a:solidFill>
                <a:latin typeface="Arial"/>
              </a:rPr>
              <a:t>AES-GCM model ciphertext
RSA-OAEP key envelopes</a:t>
            </a:r>
          </a:p>
        </p:txBody>
      </p:sp>
      <p:sp>
        <p:nvSpPr>
          <p:cNvPr id="14" name="Rounded Rectangle 13"/>
          <p:cNvSpPr/>
          <p:nvPr/>
        </p:nvSpPr>
        <p:spPr>
          <a:xfrm>
            <a:off x="7936992" y="1682496"/>
            <a:ext cx="2980944" cy="1947672"/>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101583" y="1956816"/>
            <a:ext cx="2651760" cy="292608"/>
          </a:xfrm>
          <a:prstGeom prst="rect">
            <a:avLst/>
          </a:prstGeom>
          <a:noFill/>
        </p:spPr>
        <p:txBody>
          <a:bodyPr wrap="square" lIns="18288" tIns="18288" rIns="18288" bIns="18288" anchor="t">
            <a:spAutoFit/>
          </a:bodyPr>
          <a:lstStyle/>
          <a:p>
            <a:pPr algn="ctr"/>
            <a:r>
              <a:rPr lang="en-US" sz="1700" b="1">
                <a:solidFill>
                  <a:srgbClr val="2F8F46"/>
                </a:solidFill>
                <a:latin typeface="Arial"/>
              </a:rPr>
              <a:t>MEASURED RECEIVER</a:t>
            </a:r>
          </a:p>
        </p:txBody>
      </p:sp>
      <p:sp>
        <p:nvSpPr>
          <p:cNvPr id="16" name="TextBox 15"/>
          <p:cNvSpPr txBox="1"/>
          <p:nvPr/>
        </p:nvSpPr>
        <p:spPr>
          <a:xfrm>
            <a:off x="8119871" y="2560320"/>
            <a:ext cx="2615184" cy="658368"/>
          </a:xfrm>
          <a:prstGeom prst="rect">
            <a:avLst/>
          </a:prstGeom>
          <a:noFill/>
        </p:spPr>
        <p:txBody>
          <a:bodyPr wrap="square" lIns="18288" tIns="18288" rIns="18288" bIns="18288" anchor="t">
            <a:spAutoFit/>
          </a:bodyPr>
          <a:lstStyle/>
          <a:p>
            <a:pPr algn="ctr"/>
            <a:r>
              <a:rPr lang="en-US" sz="1600" b="1">
                <a:solidFill>
                  <a:srgbClr val="434343"/>
                </a:solidFill>
                <a:latin typeface="Arial"/>
              </a:rPr>
              <a:t>Resolve · decrypt
Verify signature and hashes</a:t>
            </a:r>
          </a:p>
        </p:txBody>
      </p:sp>
      <p:cxnSp>
        <p:nvCxnSpPr>
          <p:cNvPr id="17" name="Connector 16"/>
          <p:cNvCxnSpPr/>
          <p:nvPr/>
        </p:nvCxnSpPr>
        <p:spPr>
          <a:xfrm>
            <a:off x="3694176" y="2660904"/>
            <a:ext cx="566928" cy="0"/>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324344" y="2660904"/>
            <a:ext cx="557783" cy="0"/>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197864" y="4014215"/>
            <a:ext cx="97840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335024" y="4197096"/>
            <a:ext cx="9509760" cy="274320"/>
          </a:xfrm>
          <a:prstGeom prst="rect">
            <a:avLst/>
          </a:prstGeom>
          <a:noFill/>
        </p:spPr>
        <p:txBody>
          <a:bodyPr wrap="square" lIns="18288" tIns="18288" rIns="18288" bIns="18288" anchor="ctr">
            <a:spAutoFit/>
          </a:bodyPr>
          <a:lstStyle/>
          <a:p>
            <a:pPr algn="ctr"/>
            <a:r>
              <a:rPr lang="en-US" sz="1400" b="0">
                <a:solidFill>
                  <a:srgbClr val="434343"/>
                </a:solidFill>
                <a:latin typeface="Arial"/>
              </a:rPr>
              <a:t>Bound identity:  </a:t>
            </a:r>
            <a:r>
              <a:rPr lang="en-US" sz="1500" b="1">
                <a:solidFill>
                  <a:srgbClr val="C40D1E"/>
                </a:solidFill>
                <a:latin typeface="Arial"/>
              </a:rPr>
              <a:t>publication hash</a:t>
            </a:r>
            <a:r>
              <a:rPr lang="en-US" sz="1500" b="0">
                <a:solidFill>
                  <a:srgbClr val="B2B2B2"/>
                </a:solidFill>
                <a:latin typeface="Arial"/>
              </a:rPr>
              <a:t>  ·  </a:t>
            </a:r>
            <a:r>
              <a:rPr lang="en-US" sz="1500" b="1">
                <a:solidFill>
                  <a:srgbClr val="2F8F46"/>
                </a:solidFill>
                <a:latin typeface="Arial"/>
              </a:rPr>
              <a:t>model hash</a:t>
            </a:r>
            <a:r>
              <a:rPr lang="en-US" sz="1500" b="0">
                <a:solidFill>
                  <a:srgbClr val="B2B2B2"/>
                </a:solidFill>
                <a:latin typeface="Arial"/>
              </a:rPr>
              <a:t>  ·  </a:t>
            </a:r>
            <a:r>
              <a:rPr lang="en-US" sz="1500" b="1">
                <a:solidFill>
                  <a:srgbClr val="7A35B5"/>
                </a:solidFill>
                <a:latin typeface="Arial"/>
              </a:rPr>
              <a:t>publisher key</a:t>
            </a:r>
          </a:p>
        </p:txBody>
      </p:sp>
      <p:sp>
        <p:nvSpPr>
          <p:cNvPr id="21" name="Rectangle 20"/>
          <p:cNvSpPr/>
          <p:nvPr/>
        </p:nvSpPr>
        <p:spPr>
          <a:xfrm>
            <a:off x="1965960" y="4809744"/>
            <a:ext cx="8238744" cy="73152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76272" y="4919472"/>
            <a:ext cx="7818120" cy="512064"/>
          </a:xfrm>
          <a:prstGeom prst="rect">
            <a:avLst/>
          </a:prstGeom>
          <a:noFill/>
        </p:spPr>
        <p:txBody>
          <a:bodyPr wrap="square" lIns="18288" tIns="18288" rIns="18288" bIns="18288" anchor="ctr">
            <a:spAutoFit/>
          </a:bodyPr>
          <a:lstStyle/>
          <a:p>
            <a:pPr algn="ctr"/>
            <a:r>
              <a:rPr lang="en-US" sz="1400" b="1">
                <a:solidFill>
                  <a:srgbClr val="FFFFFF"/>
                </a:solidFill>
                <a:latin typeface="Arial"/>
              </a:rPr>
              <a:t>The agent never supplies a model path—the measured receiver resolves the current publication itself.</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Sello: the receiving service becomes the witness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PROPOSED BY JUAN FIGUERA (2026) · RECEIVER-ATTESTED CONFIDENTIAL RECEIPTS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ectangle 7"/>
          <p:cNvSpPr/>
          <p:nvPr/>
        </p:nvSpPr>
        <p:spPr>
          <a:xfrm>
            <a:off x="585216" y="1335024"/>
            <a:ext cx="11009376" cy="475488"/>
          </a:xfrm>
          <a:prstGeom prst="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1453896"/>
            <a:ext cx="10643616" cy="228600"/>
          </a:xfrm>
          <a:prstGeom prst="rect">
            <a:avLst/>
          </a:prstGeom>
          <a:noFill/>
        </p:spPr>
        <p:txBody>
          <a:bodyPr wrap="square" lIns="18288" tIns="18288" rIns="18288" bIns="18288" anchor="ctr">
            <a:spAutoFit/>
          </a:bodyPr>
          <a:lstStyle/>
          <a:p>
            <a:pPr algn="ctr"/>
            <a:r>
              <a:rPr lang="en-US" sz="1080" b="1">
                <a:solidFill>
                  <a:srgbClr val="C40D1E"/>
                </a:solidFill>
                <a:latin typeface="Arial"/>
              </a:rPr>
              <a:t>TRUST-BOUNDARY INVERSION   </a:t>
            </a:r>
            <a:r>
              <a:rPr lang="en-US" sz="1250" b="1">
                <a:solidFill>
                  <a:srgbClr val="434343"/>
                </a:solidFill>
                <a:latin typeface="Arial"/>
              </a:rPr>
              <a:t>Instead of trusting agent-side traces, the called service records what it observed.</a:t>
            </a:r>
          </a:p>
        </p:txBody>
      </p:sp>
      <p:sp>
        <p:nvSpPr>
          <p:cNvPr id="10" name="Rounded Rectangle 9"/>
          <p:cNvSpPr/>
          <p:nvPr/>
        </p:nvSpPr>
        <p:spPr>
          <a:xfrm>
            <a:off x="502920" y="2039112"/>
            <a:ext cx="2148840" cy="124358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0936" y="2240280"/>
            <a:ext cx="1892808" cy="246888"/>
          </a:xfrm>
          <a:prstGeom prst="rect">
            <a:avLst/>
          </a:prstGeom>
          <a:noFill/>
        </p:spPr>
        <p:txBody>
          <a:bodyPr wrap="square" lIns="18288" tIns="18288" rIns="18288" bIns="18288" anchor="t">
            <a:spAutoFit/>
          </a:bodyPr>
          <a:lstStyle/>
          <a:p>
            <a:pPr algn="ctr"/>
            <a:r>
              <a:rPr lang="en-US" sz="1130" b="1">
                <a:solidFill>
                  <a:srgbClr val="1F90CC"/>
                </a:solidFill>
                <a:latin typeface="Arial"/>
              </a:rPr>
              <a:t>1  AGENT</a:t>
            </a:r>
          </a:p>
        </p:txBody>
      </p:sp>
      <p:sp>
        <p:nvSpPr>
          <p:cNvPr id="12" name="TextBox 11"/>
          <p:cNvSpPr txBox="1"/>
          <p:nvPr/>
        </p:nvSpPr>
        <p:spPr>
          <a:xfrm>
            <a:off x="658368" y="2578608"/>
            <a:ext cx="1837944" cy="521207"/>
          </a:xfrm>
          <a:prstGeom prst="rect">
            <a:avLst/>
          </a:prstGeom>
          <a:noFill/>
        </p:spPr>
        <p:txBody>
          <a:bodyPr wrap="square" lIns="18288" tIns="18288" rIns="18288" bIns="18288" anchor="ctr">
            <a:spAutoFit/>
          </a:bodyPr>
          <a:lstStyle/>
          <a:p>
            <a:pPr algn="ctr"/>
            <a:r>
              <a:rPr lang="en-US" sz="980" b="1">
                <a:solidFill>
                  <a:srgbClr val="434343"/>
                </a:solidFill>
                <a:latin typeface="Arial"/>
              </a:rPr>
              <a:t>Action + signed JWS token
Owner HPKE key · log policy</a:t>
            </a:r>
          </a:p>
        </p:txBody>
      </p:sp>
      <p:sp>
        <p:nvSpPr>
          <p:cNvPr id="13" name="Rounded Rectangle 12"/>
          <p:cNvSpPr/>
          <p:nvPr/>
        </p:nvSpPr>
        <p:spPr>
          <a:xfrm>
            <a:off x="3090672" y="2039112"/>
            <a:ext cx="2331720" cy="1243584"/>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18688" y="2240280"/>
            <a:ext cx="2075687" cy="246888"/>
          </a:xfrm>
          <a:prstGeom prst="rect">
            <a:avLst/>
          </a:prstGeom>
          <a:noFill/>
        </p:spPr>
        <p:txBody>
          <a:bodyPr wrap="square" lIns="18288" tIns="18288" rIns="18288" bIns="18288" anchor="t">
            <a:spAutoFit/>
          </a:bodyPr>
          <a:lstStyle/>
          <a:p>
            <a:pPr algn="ctr"/>
            <a:r>
              <a:rPr lang="en-US" sz="1130" b="1">
                <a:solidFill>
                  <a:srgbClr val="2F8F46"/>
                </a:solidFill>
                <a:latin typeface="Arial"/>
              </a:rPr>
              <a:t>2  RECEIVING SERVICE</a:t>
            </a:r>
          </a:p>
        </p:txBody>
      </p:sp>
      <p:sp>
        <p:nvSpPr>
          <p:cNvPr id="15" name="TextBox 14"/>
          <p:cNvSpPr txBox="1"/>
          <p:nvPr/>
        </p:nvSpPr>
        <p:spPr>
          <a:xfrm>
            <a:off x="3246120" y="2578608"/>
            <a:ext cx="2020824" cy="521207"/>
          </a:xfrm>
          <a:prstGeom prst="rect">
            <a:avLst/>
          </a:prstGeom>
          <a:noFill/>
        </p:spPr>
        <p:txBody>
          <a:bodyPr wrap="square" lIns="18288" tIns="18288" rIns="18288" bIns="18288" anchor="ctr">
            <a:spAutoFit/>
          </a:bodyPr>
          <a:lstStyle/>
          <a:p>
            <a:pPr algn="ctr"/>
            <a:r>
              <a:rPr lang="en-US" sz="980" b="1">
                <a:solidFill>
                  <a:srgbClr val="434343"/>
                </a:solidFill>
                <a:latin typeface="Arial"/>
              </a:rPr>
              <a:t>Verify token · execute action
Hash exact input + output</a:t>
            </a:r>
          </a:p>
        </p:txBody>
      </p:sp>
      <p:sp>
        <p:nvSpPr>
          <p:cNvPr id="16" name="Rounded Rectangle 15"/>
          <p:cNvSpPr/>
          <p:nvPr/>
        </p:nvSpPr>
        <p:spPr>
          <a:xfrm>
            <a:off x="5870448" y="2039112"/>
            <a:ext cx="2377440" cy="1243584"/>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998464" y="2240280"/>
            <a:ext cx="2121408" cy="246888"/>
          </a:xfrm>
          <a:prstGeom prst="rect">
            <a:avLst/>
          </a:prstGeom>
          <a:noFill/>
        </p:spPr>
        <p:txBody>
          <a:bodyPr wrap="square" lIns="18288" tIns="18288" rIns="18288" bIns="18288" anchor="t">
            <a:spAutoFit/>
          </a:bodyPr>
          <a:lstStyle/>
          <a:p>
            <a:pPr algn="ctr"/>
            <a:r>
              <a:rPr lang="en-US" sz="1130" b="1">
                <a:solidFill>
                  <a:srgbClr val="FF6C00"/>
                </a:solidFill>
                <a:latin typeface="Arial"/>
              </a:rPr>
              <a:t>3  SELLO RECEIPT</a:t>
            </a:r>
          </a:p>
        </p:txBody>
      </p:sp>
      <p:sp>
        <p:nvSpPr>
          <p:cNvPr id="18" name="TextBox 17"/>
          <p:cNvSpPr txBox="1"/>
          <p:nvPr/>
        </p:nvSpPr>
        <p:spPr>
          <a:xfrm>
            <a:off x="6025896" y="2578608"/>
            <a:ext cx="2066544" cy="521207"/>
          </a:xfrm>
          <a:prstGeom prst="rect">
            <a:avLst/>
          </a:prstGeom>
          <a:noFill/>
        </p:spPr>
        <p:txBody>
          <a:bodyPr wrap="square" lIns="18288" tIns="18288" rIns="18288" bIns="18288" anchor="ctr">
            <a:spAutoFit/>
          </a:bodyPr>
          <a:lstStyle/>
          <a:p>
            <a:pPr algn="ctr"/>
            <a:r>
              <a:rPr lang="en-US" sz="980" b="1">
                <a:solidFill>
                  <a:srgbClr val="434343"/>
                </a:solidFill>
                <a:latin typeface="Arial"/>
              </a:rPr>
              <a:t>HPKE encrypt to owner
COSE_Sign1 with service key</a:t>
            </a:r>
          </a:p>
        </p:txBody>
      </p:sp>
      <p:sp>
        <p:nvSpPr>
          <p:cNvPr id="19" name="Rounded Rectangle 18"/>
          <p:cNvSpPr/>
          <p:nvPr/>
        </p:nvSpPr>
        <p:spPr>
          <a:xfrm>
            <a:off x="8695944" y="2039112"/>
            <a:ext cx="2889504" cy="1243584"/>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823960" y="2240280"/>
            <a:ext cx="2633472" cy="246888"/>
          </a:xfrm>
          <a:prstGeom prst="rect">
            <a:avLst/>
          </a:prstGeom>
          <a:noFill/>
        </p:spPr>
        <p:txBody>
          <a:bodyPr wrap="square" lIns="18288" tIns="18288" rIns="18288" bIns="18288" anchor="t">
            <a:spAutoFit/>
          </a:bodyPr>
          <a:lstStyle/>
          <a:p>
            <a:pPr algn="ctr"/>
            <a:r>
              <a:rPr lang="en-US" sz="1130" b="1">
                <a:solidFill>
                  <a:srgbClr val="7A35B5"/>
                </a:solidFill>
                <a:latin typeface="Arial"/>
              </a:rPr>
              <a:t>4  TRANSPARENCY LOG</a:t>
            </a:r>
          </a:p>
        </p:txBody>
      </p:sp>
      <p:sp>
        <p:nvSpPr>
          <p:cNvPr id="21" name="TextBox 20"/>
          <p:cNvSpPr txBox="1"/>
          <p:nvPr/>
        </p:nvSpPr>
        <p:spPr>
          <a:xfrm>
            <a:off x="8851392" y="2578608"/>
            <a:ext cx="2578608" cy="521207"/>
          </a:xfrm>
          <a:prstGeom prst="rect">
            <a:avLst/>
          </a:prstGeom>
          <a:noFill/>
        </p:spPr>
        <p:txBody>
          <a:bodyPr wrap="square" lIns="18288" tIns="18288" rIns="18288" bIns="18288" anchor="ctr">
            <a:spAutoFit/>
          </a:bodyPr>
          <a:lstStyle/>
          <a:p>
            <a:pPr algn="ctr"/>
            <a:r>
              <a:rPr lang="en-US" sz="980" b="1">
                <a:solidFill>
                  <a:srgbClr val="434343"/>
                </a:solidFill>
                <a:latin typeface="Arial"/>
              </a:rPr>
              <a:t>Append encrypted envelope
Return Merkle inclusion proof</a:t>
            </a:r>
          </a:p>
        </p:txBody>
      </p:sp>
      <p:cxnSp>
        <p:nvCxnSpPr>
          <p:cNvPr id="22" name="Connector 21"/>
          <p:cNvCxnSpPr/>
          <p:nvPr/>
        </p:nvCxnSpPr>
        <p:spPr>
          <a:xfrm>
            <a:off x="2670048" y="2660904"/>
            <a:ext cx="365760" cy="0"/>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440680" y="2660904"/>
            <a:ext cx="374904" cy="0"/>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266175" y="2660904"/>
            <a:ext cx="374905" cy="0"/>
          </a:xfrm>
          <a:prstGeom prst="line">
            <a:avLst/>
          </a:prstGeom>
          <a:ln w="1905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149840" y="3319272"/>
            <a:ext cx="0" cy="256032"/>
          </a:xfrm>
          <a:prstGeom prst="line">
            <a:avLst/>
          </a:prstGeom>
          <a:ln w="1905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088136" y="3621024"/>
            <a:ext cx="9976104" cy="731520"/>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289304" y="3767328"/>
            <a:ext cx="2679192" cy="219456"/>
          </a:xfrm>
          <a:prstGeom prst="rect">
            <a:avLst/>
          </a:prstGeom>
          <a:noFill/>
        </p:spPr>
        <p:txBody>
          <a:bodyPr wrap="square" lIns="18288" tIns="18288" rIns="18288" bIns="18288" anchor="t">
            <a:spAutoFit/>
          </a:bodyPr>
          <a:lstStyle/>
          <a:p>
            <a:pPr algn="l"/>
            <a:r>
              <a:rPr lang="en-US" sz="1080" b="1">
                <a:solidFill>
                  <a:srgbClr val="C40D1E"/>
                </a:solidFill>
                <a:latin typeface="Arial"/>
              </a:rPr>
              <a:t>5  OWNER RECONSTRUCTS THE TRAIL</a:t>
            </a:r>
          </a:p>
        </p:txBody>
      </p:sp>
      <p:sp>
        <p:nvSpPr>
          <p:cNvPr id="28" name="TextBox 27"/>
          <p:cNvSpPr txBox="1"/>
          <p:nvPr/>
        </p:nvSpPr>
        <p:spPr>
          <a:xfrm>
            <a:off x="3877056" y="3749039"/>
            <a:ext cx="6912864" cy="265176"/>
          </a:xfrm>
          <a:prstGeom prst="rect">
            <a:avLst/>
          </a:prstGeom>
          <a:noFill/>
        </p:spPr>
        <p:txBody>
          <a:bodyPr wrap="square" lIns="18288" tIns="18288" rIns="18288" bIns="18288" anchor="ctr">
            <a:spAutoFit/>
          </a:bodyPr>
          <a:lstStyle/>
          <a:p>
            <a:pPr algn="ctr"/>
            <a:r>
              <a:rPr lang="en-US" sz="1120" b="1">
                <a:solidFill>
                  <a:srgbClr val="434343"/>
                </a:solidFill>
                <a:latin typeface="Arial"/>
              </a:rPr>
              <a:t>Query by token_ref  →  verify witnessed log + service signature  →  decrypt locally</a:t>
            </a:r>
          </a:p>
        </p:txBody>
      </p:sp>
      <p:sp>
        <p:nvSpPr>
          <p:cNvPr id="29" name="Rounded Rectangle 28"/>
          <p:cNvSpPr/>
          <p:nvPr/>
        </p:nvSpPr>
        <p:spPr>
          <a:xfrm>
            <a:off x="585216" y="4617720"/>
            <a:ext cx="2587752" cy="5303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13232" y="4754880"/>
            <a:ext cx="393192" cy="182880"/>
          </a:xfrm>
          <a:prstGeom prst="rect">
            <a:avLst/>
          </a:prstGeom>
          <a:noFill/>
        </p:spPr>
        <p:txBody>
          <a:bodyPr wrap="square" lIns="18288" tIns="18288" rIns="18288" bIns="18288" anchor="t">
            <a:spAutoFit/>
          </a:bodyPr>
          <a:lstStyle/>
          <a:p>
            <a:pPr algn="l"/>
            <a:r>
              <a:rPr lang="en-US" sz="980" b="1">
                <a:solidFill>
                  <a:srgbClr val="1F90CC"/>
                </a:solidFill>
                <a:latin typeface="Arial"/>
              </a:rPr>
              <a:t>P1</a:t>
            </a:r>
          </a:p>
        </p:txBody>
      </p:sp>
      <p:sp>
        <p:nvSpPr>
          <p:cNvPr id="31" name="TextBox 30"/>
          <p:cNvSpPr txBox="1"/>
          <p:nvPr/>
        </p:nvSpPr>
        <p:spPr>
          <a:xfrm>
            <a:off x="1088136" y="4736592"/>
            <a:ext cx="1938528" cy="210312"/>
          </a:xfrm>
          <a:prstGeom prst="rect">
            <a:avLst/>
          </a:prstGeom>
          <a:noFill/>
        </p:spPr>
        <p:txBody>
          <a:bodyPr wrap="square" lIns="18288" tIns="18288" rIns="18288" bIns="18288" anchor="t">
            <a:spAutoFit/>
          </a:bodyPr>
          <a:lstStyle/>
          <a:p>
            <a:pPr algn="ctr"/>
            <a:r>
              <a:rPr lang="en-US" sz="1030" b="1">
                <a:solidFill>
                  <a:srgbClr val="434343"/>
                </a:solidFill>
                <a:latin typeface="Arial"/>
              </a:rPr>
              <a:t>Receiver signs</a:t>
            </a:r>
          </a:p>
        </p:txBody>
      </p:sp>
      <p:sp>
        <p:nvSpPr>
          <p:cNvPr id="32" name="Rounded Rectangle 31"/>
          <p:cNvSpPr/>
          <p:nvPr/>
        </p:nvSpPr>
        <p:spPr>
          <a:xfrm>
            <a:off x="3383280" y="4617720"/>
            <a:ext cx="2587752" cy="5303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511296" y="4754880"/>
            <a:ext cx="393192" cy="182880"/>
          </a:xfrm>
          <a:prstGeom prst="rect">
            <a:avLst/>
          </a:prstGeom>
          <a:noFill/>
        </p:spPr>
        <p:txBody>
          <a:bodyPr wrap="square" lIns="18288" tIns="18288" rIns="18288" bIns="18288" anchor="t">
            <a:spAutoFit/>
          </a:bodyPr>
          <a:lstStyle/>
          <a:p>
            <a:pPr algn="l"/>
            <a:r>
              <a:rPr lang="en-US" sz="980" b="1">
                <a:solidFill>
                  <a:srgbClr val="2F8F46"/>
                </a:solidFill>
                <a:latin typeface="Arial"/>
              </a:rPr>
              <a:t>P2</a:t>
            </a:r>
          </a:p>
        </p:txBody>
      </p:sp>
      <p:sp>
        <p:nvSpPr>
          <p:cNvPr id="34" name="TextBox 33"/>
          <p:cNvSpPr txBox="1"/>
          <p:nvPr/>
        </p:nvSpPr>
        <p:spPr>
          <a:xfrm>
            <a:off x="3886200" y="4736592"/>
            <a:ext cx="1938528" cy="210312"/>
          </a:xfrm>
          <a:prstGeom prst="rect">
            <a:avLst/>
          </a:prstGeom>
          <a:noFill/>
        </p:spPr>
        <p:txBody>
          <a:bodyPr wrap="square" lIns="18288" tIns="18288" rIns="18288" bIns="18288" anchor="t">
            <a:spAutoFit/>
          </a:bodyPr>
          <a:lstStyle/>
          <a:p>
            <a:pPr algn="ctr"/>
            <a:r>
              <a:rPr lang="en-US" sz="1030" b="1">
                <a:solidFill>
                  <a:srgbClr val="434343"/>
                </a:solidFill>
                <a:latin typeface="Arial"/>
              </a:rPr>
              <a:t>Owner-encrypted</a:t>
            </a:r>
          </a:p>
        </p:txBody>
      </p:sp>
      <p:sp>
        <p:nvSpPr>
          <p:cNvPr id="35" name="Rounded Rectangle 34"/>
          <p:cNvSpPr/>
          <p:nvPr/>
        </p:nvSpPr>
        <p:spPr>
          <a:xfrm>
            <a:off x="6181344" y="4617720"/>
            <a:ext cx="2587752" cy="5303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09359" y="4754880"/>
            <a:ext cx="393192" cy="182880"/>
          </a:xfrm>
          <a:prstGeom prst="rect">
            <a:avLst/>
          </a:prstGeom>
          <a:noFill/>
        </p:spPr>
        <p:txBody>
          <a:bodyPr wrap="square" lIns="18288" tIns="18288" rIns="18288" bIns="18288" anchor="t">
            <a:spAutoFit/>
          </a:bodyPr>
          <a:lstStyle/>
          <a:p>
            <a:pPr algn="l"/>
            <a:r>
              <a:rPr lang="en-US" sz="980" b="1">
                <a:solidFill>
                  <a:srgbClr val="FF6C00"/>
                </a:solidFill>
                <a:latin typeface="Arial"/>
              </a:rPr>
              <a:t>P3</a:t>
            </a:r>
          </a:p>
        </p:txBody>
      </p:sp>
      <p:sp>
        <p:nvSpPr>
          <p:cNvPr id="37" name="TextBox 36"/>
          <p:cNvSpPr txBox="1"/>
          <p:nvPr/>
        </p:nvSpPr>
        <p:spPr>
          <a:xfrm>
            <a:off x="6684264" y="4736592"/>
            <a:ext cx="1938528" cy="210312"/>
          </a:xfrm>
          <a:prstGeom prst="rect">
            <a:avLst/>
          </a:prstGeom>
          <a:noFill/>
        </p:spPr>
        <p:txBody>
          <a:bodyPr wrap="square" lIns="18288" tIns="18288" rIns="18288" bIns="18288" anchor="t">
            <a:spAutoFit/>
          </a:bodyPr>
          <a:lstStyle/>
          <a:p>
            <a:pPr algn="ctr"/>
            <a:r>
              <a:rPr lang="en-US" sz="1030" b="1">
                <a:solidFill>
                  <a:srgbClr val="434343"/>
                </a:solidFill>
                <a:latin typeface="Arial"/>
              </a:rPr>
              <a:t>Witness-cosigned log</a:t>
            </a:r>
          </a:p>
        </p:txBody>
      </p:sp>
      <p:sp>
        <p:nvSpPr>
          <p:cNvPr id="38" name="Rounded Rectangle 37"/>
          <p:cNvSpPr/>
          <p:nvPr/>
        </p:nvSpPr>
        <p:spPr>
          <a:xfrm>
            <a:off x="8979408" y="4617720"/>
            <a:ext cx="2587752" cy="5303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07424" y="4754880"/>
            <a:ext cx="393192" cy="182880"/>
          </a:xfrm>
          <a:prstGeom prst="rect">
            <a:avLst/>
          </a:prstGeom>
          <a:noFill/>
        </p:spPr>
        <p:txBody>
          <a:bodyPr wrap="square" lIns="18288" tIns="18288" rIns="18288" bIns="18288" anchor="t">
            <a:spAutoFit/>
          </a:bodyPr>
          <a:lstStyle/>
          <a:p>
            <a:pPr algn="l"/>
            <a:r>
              <a:rPr lang="en-US" sz="980" b="1">
                <a:solidFill>
                  <a:srgbClr val="7A35B5"/>
                </a:solidFill>
                <a:latin typeface="Arial"/>
              </a:rPr>
              <a:t>P4</a:t>
            </a:r>
          </a:p>
        </p:txBody>
      </p:sp>
      <p:sp>
        <p:nvSpPr>
          <p:cNvPr id="40" name="TextBox 39"/>
          <p:cNvSpPr txBox="1"/>
          <p:nvPr/>
        </p:nvSpPr>
        <p:spPr>
          <a:xfrm>
            <a:off x="9482328" y="4736592"/>
            <a:ext cx="1938528" cy="210312"/>
          </a:xfrm>
          <a:prstGeom prst="rect">
            <a:avLst/>
          </a:prstGeom>
          <a:noFill/>
        </p:spPr>
        <p:txBody>
          <a:bodyPr wrap="square" lIns="18288" tIns="18288" rIns="18288" bIns="18288" anchor="t">
            <a:spAutoFit/>
          </a:bodyPr>
          <a:lstStyle/>
          <a:p>
            <a:pPr algn="ctr"/>
            <a:r>
              <a:rPr lang="en-US" sz="1030" b="1">
                <a:solidFill>
                  <a:srgbClr val="434343"/>
                </a:solidFill>
                <a:latin typeface="Arial"/>
              </a:rPr>
              <a:t>Owner discovery</a:t>
            </a:r>
          </a:p>
        </p:txBody>
      </p:sp>
      <p:sp>
        <p:nvSpPr>
          <p:cNvPr id="41" name="TextBox 40"/>
          <p:cNvSpPr txBox="1"/>
          <p:nvPr/>
        </p:nvSpPr>
        <p:spPr>
          <a:xfrm>
            <a:off x="731520" y="5330952"/>
            <a:ext cx="10716768" cy="201168"/>
          </a:xfrm>
          <a:prstGeom prst="rect">
            <a:avLst/>
          </a:prstGeom>
          <a:noFill/>
        </p:spPr>
        <p:txBody>
          <a:bodyPr wrap="square" lIns="18288" tIns="18288" rIns="18288" bIns="18288" anchor="ctr">
            <a:spAutoFit/>
          </a:bodyPr>
          <a:lstStyle/>
          <a:p>
            <a:pPr algn="ctr"/>
            <a:r>
              <a:rPr lang="en-US" sz="919" b="1">
                <a:solidFill>
                  <a:srgbClr val="FF6C00"/>
                </a:solidFill>
                <a:latin typeface="Arial"/>
              </a:rPr>
              <a:t>BOUNDARY   </a:t>
            </a:r>
            <a:r>
              <a:rPr lang="en-US" sz="980" b="1">
                <a:solidFill>
                  <a:srgbClr val="434343"/>
                </a:solidFill>
                <a:latin typeface="Arial"/>
              </a:rPr>
              <a:t>No receipt can prove an unmade call; service collusion remains outside the guarantee.</a:t>
            </a:r>
          </a:p>
        </p:txBody>
      </p:sp>
      <p:sp>
        <p:nvSpPr>
          <p:cNvPr id="42" name="TextBox 41"/>
          <p:cNvSpPr txBox="1"/>
          <p:nvPr/>
        </p:nvSpPr>
        <p:spPr>
          <a:xfrm>
            <a:off x="731520" y="5532120"/>
            <a:ext cx="10716768" cy="164592"/>
          </a:xfrm>
          <a:prstGeom prst="rect">
            <a:avLst/>
          </a:prstGeom>
          <a:noFill/>
        </p:spPr>
        <p:txBody>
          <a:bodyPr wrap="square" lIns="18288" tIns="18288" rIns="18288" bIns="18288" anchor="t">
            <a:spAutoFit/>
          </a:bodyPr>
          <a:lstStyle/>
          <a:p>
            <a:pPr algn="ctr"/>
            <a:r>
              <a:rPr lang="en-US" sz="840" b="0">
                <a:solidFill>
                  <a:srgbClr val="434343"/>
                </a:solidFill>
                <a:latin typeface="Arial"/>
              </a:rPr>
              <a:t>Source: J. Figuera, Notarized Agents, arXiv:2606.04193 (2026).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9204" y="1499616"/>
            <a:ext cx="1856231" cy="201168"/>
          </a:xfrm>
          <a:prstGeom prst="rect">
            <a:avLst/>
          </a:prstGeom>
          <a:noFill/>
        </p:spPr>
        <p:txBody>
          <a:bodyPr wrap="square" lIns="18288" tIns="18288" rIns="18288" bIns="18288" anchor="t">
            <a:spAutoFit/>
          </a:bodyPr>
          <a:lstStyle/>
          <a:p>
            <a:pPr algn="ctr"/>
            <a:r>
              <a:rPr lang="en-US" sz="1150" b="1">
                <a:solidFill>
                  <a:srgbClr val="1F90CC"/>
                </a:solidFill>
                <a:latin typeface="Arial"/>
              </a:rPr>
              <a:t>AGENT SERVICE</a:t>
            </a:r>
          </a:p>
        </p:txBody>
      </p:sp>
      <p:cxnSp>
        <p:nvCxnSpPr>
          <p:cNvPr id="10" name="Connector 9"/>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86883" y="1499616"/>
            <a:ext cx="1856231" cy="201168"/>
          </a:xfrm>
          <a:prstGeom prst="rect">
            <a:avLst/>
          </a:prstGeom>
          <a:noFill/>
        </p:spPr>
        <p:txBody>
          <a:bodyPr wrap="square" lIns="18288" tIns="18288" rIns="18288" bIns="18288" anchor="t">
            <a:spAutoFit/>
          </a:bodyPr>
          <a:lstStyle/>
          <a:p>
            <a:pPr algn="ctr"/>
            <a:r>
              <a:rPr lang="en-US" sz="1150" b="1">
                <a:solidFill>
                  <a:srgbClr val="2F8F46"/>
                </a:solidFill>
                <a:latin typeface="Arial"/>
              </a:rPr>
              <a:t>INFERENCE TEE</a:t>
            </a:r>
          </a:p>
        </p:txBody>
      </p:sp>
      <p:cxnSp>
        <p:nvCxnSpPr>
          <p:cNvPr id="13" name="Connector 12"/>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83396" y="1499616"/>
            <a:ext cx="1947672" cy="201168"/>
          </a:xfrm>
          <a:prstGeom prst="rect">
            <a:avLst/>
          </a:prstGeom>
          <a:noFill/>
        </p:spPr>
        <p:txBody>
          <a:bodyPr wrap="square" lIns="18288" tIns="18288" rIns="18288" bIns="18288" anchor="t">
            <a:spAutoFit/>
          </a:bodyPr>
          <a:lstStyle/>
          <a:p>
            <a:pPr algn="ctr"/>
            <a:r>
              <a:rPr lang="en-US" sz="1150" b="1">
                <a:solidFill>
                  <a:srgbClr val="7A35B5"/>
                </a:solidFill>
                <a:latin typeface="Arial"/>
              </a:rPr>
              <a:t>TRANSPARENCY LOG</a:t>
            </a:r>
          </a:p>
        </p:txBody>
      </p:sp>
      <p:cxnSp>
        <p:nvCxnSpPr>
          <p:cNvPr id="16" name="Connector 15"/>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627632" y="1828800"/>
            <a:ext cx="2057400" cy="219456"/>
          </a:xfrm>
          <a:prstGeom prst="rect">
            <a:avLst/>
          </a:prstGeom>
          <a:noFill/>
        </p:spPr>
        <p:txBody>
          <a:bodyPr wrap="square" lIns="18288" tIns="18288" rIns="18288" bIns="18288" anchor="t">
            <a:spAutoFit/>
          </a:bodyPr>
          <a:lstStyle/>
          <a:p>
            <a:pPr algn="l"/>
            <a:r>
              <a:rPr lang="en-US" sz="1120" b="1">
                <a:solidFill>
                  <a:srgbClr val="1F90CC"/>
                </a:solidFill>
                <a:latin typeface="Arial"/>
              </a:rPr>
              <a:t>1  TEE BUNDLE FETCH</a:t>
            </a:r>
          </a:p>
        </p:txBody>
      </p:sp>
      <p:sp>
        <p:nvSpPr>
          <p:cNvPr id="19" name="TextBox 18"/>
          <p:cNvSpPr txBox="1"/>
          <p:nvPr/>
        </p:nvSpPr>
        <p:spPr>
          <a:xfrm>
            <a:off x="3730752" y="1828800"/>
            <a:ext cx="1737360" cy="256032"/>
          </a:xfrm>
          <a:prstGeom prst="rect">
            <a:avLst/>
          </a:prstGeom>
          <a:noFill/>
        </p:spPr>
        <p:txBody>
          <a:bodyPr wrap="square" lIns="18288" tIns="18288" rIns="18288" bIns="18288" anchor="t">
            <a:spAutoFit/>
          </a:bodyPr>
          <a:lstStyle/>
          <a:p>
            <a:pPr algn="r"/>
            <a:r>
              <a:rPr lang="en-US" sz="940" b="1">
                <a:solidFill>
                  <a:srgbClr val="434343"/>
                </a:solidFill>
                <a:latin typeface="Arial"/>
              </a:rPr>
              <a:t>Resolve and verify the current model bundle</a:t>
            </a:r>
          </a:p>
        </p:txBody>
      </p:sp>
      <p:cxnSp>
        <p:nvCxnSpPr>
          <p:cNvPr id="20" name="Connector 19"/>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55664" y="2185416"/>
            <a:ext cx="2724912" cy="182880"/>
          </a:xfrm>
          <a:prstGeom prst="rect">
            <a:avLst/>
          </a:prstGeom>
          <a:noFill/>
        </p:spPr>
        <p:txBody>
          <a:bodyPr wrap="square" lIns="18288" tIns="18288" rIns="18288" bIns="18288" anchor="t">
            <a:spAutoFit/>
          </a:bodyPr>
          <a:lstStyle/>
          <a:p>
            <a:pPr algn="ctr"/>
            <a:r>
              <a:rPr lang="en-US" sz="950" b="1">
                <a:solidFill>
                  <a:srgbClr val="7A35B5"/>
                </a:solidFill>
                <a:latin typeface="Arial"/>
              </a:rPr>
              <a:t>Publish receiver receipt before output</a:t>
            </a:r>
          </a:p>
        </p:txBody>
      </p:sp>
      <p:cxnSp>
        <p:nvCxnSpPr>
          <p:cNvPr id="22" name="Connector 21"/>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2560320"/>
            <a:ext cx="2057400" cy="219456"/>
          </a:xfrm>
          <a:prstGeom prst="rect">
            <a:avLst/>
          </a:prstGeom>
          <a:noFill/>
        </p:spPr>
        <p:txBody>
          <a:bodyPr wrap="square" lIns="18288" tIns="18288" rIns="18288" bIns="18288" anchor="t">
            <a:spAutoFit/>
          </a:bodyPr>
          <a:lstStyle/>
          <a:p>
            <a:pPr algn="l"/>
            <a:r>
              <a:rPr lang="en-US" sz="1120" b="1">
                <a:solidFill>
                  <a:srgbClr val="2F8F46"/>
                </a:solidFill>
                <a:latin typeface="Arial"/>
              </a:rPr>
              <a:t>2  TEE IMAGE PICK</a:t>
            </a:r>
          </a:p>
        </p:txBody>
      </p:sp>
      <p:sp>
        <p:nvSpPr>
          <p:cNvPr id="24" name="TextBox 23"/>
          <p:cNvSpPr txBox="1"/>
          <p:nvPr/>
        </p:nvSpPr>
        <p:spPr>
          <a:xfrm>
            <a:off x="3730752" y="2560320"/>
            <a:ext cx="1737360" cy="256032"/>
          </a:xfrm>
          <a:prstGeom prst="rect">
            <a:avLst/>
          </a:prstGeom>
          <a:noFill/>
        </p:spPr>
        <p:txBody>
          <a:bodyPr wrap="square" lIns="18288" tIns="18288" rIns="18288" bIns="18288" anchor="t">
            <a:spAutoFit/>
          </a:bodyPr>
          <a:lstStyle/>
          <a:p>
            <a:pPr algn="r"/>
            <a:r>
              <a:rPr lang="en-US" sz="940" b="1">
                <a:solidFill>
                  <a:srgbClr val="434343"/>
                </a:solidFill>
                <a:latin typeface="Arial"/>
              </a:rPr>
              <a:t>Create receiver-owned image state</a:t>
            </a:r>
          </a:p>
        </p:txBody>
      </p:sp>
      <p:cxnSp>
        <p:nvCxnSpPr>
          <p:cNvPr id="25" name="Connector 24"/>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916936"/>
            <a:ext cx="2724912" cy="182880"/>
          </a:xfrm>
          <a:prstGeom prst="rect">
            <a:avLst/>
          </a:prstGeom>
          <a:noFill/>
        </p:spPr>
        <p:txBody>
          <a:bodyPr wrap="square" lIns="18288" tIns="18288" rIns="18288" bIns="18288" anchor="t">
            <a:spAutoFit/>
          </a:bodyPr>
          <a:lstStyle/>
          <a:p>
            <a:pPr algn="ctr"/>
            <a:r>
              <a:rPr lang="en-US" sz="950" b="1">
                <a:solidFill>
                  <a:srgbClr val="7A35B5"/>
                </a:solidFill>
                <a:latin typeface="Arial"/>
              </a:rPr>
              <a:t>Publish receiver receipt before output</a:t>
            </a:r>
          </a:p>
        </p:txBody>
      </p:sp>
      <p:cxnSp>
        <p:nvCxnSpPr>
          <p:cNvPr id="27" name="Connector 26"/>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3291840"/>
            <a:ext cx="2057400" cy="219456"/>
          </a:xfrm>
          <a:prstGeom prst="rect">
            <a:avLst/>
          </a:prstGeom>
          <a:noFill/>
        </p:spPr>
        <p:txBody>
          <a:bodyPr wrap="square" lIns="18288" tIns="18288" rIns="18288" bIns="18288" anchor="t">
            <a:spAutoFit/>
          </a:bodyPr>
          <a:lstStyle/>
          <a:p>
            <a:pPr algn="l"/>
            <a:r>
              <a:rPr lang="en-US" sz="1120" b="1">
                <a:solidFill>
                  <a:srgbClr val="FF6C00"/>
                </a:solidFill>
                <a:latin typeface="Arial"/>
              </a:rPr>
              <a:t>3  TEE INFERENCE</a:t>
            </a:r>
          </a:p>
        </p:txBody>
      </p:sp>
      <p:sp>
        <p:nvSpPr>
          <p:cNvPr id="29" name="TextBox 28"/>
          <p:cNvSpPr txBox="1"/>
          <p:nvPr/>
        </p:nvSpPr>
        <p:spPr>
          <a:xfrm>
            <a:off x="3730752" y="3291840"/>
            <a:ext cx="1737360" cy="256032"/>
          </a:xfrm>
          <a:prstGeom prst="rect">
            <a:avLst/>
          </a:prstGeom>
          <a:noFill/>
        </p:spPr>
        <p:txBody>
          <a:bodyPr wrap="square" lIns="18288" tIns="18288" rIns="18288" bIns="18288" anchor="t">
            <a:spAutoFit/>
          </a:bodyPr>
          <a:lstStyle/>
          <a:p>
            <a:pPr algn="r"/>
            <a:r>
              <a:rPr lang="en-US" sz="940" b="1">
                <a:solidFill>
                  <a:srgbClr val="434343"/>
                </a:solidFill>
                <a:latin typeface="Arial"/>
              </a:rPr>
              <a:t>Run native inference and emit AIR/TDX evidence</a:t>
            </a:r>
          </a:p>
        </p:txBody>
      </p:sp>
      <p:cxnSp>
        <p:nvCxnSpPr>
          <p:cNvPr id="30" name="Connector 29"/>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3648456"/>
            <a:ext cx="2724912" cy="182880"/>
          </a:xfrm>
          <a:prstGeom prst="rect">
            <a:avLst/>
          </a:prstGeom>
          <a:noFill/>
        </p:spPr>
        <p:txBody>
          <a:bodyPr wrap="square" lIns="18288" tIns="18288" rIns="18288" bIns="18288" anchor="t">
            <a:spAutoFit/>
          </a:bodyPr>
          <a:lstStyle/>
          <a:p>
            <a:pPr algn="ctr"/>
            <a:r>
              <a:rPr lang="en-US" sz="950" b="1">
                <a:solidFill>
                  <a:srgbClr val="7A35B5"/>
                </a:solidFill>
                <a:latin typeface="Arial"/>
              </a:rPr>
              <a:t>Publish receiver receipt before output</a:t>
            </a:r>
          </a:p>
        </p:txBody>
      </p:sp>
      <p:cxnSp>
        <p:nvCxnSpPr>
          <p:cNvPr id="32" name="Connector 31"/>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88920" y="3886200"/>
            <a:ext cx="5705856" cy="347472"/>
          </a:xfrm>
          <a:prstGeom prst="rect">
            <a:avLst/>
          </a:prstGeom>
          <a:noFill/>
        </p:spPr>
        <p:txBody>
          <a:bodyPr wrap="square" lIns="18288" tIns="18288" rIns="18288" bIns="18288" anchor="t">
            <a:spAutoFit/>
          </a:bodyPr>
          <a:lstStyle/>
          <a:p>
            <a:pPr algn="ctr"/>
            <a:r>
              <a:rPr lang="en-US" sz="1080" b="1">
                <a:solidFill>
                  <a:srgbClr val="C40D1E"/>
                </a:solidFill>
                <a:latin typeface="Arial"/>
              </a:rPr>
              <a:t>The agent service validates and publishes the complete inference bundle</a:t>
            </a:r>
          </a:p>
        </p:txBody>
      </p:sp>
      <p:sp>
        <p:nvSpPr>
          <p:cNvPr id="34" name="Rectangle 33"/>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87552" y="4965192"/>
            <a:ext cx="10168128" cy="246888"/>
          </a:xfrm>
          <a:prstGeom prst="rect">
            <a:avLst/>
          </a:prstGeom>
          <a:noFill/>
        </p:spPr>
        <p:txBody>
          <a:bodyPr wrap="square" lIns="18288" tIns="18288" rIns="18288" bIns="18288" anchor="ctr">
            <a:spAutoFit/>
          </a:bodyPr>
          <a:lstStyle/>
          <a:p>
            <a:pPr algn="ctr"/>
            <a:r>
              <a:rPr lang="en-US" sz="1500" b="1">
                <a:solidFill>
                  <a:srgbClr val="7A35B5"/>
                </a:solidFill>
                <a:latin typeface="Arial"/>
              </a:rPr>
              <a:t>3 × receiver-signed tool receipts</a:t>
            </a:r>
            <a:r>
              <a:rPr lang="en-US" sz="1600" b="0">
                <a:solidFill>
                  <a:srgbClr val="434343"/>
                </a:solidFill>
                <a:latin typeface="Arial"/>
              </a:rPr>
              <a:t>   +   </a:t>
            </a:r>
            <a:r>
              <a:rPr lang="en-US" sz="1500" b="1">
                <a:solidFill>
                  <a:srgbClr val="1F90CC"/>
                </a:solidFill>
                <a:latin typeface="Arial"/>
              </a:rPr>
              <a:t>1 × complete inference bundle</a:t>
            </a:r>
            <a:r>
              <a:rPr lang="en-US" sz="1500" b="1">
                <a:solidFill>
                  <a:srgbClr val="2F8F46"/>
                </a:solidFill>
                <a:latin typeface="Arial"/>
              </a:rPr>
              <a:t>   = 4 log records</a:t>
            </a:r>
          </a:p>
        </p:txBody>
      </p:sp>
      <p:sp>
        <p:nvSpPr>
          <p:cNvPr id="36" name="TextBox 35"/>
          <p:cNvSpPr txBox="1"/>
          <p:nvPr/>
        </p:nvSpPr>
        <p:spPr>
          <a:xfrm>
            <a:off x="1078992" y="5449824"/>
            <a:ext cx="10030968" cy="210312"/>
          </a:xfrm>
          <a:prstGeom prst="rect">
            <a:avLst/>
          </a:prstGeom>
          <a:noFill/>
        </p:spPr>
        <p:txBody>
          <a:bodyPr wrap="square" lIns="18288" tIns="18288" rIns="18288" bIns="18288" anchor="t">
            <a:spAutoFit/>
          </a:bodyPr>
          <a:lstStyle/>
          <a:p>
            <a:pPr algn="ctr"/>
            <a:r>
              <a:rPr lang="en-US" sz="1100" b="1">
                <a:solidFill>
                  <a:srgbClr val="434343"/>
                </a:solidFill>
                <a:latin typeface="Arial"/>
              </a:rPr>
              <a:t>The log establishes accepted inclusion and ordering—not the semantic truth of the evidence.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384048" y="1371600"/>
            <a:ext cx="2157984" cy="3840480"/>
          </a:xfrm>
          <a:prstGeom prst="roundRect">
            <a:avLst/>
          </a:prstGeom>
          <a:solidFill>
            <a:srgbClr val="EAF6ED"/>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12064" y="1572768"/>
            <a:ext cx="1901952" cy="384048"/>
          </a:xfrm>
          <a:prstGeom prst="rect">
            <a:avLst/>
          </a:prstGeom>
          <a:noFill/>
        </p:spPr>
        <p:txBody>
          <a:bodyPr wrap="square" lIns="18288" tIns="18288" rIns="18288" bIns="18288" anchor="ctr">
            <a:spAutoFit/>
          </a:bodyPr>
          <a:lstStyle/>
          <a:p>
            <a:pPr algn="ctr"/>
            <a:r>
              <a:rPr lang="en-US" sz="1100" b="1">
                <a:solidFill>
                  <a:srgbClr val="2F8F46"/>
                </a:solidFill>
                <a:latin typeface="Arial"/>
              </a:rPr>
              <a:t>01  MEDICAL INPUT</a:t>
            </a:r>
          </a:p>
        </p:txBody>
      </p:sp>
      <p:sp>
        <p:nvSpPr>
          <p:cNvPr id="10" name="Rectangle 9"/>
          <p:cNvSpPr/>
          <p:nvPr/>
        </p:nvSpPr>
        <p:spPr>
          <a:xfrm>
            <a:off x="548640" y="2057400"/>
            <a:ext cx="1828800" cy="10972"/>
          </a:xfrm>
          <a:prstGeom prst="rect">
            <a:avLst/>
          </a:prstGeom>
          <a:solidFill>
            <a:srgbClr val="2F8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2221992"/>
            <a:ext cx="1792224" cy="2679192"/>
          </a:xfrm>
          <a:prstGeom prst="rect">
            <a:avLst/>
          </a:prstGeom>
          <a:noFill/>
        </p:spPr>
        <p:txBody>
          <a:bodyPr wrap="square" lIns="18288" tIns="18288" rIns="18288" bIns="18288" anchor="t">
            <a:spAutoFit/>
          </a:bodyPr>
          <a:lstStyle/>
          <a:p>
            <a:pPr algn="l"/>
            <a:r>
              <a:rPr lang="en-US" sz="919" b="1">
                <a:solidFill>
                  <a:srgbClr val="2F8F46"/>
                </a:solidFill>
                <a:latin typeface="Arial"/>
              </a:rPr>
              <a:t>SIGN
</a:t>
            </a:r>
            <a:r>
              <a:rPr lang="en-US" sz="880" b="0">
                <a:solidFill>
                  <a:srgbClr val="434343"/>
                </a:solidFill>
                <a:latin typeface="Arial"/>
              </a:rPr>
              <a:t>Device: RSA-2048 + SHA-256
Radiologist: separate RSA signature
</a:t>
            </a:r>
            <a:r>
              <a:rPr lang="en-US" sz="919" b="1">
                <a:solidFill>
                  <a:srgbClr val="2F8F46"/>
                </a:solidFill>
                <a:latin typeface="Arial"/>
              </a:rPr>
              <a:t>VERIFY
</a:t>
            </a:r>
            <a:r>
              <a:rPr lang="en-US" sz="880" b="0">
                <a:solidFill>
                  <a:srgbClr val="434343"/>
                </a:solidFill>
                <a:latin typeface="Arial"/>
              </a:rPr>
              <a:t>Current on-chain role, key, and certificate snapshot</a:t>
            </a:r>
          </a:p>
        </p:txBody>
      </p:sp>
      <p:cxnSp>
        <p:nvCxnSpPr>
          <p:cNvPr id="12" name="Connector 11"/>
          <p:cNvCxnSpPr/>
          <p:nvPr/>
        </p:nvCxnSpPr>
        <p:spPr>
          <a:xfrm>
            <a:off x="2560320" y="3291840"/>
            <a:ext cx="118871" cy="0"/>
          </a:xfrm>
          <a:prstGeom prst="line">
            <a:avLst/>
          </a:prstGeom>
          <a:ln w="1397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15768" y="1371600"/>
            <a:ext cx="2157984" cy="3840480"/>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843784" y="1572768"/>
            <a:ext cx="1901952" cy="384048"/>
          </a:xfrm>
          <a:prstGeom prst="rect">
            <a:avLst/>
          </a:prstGeom>
          <a:noFill/>
        </p:spPr>
        <p:txBody>
          <a:bodyPr wrap="square" lIns="18288" tIns="18288" rIns="18288" bIns="18288" anchor="ctr">
            <a:spAutoFit/>
          </a:bodyPr>
          <a:lstStyle/>
          <a:p>
            <a:pPr algn="ctr"/>
            <a:r>
              <a:rPr lang="en-US" sz="1100" b="1">
                <a:solidFill>
                  <a:srgbClr val="1F90CC"/>
                </a:solidFill>
                <a:latin typeface="Arial"/>
              </a:rPr>
              <a:t>02  PARTICIPANT TEE</a:t>
            </a:r>
          </a:p>
        </p:txBody>
      </p:sp>
      <p:sp>
        <p:nvSpPr>
          <p:cNvPr id="15" name="Rectangle 14"/>
          <p:cNvSpPr/>
          <p:nvPr/>
        </p:nvSpPr>
        <p:spPr>
          <a:xfrm>
            <a:off x="2880360" y="2057400"/>
            <a:ext cx="1828800" cy="10972"/>
          </a:xfrm>
          <a:prstGeom prst="rect">
            <a:avLst/>
          </a:prstGeom>
          <a:solidFill>
            <a:srgbClr val="1F9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98648" y="2221992"/>
            <a:ext cx="1792224" cy="2679192"/>
          </a:xfrm>
          <a:prstGeom prst="rect">
            <a:avLst/>
          </a:prstGeom>
          <a:noFill/>
        </p:spPr>
        <p:txBody>
          <a:bodyPr wrap="square" lIns="18288" tIns="18288" rIns="18288" bIns="18288" anchor="t">
            <a:spAutoFit/>
          </a:bodyPr>
          <a:lstStyle/>
          <a:p>
            <a:pPr algn="l"/>
            <a:r>
              <a:rPr lang="en-US" sz="919" b="1">
                <a:solidFill>
                  <a:srgbClr val="1F90CC"/>
                </a:solidFill>
                <a:latin typeface="Arial"/>
              </a:rPr>
              <a:t>SIGN
</a:t>
            </a:r>
            <a:r>
              <a:rPr lang="en-US" sz="880" b="0">
                <a:solidFill>
                  <a:srgbClr val="434343"/>
                </a:solidFill>
                <a:latin typeface="Arial"/>
              </a:rPr>
              <a:t>dstack-bound secp256k1 action key
</a:t>
            </a:r>
            <a:r>
              <a:rPr lang="en-US" sz="919" b="1">
                <a:solidFill>
                  <a:srgbClr val="1F90CC"/>
                </a:solidFill>
                <a:latin typeface="Arial"/>
              </a:rPr>
              <a:t>KEY CUSTODY
</a:t>
            </a:r>
            <a:r>
              <a:rPr lang="en-US" sz="880" b="0">
                <a:solidFill>
                  <a:srgbClr val="434343"/>
                </a:solidFill>
                <a:latin typeface="Arial"/>
              </a:rPr>
              <a:t>RSA-3072 key sealed with dstack-derived AES-256-GCM
</a:t>
            </a:r>
            <a:r>
              <a:rPr lang="en-US" sz="919" b="1">
                <a:solidFill>
                  <a:srgbClr val="1F90CC"/>
                </a:solidFill>
                <a:latin typeface="Arial"/>
              </a:rPr>
              <a:t>BIND
</a:t>
            </a:r>
            <a:r>
              <a:rPr lang="en-US" sz="880" b="0">
                <a:solidFill>
                  <a:srgbClr val="434343"/>
                </a:solidFill>
                <a:latin typeface="Arial"/>
              </a:rPr>
              <a:t>REPORTDATA + RTMR3</a:t>
            </a:r>
          </a:p>
        </p:txBody>
      </p:sp>
      <p:cxnSp>
        <p:nvCxnSpPr>
          <p:cNvPr id="17" name="Connector 16"/>
          <p:cNvCxnSpPr/>
          <p:nvPr/>
        </p:nvCxnSpPr>
        <p:spPr>
          <a:xfrm>
            <a:off x="4892040" y="3291840"/>
            <a:ext cx="118872" cy="0"/>
          </a:xfrm>
          <a:prstGeom prst="line">
            <a:avLst/>
          </a:prstGeom>
          <a:ln w="1397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47488" y="1371600"/>
            <a:ext cx="2157984" cy="3840480"/>
          </a:xfrm>
          <a:prstGeom prst="roundRect">
            <a:avLst/>
          </a:prstGeom>
          <a:solidFill>
            <a:srgbClr val="FFF1E7"/>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75503" y="1572768"/>
            <a:ext cx="1901952" cy="384048"/>
          </a:xfrm>
          <a:prstGeom prst="rect">
            <a:avLst/>
          </a:prstGeom>
          <a:noFill/>
        </p:spPr>
        <p:txBody>
          <a:bodyPr wrap="square" lIns="18288" tIns="18288" rIns="18288" bIns="18288" anchor="ctr">
            <a:spAutoFit/>
          </a:bodyPr>
          <a:lstStyle/>
          <a:p>
            <a:pPr algn="ctr"/>
            <a:r>
              <a:rPr lang="en-US" sz="1100" b="1">
                <a:solidFill>
                  <a:srgbClr val="FF6C00"/>
                </a:solidFill>
                <a:latin typeface="Arial"/>
              </a:rPr>
              <a:t>03  WORKER UPDATE</a:t>
            </a:r>
          </a:p>
        </p:txBody>
      </p:sp>
      <p:sp>
        <p:nvSpPr>
          <p:cNvPr id="20" name="Rectangle 19"/>
          <p:cNvSpPr/>
          <p:nvPr/>
        </p:nvSpPr>
        <p:spPr>
          <a:xfrm>
            <a:off x="5212079" y="2057400"/>
            <a:ext cx="1828800" cy="10972"/>
          </a:xfrm>
          <a:prstGeom prst="rect">
            <a:avLst/>
          </a:prstGeom>
          <a:solidFill>
            <a:srgbClr val="F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230368" y="2221992"/>
            <a:ext cx="1792224" cy="2679192"/>
          </a:xfrm>
          <a:prstGeom prst="rect">
            <a:avLst/>
          </a:prstGeom>
          <a:noFill/>
        </p:spPr>
        <p:txBody>
          <a:bodyPr wrap="square" lIns="18288" tIns="18288" rIns="18288" bIns="18288" anchor="t">
            <a:spAutoFit/>
          </a:bodyPr>
          <a:lstStyle/>
          <a:p>
            <a:pPr algn="l"/>
            <a:r>
              <a:rPr lang="en-US" sz="919" b="1">
                <a:solidFill>
                  <a:srgbClr val="FF6C00"/>
                </a:solidFill>
                <a:latin typeface="Arial"/>
              </a:rPr>
              <a:t>ENCRYPT
</a:t>
            </a:r>
            <a:r>
              <a:rPr lang="en-US" sz="880" b="0">
                <a:solidFill>
                  <a:srgbClr val="434343"/>
                </a:solidFill>
                <a:latin typeface="Arial"/>
              </a:rPr>
              <a:t>AES-256-CBC update; RSA-OAEP-SHA-256 key wrap
</a:t>
            </a:r>
            <a:r>
              <a:rPr lang="en-US" sz="919" b="1">
                <a:solidFill>
                  <a:srgbClr val="FF6C00"/>
                </a:solidFill>
                <a:latin typeface="Arial"/>
              </a:rPr>
              <a:t>SIGN + BIND
</a:t>
            </a:r>
            <a:r>
              <a:rPr lang="en-US" sz="880" b="0">
                <a:solidFill>
                  <a:srgbClr val="434343"/>
                </a:solidFill>
                <a:latin typeface="Arial"/>
              </a:rPr>
              <a:t>Worker RSA-SHA-256 package signature + EIP-712 commitment</a:t>
            </a:r>
          </a:p>
        </p:txBody>
      </p:sp>
      <p:cxnSp>
        <p:nvCxnSpPr>
          <p:cNvPr id="22" name="Connector 21"/>
          <p:cNvCxnSpPr/>
          <p:nvPr/>
        </p:nvCxnSpPr>
        <p:spPr>
          <a:xfrm>
            <a:off x="7223759" y="3291840"/>
            <a:ext cx="118872" cy="0"/>
          </a:xfrm>
          <a:prstGeom prst="line">
            <a:avLst/>
          </a:prstGeom>
          <a:ln w="1397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379208" y="1371600"/>
            <a:ext cx="2157984" cy="3840480"/>
          </a:xfrm>
          <a:prstGeom prst="roundRect">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507224" y="1572768"/>
            <a:ext cx="1901952" cy="384048"/>
          </a:xfrm>
          <a:prstGeom prst="rect">
            <a:avLst/>
          </a:prstGeom>
          <a:noFill/>
        </p:spPr>
        <p:txBody>
          <a:bodyPr wrap="square" lIns="18288" tIns="18288" rIns="18288" bIns="18288" anchor="ctr">
            <a:spAutoFit/>
          </a:bodyPr>
          <a:lstStyle/>
          <a:p>
            <a:pPr algn="ctr"/>
            <a:r>
              <a:rPr lang="en-US" sz="1100" b="1">
                <a:solidFill>
                  <a:srgbClr val="7A35B5"/>
                </a:solidFill>
                <a:latin typeface="Arial"/>
              </a:rPr>
              <a:t>04  GLOBAL MODEL</a:t>
            </a:r>
          </a:p>
        </p:txBody>
      </p:sp>
      <p:sp>
        <p:nvSpPr>
          <p:cNvPr id="25" name="Rectangle 24"/>
          <p:cNvSpPr/>
          <p:nvPr/>
        </p:nvSpPr>
        <p:spPr>
          <a:xfrm>
            <a:off x="7543800" y="2057400"/>
            <a:ext cx="1828800" cy="10972"/>
          </a:xfrm>
          <a:prstGeom prst="rect">
            <a:avLst/>
          </a:prstGeom>
          <a:solidFill>
            <a:srgbClr val="7A3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562088" y="2221992"/>
            <a:ext cx="1792224" cy="2679192"/>
          </a:xfrm>
          <a:prstGeom prst="rect">
            <a:avLst/>
          </a:prstGeom>
          <a:noFill/>
        </p:spPr>
        <p:txBody>
          <a:bodyPr wrap="square" lIns="18288" tIns="18288" rIns="18288" bIns="18288" anchor="t">
            <a:spAutoFit/>
          </a:bodyPr>
          <a:lstStyle/>
          <a:p>
            <a:pPr algn="l"/>
            <a:r>
              <a:rPr lang="en-US" sz="919" b="1">
                <a:solidFill>
                  <a:srgbClr val="7A35B5"/>
                </a:solidFill>
                <a:latin typeface="Arial"/>
              </a:rPr>
              <a:t>ENCRYPT
</a:t>
            </a:r>
            <a:r>
              <a:rPr lang="en-US" sz="880" b="0">
                <a:solidFill>
                  <a:srgbClr val="434343"/>
                </a:solidFill>
                <a:latin typeface="Arial"/>
              </a:rPr>
              <a:t>AES-256-GCM model; per-recipient RSA-OAEP key wrap
</a:t>
            </a:r>
            <a:r>
              <a:rPr lang="en-US" sz="919" b="1">
                <a:solidFill>
                  <a:srgbClr val="7A35B5"/>
                </a:solidFill>
                <a:latin typeface="Arial"/>
              </a:rPr>
              <a:t>SIGN + BIND
</a:t>
            </a:r>
            <a:r>
              <a:rPr lang="en-US" sz="880" b="0">
                <a:solidFill>
                  <a:srgbClr val="434343"/>
                </a:solidFill>
                <a:latin typeface="Arial"/>
              </a:rPr>
              <a:t>Aggregator RSA-SHA-256 + EIP-712 finalization; IPFS CIDs</a:t>
            </a:r>
          </a:p>
        </p:txBody>
      </p:sp>
      <p:cxnSp>
        <p:nvCxnSpPr>
          <p:cNvPr id="27" name="Connector 26"/>
          <p:cNvCxnSpPr/>
          <p:nvPr/>
        </p:nvCxnSpPr>
        <p:spPr>
          <a:xfrm>
            <a:off x="9555480" y="3291840"/>
            <a:ext cx="118872" cy="0"/>
          </a:xfrm>
          <a:prstGeom prst="line">
            <a:avLst/>
          </a:prstGeom>
          <a:ln w="1397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710928" y="1371600"/>
            <a:ext cx="2157984" cy="3840480"/>
          </a:xfrm>
          <a:prstGeom prst="roundRect">
            <a:avLst/>
          </a:prstGeom>
          <a:solidFill>
            <a:srgbClr val="FBEAEC"/>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838944" y="1572768"/>
            <a:ext cx="1901952" cy="384048"/>
          </a:xfrm>
          <a:prstGeom prst="rect">
            <a:avLst/>
          </a:prstGeom>
          <a:noFill/>
        </p:spPr>
        <p:txBody>
          <a:bodyPr wrap="square" lIns="18288" tIns="18288" rIns="18288" bIns="18288" anchor="ctr">
            <a:spAutoFit/>
          </a:bodyPr>
          <a:lstStyle/>
          <a:p>
            <a:pPr algn="ctr"/>
            <a:r>
              <a:rPr lang="en-US" sz="1100" b="1">
                <a:solidFill>
                  <a:srgbClr val="C40D1E"/>
                </a:solidFill>
                <a:latin typeface="Arial"/>
              </a:rPr>
              <a:t>05  INFERENCE + LOG</a:t>
            </a:r>
          </a:p>
        </p:txBody>
      </p:sp>
      <p:sp>
        <p:nvSpPr>
          <p:cNvPr id="30" name="Rectangle 29"/>
          <p:cNvSpPr/>
          <p:nvPr/>
        </p:nvSpPr>
        <p:spPr>
          <a:xfrm>
            <a:off x="9875519" y="2057400"/>
            <a:ext cx="1828800" cy="10972"/>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893807" y="2221992"/>
            <a:ext cx="1792224" cy="2679192"/>
          </a:xfrm>
          <a:prstGeom prst="rect">
            <a:avLst/>
          </a:prstGeom>
          <a:noFill/>
        </p:spPr>
        <p:txBody>
          <a:bodyPr wrap="square" lIns="18288" tIns="18288" rIns="18288" bIns="18288" anchor="t">
            <a:spAutoFit/>
          </a:bodyPr>
          <a:lstStyle/>
          <a:p>
            <a:pPr algn="l"/>
            <a:r>
              <a:rPr lang="en-US" sz="919" b="1">
                <a:solidFill>
                  <a:srgbClr val="C40D1E"/>
                </a:solidFill>
                <a:latin typeface="Arial"/>
              </a:rPr>
              <a:t>VERIFY
</a:t>
            </a:r>
            <a:r>
              <a:rPr lang="en-US" sz="880" b="0">
                <a:solidFill>
                  <a:srgbClr val="434343"/>
                </a:solidFill>
                <a:latin typeface="Arial"/>
              </a:rPr>
              <a:t>Finalized tuple + publisher signatures
</a:t>
            </a:r>
            <a:r>
              <a:rPr lang="en-US" sz="919" b="1">
                <a:solidFill>
                  <a:srgbClr val="C40D1E"/>
                </a:solidFill>
                <a:latin typeface="Arial"/>
              </a:rPr>
              <a:t>SIGN / ENCRYPT
</a:t>
            </a:r>
            <a:r>
              <a:rPr lang="en-US" sz="880" b="0">
                <a:solidFill>
                  <a:srgbClr val="434343"/>
                </a:solidFill>
                <a:latin typeface="Arial"/>
              </a:rPr>
              <a:t>Ed25519 AIR + TDX; HPKE receiver receipt
</a:t>
            </a:r>
            <a:r>
              <a:rPr lang="en-US" sz="919" b="1">
                <a:solidFill>
                  <a:srgbClr val="C40D1E"/>
                </a:solidFill>
                <a:latin typeface="Arial"/>
              </a:rPr>
              <a:t>LOG
</a:t>
            </a:r>
            <a:r>
              <a:rPr lang="en-US" sz="880" b="0">
                <a:solidFill>
                  <a:srgbClr val="434343"/>
                </a:solidFill>
                <a:latin typeface="Arial"/>
              </a:rPr>
              <a:t>ES256 statement + CCF inclusion receipt</a:t>
            </a:r>
          </a:p>
        </p:txBody>
      </p:sp>
      <p:sp>
        <p:nvSpPr>
          <p:cNvPr id="32" name="Rectangle 31"/>
          <p:cNvSpPr/>
          <p:nvPr/>
        </p:nvSpPr>
        <p:spPr>
          <a:xfrm>
            <a:off x="896112" y="5330952"/>
            <a:ext cx="10405872" cy="32004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78992" y="5404104"/>
            <a:ext cx="10040112" cy="173736"/>
          </a:xfrm>
          <a:prstGeom prst="rect">
            <a:avLst/>
          </a:prstGeom>
          <a:noFill/>
        </p:spPr>
        <p:txBody>
          <a:bodyPr wrap="square" lIns="18288" tIns="18288" rIns="18288" bIns="18288" anchor="ctr">
            <a:spAutoFit/>
          </a:bodyPr>
          <a:lstStyle/>
          <a:p>
            <a:pPr algn="ctr"/>
            <a:r>
              <a:rPr lang="en-US" sz="1019" b="1">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Evaluation: what was actually tested?</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THREE EVIDENCE LEVELS—NOT ONE BLANKET SUCCESS CLAIM</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640080" y="1389888"/>
            <a:ext cx="3364992" cy="3840480"/>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1" y="1664208"/>
            <a:ext cx="3035808" cy="274320"/>
          </a:xfrm>
          <a:prstGeom prst="rect">
            <a:avLst/>
          </a:prstGeom>
          <a:noFill/>
        </p:spPr>
        <p:txBody>
          <a:bodyPr wrap="square" lIns="18288" tIns="18288" rIns="18288" bIns="18288" anchor="t">
            <a:spAutoFit/>
          </a:bodyPr>
          <a:lstStyle/>
          <a:p>
            <a:pPr algn="ctr"/>
            <a:r>
              <a:rPr lang="en-US" sz="1300" b="1">
                <a:solidFill>
                  <a:srgbClr val="1F90CC"/>
                </a:solidFill>
                <a:latin typeface="Arial"/>
              </a:rPr>
              <a:t>LIVE INTEGRATION</a:t>
            </a:r>
          </a:p>
        </p:txBody>
      </p:sp>
      <p:sp>
        <p:nvSpPr>
          <p:cNvPr id="10" name="TextBox 9"/>
          <p:cNvSpPr txBox="1"/>
          <p:nvPr/>
        </p:nvSpPr>
        <p:spPr>
          <a:xfrm>
            <a:off x="804671" y="2267712"/>
            <a:ext cx="3035808" cy="594360"/>
          </a:xfrm>
          <a:prstGeom prst="rect">
            <a:avLst/>
          </a:prstGeom>
          <a:noFill/>
        </p:spPr>
        <p:txBody>
          <a:bodyPr wrap="square" lIns="18288" tIns="18288" rIns="18288" bIns="18288" anchor="t">
            <a:spAutoFit/>
          </a:bodyPr>
          <a:lstStyle/>
          <a:p>
            <a:pPr algn="ctr"/>
            <a:r>
              <a:rPr lang="en-US" sz="2700" b="1">
                <a:solidFill>
                  <a:srgbClr val="434343"/>
                </a:solidFill>
                <a:latin typeface="Arial"/>
              </a:rPr>
              <a:t>3 TEE workers</a:t>
            </a:r>
          </a:p>
        </p:txBody>
      </p:sp>
      <p:sp>
        <p:nvSpPr>
          <p:cNvPr id="11" name="TextBox 10"/>
          <p:cNvSpPr txBox="1"/>
          <p:nvPr/>
        </p:nvSpPr>
        <p:spPr>
          <a:xfrm>
            <a:off x="804671" y="2926080"/>
            <a:ext cx="3035808" cy="310896"/>
          </a:xfrm>
          <a:prstGeom prst="rect">
            <a:avLst/>
          </a:prstGeom>
          <a:noFill/>
        </p:spPr>
        <p:txBody>
          <a:bodyPr wrap="square" lIns="18288" tIns="18288" rIns="18288" bIns="18288" anchor="t">
            <a:spAutoFit/>
          </a:bodyPr>
          <a:lstStyle/>
          <a:p>
            <a:pPr algn="ctr"/>
            <a:r>
              <a:rPr lang="en-US" sz="1500" b="1">
                <a:solidFill>
                  <a:srgbClr val="1F90CC"/>
                </a:solidFill>
                <a:latin typeface="Arial"/>
              </a:rPr>
              <a:t>5 observed training rounds</a:t>
            </a:r>
          </a:p>
        </p:txBody>
      </p:sp>
      <p:sp>
        <p:nvSpPr>
          <p:cNvPr id="12" name="Rectangle 11"/>
          <p:cNvSpPr/>
          <p:nvPr/>
        </p:nvSpPr>
        <p:spPr>
          <a:xfrm>
            <a:off x="1078992" y="3502152"/>
            <a:ext cx="2487168" cy="13716"/>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50976" y="3858768"/>
            <a:ext cx="2743200" cy="621792"/>
          </a:xfrm>
          <a:prstGeom prst="rect">
            <a:avLst/>
          </a:prstGeom>
          <a:noFill/>
        </p:spPr>
        <p:txBody>
          <a:bodyPr wrap="square" lIns="18288" tIns="18288" rIns="18288" bIns="18288" anchor="t">
            <a:spAutoFit/>
          </a:bodyPr>
          <a:lstStyle/>
          <a:p>
            <a:pPr algn="ctr"/>
            <a:r>
              <a:rPr lang="en-US" sz="1500" b="1">
                <a:solidFill>
                  <a:srgbClr val="434343"/>
                </a:solidFill>
                <a:latin typeface="Arial"/>
              </a:rPr>
              <a:t>All three MCP operations
plus attested inference</a:t>
            </a:r>
          </a:p>
        </p:txBody>
      </p:sp>
      <p:sp>
        <p:nvSpPr>
          <p:cNvPr id="14" name="Rectangle 13"/>
          <p:cNvSpPr/>
          <p:nvPr/>
        </p:nvSpPr>
        <p:spPr>
          <a:xfrm>
            <a:off x="1481328" y="4709160"/>
            <a:ext cx="1682496" cy="329184"/>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36192" y="4791456"/>
            <a:ext cx="1572768" cy="164592"/>
          </a:xfrm>
          <a:prstGeom prst="rect">
            <a:avLst/>
          </a:prstGeom>
          <a:noFill/>
        </p:spPr>
        <p:txBody>
          <a:bodyPr wrap="square" lIns="18288" tIns="18288" rIns="18288" bIns="18288" anchor="t">
            <a:spAutoFit/>
          </a:bodyPr>
          <a:lstStyle/>
          <a:p>
            <a:pPr algn="ctr"/>
            <a:r>
              <a:rPr lang="en-US" sz="950" b="1">
                <a:solidFill>
                  <a:srgbClr val="FFFFFF"/>
                </a:solidFill>
                <a:latin typeface="Arial"/>
              </a:rPr>
              <a:t>LIVE</a:t>
            </a:r>
          </a:p>
        </p:txBody>
      </p:sp>
      <p:sp>
        <p:nvSpPr>
          <p:cNvPr id="16" name="Rounded Rectangle 15"/>
          <p:cNvSpPr/>
          <p:nvPr/>
        </p:nvSpPr>
        <p:spPr>
          <a:xfrm>
            <a:off x="4325112" y="1389888"/>
            <a:ext cx="3364992" cy="3840480"/>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489704" y="1664208"/>
            <a:ext cx="3035808" cy="274320"/>
          </a:xfrm>
          <a:prstGeom prst="rect">
            <a:avLst/>
          </a:prstGeom>
          <a:noFill/>
        </p:spPr>
        <p:txBody>
          <a:bodyPr wrap="square" lIns="18288" tIns="18288" rIns="18288" bIns="18288" anchor="t">
            <a:spAutoFit/>
          </a:bodyPr>
          <a:lstStyle/>
          <a:p>
            <a:pPr algn="ctr"/>
            <a:r>
              <a:rPr lang="en-US" sz="1300" b="1">
                <a:solidFill>
                  <a:srgbClr val="2F8F46"/>
                </a:solidFill>
                <a:latin typeface="Arial"/>
              </a:rPr>
              <a:t>SCALE EXPERIMENTS</a:t>
            </a:r>
          </a:p>
        </p:txBody>
      </p:sp>
      <p:sp>
        <p:nvSpPr>
          <p:cNvPr id="18" name="TextBox 17"/>
          <p:cNvSpPr txBox="1"/>
          <p:nvPr/>
        </p:nvSpPr>
        <p:spPr>
          <a:xfrm>
            <a:off x="4489704" y="2267712"/>
            <a:ext cx="3035808" cy="594360"/>
          </a:xfrm>
          <a:prstGeom prst="rect">
            <a:avLst/>
          </a:prstGeom>
          <a:noFill/>
        </p:spPr>
        <p:txBody>
          <a:bodyPr wrap="square" lIns="18288" tIns="18288" rIns="18288" bIns="18288" anchor="t">
            <a:spAutoFit/>
          </a:bodyPr>
          <a:lstStyle/>
          <a:p>
            <a:pPr algn="ctr"/>
            <a:r>
              <a:rPr lang="en-US" sz="2700" b="1">
                <a:solidFill>
                  <a:srgbClr val="434343"/>
                </a:solidFill>
                <a:latin typeface="Arial"/>
              </a:rPr>
              <a:t>10 · 50 · 100</a:t>
            </a:r>
          </a:p>
        </p:txBody>
      </p:sp>
      <p:sp>
        <p:nvSpPr>
          <p:cNvPr id="19" name="TextBox 18"/>
          <p:cNvSpPr txBox="1"/>
          <p:nvPr/>
        </p:nvSpPr>
        <p:spPr>
          <a:xfrm>
            <a:off x="4489704" y="2926080"/>
            <a:ext cx="3035808" cy="310896"/>
          </a:xfrm>
          <a:prstGeom prst="rect">
            <a:avLst/>
          </a:prstGeom>
          <a:noFill/>
        </p:spPr>
        <p:txBody>
          <a:bodyPr wrap="square" lIns="18288" tIns="18288" rIns="18288" bIns="18288" anchor="t">
            <a:spAutoFit/>
          </a:bodyPr>
          <a:lstStyle/>
          <a:p>
            <a:pPr algn="ctr"/>
            <a:r>
              <a:rPr lang="en-US" sz="1500" b="1">
                <a:solidFill>
                  <a:srgbClr val="2F8F46"/>
                </a:solidFill>
                <a:latin typeface="Arial"/>
              </a:rPr>
              <a:t>participants</a:t>
            </a:r>
          </a:p>
        </p:txBody>
      </p:sp>
      <p:sp>
        <p:nvSpPr>
          <p:cNvPr id="20" name="Rectangle 19"/>
          <p:cNvSpPr/>
          <p:nvPr/>
        </p:nvSpPr>
        <p:spPr>
          <a:xfrm>
            <a:off x="4764024" y="3502152"/>
            <a:ext cx="2487168" cy="13716"/>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36008" y="3858768"/>
            <a:ext cx="2743200" cy="621792"/>
          </a:xfrm>
          <a:prstGeom prst="rect">
            <a:avLst/>
          </a:prstGeom>
          <a:noFill/>
        </p:spPr>
        <p:txBody>
          <a:bodyPr wrap="square" lIns="18288" tIns="18288" rIns="18288" bIns="18288" anchor="t">
            <a:spAutoFit/>
          </a:bodyPr>
          <a:lstStyle/>
          <a:p>
            <a:pPr algn="ctr"/>
            <a:r>
              <a:rPr lang="en-US" sz="1500" b="1">
                <a:solidFill>
                  <a:srgbClr val="434343"/>
                </a:solidFill>
                <a:latin typeface="Arial"/>
              </a:rPr>
              <a:t>50 rounds per configuration</a:t>
            </a:r>
          </a:p>
        </p:txBody>
      </p:sp>
      <p:sp>
        <p:nvSpPr>
          <p:cNvPr id="22" name="Rectangle 21"/>
          <p:cNvSpPr/>
          <p:nvPr/>
        </p:nvSpPr>
        <p:spPr>
          <a:xfrm>
            <a:off x="5166360" y="4709160"/>
            <a:ext cx="1682496" cy="329184"/>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221224" y="4791456"/>
            <a:ext cx="1572768" cy="164592"/>
          </a:xfrm>
          <a:prstGeom prst="rect">
            <a:avLst/>
          </a:prstGeom>
          <a:noFill/>
        </p:spPr>
        <p:txBody>
          <a:bodyPr wrap="square" lIns="18288" tIns="18288" rIns="18288" bIns="18288" anchor="t">
            <a:spAutoFit/>
          </a:bodyPr>
          <a:lstStyle/>
          <a:p>
            <a:pPr algn="ctr"/>
            <a:r>
              <a:rPr lang="en-US" sz="950" b="1">
                <a:solidFill>
                  <a:srgbClr val="FFFFFF"/>
                </a:solidFill>
                <a:latin typeface="Arial"/>
              </a:rPr>
              <a:t>COMPLETED</a:t>
            </a:r>
          </a:p>
        </p:txBody>
      </p:sp>
      <p:sp>
        <p:nvSpPr>
          <p:cNvPr id="24" name="Rounded Rectangle 23"/>
          <p:cNvSpPr/>
          <p:nvPr/>
        </p:nvSpPr>
        <p:spPr>
          <a:xfrm>
            <a:off x="8010144" y="1389888"/>
            <a:ext cx="3364992" cy="3840480"/>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174736" y="1664208"/>
            <a:ext cx="3035808" cy="274320"/>
          </a:xfrm>
          <a:prstGeom prst="rect">
            <a:avLst/>
          </a:prstGeom>
          <a:noFill/>
        </p:spPr>
        <p:txBody>
          <a:bodyPr wrap="square" lIns="18288" tIns="18288" rIns="18288" bIns="18288" anchor="t">
            <a:spAutoFit/>
          </a:bodyPr>
          <a:lstStyle/>
          <a:p>
            <a:pPr algn="ctr"/>
            <a:r>
              <a:rPr lang="en-US" sz="1300" b="1">
                <a:solidFill>
                  <a:srgbClr val="FF6C00"/>
                </a:solidFill>
                <a:latin typeface="Arial"/>
              </a:rPr>
              <a:t>FAIL-CLOSED TESTS</a:t>
            </a:r>
          </a:p>
        </p:txBody>
      </p:sp>
      <p:sp>
        <p:nvSpPr>
          <p:cNvPr id="26" name="TextBox 25"/>
          <p:cNvSpPr txBox="1"/>
          <p:nvPr/>
        </p:nvSpPr>
        <p:spPr>
          <a:xfrm>
            <a:off x="8174736" y="2267712"/>
            <a:ext cx="3035808" cy="594360"/>
          </a:xfrm>
          <a:prstGeom prst="rect">
            <a:avLst/>
          </a:prstGeom>
          <a:noFill/>
        </p:spPr>
        <p:txBody>
          <a:bodyPr wrap="square" lIns="18288" tIns="18288" rIns="18288" bIns="18288" anchor="t">
            <a:spAutoFit/>
          </a:bodyPr>
          <a:lstStyle/>
          <a:p>
            <a:pPr algn="ctr"/>
            <a:r>
              <a:rPr lang="en-US" sz="2300" b="1">
                <a:solidFill>
                  <a:srgbClr val="434343"/>
                </a:solidFill>
                <a:latin typeface="Arial"/>
              </a:rPr>
              <a:t>Admission · data</a:t>
            </a:r>
          </a:p>
        </p:txBody>
      </p:sp>
      <p:sp>
        <p:nvSpPr>
          <p:cNvPr id="27" name="TextBox 26"/>
          <p:cNvSpPr txBox="1"/>
          <p:nvPr/>
        </p:nvSpPr>
        <p:spPr>
          <a:xfrm>
            <a:off x="8174736" y="2926080"/>
            <a:ext cx="3035808" cy="310896"/>
          </a:xfrm>
          <a:prstGeom prst="rect">
            <a:avLst/>
          </a:prstGeom>
          <a:noFill/>
        </p:spPr>
        <p:txBody>
          <a:bodyPr wrap="square" lIns="18288" tIns="18288" rIns="18288" bIns="18288" anchor="t">
            <a:spAutoFit/>
          </a:bodyPr>
          <a:lstStyle/>
          <a:p>
            <a:pPr algn="ctr"/>
            <a:r>
              <a:rPr lang="en-US" sz="1500" b="1">
                <a:solidFill>
                  <a:srgbClr val="FF6C00"/>
                </a:solidFill>
                <a:latin typeface="Arial"/>
              </a:rPr>
              <a:t>Provenance · bindings</a:t>
            </a:r>
          </a:p>
        </p:txBody>
      </p:sp>
      <p:sp>
        <p:nvSpPr>
          <p:cNvPr id="28" name="Rectangle 27"/>
          <p:cNvSpPr/>
          <p:nvPr/>
        </p:nvSpPr>
        <p:spPr>
          <a:xfrm>
            <a:off x="8449056" y="3502152"/>
            <a:ext cx="2487168" cy="13716"/>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21040" y="3858768"/>
            <a:ext cx="2743200" cy="621792"/>
          </a:xfrm>
          <a:prstGeom prst="rect">
            <a:avLst/>
          </a:prstGeom>
          <a:noFill/>
        </p:spPr>
        <p:txBody>
          <a:bodyPr wrap="square" lIns="18288" tIns="18288" rIns="18288" bIns="18288" anchor="t">
            <a:spAutoFit/>
          </a:bodyPr>
          <a:lstStyle/>
          <a:p>
            <a:pPr algn="ctr"/>
            <a:r>
              <a:rPr lang="en-US" sz="1500" b="1">
                <a:solidFill>
                  <a:srgbClr val="434343"/>
                </a:solidFill>
                <a:latin typeface="Arial"/>
              </a:rPr>
              <a:t>Receipts · recovery</a:t>
            </a:r>
          </a:p>
        </p:txBody>
      </p:sp>
      <p:sp>
        <p:nvSpPr>
          <p:cNvPr id="30" name="Rectangle 29"/>
          <p:cNvSpPr/>
          <p:nvPr/>
        </p:nvSpPr>
        <p:spPr>
          <a:xfrm>
            <a:off x="8851392" y="4709160"/>
            <a:ext cx="1682496" cy="329184"/>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906256" y="4791456"/>
            <a:ext cx="1572768" cy="164592"/>
          </a:xfrm>
          <a:prstGeom prst="rect">
            <a:avLst/>
          </a:prstGeom>
          <a:noFill/>
        </p:spPr>
        <p:txBody>
          <a:bodyPr wrap="square" lIns="18288" tIns="18288" rIns="18288" bIns="18288" anchor="t">
            <a:spAutoFit/>
          </a:bodyPr>
          <a:lstStyle/>
          <a:p>
            <a:pPr algn="ctr"/>
            <a:r>
              <a:rPr lang="en-US" sz="950" b="1">
                <a:solidFill>
                  <a:srgbClr val="FFFFFF"/>
                </a:solidFill>
                <a:latin typeface="Arial"/>
              </a:rPr>
              <a:t>AUTOMATED</a:t>
            </a:r>
          </a:p>
        </p:txBody>
      </p:sp>
      <p:sp>
        <p:nvSpPr>
          <p:cNvPr id="32" name="TextBox 31"/>
          <p:cNvSpPr txBox="1"/>
          <p:nvPr/>
        </p:nvSpPr>
        <p:spPr>
          <a:xfrm>
            <a:off x="914400" y="5385816"/>
            <a:ext cx="10351008" cy="228600"/>
          </a:xfrm>
          <a:prstGeom prst="rect">
            <a:avLst/>
          </a:prstGeom>
          <a:noFill/>
        </p:spPr>
        <p:txBody>
          <a:bodyPr wrap="square" lIns="18288" tIns="18288" rIns="18288" bIns="18288" anchor="t">
            <a:spAutoFit/>
          </a:bodyPr>
          <a:lstStyle/>
          <a:p>
            <a:pPr algn="ctr"/>
            <a:r>
              <a:rPr lang="en-US" sz="1150" b="1">
                <a:solidFill>
                  <a:srgbClr val="C40D1E"/>
                </a:solidFill>
                <a:latin typeface="Arial"/>
              </a:rPr>
              <a:t>Not evaluated: clinical suitability · formal Byzantine fault tolerance · general poisoning robustness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Observed optimization trajectories overlap across scale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ONE COMPLETED RUN FOR 10, 50, AND 100 PARTICIPANTS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502920" y="1371600"/>
            <a:ext cx="5532120" cy="35204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2648" y="1463040"/>
            <a:ext cx="5312664" cy="256032"/>
          </a:xfrm>
          <a:prstGeom prst="rect">
            <a:avLst/>
          </a:prstGeom>
          <a:noFill/>
        </p:spPr>
        <p:txBody>
          <a:bodyPr wrap="square" lIns="18288" tIns="18288" rIns="18288" bIns="18288" anchor="ctr">
            <a:spAutoFit/>
          </a:bodyPr>
          <a:lstStyle/>
          <a:p>
            <a:pPr algn="ctr"/>
            <a:r>
              <a:rPr lang="en-US" sz="1250" b="1">
                <a:solidFill>
                  <a:srgbClr val="434343"/>
                </a:solidFill>
                <a:latin typeface="Arial"/>
              </a:rPr>
              <a:t>Binary cross-entropy loss</a:t>
            </a:r>
          </a:p>
        </p:txBody>
      </p:sp>
      <p:cxnSp>
        <p:nvCxnSpPr>
          <p:cNvPr id="10" name="Connector 9"/>
          <p:cNvCxnSpPr/>
          <p:nvPr/>
        </p:nvCxnSpPr>
        <p:spPr>
          <a:xfrm>
            <a:off x="1933956"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99132" y="1755648"/>
            <a:ext cx="548640" cy="137160"/>
          </a:xfrm>
          <a:prstGeom prst="rect">
            <a:avLst/>
          </a:prstGeom>
          <a:noFill/>
        </p:spPr>
        <p:txBody>
          <a:bodyPr wrap="square" lIns="0" tIns="0" rIns="0" bIns="0" anchor="ctr">
            <a:spAutoFit/>
          </a:bodyPr>
          <a:lstStyle/>
          <a:p>
            <a:pPr algn="l"/>
            <a:r>
              <a:rPr lang="en-US" sz="750" b="1">
                <a:solidFill>
                  <a:srgbClr val="1F90CC"/>
                </a:solidFill>
                <a:latin typeface="Arial"/>
              </a:rPr>
              <a:t>N=10</a:t>
            </a:r>
          </a:p>
        </p:txBody>
      </p:sp>
      <p:cxnSp>
        <p:nvCxnSpPr>
          <p:cNvPr id="12" name="Connector 11"/>
          <p:cNvCxnSpPr/>
          <p:nvPr/>
        </p:nvCxnSpPr>
        <p:spPr>
          <a:xfrm>
            <a:off x="2823972"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89148" y="1755648"/>
            <a:ext cx="548640" cy="137160"/>
          </a:xfrm>
          <a:prstGeom prst="rect">
            <a:avLst/>
          </a:prstGeom>
          <a:noFill/>
        </p:spPr>
        <p:txBody>
          <a:bodyPr wrap="square" lIns="0" tIns="0" rIns="0" bIns="0" anchor="ctr">
            <a:spAutoFit/>
          </a:bodyPr>
          <a:lstStyle/>
          <a:p>
            <a:pPr algn="l"/>
            <a:r>
              <a:rPr lang="en-US" sz="750" b="1">
                <a:solidFill>
                  <a:srgbClr val="C40D1E"/>
                </a:solidFill>
                <a:latin typeface="Arial"/>
              </a:rPr>
              <a:t>N=50</a:t>
            </a:r>
          </a:p>
        </p:txBody>
      </p:sp>
      <p:cxnSp>
        <p:nvCxnSpPr>
          <p:cNvPr id="14" name="Connector 13"/>
          <p:cNvCxnSpPr/>
          <p:nvPr/>
        </p:nvCxnSpPr>
        <p:spPr>
          <a:xfrm>
            <a:off x="3713988"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979164" y="1755648"/>
            <a:ext cx="548640" cy="137160"/>
          </a:xfrm>
          <a:prstGeom prst="rect">
            <a:avLst/>
          </a:prstGeom>
          <a:noFill/>
        </p:spPr>
        <p:txBody>
          <a:bodyPr wrap="square" lIns="0" tIns="0" rIns="0" bIns="0" anchor="ctr">
            <a:spAutoFit/>
          </a:bodyPr>
          <a:lstStyle/>
          <a:p>
            <a:pPr algn="l"/>
            <a:r>
              <a:rPr lang="en-US" sz="750" b="1">
                <a:solidFill>
                  <a:srgbClr val="2F8F46"/>
                </a:solidFill>
                <a:latin typeface="Arial"/>
              </a:rPr>
              <a:t>N=100</a:t>
            </a:r>
          </a:p>
        </p:txBody>
      </p:sp>
      <p:cxnSp>
        <p:nvCxnSpPr>
          <p:cNvPr id="16" name="Connector 15"/>
          <p:cNvCxnSpPr/>
          <p:nvPr/>
        </p:nvCxnSpPr>
        <p:spPr>
          <a:xfrm>
            <a:off x="978408" y="429367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9496" y="4220527"/>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0.20</a:t>
            </a:r>
          </a:p>
        </p:txBody>
      </p:sp>
      <p:cxnSp>
        <p:nvCxnSpPr>
          <p:cNvPr id="18" name="Connector 17"/>
          <p:cNvCxnSpPr/>
          <p:nvPr/>
        </p:nvCxnSpPr>
        <p:spPr>
          <a:xfrm>
            <a:off x="978408" y="3792664"/>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39496" y="3719512"/>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0.30</a:t>
            </a:r>
          </a:p>
        </p:txBody>
      </p:sp>
      <p:cxnSp>
        <p:nvCxnSpPr>
          <p:cNvPr id="20" name="Connector 19"/>
          <p:cNvCxnSpPr/>
          <p:nvPr/>
        </p:nvCxnSpPr>
        <p:spPr>
          <a:xfrm>
            <a:off x="978408" y="329164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39496" y="3218497"/>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0.40</a:t>
            </a:r>
          </a:p>
        </p:txBody>
      </p:sp>
      <p:cxnSp>
        <p:nvCxnSpPr>
          <p:cNvPr id="22" name="Connector 21"/>
          <p:cNvCxnSpPr/>
          <p:nvPr/>
        </p:nvCxnSpPr>
        <p:spPr>
          <a:xfrm>
            <a:off x="978408" y="2790634"/>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39496" y="2717482"/>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0.50</a:t>
            </a:r>
          </a:p>
        </p:txBody>
      </p:sp>
      <p:cxnSp>
        <p:nvCxnSpPr>
          <p:cNvPr id="24" name="Connector 23"/>
          <p:cNvCxnSpPr/>
          <p:nvPr/>
        </p:nvCxnSpPr>
        <p:spPr>
          <a:xfrm>
            <a:off x="978408" y="228961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9496" y="2216467"/>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0.60</a:t>
            </a:r>
          </a:p>
        </p:txBody>
      </p:sp>
      <p:cxnSp>
        <p:nvCxnSpPr>
          <p:cNvPr id="26" name="Connector 25"/>
          <p:cNvCxnSpPr/>
          <p:nvPr/>
        </p:nvCxnSpPr>
        <p:spPr>
          <a:xfrm>
            <a:off x="978408"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13816"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a:t>
            </a:r>
          </a:p>
        </p:txBody>
      </p:sp>
      <p:cxnSp>
        <p:nvCxnSpPr>
          <p:cNvPr id="28" name="Connector 27"/>
          <p:cNvCxnSpPr/>
          <p:nvPr/>
        </p:nvCxnSpPr>
        <p:spPr>
          <a:xfrm>
            <a:off x="179070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26108"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10</a:t>
            </a:r>
          </a:p>
        </p:txBody>
      </p:sp>
      <p:cxnSp>
        <p:nvCxnSpPr>
          <p:cNvPr id="30" name="Connector 29"/>
          <p:cNvCxnSpPr/>
          <p:nvPr/>
        </p:nvCxnSpPr>
        <p:spPr>
          <a:xfrm>
            <a:off x="2806065"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641473"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20</a:t>
            </a:r>
          </a:p>
        </p:txBody>
      </p:sp>
      <p:cxnSp>
        <p:nvCxnSpPr>
          <p:cNvPr id="32" name="Connector 31"/>
          <p:cNvCxnSpPr/>
          <p:nvPr/>
        </p:nvCxnSpPr>
        <p:spPr>
          <a:xfrm>
            <a:off x="382143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56838"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30</a:t>
            </a:r>
          </a:p>
        </p:txBody>
      </p:sp>
      <p:cxnSp>
        <p:nvCxnSpPr>
          <p:cNvPr id="34" name="Connector 33"/>
          <p:cNvCxnSpPr/>
          <p:nvPr/>
        </p:nvCxnSpPr>
        <p:spPr>
          <a:xfrm>
            <a:off x="4836795"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672203"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40</a:t>
            </a:r>
          </a:p>
        </p:txBody>
      </p:sp>
      <p:cxnSp>
        <p:nvCxnSpPr>
          <p:cNvPr id="36" name="Connector 35"/>
          <p:cNvCxnSpPr/>
          <p:nvPr/>
        </p:nvCxnSpPr>
        <p:spPr>
          <a:xfrm>
            <a:off x="585216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87568"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50</a:t>
            </a:r>
          </a:p>
        </p:txBody>
      </p:sp>
      <p:cxnSp>
        <p:nvCxnSpPr>
          <p:cNvPr id="38" name="Connector 37"/>
          <p:cNvCxnSpPr/>
          <p:nvPr/>
        </p:nvCxnSpPr>
        <p:spPr>
          <a:xfrm>
            <a:off x="978408" y="2039112"/>
            <a:ext cx="0" cy="2404871"/>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78408" y="4443983"/>
            <a:ext cx="48737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8408" y="2168634"/>
            <a:ext cx="101536" cy="74332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79944" y="2911960"/>
            <a:ext cx="101537" cy="47423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181481" y="3386191"/>
            <a:ext cx="101536" cy="30510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283017" y="3691299"/>
            <a:ext cx="101537" cy="19123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384554" y="3882531"/>
            <a:ext cx="101536" cy="12181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486090" y="4004348"/>
            <a:ext cx="101537" cy="813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587627" y="4085723"/>
            <a:ext cx="101536" cy="5596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689163" y="4141691"/>
            <a:ext cx="101537" cy="4018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790700" y="4181872"/>
            <a:ext cx="101536" cy="298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892236" y="4211733"/>
            <a:ext cx="101537" cy="2272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993773" y="4234454"/>
            <a:ext cx="101536" cy="1802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095309" y="4252481"/>
            <a:ext cx="101537" cy="1411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196846" y="4266594"/>
            <a:ext cx="101536" cy="1157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298382" y="4278173"/>
            <a:ext cx="101537" cy="95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399919" y="4287717"/>
            <a:ext cx="101536" cy="810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2501455" y="4295818"/>
            <a:ext cx="101537" cy="656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602992" y="4302387"/>
            <a:ext cx="101536" cy="593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704528" y="4308319"/>
            <a:ext cx="101537" cy="498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2806065" y="4313304"/>
            <a:ext cx="101536" cy="418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907601" y="4317492"/>
            <a:ext cx="101537" cy="380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009138" y="4321295"/>
            <a:ext cx="101536" cy="326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110674" y="4324557"/>
            <a:ext cx="101537" cy="28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212211" y="4327357"/>
            <a:ext cx="101536" cy="256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3313747" y="4329922"/>
            <a:ext cx="101537" cy="228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415284" y="4332202"/>
            <a:ext cx="101536" cy="200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516820" y="4334211"/>
            <a:ext cx="101537" cy="182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618357" y="4336040"/>
            <a:ext cx="101536" cy="177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719893" y="4337813"/>
            <a:ext cx="101537" cy="142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3821430" y="4339236"/>
            <a:ext cx="101536" cy="141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922966" y="4340654"/>
            <a:ext cx="101537" cy="120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024503" y="4341857"/>
            <a:ext cx="101536" cy="117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126039" y="4343029"/>
            <a:ext cx="101537" cy="95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227576" y="4343981"/>
            <a:ext cx="101536" cy="89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4329112" y="4344878"/>
            <a:ext cx="101537" cy="76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4430649" y="4345644"/>
            <a:ext cx="101536" cy="84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4532185" y="4346491"/>
            <a:ext cx="101537" cy="81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633722" y="4347303"/>
            <a:ext cx="101536" cy="64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4735258" y="4347944"/>
            <a:ext cx="101537" cy="5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836795" y="4348500"/>
            <a:ext cx="101536" cy="5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938331" y="4349071"/>
            <a:ext cx="101537" cy="5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5039868" y="4349582"/>
            <a:ext cx="101536" cy="4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5141404" y="4350053"/>
            <a:ext cx="101537" cy="4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5242941" y="4350509"/>
            <a:ext cx="101536" cy="44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5344477" y="4350955"/>
            <a:ext cx="101537" cy="36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5446014" y="4351321"/>
            <a:ext cx="101536" cy="4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5547550" y="4351732"/>
            <a:ext cx="101537" cy="32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5649087" y="4352057"/>
            <a:ext cx="101536" cy="38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5750623" y="4352438"/>
            <a:ext cx="101537" cy="27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78408" y="2179421"/>
            <a:ext cx="101536" cy="73445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79944" y="2913874"/>
            <a:ext cx="101537" cy="47085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181481" y="3384728"/>
            <a:ext cx="101536" cy="30516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283017" y="3689891"/>
            <a:ext cx="101537" cy="19288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384554" y="3882777"/>
            <a:ext cx="101536" cy="1230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486090" y="4005781"/>
            <a:ext cx="101537" cy="809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587627" y="4086685"/>
            <a:ext cx="101536" cy="556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689163" y="4142307"/>
            <a:ext cx="101537" cy="399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790700" y="4182228"/>
            <a:ext cx="101536" cy="2958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892236" y="4211813"/>
            <a:ext cx="101537" cy="2256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993773" y="4234374"/>
            <a:ext cx="101536" cy="1777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2095309" y="4252145"/>
            <a:ext cx="101537" cy="1416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2196846" y="4266309"/>
            <a:ext cx="101536" cy="1155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2298382" y="4277867"/>
            <a:ext cx="101537" cy="95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2399919" y="4287456"/>
            <a:ext cx="101536" cy="807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2501455" y="4295528"/>
            <a:ext cx="101537" cy="67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2602992" y="4302322"/>
            <a:ext cx="101536" cy="58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2704528" y="4308143"/>
            <a:ext cx="101537" cy="502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2806065" y="4313168"/>
            <a:ext cx="101536" cy="43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2907601" y="4317547"/>
            <a:ext cx="101537" cy="384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3009138" y="4321395"/>
            <a:ext cx="101536" cy="338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3110674" y="4324777"/>
            <a:ext cx="101537" cy="302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3212211" y="4327803"/>
            <a:ext cx="101536" cy="26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3313747" y="4330499"/>
            <a:ext cx="101537" cy="240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3415284" y="4332908"/>
            <a:ext cx="101536" cy="219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3516820" y="4335103"/>
            <a:ext cx="101537" cy="19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3618357" y="4337082"/>
            <a:ext cx="101536" cy="17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719893" y="4338881"/>
            <a:ext cx="101537" cy="165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3821430" y="4340539"/>
            <a:ext cx="101536" cy="149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3922966" y="4342037"/>
            <a:ext cx="101537" cy="13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4024503" y="4343430"/>
            <a:ext cx="101536" cy="126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4126039" y="4344697"/>
            <a:ext cx="101537" cy="116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227576" y="4345865"/>
            <a:ext cx="101536" cy="107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4329112" y="4346937"/>
            <a:ext cx="101537" cy="99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4430649" y="4347934"/>
            <a:ext cx="101536" cy="9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4532185" y="4348851"/>
            <a:ext cx="101537" cy="84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4633722" y="4349692"/>
            <a:ext cx="101536" cy="80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4735258" y="4350494"/>
            <a:ext cx="101537" cy="7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4836795" y="4351246"/>
            <a:ext cx="101536" cy="68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4938331" y="4351927"/>
            <a:ext cx="101537" cy="63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5039868" y="4352563"/>
            <a:ext cx="101536" cy="59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5141404" y="4353160"/>
            <a:ext cx="101537" cy="5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5242941" y="4353711"/>
            <a:ext cx="101536" cy="51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5344477" y="4354227"/>
            <a:ext cx="101537" cy="4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5446014" y="4354723"/>
            <a:ext cx="101536" cy="4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5547550" y="4355179"/>
            <a:ext cx="101537" cy="42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5649087" y="4355604"/>
            <a:ext cx="101536" cy="3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5750623" y="4356000"/>
            <a:ext cx="101537" cy="38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978408" y="2172437"/>
            <a:ext cx="101536" cy="7373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079944" y="2909770"/>
            <a:ext cx="101537" cy="47386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1181481" y="3383635"/>
            <a:ext cx="101536" cy="3049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1283017" y="3688613"/>
            <a:ext cx="101537" cy="19353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1384554" y="3882145"/>
            <a:ext cx="101536" cy="12346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1486090" y="4005610"/>
            <a:ext cx="101537" cy="8119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1587627" y="4086800"/>
            <a:ext cx="101536" cy="557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689163" y="4142593"/>
            <a:ext cx="101537" cy="3996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1790700" y="4182559"/>
            <a:ext cx="101536" cy="297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892236" y="4212264"/>
            <a:ext cx="101537" cy="226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993773" y="4234950"/>
            <a:ext cx="101536" cy="177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2095309" y="4252681"/>
            <a:ext cx="101537" cy="141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2196846" y="4266865"/>
            <a:ext cx="101536" cy="1154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2298382" y="4278413"/>
            <a:ext cx="101537" cy="95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2399919" y="4287972"/>
            <a:ext cx="101536" cy="79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2501455" y="4295969"/>
            <a:ext cx="101537" cy="67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602992" y="4302732"/>
            <a:ext cx="101536" cy="58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704528" y="4308539"/>
            <a:ext cx="101537" cy="501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806065" y="4313554"/>
            <a:ext cx="101536" cy="43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2907601" y="4317913"/>
            <a:ext cx="101537" cy="382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3009138" y="4321741"/>
            <a:ext cx="101536" cy="336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3110674" y="4325108"/>
            <a:ext cx="101537" cy="30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212211" y="4328119"/>
            <a:ext cx="101536" cy="267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3313747" y="4330794"/>
            <a:ext cx="101537" cy="239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3415284" y="4333189"/>
            <a:ext cx="101536" cy="21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3516820" y="4335363"/>
            <a:ext cx="101537" cy="19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618357" y="4337322"/>
            <a:ext cx="101536" cy="17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719893" y="4339106"/>
            <a:ext cx="101537" cy="16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821430" y="4340739"/>
            <a:ext cx="101536" cy="148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922966" y="4342227"/>
            <a:ext cx="101537" cy="13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4024503" y="4343590"/>
            <a:ext cx="101536" cy="12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4126039" y="4344833"/>
            <a:ext cx="101537" cy="11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4227576" y="4345990"/>
            <a:ext cx="101536" cy="106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329112" y="4347052"/>
            <a:ext cx="101537" cy="9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430649" y="4348029"/>
            <a:ext cx="101536" cy="9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532185" y="4348951"/>
            <a:ext cx="101537" cy="84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633722" y="4349798"/>
            <a:ext cx="101536" cy="7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4735258" y="4350579"/>
            <a:ext cx="101537" cy="72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4836795" y="4351306"/>
            <a:ext cx="101536" cy="6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4938331" y="4351987"/>
            <a:ext cx="101537" cy="64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5039868" y="4352628"/>
            <a:ext cx="101536" cy="5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5141404" y="4353225"/>
            <a:ext cx="101537" cy="55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5242941" y="4353776"/>
            <a:ext cx="101536" cy="52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5344477" y="4354297"/>
            <a:ext cx="101537" cy="4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a:off x="5446014" y="4354783"/>
            <a:ext cx="101536" cy="4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5547550" y="4355239"/>
            <a:ext cx="101537" cy="4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5649087" y="4355670"/>
            <a:ext cx="101536" cy="41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a:off x="5750623" y="4356080"/>
            <a:ext cx="101537" cy="37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6153912" y="1371600"/>
            <a:ext cx="5532120" cy="35204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TextBox 184"/>
          <p:cNvSpPr txBox="1"/>
          <p:nvPr/>
        </p:nvSpPr>
        <p:spPr>
          <a:xfrm>
            <a:off x="6263640" y="1463040"/>
            <a:ext cx="5312664" cy="256032"/>
          </a:xfrm>
          <a:prstGeom prst="rect">
            <a:avLst/>
          </a:prstGeom>
          <a:noFill/>
        </p:spPr>
        <p:txBody>
          <a:bodyPr wrap="square" lIns="18288" tIns="18288" rIns="18288" bIns="18288" anchor="ctr">
            <a:spAutoFit/>
          </a:bodyPr>
          <a:lstStyle/>
          <a:p>
            <a:pPr algn="ctr"/>
            <a:r>
              <a:rPr lang="en-US" sz="1250" b="1">
                <a:solidFill>
                  <a:srgbClr val="434343"/>
                </a:solidFill>
                <a:latin typeface="Arial"/>
              </a:rPr>
              <a:t>Exact match (%)</a:t>
            </a:r>
          </a:p>
        </p:txBody>
      </p:sp>
      <p:cxnSp>
        <p:nvCxnSpPr>
          <p:cNvPr id="186" name="Connector 185"/>
          <p:cNvCxnSpPr/>
          <p:nvPr/>
        </p:nvCxnSpPr>
        <p:spPr>
          <a:xfrm>
            <a:off x="7584948"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87" name="TextBox 186"/>
          <p:cNvSpPr txBox="1"/>
          <p:nvPr/>
        </p:nvSpPr>
        <p:spPr>
          <a:xfrm>
            <a:off x="7850123" y="1755648"/>
            <a:ext cx="548640" cy="137160"/>
          </a:xfrm>
          <a:prstGeom prst="rect">
            <a:avLst/>
          </a:prstGeom>
          <a:noFill/>
        </p:spPr>
        <p:txBody>
          <a:bodyPr wrap="square" lIns="0" tIns="0" rIns="0" bIns="0" anchor="ctr">
            <a:spAutoFit/>
          </a:bodyPr>
          <a:lstStyle/>
          <a:p>
            <a:pPr algn="l"/>
            <a:r>
              <a:rPr lang="en-US" sz="750" b="1">
                <a:solidFill>
                  <a:srgbClr val="1F90CC"/>
                </a:solidFill>
                <a:latin typeface="Arial"/>
              </a:rPr>
              <a:t>N=10</a:t>
            </a:r>
          </a:p>
        </p:txBody>
      </p:sp>
      <p:cxnSp>
        <p:nvCxnSpPr>
          <p:cNvPr id="188" name="Connector 187"/>
          <p:cNvCxnSpPr/>
          <p:nvPr/>
        </p:nvCxnSpPr>
        <p:spPr>
          <a:xfrm>
            <a:off x="8474964"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89" name="TextBox 188"/>
          <p:cNvSpPr txBox="1"/>
          <p:nvPr/>
        </p:nvSpPr>
        <p:spPr>
          <a:xfrm>
            <a:off x="8740139" y="1755648"/>
            <a:ext cx="548640" cy="137160"/>
          </a:xfrm>
          <a:prstGeom prst="rect">
            <a:avLst/>
          </a:prstGeom>
          <a:noFill/>
        </p:spPr>
        <p:txBody>
          <a:bodyPr wrap="square" lIns="0" tIns="0" rIns="0" bIns="0" anchor="ctr">
            <a:spAutoFit/>
          </a:bodyPr>
          <a:lstStyle/>
          <a:p>
            <a:pPr algn="l"/>
            <a:r>
              <a:rPr lang="en-US" sz="750" b="1">
                <a:solidFill>
                  <a:srgbClr val="C40D1E"/>
                </a:solidFill>
                <a:latin typeface="Arial"/>
              </a:rPr>
              <a:t>N=50</a:t>
            </a:r>
          </a:p>
        </p:txBody>
      </p:sp>
      <p:cxnSp>
        <p:nvCxnSpPr>
          <p:cNvPr id="190" name="Connector 189"/>
          <p:cNvCxnSpPr/>
          <p:nvPr/>
        </p:nvCxnSpPr>
        <p:spPr>
          <a:xfrm>
            <a:off x="9364980"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91" name="TextBox 190"/>
          <p:cNvSpPr txBox="1"/>
          <p:nvPr/>
        </p:nvSpPr>
        <p:spPr>
          <a:xfrm>
            <a:off x="9630156" y="1755648"/>
            <a:ext cx="548640" cy="137160"/>
          </a:xfrm>
          <a:prstGeom prst="rect">
            <a:avLst/>
          </a:prstGeom>
          <a:noFill/>
        </p:spPr>
        <p:txBody>
          <a:bodyPr wrap="square" lIns="0" tIns="0" rIns="0" bIns="0" anchor="ctr">
            <a:spAutoFit/>
          </a:bodyPr>
          <a:lstStyle/>
          <a:p>
            <a:pPr algn="l"/>
            <a:r>
              <a:rPr lang="en-US" sz="750" b="1">
                <a:solidFill>
                  <a:srgbClr val="2F8F46"/>
                </a:solidFill>
                <a:latin typeface="Arial"/>
              </a:rPr>
              <a:t>N=100</a:t>
            </a:r>
          </a:p>
        </p:txBody>
      </p:sp>
      <p:cxnSp>
        <p:nvCxnSpPr>
          <p:cNvPr id="192" name="Connector 191"/>
          <p:cNvCxnSpPr/>
          <p:nvPr/>
        </p:nvCxnSpPr>
        <p:spPr>
          <a:xfrm>
            <a:off x="6629400" y="4443983"/>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3" name="TextBox 192"/>
          <p:cNvSpPr txBox="1"/>
          <p:nvPr/>
        </p:nvSpPr>
        <p:spPr>
          <a:xfrm>
            <a:off x="6190488" y="4370831"/>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a:t>
            </a:r>
          </a:p>
        </p:txBody>
      </p:sp>
      <p:cxnSp>
        <p:nvCxnSpPr>
          <p:cNvPr id="194" name="Connector 193"/>
          <p:cNvCxnSpPr/>
          <p:nvPr/>
        </p:nvCxnSpPr>
        <p:spPr>
          <a:xfrm>
            <a:off x="6629400" y="4014542"/>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5" name="TextBox 194"/>
          <p:cNvSpPr txBox="1"/>
          <p:nvPr/>
        </p:nvSpPr>
        <p:spPr>
          <a:xfrm>
            <a:off x="6190488" y="3941390"/>
            <a:ext cx="393192" cy="146304"/>
          </a:xfrm>
          <a:prstGeom prst="rect">
            <a:avLst/>
          </a:prstGeom>
          <a:noFill/>
        </p:spPr>
        <p:txBody>
          <a:bodyPr wrap="square" lIns="0" tIns="0" rIns="0" bIns="0" anchor="ctr">
            <a:spAutoFit/>
          </a:bodyPr>
          <a:lstStyle/>
          <a:p>
            <a:pPr algn="r"/>
            <a:r>
              <a:rPr lang="en-US" sz="720" b="0">
                <a:solidFill>
                  <a:srgbClr val="686868"/>
                </a:solidFill>
                <a:latin typeface="Arial"/>
              </a:rPr>
              <a:t>10</a:t>
            </a:r>
          </a:p>
        </p:txBody>
      </p:sp>
      <p:cxnSp>
        <p:nvCxnSpPr>
          <p:cNvPr id="196" name="Connector 195"/>
          <p:cNvCxnSpPr/>
          <p:nvPr/>
        </p:nvCxnSpPr>
        <p:spPr>
          <a:xfrm>
            <a:off x="6629400" y="3585101"/>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7" name="TextBox 196"/>
          <p:cNvSpPr txBox="1"/>
          <p:nvPr/>
        </p:nvSpPr>
        <p:spPr>
          <a:xfrm>
            <a:off x="6190488" y="3511949"/>
            <a:ext cx="393192" cy="146304"/>
          </a:xfrm>
          <a:prstGeom prst="rect">
            <a:avLst/>
          </a:prstGeom>
          <a:noFill/>
        </p:spPr>
        <p:txBody>
          <a:bodyPr wrap="square" lIns="0" tIns="0" rIns="0" bIns="0" anchor="ctr">
            <a:spAutoFit/>
          </a:bodyPr>
          <a:lstStyle/>
          <a:p>
            <a:pPr algn="r"/>
            <a:r>
              <a:rPr lang="en-US" sz="720" b="0">
                <a:solidFill>
                  <a:srgbClr val="686868"/>
                </a:solidFill>
                <a:latin typeface="Arial"/>
              </a:rPr>
              <a:t>20</a:t>
            </a:r>
          </a:p>
        </p:txBody>
      </p:sp>
      <p:cxnSp>
        <p:nvCxnSpPr>
          <p:cNvPr id="198" name="Connector 197"/>
          <p:cNvCxnSpPr/>
          <p:nvPr/>
        </p:nvCxnSpPr>
        <p:spPr>
          <a:xfrm>
            <a:off x="6629400" y="315565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9" name="TextBox 198"/>
          <p:cNvSpPr txBox="1"/>
          <p:nvPr/>
        </p:nvSpPr>
        <p:spPr>
          <a:xfrm>
            <a:off x="6190488" y="3082507"/>
            <a:ext cx="393192" cy="146304"/>
          </a:xfrm>
          <a:prstGeom prst="rect">
            <a:avLst/>
          </a:prstGeom>
          <a:noFill/>
        </p:spPr>
        <p:txBody>
          <a:bodyPr wrap="square" lIns="0" tIns="0" rIns="0" bIns="0" anchor="ctr">
            <a:spAutoFit/>
          </a:bodyPr>
          <a:lstStyle/>
          <a:p>
            <a:pPr algn="r"/>
            <a:r>
              <a:rPr lang="en-US" sz="720" b="0">
                <a:solidFill>
                  <a:srgbClr val="686868"/>
                </a:solidFill>
                <a:latin typeface="Arial"/>
              </a:rPr>
              <a:t>30</a:t>
            </a:r>
          </a:p>
        </p:txBody>
      </p:sp>
      <p:cxnSp>
        <p:nvCxnSpPr>
          <p:cNvPr id="200" name="Connector 199"/>
          <p:cNvCxnSpPr/>
          <p:nvPr/>
        </p:nvCxnSpPr>
        <p:spPr>
          <a:xfrm>
            <a:off x="6629400" y="2726218"/>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1" name="TextBox 200"/>
          <p:cNvSpPr txBox="1"/>
          <p:nvPr/>
        </p:nvSpPr>
        <p:spPr>
          <a:xfrm>
            <a:off x="6190488" y="2653066"/>
            <a:ext cx="393192" cy="146304"/>
          </a:xfrm>
          <a:prstGeom prst="rect">
            <a:avLst/>
          </a:prstGeom>
          <a:noFill/>
        </p:spPr>
        <p:txBody>
          <a:bodyPr wrap="square" lIns="0" tIns="0" rIns="0" bIns="0" anchor="ctr">
            <a:spAutoFit/>
          </a:bodyPr>
          <a:lstStyle/>
          <a:p>
            <a:pPr algn="r"/>
            <a:r>
              <a:rPr lang="en-US" sz="720" b="0">
                <a:solidFill>
                  <a:srgbClr val="686868"/>
                </a:solidFill>
                <a:latin typeface="Arial"/>
              </a:rPr>
              <a:t>40</a:t>
            </a:r>
          </a:p>
        </p:txBody>
      </p:sp>
      <p:cxnSp>
        <p:nvCxnSpPr>
          <p:cNvPr id="202" name="Connector 201"/>
          <p:cNvCxnSpPr/>
          <p:nvPr/>
        </p:nvCxnSpPr>
        <p:spPr>
          <a:xfrm>
            <a:off x="6629400" y="2296776"/>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3" name="TextBox 202"/>
          <p:cNvSpPr txBox="1"/>
          <p:nvPr/>
        </p:nvSpPr>
        <p:spPr>
          <a:xfrm>
            <a:off x="6190488" y="2223624"/>
            <a:ext cx="393192" cy="146304"/>
          </a:xfrm>
          <a:prstGeom prst="rect">
            <a:avLst/>
          </a:prstGeom>
          <a:noFill/>
        </p:spPr>
        <p:txBody>
          <a:bodyPr wrap="square" lIns="0" tIns="0" rIns="0" bIns="0" anchor="ctr">
            <a:spAutoFit/>
          </a:bodyPr>
          <a:lstStyle/>
          <a:p>
            <a:pPr algn="r"/>
            <a:r>
              <a:rPr lang="en-US" sz="720" b="0">
                <a:solidFill>
                  <a:srgbClr val="686868"/>
                </a:solidFill>
                <a:latin typeface="Arial"/>
              </a:rPr>
              <a:t>50</a:t>
            </a:r>
          </a:p>
        </p:txBody>
      </p:sp>
      <p:cxnSp>
        <p:nvCxnSpPr>
          <p:cNvPr id="204" name="Connector 203"/>
          <p:cNvCxnSpPr/>
          <p:nvPr/>
        </p:nvCxnSpPr>
        <p:spPr>
          <a:xfrm>
            <a:off x="662940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5" name="TextBox 204"/>
          <p:cNvSpPr txBox="1"/>
          <p:nvPr/>
        </p:nvSpPr>
        <p:spPr>
          <a:xfrm>
            <a:off x="6464808"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a:t>
            </a:r>
          </a:p>
        </p:txBody>
      </p:sp>
      <p:cxnSp>
        <p:nvCxnSpPr>
          <p:cNvPr id="206" name="Connector 205"/>
          <p:cNvCxnSpPr/>
          <p:nvPr/>
        </p:nvCxnSpPr>
        <p:spPr>
          <a:xfrm>
            <a:off x="7441692"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7" name="TextBox 206"/>
          <p:cNvSpPr txBox="1"/>
          <p:nvPr/>
        </p:nvSpPr>
        <p:spPr>
          <a:xfrm>
            <a:off x="7277100"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10</a:t>
            </a:r>
          </a:p>
        </p:txBody>
      </p:sp>
      <p:cxnSp>
        <p:nvCxnSpPr>
          <p:cNvPr id="208" name="Connector 207"/>
          <p:cNvCxnSpPr/>
          <p:nvPr/>
        </p:nvCxnSpPr>
        <p:spPr>
          <a:xfrm>
            <a:off x="8457057"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9" name="TextBox 208"/>
          <p:cNvSpPr txBox="1"/>
          <p:nvPr/>
        </p:nvSpPr>
        <p:spPr>
          <a:xfrm>
            <a:off x="8292465"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20</a:t>
            </a:r>
          </a:p>
        </p:txBody>
      </p:sp>
      <p:cxnSp>
        <p:nvCxnSpPr>
          <p:cNvPr id="210" name="Connector 209"/>
          <p:cNvCxnSpPr/>
          <p:nvPr/>
        </p:nvCxnSpPr>
        <p:spPr>
          <a:xfrm>
            <a:off x="9472422"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1" name="TextBox 210"/>
          <p:cNvSpPr txBox="1"/>
          <p:nvPr/>
        </p:nvSpPr>
        <p:spPr>
          <a:xfrm>
            <a:off x="9307830"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30</a:t>
            </a:r>
          </a:p>
        </p:txBody>
      </p:sp>
      <p:cxnSp>
        <p:nvCxnSpPr>
          <p:cNvPr id="212" name="Connector 211"/>
          <p:cNvCxnSpPr/>
          <p:nvPr/>
        </p:nvCxnSpPr>
        <p:spPr>
          <a:xfrm>
            <a:off x="10487787"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3" name="TextBox 212"/>
          <p:cNvSpPr txBox="1"/>
          <p:nvPr/>
        </p:nvSpPr>
        <p:spPr>
          <a:xfrm>
            <a:off x="10323195"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40</a:t>
            </a:r>
          </a:p>
        </p:txBody>
      </p:sp>
      <p:cxnSp>
        <p:nvCxnSpPr>
          <p:cNvPr id="214" name="Connector 213"/>
          <p:cNvCxnSpPr/>
          <p:nvPr/>
        </p:nvCxnSpPr>
        <p:spPr>
          <a:xfrm>
            <a:off x="11503152"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5" name="TextBox 214"/>
          <p:cNvSpPr txBox="1"/>
          <p:nvPr/>
        </p:nvSpPr>
        <p:spPr>
          <a:xfrm>
            <a:off x="11338560"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50</a:t>
            </a:r>
          </a:p>
        </p:txBody>
      </p:sp>
      <p:cxnSp>
        <p:nvCxnSpPr>
          <p:cNvPr id="216" name="Connector 215"/>
          <p:cNvCxnSpPr/>
          <p:nvPr/>
        </p:nvCxnSpPr>
        <p:spPr>
          <a:xfrm>
            <a:off x="6629400" y="2039112"/>
            <a:ext cx="0" cy="2404871"/>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6629400" y="4443983"/>
            <a:ext cx="48737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629400" y="4434029"/>
            <a:ext cx="101536" cy="97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730936" y="4200864"/>
            <a:ext cx="101537" cy="23316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flipV="1">
            <a:off x="6832473" y="3196800"/>
            <a:ext cx="101536" cy="100406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6934009" y="2586894"/>
            <a:ext cx="101537" cy="60990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7035546" y="2321568"/>
            <a:ext cx="101536" cy="26532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7137082" y="2235804"/>
            <a:ext cx="101537" cy="8576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flipV="1">
            <a:off x="7238619" y="2194647"/>
            <a:ext cx="101536" cy="4115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flipV="1">
            <a:off x="7340155" y="2178951"/>
            <a:ext cx="101537" cy="1569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flipV="1">
            <a:off x="7441692" y="2172440"/>
            <a:ext cx="101536" cy="65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flipV="1">
            <a:off x="7543228" y="2169378"/>
            <a:ext cx="101537" cy="306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flipV="1">
            <a:off x="7644765" y="2168227"/>
            <a:ext cx="101536" cy="115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flipV="1">
            <a:off x="7746301" y="2167081"/>
            <a:ext cx="101537" cy="114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flipV="1">
            <a:off x="7847838" y="2165930"/>
            <a:ext cx="101536" cy="115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flipV="1">
            <a:off x="7949374" y="2165165"/>
            <a:ext cx="101537" cy="76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8050911" y="2165165"/>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8152447" y="2164976"/>
            <a:ext cx="101537" cy="1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flipV="1">
            <a:off x="8253984" y="2164401"/>
            <a:ext cx="101536" cy="5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8355520" y="216440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8457057" y="2164208"/>
            <a:ext cx="101536" cy="19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8558593" y="2164019"/>
            <a:ext cx="101537" cy="1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flipV="1">
            <a:off x="8660130" y="2163637"/>
            <a:ext cx="101536" cy="38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8761666" y="2163637"/>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flipV="1">
            <a:off x="8863203" y="2163443"/>
            <a:ext cx="101536" cy="1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8964739" y="2163443"/>
            <a:ext cx="101537" cy="1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9066276" y="2163637"/>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flipV="1">
            <a:off x="9167812" y="2163443"/>
            <a:ext cx="101537" cy="1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9269349"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9370885"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9472422"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9573958"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9675495"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9777031"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9878568"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9980104"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10081641"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10183177"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0284714" y="2163250"/>
            <a:ext cx="101536" cy="19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10386250" y="2163250"/>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10487787" y="2163250"/>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589323" y="2163250"/>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10690860" y="2163250"/>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10792396" y="2163061"/>
            <a:ext cx="101537" cy="1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10893933" y="2163061"/>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10995469" y="216306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11097006" y="2163061"/>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11198542" y="216306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a:off x="11300079" y="2163061"/>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11401615" y="216306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6629400" y="4435562"/>
            <a:ext cx="101536" cy="84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6730936" y="4186314"/>
            <a:ext cx="101537" cy="24924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6832473" y="3198522"/>
            <a:ext cx="101536" cy="98779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6934009" y="2601633"/>
            <a:ext cx="101537" cy="5968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7035546" y="2331711"/>
            <a:ext cx="101536" cy="2699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7137082" y="2235615"/>
            <a:ext cx="101537" cy="960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7238619" y="2196369"/>
            <a:ext cx="101536" cy="392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7340155" y="2182012"/>
            <a:ext cx="101537" cy="1435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7441692" y="2176078"/>
            <a:ext cx="101536" cy="59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7543228" y="2171100"/>
            <a:ext cx="101537" cy="497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7644765" y="2169378"/>
            <a:ext cx="101536" cy="17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7746301" y="2168038"/>
            <a:ext cx="101537" cy="134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7847838" y="2166699"/>
            <a:ext cx="101536" cy="13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7949374" y="2166316"/>
            <a:ext cx="101537" cy="3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8050911" y="2165548"/>
            <a:ext cx="101536" cy="76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8152447" y="2165165"/>
            <a:ext cx="101537" cy="3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8253984" y="2164783"/>
            <a:ext cx="101536" cy="38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8355520" y="2164208"/>
            <a:ext cx="101537" cy="5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8457057" y="2164019"/>
            <a:ext cx="101536"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8558593" y="2163826"/>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8660130" y="2163826"/>
            <a:ext cx="101536"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flipV="1">
            <a:off x="8761666" y="2163637"/>
            <a:ext cx="101537" cy="38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8863203" y="2163637"/>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8964739" y="2163637"/>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flipV="1">
            <a:off x="9066276" y="2163250"/>
            <a:ext cx="101536" cy="38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9167812" y="2163250"/>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9269349" y="2163250"/>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flipV="1">
            <a:off x="9370885" y="2163061"/>
            <a:ext cx="101537"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9472422" y="2163061"/>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flipV="1">
            <a:off x="9573958" y="2162486"/>
            <a:ext cx="101537" cy="5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9675495" y="216248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flipV="1">
            <a:off x="9777031" y="2162297"/>
            <a:ext cx="101537"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9878568" y="2162297"/>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9980104" y="2162297"/>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10081641" y="2162297"/>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flipV="1">
            <a:off x="10183177" y="2162104"/>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flipV="1">
            <a:off x="10284714" y="2161910"/>
            <a:ext cx="101536" cy="1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flipV="1">
            <a:off x="10386250" y="2161721"/>
            <a:ext cx="101537"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flipV="1">
            <a:off x="10487787" y="2161528"/>
            <a:ext cx="101536"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10589323" y="2161528"/>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flipV="1">
            <a:off x="10690860" y="2161339"/>
            <a:ext cx="101536"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flipV="1">
            <a:off x="10792396" y="2161146"/>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10893933" y="216114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10995469" y="2161146"/>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11097006" y="216114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11198542" y="2161146"/>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11300079" y="216114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flipV="1">
            <a:off x="11401615" y="2160953"/>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flipV="1">
            <a:off x="6629400" y="4435562"/>
            <a:ext cx="101536" cy="842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flipV="1">
            <a:off x="6730936" y="4182870"/>
            <a:ext cx="101537" cy="25269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flipV="1">
            <a:off x="6832473" y="3200051"/>
            <a:ext cx="101536" cy="98281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flipV="1">
            <a:off x="6934009" y="2604888"/>
            <a:ext cx="101537" cy="5951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flipV="1">
            <a:off x="7035546" y="2334009"/>
            <a:ext cx="101536" cy="27087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flipV="1">
            <a:off x="7137082" y="2235040"/>
            <a:ext cx="101537" cy="9896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flipV="1">
            <a:off x="7238619" y="2197709"/>
            <a:ext cx="101536" cy="373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7340155" y="2182588"/>
            <a:ext cx="101537" cy="1512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7441692" y="2175695"/>
            <a:ext cx="101536" cy="68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7543228" y="2171294"/>
            <a:ext cx="101537" cy="440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7644765" y="2169378"/>
            <a:ext cx="101536" cy="191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7746301" y="2167845"/>
            <a:ext cx="101537" cy="15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7847838" y="2167081"/>
            <a:ext cx="101536" cy="76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7949374" y="2166123"/>
            <a:ext cx="101537" cy="9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8050911" y="2165741"/>
            <a:ext cx="101536" cy="3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8152447" y="2164783"/>
            <a:ext cx="101537" cy="9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8253984" y="2164019"/>
            <a:ext cx="101536" cy="76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a:off x="8355520" y="2164019"/>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8457057" y="2164019"/>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8558593" y="2164019"/>
            <a:ext cx="101537"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8660130" y="2164019"/>
            <a:ext cx="101536"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8761666" y="2163637"/>
            <a:ext cx="101537" cy="3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8863203" y="2163443"/>
            <a:ext cx="101536" cy="1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8964739" y="2163443"/>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a:off x="9066276" y="2163443"/>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9167812" y="2163250"/>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a:off x="9269349" y="2163250"/>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a:off x="9370885" y="2163250"/>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9472422" y="2162679"/>
            <a:ext cx="101536" cy="57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9573958" y="2162486"/>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a:off x="9675495" y="216248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9777031" y="2162297"/>
            <a:ext cx="101537"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9878568" y="2161910"/>
            <a:ext cx="101536" cy="38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a:off x="9980104" y="2161910"/>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10081641" y="2161721"/>
            <a:ext cx="101536"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a:off x="10183177" y="2161721"/>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a:off x="10284714" y="2161721"/>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10386250" y="2161528"/>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a:off x="10487787" y="2161528"/>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a:off x="10589323" y="2161528"/>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10690860" y="2161339"/>
            <a:ext cx="101536"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10792396" y="2161146"/>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a:off x="10893933" y="216114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10995469" y="2161146"/>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11097006" y="216114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11198542" y="2161146"/>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flipV="1">
            <a:off x="11300079" y="2160953"/>
            <a:ext cx="101536"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11401615" y="2160953"/>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362" name="Rounded Rectangle 361"/>
          <p:cNvSpPr/>
          <p:nvPr/>
        </p:nvSpPr>
        <p:spPr>
          <a:xfrm>
            <a:off x="594360" y="5074920"/>
            <a:ext cx="3547872" cy="47548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TextBox 362"/>
          <p:cNvSpPr txBox="1"/>
          <p:nvPr/>
        </p:nvSpPr>
        <p:spPr>
          <a:xfrm>
            <a:off x="722376" y="5175504"/>
            <a:ext cx="1024128" cy="182880"/>
          </a:xfrm>
          <a:prstGeom prst="rect">
            <a:avLst/>
          </a:prstGeom>
          <a:noFill/>
        </p:spPr>
        <p:txBody>
          <a:bodyPr wrap="square" lIns="18288" tIns="18288" rIns="18288" bIns="18288" anchor="t">
            <a:spAutoFit/>
          </a:bodyPr>
          <a:lstStyle/>
          <a:p>
            <a:pPr algn="l"/>
            <a:r>
              <a:rPr lang="en-US" sz="880" b="1">
                <a:solidFill>
                  <a:srgbClr val="1F90CC"/>
                </a:solidFill>
                <a:latin typeface="Arial"/>
              </a:rPr>
              <a:t>LOSS</a:t>
            </a:r>
          </a:p>
        </p:txBody>
      </p:sp>
      <p:sp>
        <p:nvSpPr>
          <p:cNvPr id="364" name="TextBox 363"/>
          <p:cNvSpPr txBox="1"/>
          <p:nvPr/>
        </p:nvSpPr>
        <p:spPr>
          <a:xfrm>
            <a:off x="1673352" y="5157216"/>
            <a:ext cx="2304288" cy="219456"/>
          </a:xfrm>
          <a:prstGeom prst="rect">
            <a:avLst/>
          </a:prstGeom>
          <a:noFill/>
        </p:spPr>
        <p:txBody>
          <a:bodyPr wrap="square" lIns="18288" tIns="18288" rIns="18288" bIns="18288" anchor="ctr">
            <a:spAutoFit/>
          </a:bodyPr>
          <a:lstStyle/>
          <a:p>
            <a:pPr algn="ctr"/>
            <a:r>
              <a:rPr lang="en-US" sz="980" b="1">
                <a:solidFill>
                  <a:srgbClr val="434343"/>
                </a:solidFill>
                <a:latin typeface="Arial"/>
              </a:rPr>
              <a:t>≈ 0.62  →  ≈ 0.188</a:t>
            </a:r>
          </a:p>
        </p:txBody>
      </p:sp>
      <p:sp>
        <p:nvSpPr>
          <p:cNvPr id="365" name="Rounded Rectangle 364"/>
          <p:cNvSpPr/>
          <p:nvPr/>
        </p:nvSpPr>
        <p:spPr>
          <a:xfrm>
            <a:off x="4389120" y="5074920"/>
            <a:ext cx="3547872" cy="47548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TextBox 365"/>
          <p:cNvSpPr txBox="1"/>
          <p:nvPr/>
        </p:nvSpPr>
        <p:spPr>
          <a:xfrm>
            <a:off x="4517136" y="5175504"/>
            <a:ext cx="1024128" cy="182880"/>
          </a:xfrm>
          <a:prstGeom prst="rect">
            <a:avLst/>
          </a:prstGeom>
          <a:noFill/>
        </p:spPr>
        <p:txBody>
          <a:bodyPr wrap="square" lIns="18288" tIns="18288" rIns="18288" bIns="18288" anchor="t">
            <a:spAutoFit/>
          </a:bodyPr>
          <a:lstStyle/>
          <a:p>
            <a:pPr algn="l"/>
            <a:r>
              <a:rPr lang="en-US" sz="880" b="1">
                <a:solidFill>
                  <a:srgbClr val="2F8F46"/>
                </a:solidFill>
                <a:latin typeface="Arial"/>
              </a:rPr>
              <a:t>EXACT MATCH</a:t>
            </a:r>
          </a:p>
        </p:txBody>
      </p:sp>
      <p:sp>
        <p:nvSpPr>
          <p:cNvPr id="367" name="TextBox 366"/>
          <p:cNvSpPr txBox="1"/>
          <p:nvPr/>
        </p:nvSpPr>
        <p:spPr>
          <a:xfrm>
            <a:off x="5468112" y="5157216"/>
            <a:ext cx="2304288" cy="219456"/>
          </a:xfrm>
          <a:prstGeom prst="rect">
            <a:avLst/>
          </a:prstGeom>
          <a:noFill/>
        </p:spPr>
        <p:txBody>
          <a:bodyPr wrap="square" lIns="18288" tIns="18288" rIns="18288" bIns="18288" anchor="ctr">
            <a:spAutoFit/>
          </a:bodyPr>
          <a:lstStyle/>
          <a:p>
            <a:pPr algn="ctr"/>
            <a:r>
              <a:rPr lang="en-US" sz="980" b="1">
                <a:solidFill>
                  <a:srgbClr val="434343"/>
                </a:solidFill>
                <a:latin typeface="Arial"/>
              </a:rPr>
              <a:t>≈ 0%  →  ≈ 53.16%</a:t>
            </a:r>
          </a:p>
        </p:txBody>
      </p:sp>
      <p:sp>
        <p:nvSpPr>
          <p:cNvPr id="368" name="Rounded Rectangle 367"/>
          <p:cNvSpPr/>
          <p:nvPr/>
        </p:nvSpPr>
        <p:spPr>
          <a:xfrm>
            <a:off x="8183880" y="5074920"/>
            <a:ext cx="3547872" cy="475488"/>
          </a:xfrm>
          <a:prstGeom prst="roundRect">
            <a:avLst/>
          </a:prstGeom>
          <a:solidFill>
            <a:srgbClr val="F3F3F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TextBox 368"/>
          <p:cNvSpPr txBox="1"/>
          <p:nvPr/>
        </p:nvSpPr>
        <p:spPr>
          <a:xfrm>
            <a:off x="8311896" y="5175504"/>
            <a:ext cx="1024128" cy="182880"/>
          </a:xfrm>
          <a:prstGeom prst="rect">
            <a:avLst/>
          </a:prstGeom>
          <a:noFill/>
        </p:spPr>
        <p:txBody>
          <a:bodyPr wrap="square" lIns="18288" tIns="18288" rIns="18288" bIns="18288" anchor="t">
            <a:spAutoFit/>
          </a:bodyPr>
          <a:lstStyle/>
          <a:p>
            <a:pPr algn="l"/>
            <a:r>
              <a:rPr lang="en-US" sz="880" b="1">
                <a:solidFill>
                  <a:srgbClr val="434343"/>
                </a:solidFill>
                <a:latin typeface="Arial"/>
              </a:rPr>
              <a:t>OBSERVATION</a:t>
            </a:r>
          </a:p>
        </p:txBody>
      </p:sp>
      <p:sp>
        <p:nvSpPr>
          <p:cNvPr id="370" name="TextBox 369"/>
          <p:cNvSpPr txBox="1"/>
          <p:nvPr/>
        </p:nvSpPr>
        <p:spPr>
          <a:xfrm>
            <a:off x="9262872" y="5157216"/>
            <a:ext cx="2304288" cy="219456"/>
          </a:xfrm>
          <a:prstGeom prst="rect">
            <a:avLst/>
          </a:prstGeom>
          <a:noFill/>
        </p:spPr>
        <p:txBody>
          <a:bodyPr wrap="square" lIns="18288" tIns="18288" rIns="18288" bIns="18288" anchor="ctr">
            <a:spAutoFit/>
          </a:bodyPr>
          <a:lstStyle/>
          <a:p>
            <a:pPr algn="ctr"/>
            <a:r>
              <a:rPr lang="en-US" sz="980" b="1">
                <a:solidFill>
                  <a:srgbClr val="434343"/>
                </a:solidFill>
                <a:latin typeface="Arial"/>
              </a:rPr>
              <a:t>Nearly identical curves at all three tested scales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Optimization does not imply useful discrimination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AUROC REMAINS NEAR CHANCE WHILE BOTH F1 SCORES COLLAPSE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384048"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93776" y="1463040"/>
            <a:ext cx="3511296" cy="256032"/>
          </a:xfrm>
          <a:prstGeom prst="rect">
            <a:avLst/>
          </a:prstGeom>
          <a:noFill/>
        </p:spPr>
        <p:txBody>
          <a:bodyPr wrap="square" lIns="18288" tIns="18288" rIns="18288" bIns="18288" anchor="ctr">
            <a:spAutoFit/>
          </a:bodyPr>
          <a:lstStyle/>
          <a:p>
            <a:pPr algn="ctr"/>
            <a:r>
              <a:rPr lang="en-US" sz="1250" b="1">
                <a:solidFill>
                  <a:srgbClr val="434343"/>
                </a:solidFill>
                <a:latin typeface="Arial"/>
              </a:rPr>
              <a:t>Macro AUROC</a:t>
            </a:r>
          </a:p>
        </p:txBody>
      </p:sp>
      <p:cxnSp>
        <p:nvCxnSpPr>
          <p:cNvPr id="10" name="Connector 9"/>
          <p:cNvCxnSpPr/>
          <p:nvPr/>
        </p:nvCxnSpPr>
        <p:spPr>
          <a:xfrm>
            <a:off x="914400"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179576" y="1755648"/>
            <a:ext cx="548640" cy="137160"/>
          </a:xfrm>
          <a:prstGeom prst="rect">
            <a:avLst/>
          </a:prstGeom>
          <a:noFill/>
        </p:spPr>
        <p:txBody>
          <a:bodyPr wrap="square" lIns="0" tIns="0" rIns="0" bIns="0" anchor="ctr">
            <a:spAutoFit/>
          </a:bodyPr>
          <a:lstStyle/>
          <a:p>
            <a:pPr algn="l"/>
            <a:r>
              <a:rPr lang="en-US" sz="750" b="1">
                <a:solidFill>
                  <a:srgbClr val="1F90CC"/>
                </a:solidFill>
                <a:latin typeface="Arial"/>
              </a:rPr>
              <a:t>N=10</a:t>
            </a:r>
          </a:p>
        </p:txBody>
      </p:sp>
      <p:cxnSp>
        <p:nvCxnSpPr>
          <p:cNvPr id="12" name="Connector 11"/>
          <p:cNvCxnSpPr/>
          <p:nvPr/>
        </p:nvCxnSpPr>
        <p:spPr>
          <a:xfrm>
            <a:off x="1804415"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069591" y="1755648"/>
            <a:ext cx="548640" cy="137160"/>
          </a:xfrm>
          <a:prstGeom prst="rect">
            <a:avLst/>
          </a:prstGeom>
          <a:noFill/>
        </p:spPr>
        <p:txBody>
          <a:bodyPr wrap="square" lIns="0" tIns="0" rIns="0" bIns="0" anchor="ctr">
            <a:spAutoFit/>
          </a:bodyPr>
          <a:lstStyle/>
          <a:p>
            <a:pPr algn="l"/>
            <a:r>
              <a:rPr lang="en-US" sz="750" b="1">
                <a:solidFill>
                  <a:srgbClr val="C40D1E"/>
                </a:solidFill>
                <a:latin typeface="Arial"/>
              </a:rPr>
              <a:t>N=50</a:t>
            </a:r>
          </a:p>
        </p:txBody>
      </p:sp>
      <p:cxnSp>
        <p:nvCxnSpPr>
          <p:cNvPr id="14" name="Connector 13"/>
          <p:cNvCxnSpPr/>
          <p:nvPr/>
        </p:nvCxnSpPr>
        <p:spPr>
          <a:xfrm>
            <a:off x="2694431" y="1819656"/>
            <a:ext cx="219457"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59607" y="1755648"/>
            <a:ext cx="548640" cy="137160"/>
          </a:xfrm>
          <a:prstGeom prst="rect">
            <a:avLst/>
          </a:prstGeom>
          <a:noFill/>
        </p:spPr>
        <p:txBody>
          <a:bodyPr wrap="square" lIns="0" tIns="0" rIns="0" bIns="0" anchor="ctr">
            <a:spAutoFit/>
          </a:bodyPr>
          <a:lstStyle/>
          <a:p>
            <a:pPr algn="l"/>
            <a:r>
              <a:rPr lang="en-US" sz="750" b="1">
                <a:solidFill>
                  <a:srgbClr val="2F8F46"/>
                </a:solidFill>
                <a:latin typeface="Arial"/>
              </a:rPr>
              <a:t>N=100</a:t>
            </a:r>
          </a:p>
        </p:txBody>
      </p:sp>
      <p:cxnSp>
        <p:nvCxnSpPr>
          <p:cNvPr id="16" name="Connector 15"/>
          <p:cNvCxnSpPr/>
          <p:nvPr/>
        </p:nvCxnSpPr>
        <p:spPr>
          <a:xfrm>
            <a:off x="859536" y="4050791"/>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20623" y="3977639"/>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0.49</a:t>
            </a:r>
          </a:p>
        </p:txBody>
      </p:sp>
      <p:cxnSp>
        <p:nvCxnSpPr>
          <p:cNvPr id="18" name="Connector 17"/>
          <p:cNvCxnSpPr/>
          <p:nvPr/>
        </p:nvCxnSpPr>
        <p:spPr>
          <a:xfrm>
            <a:off x="859536" y="3246119"/>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0623" y="3172967"/>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0.50</a:t>
            </a:r>
          </a:p>
        </p:txBody>
      </p:sp>
      <p:cxnSp>
        <p:nvCxnSpPr>
          <p:cNvPr id="20" name="Connector 19"/>
          <p:cNvCxnSpPr/>
          <p:nvPr/>
        </p:nvCxnSpPr>
        <p:spPr>
          <a:xfrm>
            <a:off x="859536" y="244144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20623" y="236829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0.51</a:t>
            </a:r>
          </a:p>
        </p:txBody>
      </p:sp>
      <p:cxnSp>
        <p:nvCxnSpPr>
          <p:cNvPr id="22" name="Connector 21"/>
          <p:cNvCxnSpPr/>
          <p:nvPr/>
        </p:nvCxnSpPr>
        <p:spPr>
          <a:xfrm>
            <a:off x="859536"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94944"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a:t>
            </a:r>
          </a:p>
        </p:txBody>
      </p:sp>
      <p:cxnSp>
        <p:nvCxnSpPr>
          <p:cNvPr id="24" name="Connector 23"/>
          <p:cNvCxnSpPr/>
          <p:nvPr/>
        </p:nvCxnSpPr>
        <p:spPr>
          <a:xfrm>
            <a:off x="137160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10</a:t>
            </a:r>
          </a:p>
        </p:txBody>
      </p:sp>
      <p:cxnSp>
        <p:nvCxnSpPr>
          <p:cNvPr id="26" name="Connector 25"/>
          <p:cNvCxnSpPr/>
          <p:nvPr/>
        </p:nvCxnSpPr>
        <p:spPr>
          <a:xfrm>
            <a:off x="201168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47088"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20</a:t>
            </a:r>
          </a:p>
        </p:txBody>
      </p:sp>
      <p:cxnSp>
        <p:nvCxnSpPr>
          <p:cNvPr id="28" name="Connector 27"/>
          <p:cNvCxnSpPr/>
          <p:nvPr/>
        </p:nvCxnSpPr>
        <p:spPr>
          <a:xfrm>
            <a:off x="265176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487168"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30</a:t>
            </a:r>
          </a:p>
        </p:txBody>
      </p:sp>
      <p:cxnSp>
        <p:nvCxnSpPr>
          <p:cNvPr id="30" name="Connector 29"/>
          <p:cNvCxnSpPr/>
          <p:nvPr/>
        </p:nvCxnSpPr>
        <p:spPr>
          <a:xfrm>
            <a:off x="329184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127248"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40</a:t>
            </a:r>
          </a:p>
        </p:txBody>
      </p:sp>
      <p:cxnSp>
        <p:nvCxnSpPr>
          <p:cNvPr id="32" name="Connector 31"/>
          <p:cNvCxnSpPr/>
          <p:nvPr/>
        </p:nvCxnSpPr>
        <p:spPr>
          <a:xfrm>
            <a:off x="393192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67328"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50</a:t>
            </a:r>
          </a:p>
        </p:txBody>
      </p:sp>
      <p:cxnSp>
        <p:nvCxnSpPr>
          <p:cNvPr id="34" name="Connector 33"/>
          <p:cNvCxnSpPr/>
          <p:nvPr/>
        </p:nvCxnSpPr>
        <p:spPr>
          <a:xfrm>
            <a:off x="859536" y="2039112"/>
            <a:ext cx="0" cy="2414015"/>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59536" y="4453127"/>
            <a:ext cx="3072384"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59536" y="3246119"/>
            <a:ext cx="3072384"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3438144" y="3081527"/>
            <a:ext cx="457200" cy="128016"/>
          </a:xfrm>
          <a:prstGeom prst="rect">
            <a:avLst/>
          </a:prstGeom>
          <a:noFill/>
        </p:spPr>
        <p:txBody>
          <a:bodyPr wrap="square" lIns="0" tIns="0" rIns="0" bIns="0" anchor="t">
            <a:spAutoFit/>
          </a:bodyPr>
          <a:lstStyle/>
          <a:p>
            <a:pPr algn="r"/>
            <a:r>
              <a:rPr lang="en-US" sz="700" b="0">
                <a:solidFill>
                  <a:srgbClr val="686868"/>
                </a:solidFill>
                <a:latin typeface="Arial"/>
              </a:rPr>
              <a:t>chance</a:t>
            </a:r>
          </a:p>
        </p:txBody>
      </p:sp>
      <p:cxnSp>
        <p:nvCxnSpPr>
          <p:cNvPr id="38" name="Connector 37"/>
          <p:cNvCxnSpPr/>
          <p:nvPr/>
        </p:nvCxnSpPr>
        <p:spPr>
          <a:xfrm>
            <a:off x="859536" y="3893317"/>
            <a:ext cx="64008" cy="2307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23544" y="4083783"/>
            <a:ext cx="64008" cy="402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987552" y="3848014"/>
            <a:ext cx="64008" cy="23576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51560" y="3551814"/>
            <a:ext cx="64008" cy="2962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15568" y="3316609"/>
            <a:ext cx="64008" cy="23520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179576" y="3150846"/>
            <a:ext cx="64008" cy="1657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243584" y="3019363"/>
            <a:ext cx="64008" cy="13148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307592" y="2950000"/>
            <a:ext cx="64008" cy="693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371600" y="2893029"/>
            <a:ext cx="64008" cy="569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435608" y="2887075"/>
            <a:ext cx="64008" cy="595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499616" y="2872671"/>
            <a:ext cx="64008" cy="1440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563624" y="2872671"/>
            <a:ext cx="64008" cy="716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627632" y="2879833"/>
            <a:ext cx="64008" cy="1070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691640" y="2890535"/>
            <a:ext cx="64008" cy="1335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755648" y="2903892"/>
            <a:ext cx="64008" cy="441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819656" y="2948069"/>
            <a:ext cx="64008" cy="1174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883664" y="2956438"/>
            <a:ext cx="64008" cy="337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947672" y="2956438"/>
            <a:ext cx="64008" cy="692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011680" y="2963358"/>
            <a:ext cx="64008" cy="1255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075688" y="2975911"/>
            <a:ext cx="64008" cy="97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2139696" y="2985647"/>
            <a:ext cx="64008" cy="1553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203704" y="3001177"/>
            <a:ext cx="64008" cy="885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267712" y="3009868"/>
            <a:ext cx="64008" cy="1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331720" y="3009868"/>
            <a:ext cx="64008" cy="93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2395728" y="3018478"/>
            <a:ext cx="64008" cy="72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2459736" y="3018478"/>
            <a:ext cx="64008" cy="24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523744" y="3020972"/>
            <a:ext cx="64008" cy="53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587752" y="3026283"/>
            <a:ext cx="64008" cy="1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651760" y="3026444"/>
            <a:ext cx="64008" cy="917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2715768" y="3031513"/>
            <a:ext cx="64008" cy="410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2779776" y="3029260"/>
            <a:ext cx="64008" cy="225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843784" y="3029260"/>
            <a:ext cx="64008" cy="6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2907792" y="3027490"/>
            <a:ext cx="64008" cy="241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2971800" y="3027490"/>
            <a:ext cx="64008" cy="1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3035808" y="3021938"/>
            <a:ext cx="64008" cy="571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3099816" y="3021696"/>
            <a:ext cx="64008" cy="2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3163824" y="3017754"/>
            <a:ext cx="64008" cy="39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227832" y="3013891"/>
            <a:ext cx="64008" cy="38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291840" y="3009546"/>
            <a:ext cx="64008" cy="434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3355848" y="3009546"/>
            <a:ext cx="64008" cy="6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419856" y="3007856"/>
            <a:ext cx="64008" cy="23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483864" y="3003430"/>
            <a:ext cx="64008" cy="442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547872" y="2996993"/>
            <a:ext cx="64008" cy="643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611880" y="2987176"/>
            <a:ext cx="64007" cy="981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675887" y="2967703"/>
            <a:ext cx="64009" cy="1947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39896" y="2959898"/>
            <a:ext cx="64008" cy="780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803904" y="2936723"/>
            <a:ext cx="64008" cy="231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867912" y="2927228"/>
            <a:ext cx="64008" cy="949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859536" y="3884063"/>
            <a:ext cx="64008" cy="19497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23544" y="4060206"/>
            <a:ext cx="64008" cy="1882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7552" y="3842060"/>
            <a:ext cx="64008" cy="2181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051560" y="3549481"/>
            <a:ext cx="64008" cy="2925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115568" y="3348635"/>
            <a:ext cx="64008" cy="2008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179576" y="3207817"/>
            <a:ext cx="64008" cy="14081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243584" y="3117694"/>
            <a:ext cx="64008" cy="9012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1307592" y="3039158"/>
            <a:ext cx="64008" cy="7853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371600" y="2970439"/>
            <a:ext cx="64008" cy="687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1435608" y="2911698"/>
            <a:ext cx="64008" cy="5874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1499616" y="2869694"/>
            <a:ext cx="64008" cy="420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563624" y="2841852"/>
            <a:ext cx="64008" cy="2784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627632" y="2833001"/>
            <a:ext cx="64008" cy="88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691640" y="2825839"/>
            <a:ext cx="64008" cy="716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1755648" y="2822540"/>
            <a:ext cx="64008" cy="32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1819656" y="2822540"/>
            <a:ext cx="64008" cy="836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883664" y="2830909"/>
            <a:ext cx="64008" cy="2116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947672" y="2852072"/>
            <a:ext cx="64008" cy="563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2011680" y="2857704"/>
            <a:ext cx="64008" cy="748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2075688" y="2856497"/>
            <a:ext cx="64008" cy="869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2139696" y="2839599"/>
            <a:ext cx="64008" cy="1689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2203704" y="2837748"/>
            <a:ext cx="64008" cy="18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2267712" y="2837748"/>
            <a:ext cx="64008" cy="32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2331720" y="2837990"/>
            <a:ext cx="64008" cy="297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2395728" y="2835898"/>
            <a:ext cx="64008" cy="209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2459736" y="2835495"/>
            <a:ext cx="64008" cy="40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2523744" y="2834369"/>
            <a:ext cx="64008" cy="112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2587752" y="2822942"/>
            <a:ext cx="64008" cy="1142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2651760" y="2818356"/>
            <a:ext cx="64008" cy="458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2715768" y="2808941"/>
            <a:ext cx="64008" cy="941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2779776" y="2801780"/>
            <a:ext cx="64008" cy="716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2843784" y="2796952"/>
            <a:ext cx="64008" cy="482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2907792" y="2789710"/>
            <a:ext cx="64008" cy="724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2971800" y="2776030"/>
            <a:ext cx="64008" cy="1368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035808" y="2767903"/>
            <a:ext cx="64008" cy="812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099816" y="2759695"/>
            <a:ext cx="64008" cy="820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163824" y="2756718"/>
            <a:ext cx="64008" cy="297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227832" y="2707713"/>
            <a:ext cx="64008" cy="4900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291840" y="2690896"/>
            <a:ext cx="64008" cy="168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355848" y="2688884"/>
            <a:ext cx="64008" cy="201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3419856" y="2688884"/>
            <a:ext cx="64008" cy="128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3483864" y="2690172"/>
            <a:ext cx="64008" cy="241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3547872" y="2692586"/>
            <a:ext cx="64008" cy="506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3611880" y="2697655"/>
            <a:ext cx="64007" cy="716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3675887" y="2704817"/>
            <a:ext cx="64009" cy="10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3739896" y="2705863"/>
            <a:ext cx="64008" cy="152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3803904" y="2704253"/>
            <a:ext cx="64008" cy="31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3867912" y="2694034"/>
            <a:ext cx="64008" cy="102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859536" y="3858073"/>
            <a:ext cx="64008" cy="2126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923544" y="4055861"/>
            <a:ext cx="64008" cy="148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987552" y="3844554"/>
            <a:ext cx="64008" cy="2113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1051560" y="3559298"/>
            <a:ext cx="64008" cy="2852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1115568" y="3360142"/>
            <a:ext cx="64008" cy="1991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1179576" y="3209185"/>
            <a:ext cx="64008" cy="1509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1243584" y="3113429"/>
            <a:ext cx="64008" cy="957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307592" y="3042296"/>
            <a:ext cx="64008" cy="711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1371600" y="2961266"/>
            <a:ext cx="64008" cy="8103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1435608" y="2889972"/>
            <a:ext cx="64008" cy="712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1499616" y="2848129"/>
            <a:ext cx="64008" cy="418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1563624" y="2825437"/>
            <a:ext cx="64008" cy="2269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1627632" y="2805401"/>
            <a:ext cx="64008" cy="2003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1691640" y="2787617"/>
            <a:ext cx="64008" cy="177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1755648" y="2775950"/>
            <a:ext cx="64008" cy="1166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1819656" y="2769110"/>
            <a:ext cx="64008" cy="684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883664" y="2769110"/>
            <a:ext cx="64008" cy="98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947672" y="2779007"/>
            <a:ext cx="64008" cy="305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011680" y="2809585"/>
            <a:ext cx="64008" cy="434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075688" y="2813930"/>
            <a:ext cx="64008" cy="5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139696" y="2814493"/>
            <a:ext cx="64008" cy="313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2203704" y="2816747"/>
            <a:ext cx="64008" cy="88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2267712" y="2806769"/>
            <a:ext cx="64008" cy="99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2331720" y="2783272"/>
            <a:ext cx="64008" cy="234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2395728" y="2776513"/>
            <a:ext cx="64008" cy="67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2459736" y="2776513"/>
            <a:ext cx="64008" cy="225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2523744" y="2777961"/>
            <a:ext cx="64008" cy="8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2587752" y="2777961"/>
            <a:ext cx="64008" cy="72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2651760" y="2774984"/>
            <a:ext cx="64008" cy="370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2715768" y="2764845"/>
            <a:ext cx="64008" cy="1013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2779776" y="2755431"/>
            <a:ext cx="64008" cy="941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2843784" y="2738774"/>
            <a:ext cx="64008" cy="166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2907792" y="2727347"/>
            <a:ext cx="64008" cy="1142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2971800" y="2713507"/>
            <a:ext cx="64008" cy="1384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3035808" y="2653398"/>
            <a:ext cx="64008" cy="6010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3099816" y="2634649"/>
            <a:ext cx="64008" cy="1874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3163824" y="2630867"/>
            <a:ext cx="64008" cy="37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3227832" y="2625154"/>
            <a:ext cx="64008" cy="571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3291840" y="2620648"/>
            <a:ext cx="64008" cy="450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3355848" y="2616705"/>
            <a:ext cx="64008" cy="39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3419856" y="2615900"/>
            <a:ext cx="64008" cy="8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3483864" y="2615176"/>
            <a:ext cx="64008" cy="72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3547872" y="2615176"/>
            <a:ext cx="64008" cy="49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3611880" y="2620165"/>
            <a:ext cx="64007" cy="273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3675887" y="2617671"/>
            <a:ext cx="64009" cy="523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3739896" y="2592967"/>
            <a:ext cx="64008" cy="247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3803904" y="2578885"/>
            <a:ext cx="64008" cy="140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3867912" y="2570839"/>
            <a:ext cx="64008" cy="804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182" name="Rounded Rectangle 181"/>
          <p:cNvSpPr/>
          <p:nvPr/>
        </p:nvSpPr>
        <p:spPr>
          <a:xfrm>
            <a:off x="4233672"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4343400" y="1463040"/>
            <a:ext cx="3511296" cy="256032"/>
          </a:xfrm>
          <a:prstGeom prst="rect">
            <a:avLst/>
          </a:prstGeom>
          <a:noFill/>
        </p:spPr>
        <p:txBody>
          <a:bodyPr wrap="square" lIns="18288" tIns="18288" rIns="18288" bIns="18288" anchor="ctr">
            <a:spAutoFit/>
          </a:bodyPr>
          <a:lstStyle/>
          <a:p>
            <a:pPr algn="ctr"/>
            <a:r>
              <a:rPr lang="en-US" sz="1250" b="1">
                <a:solidFill>
                  <a:srgbClr val="434343"/>
                </a:solidFill>
                <a:latin typeface="Arial"/>
              </a:rPr>
              <a:t>Micro F1</a:t>
            </a:r>
          </a:p>
        </p:txBody>
      </p:sp>
      <p:cxnSp>
        <p:nvCxnSpPr>
          <p:cNvPr id="184" name="Connector 183"/>
          <p:cNvCxnSpPr/>
          <p:nvPr/>
        </p:nvCxnSpPr>
        <p:spPr>
          <a:xfrm>
            <a:off x="4764024"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85" name="TextBox 184"/>
          <p:cNvSpPr txBox="1"/>
          <p:nvPr/>
        </p:nvSpPr>
        <p:spPr>
          <a:xfrm>
            <a:off x="5029200" y="1755648"/>
            <a:ext cx="548640" cy="137160"/>
          </a:xfrm>
          <a:prstGeom prst="rect">
            <a:avLst/>
          </a:prstGeom>
          <a:noFill/>
        </p:spPr>
        <p:txBody>
          <a:bodyPr wrap="square" lIns="0" tIns="0" rIns="0" bIns="0" anchor="ctr">
            <a:spAutoFit/>
          </a:bodyPr>
          <a:lstStyle/>
          <a:p>
            <a:pPr algn="l"/>
            <a:r>
              <a:rPr lang="en-US" sz="750" b="1">
                <a:solidFill>
                  <a:srgbClr val="1F90CC"/>
                </a:solidFill>
                <a:latin typeface="Arial"/>
              </a:rPr>
              <a:t>N=10</a:t>
            </a:r>
          </a:p>
        </p:txBody>
      </p:sp>
      <p:cxnSp>
        <p:nvCxnSpPr>
          <p:cNvPr id="186" name="Connector 185"/>
          <p:cNvCxnSpPr/>
          <p:nvPr/>
        </p:nvCxnSpPr>
        <p:spPr>
          <a:xfrm>
            <a:off x="5654040"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87" name="TextBox 186"/>
          <p:cNvSpPr txBox="1"/>
          <p:nvPr/>
        </p:nvSpPr>
        <p:spPr>
          <a:xfrm>
            <a:off x="5919216" y="1755648"/>
            <a:ext cx="548640" cy="137160"/>
          </a:xfrm>
          <a:prstGeom prst="rect">
            <a:avLst/>
          </a:prstGeom>
          <a:noFill/>
        </p:spPr>
        <p:txBody>
          <a:bodyPr wrap="square" lIns="0" tIns="0" rIns="0" bIns="0" anchor="ctr">
            <a:spAutoFit/>
          </a:bodyPr>
          <a:lstStyle/>
          <a:p>
            <a:pPr algn="l"/>
            <a:r>
              <a:rPr lang="en-US" sz="750" b="1">
                <a:solidFill>
                  <a:srgbClr val="C40D1E"/>
                </a:solidFill>
                <a:latin typeface="Arial"/>
              </a:rPr>
              <a:t>N=50</a:t>
            </a:r>
          </a:p>
        </p:txBody>
      </p:sp>
      <p:cxnSp>
        <p:nvCxnSpPr>
          <p:cNvPr id="188" name="Connector 187"/>
          <p:cNvCxnSpPr/>
          <p:nvPr/>
        </p:nvCxnSpPr>
        <p:spPr>
          <a:xfrm>
            <a:off x="6544056"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89" name="TextBox 188"/>
          <p:cNvSpPr txBox="1"/>
          <p:nvPr/>
        </p:nvSpPr>
        <p:spPr>
          <a:xfrm>
            <a:off x="6809232" y="1755648"/>
            <a:ext cx="548640" cy="137160"/>
          </a:xfrm>
          <a:prstGeom prst="rect">
            <a:avLst/>
          </a:prstGeom>
          <a:noFill/>
        </p:spPr>
        <p:txBody>
          <a:bodyPr wrap="square" lIns="0" tIns="0" rIns="0" bIns="0" anchor="ctr">
            <a:spAutoFit/>
          </a:bodyPr>
          <a:lstStyle/>
          <a:p>
            <a:pPr algn="l"/>
            <a:r>
              <a:rPr lang="en-US" sz="750" b="1">
                <a:solidFill>
                  <a:srgbClr val="2F8F46"/>
                </a:solidFill>
                <a:latin typeface="Arial"/>
              </a:rPr>
              <a:t>N=100</a:t>
            </a:r>
          </a:p>
        </p:txBody>
      </p:sp>
      <p:cxnSp>
        <p:nvCxnSpPr>
          <p:cNvPr id="190" name="Connector 189"/>
          <p:cNvCxnSpPr/>
          <p:nvPr/>
        </p:nvCxnSpPr>
        <p:spPr>
          <a:xfrm>
            <a:off x="4709160" y="445312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1" name="TextBox 190"/>
          <p:cNvSpPr txBox="1"/>
          <p:nvPr/>
        </p:nvSpPr>
        <p:spPr>
          <a:xfrm>
            <a:off x="4270248" y="437997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0.00</a:t>
            </a:r>
          </a:p>
        </p:txBody>
      </p:sp>
      <p:cxnSp>
        <p:nvCxnSpPr>
          <p:cNvPr id="192" name="Connector 191"/>
          <p:cNvCxnSpPr/>
          <p:nvPr/>
        </p:nvCxnSpPr>
        <p:spPr>
          <a:xfrm>
            <a:off x="4709160" y="335584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3" name="TextBox 192"/>
          <p:cNvSpPr txBox="1"/>
          <p:nvPr/>
        </p:nvSpPr>
        <p:spPr>
          <a:xfrm>
            <a:off x="4270248" y="328269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0.05</a:t>
            </a:r>
          </a:p>
        </p:txBody>
      </p:sp>
      <p:cxnSp>
        <p:nvCxnSpPr>
          <p:cNvPr id="194" name="Connector 193"/>
          <p:cNvCxnSpPr/>
          <p:nvPr/>
        </p:nvCxnSpPr>
        <p:spPr>
          <a:xfrm>
            <a:off x="4709160" y="225856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5" name="TextBox 194"/>
          <p:cNvSpPr txBox="1"/>
          <p:nvPr/>
        </p:nvSpPr>
        <p:spPr>
          <a:xfrm>
            <a:off x="4270248" y="218541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0.10</a:t>
            </a:r>
          </a:p>
        </p:txBody>
      </p:sp>
      <p:cxnSp>
        <p:nvCxnSpPr>
          <p:cNvPr id="196" name="Connector 195"/>
          <p:cNvCxnSpPr/>
          <p:nvPr/>
        </p:nvCxnSpPr>
        <p:spPr>
          <a:xfrm>
            <a:off x="470916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97" name="TextBox 196"/>
          <p:cNvSpPr txBox="1"/>
          <p:nvPr/>
        </p:nvSpPr>
        <p:spPr>
          <a:xfrm>
            <a:off x="4544568"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a:t>
            </a:r>
          </a:p>
        </p:txBody>
      </p:sp>
      <p:cxnSp>
        <p:nvCxnSpPr>
          <p:cNvPr id="198" name="Connector 197"/>
          <p:cNvCxnSpPr/>
          <p:nvPr/>
        </p:nvCxnSpPr>
        <p:spPr>
          <a:xfrm>
            <a:off x="522122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99" name="TextBox 198"/>
          <p:cNvSpPr txBox="1"/>
          <p:nvPr/>
        </p:nvSpPr>
        <p:spPr>
          <a:xfrm>
            <a:off x="5056632"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10</a:t>
            </a:r>
          </a:p>
        </p:txBody>
      </p:sp>
      <p:cxnSp>
        <p:nvCxnSpPr>
          <p:cNvPr id="200" name="Connector 199"/>
          <p:cNvCxnSpPr/>
          <p:nvPr/>
        </p:nvCxnSpPr>
        <p:spPr>
          <a:xfrm>
            <a:off x="586130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1" name="TextBox 200"/>
          <p:cNvSpPr txBox="1"/>
          <p:nvPr/>
        </p:nvSpPr>
        <p:spPr>
          <a:xfrm>
            <a:off x="5696712"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20</a:t>
            </a:r>
          </a:p>
        </p:txBody>
      </p:sp>
      <p:cxnSp>
        <p:nvCxnSpPr>
          <p:cNvPr id="202" name="Connector 201"/>
          <p:cNvCxnSpPr/>
          <p:nvPr/>
        </p:nvCxnSpPr>
        <p:spPr>
          <a:xfrm>
            <a:off x="650138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3" name="TextBox 202"/>
          <p:cNvSpPr txBox="1"/>
          <p:nvPr/>
        </p:nvSpPr>
        <p:spPr>
          <a:xfrm>
            <a:off x="6336792"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30</a:t>
            </a:r>
          </a:p>
        </p:txBody>
      </p:sp>
      <p:cxnSp>
        <p:nvCxnSpPr>
          <p:cNvPr id="204" name="Connector 203"/>
          <p:cNvCxnSpPr/>
          <p:nvPr/>
        </p:nvCxnSpPr>
        <p:spPr>
          <a:xfrm>
            <a:off x="714146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5" name="TextBox 204"/>
          <p:cNvSpPr txBox="1"/>
          <p:nvPr/>
        </p:nvSpPr>
        <p:spPr>
          <a:xfrm>
            <a:off x="6976872"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40</a:t>
            </a:r>
          </a:p>
        </p:txBody>
      </p:sp>
      <p:cxnSp>
        <p:nvCxnSpPr>
          <p:cNvPr id="206" name="Connector 205"/>
          <p:cNvCxnSpPr/>
          <p:nvPr/>
        </p:nvCxnSpPr>
        <p:spPr>
          <a:xfrm>
            <a:off x="778154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7" name="TextBox 206"/>
          <p:cNvSpPr txBox="1"/>
          <p:nvPr/>
        </p:nvSpPr>
        <p:spPr>
          <a:xfrm>
            <a:off x="7616952"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50</a:t>
            </a:r>
          </a:p>
        </p:txBody>
      </p:sp>
      <p:cxnSp>
        <p:nvCxnSpPr>
          <p:cNvPr id="208" name="Connector 207"/>
          <p:cNvCxnSpPr/>
          <p:nvPr/>
        </p:nvCxnSpPr>
        <p:spPr>
          <a:xfrm>
            <a:off x="4709160" y="2039112"/>
            <a:ext cx="0" cy="2414015"/>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4709160" y="4453127"/>
            <a:ext cx="3072384"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4709160" y="2185094"/>
            <a:ext cx="64008" cy="46640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4773168" y="2651503"/>
            <a:ext cx="64008" cy="36842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4837176" y="3019926"/>
            <a:ext cx="64008" cy="46355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a:off x="4901184" y="3483483"/>
            <a:ext cx="64008" cy="46305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a:off x="4965192" y="3946535"/>
            <a:ext cx="64008" cy="26521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5029200" y="4211748"/>
            <a:ext cx="64008" cy="1172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5093208" y="4329025"/>
            <a:ext cx="64008" cy="4624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5157216" y="4375265"/>
            <a:ext cx="64008" cy="306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5221224" y="4405901"/>
            <a:ext cx="64008" cy="103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5285232" y="4416237"/>
            <a:ext cx="64008" cy="1312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5349240" y="4429360"/>
            <a:ext cx="64008" cy="261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5413248" y="4431972"/>
            <a:ext cx="64008" cy="526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5477256" y="4437239"/>
            <a:ext cx="64008" cy="263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5541264" y="4439872"/>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5605272" y="4442528"/>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flipV="1">
            <a:off x="5669280" y="4439872"/>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5733288" y="4439872"/>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5797296" y="4439872"/>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flipV="1">
            <a:off x="5861304" y="4442506"/>
            <a:ext cx="64008"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5925312"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5989320"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6053328"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6117336"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6181344" y="4442506"/>
            <a:ext cx="64008" cy="265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6245352" y="4445161"/>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6309360" y="4445161"/>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6373368" y="4445161"/>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6437376" y="4445161"/>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650138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656539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662940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669340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675741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682142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688543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694944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701344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707745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714146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720547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726948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733348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739749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746150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a:off x="752551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758952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765352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771753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4709160" y="2183470"/>
            <a:ext cx="64008" cy="44878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4773168" y="2632257"/>
            <a:ext cx="64008" cy="37796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4837176" y="3010226"/>
            <a:ext cx="64008" cy="46882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4901184" y="3479050"/>
            <a:ext cx="64008" cy="46867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4965192" y="3947720"/>
            <a:ext cx="64008" cy="25481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5029200" y="4202531"/>
            <a:ext cx="64008" cy="10389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a:off x="5093208" y="4306421"/>
            <a:ext cx="64008" cy="4828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5157216" y="4354701"/>
            <a:ext cx="64008" cy="225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a:off x="5221224" y="4377218"/>
            <a:ext cx="64008" cy="259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a:off x="5285232" y="4403157"/>
            <a:ext cx="64008" cy="1303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a:off x="5349240" y="4416193"/>
            <a:ext cx="64008" cy="184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a:off x="5413248" y="4434627"/>
            <a:ext cx="64008" cy="26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5477256" y="4437239"/>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a:off x="5541264" y="4437239"/>
            <a:ext cx="64008" cy="26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5605272" y="4439872"/>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a:off x="5669280"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a:off x="5733288"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a:off x="5797296"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5861304"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5925312" y="4439850"/>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a:off x="5989320" y="443985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6053328" y="443985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6117336" y="4439850"/>
            <a:ext cx="64008" cy="26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6181344" y="4442506"/>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6245352" y="4442506"/>
            <a:ext cx="64008" cy="26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a:off x="6309360" y="444516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6373368" y="444516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6437376" y="4445161"/>
            <a:ext cx="64008" cy="26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6501384"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6565392"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6629400"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6693408"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6757416"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6821424"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6885432"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6949440"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7013448"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7077456" y="4447817"/>
            <a:ext cx="64008" cy="26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7141464"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7205472"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7269480"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7333488"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7397496"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7461504"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7525512"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7589520"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7653528"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7717536"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709160" y="2167054"/>
            <a:ext cx="64008" cy="43768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773168" y="2604737"/>
            <a:ext cx="64008" cy="3870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837176" y="2991814"/>
            <a:ext cx="64008" cy="46711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01184" y="3458926"/>
            <a:ext cx="64008" cy="4772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4965192" y="3936133"/>
            <a:ext cx="64008" cy="2641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29200" y="4200314"/>
            <a:ext cx="64008" cy="1010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093208" y="4301396"/>
            <a:ext cx="64008" cy="5076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157216" y="4352156"/>
            <a:ext cx="64008" cy="250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21224" y="4377240"/>
            <a:ext cx="64008" cy="232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285232" y="4400524"/>
            <a:ext cx="64008" cy="1830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49240" y="4418827"/>
            <a:ext cx="64008" cy="105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13248" y="4429338"/>
            <a:ext cx="64008" cy="792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flipV="1">
            <a:off x="5477256" y="4437239"/>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41264" y="4437239"/>
            <a:ext cx="64008" cy="26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605272"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a:off x="5669280"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a:off x="5733288"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a:off x="5797296"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a:off x="5861304"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a:off x="5925312" y="4439872"/>
            <a:ext cx="64008" cy="263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a:off x="5989320"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a:off x="6053328"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a:off x="6117336"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a:off x="6181344"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a:off x="6245352" y="4442506"/>
            <a:ext cx="64008" cy="265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a:off x="6309360" y="4445161"/>
            <a:ext cx="64008" cy="26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6373368"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6437376"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a:off x="6501384"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a:off x="6565392"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a:off x="6629400"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6693408"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a:off x="6757416"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a:off x="6821424"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a:off x="6885432"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a:off x="6949440" y="4447817"/>
            <a:ext cx="64008" cy="265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a:off x="7013448"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a:off x="7077456"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a:off x="7141464"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a:off x="7205472"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a:off x="7269480"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a:off x="7333488"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a:off x="7397496"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a:off x="7461504"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a:off x="7525512"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a:off x="7589520"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a:off x="7653528"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a:off x="7717536"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354" name="Rounded Rectangle 353"/>
          <p:cNvSpPr/>
          <p:nvPr/>
        </p:nvSpPr>
        <p:spPr>
          <a:xfrm>
            <a:off x="8083296"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TextBox 354"/>
          <p:cNvSpPr txBox="1"/>
          <p:nvPr/>
        </p:nvSpPr>
        <p:spPr>
          <a:xfrm>
            <a:off x="8193023" y="1463040"/>
            <a:ext cx="3511296" cy="256032"/>
          </a:xfrm>
          <a:prstGeom prst="rect">
            <a:avLst/>
          </a:prstGeom>
          <a:noFill/>
        </p:spPr>
        <p:txBody>
          <a:bodyPr wrap="square" lIns="18288" tIns="18288" rIns="18288" bIns="18288" anchor="ctr">
            <a:spAutoFit/>
          </a:bodyPr>
          <a:lstStyle/>
          <a:p>
            <a:pPr algn="ctr"/>
            <a:r>
              <a:rPr lang="en-US" sz="1250" b="1">
                <a:solidFill>
                  <a:srgbClr val="434343"/>
                </a:solidFill>
                <a:latin typeface="Arial"/>
              </a:rPr>
              <a:t>Macro F1</a:t>
            </a:r>
          </a:p>
        </p:txBody>
      </p:sp>
      <p:cxnSp>
        <p:nvCxnSpPr>
          <p:cNvPr id="356" name="Connector 355"/>
          <p:cNvCxnSpPr/>
          <p:nvPr/>
        </p:nvCxnSpPr>
        <p:spPr>
          <a:xfrm>
            <a:off x="8613648"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357" name="TextBox 356"/>
          <p:cNvSpPr txBox="1"/>
          <p:nvPr/>
        </p:nvSpPr>
        <p:spPr>
          <a:xfrm>
            <a:off x="8878824" y="1755648"/>
            <a:ext cx="548640" cy="137160"/>
          </a:xfrm>
          <a:prstGeom prst="rect">
            <a:avLst/>
          </a:prstGeom>
          <a:noFill/>
        </p:spPr>
        <p:txBody>
          <a:bodyPr wrap="square" lIns="0" tIns="0" rIns="0" bIns="0" anchor="ctr">
            <a:spAutoFit/>
          </a:bodyPr>
          <a:lstStyle/>
          <a:p>
            <a:pPr algn="l"/>
            <a:r>
              <a:rPr lang="en-US" sz="750" b="1">
                <a:solidFill>
                  <a:srgbClr val="1F90CC"/>
                </a:solidFill>
                <a:latin typeface="Arial"/>
              </a:rPr>
              <a:t>N=10</a:t>
            </a:r>
          </a:p>
        </p:txBody>
      </p:sp>
      <p:cxnSp>
        <p:nvCxnSpPr>
          <p:cNvPr id="358" name="Connector 357"/>
          <p:cNvCxnSpPr/>
          <p:nvPr/>
        </p:nvCxnSpPr>
        <p:spPr>
          <a:xfrm>
            <a:off x="9503664"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359" name="TextBox 358"/>
          <p:cNvSpPr txBox="1"/>
          <p:nvPr/>
        </p:nvSpPr>
        <p:spPr>
          <a:xfrm>
            <a:off x="9768839" y="1755648"/>
            <a:ext cx="548640" cy="137160"/>
          </a:xfrm>
          <a:prstGeom prst="rect">
            <a:avLst/>
          </a:prstGeom>
          <a:noFill/>
        </p:spPr>
        <p:txBody>
          <a:bodyPr wrap="square" lIns="0" tIns="0" rIns="0" bIns="0" anchor="ctr">
            <a:spAutoFit/>
          </a:bodyPr>
          <a:lstStyle/>
          <a:p>
            <a:pPr algn="l"/>
            <a:r>
              <a:rPr lang="en-US" sz="750" b="1">
                <a:solidFill>
                  <a:srgbClr val="C40D1E"/>
                </a:solidFill>
                <a:latin typeface="Arial"/>
              </a:rPr>
              <a:t>N=50</a:t>
            </a:r>
          </a:p>
        </p:txBody>
      </p:sp>
      <p:cxnSp>
        <p:nvCxnSpPr>
          <p:cNvPr id="360" name="Connector 359"/>
          <p:cNvCxnSpPr/>
          <p:nvPr/>
        </p:nvCxnSpPr>
        <p:spPr>
          <a:xfrm>
            <a:off x="10393680"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61" name="TextBox 360"/>
          <p:cNvSpPr txBox="1"/>
          <p:nvPr/>
        </p:nvSpPr>
        <p:spPr>
          <a:xfrm>
            <a:off x="10658856" y="1755648"/>
            <a:ext cx="548640" cy="137160"/>
          </a:xfrm>
          <a:prstGeom prst="rect">
            <a:avLst/>
          </a:prstGeom>
          <a:noFill/>
        </p:spPr>
        <p:txBody>
          <a:bodyPr wrap="square" lIns="0" tIns="0" rIns="0" bIns="0" anchor="ctr">
            <a:spAutoFit/>
          </a:bodyPr>
          <a:lstStyle/>
          <a:p>
            <a:pPr algn="l"/>
            <a:r>
              <a:rPr lang="en-US" sz="750" b="1">
                <a:solidFill>
                  <a:srgbClr val="2F8F46"/>
                </a:solidFill>
                <a:latin typeface="Arial"/>
              </a:rPr>
              <a:t>N=100</a:t>
            </a:r>
          </a:p>
        </p:txBody>
      </p:sp>
      <p:cxnSp>
        <p:nvCxnSpPr>
          <p:cNvPr id="362" name="Connector 361"/>
          <p:cNvCxnSpPr/>
          <p:nvPr/>
        </p:nvCxnSpPr>
        <p:spPr>
          <a:xfrm>
            <a:off x="8558784" y="4453127"/>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3" name="TextBox 362"/>
          <p:cNvSpPr txBox="1"/>
          <p:nvPr/>
        </p:nvSpPr>
        <p:spPr>
          <a:xfrm>
            <a:off x="8119871" y="437997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0.00</a:t>
            </a:r>
          </a:p>
        </p:txBody>
      </p:sp>
      <p:cxnSp>
        <p:nvCxnSpPr>
          <p:cNvPr id="364" name="Connector 363"/>
          <p:cNvCxnSpPr/>
          <p:nvPr/>
        </p:nvCxnSpPr>
        <p:spPr>
          <a:xfrm>
            <a:off x="8558784" y="3355847"/>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5" name="TextBox 364"/>
          <p:cNvSpPr txBox="1"/>
          <p:nvPr/>
        </p:nvSpPr>
        <p:spPr>
          <a:xfrm>
            <a:off x="8119871" y="328269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0.05</a:t>
            </a:r>
          </a:p>
        </p:txBody>
      </p:sp>
      <p:cxnSp>
        <p:nvCxnSpPr>
          <p:cNvPr id="366" name="Connector 365"/>
          <p:cNvCxnSpPr/>
          <p:nvPr/>
        </p:nvCxnSpPr>
        <p:spPr>
          <a:xfrm>
            <a:off x="8558784" y="2258567"/>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7" name="TextBox 366"/>
          <p:cNvSpPr txBox="1"/>
          <p:nvPr/>
        </p:nvSpPr>
        <p:spPr>
          <a:xfrm>
            <a:off x="8119871" y="218541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0.10</a:t>
            </a:r>
          </a:p>
        </p:txBody>
      </p:sp>
      <p:cxnSp>
        <p:nvCxnSpPr>
          <p:cNvPr id="368" name="Connector 367"/>
          <p:cNvCxnSpPr/>
          <p:nvPr/>
        </p:nvCxnSpPr>
        <p:spPr>
          <a:xfrm>
            <a:off x="855878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69" name="TextBox 368"/>
          <p:cNvSpPr txBox="1"/>
          <p:nvPr/>
        </p:nvSpPr>
        <p:spPr>
          <a:xfrm>
            <a:off x="8394192"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a:t>
            </a:r>
          </a:p>
        </p:txBody>
      </p:sp>
      <p:cxnSp>
        <p:nvCxnSpPr>
          <p:cNvPr id="370" name="Connector 369"/>
          <p:cNvCxnSpPr/>
          <p:nvPr/>
        </p:nvCxnSpPr>
        <p:spPr>
          <a:xfrm>
            <a:off x="907084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1" name="TextBox 370"/>
          <p:cNvSpPr txBox="1"/>
          <p:nvPr/>
        </p:nvSpPr>
        <p:spPr>
          <a:xfrm>
            <a:off x="8906256"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10</a:t>
            </a:r>
          </a:p>
        </p:txBody>
      </p:sp>
      <p:cxnSp>
        <p:nvCxnSpPr>
          <p:cNvPr id="372" name="Connector 371"/>
          <p:cNvCxnSpPr/>
          <p:nvPr/>
        </p:nvCxnSpPr>
        <p:spPr>
          <a:xfrm>
            <a:off x="971092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3" name="TextBox 372"/>
          <p:cNvSpPr txBox="1"/>
          <p:nvPr/>
        </p:nvSpPr>
        <p:spPr>
          <a:xfrm>
            <a:off x="9546336"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20</a:t>
            </a:r>
          </a:p>
        </p:txBody>
      </p:sp>
      <p:cxnSp>
        <p:nvCxnSpPr>
          <p:cNvPr id="374" name="Connector 373"/>
          <p:cNvCxnSpPr/>
          <p:nvPr/>
        </p:nvCxnSpPr>
        <p:spPr>
          <a:xfrm>
            <a:off x="1035100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5" name="TextBox 374"/>
          <p:cNvSpPr txBox="1"/>
          <p:nvPr/>
        </p:nvSpPr>
        <p:spPr>
          <a:xfrm>
            <a:off x="10186416"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30</a:t>
            </a:r>
          </a:p>
        </p:txBody>
      </p:sp>
      <p:cxnSp>
        <p:nvCxnSpPr>
          <p:cNvPr id="376" name="Connector 375"/>
          <p:cNvCxnSpPr/>
          <p:nvPr/>
        </p:nvCxnSpPr>
        <p:spPr>
          <a:xfrm>
            <a:off x="1099108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7" name="TextBox 376"/>
          <p:cNvSpPr txBox="1"/>
          <p:nvPr/>
        </p:nvSpPr>
        <p:spPr>
          <a:xfrm>
            <a:off x="10826496"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40</a:t>
            </a:r>
          </a:p>
        </p:txBody>
      </p:sp>
      <p:cxnSp>
        <p:nvCxnSpPr>
          <p:cNvPr id="378" name="Connector 377"/>
          <p:cNvCxnSpPr/>
          <p:nvPr/>
        </p:nvCxnSpPr>
        <p:spPr>
          <a:xfrm>
            <a:off x="11631167"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9" name="TextBox 378"/>
          <p:cNvSpPr txBox="1"/>
          <p:nvPr/>
        </p:nvSpPr>
        <p:spPr>
          <a:xfrm>
            <a:off x="11466576"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50</a:t>
            </a:r>
          </a:p>
        </p:txBody>
      </p:sp>
      <p:cxnSp>
        <p:nvCxnSpPr>
          <p:cNvPr id="380" name="Connector 379"/>
          <p:cNvCxnSpPr/>
          <p:nvPr/>
        </p:nvCxnSpPr>
        <p:spPr>
          <a:xfrm>
            <a:off x="8558784" y="2039112"/>
            <a:ext cx="0" cy="2414015"/>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8558784" y="4453127"/>
            <a:ext cx="3072383"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8558784" y="2739308"/>
            <a:ext cx="64008" cy="3510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8622792" y="3090350"/>
            <a:ext cx="64008" cy="3751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8686800" y="3465510"/>
            <a:ext cx="64008" cy="3498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8750808" y="3815366"/>
            <a:ext cx="64007" cy="17201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8814815" y="3987376"/>
            <a:ext cx="64009" cy="15555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8878824" y="4142926"/>
            <a:ext cx="64008" cy="7564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8942832" y="4218573"/>
            <a:ext cx="64008" cy="1703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9006840" y="4235603"/>
            <a:ext cx="64008" cy="3673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9070848" y="4272340"/>
            <a:ext cx="64008" cy="511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flipV="1">
            <a:off x="9134856" y="4296853"/>
            <a:ext cx="64007" cy="2666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a:off x="9198863" y="4296853"/>
            <a:ext cx="64009" cy="454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3" name="Connector 392"/>
          <p:cNvCxnSpPr/>
          <p:nvPr/>
        </p:nvCxnSpPr>
        <p:spPr>
          <a:xfrm>
            <a:off x="9262872" y="4301396"/>
            <a:ext cx="64008" cy="639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4" name="Connector 393"/>
          <p:cNvCxnSpPr/>
          <p:nvPr/>
        </p:nvCxnSpPr>
        <p:spPr>
          <a:xfrm>
            <a:off x="9326880" y="4365367"/>
            <a:ext cx="64008" cy="3241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9390888" y="4397781"/>
            <a:ext cx="64008" cy="1101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9454896" y="44087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flipV="1">
            <a:off x="9518904" y="4397737"/>
            <a:ext cx="64008" cy="110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flipV="1">
            <a:off x="9582912" y="4397715"/>
            <a:ext cx="64007"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9646919" y="4397715"/>
            <a:ext cx="64009" cy="110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0" name="Connector 399"/>
          <p:cNvCxnSpPr/>
          <p:nvPr/>
        </p:nvCxnSpPr>
        <p:spPr>
          <a:xfrm flipV="1">
            <a:off x="9710928" y="4408753"/>
            <a:ext cx="64008"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1" name="Connector 400"/>
          <p:cNvCxnSpPr/>
          <p:nvPr/>
        </p:nvCxnSpPr>
        <p:spPr>
          <a:xfrm>
            <a:off x="9774936" y="4408753"/>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2" name="Connector 401"/>
          <p:cNvCxnSpPr/>
          <p:nvPr/>
        </p:nvCxnSpPr>
        <p:spPr>
          <a:xfrm>
            <a:off x="9838944" y="4408753"/>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a:off x="9902952" y="4408753"/>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9966959" y="4408732"/>
            <a:ext cx="64008" cy="2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a:off x="10030967" y="4408732"/>
            <a:ext cx="64009" cy="1108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a:off x="10094976" y="441981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a:off x="10158984" y="441981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a:off x="10222992" y="441981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a:off x="10287000" y="4419814"/>
            <a:ext cx="64008" cy="1110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a:off x="10351008"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10415016"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10479024"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a:off x="10543032"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10607040"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a:off x="10671048"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a:off x="10735056" y="4430919"/>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a:off x="10799063" y="4430919"/>
            <a:ext cx="64009"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a:off x="10863072"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a:off x="10927080"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10991088"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a:off x="11055096"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a:off x="11119104"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11183112" y="4430897"/>
            <a:ext cx="64008"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a:off x="11247120"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a:off x="11311128"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11375136"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11439144"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a:off x="11503152" y="4430897"/>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11567159"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8558784" y="2737289"/>
            <a:ext cx="64008" cy="34349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8622792" y="3080781"/>
            <a:ext cx="64008" cy="3756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8686800" y="3456402"/>
            <a:ext cx="64008" cy="34862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8750808" y="3805030"/>
            <a:ext cx="64007" cy="23394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8814815" y="4038970"/>
            <a:ext cx="64009" cy="11589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a:off x="8878824" y="4154865"/>
            <a:ext cx="64008" cy="4771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8942832" y="4202575"/>
            <a:ext cx="64008" cy="2264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9006840" y="4225222"/>
            <a:ext cx="64008" cy="779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9070848" y="4303173"/>
            <a:ext cx="64008" cy="22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flipV="1">
            <a:off x="9134856" y="4269991"/>
            <a:ext cx="64007" cy="353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9198863" y="4269991"/>
            <a:ext cx="64009" cy="9083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a:off x="9262872" y="4360824"/>
            <a:ext cx="64008" cy="480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9326880" y="4365126"/>
            <a:ext cx="64008" cy="5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a:off x="9390888" y="4365126"/>
            <a:ext cx="64008" cy="328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V="1">
            <a:off x="9454896" y="4397847"/>
            <a:ext cx="64008" cy="13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V="1">
            <a:off x="9518904" y="4397803"/>
            <a:ext cx="64008" cy="4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V="1">
            <a:off x="9582912" y="4397759"/>
            <a:ext cx="64007" cy="4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V="1">
            <a:off x="9646919" y="4397737"/>
            <a:ext cx="64009"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V="1">
            <a:off x="9710928" y="4397715"/>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a:off x="9774936" y="439771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a:off x="9838944" y="439771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V="1">
            <a:off x="9902952" y="4397649"/>
            <a:ext cx="64007" cy="6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a:off x="9966959" y="4397649"/>
            <a:ext cx="64008" cy="110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a:off x="10030967" y="4408732"/>
            <a:ext cx="64009"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a:off x="10094976" y="4408732"/>
            <a:ext cx="64008" cy="1106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a:off x="10158984" y="441979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a:off x="10222992" y="441979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a:off x="10287000" y="4419792"/>
            <a:ext cx="64008" cy="1110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a:off x="10351008" y="443089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10415016" y="4430875"/>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a:off x="10479024"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a:off x="10543032"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a:off x="10607040"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a:off x="10671048"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a:off x="10735056" y="4430875"/>
            <a:ext cx="6400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a:off x="10799063" y="4430875"/>
            <a:ext cx="64009"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a:off x="10863072"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a:off x="10927080" y="4430875"/>
            <a:ext cx="64008" cy="1112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a:off x="10991088"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11055096"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11119104"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11183112"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11247120"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a:off x="11311128"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a:off x="11375136"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a:off x="11439144"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a:off x="11503152" y="4442001"/>
            <a:ext cx="6400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a:off x="11567159"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a:off x="8558784" y="2731715"/>
            <a:ext cx="64008" cy="33647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a:off x="8622792" y="3068185"/>
            <a:ext cx="64008" cy="37821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8686800" y="3446395"/>
            <a:ext cx="64008" cy="34421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a:off x="8750808" y="3790612"/>
            <a:ext cx="64007" cy="2434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a:off x="8814815" y="4034098"/>
            <a:ext cx="64009" cy="1188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a:off x="8878824" y="4152956"/>
            <a:ext cx="64008" cy="1444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a:off x="8942832" y="4167396"/>
            <a:ext cx="64008" cy="5613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9006840" y="4223533"/>
            <a:ext cx="64008" cy="7996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V="1">
            <a:off x="9070848" y="4239750"/>
            <a:ext cx="64008" cy="6375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a:off x="9134856" y="4239750"/>
            <a:ext cx="64007" cy="353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a:off x="9198863" y="4275127"/>
            <a:ext cx="64009" cy="2119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a:off x="9262872" y="4296326"/>
            <a:ext cx="64008" cy="693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flipV="1">
            <a:off x="9326880" y="4365104"/>
            <a:ext cx="64008" cy="5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a:off x="9390888" y="4365104"/>
            <a:ext cx="64008" cy="3280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flipV="1">
            <a:off x="9454896" y="4397825"/>
            <a:ext cx="64008" cy="8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flipV="1">
            <a:off x="9518904" y="4397781"/>
            <a:ext cx="64008" cy="4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V="1">
            <a:off x="9582912" y="4397715"/>
            <a:ext cx="64007" cy="6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9646919" y="4397715"/>
            <a:ext cx="64009"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a:off x="9710928" y="4397715"/>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9774936" y="4397715"/>
            <a:ext cx="64008" cy="110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flipV="1">
            <a:off x="9838944" y="4408775"/>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9" name="Connector 498"/>
          <p:cNvCxnSpPr/>
          <p:nvPr/>
        </p:nvCxnSpPr>
        <p:spPr>
          <a:xfrm flipV="1">
            <a:off x="9902952" y="4408732"/>
            <a:ext cx="64007" cy="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0" name="Connector 499"/>
          <p:cNvCxnSpPr/>
          <p:nvPr/>
        </p:nvCxnSpPr>
        <p:spPr>
          <a:xfrm flipV="1">
            <a:off x="9966959" y="4408710"/>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1" name="Connector 500"/>
          <p:cNvCxnSpPr/>
          <p:nvPr/>
        </p:nvCxnSpPr>
        <p:spPr>
          <a:xfrm>
            <a:off x="10030967" y="4408710"/>
            <a:ext cx="64009"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2" name="Connector 501"/>
          <p:cNvCxnSpPr/>
          <p:nvPr/>
        </p:nvCxnSpPr>
        <p:spPr>
          <a:xfrm>
            <a:off x="10094976" y="4408710"/>
            <a:ext cx="64008" cy="111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3" name="Connector 502"/>
          <p:cNvCxnSpPr/>
          <p:nvPr/>
        </p:nvCxnSpPr>
        <p:spPr>
          <a:xfrm>
            <a:off x="10158984" y="4419814"/>
            <a:ext cx="64008" cy="111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4" name="Connector 503"/>
          <p:cNvCxnSpPr/>
          <p:nvPr/>
        </p:nvCxnSpPr>
        <p:spPr>
          <a:xfrm>
            <a:off x="10222992" y="4430919"/>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5" name="Connector 504"/>
          <p:cNvCxnSpPr/>
          <p:nvPr/>
        </p:nvCxnSpPr>
        <p:spPr>
          <a:xfrm>
            <a:off x="10287000" y="4430919"/>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6" name="Connector 505"/>
          <p:cNvCxnSpPr/>
          <p:nvPr/>
        </p:nvCxnSpPr>
        <p:spPr>
          <a:xfrm flipV="1">
            <a:off x="10351008" y="4430897"/>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7" name="Connector 506"/>
          <p:cNvCxnSpPr/>
          <p:nvPr/>
        </p:nvCxnSpPr>
        <p:spPr>
          <a:xfrm>
            <a:off x="10415016" y="443089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8" name="Connector 507"/>
          <p:cNvCxnSpPr/>
          <p:nvPr/>
        </p:nvCxnSpPr>
        <p:spPr>
          <a:xfrm>
            <a:off x="10479024" y="443089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9" name="Connector 508"/>
          <p:cNvCxnSpPr/>
          <p:nvPr/>
        </p:nvCxnSpPr>
        <p:spPr>
          <a:xfrm>
            <a:off x="10543032" y="443089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0" name="Connector 509"/>
          <p:cNvCxnSpPr/>
          <p:nvPr/>
        </p:nvCxnSpPr>
        <p:spPr>
          <a:xfrm flipV="1">
            <a:off x="10607040" y="4430875"/>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1" name="Connector 510"/>
          <p:cNvCxnSpPr/>
          <p:nvPr/>
        </p:nvCxnSpPr>
        <p:spPr>
          <a:xfrm>
            <a:off x="10671048" y="4430875"/>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2" name="Connector 511"/>
          <p:cNvCxnSpPr/>
          <p:nvPr/>
        </p:nvCxnSpPr>
        <p:spPr>
          <a:xfrm>
            <a:off x="10735056" y="4430875"/>
            <a:ext cx="6400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3" name="Connector 512"/>
          <p:cNvCxnSpPr/>
          <p:nvPr/>
        </p:nvCxnSpPr>
        <p:spPr>
          <a:xfrm>
            <a:off x="10799063" y="4430875"/>
            <a:ext cx="64009" cy="111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4" name="Connector 513"/>
          <p:cNvCxnSpPr/>
          <p:nvPr/>
        </p:nvCxnSpPr>
        <p:spPr>
          <a:xfrm>
            <a:off x="10863072"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5" name="Connector 514"/>
          <p:cNvCxnSpPr/>
          <p:nvPr/>
        </p:nvCxnSpPr>
        <p:spPr>
          <a:xfrm>
            <a:off x="10927080"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6" name="Connector 515"/>
          <p:cNvCxnSpPr/>
          <p:nvPr/>
        </p:nvCxnSpPr>
        <p:spPr>
          <a:xfrm>
            <a:off x="10991088"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a:off x="11055096"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a:off x="11119104"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a:off x="11183112"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a:off x="11247120"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a:off x="11311128"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a:off x="11375136"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a:off x="11439144"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11503152" y="4442001"/>
            <a:ext cx="6400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a:off x="11567159"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526" name="Rectangle 525"/>
          <p:cNvSpPr/>
          <p:nvPr/>
        </p:nvSpPr>
        <p:spPr>
          <a:xfrm>
            <a:off x="914400" y="5093208"/>
            <a:ext cx="10360152" cy="4663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7" name="TextBox 526"/>
          <p:cNvSpPr txBox="1"/>
          <p:nvPr/>
        </p:nvSpPr>
        <p:spPr>
          <a:xfrm>
            <a:off x="1133856" y="5193792"/>
            <a:ext cx="9921240" cy="246888"/>
          </a:xfrm>
          <a:prstGeom prst="rect">
            <a:avLst/>
          </a:prstGeom>
          <a:noFill/>
        </p:spPr>
        <p:txBody>
          <a:bodyPr wrap="square" lIns="18288" tIns="18288" rIns="18288" bIns="18288" anchor="ctr">
            <a:spAutoFit/>
          </a:bodyPr>
          <a:lstStyle/>
          <a:p>
            <a:pPr algn="ctr"/>
            <a:r>
              <a:rPr lang="en-US" sz="1220" b="1">
                <a:solidFill>
                  <a:srgbClr val="FFFFFF"/>
                </a:solidFill>
                <a:latin typeface="Arial"/>
              </a:rPr>
              <a:t>The model converges toward majority-negative predictions: protocol execution succeeds, diagnostic learning quality does not.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Results: demonstrated chain and explicit limits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SYSTEM INTEGRATION IS NOT A CLINICAL CLAIM</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640080" y="1399032"/>
            <a:ext cx="3364992" cy="162763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5528" y="1627632"/>
            <a:ext cx="3054096" cy="475488"/>
          </a:xfrm>
          <a:prstGeom prst="rect">
            <a:avLst/>
          </a:prstGeom>
          <a:noFill/>
        </p:spPr>
        <p:txBody>
          <a:bodyPr wrap="square" lIns="18288" tIns="18288" rIns="18288" bIns="18288" anchor="t">
            <a:spAutoFit/>
          </a:bodyPr>
          <a:lstStyle/>
          <a:p>
            <a:pPr algn="ctr"/>
            <a:r>
              <a:rPr lang="en-US" sz="2700" b="1">
                <a:solidFill>
                  <a:srgbClr val="7A35B5"/>
                </a:solidFill>
                <a:latin typeface="Arial"/>
              </a:rPr>
              <a:t>3 + 1</a:t>
            </a:r>
          </a:p>
        </p:txBody>
      </p:sp>
      <p:sp>
        <p:nvSpPr>
          <p:cNvPr id="10" name="TextBox 9"/>
          <p:cNvSpPr txBox="1"/>
          <p:nvPr/>
        </p:nvSpPr>
        <p:spPr>
          <a:xfrm>
            <a:off x="795528" y="2194560"/>
            <a:ext cx="3054096" cy="274320"/>
          </a:xfrm>
          <a:prstGeom prst="rect">
            <a:avLst/>
          </a:prstGeom>
          <a:noFill/>
        </p:spPr>
        <p:txBody>
          <a:bodyPr wrap="square" lIns="18288" tIns="18288" rIns="18288" bIns="18288" anchor="t">
            <a:spAutoFit/>
          </a:bodyPr>
          <a:lstStyle/>
          <a:p>
            <a:pPr algn="ctr"/>
            <a:r>
              <a:rPr lang="en-US" sz="1400" b="1">
                <a:solidFill>
                  <a:srgbClr val="434343"/>
                </a:solidFill>
                <a:latin typeface="Arial"/>
              </a:rPr>
              <a:t>transparency records</a:t>
            </a:r>
          </a:p>
        </p:txBody>
      </p:sp>
      <p:sp>
        <p:nvSpPr>
          <p:cNvPr id="11" name="TextBox 10"/>
          <p:cNvSpPr txBox="1"/>
          <p:nvPr/>
        </p:nvSpPr>
        <p:spPr>
          <a:xfrm>
            <a:off x="859536" y="2596896"/>
            <a:ext cx="2926080" cy="292608"/>
          </a:xfrm>
          <a:prstGeom prst="rect">
            <a:avLst/>
          </a:prstGeom>
          <a:noFill/>
        </p:spPr>
        <p:txBody>
          <a:bodyPr wrap="square" lIns="18288" tIns="18288" rIns="18288" bIns="18288" anchor="t">
            <a:spAutoFit/>
          </a:bodyPr>
          <a:lstStyle/>
          <a:p>
            <a:pPr algn="ctr"/>
            <a:r>
              <a:rPr lang="en-US" sz="1080" b="0">
                <a:solidFill>
                  <a:srgbClr val="434343"/>
                </a:solidFill>
                <a:latin typeface="Arial"/>
              </a:rPr>
              <a:t>Three tool receipts plus one complete inference bundle</a:t>
            </a:r>
          </a:p>
        </p:txBody>
      </p:sp>
      <p:sp>
        <p:nvSpPr>
          <p:cNvPr id="12" name="Rounded Rectangle 11"/>
          <p:cNvSpPr/>
          <p:nvPr/>
        </p:nvSpPr>
        <p:spPr>
          <a:xfrm>
            <a:off x="4325112" y="1399032"/>
            <a:ext cx="3364992" cy="16276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627632"/>
            <a:ext cx="3054096" cy="475488"/>
          </a:xfrm>
          <a:prstGeom prst="rect">
            <a:avLst/>
          </a:prstGeom>
          <a:noFill/>
        </p:spPr>
        <p:txBody>
          <a:bodyPr wrap="square" lIns="18288" tIns="18288" rIns="18288" bIns="18288" anchor="t">
            <a:spAutoFit/>
          </a:bodyPr>
          <a:lstStyle/>
          <a:p>
            <a:pPr algn="ctr"/>
            <a:r>
              <a:rPr lang="en-US" sz="2700" b="1">
                <a:solidFill>
                  <a:srgbClr val="2F8F46"/>
                </a:solidFill>
                <a:latin typeface="Arial"/>
              </a:rPr>
              <a:t>78,468</a:t>
            </a:r>
          </a:p>
        </p:txBody>
      </p:sp>
      <p:sp>
        <p:nvSpPr>
          <p:cNvPr id="14" name="TextBox 13"/>
          <p:cNvSpPr txBox="1"/>
          <p:nvPr/>
        </p:nvSpPr>
        <p:spPr>
          <a:xfrm>
            <a:off x="4480560" y="2194560"/>
            <a:ext cx="3054096" cy="274320"/>
          </a:xfrm>
          <a:prstGeom prst="rect">
            <a:avLst/>
          </a:prstGeom>
          <a:noFill/>
        </p:spPr>
        <p:txBody>
          <a:bodyPr wrap="square" lIns="18288" tIns="18288" rIns="18288" bIns="18288" anchor="t">
            <a:spAutoFit/>
          </a:bodyPr>
          <a:lstStyle/>
          <a:p>
            <a:pPr algn="ctr"/>
            <a:r>
              <a:rPr lang="en-US" sz="1400" b="1">
                <a:solidFill>
                  <a:srgbClr val="434343"/>
                </a:solidFill>
                <a:latin typeface="Arial"/>
              </a:rPr>
              <a:t>signed training samples</a:t>
            </a:r>
          </a:p>
        </p:txBody>
      </p:sp>
      <p:sp>
        <p:nvSpPr>
          <p:cNvPr id="15" name="TextBox 14"/>
          <p:cNvSpPr txBox="1"/>
          <p:nvPr/>
        </p:nvSpPr>
        <p:spPr>
          <a:xfrm>
            <a:off x="4544568" y="2596896"/>
            <a:ext cx="2926080" cy="292608"/>
          </a:xfrm>
          <a:prstGeom prst="rect">
            <a:avLst/>
          </a:prstGeom>
          <a:noFill/>
        </p:spPr>
        <p:txBody>
          <a:bodyPr wrap="square" lIns="18288" tIns="18288" rIns="18288" bIns="18288" anchor="t">
            <a:spAutoFit/>
          </a:bodyPr>
          <a:lstStyle/>
          <a:p>
            <a:pPr algn="ctr"/>
            <a:r>
              <a:rPr lang="en-US" sz="1080" b="0">
                <a:solidFill>
                  <a:srgbClr val="434343"/>
                </a:solidFill>
                <a:latin typeface="Arial"/>
              </a:rPr>
              <a:t>Pixel, label, and policy tampering rejected</a:t>
            </a:r>
          </a:p>
        </p:txBody>
      </p:sp>
      <p:sp>
        <p:nvSpPr>
          <p:cNvPr id="16" name="Rounded Rectangle 15"/>
          <p:cNvSpPr/>
          <p:nvPr/>
        </p:nvSpPr>
        <p:spPr>
          <a:xfrm>
            <a:off x="8010144" y="1399032"/>
            <a:ext cx="3364992" cy="16276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65592" y="1627632"/>
            <a:ext cx="3054096" cy="475488"/>
          </a:xfrm>
          <a:prstGeom prst="rect">
            <a:avLst/>
          </a:prstGeom>
          <a:noFill/>
        </p:spPr>
        <p:txBody>
          <a:bodyPr wrap="square" lIns="18288" tIns="18288" rIns="18288" bIns="18288" anchor="t">
            <a:spAutoFit/>
          </a:bodyPr>
          <a:lstStyle/>
          <a:p>
            <a:pPr algn="ctr"/>
            <a:r>
              <a:rPr lang="en-US" sz="2700" b="1">
                <a:solidFill>
                  <a:srgbClr val="1F90CC"/>
                </a:solidFill>
                <a:latin typeface="Arial"/>
              </a:rPr>
              <a:t>10 · 50 · 100</a:t>
            </a:r>
          </a:p>
        </p:txBody>
      </p:sp>
      <p:sp>
        <p:nvSpPr>
          <p:cNvPr id="18" name="TextBox 17"/>
          <p:cNvSpPr txBox="1"/>
          <p:nvPr/>
        </p:nvSpPr>
        <p:spPr>
          <a:xfrm>
            <a:off x="8165592" y="2194560"/>
            <a:ext cx="3054096" cy="274320"/>
          </a:xfrm>
          <a:prstGeom prst="rect">
            <a:avLst/>
          </a:prstGeom>
          <a:noFill/>
        </p:spPr>
        <p:txBody>
          <a:bodyPr wrap="square" lIns="18288" tIns="18288" rIns="18288" bIns="18288" anchor="t">
            <a:spAutoFit/>
          </a:bodyPr>
          <a:lstStyle/>
          <a:p>
            <a:pPr algn="ctr"/>
            <a:r>
              <a:rPr lang="en-US" sz="1400" b="1">
                <a:solidFill>
                  <a:srgbClr val="434343"/>
                </a:solidFill>
                <a:latin typeface="Arial"/>
              </a:rPr>
              <a:t>participants</a:t>
            </a:r>
          </a:p>
        </p:txBody>
      </p:sp>
      <p:sp>
        <p:nvSpPr>
          <p:cNvPr id="19" name="TextBox 18"/>
          <p:cNvSpPr txBox="1"/>
          <p:nvPr/>
        </p:nvSpPr>
        <p:spPr>
          <a:xfrm>
            <a:off x="8229600" y="2596896"/>
            <a:ext cx="2926080" cy="292608"/>
          </a:xfrm>
          <a:prstGeom prst="rect">
            <a:avLst/>
          </a:prstGeom>
          <a:noFill/>
        </p:spPr>
        <p:txBody>
          <a:bodyPr wrap="square" lIns="18288" tIns="18288" rIns="18288" bIns="18288" anchor="t">
            <a:spAutoFit/>
          </a:bodyPr>
          <a:lstStyle/>
          <a:p>
            <a:pPr algn="ctr"/>
            <a:r>
              <a:rPr lang="en-US" sz="1080" b="0">
                <a:solidFill>
                  <a:srgbClr val="434343"/>
                </a:solidFill>
                <a:latin typeface="Arial"/>
              </a:rPr>
              <a:t>Every scale experiment reached round 50</a:t>
            </a:r>
          </a:p>
        </p:txBody>
      </p:sp>
      <p:sp>
        <p:nvSpPr>
          <p:cNvPr id="20" name="Rounded Rectangle 19"/>
          <p:cNvSpPr/>
          <p:nvPr/>
        </p:nvSpPr>
        <p:spPr>
          <a:xfrm>
            <a:off x="658368" y="3346704"/>
            <a:ext cx="5285232" cy="1517904"/>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96112" y="3575304"/>
            <a:ext cx="1920240" cy="274320"/>
          </a:xfrm>
          <a:prstGeom prst="rect">
            <a:avLst/>
          </a:prstGeom>
          <a:noFill/>
        </p:spPr>
        <p:txBody>
          <a:bodyPr wrap="square" lIns="18288" tIns="18288" rIns="18288" bIns="18288" anchor="t">
            <a:spAutoFit/>
          </a:bodyPr>
          <a:lstStyle/>
          <a:p>
            <a:pPr algn="l"/>
            <a:r>
              <a:rPr lang="en-US" sz="1400" b="1">
                <a:solidFill>
                  <a:srgbClr val="2F8F46"/>
                </a:solidFill>
                <a:latin typeface="Arial"/>
              </a:rPr>
              <a:t>DEMONSTRATED</a:t>
            </a:r>
          </a:p>
        </p:txBody>
      </p:sp>
      <p:sp>
        <p:nvSpPr>
          <p:cNvPr id="22" name="TextBox 21"/>
          <p:cNvSpPr txBox="1"/>
          <p:nvPr/>
        </p:nvSpPr>
        <p:spPr>
          <a:xfrm>
            <a:off x="877824" y="4005072"/>
            <a:ext cx="4754880" cy="658368"/>
          </a:xfrm>
          <a:prstGeom prst="rect">
            <a:avLst/>
          </a:prstGeom>
          <a:noFill/>
        </p:spPr>
        <p:txBody>
          <a:bodyPr wrap="square" lIns="27432" tIns="18288" rIns="27432" bIns="18288">
            <a:spAutoFit/>
          </a:bodyPr>
          <a:lstStyle/>
          <a:p>
            <a:pPr>
              <a:lnSpc>
                <a:spcPct val="100000"/>
              </a:lnSpc>
              <a:spcAft>
                <a:spcPts val="500"/>
              </a:spcAft>
            </a:pPr>
            <a:r>
              <a:rPr lang="en-US" sz="1250">
                <a:solidFill>
                  <a:srgbClr val="2F8F46"/>
                </a:solidFill>
                <a:latin typeface="Arial"/>
              </a:rPr>
              <a:t>●  </a:t>
            </a:r>
            <a:r>
              <a:rPr lang="en-US" sz="1450">
                <a:solidFill>
                  <a:srgbClr val="434343"/>
                </a:solidFill>
                <a:latin typeface="Arial"/>
              </a:rPr>
              <a:t>End-to-end execution of the prototype</a:t>
            </a:r>
          </a:p>
          <a:p>
            <a:pPr>
              <a:lnSpc>
                <a:spcPct val="100000"/>
              </a:lnSpc>
              <a:spcAft>
                <a:spcPts val="500"/>
              </a:spcAft>
            </a:pPr>
            <a:r>
              <a:rPr lang="en-US" sz="1250">
                <a:solidFill>
                  <a:srgbClr val="2F8F46"/>
                </a:solidFill>
                <a:latin typeface="Arial"/>
              </a:rPr>
              <a:t>●  </a:t>
            </a:r>
            <a:r>
              <a:rPr lang="en-US" sz="1450">
                <a:solidFill>
                  <a:srgbClr val="434343"/>
                </a:solidFill>
                <a:latin typeface="Arial"/>
              </a:rPr>
              <a:t>Rejection of tampered and stale-context objects</a:t>
            </a:r>
          </a:p>
        </p:txBody>
      </p:sp>
      <p:sp>
        <p:nvSpPr>
          <p:cNvPr id="23" name="Rounded Rectangle 22"/>
          <p:cNvSpPr/>
          <p:nvPr/>
        </p:nvSpPr>
        <p:spPr>
          <a:xfrm>
            <a:off x="6217920" y="3346704"/>
            <a:ext cx="5285232" cy="1517904"/>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55664" y="3575304"/>
            <a:ext cx="2377440" cy="274320"/>
          </a:xfrm>
          <a:prstGeom prst="rect">
            <a:avLst/>
          </a:prstGeom>
          <a:noFill/>
        </p:spPr>
        <p:txBody>
          <a:bodyPr wrap="square" lIns="18288" tIns="18288" rIns="18288" bIns="18288" anchor="t">
            <a:spAutoFit/>
          </a:bodyPr>
          <a:lstStyle/>
          <a:p>
            <a:pPr algn="l"/>
            <a:r>
              <a:rPr lang="en-US" sz="1400" b="1">
                <a:solidFill>
                  <a:srgbClr val="FF6C00"/>
                </a:solidFill>
                <a:latin typeface="Arial"/>
              </a:rPr>
              <a:t>NOT DEMONSTRATED</a:t>
            </a:r>
          </a:p>
        </p:txBody>
      </p:sp>
      <p:sp>
        <p:nvSpPr>
          <p:cNvPr id="25" name="TextBox 24"/>
          <p:cNvSpPr txBox="1"/>
          <p:nvPr/>
        </p:nvSpPr>
        <p:spPr>
          <a:xfrm>
            <a:off x="6437376" y="4005072"/>
            <a:ext cx="4736592" cy="658368"/>
          </a:xfrm>
          <a:prstGeom prst="rect">
            <a:avLst/>
          </a:prstGeom>
          <a:noFill/>
        </p:spPr>
        <p:txBody>
          <a:bodyPr wrap="square" lIns="27432" tIns="18288" rIns="27432" bIns="18288">
            <a:spAutoFit/>
          </a:bodyPr>
          <a:lstStyle/>
          <a:p>
            <a:pPr>
              <a:lnSpc>
                <a:spcPct val="100000"/>
              </a:lnSpc>
              <a:spcAft>
                <a:spcPts val="500"/>
              </a:spcAft>
            </a:pPr>
            <a:r>
              <a:rPr lang="en-US" sz="1250">
                <a:solidFill>
                  <a:srgbClr val="FF6C00"/>
                </a:solidFill>
                <a:latin typeface="Arial"/>
              </a:rPr>
              <a:t>●  </a:t>
            </a:r>
            <a:r>
              <a:rPr lang="en-US" sz="1450">
                <a:solidFill>
                  <a:srgbClr val="434343"/>
                </a:solidFill>
                <a:latin typeface="Arial"/>
              </a:rPr>
              <a:t>Clinical validity or diagnostic utility</a:t>
            </a:r>
          </a:p>
          <a:p>
            <a:pPr>
              <a:lnSpc>
                <a:spcPct val="100000"/>
              </a:lnSpc>
              <a:spcAft>
                <a:spcPts val="500"/>
              </a:spcAft>
            </a:pPr>
            <a:r>
              <a:rPr lang="en-US" sz="1250">
                <a:solidFill>
                  <a:srgbClr val="FF6C00"/>
                </a:solidFill>
                <a:latin typeface="Arial"/>
              </a:rPr>
              <a:t>●  </a:t>
            </a:r>
            <a:r>
              <a:rPr lang="en-US" sz="1450">
                <a:solidFill>
                  <a:srgbClr val="434343"/>
                </a:solidFill>
                <a:latin typeface="Arial"/>
              </a:rPr>
              <a:t>Macro AUROC ≈ 0.50; F1 scores trend toward zero</a:t>
            </a:r>
          </a:p>
        </p:txBody>
      </p:sp>
      <p:sp>
        <p:nvSpPr>
          <p:cNvPr id="26" name="Rectangle 25"/>
          <p:cNvSpPr/>
          <p:nvPr/>
        </p:nvSpPr>
        <p:spPr>
          <a:xfrm>
            <a:off x="1207008" y="5120640"/>
            <a:ext cx="9784080" cy="43891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89888" y="5221224"/>
            <a:ext cx="9418320" cy="228600"/>
          </a:xfrm>
          <a:prstGeom prst="rect">
            <a:avLst/>
          </a:prstGeom>
          <a:noFill/>
        </p:spPr>
        <p:txBody>
          <a:bodyPr wrap="square" lIns="18288" tIns="18288" rIns="18288" bIns="18288" anchor="t">
            <a:spAutoFit/>
          </a:bodyPr>
          <a:lstStyle/>
          <a:p>
            <a:pPr algn="ctr"/>
            <a:r>
              <a:rPr lang="en-US" sz="1400" b="1">
                <a:solidFill>
                  <a:srgbClr val="FFFFFF"/>
                </a:solidFill>
                <a:latin typeface="Arial"/>
              </a:rPr>
              <a:t>The evidence chain supports the process claim—not the medical correctness of the model.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COMPOSED EVIDENCE WORKS · NEXT: STRENGTHEN SOURCE-TO-DEPLOYMENT TRUST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640080" y="1389888"/>
            <a:ext cx="5257800" cy="33558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1664208"/>
            <a:ext cx="4114800" cy="292608"/>
          </a:xfrm>
          <a:prstGeom prst="rect">
            <a:avLst/>
          </a:prstGeom>
          <a:noFill/>
        </p:spPr>
        <p:txBody>
          <a:bodyPr wrap="square" lIns="18288" tIns="18288" rIns="18288" bIns="18288" anchor="t">
            <a:spAutoFit/>
          </a:bodyPr>
          <a:lstStyle/>
          <a:p>
            <a:pPr algn="l"/>
            <a:r>
              <a:rPr lang="en-US" sz="1500" b="1">
                <a:solidFill>
                  <a:srgbClr val="2F8F46"/>
                </a:solidFill>
                <a:latin typeface="Arial"/>
              </a:rPr>
              <a:t>CONCLUSION · DEMONSTRATED</a:t>
            </a:r>
          </a:p>
        </p:txBody>
      </p:sp>
      <p:sp>
        <p:nvSpPr>
          <p:cNvPr id="11" name="Rounded Rectangle 10"/>
          <p:cNvSpPr/>
          <p:nvPr/>
        </p:nvSpPr>
        <p:spPr>
          <a:xfrm>
            <a:off x="6236208" y="1389888"/>
            <a:ext cx="5257800" cy="3355848"/>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92240" y="1664208"/>
            <a:ext cx="2834640" cy="292608"/>
          </a:xfrm>
          <a:prstGeom prst="rect">
            <a:avLst/>
          </a:prstGeom>
          <a:noFill/>
        </p:spPr>
        <p:txBody>
          <a:bodyPr wrap="square" lIns="18288" tIns="18288" rIns="18288" bIns="18288" anchor="t">
            <a:spAutoFit/>
          </a:bodyPr>
          <a:lstStyle/>
          <a:p>
            <a:pPr algn="l"/>
            <a:r>
              <a:rPr lang="en-US" sz="1500" b="1">
                <a:solidFill>
                  <a:srgbClr val="FF6C00"/>
                </a:solidFill>
                <a:latin typeface="Arial"/>
              </a:rPr>
              <a:t>CONCRETE NEXT STEPS</a:t>
            </a:r>
          </a:p>
        </p:txBody>
      </p:sp>
      <p:sp>
        <p:nvSpPr>
          <p:cNvPr id="14" name="Rectangle 13"/>
          <p:cNvSpPr/>
          <p:nvPr/>
        </p:nvSpPr>
        <p:spPr>
          <a:xfrm>
            <a:off x="960120" y="4928616"/>
            <a:ext cx="10241280" cy="594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71432" y="5623560"/>
            <a:ext cx="1993392" cy="201168"/>
          </a:xfrm>
          <a:prstGeom prst="rect">
            <a:avLst/>
          </a:prstGeom>
          <a:noFill/>
        </p:spPr>
        <p:txBody>
          <a:bodyPr wrap="square" lIns="18288" tIns="18288" rIns="18288" bIns="18288" anchor="t">
            <a:spAutoFit/>
          </a:bodyPr>
          <a:lstStyle/>
          <a:p>
            <a:pPr algn="r"/>
            <a:r>
              <a:rPr lang="en-US" sz="1100" b="1">
                <a:solidFill>
                  <a:srgbClr val="C40D1E"/>
                </a:solidFill>
                <a:latin typeface="Arial"/>
              </a:rPr>
              <a:t>Thank you · Questions?</a:t>
            </a:r>
          </a:p>
        </p:txBody>
      </p:sp>
      <p:sp>
        <p:nvSpPr>
          <p:cNvPr id="18" name="TextBox 17"/>
          <p:cNvSpPr txBox="1"/>
          <p:nvPr/>
        </p:nvSpPr>
        <p:spPr>
          <a:xfrm>
            <a:off x="896112" y="2057400"/>
            <a:ext cx="4690872" cy="2395728"/>
          </a:xfrm>
          <a:prstGeom prst="rect">
            <a:avLst/>
          </a:prstGeom>
          <a:noFill/>
        </p:spPr>
        <p:txBody>
          <a:bodyPr wrap="square" lIns="27432" rIns="27432" tIns="18288" bIns="18288">
            <a:spAutoFit/>
          </a:bodyPr>
          <a:lstStyle/>
          <a:p>
            <a:pPr>
              <a:lnSpc>
                <a:spcPct val="100000"/>
              </a:lnSpc>
              <a:spcAft>
                <a:spcPts val="600"/>
              </a:spcAft>
            </a:pPr>
            <a:r>
              <a:rPr sz="1000" lang="en-US">
                <a:solidFill>
                  <a:srgbClr val="2F8F46"/>
                </a:solidFill>
                <a:latin typeface="Arial"/>
              </a:rPr>
              <a:t>●  </a:t>
            </a:r>
            <a:r>
              <a:rPr sz="1080" lang="en-US">
                <a:solidFill>
                  <a:srgbClr val="434343"/>
                </a:solidFill>
                <a:latin typeface="Arial"/>
              </a:rPr>
              <a:t>End-to-end chain: ledger-selected model → encrypted handoff → TDX/AIR result → three tool receipts → SCITT record</a:t>
            </a:r>
          </a:p>
          <a:p>
            <a:pPr>
              <a:lnSpc>
                <a:spcPct val="100000"/>
              </a:lnSpc>
              <a:spcAft>
                <a:spcPts val="600"/>
              </a:spcAft>
            </a:pPr>
            <a:r>
              <a:rPr sz="1000" lang="en-US">
                <a:solidFill>
                  <a:srgbClr val="2F8F46"/>
                </a:solidFill>
                <a:latin typeface="Arial"/>
              </a:rPr>
              <a:t>●  </a:t>
            </a:r>
            <a:r>
              <a:rPr sz="1080" lang="en-US">
                <a:solidFill>
                  <a:srgbClr val="434343"/>
                </a:solidFill>
                <a:latin typeface="Arial"/>
              </a:rPr>
              <a:t>Deterministic trust path: selection, decryption, validation, and inference remain outside the language model</a:t>
            </a:r>
          </a:p>
          <a:p>
            <a:pPr>
              <a:lnSpc>
                <a:spcPct val="100000"/>
              </a:lnSpc>
              <a:spcAft>
                <a:spcPts val="600"/>
              </a:spcAft>
            </a:pPr>
            <a:r>
              <a:rPr sz="1000" lang="en-US">
                <a:solidFill>
                  <a:srgbClr val="2F8F46"/>
                </a:solidFill>
                <a:latin typeface="Arial"/>
              </a:rPr>
              <a:t>●  </a:t>
            </a:r>
            <a:r>
              <a:rPr sz="1080" lang="en-US">
                <a:solidFill>
                  <a:srgbClr val="434343"/>
                </a:solidFill>
                <a:latin typeface="Arial"/>
              </a:rPr>
              <a:t>Fail-closed bindings: identities, freshness, artifacts, inputs, and outputs are checked across component boundaries</a:t>
            </a:r>
          </a:p>
        </p:txBody>
      </p:sp>
      <p:sp>
        <p:nvSpPr>
          <p:cNvPr id="19" name="TextBox 18"/>
          <p:cNvSpPr txBox="1"/>
          <p:nvPr/>
        </p:nvSpPr>
        <p:spPr>
          <a:xfrm>
            <a:off x="6492240" y="2057400"/>
            <a:ext cx="4681728" cy="2395728"/>
          </a:xfrm>
          <a:prstGeom prst="rect">
            <a:avLst/>
          </a:prstGeom>
          <a:noFill/>
        </p:spPr>
        <p:txBody>
          <a:bodyPr wrap="square" lIns="27432" rIns="27432" tIns="18288" bIns="18288">
            <a:spAutoFit/>
          </a:bodyPr>
          <a:lstStyle/>
          <a:p>
            <a:pPr>
              <a:lnSpc>
                <a:spcPct val="100000"/>
              </a:lnSpc>
              <a:spcAft>
                <a:spcPts val="600"/>
              </a:spcAft>
            </a:pPr>
            <a:r>
              <a:rPr sz="1000" lang="en-US">
                <a:solidFill>
                  <a:srgbClr val="FF6C00"/>
                </a:solidFill>
                <a:latin typeface="Arial"/>
              </a:rPr>
              <a:t>●  </a:t>
            </a:r>
            <a:r>
              <a:rPr sz="1040" lang="en-US">
                <a:solidFill>
                  <a:srgbClr val="434343"/>
                </a:solidFill>
                <a:latin typeface="Arial"/>
              </a:rPr>
              <a:t>Supply chain: signed source → build → image provenance, reproducible or attestable builds, verified SBOMs, image signatures, and vulnerability gates</a:t>
            </a:r>
          </a:p>
          <a:p>
            <a:pPr>
              <a:lnSpc>
                <a:spcPct val="100000"/>
              </a:lnSpc>
              <a:spcAft>
                <a:spcPts val="600"/>
              </a:spcAft>
            </a:pPr>
            <a:r>
              <a:rPr sz="1000" lang="en-US">
                <a:solidFill>
                  <a:srgbClr val="FF6C00"/>
                </a:solidFill>
                <a:latin typeface="Arial"/>
              </a:rPr>
              <a:t>●  </a:t>
            </a:r>
            <a:r>
              <a:rPr sz="1040" lang="en-US">
                <a:solidFill>
                  <a:srgbClr val="434343"/>
                </a:solidFill>
                <a:latin typeface="Arial"/>
              </a:rPr>
              <a:t>Independent logs: replicated SCITT/CCF operators, witnessed or gossiped checkpoints, external anchoring, and split-view tests</a:t>
            </a:r>
          </a:p>
          <a:p>
            <a:pPr>
              <a:lnSpc>
                <a:spcPct val="100000"/>
              </a:lnSpc>
              <a:spcAft>
                <a:spcPts val="600"/>
              </a:spcAft>
            </a:pPr>
            <a:r>
              <a:rPr sz="1000" lang="en-US">
                <a:solidFill>
                  <a:srgbClr val="FF6C00"/>
                </a:solidFill>
                <a:latin typeface="Arial"/>
              </a:rPr>
              <a:t>●  </a:t>
            </a:r>
            <a:r>
              <a:rPr sz="1040" lang="en-US">
                <a:solidFill>
                  <a:srgbClr val="434343"/>
                </a:solidFill>
                <a:latin typeface="Arial"/>
              </a:rPr>
              <a:t>Assurance at scale: robust aggregation and poisoning tests, native DICOM provenance, separated inference keys, and repeated runs</a:t>
            </a:r>
          </a:p>
        </p:txBody>
      </p:sp>
      <p:sp>
        <p:nvSpPr>
          <p:cNvPr id="20" name="TextBox 19"/>
          <p:cNvSpPr txBox="1"/>
          <p:nvPr/>
        </p:nvSpPr>
        <p:spPr>
          <a:xfrm>
            <a:off x="1188720" y="5129784"/>
            <a:ext cx="1600200" cy="219456"/>
          </a:xfrm>
          <a:prstGeom prst="rect">
            <a:avLst/>
          </a:prstGeom>
          <a:noFill/>
        </p:spPr>
        <p:txBody>
          <a:bodyPr wrap="square" lIns="18288" rIns="18288" tIns="18288" bIns="18288" anchor="t">
            <a:spAutoFit/>
          </a:bodyPr>
          <a:lstStyle/>
          <a:p>
            <a:pPr algn="l"/>
            <a:r>
              <a:rPr sz="1050" b="1" lang="en-US">
                <a:solidFill>
                  <a:srgbClr val="FFFFFF"/>
                </a:solidFill>
                <a:latin typeface="Arial"/>
              </a:rPr>
              <a:t>CORE CONCLUSION</a:t>
            </a:r>
          </a:p>
        </p:txBody>
      </p:sp>
      <p:sp>
        <p:nvSpPr>
          <p:cNvPr id="21" name="TextBox 20"/>
          <p:cNvSpPr txBox="1"/>
          <p:nvPr/>
        </p:nvSpPr>
        <p:spPr>
          <a:xfrm>
            <a:off x="2852928" y="5010912"/>
            <a:ext cx="8028431" cy="384048"/>
          </a:xfrm>
          <a:prstGeom prst="rect">
            <a:avLst/>
          </a:prstGeom>
          <a:noFill/>
        </p:spPr>
        <p:txBody>
          <a:bodyPr wrap="square" lIns="18288" rIns="18288" tIns="18288" bIns="18288" anchor="ctr">
            <a:spAutoFit/>
          </a:bodyPr>
          <a:lstStyle/>
          <a:p>
            <a:pPr algn="ctr"/>
            <a:r>
              <a:rPr sz="1080" b="1" lang="en-US">
                <a:solidFill>
                  <a:srgbClr val="FFFFFF"/>
                </a:solidFill>
                <a:latin typeface="Arial"/>
              </a:rPr>
              <a:t>VITA-FL composes scoped evidence from decentralized model production to agent consumption—a reproducible proof of concept, not a trustless or clinically validated platform.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04088"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T1  </a:t>
            </a:r>
            <a:r>
              <a:rPr lang="en-US" sz="950" b="1">
                <a:solidFill>
                  <a:srgbClr val="434343"/>
                </a:solidFill>
                <a:latin typeface="Arial"/>
              </a:rPr>
              <a:t>Admission / identity</a:t>
            </a:r>
          </a:p>
        </p:txBody>
      </p:sp>
      <p:pic>
        <p:nvPicPr>
          <p:cNvPr id="10" name="Picture 9" descr="T1.png"/>
          <p:cNvPicPr>
            <a:picLocks noChangeAspect="1"/>
          </p:cNvPicPr>
          <p:nvPr/>
        </p:nvPicPr>
        <p:blipFill>
          <a:blip r:embed="rId3"/>
          <a:stretch>
            <a:fillRect/>
          </a:stretch>
        </p:blipFill>
        <p:spPr>
          <a:xfrm>
            <a:off x="886149" y="1719072"/>
            <a:ext cx="2013316"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02152"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T2  </a:t>
            </a:r>
            <a:r>
              <a:rPr lang="en-US" sz="950" b="1">
                <a:solidFill>
                  <a:srgbClr val="434343"/>
                </a:solidFill>
                <a:latin typeface="Arial"/>
              </a:rPr>
              <a:t>Replay / stale context</a:t>
            </a:r>
          </a:p>
        </p:txBody>
      </p:sp>
      <p:pic>
        <p:nvPicPr>
          <p:cNvPr id="13" name="Picture 12" descr="T2.png"/>
          <p:cNvPicPr>
            <a:picLocks noChangeAspect="1"/>
          </p:cNvPicPr>
          <p:nvPr/>
        </p:nvPicPr>
        <p:blipFill>
          <a:blip r:embed="rId4"/>
          <a:stretch>
            <a:fillRect/>
          </a:stretch>
        </p:blipFill>
        <p:spPr>
          <a:xfrm>
            <a:off x="3699734" y="1719072"/>
            <a:ext cx="1982274"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0216"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T3  </a:t>
            </a:r>
            <a:r>
              <a:rPr lang="en-US" sz="950" b="1">
                <a:solidFill>
                  <a:srgbClr val="434343"/>
                </a:solidFill>
                <a:latin typeface="Arial"/>
              </a:rPr>
              <a:t>Training-input provenance</a:t>
            </a:r>
          </a:p>
        </p:txBody>
      </p:sp>
      <p:pic>
        <p:nvPicPr>
          <p:cNvPr id="16" name="Picture 15" descr="T3.png"/>
          <p:cNvPicPr>
            <a:picLocks noChangeAspect="1"/>
          </p:cNvPicPr>
          <p:nvPr/>
        </p:nvPicPr>
        <p:blipFill>
          <a:blip r:embed="rId5"/>
          <a:stretch>
            <a:fillRect/>
          </a:stretch>
        </p:blipFill>
        <p:spPr>
          <a:xfrm>
            <a:off x="6272784" y="1784476"/>
            <a:ext cx="2432304" cy="122250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098280"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T4  </a:t>
            </a:r>
            <a:r>
              <a:rPr lang="en-US" sz="950" b="1">
                <a:solidFill>
                  <a:srgbClr val="434343"/>
                </a:solidFill>
                <a:latin typeface="Arial"/>
              </a:rPr>
              <a:t>Artifact substitution</a:t>
            </a:r>
          </a:p>
        </p:txBody>
      </p:sp>
      <p:pic>
        <p:nvPicPr>
          <p:cNvPr id="19" name="Picture 18" descr="T4.png"/>
          <p:cNvPicPr>
            <a:picLocks noChangeAspect="1"/>
          </p:cNvPicPr>
          <p:nvPr/>
        </p:nvPicPr>
        <p:blipFill>
          <a:blip r:embed="rId6"/>
          <a:stretch>
            <a:fillRect/>
          </a:stretch>
        </p:blipFill>
        <p:spPr>
          <a:xfrm>
            <a:off x="9254209" y="1719072"/>
            <a:ext cx="2065581"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103120" y="3474720"/>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T5  </a:t>
            </a:r>
            <a:r>
              <a:rPr lang="en-US" sz="950" b="1">
                <a:solidFill>
                  <a:srgbClr val="434343"/>
                </a:solidFill>
                <a:latin typeface="Arial"/>
              </a:rPr>
              <a:t>Model/key disclosure</a:t>
            </a:r>
          </a:p>
        </p:txBody>
      </p:sp>
      <p:pic>
        <p:nvPicPr>
          <p:cNvPr id="22" name="Picture 21" descr="T5.png"/>
          <p:cNvPicPr>
            <a:picLocks noChangeAspect="1"/>
          </p:cNvPicPr>
          <p:nvPr/>
        </p:nvPicPr>
        <p:blipFill>
          <a:blip r:embed="rId7"/>
          <a:stretch>
            <a:fillRect/>
          </a:stretch>
        </p:blipFill>
        <p:spPr>
          <a:xfrm>
            <a:off x="2296062" y="3749040"/>
            <a:ext cx="1991555"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901184" y="3474720"/>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T6  </a:t>
            </a:r>
            <a:r>
              <a:rPr lang="en-US" sz="950" b="1">
                <a:solidFill>
                  <a:srgbClr val="434343"/>
                </a:solidFill>
                <a:latin typeface="Arial"/>
              </a:rPr>
              <a:t>Aggregator omission</a:t>
            </a:r>
          </a:p>
        </p:txBody>
      </p:sp>
      <p:pic>
        <p:nvPicPr>
          <p:cNvPr id="25" name="Picture 24" descr="T6.png"/>
          <p:cNvPicPr>
            <a:picLocks noChangeAspect="1"/>
          </p:cNvPicPr>
          <p:nvPr/>
        </p:nvPicPr>
        <p:blipFill>
          <a:blip r:embed="rId8"/>
          <a:stretch>
            <a:fillRect/>
          </a:stretch>
        </p:blipFill>
        <p:spPr>
          <a:xfrm>
            <a:off x="5106477" y="3749040"/>
            <a:ext cx="1966852"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699248" y="3474720"/>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T7  </a:t>
            </a:r>
            <a:r>
              <a:rPr lang="en-US" sz="950" b="1">
                <a:solidFill>
                  <a:srgbClr val="434343"/>
                </a:solidFill>
                <a:latin typeface="Arial"/>
              </a:rPr>
              <a:t>Valid malicious updates</a:t>
            </a:r>
          </a:p>
        </p:txBody>
      </p:sp>
      <p:pic>
        <p:nvPicPr>
          <p:cNvPr id="28" name="Picture 27" descr="T7.png"/>
          <p:cNvPicPr>
            <a:picLocks noChangeAspect="1"/>
          </p:cNvPicPr>
          <p:nvPr/>
        </p:nvPicPr>
        <p:blipFill>
          <a:blip r:embed="rId9"/>
          <a:stretch>
            <a:fillRect/>
          </a:stretch>
        </p:blipFill>
        <p:spPr>
          <a:xfrm>
            <a:off x="7843764" y="3749040"/>
            <a:ext cx="2088406" cy="1353312"/>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04088"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T8  </a:t>
            </a:r>
            <a:r>
              <a:rPr lang="en-US" sz="950" b="1">
                <a:solidFill>
                  <a:srgbClr val="434343"/>
                </a:solidFill>
                <a:latin typeface="Arial"/>
              </a:rPr>
              <a:t>Inference evidence</a:t>
            </a:r>
          </a:p>
        </p:txBody>
      </p:sp>
      <p:pic>
        <p:nvPicPr>
          <p:cNvPr id="10" name="Picture 9" descr="T8.png"/>
          <p:cNvPicPr>
            <a:picLocks noChangeAspect="1"/>
          </p:cNvPicPr>
          <p:nvPr/>
        </p:nvPicPr>
        <p:blipFill>
          <a:blip r:embed="rId3"/>
          <a:stretch>
            <a:fillRect/>
          </a:stretch>
        </p:blipFill>
        <p:spPr>
          <a:xfrm>
            <a:off x="991281" y="1719072"/>
            <a:ext cx="1803053"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02152"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T9  </a:t>
            </a:r>
            <a:r>
              <a:rPr lang="en-US" sz="950" b="1">
                <a:solidFill>
                  <a:srgbClr val="434343"/>
                </a:solidFill>
                <a:latin typeface="Arial"/>
              </a:rPr>
              <a:t>Agent/tool manipulation</a:t>
            </a:r>
          </a:p>
        </p:txBody>
      </p:sp>
      <p:pic>
        <p:nvPicPr>
          <p:cNvPr id="13" name="Picture 12" descr="T9.png"/>
          <p:cNvPicPr>
            <a:picLocks noChangeAspect="1"/>
          </p:cNvPicPr>
          <p:nvPr/>
        </p:nvPicPr>
        <p:blipFill>
          <a:blip r:embed="rId4"/>
          <a:stretch>
            <a:fillRect/>
          </a:stretch>
        </p:blipFill>
        <p:spPr>
          <a:xfrm>
            <a:off x="3765541" y="1719072"/>
            <a:ext cx="1850660"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0216"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T10  </a:t>
            </a:r>
            <a:r>
              <a:rPr lang="en-US" sz="950" b="1">
                <a:solidFill>
                  <a:srgbClr val="434343"/>
                </a:solidFill>
                <a:latin typeface="Arial"/>
              </a:rPr>
              <a:t>Evidence suppression</a:t>
            </a:r>
          </a:p>
        </p:txBody>
      </p:sp>
      <p:pic>
        <p:nvPicPr>
          <p:cNvPr id="16" name="Picture 15" descr="T10.png"/>
          <p:cNvPicPr>
            <a:picLocks noChangeAspect="1"/>
          </p:cNvPicPr>
          <p:nvPr/>
        </p:nvPicPr>
        <p:blipFill>
          <a:blip r:embed="rId5"/>
          <a:stretch>
            <a:fillRect/>
          </a:stretch>
        </p:blipFill>
        <p:spPr>
          <a:xfrm>
            <a:off x="6512818" y="1719072"/>
            <a:ext cx="1952235" cy="135331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098280"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T11  </a:t>
            </a:r>
            <a:r>
              <a:rPr lang="en-US" sz="950" b="1">
                <a:solidFill>
                  <a:srgbClr val="434343"/>
                </a:solidFill>
                <a:latin typeface="Arial"/>
              </a:rPr>
              <a:t>Log omission/equivocation</a:t>
            </a:r>
          </a:p>
        </p:txBody>
      </p:sp>
      <p:pic>
        <p:nvPicPr>
          <p:cNvPr id="19" name="Picture 18" descr="T11.png"/>
          <p:cNvPicPr>
            <a:picLocks noChangeAspect="1"/>
          </p:cNvPicPr>
          <p:nvPr/>
        </p:nvPicPr>
        <p:blipFill>
          <a:blip r:embed="rId6"/>
          <a:stretch>
            <a:fillRect/>
          </a:stretch>
        </p:blipFill>
        <p:spPr>
          <a:xfrm>
            <a:off x="9087332" y="1719072"/>
            <a:ext cx="2399335"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103120" y="3474720"/>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T12  </a:t>
            </a:r>
            <a:r>
              <a:rPr lang="en-US" sz="950" b="1">
                <a:solidFill>
                  <a:srgbClr val="434343"/>
                </a:solidFill>
                <a:latin typeface="Arial"/>
              </a:rPr>
              <a:t>Infrastructure DoS</a:t>
            </a:r>
          </a:p>
        </p:txBody>
      </p:sp>
      <p:pic>
        <p:nvPicPr>
          <p:cNvPr id="22" name="Picture 21" descr="T12.png"/>
          <p:cNvPicPr>
            <a:picLocks noChangeAspect="1"/>
          </p:cNvPicPr>
          <p:nvPr/>
        </p:nvPicPr>
        <p:blipFill>
          <a:blip r:embed="rId7"/>
          <a:stretch>
            <a:fillRect/>
          </a:stretch>
        </p:blipFill>
        <p:spPr>
          <a:xfrm>
            <a:off x="2151924" y="3749040"/>
            <a:ext cx="2279830"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901184" y="3474720"/>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T13  </a:t>
            </a:r>
            <a:r>
              <a:rPr lang="en-US" sz="950" b="1">
                <a:solidFill>
                  <a:srgbClr val="434343"/>
                </a:solidFill>
                <a:latin typeface="Arial"/>
              </a:rPr>
              <a:t>Root/key compromise</a:t>
            </a:r>
          </a:p>
        </p:txBody>
      </p:sp>
      <p:pic>
        <p:nvPicPr>
          <p:cNvPr id="25" name="Picture 24" descr="T13.png"/>
          <p:cNvPicPr>
            <a:picLocks noChangeAspect="1"/>
          </p:cNvPicPr>
          <p:nvPr/>
        </p:nvPicPr>
        <p:blipFill>
          <a:blip r:embed="rId8"/>
          <a:stretch>
            <a:fillRect/>
          </a:stretch>
        </p:blipFill>
        <p:spPr>
          <a:xfrm>
            <a:off x="4937474" y="3749040"/>
            <a:ext cx="2304859"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699248" y="3474720"/>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T14  </a:t>
            </a:r>
            <a:r>
              <a:rPr lang="en-US" sz="950" b="1">
                <a:solidFill>
                  <a:srgbClr val="434343"/>
                </a:solidFill>
                <a:latin typeface="Arial"/>
              </a:rPr>
              <a:t>Systemic collusion</a:t>
            </a:r>
          </a:p>
        </p:txBody>
      </p:sp>
      <p:pic>
        <p:nvPicPr>
          <p:cNvPr id="28" name="Picture 27" descr="T14.png"/>
          <p:cNvPicPr>
            <a:picLocks noChangeAspect="1"/>
          </p:cNvPicPr>
          <p:nvPr/>
        </p:nvPicPr>
        <p:blipFill>
          <a:blip r:embed="rId9"/>
          <a:stretch>
            <a:fillRect/>
          </a:stretch>
        </p:blipFill>
        <p:spPr>
          <a:xfrm>
            <a:off x="7671816" y="3819532"/>
            <a:ext cx="2432304" cy="1212327"/>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1.png"/>
          <p:cNvPicPr>
            <a:picLocks noChangeAspect="1"/>
          </p:cNvPicPr>
          <p:nvPr/>
        </p:nvPicPr>
        <p:blipFill>
          <a:blip r:embed="rId3"/>
          <a:stretch>
            <a:fillRect/>
          </a:stretch>
        </p:blipFill>
        <p:spPr>
          <a:xfrm>
            <a:off x="2553109" y="1307592"/>
            <a:ext cx="7101021" cy="477316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2.png"/>
          <p:cNvPicPr>
            <a:picLocks noChangeAspect="1"/>
          </p:cNvPicPr>
          <p:nvPr/>
        </p:nvPicPr>
        <p:blipFill>
          <a:blip r:embed="rId3"/>
          <a:stretch>
            <a:fillRect/>
          </a:stretch>
        </p:blipFill>
        <p:spPr>
          <a:xfrm>
            <a:off x="2607852" y="1307592"/>
            <a:ext cx="6991534" cy="4773168"/>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3.png"/>
          <p:cNvPicPr>
            <a:picLocks noChangeAspect="1"/>
          </p:cNvPicPr>
          <p:nvPr/>
        </p:nvPicPr>
        <p:blipFill>
          <a:blip r:embed="rId3"/>
          <a:stretch>
            <a:fillRect/>
          </a:stretch>
        </p:blipFill>
        <p:spPr>
          <a:xfrm>
            <a:off x="1355247" y="1307592"/>
            <a:ext cx="9496744" cy="4773168"/>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4.png"/>
          <p:cNvPicPr>
            <a:picLocks noChangeAspect="1"/>
          </p:cNvPicPr>
          <p:nvPr/>
        </p:nvPicPr>
        <p:blipFill>
          <a:blip r:embed="rId3"/>
          <a:stretch>
            <a:fillRect/>
          </a:stretch>
        </p:blipFill>
        <p:spPr>
          <a:xfrm>
            <a:off x="2460939" y="1307592"/>
            <a:ext cx="7285361" cy="4773168"/>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5.png"/>
          <p:cNvPicPr>
            <a:picLocks noChangeAspect="1"/>
          </p:cNvPicPr>
          <p:nvPr/>
        </p:nvPicPr>
        <p:blipFill>
          <a:blip r:embed="rId3"/>
          <a:stretch>
            <a:fillRect/>
          </a:stretch>
        </p:blipFill>
        <p:spPr>
          <a:xfrm>
            <a:off x="2591485" y="1307592"/>
            <a:ext cx="7024269" cy="4773168"/>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6.png"/>
          <p:cNvPicPr>
            <a:picLocks noChangeAspect="1"/>
          </p:cNvPicPr>
          <p:nvPr/>
        </p:nvPicPr>
        <p:blipFill>
          <a:blip r:embed="rId3"/>
          <a:stretch>
            <a:fillRect/>
          </a:stretch>
        </p:blipFill>
        <p:spPr>
          <a:xfrm>
            <a:off x="2635048" y="1307592"/>
            <a:ext cx="6937142" cy="4773168"/>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7.png"/>
          <p:cNvPicPr>
            <a:picLocks noChangeAspect="1"/>
          </p:cNvPicPr>
          <p:nvPr/>
        </p:nvPicPr>
        <p:blipFill>
          <a:blip r:embed="rId3"/>
          <a:stretch>
            <a:fillRect/>
          </a:stretch>
        </p:blipFill>
        <p:spPr>
          <a:xfrm>
            <a:off x="2420686" y="1307592"/>
            <a:ext cx="7365866" cy="4773168"/>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8.png"/>
          <p:cNvPicPr>
            <a:picLocks noChangeAspect="1"/>
          </p:cNvPicPr>
          <p:nvPr/>
        </p:nvPicPr>
        <p:blipFill>
          <a:blip r:embed="rId3"/>
          <a:stretch>
            <a:fillRect/>
          </a:stretch>
        </p:blipFill>
        <p:spPr>
          <a:xfrm>
            <a:off x="2923911" y="1307592"/>
            <a:ext cx="6359417" cy="4773168"/>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9.png"/>
          <p:cNvPicPr>
            <a:picLocks noChangeAspect="1"/>
          </p:cNvPicPr>
          <p:nvPr/>
        </p:nvPicPr>
        <p:blipFill>
          <a:blip r:embed="rId3"/>
          <a:stretch>
            <a:fillRect/>
          </a:stretch>
        </p:blipFill>
        <p:spPr>
          <a:xfrm>
            <a:off x="2839954" y="1307592"/>
            <a:ext cx="6527330" cy="4773168"/>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10.png"/>
          <p:cNvPicPr>
            <a:picLocks noChangeAspect="1"/>
          </p:cNvPicPr>
          <p:nvPr/>
        </p:nvPicPr>
        <p:blipFill>
          <a:blip r:embed="rId3"/>
          <a:stretch>
            <a:fillRect/>
          </a:stretch>
        </p:blipFill>
        <p:spPr>
          <a:xfrm>
            <a:off x="2660826" y="1307592"/>
            <a:ext cx="6885586" cy="4773168"/>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11.png"/>
          <p:cNvPicPr>
            <a:picLocks noChangeAspect="1"/>
          </p:cNvPicPr>
          <p:nvPr/>
        </p:nvPicPr>
        <p:blipFill>
          <a:blip r:embed="rId3"/>
          <a:stretch>
            <a:fillRect/>
          </a:stretch>
        </p:blipFill>
        <p:spPr>
          <a:xfrm>
            <a:off x="1872359" y="1307592"/>
            <a:ext cx="8462520" cy="4773168"/>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12.png"/>
          <p:cNvPicPr>
            <a:picLocks noChangeAspect="1"/>
          </p:cNvPicPr>
          <p:nvPr/>
        </p:nvPicPr>
        <p:blipFill>
          <a:blip r:embed="rId3"/>
          <a:stretch>
            <a:fillRect/>
          </a:stretch>
        </p:blipFill>
        <p:spPr>
          <a:xfrm>
            <a:off x="2083107" y="1307592"/>
            <a:ext cx="8041025" cy="4773168"/>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13.png"/>
          <p:cNvPicPr>
            <a:picLocks noChangeAspect="1"/>
          </p:cNvPicPr>
          <p:nvPr/>
        </p:nvPicPr>
        <p:blipFill>
          <a:blip r:embed="rId3"/>
          <a:stretch>
            <a:fillRect/>
          </a:stretch>
        </p:blipFill>
        <p:spPr>
          <a:xfrm>
            <a:off x="2038969" y="1307592"/>
            <a:ext cx="8129301" cy="4773168"/>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14.png"/>
          <p:cNvPicPr>
            <a:picLocks noChangeAspect="1"/>
          </p:cNvPicPr>
          <p:nvPr/>
        </p:nvPicPr>
        <p:blipFill>
          <a:blip r:embed="rId3"/>
          <a:stretch>
            <a:fillRect/>
          </a:stretch>
        </p:blipFill>
        <p:spPr>
          <a:xfrm>
            <a:off x="1315394" y="1307592"/>
            <a:ext cx="9576450" cy="4773168"/>
          </a:xfrm>
          <a:prstGeom prst="rect">
            <a:avLst/>
          </a:prstGeom>
        </p:spPr>
      </p:pic>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6053</Words>
  <Application>Microsoft Macintosh PowerPoint</Application>
  <PresentationFormat>Breitbild</PresentationFormat>
  <Paragraphs>603</Paragraphs>
  <Slides>37</Slides>
  <Notes>37</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37</vt:i4>
      </vt:variant>
    </vt:vector>
  </HeadingPairs>
  <TitlesOfParts>
    <vt:vector size="42"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subject>Verifiable Decentralized Federated Machine Learning and Inference for AI Agent Systems</dc:subject>
  <dc:creator>Ramon Mehrpoya</dc:creator>
  <cp:keywords>VITA-FL, DFL, TEE, attested inference, transparency log</cp:keywords>
  <cp:lastModifiedBy>TU-Pseudonym 7918998349315269</cp:lastModifiedBy>
  <cp:revision>4</cp:revision>
  <cp:lastPrinted>2021-03-24T16:10:50Z</cp:lastPrinted>
  <dcterms:created xsi:type="dcterms:W3CDTF">2023-04-20T08:54:03Z</dcterms:created>
  <dcterms:modified xsi:type="dcterms:W3CDTF">2026-08-20T07:13:06Z</dcterms:modified>
  <dc:language>en-US</dc:language>
</cp:coreProperties>
</file>