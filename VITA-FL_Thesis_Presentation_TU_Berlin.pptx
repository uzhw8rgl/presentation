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VITA-FL separates two responsibilities. The DFL block admits measured workers, consumes attributable medical inputs, coordinates rounds, and publishes an encrypted and signed model. The agent and inference block independently resolves that publication and performs inference in a measured receiver workload. The language-model agent can initiate the workflow, but it cannot choose a local model, override a failed check, or convert missing evidence into a successful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instead executes these stateful relations natively inside measured TDX workloads and appraises remote-attestation evidence.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workload does not validate its own claim. The measured Phala CVM asks the Intel TDX Quoting Enclave to turn its TD report into Quote V4 evidence. A verifier validates the Intel-rooted PCK chain, certificate validity and revocation information, Quoting Enclave identity, platform TCB status, measurements, and REPORTDATA. In dstack, the separately attested KMS verifies quote and policy before deriving deterministic 32-byte material bound to the application identity and requested path. The application receives it through /var/run/dstack.sock. VITA-FL uses separate paths to derive the secp256k1 action authority, an AES-256-GCM wrapping key for a random RSA-3072 participant key, and the Ed25519 AIR key. The VITA-FL registry independently verifies the live quote on chain, including the pinned dstack base tuple, replayed RTMR3 event log, workload policy, REPORTDATA, and enrollment binding. Official references: https://github.com/Dstack-TEE/dstack, https://docs.phala.com/phala-cloud/key-management/get-a-key, and https://cc-enabling.trustedservices.intel.com/intel-tdx-enabling-guide/02/infrastructure_setup/.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separates two decisions that are easy to conflate. The weighted draw selects which authorized worker may act as aggregator. Once the accepted update set is closed, Hybrid-R-style policy determines which aggregation result may be published. The ledger freezes the worker-submission set as an ordered root and explicit count; the measured aggregator must stage that same set. It computes every candidate eligible for the participant count: arithmetic mean, coordinate median, symmetric trimmed means, and Multi-Krum from five inputs onward. Candidates are evaluated on one separately signed and hash-pinned validation artifact. The best finite candidate is retained only when its loss is at most five percent above the parent loss; otherwise the unchanged parent is emitted. These are mutually exclusive outcomes: the round records either the selected candidate or the retained parent. One ledger transaction then binds the closed set, policy, evidence, output, encrypted publication references, publisher authority, and round transition. The end-to-end Phala run and the local 10, 50, and 100 participant runs used arithmetic mean. Hybrid-R-style behavior was component-tested and was not evaluated in a live poisoning campaign.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Figuera's Sello proposal starts from a trust-boundary problem: a compromised agent or operator cannot be the sole source of truth about its own actions. The agent presents a signed JWS authorization token that binds the owner's HPKE public key and permitted log policy. The called service verifies that token, performs or denies the action, and hashes the exact input and output. It encrypts the receipt body to the owner with HPKE, signs the encrypted envelope with its own Ed25519 key in COSE_Sign1, and submits it to a witness-cosigned Merkle transparency log. The owner later discovers entries by the token-derived reference, verifies inclusion and the service key, and decrypts locally. VITA-FL selectively adopts the receiver-first pattern and additionally fails closed unless the receiver publishes its receipt before returning a successful tool result. It does not implement Sello's owner-discovery and witness-cosigned-log architecture: the evaluation used single-node CCF Virtual Mode without an independent witness, gossip, or a durable deployment. Sello does not prove that a call was never made and does not prevent collusion by a receiving service. Source: Juan Figuera, Notarized Agents: Receiver-Attested Confidential Receipts for AI Agent Actions, arXiv:2606.04193,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evaluation distinguishes live integration, local participant-scale simulation, and automated negative tests. The Phala run used three separately admitted worker confidential VMs with fresh TDX/DCAP quotes, exercised arithmetic-mean training for five observed rounds, all three MCP operations, and attested inference. The 10, 50, and 100 participant experiments instead ran on a single local Docker host and replayed one recorded TEE quote; they reached round 50 but do not evaluate fresh per-worker admission, independent failure domains, a distributed network, or Phala confidential-VM scalability. Hybrid-R-style candidates and the five-percent parent gate were component-tested with limited deterministic fixtures, not in a live poisoning campaign. Signed input provenance used DICOM-inspired synthetic byte streams and experimental self-signed identities, not native clinical DICOM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three completed ChestMNIST runs each expose forty-nine learned global models from rounds two through fifty; round one is the bootstrap state. Loss falls from approximately 0.62 to 0.188 and exact match rises to approximately fifty-three percent. The trajectories for ten, fifty, and one hundred participants almost overlap. This is an observed single run per scale, so it validates repeatable local protocol simulation but is not evidence of distributed scale, confidential-VM scalability, or statistical scale invariance.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optimization curves must not be read as clinical success. At round fifty, macro AUROC is approximately 0.504, 0.507, and 0.508 for ten, fifty, and one hundred participants. Micro F1 falls to about 0.0001 and macro F1 to about 0.0005 to 0.001. Loss reduction and rising exact match are therefore explained by majority-negative behavior under severe class imbalance. These local runs validate protocol execution at the simulated logical participant counts, not distributed-system scalability or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evaluated systems path. VITA-FL connects the ledger-selected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All three live workers used the same digest-pinned dfl-worker OCI image, and that image packaged both the decentralized-training implementation and the native inference code. Role activation is separate from image contents. Worker 0 used the combined start profile and enabled the receiver; Workers 1 and 2 used the training-only profile and did not start that process. Each worker submitted its own canonical Compose preimage, ordered event log, fresh quote, and final RTMR3 value. The verifier replays each event log only against RTMR3 in its associated quote; it does not require one global final RTMR3. Replay establishes internal measurement consistency. A separate policy check authorizes the shared image digest and one of the two approved role-policy identities. Adding another image or an unapproved service changes the measured and policy-bound configuration and is rejected by the admitted profile. Phala user_config fields such as authorized SSH keys remain outside the measured app_compose and are therefore a separate deployment trust assumption.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cutout" descr="ramon-mehrpoya-portrait-cutout.png"/>
          <p:cNvPicPr>
            <a:picLocks noChangeAspect="1"/>
          </p:cNvPicPr>
          <p:nvPr/>
        </p:nvPicPr>
        <p:blipFill>
          <a:blip r:embed="rId2"/>
          <a:stretch>
            <a:fillRect/>
          </a:stretch>
        </p:blipFill>
        <p:spPr>
          <a:xfrm>
            <a:off x="863250" y="1380744"/>
            <a:ext cx="3174682" cy="4023360"/>
          </a:xfrm>
          <a:prstGeom prst="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sp>
        <p:nvSpPr>
          <p:cNvPr id="17" name="TextBox 16"/>
          <p:cNvSpPr txBox="1"/>
          <p:nvPr/>
        </p:nvSpPr>
        <p:spPr>
          <a:xfrm>
            <a:off x="5047488"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Blockchain &amp;
encryption</a:t>
            </a:r>
          </a:p>
        </p:txBody>
      </p:sp>
      <p:cxnSp>
        <p:nvCxnSpPr>
          <p:cNvPr id="18" name="Connector 17"/>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sp>
        <p:nvSpPr>
          <p:cNvPr id="21" name="TextBox 20"/>
          <p:cNvSpPr txBox="1"/>
          <p:nvPr/>
        </p:nvSpPr>
        <p:spPr>
          <a:xfrm>
            <a:off x="706831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ZK · TEE · remote
attestation · DFL</a:t>
            </a:r>
          </a:p>
        </p:txBody>
      </p:sp>
      <p:cxnSp>
        <p:nvCxnSpPr>
          <p:cNvPr id="22" name="Connector 21"/>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sp>
        <p:nvSpPr>
          <p:cNvPr id="25" name="TextBox 24"/>
          <p:cNvSpPr txBox="1"/>
          <p:nvPr/>
        </p:nvSpPr>
        <p:spPr>
          <a:xfrm>
            <a:off x="907999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AI agents &amp;
MCP tools</a:t>
            </a:r>
          </a:p>
        </p:txBody>
      </p:sp>
      <p:cxnSp>
        <p:nvCxnSpPr>
          <p:cNvPr id="26" name="Connector 25"/>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9" name="TextBox 28"/>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30" name="TextBox 29"/>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
        <p:nvSpPr>
          <p:cNvPr id="16" name="TextBox 15"/>
          <p:cNvSpPr txBox="1"/>
          <p:nvPr/>
        </p:nvSpPr>
        <p:spPr>
          <a:xfrm>
            <a:off x="4453128" y="3593592"/>
            <a:ext cx="2542032" cy="393192"/>
          </a:xfrm>
          <a:prstGeom prst="rect">
            <a:avLst/>
          </a:prstGeom>
          <a:noFill/>
        </p:spPr>
        <p:txBody>
          <a:bodyPr wrap="square" lIns="18288" rIns="18288" tIns="18288" bIns="18288" anchor="ctr">
            <a:spAutoFit/>
          </a:bodyPr>
          <a:lstStyle/>
          <a:p>
            <a:pPr algn="l"/>
            <a:r>
              <a:rPr sz="1050" b="1" lang="en-US">
                <a:solidFill>
                  <a:srgbClr val="686868"/>
                </a:solidFill>
                <a:latin typeface="Arial"/>
              </a:rPr>
              <a:t>But is it suitable
for clinical 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TextBox 12"/>
          <p:cNvSpPr txBox="1"/>
          <p:nvPr/>
        </p:nvSpPr>
        <p:spPr>
          <a:xfrm>
            <a:off x="5074920" y="3474720"/>
            <a:ext cx="2761488" cy="393192"/>
          </a:xfrm>
          <a:prstGeom prst="rect">
            <a:avLst/>
          </a:prstGeom>
          <a:noFill/>
        </p:spPr>
        <p:txBody>
          <a:bodyPr wrap="square" lIns="18288" rIns="18288" tIns="18288" bIns="18288" anchor="t">
            <a:spAutoFit/>
          </a:bodyPr>
          <a:lstStyle/>
          <a:p>
            <a:pPr algn="l"/>
            <a:r>
              <a:rPr sz="969" b="1" lang="en-US">
                <a:solidFill>
                  <a:srgbClr val="686868"/>
                </a:solidFill>
                <a:latin typeface="Arial"/>
              </a:rPr>
              <a:t>Training, execution, and publication
must form one inspectable path.</a:t>
            </a:r>
          </a:p>
        </p:txBody>
      </p:sp>
      <p:sp>
        <p:nvSpPr>
          <p:cNvPr id="14" name="Rounded Rectangle 13"/>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sp>
        <p:nvSpPr>
          <p:cNvPr id="16" name="Rounded Rectangle 15"/>
          <p:cNvSpPr/>
          <p:nvPr/>
        </p:nvSpPr>
        <p:spPr>
          <a:xfrm>
            <a:off x="8979408" y="192024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079992" y="1993392"/>
            <a:ext cx="219456" cy="219456"/>
          </a:xfrm>
          <a:prstGeom prst="ellipse">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7424" y="202082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1</a:t>
            </a:r>
          </a:p>
        </p:txBody>
      </p:sp>
      <p:sp>
        <p:nvSpPr>
          <p:cNvPr id="19" name="TextBox 18"/>
          <p:cNvSpPr txBox="1"/>
          <p:nvPr/>
        </p:nvSpPr>
        <p:spPr>
          <a:xfrm>
            <a:off x="9390888" y="202996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SIGNED MEDICAL DATA</a:t>
            </a:r>
          </a:p>
        </p:txBody>
      </p:sp>
      <p:cxnSp>
        <p:nvCxnSpPr>
          <p:cNvPr id="20" name="Connector 19"/>
          <p:cNvCxnSpPr/>
          <p:nvPr/>
        </p:nvCxnSpPr>
        <p:spPr>
          <a:xfrm>
            <a:off x="10168128" y="230428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79408" y="248716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079992" y="2560320"/>
            <a:ext cx="219456" cy="219456"/>
          </a:xfrm>
          <a:prstGeom prst="ellipse">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7424" y="258775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2</a:t>
            </a:r>
          </a:p>
        </p:txBody>
      </p:sp>
      <p:sp>
        <p:nvSpPr>
          <p:cNvPr id="24" name="TextBox 23"/>
          <p:cNvSpPr txBox="1"/>
          <p:nvPr/>
        </p:nvSpPr>
        <p:spPr>
          <a:xfrm>
            <a:off x="9390888" y="259689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ATTESTED DFL</a:t>
            </a:r>
          </a:p>
        </p:txBody>
      </p:sp>
      <p:cxnSp>
        <p:nvCxnSpPr>
          <p:cNvPr id="25" name="Connector 24"/>
          <p:cNvCxnSpPr/>
          <p:nvPr/>
        </p:nvCxnSpPr>
        <p:spPr>
          <a:xfrm>
            <a:off x="10168128" y="2871216"/>
            <a:ext cx="0" cy="146304"/>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9408" y="3044952"/>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79992" y="3118104"/>
            <a:ext cx="219456" cy="219456"/>
          </a:xfrm>
          <a:prstGeom prst="ellipse">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3145536"/>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3</a:t>
            </a:r>
          </a:p>
        </p:txBody>
      </p:sp>
      <p:sp>
        <p:nvSpPr>
          <p:cNvPr id="29" name="TextBox 28"/>
          <p:cNvSpPr txBox="1"/>
          <p:nvPr/>
        </p:nvSpPr>
        <p:spPr>
          <a:xfrm>
            <a:off x="9390888" y="3154680"/>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VERIFIED MODEL STATE</a:t>
            </a:r>
          </a:p>
        </p:txBody>
      </p:sp>
      <p:cxnSp>
        <p:nvCxnSpPr>
          <p:cNvPr id="30" name="Connector 29"/>
          <p:cNvCxnSpPr/>
          <p:nvPr/>
        </p:nvCxnSpPr>
        <p:spPr>
          <a:xfrm>
            <a:off x="10168128" y="3429000"/>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979408" y="361188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79992" y="3685032"/>
            <a:ext cx="219456" cy="219456"/>
          </a:xfrm>
          <a:prstGeom prst="ellipse">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371246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4</a:t>
            </a:r>
          </a:p>
        </p:txBody>
      </p:sp>
      <p:sp>
        <p:nvSpPr>
          <p:cNvPr id="34" name="TextBox 33"/>
          <p:cNvSpPr txBox="1"/>
          <p:nvPr/>
        </p:nvSpPr>
        <p:spPr>
          <a:xfrm>
            <a:off x="9390888" y="372160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AGENT + INFERENCE TEE</a:t>
            </a:r>
          </a:p>
        </p:txBody>
      </p:sp>
      <p:cxnSp>
        <p:nvCxnSpPr>
          <p:cNvPr id="35" name="Connector 34"/>
          <p:cNvCxnSpPr/>
          <p:nvPr/>
        </p:nvCxnSpPr>
        <p:spPr>
          <a:xfrm>
            <a:off x="10168128" y="399592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79408" y="417880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079992" y="4251960"/>
            <a:ext cx="219456" cy="219456"/>
          </a:xfrm>
          <a:prstGeom prst="ellipse">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07424" y="427939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5</a:t>
            </a:r>
          </a:p>
        </p:txBody>
      </p:sp>
      <p:sp>
        <p:nvSpPr>
          <p:cNvPr id="39" name="TextBox 38"/>
          <p:cNvSpPr txBox="1"/>
          <p:nvPr/>
        </p:nvSpPr>
        <p:spPr>
          <a:xfrm>
            <a:off x="9390888" y="428853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TRANSPARENCY LOG</a:t>
            </a:r>
          </a:p>
        </p:txBody>
      </p:sp>
      <p:sp>
        <p:nvSpPr>
          <p:cNvPr id="40" name="TextBox 39"/>
          <p:cNvSpPr txBox="1"/>
          <p:nvPr/>
        </p:nvSpPr>
        <p:spPr>
          <a:xfrm>
            <a:off x="9015984" y="5010912"/>
            <a:ext cx="2313432" cy="182880"/>
          </a:xfrm>
          <a:prstGeom prst="rect">
            <a:avLst/>
          </a:prstGeom>
          <a:noFill/>
        </p:spPr>
        <p:txBody>
          <a:bodyPr wrap="square" lIns="18288" rIns="18288" tIns="18288" bIns="18288" anchor="t">
            <a:spAutoFit/>
          </a:bodyPr>
          <a:lstStyle/>
          <a:p>
            <a:pPr algn="ctr"/>
            <a:r>
              <a:rPr sz="780" b="1" lang="en-US">
                <a:solidFill>
                  <a:srgbClr val="FFFFFF"/>
                </a:solidFill>
                <a:latin typeface="Arial"/>
              </a:rPr>
              <a:t>Evidence follows every result.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MISSING COMPOSITION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Gap: no inspectable path from decentralized training to verified inference.</a:t>
            </a:r>
          </a:p>
        </p:txBody>
      </p:sp>
      <p:sp>
        <p:nvSpPr>
          <p:cNvPr id="21" name="Rounded Rectangle 20"/>
          <p:cNvSpPr/>
          <p:nvPr/>
        </p:nvSpPr>
        <p:spPr>
          <a:xfrm>
            <a:off x="621792" y="3383280"/>
            <a:ext cx="3502152" cy="204825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611880"/>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 name="TextBox 22"/>
          <p:cNvSpPr txBox="1"/>
          <p:nvPr/>
        </p:nvSpPr>
        <p:spPr>
          <a:xfrm>
            <a:off x="841248"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DFL models be integrated into AI agent-based system architectures while ensuring trustworthiness across the entire training and inference pipeline?</a:t>
            </a:r>
          </a:p>
        </p:txBody>
      </p:sp>
      <p:sp>
        <p:nvSpPr>
          <p:cNvPr id="24" name="Rounded Rectangle 23"/>
          <p:cNvSpPr/>
          <p:nvPr/>
        </p:nvSpPr>
        <p:spPr>
          <a:xfrm>
            <a:off x="4343400" y="3383280"/>
            <a:ext cx="3502152" cy="204825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2856" y="3611880"/>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6" name="TextBox 25"/>
          <p:cNvSpPr txBox="1"/>
          <p:nvPr/>
        </p:nvSpPr>
        <p:spPr>
          <a:xfrm>
            <a:off x="4562856"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verifiable DFL guarantee integrity and availability during model training?</a:t>
            </a:r>
          </a:p>
        </p:txBody>
      </p:sp>
      <p:sp>
        <p:nvSpPr>
          <p:cNvPr id="27" name="Rounded Rectangle 26"/>
          <p:cNvSpPr/>
          <p:nvPr/>
        </p:nvSpPr>
        <p:spPr>
          <a:xfrm>
            <a:off x="8065008" y="3383280"/>
            <a:ext cx="3502152" cy="204825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4" y="3611880"/>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9" name="TextBox 28"/>
          <p:cNvSpPr txBox="1"/>
          <p:nvPr/>
        </p:nvSpPr>
        <p:spPr>
          <a:xfrm>
            <a:off x="8284464"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ML inference be made verifiable, such that the integrity of model predictions can be guaranteed, for example through cryptographic proofs of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76072" y="1380744"/>
            <a:ext cx="5468112" cy="40325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53912" y="1380744"/>
            <a:ext cx="5458968" cy="4032504"/>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581912"/>
            <a:ext cx="1645920" cy="274320"/>
          </a:xfrm>
          <a:prstGeom prst="rect">
            <a:avLst/>
          </a:prstGeom>
          <a:noFill/>
        </p:spPr>
        <p:txBody>
          <a:bodyPr wrap="square" lIns="18288" rIns="18288" tIns="18288" bIns="18288" anchor="t">
            <a:spAutoFit/>
          </a:bodyPr>
          <a:lstStyle/>
          <a:p>
            <a:pPr algn="l"/>
            <a:r>
              <a:rPr sz="1400" b="1" lang="en-US">
                <a:solidFill>
                  <a:srgbClr val="2F8F46"/>
                </a:solidFill>
                <a:latin typeface="Arial"/>
              </a:rPr>
              <a:t>DFL BLOCK</a:t>
            </a:r>
          </a:p>
        </p:txBody>
      </p:sp>
      <p:sp>
        <p:nvSpPr>
          <p:cNvPr id="11" name="TextBox 10"/>
          <p:cNvSpPr txBox="1"/>
          <p:nvPr/>
        </p:nvSpPr>
        <p:spPr>
          <a:xfrm>
            <a:off x="6382512" y="1581912"/>
            <a:ext cx="3108960" cy="274320"/>
          </a:xfrm>
          <a:prstGeom prst="rect">
            <a:avLst/>
          </a:prstGeom>
          <a:noFill/>
        </p:spPr>
        <p:txBody>
          <a:bodyPr wrap="square" lIns="18288" rIns="18288" tIns="18288" bIns="18288" anchor="t">
            <a:spAutoFit/>
          </a:bodyPr>
          <a:lstStyle/>
          <a:p>
            <a:pPr algn="l"/>
            <a:r>
              <a:rPr sz="1400" b="1" lang="en-US">
                <a:solidFill>
                  <a:srgbClr val="1F90CC"/>
                </a:solidFill>
                <a:latin typeface="Arial"/>
              </a:rPr>
              <a:t>AGENT AND INFERENCE BLOCK</a:t>
            </a:r>
          </a:p>
        </p:txBody>
      </p:sp>
      <p:sp>
        <p:nvSpPr>
          <p:cNvPr id="12" name="Rounded Rectangle 11"/>
          <p:cNvSpPr/>
          <p:nvPr/>
        </p:nvSpPr>
        <p:spPr>
          <a:xfrm>
            <a:off x="841248"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DATA</a:t>
            </a:r>
          </a:p>
        </p:txBody>
      </p:sp>
      <p:sp>
        <p:nvSpPr>
          <p:cNvPr id="14" name="TextBox 13"/>
          <p:cNvSpPr txBox="1"/>
          <p:nvPr/>
        </p:nvSpPr>
        <p:spPr>
          <a:xfrm>
            <a:off x="896112"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Signed medical
input</a:t>
            </a:r>
          </a:p>
        </p:txBody>
      </p:sp>
      <p:sp>
        <p:nvSpPr>
          <p:cNvPr id="15" name="Rounded Rectangle 14"/>
          <p:cNvSpPr/>
          <p:nvPr/>
        </p:nvSpPr>
        <p:spPr>
          <a:xfrm>
            <a:off x="2331720"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86584"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WORKER TEE</a:t>
            </a:r>
          </a:p>
        </p:txBody>
      </p:sp>
      <p:sp>
        <p:nvSpPr>
          <p:cNvPr id="17" name="TextBox 16"/>
          <p:cNvSpPr txBox="1"/>
          <p:nvPr/>
        </p:nvSpPr>
        <p:spPr>
          <a:xfrm>
            <a:off x="2386584"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Attested
training</a:t>
            </a:r>
          </a:p>
        </p:txBody>
      </p:sp>
      <p:sp>
        <p:nvSpPr>
          <p:cNvPr id="18" name="Rounded Rectangle 17"/>
          <p:cNvSpPr/>
          <p:nvPr/>
        </p:nvSpPr>
        <p:spPr>
          <a:xfrm>
            <a:off x="3913632"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8496"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LEDGER</a:t>
            </a:r>
          </a:p>
        </p:txBody>
      </p:sp>
      <p:sp>
        <p:nvSpPr>
          <p:cNvPr id="20" name="TextBox 19"/>
          <p:cNvSpPr txBox="1"/>
          <p:nvPr/>
        </p:nvSpPr>
        <p:spPr>
          <a:xfrm>
            <a:off x="3968496"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Coordination
and publication</a:t>
            </a:r>
          </a:p>
        </p:txBody>
      </p:sp>
      <p:sp>
        <p:nvSpPr>
          <p:cNvPr id="21" name="Rounded Rectangle 20"/>
          <p:cNvSpPr/>
          <p:nvPr/>
        </p:nvSpPr>
        <p:spPr>
          <a:xfrm>
            <a:off x="6656832" y="2121408"/>
            <a:ext cx="16276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1696" y="2276856"/>
            <a:ext cx="15179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RECEIVER TEE</a:t>
            </a:r>
          </a:p>
        </p:txBody>
      </p:sp>
      <p:sp>
        <p:nvSpPr>
          <p:cNvPr id="23" name="TextBox 22"/>
          <p:cNvSpPr txBox="1"/>
          <p:nvPr/>
        </p:nvSpPr>
        <p:spPr>
          <a:xfrm>
            <a:off x="6711696" y="2642616"/>
            <a:ext cx="15179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Independent resolution
and inference</a:t>
            </a:r>
          </a:p>
        </p:txBody>
      </p:sp>
      <p:sp>
        <p:nvSpPr>
          <p:cNvPr id="24" name="Rounded Rectangle 23"/>
          <p:cNvSpPr/>
          <p:nvPr/>
        </p:nvSpPr>
        <p:spPr>
          <a:xfrm>
            <a:off x="8668512" y="2121408"/>
            <a:ext cx="11704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23376" y="2276856"/>
            <a:ext cx="10607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MCP</a:t>
            </a:r>
          </a:p>
        </p:txBody>
      </p:sp>
      <p:sp>
        <p:nvSpPr>
          <p:cNvPr id="26" name="TextBox 25"/>
          <p:cNvSpPr txBox="1"/>
          <p:nvPr/>
        </p:nvSpPr>
        <p:spPr>
          <a:xfrm>
            <a:off x="8723376"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Three bounded
tools</a:t>
            </a:r>
          </a:p>
        </p:txBody>
      </p:sp>
      <p:sp>
        <p:nvSpPr>
          <p:cNvPr id="27" name="Rounded Rectangle 26"/>
          <p:cNvSpPr/>
          <p:nvPr/>
        </p:nvSpPr>
        <p:spPr>
          <a:xfrm>
            <a:off x="10094976" y="2121408"/>
            <a:ext cx="1170432" cy="1243584"/>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2276856"/>
            <a:ext cx="1060704" cy="292608"/>
          </a:xfrm>
          <a:prstGeom prst="rect">
            <a:avLst/>
          </a:prstGeom>
          <a:noFill/>
        </p:spPr>
        <p:txBody>
          <a:bodyPr wrap="square" lIns="18288" rIns="18288" tIns="18288" bIns="18288" anchor="ctr">
            <a:spAutoFit/>
          </a:bodyPr>
          <a:lstStyle/>
          <a:p>
            <a:pPr algn="ctr"/>
            <a:r>
              <a:rPr sz="1150" b="1" lang="en-US">
                <a:solidFill>
                  <a:srgbClr val="7A35B5"/>
                </a:solidFill>
                <a:latin typeface="Arial"/>
              </a:rPr>
              <a:t>LOG</a:t>
            </a:r>
          </a:p>
        </p:txBody>
      </p:sp>
      <p:sp>
        <p:nvSpPr>
          <p:cNvPr id="29" name="TextBox 28"/>
          <p:cNvSpPr txBox="1"/>
          <p:nvPr/>
        </p:nvSpPr>
        <p:spPr>
          <a:xfrm>
            <a:off x="10149840"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Receipts and
evidence</a:t>
            </a:r>
          </a:p>
        </p:txBody>
      </p:sp>
      <p:cxnSp>
        <p:nvCxnSpPr>
          <p:cNvPr id="30" name="Connector 29"/>
          <p:cNvCxnSpPr/>
          <p:nvPr/>
        </p:nvCxnSpPr>
        <p:spPr>
          <a:xfrm>
            <a:off x="2139696" y="2752344"/>
            <a:ext cx="15544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30168" y="2752344"/>
            <a:ext cx="24688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284464" y="2752344"/>
            <a:ext cx="347472"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38944" y="2752344"/>
            <a:ext cx="219456"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84064" y="3602736"/>
            <a:ext cx="2084831" cy="88696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0" y="3758184"/>
            <a:ext cx="1828800" cy="237744"/>
          </a:xfrm>
          <a:prstGeom prst="rect">
            <a:avLst/>
          </a:prstGeom>
          <a:noFill/>
        </p:spPr>
        <p:txBody>
          <a:bodyPr wrap="square" lIns="18288" rIns="18288" tIns="18288" bIns="18288" anchor="t">
            <a:spAutoFit/>
          </a:bodyPr>
          <a:lstStyle/>
          <a:p>
            <a:pPr algn="ctr"/>
            <a:r>
              <a:rPr sz="1400" b="1" lang="en-US">
                <a:solidFill>
                  <a:srgbClr val="7A35B5"/>
                </a:solidFill>
                <a:latin typeface="Arial"/>
              </a:rPr>
              <a:t>IPFS</a:t>
            </a:r>
          </a:p>
        </p:txBody>
      </p:sp>
      <p:sp>
        <p:nvSpPr>
          <p:cNvPr id="36" name="TextBox 35"/>
          <p:cNvSpPr txBox="1"/>
          <p:nvPr/>
        </p:nvSpPr>
        <p:spPr>
          <a:xfrm>
            <a:off x="5230368" y="4105656"/>
            <a:ext cx="1792224" cy="219456"/>
          </a:xfrm>
          <a:prstGeom prst="rect">
            <a:avLst/>
          </a:prstGeom>
          <a:noFill/>
        </p:spPr>
        <p:txBody>
          <a:bodyPr wrap="square" lIns="18288" rIns="18288" tIns="18288" bIns="18288" anchor="t">
            <a:spAutoFit/>
          </a:bodyPr>
          <a:lstStyle/>
          <a:p>
            <a:pPr algn="ctr"/>
            <a:r>
              <a:rPr sz="1050" b="1" lang="en-US">
                <a:solidFill>
                  <a:srgbClr val="434343"/>
                </a:solidFill>
                <a:latin typeface="Arial"/>
              </a:rPr>
              <a:t>Signed, encrypted model</a:t>
            </a:r>
          </a:p>
        </p:txBody>
      </p:sp>
      <p:cxnSp>
        <p:nvCxnSpPr>
          <p:cNvPr id="37" name="Connector 36"/>
          <p:cNvCxnSpPr/>
          <p:nvPr/>
        </p:nvCxnSpPr>
        <p:spPr>
          <a:xfrm>
            <a:off x="5212080" y="3291840"/>
            <a:ext cx="420624"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583680" y="3291840"/>
            <a:ext cx="457200"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2688" y="3922776"/>
            <a:ext cx="3931920"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DFL block produces the authoritative model state.</a:t>
            </a:r>
          </a:p>
        </p:txBody>
      </p:sp>
      <p:sp>
        <p:nvSpPr>
          <p:cNvPr id="40" name="TextBox 39"/>
          <p:cNvSpPr txBox="1"/>
          <p:nvPr/>
        </p:nvSpPr>
        <p:spPr>
          <a:xfrm>
            <a:off x="7150608" y="3922776"/>
            <a:ext cx="4005072"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agent orchestrates the deterministic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TextBox 219"/>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1" name="Rounded Rectangle 220"/>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ounded Rectangle 223"/>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26" name="Rectangle 225"/>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0" name="TextBox 229"/>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1" name="Rounded Rectangle 230"/>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ounded Rectangle 233"/>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6" name="Rectangle 235"/>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0" name="TextBox 239"/>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1" name="Rounded Rectangle 240"/>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6" name="Rectangle 245"/>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0" name="TextBox 249"/>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1" name="Rounded Rectangle 250"/>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ounded Rectangle 253"/>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6" name="Rectangle 255"/>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0" name="TextBox 259"/>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1" name="TextBox 260"/>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2" name="Rounded Rectangle 261"/>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ounded Rectangle 264"/>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7" name="Rectangle 266"/>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1" name="TextBox 270"/>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2" name="Rounded Rectangle 271"/>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4" name="TextBox 273"/>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75" name="Connector 274"/>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3" name="Rounded Rectangle 282"/>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85" name="Rounded Rectangle 284"/>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87" name="Rounded Rectangle 286"/>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89" name="Connector 288"/>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0" name="TextBox 289"/>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1" name="Connector 290"/>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2" name="TextBox 291"/>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3" name="Connector 292"/>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TextBox 293"/>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295" name="Connector 294"/>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6" name="TextBox 295"/>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 for the operational path?</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TWO INDEPENDENT ZK RELATIONS—NOT ONE NEURAL-NETWORK CIRCUIT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RELATION SCOPE   </a:t>
            </a:r>
            <a:r>
              <a:rPr sz="1200" b="1" lang="en-US">
                <a:solidFill>
                  <a:srgbClr val="434343"/>
                </a:solidFill>
                <a:latin typeface="Arial"/>
              </a:rPr>
              <a:t>The proof would need to cover the surrounding cryptographic workflow as well as the tensors.</a:t>
            </a:r>
          </a:p>
        </p:txBody>
      </p:sp>
      <p:sp>
        <p:nvSpPr>
          <p:cNvPr id="10" name="Rounded Rectangle 9"/>
          <p:cNvSpPr/>
          <p:nvPr/>
        </p:nvSpPr>
        <p:spPr>
          <a:xfrm>
            <a:off x="566928" y="1984248"/>
            <a:ext cx="5376672" cy="2688336"/>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85416"/>
            <a:ext cx="3657600" cy="320040"/>
          </a:xfrm>
          <a:prstGeom prst="rect">
            <a:avLst/>
          </a:prstGeom>
          <a:noFill/>
        </p:spPr>
        <p:txBody>
          <a:bodyPr wrap="square" lIns="18288" rIns="18288" tIns="18288" bIns="18288" anchor="t">
            <a:spAutoFit/>
          </a:bodyPr>
          <a:lstStyle/>
          <a:p>
            <a:pPr algn="l"/>
            <a:r>
              <a:rPr sz="1270" b="1" lang="en-US">
                <a:solidFill>
                  <a:srgbClr val="7A35B5"/>
                </a:solidFill>
                <a:latin typeface="Arial"/>
              </a:rPr>
              <a:t>WORKER TRAINING AS A ZK RELATION</a:t>
            </a:r>
          </a:p>
        </p:txBody>
      </p:sp>
      <p:sp>
        <p:nvSpPr>
          <p:cNvPr id="12" name="Rectangle 11"/>
          <p:cNvSpPr/>
          <p:nvPr/>
        </p:nvSpPr>
        <p:spPr>
          <a:xfrm>
            <a:off x="450799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EVERY ROUND</a:t>
            </a:r>
          </a:p>
        </p:txBody>
      </p:sp>
      <p:sp>
        <p:nvSpPr>
          <p:cNvPr id="14" name="TextBox 13"/>
          <p:cNvSpPr txBox="1"/>
          <p:nvPr/>
        </p:nvSpPr>
        <p:spPr>
          <a:xfrm>
            <a:off x="813816" y="2615184"/>
            <a:ext cx="4846320" cy="201168"/>
          </a:xfrm>
          <a:prstGeom prst="rect">
            <a:avLst/>
          </a:prstGeom>
          <a:noFill/>
        </p:spPr>
        <p:txBody>
          <a:bodyPr wrap="square" lIns="18288" rIns="18288" tIns="18288" bIns="18288" anchor="t">
            <a:spAutoFit/>
          </a:bodyPr>
          <a:lstStyle/>
          <a:p>
            <a:pPr algn="l"/>
            <a:r>
              <a:rPr sz="950" b="1" lang="en-US">
                <a:solidFill>
                  <a:srgbClr val="7A35B5"/>
                </a:solidFill>
                <a:latin typeface="Arial"/>
              </a:rPr>
              <a:t>STATEFUL TRAINING TRANSITION</a:t>
            </a:r>
          </a:p>
        </p:txBody>
      </p:sp>
      <p:sp>
        <p:nvSpPr>
          <p:cNvPr id="15" name="TextBox 14"/>
          <p:cNvSpPr txBox="1"/>
          <p:nvPr/>
        </p:nvSpPr>
        <p:spPr>
          <a:xfrm>
            <a:off x="80467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7A35B5"/>
                </a:solidFill>
                <a:latin typeface="Arial"/>
              </a:rPr>
              <a:t>●  </a:t>
            </a:r>
            <a:r>
              <a:rPr sz="990" lang="en-US">
                <a:solidFill>
                  <a:srgbClr val="434343"/>
                </a:solidFill>
                <a:latin typeface="Arial"/>
              </a:rPr>
              <a:t>Resolve the exact parent model, round policy, and signed training inputs</a:t>
            </a:r>
          </a:p>
          <a:p>
            <a:pPr>
              <a:lnSpc>
                <a:spcPct val="100000"/>
              </a:lnSpc>
              <a:spcAft>
                <a:spcPts val="300"/>
              </a:spcAft>
            </a:pPr>
            <a:r>
              <a:rPr sz="1000" lang="en-US">
                <a:solidFill>
                  <a:srgbClr val="7A35B5"/>
                </a:solidFill>
                <a:latin typeface="Arial"/>
              </a:rPr>
              <a:t>●  </a:t>
            </a:r>
            <a:r>
              <a:rPr sz="990" lang="en-US">
                <a:solidFill>
                  <a:srgbClr val="434343"/>
                </a:solidFill>
                <a:latin typeface="Arial"/>
              </a:rPr>
              <a:t>Decrypt model material and verify signatures, commitments, hashes, and nonces</a:t>
            </a:r>
          </a:p>
          <a:p>
            <a:pPr>
              <a:lnSpc>
                <a:spcPct val="100000"/>
              </a:lnSpc>
              <a:spcAft>
                <a:spcPts val="300"/>
              </a:spcAft>
            </a:pPr>
            <a:r>
              <a:rPr sz="1000" lang="en-US">
                <a:solidFill>
                  <a:srgbClr val="7A35B5"/>
                </a:solidFill>
                <a:latin typeface="Arial"/>
              </a:rPr>
              <a:t>●  </a:t>
            </a:r>
            <a:r>
              <a:rPr sz="990" lang="en-US">
                <a:solidFill>
                  <a:srgbClr val="434343"/>
                </a:solidFill>
                <a:latin typeface="Arial"/>
              </a:rPr>
              <a:t>Encode forward/backward passes, optimizer state, and tensor updates</a:t>
            </a:r>
          </a:p>
          <a:p>
            <a:pPr>
              <a:lnSpc>
                <a:spcPct val="100000"/>
              </a:lnSpc>
              <a:spcAft>
                <a:spcPts val="300"/>
              </a:spcAft>
            </a:pPr>
            <a:r>
              <a:rPr sz="1000" lang="en-US">
                <a:solidFill>
                  <a:srgbClr val="7A35B5"/>
                </a:solidFill>
                <a:latin typeface="Arial"/>
              </a:rPr>
              <a:t>●  </a:t>
            </a:r>
            <a:r>
              <a:rPr sz="990" lang="en-US">
                <a:solidFill>
                  <a:srgbClr val="434343"/>
                </a:solidFill>
                <a:latin typeface="Arial"/>
              </a:rPr>
              <a:t>Hash, sign, encrypt, wrap, and package the resulting update for the aggregator</a:t>
            </a:r>
          </a:p>
        </p:txBody>
      </p:sp>
      <p:sp>
        <p:nvSpPr>
          <p:cNvPr id="16" name="Rounded Rectangle 15"/>
          <p:cNvSpPr/>
          <p:nvPr/>
        </p:nvSpPr>
        <p:spPr>
          <a:xfrm>
            <a:off x="6236208" y="1984248"/>
            <a:ext cx="5376672" cy="268833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2185416"/>
            <a:ext cx="3657600" cy="320040"/>
          </a:xfrm>
          <a:prstGeom prst="rect">
            <a:avLst/>
          </a:prstGeom>
          <a:noFill/>
        </p:spPr>
        <p:txBody>
          <a:bodyPr wrap="square" lIns="18288" rIns="18288" tIns="18288" bIns="18288" anchor="t">
            <a:spAutoFit/>
          </a:bodyPr>
          <a:lstStyle/>
          <a:p>
            <a:pPr algn="l"/>
            <a:r>
              <a:rPr sz="1270" b="1" lang="en-US">
                <a:solidFill>
                  <a:srgbClr val="1F90CC"/>
                </a:solidFill>
                <a:latin typeface="Arial"/>
              </a:rPr>
              <a:t>DCAP ADMISSION AS A ZK RELATION</a:t>
            </a:r>
          </a:p>
        </p:txBody>
      </p:sp>
      <p:sp>
        <p:nvSpPr>
          <p:cNvPr id="18" name="Rectangle 17"/>
          <p:cNvSpPr/>
          <p:nvPr/>
        </p:nvSpPr>
        <p:spPr>
          <a:xfrm>
            <a:off x="1017727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PER ADMISSION</a:t>
            </a:r>
          </a:p>
        </p:txBody>
      </p:sp>
      <p:sp>
        <p:nvSpPr>
          <p:cNvPr id="20" name="TextBox 19"/>
          <p:cNvSpPr txBox="1"/>
          <p:nvPr/>
        </p:nvSpPr>
        <p:spPr>
          <a:xfrm>
            <a:off x="6483096" y="2615184"/>
            <a:ext cx="4846320" cy="201168"/>
          </a:xfrm>
          <a:prstGeom prst="rect">
            <a:avLst/>
          </a:prstGeom>
          <a:noFill/>
        </p:spPr>
        <p:txBody>
          <a:bodyPr wrap="square" lIns="18288" rIns="18288" tIns="18288" bIns="18288" anchor="t">
            <a:spAutoFit/>
          </a:bodyPr>
          <a:lstStyle/>
          <a:p>
            <a:pPr algn="l"/>
            <a:r>
              <a:rPr sz="950" b="1" lang="en-US">
                <a:solidFill>
                  <a:srgbClr val="1F90CC"/>
                </a:solidFill>
                <a:latin typeface="Arial"/>
              </a:rPr>
              <a:t>QUOTE AND MEASUREMENT APPRAISAL</a:t>
            </a:r>
          </a:p>
        </p:txBody>
      </p:sp>
      <p:sp>
        <p:nvSpPr>
          <p:cNvPr id="21" name="TextBox 20"/>
          <p:cNvSpPr txBox="1"/>
          <p:nvPr/>
        </p:nvSpPr>
        <p:spPr>
          <a:xfrm>
            <a:off x="647395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90" lang="en-US">
                <a:solidFill>
                  <a:srgbClr val="434343"/>
                </a:solidFill>
                <a:latin typeface="Arial"/>
              </a:rPr>
              <a:t>Parse Quote V4, TD report, certificate chain, QE identity, and TCB information</a:t>
            </a:r>
          </a:p>
          <a:p>
            <a:pPr>
              <a:lnSpc>
                <a:spcPct val="100000"/>
              </a:lnSpc>
              <a:spcAft>
                <a:spcPts val="300"/>
              </a:spcAft>
            </a:pPr>
            <a:r>
              <a:rPr sz="1000" lang="en-US">
                <a:solidFill>
                  <a:srgbClr val="1F90CC"/>
                </a:solidFill>
                <a:latin typeface="Arial"/>
              </a:rPr>
              <a:t>●  </a:t>
            </a:r>
            <a:r>
              <a:rPr sz="990" lang="en-US">
                <a:solidFill>
                  <a:srgbClr val="434343"/>
                </a:solidFill>
                <a:latin typeface="Arial"/>
              </a:rPr>
              <a:t>Verify P-256 signatures, hashes, revocation material, freshness, and appraisal policy</a:t>
            </a:r>
          </a:p>
          <a:p>
            <a:pPr>
              <a:lnSpc>
                <a:spcPct val="100000"/>
              </a:lnSpc>
              <a:spcAft>
                <a:spcPts val="300"/>
              </a:spcAft>
            </a:pPr>
            <a:r>
              <a:rPr sz="1000" lang="en-US">
                <a:solidFill>
                  <a:srgbClr val="1F90CC"/>
                </a:solidFill>
                <a:latin typeface="Arial"/>
              </a:rPr>
              <a:t>●  </a:t>
            </a:r>
            <a:r>
              <a:rPr sz="990" lang="en-US">
                <a:solidFill>
                  <a:srgbClr val="434343"/>
                </a:solidFill>
                <a:latin typeface="Arial"/>
              </a:rPr>
              <a:t>Replay every ordered application event into RTMR3 and match the quoted value</a:t>
            </a:r>
          </a:p>
          <a:p>
            <a:pPr>
              <a:lnSpc>
                <a:spcPct val="100000"/>
              </a:lnSpc>
              <a:spcAft>
                <a:spcPts val="300"/>
              </a:spcAft>
            </a:pPr>
            <a:r>
              <a:rPr sz="1000" lang="en-US">
                <a:solidFill>
                  <a:srgbClr val="1F90CC"/>
                </a:solidFill>
                <a:latin typeface="Arial"/>
              </a:rPr>
              <a:t>●  </a:t>
            </a:r>
            <a:r>
              <a:rPr sz="990" lang="en-US">
                <a:solidFill>
                  <a:srgbClr val="434343"/>
                </a:solidFill>
                <a:latin typeface="Arial"/>
              </a:rPr>
              <a:t>Bind REPORTDATA, Compose, image, registry, caller, role policy, and one-time nonce</a:t>
            </a:r>
          </a:p>
        </p:txBody>
      </p:sp>
      <p:sp>
        <p:nvSpPr>
          <p:cNvPr id="22" name="Rectangle 21"/>
          <p:cNvSpPr/>
          <p:nvPr/>
        </p:nvSpPr>
        <p:spPr>
          <a:xfrm>
            <a:off x="841248" y="4919472"/>
            <a:ext cx="10515600"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0566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00" b="1" lang="en-US">
                <a:solidFill>
                  <a:srgbClr val="FFFFFF"/>
                </a:solidFill>
                <a:latin typeface="Arial"/>
              </a:rPr>
              <a:t>TEE/RA keeps both relations native and stateful; ZK remains useful for narrow encoded claims.</a:t>
            </a:r>
          </a:p>
        </p:txBody>
      </p:sp>
      <p:sp>
        <p:nvSpPr>
          <p:cNvPr id="24" name="TextBox 23"/>
          <p:cNvSpPr txBox="1"/>
          <p:nvPr/>
        </p:nvSpPr>
        <p:spPr>
          <a:xfrm>
            <a:off x="704088" y="5504688"/>
            <a:ext cx="10771632" cy="146304"/>
          </a:xfrm>
          <a:prstGeom prst="rect">
            <a:avLst/>
          </a:prstGeom>
          <a:noFill/>
        </p:spPr>
        <p:txBody>
          <a:bodyPr wrap="square" lIns="0" rIns="0" tIns="0" bIns="0" anchor="t">
            <a:spAutoFit/>
          </a:bodyPr>
          <a:lstStyle/>
          <a:p>
            <a:pPr algn="ctr"/>
            <a:r>
              <a:rPr sz="710" b="0" lang="en-US">
                <a:solidFill>
                  <a:srgbClr val="434343"/>
                </a:solidFill>
                <a:latin typeface="Arial"/>
              </a:rPr>
              <a:t>Scope statement—not a measured TEE-over-ZK speedup. Sources: RFC 9334 · Intel TDX/DCAP · Chen et al., EuroSys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From Intel-backed evidence to app-bound secrets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LIVE PHALA PATH · INDEPENDENT QUOTE VERIFICATION · PATH-SEPARATED DSTACK KEYS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8912" y="1353312"/>
            <a:ext cx="6547104" cy="39867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536192"/>
            <a:ext cx="2331720" cy="228600"/>
          </a:xfrm>
          <a:prstGeom prst="rect">
            <a:avLst/>
          </a:prstGeom>
          <a:noFill/>
        </p:spPr>
        <p:txBody>
          <a:bodyPr wrap="square" lIns="18288" rIns="18288" tIns="18288" bIns="18288" anchor="t">
            <a:spAutoFit/>
          </a:bodyPr>
          <a:lstStyle/>
          <a:p>
            <a:pPr algn="l"/>
            <a:r>
              <a:rPr sz="1250" b="1" lang="en-US">
                <a:solidFill>
                  <a:srgbClr val="FF6C00"/>
                </a:solidFill>
                <a:latin typeface="Arial"/>
              </a:rPr>
              <a:t>A · VERIFY THE TDX EVIDENCE</a:t>
            </a:r>
          </a:p>
        </p:txBody>
      </p:sp>
      <p:sp>
        <p:nvSpPr>
          <p:cNvPr id="10" name="Rounded Rectangle 9"/>
          <p:cNvSpPr/>
          <p:nvPr/>
        </p:nvSpPr>
        <p:spPr>
          <a:xfrm>
            <a:off x="2761488" y="1481328"/>
            <a:ext cx="3858768" cy="548640"/>
          </a:xfrm>
          <a:prstGeom prst="roundRect">
            <a:avLst/>
          </a:prstGeom>
          <a:solidFill>
            <a:srgbClr val="FFFFFF"/>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7792" y="1572768"/>
            <a:ext cx="3566160" cy="164592"/>
          </a:xfrm>
          <a:prstGeom prst="rect">
            <a:avLst/>
          </a:prstGeom>
          <a:noFill/>
        </p:spPr>
        <p:txBody>
          <a:bodyPr wrap="square" lIns="18288" rIns="18288" tIns="18288" bIns="18288" anchor="ctr">
            <a:spAutoFit/>
          </a:bodyPr>
          <a:lstStyle/>
          <a:p>
            <a:pPr algn="ctr"/>
            <a:r>
              <a:rPr sz="950" b="1" lang="en-US">
                <a:solidFill>
                  <a:srgbClr val="FF6C00"/>
                </a:solidFill>
                <a:latin typeface="Arial"/>
              </a:rPr>
              <a:t>INTEL PCS / PCCS COLLATERAL</a:t>
            </a:r>
          </a:p>
        </p:txBody>
      </p:sp>
      <p:sp>
        <p:nvSpPr>
          <p:cNvPr id="12" name="TextBox 11"/>
          <p:cNvSpPr txBox="1"/>
          <p:nvPr/>
        </p:nvSpPr>
        <p:spPr>
          <a:xfrm>
            <a:off x="2907792" y="1783080"/>
            <a:ext cx="3566160" cy="137160"/>
          </a:xfrm>
          <a:prstGeom prst="rect">
            <a:avLst/>
          </a:prstGeom>
          <a:noFill/>
        </p:spPr>
        <p:txBody>
          <a:bodyPr wrap="square" lIns="18288" rIns="18288" tIns="18288" bIns="18288" anchor="ctr">
            <a:spAutoFit/>
          </a:bodyPr>
          <a:lstStyle/>
          <a:p>
            <a:pPr algn="ctr"/>
            <a:r>
              <a:rPr sz="800" b="0" lang="en-US">
                <a:solidFill>
                  <a:srgbClr val="434343"/>
                </a:solidFill>
                <a:latin typeface="Arial"/>
              </a:rPr>
              <a:t>PCK chain + validity · CRLs · QE identity · TCB info</a:t>
            </a:r>
          </a:p>
        </p:txBody>
      </p:sp>
      <p:sp>
        <p:nvSpPr>
          <p:cNvPr id="13" name="Rounded Rectangle 12"/>
          <p:cNvSpPr/>
          <p:nvPr/>
        </p:nvSpPr>
        <p:spPr>
          <a:xfrm>
            <a:off x="694944" y="2267712"/>
            <a:ext cx="1627632" cy="1298448"/>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 y="2459736"/>
            <a:ext cx="1353312" cy="228600"/>
          </a:xfrm>
          <a:prstGeom prst="rect">
            <a:avLst/>
          </a:prstGeom>
          <a:noFill/>
        </p:spPr>
        <p:txBody>
          <a:bodyPr wrap="square" lIns="18288" rIns="18288" tIns="18288" bIns="18288" anchor="t">
            <a:spAutoFit/>
          </a:bodyPr>
          <a:lstStyle/>
          <a:p>
            <a:pPr algn="ctr"/>
            <a:r>
              <a:rPr sz="1150" b="1" lang="en-US">
                <a:solidFill>
                  <a:srgbClr val="1F90CC"/>
                </a:solidFill>
                <a:latin typeface="Arial"/>
              </a:rPr>
              <a:t>MEASURED CVM</a:t>
            </a:r>
          </a:p>
        </p:txBody>
      </p:sp>
      <p:sp>
        <p:nvSpPr>
          <p:cNvPr id="15" name="TextBox 14"/>
          <p:cNvSpPr txBox="1"/>
          <p:nvPr/>
        </p:nvSpPr>
        <p:spPr>
          <a:xfrm>
            <a:off x="832104" y="2779776"/>
            <a:ext cx="1353312" cy="603504"/>
          </a:xfrm>
          <a:prstGeom prst="rect">
            <a:avLst/>
          </a:prstGeom>
          <a:noFill/>
        </p:spPr>
        <p:txBody>
          <a:bodyPr wrap="square" lIns="18288" rIns="18288" tIns="18288" bIns="18288" anchor="ctr">
            <a:spAutoFit/>
          </a:bodyPr>
          <a:lstStyle/>
          <a:p>
            <a:pPr algn="ctr"/>
            <a:r>
              <a:rPr sz="960" b="1" lang="en-US">
                <a:solidFill>
                  <a:srgbClr val="434343"/>
                </a:solidFill>
                <a:latin typeface="Arial"/>
              </a:rPr>
              <a:t>MRTD + RTMR0–2
RTMR3 event log
REPORTDATA</a:t>
            </a:r>
          </a:p>
        </p:txBody>
      </p:sp>
      <p:sp>
        <p:nvSpPr>
          <p:cNvPr id="16" name="Rounded Rectangle 15"/>
          <p:cNvSpPr/>
          <p:nvPr/>
        </p:nvSpPr>
        <p:spPr>
          <a:xfrm>
            <a:off x="2596896" y="2267712"/>
            <a:ext cx="1517904" cy="1298448"/>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24912" y="2459736"/>
            <a:ext cx="1261872" cy="228600"/>
          </a:xfrm>
          <a:prstGeom prst="rect">
            <a:avLst/>
          </a:prstGeom>
          <a:noFill/>
        </p:spPr>
        <p:txBody>
          <a:bodyPr wrap="square" lIns="18288" rIns="18288" tIns="18288" bIns="18288" anchor="t">
            <a:spAutoFit/>
          </a:bodyPr>
          <a:lstStyle/>
          <a:p>
            <a:pPr algn="ctr"/>
            <a:r>
              <a:rPr sz="1150" b="1" lang="en-US">
                <a:solidFill>
                  <a:srgbClr val="C40D1E"/>
                </a:solidFill>
                <a:latin typeface="Arial"/>
              </a:rPr>
              <a:t>TDX QUOTE V4</a:t>
            </a:r>
          </a:p>
        </p:txBody>
      </p:sp>
      <p:sp>
        <p:nvSpPr>
          <p:cNvPr id="18" name="TextBox 17"/>
          <p:cNvSpPr txBox="1"/>
          <p:nvPr/>
        </p:nvSpPr>
        <p:spPr>
          <a:xfrm>
            <a:off x="2724912" y="2852928"/>
            <a:ext cx="1261872" cy="420624"/>
          </a:xfrm>
          <a:prstGeom prst="rect">
            <a:avLst/>
          </a:prstGeom>
          <a:noFill/>
        </p:spPr>
        <p:txBody>
          <a:bodyPr wrap="square" lIns="18288" rIns="18288" tIns="18288" bIns="18288" anchor="ctr">
            <a:spAutoFit/>
          </a:bodyPr>
          <a:lstStyle/>
          <a:p>
            <a:pPr algn="ctr"/>
            <a:r>
              <a:rPr sz="919" b="1" lang="en-US">
                <a:solidFill>
                  <a:srgbClr val="434343"/>
                </a:solidFill>
                <a:latin typeface="Arial"/>
              </a:rPr>
              <a:t>Quoting Enclave signature
PCK certificate</a:t>
            </a:r>
          </a:p>
        </p:txBody>
      </p:sp>
      <p:sp>
        <p:nvSpPr>
          <p:cNvPr id="19" name="Rounded Rectangle 18"/>
          <p:cNvSpPr/>
          <p:nvPr/>
        </p:nvSpPr>
        <p:spPr>
          <a:xfrm>
            <a:off x="4407408" y="2157984"/>
            <a:ext cx="2194560" cy="1536192"/>
          </a:xfrm>
          <a:prstGeom prst="roundRect">
            <a:avLst/>
          </a:prstGeom>
          <a:solidFill>
            <a:srgbClr val="FFFFFF"/>
          </a:solidFill>
          <a:ln w="1778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8576" y="2350008"/>
            <a:ext cx="1792224" cy="228600"/>
          </a:xfrm>
          <a:prstGeom prst="rect">
            <a:avLst/>
          </a:prstGeom>
          <a:noFill/>
        </p:spPr>
        <p:txBody>
          <a:bodyPr wrap="square" lIns="18288" rIns="18288" tIns="18288" bIns="18288" anchor="t">
            <a:spAutoFit/>
          </a:bodyPr>
          <a:lstStyle/>
          <a:p>
            <a:pPr algn="ctr"/>
            <a:r>
              <a:rPr sz="1200" b="1" lang="en-US">
                <a:solidFill>
                  <a:srgbClr val="FF6C00"/>
                </a:solidFill>
                <a:latin typeface="Arial"/>
              </a:rPr>
              <a:t>DCAP VERIFIER</a:t>
            </a:r>
          </a:p>
        </p:txBody>
      </p:sp>
      <p:sp>
        <p:nvSpPr>
          <p:cNvPr id="21" name="TextBox 20"/>
          <p:cNvSpPr txBox="1"/>
          <p:nvPr/>
        </p:nvSpPr>
        <p:spPr>
          <a:xfrm>
            <a:off x="4608576" y="2724912"/>
            <a:ext cx="1792224" cy="685800"/>
          </a:xfrm>
          <a:prstGeom prst="rect">
            <a:avLst/>
          </a:prstGeom>
          <a:noFill/>
        </p:spPr>
        <p:txBody>
          <a:bodyPr wrap="square" lIns="18288" rIns="18288" tIns="18288" bIns="18288" anchor="ctr">
            <a:spAutoFit/>
          </a:bodyPr>
          <a:lstStyle/>
          <a:p>
            <a:pPr algn="ctr"/>
            <a:r>
              <a:rPr sz="960" b="1" lang="en-US">
                <a:solidFill>
                  <a:srgbClr val="434343"/>
                </a:solidFill>
                <a:latin typeface="Arial"/>
              </a:rPr>
              <a:t>Intel-rooted signatures
Revocation + TCB status
Measurements + challenge</a:t>
            </a:r>
          </a:p>
        </p:txBody>
      </p:sp>
      <p:cxnSp>
        <p:nvCxnSpPr>
          <p:cNvPr id="22" name="Connector 21"/>
          <p:cNvCxnSpPr/>
          <p:nvPr/>
        </p:nvCxnSpPr>
        <p:spPr>
          <a:xfrm>
            <a:off x="2331720" y="2916936"/>
            <a:ext cx="219456" cy="0"/>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123944" y="2916936"/>
            <a:ext cx="228600" cy="0"/>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468112" y="2039112"/>
            <a:ext cx="0" cy="91440"/>
          </a:xfrm>
          <a:prstGeom prst="line">
            <a:avLst/>
          </a:prstGeom>
          <a:ln w="1778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62856" y="3895344"/>
            <a:ext cx="1883664" cy="50292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1728" y="4041648"/>
            <a:ext cx="1645920" cy="201168"/>
          </a:xfrm>
          <a:prstGeom prst="rect">
            <a:avLst/>
          </a:prstGeom>
          <a:noFill/>
        </p:spPr>
        <p:txBody>
          <a:bodyPr wrap="square" lIns="18288" rIns="18288" tIns="18288" bIns="18288" anchor="ctr">
            <a:spAutoFit/>
          </a:bodyPr>
          <a:lstStyle/>
          <a:p>
            <a:pPr algn="ctr"/>
            <a:r>
              <a:rPr sz="1040" b="1" lang="en-US">
                <a:solidFill>
                  <a:srgbClr val="2F8F46"/>
                </a:solidFill>
                <a:latin typeface="Arial"/>
              </a:rPr>
              <a:t>VERIFIED APP IDENTITY</a:t>
            </a:r>
          </a:p>
        </p:txBody>
      </p:sp>
      <p:cxnSp>
        <p:nvCxnSpPr>
          <p:cNvPr id="27" name="Connector 26"/>
          <p:cNvCxnSpPr/>
          <p:nvPr/>
        </p:nvCxnSpPr>
        <p:spPr>
          <a:xfrm>
            <a:off x="5504688" y="3703320"/>
            <a:ext cx="0" cy="164592"/>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13232" y="3931920"/>
            <a:ext cx="3401568" cy="1005840"/>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114800"/>
            <a:ext cx="2999232" cy="201168"/>
          </a:xfrm>
          <a:prstGeom prst="rect">
            <a:avLst/>
          </a:prstGeom>
          <a:noFill/>
        </p:spPr>
        <p:txBody>
          <a:bodyPr wrap="square" lIns="18288" rIns="18288" tIns="18288" bIns="18288" anchor="t">
            <a:spAutoFit/>
          </a:bodyPr>
          <a:lstStyle/>
          <a:p>
            <a:pPr algn="l"/>
            <a:r>
              <a:rPr sz="1060" b="1" lang="en-US">
                <a:solidFill>
                  <a:srgbClr val="7A35B5"/>
                </a:solidFill>
                <a:latin typeface="Arial"/>
              </a:rPr>
              <a:t>VITA-FL ON-CHAIN ADMISSION</a:t>
            </a:r>
          </a:p>
        </p:txBody>
      </p:sp>
      <p:sp>
        <p:nvSpPr>
          <p:cNvPr id="30" name="TextBox 29"/>
          <p:cNvSpPr txBox="1"/>
          <p:nvPr/>
        </p:nvSpPr>
        <p:spPr>
          <a:xfrm>
            <a:off x="914400" y="4407408"/>
            <a:ext cx="2999232" cy="393192"/>
          </a:xfrm>
          <a:prstGeom prst="rect">
            <a:avLst/>
          </a:prstGeom>
          <a:noFill/>
        </p:spPr>
        <p:txBody>
          <a:bodyPr wrap="square" lIns="18288" rIns="18288" tIns="18288" bIns="18288" anchor="ctr">
            <a:spAutoFit/>
          </a:bodyPr>
          <a:lstStyle/>
          <a:p>
            <a:pPr algn="l"/>
            <a:r>
              <a:rPr sz="869" b="1" lang="en-US">
                <a:solidFill>
                  <a:srgbClr val="434343"/>
                </a:solidFill>
                <a:latin typeface="Arial"/>
              </a:rPr>
              <a:t>Independently checks the pinned base tuple, replays RTMR3, and binds workload, participant, action key, and nonce.</a:t>
            </a:r>
          </a:p>
        </p:txBody>
      </p:sp>
      <p:cxnSp>
        <p:nvCxnSpPr>
          <p:cNvPr id="31" name="Connector 30"/>
          <p:cNvCxnSpPr/>
          <p:nvPr/>
        </p:nvCxnSpPr>
        <p:spPr>
          <a:xfrm>
            <a:off x="3355848" y="3584448"/>
            <a:ext cx="0" cy="320039"/>
          </a:xfrm>
          <a:prstGeom prst="line">
            <a:avLst/>
          </a:prstGeom>
          <a:ln w="17780">
            <a:solidFill>
              <a:srgbClr val="7A35B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150608" y="1353312"/>
            <a:ext cx="4590288" cy="39867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1536192"/>
            <a:ext cx="4041648" cy="228600"/>
          </a:xfrm>
          <a:prstGeom prst="rect">
            <a:avLst/>
          </a:prstGeom>
          <a:noFill/>
        </p:spPr>
        <p:txBody>
          <a:bodyPr wrap="square" lIns="18288" rIns="18288" tIns="18288" bIns="18288" anchor="t">
            <a:spAutoFit/>
          </a:bodyPr>
          <a:lstStyle/>
          <a:p>
            <a:pPr algn="l"/>
            <a:r>
              <a:rPr sz="1180" b="1" lang="en-US">
                <a:solidFill>
                  <a:srgbClr val="1F90CC"/>
                </a:solidFill>
                <a:latin typeface="Arial"/>
              </a:rPr>
              <a:t>B · DERIVE APP-BOUND SECRETS</a:t>
            </a:r>
          </a:p>
        </p:txBody>
      </p:sp>
      <p:sp>
        <p:nvSpPr>
          <p:cNvPr id="34" name="Rounded Rectangle 33"/>
          <p:cNvSpPr/>
          <p:nvPr/>
        </p:nvSpPr>
        <p:spPr>
          <a:xfrm>
            <a:off x="7406640" y="1901952"/>
            <a:ext cx="4087368" cy="93268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35240" y="2185416"/>
            <a:ext cx="310896" cy="310896"/>
          </a:xfrm>
          <a:prstGeom prst="ellipse">
            <a:avLst/>
          </a:prstGeom>
          <a:solidFill>
            <a:srgbClr val="FFFFFF"/>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7927848" y="2340864"/>
            <a:ext cx="329183"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47304" y="2340864"/>
            <a:ext cx="0" cy="14630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247888" y="2340864"/>
            <a:ext cx="0" cy="10058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94192" y="2093976"/>
            <a:ext cx="2816352" cy="219456"/>
          </a:xfrm>
          <a:prstGeom prst="rect">
            <a:avLst/>
          </a:prstGeom>
          <a:noFill/>
        </p:spPr>
        <p:txBody>
          <a:bodyPr wrap="square" lIns="18288" rIns="18288" tIns="18288" bIns="18288" anchor="t">
            <a:spAutoFit/>
          </a:bodyPr>
          <a:lstStyle/>
          <a:p>
            <a:pPr algn="ctr"/>
            <a:r>
              <a:rPr sz="1220" b="1" lang="en-US">
                <a:solidFill>
                  <a:srgbClr val="2F8F46"/>
                </a:solidFill>
                <a:latin typeface="Arial"/>
              </a:rPr>
              <a:t>ATTESTED DSTACK KMS</a:t>
            </a:r>
          </a:p>
        </p:txBody>
      </p:sp>
      <p:sp>
        <p:nvSpPr>
          <p:cNvPr id="40" name="TextBox 39"/>
          <p:cNvSpPr txBox="1"/>
          <p:nvPr/>
        </p:nvSpPr>
        <p:spPr>
          <a:xfrm>
            <a:off x="8394192" y="2404872"/>
            <a:ext cx="2816352" cy="210312"/>
          </a:xfrm>
          <a:prstGeom prst="rect">
            <a:avLst/>
          </a:prstGeom>
          <a:noFill/>
        </p:spPr>
        <p:txBody>
          <a:bodyPr wrap="square" lIns="18288" rIns="18288" tIns="18288" bIns="18288" anchor="t">
            <a:spAutoFit/>
          </a:bodyPr>
          <a:lstStyle/>
          <a:p>
            <a:pPr algn="ctr"/>
            <a:r>
              <a:rPr sz="919" b="1" lang="en-US">
                <a:solidFill>
                  <a:srgbClr val="434343"/>
                </a:solidFill>
                <a:latin typeface="Arial"/>
              </a:rPr>
              <a:t>Verifies quote + policy · protects the KMS root secret</a:t>
            </a:r>
          </a:p>
        </p:txBody>
      </p:sp>
      <p:cxnSp>
        <p:nvCxnSpPr>
          <p:cNvPr id="41" name="Connector 40"/>
          <p:cNvCxnSpPr/>
          <p:nvPr/>
        </p:nvCxnSpPr>
        <p:spPr>
          <a:xfrm flipV="1">
            <a:off x="6473952" y="2487168"/>
            <a:ext cx="877823" cy="1655064"/>
          </a:xfrm>
          <a:prstGeom prst="line">
            <a:avLst/>
          </a:prstGeom>
          <a:ln w="20320">
            <a:solidFill>
              <a:srgbClr val="2F8F4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845552" y="3054096"/>
            <a:ext cx="3127248" cy="429768"/>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73568" y="3163824"/>
            <a:ext cx="2871216" cy="201168"/>
          </a:xfrm>
          <a:prstGeom prst="rect">
            <a:avLst/>
          </a:prstGeom>
          <a:noFill/>
        </p:spPr>
        <p:txBody>
          <a:bodyPr wrap="square" lIns="18288" rIns="18288" tIns="18288" bIns="18288" anchor="ctr">
            <a:spAutoFit/>
          </a:bodyPr>
          <a:lstStyle/>
          <a:p>
            <a:pPr algn="ctr"/>
            <a:r>
              <a:rPr sz="1010" b="1" lang="en-US">
                <a:solidFill>
                  <a:srgbClr val="1F90CC"/>
                </a:solidFill>
                <a:latin typeface="Arial"/>
              </a:rPr>
              <a:t>GetKey(app ID, path) via dstack.sock</a:t>
            </a:r>
          </a:p>
        </p:txBody>
      </p:sp>
      <p:cxnSp>
        <p:nvCxnSpPr>
          <p:cNvPr id="44" name="Connector 43"/>
          <p:cNvCxnSpPr/>
          <p:nvPr/>
        </p:nvCxnSpPr>
        <p:spPr>
          <a:xfrm>
            <a:off x="9409176" y="2843784"/>
            <a:ext cx="0" cy="182880"/>
          </a:xfrm>
          <a:prstGeom prst="line">
            <a:avLst/>
          </a:prstGeom>
          <a:ln w="1778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370064" y="3730752"/>
            <a:ext cx="128016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43216" y="3886200"/>
            <a:ext cx="1133856" cy="182880"/>
          </a:xfrm>
          <a:prstGeom prst="rect">
            <a:avLst/>
          </a:prstGeom>
          <a:noFill/>
        </p:spPr>
        <p:txBody>
          <a:bodyPr wrap="square" lIns="18288" rIns="18288" tIns="18288" bIns="18288" anchor="t">
            <a:spAutoFit/>
          </a:bodyPr>
          <a:lstStyle/>
          <a:p>
            <a:pPr algn="ctr"/>
            <a:r>
              <a:rPr sz="860" b="1" lang="en-US">
                <a:solidFill>
                  <a:srgbClr val="1F90CC"/>
                </a:solidFill>
                <a:latin typeface="Arial"/>
              </a:rPr>
              <a:t>ACTION</a:t>
            </a:r>
          </a:p>
        </p:txBody>
      </p:sp>
      <p:sp>
        <p:nvSpPr>
          <p:cNvPr id="47" name="TextBox 46"/>
          <p:cNvSpPr txBox="1"/>
          <p:nvPr/>
        </p:nvSpPr>
        <p:spPr>
          <a:xfrm>
            <a:off x="7443216"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HMAC →
secp256k1</a:t>
            </a:r>
          </a:p>
        </p:txBody>
      </p:sp>
      <p:sp>
        <p:nvSpPr>
          <p:cNvPr id="48" name="Rounded Rectangle 47"/>
          <p:cNvSpPr/>
          <p:nvPr/>
        </p:nvSpPr>
        <p:spPr>
          <a:xfrm>
            <a:off x="8796528" y="3730752"/>
            <a:ext cx="128016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3886200"/>
            <a:ext cx="1133856" cy="182880"/>
          </a:xfrm>
          <a:prstGeom prst="rect">
            <a:avLst/>
          </a:prstGeom>
          <a:noFill/>
        </p:spPr>
        <p:txBody>
          <a:bodyPr wrap="square" lIns="18288" rIns="18288" tIns="18288" bIns="18288" anchor="t">
            <a:spAutoFit/>
          </a:bodyPr>
          <a:lstStyle/>
          <a:p>
            <a:pPr algn="ctr"/>
            <a:r>
              <a:rPr sz="860" b="1" lang="en-US">
                <a:solidFill>
                  <a:srgbClr val="FF6C00"/>
                </a:solidFill>
                <a:latin typeface="Arial"/>
              </a:rPr>
              <a:t>RSA CUSTODY</a:t>
            </a:r>
          </a:p>
        </p:txBody>
      </p:sp>
      <p:sp>
        <p:nvSpPr>
          <p:cNvPr id="50" name="TextBox 49"/>
          <p:cNvSpPr txBox="1"/>
          <p:nvPr/>
        </p:nvSpPr>
        <p:spPr>
          <a:xfrm>
            <a:off x="8869680"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HKDF →
AES-GCM wrap</a:t>
            </a:r>
          </a:p>
        </p:txBody>
      </p:sp>
      <p:sp>
        <p:nvSpPr>
          <p:cNvPr id="51" name="Rounded Rectangle 50"/>
          <p:cNvSpPr/>
          <p:nvPr/>
        </p:nvSpPr>
        <p:spPr>
          <a:xfrm>
            <a:off x="10222992" y="3730752"/>
            <a:ext cx="1280160" cy="9875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96144" y="3886200"/>
            <a:ext cx="1133856" cy="182880"/>
          </a:xfrm>
          <a:prstGeom prst="rect">
            <a:avLst/>
          </a:prstGeom>
          <a:noFill/>
        </p:spPr>
        <p:txBody>
          <a:bodyPr wrap="square" lIns="18288" rIns="18288" tIns="18288" bIns="18288" anchor="t">
            <a:spAutoFit/>
          </a:bodyPr>
          <a:lstStyle/>
          <a:p>
            <a:pPr algn="ctr"/>
            <a:r>
              <a:rPr sz="860" b="1" lang="en-US">
                <a:solidFill>
                  <a:srgbClr val="7A35B5"/>
                </a:solidFill>
                <a:latin typeface="Arial"/>
              </a:rPr>
              <a:t>AIR RECEIPT</a:t>
            </a:r>
          </a:p>
        </p:txBody>
      </p:sp>
      <p:sp>
        <p:nvSpPr>
          <p:cNvPr id="53" name="TextBox 52"/>
          <p:cNvSpPr txBox="1"/>
          <p:nvPr/>
        </p:nvSpPr>
        <p:spPr>
          <a:xfrm>
            <a:off x="10296144"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Ed25519
signing key</a:t>
            </a:r>
          </a:p>
        </p:txBody>
      </p:sp>
      <p:cxnSp>
        <p:nvCxnSpPr>
          <p:cNvPr id="54" name="Connector 53"/>
          <p:cNvCxnSpPr/>
          <p:nvPr/>
        </p:nvCxnSpPr>
        <p:spPr>
          <a:xfrm>
            <a:off x="9409176" y="3493008"/>
            <a:ext cx="0" cy="182879"/>
          </a:xfrm>
          <a:prstGeom prst="line">
            <a:avLst/>
          </a:prstGeom>
          <a:ln w="1778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388352" y="4809744"/>
            <a:ext cx="4114800" cy="292608"/>
          </a:xfrm>
          <a:prstGeom prst="rect">
            <a:avLst/>
          </a:prstGeom>
          <a:noFill/>
        </p:spPr>
        <p:txBody>
          <a:bodyPr wrap="square" lIns="18288" rIns="18288" tIns="18288" bIns="18288" anchor="ctr">
            <a:spAutoFit/>
          </a:bodyPr>
          <a:lstStyle/>
          <a:p>
            <a:pPr algn="ctr"/>
            <a:r>
              <a:rPr sz="810" b="1" lang="en-US">
                <a:solidFill>
                  <a:srgbClr val="434343"/>
                </a:solidFill>
                <a:latin typeface="Arial"/>
              </a:rPr>
              <a:t>Same app + path ⇒ same key
Different app or path ⇒ different key</a:t>
            </a:r>
          </a:p>
        </p:txBody>
      </p:sp>
      <p:sp>
        <p:nvSpPr>
          <p:cNvPr id="56" name="TextBox 55"/>
          <p:cNvSpPr txBox="1"/>
          <p:nvPr/>
        </p:nvSpPr>
        <p:spPr>
          <a:xfrm>
            <a:off x="7388352" y="5138928"/>
            <a:ext cx="4114800" cy="128016"/>
          </a:xfrm>
          <a:prstGeom prst="rect">
            <a:avLst/>
          </a:prstGeom>
          <a:noFill/>
        </p:spPr>
        <p:txBody>
          <a:bodyPr wrap="square" lIns="0" rIns="0" tIns="0" bIns="0" anchor="ctr">
            <a:spAutoFit/>
          </a:bodyPr>
          <a:lstStyle/>
          <a:p>
            <a:pPr algn="ctr"/>
            <a:r>
              <a:rPr sz="740" b="1" lang="en-US">
                <a:solidFill>
                  <a:srgbClr val="C40D1E"/>
                </a:solidFill>
                <a:latin typeface="Arial"/>
              </a:rPr>
              <a:t>App-bound ≠ non-exportable: protect returned material.</a:t>
            </a:r>
          </a:p>
        </p:txBody>
      </p:sp>
      <p:sp>
        <p:nvSpPr>
          <p:cNvPr id="57" name="Rectangle 56"/>
          <p:cNvSpPr/>
          <p:nvPr/>
        </p:nvSpPr>
        <p:spPr>
          <a:xfrm>
            <a:off x="658368" y="5431536"/>
            <a:ext cx="10890504" cy="274320"/>
          </a:xfrm>
          <a:prstGeom prst="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 y="5495544"/>
            <a:ext cx="10524744" cy="146304"/>
          </a:xfrm>
          <a:prstGeom prst="rect">
            <a:avLst/>
          </a:prstGeom>
          <a:noFill/>
        </p:spPr>
        <p:txBody>
          <a:bodyPr wrap="square" lIns="0" rIns="0" tIns="0" bIns="0" anchor="ctr">
            <a:spAutoFit/>
          </a:bodyPr>
          <a:lstStyle/>
          <a:p>
            <a:pPr algn="ctr"/>
            <a:r>
              <a:rPr sz="960" b="1" lang="en-US">
                <a:solidFill>
                  <a:srgbClr val="C40D1E"/>
                </a:solidFill>
                <a:latin typeface="Arial"/>
              </a:rPr>
              <a:t>Attestation authenticates measured identity—not bug-free code; Intel TDX and the KMS TEE remain trust anchors.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0" name="Rounded Rectangle 9"/>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2" name="TextBox 11"/>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3" name="Rounded Rectangle 12"/>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15" name="TextBox 14"/>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16" name="Rounded Rectangle 15"/>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18" name="TextBox 17"/>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19" name="Rounded Rectangle 18"/>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1" name="TextBox 20"/>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2" name="Rectangle 21"/>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4" name="Rectangle 23"/>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26" name="Rectangle 25"/>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28" name="Rectangle 27"/>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0" name="Rectangle 29"/>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2" name="Rounded Rectangle 31"/>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4" name="TextBox 33"/>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35" name="Rounded Rectangle 34"/>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37" name="TextBox 36"/>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38" name="TextBox 37"/>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39" name="TextBox 38"/>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0" name="TextBox 39"/>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1" name="TextBox 40"/>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2" name="Oval 41"/>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4" name="Oval 43"/>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46" name="Oval 45"/>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48" name="TextBox 47"/>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49" name="Oval 48"/>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2" name="TextBox 51"/>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3" name="TextBox 52"/>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4" name="TextBox 53"/>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55" name="Oval 54"/>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57" name="TextBox 56"/>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58" name="TextBox 57"/>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59" name="Oval 58"/>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1" name="TextBox 60"/>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2" name="TextBox 61"/>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3" name="Oval 62"/>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65" name="TextBox 64"/>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66" name="TextBox 65"/>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67" name="TextBox 66"/>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68" name="Connector 67"/>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1" name="TextBox 70"/>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2" name="TextBox 71"/>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3" name="TextBox 72"/>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4" name="Rectangle 73"/>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Freeze → Compare → Finalize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ONE FROZEN SUBMISSION SET · ONE POLICY DECISION · ONE FINALIZED ROUND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2112264" y="2861157"/>
            <a:ext cx="71963" cy="15636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184227" y="2721254"/>
            <a:ext cx="73243" cy="13990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257470" y="2597810"/>
            <a:ext cx="74524" cy="123444"/>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331994" y="2490825"/>
            <a:ext cx="75804" cy="10698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407798" y="2400300"/>
            <a:ext cx="77084" cy="9052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484882" y="2326233"/>
            <a:ext cx="78364" cy="7406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563246" y="2268626"/>
            <a:ext cx="79644" cy="5760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642890" y="2227478"/>
            <a:ext cx="80924" cy="41148"/>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723814" y="2202789"/>
            <a:ext cx="82205" cy="2468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06019" y="2194560"/>
            <a:ext cx="83485" cy="8229"/>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913632" y="2194560"/>
            <a:ext cx="83484" cy="822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97116" y="2202789"/>
            <a:ext cx="82205" cy="2468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079321" y="2227478"/>
            <a:ext cx="80924" cy="41148"/>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160245" y="2268626"/>
            <a:ext cx="79644" cy="5760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239889" y="2326233"/>
            <a:ext cx="78365" cy="7406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18254" y="2400300"/>
            <a:ext cx="77083" cy="9052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395337" y="2490825"/>
            <a:ext cx="75804" cy="10698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471141" y="2597810"/>
            <a:ext cx="74524" cy="123444"/>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545665" y="2721254"/>
            <a:ext cx="73243" cy="13990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618908" y="2861157"/>
            <a:ext cx="71964" cy="156363"/>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112264" y="3007095"/>
            <a:ext cx="71963" cy="1042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184227" y="2997768"/>
            <a:ext cx="73243" cy="932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257470" y="2989539"/>
            <a:ext cx="74524" cy="822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331994" y="2982407"/>
            <a:ext cx="75804" cy="7132"/>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407798" y="2976372"/>
            <a:ext cx="77084" cy="603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484882" y="2971434"/>
            <a:ext cx="78364" cy="4938"/>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563246" y="2967593"/>
            <a:ext cx="79644" cy="3841"/>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642890" y="2964850"/>
            <a:ext cx="80924" cy="274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723814" y="2963204"/>
            <a:ext cx="82205" cy="164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806019" y="2962656"/>
            <a:ext cx="83485" cy="548"/>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913632" y="2962656"/>
            <a:ext cx="83484" cy="548"/>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997116" y="2963204"/>
            <a:ext cx="82205" cy="164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079321" y="2964850"/>
            <a:ext cx="80924" cy="274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160245" y="2967593"/>
            <a:ext cx="79644" cy="3841"/>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239889" y="2971434"/>
            <a:ext cx="78365" cy="4938"/>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318254" y="2976372"/>
            <a:ext cx="77083" cy="603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395337" y="2982407"/>
            <a:ext cx="75804" cy="7132"/>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471141" y="2989539"/>
            <a:ext cx="74524" cy="822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45665" y="2997768"/>
            <a:ext cx="73243" cy="932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618908" y="3007095"/>
            <a:ext cx="71964" cy="10425"/>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112264" y="3017520"/>
            <a:ext cx="71963" cy="135514"/>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184227" y="3153034"/>
            <a:ext cx="73243" cy="12124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257470" y="3274283"/>
            <a:ext cx="74524" cy="10698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331994" y="3381268"/>
            <a:ext cx="75804" cy="92720"/>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407798" y="3473988"/>
            <a:ext cx="77084" cy="7845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484882" y="3552444"/>
            <a:ext cx="78364" cy="64190"/>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563246" y="3616634"/>
            <a:ext cx="79644" cy="4992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642890" y="3666561"/>
            <a:ext cx="80924" cy="35661"/>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723814" y="3702222"/>
            <a:ext cx="82205" cy="2139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806019" y="3723619"/>
            <a:ext cx="83485" cy="7133"/>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913632" y="3723619"/>
            <a:ext cx="83484" cy="713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3997116" y="3702222"/>
            <a:ext cx="82205" cy="2139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079321" y="3666561"/>
            <a:ext cx="80924" cy="35661"/>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160245" y="3616634"/>
            <a:ext cx="79644" cy="4992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239889" y="3552444"/>
            <a:ext cx="78365" cy="6419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318254" y="3473988"/>
            <a:ext cx="77083" cy="7845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395337" y="3381268"/>
            <a:ext cx="75804" cy="9272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471141" y="3274283"/>
            <a:ext cx="74524" cy="10698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45665" y="3153034"/>
            <a:ext cx="73243" cy="12124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618908" y="3017520"/>
            <a:ext cx="71964" cy="135514"/>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112264" y="3017520"/>
            <a:ext cx="71963" cy="281452"/>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184227" y="3298972"/>
            <a:ext cx="73243" cy="25182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2257470" y="3550798"/>
            <a:ext cx="74524" cy="22219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2331994" y="3772997"/>
            <a:ext cx="75804" cy="192572"/>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2407798" y="3965569"/>
            <a:ext cx="77084" cy="16294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2484882" y="4128516"/>
            <a:ext cx="78364" cy="13331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2563246" y="4261835"/>
            <a:ext cx="79644" cy="10369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2642890" y="4365528"/>
            <a:ext cx="80924" cy="7406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2723814" y="4439594"/>
            <a:ext cx="82205" cy="44440"/>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2806019" y="4484034"/>
            <a:ext cx="83485" cy="14814"/>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913632" y="4484034"/>
            <a:ext cx="83484" cy="14814"/>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997116" y="4439594"/>
            <a:ext cx="82205" cy="4444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4079321" y="4365528"/>
            <a:ext cx="80924" cy="7406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4160245" y="4261835"/>
            <a:ext cx="79644" cy="10369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4239889" y="4128515"/>
            <a:ext cx="78365" cy="13332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4318254" y="3965569"/>
            <a:ext cx="77083" cy="16294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4395337" y="3772997"/>
            <a:ext cx="75804" cy="192572"/>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4471141" y="3550798"/>
            <a:ext cx="74524" cy="22219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4545665" y="3298972"/>
            <a:ext cx="73243" cy="25182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4618908" y="3017520"/>
            <a:ext cx="71964" cy="281452"/>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4690872" y="3017520"/>
            <a:ext cx="246888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8695944" y="2494208"/>
            <a:ext cx="37947" cy="29536"/>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8733891" y="2467782"/>
            <a:ext cx="37033" cy="26426"/>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8770924" y="2444465"/>
            <a:ext cx="36119" cy="23317"/>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8807043" y="2424257"/>
            <a:ext cx="35205" cy="20208"/>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8842248" y="2407158"/>
            <a:ext cx="34290" cy="17099"/>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8876538" y="2393167"/>
            <a:ext cx="33375" cy="13991"/>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8909913" y="2382286"/>
            <a:ext cx="32461" cy="10881"/>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8942374" y="2374513"/>
            <a:ext cx="31547" cy="7773"/>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8973921" y="2369850"/>
            <a:ext cx="30633" cy="4663"/>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9004554" y="2368296"/>
            <a:ext cx="29718" cy="1554"/>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695944" y="3520440"/>
            <a:ext cx="37947" cy="2779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733891" y="3548237"/>
            <a:ext cx="37033" cy="24872"/>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770924" y="3573109"/>
            <a:ext cx="36119" cy="21946"/>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807043" y="3595055"/>
            <a:ext cx="35205" cy="1901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8842248" y="3614074"/>
            <a:ext cx="34290" cy="16094"/>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8876538" y="3630168"/>
            <a:ext cx="33375" cy="1316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8909913" y="3643335"/>
            <a:ext cx="32461" cy="10241"/>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8942374" y="3653576"/>
            <a:ext cx="31547" cy="7315"/>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8973921" y="3660891"/>
            <a:ext cx="30633" cy="438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9004554" y="3665280"/>
            <a:ext cx="29718" cy="1464"/>
          </a:xfrm>
          <a:prstGeom prst="line">
            <a:avLst/>
          </a:prstGeom>
          <a:ln w="1905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10296144" y="2368296"/>
            <a:ext cx="34107" cy="3108"/>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10330251" y="2371404"/>
            <a:ext cx="32827" cy="9327"/>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0363078" y="2380731"/>
            <a:ext cx="31546" cy="15545"/>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0394624" y="2396276"/>
            <a:ext cx="30267" cy="21763"/>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0424891" y="2418039"/>
            <a:ext cx="28987" cy="27981"/>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10453878" y="2446020"/>
            <a:ext cx="27706" cy="34198"/>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0481584" y="2480218"/>
            <a:ext cx="26426" cy="40417"/>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508010" y="2520635"/>
            <a:ext cx="25146" cy="46634"/>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0533156" y="2567269"/>
            <a:ext cx="23866" cy="52852"/>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0557022" y="2620121"/>
            <a:ext cx="22586" cy="59071"/>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10296144" y="3663635"/>
            <a:ext cx="34107" cy="310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10330251" y="3654308"/>
            <a:ext cx="32827" cy="932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10363078" y="3638763"/>
            <a:ext cx="31546" cy="15545"/>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10394624" y="3617000"/>
            <a:ext cx="30267" cy="21763"/>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10424891" y="3589020"/>
            <a:ext cx="28987" cy="27980"/>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10453878" y="3554821"/>
            <a:ext cx="27706" cy="3419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10481584" y="3514404"/>
            <a:ext cx="26426" cy="4041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10508010" y="3467770"/>
            <a:ext cx="25146" cy="46634"/>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10533156" y="3414918"/>
            <a:ext cx="23866" cy="52852"/>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10557022" y="3355848"/>
            <a:ext cx="22586" cy="59070"/>
          </a:xfrm>
          <a:prstGeom prst="line">
            <a:avLst/>
          </a:prstGeom>
          <a:ln w="1905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Data 128"/>
          <p:cNvSpPr/>
          <p:nvPr/>
        </p:nvSpPr>
        <p:spPr>
          <a:xfrm>
            <a:off x="566928" y="2331720"/>
            <a:ext cx="1444752" cy="1371600"/>
          </a:xfrm>
          <a:prstGeom prst="flowChartInputOutput">
            <a:avLst/>
          </a:prstGeom>
          <a:solidFill>
            <a:srgbClr val="EAF5FA"/>
          </a:solidFill>
          <a:ln w="190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86384" y="2496312"/>
            <a:ext cx="1005840" cy="219456"/>
          </a:xfrm>
          <a:prstGeom prst="rect">
            <a:avLst/>
          </a:prstGeom>
          <a:noFill/>
        </p:spPr>
        <p:txBody>
          <a:bodyPr wrap="square" lIns="18288" rIns="18288" tIns="18288" bIns="18288" anchor="t">
            <a:spAutoFit/>
          </a:bodyPr>
          <a:lstStyle/>
          <a:p>
            <a:pPr algn="ctr"/>
            <a:r>
              <a:rPr sz="1300" b="1" lang="en-US">
                <a:solidFill>
                  <a:srgbClr val="1F90CC"/>
                </a:solidFill>
                <a:latin typeface="Arial"/>
              </a:rPr>
              <a:t>FREEZE</a:t>
            </a:r>
          </a:p>
        </p:txBody>
      </p:sp>
      <p:sp>
        <p:nvSpPr>
          <p:cNvPr id="131" name="TextBox 130"/>
          <p:cNvSpPr txBox="1"/>
          <p:nvPr/>
        </p:nvSpPr>
        <p:spPr>
          <a:xfrm>
            <a:off x="713232" y="2816352"/>
            <a:ext cx="1161288" cy="502920"/>
          </a:xfrm>
          <a:prstGeom prst="rect">
            <a:avLst/>
          </a:prstGeom>
          <a:noFill/>
        </p:spPr>
        <p:txBody>
          <a:bodyPr wrap="square" lIns="18288" rIns="18288" tIns="18288" bIns="18288" anchor="t">
            <a:spAutoFit/>
          </a:bodyPr>
          <a:lstStyle/>
          <a:p>
            <a:pPr algn="ctr"/>
            <a:r>
              <a:rPr sz="1150" b="1" lang="en-US">
                <a:solidFill>
                  <a:srgbClr val="434343"/>
                </a:solidFill>
                <a:latin typeface="Arial"/>
              </a:rPr>
              <a:t>WORKER
SUBMISSIONS</a:t>
            </a:r>
          </a:p>
        </p:txBody>
      </p:sp>
      <p:sp>
        <p:nvSpPr>
          <p:cNvPr id="132" name="TextBox 131"/>
          <p:cNvSpPr txBox="1"/>
          <p:nvPr/>
        </p:nvSpPr>
        <p:spPr>
          <a:xfrm>
            <a:off x="612648" y="3840480"/>
            <a:ext cx="1362456" cy="411480"/>
          </a:xfrm>
          <a:prstGeom prst="rect">
            <a:avLst/>
          </a:prstGeom>
          <a:noFill/>
        </p:spPr>
        <p:txBody>
          <a:bodyPr wrap="square" lIns="18288" rIns="18288" tIns="18288" bIns="18288" anchor="t">
            <a:spAutoFit/>
          </a:bodyPr>
          <a:lstStyle/>
          <a:p>
            <a:pPr algn="ctr"/>
            <a:r>
              <a:rPr sz="830" b="0" lang="en-US">
                <a:solidFill>
                  <a:srgbClr val="434343"/>
                </a:solidFill>
                <a:latin typeface="Arial"/>
              </a:rPr>
              <a:t>ordered signed commitments
root rₙ · count n</a:t>
            </a:r>
          </a:p>
        </p:txBody>
      </p:sp>
      <p:sp>
        <p:nvSpPr>
          <p:cNvPr id="133" name="TextBox 132"/>
          <p:cNvSpPr txBox="1"/>
          <p:nvPr/>
        </p:nvSpPr>
        <p:spPr>
          <a:xfrm>
            <a:off x="2487168" y="1572768"/>
            <a:ext cx="1965960" cy="182880"/>
          </a:xfrm>
          <a:prstGeom prst="rect">
            <a:avLst/>
          </a:prstGeom>
          <a:noFill/>
        </p:spPr>
        <p:txBody>
          <a:bodyPr wrap="square" lIns="18288" rIns="18288" tIns="18288" bIns="18288" anchor="t">
            <a:spAutoFit/>
          </a:bodyPr>
          <a:lstStyle/>
          <a:p>
            <a:pPr algn="ctr"/>
            <a:r>
              <a:rPr sz="940" b="1" lang="en-US">
                <a:solidFill>
                  <a:srgbClr val="FF6C00"/>
                </a:solidFill>
                <a:latin typeface="Arial"/>
              </a:rPr>
              <a:t>CANDIDATE FAN-OUT</a:t>
            </a:r>
          </a:p>
        </p:txBody>
      </p:sp>
      <p:sp>
        <p:nvSpPr>
          <p:cNvPr id="134" name="Oval 133"/>
          <p:cNvSpPr/>
          <p:nvPr/>
        </p:nvSpPr>
        <p:spPr>
          <a:xfrm>
            <a:off x="2999232" y="1773936"/>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3072384" y="2029967"/>
            <a:ext cx="731520" cy="365760"/>
          </a:xfrm>
          <a:prstGeom prst="rect">
            <a:avLst/>
          </a:prstGeom>
          <a:noFill/>
        </p:spPr>
        <p:txBody>
          <a:bodyPr wrap="square" lIns="0" rIns="0" tIns="0" bIns="0" anchor="ctr">
            <a:spAutoFit/>
          </a:bodyPr>
          <a:lstStyle/>
          <a:p>
            <a:pPr algn="ctr"/>
            <a:r>
              <a:rPr sz="869" b="1" lang="en-US">
                <a:solidFill>
                  <a:srgbClr val="FF6C00"/>
                </a:solidFill>
                <a:latin typeface="Arial"/>
              </a:rPr>
              <a:t>MEAN</a:t>
            </a:r>
          </a:p>
        </p:txBody>
      </p:sp>
      <p:sp>
        <p:nvSpPr>
          <p:cNvPr id="136" name="Oval 135"/>
          <p:cNvSpPr/>
          <p:nvPr/>
        </p:nvSpPr>
        <p:spPr>
          <a:xfrm>
            <a:off x="2999232" y="2542032"/>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3072384" y="2798063"/>
            <a:ext cx="731520" cy="365760"/>
          </a:xfrm>
          <a:prstGeom prst="rect">
            <a:avLst/>
          </a:prstGeom>
          <a:noFill/>
        </p:spPr>
        <p:txBody>
          <a:bodyPr wrap="square" lIns="0" rIns="0" tIns="0" bIns="0" anchor="ctr">
            <a:spAutoFit/>
          </a:bodyPr>
          <a:lstStyle/>
          <a:p>
            <a:pPr algn="ctr"/>
            <a:r>
              <a:rPr sz="830" b="1" lang="en-US">
                <a:solidFill>
                  <a:srgbClr val="FF6C00"/>
                </a:solidFill>
                <a:latin typeface="Arial"/>
              </a:rPr>
              <a:t>MEDIAN</a:t>
            </a:r>
          </a:p>
        </p:txBody>
      </p:sp>
      <p:sp>
        <p:nvSpPr>
          <p:cNvPr id="138" name="Oval 137"/>
          <p:cNvSpPr/>
          <p:nvPr/>
        </p:nvSpPr>
        <p:spPr>
          <a:xfrm>
            <a:off x="2999232" y="3310128"/>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072384" y="3566160"/>
            <a:ext cx="731520" cy="365760"/>
          </a:xfrm>
          <a:prstGeom prst="rect">
            <a:avLst/>
          </a:prstGeom>
          <a:noFill/>
        </p:spPr>
        <p:txBody>
          <a:bodyPr wrap="square" lIns="0" rIns="0" tIns="0" bIns="0" anchor="ctr">
            <a:spAutoFit/>
          </a:bodyPr>
          <a:lstStyle/>
          <a:p>
            <a:pPr algn="ctr"/>
            <a:r>
              <a:rPr sz="780" b="1" lang="en-US">
                <a:solidFill>
                  <a:srgbClr val="FF6C00"/>
                </a:solidFill>
                <a:latin typeface="Arial"/>
              </a:rPr>
              <a:t>TRIMMED</a:t>
            </a:r>
          </a:p>
        </p:txBody>
      </p:sp>
      <p:sp>
        <p:nvSpPr>
          <p:cNvPr id="140" name="Oval 139"/>
          <p:cNvSpPr/>
          <p:nvPr/>
        </p:nvSpPr>
        <p:spPr>
          <a:xfrm>
            <a:off x="2999232" y="4078224"/>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3072384" y="4261104"/>
            <a:ext cx="731520" cy="365760"/>
          </a:xfrm>
          <a:prstGeom prst="rect">
            <a:avLst/>
          </a:prstGeom>
          <a:noFill/>
        </p:spPr>
        <p:txBody>
          <a:bodyPr wrap="square" lIns="0" rIns="0" tIns="0" bIns="0" anchor="ctr">
            <a:spAutoFit/>
          </a:bodyPr>
          <a:lstStyle/>
          <a:p>
            <a:pPr algn="ctr"/>
            <a:r>
              <a:rPr sz="819" b="1" lang="en-US">
                <a:solidFill>
                  <a:srgbClr val="FF6C00"/>
                </a:solidFill>
                <a:latin typeface="Arial"/>
              </a:rPr>
              <a:t>MULTI-
KRUM</a:t>
            </a:r>
          </a:p>
        </p:txBody>
      </p:sp>
      <p:sp>
        <p:nvSpPr>
          <p:cNvPr id="142" name="TextBox 141"/>
          <p:cNvSpPr txBox="1"/>
          <p:nvPr/>
        </p:nvSpPr>
        <p:spPr>
          <a:xfrm>
            <a:off x="2048256" y="5020056"/>
            <a:ext cx="2761488" cy="201168"/>
          </a:xfrm>
          <a:prstGeom prst="rect">
            <a:avLst/>
          </a:prstGeom>
          <a:noFill/>
        </p:spPr>
        <p:txBody>
          <a:bodyPr wrap="square" lIns="18288" rIns="18288" tIns="18288" bIns="18288" anchor="t">
            <a:spAutoFit/>
          </a:bodyPr>
          <a:lstStyle/>
          <a:p>
            <a:pPr algn="ctr"/>
            <a:r>
              <a:rPr sz="819" b="0" lang="en-US">
                <a:solidFill>
                  <a:srgbClr val="434343"/>
                </a:solidFill>
                <a:latin typeface="Arial"/>
              </a:rPr>
              <a:t>eligible variants · Multi-Krum requires ≥ 5 inputs</a:t>
            </a:r>
          </a:p>
        </p:txBody>
      </p:sp>
      <p:sp>
        <p:nvSpPr>
          <p:cNvPr id="143" name="TextBox 142"/>
          <p:cNvSpPr txBox="1"/>
          <p:nvPr/>
        </p:nvSpPr>
        <p:spPr>
          <a:xfrm>
            <a:off x="4937760" y="2578608"/>
            <a:ext cx="1975104" cy="201168"/>
          </a:xfrm>
          <a:prstGeom prst="rect">
            <a:avLst/>
          </a:prstGeom>
          <a:noFill/>
        </p:spPr>
        <p:txBody>
          <a:bodyPr wrap="square" lIns="18288" rIns="18288" tIns="18288" bIns="18288" anchor="t">
            <a:spAutoFit/>
          </a:bodyPr>
          <a:lstStyle/>
          <a:p>
            <a:pPr algn="ctr"/>
            <a:r>
              <a:rPr sz="940" b="1" lang="en-US">
                <a:solidFill>
                  <a:srgbClr val="C40D1E"/>
                </a:solidFill>
                <a:latin typeface="Arial"/>
              </a:rPr>
              <a:t>COMPARE VALIDATION LOSS</a:t>
            </a:r>
          </a:p>
        </p:txBody>
      </p:sp>
      <p:sp>
        <p:nvSpPr>
          <p:cNvPr id="144" name="TextBox 143"/>
          <p:cNvSpPr txBox="1"/>
          <p:nvPr/>
        </p:nvSpPr>
        <p:spPr>
          <a:xfrm>
            <a:off x="4937760" y="3172968"/>
            <a:ext cx="1975104" cy="182880"/>
          </a:xfrm>
          <a:prstGeom prst="rect">
            <a:avLst/>
          </a:prstGeom>
          <a:noFill/>
        </p:spPr>
        <p:txBody>
          <a:bodyPr wrap="square" lIns="18288" rIns="18288" tIns="18288" bIns="18288" anchor="t">
            <a:spAutoFit/>
          </a:bodyPr>
          <a:lstStyle/>
          <a:p>
            <a:pPr algn="ctr"/>
            <a:r>
              <a:rPr sz="810" b="0" lang="en-US">
                <a:solidFill>
                  <a:srgbClr val="434343"/>
                </a:solidFill>
                <a:latin typeface="Arial"/>
              </a:rPr>
              <a:t>same signed · hash-pinned set</a:t>
            </a:r>
          </a:p>
        </p:txBody>
      </p:sp>
      <p:sp>
        <p:nvSpPr>
          <p:cNvPr id="145" name="Decision 144"/>
          <p:cNvSpPr/>
          <p:nvPr/>
        </p:nvSpPr>
        <p:spPr>
          <a:xfrm>
            <a:off x="7187184" y="2185416"/>
            <a:ext cx="1673352" cy="1673352"/>
          </a:xfrm>
          <a:prstGeom prst="flowChartDecision">
            <a:avLst/>
          </a:prstGeom>
          <a:solidFill>
            <a:srgbClr val="FFF1E7"/>
          </a:solidFill>
          <a:ln w="190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479792" y="2551176"/>
            <a:ext cx="1088136" cy="192024"/>
          </a:xfrm>
          <a:prstGeom prst="rect">
            <a:avLst/>
          </a:prstGeom>
          <a:noFill/>
        </p:spPr>
        <p:txBody>
          <a:bodyPr wrap="square" lIns="18288" rIns="18288" tIns="18288" bIns="18288" anchor="t">
            <a:spAutoFit/>
          </a:bodyPr>
          <a:lstStyle/>
          <a:p>
            <a:pPr algn="ctr"/>
            <a:r>
              <a:rPr sz="1000" b="1" lang="en-US">
                <a:solidFill>
                  <a:srgbClr val="FF6C00"/>
                </a:solidFill>
                <a:latin typeface="Arial"/>
              </a:rPr>
              <a:t>L(best) ≤</a:t>
            </a:r>
          </a:p>
        </p:txBody>
      </p:sp>
      <p:sp>
        <p:nvSpPr>
          <p:cNvPr id="147" name="TextBox 146"/>
          <p:cNvSpPr txBox="1"/>
          <p:nvPr/>
        </p:nvSpPr>
        <p:spPr>
          <a:xfrm>
            <a:off x="7406640" y="2816352"/>
            <a:ext cx="1234440" cy="347472"/>
          </a:xfrm>
          <a:prstGeom prst="rect">
            <a:avLst/>
          </a:prstGeom>
          <a:noFill/>
        </p:spPr>
        <p:txBody>
          <a:bodyPr wrap="square" lIns="18288" rIns="18288" tIns="18288" bIns="18288" anchor="t">
            <a:spAutoFit/>
          </a:bodyPr>
          <a:lstStyle/>
          <a:p>
            <a:pPr algn="ctr"/>
            <a:r>
              <a:rPr sz="919" b="1" lang="en-US">
                <a:solidFill>
                  <a:srgbClr val="434343"/>
                </a:solidFill>
                <a:latin typeface="Arial"/>
              </a:rPr>
              <a:t>1.05 × L(parent)?</a:t>
            </a:r>
          </a:p>
        </p:txBody>
      </p:sp>
      <p:sp>
        <p:nvSpPr>
          <p:cNvPr id="148" name="Rounded Rectangle 147"/>
          <p:cNvSpPr/>
          <p:nvPr/>
        </p:nvSpPr>
        <p:spPr>
          <a:xfrm>
            <a:off x="9061704" y="2057400"/>
            <a:ext cx="1234440" cy="621792"/>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9217152" y="2139696"/>
            <a:ext cx="923544" cy="155448"/>
          </a:xfrm>
          <a:prstGeom prst="rect">
            <a:avLst/>
          </a:prstGeom>
          <a:noFill/>
        </p:spPr>
        <p:txBody>
          <a:bodyPr wrap="square" lIns="0" rIns="0" tIns="0" bIns="0" anchor="t">
            <a:spAutoFit/>
          </a:bodyPr>
          <a:lstStyle/>
          <a:p>
            <a:pPr algn="ctr"/>
            <a:r>
              <a:rPr sz="840" b="1" lang="en-US">
                <a:solidFill>
                  <a:srgbClr val="2F8F46"/>
                </a:solidFill>
                <a:latin typeface="Arial"/>
              </a:rPr>
              <a:t>YES</a:t>
            </a:r>
          </a:p>
        </p:txBody>
      </p:sp>
      <p:sp>
        <p:nvSpPr>
          <p:cNvPr id="150" name="TextBox 149"/>
          <p:cNvSpPr txBox="1"/>
          <p:nvPr/>
        </p:nvSpPr>
        <p:spPr>
          <a:xfrm>
            <a:off x="9153144" y="2350008"/>
            <a:ext cx="1051560" cy="164592"/>
          </a:xfrm>
          <a:prstGeom prst="rect">
            <a:avLst/>
          </a:prstGeom>
          <a:noFill/>
        </p:spPr>
        <p:txBody>
          <a:bodyPr wrap="square" lIns="0" rIns="0" tIns="0" bIns="0" anchor="t">
            <a:spAutoFit/>
          </a:bodyPr>
          <a:lstStyle/>
          <a:p>
            <a:pPr algn="ctr"/>
            <a:r>
              <a:rPr sz="760" b="1" lang="en-US">
                <a:solidFill>
                  <a:srgbClr val="434343"/>
                </a:solidFill>
                <a:latin typeface="Arial"/>
              </a:rPr>
              <a:t>BEST CANDIDATE</a:t>
            </a:r>
          </a:p>
        </p:txBody>
      </p:sp>
      <p:sp>
        <p:nvSpPr>
          <p:cNvPr id="151" name="Rounded Rectangle 150"/>
          <p:cNvSpPr/>
          <p:nvPr/>
        </p:nvSpPr>
        <p:spPr>
          <a:xfrm>
            <a:off x="9061704" y="3355848"/>
            <a:ext cx="1234440" cy="62179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9217152" y="3438144"/>
            <a:ext cx="923544" cy="155448"/>
          </a:xfrm>
          <a:prstGeom prst="rect">
            <a:avLst/>
          </a:prstGeom>
          <a:noFill/>
        </p:spPr>
        <p:txBody>
          <a:bodyPr wrap="square" lIns="0" rIns="0" tIns="0" bIns="0" anchor="t">
            <a:spAutoFit/>
          </a:bodyPr>
          <a:lstStyle/>
          <a:p>
            <a:pPr algn="ctr"/>
            <a:r>
              <a:rPr sz="840" b="1" lang="en-US">
                <a:solidFill>
                  <a:srgbClr val="FF6C00"/>
                </a:solidFill>
                <a:latin typeface="Arial"/>
              </a:rPr>
              <a:t>NO</a:t>
            </a:r>
          </a:p>
        </p:txBody>
      </p:sp>
      <p:sp>
        <p:nvSpPr>
          <p:cNvPr id="153" name="TextBox 152"/>
          <p:cNvSpPr txBox="1"/>
          <p:nvPr/>
        </p:nvSpPr>
        <p:spPr>
          <a:xfrm>
            <a:off x="9153144" y="3648456"/>
            <a:ext cx="1051560" cy="164592"/>
          </a:xfrm>
          <a:prstGeom prst="rect">
            <a:avLst/>
          </a:prstGeom>
          <a:noFill/>
        </p:spPr>
        <p:txBody>
          <a:bodyPr wrap="square" lIns="0" rIns="0" tIns="0" bIns="0" anchor="t">
            <a:spAutoFit/>
          </a:bodyPr>
          <a:lstStyle/>
          <a:p>
            <a:pPr algn="ctr"/>
            <a:r>
              <a:rPr sz="760" b="1" lang="en-US">
                <a:solidFill>
                  <a:srgbClr val="434343"/>
                </a:solidFill>
                <a:latin typeface="Arial"/>
              </a:rPr>
              <a:t>PARENT MODEL</a:t>
            </a:r>
          </a:p>
        </p:txBody>
      </p:sp>
      <p:sp>
        <p:nvSpPr>
          <p:cNvPr id="154" name="Rounded Rectangle 153"/>
          <p:cNvSpPr/>
          <p:nvPr/>
        </p:nvSpPr>
        <p:spPr>
          <a:xfrm>
            <a:off x="10588752" y="2304288"/>
            <a:ext cx="1097280" cy="1426464"/>
          </a:xfrm>
          <a:prstGeom prst="roundRect">
            <a:avLst/>
          </a:prstGeom>
          <a:solidFill>
            <a:srgbClr val="F3F3F3"/>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689336" y="2560320"/>
            <a:ext cx="896112"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FINALIZE</a:t>
            </a:r>
          </a:p>
        </p:txBody>
      </p:sp>
      <p:sp>
        <p:nvSpPr>
          <p:cNvPr id="156" name="TextBox 155"/>
          <p:cNvSpPr txBox="1"/>
          <p:nvPr/>
        </p:nvSpPr>
        <p:spPr>
          <a:xfrm>
            <a:off x="10689336" y="2852928"/>
            <a:ext cx="896112" cy="246888"/>
          </a:xfrm>
          <a:prstGeom prst="rect">
            <a:avLst/>
          </a:prstGeom>
          <a:noFill/>
        </p:spPr>
        <p:txBody>
          <a:bodyPr wrap="square" lIns="18288" rIns="18288" tIns="18288" bIns="18288" anchor="t">
            <a:spAutoFit/>
          </a:bodyPr>
          <a:lstStyle/>
          <a:p>
            <a:pPr algn="ctr"/>
            <a:r>
              <a:rPr sz="1300" b="1" lang="en-US">
                <a:solidFill>
                  <a:srgbClr val="434343"/>
                </a:solidFill>
                <a:latin typeface="Arial"/>
              </a:rPr>
              <a:t>ROUND</a:t>
            </a:r>
          </a:p>
        </p:txBody>
      </p:sp>
      <p:sp>
        <p:nvSpPr>
          <p:cNvPr id="157" name="TextBox 156"/>
          <p:cNvSpPr txBox="1"/>
          <p:nvPr/>
        </p:nvSpPr>
        <p:spPr>
          <a:xfrm>
            <a:off x="10634472" y="3200400"/>
            <a:ext cx="1005840" cy="347472"/>
          </a:xfrm>
          <a:prstGeom prst="rect">
            <a:avLst/>
          </a:prstGeom>
          <a:noFill/>
        </p:spPr>
        <p:txBody>
          <a:bodyPr wrap="square" lIns="18288" rIns="18288" tIns="18288" bIns="18288" anchor="t">
            <a:spAutoFit/>
          </a:bodyPr>
          <a:lstStyle/>
          <a:p>
            <a:pPr algn="ctr"/>
            <a:r>
              <a:rPr sz="720" b="0" lang="en-US">
                <a:solidFill>
                  <a:srgbClr val="434343"/>
                </a:solidFill>
                <a:latin typeface="Arial"/>
              </a:rPr>
              <a:t>record the chosen
model +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3" name="TextBox 12"/>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4" name="TextBox 13"/>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15" name="Rounded Rectangle 14"/>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17" name="TextBox 16"/>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18" name="TextBox 17"/>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19" name="TextBox 18"/>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0" name="Rounded Rectangle 19"/>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2" name="Rounded Rectangle 21"/>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4" name="TextBox 23"/>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25" name="Rounded Rectangle 24"/>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27" name="TextBox 26"/>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28" name="Rounded Rectangle 27"/>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0" name="TextBox 29"/>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1" name="Rectangle 30"/>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3" name="Rounded Rectangle 32"/>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35" name="TextBox 34"/>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36" name="TextBox 35"/>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37" name="TextBox 36"/>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38" name="Rectangle 37"/>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evidence from the receiving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FIGUERA PROPOSAL (2026) · RECEIVER-CREATED · OWNER-ENCRYPTED · TRANSPARENCY-RECORDED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472184"/>
            <a:ext cx="10771632" cy="274320"/>
          </a:xfrm>
          <a:prstGeom prst="rect">
            <a:avLst/>
          </a:prstGeom>
          <a:noFill/>
        </p:spPr>
        <p:txBody>
          <a:bodyPr wrap="square" lIns="18288" rIns="18288" tIns="18288" bIns="18288" anchor="ctr">
            <a:spAutoFit/>
          </a:bodyPr>
          <a:lstStyle/>
          <a:p>
            <a:pPr algn="ctr"/>
            <a:r>
              <a:rPr sz="1100" b="1" lang="en-US">
                <a:solidFill>
                  <a:srgbClr val="C40D1E"/>
                </a:solidFill>
                <a:latin typeface="Arial"/>
              </a:rPr>
              <a:t>CORE IDEA   </a:t>
            </a:r>
            <a:r>
              <a:rPr sz="1300" b="1" lang="en-US">
                <a:solidFill>
                  <a:srgbClr val="434343"/>
                </a:solidFill>
                <a:latin typeface="Arial"/>
              </a:rPr>
              <a:t>The service that performs the action creates the evidence—not the agent.</a:t>
            </a:r>
          </a:p>
        </p:txBody>
      </p:sp>
      <p:sp>
        <p:nvSpPr>
          <p:cNvPr id="9" name="Rounded Rectangle 8"/>
          <p:cNvSpPr/>
          <p:nvPr/>
        </p:nvSpPr>
        <p:spPr>
          <a:xfrm>
            <a:off x="658368" y="2148840"/>
            <a:ext cx="2880360" cy="1444752"/>
          </a:xfrm>
          <a:prstGeom prst="roundRect">
            <a:avLst/>
          </a:prstGeom>
          <a:solidFill>
            <a:srgbClr val="EAF5FA"/>
          </a:solidFill>
          <a:ln w="1778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95728"/>
            <a:ext cx="2551176" cy="246888"/>
          </a:xfrm>
          <a:prstGeom prst="rect">
            <a:avLst/>
          </a:prstGeom>
          <a:noFill/>
        </p:spPr>
        <p:txBody>
          <a:bodyPr wrap="square" lIns="18288" rIns="18288" tIns="18288" bIns="18288" anchor="t">
            <a:spAutoFit/>
          </a:bodyPr>
          <a:lstStyle/>
          <a:p>
            <a:pPr algn="ctr"/>
            <a:r>
              <a:rPr sz="1150" b="1" lang="en-US">
                <a:solidFill>
                  <a:srgbClr val="1F90CC"/>
                </a:solidFill>
                <a:latin typeface="Arial"/>
              </a:rPr>
              <a:t>1  AUTHORIZED REQUEST</a:t>
            </a:r>
          </a:p>
        </p:txBody>
      </p:sp>
      <p:sp>
        <p:nvSpPr>
          <p:cNvPr id="11" name="TextBox 10"/>
          <p:cNvSpPr txBox="1"/>
          <p:nvPr/>
        </p:nvSpPr>
        <p:spPr>
          <a:xfrm>
            <a:off x="93268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agent presents the owner's permission for one action.</a:t>
            </a:r>
          </a:p>
        </p:txBody>
      </p:sp>
      <p:sp>
        <p:nvSpPr>
          <p:cNvPr id="12" name="Rounded Rectangle 11"/>
          <p:cNvSpPr/>
          <p:nvPr/>
        </p:nvSpPr>
        <p:spPr>
          <a:xfrm>
            <a:off x="4407408" y="2148840"/>
            <a:ext cx="2880360" cy="1444752"/>
          </a:xfrm>
          <a:prstGeom prst="roundRect">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395728"/>
            <a:ext cx="2551176" cy="246888"/>
          </a:xfrm>
          <a:prstGeom prst="rect">
            <a:avLst/>
          </a:prstGeom>
          <a:noFill/>
        </p:spPr>
        <p:txBody>
          <a:bodyPr wrap="square" lIns="18288" rIns="18288" tIns="18288" bIns="18288" anchor="t">
            <a:spAutoFit/>
          </a:bodyPr>
          <a:lstStyle/>
          <a:p>
            <a:pPr algn="ctr"/>
            <a:r>
              <a:rPr sz="1150" b="1" lang="en-US">
                <a:solidFill>
                  <a:srgbClr val="2F8F46"/>
                </a:solidFill>
                <a:latin typeface="Arial"/>
              </a:rPr>
              <a:t>2  RECEIVING SERVICE</a:t>
            </a:r>
          </a:p>
        </p:txBody>
      </p:sp>
      <p:sp>
        <p:nvSpPr>
          <p:cNvPr id="14" name="TextBox 13"/>
          <p:cNvSpPr txBox="1"/>
          <p:nvPr/>
        </p:nvSpPr>
        <p:spPr>
          <a:xfrm>
            <a:off x="468172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service executes the action and signs an encrypted receipt.</a:t>
            </a:r>
          </a:p>
        </p:txBody>
      </p:sp>
      <p:sp>
        <p:nvSpPr>
          <p:cNvPr id="15" name="Rounded Rectangle 14"/>
          <p:cNvSpPr/>
          <p:nvPr/>
        </p:nvSpPr>
        <p:spPr>
          <a:xfrm>
            <a:off x="8156448" y="2148840"/>
            <a:ext cx="2880360" cy="1444752"/>
          </a:xfrm>
          <a:prstGeom prst="roundRect">
            <a:avLst/>
          </a:prstGeom>
          <a:solidFill>
            <a:srgbClr val="F3EBF9"/>
          </a:solidFill>
          <a:ln w="1778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395728"/>
            <a:ext cx="2551176" cy="246888"/>
          </a:xfrm>
          <a:prstGeom prst="rect">
            <a:avLst/>
          </a:prstGeom>
          <a:noFill/>
        </p:spPr>
        <p:txBody>
          <a:bodyPr wrap="square" lIns="18288" rIns="18288" tIns="18288" bIns="18288" anchor="t">
            <a:spAutoFit/>
          </a:bodyPr>
          <a:lstStyle/>
          <a:p>
            <a:pPr algn="ctr"/>
            <a:r>
              <a:rPr sz="1150" b="1" lang="en-US">
                <a:solidFill>
                  <a:srgbClr val="7A35B5"/>
                </a:solidFill>
                <a:latin typeface="Arial"/>
              </a:rPr>
              <a:t>3  TRANSPARENCY LOG</a:t>
            </a:r>
          </a:p>
        </p:txBody>
      </p:sp>
      <p:sp>
        <p:nvSpPr>
          <p:cNvPr id="17" name="TextBox 16"/>
          <p:cNvSpPr txBox="1"/>
          <p:nvPr/>
        </p:nvSpPr>
        <p:spPr>
          <a:xfrm>
            <a:off x="843076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log records the receipt and returns inclusion evidence.</a:t>
            </a:r>
          </a:p>
        </p:txBody>
      </p:sp>
      <p:cxnSp>
        <p:nvCxnSpPr>
          <p:cNvPr id="18" name="Connector 17"/>
          <p:cNvCxnSpPr/>
          <p:nvPr/>
        </p:nvCxnSpPr>
        <p:spPr>
          <a:xfrm>
            <a:off x="3557016" y="2871216"/>
            <a:ext cx="795528"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306056" y="2871216"/>
            <a:ext cx="795527"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78992" y="3968496"/>
            <a:ext cx="10030968"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4169663"/>
            <a:ext cx="2258568" cy="219456"/>
          </a:xfrm>
          <a:prstGeom prst="rect">
            <a:avLst/>
          </a:prstGeom>
          <a:noFill/>
        </p:spPr>
        <p:txBody>
          <a:bodyPr wrap="square" lIns="18288" rIns="18288" tIns="18288" bIns="18288" anchor="t">
            <a:spAutoFit/>
          </a:bodyPr>
          <a:lstStyle/>
          <a:p>
            <a:pPr algn="l"/>
            <a:r>
              <a:rPr sz="1100" b="1" lang="en-US">
                <a:solidFill>
                  <a:srgbClr val="C40D1E"/>
                </a:solidFill>
                <a:latin typeface="Arial"/>
              </a:rPr>
              <a:t>OWNER VERIFIES LATER</a:t>
            </a:r>
          </a:p>
        </p:txBody>
      </p:sp>
      <p:sp>
        <p:nvSpPr>
          <p:cNvPr id="22" name="TextBox 21"/>
          <p:cNvSpPr txBox="1"/>
          <p:nvPr/>
        </p:nvSpPr>
        <p:spPr>
          <a:xfrm>
            <a:off x="3712463" y="4151376"/>
            <a:ext cx="7040880" cy="246888"/>
          </a:xfrm>
          <a:prstGeom prst="rect">
            <a:avLst/>
          </a:prstGeom>
          <a:noFill/>
        </p:spPr>
        <p:txBody>
          <a:bodyPr wrap="square" lIns="18288" rIns="18288" tIns="18288" bIns="18288" anchor="ctr">
            <a:spAutoFit/>
          </a:bodyPr>
          <a:lstStyle/>
          <a:p>
            <a:pPr algn="ctr"/>
            <a:r>
              <a:rPr sz="1100" b="1" lang="en-US">
                <a:solidFill>
                  <a:srgbClr val="434343"/>
                </a:solidFill>
                <a:latin typeface="Arial"/>
              </a:rPr>
              <a:t>Check log inclusion + service signature  →  decrypt the receipt</a:t>
            </a:r>
          </a:p>
        </p:txBody>
      </p:sp>
      <p:sp>
        <p:nvSpPr>
          <p:cNvPr id="23" name="Rectangle 22"/>
          <p:cNvSpPr/>
          <p:nvPr/>
        </p:nvSpPr>
        <p:spPr>
          <a:xfrm>
            <a:off x="1078992" y="4892040"/>
            <a:ext cx="10030968" cy="45720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5010912"/>
            <a:ext cx="9537192" cy="210312"/>
          </a:xfrm>
          <a:prstGeom prst="rect">
            <a:avLst/>
          </a:prstGeom>
          <a:noFill/>
        </p:spPr>
        <p:txBody>
          <a:bodyPr wrap="square" lIns="18288" rIns="18288" tIns="18288" bIns="18288" anchor="t">
            <a:spAutoFit/>
          </a:bodyPr>
          <a:lstStyle/>
          <a:p>
            <a:pPr algn="ctr"/>
            <a:r>
              <a:rPr sz="1120" b="1" lang="en-US">
                <a:solidFill>
                  <a:srgbClr val="FFFFFF"/>
                </a:solidFill>
                <a:latin typeface="Arial"/>
              </a:rPr>
              <a:t>VITA-FL adopts the receiver-first pattern: publish the receipt before returning success.</a:t>
            </a:r>
          </a:p>
        </p:txBody>
      </p:sp>
      <p:sp>
        <p:nvSpPr>
          <p:cNvPr id="25" name="TextBox 24"/>
          <p:cNvSpPr txBox="1"/>
          <p:nvPr/>
        </p:nvSpPr>
        <p:spPr>
          <a:xfrm>
            <a:off x="731520" y="5504688"/>
            <a:ext cx="10716768" cy="164592"/>
          </a:xfrm>
          <a:prstGeom prst="rect">
            <a:avLst/>
          </a:prstGeom>
          <a:noFill/>
        </p:spPr>
        <p:txBody>
          <a:bodyPr wrap="square" lIns="18288" rIns="18288" tIns="18288" bIns="18288" anchor="t">
            <a:spAutoFit/>
          </a:bodyPr>
          <a:lstStyle/>
          <a:p>
            <a:pPr algn="ctr"/>
            <a:r>
              <a:rPr sz="819" b="0" lang="en-US">
                <a:solidFill>
                  <a:srgbClr val="434343"/>
                </a:solidFill>
                <a:latin typeface="Arial"/>
              </a:rPr>
              <a:t>Source: J. Figuera, Notarized Agents, arXiv:2606.04193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0" name="Connector 9"/>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3" name="Connector 12"/>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16" name="Connector 15"/>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19" name="TextBox 18"/>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0" name="Connector 19"/>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2" name="Connector 21"/>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4" name="TextBox 23"/>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25" name="Connector 24"/>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29" name="TextBox 28"/>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0" name="Connector 29"/>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4" name="Rectangle 33"/>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0" name="Rounded Rectangle 9"/>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2" name="TextBox 11"/>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3" name="Rectangle 12"/>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15" name="Rounded Rectangle 14"/>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17" name="TextBox 16"/>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18" name="Rectangle 17"/>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0" name="Rounded Rectangle 19"/>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2" name="TextBox 21"/>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3" name="Rectangle 22"/>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25" name="Rectangle 24"/>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3" name="Oval 12"/>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15" name="TextBox 14"/>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16" name="TextBox 15"/>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17" name="Oval 16"/>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19" name="TextBox 18"/>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0" name="TextBox 19"/>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1" name="Oval 20"/>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3" name="TextBox 22"/>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4" name="TextBox 23"/>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25" name="Oval 24"/>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27" name="TextBox 26"/>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28" name="TextBox 27"/>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29" name="Oval 28"/>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1" name="TextBox 30"/>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2" name="TextBox 31"/>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3" name="Rectangle 32"/>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Evaluation: what was actually tested?</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EVIDENCE LEVELS—NOT ONE BLANKET SUCCESS CLAIM</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2304288"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ADMISSION</a:t>
            </a:r>
          </a:p>
        </p:txBody>
      </p:sp>
      <p:sp>
        <p:nvSpPr>
          <p:cNvPr id="9" name="TextBox 8"/>
          <p:cNvSpPr txBox="1"/>
          <p:nvPr/>
        </p:nvSpPr>
        <p:spPr>
          <a:xfrm>
            <a:off x="4078224"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ROUND PATH</a:t>
            </a:r>
          </a:p>
        </p:txBody>
      </p:sp>
      <p:sp>
        <p:nvSpPr>
          <p:cNvPr id="10" name="TextBox 9"/>
          <p:cNvSpPr txBox="1"/>
          <p:nvPr/>
        </p:nvSpPr>
        <p:spPr>
          <a:xfrm>
            <a:off x="5852160"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PARTICIPANTS</a:t>
            </a:r>
          </a:p>
        </p:txBody>
      </p:sp>
      <p:sp>
        <p:nvSpPr>
          <p:cNvPr id="11" name="TextBox 10"/>
          <p:cNvSpPr txBox="1"/>
          <p:nvPr/>
        </p:nvSpPr>
        <p:spPr>
          <a:xfrm>
            <a:off x="7626096"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AGGREGATION</a:t>
            </a:r>
          </a:p>
        </p:txBody>
      </p:sp>
      <p:sp>
        <p:nvSpPr>
          <p:cNvPr id="12" name="TextBox 11"/>
          <p:cNvSpPr txBox="1"/>
          <p:nvPr/>
        </p:nvSpPr>
        <p:spPr>
          <a:xfrm>
            <a:off x="9400032"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RECEIPTS / RECOVERY</a:t>
            </a:r>
          </a:p>
        </p:txBody>
      </p:sp>
      <p:sp>
        <p:nvSpPr>
          <p:cNvPr id="13" name="Rectangle 12"/>
          <p:cNvSpPr/>
          <p:nvPr/>
        </p:nvSpPr>
        <p:spPr>
          <a:xfrm>
            <a:off x="530352" y="1810512"/>
            <a:ext cx="10863072" cy="18288"/>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0352" y="1956816"/>
            <a:ext cx="10863072" cy="832104"/>
          </a:xfrm>
          <a:prstGeom prst="rect">
            <a:avLst/>
          </a:prstGeom>
          <a:solidFill>
            <a:srgbClr val="EAF5FA"/>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0352" y="1956816"/>
            <a:ext cx="1554480" cy="832104"/>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103120"/>
            <a:ext cx="1298448" cy="182880"/>
          </a:xfrm>
          <a:prstGeom prst="rect">
            <a:avLst/>
          </a:prstGeom>
          <a:noFill/>
        </p:spPr>
        <p:txBody>
          <a:bodyPr wrap="square" lIns="18288" rIns="18288" tIns="18288" bIns="18288" anchor="t">
            <a:spAutoFit/>
          </a:bodyPr>
          <a:lstStyle/>
          <a:p>
            <a:pPr algn="ctr"/>
            <a:r>
              <a:rPr sz="930" b="1" lang="en-US">
                <a:solidFill>
                  <a:srgbClr val="FFFFFF"/>
                </a:solidFill>
                <a:latin typeface="Arial"/>
              </a:rPr>
              <a:t>LIVE</a:t>
            </a:r>
          </a:p>
        </p:txBody>
      </p:sp>
      <p:sp>
        <p:nvSpPr>
          <p:cNvPr id="17" name="TextBox 16"/>
          <p:cNvSpPr txBox="1"/>
          <p:nvPr/>
        </p:nvSpPr>
        <p:spPr>
          <a:xfrm>
            <a:off x="640080" y="2395728"/>
            <a:ext cx="1335024" cy="201168"/>
          </a:xfrm>
          <a:prstGeom prst="rect">
            <a:avLst/>
          </a:prstGeom>
          <a:noFill/>
        </p:spPr>
        <p:txBody>
          <a:bodyPr wrap="square" lIns="18288" rIns="18288" tIns="18288" bIns="18288" anchor="t">
            <a:spAutoFit/>
          </a:bodyPr>
          <a:lstStyle/>
          <a:p>
            <a:pPr algn="ctr"/>
            <a:r>
              <a:rPr sz="770" b="1" lang="en-US">
                <a:solidFill>
                  <a:srgbClr val="FFFFFF"/>
                </a:solidFill>
                <a:latin typeface="Arial"/>
              </a:rPr>
              <a:t>PHALA INTEGRATION</a:t>
            </a:r>
          </a:p>
        </p:txBody>
      </p:sp>
      <p:sp>
        <p:nvSpPr>
          <p:cNvPr id="18" name="TextBox 17"/>
          <p:cNvSpPr txBox="1"/>
          <p:nvPr/>
        </p:nvSpPr>
        <p:spPr>
          <a:xfrm>
            <a:off x="2304288"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fresh
quotes</a:t>
            </a:r>
          </a:p>
        </p:txBody>
      </p:sp>
      <p:sp>
        <p:nvSpPr>
          <p:cNvPr id="19" name="Rectangle 18"/>
          <p:cNvSpPr/>
          <p:nvPr/>
        </p:nvSpPr>
        <p:spPr>
          <a:xfrm>
            <a:off x="3941063" y="2048256"/>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224"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5 observed
rounds</a:t>
            </a:r>
          </a:p>
        </p:txBody>
      </p:sp>
      <p:sp>
        <p:nvSpPr>
          <p:cNvPr id="21" name="Rectangle 20"/>
          <p:cNvSpPr/>
          <p:nvPr/>
        </p:nvSpPr>
        <p:spPr>
          <a:xfrm>
            <a:off x="5715000" y="2048256"/>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0"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3 TEE
workers</a:t>
            </a:r>
          </a:p>
        </p:txBody>
      </p:sp>
      <p:sp>
        <p:nvSpPr>
          <p:cNvPr id="23" name="Rectangle 22"/>
          <p:cNvSpPr/>
          <p:nvPr/>
        </p:nvSpPr>
        <p:spPr>
          <a:xfrm>
            <a:off x="7488936" y="2048256"/>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6"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Arithmetic
Mean</a:t>
            </a:r>
          </a:p>
        </p:txBody>
      </p:sp>
      <p:sp>
        <p:nvSpPr>
          <p:cNvPr id="25" name="Rectangle 24"/>
          <p:cNvSpPr/>
          <p:nvPr/>
        </p:nvSpPr>
        <p:spPr>
          <a:xfrm>
            <a:off x="9262872" y="2048256"/>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00032"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all 3
MCP ops</a:t>
            </a:r>
          </a:p>
        </p:txBody>
      </p:sp>
      <p:sp>
        <p:nvSpPr>
          <p:cNvPr id="27" name="Rectangle 26"/>
          <p:cNvSpPr/>
          <p:nvPr/>
        </p:nvSpPr>
        <p:spPr>
          <a:xfrm>
            <a:off x="530352" y="2980944"/>
            <a:ext cx="10863072" cy="832104"/>
          </a:xfrm>
          <a:prstGeom prst="rect">
            <a:avLst/>
          </a:prstGeom>
          <a:solidFill>
            <a:srgbClr val="EAF6ED"/>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30352" y="2980944"/>
            <a:ext cx="1554480" cy="832104"/>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127248"/>
            <a:ext cx="1298448" cy="182880"/>
          </a:xfrm>
          <a:prstGeom prst="rect">
            <a:avLst/>
          </a:prstGeom>
          <a:noFill/>
        </p:spPr>
        <p:txBody>
          <a:bodyPr wrap="square" lIns="18288" rIns="18288" tIns="18288" bIns="18288" anchor="t">
            <a:spAutoFit/>
          </a:bodyPr>
          <a:lstStyle/>
          <a:p>
            <a:pPr algn="ctr"/>
            <a:r>
              <a:rPr sz="930" b="1" lang="en-US">
                <a:solidFill>
                  <a:srgbClr val="FFFFFF"/>
                </a:solidFill>
                <a:latin typeface="Arial"/>
              </a:rPr>
              <a:t>SIMULATED</a:t>
            </a:r>
          </a:p>
        </p:txBody>
      </p:sp>
      <p:sp>
        <p:nvSpPr>
          <p:cNvPr id="30" name="TextBox 29"/>
          <p:cNvSpPr txBox="1"/>
          <p:nvPr/>
        </p:nvSpPr>
        <p:spPr>
          <a:xfrm>
            <a:off x="640080" y="3419856"/>
            <a:ext cx="1335024" cy="201168"/>
          </a:xfrm>
          <a:prstGeom prst="rect">
            <a:avLst/>
          </a:prstGeom>
          <a:noFill/>
        </p:spPr>
        <p:txBody>
          <a:bodyPr wrap="square" lIns="18288" rIns="18288" tIns="18288" bIns="18288" anchor="t">
            <a:spAutoFit/>
          </a:bodyPr>
          <a:lstStyle/>
          <a:p>
            <a:pPr algn="ctr"/>
            <a:r>
              <a:rPr sz="770" b="1" lang="en-US">
                <a:solidFill>
                  <a:srgbClr val="FFFFFF"/>
                </a:solidFill>
                <a:latin typeface="Arial"/>
              </a:rPr>
              <a:t>LOCAL DOCKER</a:t>
            </a:r>
          </a:p>
        </p:txBody>
      </p:sp>
      <p:sp>
        <p:nvSpPr>
          <p:cNvPr id="31" name="TextBox 30"/>
          <p:cNvSpPr txBox="1"/>
          <p:nvPr/>
        </p:nvSpPr>
        <p:spPr>
          <a:xfrm>
            <a:off x="2304288" y="3163824"/>
            <a:ext cx="1627632" cy="457200"/>
          </a:xfrm>
          <a:prstGeom prst="rect">
            <a:avLst/>
          </a:prstGeom>
          <a:noFill/>
        </p:spPr>
        <p:txBody>
          <a:bodyPr wrap="square" lIns="18288" rIns="18288" tIns="18288" bIns="18288" anchor="ctr">
            <a:spAutoFit/>
          </a:bodyPr>
          <a:lstStyle/>
          <a:p>
            <a:pPr algn="ctr"/>
            <a:r>
              <a:rPr sz="1030" b="1" lang="en-US">
                <a:solidFill>
                  <a:srgbClr val="2F8F46"/>
                </a:solidFill>
                <a:latin typeface="Arial"/>
              </a:rPr>
              <a:t>recorded quote
replay</a:t>
            </a:r>
          </a:p>
        </p:txBody>
      </p:sp>
      <p:sp>
        <p:nvSpPr>
          <p:cNvPr id="32" name="Rectangle 31"/>
          <p:cNvSpPr/>
          <p:nvPr/>
        </p:nvSpPr>
        <p:spPr>
          <a:xfrm>
            <a:off x="3941063" y="3072384"/>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078224" y="3163824"/>
            <a:ext cx="1627632" cy="457200"/>
          </a:xfrm>
          <a:prstGeom prst="rect">
            <a:avLst/>
          </a:prstGeom>
          <a:noFill/>
        </p:spPr>
        <p:txBody>
          <a:bodyPr wrap="square" lIns="18288" rIns="18288" tIns="18288" bIns="18288" anchor="ctr">
            <a:spAutoFit/>
          </a:bodyPr>
          <a:lstStyle/>
          <a:p>
            <a:pPr algn="ctr"/>
            <a:r>
              <a:rPr sz="1030" b="1" lang="en-US">
                <a:solidFill>
                  <a:srgbClr val="2F8F46"/>
                </a:solidFill>
                <a:latin typeface="Arial"/>
              </a:rPr>
              <a:t>50
rounds</a:t>
            </a:r>
          </a:p>
        </p:txBody>
      </p:sp>
      <p:sp>
        <p:nvSpPr>
          <p:cNvPr id="34" name="Rectangle 33"/>
          <p:cNvSpPr/>
          <p:nvPr/>
        </p:nvSpPr>
        <p:spPr>
          <a:xfrm>
            <a:off x="5715000" y="3072384"/>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0" y="3163824"/>
            <a:ext cx="1627632" cy="457200"/>
          </a:xfrm>
          <a:prstGeom prst="rect">
            <a:avLst/>
          </a:prstGeom>
          <a:noFill/>
        </p:spPr>
        <p:txBody>
          <a:bodyPr wrap="square" lIns="18288" rIns="18288" tIns="18288" bIns="18288" anchor="ctr">
            <a:spAutoFit/>
          </a:bodyPr>
          <a:lstStyle/>
          <a:p>
            <a:pPr algn="ctr"/>
            <a:r>
              <a:rPr sz="1030" b="1" lang="en-US">
                <a:solidFill>
                  <a:srgbClr val="2F8F46"/>
                </a:solidFill>
                <a:latin typeface="Arial"/>
              </a:rPr>
              <a:t>10 · 50 · 100
logical</a:t>
            </a:r>
          </a:p>
        </p:txBody>
      </p:sp>
      <p:sp>
        <p:nvSpPr>
          <p:cNvPr id="36" name="Rectangle 35"/>
          <p:cNvSpPr/>
          <p:nvPr/>
        </p:nvSpPr>
        <p:spPr>
          <a:xfrm>
            <a:off x="7488936" y="3072384"/>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26096" y="3163824"/>
            <a:ext cx="1627632" cy="457200"/>
          </a:xfrm>
          <a:prstGeom prst="rect">
            <a:avLst/>
          </a:prstGeom>
          <a:noFill/>
        </p:spPr>
        <p:txBody>
          <a:bodyPr wrap="square" lIns="18288" rIns="18288" tIns="18288" bIns="18288" anchor="ctr">
            <a:spAutoFit/>
          </a:bodyPr>
          <a:lstStyle/>
          <a:p>
            <a:pPr algn="ctr"/>
            <a:r>
              <a:rPr sz="1030" b="1" lang="en-US">
                <a:solidFill>
                  <a:srgbClr val="2F8F46"/>
                </a:solidFill>
                <a:latin typeface="Arial"/>
              </a:rPr>
              <a:t>Arithmetic
Mean</a:t>
            </a:r>
          </a:p>
        </p:txBody>
      </p:sp>
      <p:sp>
        <p:nvSpPr>
          <p:cNvPr id="38" name="Rectangle 37"/>
          <p:cNvSpPr/>
          <p:nvPr/>
        </p:nvSpPr>
        <p:spPr>
          <a:xfrm>
            <a:off x="9262872" y="3072384"/>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00032" y="3163824"/>
            <a:ext cx="1627632" cy="457200"/>
          </a:xfrm>
          <a:prstGeom prst="rect">
            <a:avLst/>
          </a:prstGeom>
          <a:noFill/>
        </p:spPr>
        <p:txBody>
          <a:bodyPr wrap="square" lIns="18288" rIns="18288" tIns="18288" bIns="18288" anchor="ctr">
            <a:spAutoFit/>
          </a:bodyPr>
          <a:lstStyle/>
          <a:p>
            <a:pPr algn="ctr"/>
            <a:r>
              <a:rPr sz="1030" b="1" lang="en-US">
                <a:solidFill>
                  <a:srgbClr val="B2B2B2"/>
                </a:solidFill>
                <a:latin typeface="Arial"/>
              </a:rPr>
              <a:t>not part of
scale run</a:t>
            </a:r>
          </a:p>
        </p:txBody>
      </p:sp>
      <p:sp>
        <p:nvSpPr>
          <p:cNvPr id="40" name="Rectangle 39"/>
          <p:cNvSpPr/>
          <p:nvPr/>
        </p:nvSpPr>
        <p:spPr>
          <a:xfrm>
            <a:off x="530352" y="4005072"/>
            <a:ext cx="10863072" cy="832104"/>
          </a:xfrm>
          <a:prstGeom prst="rect">
            <a:avLst/>
          </a:prstGeom>
          <a:solidFill>
            <a:srgbClr val="FFF1E7"/>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0352" y="4005072"/>
            <a:ext cx="1554480" cy="832104"/>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4151376"/>
            <a:ext cx="1298448" cy="182880"/>
          </a:xfrm>
          <a:prstGeom prst="rect">
            <a:avLst/>
          </a:prstGeom>
          <a:noFill/>
        </p:spPr>
        <p:txBody>
          <a:bodyPr wrap="square" lIns="18288" rIns="18288" tIns="18288" bIns="18288" anchor="t">
            <a:spAutoFit/>
          </a:bodyPr>
          <a:lstStyle/>
          <a:p>
            <a:pPr algn="ctr"/>
            <a:r>
              <a:rPr sz="930" b="1" lang="en-US">
                <a:solidFill>
                  <a:srgbClr val="FFFFFF"/>
                </a:solidFill>
                <a:latin typeface="Arial"/>
              </a:rPr>
              <a:t>AUTOMATED</a:t>
            </a:r>
          </a:p>
        </p:txBody>
      </p:sp>
      <p:sp>
        <p:nvSpPr>
          <p:cNvPr id="43" name="TextBox 42"/>
          <p:cNvSpPr txBox="1"/>
          <p:nvPr/>
        </p:nvSpPr>
        <p:spPr>
          <a:xfrm>
            <a:off x="640080" y="4443983"/>
            <a:ext cx="1335024" cy="201168"/>
          </a:xfrm>
          <a:prstGeom prst="rect">
            <a:avLst/>
          </a:prstGeom>
          <a:noFill/>
        </p:spPr>
        <p:txBody>
          <a:bodyPr wrap="square" lIns="18288" rIns="18288" tIns="18288" bIns="18288" anchor="t">
            <a:spAutoFit/>
          </a:bodyPr>
          <a:lstStyle/>
          <a:p>
            <a:pPr algn="ctr"/>
            <a:r>
              <a:rPr sz="770" b="1" lang="en-US">
                <a:solidFill>
                  <a:srgbClr val="FFFFFF"/>
                </a:solidFill>
                <a:latin typeface="Arial"/>
              </a:rPr>
              <a:t>FAIL-CLOSED TESTS</a:t>
            </a:r>
          </a:p>
        </p:txBody>
      </p:sp>
      <p:sp>
        <p:nvSpPr>
          <p:cNvPr id="44" name="TextBox 43"/>
          <p:cNvSpPr txBox="1"/>
          <p:nvPr/>
        </p:nvSpPr>
        <p:spPr>
          <a:xfrm>
            <a:off x="2304288"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reject
mismatch</a:t>
            </a:r>
          </a:p>
        </p:txBody>
      </p:sp>
      <p:sp>
        <p:nvSpPr>
          <p:cNvPr id="45" name="Rectangle 44"/>
          <p:cNvSpPr/>
          <p:nvPr/>
        </p:nvSpPr>
        <p:spPr>
          <a:xfrm>
            <a:off x="3941063" y="4096511"/>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078224"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timeout +
recovery</a:t>
            </a:r>
          </a:p>
        </p:txBody>
      </p:sp>
      <p:sp>
        <p:nvSpPr>
          <p:cNvPr id="47" name="Rectangle 46"/>
          <p:cNvSpPr/>
          <p:nvPr/>
        </p:nvSpPr>
        <p:spPr>
          <a:xfrm>
            <a:off x="5715000" y="4096511"/>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0"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deterministic
fixtures</a:t>
            </a:r>
          </a:p>
        </p:txBody>
      </p:sp>
      <p:sp>
        <p:nvSpPr>
          <p:cNvPr id="49" name="Rectangle 48"/>
          <p:cNvSpPr/>
          <p:nvPr/>
        </p:nvSpPr>
        <p:spPr>
          <a:xfrm>
            <a:off x="7488936" y="4096511"/>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26096"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Hybrid-R
components</a:t>
            </a:r>
          </a:p>
        </p:txBody>
      </p:sp>
      <p:sp>
        <p:nvSpPr>
          <p:cNvPr id="51" name="Rectangle 50"/>
          <p:cNvSpPr/>
          <p:nvPr/>
        </p:nvSpPr>
        <p:spPr>
          <a:xfrm>
            <a:off x="9262872" y="4096511"/>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00032"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verify +
recover</a:t>
            </a:r>
          </a:p>
        </p:txBody>
      </p:sp>
      <p:sp>
        <p:nvSpPr>
          <p:cNvPr id="53" name="TextBox 52"/>
          <p:cNvSpPr txBox="1"/>
          <p:nvPr/>
        </p:nvSpPr>
        <p:spPr>
          <a:xfrm>
            <a:off x="914400" y="5074920"/>
            <a:ext cx="10351008" cy="182880"/>
          </a:xfrm>
          <a:prstGeom prst="rect">
            <a:avLst/>
          </a:prstGeom>
          <a:noFill/>
        </p:spPr>
        <p:txBody>
          <a:bodyPr wrap="square" lIns="18288" rIns="18288" tIns="18288" bIns="18288" anchor="t">
            <a:spAutoFit/>
          </a:bodyPr>
          <a:lstStyle/>
          <a:p>
            <a:pPr algn="ctr"/>
            <a:r>
              <a:rPr sz="940" b="1" lang="en-US">
                <a:solidFill>
                  <a:srgbClr val="C40D1E"/>
                </a:solidFill>
                <a:latin typeface="Arial"/>
              </a:rPr>
              <a:t>Evidence boundary: protocol observation—not fresh per-worker admission at scale, independent failure domains, or Phala/CVM scalability.</a:t>
            </a:r>
          </a:p>
        </p:txBody>
      </p:sp>
      <p:sp>
        <p:nvSpPr>
          <p:cNvPr id="54" name="TextBox 53"/>
          <p:cNvSpPr txBox="1"/>
          <p:nvPr/>
        </p:nvSpPr>
        <p:spPr>
          <a:xfrm>
            <a:off x="914400" y="5385816"/>
            <a:ext cx="10351008" cy="164592"/>
          </a:xfrm>
          <a:prstGeom prst="rect">
            <a:avLst/>
          </a:prstGeom>
          <a:noFill/>
        </p:spPr>
        <p:txBody>
          <a:bodyPr wrap="square" lIns="18288" rIns="18288" tIns="18288" bIns="18288" anchor="t">
            <a:spAutoFit/>
          </a:bodyPr>
          <a:lstStyle/>
          <a:p>
            <a:pPr algn="ctr"/>
            <a:r>
              <a:rPr sz="880" b="1" lang="en-US">
                <a:solidFill>
                  <a:srgbClr val="434343"/>
                </a:solidFill>
                <a:latin typeface="Arial"/>
              </a:rPr>
              <a:t>Data evidence: DICOM-inspired synthetic byte streams with experimental self-signed identities—not native clinical DICOM.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Observed optimization trajectories overlap across scale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SINGLE-HOST DOCKER · RECORDED QUOTE REPLAY · ONE RUN PER LOGICAL PARTICIPANT COUNT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02920"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463040"/>
            <a:ext cx="5312664"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Binary cross-entropy loss</a:t>
            </a:r>
          </a:p>
        </p:txBody>
      </p:sp>
      <p:cxnSp>
        <p:nvCxnSpPr>
          <p:cNvPr id="10" name="Connector 9"/>
          <p:cNvCxnSpPr/>
          <p:nvPr/>
        </p:nvCxnSpPr>
        <p:spPr>
          <a:xfrm>
            <a:off x="1933956"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99132"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2" name="Connector 11"/>
          <p:cNvCxnSpPr/>
          <p:nvPr/>
        </p:nvCxnSpPr>
        <p:spPr>
          <a:xfrm>
            <a:off x="2823972"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89148"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4" name="Connector 13"/>
          <p:cNvCxnSpPr/>
          <p:nvPr/>
        </p:nvCxnSpPr>
        <p:spPr>
          <a:xfrm>
            <a:off x="3713988"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979164"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6" name="Connector 15"/>
          <p:cNvCxnSpPr/>
          <p:nvPr/>
        </p:nvCxnSpPr>
        <p:spPr>
          <a:xfrm>
            <a:off x="978408" y="429367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9496" y="422052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0.20</a:t>
            </a:r>
          </a:p>
        </p:txBody>
      </p:sp>
      <p:cxnSp>
        <p:nvCxnSpPr>
          <p:cNvPr id="18" name="Connector 17"/>
          <p:cNvCxnSpPr/>
          <p:nvPr/>
        </p:nvCxnSpPr>
        <p:spPr>
          <a:xfrm>
            <a:off x="978408" y="3792664"/>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39496" y="371951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20" name="Connector 19"/>
          <p:cNvCxnSpPr/>
          <p:nvPr/>
        </p:nvCxnSpPr>
        <p:spPr>
          <a:xfrm>
            <a:off x="978408" y="329164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39496" y="321849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0.40</a:t>
            </a:r>
          </a:p>
        </p:txBody>
      </p:sp>
      <p:cxnSp>
        <p:nvCxnSpPr>
          <p:cNvPr id="22" name="Connector 21"/>
          <p:cNvCxnSpPr/>
          <p:nvPr/>
        </p:nvCxnSpPr>
        <p:spPr>
          <a:xfrm>
            <a:off x="978408" y="2790634"/>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39496" y="271748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24" name="Connector 23"/>
          <p:cNvCxnSpPr/>
          <p:nvPr/>
        </p:nvCxnSpPr>
        <p:spPr>
          <a:xfrm>
            <a:off x="978408" y="228961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9496" y="221646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26" name="Connector 25"/>
          <p:cNvCxnSpPr/>
          <p:nvPr/>
        </p:nvCxnSpPr>
        <p:spPr>
          <a:xfrm>
            <a:off x="978408"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13816"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8" name="Connector 27"/>
          <p:cNvCxnSpPr/>
          <p:nvPr/>
        </p:nvCxnSpPr>
        <p:spPr>
          <a:xfrm>
            <a:off x="179070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26108"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30" name="Connector 29"/>
          <p:cNvCxnSpPr/>
          <p:nvPr/>
        </p:nvCxnSpPr>
        <p:spPr>
          <a:xfrm>
            <a:off x="2806065"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641473"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32" name="Connector 31"/>
          <p:cNvCxnSpPr/>
          <p:nvPr/>
        </p:nvCxnSpPr>
        <p:spPr>
          <a:xfrm>
            <a:off x="382143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6838"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34" name="Connector 33"/>
          <p:cNvCxnSpPr/>
          <p:nvPr/>
        </p:nvCxnSpPr>
        <p:spPr>
          <a:xfrm>
            <a:off x="4836795"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672203"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36" name="Connector 35"/>
          <p:cNvCxnSpPr/>
          <p:nvPr/>
        </p:nvCxnSpPr>
        <p:spPr>
          <a:xfrm>
            <a:off x="585216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87568"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38" name="Connector 37"/>
          <p:cNvCxnSpPr/>
          <p:nvPr/>
        </p:nvCxnSpPr>
        <p:spPr>
          <a:xfrm>
            <a:off x="978408" y="2039112"/>
            <a:ext cx="0" cy="2404871"/>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78408" y="4443983"/>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8408" y="2168634"/>
            <a:ext cx="101536" cy="7433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79944" y="2911960"/>
            <a:ext cx="101537" cy="47423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181481" y="3386191"/>
            <a:ext cx="101536" cy="30510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283017" y="3691299"/>
            <a:ext cx="101537" cy="1912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384554" y="3882531"/>
            <a:ext cx="101536" cy="1218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486090" y="4004348"/>
            <a:ext cx="101537" cy="813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587627" y="4085723"/>
            <a:ext cx="101536" cy="5596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689163" y="4141691"/>
            <a:ext cx="101537" cy="4018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790700" y="4181872"/>
            <a:ext cx="101536" cy="298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892236" y="4211733"/>
            <a:ext cx="101537" cy="2272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993773" y="4234454"/>
            <a:ext cx="101536" cy="1802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095309" y="4252481"/>
            <a:ext cx="101537" cy="141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196846" y="4266594"/>
            <a:ext cx="101536" cy="1157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298382" y="4278173"/>
            <a:ext cx="101537" cy="95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399919" y="4287717"/>
            <a:ext cx="101536" cy="810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501455" y="4295818"/>
            <a:ext cx="101537" cy="656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602992" y="4302387"/>
            <a:ext cx="101536" cy="59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704528" y="4308319"/>
            <a:ext cx="101537" cy="498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806065" y="4313304"/>
            <a:ext cx="101536" cy="418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907601" y="4317492"/>
            <a:ext cx="101537" cy="38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009138" y="4321295"/>
            <a:ext cx="101536" cy="32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110674" y="4324557"/>
            <a:ext cx="101537" cy="28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212211" y="4327357"/>
            <a:ext cx="101536" cy="25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313747" y="4329922"/>
            <a:ext cx="101537" cy="228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415284" y="4332202"/>
            <a:ext cx="101536" cy="200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516820" y="4334211"/>
            <a:ext cx="101537" cy="182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618357" y="4336040"/>
            <a:ext cx="101536" cy="17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719893" y="4337813"/>
            <a:ext cx="101537" cy="14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3821430" y="4339236"/>
            <a:ext cx="101536" cy="141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922966" y="4340654"/>
            <a:ext cx="101537" cy="12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024503" y="4341857"/>
            <a:ext cx="101536" cy="117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126039" y="4343029"/>
            <a:ext cx="101537" cy="9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27576" y="4343981"/>
            <a:ext cx="101536" cy="89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4329112" y="4344878"/>
            <a:ext cx="101537" cy="76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430649" y="4345644"/>
            <a:ext cx="101536" cy="84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532185" y="4346491"/>
            <a:ext cx="101537" cy="81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633722" y="4347303"/>
            <a:ext cx="101536" cy="64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735258" y="4347944"/>
            <a:ext cx="101537" cy="5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836795" y="4348500"/>
            <a:ext cx="101536" cy="5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938331" y="4349071"/>
            <a:ext cx="101537" cy="5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5039868" y="4349582"/>
            <a:ext cx="101536" cy="4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5141404" y="4350053"/>
            <a:ext cx="101537" cy="4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5242941" y="4350509"/>
            <a:ext cx="101536" cy="44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5344477" y="4350955"/>
            <a:ext cx="101537" cy="36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5446014" y="4351321"/>
            <a:ext cx="101536" cy="4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5547550" y="4351732"/>
            <a:ext cx="101537" cy="32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5649087" y="4352057"/>
            <a:ext cx="101536" cy="38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5750623" y="4352438"/>
            <a:ext cx="101537" cy="27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78408" y="2179421"/>
            <a:ext cx="101536" cy="73445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79944" y="2913874"/>
            <a:ext cx="101537" cy="47085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181481" y="3384728"/>
            <a:ext cx="101536" cy="30516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283017" y="3689891"/>
            <a:ext cx="101537" cy="19288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384554" y="3882777"/>
            <a:ext cx="101536" cy="1230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486090" y="4005781"/>
            <a:ext cx="101537" cy="809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587627" y="4086685"/>
            <a:ext cx="101536" cy="556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689163" y="4142307"/>
            <a:ext cx="101537" cy="399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90700" y="4182228"/>
            <a:ext cx="101536" cy="2958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892236" y="4211813"/>
            <a:ext cx="101537" cy="225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993773" y="4234374"/>
            <a:ext cx="101536" cy="1777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2095309" y="4252145"/>
            <a:ext cx="101537" cy="1416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2196846" y="4266309"/>
            <a:ext cx="101536" cy="1155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2298382" y="4277867"/>
            <a:ext cx="101537" cy="95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2399919" y="4287456"/>
            <a:ext cx="101536" cy="80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2501455" y="4295528"/>
            <a:ext cx="101537" cy="67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602992" y="4302322"/>
            <a:ext cx="101536" cy="58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2704528" y="4308143"/>
            <a:ext cx="101537" cy="502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2806065" y="4313168"/>
            <a:ext cx="101536" cy="43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2907601" y="4317547"/>
            <a:ext cx="101537" cy="38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3009138" y="4321395"/>
            <a:ext cx="101536" cy="3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3110674" y="4324777"/>
            <a:ext cx="101537" cy="30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3212211" y="4327803"/>
            <a:ext cx="101536" cy="26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3313747" y="4330499"/>
            <a:ext cx="101537" cy="240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3415284" y="4332908"/>
            <a:ext cx="101536" cy="219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3516820" y="4335103"/>
            <a:ext cx="101537" cy="19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3618357" y="4337082"/>
            <a:ext cx="101536" cy="17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719893" y="4338881"/>
            <a:ext cx="101537" cy="165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3821430" y="4340539"/>
            <a:ext cx="101536" cy="149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3922966" y="4342037"/>
            <a:ext cx="101537" cy="13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4024503" y="4343430"/>
            <a:ext cx="101536" cy="126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126039" y="4344697"/>
            <a:ext cx="101537" cy="116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227576" y="4345865"/>
            <a:ext cx="101536" cy="10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4329112" y="4346937"/>
            <a:ext cx="101537" cy="99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4430649" y="4347934"/>
            <a:ext cx="101536" cy="9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4532185" y="4348851"/>
            <a:ext cx="101537" cy="84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4633722" y="4349692"/>
            <a:ext cx="101536" cy="80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4735258" y="4350494"/>
            <a:ext cx="101537" cy="7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4836795" y="4351246"/>
            <a:ext cx="101536" cy="6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4938331" y="4351927"/>
            <a:ext cx="101537" cy="6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5039868" y="4352563"/>
            <a:ext cx="101536" cy="59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5141404" y="4353160"/>
            <a:ext cx="101537" cy="5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5242941" y="4353711"/>
            <a:ext cx="101536" cy="51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5344477" y="4354227"/>
            <a:ext cx="101537" cy="4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5446014" y="4354723"/>
            <a:ext cx="101536" cy="4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5547550" y="4355179"/>
            <a:ext cx="101537" cy="42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5649087" y="4355604"/>
            <a:ext cx="101536" cy="3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750623" y="4356000"/>
            <a:ext cx="101537" cy="3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978408" y="2172437"/>
            <a:ext cx="101536" cy="7373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079944" y="2909770"/>
            <a:ext cx="101537" cy="47386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1181481" y="3383635"/>
            <a:ext cx="101536" cy="3049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283017" y="3688613"/>
            <a:ext cx="101537" cy="19353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384554" y="3882145"/>
            <a:ext cx="101536" cy="12346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486090" y="4005610"/>
            <a:ext cx="101537" cy="8119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587627" y="4086800"/>
            <a:ext cx="101536" cy="557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689163" y="4142593"/>
            <a:ext cx="101537" cy="399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790700" y="4182559"/>
            <a:ext cx="101536" cy="297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892236" y="4212264"/>
            <a:ext cx="101537" cy="226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993773" y="4234950"/>
            <a:ext cx="101536" cy="177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2095309" y="4252681"/>
            <a:ext cx="101537" cy="141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2196846" y="4266865"/>
            <a:ext cx="101536" cy="1154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2298382" y="4278413"/>
            <a:ext cx="101537" cy="95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2399919" y="4287972"/>
            <a:ext cx="101536" cy="79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2501455" y="4295969"/>
            <a:ext cx="101537" cy="67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602992" y="4302732"/>
            <a:ext cx="101536" cy="58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704528" y="4308539"/>
            <a:ext cx="101537" cy="501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806065" y="4313554"/>
            <a:ext cx="101536" cy="43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907601" y="4317913"/>
            <a:ext cx="101537" cy="382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3009138" y="4321741"/>
            <a:ext cx="101536" cy="33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3110674" y="4325108"/>
            <a:ext cx="101537" cy="30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212211" y="4328119"/>
            <a:ext cx="101536" cy="267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3313747" y="4330794"/>
            <a:ext cx="101537" cy="239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3415284" y="4333189"/>
            <a:ext cx="101536" cy="21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516820" y="4335363"/>
            <a:ext cx="101537" cy="19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618357" y="4337322"/>
            <a:ext cx="101536" cy="17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719893" y="4339106"/>
            <a:ext cx="101537" cy="16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821430" y="4340739"/>
            <a:ext cx="101536" cy="148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922966" y="4342227"/>
            <a:ext cx="101537" cy="13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4024503" y="4343590"/>
            <a:ext cx="101536" cy="12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4126039" y="4344833"/>
            <a:ext cx="101537" cy="11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4227576" y="4345990"/>
            <a:ext cx="101536" cy="106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329112" y="4347052"/>
            <a:ext cx="101537" cy="9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430649" y="4348029"/>
            <a:ext cx="101536" cy="9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532185" y="4348951"/>
            <a:ext cx="101537" cy="84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633722" y="4349798"/>
            <a:ext cx="101536" cy="7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735258" y="4350579"/>
            <a:ext cx="101537" cy="7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836795" y="4351306"/>
            <a:ext cx="101536" cy="6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938331" y="4351987"/>
            <a:ext cx="101537" cy="64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5039868" y="4352628"/>
            <a:ext cx="101536" cy="5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5141404" y="4353225"/>
            <a:ext cx="101537" cy="55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5242941" y="4353776"/>
            <a:ext cx="101536" cy="5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5344477" y="4354297"/>
            <a:ext cx="101537" cy="4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5446014" y="4354783"/>
            <a:ext cx="101536" cy="4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5547550" y="4355239"/>
            <a:ext cx="101537" cy="4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5649087" y="4355670"/>
            <a:ext cx="101536" cy="41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5750623" y="4356080"/>
            <a:ext cx="101537" cy="37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6153912"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6263640" y="1463040"/>
            <a:ext cx="5312664"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 (%)</a:t>
            </a:r>
          </a:p>
        </p:txBody>
      </p:sp>
      <p:cxnSp>
        <p:nvCxnSpPr>
          <p:cNvPr id="186" name="Connector 185"/>
          <p:cNvCxnSpPr/>
          <p:nvPr/>
        </p:nvCxnSpPr>
        <p:spPr>
          <a:xfrm>
            <a:off x="7584948"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87" name="TextBox 186"/>
          <p:cNvSpPr txBox="1"/>
          <p:nvPr/>
        </p:nvSpPr>
        <p:spPr>
          <a:xfrm>
            <a:off x="7850123"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88" name="Connector 187"/>
          <p:cNvCxnSpPr/>
          <p:nvPr/>
        </p:nvCxnSpPr>
        <p:spPr>
          <a:xfrm>
            <a:off x="8474964"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8740139"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90" name="Connector 189"/>
          <p:cNvCxnSpPr/>
          <p:nvPr/>
        </p:nvCxnSpPr>
        <p:spPr>
          <a:xfrm>
            <a:off x="9364980"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9630156"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92" name="Connector 191"/>
          <p:cNvCxnSpPr/>
          <p:nvPr/>
        </p:nvCxnSpPr>
        <p:spPr>
          <a:xfrm>
            <a:off x="6629400" y="4443983"/>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3" name="TextBox 192"/>
          <p:cNvSpPr txBox="1"/>
          <p:nvPr/>
        </p:nvSpPr>
        <p:spPr>
          <a:xfrm>
            <a:off x="6190488" y="4370831"/>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a:t>
            </a:r>
          </a:p>
        </p:txBody>
      </p:sp>
      <p:cxnSp>
        <p:nvCxnSpPr>
          <p:cNvPr id="194" name="Connector 193"/>
          <p:cNvCxnSpPr/>
          <p:nvPr/>
        </p:nvCxnSpPr>
        <p:spPr>
          <a:xfrm>
            <a:off x="6629400" y="4014542"/>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5" name="TextBox 194"/>
          <p:cNvSpPr txBox="1"/>
          <p:nvPr/>
        </p:nvSpPr>
        <p:spPr>
          <a:xfrm>
            <a:off x="6190488" y="394139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10</a:t>
            </a:r>
          </a:p>
        </p:txBody>
      </p:sp>
      <p:cxnSp>
        <p:nvCxnSpPr>
          <p:cNvPr id="196" name="Connector 195"/>
          <p:cNvCxnSpPr/>
          <p:nvPr/>
        </p:nvCxnSpPr>
        <p:spPr>
          <a:xfrm>
            <a:off x="6629400" y="3585101"/>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7" name="TextBox 196"/>
          <p:cNvSpPr txBox="1"/>
          <p:nvPr/>
        </p:nvSpPr>
        <p:spPr>
          <a:xfrm>
            <a:off x="6190488" y="351194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20</a:t>
            </a:r>
          </a:p>
        </p:txBody>
      </p:sp>
      <p:cxnSp>
        <p:nvCxnSpPr>
          <p:cNvPr id="198" name="Connector 197"/>
          <p:cNvCxnSpPr/>
          <p:nvPr/>
        </p:nvCxnSpPr>
        <p:spPr>
          <a:xfrm>
            <a:off x="6629400" y="315565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9" name="TextBox 198"/>
          <p:cNvSpPr txBox="1"/>
          <p:nvPr/>
        </p:nvSpPr>
        <p:spPr>
          <a:xfrm>
            <a:off x="6190488" y="308250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00" name="Connector 199"/>
          <p:cNvCxnSpPr/>
          <p:nvPr/>
        </p:nvCxnSpPr>
        <p:spPr>
          <a:xfrm>
            <a:off x="6629400" y="2726218"/>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1" name="TextBox 200"/>
          <p:cNvSpPr txBox="1"/>
          <p:nvPr/>
        </p:nvSpPr>
        <p:spPr>
          <a:xfrm>
            <a:off x="6190488" y="265306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40</a:t>
            </a:r>
          </a:p>
        </p:txBody>
      </p:sp>
      <p:cxnSp>
        <p:nvCxnSpPr>
          <p:cNvPr id="202" name="Connector 201"/>
          <p:cNvCxnSpPr/>
          <p:nvPr/>
        </p:nvCxnSpPr>
        <p:spPr>
          <a:xfrm>
            <a:off x="6629400" y="2296776"/>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3" name="TextBox 202"/>
          <p:cNvSpPr txBox="1"/>
          <p:nvPr/>
        </p:nvSpPr>
        <p:spPr>
          <a:xfrm>
            <a:off x="6190488" y="22236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50</a:t>
            </a:r>
          </a:p>
        </p:txBody>
      </p:sp>
      <p:cxnSp>
        <p:nvCxnSpPr>
          <p:cNvPr id="204" name="Connector 203"/>
          <p:cNvCxnSpPr/>
          <p:nvPr/>
        </p:nvCxnSpPr>
        <p:spPr>
          <a:xfrm>
            <a:off x="662940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5" name="TextBox 204"/>
          <p:cNvSpPr txBox="1"/>
          <p:nvPr/>
        </p:nvSpPr>
        <p:spPr>
          <a:xfrm>
            <a:off x="6464808"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06" name="Connector 205"/>
          <p:cNvCxnSpPr/>
          <p:nvPr/>
        </p:nvCxnSpPr>
        <p:spPr>
          <a:xfrm>
            <a:off x="744169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7277100"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208" name="Connector 207"/>
          <p:cNvCxnSpPr/>
          <p:nvPr/>
        </p:nvCxnSpPr>
        <p:spPr>
          <a:xfrm>
            <a:off x="8457057"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9" name="TextBox 208"/>
          <p:cNvSpPr txBox="1"/>
          <p:nvPr/>
        </p:nvSpPr>
        <p:spPr>
          <a:xfrm>
            <a:off x="8292465"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210" name="Connector 209"/>
          <p:cNvCxnSpPr/>
          <p:nvPr/>
        </p:nvCxnSpPr>
        <p:spPr>
          <a:xfrm>
            <a:off x="947242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9307830"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212" name="Connector 211"/>
          <p:cNvCxnSpPr/>
          <p:nvPr/>
        </p:nvCxnSpPr>
        <p:spPr>
          <a:xfrm>
            <a:off x="10487787"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3" name="TextBox 212"/>
          <p:cNvSpPr txBox="1"/>
          <p:nvPr/>
        </p:nvSpPr>
        <p:spPr>
          <a:xfrm>
            <a:off x="10323195"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214" name="Connector 213"/>
          <p:cNvCxnSpPr/>
          <p:nvPr/>
        </p:nvCxnSpPr>
        <p:spPr>
          <a:xfrm>
            <a:off x="1150315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11338560"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216" name="Connector 215"/>
          <p:cNvCxnSpPr/>
          <p:nvPr/>
        </p:nvCxnSpPr>
        <p:spPr>
          <a:xfrm>
            <a:off x="6629400" y="2039112"/>
            <a:ext cx="0" cy="2404871"/>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6629400" y="4443983"/>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629400" y="4434029"/>
            <a:ext cx="101536" cy="97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730936" y="4200864"/>
            <a:ext cx="101537" cy="2331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6832473" y="3196800"/>
            <a:ext cx="101536" cy="10040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6934009" y="2586894"/>
            <a:ext cx="101537" cy="60990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7035546" y="2321568"/>
            <a:ext cx="101536" cy="2653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7137082" y="2235804"/>
            <a:ext cx="101537" cy="857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7238619" y="2194647"/>
            <a:ext cx="101536" cy="411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7340155" y="2178951"/>
            <a:ext cx="101537" cy="1569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flipV="1">
            <a:off x="7441692" y="2172440"/>
            <a:ext cx="101536" cy="65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flipV="1">
            <a:off x="7543228" y="2169378"/>
            <a:ext cx="101537" cy="30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7644765" y="2168227"/>
            <a:ext cx="101536" cy="115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7746301" y="2167081"/>
            <a:ext cx="101537" cy="114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flipV="1">
            <a:off x="7847838" y="2165930"/>
            <a:ext cx="101536" cy="115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7949374" y="2165165"/>
            <a:ext cx="101537" cy="7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8050911" y="2165165"/>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8152447" y="2164976"/>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8253984" y="2164401"/>
            <a:ext cx="101536" cy="5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8355520" y="216440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8457057" y="2164208"/>
            <a:ext cx="101536" cy="1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8558593" y="2164019"/>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flipV="1">
            <a:off x="8660130" y="2163637"/>
            <a:ext cx="101536" cy="38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8761666" y="2163637"/>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flipV="1">
            <a:off x="8863203" y="2163443"/>
            <a:ext cx="101536"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8964739" y="2163443"/>
            <a:ext cx="101537"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9066276" y="2163637"/>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flipV="1">
            <a:off x="9167812" y="2163443"/>
            <a:ext cx="101537"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9269349"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9370885"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9472422"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9573958"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9675495"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777031"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9878568"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980104"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10081641"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10183177"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0284714" y="2163250"/>
            <a:ext cx="101536" cy="1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0386250" y="2163250"/>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0487787" y="2163250"/>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589323" y="2163250"/>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10690860" y="2163250"/>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10792396" y="2163061"/>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10893933"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0995469"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1097006"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11198542"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11300079"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11401615"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6629400" y="4435562"/>
            <a:ext cx="101536" cy="84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6730936" y="4186314"/>
            <a:ext cx="101537" cy="2492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6832473" y="3198522"/>
            <a:ext cx="101536" cy="9877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6934009" y="2601633"/>
            <a:ext cx="101537" cy="5968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7035546" y="2331711"/>
            <a:ext cx="101536" cy="2699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7137082" y="2235615"/>
            <a:ext cx="101537" cy="960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7238619" y="2196369"/>
            <a:ext cx="101536" cy="392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7340155" y="2182012"/>
            <a:ext cx="101537" cy="1435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7441692" y="2176078"/>
            <a:ext cx="101536" cy="59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7543228" y="2171100"/>
            <a:ext cx="101537" cy="497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7644765" y="2169378"/>
            <a:ext cx="101536" cy="17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7746301" y="2168038"/>
            <a:ext cx="101537" cy="13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7847838" y="2166699"/>
            <a:ext cx="101536" cy="13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7949374" y="2166316"/>
            <a:ext cx="101537" cy="3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8050911" y="2165548"/>
            <a:ext cx="101536" cy="76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8152447" y="2165165"/>
            <a:ext cx="101537" cy="3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8253984" y="2164783"/>
            <a:ext cx="101536" cy="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8355520" y="2164208"/>
            <a:ext cx="101537" cy="5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8457057" y="2164019"/>
            <a:ext cx="101536"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8558593" y="2163826"/>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8660130" y="2163826"/>
            <a:ext cx="101536"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flipV="1">
            <a:off x="8761666" y="2163637"/>
            <a:ext cx="101537" cy="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8863203" y="216363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8964739" y="2163637"/>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flipV="1">
            <a:off x="9066276" y="2163250"/>
            <a:ext cx="101536" cy="3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9167812" y="2163250"/>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9269349" y="2163250"/>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flipV="1">
            <a:off x="9370885" y="2163061"/>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9472422" y="2163061"/>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flipV="1">
            <a:off x="9573958" y="2162486"/>
            <a:ext cx="101537" cy="5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9675495" y="216248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flipV="1">
            <a:off x="9777031" y="2162297"/>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9878568" y="216229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9980104" y="2162297"/>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10081641" y="216229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flipV="1">
            <a:off x="10183177" y="2162104"/>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V="1">
            <a:off x="10284714" y="2161910"/>
            <a:ext cx="101536" cy="1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flipV="1">
            <a:off x="10386250" y="2161721"/>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flipV="1">
            <a:off x="10487787" y="2161528"/>
            <a:ext cx="101536"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10589323" y="2161528"/>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flipV="1">
            <a:off x="10690860" y="2161339"/>
            <a:ext cx="101536"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flipV="1">
            <a:off x="10792396" y="2161146"/>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10893933"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10995469" y="216114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11097006"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11198542" y="216114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11300079"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flipV="1">
            <a:off x="11401615" y="2160953"/>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flipV="1">
            <a:off x="6629400" y="4435562"/>
            <a:ext cx="101536" cy="84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flipV="1">
            <a:off x="6730936" y="4182870"/>
            <a:ext cx="101537" cy="2526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flipV="1">
            <a:off x="6832473" y="3200051"/>
            <a:ext cx="101536" cy="98281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flipV="1">
            <a:off x="6934009" y="2604888"/>
            <a:ext cx="101537" cy="5951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flipV="1">
            <a:off x="7035546" y="2334009"/>
            <a:ext cx="101536" cy="27087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flipV="1">
            <a:off x="7137082" y="2235040"/>
            <a:ext cx="101537" cy="989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flipV="1">
            <a:off x="7238619" y="2197709"/>
            <a:ext cx="101536" cy="373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7340155" y="2182588"/>
            <a:ext cx="101537" cy="151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7441692" y="2175695"/>
            <a:ext cx="101536" cy="68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7543228" y="2171294"/>
            <a:ext cx="101537" cy="440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7644765" y="2169378"/>
            <a:ext cx="101536" cy="191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7746301" y="2167845"/>
            <a:ext cx="101537" cy="15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7847838" y="2167081"/>
            <a:ext cx="101536" cy="76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7949374" y="2166123"/>
            <a:ext cx="101537" cy="9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8050911" y="2165741"/>
            <a:ext cx="101536" cy="3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8152447" y="2164783"/>
            <a:ext cx="101537" cy="9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8253984" y="2164019"/>
            <a:ext cx="101536" cy="76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8355520" y="2164019"/>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8457057" y="2164019"/>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8558593" y="2164019"/>
            <a:ext cx="101537"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8660130" y="2164019"/>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8761666" y="2163637"/>
            <a:ext cx="101537" cy="3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8863203" y="2163443"/>
            <a:ext cx="101536" cy="1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8964739" y="2163443"/>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a:off x="9066276" y="2163443"/>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9167812" y="2163250"/>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9269349" y="2163250"/>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9370885" y="2163250"/>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9472422" y="2162679"/>
            <a:ext cx="101536" cy="57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9573958" y="2162486"/>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9675495" y="216248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9777031" y="2162297"/>
            <a:ext cx="101537"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9878568" y="2161910"/>
            <a:ext cx="101536" cy="38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9980104" y="2161910"/>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10081641" y="2161721"/>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a:off x="10183177" y="2161721"/>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10284714" y="2161721"/>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10386250" y="2161528"/>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10487787" y="2161528"/>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10589323" y="2161528"/>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10690860" y="2161339"/>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10792396" y="2161146"/>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a:off x="10893933" y="216114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10995469" y="216114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11097006" y="216114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11198542" y="216114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flipV="1">
            <a:off x="11300079" y="2160953"/>
            <a:ext cx="101536"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11401615" y="2160953"/>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62" name="Rounded Rectangle 361"/>
          <p:cNvSpPr/>
          <p:nvPr/>
        </p:nvSpPr>
        <p:spPr>
          <a:xfrm>
            <a:off x="594360" y="5074920"/>
            <a:ext cx="3547872" cy="47548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722376" y="5175504"/>
            <a:ext cx="1024128" cy="182880"/>
          </a:xfrm>
          <a:prstGeom prst="rect">
            <a:avLst/>
          </a:prstGeom>
          <a:noFill/>
        </p:spPr>
        <p:txBody>
          <a:bodyPr wrap="square" lIns="18288" rIns="18288" tIns="18288" bIns="18288" anchor="t">
            <a:spAutoFit/>
          </a:bodyPr>
          <a:lstStyle/>
          <a:p>
            <a:pPr algn="l"/>
            <a:r>
              <a:rPr sz="880" b="1" lang="en-US">
                <a:solidFill>
                  <a:srgbClr val="1F90CC"/>
                </a:solidFill>
                <a:latin typeface="Arial"/>
              </a:rPr>
              <a:t>LOSS</a:t>
            </a:r>
          </a:p>
        </p:txBody>
      </p:sp>
      <p:sp>
        <p:nvSpPr>
          <p:cNvPr id="364" name="TextBox 363"/>
          <p:cNvSpPr txBox="1"/>
          <p:nvPr/>
        </p:nvSpPr>
        <p:spPr>
          <a:xfrm>
            <a:off x="1673352" y="5157216"/>
            <a:ext cx="2304288" cy="219456"/>
          </a:xfrm>
          <a:prstGeom prst="rect">
            <a:avLst/>
          </a:prstGeom>
          <a:noFill/>
        </p:spPr>
        <p:txBody>
          <a:bodyPr wrap="square" lIns="18288" rIns="18288" tIns="18288" bIns="18288" anchor="ctr">
            <a:spAutoFit/>
          </a:bodyPr>
          <a:lstStyle/>
          <a:p>
            <a:pPr algn="ctr"/>
            <a:r>
              <a:rPr sz="980" b="1" lang="en-US">
                <a:solidFill>
                  <a:srgbClr val="434343"/>
                </a:solidFill>
                <a:latin typeface="Arial"/>
              </a:rPr>
              <a:t>≈ 0.62  →  ≈ 0.188</a:t>
            </a:r>
          </a:p>
        </p:txBody>
      </p:sp>
      <p:sp>
        <p:nvSpPr>
          <p:cNvPr id="365" name="Rounded Rectangle 364"/>
          <p:cNvSpPr/>
          <p:nvPr/>
        </p:nvSpPr>
        <p:spPr>
          <a:xfrm>
            <a:off x="4389120" y="5074920"/>
            <a:ext cx="3547872" cy="47548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TextBox 365"/>
          <p:cNvSpPr txBox="1"/>
          <p:nvPr/>
        </p:nvSpPr>
        <p:spPr>
          <a:xfrm>
            <a:off x="4517136" y="5175504"/>
            <a:ext cx="1024128" cy="182880"/>
          </a:xfrm>
          <a:prstGeom prst="rect">
            <a:avLst/>
          </a:prstGeom>
          <a:noFill/>
        </p:spPr>
        <p:txBody>
          <a:bodyPr wrap="square" lIns="18288" rIns="18288" tIns="18288" bIns="18288" anchor="t">
            <a:spAutoFit/>
          </a:bodyPr>
          <a:lstStyle/>
          <a:p>
            <a:pPr algn="l"/>
            <a:r>
              <a:rPr sz="880" b="1" lang="en-US">
                <a:solidFill>
                  <a:srgbClr val="2F8F46"/>
                </a:solidFill>
                <a:latin typeface="Arial"/>
              </a:rPr>
              <a:t>EXACT MATCH</a:t>
            </a:r>
          </a:p>
        </p:txBody>
      </p:sp>
      <p:sp>
        <p:nvSpPr>
          <p:cNvPr id="367" name="TextBox 366"/>
          <p:cNvSpPr txBox="1"/>
          <p:nvPr/>
        </p:nvSpPr>
        <p:spPr>
          <a:xfrm>
            <a:off x="5468112" y="5157216"/>
            <a:ext cx="2304288" cy="219456"/>
          </a:xfrm>
          <a:prstGeom prst="rect">
            <a:avLst/>
          </a:prstGeom>
          <a:noFill/>
        </p:spPr>
        <p:txBody>
          <a:bodyPr wrap="square" lIns="18288" rIns="18288" tIns="18288" bIns="18288" anchor="ctr">
            <a:spAutoFit/>
          </a:bodyPr>
          <a:lstStyle/>
          <a:p>
            <a:pPr algn="ctr"/>
            <a:r>
              <a:rPr sz="980" b="1" lang="en-US">
                <a:solidFill>
                  <a:srgbClr val="434343"/>
                </a:solidFill>
                <a:latin typeface="Arial"/>
              </a:rPr>
              <a:t>≈ 0%  →  ≈ 53.16%</a:t>
            </a:r>
          </a:p>
        </p:txBody>
      </p:sp>
      <p:sp>
        <p:nvSpPr>
          <p:cNvPr id="368" name="Rounded Rectangle 367"/>
          <p:cNvSpPr/>
          <p:nvPr/>
        </p:nvSpPr>
        <p:spPr>
          <a:xfrm>
            <a:off x="8183880" y="5074920"/>
            <a:ext cx="3547872" cy="475488"/>
          </a:xfrm>
          <a:prstGeom prst="roundRect">
            <a:avLst/>
          </a:prstGeom>
          <a:solidFill>
            <a:srgbClr val="F3F3F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TextBox 368"/>
          <p:cNvSpPr txBox="1"/>
          <p:nvPr/>
        </p:nvSpPr>
        <p:spPr>
          <a:xfrm>
            <a:off x="8311896" y="5175504"/>
            <a:ext cx="1024128" cy="182880"/>
          </a:xfrm>
          <a:prstGeom prst="rect">
            <a:avLst/>
          </a:prstGeom>
          <a:noFill/>
        </p:spPr>
        <p:txBody>
          <a:bodyPr wrap="square" lIns="18288" rIns="18288" tIns="18288" bIns="18288" anchor="t">
            <a:spAutoFit/>
          </a:bodyPr>
          <a:lstStyle/>
          <a:p>
            <a:pPr algn="l"/>
            <a:r>
              <a:rPr sz="880" b="1" lang="en-US">
                <a:solidFill>
                  <a:srgbClr val="434343"/>
                </a:solidFill>
                <a:latin typeface="Arial"/>
              </a:rPr>
              <a:t>OBSERVATION</a:t>
            </a:r>
          </a:p>
        </p:txBody>
      </p:sp>
      <p:sp>
        <p:nvSpPr>
          <p:cNvPr id="370" name="TextBox 369"/>
          <p:cNvSpPr txBox="1"/>
          <p:nvPr/>
        </p:nvSpPr>
        <p:spPr>
          <a:xfrm>
            <a:off x="9262872" y="5157216"/>
            <a:ext cx="2304288" cy="219456"/>
          </a:xfrm>
          <a:prstGeom prst="rect">
            <a:avLst/>
          </a:prstGeom>
          <a:noFill/>
        </p:spPr>
        <p:txBody>
          <a:bodyPr wrap="square" lIns="18288" rIns="18288" tIns="18288" bIns="18288" anchor="ctr">
            <a:spAutoFit/>
          </a:bodyPr>
          <a:lstStyle/>
          <a:p>
            <a:pPr algn="ctr"/>
            <a:r>
              <a:rPr sz="980" b="1" lang="en-US">
                <a:solidFill>
                  <a:srgbClr val="434343"/>
                </a:solidFill>
                <a:latin typeface="Arial"/>
              </a:rPr>
              <a:t>Nearly identical curves at all three tested scales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Optimization does not imply useful discrimination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AUROC REMAINS NEAR CHANCE WHILE BOTH F1 SCORES COLLAPSE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384048"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 y="1463040"/>
            <a:ext cx="3511296"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cxnSp>
        <p:nvCxnSpPr>
          <p:cNvPr id="10" name="Connector 9"/>
          <p:cNvCxnSpPr/>
          <p:nvPr/>
        </p:nvCxnSpPr>
        <p:spPr>
          <a:xfrm>
            <a:off x="914400"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179576"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2" name="Connector 11"/>
          <p:cNvCxnSpPr/>
          <p:nvPr/>
        </p:nvCxnSpPr>
        <p:spPr>
          <a:xfrm>
            <a:off x="1804415"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069591"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4" name="Connector 13"/>
          <p:cNvCxnSpPr/>
          <p:nvPr/>
        </p:nvCxnSpPr>
        <p:spPr>
          <a:xfrm>
            <a:off x="2694431" y="1819656"/>
            <a:ext cx="219457"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9607"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6" name="Connector 15"/>
          <p:cNvCxnSpPr/>
          <p:nvPr/>
        </p:nvCxnSpPr>
        <p:spPr>
          <a:xfrm>
            <a:off x="859536" y="4050791"/>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0623" y="397763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0.49</a:t>
            </a:r>
          </a:p>
        </p:txBody>
      </p:sp>
      <p:cxnSp>
        <p:nvCxnSpPr>
          <p:cNvPr id="18" name="Connector 17"/>
          <p:cNvCxnSpPr/>
          <p:nvPr/>
        </p:nvCxnSpPr>
        <p:spPr>
          <a:xfrm>
            <a:off x="859536" y="3246119"/>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3" y="317296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20" name="Connector 19"/>
          <p:cNvCxnSpPr/>
          <p:nvPr/>
        </p:nvCxnSpPr>
        <p:spPr>
          <a:xfrm>
            <a:off x="859536" y="244144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20623" y="236829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0.51</a:t>
            </a:r>
          </a:p>
        </p:txBody>
      </p:sp>
      <p:cxnSp>
        <p:nvCxnSpPr>
          <p:cNvPr id="22" name="Connector 21"/>
          <p:cNvCxnSpPr/>
          <p:nvPr/>
        </p:nvCxnSpPr>
        <p:spPr>
          <a:xfrm>
            <a:off x="859536"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94944"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4" name="Connector 23"/>
          <p:cNvCxnSpPr/>
          <p:nvPr/>
        </p:nvCxnSpPr>
        <p:spPr>
          <a:xfrm>
            <a:off x="137160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26" name="Connector 25"/>
          <p:cNvCxnSpPr/>
          <p:nvPr/>
        </p:nvCxnSpPr>
        <p:spPr>
          <a:xfrm>
            <a:off x="201168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4708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28" name="Connector 27"/>
          <p:cNvCxnSpPr/>
          <p:nvPr/>
        </p:nvCxnSpPr>
        <p:spPr>
          <a:xfrm>
            <a:off x="265176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48716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30" name="Connector 29"/>
          <p:cNvCxnSpPr/>
          <p:nvPr/>
        </p:nvCxnSpPr>
        <p:spPr>
          <a:xfrm>
            <a:off x="329184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12724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32" name="Connector 31"/>
          <p:cNvCxnSpPr/>
          <p:nvPr/>
        </p:nvCxnSpPr>
        <p:spPr>
          <a:xfrm>
            <a:off x="393192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6732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34" name="Connector 33"/>
          <p:cNvCxnSpPr/>
          <p:nvPr/>
        </p:nvCxnSpPr>
        <p:spPr>
          <a:xfrm>
            <a:off x="859536"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59536" y="4453127"/>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59536" y="3246119"/>
            <a:ext cx="3072384"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3438144" y="3081527"/>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38" name="Connector 37"/>
          <p:cNvCxnSpPr/>
          <p:nvPr/>
        </p:nvCxnSpPr>
        <p:spPr>
          <a:xfrm>
            <a:off x="859536" y="3893317"/>
            <a:ext cx="64008" cy="2307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23544" y="4083783"/>
            <a:ext cx="64008" cy="402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87552" y="3848014"/>
            <a:ext cx="64008" cy="23576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51560" y="3551814"/>
            <a:ext cx="64008" cy="2962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15568" y="3316609"/>
            <a:ext cx="64008" cy="2352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179576" y="3150846"/>
            <a:ext cx="64008" cy="1657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243584" y="3019363"/>
            <a:ext cx="64008" cy="13148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307592" y="2950000"/>
            <a:ext cx="64008" cy="693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371600" y="2893029"/>
            <a:ext cx="64008" cy="56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435608" y="2887075"/>
            <a:ext cx="64008" cy="595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499616" y="2872671"/>
            <a:ext cx="64008" cy="144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563624" y="2872671"/>
            <a:ext cx="64008" cy="71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627632" y="2879833"/>
            <a:ext cx="64008" cy="1070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691640" y="2890535"/>
            <a:ext cx="64008" cy="133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55648" y="2903892"/>
            <a:ext cx="64008" cy="441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819656" y="2948069"/>
            <a:ext cx="64008" cy="1174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883664" y="2956438"/>
            <a:ext cx="64008" cy="337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947672" y="2956438"/>
            <a:ext cx="64008" cy="692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011680" y="2963358"/>
            <a:ext cx="64008" cy="125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075688" y="2975911"/>
            <a:ext cx="64008" cy="97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139696" y="2985647"/>
            <a:ext cx="64008" cy="1553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203704" y="3001177"/>
            <a:ext cx="64008" cy="88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267712" y="3009868"/>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331720" y="3009868"/>
            <a:ext cx="64008" cy="93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395728" y="3018478"/>
            <a:ext cx="64008" cy="72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2459736" y="3018478"/>
            <a:ext cx="64008" cy="24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523744" y="3020972"/>
            <a:ext cx="64008" cy="53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587752" y="3026283"/>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651760" y="3026444"/>
            <a:ext cx="64008" cy="91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2715768" y="3031513"/>
            <a:ext cx="64008" cy="41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779776" y="3029260"/>
            <a:ext cx="64008" cy="22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843784" y="3029260"/>
            <a:ext cx="64008" cy="6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2907792" y="3027490"/>
            <a:ext cx="64008" cy="241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2971800" y="3027490"/>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3035808" y="3021938"/>
            <a:ext cx="64008" cy="57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3099816" y="3021696"/>
            <a:ext cx="64008" cy="2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3163824" y="3017754"/>
            <a:ext cx="64008" cy="39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227832" y="3013891"/>
            <a:ext cx="64008" cy="38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291840" y="3009546"/>
            <a:ext cx="64008" cy="43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355848" y="3009546"/>
            <a:ext cx="64008" cy="6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419856" y="3007856"/>
            <a:ext cx="64008" cy="23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483864" y="3003430"/>
            <a:ext cx="64008" cy="44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547872" y="2996993"/>
            <a:ext cx="64008" cy="64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611880" y="2987176"/>
            <a:ext cx="64007" cy="98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675887" y="2967703"/>
            <a:ext cx="64009" cy="194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39896" y="2959898"/>
            <a:ext cx="64008" cy="78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803904" y="2936723"/>
            <a:ext cx="64008" cy="231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867912" y="2927228"/>
            <a:ext cx="64008" cy="949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859536" y="3884063"/>
            <a:ext cx="64008" cy="1949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23544" y="4060206"/>
            <a:ext cx="64008" cy="188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7552" y="3842060"/>
            <a:ext cx="64008" cy="2181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051560" y="3549481"/>
            <a:ext cx="64008" cy="2925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115568" y="3348635"/>
            <a:ext cx="64008" cy="2008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179576" y="3207817"/>
            <a:ext cx="64008" cy="14081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243584" y="3117694"/>
            <a:ext cx="64008" cy="9012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307592" y="3039158"/>
            <a:ext cx="64008" cy="785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371600" y="2970439"/>
            <a:ext cx="64008" cy="687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435608" y="2911698"/>
            <a:ext cx="64008" cy="5874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1499616" y="2869694"/>
            <a:ext cx="64008" cy="420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563624" y="2841852"/>
            <a:ext cx="64008" cy="2784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627632" y="2833001"/>
            <a:ext cx="64008" cy="88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691640" y="2825839"/>
            <a:ext cx="64008" cy="71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755648" y="2822540"/>
            <a:ext cx="64008" cy="32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819656" y="2822540"/>
            <a:ext cx="64008" cy="83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883664" y="2830909"/>
            <a:ext cx="64008" cy="2116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947672" y="2852072"/>
            <a:ext cx="64008" cy="563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011680" y="2857704"/>
            <a:ext cx="64008" cy="748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075688" y="2856497"/>
            <a:ext cx="64008" cy="869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2139696" y="2839599"/>
            <a:ext cx="64008" cy="1689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2203704" y="2837748"/>
            <a:ext cx="64008" cy="18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2267712" y="2837748"/>
            <a:ext cx="64008" cy="32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2331720" y="2837990"/>
            <a:ext cx="64008" cy="297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2395728" y="2835898"/>
            <a:ext cx="64008" cy="20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2459736" y="2835495"/>
            <a:ext cx="64008" cy="40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2523744" y="2834369"/>
            <a:ext cx="64008" cy="11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2587752" y="2822942"/>
            <a:ext cx="64008" cy="114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2651760" y="2818356"/>
            <a:ext cx="64008" cy="458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2715768" y="2808941"/>
            <a:ext cx="64008" cy="941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2779776" y="2801780"/>
            <a:ext cx="64008" cy="71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2843784" y="2796952"/>
            <a:ext cx="64008" cy="482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2907792" y="2789710"/>
            <a:ext cx="64008" cy="724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2971800" y="2776030"/>
            <a:ext cx="64008" cy="1368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035808" y="2767903"/>
            <a:ext cx="64008" cy="81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099816" y="2759695"/>
            <a:ext cx="64008" cy="820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163824" y="2756718"/>
            <a:ext cx="64008" cy="297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227832" y="2707713"/>
            <a:ext cx="64008" cy="4900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291840" y="2690896"/>
            <a:ext cx="64008" cy="168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355848" y="2688884"/>
            <a:ext cx="64008" cy="201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3419856" y="2688884"/>
            <a:ext cx="64008" cy="128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3483864" y="2690172"/>
            <a:ext cx="64008" cy="241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3547872" y="2692586"/>
            <a:ext cx="64008" cy="50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3611880" y="2697655"/>
            <a:ext cx="64007" cy="71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3675887" y="2704817"/>
            <a:ext cx="64009" cy="10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3739896" y="2705863"/>
            <a:ext cx="64008" cy="15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803904" y="2704253"/>
            <a:ext cx="64008" cy="31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867912" y="2694034"/>
            <a:ext cx="64008" cy="102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859536" y="3858073"/>
            <a:ext cx="64008" cy="2126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923544" y="4055861"/>
            <a:ext cx="64008" cy="148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987552" y="3844554"/>
            <a:ext cx="64008" cy="2113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1051560" y="3559298"/>
            <a:ext cx="64008" cy="2852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1115568" y="3360142"/>
            <a:ext cx="64008" cy="1991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1179576" y="3209185"/>
            <a:ext cx="64008" cy="1509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1243584" y="3113429"/>
            <a:ext cx="64008" cy="957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307592" y="3042296"/>
            <a:ext cx="64008" cy="711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1371600" y="2961266"/>
            <a:ext cx="64008" cy="8103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1435608" y="2889972"/>
            <a:ext cx="64008" cy="712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1499616" y="2848129"/>
            <a:ext cx="64008" cy="418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563624" y="2825437"/>
            <a:ext cx="64008" cy="226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1627632" y="2805401"/>
            <a:ext cx="64008" cy="2003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1691640" y="2787617"/>
            <a:ext cx="64008" cy="177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755648" y="2775950"/>
            <a:ext cx="64008" cy="116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1819656" y="2769110"/>
            <a:ext cx="64008" cy="68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883664" y="2769110"/>
            <a:ext cx="64008" cy="98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947672" y="2779007"/>
            <a:ext cx="64008" cy="305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011680" y="2809585"/>
            <a:ext cx="64008" cy="434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075688" y="2813930"/>
            <a:ext cx="64008" cy="5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139696" y="2814493"/>
            <a:ext cx="64008" cy="31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2203704" y="2816747"/>
            <a:ext cx="64008" cy="88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2267712" y="2806769"/>
            <a:ext cx="64008" cy="99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2331720" y="2783272"/>
            <a:ext cx="64008" cy="234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2395728" y="2776513"/>
            <a:ext cx="64008" cy="67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2459736" y="2776513"/>
            <a:ext cx="64008" cy="225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2523744" y="2777961"/>
            <a:ext cx="64008" cy="8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2587752" y="2777961"/>
            <a:ext cx="64008" cy="72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2651760" y="2774984"/>
            <a:ext cx="64008" cy="370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2715768" y="2764845"/>
            <a:ext cx="64008" cy="101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2779776" y="2755431"/>
            <a:ext cx="64008" cy="941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2843784" y="2738774"/>
            <a:ext cx="64008" cy="166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2907792" y="2727347"/>
            <a:ext cx="64008" cy="114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2971800" y="2713507"/>
            <a:ext cx="64008" cy="138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3035808" y="2653398"/>
            <a:ext cx="64008" cy="6010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3099816" y="2634649"/>
            <a:ext cx="64008" cy="1874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3163824" y="2630867"/>
            <a:ext cx="64008" cy="37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3227832" y="2625154"/>
            <a:ext cx="64008" cy="571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3291840" y="2620648"/>
            <a:ext cx="64008" cy="450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3355848" y="2616705"/>
            <a:ext cx="64008" cy="39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3419856" y="2615900"/>
            <a:ext cx="64008" cy="8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3483864" y="2615176"/>
            <a:ext cx="64008" cy="72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3547872" y="2615176"/>
            <a:ext cx="64008" cy="49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3611880" y="2620165"/>
            <a:ext cx="64007" cy="273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3675887" y="2617671"/>
            <a:ext cx="64009" cy="523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3739896" y="2592967"/>
            <a:ext cx="64008" cy="247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3803904" y="2578885"/>
            <a:ext cx="64008" cy="14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3867912" y="2570839"/>
            <a:ext cx="64008" cy="804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2" name="Rounded Rectangle 181"/>
          <p:cNvSpPr/>
          <p:nvPr/>
        </p:nvSpPr>
        <p:spPr>
          <a:xfrm>
            <a:off x="4233672"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4343400" y="1463040"/>
            <a:ext cx="3511296"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Micro F1</a:t>
            </a:r>
          </a:p>
        </p:txBody>
      </p:sp>
      <p:cxnSp>
        <p:nvCxnSpPr>
          <p:cNvPr id="184" name="Connector 183"/>
          <p:cNvCxnSpPr/>
          <p:nvPr/>
        </p:nvCxnSpPr>
        <p:spPr>
          <a:xfrm>
            <a:off x="4764024"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85" name="TextBox 184"/>
          <p:cNvSpPr txBox="1"/>
          <p:nvPr/>
        </p:nvSpPr>
        <p:spPr>
          <a:xfrm>
            <a:off x="5029200"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86" name="Connector 185"/>
          <p:cNvCxnSpPr/>
          <p:nvPr/>
        </p:nvCxnSpPr>
        <p:spPr>
          <a:xfrm>
            <a:off x="5654040"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87" name="TextBox 186"/>
          <p:cNvSpPr txBox="1"/>
          <p:nvPr/>
        </p:nvSpPr>
        <p:spPr>
          <a:xfrm>
            <a:off x="5919216"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88" name="Connector 187"/>
          <p:cNvCxnSpPr/>
          <p:nvPr/>
        </p:nvCxnSpPr>
        <p:spPr>
          <a:xfrm>
            <a:off x="6544056"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6809232"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90" name="Connector 189"/>
          <p:cNvCxnSpPr/>
          <p:nvPr/>
        </p:nvCxnSpPr>
        <p:spPr>
          <a:xfrm>
            <a:off x="4709160" y="445312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4270248" y="437997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0.00</a:t>
            </a:r>
          </a:p>
        </p:txBody>
      </p:sp>
      <p:cxnSp>
        <p:nvCxnSpPr>
          <p:cNvPr id="192" name="Connector 191"/>
          <p:cNvCxnSpPr/>
          <p:nvPr/>
        </p:nvCxnSpPr>
        <p:spPr>
          <a:xfrm>
            <a:off x="4709160" y="335584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3" name="TextBox 192"/>
          <p:cNvSpPr txBox="1"/>
          <p:nvPr/>
        </p:nvSpPr>
        <p:spPr>
          <a:xfrm>
            <a:off x="4270248" y="328269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0.05</a:t>
            </a:r>
          </a:p>
        </p:txBody>
      </p:sp>
      <p:cxnSp>
        <p:nvCxnSpPr>
          <p:cNvPr id="194" name="Connector 193"/>
          <p:cNvCxnSpPr/>
          <p:nvPr/>
        </p:nvCxnSpPr>
        <p:spPr>
          <a:xfrm>
            <a:off x="4709160" y="225856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5" name="TextBox 194"/>
          <p:cNvSpPr txBox="1"/>
          <p:nvPr/>
        </p:nvSpPr>
        <p:spPr>
          <a:xfrm>
            <a:off x="4270248" y="218541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0.10</a:t>
            </a:r>
          </a:p>
        </p:txBody>
      </p:sp>
      <p:cxnSp>
        <p:nvCxnSpPr>
          <p:cNvPr id="196" name="Connector 195"/>
          <p:cNvCxnSpPr/>
          <p:nvPr/>
        </p:nvCxnSpPr>
        <p:spPr>
          <a:xfrm>
            <a:off x="470916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97" name="TextBox 196"/>
          <p:cNvSpPr txBox="1"/>
          <p:nvPr/>
        </p:nvSpPr>
        <p:spPr>
          <a:xfrm>
            <a:off x="454456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98" name="Connector 197"/>
          <p:cNvCxnSpPr/>
          <p:nvPr/>
        </p:nvCxnSpPr>
        <p:spPr>
          <a:xfrm>
            <a:off x="522122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99" name="TextBox 198"/>
          <p:cNvSpPr txBox="1"/>
          <p:nvPr/>
        </p:nvSpPr>
        <p:spPr>
          <a:xfrm>
            <a:off x="505663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200" name="Connector 199"/>
          <p:cNvCxnSpPr/>
          <p:nvPr/>
        </p:nvCxnSpPr>
        <p:spPr>
          <a:xfrm>
            <a:off x="586130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1" name="TextBox 200"/>
          <p:cNvSpPr txBox="1"/>
          <p:nvPr/>
        </p:nvSpPr>
        <p:spPr>
          <a:xfrm>
            <a:off x="569671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202" name="Connector 201"/>
          <p:cNvCxnSpPr/>
          <p:nvPr/>
        </p:nvCxnSpPr>
        <p:spPr>
          <a:xfrm>
            <a:off x="650138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3" name="TextBox 202"/>
          <p:cNvSpPr txBox="1"/>
          <p:nvPr/>
        </p:nvSpPr>
        <p:spPr>
          <a:xfrm>
            <a:off x="633679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204" name="Connector 203"/>
          <p:cNvCxnSpPr/>
          <p:nvPr/>
        </p:nvCxnSpPr>
        <p:spPr>
          <a:xfrm>
            <a:off x="714146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5" name="TextBox 204"/>
          <p:cNvSpPr txBox="1"/>
          <p:nvPr/>
        </p:nvSpPr>
        <p:spPr>
          <a:xfrm>
            <a:off x="697687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206" name="Connector 205"/>
          <p:cNvCxnSpPr/>
          <p:nvPr/>
        </p:nvCxnSpPr>
        <p:spPr>
          <a:xfrm>
            <a:off x="778154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761695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208" name="Connector 207"/>
          <p:cNvCxnSpPr/>
          <p:nvPr/>
        </p:nvCxnSpPr>
        <p:spPr>
          <a:xfrm>
            <a:off x="4709160"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4709160" y="4453127"/>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709160" y="2185094"/>
            <a:ext cx="64008" cy="46640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4773168" y="2651503"/>
            <a:ext cx="64008" cy="3684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4837176" y="3019926"/>
            <a:ext cx="64008" cy="4635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4901184" y="3483483"/>
            <a:ext cx="64008" cy="4630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4965192" y="3946535"/>
            <a:ext cx="64008" cy="2652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5029200" y="4211748"/>
            <a:ext cx="64008" cy="1172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5093208" y="4329025"/>
            <a:ext cx="64008" cy="4624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5157216" y="4375265"/>
            <a:ext cx="64008" cy="306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5221224" y="4405901"/>
            <a:ext cx="64008" cy="103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5285232" y="4416237"/>
            <a:ext cx="64008" cy="131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5349240" y="4429360"/>
            <a:ext cx="64008" cy="261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5413248" y="4431972"/>
            <a:ext cx="64008" cy="526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5477256" y="4437239"/>
            <a:ext cx="64008" cy="263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5541264"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5605272" y="4442528"/>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5669280"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5733288" y="4439872"/>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5797296"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5861304" y="4442506"/>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5925312"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5989320"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6053328"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6117336"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6181344" y="4442506"/>
            <a:ext cx="64008" cy="265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245352"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6309360"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6373368"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6437376" y="4445161"/>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650138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656539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662940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669340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675741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682142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688543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694944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701344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707745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714146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720547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726948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733348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739749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746150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a:off x="752551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758952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765352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771753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4709160" y="2183470"/>
            <a:ext cx="64008" cy="4487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4773168" y="2632257"/>
            <a:ext cx="64008" cy="3779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4837176" y="3010226"/>
            <a:ext cx="64008" cy="46882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4901184" y="3479050"/>
            <a:ext cx="64008" cy="4686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4965192" y="3947720"/>
            <a:ext cx="64008" cy="25481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5029200" y="4202531"/>
            <a:ext cx="64008" cy="10389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5093208" y="4306421"/>
            <a:ext cx="64008" cy="4828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5157216" y="4354701"/>
            <a:ext cx="64008" cy="225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a:off x="5221224" y="4377218"/>
            <a:ext cx="64008" cy="259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a:off x="5285232" y="4403157"/>
            <a:ext cx="64008" cy="130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a:off x="5349240" y="4416193"/>
            <a:ext cx="64008" cy="184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a:off x="5413248" y="4434627"/>
            <a:ext cx="64008" cy="26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5477256" y="4437239"/>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a:off x="5541264" y="4437239"/>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5605272" y="4439872"/>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a:off x="5669280"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5733288"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5797296"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5861304"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5925312" y="4439850"/>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a:off x="5989320" y="443985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53328" y="443985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17336" y="4439850"/>
            <a:ext cx="64008" cy="26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81344" y="444250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245352" y="4442506"/>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a:off x="6309360" y="444516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373368" y="444516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437376" y="4445161"/>
            <a:ext cx="64008" cy="26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501384"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565392"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6629400"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6693408"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6757416"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6821424"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6885432"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6949440"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7013448"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7077456" y="4447817"/>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7141464"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7205472"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7269480"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7333488"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7397496"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7461504"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7525512"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7589520"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7653528"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7717536"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709160" y="2167054"/>
            <a:ext cx="64008" cy="43768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773168" y="2604737"/>
            <a:ext cx="64008" cy="3870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837176" y="2991814"/>
            <a:ext cx="64008" cy="46711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01184" y="3458926"/>
            <a:ext cx="64008" cy="4772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4965192" y="3936133"/>
            <a:ext cx="64008" cy="2641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29200" y="4200314"/>
            <a:ext cx="64008" cy="101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093208" y="4301396"/>
            <a:ext cx="64008" cy="5076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157216" y="4352156"/>
            <a:ext cx="64008" cy="250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21224" y="4377240"/>
            <a:ext cx="64008" cy="232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285232" y="4400524"/>
            <a:ext cx="64008" cy="1830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49240" y="4418827"/>
            <a:ext cx="64008" cy="105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13248" y="4429338"/>
            <a:ext cx="64008" cy="792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flipV="1">
            <a:off x="5477256" y="4437239"/>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41264" y="4437239"/>
            <a:ext cx="64008" cy="26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605272"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a:off x="5669280"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a:off x="5733288"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a:off x="5797296"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a:off x="5861304"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a:off x="5925312" y="4439872"/>
            <a:ext cx="64008" cy="263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a:off x="5989320"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a:off x="6053328"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a:off x="6117336"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a:off x="6181344"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a:off x="6245352" y="4442506"/>
            <a:ext cx="64008" cy="26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6309360" y="4445161"/>
            <a:ext cx="64008" cy="26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6373368"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6437376"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a:off x="6501384"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6565392"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6629400"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6693408"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a:off x="6757416"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a:off x="6821424"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6885432"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6949440" y="4447817"/>
            <a:ext cx="64008" cy="26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a:off x="701344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a:off x="707745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7141464"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a:off x="7205472"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a:off x="7269480"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733348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a:off x="739749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a:off x="7461504"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7525512"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a:off x="7589520"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765352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771753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54" name="Rounded Rectangle 353"/>
          <p:cNvSpPr/>
          <p:nvPr/>
        </p:nvSpPr>
        <p:spPr>
          <a:xfrm>
            <a:off x="8083296"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TextBox 354"/>
          <p:cNvSpPr txBox="1"/>
          <p:nvPr/>
        </p:nvSpPr>
        <p:spPr>
          <a:xfrm>
            <a:off x="8193023" y="1463040"/>
            <a:ext cx="3511296"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cxnSp>
        <p:nvCxnSpPr>
          <p:cNvPr id="356" name="Connector 355"/>
          <p:cNvCxnSpPr/>
          <p:nvPr/>
        </p:nvCxnSpPr>
        <p:spPr>
          <a:xfrm>
            <a:off x="8613648"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357" name="TextBox 356"/>
          <p:cNvSpPr txBox="1"/>
          <p:nvPr/>
        </p:nvSpPr>
        <p:spPr>
          <a:xfrm>
            <a:off x="8878824"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358" name="Connector 357"/>
          <p:cNvCxnSpPr/>
          <p:nvPr/>
        </p:nvCxnSpPr>
        <p:spPr>
          <a:xfrm>
            <a:off x="9503664"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359" name="TextBox 358"/>
          <p:cNvSpPr txBox="1"/>
          <p:nvPr/>
        </p:nvSpPr>
        <p:spPr>
          <a:xfrm>
            <a:off x="9768839"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360" name="Connector 359"/>
          <p:cNvCxnSpPr/>
          <p:nvPr/>
        </p:nvCxnSpPr>
        <p:spPr>
          <a:xfrm>
            <a:off x="10393680"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61" name="TextBox 360"/>
          <p:cNvSpPr txBox="1"/>
          <p:nvPr/>
        </p:nvSpPr>
        <p:spPr>
          <a:xfrm>
            <a:off x="10658856"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362" name="Connector 361"/>
          <p:cNvCxnSpPr/>
          <p:nvPr/>
        </p:nvCxnSpPr>
        <p:spPr>
          <a:xfrm>
            <a:off x="8558784" y="445312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3" name="TextBox 362"/>
          <p:cNvSpPr txBox="1"/>
          <p:nvPr/>
        </p:nvSpPr>
        <p:spPr>
          <a:xfrm>
            <a:off x="8119871" y="437997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0.00</a:t>
            </a:r>
          </a:p>
        </p:txBody>
      </p:sp>
      <p:cxnSp>
        <p:nvCxnSpPr>
          <p:cNvPr id="364" name="Connector 363"/>
          <p:cNvCxnSpPr/>
          <p:nvPr/>
        </p:nvCxnSpPr>
        <p:spPr>
          <a:xfrm>
            <a:off x="8558784" y="335584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5" name="TextBox 364"/>
          <p:cNvSpPr txBox="1"/>
          <p:nvPr/>
        </p:nvSpPr>
        <p:spPr>
          <a:xfrm>
            <a:off x="8119871" y="328269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0.05</a:t>
            </a:r>
          </a:p>
        </p:txBody>
      </p:sp>
      <p:cxnSp>
        <p:nvCxnSpPr>
          <p:cNvPr id="366" name="Connector 365"/>
          <p:cNvCxnSpPr/>
          <p:nvPr/>
        </p:nvCxnSpPr>
        <p:spPr>
          <a:xfrm>
            <a:off x="8558784" y="225856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7" name="TextBox 366"/>
          <p:cNvSpPr txBox="1"/>
          <p:nvPr/>
        </p:nvSpPr>
        <p:spPr>
          <a:xfrm>
            <a:off x="8119871" y="218541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0.10</a:t>
            </a:r>
          </a:p>
        </p:txBody>
      </p:sp>
      <p:cxnSp>
        <p:nvCxnSpPr>
          <p:cNvPr id="368" name="Connector 367"/>
          <p:cNvCxnSpPr/>
          <p:nvPr/>
        </p:nvCxnSpPr>
        <p:spPr>
          <a:xfrm>
            <a:off x="855878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69" name="TextBox 368"/>
          <p:cNvSpPr txBox="1"/>
          <p:nvPr/>
        </p:nvSpPr>
        <p:spPr>
          <a:xfrm>
            <a:off x="839419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370" name="Connector 369"/>
          <p:cNvCxnSpPr/>
          <p:nvPr/>
        </p:nvCxnSpPr>
        <p:spPr>
          <a:xfrm>
            <a:off x="907084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1" name="TextBox 370"/>
          <p:cNvSpPr txBox="1"/>
          <p:nvPr/>
        </p:nvSpPr>
        <p:spPr>
          <a:xfrm>
            <a:off x="890625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372" name="Connector 371"/>
          <p:cNvCxnSpPr/>
          <p:nvPr/>
        </p:nvCxnSpPr>
        <p:spPr>
          <a:xfrm>
            <a:off x="971092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3" name="TextBox 372"/>
          <p:cNvSpPr txBox="1"/>
          <p:nvPr/>
        </p:nvSpPr>
        <p:spPr>
          <a:xfrm>
            <a:off x="954633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374" name="Connector 373"/>
          <p:cNvCxnSpPr/>
          <p:nvPr/>
        </p:nvCxnSpPr>
        <p:spPr>
          <a:xfrm>
            <a:off x="1035100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5" name="TextBox 374"/>
          <p:cNvSpPr txBox="1"/>
          <p:nvPr/>
        </p:nvSpPr>
        <p:spPr>
          <a:xfrm>
            <a:off x="1018641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376" name="Connector 375"/>
          <p:cNvCxnSpPr/>
          <p:nvPr/>
        </p:nvCxnSpPr>
        <p:spPr>
          <a:xfrm>
            <a:off x="1099108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7" name="TextBox 376"/>
          <p:cNvSpPr txBox="1"/>
          <p:nvPr/>
        </p:nvSpPr>
        <p:spPr>
          <a:xfrm>
            <a:off x="1082649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378" name="Connector 377"/>
          <p:cNvCxnSpPr/>
          <p:nvPr/>
        </p:nvCxnSpPr>
        <p:spPr>
          <a:xfrm>
            <a:off x="11631167"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9" name="TextBox 378"/>
          <p:cNvSpPr txBox="1"/>
          <p:nvPr/>
        </p:nvSpPr>
        <p:spPr>
          <a:xfrm>
            <a:off x="1146657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380" name="Connector 379"/>
          <p:cNvCxnSpPr/>
          <p:nvPr/>
        </p:nvCxnSpPr>
        <p:spPr>
          <a:xfrm>
            <a:off x="8558784"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8558784" y="4453127"/>
            <a:ext cx="3072383"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8558784" y="2739308"/>
            <a:ext cx="64008" cy="3510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8622792" y="3090350"/>
            <a:ext cx="64008" cy="3751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8686800" y="3465510"/>
            <a:ext cx="64008" cy="3498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8750808" y="3815366"/>
            <a:ext cx="64007" cy="17201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8814815" y="3987376"/>
            <a:ext cx="64009" cy="15555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8878824" y="4142926"/>
            <a:ext cx="64008" cy="7564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8942832" y="4218573"/>
            <a:ext cx="64008" cy="1703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9006840" y="4235603"/>
            <a:ext cx="64008" cy="367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9070848" y="4272340"/>
            <a:ext cx="64008" cy="511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flipV="1">
            <a:off x="9134856" y="4296853"/>
            <a:ext cx="64007" cy="266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a:off x="9198863" y="4296853"/>
            <a:ext cx="64009" cy="454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3" name="Connector 392"/>
          <p:cNvCxnSpPr/>
          <p:nvPr/>
        </p:nvCxnSpPr>
        <p:spPr>
          <a:xfrm>
            <a:off x="9262872" y="4301396"/>
            <a:ext cx="64008" cy="63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4" name="Connector 393"/>
          <p:cNvCxnSpPr/>
          <p:nvPr/>
        </p:nvCxnSpPr>
        <p:spPr>
          <a:xfrm>
            <a:off x="9326880" y="4365367"/>
            <a:ext cx="64008" cy="3241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9390888" y="4397781"/>
            <a:ext cx="64008" cy="1101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9454896" y="44087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flipV="1">
            <a:off x="9518904" y="4397737"/>
            <a:ext cx="64008" cy="110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flipV="1">
            <a:off x="9582912" y="4397715"/>
            <a:ext cx="64007"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9646919" y="4397715"/>
            <a:ext cx="64009" cy="110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0" name="Connector 399"/>
          <p:cNvCxnSpPr/>
          <p:nvPr/>
        </p:nvCxnSpPr>
        <p:spPr>
          <a:xfrm flipV="1">
            <a:off x="9710928" y="4408753"/>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1" name="Connector 400"/>
          <p:cNvCxnSpPr/>
          <p:nvPr/>
        </p:nvCxnSpPr>
        <p:spPr>
          <a:xfrm>
            <a:off x="9774936" y="4408753"/>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2" name="Connector 401"/>
          <p:cNvCxnSpPr/>
          <p:nvPr/>
        </p:nvCxnSpPr>
        <p:spPr>
          <a:xfrm>
            <a:off x="9838944" y="4408753"/>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a:off x="9902952" y="4408753"/>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9966959" y="4408732"/>
            <a:ext cx="64008" cy="2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a:off x="10030967" y="4408732"/>
            <a:ext cx="64009" cy="1108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a:off x="10094976"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a:off x="10158984"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a:off x="10222992"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a:off x="10287000" y="4419814"/>
            <a:ext cx="64008" cy="111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a:off x="1035100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10415016"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10479024"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a:off x="10543032"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10607040"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a:off x="1067104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a:off x="10735056" y="4430919"/>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a:off x="10799063" y="4430919"/>
            <a:ext cx="64009"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a:off x="10863072"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a:off x="10927080"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1099108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a:off x="11055096"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a:off x="11119104"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11183112" y="4430897"/>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a:off x="11247120"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a:off x="11311128"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11375136"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11439144"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a:off x="11503152" y="4430897"/>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11567159"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8558784" y="2737289"/>
            <a:ext cx="64008" cy="3434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8622792" y="3080781"/>
            <a:ext cx="64008" cy="3756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8686800" y="3456402"/>
            <a:ext cx="64008" cy="34862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8750808" y="3805030"/>
            <a:ext cx="64007" cy="2339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8814815" y="4038970"/>
            <a:ext cx="64009" cy="11589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a:off x="8878824" y="4154865"/>
            <a:ext cx="64008" cy="4771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8942832" y="4202575"/>
            <a:ext cx="64008" cy="2264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9006840" y="4225222"/>
            <a:ext cx="64008" cy="779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9070848" y="4303173"/>
            <a:ext cx="64008" cy="22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flipV="1">
            <a:off x="9134856" y="4269991"/>
            <a:ext cx="64007" cy="353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9198863" y="4269991"/>
            <a:ext cx="64009" cy="9083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a:off x="9262872" y="4360824"/>
            <a:ext cx="64008" cy="480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9326880" y="4365126"/>
            <a:ext cx="64008" cy="5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a:off x="9390888" y="4365126"/>
            <a:ext cx="64008" cy="328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V="1">
            <a:off x="9454896" y="4397847"/>
            <a:ext cx="64008" cy="13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V="1">
            <a:off x="9518904" y="4397803"/>
            <a:ext cx="64008" cy="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V="1">
            <a:off x="9582912" y="4397759"/>
            <a:ext cx="64007" cy="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V="1">
            <a:off x="9646919" y="4397737"/>
            <a:ext cx="64009"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V="1">
            <a:off x="9710928" y="4397715"/>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a:off x="9774936" y="439771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a:off x="9838944" y="439771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V="1">
            <a:off x="9902952" y="4397649"/>
            <a:ext cx="64007" cy="6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a:off x="9966959" y="4397649"/>
            <a:ext cx="64008" cy="110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a:off x="10030967" y="4408732"/>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a:off x="10094976" y="4408732"/>
            <a:ext cx="64008" cy="1106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a:off x="10158984" y="441979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a:off x="10222992" y="441979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a:off x="10287000" y="4419792"/>
            <a:ext cx="64008" cy="1110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a:off x="10351008" y="443089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10415016" y="4430875"/>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a:off x="10479024"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a:off x="10543032"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a:off x="10607040"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a:off x="10671048"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a:off x="10735056" y="4430875"/>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a:off x="10799063" y="4430875"/>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a:off x="10863072"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a:off x="10927080" y="4430875"/>
            <a:ext cx="64008" cy="111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a:off x="10991088"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11055096"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11119104"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11183112"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11247120"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a:off x="11311128"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a:off x="11375136"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a:off x="11439144"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a:off x="11503152" y="4442001"/>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a:off x="11567159"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a:off x="8558784" y="2731715"/>
            <a:ext cx="64008" cy="3364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a:off x="8622792" y="3068185"/>
            <a:ext cx="64008" cy="37821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8686800" y="3446395"/>
            <a:ext cx="64008" cy="34421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a:off x="8750808" y="3790612"/>
            <a:ext cx="64007" cy="2434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a:off x="8814815" y="4034098"/>
            <a:ext cx="64009" cy="1188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a:off x="8878824" y="4152956"/>
            <a:ext cx="64008" cy="144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a:off x="8942832" y="4167396"/>
            <a:ext cx="64008" cy="5613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9006840" y="4223533"/>
            <a:ext cx="64008" cy="799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V="1">
            <a:off x="9070848" y="4239750"/>
            <a:ext cx="64008" cy="6375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a:off x="9134856" y="4239750"/>
            <a:ext cx="64007" cy="353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a:off x="9198863" y="4275127"/>
            <a:ext cx="64009" cy="2119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a:off x="9262872" y="4296326"/>
            <a:ext cx="64008" cy="693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flipV="1">
            <a:off x="9326880" y="4365104"/>
            <a:ext cx="64008" cy="5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a:off x="9390888" y="4365104"/>
            <a:ext cx="64008" cy="3280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flipV="1">
            <a:off x="9454896" y="4397825"/>
            <a:ext cx="64008" cy="8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flipV="1">
            <a:off x="9518904" y="4397781"/>
            <a:ext cx="64008" cy="4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V="1">
            <a:off x="9582912" y="4397715"/>
            <a:ext cx="64007" cy="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9646919" y="4397715"/>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a:off x="9710928" y="4397715"/>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9774936" y="4397715"/>
            <a:ext cx="64008" cy="11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flipV="1">
            <a:off x="9838944" y="4408775"/>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9" name="Connector 498"/>
          <p:cNvCxnSpPr/>
          <p:nvPr/>
        </p:nvCxnSpPr>
        <p:spPr>
          <a:xfrm flipV="1">
            <a:off x="9902952" y="4408732"/>
            <a:ext cx="64007" cy="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0" name="Connector 499"/>
          <p:cNvCxnSpPr/>
          <p:nvPr/>
        </p:nvCxnSpPr>
        <p:spPr>
          <a:xfrm flipV="1">
            <a:off x="9966959" y="4408710"/>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1" name="Connector 500"/>
          <p:cNvCxnSpPr/>
          <p:nvPr/>
        </p:nvCxnSpPr>
        <p:spPr>
          <a:xfrm>
            <a:off x="10030967" y="4408710"/>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2" name="Connector 501"/>
          <p:cNvCxnSpPr/>
          <p:nvPr/>
        </p:nvCxnSpPr>
        <p:spPr>
          <a:xfrm>
            <a:off x="10094976" y="4408710"/>
            <a:ext cx="64008" cy="111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3" name="Connector 502"/>
          <p:cNvCxnSpPr/>
          <p:nvPr/>
        </p:nvCxnSpPr>
        <p:spPr>
          <a:xfrm>
            <a:off x="10158984" y="4419814"/>
            <a:ext cx="64008" cy="111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4" name="Connector 503"/>
          <p:cNvCxnSpPr/>
          <p:nvPr/>
        </p:nvCxnSpPr>
        <p:spPr>
          <a:xfrm>
            <a:off x="10222992" y="4430919"/>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5" name="Connector 504"/>
          <p:cNvCxnSpPr/>
          <p:nvPr/>
        </p:nvCxnSpPr>
        <p:spPr>
          <a:xfrm>
            <a:off x="10287000" y="4430919"/>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6" name="Connector 505"/>
          <p:cNvCxnSpPr/>
          <p:nvPr/>
        </p:nvCxnSpPr>
        <p:spPr>
          <a:xfrm flipV="1">
            <a:off x="10351008" y="4430897"/>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7" name="Connector 506"/>
          <p:cNvCxnSpPr/>
          <p:nvPr/>
        </p:nvCxnSpPr>
        <p:spPr>
          <a:xfrm>
            <a:off x="10415016"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8" name="Connector 507"/>
          <p:cNvCxnSpPr/>
          <p:nvPr/>
        </p:nvCxnSpPr>
        <p:spPr>
          <a:xfrm>
            <a:off x="10479024"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9" name="Connector 508"/>
          <p:cNvCxnSpPr/>
          <p:nvPr/>
        </p:nvCxnSpPr>
        <p:spPr>
          <a:xfrm>
            <a:off x="10543032"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0" name="Connector 509"/>
          <p:cNvCxnSpPr/>
          <p:nvPr/>
        </p:nvCxnSpPr>
        <p:spPr>
          <a:xfrm flipV="1">
            <a:off x="10607040" y="4430875"/>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1" name="Connector 510"/>
          <p:cNvCxnSpPr/>
          <p:nvPr/>
        </p:nvCxnSpPr>
        <p:spPr>
          <a:xfrm>
            <a:off x="10671048" y="4430875"/>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2" name="Connector 511"/>
          <p:cNvCxnSpPr/>
          <p:nvPr/>
        </p:nvCxnSpPr>
        <p:spPr>
          <a:xfrm>
            <a:off x="10735056" y="4430875"/>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3" name="Connector 512"/>
          <p:cNvCxnSpPr/>
          <p:nvPr/>
        </p:nvCxnSpPr>
        <p:spPr>
          <a:xfrm>
            <a:off x="10799063" y="4430875"/>
            <a:ext cx="64009" cy="111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4" name="Connector 513"/>
          <p:cNvCxnSpPr/>
          <p:nvPr/>
        </p:nvCxnSpPr>
        <p:spPr>
          <a:xfrm>
            <a:off x="10863072"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5" name="Connector 514"/>
          <p:cNvCxnSpPr/>
          <p:nvPr/>
        </p:nvCxnSpPr>
        <p:spPr>
          <a:xfrm>
            <a:off x="10927080"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6" name="Connector 515"/>
          <p:cNvCxnSpPr/>
          <p:nvPr/>
        </p:nvCxnSpPr>
        <p:spPr>
          <a:xfrm>
            <a:off x="10991088"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a:off x="11055096"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a:off x="11119104"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a:off x="11183112"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a:off x="11247120"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a:off x="11311128"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a:off x="11375136"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a:off x="11439144"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11503152" y="4442001"/>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a:off x="11567159"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526" name="Rectangle 525"/>
          <p:cNvSpPr/>
          <p:nvPr/>
        </p:nvSpPr>
        <p:spPr>
          <a:xfrm>
            <a:off x="914400" y="5093208"/>
            <a:ext cx="10360152" cy="4663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1133856" y="5193792"/>
            <a:ext cx="9921240" cy="246888"/>
          </a:xfrm>
          <a:prstGeom prst="rect">
            <a:avLst/>
          </a:prstGeom>
          <a:noFill/>
        </p:spPr>
        <p:txBody>
          <a:bodyPr wrap="square" lIns="18288" rIns="18288" tIns="18288" bIns="18288" anchor="ctr">
            <a:spAutoFit/>
          </a:bodyPr>
          <a:lstStyle/>
          <a:p>
            <a:pPr algn="ctr"/>
            <a:r>
              <a:rPr sz="1220" b="1" lang="en-US">
                <a:solidFill>
                  <a:srgbClr val="FFFFFF"/>
                </a:solidFill>
                <a:latin typeface="Arial"/>
              </a:rPr>
              <a:t>The model converges toward majority-negative predictions: protocol execution succeeds, diagnostic learning quality does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9" name="TextBox 8"/>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0" name="TextBox 9"/>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1" name="TextBox 10"/>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2" name="TextBox 11"/>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3" name="Connector 12"/>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17" name="TextBox 16"/>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18" name="TextBox 17"/>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19" name="Oval 18"/>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1" name="TextBox 20"/>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2" name="TextBox 21"/>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selection + atomic handoff</a:t>
            </a:r>
          </a:p>
        </p:txBody>
      </p:sp>
      <p:sp>
        <p:nvSpPr>
          <p:cNvPr id="23" name="Oval 22"/>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5" name="TextBox 24"/>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26" name="TextBox 25"/>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27" name="Oval 26"/>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29" name="TextBox 28"/>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0" name="Oval 29"/>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2" name="TextBox 31"/>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3" name="TextBox 32"/>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4" name="Oval 33"/>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6" name="TextBox 35"/>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37" name="TextBox 36"/>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38" name="Oval 37"/>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0" name="TextBox 39"/>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1" name="TextBox 40"/>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2" name="TextBox 41"/>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3" name="Rectangle 42"/>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One worker image—two authorized measured roles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PER-WORKER RTMR3 REPLAY AND SEPARATE POLICY AUTHORIZATION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3081528" y="1307592"/>
            <a:ext cx="6035040"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19272" y="1499616"/>
            <a:ext cx="5559552" cy="228600"/>
          </a:xfrm>
          <a:prstGeom prst="rect">
            <a:avLst/>
          </a:prstGeom>
          <a:noFill/>
        </p:spPr>
        <p:txBody>
          <a:bodyPr wrap="square" lIns="18288" rIns="18288" tIns="18288" bIns="18288" anchor="t">
            <a:spAutoFit/>
          </a:bodyPr>
          <a:lstStyle/>
          <a:p>
            <a:pPr algn="ctr"/>
            <a:r>
              <a:rPr sz="1420" b="1" lang="en-US">
                <a:solidFill>
                  <a:srgbClr val="C40D1E"/>
                </a:solidFill>
                <a:latin typeface="Arial"/>
              </a:rPr>
              <a:t>ONE DIGEST-PINNED dfl-worker IMAGE</a:t>
            </a:r>
          </a:p>
        </p:txBody>
      </p:sp>
      <p:sp>
        <p:nvSpPr>
          <p:cNvPr id="10" name="TextBox 9"/>
          <p:cNvSpPr txBox="1"/>
          <p:nvPr/>
        </p:nvSpPr>
        <p:spPr>
          <a:xfrm>
            <a:off x="3410712" y="1746504"/>
            <a:ext cx="5376672"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The packaged image contains both training and native inference code.</a:t>
            </a:r>
          </a:p>
        </p:txBody>
      </p:sp>
      <p:cxnSp>
        <p:nvCxnSpPr>
          <p:cNvPr id="11" name="Connector 10"/>
          <p:cNvCxnSpPr/>
          <p:nvPr/>
        </p:nvCxnSpPr>
        <p:spPr>
          <a:xfrm>
            <a:off x="6099048" y="2002536"/>
            <a:ext cx="0" cy="219456"/>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36392" y="2221992"/>
            <a:ext cx="5925312" cy="0"/>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6392" y="2221992"/>
            <a:ext cx="0" cy="210312"/>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61704" y="2221992"/>
            <a:ext cx="0" cy="210312"/>
          </a:xfrm>
          <a:prstGeom prst="line">
            <a:avLst/>
          </a:prstGeom>
          <a:ln w="2032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03504" y="2487168"/>
            <a:ext cx="5193792" cy="197510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2706624"/>
            <a:ext cx="4791456" cy="256032"/>
          </a:xfrm>
          <a:prstGeom prst="rect">
            <a:avLst/>
          </a:prstGeom>
          <a:noFill/>
        </p:spPr>
        <p:txBody>
          <a:bodyPr wrap="square" lIns="18288" rIns="18288" tIns="18288" bIns="18288" anchor="t">
            <a:spAutoFit/>
          </a:bodyPr>
          <a:lstStyle/>
          <a:p>
            <a:pPr algn="ctr"/>
            <a:r>
              <a:rPr sz="1500" b="1" lang="en-US">
                <a:solidFill>
                  <a:srgbClr val="1F90CC"/>
                </a:solidFill>
                <a:latin typeface="Arial"/>
              </a:rPr>
              <a:t>WORKERS 1 AND 2</a:t>
            </a:r>
          </a:p>
        </p:txBody>
      </p:sp>
      <p:sp>
        <p:nvSpPr>
          <p:cNvPr id="17" name="TextBox 16"/>
          <p:cNvSpPr txBox="1"/>
          <p:nvPr/>
        </p:nvSpPr>
        <p:spPr>
          <a:xfrm>
            <a:off x="804672"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TRAINING-ONLY PROFILE</a:t>
            </a:r>
          </a:p>
        </p:txBody>
      </p:sp>
      <p:sp>
        <p:nvSpPr>
          <p:cNvPr id="18" name="TextBox 17"/>
          <p:cNvSpPr txBox="1"/>
          <p:nvPr/>
        </p:nvSpPr>
        <p:spPr>
          <a:xfrm>
            <a:off x="905256"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00" lang="en-US">
                <a:solidFill>
                  <a:srgbClr val="434343"/>
                </a:solidFill>
                <a:latin typeface="Arial"/>
              </a:rPr>
              <a:t>TEE_INFERENCE_ENABLED = 0</a:t>
            </a:r>
          </a:p>
          <a:p>
            <a:pPr>
              <a:lnSpc>
                <a:spcPct val="100000"/>
              </a:lnSpc>
              <a:spcAft>
                <a:spcPts val="300"/>
              </a:spcAft>
            </a:pPr>
            <a:r>
              <a:rPr sz="1000" lang="en-US">
                <a:solidFill>
                  <a:srgbClr val="1F90CC"/>
                </a:solidFill>
                <a:latin typeface="Arial"/>
              </a:rPr>
              <a:t>●  </a:t>
            </a:r>
            <a:r>
              <a:rPr sz="900" lang="en-US">
                <a:solidFill>
                  <a:srgbClr val="434343"/>
                </a:solidFill>
                <a:latin typeface="Arial"/>
              </a:rPr>
              <a:t>Inference process and endpoint are not started</a:t>
            </a:r>
          </a:p>
          <a:p>
            <a:pPr>
              <a:lnSpc>
                <a:spcPct val="100000"/>
              </a:lnSpc>
              <a:spcAft>
                <a:spcPts val="300"/>
              </a:spcAft>
            </a:pPr>
            <a:r>
              <a:rPr sz="1000" lang="en-US">
                <a:solidFill>
                  <a:srgbClr val="1F90CC"/>
                </a:solidFill>
                <a:latin typeface="Arial"/>
              </a:rPr>
              <a:t>●  </a:t>
            </a:r>
            <a:r>
              <a:rPr sz="900" lang="en-US">
                <a:solidFill>
                  <a:srgbClr val="434343"/>
                </a:solidFill>
                <a:latin typeface="Arial"/>
              </a:rPr>
              <a:t>Training-only policy-v2 identity</a:t>
            </a:r>
          </a:p>
          <a:p>
            <a:pPr>
              <a:lnSpc>
                <a:spcPct val="100000"/>
              </a:lnSpc>
              <a:spcAft>
                <a:spcPts val="300"/>
              </a:spcAft>
            </a:pPr>
            <a:r>
              <a:rPr sz="1000" lang="en-US">
                <a:solidFill>
                  <a:srgbClr val="1F90CC"/>
                </a:solidFill>
                <a:latin typeface="Arial"/>
              </a:rPr>
              <a:t>●  </a:t>
            </a:r>
            <a:r>
              <a:rPr sz="900" lang="en-US">
                <a:solidFill>
                  <a:srgbClr val="434343"/>
                </a:solidFill>
                <a:latin typeface="Arial"/>
              </a:rPr>
              <a:t>Worker-specific Compose, event log, Quote V4, and RTMR3</a:t>
            </a:r>
          </a:p>
        </p:txBody>
      </p:sp>
      <p:sp>
        <p:nvSpPr>
          <p:cNvPr id="19" name="Rounded Rectangle 18"/>
          <p:cNvSpPr/>
          <p:nvPr/>
        </p:nvSpPr>
        <p:spPr>
          <a:xfrm>
            <a:off x="6391656" y="2487168"/>
            <a:ext cx="5193792" cy="197510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2824" y="2706624"/>
            <a:ext cx="4791456" cy="256032"/>
          </a:xfrm>
          <a:prstGeom prst="rect">
            <a:avLst/>
          </a:prstGeom>
          <a:noFill/>
        </p:spPr>
        <p:txBody>
          <a:bodyPr wrap="square" lIns="18288" rIns="18288" tIns="18288" bIns="18288" anchor="t">
            <a:spAutoFit/>
          </a:bodyPr>
          <a:lstStyle/>
          <a:p>
            <a:pPr algn="ctr"/>
            <a:r>
              <a:rPr sz="1500" b="1" lang="en-US">
                <a:solidFill>
                  <a:srgbClr val="2F8F46"/>
                </a:solidFill>
                <a:latin typeface="Arial"/>
              </a:rPr>
              <a:t>WORKER 0</a:t>
            </a:r>
          </a:p>
        </p:txBody>
      </p:sp>
      <p:sp>
        <p:nvSpPr>
          <p:cNvPr id="21" name="TextBox 20"/>
          <p:cNvSpPr txBox="1"/>
          <p:nvPr/>
        </p:nvSpPr>
        <p:spPr>
          <a:xfrm>
            <a:off x="6592824"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COMBINED PROFILE</a:t>
            </a:r>
          </a:p>
        </p:txBody>
      </p:sp>
      <p:sp>
        <p:nvSpPr>
          <p:cNvPr id="22" name="TextBox 21"/>
          <p:cNvSpPr txBox="1"/>
          <p:nvPr/>
        </p:nvSpPr>
        <p:spPr>
          <a:xfrm>
            <a:off x="6693408"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2F8F46"/>
                </a:solidFill>
                <a:latin typeface="Arial"/>
              </a:rPr>
              <a:t>●  </a:t>
            </a:r>
            <a:r>
              <a:rPr sz="900" lang="en-US">
                <a:solidFill>
                  <a:srgbClr val="434343"/>
                </a:solidFill>
                <a:latin typeface="Arial"/>
              </a:rPr>
              <a:t>TEE_INFERENCE_ENABLED = 1</a:t>
            </a:r>
          </a:p>
          <a:p>
            <a:pPr>
              <a:lnSpc>
                <a:spcPct val="100000"/>
              </a:lnSpc>
              <a:spcAft>
                <a:spcPts val="300"/>
              </a:spcAft>
            </a:pPr>
            <a:r>
              <a:rPr sz="1000" lang="en-US">
                <a:solidFill>
                  <a:srgbClr val="2F8F46"/>
                </a:solidFill>
                <a:latin typeface="Arial"/>
              </a:rPr>
              <a:t>●  </a:t>
            </a:r>
            <a:r>
              <a:rPr sz="900" lang="en-US">
                <a:solidFill>
                  <a:srgbClr val="434343"/>
                </a:solidFill>
                <a:latin typeface="Arial"/>
              </a:rPr>
              <a:t>Receiver starts beside the DFL services in the same CVM</a:t>
            </a:r>
          </a:p>
          <a:p>
            <a:pPr>
              <a:lnSpc>
                <a:spcPct val="100000"/>
              </a:lnSpc>
              <a:spcAft>
                <a:spcPts val="300"/>
              </a:spcAft>
            </a:pPr>
            <a:r>
              <a:rPr sz="1000" lang="en-US">
                <a:solidFill>
                  <a:srgbClr val="2F8F46"/>
                </a:solidFill>
                <a:latin typeface="Arial"/>
              </a:rPr>
              <a:t>●  </a:t>
            </a:r>
            <a:r>
              <a:rPr sz="900" lang="en-US">
                <a:solidFill>
                  <a:srgbClr val="434343"/>
                </a:solidFill>
                <a:latin typeface="Arial"/>
              </a:rPr>
              <a:t>Combined training-and-inference policy-v2 identity</a:t>
            </a:r>
          </a:p>
          <a:p>
            <a:pPr>
              <a:lnSpc>
                <a:spcPct val="100000"/>
              </a:lnSpc>
              <a:spcAft>
                <a:spcPts val="300"/>
              </a:spcAft>
            </a:pPr>
            <a:r>
              <a:rPr sz="1000" lang="en-US">
                <a:solidFill>
                  <a:srgbClr val="2F8F46"/>
                </a:solidFill>
                <a:latin typeface="Arial"/>
              </a:rPr>
              <a:t>●  </a:t>
            </a:r>
            <a:r>
              <a:rPr sz="900" lang="en-US">
                <a:solidFill>
                  <a:srgbClr val="434343"/>
                </a:solidFill>
                <a:latin typeface="Arial"/>
              </a:rPr>
              <a:t>Its own Compose, event log, Quote V4, and RTMR3</a:t>
            </a:r>
          </a:p>
        </p:txBody>
      </p:sp>
      <p:sp>
        <p:nvSpPr>
          <p:cNvPr id="23" name="Rectangle 22"/>
          <p:cNvSpPr/>
          <p:nvPr/>
        </p:nvSpPr>
        <p:spPr>
          <a:xfrm>
            <a:off x="676656" y="4645152"/>
            <a:ext cx="6912864"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754880"/>
            <a:ext cx="1609344" cy="182880"/>
          </a:xfrm>
          <a:prstGeom prst="rect">
            <a:avLst/>
          </a:prstGeom>
          <a:noFill/>
        </p:spPr>
        <p:txBody>
          <a:bodyPr wrap="square" lIns="18288" rIns="18288" tIns="18288" bIns="18288" anchor="t">
            <a:spAutoFit/>
          </a:bodyPr>
          <a:lstStyle/>
          <a:p>
            <a:pPr algn="l"/>
            <a:r>
              <a:rPr sz="880" b="1" lang="en-US">
                <a:solidFill>
                  <a:srgbClr val="7A35B5"/>
                </a:solidFill>
                <a:latin typeface="Arial"/>
              </a:rPr>
              <a:t>PER-WORKER REPLAY</a:t>
            </a:r>
          </a:p>
        </p:txBody>
      </p:sp>
      <p:sp>
        <p:nvSpPr>
          <p:cNvPr id="25" name="TextBox 24"/>
          <p:cNvSpPr txBox="1"/>
          <p:nvPr/>
        </p:nvSpPr>
        <p:spPr>
          <a:xfrm>
            <a:off x="2423160" y="4727448"/>
            <a:ext cx="4956048" cy="237744"/>
          </a:xfrm>
          <a:prstGeom prst="rect">
            <a:avLst/>
          </a:prstGeom>
          <a:noFill/>
        </p:spPr>
        <p:txBody>
          <a:bodyPr wrap="square" lIns="18288" rIns="18288" tIns="18288" bIns="18288" anchor="ctr">
            <a:spAutoFit/>
          </a:bodyPr>
          <a:lstStyle/>
          <a:p>
            <a:pPr algn="ctr"/>
            <a:r>
              <a:rPr sz="869" b="1" lang="en-US">
                <a:solidFill>
                  <a:srgbClr val="434343"/>
                </a:solidFill>
                <a:latin typeface="Arial"/>
              </a:rPr>
              <a:t>Compose preimage → ordered events → reconstructed RTMR3 = quoted RTMR3</a:t>
            </a:r>
          </a:p>
        </p:txBody>
      </p:sp>
      <p:sp>
        <p:nvSpPr>
          <p:cNvPr id="26" name="Rectangle 25"/>
          <p:cNvSpPr/>
          <p:nvPr/>
        </p:nvSpPr>
        <p:spPr>
          <a:xfrm>
            <a:off x="7754112" y="4645152"/>
            <a:ext cx="3776472"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18704" y="4754880"/>
            <a:ext cx="1225296" cy="182880"/>
          </a:xfrm>
          <a:prstGeom prst="rect">
            <a:avLst/>
          </a:prstGeom>
          <a:noFill/>
        </p:spPr>
        <p:txBody>
          <a:bodyPr wrap="square" lIns="18288" rIns="18288" tIns="18288" bIns="18288" anchor="t">
            <a:spAutoFit/>
          </a:bodyPr>
          <a:lstStyle/>
          <a:p>
            <a:pPr algn="l"/>
            <a:r>
              <a:rPr sz="880" b="1" lang="en-US">
                <a:solidFill>
                  <a:srgbClr val="FF6C00"/>
                </a:solidFill>
                <a:latin typeface="Arial"/>
              </a:rPr>
              <a:t>AUTHORIZATION</a:t>
            </a:r>
          </a:p>
        </p:txBody>
      </p:sp>
      <p:sp>
        <p:nvSpPr>
          <p:cNvPr id="28" name="TextBox 27"/>
          <p:cNvSpPr txBox="1"/>
          <p:nvPr/>
        </p:nvSpPr>
        <p:spPr>
          <a:xfrm>
            <a:off x="9125712" y="4718304"/>
            <a:ext cx="2194560" cy="265176"/>
          </a:xfrm>
          <a:prstGeom prst="rect">
            <a:avLst/>
          </a:prstGeom>
          <a:noFill/>
        </p:spPr>
        <p:txBody>
          <a:bodyPr wrap="square" lIns="18288" rIns="18288" tIns="18288" bIns="18288" anchor="ctr">
            <a:spAutoFit/>
          </a:bodyPr>
          <a:lstStyle/>
          <a:p>
            <a:pPr algn="ctr"/>
            <a:r>
              <a:rPr sz="830" b="1" lang="en-US">
                <a:solidFill>
                  <a:srgbClr val="434343"/>
                </a:solidFill>
                <a:latin typeface="Arial"/>
              </a:rPr>
              <a:t>expected image digest + allowed role-policy hash</a:t>
            </a:r>
          </a:p>
        </p:txBody>
      </p:sp>
      <p:sp>
        <p:nvSpPr>
          <p:cNvPr id="29" name="Rectangle 28"/>
          <p:cNvSpPr/>
          <p:nvPr/>
        </p:nvSpPr>
        <p:spPr>
          <a:xfrm>
            <a:off x="932688" y="5340096"/>
            <a:ext cx="10341864" cy="384048"/>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431536"/>
            <a:ext cx="9976104" cy="201168"/>
          </a:xfrm>
          <a:prstGeom prst="rect">
            <a:avLst/>
          </a:prstGeom>
          <a:noFill/>
        </p:spPr>
        <p:txBody>
          <a:bodyPr wrap="square" lIns="18288" rIns="18288" tIns="18288" bIns="18288" anchor="ctr">
            <a:spAutoFit/>
          </a:bodyPr>
          <a:lstStyle/>
          <a:p>
            <a:pPr algn="ctr"/>
            <a:r>
              <a:rPr sz="1019" b="1" lang="en-US">
                <a:solidFill>
                  <a:srgbClr val="FFFFFF"/>
                </a:solidFill>
                <a:latin typeface="Arial"/>
              </a:rPr>
              <a:t>Different Compose and RTMR3 values may pass; an injected image or unapproved role misses the admitted policy.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0" name="Picture 9" descr="T1.png"/>
          <p:cNvPicPr>
            <a:picLocks noChangeAspect="1"/>
          </p:cNvPicPr>
          <p:nvPr/>
        </p:nvPicPr>
        <p:blipFill>
          <a:blip r:embed="rId2"/>
          <a:stretch>
            <a:fillRect/>
          </a:stretch>
        </p:blipFill>
        <p:spPr>
          <a:xfrm>
            <a:off x="886149" y="1719072"/>
            <a:ext cx="2013316"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3" name="Picture 12" descr="T2.png"/>
          <p:cNvPicPr>
            <a:picLocks noChangeAspect="1"/>
          </p:cNvPicPr>
          <p:nvPr/>
        </p:nvPicPr>
        <p:blipFill>
          <a:blip r:embed="rId3"/>
          <a:stretch>
            <a:fillRect/>
          </a:stretch>
        </p:blipFill>
        <p:spPr>
          <a:xfrm>
            <a:off x="3699734" y="1719072"/>
            <a:ext cx="1982274"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16" name="Picture 15" descr="T3.png"/>
          <p:cNvPicPr>
            <a:picLocks noChangeAspect="1"/>
          </p:cNvPicPr>
          <p:nvPr/>
        </p:nvPicPr>
        <p:blipFill>
          <a:blip r:embed="rId4"/>
          <a:stretch>
            <a:fillRect/>
          </a:stretch>
        </p:blipFill>
        <p:spPr>
          <a:xfrm>
            <a:off x="6272784" y="1784476"/>
            <a:ext cx="2432304" cy="122250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19" name="Picture 18" descr="T4.png"/>
          <p:cNvPicPr>
            <a:picLocks noChangeAspect="1"/>
          </p:cNvPicPr>
          <p:nvPr/>
        </p:nvPicPr>
        <p:blipFill>
          <a:blip r:embed="rId5"/>
          <a:stretch>
            <a:fillRect/>
          </a:stretch>
        </p:blipFill>
        <p:spPr>
          <a:xfrm>
            <a:off x="9254209" y="1719072"/>
            <a:ext cx="2065581"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2" name="Picture 21" descr="T5.png"/>
          <p:cNvPicPr>
            <a:picLocks noChangeAspect="1"/>
          </p:cNvPicPr>
          <p:nvPr/>
        </p:nvPicPr>
        <p:blipFill>
          <a:blip r:embed="rId6"/>
          <a:stretch>
            <a:fillRect/>
          </a:stretch>
        </p:blipFill>
        <p:spPr>
          <a:xfrm>
            <a:off x="2296062" y="3749040"/>
            <a:ext cx="1991555"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25" name="Picture 24" descr="T6.png"/>
          <p:cNvPicPr>
            <a:picLocks noChangeAspect="1"/>
          </p:cNvPicPr>
          <p:nvPr/>
        </p:nvPicPr>
        <p:blipFill>
          <a:blip r:embed="rId7"/>
          <a:stretch>
            <a:fillRect/>
          </a:stretch>
        </p:blipFill>
        <p:spPr>
          <a:xfrm>
            <a:off x="5106477" y="3749040"/>
            <a:ext cx="1966852"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28" name="Picture 27"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0" name="Picture 9" descr="T8.png"/>
          <p:cNvPicPr>
            <a:picLocks noChangeAspect="1"/>
          </p:cNvPicPr>
          <p:nvPr/>
        </p:nvPicPr>
        <p:blipFill>
          <a:blip r:embed="rId2"/>
          <a:stretch>
            <a:fillRect/>
          </a:stretch>
        </p:blipFill>
        <p:spPr>
          <a:xfrm>
            <a:off x="991281" y="1719072"/>
            <a:ext cx="1803053"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3" name="Picture 12" descr="T9.png"/>
          <p:cNvPicPr>
            <a:picLocks noChangeAspect="1"/>
          </p:cNvPicPr>
          <p:nvPr/>
        </p:nvPicPr>
        <p:blipFill>
          <a:blip r:embed="rId3"/>
          <a:stretch>
            <a:fillRect/>
          </a:stretch>
        </p:blipFill>
        <p:spPr>
          <a:xfrm>
            <a:off x="3765541" y="1719072"/>
            <a:ext cx="1850660"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16" name="Picture 15" descr="T10.png"/>
          <p:cNvPicPr>
            <a:picLocks noChangeAspect="1"/>
          </p:cNvPicPr>
          <p:nvPr/>
        </p:nvPicPr>
        <p:blipFill>
          <a:blip r:embed="rId4"/>
          <a:stretch>
            <a:fillRect/>
          </a:stretch>
        </p:blipFill>
        <p:spPr>
          <a:xfrm>
            <a:off x="6512818" y="1719072"/>
            <a:ext cx="1952235" cy="135331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19" name="Picture 18" descr="T11.png"/>
          <p:cNvPicPr>
            <a:picLocks noChangeAspect="1"/>
          </p:cNvPicPr>
          <p:nvPr/>
        </p:nvPicPr>
        <p:blipFill>
          <a:blip r:embed="rId5"/>
          <a:stretch>
            <a:fillRect/>
          </a:stretch>
        </p:blipFill>
        <p:spPr>
          <a:xfrm>
            <a:off x="9087332" y="1719072"/>
            <a:ext cx="2399335"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2" name="Picture 21" descr="T12.png"/>
          <p:cNvPicPr>
            <a:picLocks noChangeAspect="1"/>
          </p:cNvPicPr>
          <p:nvPr/>
        </p:nvPicPr>
        <p:blipFill>
          <a:blip r:embed="rId6"/>
          <a:stretch>
            <a:fillRect/>
          </a:stretch>
        </p:blipFill>
        <p:spPr>
          <a:xfrm>
            <a:off x="2151924" y="3749040"/>
            <a:ext cx="2279830"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25" name="Picture 24" descr="T13.png"/>
          <p:cNvPicPr>
            <a:picLocks noChangeAspect="1"/>
          </p:cNvPicPr>
          <p:nvPr/>
        </p:nvPicPr>
        <p:blipFill>
          <a:blip r:embed="rId7"/>
          <a:stretch>
            <a:fillRect/>
          </a:stretch>
        </p:blipFill>
        <p:spPr>
          <a:xfrm>
            <a:off x="4937474" y="3749040"/>
            <a:ext cx="2304859"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28" name="Picture 27"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