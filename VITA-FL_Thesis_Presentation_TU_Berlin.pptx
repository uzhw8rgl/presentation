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The central question is not only whether a prediction appears plausible. It is whether a user can inspect which model, which input, and which measured workload actually produced that result—and whether the supporting evidence was retained independently of the conversational claim.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Prior work typically treats decentralized model production, agent orchestration, and verifiable inference as separate concerns. The gap lies in composing these mechanisms into one deployment-oriented path. The thesis therefore asks how a DFL model can remain attributable from production to inference, how integrity and selected availability properties can be strengthened during training, and how a concrete inference can be bound to measured execution and transparent tool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publication, the system checks several distinct claims. Attestation determines whether an admitted participant runs the expected workload. Independent source signatures authenticate the image and its annotation. The ledger fixes the round context, aggregator, accepted inputs, and policy. Finally, deterministic candidate selection can retain the parent model when validation loss degrades beyond the configured threshold. This narrows specific attack paths, but it is not a proof of general Byzantine-robust learning.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first clarification is that both alternatives execute off chain. The design question is which evidence accompanies that execution. A zero-knowledge proof can establish strong computational correctness for exactly the relation encoded by a circuit and may keep witness values private. It does not by itself identify the native software stack, prove training history, or establish operational key custody. The experimental ZK branch required circuit setup, proof keys, witness generation, proving, and verification. VITA-FL instead needs a stateful workflow with native training and inference, ledger and IPFS interaction, protected model recovery, and application-bound keys. Intel TDX isolation and DCAP evidence, appraised against explicit policy, address that operational-provenance claim directly while retaining Intel, Phala/dstack, policy, and key custody as trust anchors. The choice therefore does not reject ZK: it reserves ZK for narrow encoded-computation claims where the additional translation and proving cost is justified. References: IETF RFC 9334; Intel TDX/DCAP documentation; Chen et al., ZKML, EuroSys 2024, https://doi.org/10.1145/3627703.3650088; and https://docs.ezkl.xyz/getting-started/.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Aggregator selection is weighted by recorded participation. Every currently authorized participant receives a base weight of one, so a newcomer remains selectable. Accepted worker updates and completed aggregations increase the corresponding score, while defined failures can subtract one. The contract maps a hash-derived value into cumulative weight intervals. This is auditable weighted pseudo-randomness; the block-derived entropy is not an unbiased VRF and the score represents participation history rather than model quality.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model handoff connects decentralized production to inference. Large artifacts remain outside the ledger, but the ledger authoritatively identifies the current publication and its references. Encryption protects model confidentiality, the publisher signature authenticates its origin, and content identifiers bind the retrieved objects. The measured receiver resolves and verifies this state itself. As a result, the agent cannot substitute an arbitrary local path or silently select a stale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protocol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adopts a Sello-inspired profile and additionally fails closed unless the receiver publishes its receipt before returning a successful tool result.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evaluation distinguishes live integration, participant-scale experiments, and automated negative tests. The Phala run exercised the connected services, training, all three MCP operations, and attested inference. Separate experiments completed 50-round runs with 10, 50, and 100 participants. Negative tests checked whether manipulated, stale, or context-mismatched objects fail closed. The later adaptive aggregation extension has component and binding tests, but no dedicated live adversarial-robustness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three completed ChestMNIST runs each expose forty-nine learned global models from rounds two through fifty; round one is the bootstrap state. Loss falls from approximately 0.62 to 0.188 and exact match rises to approximately fifty-three percent. The trajectories for ten, fifty, and one hundred participants almost overlap. This is an observed single run per scale, so it validates repeatable protocol execution but is not statistical evidence of scale invariance.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optimization curves must not be read as clinical success. At round fifty, macro AUROC is approximately 0.504, 0.507, and 0.508 for ten, fifty, and one hundred participants. Micro F1 falls to about 0.0001 and macro F1 to about 0.0005 to 0.001. Loss reduction and rising exact match are therefore explained by majority-negative behavior under severe class imbalance. These runs validate protocol execution and participant scaling, not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complete inference path produced three receiver-signed tool receipts and one complete evidence-bundle record. The provenance evaluation accepted all 78,468 prepared training samples and rejected targeted changes to pixels, labels, and signer policy. All participant-scale experiments reached round 50. However, macro AUROC remained close to 0.50 and the F1 scores approached zero. These results demonstrate protocol execution and evidence binding, not useful diagnostic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At prototype level, the research questions can be answered positively: a DFL model can be integrated into an agent system without making the conversational model a root of trust, provided that model selection, verification, inference, and receipt validation remain deterministic. VITA-FL is deliberately trust-minimized rather than trustless. Its main contribution is the composition of narrowly scoped evidence across system boundaries while keeping the remaining hardware, policy, key-management, ledger, storage, and log assumptions explicit.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72" y="548640"/>
            <a:ext cx="5303520" cy="256032"/>
          </a:xfrm>
          <a:prstGeom prst="rect">
            <a:avLst/>
          </a:prstGeom>
          <a:noFill/>
        </p:spPr>
        <p:txBody>
          <a:bodyPr wrap="square" lIns="18288" rIns="18288" tIns="18288" bIns="18288" anchor="t">
            <a:spAutoFit/>
          </a:bodyPr>
          <a:lstStyle/>
          <a:p>
            <a:pPr algn="l"/>
            <a:r>
              <a:rPr sz="1200" b="1" lang="en-US">
                <a:solidFill>
                  <a:srgbClr val="C40D1E"/>
                </a:solidFill>
                <a:latin typeface="Arial"/>
              </a:rPr>
              <a:t>MASTER'S THESIS · SHORT PRESENTATION</a:t>
            </a:r>
          </a:p>
        </p:txBody>
      </p:sp>
      <p:sp>
        <p:nvSpPr>
          <p:cNvPr id="3" name="TextBox 2"/>
          <p:cNvSpPr txBox="1"/>
          <p:nvPr/>
        </p:nvSpPr>
        <p:spPr>
          <a:xfrm>
            <a:off x="612648" y="2011680"/>
            <a:ext cx="6355080" cy="1325880"/>
          </a:xfrm>
          <a:prstGeom prst="rect">
            <a:avLst/>
          </a:prstGeom>
          <a:noFill/>
        </p:spPr>
        <p:txBody>
          <a:bodyPr wrap="square" lIns="18288" rIns="18288" tIns="18288" bIns="18288" anchor="t">
            <a:spAutoFit/>
          </a:bodyPr>
          <a:lstStyle/>
          <a:p>
            <a:pPr algn="l"/>
            <a:r>
              <a:rPr sz="2400" b="0" lang="en-US">
                <a:solidFill>
                  <a:srgbClr val="FFFFFF"/>
                </a:solidFill>
                <a:latin typeface="Arial"/>
              </a:rPr>
              <a:t>Verifiable Decentralized Federated
Machine Learning and Inference
for AI Agent Systems</a:t>
            </a:r>
          </a:p>
        </p:txBody>
      </p:sp>
      <p:sp>
        <p:nvSpPr>
          <p:cNvPr id="4" name="TextBox 3"/>
          <p:cNvSpPr txBox="1"/>
          <p:nvPr/>
        </p:nvSpPr>
        <p:spPr>
          <a:xfrm>
            <a:off x="7050024" y="2176272"/>
            <a:ext cx="4443984" cy="219456"/>
          </a:xfrm>
          <a:prstGeom prst="rect">
            <a:avLst/>
          </a:prstGeom>
          <a:noFill/>
        </p:spPr>
        <p:txBody>
          <a:bodyPr wrap="square" lIns="18288" rIns="18288" tIns="18288" bIns="18288" anchor="t">
            <a:spAutoFit/>
          </a:bodyPr>
          <a:lstStyle/>
          <a:p>
            <a:pPr algn="l"/>
            <a:r>
              <a:rPr sz="940" b="1" lang="en-US">
                <a:solidFill>
                  <a:srgbClr val="F7BBC1"/>
                </a:solidFill>
                <a:latin typeface="Arial"/>
              </a:rPr>
              <a:t>ARCHITECTURE DESIGN FOR VERIFIABLE AI WORKFLOWS</a:t>
            </a:r>
          </a:p>
        </p:txBody>
      </p:sp>
      <p:sp>
        <p:nvSpPr>
          <p:cNvPr id="5" name="TextBox 4"/>
          <p:cNvSpPr txBox="1"/>
          <p:nvPr/>
        </p:nvSpPr>
        <p:spPr>
          <a:xfrm>
            <a:off x="7050024" y="2624328"/>
            <a:ext cx="4443984" cy="347472"/>
          </a:xfrm>
          <a:prstGeom prst="rect">
            <a:avLst/>
          </a:prstGeom>
          <a:noFill/>
        </p:spPr>
        <p:txBody>
          <a:bodyPr wrap="square" lIns="18288" rIns="18288" tIns="18288" bIns="18288" anchor="t">
            <a:spAutoFit/>
          </a:bodyPr>
          <a:lstStyle/>
          <a:p>
            <a:pPr algn="l"/>
            <a:r>
              <a:rPr sz="2050" b="1" lang="en-US">
                <a:solidFill>
                  <a:srgbClr val="FFFFFF"/>
                </a:solidFill>
                <a:latin typeface="Arial"/>
              </a:rPr>
              <a:t>Which model?</a:t>
            </a:r>
          </a:p>
        </p:txBody>
      </p:sp>
      <p:sp>
        <p:nvSpPr>
          <p:cNvPr id="6" name="Rectangle 5"/>
          <p:cNvSpPr/>
          <p:nvPr/>
        </p:nvSpPr>
        <p:spPr>
          <a:xfrm>
            <a:off x="7050024" y="3081528"/>
            <a:ext cx="4443984" cy="10972"/>
          </a:xfrm>
          <a:prstGeom prst="rect">
            <a:avLst/>
          </a:prstGeom>
          <a:solidFill>
            <a:srgbClr val="E66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50024" y="3337560"/>
            <a:ext cx="4443984" cy="347472"/>
          </a:xfrm>
          <a:prstGeom prst="rect">
            <a:avLst/>
          </a:prstGeom>
          <a:noFill/>
        </p:spPr>
        <p:txBody>
          <a:bodyPr wrap="square" lIns="18288" rIns="18288" tIns="18288" bIns="18288" anchor="t">
            <a:spAutoFit/>
          </a:bodyPr>
          <a:lstStyle/>
          <a:p>
            <a:pPr algn="l"/>
            <a:r>
              <a:rPr sz="2050" b="1" lang="en-US">
                <a:solidFill>
                  <a:srgbClr val="FFFFFF"/>
                </a:solidFill>
                <a:latin typeface="Arial"/>
              </a:rPr>
              <a:t>Which input?</a:t>
            </a:r>
          </a:p>
        </p:txBody>
      </p:sp>
      <p:sp>
        <p:nvSpPr>
          <p:cNvPr id="8" name="Rectangle 7"/>
          <p:cNvSpPr/>
          <p:nvPr/>
        </p:nvSpPr>
        <p:spPr>
          <a:xfrm>
            <a:off x="7050024" y="3794760"/>
            <a:ext cx="4443984" cy="10972"/>
          </a:xfrm>
          <a:prstGeom prst="rect">
            <a:avLst/>
          </a:prstGeom>
          <a:solidFill>
            <a:srgbClr val="E66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0024" y="4050791"/>
            <a:ext cx="4443984" cy="347472"/>
          </a:xfrm>
          <a:prstGeom prst="rect">
            <a:avLst/>
          </a:prstGeom>
          <a:noFill/>
        </p:spPr>
        <p:txBody>
          <a:bodyPr wrap="square" lIns="18288" rIns="18288" tIns="18288" bIns="18288" anchor="t">
            <a:spAutoFit/>
          </a:bodyPr>
          <a:lstStyle/>
          <a:p>
            <a:pPr algn="l"/>
            <a:r>
              <a:rPr sz="2050" b="1" lang="en-US">
                <a:solidFill>
                  <a:srgbClr val="FFFFFF"/>
                </a:solidFill>
                <a:latin typeface="Arial"/>
              </a:rPr>
              <a:t>Which workload?</a:t>
            </a:r>
          </a:p>
        </p:txBody>
      </p:sp>
      <p:sp>
        <p:nvSpPr>
          <p:cNvPr id="10" name="Rectangle 9"/>
          <p:cNvSpPr/>
          <p:nvPr/>
        </p:nvSpPr>
        <p:spPr>
          <a:xfrm>
            <a:off x="7050024" y="4507992"/>
            <a:ext cx="4443984" cy="10972"/>
          </a:xfrm>
          <a:prstGeom prst="rect">
            <a:avLst/>
          </a:prstGeom>
          <a:solidFill>
            <a:srgbClr val="E66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5925312"/>
            <a:ext cx="2468880" cy="256032"/>
          </a:xfrm>
          <a:prstGeom prst="rect">
            <a:avLst/>
          </a:prstGeom>
          <a:noFill/>
        </p:spPr>
        <p:txBody>
          <a:bodyPr wrap="square" lIns="18288" rIns="18288" tIns="18288" bIns="18288" anchor="t">
            <a:spAutoFit/>
          </a:bodyPr>
          <a:lstStyle/>
          <a:p>
            <a:pPr algn="l"/>
            <a:r>
              <a:rPr sz="1500" b="1" lang="en-US">
                <a:solidFill>
                  <a:srgbClr val="FFFFFF"/>
                </a:solidFill>
                <a:latin typeface="Arial"/>
              </a:rPr>
              <a:t>Ramon Mehrpoya</a:t>
            </a:r>
          </a:p>
        </p:txBody>
      </p:sp>
      <p:sp>
        <p:nvSpPr>
          <p:cNvPr id="12" name="TextBox 11"/>
          <p:cNvSpPr txBox="1"/>
          <p:nvPr/>
        </p:nvSpPr>
        <p:spPr>
          <a:xfrm>
            <a:off x="621792" y="6254496"/>
            <a:ext cx="3657600" cy="219456"/>
          </a:xfrm>
          <a:prstGeom prst="rect">
            <a:avLst/>
          </a:prstGeom>
          <a:noFill/>
        </p:spPr>
        <p:txBody>
          <a:bodyPr wrap="square" lIns="18288" rIns="18288" tIns="18288" bIns="18288" anchor="t">
            <a:spAutoFit/>
          </a:bodyPr>
          <a:lstStyle/>
          <a:p>
            <a:pPr algn="l"/>
            <a:r>
              <a:rPr sz="1100" b="0" lang="en-US">
                <a:solidFill>
                  <a:srgbClr val="FFFFFF"/>
                </a:solidFill>
                <a:latin typeface="Arial"/>
              </a:rPr>
              <a:t>Master's Thesis</a:t>
            </a:r>
          </a:p>
        </p:txBody>
      </p:sp>
      <p:sp>
        <p:nvSpPr>
          <p:cNvPr id="13" name="TextBox 12"/>
          <p:cNvSpPr txBox="1"/>
          <p:nvPr/>
        </p:nvSpPr>
        <p:spPr>
          <a:xfrm>
            <a:off x="9921240" y="6254496"/>
            <a:ext cx="1719072" cy="219456"/>
          </a:xfrm>
          <a:prstGeom prst="rect">
            <a:avLst/>
          </a:prstGeom>
          <a:noFill/>
        </p:spPr>
        <p:txBody>
          <a:bodyPr wrap="square" lIns="18288" rIns="18288" tIns="18288" bIns="18288" anchor="t">
            <a:spAutoFit/>
          </a:bodyPr>
          <a:lstStyle/>
          <a:p>
            <a:pPr algn="r"/>
            <a:r>
              <a:rPr sz="1100" b="0" lang="en-US">
                <a:solidFill>
                  <a:srgbClr val="FFFFFF"/>
                </a:solidFill>
                <a:latin typeface="Arial"/>
              </a:rPr>
              <a:t>19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35608"/>
            <a:ext cx="3730752" cy="3959352"/>
          </a:xfrm>
          <a:prstGeom prst="roundRect">
            <a:avLst/>
          </a:prstGeom>
          <a:solidFill>
            <a:srgbClr val="434343"/>
          </a:solidFill>
          <a:ln w="1905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47672" y="2569464"/>
            <a:ext cx="1051560" cy="1051560"/>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26464" y="3694176"/>
            <a:ext cx="2103120" cy="822960"/>
          </a:xfrm>
          <a:prstGeom prst="round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46504" y="5020056"/>
            <a:ext cx="1472184" cy="201168"/>
          </a:xfrm>
          <a:prstGeom prst="rect">
            <a:avLst/>
          </a:prstGeom>
          <a:noFill/>
        </p:spPr>
        <p:txBody>
          <a:bodyPr wrap="square" lIns="18288" rIns="18288" tIns="18288" bIns="18288" anchor="ctr">
            <a:spAutoFit/>
          </a:bodyPr>
          <a:lstStyle/>
          <a:p>
            <a:pPr algn="ctr"/>
            <a:r>
              <a:rPr sz="900" b="1" lang="en-US">
                <a:solidFill>
                  <a:srgbClr val="FFFFFF"/>
                </a:solidFill>
                <a:latin typeface="Arial"/>
              </a:rPr>
              <a:t>PORTRAIT</a:t>
            </a:r>
          </a:p>
        </p:txBody>
      </p:sp>
      <p:sp>
        <p:nvSpPr>
          <p:cNvPr id="12" name="TextBox 11"/>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3" name="TextBox 12"/>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4" name="TextBox 13"/>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5" name="TextBox 14"/>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6" name="TextBox 15"/>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7" name="Rounded Rectangle 16"/>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9" name="TextBox 18"/>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20" name="Connector 19"/>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3" name="TextBox 22"/>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4" name="Connector 23"/>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7" name="TextBox 26"/>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8" name="Connector 27"/>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31" name="TextBox 30"/>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2" name="TextBox 31"/>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69080"/>
            <a:ext cx="3063240" cy="1188720"/>
          </a:xfrm>
          <a:prstGeom prst="rect">
            <a:avLst/>
          </a:prstGeom>
          <a:noFill/>
        </p:spPr>
        <p:txBody>
          <a:bodyPr wrap="square" lIns="18288" rIns="18288" tIns="18288" bIns="18288" anchor="ctr">
            <a:spAutoFit/>
          </a:bodyPr>
          <a:lstStyle/>
          <a:p>
            <a:pPr algn="l"/>
            <a:r>
              <a:rPr sz="1450" b="1" lang="en-US">
                <a:solidFill>
                  <a:srgbClr val="434343"/>
                </a:solidFill>
                <a:latin typeface="Arial"/>
              </a:rPr>
              <a:t>How can a DFL model be integrated into an agent system through a trust-minimized, user-inspectable path?</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69080"/>
            <a:ext cx="3063240" cy="1188720"/>
          </a:xfrm>
          <a:prstGeom prst="rect">
            <a:avLst/>
          </a:prstGeom>
          <a:noFill/>
        </p:spPr>
        <p:txBody>
          <a:bodyPr wrap="square" lIns="18288" rIns="18288" tIns="18288" bIns="18288" anchor="ctr">
            <a:spAutoFit/>
          </a:bodyPr>
          <a:lstStyle/>
          <a:p>
            <a:pPr algn="l"/>
            <a:r>
              <a:rPr sz="1450" b="1" lang="en-US">
                <a:solidFill>
                  <a:srgbClr val="434343"/>
                </a:solidFill>
                <a:latin typeface="Arial"/>
              </a:rPr>
              <a:t>How can DFL strengthen integrity, accountable provenance, and selected availability properties?</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69080"/>
            <a:ext cx="3063240" cy="1188720"/>
          </a:xfrm>
          <a:prstGeom prst="rect">
            <a:avLst/>
          </a:prstGeom>
          <a:noFill/>
        </p:spPr>
        <p:txBody>
          <a:bodyPr wrap="square" lIns="18288" rIns="18288" tIns="18288" bIns="18288" anchor="ctr">
            <a:spAutoFit/>
          </a:bodyPr>
          <a:lstStyle/>
          <a:p>
            <a:pPr algn="l"/>
            <a:r>
              <a:rPr sz="1450" b="1" lang="en-US">
                <a:solidFill>
                  <a:srgbClr val="434343"/>
                </a:solidFill>
                <a:latin typeface="Arial"/>
              </a:rPr>
              <a:t>How can inference over the current DFL model be bound to attested execution and transparently recorded tool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3659"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6083" y="2387374"/>
            <a:ext cx="24723"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30806" y="2606152"/>
            <a:ext cx="35786"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71352" y="3198819"/>
            <a:ext cx="68976"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40328" y="3375152"/>
            <a:ext cx="8003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720366" y="3540872"/>
            <a:ext cx="91101"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026859" y="3974366"/>
            <a:ext cx="124291"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151150" y="4097640"/>
            <a:ext cx="135354"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286504" y="4210304"/>
            <a:ext cx="146416"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758944" y="4484624"/>
            <a:ext cx="179606"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938550" y="4554840"/>
            <a:ext cx="190669"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5129219" y="4614446"/>
            <a:ext cx="201733"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024" y="2157984"/>
            <a:ext cx="14648"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5370" y="2387374"/>
            <a:ext cx="25654"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28710" y="2606152"/>
            <a:ext cx="36660"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52688" y="3198819"/>
            <a:ext cx="69680"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472000" y="3375152"/>
            <a:ext cx="8068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380306" y="3540872"/>
            <a:ext cx="91694"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039184" y="3974366"/>
            <a:ext cx="124714"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7903464" y="4097640"/>
            <a:ext cx="135720"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756736" y="4210304"/>
            <a:ext cx="146728"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250514" y="4484624"/>
            <a:ext cx="179747"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059760" y="4554840"/>
            <a:ext cx="190754"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6858000" y="4614446"/>
            <a:ext cx="201760"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4807" y="3922776"/>
            <a:ext cx="73745"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5813" y="4041704"/>
            <a:ext cx="78994"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1570" y="4152617"/>
            <a:ext cx="84243"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67344" y="4437267"/>
            <a:ext cx="99991"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362103" y="4516120"/>
            <a:ext cx="105241"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251613" y="4586957"/>
            <a:ext cx="11049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888647" y="4751380"/>
            <a:ext cx="12623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757160" y="4790157"/>
            <a:ext cx="131487"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620423" y="4820920"/>
            <a:ext cx="136737"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178717" y="4863817"/>
            <a:ext cx="152485"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020983" y="4854504"/>
            <a:ext cx="157734"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6858000" y="4837176"/>
            <a:ext cx="162983"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4704"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5104" y="4041704"/>
            <a:ext cx="79840"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4944" y="4152617"/>
            <a:ext cx="84978"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25285" y="4437267"/>
            <a:ext cx="100387"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725672" y="4516120"/>
            <a:ext cx="105522"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831194" y="4586957"/>
            <a:ext cx="11066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78582" y="4751380"/>
            <a:ext cx="12606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304650" y="4790157"/>
            <a:ext cx="131206"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435856" y="4820920"/>
            <a:ext cx="136341"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860290" y="4863817"/>
            <a:ext cx="151750"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5012040" y="4854504"/>
            <a:ext cx="156888"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5168928" y="4837176"/>
            <a:ext cx="162024"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1: verifiable model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FOUR CONTROL POINTS BEFORE MODEL PUBLICATION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94360" y="1399032"/>
            <a:ext cx="2487168" cy="126187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600200"/>
            <a:ext cx="347472" cy="228600"/>
          </a:xfrm>
          <a:prstGeom prst="rect">
            <a:avLst/>
          </a:prstGeom>
          <a:noFill/>
        </p:spPr>
        <p:txBody>
          <a:bodyPr wrap="square" lIns="18288" rIns="18288" tIns="18288" bIns="18288" anchor="t">
            <a:spAutoFit/>
          </a:bodyPr>
          <a:lstStyle/>
          <a:p>
            <a:pPr algn="l"/>
            <a:r>
              <a:rPr sz="1100" b="1" lang="en-US">
                <a:solidFill>
                  <a:srgbClr val="2F8F46"/>
                </a:solidFill>
                <a:latin typeface="Arial"/>
              </a:rPr>
              <a:t>01</a:t>
            </a:r>
          </a:p>
        </p:txBody>
      </p:sp>
      <p:sp>
        <p:nvSpPr>
          <p:cNvPr id="10" name="TextBox 9"/>
          <p:cNvSpPr txBox="1"/>
          <p:nvPr/>
        </p:nvSpPr>
        <p:spPr>
          <a:xfrm>
            <a:off x="1152144" y="1572768"/>
            <a:ext cx="1673352" cy="274320"/>
          </a:xfrm>
          <a:prstGeom prst="rect">
            <a:avLst/>
          </a:prstGeom>
          <a:noFill/>
        </p:spPr>
        <p:txBody>
          <a:bodyPr wrap="square" lIns="18288" rIns="18288" tIns="18288" bIns="18288" anchor="t">
            <a:spAutoFit/>
          </a:bodyPr>
          <a:lstStyle/>
          <a:p>
            <a:pPr algn="l"/>
            <a:r>
              <a:rPr sz="1350" b="1" lang="en-US">
                <a:solidFill>
                  <a:srgbClr val="2F8F46"/>
                </a:solidFill>
                <a:latin typeface="Arial"/>
              </a:rPr>
              <a:t>INPUT</a:t>
            </a:r>
          </a:p>
        </p:txBody>
      </p:sp>
      <p:sp>
        <p:nvSpPr>
          <p:cNvPr id="11" name="TextBox 10"/>
          <p:cNvSpPr txBox="1"/>
          <p:nvPr/>
        </p:nvSpPr>
        <p:spPr>
          <a:xfrm>
            <a:off x="749808" y="1993392"/>
            <a:ext cx="2176272" cy="457200"/>
          </a:xfrm>
          <a:prstGeom prst="rect">
            <a:avLst/>
          </a:prstGeom>
          <a:noFill/>
        </p:spPr>
        <p:txBody>
          <a:bodyPr wrap="square" lIns="18288" rIns="18288" tIns="18288" bIns="18288" anchor="t">
            <a:spAutoFit/>
          </a:bodyPr>
          <a:lstStyle/>
          <a:p>
            <a:pPr algn="ctr"/>
            <a:r>
              <a:rPr sz="1250" b="1" lang="en-US">
                <a:solidFill>
                  <a:srgbClr val="434343"/>
                </a:solidFill>
                <a:latin typeface="Arial"/>
              </a:rPr>
              <a:t>Device signs image
Radiologist signs label</a:t>
            </a:r>
          </a:p>
        </p:txBody>
      </p:sp>
      <p:cxnSp>
        <p:nvCxnSpPr>
          <p:cNvPr id="12" name="Connector 11"/>
          <p:cNvCxnSpPr/>
          <p:nvPr/>
        </p:nvCxnSpPr>
        <p:spPr>
          <a:xfrm>
            <a:off x="309981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79" y="1399032"/>
            <a:ext cx="2487168" cy="126187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600200"/>
            <a:ext cx="347472" cy="228600"/>
          </a:xfrm>
          <a:prstGeom prst="rect">
            <a:avLst/>
          </a:prstGeom>
          <a:noFill/>
        </p:spPr>
        <p:txBody>
          <a:bodyPr wrap="square" lIns="18288" rIns="18288" tIns="18288" bIns="18288" anchor="t">
            <a:spAutoFit/>
          </a:bodyPr>
          <a:lstStyle/>
          <a:p>
            <a:pPr algn="l"/>
            <a:r>
              <a:rPr sz="1100" b="1" lang="en-US">
                <a:solidFill>
                  <a:srgbClr val="1F90CC"/>
                </a:solidFill>
                <a:latin typeface="Arial"/>
              </a:rPr>
              <a:t>02</a:t>
            </a:r>
          </a:p>
        </p:txBody>
      </p:sp>
      <p:sp>
        <p:nvSpPr>
          <p:cNvPr id="15" name="TextBox 14"/>
          <p:cNvSpPr txBox="1"/>
          <p:nvPr/>
        </p:nvSpPr>
        <p:spPr>
          <a:xfrm>
            <a:off x="3941063" y="1572768"/>
            <a:ext cx="1673352" cy="274320"/>
          </a:xfrm>
          <a:prstGeom prst="rect">
            <a:avLst/>
          </a:prstGeom>
          <a:noFill/>
        </p:spPr>
        <p:txBody>
          <a:bodyPr wrap="square" lIns="18288" rIns="18288" tIns="18288" bIns="18288" anchor="t">
            <a:spAutoFit/>
          </a:bodyPr>
          <a:lstStyle/>
          <a:p>
            <a:pPr algn="l"/>
            <a:r>
              <a:rPr sz="1350" b="1" lang="en-US">
                <a:solidFill>
                  <a:srgbClr val="1F90CC"/>
                </a:solidFill>
                <a:latin typeface="Arial"/>
              </a:rPr>
              <a:t>ADMISSION</a:t>
            </a:r>
          </a:p>
        </p:txBody>
      </p:sp>
      <p:sp>
        <p:nvSpPr>
          <p:cNvPr id="16" name="TextBox 15"/>
          <p:cNvSpPr txBox="1"/>
          <p:nvPr/>
        </p:nvSpPr>
        <p:spPr>
          <a:xfrm>
            <a:off x="3538727" y="1993392"/>
            <a:ext cx="2176272" cy="457200"/>
          </a:xfrm>
          <a:prstGeom prst="rect">
            <a:avLst/>
          </a:prstGeom>
          <a:noFill/>
        </p:spPr>
        <p:txBody>
          <a:bodyPr wrap="square" lIns="18288" rIns="18288" tIns="18288" bIns="18288" anchor="t">
            <a:spAutoFit/>
          </a:bodyPr>
          <a:lstStyle/>
          <a:p>
            <a:pPr algn="ctr"/>
            <a:r>
              <a:rPr sz="1250" b="1" lang="en-US">
                <a:solidFill>
                  <a:srgbClr val="434343"/>
                </a:solidFill>
                <a:latin typeface="Arial"/>
              </a:rPr>
              <a:t>TDX/DCAP · RTMR3 replay
REPORTDATA binding</a:t>
            </a:r>
          </a:p>
        </p:txBody>
      </p:sp>
      <p:cxnSp>
        <p:nvCxnSpPr>
          <p:cNvPr id="17" name="Connector 16"/>
          <p:cNvCxnSpPr/>
          <p:nvPr/>
        </p:nvCxnSpPr>
        <p:spPr>
          <a:xfrm>
            <a:off x="588873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1399032"/>
            <a:ext cx="2487168" cy="126187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8504" y="1600200"/>
            <a:ext cx="347472" cy="228600"/>
          </a:xfrm>
          <a:prstGeom prst="rect">
            <a:avLst/>
          </a:prstGeom>
          <a:noFill/>
        </p:spPr>
        <p:txBody>
          <a:bodyPr wrap="square" lIns="18288" rIns="18288" tIns="18288" bIns="18288" anchor="t">
            <a:spAutoFit/>
          </a:bodyPr>
          <a:lstStyle/>
          <a:p>
            <a:pPr algn="l"/>
            <a:r>
              <a:rPr sz="1100" b="1" lang="en-US">
                <a:solidFill>
                  <a:srgbClr val="7A35B5"/>
                </a:solidFill>
                <a:latin typeface="Arial"/>
              </a:rPr>
              <a:t>03</a:t>
            </a:r>
          </a:p>
        </p:txBody>
      </p:sp>
      <p:sp>
        <p:nvSpPr>
          <p:cNvPr id="20" name="TextBox 19"/>
          <p:cNvSpPr txBox="1"/>
          <p:nvPr/>
        </p:nvSpPr>
        <p:spPr>
          <a:xfrm>
            <a:off x="6729984" y="1572768"/>
            <a:ext cx="1673352" cy="274320"/>
          </a:xfrm>
          <a:prstGeom prst="rect">
            <a:avLst/>
          </a:prstGeom>
          <a:noFill/>
        </p:spPr>
        <p:txBody>
          <a:bodyPr wrap="square" lIns="18288" rIns="18288" tIns="18288" bIns="18288" anchor="t">
            <a:spAutoFit/>
          </a:bodyPr>
          <a:lstStyle/>
          <a:p>
            <a:pPr algn="l"/>
            <a:r>
              <a:rPr sz="1350" b="1" lang="en-US">
                <a:solidFill>
                  <a:srgbClr val="7A35B5"/>
                </a:solidFill>
                <a:latin typeface="Arial"/>
              </a:rPr>
              <a:t>ROUND</a:t>
            </a:r>
          </a:p>
        </p:txBody>
      </p:sp>
      <p:sp>
        <p:nvSpPr>
          <p:cNvPr id="21" name="TextBox 20"/>
          <p:cNvSpPr txBox="1"/>
          <p:nvPr/>
        </p:nvSpPr>
        <p:spPr>
          <a:xfrm>
            <a:off x="6327648" y="1993392"/>
            <a:ext cx="2176272" cy="457200"/>
          </a:xfrm>
          <a:prstGeom prst="rect">
            <a:avLst/>
          </a:prstGeom>
          <a:noFill/>
        </p:spPr>
        <p:txBody>
          <a:bodyPr wrap="square" lIns="18288" rIns="18288" tIns="18288" bIns="18288" anchor="t">
            <a:spAutoFit/>
          </a:bodyPr>
          <a:lstStyle/>
          <a:p>
            <a:pPr algn="ctr"/>
            <a:r>
              <a:rPr sz="1250" b="1" lang="en-US">
                <a:solidFill>
                  <a:srgbClr val="434343"/>
                </a:solidFill>
                <a:latin typeface="Arial"/>
              </a:rPr>
              <a:t>Ledger fixes aggregator,
input root, and policy</a:t>
            </a:r>
          </a:p>
        </p:txBody>
      </p:sp>
      <p:cxnSp>
        <p:nvCxnSpPr>
          <p:cNvPr id="22" name="Connector 21"/>
          <p:cNvCxnSpPr/>
          <p:nvPr/>
        </p:nvCxnSpPr>
        <p:spPr>
          <a:xfrm>
            <a:off x="8677656" y="2029968"/>
            <a:ext cx="24688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61119" y="1399032"/>
            <a:ext cx="2487168" cy="126187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424" y="1600200"/>
            <a:ext cx="347472" cy="228600"/>
          </a:xfrm>
          <a:prstGeom prst="rect">
            <a:avLst/>
          </a:prstGeom>
          <a:noFill/>
        </p:spPr>
        <p:txBody>
          <a:bodyPr wrap="square" lIns="18288" rIns="18288" tIns="18288" bIns="18288" anchor="t">
            <a:spAutoFit/>
          </a:bodyPr>
          <a:lstStyle/>
          <a:p>
            <a:pPr algn="l"/>
            <a:r>
              <a:rPr sz="1100" b="1" lang="en-US">
                <a:solidFill>
                  <a:srgbClr val="FF6C00"/>
                </a:solidFill>
                <a:latin typeface="Arial"/>
              </a:rPr>
              <a:t>04</a:t>
            </a:r>
          </a:p>
        </p:txBody>
      </p:sp>
      <p:sp>
        <p:nvSpPr>
          <p:cNvPr id="25" name="TextBox 24"/>
          <p:cNvSpPr txBox="1"/>
          <p:nvPr/>
        </p:nvSpPr>
        <p:spPr>
          <a:xfrm>
            <a:off x="9518903" y="1572768"/>
            <a:ext cx="1673352" cy="274320"/>
          </a:xfrm>
          <a:prstGeom prst="rect">
            <a:avLst/>
          </a:prstGeom>
          <a:noFill/>
        </p:spPr>
        <p:txBody>
          <a:bodyPr wrap="square" lIns="18288" rIns="18288" tIns="18288" bIns="18288" anchor="t">
            <a:spAutoFit/>
          </a:bodyPr>
          <a:lstStyle/>
          <a:p>
            <a:pPr algn="l"/>
            <a:r>
              <a:rPr sz="1350" b="1" lang="en-US">
                <a:solidFill>
                  <a:srgbClr val="FF6C00"/>
                </a:solidFill>
                <a:latin typeface="Arial"/>
              </a:rPr>
              <a:t>AGGREGATION</a:t>
            </a:r>
          </a:p>
        </p:txBody>
      </p:sp>
      <p:sp>
        <p:nvSpPr>
          <p:cNvPr id="26" name="TextBox 25"/>
          <p:cNvSpPr txBox="1"/>
          <p:nvPr/>
        </p:nvSpPr>
        <p:spPr>
          <a:xfrm>
            <a:off x="9116567" y="1993392"/>
            <a:ext cx="2176272" cy="457200"/>
          </a:xfrm>
          <a:prstGeom prst="rect">
            <a:avLst/>
          </a:prstGeom>
          <a:noFill/>
        </p:spPr>
        <p:txBody>
          <a:bodyPr wrap="square" lIns="18288" rIns="18288" tIns="18288" bIns="18288" anchor="t">
            <a:spAutoFit/>
          </a:bodyPr>
          <a:lstStyle/>
          <a:p>
            <a:pPr algn="ctr"/>
            <a:r>
              <a:rPr sz="1250" b="1" lang="en-US">
                <a:solidFill>
                  <a:srgbClr val="434343"/>
                </a:solidFill>
                <a:latin typeface="Arial"/>
              </a:rPr>
              <a:t>Candidate comparison
Parent-loss guard</a:t>
            </a:r>
          </a:p>
        </p:txBody>
      </p:sp>
      <p:sp>
        <p:nvSpPr>
          <p:cNvPr id="27" name="Rounded Rectangle 26"/>
          <p:cNvSpPr/>
          <p:nvPr/>
        </p:nvSpPr>
        <p:spPr>
          <a:xfrm>
            <a:off x="640080" y="2999232"/>
            <a:ext cx="3364992" cy="19019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7" y="3227832"/>
            <a:ext cx="2962656" cy="329184"/>
          </a:xfrm>
          <a:prstGeom prst="rect">
            <a:avLst/>
          </a:prstGeom>
          <a:noFill/>
        </p:spPr>
        <p:txBody>
          <a:bodyPr wrap="square" lIns="18288" rIns="18288" tIns="18288" bIns="18288" anchor="t">
            <a:spAutoFit/>
          </a:bodyPr>
          <a:lstStyle/>
          <a:p>
            <a:pPr algn="l"/>
            <a:r>
              <a:rPr sz="1600" b="1" lang="en-US">
                <a:solidFill>
                  <a:srgbClr val="1F90CC"/>
                </a:solidFill>
                <a:latin typeface="Arial"/>
              </a:rPr>
              <a:t>Measured workload identity</a:t>
            </a:r>
          </a:p>
        </p:txBody>
      </p:sp>
      <p:sp>
        <p:nvSpPr>
          <p:cNvPr id="29" name="TextBox 28"/>
          <p:cNvSpPr txBox="1"/>
          <p:nvPr/>
        </p:nvSpPr>
        <p:spPr>
          <a:xfrm>
            <a:off x="841247" y="3749039"/>
            <a:ext cx="2944368" cy="841248"/>
          </a:xfrm>
          <a:prstGeom prst="rect">
            <a:avLst/>
          </a:prstGeom>
          <a:noFill/>
        </p:spPr>
        <p:txBody>
          <a:bodyPr wrap="square" lIns="18288" rIns="18288" tIns="18288" bIns="18288" anchor="t">
            <a:spAutoFit/>
          </a:bodyPr>
          <a:lstStyle/>
          <a:p>
            <a:pPr algn="l"/>
            <a:r>
              <a:rPr sz="1400" b="0" lang="en-US">
                <a:solidFill>
                  <a:srgbClr val="434343"/>
                </a:solidFill>
                <a:latin typeface="Arial"/>
              </a:rPr>
              <a:t>Registration binds the image, policy, participant, action key, endpoints, and freshness.</a:t>
            </a:r>
          </a:p>
        </p:txBody>
      </p:sp>
      <p:sp>
        <p:nvSpPr>
          <p:cNvPr id="30" name="Rounded Rectangle 29"/>
          <p:cNvSpPr/>
          <p:nvPr/>
        </p:nvSpPr>
        <p:spPr>
          <a:xfrm>
            <a:off x="4325112" y="2999232"/>
            <a:ext cx="3364992" cy="19019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3227832"/>
            <a:ext cx="2962656" cy="329184"/>
          </a:xfrm>
          <a:prstGeom prst="rect">
            <a:avLst/>
          </a:prstGeom>
          <a:noFill/>
        </p:spPr>
        <p:txBody>
          <a:bodyPr wrap="square" lIns="18288" rIns="18288" tIns="18288" bIns="18288" anchor="t">
            <a:spAutoFit/>
          </a:bodyPr>
          <a:lstStyle/>
          <a:p>
            <a:pPr algn="l"/>
            <a:r>
              <a:rPr sz="1600" b="1" lang="en-US">
                <a:solidFill>
                  <a:srgbClr val="2F8F46"/>
                </a:solidFill>
                <a:latin typeface="Arial"/>
              </a:rPr>
              <a:t>Input provenance</a:t>
            </a:r>
          </a:p>
        </p:txBody>
      </p:sp>
      <p:sp>
        <p:nvSpPr>
          <p:cNvPr id="32" name="TextBox 31"/>
          <p:cNvSpPr txBox="1"/>
          <p:nvPr/>
        </p:nvSpPr>
        <p:spPr>
          <a:xfrm>
            <a:off x="4526280" y="3749039"/>
            <a:ext cx="2944368" cy="841248"/>
          </a:xfrm>
          <a:prstGeom prst="rect">
            <a:avLst/>
          </a:prstGeom>
          <a:noFill/>
        </p:spPr>
        <p:txBody>
          <a:bodyPr wrap="square" lIns="18288" rIns="18288" tIns="18288" bIns="18288" anchor="t">
            <a:spAutoFit/>
          </a:bodyPr>
          <a:lstStyle/>
          <a:p>
            <a:pPr algn="l"/>
            <a:r>
              <a:rPr sz="1400" b="0" lang="en-US">
                <a:solidFill>
                  <a:srgbClr val="434343"/>
                </a:solidFill>
                <a:latin typeface="Arial"/>
              </a:rPr>
              <a:t>Independent RSA signatures authenticate pixels and labels; active signers are resolved from the ledger.</a:t>
            </a:r>
          </a:p>
        </p:txBody>
      </p:sp>
      <p:sp>
        <p:nvSpPr>
          <p:cNvPr id="33" name="Rounded Rectangle 32"/>
          <p:cNvSpPr/>
          <p:nvPr/>
        </p:nvSpPr>
        <p:spPr>
          <a:xfrm>
            <a:off x="8010144" y="2999232"/>
            <a:ext cx="3364992" cy="19019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3227832"/>
            <a:ext cx="2962656" cy="329184"/>
          </a:xfrm>
          <a:prstGeom prst="rect">
            <a:avLst/>
          </a:prstGeom>
          <a:noFill/>
        </p:spPr>
        <p:txBody>
          <a:bodyPr wrap="square" lIns="18288" rIns="18288" tIns="18288" bIns="18288" anchor="t">
            <a:spAutoFit/>
          </a:bodyPr>
          <a:lstStyle/>
          <a:p>
            <a:pPr algn="l"/>
            <a:r>
              <a:rPr sz="1600" b="1" lang="en-US">
                <a:solidFill>
                  <a:srgbClr val="7A35B5"/>
                </a:solidFill>
                <a:latin typeface="Arial"/>
              </a:rPr>
              <a:t>Publication integrity</a:t>
            </a:r>
          </a:p>
        </p:txBody>
      </p:sp>
      <p:sp>
        <p:nvSpPr>
          <p:cNvPr id="35" name="TextBox 34"/>
          <p:cNvSpPr txBox="1"/>
          <p:nvPr/>
        </p:nvSpPr>
        <p:spPr>
          <a:xfrm>
            <a:off x="8211312" y="3749039"/>
            <a:ext cx="2944368" cy="841248"/>
          </a:xfrm>
          <a:prstGeom prst="rect">
            <a:avLst/>
          </a:prstGeom>
          <a:noFill/>
        </p:spPr>
        <p:txBody>
          <a:bodyPr wrap="square" lIns="18288" rIns="18288" tIns="18288" bIns="18288" anchor="t">
            <a:spAutoFit/>
          </a:bodyPr>
          <a:lstStyle/>
          <a:p>
            <a:pPr algn="l"/>
            <a:r>
              <a:rPr sz="1400" b="0" lang="en-US">
                <a:solidFill>
                  <a:srgbClr val="434343"/>
                </a:solidFill>
                <a:latin typeface="Arial"/>
              </a:rPr>
              <a:t>Atomic finalization binds the closed input root to the algorithm, policy, output, and nonce.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Why attested off-chain execution—not ZK everywhere?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BOTH EXECUTE OFF-CHAIN · THE EVIDENCE AND TRUST ASSUMPTIONS DIFFER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ASK FIRST   </a:t>
            </a:r>
            <a:r>
              <a:rPr sz="1260" b="1" lang="en-US">
                <a:solidFill>
                  <a:srgbClr val="434343"/>
                </a:solidFill>
                <a:latin typeface="Arial"/>
              </a:rPr>
              <a:t>Do we need proof of one circuit—or provenance for a stateful native service?</a:t>
            </a:r>
          </a:p>
        </p:txBody>
      </p:sp>
      <p:sp>
        <p:nvSpPr>
          <p:cNvPr id="10" name="Rounded Rectangle 9"/>
          <p:cNvSpPr/>
          <p:nvPr/>
        </p:nvSpPr>
        <p:spPr>
          <a:xfrm>
            <a:off x="566928" y="1984248"/>
            <a:ext cx="5376672" cy="2395728"/>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94560"/>
            <a:ext cx="3593592" cy="265176"/>
          </a:xfrm>
          <a:prstGeom prst="rect">
            <a:avLst/>
          </a:prstGeom>
          <a:noFill/>
        </p:spPr>
        <p:txBody>
          <a:bodyPr wrap="square" lIns="18288" rIns="18288" tIns="18288" bIns="18288" anchor="t">
            <a:spAutoFit/>
          </a:bodyPr>
          <a:lstStyle/>
          <a:p>
            <a:pPr algn="l"/>
            <a:r>
              <a:rPr sz="1420" b="1" lang="en-US">
                <a:solidFill>
                  <a:srgbClr val="1F90CC"/>
                </a:solidFill>
                <a:latin typeface="Arial"/>
              </a:rPr>
              <a:t>TEE + REMOTE ATTESTATION</a:t>
            </a:r>
          </a:p>
        </p:txBody>
      </p:sp>
      <p:sp>
        <p:nvSpPr>
          <p:cNvPr id="12" name="Rectangle 11"/>
          <p:cNvSpPr/>
          <p:nvPr/>
        </p:nvSpPr>
        <p:spPr>
          <a:xfrm>
            <a:off x="450799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SELECTED</a:t>
            </a:r>
          </a:p>
        </p:txBody>
      </p:sp>
      <p:sp>
        <p:nvSpPr>
          <p:cNvPr id="14" name="TextBox 13"/>
          <p:cNvSpPr txBox="1"/>
          <p:nvPr/>
        </p:nvSpPr>
        <p:spPr>
          <a:xfrm>
            <a:off x="813816" y="2560320"/>
            <a:ext cx="4846320" cy="201168"/>
          </a:xfrm>
          <a:prstGeom prst="rect">
            <a:avLst/>
          </a:prstGeom>
          <a:noFill/>
        </p:spPr>
        <p:txBody>
          <a:bodyPr wrap="square" lIns="18288" rIns="18288" tIns="18288" bIns="18288" anchor="t">
            <a:spAutoFit/>
          </a:bodyPr>
          <a:lstStyle/>
          <a:p>
            <a:pPr algn="l"/>
            <a:r>
              <a:rPr sz="980" b="1" lang="en-US">
                <a:solidFill>
                  <a:srgbClr val="1F90CC"/>
                </a:solidFill>
                <a:latin typeface="Arial"/>
              </a:rPr>
              <a:t>MEASURED NATIVE WORKLOAD</a:t>
            </a:r>
          </a:p>
        </p:txBody>
      </p:sp>
      <p:sp>
        <p:nvSpPr>
          <p:cNvPr id="15" name="TextBox 14"/>
          <p:cNvSpPr txBox="1"/>
          <p:nvPr/>
        </p:nvSpPr>
        <p:spPr>
          <a:xfrm>
            <a:off x="804672" y="2834640"/>
            <a:ext cx="4882896" cy="1353312"/>
          </a:xfrm>
          <a:prstGeom prst="rect">
            <a:avLst/>
          </a:prstGeom>
          <a:noFill/>
        </p:spPr>
        <p:txBody>
          <a:bodyPr wrap="square" lIns="27432" rIns="27432" tIns="18288" bIns="18288">
            <a:spAutoFit/>
          </a:bodyPr>
          <a:lstStyle/>
          <a:p>
            <a:pPr>
              <a:lnSpc>
                <a:spcPct val="100000"/>
              </a:lnSpc>
              <a:spcAft>
                <a:spcPts val="200"/>
              </a:spcAft>
            </a:pPr>
            <a:r>
              <a:rPr sz="1000" lang="en-US">
                <a:solidFill>
                  <a:srgbClr val="1F90CC"/>
                </a:solidFill>
                <a:latin typeface="Arial"/>
              </a:rPr>
              <a:t>●  </a:t>
            </a:r>
            <a:r>
              <a:rPr sz="1050" lang="en-US">
                <a:solidFill>
                  <a:srgbClr val="434343"/>
                </a:solidFill>
                <a:latin typeface="Arial"/>
              </a:rPr>
              <a:t>Native PyTorch, ledger/IPFS I/O, and key custody stay in one stateful workflow</a:t>
            </a:r>
          </a:p>
          <a:p>
            <a:pPr>
              <a:lnSpc>
                <a:spcPct val="100000"/>
              </a:lnSpc>
              <a:spcAft>
                <a:spcPts val="200"/>
              </a:spcAft>
            </a:pPr>
            <a:r>
              <a:rPr sz="1000" lang="en-US">
                <a:solidFill>
                  <a:srgbClr val="1F90CC"/>
                </a:solidFill>
                <a:latin typeface="Arial"/>
              </a:rPr>
              <a:t>●  </a:t>
            </a:r>
            <a:r>
              <a:rPr sz="1050" lang="en-US">
                <a:solidFill>
                  <a:srgbClr val="434343"/>
                </a:solidFill>
                <a:latin typeface="Arial"/>
              </a:rPr>
              <a:t>TDX isolation protects model, data, and secrets while they are in use</a:t>
            </a:r>
          </a:p>
          <a:p>
            <a:pPr>
              <a:lnSpc>
                <a:spcPct val="100000"/>
              </a:lnSpc>
              <a:spcAft>
                <a:spcPts val="200"/>
              </a:spcAft>
            </a:pPr>
            <a:r>
              <a:rPr sz="1000" lang="en-US">
                <a:solidFill>
                  <a:srgbClr val="1F90CC"/>
                </a:solidFill>
                <a:latin typeface="Arial"/>
              </a:rPr>
              <a:t>●  </a:t>
            </a:r>
            <a:r>
              <a:rPr sz="1050" lang="en-US">
                <a:solidFill>
                  <a:srgbClr val="434343"/>
                </a:solidFill>
                <a:latin typeface="Arial"/>
              </a:rPr>
              <a:t>DCAP evidence plus policy bind the TCB, image/Compose, identities, endpoints, and freshness</a:t>
            </a:r>
          </a:p>
          <a:p>
            <a:pPr>
              <a:lnSpc>
                <a:spcPct val="100000"/>
              </a:lnSpc>
              <a:spcAft>
                <a:spcPts val="200"/>
              </a:spcAft>
            </a:pPr>
            <a:r>
              <a:rPr sz="1000" lang="en-US">
                <a:solidFill>
                  <a:srgbClr val="1F90CC"/>
                </a:solidFill>
                <a:latin typeface="Arial"/>
              </a:rPr>
              <a:t>●  </a:t>
            </a:r>
            <a:r>
              <a:rPr sz="1050" lang="en-US">
                <a:solidFill>
                  <a:srgbClr val="434343"/>
                </a:solidFill>
                <a:latin typeface="Arial"/>
              </a:rPr>
              <a:t>The finalized model stays in its native training representation</a:t>
            </a:r>
          </a:p>
        </p:txBody>
      </p:sp>
      <p:sp>
        <p:nvSpPr>
          <p:cNvPr id="16" name="Rounded Rectangle 15"/>
          <p:cNvSpPr/>
          <p:nvPr/>
        </p:nvSpPr>
        <p:spPr>
          <a:xfrm>
            <a:off x="6236208" y="1984248"/>
            <a:ext cx="5376672" cy="239572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94560"/>
            <a:ext cx="3593592" cy="265176"/>
          </a:xfrm>
          <a:prstGeom prst="rect">
            <a:avLst/>
          </a:prstGeom>
          <a:noFill/>
        </p:spPr>
        <p:txBody>
          <a:bodyPr wrap="square" lIns="18288" rIns="18288" tIns="18288" bIns="18288" anchor="t">
            <a:spAutoFit/>
          </a:bodyPr>
          <a:lstStyle/>
          <a:p>
            <a:pPr algn="l"/>
            <a:r>
              <a:rPr sz="1420" b="1" lang="en-US">
                <a:solidFill>
                  <a:srgbClr val="7A35B5"/>
                </a:solidFill>
                <a:latin typeface="Arial"/>
              </a:rPr>
              <a:t>ZK-PROVED COMPUTATION</a:t>
            </a:r>
          </a:p>
        </p:txBody>
      </p:sp>
      <p:sp>
        <p:nvSpPr>
          <p:cNvPr id="18" name="Rectangle 17"/>
          <p:cNvSpPr/>
          <p:nvPr/>
        </p:nvSpPr>
        <p:spPr>
          <a:xfrm>
            <a:off x="1017727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EXPERIMENTAL</a:t>
            </a:r>
          </a:p>
        </p:txBody>
      </p:sp>
      <p:sp>
        <p:nvSpPr>
          <p:cNvPr id="20" name="TextBox 19"/>
          <p:cNvSpPr txBox="1"/>
          <p:nvPr/>
        </p:nvSpPr>
        <p:spPr>
          <a:xfrm>
            <a:off x="6483096" y="2560320"/>
            <a:ext cx="4846320" cy="201168"/>
          </a:xfrm>
          <a:prstGeom prst="rect">
            <a:avLst/>
          </a:prstGeom>
          <a:noFill/>
        </p:spPr>
        <p:txBody>
          <a:bodyPr wrap="square" lIns="18288" rIns="18288" tIns="18288" bIns="18288" anchor="t">
            <a:spAutoFit/>
          </a:bodyPr>
          <a:lstStyle/>
          <a:p>
            <a:pPr algn="l"/>
            <a:r>
              <a:rPr sz="980" b="1" lang="en-US">
                <a:solidFill>
                  <a:srgbClr val="7A35B5"/>
                </a:solidFill>
                <a:latin typeface="Arial"/>
              </a:rPr>
              <a:t>EXACT ENCODED RELATION</a:t>
            </a:r>
          </a:p>
        </p:txBody>
      </p:sp>
      <p:sp>
        <p:nvSpPr>
          <p:cNvPr id="21" name="TextBox 20"/>
          <p:cNvSpPr txBox="1"/>
          <p:nvPr/>
        </p:nvSpPr>
        <p:spPr>
          <a:xfrm>
            <a:off x="6473952" y="2834640"/>
            <a:ext cx="4882896" cy="1353312"/>
          </a:xfrm>
          <a:prstGeom prst="rect">
            <a:avLst/>
          </a:prstGeom>
          <a:noFill/>
        </p:spPr>
        <p:txBody>
          <a:bodyPr wrap="square" lIns="27432" rIns="27432" tIns="18288" bIns="18288">
            <a:spAutoFit/>
          </a:bodyPr>
          <a:lstStyle/>
          <a:p>
            <a:pPr>
              <a:lnSpc>
                <a:spcPct val="100000"/>
              </a:lnSpc>
              <a:spcAft>
                <a:spcPts val="200"/>
              </a:spcAft>
            </a:pPr>
            <a:r>
              <a:rPr sz="1000" lang="en-US">
                <a:solidFill>
                  <a:srgbClr val="7A35B5"/>
                </a:solidFill>
                <a:latin typeface="Arial"/>
              </a:rPr>
              <a:t>●  </a:t>
            </a:r>
            <a:r>
              <a:rPr sz="1050" lang="en-US">
                <a:solidFill>
                  <a:srgbClr val="434343"/>
                </a:solidFill>
                <a:latin typeface="Arial"/>
              </a:rPr>
              <a:t>Strong correctness for one precisely encoded model–input–output relation</a:t>
            </a:r>
          </a:p>
          <a:p>
            <a:pPr>
              <a:lnSpc>
                <a:spcPct val="100000"/>
              </a:lnSpc>
              <a:spcAft>
                <a:spcPts val="200"/>
              </a:spcAft>
            </a:pPr>
            <a:r>
              <a:rPr sz="1000" lang="en-US">
                <a:solidFill>
                  <a:srgbClr val="7A35B5"/>
                </a:solidFill>
                <a:latin typeface="Arial"/>
              </a:rPr>
              <a:t>●  </a:t>
            </a:r>
            <a:r>
              <a:rPr sz="1050" lang="en-US">
                <a:solidFill>
                  <a:srgbClr val="434343"/>
                </a:solidFill>
                <a:latin typeface="Arial"/>
              </a:rPr>
              <a:t>Circuit setup/keys → witness → proof → verify</a:t>
            </a:r>
          </a:p>
          <a:p>
            <a:pPr>
              <a:lnSpc>
                <a:spcPct val="100000"/>
              </a:lnSpc>
              <a:spcAft>
                <a:spcPts val="200"/>
              </a:spcAft>
            </a:pPr>
            <a:r>
              <a:rPr sz="1000" lang="en-US">
                <a:solidFill>
                  <a:srgbClr val="7A35B5"/>
                </a:solidFill>
                <a:latin typeface="Arial"/>
              </a:rPr>
              <a:t>●  </a:t>
            </a:r>
            <a:r>
              <a:rPr sz="1050" lang="en-US">
                <a:solidFill>
                  <a:srgbClr val="434343"/>
                </a:solidFill>
                <a:latin typeface="Arial"/>
              </a:rPr>
              <a:t>Translation, quantization, setup, and proving cost change with the model or circuit</a:t>
            </a:r>
          </a:p>
          <a:p>
            <a:pPr>
              <a:lnSpc>
                <a:spcPct val="100000"/>
              </a:lnSpc>
              <a:spcAft>
                <a:spcPts val="200"/>
              </a:spcAft>
            </a:pPr>
            <a:r>
              <a:rPr sz="1000" lang="en-US">
                <a:solidFill>
                  <a:srgbClr val="7A35B5"/>
                </a:solidFill>
                <a:latin typeface="Arial"/>
              </a:rPr>
              <a:t>●  </a:t>
            </a:r>
            <a:r>
              <a:rPr sz="1050" lang="en-US">
                <a:solidFill>
                  <a:srgbClr val="434343"/>
                </a:solidFill>
                <a:latin typeface="Arial"/>
              </a:rPr>
              <a:t>The proof alone does not establish native runtime identity, training history, or key custody</a:t>
            </a:r>
          </a:p>
        </p:txBody>
      </p:sp>
      <p:sp>
        <p:nvSpPr>
          <p:cNvPr id="22" name="Rectangle 21"/>
          <p:cNvSpPr/>
          <p:nvPr/>
        </p:nvSpPr>
        <p:spPr>
          <a:xfrm>
            <a:off x="841248" y="4709160"/>
            <a:ext cx="10515600" cy="4663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48280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50" b="1" lang="en-US">
                <a:solidFill>
                  <a:srgbClr val="FFFFFF"/>
                </a:solidFill>
                <a:latin typeface="Arial"/>
              </a:rPr>
              <a:t>TEE/RA for native lifecycle provenance; ZK remains complementary for narrow computation claims.</a:t>
            </a:r>
          </a:p>
        </p:txBody>
      </p:sp>
      <p:sp>
        <p:nvSpPr>
          <p:cNvPr id="24" name="TextBox 23"/>
          <p:cNvSpPr txBox="1"/>
          <p:nvPr/>
        </p:nvSpPr>
        <p:spPr>
          <a:xfrm>
            <a:off x="704088" y="5349240"/>
            <a:ext cx="10771632" cy="118872"/>
          </a:xfrm>
          <a:prstGeom prst="rect">
            <a:avLst/>
          </a:prstGeom>
          <a:noFill/>
        </p:spPr>
        <p:txBody>
          <a:bodyPr wrap="square" lIns="0" rIns="0" tIns="0" bIns="0" anchor="t">
            <a:spAutoFit/>
          </a:bodyPr>
          <a:lstStyle/>
          <a:p>
            <a:pPr algn="ctr"/>
            <a:r>
              <a:rPr sz="730" b="0" lang="en-US">
                <a:solidFill>
                  <a:srgbClr val="434343"/>
                </a:solidFill>
                <a:latin typeface="Arial"/>
              </a:rPr>
              <a:t>Sources: RFC 9334 · Intel TDX/DCAP · Chen et al., EuroSys ’24 · EZKL docs.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TextBox 29"/>
          <p:cNvSpPr txBox="1"/>
          <p:nvPr/>
        </p:nvSpPr>
        <p:spPr>
          <a:xfrm>
            <a:off x="1024128" y="3904487"/>
            <a:ext cx="10131552"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On-chain draw: hash(prevrandao, time, block, round, incumbent) mod 14 → cumulative interval</a:t>
            </a:r>
          </a:p>
        </p:txBody>
      </p:sp>
      <p:sp>
        <p:nvSpPr>
          <p:cNvPr id="31" name="Rounded Rectangle 30"/>
          <p:cNvSpPr/>
          <p:nvPr/>
        </p:nvSpPr>
        <p:spPr>
          <a:xfrm>
            <a:off x="749808" y="4315968"/>
            <a:ext cx="5285232" cy="9601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7552" y="4498848"/>
            <a:ext cx="1737360" cy="201168"/>
          </a:xfrm>
          <a:prstGeom prst="rect">
            <a:avLst/>
          </a:prstGeom>
          <a:noFill/>
        </p:spPr>
        <p:txBody>
          <a:bodyPr wrap="square" lIns="18288" rIns="18288" tIns="18288" bIns="18288" anchor="t">
            <a:spAutoFit/>
          </a:bodyPr>
          <a:lstStyle/>
          <a:p>
            <a:pPr algn="l"/>
            <a:r>
              <a:rPr sz="1150" b="1" lang="en-US">
                <a:solidFill>
                  <a:srgbClr val="2F8F46"/>
                </a:solidFill>
                <a:latin typeface="Arial"/>
              </a:rPr>
              <a:t>SCORE CHANGES</a:t>
            </a:r>
          </a:p>
        </p:txBody>
      </p:sp>
      <p:sp>
        <p:nvSpPr>
          <p:cNvPr id="33" name="TextBox 32"/>
          <p:cNvSpPr txBox="1"/>
          <p:nvPr/>
        </p:nvSpPr>
        <p:spPr>
          <a:xfrm>
            <a:off x="987552" y="4773168"/>
            <a:ext cx="4754880" cy="310896"/>
          </a:xfrm>
          <a:prstGeom prst="rect">
            <a:avLst/>
          </a:prstGeom>
          <a:noFill/>
        </p:spPr>
        <p:txBody>
          <a:bodyPr wrap="square" lIns="18288" rIns="18288" tIns="18288" bIns="18288" anchor="ctr">
            <a:spAutoFit/>
          </a:bodyPr>
          <a:lstStyle/>
          <a:p>
            <a:pPr algn="l"/>
            <a:r>
              <a:rPr sz="1150" b="1" lang="en-US">
                <a:solidFill>
                  <a:srgbClr val="434343"/>
                </a:solidFill>
                <a:latin typeface="Arial"/>
              </a:rPr>
              <a:t>+1 for a first accepted update or completed aggregation; −1 after defined failure, floored at zero.</a:t>
            </a:r>
          </a:p>
        </p:txBody>
      </p:sp>
      <p:sp>
        <p:nvSpPr>
          <p:cNvPr id="34" name="Rounded Rectangle 33"/>
          <p:cNvSpPr/>
          <p:nvPr/>
        </p:nvSpPr>
        <p:spPr>
          <a:xfrm>
            <a:off x="6199632" y="4315968"/>
            <a:ext cx="5248656" cy="960120"/>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4498848"/>
            <a:ext cx="1005840" cy="201168"/>
          </a:xfrm>
          <a:prstGeom prst="rect">
            <a:avLst/>
          </a:prstGeom>
          <a:noFill/>
        </p:spPr>
        <p:txBody>
          <a:bodyPr wrap="square" lIns="18288" rIns="18288" tIns="18288" bIns="18288" anchor="t">
            <a:spAutoFit/>
          </a:bodyPr>
          <a:lstStyle/>
          <a:p>
            <a:pPr algn="l"/>
            <a:r>
              <a:rPr sz="1150" b="1" lang="en-US">
                <a:solidFill>
                  <a:srgbClr val="FF6C00"/>
                </a:solidFill>
                <a:latin typeface="Arial"/>
              </a:rPr>
              <a:t>SCOPE</a:t>
            </a:r>
          </a:p>
        </p:txBody>
      </p:sp>
      <p:sp>
        <p:nvSpPr>
          <p:cNvPr id="36" name="TextBox 35"/>
          <p:cNvSpPr txBox="1"/>
          <p:nvPr/>
        </p:nvSpPr>
        <p:spPr>
          <a:xfrm>
            <a:off x="6437376" y="4773168"/>
            <a:ext cx="4736592" cy="310896"/>
          </a:xfrm>
          <a:prstGeom prst="rect">
            <a:avLst/>
          </a:prstGeom>
          <a:noFill/>
        </p:spPr>
        <p:txBody>
          <a:bodyPr wrap="square" lIns="18288" rIns="18288" tIns="18288" bIns="18288" anchor="ctr">
            <a:spAutoFit/>
          </a:bodyPr>
          <a:lstStyle/>
          <a:p>
            <a:pPr algn="l"/>
            <a:r>
              <a:rPr sz="1150" b="1" lang="en-US">
                <a:solidFill>
                  <a:srgbClr val="434343"/>
                </a:solidFill>
                <a:latin typeface="Arial"/>
              </a:rPr>
              <a:t>Auditable weighted pseudo-random selection—not a bias-resistant randomness beacon or a quality score.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99032"/>
            <a:ext cx="2066543" cy="1874519"/>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1572768"/>
            <a:ext cx="310896" cy="201168"/>
          </a:xfrm>
          <a:prstGeom prst="rect">
            <a:avLst/>
          </a:prstGeom>
          <a:noFill/>
        </p:spPr>
        <p:txBody>
          <a:bodyPr wrap="square" lIns="18288" rIns="18288" tIns="18288" bIns="18288" anchor="t">
            <a:spAutoFit/>
          </a:bodyPr>
          <a:lstStyle/>
          <a:p>
            <a:pPr algn="l"/>
            <a:r>
              <a:rPr sz="1050" b="1" lang="en-US">
                <a:solidFill>
                  <a:srgbClr val="1F90CC"/>
                </a:solidFill>
                <a:latin typeface="Arial"/>
              </a:rPr>
              <a:t>01</a:t>
            </a:r>
          </a:p>
        </p:txBody>
      </p:sp>
      <p:sp>
        <p:nvSpPr>
          <p:cNvPr id="10" name="TextBox 9"/>
          <p:cNvSpPr txBox="1"/>
          <p:nvPr/>
        </p:nvSpPr>
        <p:spPr>
          <a:xfrm>
            <a:off x="914400" y="1554480"/>
            <a:ext cx="1408176" cy="246888"/>
          </a:xfrm>
          <a:prstGeom prst="rect">
            <a:avLst/>
          </a:prstGeom>
          <a:noFill/>
        </p:spPr>
        <p:txBody>
          <a:bodyPr wrap="square" lIns="18288" rIns="18288" tIns="18288" bIns="18288" anchor="t">
            <a:spAutoFit/>
          </a:bodyPr>
          <a:lstStyle/>
          <a:p>
            <a:pPr algn="l"/>
            <a:r>
              <a:rPr sz="1120" b="1" lang="en-US">
                <a:solidFill>
                  <a:srgbClr val="1F90CC"/>
                </a:solidFill>
                <a:latin typeface="Arial"/>
              </a:rPr>
              <a:t>OBSERVE</a:t>
            </a:r>
          </a:p>
        </p:txBody>
      </p:sp>
      <p:sp>
        <p:nvSpPr>
          <p:cNvPr id="11" name="TextBox 10"/>
          <p:cNvSpPr txBox="1"/>
          <p:nvPr/>
        </p:nvSpPr>
        <p:spPr>
          <a:xfrm>
            <a:off x="603503" y="1975104"/>
            <a:ext cx="1737360" cy="1024128"/>
          </a:xfrm>
          <a:prstGeom prst="rect">
            <a:avLst/>
          </a:prstGeom>
          <a:noFill/>
        </p:spPr>
        <p:txBody>
          <a:bodyPr wrap="square" lIns="18288" rIns="18288" tIns="18288" bIns="18288" anchor="ctr">
            <a:spAutoFit/>
          </a:bodyPr>
          <a:lstStyle/>
          <a:p>
            <a:pPr algn="ctr"/>
            <a:r>
              <a:rPr sz="1050" b="1" lang="en-US">
                <a:solidFill>
                  <a:srgbClr val="434343"/>
                </a:solidFill>
                <a:latin typeface="Arial"/>
              </a:rPr>
              <a:t>Workers detect repeated lack of round progress.</a:t>
            </a:r>
          </a:p>
        </p:txBody>
      </p:sp>
      <p:cxnSp>
        <p:nvCxnSpPr>
          <p:cNvPr id="12" name="Connector 11"/>
          <p:cNvCxnSpPr/>
          <p:nvPr/>
        </p:nvCxnSpPr>
        <p:spPr>
          <a:xfrm>
            <a:off x="2523744" y="2331720"/>
            <a:ext cx="20116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0632" y="1399032"/>
            <a:ext cx="2066543" cy="1874519"/>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07791" y="1572768"/>
            <a:ext cx="310896" cy="201168"/>
          </a:xfrm>
          <a:prstGeom prst="rect">
            <a:avLst/>
          </a:prstGeom>
          <a:noFill/>
        </p:spPr>
        <p:txBody>
          <a:bodyPr wrap="square" lIns="18288" rIns="18288" tIns="18288" bIns="18288" anchor="t">
            <a:spAutoFit/>
          </a:bodyPr>
          <a:lstStyle/>
          <a:p>
            <a:pPr algn="l"/>
            <a:r>
              <a:rPr sz="1050" b="1" lang="en-US">
                <a:solidFill>
                  <a:srgbClr val="2F8F46"/>
                </a:solidFill>
                <a:latin typeface="Arial"/>
              </a:rPr>
              <a:t>02</a:t>
            </a:r>
          </a:p>
        </p:txBody>
      </p:sp>
      <p:sp>
        <p:nvSpPr>
          <p:cNvPr id="15" name="TextBox 14"/>
          <p:cNvSpPr txBox="1"/>
          <p:nvPr/>
        </p:nvSpPr>
        <p:spPr>
          <a:xfrm>
            <a:off x="3246120" y="1554480"/>
            <a:ext cx="1408176" cy="246888"/>
          </a:xfrm>
          <a:prstGeom prst="rect">
            <a:avLst/>
          </a:prstGeom>
          <a:noFill/>
        </p:spPr>
        <p:txBody>
          <a:bodyPr wrap="square" lIns="18288" rIns="18288" tIns="18288" bIns="18288" anchor="t">
            <a:spAutoFit/>
          </a:bodyPr>
          <a:lstStyle/>
          <a:p>
            <a:pPr algn="l"/>
            <a:r>
              <a:rPr sz="1120" b="1" lang="en-US">
                <a:solidFill>
                  <a:srgbClr val="2F8F46"/>
                </a:solidFill>
                <a:latin typeface="Arial"/>
              </a:rPr>
              <a:t>REPORT</a:t>
            </a:r>
          </a:p>
        </p:txBody>
      </p:sp>
      <p:sp>
        <p:nvSpPr>
          <p:cNvPr id="16" name="TextBox 15"/>
          <p:cNvSpPr txBox="1"/>
          <p:nvPr/>
        </p:nvSpPr>
        <p:spPr>
          <a:xfrm>
            <a:off x="2935224" y="1975104"/>
            <a:ext cx="1737360" cy="1024128"/>
          </a:xfrm>
          <a:prstGeom prst="rect">
            <a:avLst/>
          </a:prstGeom>
          <a:noFill/>
        </p:spPr>
        <p:txBody>
          <a:bodyPr wrap="square" lIns="18288" rIns="18288" tIns="18288" bIns="18288" anchor="ctr">
            <a:spAutoFit/>
          </a:bodyPr>
          <a:lstStyle/>
          <a:p>
            <a:pPr algn="ctr"/>
            <a:r>
              <a:rPr sz="1050" b="1" lang="en-US">
                <a:solidFill>
                  <a:srgbClr val="434343"/>
                </a:solidFill>
                <a:latin typeface="Arial"/>
              </a:rPr>
              <a:t>Action key signs the exact round and aggregator; duplicates reject.</a:t>
            </a:r>
          </a:p>
        </p:txBody>
      </p:sp>
      <p:cxnSp>
        <p:nvCxnSpPr>
          <p:cNvPr id="17" name="Connector 16"/>
          <p:cNvCxnSpPr/>
          <p:nvPr/>
        </p:nvCxnSpPr>
        <p:spPr>
          <a:xfrm>
            <a:off x="4855464" y="2331720"/>
            <a:ext cx="20116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02352" y="1399032"/>
            <a:ext cx="2066543" cy="1874519"/>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39512" y="1572768"/>
            <a:ext cx="310896" cy="201168"/>
          </a:xfrm>
          <a:prstGeom prst="rect">
            <a:avLst/>
          </a:prstGeom>
          <a:noFill/>
        </p:spPr>
        <p:txBody>
          <a:bodyPr wrap="square" lIns="18288" rIns="18288" tIns="18288" bIns="18288" anchor="t">
            <a:spAutoFit/>
          </a:bodyPr>
          <a:lstStyle/>
          <a:p>
            <a:pPr algn="l"/>
            <a:r>
              <a:rPr sz="1050" b="1" lang="en-US">
                <a:solidFill>
                  <a:srgbClr val="7A35B5"/>
                </a:solidFill>
                <a:latin typeface="Arial"/>
              </a:rPr>
              <a:t>03</a:t>
            </a:r>
          </a:p>
        </p:txBody>
      </p:sp>
      <p:sp>
        <p:nvSpPr>
          <p:cNvPr id="20" name="TextBox 19"/>
          <p:cNvSpPr txBox="1"/>
          <p:nvPr/>
        </p:nvSpPr>
        <p:spPr>
          <a:xfrm>
            <a:off x="5577840" y="1554480"/>
            <a:ext cx="1408176" cy="246888"/>
          </a:xfrm>
          <a:prstGeom prst="rect">
            <a:avLst/>
          </a:prstGeom>
          <a:noFill/>
        </p:spPr>
        <p:txBody>
          <a:bodyPr wrap="square" lIns="18288" rIns="18288" tIns="18288" bIns="18288" anchor="t">
            <a:spAutoFit/>
          </a:bodyPr>
          <a:lstStyle/>
          <a:p>
            <a:pPr algn="l"/>
            <a:r>
              <a:rPr sz="1120" b="1" lang="en-US">
                <a:solidFill>
                  <a:srgbClr val="7A35B5"/>
                </a:solidFill>
                <a:latin typeface="Arial"/>
              </a:rPr>
              <a:t>FREEZE QUORUM</a:t>
            </a:r>
          </a:p>
        </p:txBody>
      </p:sp>
      <p:sp>
        <p:nvSpPr>
          <p:cNvPr id="21" name="TextBox 20"/>
          <p:cNvSpPr txBox="1"/>
          <p:nvPr/>
        </p:nvSpPr>
        <p:spPr>
          <a:xfrm>
            <a:off x="5266944" y="1975104"/>
            <a:ext cx="1737360" cy="1024128"/>
          </a:xfrm>
          <a:prstGeom prst="rect">
            <a:avLst/>
          </a:prstGeom>
          <a:noFill/>
        </p:spPr>
        <p:txBody>
          <a:bodyPr wrap="square" lIns="18288" rIns="18288" tIns="18288" bIns="18288" anchor="ctr">
            <a:spAutoFit/>
          </a:bodyPr>
          <a:lstStyle/>
          <a:p>
            <a:pPr algn="ctr"/>
            <a:r>
              <a:rPr sz="1050" b="1" lang="en-US">
                <a:solidFill>
                  <a:srgbClr val="434343"/>
                </a:solidFill>
                <a:latin typeface="Arial"/>
              </a:rPr>
              <a:t>First report snapshots E reporters; q = ceil(E·p/100), p = 50%.</a:t>
            </a:r>
          </a:p>
        </p:txBody>
      </p:sp>
      <p:cxnSp>
        <p:nvCxnSpPr>
          <p:cNvPr id="22" name="Connector 21"/>
          <p:cNvCxnSpPr/>
          <p:nvPr/>
        </p:nvCxnSpPr>
        <p:spPr>
          <a:xfrm>
            <a:off x="718718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34071" y="1399032"/>
            <a:ext cx="2066543" cy="1874519"/>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1572768"/>
            <a:ext cx="310896" cy="201168"/>
          </a:xfrm>
          <a:prstGeom prst="rect">
            <a:avLst/>
          </a:prstGeom>
          <a:noFill/>
        </p:spPr>
        <p:txBody>
          <a:bodyPr wrap="square" lIns="18288" rIns="18288" tIns="18288" bIns="18288" anchor="t">
            <a:spAutoFit/>
          </a:bodyPr>
          <a:lstStyle/>
          <a:p>
            <a:pPr algn="l"/>
            <a:r>
              <a:rPr sz="1050" b="1" lang="en-US">
                <a:solidFill>
                  <a:srgbClr val="C40D1E"/>
                </a:solidFill>
                <a:latin typeface="Arial"/>
              </a:rPr>
              <a:t>04</a:t>
            </a:r>
          </a:p>
        </p:txBody>
      </p:sp>
      <p:sp>
        <p:nvSpPr>
          <p:cNvPr id="25" name="TextBox 24"/>
          <p:cNvSpPr txBox="1"/>
          <p:nvPr/>
        </p:nvSpPr>
        <p:spPr>
          <a:xfrm>
            <a:off x="7909559" y="1554480"/>
            <a:ext cx="1408176" cy="246888"/>
          </a:xfrm>
          <a:prstGeom prst="rect">
            <a:avLst/>
          </a:prstGeom>
          <a:noFill/>
        </p:spPr>
        <p:txBody>
          <a:bodyPr wrap="square" lIns="18288" rIns="18288" tIns="18288" bIns="18288" anchor="t">
            <a:spAutoFit/>
          </a:bodyPr>
          <a:lstStyle/>
          <a:p>
            <a:pPr algn="l"/>
            <a:r>
              <a:rPr sz="1120" b="1" lang="en-US">
                <a:solidFill>
                  <a:srgbClr val="C40D1E"/>
                </a:solidFill>
                <a:latin typeface="Arial"/>
              </a:rPr>
              <a:t>ABORT</a:t>
            </a:r>
          </a:p>
        </p:txBody>
      </p:sp>
      <p:sp>
        <p:nvSpPr>
          <p:cNvPr id="26" name="TextBox 25"/>
          <p:cNvSpPr txBox="1"/>
          <p:nvPr/>
        </p:nvSpPr>
        <p:spPr>
          <a:xfrm>
            <a:off x="7598663" y="1975104"/>
            <a:ext cx="1737360" cy="1024128"/>
          </a:xfrm>
          <a:prstGeom prst="rect">
            <a:avLst/>
          </a:prstGeom>
          <a:noFill/>
        </p:spPr>
        <p:txBody>
          <a:bodyPr wrap="square" lIns="18288" rIns="18288" tIns="18288" bIns="18288" anchor="ctr">
            <a:spAutoFit/>
          </a:bodyPr>
          <a:lstStyle/>
          <a:p>
            <a:pPr algn="ctr"/>
            <a:r>
              <a:rPr sz="1050" b="1" lang="en-US">
                <a:solidFill>
                  <a:srgbClr val="434343"/>
                </a:solidFill>
                <a:latin typeface="Arial"/>
              </a:rPr>
              <a:t>Penalize the failed aggregator, mark round r aborted, advance to r+1.</a:t>
            </a:r>
          </a:p>
        </p:txBody>
      </p:sp>
      <p:cxnSp>
        <p:nvCxnSpPr>
          <p:cNvPr id="27" name="Connector 26"/>
          <p:cNvCxnSpPr/>
          <p:nvPr/>
        </p:nvCxnSpPr>
        <p:spPr>
          <a:xfrm>
            <a:off x="951890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65792" y="1399032"/>
            <a:ext cx="2066543" cy="1874519"/>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902952" y="1572768"/>
            <a:ext cx="310896" cy="201168"/>
          </a:xfrm>
          <a:prstGeom prst="rect">
            <a:avLst/>
          </a:prstGeom>
          <a:noFill/>
        </p:spPr>
        <p:txBody>
          <a:bodyPr wrap="square" lIns="18288" rIns="18288" tIns="18288" bIns="18288" anchor="t">
            <a:spAutoFit/>
          </a:bodyPr>
          <a:lstStyle/>
          <a:p>
            <a:pPr algn="l"/>
            <a:r>
              <a:rPr sz="1050" b="1" lang="en-US">
                <a:solidFill>
                  <a:srgbClr val="FF6C00"/>
                </a:solidFill>
                <a:latin typeface="Arial"/>
              </a:rPr>
              <a:t>05</a:t>
            </a:r>
          </a:p>
        </p:txBody>
      </p:sp>
      <p:sp>
        <p:nvSpPr>
          <p:cNvPr id="30" name="TextBox 29"/>
          <p:cNvSpPr txBox="1"/>
          <p:nvPr/>
        </p:nvSpPr>
        <p:spPr>
          <a:xfrm>
            <a:off x="10241280" y="1554480"/>
            <a:ext cx="1408176" cy="246888"/>
          </a:xfrm>
          <a:prstGeom prst="rect">
            <a:avLst/>
          </a:prstGeom>
          <a:noFill/>
        </p:spPr>
        <p:txBody>
          <a:bodyPr wrap="square" lIns="18288" rIns="18288" tIns="18288" bIns="18288" anchor="t">
            <a:spAutoFit/>
          </a:bodyPr>
          <a:lstStyle/>
          <a:p>
            <a:pPr algn="l"/>
            <a:r>
              <a:rPr sz="1120" b="1" lang="en-US">
                <a:solidFill>
                  <a:srgbClr val="FF6C00"/>
                </a:solidFill>
                <a:latin typeface="Arial"/>
              </a:rPr>
              <a:t>REPLACE</a:t>
            </a:r>
          </a:p>
        </p:txBody>
      </p:sp>
      <p:sp>
        <p:nvSpPr>
          <p:cNvPr id="31" name="TextBox 30"/>
          <p:cNvSpPr txBox="1"/>
          <p:nvPr/>
        </p:nvSpPr>
        <p:spPr>
          <a:xfrm>
            <a:off x="9930384" y="1975104"/>
            <a:ext cx="1737360" cy="1024128"/>
          </a:xfrm>
          <a:prstGeom prst="rect">
            <a:avLst/>
          </a:prstGeom>
          <a:noFill/>
        </p:spPr>
        <p:txBody>
          <a:bodyPr wrap="square" lIns="18288" rIns="18288" tIns="18288" bIns="18288" anchor="ctr">
            <a:spAutoFit/>
          </a:bodyPr>
          <a:lstStyle/>
          <a:p>
            <a:pPr algn="ctr"/>
            <a:r>
              <a:rPr sz="1050" b="1" lang="en-US">
                <a:solidFill>
                  <a:srgbClr val="434343"/>
                </a:solidFill>
                <a:latin typeface="Arial"/>
              </a:rPr>
              <a:t>Weighted draw excludes the failed address; state returns to TRAINING.</a:t>
            </a:r>
          </a:p>
        </p:txBody>
      </p:sp>
      <p:sp>
        <p:nvSpPr>
          <p:cNvPr id="32" name="TextBox 31"/>
          <p:cNvSpPr txBox="1"/>
          <p:nvPr/>
        </p:nvSpPr>
        <p:spPr>
          <a:xfrm>
            <a:off x="713232" y="3602736"/>
            <a:ext cx="1645920" cy="219456"/>
          </a:xfrm>
          <a:prstGeom prst="rect">
            <a:avLst/>
          </a:prstGeom>
          <a:noFill/>
        </p:spPr>
        <p:txBody>
          <a:bodyPr wrap="square" lIns="18288" rIns="18288" tIns="18288" bIns="18288" anchor="t">
            <a:spAutoFit/>
          </a:bodyPr>
          <a:lstStyle/>
          <a:p>
            <a:pPr algn="l"/>
            <a:r>
              <a:rPr sz="1150" b="1" lang="en-US">
                <a:solidFill>
                  <a:srgbClr val="C40D1E"/>
                </a:solidFill>
                <a:latin typeface="Arial"/>
              </a:rPr>
              <a:t>STATE TRANSITION</a:t>
            </a:r>
          </a:p>
        </p:txBody>
      </p:sp>
      <p:sp>
        <p:nvSpPr>
          <p:cNvPr id="33" name="Rounded Rectangle 32"/>
          <p:cNvSpPr/>
          <p:nvPr/>
        </p:nvSpPr>
        <p:spPr>
          <a:xfrm>
            <a:off x="713232" y="3877056"/>
            <a:ext cx="3273552" cy="97840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4059936"/>
            <a:ext cx="2944368" cy="201168"/>
          </a:xfrm>
          <a:prstGeom prst="rect">
            <a:avLst/>
          </a:prstGeom>
          <a:noFill/>
        </p:spPr>
        <p:txBody>
          <a:bodyPr wrap="square" lIns="18288" rIns="18288" tIns="18288" bIns="18288" anchor="t">
            <a:spAutoFit/>
          </a:bodyPr>
          <a:lstStyle/>
          <a:p>
            <a:pPr algn="ctr"/>
            <a:r>
              <a:rPr sz="1050" b="1" lang="en-US">
                <a:solidFill>
                  <a:srgbClr val="2F8F46"/>
                </a:solidFill>
                <a:latin typeface="Arial"/>
              </a:rPr>
              <a:t>LAST FINALIZED STATE</a:t>
            </a:r>
          </a:p>
        </p:txBody>
      </p:sp>
      <p:sp>
        <p:nvSpPr>
          <p:cNvPr id="35" name="TextBox 34"/>
          <p:cNvSpPr txBox="1"/>
          <p:nvPr/>
        </p:nvSpPr>
        <p:spPr>
          <a:xfrm>
            <a:off x="877824" y="4352544"/>
            <a:ext cx="2944368" cy="237744"/>
          </a:xfrm>
          <a:prstGeom prst="rect">
            <a:avLst/>
          </a:prstGeom>
          <a:noFill/>
        </p:spPr>
        <p:txBody>
          <a:bodyPr wrap="square" lIns="18288" rIns="18288" tIns="18288" bIns="18288" anchor="t">
            <a:spAutoFit/>
          </a:bodyPr>
          <a:lstStyle/>
          <a:p>
            <a:pPr algn="ctr"/>
            <a:r>
              <a:rPr sz="1150" b="1" lang="en-US">
                <a:solidFill>
                  <a:srgbClr val="434343"/>
                </a:solidFill>
                <a:latin typeface="Arial"/>
              </a:rPr>
              <a:t>Model M(r−1) remains authoritative</a:t>
            </a:r>
          </a:p>
        </p:txBody>
      </p:sp>
      <p:cxnSp>
        <p:nvCxnSpPr>
          <p:cNvPr id="36" name="Connector 35"/>
          <p:cNvCxnSpPr/>
          <p:nvPr/>
        </p:nvCxnSpPr>
        <p:spPr>
          <a:xfrm>
            <a:off x="4005072" y="4361688"/>
            <a:ext cx="274320"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315968" y="3877056"/>
            <a:ext cx="3273552" cy="97840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59" y="4059936"/>
            <a:ext cx="2944368"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FAILED ATTEMPT</a:t>
            </a:r>
          </a:p>
        </p:txBody>
      </p:sp>
      <p:sp>
        <p:nvSpPr>
          <p:cNvPr id="39" name="TextBox 38"/>
          <p:cNvSpPr txBox="1"/>
          <p:nvPr/>
        </p:nvSpPr>
        <p:spPr>
          <a:xfrm>
            <a:off x="4480559" y="4352544"/>
            <a:ext cx="2944368" cy="237744"/>
          </a:xfrm>
          <a:prstGeom prst="rect">
            <a:avLst/>
          </a:prstGeom>
          <a:noFill/>
        </p:spPr>
        <p:txBody>
          <a:bodyPr wrap="square" lIns="18288" rIns="18288" tIns="18288" bIns="18288" anchor="t">
            <a:spAutoFit/>
          </a:bodyPr>
          <a:lstStyle/>
          <a:p>
            <a:pPr algn="ctr"/>
            <a:r>
              <a:rPr sz="1150" b="1" lang="en-US">
                <a:solidFill>
                  <a:srgbClr val="434343"/>
                </a:solidFill>
                <a:latin typeface="Arial"/>
              </a:rPr>
              <a:t>Round r is recorded as aborted</a:t>
            </a:r>
          </a:p>
        </p:txBody>
      </p:sp>
      <p:cxnSp>
        <p:nvCxnSpPr>
          <p:cNvPr id="40" name="Connector 39"/>
          <p:cNvCxnSpPr/>
          <p:nvPr/>
        </p:nvCxnSpPr>
        <p:spPr>
          <a:xfrm>
            <a:off x="7607808" y="4361688"/>
            <a:ext cx="274319"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918704" y="3877056"/>
            <a:ext cx="3273552" cy="97840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83296" y="4059936"/>
            <a:ext cx="2944368" cy="201168"/>
          </a:xfrm>
          <a:prstGeom prst="rect">
            <a:avLst/>
          </a:prstGeom>
          <a:noFill/>
        </p:spPr>
        <p:txBody>
          <a:bodyPr wrap="square" lIns="18288" rIns="18288" tIns="18288" bIns="18288" anchor="t">
            <a:spAutoFit/>
          </a:bodyPr>
          <a:lstStyle/>
          <a:p>
            <a:pPr algn="ctr"/>
            <a:r>
              <a:rPr sz="1050" b="1" lang="en-US">
                <a:solidFill>
                  <a:srgbClr val="1F90CC"/>
                </a:solidFill>
                <a:latin typeface="Arial"/>
              </a:rPr>
              <a:t>SUCCESSOR ROUND</a:t>
            </a:r>
          </a:p>
        </p:txBody>
      </p:sp>
      <p:sp>
        <p:nvSpPr>
          <p:cNvPr id="43" name="TextBox 42"/>
          <p:cNvSpPr txBox="1"/>
          <p:nvPr/>
        </p:nvSpPr>
        <p:spPr>
          <a:xfrm>
            <a:off x="8083296" y="4352544"/>
            <a:ext cx="2944368" cy="237744"/>
          </a:xfrm>
          <a:prstGeom prst="rect">
            <a:avLst/>
          </a:prstGeom>
          <a:noFill/>
        </p:spPr>
        <p:txBody>
          <a:bodyPr wrap="square" lIns="18288" rIns="18288" tIns="18288" bIns="18288" anchor="t">
            <a:spAutoFit/>
          </a:bodyPr>
          <a:lstStyle/>
          <a:p>
            <a:pPr algn="ctr"/>
            <a:r>
              <a:rPr sz="1150" b="1" lang="en-US">
                <a:solidFill>
                  <a:srgbClr val="434343"/>
                </a:solidFill>
                <a:latin typeface="Arial"/>
              </a:rPr>
              <a:t>Round r+1 restarts from M(r−1)</a:t>
            </a:r>
          </a:p>
        </p:txBody>
      </p:sp>
      <p:sp>
        <p:nvSpPr>
          <p:cNvPr id="44" name="Rectangle 43"/>
          <p:cNvSpPr/>
          <p:nvPr/>
        </p:nvSpPr>
        <p:spPr>
          <a:xfrm>
            <a:off x="1298448" y="5093208"/>
            <a:ext cx="9601200" cy="44805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499616" y="5193792"/>
            <a:ext cx="9198864" cy="246888"/>
          </a:xfrm>
          <a:prstGeom prst="rect">
            <a:avLst/>
          </a:prstGeom>
          <a:noFill/>
        </p:spPr>
        <p:txBody>
          <a:bodyPr wrap="square" lIns="18288" rIns="18288" tIns="18288" bIns="18288" anchor="ctr">
            <a:spAutoFit/>
          </a:bodyPr>
          <a:lstStyle/>
          <a:p>
            <a:pPr algn="ctr"/>
            <a:r>
              <a:rPr sz="128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The critical boundary: authoritative model handoff</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ARTIFACT IDENTITY SURVIVES UNTRUSTED STORAGE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85800" y="1682496"/>
            <a:ext cx="2980944" cy="1947672"/>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1956816"/>
            <a:ext cx="2651760" cy="292608"/>
          </a:xfrm>
          <a:prstGeom prst="rect">
            <a:avLst/>
          </a:prstGeom>
          <a:noFill/>
        </p:spPr>
        <p:txBody>
          <a:bodyPr wrap="square" lIns="18288" rIns="18288" tIns="18288" bIns="18288" anchor="t">
            <a:spAutoFit/>
          </a:bodyPr>
          <a:lstStyle/>
          <a:p>
            <a:pPr algn="ctr"/>
            <a:r>
              <a:rPr sz="1700" b="1" lang="en-US">
                <a:solidFill>
                  <a:srgbClr val="C40D1E"/>
                </a:solidFill>
                <a:latin typeface="Arial"/>
              </a:rPr>
              <a:t>LEDGER</a:t>
            </a:r>
          </a:p>
        </p:txBody>
      </p:sp>
      <p:sp>
        <p:nvSpPr>
          <p:cNvPr id="10" name="TextBox 9"/>
          <p:cNvSpPr txBox="1"/>
          <p:nvPr/>
        </p:nvSpPr>
        <p:spPr>
          <a:xfrm>
            <a:off x="868680" y="2560320"/>
            <a:ext cx="2615184" cy="658368"/>
          </a:xfrm>
          <a:prstGeom prst="rect">
            <a:avLst/>
          </a:prstGeom>
          <a:noFill/>
        </p:spPr>
        <p:txBody>
          <a:bodyPr wrap="square" lIns="18288" rIns="18288" tIns="18288" bIns="18288" anchor="t">
            <a:spAutoFit/>
          </a:bodyPr>
          <a:lstStyle/>
          <a:p>
            <a:pPr algn="ctr"/>
            <a:r>
              <a:rPr sz="1600" b="1" lang="en-US">
                <a:solidFill>
                  <a:srgbClr val="434343"/>
                </a:solidFill>
                <a:latin typeface="Arial"/>
              </a:rPr>
              <a:t>Round · publisher
Model, key, and signature CIDs</a:t>
            </a:r>
          </a:p>
        </p:txBody>
      </p:sp>
      <p:sp>
        <p:nvSpPr>
          <p:cNvPr id="11" name="Rounded Rectangle 10"/>
          <p:cNvSpPr/>
          <p:nvPr/>
        </p:nvSpPr>
        <p:spPr>
          <a:xfrm>
            <a:off x="4315968" y="1682496"/>
            <a:ext cx="2980944" cy="1947672"/>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59" y="1956816"/>
            <a:ext cx="2651760" cy="292608"/>
          </a:xfrm>
          <a:prstGeom prst="rect">
            <a:avLst/>
          </a:prstGeom>
          <a:noFill/>
        </p:spPr>
        <p:txBody>
          <a:bodyPr wrap="square" lIns="18288" rIns="18288" tIns="18288" bIns="18288" anchor="t">
            <a:spAutoFit/>
          </a:bodyPr>
          <a:lstStyle/>
          <a:p>
            <a:pPr algn="ctr"/>
            <a:r>
              <a:rPr sz="1700" b="1" lang="en-US">
                <a:solidFill>
                  <a:srgbClr val="7A35B5"/>
                </a:solidFill>
                <a:latin typeface="Arial"/>
              </a:rPr>
              <a:t>IPFS</a:t>
            </a:r>
          </a:p>
        </p:txBody>
      </p:sp>
      <p:sp>
        <p:nvSpPr>
          <p:cNvPr id="13" name="TextBox 12"/>
          <p:cNvSpPr txBox="1"/>
          <p:nvPr/>
        </p:nvSpPr>
        <p:spPr>
          <a:xfrm>
            <a:off x="4498848" y="2560320"/>
            <a:ext cx="2615184" cy="658368"/>
          </a:xfrm>
          <a:prstGeom prst="rect">
            <a:avLst/>
          </a:prstGeom>
          <a:noFill/>
        </p:spPr>
        <p:txBody>
          <a:bodyPr wrap="square" lIns="18288" rIns="18288" tIns="18288" bIns="18288" anchor="t">
            <a:spAutoFit/>
          </a:bodyPr>
          <a:lstStyle/>
          <a:p>
            <a:pPr algn="ctr"/>
            <a:r>
              <a:rPr sz="1600" b="1" lang="en-US">
                <a:solidFill>
                  <a:srgbClr val="434343"/>
                </a:solidFill>
                <a:latin typeface="Arial"/>
              </a:rPr>
              <a:t>AES-GCM model ciphertext
RSA-OAEP key envelopes</a:t>
            </a:r>
          </a:p>
        </p:txBody>
      </p:sp>
      <p:sp>
        <p:nvSpPr>
          <p:cNvPr id="14" name="Rounded Rectangle 13"/>
          <p:cNvSpPr/>
          <p:nvPr/>
        </p:nvSpPr>
        <p:spPr>
          <a:xfrm>
            <a:off x="7936992" y="1682496"/>
            <a:ext cx="2980944" cy="194767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3" y="1956816"/>
            <a:ext cx="2651760" cy="292608"/>
          </a:xfrm>
          <a:prstGeom prst="rect">
            <a:avLst/>
          </a:prstGeom>
          <a:noFill/>
        </p:spPr>
        <p:txBody>
          <a:bodyPr wrap="square" lIns="18288" rIns="18288" tIns="18288" bIns="18288" anchor="t">
            <a:spAutoFit/>
          </a:bodyPr>
          <a:lstStyle/>
          <a:p>
            <a:pPr algn="ctr"/>
            <a:r>
              <a:rPr sz="1700" b="1" lang="en-US">
                <a:solidFill>
                  <a:srgbClr val="2F8F46"/>
                </a:solidFill>
                <a:latin typeface="Arial"/>
              </a:rPr>
              <a:t>MEASURED RECEIVER</a:t>
            </a:r>
          </a:p>
        </p:txBody>
      </p:sp>
      <p:sp>
        <p:nvSpPr>
          <p:cNvPr id="16" name="TextBox 15"/>
          <p:cNvSpPr txBox="1"/>
          <p:nvPr/>
        </p:nvSpPr>
        <p:spPr>
          <a:xfrm>
            <a:off x="8119871" y="2560320"/>
            <a:ext cx="2615184" cy="658368"/>
          </a:xfrm>
          <a:prstGeom prst="rect">
            <a:avLst/>
          </a:prstGeom>
          <a:noFill/>
        </p:spPr>
        <p:txBody>
          <a:bodyPr wrap="square" lIns="18288" rIns="18288" tIns="18288" bIns="18288" anchor="t">
            <a:spAutoFit/>
          </a:bodyPr>
          <a:lstStyle/>
          <a:p>
            <a:pPr algn="ctr"/>
            <a:r>
              <a:rPr sz="1600" b="1" lang="en-US">
                <a:solidFill>
                  <a:srgbClr val="434343"/>
                </a:solidFill>
                <a:latin typeface="Arial"/>
              </a:rPr>
              <a:t>Resolve · decrypt
Verify signature and hashes</a:t>
            </a:r>
          </a:p>
        </p:txBody>
      </p:sp>
      <p:cxnSp>
        <p:nvCxnSpPr>
          <p:cNvPr id="17" name="Connector 16"/>
          <p:cNvCxnSpPr/>
          <p:nvPr/>
        </p:nvCxnSpPr>
        <p:spPr>
          <a:xfrm>
            <a:off x="3694176" y="2660904"/>
            <a:ext cx="566928"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24344" y="2660904"/>
            <a:ext cx="557783"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197864" y="4014215"/>
            <a:ext cx="97840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35024" y="4197096"/>
            <a:ext cx="9509760" cy="274320"/>
          </a:xfrm>
          <a:prstGeom prst="rect">
            <a:avLst/>
          </a:prstGeom>
          <a:noFill/>
        </p:spPr>
        <p:txBody>
          <a:bodyPr wrap="square" lIns="18288" rIns="18288" tIns="18288" bIns="18288" anchor="ctr">
            <a:spAutoFit/>
          </a:bodyPr>
          <a:lstStyle/>
          <a:p>
            <a:pPr algn="ctr"/>
            <a:r>
              <a:rPr sz="1400" b="0" lang="en-US">
                <a:solidFill>
                  <a:srgbClr val="434343"/>
                </a:solidFill>
                <a:latin typeface="Arial"/>
              </a:rPr>
              <a:t>Bound identity:  </a:t>
            </a:r>
            <a:r>
              <a:rPr sz="1500" b="1" lang="en-US">
                <a:solidFill>
                  <a:srgbClr val="C40D1E"/>
                </a:solidFill>
                <a:latin typeface="Arial"/>
              </a:rPr>
              <a:t>publication hash</a:t>
            </a:r>
            <a:r>
              <a:rPr sz="1500" b="0" lang="en-US">
                <a:solidFill>
                  <a:srgbClr val="B2B2B2"/>
                </a:solidFill>
                <a:latin typeface="Arial"/>
              </a:rPr>
              <a:t>  ·  </a:t>
            </a:r>
            <a:r>
              <a:rPr sz="1500" b="1" lang="en-US">
                <a:solidFill>
                  <a:srgbClr val="2F8F46"/>
                </a:solidFill>
                <a:latin typeface="Arial"/>
              </a:rPr>
              <a:t>model hash</a:t>
            </a:r>
            <a:r>
              <a:rPr sz="1500" b="0" lang="en-US">
                <a:solidFill>
                  <a:srgbClr val="B2B2B2"/>
                </a:solidFill>
                <a:latin typeface="Arial"/>
              </a:rPr>
              <a:t>  ·  </a:t>
            </a:r>
            <a:r>
              <a:rPr sz="1500" b="1" lang="en-US">
                <a:solidFill>
                  <a:srgbClr val="7A35B5"/>
                </a:solidFill>
                <a:latin typeface="Arial"/>
              </a:rPr>
              <a:t>publisher key</a:t>
            </a:r>
          </a:p>
        </p:txBody>
      </p:sp>
      <p:sp>
        <p:nvSpPr>
          <p:cNvPr id="21" name="Rectangle 20"/>
          <p:cNvSpPr/>
          <p:nvPr/>
        </p:nvSpPr>
        <p:spPr>
          <a:xfrm>
            <a:off x="1965960" y="4809744"/>
            <a:ext cx="8238744" cy="73152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4919472"/>
            <a:ext cx="7818120" cy="512064"/>
          </a:xfrm>
          <a:prstGeom prst="rect">
            <a:avLst/>
          </a:prstGeom>
          <a:noFill/>
        </p:spPr>
        <p:txBody>
          <a:bodyPr wrap="square" lIns="18288" rIns="18288" tIns="18288" bIns="18288" anchor="ctr">
            <a:spAutoFit/>
          </a:bodyPr>
          <a:lstStyle/>
          <a:p>
            <a:pPr algn="ctr"/>
            <a:r>
              <a:rPr sz="1400" b="1" lang="en-US">
                <a:solidFill>
                  <a:srgbClr val="FFFFFF"/>
                </a:solidFill>
                <a:latin typeface="Arial"/>
              </a:rPr>
              <a:t>The agent never supplies a model path—the measured receiver resolves the current publication itself.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Sello: the receiving service becomes the witness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PROPOSED BY JUAN FIGUERA (2026) · RECEIVER-ATTESTED CONFIDENTIAL RECEIPTS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585216" y="1335024"/>
            <a:ext cx="11009376" cy="475488"/>
          </a:xfrm>
          <a:prstGeom prst="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453896"/>
            <a:ext cx="10643616" cy="228600"/>
          </a:xfrm>
          <a:prstGeom prst="rect">
            <a:avLst/>
          </a:prstGeom>
          <a:noFill/>
        </p:spPr>
        <p:txBody>
          <a:bodyPr wrap="square" lIns="18288" rIns="18288" tIns="18288" bIns="18288" anchor="ctr">
            <a:spAutoFit/>
          </a:bodyPr>
          <a:lstStyle/>
          <a:p>
            <a:pPr algn="ctr"/>
            <a:r>
              <a:rPr sz="1080" b="1" lang="en-US">
                <a:solidFill>
                  <a:srgbClr val="C40D1E"/>
                </a:solidFill>
                <a:latin typeface="Arial"/>
              </a:rPr>
              <a:t>TRUST-BOUNDARY INVERSION   </a:t>
            </a:r>
            <a:r>
              <a:rPr sz="1250" b="1" lang="en-US">
                <a:solidFill>
                  <a:srgbClr val="434343"/>
                </a:solidFill>
                <a:latin typeface="Arial"/>
              </a:rPr>
              <a:t>Instead of trusting agent-side traces, the called service records what it observed.</a:t>
            </a:r>
          </a:p>
        </p:txBody>
      </p:sp>
      <p:sp>
        <p:nvSpPr>
          <p:cNvPr id="10" name="Rounded Rectangle 9"/>
          <p:cNvSpPr/>
          <p:nvPr/>
        </p:nvSpPr>
        <p:spPr>
          <a:xfrm>
            <a:off x="502920" y="2039112"/>
            <a:ext cx="2148840" cy="12435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2240280"/>
            <a:ext cx="1892808" cy="246888"/>
          </a:xfrm>
          <a:prstGeom prst="rect">
            <a:avLst/>
          </a:prstGeom>
          <a:noFill/>
        </p:spPr>
        <p:txBody>
          <a:bodyPr wrap="square" lIns="18288" rIns="18288" tIns="18288" bIns="18288" anchor="t">
            <a:spAutoFit/>
          </a:bodyPr>
          <a:lstStyle/>
          <a:p>
            <a:pPr algn="ctr"/>
            <a:r>
              <a:rPr sz="1130" b="1" lang="en-US">
                <a:solidFill>
                  <a:srgbClr val="1F90CC"/>
                </a:solidFill>
                <a:latin typeface="Arial"/>
              </a:rPr>
              <a:t>1  AGENT</a:t>
            </a:r>
          </a:p>
        </p:txBody>
      </p:sp>
      <p:sp>
        <p:nvSpPr>
          <p:cNvPr id="12" name="TextBox 11"/>
          <p:cNvSpPr txBox="1"/>
          <p:nvPr/>
        </p:nvSpPr>
        <p:spPr>
          <a:xfrm>
            <a:off x="658368" y="2578608"/>
            <a:ext cx="1837944" cy="521207"/>
          </a:xfrm>
          <a:prstGeom prst="rect">
            <a:avLst/>
          </a:prstGeom>
          <a:noFill/>
        </p:spPr>
        <p:txBody>
          <a:bodyPr wrap="square" lIns="18288" rIns="18288" tIns="18288" bIns="18288" anchor="ctr">
            <a:spAutoFit/>
          </a:bodyPr>
          <a:lstStyle/>
          <a:p>
            <a:pPr algn="ctr"/>
            <a:r>
              <a:rPr sz="980" b="1" lang="en-US">
                <a:solidFill>
                  <a:srgbClr val="434343"/>
                </a:solidFill>
                <a:latin typeface="Arial"/>
              </a:rPr>
              <a:t>Action + signed JWS token
Owner HPKE key · log policy</a:t>
            </a:r>
          </a:p>
        </p:txBody>
      </p:sp>
      <p:sp>
        <p:nvSpPr>
          <p:cNvPr id="13" name="Rounded Rectangle 12"/>
          <p:cNvSpPr/>
          <p:nvPr/>
        </p:nvSpPr>
        <p:spPr>
          <a:xfrm>
            <a:off x="3090672" y="2039112"/>
            <a:ext cx="2331720" cy="124358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18688" y="2240280"/>
            <a:ext cx="2075687" cy="246888"/>
          </a:xfrm>
          <a:prstGeom prst="rect">
            <a:avLst/>
          </a:prstGeom>
          <a:noFill/>
        </p:spPr>
        <p:txBody>
          <a:bodyPr wrap="square" lIns="18288" rIns="18288" tIns="18288" bIns="18288" anchor="t">
            <a:spAutoFit/>
          </a:bodyPr>
          <a:lstStyle/>
          <a:p>
            <a:pPr algn="ctr"/>
            <a:r>
              <a:rPr sz="1130" b="1" lang="en-US">
                <a:solidFill>
                  <a:srgbClr val="2F8F46"/>
                </a:solidFill>
                <a:latin typeface="Arial"/>
              </a:rPr>
              <a:t>2  RECEIVING SERVICE</a:t>
            </a:r>
          </a:p>
        </p:txBody>
      </p:sp>
      <p:sp>
        <p:nvSpPr>
          <p:cNvPr id="15" name="TextBox 14"/>
          <p:cNvSpPr txBox="1"/>
          <p:nvPr/>
        </p:nvSpPr>
        <p:spPr>
          <a:xfrm>
            <a:off x="3246120" y="2578608"/>
            <a:ext cx="2020824" cy="521207"/>
          </a:xfrm>
          <a:prstGeom prst="rect">
            <a:avLst/>
          </a:prstGeom>
          <a:noFill/>
        </p:spPr>
        <p:txBody>
          <a:bodyPr wrap="square" lIns="18288" rIns="18288" tIns="18288" bIns="18288" anchor="ctr">
            <a:spAutoFit/>
          </a:bodyPr>
          <a:lstStyle/>
          <a:p>
            <a:pPr algn="ctr"/>
            <a:r>
              <a:rPr sz="980" b="1" lang="en-US">
                <a:solidFill>
                  <a:srgbClr val="434343"/>
                </a:solidFill>
                <a:latin typeface="Arial"/>
              </a:rPr>
              <a:t>Verify token · execute action
Hash exact input + output</a:t>
            </a:r>
          </a:p>
        </p:txBody>
      </p:sp>
      <p:sp>
        <p:nvSpPr>
          <p:cNvPr id="16" name="Rounded Rectangle 15"/>
          <p:cNvSpPr/>
          <p:nvPr/>
        </p:nvSpPr>
        <p:spPr>
          <a:xfrm>
            <a:off x="5870448" y="2039112"/>
            <a:ext cx="2377440" cy="12435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8464" y="2240280"/>
            <a:ext cx="2121408" cy="246888"/>
          </a:xfrm>
          <a:prstGeom prst="rect">
            <a:avLst/>
          </a:prstGeom>
          <a:noFill/>
        </p:spPr>
        <p:txBody>
          <a:bodyPr wrap="square" lIns="18288" rIns="18288" tIns="18288" bIns="18288" anchor="t">
            <a:spAutoFit/>
          </a:bodyPr>
          <a:lstStyle/>
          <a:p>
            <a:pPr algn="ctr"/>
            <a:r>
              <a:rPr sz="1130" b="1" lang="en-US">
                <a:solidFill>
                  <a:srgbClr val="FF6C00"/>
                </a:solidFill>
                <a:latin typeface="Arial"/>
              </a:rPr>
              <a:t>3  SELLO RECEIPT</a:t>
            </a:r>
          </a:p>
        </p:txBody>
      </p:sp>
      <p:sp>
        <p:nvSpPr>
          <p:cNvPr id="18" name="TextBox 17"/>
          <p:cNvSpPr txBox="1"/>
          <p:nvPr/>
        </p:nvSpPr>
        <p:spPr>
          <a:xfrm>
            <a:off x="6025896" y="2578608"/>
            <a:ext cx="2066544" cy="521207"/>
          </a:xfrm>
          <a:prstGeom prst="rect">
            <a:avLst/>
          </a:prstGeom>
          <a:noFill/>
        </p:spPr>
        <p:txBody>
          <a:bodyPr wrap="square" lIns="18288" rIns="18288" tIns="18288" bIns="18288" anchor="ctr">
            <a:spAutoFit/>
          </a:bodyPr>
          <a:lstStyle/>
          <a:p>
            <a:pPr algn="ctr"/>
            <a:r>
              <a:rPr sz="980" b="1" lang="en-US">
                <a:solidFill>
                  <a:srgbClr val="434343"/>
                </a:solidFill>
                <a:latin typeface="Arial"/>
              </a:rPr>
              <a:t>HPKE encrypt to owner
COSE_Sign1 with service key</a:t>
            </a:r>
          </a:p>
        </p:txBody>
      </p:sp>
      <p:sp>
        <p:nvSpPr>
          <p:cNvPr id="19" name="Rounded Rectangle 18"/>
          <p:cNvSpPr/>
          <p:nvPr/>
        </p:nvSpPr>
        <p:spPr>
          <a:xfrm>
            <a:off x="8695944" y="2039112"/>
            <a:ext cx="2889504" cy="1243584"/>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2240280"/>
            <a:ext cx="2633472" cy="246888"/>
          </a:xfrm>
          <a:prstGeom prst="rect">
            <a:avLst/>
          </a:prstGeom>
          <a:noFill/>
        </p:spPr>
        <p:txBody>
          <a:bodyPr wrap="square" lIns="18288" rIns="18288" tIns="18288" bIns="18288" anchor="t">
            <a:spAutoFit/>
          </a:bodyPr>
          <a:lstStyle/>
          <a:p>
            <a:pPr algn="ctr"/>
            <a:r>
              <a:rPr sz="1130" b="1" lang="en-US">
                <a:solidFill>
                  <a:srgbClr val="7A35B5"/>
                </a:solidFill>
                <a:latin typeface="Arial"/>
              </a:rPr>
              <a:t>4  TRANSPARENCY LOG</a:t>
            </a:r>
          </a:p>
        </p:txBody>
      </p:sp>
      <p:sp>
        <p:nvSpPr>
          <p:cNvPr id="21" name="TextBox 20"/>
          <p:cNvSpPr txBox="1"/>
          <p:nvPr/>
        </p:nvSpPr>
        <p:spPr>
          <a:xfrm>
            <a:off x="8851392" y="2578608"/>
            <a:ext cx="2578608" cy="521207"/>
          </a:xfrm>
          <a:prstGeom prst="rect">
            <a:avLst/>
          </a:prstGeom>
          <a:noFill/>
        </p:spPr>
        <p:txBody>
          <a:bodyPr wrap="square" lIns="18288" rIns="18288" tIns="18288" bIns="18288" anchor="ctr">
            <a:spAutoFit/>
          </a:bodyPr>
          <a:lstStyle/>
          <a:p>
            <a:pPr algn="ctr"/>
            <a:r>
              <a:rPr sz="980" b="1" lang="en-US">
                <a:solidFill>
                  <a:srgbClr val="434343"/>
                </a:solidFill>
                <a:latin typeface="Arial"/>
              </a:rPr>
              <a:t>Append encrypted envelope
Return Merkle inclusion proof</a:t>
            </a:r>
          </a:p>
        </p:txBody>
      </p:sp>
      <p:cxnSp>
        <p:nvCxnSpPr>
          <p:cNvPr id="22" name="Connector 21"/>
          <p:cNvCxnSpPr/>
          <p:nvPr/>
        </p:nvCxnSpPr>
        <p:spPr>
          <a:xfrm>
            <a:off x="2670048" y="2660904"/>
            <a:ext cx="365760" cy="0"/>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440680" y="2660904"/>
            <a:ext cx="374904" cy="0"/>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266175" y="2660904"/>
            <a:ext cx="374905" cy="0"/>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49840" y="3319272"/>
            <a:ext cx="0" cy="256032"/>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88136" y="3621024"/>
            <a:ext cx="9976104" cy="731520"/>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9304" y="3767328"/>
            <a:ext cx="2679192" cy="219456"/>
          </a:xfrm>
          <a:prstGeom prst="rect">
            <a:avLst/>
          </a:prstGeom>
          <a:noFill/>
        </p:spPr>
        <p:txBody>
          <a:bodyPr wrap="square" lIns="18288" rIns="18288" tIns="18288" bIns="18288" anchor="t">
            <a:spAutoFit/>
          </a:bodyPr>
          <a:lstStyle/>
          <a:p>
            <a:pPr algn="l"/>
            <a:r>
              <a:rPr sz="1080" b="1" lang="en-US">
                <a:solidFill>
                  <a:srgbClr val="C40D1E"/>
                </a:solidFill>
                <a:latin typeface="Arial"/>
              </a:rPr>
              <a:t>5  OWNER RECONSTRUCTS THE TRAIL</a:t>
            </a:r>
          </a:p>
        </p:txBody>
      </p:sp>
      <p:sp>
        <p:nvSpPr>
          <p:cNvPr id="28" name="TextBox 27"/>
          <p:cNvSpPr txBox="1"/>
          <p:nvPr/>
        </p:nvSpPr>
        <p:spPr>
          <a:xfrm>
            <a:off x="3877056" y="3749039"/>
            <a:ext cx="6912864" cy="265176"/>
          </a:xfrm>
          <a:prstGeom prst="rect">
            <a:avLst/>
          </a:prstGeom>
          <a:noFill/>
        </p:spPr>
        <p:txBody>
          <a:bodyPr wrap="square" lIns="18288" rIns="18288" tIns="18288" bIns="18288" anchor="ctr">
            <a:spAutoFit/>
          </a:bodyPr>
          <a:lstStyle/>
          <a:p>
            <a:pPr algn="ctr"/>
            <a:r>
              <a:rPr sz="1120" b="1" lang="en-US">
                <a:solidFill>
                  <a:srgbClr val="434343"/>
                </a:solidFill>
                <a:latin typeface="Arial"/>
              </a:rPr>
              <a:t>Query by token_ref  →  verify witnessed log + service signature  →  decrypt locally</a:t>
            </a:r>
          </a:p>
        </p:txBody>
      </p:sp>
      <p:sp>
        <p:nvSpPr>
          <p:cNvPr id="29" name="Rounded Rectangle 28"/>
          <p:cNvSpPr/>
          <p:nvPr/>
        </p:nvSpPr>
        <p:spPr>
          <a:xfrm>
            <a:off x="585216" y="4617720"/>
            <a:ext cx="2587752" cy="5303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4754880"/>
            <a:ext cx="393192" cy="182880"/>
          </a:xfrm>
          <a:prstGeom prst="rect">
            <a:avLst/>
          </a:prstGeom>
          <a:noFill/>
        </p:spPr>
        <p:txBody>
          <a:bodyPr wrap="square" lIns="18288" rIns="18288" tIns="18288" bIns="18288" anchor="t">
            <a:spAutoFit/>
          </a:bodyPr>
          <a:lstStyle/>
          <a:p>
            <a:pPr algn="l"/>
            <a:r>
              <a:rPr sz="980" b="1" lang="en-US">
                <a:solidFill>
                  <a:srgbClr val="1F90CC"/>
                </a:solidFill>
                <a:latin typeface="Arial"/>
              </a:rPr>
              <a:t>P1</a:t>
            </a:r>
          </a:p>
        </p:txBody>
      </p:sp>
      <p:sp>
        <p:nvSpPr>
          <p:cNvPr id="31" name="TextBox 30"/>
          <p:cNvSpPr txBox="1"/>
          <p:nvPr/>
        </p:nvSpPr>
        <p:spPr>
          <a:xfrm>
            <a:off x="1088136" y="4736592"/>
            <a:ext cx="1938528" cy="210312"/>
          </a:xfrm>
          <a:prstGeom prst="rect">
            <a:avLst/>
          </a:prstGeom>
          <a:noFill/>
        </p:spPr>
        <p:txBody>
          <a:bodyPr wrap="square" lIns="18288" rIns="18288" tIns="18288" bIns="18288" anchor="t">
            <a:spAutoFit/>
          </a:bodyPr>
          <a:lstStyle/>
          <a:p>
            <a:pPr algn="ctr"/>
            <a:r>
              <a:rPr sz="1030" b="1" lang="en-US">
                <a:solidFill>
                  <a:srgbClr val="434343"/>
                </a:solidFill>
                <a:latin typeface="Arial"/>
              </a:rPr>
              <a:t>Receiver signs</a:t>
            </a:r>
          </a:p>
        </p:txBody>
      </p:sp>
      <p:sp>
        <p:nvSpPr>
          <p:cNvPr id="32" name="Rounded Rectangle 31"/>
          <p:cNvSpPr/>
          <p:nvPr/>
        </p:nvSpPr>
        <p:spPr>
          <a:xfrm>
            <a:off x="3383280" y="4617720"/>
            <a:ext cx="2587752" cy="5303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11296" y="4754880"/>
            <a:ext cx="393192" cy="182880"/>
          </a:xfrm>
          <a:prstGeom prst="rect">
            <a:avLst/>
          </a:prstGeom>
          <a:noFill/>
        </p:spPr>
        <p:txBody>
          <a:bodyPr wrap="square" lIns="18288" rIns="18288" tIns="18288" bIns="18288" anchor="t">
            <a:spAutoFit/>
          </a:bodyPr>
          <a:lstStyle/>
          <a:p>
            <a:pPr algn="l"/>
            <a:r>
              <a:rPr sz="980" b="1" lang="en-US">
                <a:solidFill>
                  <a:srgbClr val="2F8F46"/>
                </a:solidFill>
                <a:latin typeface="Arial"/>
              </a:rPr>
              <a:t>P2</a:t>
            </a:r>
          </a:p>
        </p:txBody>
      </p:sp>
      <p:sp>
        <p:nvSpPr>
          <p:cNvPr id="34" name="TextBox 33"/>
          <p:cNvSpPr txBox="1"/>
          <p:nvPr/>
        </p:nvSpPr>
        <p:spPr>
          <a:xfrm>
            <a:off x="3886200" y="4736592"/>
            <a:ext cx="1938528" cy="210312"/>
          </a:xfrm>
          <a:prstGeom prst="rect">
            <a:avLst/>
          </a:prstGeom>
          <a:noFill/>
        </p:spPr>
        <p:txBody>
          <a:bodyPr wrap="square" lIns="18288" rIns="18288" tIns="18288" bIns="18288" anchor="t">
            <a:spAutoFit/>
          </a:bodyPr>
          <a:lstStyle/>
          <a:p>
            <a:pPr algn="ctr"/>
            <a:r>
              <a:rPr sz="1030" b="1" lang="en-US">
                <a:solidFill>
                  <a:srgbClr val="434343"/>
                </a:solidFill>
                <a:latin typeface="Arial"/>
              </a:rPr>
              <a:t>Owner-encrypted</a:t>
            </a:r>
          </a:p>
        </p:txBody>
      </p:sp>
      <p:sp>
        <p:nvSpPr>
          <p:cNvPr id="35" name="Rounded Rectangle 34"/>
          <p:cNvSpPr/>
          <p:nvPr/>
        </p:nvSpPr>
        <p:spPr>
          <a:xfrm>
            <a:off x="6181344" y="4617720"/>
            <a:ext cx="2587752" cy="5303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59" y="4754880"/>
            <a:ext cx="393192" cy="182880"/>
          </a:xfrm>
          <a:prstGeom prst="rect">
            <a:avLst/>
          </a:prstGeom>
          <a:noFill/>
        </p:spPr>
        <p:txBody>
          <a:bodyPr wrap="square" lIns="18288" rIns="18288" tIns="18288" bIns="18288" anchor="t">
            <a:spAutoFit/>
          </a:bodyPr>
          <a:lstStyle/>
          <a:p>
            <a:pPr algn="l"/>
            <a:r>
              <a:rPr sz="980" b="1" lang="en-US">
                <a:solidFill>
                  <a:srgbClr val="FF6C00"/>
                </a:solidFill>
                <a:latin typeface="Arial"/>
              </a:rPr>
              <a:t>P3</a:t>
            </a:r>
          </a:p>
        </p:txBody>
      </p:sp>
      <p:sp>
        <p:nvSpPr>
          <p:cNvPr id="37" name="TextBox 36"/>
          <p:cNvSpPr txBox="1"/>
          <p:nvPr/>
        </p:nvSpPr>
        <p:spPr>
          <a:xfrm>
            <a:off x="6684264" y="4736592"/>
            <a:ext cx="1938528" cy="210312"/>
          </a:xfrm>
          <a:prstGeom prst="rect">
            <a:avLst/>
          </a:prstGeom>
          <a:noFill/>
        </p:spPr>
        <p:txBody>
          <a:bodyPr wrap="square" lIns="18288" rIns="18288" tIns="18288" bIns="18288" anchor="t">
            <a:spAutoFit/>
          </a:bodyPr>
          <a:lstStyle/>
          <a:p>
            <a:pPr algn="ctr"/>
            <a:r>
              <a:rPr sz="1030" b="1" lang="en-US">
                <a:solidFill>
                  <a:srgbClr val="434343"/>
                </a:solidFill>
                <a:latin typeface="Arial"/>
              </a:rPr>
              <a:t>Witness-cosigned log</a:t>
            </a:r>
          </a:p>
        </p:txBody>
      </p:sp>
      <p:sp>
        <p:nvSpPr>
          <p:cNvPr id="38" name="Rounded Rectangle 37"/>
          <p:cNvSpPr/>
          <p:nvPr/>
        </p:nvSpPr>
        <p:spPr>
          <a:xfrm>
            <a:off x="8979408" y="4617720"/>
            <a:ext cx="2587752" cy="5303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07424" y="4754880"/>
            <a:ext cx="393192" cy="182880"/>
          </a:xfrm>
          <a:prstGeom prst="rect">
            <a:avLst/>
          </a:prstGeom>
          <a:noFill/>
        </p:spPr>
        <p:txBody>
          <a:bodyPr wrap="square" lIns="18288" rIns="18288" tIns="18288" bIns="18288" anchor="t">
            <a:spAutoFit/>
          </a:bodyPr>
          <a:lstStyle/>
          <a:p>
            <a:pPr algn="l"/>
            <a:r>
              <a:rPr sz="980" b="1" lang="en-US">
                <a:solidFill>
                  <a:srgbClr val="7A35B5"/>
                </a:solidFill>
                <a:latin typeface="Arial"/>
              </a:rPr>
              <a:t>P4</a:t>
            </a:r>
          </a:p>
        </p:txBody>
      </p:sp>
      <p:sp>
        <p:nvSpPr>
          <p:cNvPr id="40" name="TextBox 39"/>
          <p:cNvSpPr txBox="1"/>
          <p:nvPr/>
        </p:nvSpPr>
        <p:spPr>
          <a:xfrm>
            <a:off x="9482328" y="4736592"/>
            <a:ext cx="1938528" cy="210312"/>
          </a:xfrm>
          <a:prstGeom prst="rect">
            <a:avLst/>
          </a:prstGeom>
          <a:noFill/>
        </p:spPr>
        <p:txBody>
          <a:bodyPr wrap="square" lIns="18288" rIns="18288" tIns="18288" bIns="18288" anchor="t">
            <a:spAutoFit/>
          </a:bodyPr>
          <a:lstStyle/>
          <a:p>
            <a:pPr algn="ctr"/>
            <a:r>
              <a:rPr sz="1030" b="1" lang="en-US">
                <a:solidFill>
                  <a:srgbClr val="434343"/>
                </a:solidFill>
                <a:latin typeface="Arial"/>
              </a:rPr>
              <a:t>Owner discovery</a:t>
            </a:r>
          </a:p>
        </p:txBody>
      </p:sp>
      <p:sp>
        <p:nvSpPr>
          <p:cNvPr id="41" name="TextBox 40"/>
          <p:cNvSpPr txBox="1"/>
          <p:nvPr/>
        </p:nvSpPr>
        <p:spPr>
          <a:xfrm>
            <a:off x="731520" y="5330952"/>
            <a:ext cx="10716768" cy="201168"/>
          </a:xfrm>
          <a:prstGeom prst="rect">
            <a:avLst/>
          </a:prstGeom>
          <a:noFill/>
        </p:spPr>
        <p:txBody>
          <a:bodyPr wrap="square" lIns="18288" rIns="18288" tIns="18288" bIns="18288" anchor="ctr">
            <a:spAutoFit/>
          </a:bodyPr>
          <a:lstStyle/>
          <a:p>
            <a:pPr algn="ctr"/>
            <a:r>
              <a:rPr sz="919" b="1" lang="en-US">
                <a:solidFill>
                  <a:srgbClr val="FF6C00"/>
                </a:solidFill>
                <a:latin typeface="Arial"/>
              </a:rPr>
              <a:t>BOUNDARY   </a:t>
            </a:r>
            <a:r>
              <a:rPr sz="980" b="1" lang="en-US">
                <a:solidFill>
                  <a:srgbClr val="434343"/>
                </a:solidFill>
                <a:latin typeface="Arial"/>
              </a:rPr>
              <a:t>No receipt can prove an unmade call; service collusion remains outside the guarantee.</a:t>
            </a:r>
          </a:p>
        </p:txBody>
      </p:sp>
      <p:sp>
        <p:nvSpPr>
          <p:cNvPr id="42" name="TextBox 41"/>
          <p:cNvSpPr txBox="1"/>
          <p:nvPr/>
        </p:nvSpPr>
        <p:spPr>
          <a:xfrm>
            <a:off x="731520" y="5532120"/>
            <a:ext cx="10716768" cy="164592"/>
          </a:xfrm>
          <a:prstGeom prst="rect">
            <a:avLst/>
          </a:prstGeom>
          <a:noFill/>
        </p:spPr>
        <p:txBody>
          <a:bodyPr wrap="square" lIns="18288" rIns="18288" tIns="18288" bIns="18288" anchor="t">
            <a:spAutoFit/>
          </a:bodyPr>
          <a:lstStyle/>
          <a:p>
            <a:pPr algn="ctr"/>
            <a:r>
              <a:rPr sz="840" b="0" lang="en-US">
                <a:solidFill>
                  <a:srgbClr val="434343"/>
                </a:solidFill>
                <a:latin typeface="Arial"/>
              </a:rPr>
              <a:t>Source: J. Figuera, Notarized Agents, arXiv:2606.04193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
        <p:nvSpPr>
          <p:cNvPr id="36" name="TextBox 35"/>
          <p:cNvSpPr txBox="1"/>
          <p:nvPr/>
        </p:nvSpPr>
        <p:spPr>
          <a:xfrm>
            <a:off x="1078992" y="5449824"/>
            <a:ext cx="10030968" cy="210312"/>
          </a:xfrm>
          <a:prstGeom prst="rect">
            <a:avLst/>
          </a:prstGeom>
          <a:noFill/>
        </p:spPr>
        <p:txBody>
          <a:bodyPr wrap="square" lIns="18288" rIns="18288" tIns="18288" bIns="18288" anchor="t">
            <a:spAutoFit/>
          </a:bodyPr>
          <a:lstStyle/>
          <a:p>
            <a:pPr algn="ctr"/>
            <a:r>
              <a:rPr sz="1100" b="1" lang="en-US">
                <a:solidFill>
                  <a:srgbClr val="434343"/>
                </a:solidFill>
                <a:latin typeface="Arial"/>
              </a:rPr>
              <a:t>The log establishes accepted inclusion and ordering—not the semantic truth of the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84048" y="1371600"/>
            <a:ext cx="2157984" cy="384048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 y="1572768"/>
            <a:ext cx="1901952" cy="384048"/>
          </a:xfrm>
          <a:prstGeom prst="rect">
            <a:avLst/>
          </a:prstGeom>
          <a:noFill/>
        </p:spPr>
        <p:txBody>
          <a:bodyPr wrap="square" lIns="18288" rIns="18288" tIns="18288" bIns="18288" anchor="ctr">
            <a:spAutoFit/>
          </a:bodyPr>
          <a:lstStyle/>
          <a:p>
            <a:pPr algn="ctr"/>
            <a:r>
              <a:rPr sz="1100" b="1" lang="en-US">
                <a:solidFill>
                  <a:srgbClr val="2F8F46"/>
                </a:solidFill>
                <a:latin typeface="Arial"/>
              </a:rPr>
              <a:t>01  MEDICAL INPUT</a:t>
            </a:r>
          </a:p>
        </p:txBody>
      </p:sp>
      <p:sp>
        <p:nvSpPr>
          <p:cNvPr id="10" name="Rectangle 9"/>
          <p:cNvSpPr/>
          <p:nvPr/>
        </p:nvSpPr>
        <p:spPr>
          <a:xfrm>
            <a:off x="548640" y="2057400"/>
            <a:ext cx="1828800" cy="10972"/>
          </a:xfrm>
          <a:prstGeom prst="rect">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221992"/>
            <a:ext cx="1792224" cy="2679192"/>
          </a:xfrm>
          <a:prstGeom prst="rect">
            <a:avLst/>
          </a:prstGeom>
          <a:noFill/>
        </p:spPr>
        <p:txBody>
          <a:bodyPr wrap="square" lIns="18288" rIns="18288" tIns="18288" bIns="18288" anchor="t">
            <a:spAutoFit/>
          </a:bodyPr>
          <a:lstStyle/>
          <a:p>
            <a:pPr algn="l"/>
            <a:r>
              <a:rPr sz="919" b="1" lang="en-US">
                <a:solidFill>
                  <a:srgbClr val="2F8F46"/>
                </a:solidFill>
                <a:latin typeface="Arial"/>
              </a:rPr>
              <a:t>SIGN
</a:t>
            </a:r>
            <a:r>
              <a:rPr sz="880" b="0" lang="en-US">
                <a:solidFill>
                  <a:srgbClr val="434343"/>
                </a:solidFill>
                <a:latin typeface="Arial"/>
              </a:rPr>
              <a:t>Device: RSA-2048 + SHA-256
Radiologist: separate RSA signature
</a:t>
            </a:r>
            <a:r>
              <a:rPr sz="919" b="1" lang="en-US">
                <a:solidFill>
                  <a:srgbClr val="2F8F46"/>
                </a:solidFill>
                <a:latin typeface="Arial"/>
              </a:rPr>
              <a:t>VERIFY
</a:t>
            </a:r>
            <a:r>
              <a:rPr sz="880" b="0" lang="en-US">
                <a:solidFill>
                  <a:srgbClr val="434343"/>
                </a:solidFill>
                <a:latin typeface="Arial"/>
              </a:rPr>
              <a:t>Current on-chain role, key, and certificate snapshot</a:t>
            </a:r>
          </a:p>
        </p:txBody>
      </p:sp>
      <p:cxnSp>
        <p:nvCxnSpPr>
          <p:cNvPr id="12" name="Connector 11"/>
          <p:cNvCxnSpPr/>
          <p:nvPr/>
        </p:nvCxnSpPr>
        <p:spPr>
          <a:xfrm>
            <a:off x="2560320" y="3291840"/>
            <a:ext cx="118871"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15768" y="1371600"/>
            <a:ext cx="2157984" cy="3840480"/>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43784" y="1572768"/>
            <a:ext cx="1901952" cy="384048"/>
          </a:xfrm>
          <a:prstGeom prst="rect">
            <a:avLst/>
          </a:prstGeom>
          <a:noFill/>
        </p:spPr>
        <p:txBody>
          <a:bodyPr wrap="square" lIns="18288" rIns="18288" tIns="18288" bIns="18288" anchor="ctr">
            <a:spAutoFit/>
          </a:bodyPr>
          <a:lstStyle/>
          <a:p>
            <a:pPr algn="ctr"/>
            <a:r>
              <a:rPr sz="1100" b="1" lang="en-US">
                <a:solidFill>
                  <a:srgbClr val="1F90CC"/>
                </a:solidFill>
                <a:latin typeface="Arial"/>
              </a:rPr>
              <a:t>02  PARTICIPANT TEE</a:t>
            </a:r>
          </a:p>
        </p:txBody>
      </p:sp>
      <p:sp>
        <p:nvSpPr>
          <p:cNvPr id="15" name="Rectangle 14"/>
          <p:cNvSpPr/>
          <p:nvPr/>
        </p:nvSpPr>
        <p:spPr>
          <a:xfrm>
            <a:off x="2880360" y="2057400"/>
            <a:ext cx="1828800" cy="10972"/>
          </a:xfrm>
          <a:prstGeom prst="rect">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221992"/>
            <a:ext cx="1792224" cy="2679192"/>
          </a:xfrm>
          <a:prstGeom prst="rect">
            <a:avLst/>
          </a:prstGeom>
          <a:noFill/>
        </p:spPr>
        <p:txBody>
          <a:bodyPr wrap="square" lIns="18288" rIns="18288" tIns="18288" bIns="18288" anchor="t">
            <a:spAutoFit/>
          </a:bodyPr>
          <a:lstStyle/>
          <a:p>
            <a:pPr algn="l"/>
            <a:r>
              <a:rPr sz="919" b="1" lang="en-US">
                <a:solidFill>
                  <a:srgbClr val="1F90CC"/>
                </a:solidFill>
                <a:latin typeface="Arial"/>
              </a:rPr>
              <a:t>SIGN
</a:t>
            </a:r>
            <a:r>
              <a:rPr sz="880" b="0" lang="en-US">
                <a:solidFill>
                  <a:srgbClr val="434343"/>
                </a:solidFill>
                <a:latin typeface="Arial"/>
              </a:rPr>
              <a:t>dstack-bound secp256k1 action key
</a:t>
            </a:r>
            <a:r>
              <a:rPr sz="919" b="1" lang="en-US">
                <a:solidFill>
                  <a:srgbClr val="1F90CC"/>
                </a:solidFill>
                <a:latin typeface="Arial"/>
              </a:rPr>
              <a:t>KEY CUSTODY
</a:t>
            </a:r>
            <a:r>
              <a:rPr sz="880" b="0" lang="en-US">
                <a:solidFill>
                  <a:srgbClr val="434343"/>
                </a:solidFill>
                <a:latin typeface="Arial"/>
              </a:rPr>
              <a:t>RSA-3072 key sealed with dstack-derived AES-256-GCM
</a:t>
            </a:r>
            <a:r>
              <a:rPr sz="919" b="1" lang="en-US">
                <a:solidFill>
                  <a:srgbClr val="1F90CC"/>
                </a:solidFill>
                <a:latin typeface="Arial"/>
              </a:rPr>
              <a:t>BIND
</a:t>
            </a:r>
            <a:r>
              <a:rPr sz="880" b="0" lang="en-US">
                <a:solidFill>
                  <a:srgbClr val="434343"/>
                </a:solidFill>
                <a:latin typeface="Arial"/>
              </a:rPr>
              <a:t>REPORTDATA + RTMR3</a:t>
            </a:r>
          </a:p>
        </p:txBody>
      </p:sp>
      <p:cxnSp>
        <p:nvCxnSpPr>
          <p:cNvPr id="17" name="Connector 16"/>
          <p:cNvCxnSpPr/>
          <p:nvPr/>
        </p:nvCxnSpPr>
        <p:spPr>
          <a:xfrm>
            <a:off x="489204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47488" y="1371600"/>
            <a:ext cx="2157984" cy="3840480"/>
          </a:xfrm>
          <a:prstGeom prst="roundRect">
            <a:avLst/>
          </a:prstGeom>
          <a:solidFill>
            <a:srgbClr val="FFF1E7"/>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75503" y="1572768"/>
            <a:ext cx="1901952" cy="384048"/>
          </a:xfrm>
          <a:prstGeom prst="rect">
            <a:avLst/>
          </a:prstGeom>
          <a:noFill/>
        </p:spPr>
        <p:txBody>
          <a:bodyPr wrap="square" lIns="18288" rIns="18288" tIns="18288" bIns="18288" anchor="ctr">
            <a:spAutoFit/>
          </a:bodyPr>
          <a:lstStyle/>
          <a:p>
            <a:pPr algn="ctr"/>
            <a:r>
              <a:rPr sz="1100" b="1" lang="en-US">
                <a:solidFill>
                  <a:srgbClr val="FF6C00"/>
                </a:solidFill>
                <a:latin typeface="Arial"/>
              </a:rPr>
              <a:t>03  WORKER UPDATE</a:t>
            </a:r>
          </a:p>
        </p:txBody>
      </p:sp>
      <p:sp>
        <p:nvSpPr>
          <p:cNvPr id="20" name="Rectangle 19"/>
          <p:cNvSpPr/>
          <p:nvPr/>
        </p:nvSpPr>
        <p:spPr>
          <a:xfrm>
            <a:off x="5212079" y="2057400"/>
            <a:ext cx="1828800" cy="10972"/>
          </a:xfrm>
          <a:prstGeom prst="rect">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30368" y="2221992"/>
            <a:ext cx="1792224" cy="2679192"/>
          </a:xfrm>
          <a:prstGeom prst="rect">
            <a:avLst/>
          </a:prstGeom>
          <a:noFill/>
        </p:spPr>
        <p:txBody>
          <a:bodyPr wrap="square" lIns="18288" rIns="18288" tIns="18288" bIns="18288" anchor="t">
            <a:spAutoFit/>
          </a:bodyPr>
          <a:lstStyle/>
          <a:p>
            <a:pPr algn="l"/>
            <a:r>
              <a:rPr sz="919" b="1" lang="en-US">
                <a:solidFill>
                  <a:srgbClr val="FF6C00"/>
                </a:solidFill>
                <a:latin typeface="Arial"/>
              </a:rPr>
              <a:t>ENCRYPT
</a:t>
            </a:r>
            <a:r>
              <a:rPr sz="880" b="0" lang="en-US">
                <a:solidFill>
                  <a:srgbClr val="434343"/>
                </a:solidFill>
                <a:latin typeface="Arial"/>
              </a:rPr>
              <a:t>AES-256-CBC update; RSA-OAEP-SHA-256 key wrap
</a:t>
            </a:r>
            <a:r>
              <a:rPr sz="919" b="1" lang="en-US">
                <a:solidFill>
                  <a:srgbClr val="FF6C00"/>
                </a:solidFill>
                <a:latin typeface="Arial"/>
              </a:rPr>
              <a:t>SIGN + BIND
</a:t>
            </a:r>
            <a:r>
              <a:rPr sz="880" b="0" lang="en-US">
                <a:solidFill>
                  <a:srgbClr val="434343"/>
                </a:solidFill>
                <a:latin typeface="Arial"/>
              </a:rPr>
              <a:t>Worker RSA-SHA-256 package signature + EIP-712 commitment</a:t>
            </a:r>
          </a:p>
        </p:txBody>
      </p:sp>
      <p:cxnSp>
        <p:nvCxnSpPr>
          <p:cNvPr id="22" name="Connector 21"/>
          <p:cNvCxnSpPr/>
          <p:nvPr/>
        </p:nvCxnSpPr>
        <p:spPr>
          <a:xfrm>
            <a:off x="7223759"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379208" y="1371600"/>
            <a:ext cx="2157984" cy="3840480"/>
          </a:xfrm>
          <a:prstGeom prst="roundRect">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7224" y="1572768"/>
            <a:ext cx="1901952" cy="384048"/>
          </a:xfrm>
          <a:prstGeom prst="rect">
            <a:avLst/>
          </a:prstGeom>
          <a:noFill/>
        </p:spPr>
        <p:txBody>
          <a:bodyPr wrap="square" lIns="18288" rIns="18288" tIns="18288" bIns="18288" anchor="ctr">
            <a:spAutoFit/>
          </a:bodyPr>
          <a:lstStyle/>
          <a:p>
            <a:pPr algn="ctr"/>
            <a:r>
              <a:rPr sz="1100" b="1" lang="en-US">
                <a:solidFill>
                  <a:srgbClr val="7A35B5"/>
                </a:solidFill>
                <a:latin typeface="Arial"/>
              </a:rPr>
              <a:t>04  GLOBAL MODEL</a:t>
            </a:r>
          </a:p>
        </p:txBody>
      </p:sp>
      <p:sp>
        <p:nvSpPr>
          <p:cNvPr id="25" name="Rectangle 24"/>
          <p:cNvSpPr/>
          <p:nvPr/>
        </p:nvSpPr>
        <p:spPr>
          <a:xfrm>
            <a:off x="7543800" y="2057400"/>
            <a:ext cx="1828800" cy="10972"/>
          </a:xfrm>
          <a:prstGeom prst="rect">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62088" y="2221992"/>
            <a:ext cx="1792224" cy="2679192"/>
          </a:xfrm>
          <a:prstGeom prst="rect">
            <a:avLst/>
          </a:prstGeom>
          <a:noFill/>
        </p:spPr>
        <p:txBody>
          <a:bodyPr wrap="square" lIns="18288" rIns="18288" tIns="18288" bIns="18288" anchor="t">
            <a:spAutoFit/>
          </a:bodyPr>
          <a:lstStyle/>
          <a:p>
            <a:pPr algn="l"/>
            <a:r>
              <a:rPr sz="919" b="1" lang="en-US">
                <a:solidFill>
                  <a:srgbClr val="7A35B5"/>
                </a:solidFill>
                <a:latin typeface="Arial"/>
              </a:rPr>
              <a:t>ENCRYPT
</a:t>
            </a:r>
            <a:r>
              <a:rPr sz="880" b="0" lang="en-US">
                <a:solidFill>
                  <a:srgbClr val="434343"/>
                </a:solidFill>
                <a:latin typeface="Arial"/>
              </a:rPr>
              <a:t>AES-256-GCM model; per-recipient RSA-OAEP key wrap
</a:t>
            </a:r>
            <a:r>
              <a:rPr sz="919" b="1" lang="en-US">
                <a:solidFill>
                  <a:srgbClr val="7A35B5"/>
                </a:solidFill>
                <a:latin typeface="Arial"/>
              </a:rPr>
              <a:t>SIGN + BIND
</a:t>
            </a:r>
            <a:r>
              <a:rPr sz="880" b="0" lang="en-US">
                <a:solidFill>
                  <a:srgbClr val="434343"/>
                </a:solidFill>
                <a:latin typeface="Arial"/>
              </a:rPr>
              <a:t>Aggregator RSA-SHA-256 + EIP-712 finalization; IPFS CIDs</a:t>
            </a:r>
          </a:p>
        </p:txBody>
      </p:sp>
      <p:cxnSp>
        <p:nvCxnSpPr>
          <p:cNvPr id="27" name="Connector 26"/>
          <p:cNvCxnSpPr/>
          <p:nvPr/>
        </p:nvCxnSpPr>
        <p:spPr>
          <a:xfrm>
            <a:off x="955548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10928" y="1371600"/>
            <a:ext cx="2157984" cy="3840480"/>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38944" y="1572768"/>
            <a:ext cx="1901952" cy="384048"/>
          </a:xfrm>
          <a:prstGeom prst="rect">
            <a:avLst/>
          </a:prstGeom>
          <a:noFill/>
        </p:spPr>
        <p:txBody>
          <a:bodyPr wrap="square" lIns="18288" rIns="18288" tIns="18288" bIns="18288" anchor="ctr">
            <a:spAutoFit/>
          </a:bodyPr>
          <a:lstStyle/>
          <a:p>
            <a:pPr algn="ctr"/>
            <a:r>
              <a:rPr sz="1100" b="1" lang="en-US">
                <a:solidFill>
                  <a:srgbClr val="C40D1E"/>
                </a:solidFill>
                <a:latin typeface="Arial"/>
              </a:rPr>
              <a:t>05  INFERENCE + LOG</a:t>
            </a:r>
          </a:p>
        </p:txBody>
      </p:sp>
      <p:sp>
        <p:nvSpPr>
          <p:cNvPr id="30" name="Rectangle 29"/>
          <p:cNvSpPr/>
          <p:nvPr/>
        </p:nvSpPr>
        <p:spPr>
          <a:xfrm>
            <a:off x="9875519" y="2057400"/>
            <a:ext cx="1828800" cy="10972"/>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93807" y="2221992"/>
            <a:ext cx="1792224" cy="2679192"/>
          </a:xfrm>
          <a:prstGeom prst="rect">
            <a:avLst/>
          </a:prstGeom>
          <a:noFill/>
        </p:spPr>
        <p:txBody>
          <a:bodyPr wrap="square" lIns="18288" rIns="18288" tIns="18288" bIns="18288" anchor="t">
            <a:spAutoFit/>
          </a:bodyPr>
          <a:lstStyle/>
          <a:p>
            <a:pPr algn="l"/>
            <a:r>
              <a:rPr sz="919" b="1" lang="en-US">
                <a:solidFill>
                  <a:srgbClr val="C40D1E"/>
                </a:solidFill>
                <a:latin typeface="Arial"/>
              </a:rPr>
              <a:t>VERIFY
</a:t>
            </a:r>
            <a:r>
              <a:rPr sz="880" b="0" lang="en-US">
                <a:solidFill>
                  <a:srgbClr val="434343"/>
                </a:solidFill>
                <a:latin typeface="Arial"/>
              </a:rPr>
              <a:t>Finalized tuple + publisher signatures
</a:t>
            </a:r>
            <a:r>
              <a:rPr sz="919" b="1" lang="en-US">
                <a:solidFill>
                  <a:srgbClr val="C40D1E"/>
                </a:solidFill>
                <a:latin typeface="Arial"/>
              </a:rPr>
              <a:t>SIGN / ENCRYPT
</a:t>
            </a:r>
            <a:r>
              <a:rPr sz="880" b="0" lang="en-US">
                <a:solidFill>
                  <a:srgbClr val="434343"/>
                </a:solidFill>
                <a:latin typeface="Arial"/>
              </a:rPr>
              <a:t>Ed25519 AIR + TDX; HPKE receiver receipt
</a:t>
            </a:r>
            <a:r>
              <a:rPr sz="919" b="1" lang="en-US">
                <a:solidFill>
                  <a:srgbClr val="C40D1E"/>
                </a:solidFill>
                <a:latin typeface="Arial"/>
              </a:rPr>
              <a:t>LOG
</a:t>
            </a:r>
            <a:r>
              <a:rPr sz="880" b="0" lang="en-US">
                <a:solidFill>
                  <a:srgbClr val="434343"/>
                </a:solidFill>
                <a:latin typeface="Arial"/>
              </a:rPr>
              <a:t>ES256 statement + CCF inclusion receipt</a:t>
            </a:r>
          </a:p>
        </p:txBody>
      </p:sp>
      <p:sp>
        <p:nvSpPr>
          <p:cNvPr id="32" name="Rectangle 31"/>
          <p:cNvSpPr/>
          <p:nvPr/>
        </p:nvSpPr>
        <p:spPr>
          <a:xfrm>
            <a:off x="896112" y="5330952"/>
            <a:ext cx="10405872" cy="32004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5404104"/>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Evaluation: what was actually tested?</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EVIDENCE LEVELS—NOT ONE BLANKET SUCCESS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40080" y="1389888"/>
            <a:ext cx="3364992" cy="3840480"/>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1664208"/>
            <a:ext cx="3035808" cy="274320"/>
          </a:xfrm>
          <a:prstGeom prst="rect">
            <a:avLst/>
          </a:prstGeom>
          <a:noFill/>
        </p:spPr>
        <p:txBody>
          <a:bodyPr wrap="square" lIns="18288" rIns="18288" tIns="18288" bIns="18288" anchor="t">
            <a:spAutoFit/>
          </a:bodyPr>
          <a:lstStyle/>
          <a:p>
            <a:pPr algn="ctr"/>
            <a:r>
              <a:rPr sz="1300" b="1" lang="en-US">
                <a:solidFill>
                  <a:srgbClr val="1F90CC"/>
                </a:solidFill>
                <a:latin typeface="Arial"/>
              </a:rPr>
              <a:t>LIVE INTEGRATION</a:t>
            </a:r>
          </a:p>
        </p:txBody>
      </p:sp>
      <p:sp>
        <p:nvSpPr>
          <p:cNvPr id="10" name="TextBox 9"/>
          <p:cNvSpPr txBox="1"/>
          <p:nvPr/>
        </p:nvSpPr>
        <p:spPr>
          <a:xfrm>
            <a:off x="804671" y="2267712"/>
            <a:ext cx="3035808" cy="594360"/>
          </a:xfrm>
          <a:prstGeom prst="rect">
            <a:avLst/>
          </a:prstGeom>
          <a:noFill/>
        </p:spPr>
        <p:txBody>
          <a:bodyPr wrap="square" lIns="18288" rIns="18288" tIns="18288" bIns="18288" anchor="t">
            <a:spAutoFit/>
          </a:bodyPr>
          <a:lstStyle/>
          <a:p>
            <a:pPr algn="ctr"/>
            <a:r>
              <a:rPr sz="2700" b="1" lang="en-US">
                <a:solidFill>
                  <a:srgbClr val="434343"/>
                </a:solidFill>
                <a:latin typeface="Arial"/>
              </a:rPr>
              <a:t>3 TEE workers</a:t>
            </a:r>
          </a:p>
        </p:txBody>
      </p:sp>
      <p:sp>
        <p:nvSpPr>
          <p:cNvPr id="11" name="TextBox 10"/>
          <p:cNvSpPr txBox="1"/>
          <p:nvPr/>
        </p:nvSpPr>
        <p:spPr>
          <a:xfrm>
            <a:off x="804671" y="2926080"/>
            <a:ext cx="3035808" cy="310896"/>
          </a:xfrm>
          <a:prstGeom prst="rect">
            <a:avLst/>
          </a:prstGeom>
          <a:noFill/>
        </p:spPr>
        <p:txBody>
          <a:bodyPr wrap="square" lIns="18288" rIns="18288" tIns="18288" bIns="18288" anchor="t">
            <a:spAutoFit/>
          </a:bodyPr>
          <a:lstStyle/>
          <a:p>
            <a:pPr algn="ctr"/>
            <a:r>
              <a:rPr sz="1500" b="1" lang="en-US">
                <a:solidFill>
                  <a:srgbClr val="1F90CC"/>
                </a:solidFill>
                <a:latin typeface="Arial"/>
              </a:rPr>
              <a:t>5 observed training rounds</a:t>
            </a:r>
          </a:p>
        </p:txBody>
      </p:sp>
      <p:sp>
        <p:nvSpPr>
          <p:cNvPr id="12" name="Rectangle 11"/>
          <p:cNvSpPr/>
          <p:nvPr/>
        </p:nvSpPr>
        <p:spPr>
          <a:xfrm>
            <a:off x="1078992"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858768"/>
            <a:ext cx="2743200" cy="621792"/>
          </a:xfrm>
          <a:prstGeom prst="rect">
            <a:avLst/>
          </a:prstGeom>
          <a:noFill/>
        </p:spPr>
        <p:txBody>
          <a:bodyPr wrap="square" lIns="18288" rIns="18288" tIns="18288" bIns="18288" anchor="t">
            <a:spAutoFit/>
          </a:bodyPr>
          <a:lstStyle/>
          <a:p>
            <a:pPr algn="ctr"/>
            <a:r>
              <a:rPr sz="1500" b="1" lang="en-US">
                <a:solidFill>
                  <a:srgbClr val="434343"/>
                </a:solidFill>
                <a:latin typeface="Arial"/>
              </a:rPr>
              <a:t>All three MCP operations
plus attested inference</a:t>
            </a:r>
          </a:p>
        </p:txBody>
      </p:sp>
      <p:sp>
        <p:nvSpPr>
          <p:cNvPr id="14" name="Rectangle 13"/>
          <p:cNvSpPr/>
          <p:nvPr/>
        </p:nvSpPr>
        <p:spPr>
          <a:xfrm>
            <a:off x="1481328" y="4709160"/>
            <a:ext cx="1682496" cy="329184"/>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4791456"/>
            <a:ext cx="1572768" cy="164592"/>
          </a:xfrm>
          <a:prstGeom prst="rect">
            <a:avLst/>
          </a:prstGeom>
          <a:noFill/>
        </p:spPr>
        <p:txBody>
          <a:bodyPr wrap="square" lIns="18288" rIns="18288" tIns="18288" bIns="18288" anchor="t">
            <a:spAutoFit/>
          </a:bodyPr>
          <a:lstStyle/>
          <a:p>
            <a:pPr algn="ctr"/>
            <a:r>
              <a:rPr sz="950" b="1" lang="en-US">
                <a:solidFill>
                  <a:srgbClr val="FFFFFF"/>
                </a:solidFill>
                <a:latin typeface="Arial"/>
              </a:rPr>
              <a:t>LIVE</a:t>
            </a:r>
          </a:p>
        </p:txBody>
      </p:sp>
      <p:sp>
        <p:nvSpPr>
          <p:cNvPr id="16" name="Rounded Rectangle 15"/>
          <p:cNvSpPr/>
          <p:nvPr/>
        </p:nvSpPr>
        <p:spPr>
          <a:xfrm>
            <a:off x="4325112" y="1389888"/>
            <a:ext cx="3364992" cy="3840480"/>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9704" y="1664208"/>
            <a:ext cx="3035808" cy="274320"/>
          </a:xfrm>
          <a:prstGeom prst="rect">
            <a:avLst/>
          </a:prstGeom>
          <a:noFill/>
        </p:spPr>
        <p:txBody>
          <a:bodyPr wrap="square" lIns="18288" rIns="18288" tIns="18288" bIns="18288" anchor="t">
            <a:spAutoFit/>
          </a:bodyPr>
          <a:lstStyle/>
          <a:p>
            <a:pPr algn="ctr"/>
            <a:r>
              <a:rPr sz="1300" b="1" lang="en-US">
                <a:solidFill>
                  <a:srgbClr val="2F8F46"/>
                </a:solidFill>
                <a:latin typeface="Arial"/>
              </a:rPr>
              <a:t>SCALE EXPERIMENTS</a:t>
            </a:r>
          </a:p>
        </p:txBody>
      </p:sp>
      <p:sp>
        <p:nvSpPr>
          <p:cNvPr id="18" name="TextBox 17"/>
          <p:cNvSpPr txBox="1"/>
          <p:nvPr/>
        </p:nvSpPr>
        <p:spPr>
          <a:xfrm>
            <a:off x="4489704" y="2267712"/>
            <a:ext cx="3035808" cy="594360"/>
          </a:xfrm>
          <a:prstGeom prst="rect">
            <a:avLst/>
          </a:prstGeom>
          <a:noFill/>
        </p:spPr>
        <p:txBody>
          <a:bodyPr wrap="square" lIns="18288" rIns="18288" tIns="18288" bIns="18288" anchor="t">
            <a:spAutoFit/>
          </a:bodyPr>
          <a:lstStyle/>
          <a:p>
            <a:pPr algn="ctr"/>
            <a:r>
              <a:rPr sz="2700" b="1" lang="en-US">
                <a:solidFill>
                  <a:srgbClr val="434343"/>
                </a:solidFill>
                <a:latin typeface="Arial"/>
              </a:rPr>
              <a:t>10 · 50 · 100</a:t>
            </a:r>
          </a:p>
        </p:txBody>
      </p:sp>
      <p:sp>
        <p:nvSpPr>
          <p:cNvPr id="19" name="TextBox 18"/>
          <p:cNvSpPr txBox="1"/>
          <p:nvPr/>
        </p:nvSpPr>
        <p:spPr>
          <a:xfrm>
            <a:off x="4489704" y="2926080"/>
            <a:ext cx="3035808" cy="310896"/>
          </a:xfrm>
          <a:prstGeom prst="rect">
            <a:avLst/>
          </a:prstGeom>
          <a:noFill/>
        </p:spPr>
        <p:txBody>
          <a:bodyPr wrap="square" lIns="18288" rIns="18288" tIns="18288" bIns="18288" anchor="t">
            <a:spAutoFit/>
          </a:bodyPr>
          <a:lstStyle/>
          <a:p>
            <a:pPr algn="ctr"/>
            <a:r>
              <a:rPr sz="1500" b="1" lang="en-US">
                <a:solidFill>
                  <a:srgbClr val="2F8F46"/>
                </a:solidFill>
                <a:latin typeface="Arial"/>
              </a:rPr>
              <a:t>participants</a:t>
            </a:r>
          </a:p>
        </p:txBody>
      </p:sp>
      <p:sp>
        <p:nvSpPr>
          <p:cNvPr id="20" name="Rectangle 19"/>
          <p:cNvSpPr/>
          <p:nvPr/>
        </p:nvSpPr>
        <p:spPr>
          <a:xfrm>
            <a:off x="4764024"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6008" y="3858768"/>
            <a:ext cx="2743200" cy="621792"/>
          </a:xfrm>
          <a:prstGeom prst="rect">
            <a:avLst/>
          </a:prstGeom>
          <a:noFill/>
        </p:spPr>
        <p:txBody>
          <a:bodyPr wrap="square" lIns="18288" rIns="18288" tIns="18288" bIns="18288" anchor="t">
            <a:spAutoFit/>
          </a:bodyPr>
          <a:lstStyle/>
          <a:p>
            <a:pPr algn="ctr"/>
            <a:r>
              <a:rPr sz="1500" b="1" lang="en-US">
                <a:solidFill>
                  <a:srgbClr val="434343"/>
                </a:solidFill>
                <a:latin typeface="Arial"/>
              </a:rPr>
              <a:t>50 rounds per configuration</a:t>
            </a:r>
          </a:p>
        </p:txBody>
      </p:sp>
      <p:sp>
        <p:nvSpPr>
          <p:cNvPr id="22" name="Rectangle 21"/>
          <p:cNvSpPr/>
          <p:nvPr/>
        </p:nvSpPr>
        <p:spPr>
          <a:xfrm>
            <a:off x="5166360" y="4709160"/>
            <a:ext cx="1682496" cy="329184"/>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21224" y="4791456"/>
            <a:ext cx="1572768" cy="164592"/>
          </a:xfrm>
          <a:prstGeom prst="rect">
            <a:avLst/>
          </a:prstGeom>
          <a:noFill/>
        </p:spPr>
        <p:txBody>
          <a:bodyPr wrap="square" lIns="18288" rIns="18288" tIns="18288" bIns="18288" anchor="t">
            <a:spAutoFit/>
          </a:bodyPr>
          <a:lstStyle/>
          <a:p>
            <a:pPr algn="ctr"/>
            <a:r>
              <a:rPr sz="950" b="1" lang="en-US">
                <a:solidFill>
                  <a:srgbClr val="FFFFFF"/>
                </a:solidFill>
                <a:latin typeface="Arial"/>
              </a:rPr>
              <a:t>COMPLETED</a:t>
            </a:r>
          </a:p>
        </p:txBody>
      </p:sp>
      <p:sp>
        <p:nvSpPr>
          <p:cNvPr id="24" name="Rounded Rectangle 23"/>
          <p:cNvSpPr/>
          <p:nvPr/>
        </p:nvSpPr>
        <p:spPr>
          <a:xfrm>
            <a:off x="8010144" y="1389888"/>
            <a:ext cx="3364992" cy="3840480"/>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74736" y="1664208"/>
            <a:ext cx="3035808" cy="274320"/>
          </a:xfrm>
          <a:prstGeom prst="rect">
            <a:avLst/>
          </a:prstGeom>
          <a:noFill/>
        </p:spPr>
        <p:txBody>
          <a:bodyPr wrap="square" lIns="18288" rIns="18288" tIns="18288" bIns="18288" anchor="t">
            <a:spAutoFit/>
          </a:bodyPr>
          <a:lstStyle/>
          <a:p>
            <a:pPr algn="ctr"/>
            <a:r>
              <a:rPr sz="1300" b="1" lang="en-US">
                <a:solidFill>
                  <a:srgbClr val="FF6C00"/>
                </a:solidFill>
                <a:latin typeface="Arial"/>
              </a:rPr>
              <a:t>FAIL-CLOSED TESTS</a:t>
            </a:r>
          </a:p>
        </p:txBody>
      </p:sp>
      <p:sp>
        <p:nvSpPr>
          <p:cNvPr id="26" name="TextBox 25"/>
          <p:cNvSpPr txBox="1"/>
          <p:nvPr/>
        </p:nvSpPr>
        <p:spPr>
          <a:xfrm>
            <a:off x="8174736" y="2267712"/>
            <a:ext cx="3035808" cy="594360"/>
          </a:xfrm>
          <a:prstGeom prst="rect">
            <a:avLst/>
          </a:prstGeom>
          <a:noFill/>
        </p:spPr>
        <p:txBody>
          <a:bodyPr wrap="square" lIns="18288" rIns="18288" tIns="18288" bIns="18288" anchor="t">
            <a:spAutoFit/>
          </a:bodyPr>
          <a:lstStyle/>
          <a:p>
            <a:pPr algn="ctr"/>
            <a:r>
              <a:rPr sz="2300" b="1" lang="en-US">
                <a:solidFill>
                  <a:srgbClr val="434343"/>
                </a:solidFill>
                <a:latin typeface="Arial"/>
              </a:rPr>
              <a:t>Admission · data</a:t>
            </a:r>
          </a:p>
        </p:txBody>
      </p:sp>
      <p:sp>
        <p:nvSpPr>
          <p:cNvPr id="27" name="TextBox 26"/>
          <p:cNvSpPr txBox="1"/>
          <p:nvPr/>
        </p:nvSpPr>
        <p:spPr>
          <a:xfrm>
            <a:off x="8174736" y="2926080"/>
            <a:ext cx="3035808" cy="310896"/>
          </a:xfrm>
          <a:prstGeom prst="rect">
            <a:avLst/>
          </a:prstGeom>
          <a:noFill/>
        </p:spPr>
        <p:txBody>
          <a:bodyPr wrap="square" lIns="18288" rIns="18288" tIns="18288" bIns="18288" anchor="t">
            <a:spAutoFit/>
          </a:bodyPr>
          <a:lstStyle/>
          <a:p>
            <a:pPr algn="ctr"/>
            <a:r>
              <a:rPr sz="1500" b="1" lang="en-US">
                <a:solidFill>
                  <a:srgbClr val="FF6C00"/>
                </a:solidFill>
                <a:latin typeface="Arial"/>
              </a:rPr>
              <a:t>Provenance · bindings</a:t>
            </a:r>
          </a:p>
        </p:txBody>
      </p:sp>
      <p:sp>
        <p:nvSpPr>
          <p:cNvPr id="28" name="Rectangle 27"/>
          <p:cNvSpPr/>
          <p:nvPr/>
        </p:nvSpPr>
        <p:spPr>
          <a:xfrm>
            <a:off x="8449056"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0" y="3858768"/>
            <a:ext cx="2743200" cy="621792"/>
          </a:xfrm>
          <a:prstGeom prst="rect">
            <a:avLst/>
          </a:prstGeom>
          <a:noFill/>
        </p:spPr>
        <p:txBody>
          <a:bodyPr wrap="square" lIns="18288" rIns="18288" tIns="18288" bIns="18288" anchor="t">
            <a:spAutoFit/>
          </a:bodyPr>
          <a:lstStyle/>
          <a:p>
            <a:pPr algn="ctr"/>
            <a:r>
              <a:rPr sz="1500" b="1" lang="en-US">
                <a:solidFill>
                  <a:srgbClr val="434343"/>
                </a:solidFill>
                <a:latin typeface="Arial"/>
              </a:rPr>
              <a:t>Receipts · recovery</a:t>
            </a:r>
          </a:p>
        </p:txBody>
      </p:sp>
      <p:sp>
        <p:nvSpPr>
          <p:cNvPr id="30" name="Rectangle 29"/>
          <p:cNvSpPr/>
          <p:nvPr/>
        </p:nvSpPr>
        <p:spPr>
          <a:xfrm>
            <a:off x="8851392" y="4709160"/>
            <a:ext cx="1682496" cy="329184"/>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06256" y="4791456"/>
            <a:ext cx="1572768" cy="164592"/>
          </a:xfrm>
          <a:prstGeom prst="rect">
            <a:avLst/>
          </a:prstGeom>
          <a:noFill/>
        </p:spPr>
        <p:txBody>
          <a:bodyPr wrap="square" lIns="18288" rIns="18288" tIns="18288" bIns="18288" anchor="t">
            <a:spAutoFit/>
          </a:bodyPr>
          <a:lstStyle/>
          <a:p>
            <a:pPr algn="ctr"/>
            <a:r>
              <a:rPr sz="950" b="1" lang="en-US">
                <a:solidFill>
                  <a:srgbClr val="FFFFFF"/>
                </a:solidFill>
                <a:latin typeface="Arial"/>
              </a:rPr>
              <a:t>AUTOMATED</a:t>
            </a:r>
          </a:p>
        </p:txBody>
      </p:sp>
      <p:sp>
        <p:nvSpPr>
          <p:cNvPr id="32" name="TextBox 31"/>
          <p:cNvSpPr txBox="1"/>
          <p:nvPr/>
        </p:nvSpPr>
        <p:spPr>
          <a:xfrm>
            <a:off x="914400" y="5385816"/>
            <a:ext cx="10351008"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Not evaluated: clinical suitability · formal Byzantine fault tolerance · general poisoning robustness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Observed optimization trajectories overlap across scale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COMPLETED RUN FOR 10, 50, AND 100 PARTICIPANTS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02920"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Binary cross-entropy loss</a:t>
            </a:r>
          </a:p>
        </p:txBody>
      </p:sp>
      <p:cxnSp>
        <p:nvCxnSpPr>
          <p:cNvPr id="10" name="Connector 9"/>
          <p:cNvCxnSpPr/>
          <p:nvPr/>
        </p:nvCxnSpPr>
        <p:spPr>
          <a:xfrm>
            <a:off x="1933956"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9132"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2" name="Connector 11"/>
          <p:cNvCxnSpPr/>
          <p:nvPr/>
        </p:nvCxnSpPr>
        <p:spPr>
          <a:xfrm>
            <a:off x="2823972"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89148"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4" name="Connector 13"/>
          <p:cNvCxnSpPr/>
          <p:nvPr/>
        </p:nvCxnSpPr>
        <p:spPr>
          <a:xfrm>
            <a:off x="3713988"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979164"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6" name="Connector 15"/>
          <p:cNvCxnSpPr/>
          <p:nvPr/>
        </p:nvCxnSpPr>
        <p:spPr>
          <a:xfrm>
            <a:off x="978408" y="429367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9496" y="422052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0.20</a:t>
            </a:r>
          </a:p>
        </p:txBody>
      </p:sp>
      <p:cxnSp>
        <p:nvCxnSpPr>
          <p:cNvPr id="18" name="Connector 17"/>
          <p:cNvCxnSpPr/>
          <p:nvPr/>
        </p:nvCxnSpPr>
        <p:spPr>
          <a:xfrm>
            <a:off x="978408" y="379266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9496" y="371951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20" name="Connector 19"/>
          <p:cNvCxnSpPr/>
          <p:nvPr/>
        </p:nvCxnSpPr>
        <p:spPr>
          <a:xfrm>
            <a:off x="978408" y="329164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39496" y="321849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0.40</a:t>
            </a:r>
          </a:p>
        </p:txBody>
      </p:sp>
      <p:cxnSp>
        <p:nvCxnSpPr>
          <p:cNvPr id="22" name="Connector 21"/>
          <p:cNvCxnSpPr/>
          <p:nvPr/>
        </p:nvCxnSpPr>
        <p:spPr>
          <a:xfrm>
            <a:off x="978408" y="279063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9496" y="271748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4" name="Connector 23"/>
          <p:cNvCxnSpPr/>
          <p:nvPr/>
        </p:nvCxnSpPr>
        <p:spPr>
          <a:xfrm>
            <a:off x="978408" y="228961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9496" y="221646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26" name="Connector 25"/>
          <p:cNvCxnSpPr/>
          <p:nvPr/>
        </p:nvCxnSpPr>
        <p:spPr>
          <a:xfrm>
            <a:off x="978408"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3816"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8" name="Connector 27"/>
          <p:cNvCxnSpPr/>
          <p:nvPr/>
        </p:nvCxnSpPr>
        <p:spPr>
          <a:xfrm>
            <a:off x="17907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2610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0" name="Connector 29"/>
          <p:cNvCxnSpPr/>
          <p:nvPr/>
        </p:nvCxnSpPr>
        <p:spPr>
          <a:xfrm>
            <a:off x="280606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641473"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2" name="Connector 31"/>
          <p:cNvCxnSpPr/>
          <p:nvPr/>
        </p:nvCxnSpPr>
        <p:spPr>
          <a:xfrm>
            <a:off x="382143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683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4" name="Connector 33"/>
          <p:cNvCxnSpPr/>
          <p:nvPr/>
        </p:nvCxnSpPr>
        <p:spPr>
          <a:xfrm>
            <a:off x="483679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672203"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6" name="Connector 35"/>
          <p:cNvCxnSpPr/>
          <p:nvPr/>
        </p:nvCxnSpPr>
        <p:spPr>
          <a:xfrm>
            <a:off x="585216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8756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8" name="Connector 37"/>
          <p:cNvCxnSpPr/>
          <p:nvPr/>
        </p:nvCxnSpPr>
        <p:spPr>
          <a:xfrm>
            <a:off x="978408"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78408"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8408" y="2168634"/>
            <a:ext cx="101536" cy="743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79944" y="2911960"/>
            <a:ext cx="101537" cy="4742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81481" y="3386191"/>
            <a:ext cx="101536" cy="3051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83017" y="3691299"/>
            <a:ext cx="101537" cy="1912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384554" y="3882531"/>
            <a:ext cx="101536" cy="121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486090" y="4004348"/>
            <a:ext cx="101537" cy="813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587627" y="4085723"/>
            <a:ext cx="101536" cy="5596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689163" y="4141691"/>
            <a:ext cx="101537" cy="401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790700" y="4181872"/>
            <a:ext cx="101536" cy="298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892236" y="4211733"/>
            <a:ext cx="101537" cy="227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993773" y="4234454"/>
            <a:ext cx="101536" cy="180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095309" y="4252481"/>
            <a:ext cx="101537" cy="141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196846" y="4266594"/>
            <a:ext cx="101536" cy="115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298382" y="4278173"/>
            <a:ext cx="101537" cy="95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99919" y="4287717"/>
            <a:ext cx="101536" cy="81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501455" y="4295818"/>
            <a:ext cx="101537" cy="65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602992" y="4302387"/>
            <a:ext cx="101536" cy="59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704528" y="4308319"/>
            <a:ext cx="101537" cy="498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806065" y="4313304"/>
            <a:ext cx="101536" cy="41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907601" y="4317492"/>
            <a:ext cx="101537" cy="38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009138" y="4321295"/>
            <a:ext cx="101536" cy="32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110674" y="4324557"/>
            <a:ext cx="101537" cy="28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212211" y="4327357"/>
            <a:ext cx="101536" cy="25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313747" y="4329922"/>
            <a:ext cx="101537" cy="22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15284" y="4332202"/>
            <a:ext cx="101536" cy="20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16820" y="4334211"/>
            <a:ext cx="101537" cy="18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18357" y="4336040"/>
            <a:ext cx="101536" cy="17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719893" y="4337813"/>
            <a:ext cx="101537" cy="1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821430" y="4339236"/>
            <a:ext cx="101536" cy="141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922966" y="4340654"/>
            <a:ext cx="101537" cy="12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024503" y="4341857"/>
            <a:ext cx="101536" cy="117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126039" y="4343029"/>
            <a:ext cx="101537" cy="9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27576" y="4343981"/>
            <a:ext cx="101536" cy="89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329112" y="4344878"/>
            <a:ext cx="101537" cy="7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430649" y="4345644"/>
            <a:ext cx="101536" cy="8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532185" y="4346491"/>
            <a:ext cx="101537" cy="8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633722" y="4347303"/>
            <a:ext cx="101536" cy="64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735258" y="4347944"/>
            <a:ext cx="101537" cy="5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836795" y="4348500"/>
            <a:ext cx="101536" cy="5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38331" y="4349071"/>
            <a:ext cx="101537" cy="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5039868" y="4349582"/>
            <a:ext cx="101536" cy="4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141404" y="4350053"/>
            <a:ext cx="101537" cy="4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242941" y="4350509"/>
            <a:ext cx="101536" cy="4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344477" y="4350955"/>
            <a:ext cx="101537" cy="3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446014" y="4351321"/>
            <a:ext cx="101536" cy="4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547550" y="4351732"/>
            <a:ext cx="101537" cy="32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649087" y="4352057"/>
            <a:ext cx="101536" cy="3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750623" y="4352438"/>
            <a:ext cx="101537" cy="27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78408" y="2179421"/>
            <a:ext cx="101536" cy="73445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79944" y="2913874"/>
            <a:ext cx="101537" cy="47085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181481" y="3384728"/>
            <a:ext cx="101536" cy="305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283017" y="3689891"/>
            <a:ext cx="101537" cy="1928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384554" y="3882777"/>
            <a:ext cx="101536" cy="123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6090" y="4005781"/>
            <a:ext cx="101537" cy="809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587627" y="4086685"/>
            <a:ext cx="101536" cy="556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689163" y="4142307"/>
            <a:ext cx="101537" cy="399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90700" y="4182228"/>
            <a:ext cx="101536" cy="295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892236" y="4211813"/>
            <a:ext cx="101537" cy="225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993773" y="4234374"/>
            <a:ext cx="101536" cy="177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095309" y="4252145"/>
            <a:ext cx="101537" cy="1416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2196846" y="4266309"/>
            <a:ext cx="101536" cy="115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2298382" y="4277867"/>
            <a:ext cx="101537" cy="95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399919" y="4287456"/>
            <a:ext cx="101536" cy="8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501455" y="4295528"/>
            <a:ext cx="101537" cy="67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602992" y="4302322"/>
            <a:ext cx="101536" cy="58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2704528" y="4308143"/>
            <a:ext cx="101537" cy="50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806065" y="4313168"/>
            <a:ext cx="101536" cy="43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907601" y="4317547"/>
            <a:ext cx="101537" cy="38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3009138" y="4321395"/>
            <a:ext cx="101536" cy="3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3110674" y="4324777"/>
            <a:ext cx="101537" cy="30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212211" y="4327803"/>
            <a:ext cx="101536" cy="26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313747" y="4330499"/>
            <a:ext cx="101537" cy="240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3415284" y="4332908"/>
            <a:ext cx="101536" cy="21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3516820" y="4335103"/>
            <a:ext cx="101537" cy="19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618357" y="4337082"/>
            <a:ext cx="101536" cy="17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719893" y="4338881"/>
            <a:ext cx="101537" cy="16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821430" y="4340539"/>
            <a:ext cx="101536" cy="14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922966" y="4342037"/>
            <a:ext cx="101537" cy="13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4024503" y="4343430"/>
            <a:ext cx="101536" cy="12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126039" y="4344697"/>
            <a:ext cx="101537" cy="11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227576" y="4345865"/>
            <a:ext cx="101536" cy="1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4329112" y="4346937"/>
            <a:ext cx="101537" cy="9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30649" y="4347934"/>
            <a:ext cx="101536" cy="9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532185" y="4348851"/>
            <a:ext cx="101537" cy="8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4633722" y="4349692"/>
            <a:ext cx="101536" cy="8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735258" y="4350494"/>
            <a:ext cx="101537" cy="7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4836795" y="4351246"/>
            <a:ext cx="101536" cy="6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4938331" y="4351927"/>
            <a:ext cx="101537" cy="6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5039868" y="4352563"/>
            <a:ext cx="101536" cy="5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5141404" y="4353160"/>
            <a:ext cx="101537" cy="5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5242941" y="4353711"/>
            <a:ext cx="101536" cy="5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5344477" y="4354227"/>
            <a:ext cx="101537" cy="4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446014" y="4354723"/>
            <a:ext cx="101536" cy="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5547550" y="4355179"/>
            <a:ext cx="101537" cy="4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5649087" y="4355604"/>
            <a:ext cx="101536" cy="3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750623" y="4356000"/>
            <a:ext cx="101537" cy="3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78408" y="2172437"/>
            <a:ext cx="101536" cy="7373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79944" y="2909770"/>
            <a:ext cx="101537" cy="4738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181481" y="3383635"/>
            <a:ext cx="101536" cy="304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283017" y="3688613"/>
            <a:ext cx="101537" cy="1935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384554" y="3882145"/>
            <a:ext cx="101536" cy="1234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486090" y="4005610"/>
            <a:ext cx="101537" cy="8119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587627" y="4086800"/>
            <a:ext cx="101536" cy="557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689163" y="4142593"/>
            <a:ext cx="101537" cy="399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790700" y="4182559"/>
            <a:ext cx="101536" cy="297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892236" y="4212264"/>
            <a:ext cx="101537" cy="226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993773" y="4234950"/>
            <a:ext cx="101536" cy="177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5309" y="4252681"/>
            <a:ext cx="101537" cy="141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96846" y="4266865"/>
            <a:ext cx="101536" cy="1154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298382" y="4278413"/>
            <a:ext cx="101537" cy="95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399919" y="4287972"/>
            <a:ext cx="101536" cy="79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501455" y="4295969"/>
            <a:ext cx="101537" cy="67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602992" y="4302732"/>
            <a:ext cx="101536" cy="58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704528" y="4308539"/>
            <a:ext cx="101537" cy="50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806065" y="4313554"/>
            <a:ext cx="101536" cy="43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907601" y="4317913"/>
            <a:ext cx="101537" cy="38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3009138" y="4321741"/>
            <a:ext cx="101536" cy="33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3110674" y="4325108"/>
            <a:ext cx="101537" cy="3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212211" y="4328119"/>
            <a:ext cx="101536" cy="26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3313747" y="4330794"/>
            <a:ext cx="101537" cy="23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3415284" y="4333189"/>
            <a:ext cx="101536" cy="2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516820" y="4335363"/>
            <a:ext cx="101537" cy="19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618357" y="4337322"/>
            <a:ext cx="101536" cy="1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719893" y="4339106"/>
            <a:ext cx="101537" cy="1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821430" y="4340739"/>
            <a:ext cx="101536" cy="14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922966" y="4342227"/>
            <a:ext cx="101537" cy="13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4024503" y="4343590"/>
            <a:ext cx="101536" cy="12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4126039" y="4344833"/>
            <a:ext cx="101537" cy="11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227576" y="4345990"/>
            <a:ext cx="101536" cy="106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329112" y="4347052"/>
            <a:ext cx="101537" cy="9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430649" y="4348029"/>
            <a:ext cx="101536" cy="9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532185" y="4348951"/>
            <a:ext cx="101537" cy="84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633722" y="4349798"/>
            <a:ext cx="101536" cy="7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735258" y="4350579"/>
            <a:ext cx="101537" cy="7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836795" y="4351306"/>
            <a:ext cx="101536" cy="6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938331" y="4351987"/>
            <a:ext cx="101537" cy="6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5039868" y="4352628"/>
            <a:ext cx="101536" cy="5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5141404" y="4353225"/>
            <a:ext cx="101537" cy="55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5242941" y="4353776"/>
            <a:ext cx="101536" cy="5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5344477" y="4354297"/>
            <a:ext cx="101537" cy="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5446014" y="4354783"/>
            <a:ext cx="101536" cy="4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5547550" y="4355239"/>
            <a:ext cx="101537" cy="4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5649087" y="4355670"/>
            <a:ext cx="101536" cy="4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5750623" y="4356080"/>
            <a:ext cx="101537" cy="37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6153912"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6263640"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 (%)</a:t>
            </a:r>
          </a:p>
        </p:txBody>
      </p:sp>
      <p:cxnSp>
        <p:nvCxnSpPr>
          <p:cNvPr id="186" name="Connector 185"/>
          <p:cNvCxnSpPr/>
          <p:nvPr/>
        </p:nvCxnSpPr>
        <p:spPr>
          <a:xfrm>
            <a:off x="75849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7850123"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88" name="Connector 187"/>
          <p:cNvCxnSpPr/>
          <p:nvPr/>
        </p:nvCxnSpPr>
        <p:spPr>
          <a:xfrm>
            <a:off x="84749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8740139"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90" name="Connector 189"/>
          <p:cNvCxnSpPr/>
          <p:nvPr/>
        </p:nvCxnSpPr>
        <p:spPr>
          <a:xfrm>
            <a:off x="93649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9630156"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2" name="Connector 191"/>
          <p:cNvCxnSpPr/>
          <p:nvPr/>
        </p:nvCxnSpPr>
        <p:spPr>
          <a:xfrm>
            <a:off x="6629400" y="444398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6190488" y="437083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a:t>
            </a:r>
          </a:p>
        </p:txBody>
      </p:sp>
      <p:cxnSp>
        <p:nvCxnSpPr>
          <p:cNvPr id="194" name="Connector 193"/>
          <p:cNvCxnSpPr/>
          <p:nvPr/>
        </p:nvCxnSpPr>
        <p:spPr>
          <a:xfrm>
            <a:off x="6629400" y="4014542"/>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6190488" y="39413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10</a:t>
            </a:r>
          </a:p>
        </p:txBody>
      </p:sp>
      <p:cxnSp>
        <p:nvCxnSpPr>
          <p:cNvPr id="196" name="Connector 195"/>
          <p:cNvCxnSpPr/>
          <p:nvPr/>
        </p:nvCxnSpPr>
        <p:spPr>
          <a:xfrm>
            <a:off x="6629400" y="3585101"/>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6190488" y="351194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20</a:t>
            </a:r>
          </a:p>
        </p:txBody>
      </p:sp>
      <p:cxnSp>
        <p:nvCxnSpPr>
          <p:cNvPr id="198" name="Connector 197"/>
          <p:cNvCxnSpPr/>
          <p:nvPr/>
        </p:nvCxnSpPr>
        <p:spPr>
          <a:xfrm>
            <a:off x="6629400" y="315565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6190488" y="308250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00" name="Connector 199"/>
          <p:cNvCxnSpPr/>
          <p:nvPr/>
        </p:nvCxnSpPr>
        <p:spPr>
          <a:xfrm>
            <a:off x="6629400" y="272621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6190488" y="265306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40</a:t>
            </a:r>
          </a:p>
        </p:txBody>
      </p:sp>
      <p:cxnSp>
        <p:nvCxnSpPr>
          <p:cNvPr id="202" name="Connector 201"/>
          <p:cNvCxnSpPr/>
          <p:nvPr/>
        </p:nvCxnSpPr>
        <p:spPr>
          <a:xfrm>
            <a:off x="6629400" y="2296776"/>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190488" y="22236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50</a:t>
            </a:r>
          </a:p>
        </p:txBody>
      </p:sp>
      <p:cxnSp>
        <p:nvCxnSpPr>
          <p:cNvPr id="204" name="Connector 203"/>
          <p:cNvCxnSpPr/>
          <p:nvPr/>
        </p:nvCxnSpPr>
        <p:spPr>
          <a:xfrm>
            <a:off x="66294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464808"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06" name="Connector 205"/>
          <p:cNvCxnSpPr/>
          <p:nvPr/>
        </p:nvCxnSpPr>
        <p:spPr>
          <a:xfrm>
            <a:off x="744169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27710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08" name="Connector 207"/>
          <p:cNvCxnSpPr/>
          <p:nvPr/>
        </p:nvCxnSpPr>
        <p:spPr>
          <a:xfrm>
            <a:off x="845705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8292465"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10" name="Connector 209"/>
          <p:cNvCxnSpPr/>
          <p:nvPr/>
        </p:nvCxnSpPr>
        <p:spPr>
          <a:xfrm>
            <a:off x="947242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930783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12" name="Connector 211"/>
          <p:cNvCxnSpPr/>
          <p:nvPr/>
        </p:nvCxnSpPr>
        <p:spPr>
          <a:xfrm>
            <a:off x="1048778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10323195"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14" name="Connector 213"/>
          <p:cNvCxnSpPr/>
          <p:nvPr/>
        </p:nvCxnSpPr>
        <p:spPr>
          <a:xfrm>
            <a:off x="1150315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11338560" y="4489703"/>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16" name="Connector 215"/>
          <p:cNvCxnSpPr/>
          <p:nvPr/>
        </p:nvCxnSpPr>
        <p:spPr>
          <a:xfrm>
            <a:off x="6629400"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6629400"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629400" y="4434029"/>
            <a:ext cx="101536" cy="97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730936" y="4200864"/>
            <a:ext cx="101537" cy="2331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832473" y="3196800"/>
            <a:ext cx="101536" cy="10040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934009" y="2586894"/>
            <a:ext cx="101537" cy="60990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7035546" y="2321568"/>
            <a:ext cx="101536" cy="265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7137082" y="2235804"/>
            <a:ext cx="101537" cy="857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7238619" y="2194647"/>
            <a:ext cx="101536" cy="411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7340155" y="2178951"/>
            <a:ext cx="101537" cy="156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441692" y="2172440"/>
            <a:ext cx="101536" cy="6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543228" y="2169378"/>
            <a:ext cx="101537" cy="30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644765" y="2168227"/>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746301" y="2167081"/>
            <a:ext cx="101537" cy="11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847838" y="2165930"/>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949374" y="2165165"/>
            <a:ext cx="101537" cy="7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8050911" y="2165165"/>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8152447" y="2164976"/>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8253984" y="2164401"/>
            <a:ext cx="101536" cy="5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8355520" y="216440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8457057" y="2164208"/>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8558593" y="2164019"/>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660130" y="2163637"/>
            <a:ext cx="101536" cy="3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761666" y="2163637"/>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863203" y="2163443"/>
            <a:ext cx="101536"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8964739"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066276" y="2163637"/>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9167812"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269349"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9370885"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472422"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9573958"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675495"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777031"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9878568"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980104"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081641"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183177"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0284714" y="2163250"/>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386250"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487787"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89323"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690860"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792396" y="2163061"/>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893933"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995469"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097006"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8542"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11300079"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1401615"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6629400" y="4435562"/>
            <a:ext cx="101536" cy="84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6730936" y="4186314"/>
            <a:ext cx="101537" cy="2492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6832473" y="3198522"/>
            <a:ext cx="101536" cy="9877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6934009" y="2601633"/>
            <a:ext cx="101537" cy="5968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7035546" y="2331711"/>
            <a:ext cx="101536" cy="2699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7137082" y="2235615"/>
            <a:ext cx="101537" cy="960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7238619" y="2196369"/>
            <a:ext cx="101536" cy="392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7340155" y="2182012"/>
            <a:ext cx="101537" cy="1435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7441692" y="2176078"/>
            <a:ext cx="101536" cy="59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7543228" y="2171100"/>
            <a:ext cx="101537" cy="49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7644765" y="2169378"/>
            <a:ext cx="101536" cy="17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7746301" y="2168038"/>
            <a:ext cx="101537" cy="13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7847838" y="2166699"/>
            <a:ext cx="101536" cy="13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7949374" y="2166316"/>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8050911" y="2165548"/>
            <a:ext cx="101536" cy="7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8152447" y="2165165"/>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8253984" y="2164783"/>
            <a:ext cx="101536"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8355520" y="2164208"/>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8457057" y="216401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8558593" y="216382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8660130" y="2163826"/>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8761666" y="2163637"/>
            <a:ext cx="101537"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8863203" y="216363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8964739" y="216363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flipV="1">
            <a:off x="9066276" y="2163250"/>
            <a:ext cx="101536" cy="3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9167812" y="21632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269349" y="2163250"/>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9370885" y="216306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9472422" y="2163061"/>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9573958" y="2162486"/>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9675495" y="216248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9777031" y="2162297"/>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9878568"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9980104" y="216229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0081641"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0183177" y="2162104"/>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0284714" y="2161910"/>
            <a:ext cx="101536" cy="1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0386250" y="216172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flipV="1">
            <a:off x="10487787" y="2161528"/>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0589323" y="2161528"/>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V="1">
            <a:off x="10690860" y="216133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V="1">
            <a:off x="10792396" y="216114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0893933"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0995469"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097006"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11198542"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11300079"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401615" y="2160953"/>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6629400" y="4435562"/>
            <a:ext cx="101536" cy="84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6730936" y="4182870"/>
            <a:ext cx="101537" cy="25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6832473" y="3200051"/>
            <a:ext cx="101536" cy="9828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6934009" y="2604888"/>
            <a:ext cx="101537" cy="595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7035546" y="2334009"/>
            <a:ext cx="101536" cy="2708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7137082" y="2235040"/>
            <a:ext cx="101537" cy="98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7238619" y="2197709"/>
            <a:ext cx="101536" cy="373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7340155" y="2182588"/>
            <a:ext cx="101537" cy="151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7441692" y="2175695"/>
            <a:ext cx="101536" cy="68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7543228" y="2171294"/>
            <a:ext cx="101537" cy="440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7644765" y="2169378"/>
            <a:ext cx="101536" cy="19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7746301" y="2167845"/>
            <a:ext cx="101537" cy="15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7847838" y="2167081"/>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7949374" y="216612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8050911" y="2165741"/>
            <a:ext cx="101536"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8152447" y="216478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8253984" y="2164019"/>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8355520" y="2164019"/>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8457057" y="2164019"/>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8558593" y="2164019"/>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8660130" y="216401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8761666" y="2163637"/>
            <a:ext cx="101537"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8863203" y="2163443"/>
            <a:ext cx="101536" cy="1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8964739" y="216344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9066276" y="2163443"/>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9167812" y="2163250"/>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9269349" y="2163250"/>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9370885" y="216325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9472422" y="2162679"/>
            <a:ext cx="101536" cy="57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9573958" y="216248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9675495" y="216248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9777031" y="2162297"/>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9878568" y="2161910"/>
            <a:ext cx="101536" cy="3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9980104" y="216191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10081641" y="2161721"/>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10183177" y="2161721"/>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10284714" y="2161721"/>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10386250" y="2161528"/>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10487787" y="2161528"/>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10589323" y="2161528"/>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10690860" y="216133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10792396" y="216114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10893933"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10995469"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11097006"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11198542"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flipV="1">
            <a:off x="11300079" y="2160953"/>
            <a:ext cx="101536"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11401615" y="216095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62" name="Rounded Rectangle 361"/>
          <p:cNvSpPr/>
          <p:nvPr/>
        </p:nvSpPr>
        <p:spPr>
          <a:xfrm>
            <a:off x="594360" y="5074920"/>
            <a:ext cx="3547872" cy="47548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722376" y="5175504"/>
            <a:ext cx="1024128" cy="182880"/>
          </a:xfrm>
          <a:prstGeom prst="rect">
            <a:avLst/>
          </a:prstGeom>
          <a:noFill/>
        </p:spPr>
        <p:txBody>
          <a:bodyPr wrap="square" lIns="18288" rIns="18288" tIns="18288" bIns="18288" anchor="t">
            <a:spAutoFit/>
          </a:bodyPr>
          <a:lstStyle/>
          <a:p>
            <a:pPr algn="l"/>
            <a:r>
              <a:rPr sz="880" b="1" lang="en-US">
                <a:solidFill>
                  <a:srgbClr val="1F90CC"/>
                </a:solidFill>
                <a:latin typeface="Arial"/>
              </a:rPr>
              <a:t>LOSS</a:t>
            </a:r>
          </a:p>
        </p:txBody>
      </p:sp>
      <p:sp>
        <p:nvSpPr>
          <p:cNvPr id="364" name="TextBox 363"/>
          <p:cNvSpPr txBox="1"/>
          <p:nvPr/>
        </p:nvSpPr>
        <p:spPr>
          <a:xfrm>
            <a:off x="167335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 0.62  →  ≈ 0.188</a:t>
            </a:r>
          </a:p>
        </p:txBody>
      </p:sp>
      <p:sp>
        <p:nvSpPr>
          <p:cNvPr id="365" name="Rounded Rectangle 364"/>
          <p:cNvSpPr/>
          <p:nvPr/>
        </p:nvSpPr>
        <p:spPr>
          <a:xfrm>
            <a:off x="4389120" y="5074920"/>
            <a:ext cx="3547872" cy="47548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TextBox 365"/>
          <p:cNvSpPr txBox="1"/>
          <p:nvPr/>
        </p:nvSpPr>
        <p:spPr>
          <a:xfrm>
            <a:off x="4517136" y="5175504"/>
            <a:ext cx="1024128" cy="182880"/>
          </a:xfrm>
          <a:prstGeom prst="rect">
            <a:avLst/>
          </a:prstGeom>
          <a:noFill/>
        </p:spPr>
        <p:txBody>
          <a:bodyPr wrap="square" lIns="18288" rIns="18288" tIns="18288" bIns="18288" anchor="t">
            <a:spAutoFit/>
          </a:bodyPr>
          <a:lstStyle/>
          <a:p>
            <a:pPr algn="l"/>
            <a:r>
              <a:rPr sz="880" b="1" lang="en-US">
                <a:solidFill>
                  <a:srgbClr val="2F8F46"/>
                </a:solidFill>
                <a:latin typeface="Arial"/>
              </a:rPr>
              <a:t>EXACT MATCH</a:t>
            </a:r>
          </a:p>
        </p:txBody>
      </p:sp>
      <p:sp>
        <p:nvSpPr>
          <p:cNvPr id="367" name="TextBox 366"/>
          <p:cNvSpPr txBox="1"/>
          <p:nvPr/>
        </p:nvSpPr>
        <p:spPr>
          <a:xfrm>
            <a:off x="546811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 0%  →  ≈ 53.16%</a:t>
            </a:r>
          </a:p>
        </p:txBody>
      </p:sp>
      <p:sp>
        <p:nvSpPr>
          <p:cNvPr id="368" name="Rounded Rectangle 367"/>
          <p:cNvSpPr/>
          <p:nvPr/>
        </p:nvSpPr>
        <p:spPr>
          <a:xfrm>
            <a:off x="8183880" y="5074920"/>
            <a:ext cx="3547872" cy="475488"/>
          </a:xfrm>
          <a:prstGeom prst="roundRect">
            <a:avLst/>
          </a:prstGeom>
          <a:solidFill>
            <a:srgbClr val="F3F3F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TextBox 368"/>
          <p:cNvSpPr txBox="1"/>
          <p:nvPr/>
        </p:nvSpPr>
        <p:spPr>
          <a:xfrm>
            <a:off x="8311896" y="5175504"/>
            <a:ext cx="1024128" cy="182880"/>
          </a:xfrm>
          <a:prstGeom prst="rect">
            <a:avLst/>
          </a:prstGeom>
          <a:noFill/>
        </p:spPr>
        <p:txBody>
          <a:bodyPr wrap="square" lIns="18288" rIns="18288" tIns="18288" bIns="18288" anchor="t">
            <a:spAutoFit/>
          </a:bodyPr>
          <a:lstStyle/>
          <a:p>
            <a:pPr algn="l"/>
            <a:r>
              <a:rPr sz="880" b="1" lang="en-US">
                <a:solidFill>
                  <a:srgbClr val="434343"/>
                </a:solidFill>
                <a:latin typeface="Arial"/>
              </a:rPr>
              <a:t>OBSERVATION</a:t>
            </a:r>
          </a:p>
        </p:txBody>
      </p:sp>
      <p:sp>
        <p:nvSpPr>
          <p:cNvPr id="370" name="TextBox 369"/>
          <p:cNvSpPr txBox="1"/>
          <p:nvPr/>
        </p:nvSpPr>
        <p:spPr>
          <a:xfrm>
            <a:off x="9262872" y="5157216"/>
            <a:ext cx="2304288" cy="219456"/>
          </a:xfrm>
          <a:prstGeom prst="rect">
            <a:avLst/>
          </a:prstGeom>
          <a:noFill/>
        </p:spPr>
        <p:txBody>
          <a:bodyPr wrap="square" lIns="18288" rIns="18288" tIns="18288" bIns="18288" anchor="ctr">
            <a:spAutoFit/>
          </a:bodyPr>
          <a:lstStyle/>
          <a:p>
            <a:pPr algn="ctr"/>
            <a:r>
              <a:rPr sz="980" b="1" lang="en-US">
                <a:solidFill>
                  <a:srgbClr val="434343"/>
                </a:solidFill>
                <a:latin typeface="Arial"/>
              </a:rPr>
              <a:t>Nearly identical curves at all three tested scales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Optimization does not imply useful discrimination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AUROC REMAINS NEAR CHANCE WHILE BOTH F1 SCORES COLLAPSE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84048"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cxnSp>
        <p:nvCxnSpPr>
          <p:cNvPr id="10" name="Connector 9"/>
          <p:cNvCxnSpPr/>
          <p:nvPr/>
        </p:nvCxnSpPr>
        <p:spPr>
          <a:xfrm>
            <a:off x="914400"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79576"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2" name="Connector 11"/>
          <p:cNvCxnSpPr/>
          <p:nvPr/>
        </p:nvCxnSpPr>
        <p:spPr>
          <a:xfrm>
            <a:off x="1804415"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069591"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4" name="Connector 13"/>
          <p:cNvCxnSpPr/>
          <p:nvPr/>
        </p:nvCxnSpPr>
        <p:spPr>
          <a:xfrm>
            <a:off x="2694431" y="1819656"/>
            <a:ext cx="219457"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607"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6" name="Connector 15"/>
          <p:cNvCxnSpPr/>
          <p:nvPr/>
        </p:nvCxnSpPr>
        <p:spPr>
          <a:xfrm>
            <a:off x="859536" y="4050791"/>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0623" y="397763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0.49</a:t>
            </a:r>
          </a:p>
        </p:txBody>
      </p:sp>
      <p:cxnSp>
        <p:nvCxnSpPr>
          <p:cNvPr id="18" name="Connector 17"/>
          <p:cNvCxnSpPr/>
          <p:nvPr/>
        </p:nvCxnSpPr>
        <p:spPr>
          <a:xfrm>
            <a:off x="859536" y="3246119"/>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3" y="317296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0" name="Connector 19"/>
          <p:cNvCxnSpPr/>
          <p:nvPr/>
        </p:nvCxnSpPr>
        <p:spPr>
          <a:xfrm>
            <a:off x="859536" y="24414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20623" y="23682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0.51</a:t>
            </a:r>
          </a:p>
        </p:txBody>
      </p:sp>
      <p:cxnSp>
        <p:nvCxnSpPr>
          <p:cNvPr id="22" name="Connector 21"/>
          <p:cNvCxnSpPr/>
          <p:nvPr/>
        </p:nvCxnSpPr>
        <p:spPr>
          <a:xfrm>
            <a:off x="859536"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4" name="Connector 23"/>
          <p:cNvCxnSpPr/>
          <p:nvPr/>
        </p:nvCxnSpPr>
        <p:spPr>
          <a:xfrm>
            <a:off x="137160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6" name="Connector 25"/>
          <p:cNvCxnSpPr/>
          <p:nvPr/>
        </p:nvCxnSpPr>
        <p:spPr>
          <a:xfrm>
            <a:off x="201168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4708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8" name="Connector 27"/>
          <p:cNvCxnSpPr/>
          <p:nvPr/>
        </p:nvCxnSpPr>
        <p:spPr>
          <a:xfrm>
            <a:off x="26517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48716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0" name="Connector 29"/>
          <p:cNvCxnSpPr/>
          <p:nvPr/>
        </p:nvCxnSpPr>
        <p:spPr>
          <a:xfrm>
            <a:off x="329184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2724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2" name="Connector 31"/>
          <p:cNvCxnSpPr/>
          <p:nvPr/>
        </p:nvCxnSpPr>
        <p:spPr>
          <a:xfrm>
            <a:off x="393192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6732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4" name="Connector 33"/>
          <p:cNvCxnSpPr/>
          <p:nvPr/>
        </p:nvCxnSpPr>
        <p:spPr>
          <a:xfrm>
            <a:off x="859536"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59536"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9536" y="3246119"/>
            <a:ext cx="3072384"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3438144" y="3081527"/>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38" name="Connector 37"/>
          <p:cNvCxnSpPr/>
          <p:nvPr/>
        </p:nvCxnSpPr>
        <p:spPr>
          <a:xfrm>
            <a:off x="859536" y="3893317"/>
            <a:ext cx="64008" cy="2307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23544" y="4083783"/>
            <a:ext cx="64008" cy="402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87552" y="3848014"/>
            <a:ext cx="64008" cy="2357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51560" y="3551814"/>
            <a:ext cx="64008" cy="2962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15568" y="3316609"/>
            <a:ext cx="64008" cy="2352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179576" y="3150846"/>
            <a:ext cx="64008" cy="1657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243584" y="3019363"/>
            <a:ext cx="64008" cy="13148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307592" y="2950000"/>
            <a:ext cx="64008" cy="693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71600" y="2893029"/>
            <a:ext cx="64008" cy="56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435608" y="2887075"/>
            <a:ext cx="64008" cy="595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499616" y="2872671"/>
            <a:ext cx="64008" cy="144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563624" y="2872671"/>
            <a:ext cx="64008" cy="71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27632" y="2879833"/>
            <a:ext cx="64008" cy="1070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691640" y="2890535"/>
            <a:ext cx="64008" cy="133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55648" y="2903892"/>
            <a:ext cx="64008" cy="44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819656" y="2948069"/>
            <a:ext cx="64008" cy="117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883664" y="2956438"/>
            <a:ext cx="64008" cy="33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47672" y="2956438"/>
            <a:ext cx="64008" cy="69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011680" y="2963358"/>
            <a:ext cx="64008" cy="125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075688" y="2975911"/>
            <a:ext cx="64008" cy="97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139696" y="2985647"/>
            <a:ext cx="64008" cy="155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203704" y="3001177"/>
            <a:ext cx="64008" cy="88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267712" y="3009868"/>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331720" y="3009868"/>
            <a:ext cx="64008" cy="9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395728" y="3018478"/>
            <a:ext cx="64008" cy="7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459736" y="3018478"/>
            <a:ext cx="64008" cy="24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523744" y="3020972"/>
            <a:ext cx="64008" cy="53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587752" y="3026283"/>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651760" y="3026444"/>
            <a:ext cx="64008" cy="91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2715768" y="3031513"/>
            <a:ext cx="64008" cy="41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779776" y="3029260"/>
            <a:ext cx="64008" cy="22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843784" y="3029260"/>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2907792" y="3027490"/>
            <a:ext cx="64008" cy="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971800" y="3027490"/>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035808" y="3021938"/>
            <a:ext cx="64008" cy="57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099816" y="3021696"/>
            <a:ext cx="64008" cy="2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163824" y="3017754"/>
            <a:ext cx="64008" cy="39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227832" y="3013891"/>
            <a:ext cx="64008" cy="38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291840" y="3009546"/>
            <a:ext cx="64008" cy="4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355848" y="3009546"/>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419856" y="3007856"/>
            <a:ext cx="64008" cy="2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483864" y="3003430"/>
            <a:ext cx="64008" cy="44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547872" y="2996993"/>
            <a:ext cx="64008" cy="64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611880" y="2987176"/>
            <a:ext cx="64007" cy="9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675887" y="2967703"/>
            <a:ext cx="64009" cy="194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39896" y="2959898"/>
            <a:ext cx="64008" cy="78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803904" y="2936723"/>
            <a:ext cx="64008" cy="231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867912" y="2927228"/>
            <a:ext cx="64008" cy="949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859536" y="3884063"/>
            <a:ext cx="64008" cy="1949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23544" y="4060206"/>
            <a:ext cx="64008" cy="188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7552" y="3842060"/>
            <a:ext cx="64008" cy="2181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51560" y="3549481"/>
            <a:ext cx="64008" cy="2925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15568" y="3348635"/>
            <a:ext cx="64008" cy="2008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179576" y="3207817"/>
            <a:ext cx="64008" cy="1408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243584" y="3117694"/>
            <a:ext cx="64008" cy="9012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307592" y="3039158"/>
            <a:ext cx="64008" cy="785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371600" y="2970439"/>
            <a:ext cx="64008" cy="687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435608" y="2911698"/>
            <a:ext cx="64008" cy="587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499616" y="2869694"/>
            <a:ext cx="64008" cy="42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63624" y="2841852"/>
            <a:ext cx="64008" cy="278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627632" y="2833001"/>
            <a:ext cx="64008" cy="8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691640" y="2825839"/>
            <a:ext cx="64008"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755648" y="2822540"/>
            <a:ext cx="64008" cy="32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819656" y="2822540"/>
            <a:ext cx="64008" cy="83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883664" y="2830909"/>
            <a:ext cx="64008" cy="21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947672" y="2852072"/>
            <a:ext cx="64008" cy="563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011680" y="2857704"/>
            <a:ext cx="64008" cy="74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075688" y="2856497"/>
            <a:ext cx="64008" cy="869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139696" y="2839599"/>
            <a:ext cx="64008" cy="168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203704" y="2837748"/>
            <a:ext cx="64008" cy="1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267712" y="2837748"/>
            <a:ext cx="64008" cy="3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331720" y="2837990"/>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395728" y="2835898"/>
            <a:ext cx="64008" cy="20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459736" y="2835495"/>
            <a:ext cx="64008" cy="40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23744" y="2834369"/>
            <a:ext cx="64008" cy="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87752" y="2822942"/>
            <a:ext cx="64008" cy="114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651760" y="2818356"/>
            <a:ext cx="64008" cy="45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715768" y="2808941"/>
            <a:ext cx="64008" cy="941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779776" y="2801780"/>
            <a:ext cx="64008" cy="7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843784" y="2796952"/>
            <a:ext cx="64008" cy="48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907792" y="2789710"/>
            <a:ext cx="64008" cy="72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971800" y="2776030"/>
            <a:ext cx="64008" cy="136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035808" y="2767903"/>
            <a:ext cx="64008" cy="81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099816" y="2759695"/>
            <a:ext cx="64008" cy="82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163824" y="2756718"/>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227832" y="2707713"/>
            <a:ext cx="64008" cy="490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291840" y="2690896"/>
            <a:ext cx="64008" cy="168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355848" y="2688884"/>
            <a:ext cx="64008" cy="201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419856" y="2688884"/>
            <a:ext cx="64008" cy="128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483864" y="2690172"/>
            <a:ext cx="64008" cy="24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547872" y="2692586"/>
            <a:ext cx="64008" cy="50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3611880" y="2697655"/>
            <a:ext cx="64007"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675887" y="2704817"/>
            <a:ext cx="64009" cy="10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739896" y="2705863"/>
            <a:ext cx="64008" cy="1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803904" y="2704253"/>
            <a:ext cx="64008" cy="31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867912" y="2694034"/>
            <a:ext cx="64008" cy="10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859536" y="3858073"/>
            <a:ext cx="64008" cy="2126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23544" y="4055861"/>
            <a:ext cx="64008" cy="148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87552" y="3844554"/>
            <a:ext cx="64008" cy="2113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051560" y="3559298"/>
            <a:ext cx="64008" cy="2852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115568" y="3360142"/>
            <a:ext cx="64008" cy="1991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179576" y="3209185"/>
            <a:ext cx="64008" cy="1509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43584" y="3113429"/>
            <a:ext cx="64008" cy="957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307592" y="3042296"/>
            <a:ext cx="64008" cy="711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371600" y="2961266"/>
            <a:ext cx="64008" cy="810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435608" y="2889972"/>
            <a:ext cx="64008" cy="712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499616" y="2848129"/>
            <a:ext cx="64008" cy="418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563624" y="2825437"/>
            <a:ext cx="64008" cy="2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627632" y="2805401"/>
            <a:ext cx="64008" cy="200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691640" y="2787617"/>
            <a:ext cx="64008" cy="17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755648" y="2775950"/>
            <a:ext cx="64008" cy="116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819656" y="2769110"/>
            <a:ext cx="64008" cy="6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883664" y="2769110"/>
            <a:ext cx="64008" cy="98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947672" y="2779007"/>
            <a:ext cx="64008" cy="30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011680" y="2809585"/>
            <a:ext cx="64008" cy="4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075688" y="2813930"/>
            <a:ext cx="64008" cy="5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139696" y="2814493"/>
            <a:ext cx="64008" cy="3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2203704" y="2816747"/>
            <a:ext cx="64008" cy="88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2267712" y="2806769"/>
            <a:ext cx="64008" cy="9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2331720" y="2783272"/>
            <a:ext cx="64008" cy="23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2395728" y="2776513"/>
            <a:ext cx="64008" cy="67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459736" y="2776513"/>
            <a:ext cx="64008" cy="225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523744" y="2777961"/>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587752" y="2777961"/>
            <a:ext cx="64008" cy="72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2651760" y="2774984"/>
            <a:ext cx="64008" cy="370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2715768" y="2764845"/>
            <a:ext cx="64008" cy="10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2779776" y="2755431"/>
            <a:ext cx="64008" cy="941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2843784" y="2738774"/>
            <a:ext cx="64008" cy="166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2907792" y="2727347"/>
            <a:ext cx="64008" cy="114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2971800" y="2713507"/>
            <a:ext cx="64008" cy="13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035808" y="2653398"/>
            <a:ext cx="64008" cy="601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099816" y="2634649"/>
            <a:ext cx="64008" cy="1874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163824" y="2630867"/>
            <a:ext cx="64008" cy="37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227832" y="2625154"/>
            <a:ext cx="64008" cy="57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291840" y="2620648"/>
            <a:ext cx="64008" cy="45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55848" y="2616705"/>
            <a:ext cx="64008" cy="39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419856" y="2615900"/>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483864" y="2615176"/>
            <a:ext cx="64008" cy="72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547872" y="2615176"/>
            <a:ext cx="64008" cy="49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611880" y="2620165"/>
            <a:ext cx="64007" cy="27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675887" y="2617671"/>
            <a:ext cx="64009" cy="52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3739896" y="2592967"/>
            <a:ext cx="64008" cy="247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803904" y="2578885"/>
            <a:ext cx="64008" cy="14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3867912" y="2570839"/>
            <a:ext cx="64008" cy="804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2" name="Rounded Rectangle 181"/>
          <p:cNvSpPr/>
          <p:nvPr/>
        </p:nvSpPr>
        <p:spPr>
          <a:xfrm>
            <a:off x="4233672"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4343400"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Micro F1</a:t>
            </a:r>
          </a:p>
        </p:txBody>
      </p:sp>
      <p:cxnSp>
        <p:nvCxnSpPr>
          <p:cNvPr id="184" name="Connector 183"/>
          <p:cNvCxnSpPr/>
          <p:nvPr/>
        </p:nvCxnSpPr>
        <p:spPr>
          <a:xfrm>
            <a:off x="4764024"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5029200"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86" name="Connector 185"/>
          <p:cNvCxnSpPr/>
          <p:nvPr/>
        </p:nvCxnSpPr>
        <p:spPr>
          <a:xfrm>
            <a:off x="5654040"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5919216"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88" name="Connector 187"/>
          <p:cNvCxnSpPr/>
          <p:nvPr/>
        </p:nvCxnSpPr>
        <p:spPr>
          <a:xfrm>
            <a:off x="6544056"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6809232"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0" name="Connector 189"/>
          <p:cNvCxnSpPr/>
          <p:nvPr/>
        </p:nvCxnSpPr>
        <p:spPr>
          <a:xfrm>
            <a:off x="4709160" y="445312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4270248" y="437997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192" name="Connector 191"/>
          <p:cNvCxnSpPr/>
          <p:nvPr/>
        </p:nvCxnSpPr>
        <p:spPr>
          <a:xfrm>
            <a:off x="4709160" y="33558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4270248" y="32826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194" name="Connector 193"/>
          <p:cNvCxnSpPr/>
          <p:nvPr/>
        </p:nvCxnSpPr>
        <p:spPr>
          <a:xfrm>
            <a:off x="4709160" y="225856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4270248" y="218541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cxnSp>
        <p:nvCxnSpPr>
          <p:cNvPr id="196" name="Connector 195"/>
          <p:cNvCxnSpPr/>
          <p:nvPr/>
        </p:nvCxnSpPr>
        <p:spPr>
          <a:xfrm>
            <a:off x="47091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4544568"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98" name="Connector 197"/>
          <p:cNvCxnSpPr/>
          <p:nvPr/>
        </p:nvCxnSpPr>
        <p:spPr>
          <a:xfrm>
            <a:off x="522122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505663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00" name="Connector 199"/>
          <p:cNvCxnSpPr/>
          <p:nvPr/>
        </p:nvCxnSpPr>
        <p:spPr>
          <a:xfrm>
            <a:off x="586130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569671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02" name="Connector 201"/>
          <p:cNvCxnSpPr/>
          <p:nvPr/>
        </p:nvCxnSpPr>
        <p:spPr>
          <a:xfrm>
            <a:off x="65013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33679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04" name="Connector 203"/>
          <p:cNvCxnSpPr/>
          <p:nvPr/>
        </p:nvCxnSpPr>
        <p:spPr>
          <a:xfrm>
            <a:off x="714146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97687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06" name="Connector 205"/>
          <p:cNvCxnSpPr/>
          <p:nvPr/>
        </p:nvCxnSpPr>
        <p:spPr>
          <a:xfrm>
            <a:off x="778154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61695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08" name="Connector 207"/>
          <p:cNvCxnSpPr/>
          <p:nvPr/>
        </p:nvCxnSpPr>
        <p:spPr>
          <a:xfrm>
            <a:off x="4709160"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709160"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709160" y="2185094"/>
            <a:ext cx="64008" cy="4664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773168" y="2651503"/>
            <a:ext cx="64008" cy="368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4837176" y="3019926"/>
            <a:ext cx="64008" cy="4635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901184" y="3483483"/>
            <a:ext cx="64008" cy="4630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4965192" y="3946535"/>
            <a:ext cx="64008" cy="2652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029200" y="4211748"/>
            <a:ext cx="64008" cy="1172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093208" y="4329025"/>
            <a:ext cx="64008" cy="4624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157216" y="4375265"/>
            <a:ext cx="64008" cy="306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5221224" y="4405901"/>
            <a:ext cx="64008" cy="103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285232" y="4416237"/>
            <a:ext cx="64008" cy="131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5349240" y="4429360"/>
            <a:ext cx="64008" cy="26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5413248" y="4431972"/>
            <a:ext cx="64008" cy="526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5477256" y="4437239"/>
            <a:ext cx="64008" cy="263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5541264"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5605272" y="4442528"/>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5669280"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733288" y="443987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5797296"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5861304" y="4442506"/>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5925312"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989320"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053328"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117336"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181344" y="4442506"/>
            <a:ext cx="64008" cy="26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245352"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309360"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373368"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437376" y="4445161"/>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50138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56539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62940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69340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75741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82142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88543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694944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1344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07745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4146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20547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6948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733348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739749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746150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752551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758952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765352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771753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4709160" y="2183470"/>
            <a:ext cx="64008" cy="4487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4773168" y="2632257"/>
            <a:ext cx="64008" cy="3779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4837176" y="3010226"/>
            <a:ext cx="64008" cy="46882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4901184" y="3479050"/>
            <a:ext cx="64008" cy="4686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4965192" y="3947720"/>
            <a:ext cx="64008" cy="2548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5029200" y="4202531"/>
            <a:ext cx="64008" cy="10389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5093208" y="4306421"/>
            <a:ext cx="64008" cy="482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5157216" y="4354701"/>
            <a:ext cx="64008" cy="225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5221224" y="4377218"/>
            <a:ext cx="64008" cy="259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5285232" y="4403157"/>
            <a:ext cx="64008" cy="130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5349240" y="4416193"/>
            <a:ext cx="64008" cy="184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5413248" y="4434627"/>
            <a:ext cx="64008" cy="26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5477256" y="4437239"/>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5541264" y="4437239"/>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5605272" y="4439872"/>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5669280"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5733288"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5797296"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5861304"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5925312" y="4439850"/>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5989320"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53328"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17336" y="4439850"/>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81344" y="444250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245352" y="4442506"/>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6309360"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373368"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437376" y="4445161"/>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50138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56539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662940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669340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6757416"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682142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688543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694944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701344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7077456" y="4447817"/>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14146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20547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726948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733348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739749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746150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752551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758952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765352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771753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709160" y="2167054"/>
            <a:ext cx="64008" cy="43768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773168" y="2604737"/>
            <a:ext cx="64008" cy="3870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837176" y="2991814"/>
            <a:ext cx="64008" cy="46711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01184" y="3458926"/>
            <a:ext cx="64008" cy="4772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4965192" y="3936133"/>
            <a:ext cx="64008" cy="2641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29200" y="4200314"/>
            <a:ext cx="64008" cy="10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093208" y="4301396"/>
            <a:ext cx="64008" cy="507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157216" y="4352156"/>
            <a:ext cx="64008" cy="250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21224" y="4377240"/>
            <a:ext cx="64008" cy="232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285232" y="4400524"/>
            <a:ext cx="64008" cy="1830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49240" y="4418827"/>
            <a:ext cx="64008" cy="105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13248" y="4429338"/>
            <a:ext cx="64008" cy="792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5477256" y="4437239"/>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41264" y="4437239"/>
            <a:ext cx="64008" cy="2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605272"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5669280"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5733288"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5797296"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5861304"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a:off x="5925312" y="4439872"/>
            <a:ext cx="64008" cy="263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a:off x="5989320"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6053328"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6117336"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6181344"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a:off x="6245352" y="4442506"/>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6309360" y="4445161"/>
            <a:ext cx="64008" cy="26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637336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643737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650138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656539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6629400"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669340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675741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a:off x="682142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688543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6949440" y="4447817"/>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701344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707745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714146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720547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a:off x="726948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733348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739749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746150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752551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758952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765352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771753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54" name="Rounded Rectangle 353"/>
          <p:cNvSpPr/>
          <p:nvPr/>
        </p:nvSpPr>
        <p:spPr>
          <a:xfrm>
            <a:off x="8083296"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TextBox 354"/>
          <p:cNvSpPr txBox="1"/>
          <p:nvPr/>
        </p:nvSpPr>
        <p:spPr>
          <a:xfrm>
            <a:off x="8193023"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cxnSp>
        <p:nvCxnSpPr>
          <p:cNvPr id="356" name="Connector 355"/>
          <p:cNvCxnSpPr/>
          <p:nvPr/>
        </p:nvCxnSpPr>
        <p:spPr>
          <a:xfrm>
            <a:off x="86136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357" name="TextBox 356"/>
          <p:cNvSpPr txBox="1"/>
          <p:nvPr/>
        </p:nvSpPr>
        <p:spPr>
          <a:xfrm>
            <a:off x="8878824" y="1755648"/>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358" name="Connector 357"/>
          <p:cNvCxnSpPr/>
          <p:nvPr/>
        </p:nvCxnSpPr>
        <p:spPr>
          <a:xfrm>
            <a:off x="95036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359" name="TextBox 358"/>
          <p:cNvSpPr txBox="1"/>
          <p:nvPr/>
        </p:nvSpPr>
        <p:spPr>
          <a:xfrm>
            <a:off x="9768839" y="1755648"/>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360" name="Connector 359"/>
          <p:cNvCxnSpPr/>
          <p:nvPr/>
        </p:nvCxnSpPr>
        <p:spPr>
          <a:xfrm>
            <a:off x="103936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61" name="TextBox 360"/>
          <p:cNvSpPr txBox="1"/>
          <p:nvPr/>
        </p:nvSpPr>
        <p:spPr>
          <a:xfrm>
            <a:off x="10658856" y="1755648"/>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362" name="Connector 361"/>
          <p:cNvCxnSpPr/>
          <p:nvPr/>
        </p:nvCxnSpPr>
        <p:spPr>
          <a:xfrm>
            <a:off x="8558784" y="445312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3" name="TextBox 362"/>
          <p:cNvSpPr txBox="1"/>
          <p:nvPr/>
        </p:nvSpPr>
        <p:spPr>
          <a:xfrm>
            <a:off x="8119871" y="437997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364" name="Connector 363"/>
          <p:cNvCxnSpPr/>
          <p:nvPr/>
        </p:nvCxnSpPr>
        <p:spPr>
          <a:xfrm>
            <a:off x="8558784" y="335584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5" name="TextBox 364"/>
          <p:cNvSpPr txBox="1"/>
          <p:nvPr/>
        </p:nvSpPr>
        <p:spPr>
          <a:xfrm>
            <a:off x="8119871" y="328269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366" name="Connector 365"/>
          <p:cNvCxnSpPr/>
          <p:nvPr/>
        </p:nvCxnSpPr>
        <p:spPr>
          <a:xfrm>
            <a:off x="8558784" y="225856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7" name="TextBox 366"/>
          <p:cNvSpPr txBox="1"/>
          <p:nvPr/>
        </p:nvSpPr>
        <p:spPr>
          <a:xfrm>
            <a:off x="8119871" y="2185415"/>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cxnSp>
        <p:nvCxnSpPr>
          <p:cNvPr id="368" name="Connector 367"/>
          <p:cNvCxnSpPr/>
          <p:nvPr/>
        </p:nvCxnSpPr>
        <p:spPr>
          <a:xfrm>
            <a:off x="85587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9" name="TextBox 368"/>
          <p:cNvSpPr txBox="1"/>
          <p:nvPr/>
        </p:nvSpPr>
        <p:spPr>
          <a:xfrm>
            <a:off x="8394192"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370" name="Connector 369"/>
          <p:cNvCxnSpPr/>
          <p:nvPr/>
        </p:nvCxnSpPr>
        <p:spPr>
          <a:xfrm>
            <a:off x="907084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1" name="TextBox 370"/>
          <p:cNvSpPr txBox="1"/>
          <p:nvPr/>
        </p:nvSpPr>
        <p:spPr>
          <a:xfrm>
            <a:off x="890625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72" name="Connector 371"/>
          <p:cNvCxnSpPr/>
          <p:nvPr/>
        </p:nvCxnSpPr>
        <p:spPr>
          <a:xfrm>
            <a:off x="971092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3" name="TextBox 372"/>
          <p:cNvSpPr txBox="1"/>
          <p:nvPr/>
        </p:nvSpPr>
        <p:spPr>
          <a:xfrm>
            <a:off x="954633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74" name="Connector 373"/>
          <p:cNvCxnSpPr/>
          <p:nvPr/>
        </p:nvCxnSpPr>
        <p:spPr>
          <a:xfrm>
            <a:off x="1035100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5" name="TextBox 374"/>
          <p:cNvSpPr txBox="1"/>
          <p:nvPr/>
        </p:nvSpPr>
        <p:spPr>
          <a:xfrm>
            <a:off x="1018641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76" name="Connector 375"/>
          <p:cNvCxnSpPr/>
          <p:nvPr/>
        </p:nvCxnSpPr>
        <p:spPr>
          <a:xfrm>
            <a:off x="1099108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7" name="TextBox 376"/>
          <p:cNvSpPr txBox="1"/>
          <p:nvPr/>
        </p:nvSpPr>
        <p:spPr>
          <a:xfrm>
            <a:off x="1082649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78" name="Connector 377"/>
          <p:cNvCxnSpPr/>
          <p:nvPr/>
        </p:nvCxnSpPr>
        <p:spPr>
          <a:xfrm>
            <a:off x="11631167"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11466576" y="4498847"/>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80" name="Connector 379"/>
          <p:cNvCxnSpPr/>
          <p:nvPr/>
        </p:nvCxnSpPr>
        <p:spPr>
          <a:xfrm>
            <a:off x="8558784"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8558784" y="4453127"/>
            <a:ext cx="3072383"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8558784" y="2739308"/>
            <a:ext cx="64008" cy="3510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8622792" y="3090350"/>
            <a:ext cx="64008" cy="3751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8686800" y="3465510"/>
            <a:ext cx="64008" cy="3498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8750808" y="3815366"/>
            <a:ext cx="64007" cy="1720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8814815" y="3987376"/>
            <a:ext cx="64009" cy="15555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8878824" y="4142926"/>
            <a:ext cx="64008" cy="756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8942832" y="4218573"/>
            <a:ext cx="64008" cy="170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9006840" y="4235603"/>
            <a:ext cx="64008" cy="367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9070848" y="4272340"/>
            <a:ext cx="64008" cy="51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flipV="1">
            <a:off x="9134856" y="4296853"/>
            <a:ext cx="64007" cy="266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9198863" y="4296853"/>
            <a:ext cx="64009" cy="454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9262872" y="4301396"/>
            <a:ext cx="64008" cy="63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9326880" y="4365367"/>
            <a:ext cx="64008" cy="3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9390888" y="4397781"/>
            <a:ext cx="64008" cy="1101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9454896" y="44087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9518904" y="4397737"/>
            <a:ext cx="64008"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flipV="1">
            <a:off x="9582912" y="4397715"/>
            <a:ext cx="64007"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9646919" y="4397715"/>
            <a:ext cx="64009"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flipV="1">
            <a:off x="9710928" y="4408753"/>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a:off x="9774936"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a:off x="9838944"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a:off x="9902952" y="4408753"/>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9966959" y="4408732"/>
            <a:ext cx="64008" cy="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10030967" y="4408732"/>
            <a:ext cx="64009" cy="110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a:off x="10094976"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10158984"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10222992"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10287000" y="4419814"/>
            <a:ext cx="64008" cy="111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a:off x="1035100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041501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047902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1054303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1060704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1067104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10735056" y="4430919"/>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0799063" y="4430919"/>
            <a:ext cx="64009"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a:off x="1086307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a:off x="1092708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1099108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a:off x="1105509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111910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11183112" y="4430897"/>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11247120"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11311128"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11375136"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11439144"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11503152" y="4430897"/>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11567159"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8558784" y="2737289"/>
            <a:ext cx="64008" cy="3434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8622792" y="3080781"/>
            <a:ext cx="64008" cy="3756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8686800" y="3456402"/>
            <a:ext cx="64008" cy="3486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8750808" y="3805030"/>
            <a:ext cx="64007" cy="2339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8814815" y="4038970"/>
            <a:ext cx="64009" cy="1158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8878824" y="4154865"/>
            <a:ext cx="64008" cy="4771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8942832" y="4202575"/>
            <a:ext cx="64008" cy="226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9006840" y="4225222"/>
            <a:ext cx="64008" cy="779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9070848" y="4303173"/>
            <a:ext cx="64008" cy="22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flipV="1">
            <a:off x="9134856" y="4269991"/>
            <a:ext cx="64007" cy="353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9198863" y="4269991"/>
            <a:ext cx="64009" cy="9083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a:off x="9262872" y="4360824"/>
            <a:ext cx="64008" cy="48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9326880" y="4365126"/>
            <a:ext cx="64008" cy="5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9390888" y="4365126"/>
            <a:ext cx="64008" cy="328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V="1">
            <a:off x="9454896" y="4397847"/>
            <a:ext cx="64008" cy="1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9518904" y="4397803"/>
            <a:ext cx="64008"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V="1">
            <a:off x="9582912" y="4397759"/>
            <a:ext cx="64007"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V="1">
            <a:off x="9646919" y="4397737"/>
            <a:ext cx="64009"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V="1">
            <a:off x="9710928" y="439771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9774936"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a:off x="9838944"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9902952" y="4397649"/>
            <a:ext cx="64007" cy="6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a:off x="9966959" y="4397649"/>
            <a:ext cx="64008" cy="110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a:off x="10030967" y="4408732"/>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a:off x="10094976" y="4408732"/>
            <a:ext cx="64008" cy="1106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10158984"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a:off x="10222992"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a:off x="10287000" y="4419792"/>
            <a:ext cx="64008" cy="111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10351008" y="443089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10415016" y="443087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10479024"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1054303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10607040"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a:off x="10671048"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a:off x="10735056" y="4430875"/>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a:off x="10799063" y="4430875"/>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a:off x="1086307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10927080" y="4430875"/>
            <a:ext cx="64008" cy="1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1099108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1105509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1111910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11183112"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11247120"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a:off x="1131112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a:off x="1137513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1143914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a:off x="11503152" y="4442001"/>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11567159"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8558784" y="2731715"/>
            <a:ext cx="64008" cy="3364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8622792" y="3068185"/>
            <a:ext cx="64008" cy="3782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8686800" y="3446395"/>
            <a:ext cx="64008" cy="3442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a:off x="8750808" y="3790612"/>
            <a:ext cx="64007" cy="243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8814815" y="4034098"/>
            <a:ext cx="64009" cy="1188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a:off x="8878824" y="4152956"/>
            <a:ext cx="64008" cy="144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8942832" y="4167396"/>
            <a:ext cx="64008" cy="561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9006840" y="4223533"/>
            <a:ext cx="64008" cy="79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V="1">
            <a:off x="9070848" y="4239750"/>
            <a:ext cx="64008" cy="637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9134856" y="4239750"/>
            <a:ext cx="64007" cy="353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9198863" y="4275127"/>
            <a:ext cx="64009" cy="211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9262872" y="4296326"/>
            <a:ext cx="64008" cy="693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flipV="1">
            <a:off x="9326880" y="4365104"/>
            <a:ext cx="64008" cy="5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9390888" y="4365104"/>
            <a:ext cx="64008" cy="328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9454896" y="4397825"/>
            <a:ext cx="64008" cy="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flipV="1">
            <a:off x="9518904" y="4397781"/>
            <a:ext cx="64008" cy="4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V="1">
            <a:off x="9582912" y="4397715"/>
            <a:ext cx="64007" cy="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9646919" y="4397715"/>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a:off x="9710928" y="439771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9774936" y="4397715"/>
            <a:ext cx="64008" cy="1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flipV="1">
            <a:off x="9838944" y="44087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flipV="1">
            <a:off x="9902952" y="4408732"/>
            <a:ext cx="64007" cy="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9966959" y="4408710"/>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a:off x="10030967" y="4408710"/>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10094976" y="4408710"/>
            <a:ext cx="64008" cy="111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10158984" y="4419814"/>
            <a:ext cx="64008" cy="111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a:off x="10222992"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10287000"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flipV="1">
            <a:off x="10351008" y="4430897"/>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a:off x="10415016"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a:off x="10479024"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a:off x="10543032"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flipV="1">
            <a:off x="10607040" y="44308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10671048" y="443087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a:off x="10735056" y="4430875"/>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10799063" y="4430875"/>
            <a:ext cx="64009" cy="111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1086307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a:off x="1092708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a:off x="1099108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a:off x="1105509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111910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1118311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124712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131112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137513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143914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11503152" y="4442001"/>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a:off x="11567159"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526" name="Rectangle 525"/>
          <p:cNvSpPr/>
          <p:nvPr/>
        </p:nvSpPr>
        <p:spPr>
          <a:xfrm>
            <a:off x="914400" y="5093208"/>
            <a:ext cx="10360152" cy="4663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1133856" y="5193792"/>
            <a:ext cx="9921240" cy="246888"/>
          </a:xfrm>
          <a:prstGeom prst="rect">
            <a:avLst/>
          </a:prstGeom>
          <a:noFill/>
        </p:spPr>
        <p:txBody>
          <a:bodyPr wrap="square" lIns="18288" rIns="18288" tIns="18288" bIns="18288" anchor="ctr">
            <a:spAutoFit/>
          </a:bodyPr>
          <a:lstStyle/>
          <a:p>
            <a:pPr algn="ctr"/>
            <a:r>
              <a:rPr sz="1220" b="1" lang="en-US">
                <a:solidFill>
                  <a:srgbClr val="FFFFFF"/>
                </a:solidFill>
                <a:latin typeface="Arial"/>
              </a:rPr>
              <a:t>The model converges toward majority-negative predictions: protocol execution succeeds, diagnostic learning quality does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Results: demonstrated chain and explicit limits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SYSTEM INTEGRATION IS NOT A CLINICAL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40080" y="1399032"/>
            <a:ext cx="3364992" cy="162763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627632"/>
            <a:ext cx="3054096" cy="475488"/>
          </a:xfrm>
          <a:prstGeom prst="rect">
            <a:avLst/>
          </a:prstGeom>
          <a:noFill/>
        </p:spPr>
        <p:txBody>
          <a:bodyPr wrap="square" lIns="18288" rIns="18288" tIns="18288" bIns="18288" anchor="t">
            <a:spAutoFit/>
          </a:bodyPr>
          <a:lstStyle/>
          <a:p>
            <a:pPr algn="ctr"/>
            <a:r>
              <a:rPr sz="2700" b="1" lang="en-US">
                <a:solidFill>
                  <a:srgbClr val="7A35B5"/>
                </a:solidFill>
                <a:latin typeface="Arial"/>
              </a:rPr>
              <a:t>3 + 1</a:t>
            </a:r>
          </a:p>
        </p:txBody>
      </p:sp>
      <p:sp>
        <p:nvSpPr>
          <p:cNvPr id="10" name="TextBox 9"/>
          <p:cNvSpPr txBox="1"/>
          <p:nvPr/>
        </p:nvSpPr>
        <p:spPr>
          <a:xfrm>
            <a:off x="795528" y="2194560"/>
            <a:ext cx="3054096" cy="274320"/>
          </a:xfrm>
          <a:prstGeom prst="rect">
            <a:avLst/>
          </a:prstGeom>
          <a:noFill/>
        </p:spPr>
        <p:txBody>
          <a:bodyPr wrap="square" lIns="18288" rIns="18288" tIns="18288" bIns="18288" anchor="t">
            <a:spAutoFit/>
          </a:bodyPr>
          <a:lstStyle/>
          <a:p>
            <a:pPr algn="ctr"/>
            <a:r>
              <a:rPr sz="1400" b="1" lang="en-US">
                <a:solidFill>
                  <a:srgbClr val="434343"/>
                </a:solidFill>
                <a:latin typeface="Arial"/>
              </a:rPr>
              <a:t>transparency records</a:t>
            </a:r>
          </a:p>
        </p:txBody>
      </p:sp>
      <p:sp>
        <p:nvSpPr>
          <p:cNvPr id="11" name="TextBox 10"/>
          <p:cNvSpPr txBox="1"/>
          <p:nvPr/>
        </p:nvSpPr>
        <p:spPr>
          <a:xfrm>
            <a:off x="859536" y="2596896"/>
            <a:ext cx="2926080" cy="292608"/>
          </a:xfrm>
          <a:prstGeom prst="rect">
            <a:avLst/>
          </a:prstGeom>
          <a:noFill/>
        </p:spPr>
        <p:txBody>
          <a:bodyPr wrap="square" lIns="18288" rIns="18288" tIns="18288" bIns="18288" anchor="t">
            <a:spAutoFit/>
          </a:bodyPr>
          <a:lstStyle/>
          <a:p>
            <a:pPr algn="ctr"/>
            <a:r>
              <a:rPr sz="1080" b="0" lang="en-US">
                <a:solidFill>
                  <a:srgbClr val="434343"/>
                </a:solidFill>
                <a:latin typeface="Arial"/>
              </a:rPr>
              <a:t>Three tool receipts plus one complete inference bundle</a:t>
            </a:r>
          </a:p>
        </p:txBody>
      </p:sp>
      <p:sp>
        <p:nvSpPr>
          <p:cNvPr id="12" name="Rounded Rectangle 11"/>
          <p:cNvSpPr/>
          <p:nvPr/>
        </p:nvSpPr>
        <p:spPr>
          <a:xfrm>
            <a:off x="4325112" y="1399032"/>
            <a:ext cx="3364992" cy="16276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627632"/>
            <a:ext cx="3054096" cy="475488"/>
          </a:xfrm>
          <a:prstGeom prst="rect">
            <a:avLst/>
          </a:prstGeom>
          <a:noFill/>
        </p:spPr>
        <p:txBody>
          <a:bodyPr wrap="square" lIns="18288" rIns="18288" tIns="18288" bIns="18288" anchor="t">
            <a:spAutoFit/>
          </a:bodyPr>
          <a:lstStyle/>
          <a:p>
            <a:pPr algn="ctr"/>
            <a:r>
              <a:rPr sz="2700" b="1" lang="en-US">
                <a:solidFill>
                  <a:srgbClr val="2F8F46"/>
                </a:solidFill>
                <a:latin typeface="Arial"/>
              </a:rPr>
              <a:t>78,468</a:t>
            </a:r>
          </a:p>
        </p:txBody>
      </p:sp>
      <p:sp>
        <p:nvSpPr>
          <p:cNvPr id="14" name="TextBox 13"/>
          <p:cNvSpPr txBox="1"/>
          <p:nvPr/>
        </p:nvSpPr>
        <p:spPr>
          <a:xfrm>
            <a:off x="4480560" y="2194560"/>
            <a:ext cx="3054096" cy="274320"/>
          </a:xfrm>
          <a:prstGeom prst="rect">
            <a:avLst/>
          </a:prstGeom>
          <a:noFill/>
        </p:spPr>
        <p:txBody>
          <a:bodyPr wrap="square" lIns="18288" rIns="18288" tIns="18288" bIns="18288" anchor="t">
            <a:spAutoFit/>
          </a:bodyPr>
          <a:lstStyle/>
          <a:p>
            <a:pPr algn="ctr"/>
            <a:r>
              <a:rPr sz="1400" b="1" lang="en-US">
                <a:solidFill>
                  <a:srgbClr val="434343"/>
                </a:solidFill>
                <a:latin typeface="Arial"/>
              </a:rPr>
              <a:t>signed training samples</a:t>
            </a:r>
          </a:p>
        </p:txBody>
      </p:sp>
      <p:sp>
        <p:nvSpPr>
          <p:cNvPr id="15" name="TextBox 14"/>
          <p:cNvSpPr txBox="1"/>
          <p:nvPr/>
        </p:nvSpPr>
        <p:spPr>
          <a:xfrm>
            <a:off x="4544568" y="2596896"/>
            <a:ext cx="2926080" cy="292608"/>
          </a:xfrm>
          <a:prstGeom prst="rect">
            <a:avLst/>
          </a:prstGeom>
          <a:noFill/>
        </p:spPr>
        <p:txBody>
          <a:bodyPr wrap="square" lIns="18288" rIns="18288" tIns="18288" bIns="18288" anchor="t">
            <a:spAutoFit/>
          </a:bodyPr>
          <a:lstStyle/>
          <a:p>
            <a:pPr algn="ctr"/>
            <a:r>
              <a:rPr sz="1080" b="0" lang="en-US">
                <a:solidFill>
                  <a:srgbClr val="434343"/>
                </a:solidFill>
                <a:latin typeface="Arial"/>
              </a:rPr>
              <a:t>Pixel, label, and policy tampering rejected</a:t>
            </a:r>
          </a:p>
        </p:txBody>
      </p:sp>
      <p:sp>
        <p:nvSpPr>
          <p:cNvPr id="16" name="Rounded Rectangle 15"/>
          <p:cNvSpPr/>
          <p:nvPr/>
        </p:nvSpPr>
        <p:spPr>
          <a:xfrm>
            <a:off x="8010144" y="1399032"/>
            <a:ext cx="3364992" cy="16276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1627632"/>
            <a:ext cx="3054096" cy="475488"/>
          </a:xfrm>
          <a:prstGeom prst="rect">
            <a:avLst/>
          </a:prstGeom>
          <a:noFill/>
        </p:spPr>
        <p:txBody>
          <a:bodyPr wrap="square" lIns="18288" rIns="18288" tIns="18288" bIns="18288" anchor="t">
            <a:spAutoFit/>
          </a:bodyPr>
          <a:lstStyle/>
          <a:p>
            <a:pPr algn="ctr"/>
            <a:r>
              <a:rPr sz="2700" b="1" lang="en-US">
                <a:solidFill>
                  <a:srgbClr val="1F90CC"/>
                </a:solidFill>
                <a:latin typeface="Arial"/>
              </a:rPr>
              <a:t>10 · 50 · 100</a:t>
            </a:r>
          </a:p>
        </p:txBody>
      </p:sp>
      <p:sp>
        <p:nvSpPr>
          <p:cNvPr id="18" name="TextBox 17"/>
          <p:cNvSpPr txBox="1"/>
          <p:nvPr/>
        </p:nvSpPr>
        <p:spPr>
          <a:xfrm>
            <a:off x="8165592" y="2194560"/>
            <a:ext cx="3054096" cy="274320"/>
          </a:xfrm>
          <a:prstGeom prst="rect">
            <a:avLst/>
          </a:prstGeom>
          <a:noFill/>
        </p:spPr>
        <p:txBody>
          <a:bodyPr wrap="square" lIns="18288" rIns="18288" tIns="18288" bIns="18288" anchor="t">
            <a:spAutoFit/>
          </a:bodyPr>
          <a:lstStyle/>
          <a:p>
            <a:pPr algn="ctr"/>
            <a:r>
              <a:rPr sz="1400" b="1" lang="en-US">
                <a:solidFill>
                  <a:srgbClr val="434343"/>
                </a:solidFill>
                <a:latin typeface="Arial"/>
              </a:rPr>
              <a:t>participants</a:t>
            </a:r>
          </a:p>
        </p:txBody>
      </p:sp>
      <p:sp>
        <p:nvSpPr>
          <p:cNvPr id="19" name="TextBox 18"/>
          <p:cNvSpPr txBox="1"/>
          <p:nvPr/>
        </p:nvSpPr>
        <p:spPr>
          <a:xfrm>
            <a:off x="8229600" y="2596896"/>
            <a:ext cx="2926080" cy="292608"/>
          </a:xfrm>
          <a:prstGeom prst="rect">
            <a:avLst/>
          </a:prstGeom>
          <a:noFill/>
        </p:spPr>
        <p:txBody>
          <a:bodyPr wrap="square" lIns="18288" rIns="18288" tIns="18288" bIns="18288" anchor="t">
            <a:spAutoFit/>
          </a:bodyPr>
          <a:lstStyle/>
          <a:p>
            <a:pPr algn="ctr"/>
            <a:r>
              <a:rPr sz="1080" b="0" lang="en-US">
                <a:solidFill>
                  <a:srgbClr val="434343"/>
                </a:solidFill>
                <a:latin typeface="Arial"/>
              </a:rPr>
              <a:t>Every scale experiment reached round 50</a:t>
            </a:r>
          </a:p>
        </p:txBody>
      </p:sp>
      <p:sp>
        <p:nvSpPr>
          <p:cNvPr id="20" name="Rounded Rectangle 19"/>
          <p:cNvSpPr/>
          <p:nvPr/>
        </p:nvSpPr>
        <p:spPr>
          <a:xfrm>
            <a:off x="658368" y="3346704"/>
            <a:ext cx="5285232" cy="15179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575304"/>
            <a:ext cx="192024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DEMONSTRATED</a:t>
            </a:r>
          </a:p>
        </p:txBody>
      </p:sp>
      <p:sp>
        <p:nvSpPr>
          <p:cNvPr id="22" name="TextBox 21"/>
          <p:cNvSpPr txBox="1"/>
          <p:nvPr/>
        </p:nvSpPr>
        <p:spPr>
          <a:xfrm>
            <a:off x="877824" y="4005072"/>
            <a:ext cx="4754880" cy="658368"/>
          </a:xfrm>
          <a:prstGeom prst="rect">
            <a:avLst/>
          </a:prstGeom>
          <a:noFill/>
        </p:spPr>
        <p:txBody>
          <a:bodyPr wrap="square" lIns="27432" rIns="27432" tIns="18288" bIns="18288">
            <a:spAutoFit/>
          </a:bodyPr>
          <a:lstStyle/>
          <a:p>
            <a:pPr>
              <a:lnSpc>
                <a:spcPct val="100000"/>
              </a:lnSpc>
              <a:spcAft>
                <a:spcPts val="500"/>
              </a:spcAft>
            </a:pPr>
            <a:r>
              <a:rPr sz="1250" lang="en-US">
                <a:solidFill>
                  <a:srgbClr val="2F8F46"/>
                </a:solidFill>
                <a:latin typeface="Arial"/>
              </a:rPr>
              <a:t>●  </a:t>
            </a:r>
            <a:r>
              <a:rPr sz="1450" lang="en-US">
                <a:solidFill>
                  <a:srgbClr val="434343"/>
                </a:solidFill>
                <a:latin typeface="Arial"/>
              </a:rPr>
              <a:t>End-to-end execution of the prototype</a:t>
            </a:r>
          </a:p>
          <a:p>
            <a:pPr>
              <a:lnSpc>
                <a:spcPct val="100000"/>
              </a:lnSpc>
              <a:spcAft>
                <a:spcPts val="500"/>
              </a:spcAft>
            </a:pPr>
            <a:r>
              <a:rPr sz="1250" lang="en-US">
                <a:solidFill>
                  <a:srgbClr val="2F8F46"/>
                </a:solidFill>
                <a:latin typeface="Arial"/>
              </a:rPr>
              <a:t>●  </a:t>
            </a:r>
            <a:r>
              <a:rPr sz="1450" lang="en-US">
                <a:solidFill>
                  <a:srgbClr val="434343"/>
                </a:solidFill>
                <a:latin typeface="Arial"/>
              </a:rPr>
              <a:t>Rejection of tampered and stale-context objects</a:t>
            </a:r>
          </a:p>
        </p:txBody>
      </p:sp>
      <p:sp>
        <p:nvSpPr>
          <p:cNvPr id="23" name="Rounded Rectangle 22"/>
          <p:cNvSpPr/>
          <p:nvPr/>
        </p:nvSpPr>
        <p:spPr>
          <a:xfrm>
            <a:off x="6217920" y="3346704"/>
            <a:ext cx="5285232" cy="1517904"/>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5664" y="3575304"/>
            <a:ext cx="2377440" cy="274320"/>
          </a:xfrm>
          <a:prstGeom prst="rect">
            <a:avLst/>
          </a:prstGeom>
          <a:noFill/>
        </p:spPr>
        <p:txBody>
          <a:bodyPr wrap="square" lIns="18288" rIns="18288" tIns="18288" bIns="18288" anchor="t">
            <a:spAutoFit/>
          </a:bodyPr>
          <a:lstStyle/>
          <a:p>
            <a:pPr algn="l"/>
            <a:r>
              <a:rPr sz="1400" b="1" lang="en-US">
                <a:solidFill>
                  <a:srgbClr val="FF6C00"/>
                </a:solidFill>
                <a:latin typeface="Arial"/>
              </a:rPr>
              <a:t>NOT DEMONSTRATED</a:t>
            </a:r>
          </a:p>
        </p:txBody>
      </p:sp>
      <p:sp>
        <p:nvSpPr>
          <p:cNvPr id="25" name="TextBox 24"/>
          <p:cNvSpPr txBox="1"/>
          <p:nvPr/>
        </p:nvSpPr>
        <p:spPr>
          <a:xfrm>
            <a:off x="6437376" y="4005072"/>
            <a:ext cx="4736592" cy="658368"/>
          </a:xfrm>
          <a:prstGeom prst="rect">
            <a:avLst/>
          </a:prstGeom>
          <a:noFill/>
        </p:spPr>
        <p:txBody>
          <a:bodyPr wrap="square" lIns="27432" rIns="27432" tIns="18288" bIns="18288">
            <a:spAutoFit/>
          </a:bodyPr>
          <a:lstStyle/>
          <a:p>
            <a:pPr>
              <a:lnSpc>
                <a:spcPct val="100000"/>
              </a:lnSpc>
              <a:spcAft>
                <a:spcPts val="500"/>
              </a:spcAft>
            </a:pPr>
            <a:r>
              <a:rPr sz="1250" lang="en-US">
                <a:solidFill>
                  <a:srgbClr val="FF6C00"/>
                </a:solidFill>
                <a:latin typeface="Arial"/>
              </a:rPr>
              <a:t>●  </a:t>
            </a:r>
            <a:r>
              <a:rPr sz="1450" lang="en-US">
                <a:solidFill>
                  <a:srgbClr val="434343"/>
                </a:solidFill>
                <a:latin typeface="Arial"/>
              </a:rPr>
              <a:t>Clinical validity or diagnostic utility</a:t>
            </a:r>
          </a:p>
          <a:p>
            <a:pPr>
              <a:lnSpc>
                <a:spcPct val="100000"/>
              </a:lnSpc>
              <a:spcAft>
                <a:spcPts val="500"/>
              </a:spcAft>
            </a:pPr>
            <a:r>
              <a:rPr sz="1250" lang="en-US">
                <a:solidFill>
                  <a:srgbClr val="FF6C00"/>
                </a:solidFill>
                <a:latin typeface="Arial"/>
              </a:rPr>
              <a:t>●  </a:t>
            </a:r>
            <a:r>
              <a:rPr sz="1450" lang="en-US">
                <a:solidFill>
                  <a:srgbClr val="434343"/>
                </a:solidFill>
                <a:latin typeface="Arial"/>
              </a:rPr>
              <a:t>Macro AUROC ≈ 0.50; F1 scores trend toward zero</a:t>
            </a:r>
          </a:p>
        </p:txBody>
      </p:sp>
      <p:sp>
        <p:nvSpPr>
          <p:cNvPr id="26" name="Rectangle 25"/>
          <p:cNvSpPr/>
          <p:nvPr/>
        </p:nvSpPr>
        <p:spPr>
          <a:xfrm>
            <a:off x="1207008" y="5120640"/>
            <a:ext cx="9784080" cy="43891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89888" y="5221224"/>
            <a:ext cx="9418320" cy="228600"/>
          </a:xfrm>
          <a:prstGeom prst="rect">
            <a:avLst/>
          </a:prstGeom>
          <a:noFill/>
        </p:spPr>
        <p:txBody>
          <a:bodyPr wrap="square" lIns="18288" rIns="18288" tIns="18288" bIns="18288" anchor="t">
            <a:spAutoFit/>
          </a:bodyPr>
          <a:lstStyle/>
          <a:p>
            <a:pPr algn="ctr"/>
            <a:r>
              <a:rPr sz="1400" b="1" lang="en-US">
                <a:solidFill>
                  <a:srgbClr val="FFFFFF"/>
                </a:solidFill>
                <a:latin typeface="Arial"/>
              </a:rPr>
              <a:t>The evidence chain supports the process claim—not the medical correctness of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TRUST-MINIMIZED—NOT TRUSTLESS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40080" y="1389888"/>
            <a:ext cx="5257800" cy="33558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664208"/>
            <a:ext cx="2011680" cy="292608"/>
          </a:xfrm>
          <a:prstGeom prst="rect">
            <a:avLst/>
          </a:prstGeom>
          <a:noFill/>
        </p:spPr>
        <p:txBody>
          <a:bodyPr wrap="square" lIns="18288" rIns="18288" tIns="18288" bIns="18288" anchor="t">
            <a:spAutoFit/>
          </a:bodyPr>
          <a:lstStyle/>
          <a:p>
            <a:pPr algn="l"/>
            <a:r>
              <a:rPr sz="1500" b="1" lang="en-US">
                <a:solidFill>
                  <a:srgbClr val="2F8F46"/>
                </a:solidFill>
                <a:latin typeface="Arial"/>
              </a:rPr>
              <a:t>DEMONSTRATED</a:t>
            </a:r>
          </a:p>
        </p:txBody>
      </p:sp>
      <p:sp>
        <p:nvSpPr>
          <p:cNvPr id="10" name="TextBox 9"/>
          <p:cNvSpPr txBox="1"/>
          <p:nvPr/>
        </p:nvSpPr>
        <p:spPr>
          <a:xfrm>
            <a:off x="896112" y="2176272"/>
            <a:ext cx="4690872" cy="1938528"/>
          </a:xfrm>
          <a:prstGeom prst="rect">
            <a:avLst/>
          </a:prstGeom>
          <a:noFill/>
        </p:spPr>
        <p:txBody>
          <a:bodyPr wrap="square" lIns="27432" rIns="27432" tIns="18288" bIns="18288">
            <a:spAutoFit/>
          </a:bodyPr>
          <a:lstStyle/>
          <a:p>
            <a:pPr>
              <a:lnSpc>
                <a:spcPct val="100000"/>
              </a:lnSpc>
              <a:spcAft>
                <a:spcPts val="800"/>
              </a:spcAft>
            </a:pPr>
            <a:r>
              <a:rPr sz="1300" lang="en-US">
                <a:solidFill>
                  <a:srgbClr val="2F8F46"/>
                </a:solidFill>
                <a:latin typeface="Arial"/>
              </a:rPr>
              <a:t>●  </a:t>
            </a:r>
            <a:r>
              <a:rPr sz="1500" lang="en-US">
                <a:solidFill>
                  <a:srgbClr val="434343"/>
                </a:solidFill>
                <a:latin typeface="Arial"/>
              </a:rPr>
              <a:t>Reproducible, fail-closed path from DFL publication to agent-mediated inference</a:t>
            </a:r>
          </a:p>
          <a:p>
            <a:pPr>
              <a:lnSpc>
                <a:spcPct val="100000"/>
              </a:lnSpc>
              <a:spcAft>
                <a:spcPts val="800"/>
              </a:spcAft>
            </a:pPr>
            <a:r>
              <a:rPr sz="1300" lang="en-US">
                <a:solidFill>
                  <a:srgbClr val="2F8F46"/>
                </a:solidFill>
                <a:latin typeface="Arial"/>
              </a:rPr>
              <a:t>●  </a:t>
            </a:r>
            <a:r>
              <a:rPr sz="1500" lang="en-US">
                <a:solidFill>
                  <a:srgbClr val="434343"/>
                </a:solidFill>
                <a:latin typeface="Arial"/>
              </a:rPr>
              <a:t>Authoritative model selection and deterministic validation outside the language model</a:t>
            </a:r>
          </a:p>
          <a:p>
            <a:pPr>
              <a:lnSpc>
                <a:spcPct val="100000"/>
              </a:lnSpc>
              <a:spcAft>
                <a:spcPts val="800"/>
              </a:spcAft>
            </a:pPr>
            <a:r>
              <a:rPr sz="1300" lang="en-US">
                <a:solidFill>
                  <a:srgbClr val="2F8F46"/>
                </a:solidFill>
                <a:latin typeface="Arial"/>
              </a:rPr>
              <a:t>●  </a:t>
            </a:r>
            <a:r>
              <a:rPr sz="1500" lang="en-US">
                <a:solidFill>
                  <a:srgbClr val="434343"/>
                </a:solidFill>
                <a:latin typeface="Arial"/>
              </a:rPr>
              <a:t>User-inspectable tool receipts and complete inference evidence</a:t>
            </a:r>
          </a:p>
        </p:txBody>
      </p:sp>
      <p:sp>
        <p:nvSpPr>
          <p:cNvPr id="11" name="Rounded Rectangle 10"/>
          <p:cNvSpPr/>
          <p:nvPr/>
        </p:nvSpPr>
        <p:spPr>
          <a:xfrm>
            <a:off x="6236208" y="1389888"/>
            <a:ext cx="5257800" cy="3355848"/>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64208"/>
            <a:ext cx="2834640" cy="292608"/>
          </a:xfrm>
          <a:prstGeom prst="rect">
            <a:avLst/>
          </a:prstGeom>
          <a:noFill/>
        </p:spPr>
        <p:txBody>
          <a:bodyPr wrap="square" lIns="18288" rIns="18288" tIns="18288" bIns="18288" anchor="t">
            <a:spAutoFit/>
          </a:bodyPr>
          <a:lstStyle/>
          <a:p>
            <a:pPr algn="l"/>
            <a:r>
              <a:rPr sz="1500" b="1" lang="en-US">
                <a:solidFill>
                  <a:srgbClr val="FF6C00"/>
                </a:solidFill>
                <a:latin typeface="Arial"/>
              </a:rPr>
              <a:t>REMAINING BOUNDARIES</a:t>
            </a:r>
          </a:p>
        </p:txBody>
      </p:sp>
      <p:sp>
        <p:nvSpPr>
          <p:cNvPr id="13" name="TextBox 12"/>
          <p:cNvSpPr txBox="1"/>
          <p:nvPr/>
        </p:nvSpPr>
        <p:spPr>
          <a:xfrm>
            <a:off x="6492240" y="2176272"/>
            <a:ext cx="4681728" cy="1938528"/>
          </a:xfrm>
          <a:prstGeom prst="rect">
            <a:avLst/>
          </a:prstGeom>
          <a:noFill/>
        </p:spPr>
        <p:txBody>
          <a:bodyPr wrap="square" lIns="27432" rIns="27432" tIns="18288" bIns="18288">
            <a:spAutoFit/>
          </a:bodyPr>
          <a:lstStyle/>
          <a:p>
            <a:pPr>
              <a:lnSpc>
                <a:spcPct val="100000"/>
              </a:lnSpc>
              <a:spcAft>
                <a:spcPts val="800"/>
              </a:spcAft>
            </a:pPr>
            <a:r>
              <a:rPr sz="1300" lang="en-US">
                <a:solidFill>
                  <a:srgbClr val="FF6C00"/>
                </a:solidFill>
                <a:latin typeface="Arial"/>
              </a:rPr>
              <a:t>●  </a:t>
            </a:r>
            <a:r>
              <a:rPr sz="1500" lang="en-US">
                <a:solidFill>
                  <a:srgbClr val="434343"/>
                </a:solidFill>
                <a:latin typeface="Arial"/>
              </a:rPr>
              <a:t>TEE/dstack, policies, key custody, and ledger consensus remain trust anchors</a:t>
            </a:r>
          </a:p>
          <a:p>
            <a:pPr>
              <a:lnSpc>
                <a:spcPct val="100000"/>
              </a:lnSpc>
              <a:spcAft>
                <a:spcPts val="800"/>
              </a:spcAft>
            </a:pPr>
            <a:r>
              <a:rPr sz="1300" lang="en-US">
                <a:solidFill>
                  <a:srgbClr val="FF6C00"/>
                </a:solidFill>
                <a:latin typeface="Arial"/>
              </a:rPr>
              <a:t>●  </a:t>
            </a:r>
            <a:r>
              <a:rPr sz="1500" lang="en-US">
                <a:solidFill>
                  <a:srgbClr val="434343"/>
                </a:solidFill>
                <a:latin typeface="Arial"/>
              </a:rPr>
              <a:t>Independent log witnesses, supply-chain provenance, and adversarial live testing remain future work</a:t>
            </a:r>
          </a:p>
          <a:p>
            <a:pPr>
              <a:lnSpc>
                <a:spcPct val="100000"/>
              </a:lnSpc>
              <a:spcAft>
                <a:spcPts val="800"/>
              </a:spcAft>
            </a:pPr>
            <a:r>
              <a:rPr sz="1300" lang="en-US">
                <a:solidFill>
                  <a:srgbClr val="FF6C00"/>
                </a:solidFill>
                <a:latin typeface="Arial"/>
              </a:rPr>
              <a:t>●  </a:t>
            </a:r>
            <a:r>
              <a:rPr sz="1500" lang="en-US">
                <a:solidFill>
                  <a:srgbClr val="434343"/>
                </a:solidFill>
                <a:latin typeface="Arial"/>
              </a:rPr>
              <a:t>Native DICOM data, larger models, repeated runs, and a user study</a:t>
            </a:r>
          </a:p>
        </p:txBody>
      </p:sp>
      <p:sp>
        <p:nvSpPr>
          <p:cNvPr id="14" name="Rectangle 13"/>
          <p:cNvSpPr/>
          <p:nvPr/>
        </p:nvSpPr>
        <p:spPr>
          <a:xfrm>
            <a:off x="960120" y="4928616"/>
            <a:ext cx="10241280" cy="594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129784"/>
            <a:ext cx="1600200" cy="219456"/>
          </a:xfrm>
          <a:prstGeom prst="rect">
            <a:avLst/>
          </a:prstGeom>
          <a:noFill/>
        </p:spPr>
        <p:txBody>
          <a:bodyPr wrap="square" lIns="18288" rIns="18288" tIns="18288" bIns="18288" anchor="t">
            <a:spAutoFit/>
          </a:bodyPr>
          <a:lstStyle/>
          <a:p>
            <a:pPr algn="l"/>
            <a:r>
              <a:rPr sz="1050" b="1" lang="en-US">
                <a:solidFill>
                  <a:srgbClr val="FFFFFF"/>
                </a:solidFill>
                <a:latin typeface="Arial"/>
              </a:rPr>
              <a:t>CORE CONTRIBUTION</a:t>
            </a:r>
          </a:p>
        </p:txBody>
      </p:sp>
      <p:sp>
        <p:nvSpPr>
          <p:cNvPr id="16" name="TextBox 15"/>
          <p:cNvSpPr txBox="1"/>
          <p:nvPr/>
        </p:nvSpPr>
        <p:spPr>
          <a:xfrm>
            <a:off x="2852928" y="5038344"/>
            <a:ext cx="8028431" cy="329184"/>
          </a:xfrm>
          <a:prstGeom prst="rect">
            <a:avLst/>
          </a:prstGeom>
          <a:noFill/>
        </p:spPr>
        <p:txBody>
          <a:bodyPr wrap="square" lIns="18288" rIns="18288" tIns="18288" bIns="18288" anchor="ctr">
            <a:spAutoFit/>
          </a:bodyPr>
          <a:lstStyle/>
          <a:p>
            <a:pPr algn="ctr"/>
            <a:r>
              <a:rPr sz="1450" b="1" lang="en-US">
                <a:solidFill>
                  <a:srgbClr val="FFFFFF"/>
                </a:solidFill>
                <a:latin typeface="Arial"/>
              </a:rPr>
              <a:t>Verifiability emerges from composing narrow, explicitly scoped evidence—not from trusting a single agent or service.</a:t>
            </a:r>
          </a:p>
        </p:txBody>
      </p:sp>
      <p:sp>
        <p:nvSpPr>
          <p:cNvPr id="17" name="TextBox 16"/>
          <p:cNvSpPr txBox="1"/>
          <p:nvPr/>
        </p:nvSpPr>
        <p:spPr>
          <a:xfrm>
            <a:off x="8942832" y="6300216"/>
            <a:ext cx="2176272" cy="201168"/>
          </a:xfrm>
          <a:prstGeom prst="rect">
            <a:avLst/>
          </a:prstGeom>
          <a:noFill/>
        </p:spPr>
        <p:txBody>
          <a:bodyPr wrap="square" lIns="18288" rIns="18288" tIns="18288" bIns="18288" anchor="t">
            <a:spAutoFit/>
          </a:bodyPr>
          <a:lstStyle/>
          <a:p>
            <a:pPr algn="r"/>
            <a:r>
              <a:rPr sz="1200" b="1" lang="en-US">
                <a:solidFill>
                  <a:srgbClr val="FFFFFF"/>
                </a:solidFill>
                <a:latin typeface="Arial"/>
              </a:rPr>
              <a:t>Thank you ·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