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separates two decisions that are easy to conflate. The weighted draw selects which authorized worker may act as aggregator. Once the accepted update set is closed, Hybrid-R-style policy determines which aggregation result may be published. The ledger freezes the worker-submission set as an ordered root and explicit count; the measured aggregator must stage that same set. It computes every candidate eligible for the participant count: arithmetic mean, coordinate median, symmetric trimmed means, and Multi-Krum from five inputs onward. Candidates are evaluated on one separately signed and hash-pinned validation artifact. The best finite candidate is retained only when its loss is at most five percent above the parent loss; otherwise the unchanged parent is emitted. These are mutually exclusive outcomes: the round records either the selected candidate or the retained parent. One ledger transaction then binds the closed set, policy, evidence, output, encrypted publication references, publisher authority, and round transition. In the sole end-to-end Phala run, the round-18 candidate became the parent, the VITA-FL parent gate retained it for global rounds 19 through 24, and the round-25 candidate narrowly passed the five-percent validation-loss gate. This evaluates selection and fallback behavior under ordinary training; it is not a live poisoning campaign.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Original Hybrid-R is a meta-selection over aggregate results, not a per-worker validation filter. Five non-aggregator learners train in the round. The selected aggregator contributes no sixth update and runs every rule over the same five-update pool. FedAvg averages all five complete updates. Coordinate median chooses the middle value independently for each parameter. The q=1 trimmed mean removes the lowest and highest value per parameter and averages the remaining three; q=2 keeps only the middle value and therefore coincides with the coordinate median for five inputs. Multi-Krum distance-scores all five complete updates and averages the two selected updates. The original Hybrid-R step chooses the aggregate with the lowest BCE on the shared signed reference artifact and would publish that aggregate even if every candidate were worse than the current parent. VITA-FL then adds its own parent-model gate: the aggregate replaces the parent only when its loss is no more than five percent above the freshly evaluated parent loss. Otherwise the unchanged parent remains. This is auditable defense in depth, not individual malicious-worker detection or a universal Byzantine guarantee.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Figuera's Sello proposal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selectively adopts the receiver-first pattern and additionally fails closed unless the receiver publishes its receipt before returning a successful tool result. It does not implement Sello's owner-discovery and witness-cosigned-log architecture: the evaluation used single-node CCF Virtual Mode without an independent witness, gossip, or a durable deployment.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evaluation run reported by the thesis, journal, and presentation.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One aggregator-selection gap was recovered. The 24 recorded model evaluations span 860.87 seconds, or 37.43 seconds between evaluations on average. The final round-25 model was then consumed through the measured TEE inference path in 5.218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across the immutable worker logs accounts for all six registrations. The original live dashboard snapshot had lost eight early telemetry events because it reset its in-memory buffer after worker deployment began; the on-chain roster and six receipt records show that no registration itself failed. The corrected 329 transactions and 617,350,840 gas quantify the simulated Anvil EVM protocol execution, including 472,618,555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0.395955 to its minimum of 0.312939 at global round 18 and ends at 0.328310. Macro AUROC evaluates per-label ranking and weights every label equally; 0.5 is chance and 1 is ideal. It rises from 0.649090 to 0.710026 at round 11 and ends at 0.704166, providing non-random ranking evidence. Macro F1 is the per-label harmonic mean of precision and recall; it reaches 0.186731 at global round 18 and ends at 0.184709. Label-wise accuracy moves between 86.2059 and 89.1611 percent and ends at 86.7275 percent. Exact match requires all fourteen binary labels of a sample to be correct simultaneously; it ranges from 25.6586 to 31.9217 percent and ends at 29.7954 percent. Because only 5.2569 percent of label positions are positive, both accuracy curves are dominated by negatives and must be read with the all-negative baselines on the next slide, not as headline measures of learning quality. The orange regions mark global rounds 18 through 24. The round-18 candidate became the parent; in global rounds 19 through 24 the VITA-FL gate retained that parent because the candidate did not pass the validation-loss gate, so the test metrics form a real plateau rather than missing telemetry. The global-round-25 candidate passed the five-percent validation gate narrowly and was published. Its slightly higher test BCE is not contradictory because the gate uses a separately signed validation artifact and never selects on the test split.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final VITA-FL model has lower label accuracy, 86.7275 percent, and lower exact match, 29.7954 percent, because positive class weighting deliberately makes positive predictions instead of choosing the trivial all-negative shortcut. Its macro AUROC of 0.704166 demonstrates non-random per-label ranking. Its macro F1 of 0.184709 and micro F1 of 0.265532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or diagnostic utility.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evaluated systems path: six admitted TDX workers completed all 24 requested rounds, the final model reached macro AUROC 0.704 and macro F1 0.185, and Worker 0 consumed that model through the measured inference path. The modest F1 reflects rare ChestMNIST positives, one fixed 0.5 threshold, two local epochs, and the compact CNN. VITA-FL connects the ledger-selected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All six live workers used the same digest-pinned dfl-worker OCI image, and that image packaged both the decentralized-training implementation and the native inference code. Role activation is separate from image contents. Worker 0 used the combined start profile and enabled the receiver; Workers 1 through 5 used the training-only profile and did not start that process. Each worker submitted its own canonical Compose preimage, ordered event log, fresh quote, and final RTMR3 value. The verifier replays each event log only against RTMR3 in its associated quote; it does not require one global final RTMR3. Replay establishes internal measurement consistency. A separate policy check authorizes the shared image digest and one of the two approved role-policy identities. Adding another image or an unapproved service changes the measured and policy-bound configuration and is rejected by the admitted profile. Phala user_config fields such as authorized SSH keys remain outside the measured app_compose and are therefore a separate deployment trust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cutout" descr="ramon-mehrpoya-portrait-cutout.png"/>
          <p:cNvPicPr>
            <a:picLocks noChangeAspect="1"/>
          </p:cNvPicPr>
          <p:nvPr/>
        </p:nvPicPr>
        <p:blipFill>
          <a:blip r:embed="rId2"/>
          <a:stretch>
            <a:fillRect/>
          </a:stretch>
        </p:blipFill>
        <p:spPr>
          <a:xfrm>
            <a:off x="863250" y="1380744"/>
            <a:ext cx="3174682" cy="4023360"/>
          </a:xfrm>
          <a:prstGeom prst="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sp>
        <p:nvSpPr>
          <p:cNvPr id="17" name="TextBox 16"/>
          <p:cNvSpPr txBox="1"/>
          <p:nvPr/>
        </p:nvSpPr>
        <p:spPr>
          <a:xfrm>
            <a:off x="5047488"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Blockchain &amp;
encryption</a:t>
            </a:r>
          </a:p>
        </p:txBody>
      </p:sp>
      <p:cxnSp>
        <p:nvCxnSpPr>
          <p:cNvPr id="18" name="Connector 17"/>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sp>
        <p:nvSpPr>
          <p:cNvPr id="21" name="TextBox 20"/>
          <p:cNvSpPr txBox="1"/>
          <p:nvPr/>
        </p:nvSpPr>
        <p:spPr>
          <a:xfrm>
            <a:off x="706831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ZK · TEE · remote
attestation · DFL</a:t>
            </a:r>
          </a:p>
        </p:txBody>
      </p:sp>
      <p:cxnSp>
        <p:nvCxnSpPr>
          <p:cNvPr id="22" name="Connector 21"/>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sp>
        <p:nvSpPr>
          <p:cNvPr id="25" name="TextBox 24"/>
          <p:cNvSpPr txBox="1"/>
          <p:nvPr/>
        </p:nvSpPr>
        <p:spPr>
          <a:xfrm>
            <a:off x="907999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AI agents &amp;
MCP tools</a:t>
            </a:r>
          </a:p>
        </p:txBody>
      </p:sp>
      <p:cxnSp>
        <p:nvCxnSpPr>
          <p:cNvPr id="26" name="Connector 25"/>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9" name="TextBox 28"/>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30" name="TextBox 29"/>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rIns="18288" tIns="18288" bIns="18288" anchor="ctr">
            <a:spAutoFit/>
          </a:bodyPr>
          <a:lstStyle/>
          <a:p>
            <a:pPr algn="l"/>
            <a:r>
              <a:rPr sz="1050" b="1" lang="en-US">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rIns="18288" tIns="18288" bIns="18288" anchor="t">
            <a:spAutoFit/>
          </a:bodyPr>
          <a:lstStyle/>
          <a:p>
            <a:pPr algn="l"/>
            <a:r>
              <a:rPr sz="969" b="1" lang="en-US">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7424" y="202082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7424" y="258775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3145536"/>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371246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7424" y="427939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rIns="18288" tIns="18288" bIns="18288" anchor="t">
            <a:spAutoFit/>
          </a:bodyPr>
          <a:lstStyle/>
          <a:p>
            <a:pPr algn="ctr"/>
            <a:r>
              <a:rPr sz="780" b="1" lang="en-US">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611880"/>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 name="TextBox 22"/>
          <p:cNvSpPr txBox="1"/>
          <p:nvPr/>
        </p:nvSpPr>
        <p:spPr>
          <a:xfrm>
            <a:off x="841248"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DFL models be integrated into AI agent-based system architectures while ensuring trustworthiness across the entire training and inference pipeline?</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2856" y="3611880"/>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6" name="TextBox 25"/>
          <p:cNvSpPr txBox="1"/>
          <p:nvPr/>
        </p:nvSpPr>
        <p:spPr>
          <a:xfrm>
            <a:off x="4562856"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verifiable DFL guarantee integrity and availability during model training?</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611880"/>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9" name="TextBox 28"/>
          <p:cNvSpPr txBox="1"/>
          <p:nvPr/>
        </p:nvSpPr>
        <p:spPr>
          <a:xfrm>
            <a:off x="8284464"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ML inference be made verifiable, such that the integrity of model predictions can be guaranteed, for example through cryptographic proofs of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581912"/>
            <a:ext cx="1645920" cy="274320"/>
          </a:xfrm>
          <a:prstGeom prst="rect">
            <a:avLst/>
          </a:prstGeom>
          <a:noFill/>
        </p:spPr>
        <p:txBody>
          <a:bodyPr wrap="square" lIns="18288" rIns="18288" tIns="18288" bIns="18288" anchor="t">
            <a:spAutoFit/>
          </a:bodyPr>
          <a:lstStyle/>
          <a:p>
            <a:pPr algn="l"/>
            <a:r>
              <a:rPr sz="1400" b="1" lang="en-US">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rIns="18288" tIns="18288" bIns="18288" anchor="t">
            <a:spAutoFit/>
          </a:bodyPr>
          <a:lstStyle/>
          <a:p>
            <a:pPr algn="l"/>
            <a:r>
              <a:rPr sz="1400" b="1" lang="en-US">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6584"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8496"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2276856"/>
            <a:ext cx="15179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276856"/>
            <a:ext cx="10607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2276856"/>
            <a:ext cx="1060704" cy="292608"/>
          </a:xfrm>
          <a:prstGeom prst="rect">
            <a:avLst/>
          </a:prstGeom>
          <a:noFill/>
        </p:spPr>
        <p:txBody>
          <a:bodyPr wrap="square" lIns="18288" rIns="18288" tIns="18288" bIns="18288" anchor="ctr">
            <a:spAutoFit/>
          </a:bodyPr>
          <a:lstStyle/>
          <a:p>
            <a:pPr algn="ctr"/>
            <a:r>
              <a:rPr sz="1150" b="1" lang="en-US">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0" y="3758184"/>
            <a:ext cx="1828800" cy="237744"/>
          </a:xfrm>
          <a:prstGeom prst="rect">
            <a:avLst/>
          </a:prstGeom>
          <a:noFill/>
        </p:spPr>
        <p:txBody>
          <a:bodyPr wrap="square" lIns="18288" rIns="18288" tIns="18288" bIns="18288" anchor="t">
            <a:spAutoFit/>
          </a:bodyPr>
          <a:lstStyle/>
          <a:p>
            <a:pPr algn="ctr"/>
            <a:r>
              <a:rPr sz="1400" b="1" lang="en-US">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rIns="18288" tIns="18288" bIns="18288" anchor="t">
            <a:spAutoFit/>
          </a:bodyPr>
          <a:lstStyle/>
          <a:p>
            <a:pPr algn="ctr"/>
            <a:r>
              <a:rPr sz="1050" b="1" lang="en-US">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0" name="Rounded Rectangle 9"/>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2" name="Rectangle 11"/>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4" name="TextBox 13"/>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15" name="TextBox 14"/>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16" name="Rounded Rectangle 15"/>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18" name="Rectangle 17"/>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0" name="TextBox 19"/>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1" name="TextBox 20"/>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2" name="Rectangle 21"/>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4" name="TextBox 23"/>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536192"/>
            <a:ext cx="2331720" cy="228600"/>
          </a:xfrm>
          <a:prstGeom prst="rect">
            <a:avLst/>
          </a:prstGeom>
          <a:noFill/>
        </p:spPr>
        <p:txBody>
          <a:bodyPr wrap="square" lIns="18288" rIns="18288" tIns="18288" bIns="18288" anchor="t">
            <a:spAutoFit/>
          </a:bodyPr>
          <a:lstStyle/>
          <a:p>
            <a:pPr algn="l"/>
            <a:r>
              <a:rPr sz="1250" b="1" lang="en-US">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7792" y="1572768"/>
            <a:ext cx="3566160" cy="164592"/>
          </a:xfrm>
          <a:prstGeom prst="rect">
            <a:avLst/>
          </a:prstGeom>
          <a:noFill/>
        </p:spPr>
        <p:txBody>
          <a:bodyPr wrap="square" lIns="18288" rIns="18288" tIns="18288" bIns="18288" anchor="ctr">
            <a:spAutoFit/>
          </a:bodyPr>
          <a:lstStyle/>
          <a:p>
            <a:pPr algn="ctr"/>
            <a:r>
              <a:rPr sz="950" b="1" lang="en-US">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rIns="18288" tIns="18288" bIns="18288" anchor="ctr">
            <a:spAutoFit/>
          </a:bodyPr>
          <a:lstStyle/>
          <a:p>
            <a:pPr algn="ctr"/>
            <a:r>
              <a:rPr sz="800" b="0" lang="en-US">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2459736"/>
            <a:ext cx="1353312" cy="228600"/>
          </a:xfrm>
          <a:prstGeom prst="rect">
            <a:avLst/>
          </a:prstGeom>
          <a:noFill/>
        </p:spPr>
        <p:txBody>
          <a:bodyPr wrap="square" lIns="18288" rIns="18288" tIns="18288" bIns="18288" anchor="t">
            <a:spAutoFit/>
          </a:bodyPr>
          <a:lstStyle/>
          <a:p>
            <a:pPr algn="ctr"/>
            <a:r>
              <a:rPr sz="1150" b="1" lang="en-US">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rIns="18288" tIns="18288" bIns="18288" anchor="ctr">
            <a:spAutoFit/>
          </a:bodyPr>
          <a:lstStyle/>
          <a:p>
            <a:pPr algn="ctr"/>
            <a:r>
              <a:rPr sz="960" b="1" lang="en-US">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24912" y="2459736"/>
            <a:ext cx="1261872" cy="228600"/>
          </a:xfrm>
          <a:prstGeom prst="rect">
            <a:avLst/>
          </a:prstGeom>
          <a:noFill/>
        </p:spPr>
        <p:txBody>
          <a:bodyPr wrap="square" lIns="18288" rIns="18288" tIns="18288" bIns="18288" anchor="t">
            <a:spAutoFit/>
          </a:bodyPr>
          <a:lstStyle/>
          <a:p>
            <a:pPr algn="ctr"/>
            <a:r>
              <a:rPr sz="1150" b="1" lang="en-US">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rIns="18288" tIns="18288" bIns="18288" anchor="ctr">
            <a:spAutoFit/>
          </a:bodyPr>
          <a:lstStyle/>
          <a:p>
            <a:pPr algn="ctr"/>
            <a:r>
              <a:rPr sz="919" b="1" lang="en-US">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2350008"/>
            <a:ext cx="1792224" cy="228600"/>
          </a:xfrm>
          <a:prstGeom prst="rect">
            <a:avLst/>
          </a:prstGeom>
          <a:noFill/>
        </p:spPr>
        <p:txBody>
          <a:bodyPr wrap="square" lIns="18288" rIns="18288" tIns="18288" bIns="18288" anchor="t">
            <a:spAutoFit/>
          </a:bodyPr>
          <a:lstStyle/>
          <a:p>
            <a:pPr algn="ctr"/>
            <a:r>
              <a:rPr sz="1200" b="1" lang="en-US">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rIns="18288" tIns="18288" bIns="18288" anchor="ctr">
            <a:spAutoFit/>
          </a:bodyPr>
          <a:lstStyle/>
          <a:p>
            <a:pPr algn="ctr"/>
            <a:r>
              <a:rPr sz="960" b="1" lang="en-US">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1728" y="4041648"/>
            <a:ext cx="1645920" cy="201168"/>
          </a:xfrm>
          <a:prstGeom prst="rect">
            <a:avLst/>
          </a:prstGeom>
          <a:noFill/>
        </p:spPr>
        <p:txBody>
          <a:bodyPr wrap="square" lIns="18288" rIns="18288" tIns="18288" bIns="18288" anchor="ctr">
            <a:spAutoFit/>
          </a:bodyPr>
          <a:lstStyle/>
          <a:p>
            <a:pPr algn="ctr"/>
            <a:r>
              <a:rPr sz="1040" b="1" lang="en-US">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114800"/>
            <a:ext cx="2999232" cy="201168"/>
          </a:xfrm>
          <a:prstGeom prst="rect">
            <a:avLst/>
          </a:prstGeom>
          <a:noFill/>
        </p:spPr>
        <p:txBody>
          <a:bodyPr wrap="square" lIns="18288" rIns="18288" tIns="18288" bIns="18288" anchor="t">
            <a:spAutoFit/>
          </a:bodyPr>
          <a:lstStyle/>
          <a:p>
            <a:pPr algn="l"/>
            <a:r>
              <a:rPr sz="1060" b="1" lang="en-US">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rIns="18288" tIns="18288" bIns="18288" anchor="ctr">
            <a:spAutoFit/>
          </a:bodyPr>
          <a:lstStyle/>
          <a:p>
            <a:pPr algn="l"/>
            <a:r>
              <a:rPr sz="869" b="1" lang="en-US">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1536192"/>
            <a:ext cx="4041648" cy="228600"/>
          </a:xfrm>
          <a:prstGeom prst="rect">
            <a:avLst/>
          </a:prstGeom>
          <a:noFill/>
        </p:spPr>
        <p:txBody>
          <a:bodyPr wrap="square" lIns="18288" rIns="18288" tIns="18288" bIns="18288" anchor="t">
            <a:spAutoFit/>
          </a:bodyPr>
          <a:lstStyle/>
          <a:p>
            <a:pPr algn="l"/>
            <a:r>
              <a:rPr sz="1180" b="1" lang="en-US">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rIns="18288" tIns="18288" bIns="18288" anchor="t">
            <a:spAutoFit/>
          </a:bodyPr>
          <a:lstStyle/>
          <a:p>
            <a:pPr algn="ctr"/>
            <a:r>
              <a:rPr sz="1220" b="1" lang="en-US">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73568" y="3163824"/>
            <a:ext cx="2871216" cy="201168"/>
          </a:xfrm>
          <a:prstGeom prst="rect">
            <a:avLst/>
          </a:prstGeom>
          <a:noFill/>
        </p:spPr>
        <p:txBody>
          <a:bodyPr wrap="square" lIns="18288" rIns="18288" tIns="18288" bIns="18288" anchor="ctr">
            <a:spAutoFit/>
          </a:bodyPr>
          <a:lstStyle/>
          <a:p>
            <a:pPr algn="ctr"/>
            <a:r>
              <a:rPr sz="1010" b="1" lang="en-US">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43216" y="3886200"/>
            <a:ext cx="1133856" cy="182880"/>
          </a:xfrm>
          <a:prstGeom prst="rect">
            <a:avLst/>
          </a:prstGeom>
          <a:noFill/>
        </p:spPr>
        <p:txBody>
          <a:bodyPr wrap="square" lIns="18288" rIns="18288" tIns="18288" bIns="18288" anchor="t">
            <a:spAutoFit/>
          </a:bodyPr>
          <a:lstStyle/>
          <a:p>
            <a:pPr algn="ctr"/>
            <a:r>
              <a:rPr sz="860" b="1" lang="en-US">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3886200"/>
            <a:ext cx="1133856" cy="182880"/>
          </a:xfrm>
          <a:prstGeom prst="rect">
            <a:avLst/>
          </a:prstGeom>
          <a:noFill/>
        </p:spPr>
        <p:txBody>
          <a:bodyPr wrap="square" lIns="18288" rIns="18288" tIns="18288" bIns="18288" anchor="t">
            <a:spAutoFit/>
          </a:bodyPr>
          <a:lstStyle/>
          <a:p>
            <a:pPr algn="ctr"/>
            <a:r>
              <a:rPr sz="860" b="1" lang="en-US">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96144" y="3886200"/>
            <a:ext cx="1133856" cy="182880"/>
          </a:xfrm>
          <a:prstGeom prst="rect">
            <a:avLst/>
          </a:prstGeom>
          <a:noFill/>
        </p:spPr>
        <p:txBody>
          <a:bodyPr wrap="square" lIns="18288" rIns="18288" tIns="18288" bIns="18288" anchor="t">
            <a:spAutoFit/>
          </a:bodyPr>
          <a:lstStyle/>
          <a:p>
            <a:pPr algn="ctr"/>
            <a:r>
              <a:rPr sz="860" b="1" lang="en-US">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rIns="18288" tIns="18288" bIns="18288" anchor="ctr">
            <a:spAutoFit/>
          </a:bodyPr>
          <a:lstStyle/>
          <a:p>
            <a:pPr algn="ctr"/>
            <a:r>
              <a:rPr sz="810" b="1" lang="en-US">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rIns="0" tIns="0" bIns="0" anchor="ctr">
            <a:spAutoFit/>
          </a:bodyPr>
          <a:lstStyle/>
          <a:p>
            <a:pPr algn="ctr"/>
            <a:r>
              <a:rPr sz="740" b="1" lang="en-US">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 y="5495544"/>
            <a:ext cx="10524744" cy="146304"/>
          </a:xfrm>
          <a:prstGeom prst="rect">
            <a:avLst/>
          </a:prstGeom>
          <a:noFill/>
        </p:spPr>
        <p:txBody>
          <a:bodyPr wrap="square" lIns="0" rIns="0" tIns="0" bIns="0" anchor="ctr">
            <a:spAutoFit/>
          </a:bodyPr>
          <a:lstStyle/>
          <a:p>
            <a:pPr algn="ctr"/>
            <a:r>
              <a:rPr sz="960" b="1" lang="en-US">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0" name="Rectangle 29"/>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2" name="Rounded Rectangle 31"/>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4" name="TextBox 33"/>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35" name="Rounded Rectangle 34"/>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37" name="TextBox 36"/>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38" name="TextBox 37"/>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39" name="TextBox 38"/>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0" name="TextBox 39"/>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1" name="TextBox 40"/>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2" name="Oval 41"/>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4" name="Oval 43"/>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46" name="Oval 45"/>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48" name="TextBox 47"/>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49" name="Oval 48"/>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2" name="TextBox 51"/>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3" name="TextBox 52"/>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4" name="TextBox 53"/>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55" name="Oval 54"/>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57" name="TextBox 56"/>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58" name="TextBox 57"/>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59" name="Oval 58"/>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1" name="TextBox 60"/>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2" name="TextBox 61"/>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3" name="Oval 62"/>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65" name="TextBox 64"/>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66" name="TextBox 65"/>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67" name="TextBox 66"/>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68" name="Connector 67"/>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1" name="TextBox 70"/>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2" name="TextBox 71"/>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3" name="TextBox 72"/>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4" name="Rectangle 73"/>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Freeze → Compare → Finalize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ONE FROZEN SUBMISSION SET · ONE POLICY DECISION · ONE FINALIZED ROUND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2112264" y="2861157"/>
            <a:ext cx="71963" cy="15636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184227" y="2721254"/>
            <a:ext cx="73243" cy="13990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257470" y="2597810"/>
            <a:ext cx="74524" cy="123444"/>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331994" y="2490825"/>
            <a:ext cx="75804" cy="10698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2407798" y="2400300"/>
            <a:ext cx="77084" cy="9052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484882" y="2326233"/>
            <a:ext cx="78364" cy="7406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563246" y="2268626"/>
            <a:ext cx="79644" cy="5760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2642890" y="2227478"/>
            <a:ext cx="80924" cy="41148"/>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2723814" y="2202789"/>
            <a:ext cx="82205" cy="2468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06019" y="2194560"/>
            <a:ext cx="83485" cy="8229"/>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913632" y="2194560"/>
            <a:ext cx="83484" cy="822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997116" y="2202789"/>
            <a:ext cx="82205" cy="2468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079321" y="2227478"/>
            <a:ext cx="80924" cy="4114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160245" y="2268626"/>
            <a:ext cx="79644" cy="5760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239889" y="2326233"/>
            <a:ext cx="78365" cy="7406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318254" y="2400300"/>
            <a:ext cx="77083" cy="9052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395337" y="2490825"/>
            <a:ext cx="75804" cy="10698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471141" y="2597810"/>
            <a:ext cx="74524" cy="123444"/>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545665" y="2721254"/>
            <a:ext cx="73243" cy="13990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618908" y="2861157"/>
            <a:ext cx="71964" cy="156363"/>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2112264" y="3007095"/>
            <a:ext cx="71963" cy="1042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2184227" y="2997768"/>
            <a:ext cx="73243" cy="932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2257470" y="2989539"/>
            <a:ext cx="74524" cy="822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2331994" y="2982407"/>
            <a:ext cx="75804" cy="713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2407798" y="2976372"/>
            <a:ext cx="77084" cy="603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2484882" y="2971434"/>
            <a:ext cx="78364" cy="4938"/>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2563246" y="2967593"/>
            <a:ext cx="79644" cy="3841"/>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2642890" y="2964850"/>
            <a:ext cx="80924" cy="274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2723814" y="2963204"/>
            <a:ext cx="82205" cy="164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2806019" y="2962656"/>
            <a:ext cx="83485" cy="548"/>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3913632" y="2962656"/>
            <a:ext cx="83484" cy="54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997116" y="2963204"/>
            <a:ext cx="82205" cy="164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4079321" y="2964850"/>
            <a:ext cx="80924" cy="274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4160245" y="2967593"/>
            <a:ext cx="79644" cy="3841"/>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239889" y="2971434"/>
            <a:ext cx="78365" cy="4938"/>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318254" y="2976372"/>
            <a:ext cx="77083" cy="603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4395337" y="2982407"/>
            <a:ext cx="75804" cy="7132"/>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471141" y="2989539"/>
            <a:ext cx="74524" cy="822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45665" y="2997768"/>
            <a:ext cx="73243" cy="932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618908" y="3007095"/>
            <a:ext cx="71964" cy="10425"/>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112264" y="3017520"/>
            <a:ext cx="71963" cy="135514"/>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2184227" y="3153034"/>
            <a:ext cx="73243" cy="12124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2257470" y="3274283"/>
            <a:ext cx="74524" cy="106985"/>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2331994" y="3381268"/>
            <a:ext cx="75804" cy="9272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2407798" y="3473988"/>
            <a:ext cx="77084" cy="7845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2484882" y="3552444"/>
            <a:ext cx="78364" cy="6419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2563246" y="3616634"/>
            <a:ext cx="79644" cy="4992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2642890" y="3666561"/>
            <a:ext cx="80924" cy="35661"/>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2723814" y="3702222"/>
            <a:ext cx="82205" cy="2139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2806019" y="3723619"/>
            <a:ext cx="83485" cy="7133"/>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913632" y="3723619"/>
            <a:ext cx="83484" cy="713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3997116" y="3702222"/>
            <a:ext cx="82205" cy="2139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4079321" y="3666561"/>
            <a:ext cx="80924" cy="35661"/>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4160245" y="3616634"/>
            <a:ext cx="79644" cy="49927"/>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4239889" y="3552444"/>
            <a:ext cx="78365" cy="6419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4318254" y="3473988"/>
            <a:ext cx="77083" cy="7845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4395337" y="3381268"/>
            <a:ext cx="75804" cy="9272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V="1">
            <a:off x="4471141" y="3274283"/>
            <a:ext cx="74524" cy="106985"/>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4545665" y="3153034"/>
            <a:ext cx="73243" cy="12124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618908" y="3017520"/>
            <a:ext cx="71964" cy="135514"/>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112264" y="3017520"/>
            <a:ext cx="71963" cy="28145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184227" y="3298972"/>
            <a:ext cx="73243" cy="25182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2257470" y="3550798"/>
            <a:ext cx="74524" cy="22219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2331994" y="3772997"/>
            <a:ext cx="75804" cy="192572"/>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2407798" y="3965569"/>
            <a:ext cx="77084" cy="162947"/>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2484882" y="4128516"/>
            <a:ext cx="78364" cy="133319"/>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2563246" y="4261835"/>
            <a:ext cx="79644" cy="103693"/>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2642890" y="4365528"/>
            <a:ext cx="80924" cy="74066"/>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2723814" y="4439594"/>
            <a:ext cx="82205" cy="44440"/>
          </a:xfrm>
          <a:prstGeom prst="line">
            <a:avLst/>
          </a:prstGeom>
          <a:ln w="17145">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2806019" y="4484034"/>
            <a:ext cx="83485" cy="14814"/>
          </a:xfrm>
          <a:prstGeom prst="line">
            <a:avLst/>
          </a:prstGeom>
          <a:ln w="17145">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V="1">
            <a:off x="3913632" y="4484034"/>
            <a:ext cx="83484" cy="14814"/>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V="1">
            <a:off x="3997116" y="4439594"/>
            <a:ext cx="82205" cy="4444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4079321" y="4365528"/>
            <a:ext cx="80924" cy="7406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4160245" y="4261835"/>
            <a:ext cx="79644" cy="103693"/>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4239889" y="4128515"/>
            <a:ext cx="78365" cy="133320"/>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4318254" y="3965569"/>
            <a:ext cx="77083" cy="16294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4395337" y="3772997"/>
            <a:ext cx="75804" cy="192572"/>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4471141" y="3550798"/>
            <a:ext cx="74524" cy="222199"/>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4545665" y="3298972"/>
            <a:ext cx="73243" cy="251826"/>
          </a:xfrm>
          <a:prstGeom prst="line">
            <a:avLst/>
          </a:prstGeom>
          <a:ln w="17145">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4618908" y="3017520"/>
            <a:ext cx="71964" cy="281452"/>
          </a:xfrm>
          <a:prstGeom prst="line">
            <a:avLst/>
          </a:prstGeom>
          <a:ln w="17145">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4690872" y="3017520"/>
            <a:ext cx="246888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8695944" y="2494208"/>
            <a:ext cx="37947" cy="29536"/>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8733891" y="2467782"/>
            <a:ext cx="37033" cy="26426"/>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8770924" y="2444465"/>
            <a:ext cx="36119" cy="2331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8807043" y="2424257"/>
            <a:ext cx="35205" cy="2020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8842248" y="2407158"/>
            <a:ext cx="34290" cy="17099"/>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8876538" y="2393167"/>
            <a:ext cx="33375" cy="1399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8909913" y="2382286"/>
            <a:ext cx="32461" cy="1088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8942374" y="2374513"/>
            <a:ext cx="31547" cy="777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8973921" y="2369850"/>
            <a:ext cx="30633" cy="466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V="1">
            <a:off x="9004554" y="2368296"/>
            <a:ext cx="29718" cy="1554"/>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8695944" y="3520440"/>
            <a:ext cx="37947" cy="2779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8733891" y="3548237"/>
            <a:ext cx="37033" cy="24872"/>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8770924" y="3573109"/>
            <a:ext cx="36119" cy="21946"/>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8807043" y="3595055"/>
            <a:ext cx="35205" cy="1901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8842248" y="3614074"/>
            <a:ext cx="34290" cy="16094"/>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8876538" y="3630168"/>
            <a:ext cx="33375" cy="1316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8909913" y="3643335"/>
            <a:ext cx="32461" cy="10241"/>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8942374" y="3653576"/>
            <a:ext cx="31547" cy="7315"/>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8973921" y="3660891"/>
            <a:ext cx="30633" cy="438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9004554" y="3665280"/>
            <a:ext cx="29718" cy="1464"/>
          </a:xfrm>
          <a:prstGeom prst="line">
            <a:avLst/>
          </a:prstGeom>
          <a:ln w="1905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a:off x="10296144" y="2368296"/>
            <a:ext cx="34107" cy="310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a:off x="10330251" y="2371404"/>
            <a:ext cx="32827" cy="932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a:off x="10363078" y="2380731"/>
            <a:ext cx="31546" cy="15545"/>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a:off x="10394624" y="2396276"/>
            <a:ext cx="30267" cy="21763"/>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a:off x="10424891" y="2418039"/>
            <a:ext cx="28987" cy="27981"/>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a:off x="10453878" y="2446020"/>
            <a:ext cx="27706" cy="34198"/>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10481584" y="2480218"/>
            <a:ext cx="26426" cy="40417"/>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a:off x="10508010" y="2520635"/>
            <a:ext cx="25146" cy="46634"/>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a:off x="10533156" y="2567269"/>
            <a:ext cx="23866" cy="52852"/>
          </a:xfrm>
          <a:prstGeom prst="line">
            <a:avLst/>
          </a:prstGeom>
          <a:ln w="1905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10557022" y="2620121"/>
            <a:ext cx="22586" cy="59071"/>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10296144" y="3663635"/>
            <a:ext cx="34107" cy="310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10330251" y="3654308"/>
            <a:ext cx="32827" cy="932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10363078" y="3638763"/>
            <a:ext cx="31546" cy="15545"/>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10394624" y="3617000"/>
            <a:ext cx="30267" cy="21763"/>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10424891" y="3589020"/>
            <a:ext cx="28987" cy="27980"/>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10453878" y="3554821"/>
            <a:ext cx="27706" cy="34199"/>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10481584" y="3514404"/>
            <a:ext cx="26426" cy="40417"/>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flipV="1">
            <a:off x="10508010" y="3467770"/>
            <a:ext cx="25146" cy="46634"/>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flipV="1">
            <a:off x="10533156" y="3414918"/>
            <a:ext cx="23866" cy="52852"/>
          </a:xfrm>
          <a:prstGeom prst="line">
            <a:avLst/>
          </a:prstGeom>
          <a:ln w="1905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flipV="1">
            <a:off x="10557022" y="3355848"/>
            <a:ext cx="22586" cy="59070"/>
          </a:xfrm>
          <a:prstGeom prst="line">
            <a:avLst/>
          </a:prstGeom>
          <a:ln w="1905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Data 128"/>
          <p:cNvSpPr/>
          <p:nvPr/>
        </p:nvSpPr>
        <p:spPr>
          <a:xfrm>
            <a:off x="566928" y="2331720"/>
            <a:ext cx="1444752" cy="1371600"/>
          </a:xfrm>
          <a:prstGeom prst="flowChartInputOutput">
            <a:avLst/>
          </a:prstGeom>
          <a:solidFill>
            <a:srgbClr val="EAF5FA"/>
          </a:solidFill>
          <a:ln w="190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786384" y="2496312"/>
            <a:ext cx="1005840" cy="219456"/>
          </a:xfrm>
          <a:prstGeom prst="rect">
            <a:avLst/>
          </a:prstGeom>
          <a:noFill/>
        </p:spPr>
        <p:txBody>
          <a:bodyPr wrap="square" lIns="18288" rIns="18288" tIns="18288" bIns="18288" anchor="t">
            <a:spAutoFit/>
          </a:bodyPr>
          <a:lstStyle/>
          <a:p>
            <a:pPr algn="ctr"/>
            <a:r>
              <a:rPr sz="1300" b="1" lang="en-US">
                <a:solidFill>
                  <a:srgbClr val="1F90CC"/>
                </a:solidFill>
                <a:latin typeface="Arial"/>
              </a:rPr>
              <a:t>FREEZE</a:t>
            </a:r>
          </a:p>
        </p:txBody>
      </p:sp>
      <p:sp>
        <p:nvSpPr>
          <p:cNvPr id="131" name="TextBox 130"/>
          <p:cNvSpPr txBox="1"/>
          <p:nvPr/>
        </p:nvSpPr>
        <p:spPr>
          <a:xfrm>
            <a:off x="713232" y="2816352"/>
            <a:ext cx="1161288" cy="502920"/>
          </a:xfrm>
          <a:prstGeom prst="rect">
            <a:avLst/>
          </a:prstGeom>
          <a:noFill/>
        </p:spPr>
        <p:txBody>
          <a:bodyPr wrap="square" lIns="18288" rIns="18288" tIns="18288" bIns="18288" anchor="t">
            <a:spAutoFit/>
          </a:bodyPr>
          <a:lstStyle/>
          <a:p>
            <a:pPr algn="ctr"/>
            <a:r>
              <a:rPr sz="1150" b="1" lang="en-US">
                <a:solidFill>
                  <a:srgbClr val="434343"/>
                </a:solidFill>
                <a:latin typeface="Arial"/>
              </a:rPr>
              <a:t>WORKER
SUBMISSIONS</a:t>
            </a:r>
          </a:p>
        </p:txBody>
      </p:sp>
      <p:sp>
        <p:nvSpPr>
          <p:cNvPr id="132" name="TextBox 131"/>
          <p:cNvSpPr txBox="1"/>
          <p:nvPr/>
        </p:nvSpPr>
        <p:spPr>
          <a:xfrm>
            <a:off x="612648" y="3840480"/>
            <a:ext cx="1362456" cy="411480"/>
          </a:xfrm>
          <a:prstGeom prst="rect">
            <a:avLst/>
          </a:prstGeom>
          <a:noFill/>
        </p:spPr>
        <p:txBody>
          <a:bodyPr wrap="square" lIns="18288" rIns="18288" tIns="18288" bIns="18288" anchor="t">
            <a:spAutoFit/>
          </a:bodyPr>
          <a:lstStyle/>
          <a:p>
            <a:pPr algn="ctr"/>
            <a:r>
              <a:rPr sz="830" b="0" lang="en-US">
                <a:solidFill>
                  <a:srgbClr val="434343"/>
                </a:solidFill>
                <a:latin typeface="Arial"/>
              </a:rPr>
              <a:t>ordered signed commitments
root rₙ · count n</a:t>
            </a:r>
          </a:p>
        </p:txBody>
      </p:sp>
      <p:sp>
        <p:nvSpPr>
          <p:cNvPr id="133" name="TextBox 132"/>
          <p:cNvSpPr txBox="1"/>
          <p:nvPr/>
        </p:nvSpPr>
        <p:spPr>
          <a:xfrm>
            <a:off x="2487168" y="1572768"/>
            <a:ext cx="1965960" cy="182880"/>
          </a:xfrm>
          <a:prstGeom prst="rect">
            <a:avLst/>
          </a:prstGeom>
          <a:noFill/>
        </p:spPr>
        <p:txBody>
          <a:bodyPr wrap="square" lIns="18288" rIns="18288" tIns="18288" bIns="18288" anchor="t">
            <a:spAutoFit/>
          </a:bodyPr>
          <a:lstStyle/>
          <a:p>
            <a:pPr algn="ctr"/>
            <a:r>
              <a:rPr sz="940" b="1" lang="en-US">
                <a:solidFill>
                  <a:srgbClr val="FF6C00"/>
                </a:solidFill>
                <a:latin typeface="Arial"/>
              </a:rPr>
              <a:t>CANDIDATE FAN-OUT</a:t>
            </a:r>
          </a:p>
        </p:txBody>
      </p:sp>
      <p:sp>
        <p:nvSpPr>
          <p:cNvPr id="134" name="Oval 133"/>
          <p:cNvSpPr/>
          <p:nvPr/>
        </p:nvSpPr>
        <p:spPr>
          <a:xfrm>
            <a:off x="2999232" y="1773936"/>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TextBox 134"/>
          <p:cNvSpPr txBox="1"/>
          <p:nvPr/>
        </p:nvSpPr>
        <p:spPr>
          <a:xfrm>
            <a:off x="3072384" y="2029967"/>
            <a:ext cx="731520" cy="365760"/>
          </a:xfrm>
          <a:prstGeom prst="rect">
            <a:avLst/>
          </a:prstGeom>
          <a:noFill/>
        </p:spPr>
        <p:txBody>
          <a:bodyPr wrap="square" lIns="0" rIns="0" tIns="0" bIns="0" anchor="ctr">
            <a:spAutoFit/>
          </a:bodyPr>
          <a:lstStyle/>
          <a:p>
            <a:pPr algn="ctr"/>
            <a:r>
              <a:rPr sz="869" b="1" lang="en-US">
                <a:solidFill>
                  <a:srgbClr val="FF6C00"/>
                </a:solidFill>
                <a:latin typeface="Arial"/>
              </a:rPr>
              <a:t>MEAN</a:t>
            </a:r>
          </a:p>
        </p:txBody>
      </p:sp>
      <p:sp>
        <p:nvSpPr>
          <p:cNvPr id="136" name="Oval 135"/>
          <p:cNvSpPr/>
          <p:nvPr/>
        </p:nvSpPr>
        <p:spPr>
          <a:xfrm>
            <a:off x="2999232" y="2542032"/>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3072384" y="2798063"/>
            <a:ext cx="731520" cy="365760"/>
          </a:xfrm>
          <a:prstGeom prst="rect">
            <a:avLst/>
          </a:prstGeom>
          <a:noFill/>
        </p:spPr>
        <p:txBody>
          <a:bodyPr wrap="square" lIns="0" rIns="0" tIns="0" bIns="0" anchor="ctr">
            <a:spAutoFit/>
          </a:bodyPr>
          <a:lstStyle/>
          <a:p>
            <a:pPr algn="ctr"/>
            <a:r>
              <a:rPr sz="830" b="1" lang="en-US">
                <a:solidFill>
                  <a:srgbClr val="FF6C00"/>
                </a:solidFill>
                <a:latin typeface="Arial"/>
              </a:rPr>
              <a:t>MEDIAN</a:t>
            </a:r>
          </a:p>
        </p:txBody>
      </p:sp>
      <p:sp>
        <p:nvSpPr>
          <p:cNvPr id="138" name="Oval 137"/>
          <p:cNvSpPr/>
          <p:nvPr/>
        </p:nvSpPr>
        <p:spPr>
          <a:xfrm>
            <a:off x="2999232" y="3310128"/>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TextBox 138"/>
          <p:cNvSpPr txBox="1"/>
          <p:nvPr/>
        </p:nvSpPr>
        <p:spPr>
          <a:xfrm>
            <a:off x="3072384" y="3566160"/>
            <a:ext cx="731520" cy="365760"/>
          </a:xfrm>
          <a:prstGeom prst="rect">
            <a:avLst/>
          </a:prstGeom>
          <a:noFill/>
        </p:spPr>
        <p:txBody>
          <a:bodyPr wrap="square" lIns="0" rIns="0" tIns="0" bIns="0" anchor="ctr">
            <a:spAutoFit/>
          </a:bodyPr>
          <a:lstStyle/>
          <a:p>
            <a:pPr algn="ctr"/>
            <a:r>
              <a:rPr sz="780" b="1" lang="en-US">
                <a:solidFill>
                  <a:srgbClr val="FF6C00"/>
                </a:solidFill>
                <a:latin typeface="Arial"/>
              </a:rPr>
              <a:t>TRIMMED</a:t>
            </a:r>
          </a:p>
        </p:txBody>
      </p:sp>
      <p:sp>
        <p:nvSpPr>
          <p:cNvPr id="140" name="Oval 139"/>
          <p:cNvSpPr/>
          <p:nvPr/>
        </p:nvSpPr>
        <p:spPr>
          <a:xfrm>
            <a:off x="2999232" y="4078224"/>
            <a:ext cx="877824" cy="877824"/>
          </a:xfrm>
          <a:prstGeom prst="ellipse">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3072384" y="4261104"/>
            <a:ext cx="731520" cy="365760"/>
          </a:xfrm>
          <a:prstGeom prst="rect">
            <a:avLst/>
          </a:prstGeom>
          <a:noFill/>
        </p:spPr>
        <p:txBody>
          <a:bodyPr wrap="square" lIns="0" rIns="0" tIns="0" bIns="0" anchor="ctr">
            <a:spAutoFit/>
          </a:bodyPr>
          <a:lstStyle/>
          <a:p>
            <a:pPr algn="ctr"/>
            <a:r>
              <a:rPr sz="819" b="1" lang="en-US">
                <a:solidFill>
                  <a:srgbClr val="FF6C00"/>
                </a:solidFill>
                <a:latin typeface="Arial"/>
              </a:rPr>
              <a:t>MULTI-
KRUM</a:t>
            </a:r>
          </a:p>
        </p:txBody>
      </p:sp>
      <p:sp>
        <p:nvSpPr>
          <p:cNvPr id="142" name="TextBox 141"/>
          <p:cNvSpPr txBox="1"/>
          <p:nvPr/>
        </p:nvSpPr>
        <p:spPr>
          <a:xfrm>
            <a:off x="2048256" y="5020056"/>
            <a:ext cx="2761488" cy="201168"/>
          </a:xfrm>
          <a:prstGeom prst="rect">
            <a:avLst/>
          </a:prstGeom>
          <a:noFill/>
        </p:spPr>
        <p:txBody>
          <a:bodyPr wrap="square" lIns="18288" rIns="18288" tIns="18288" bIns="18288" anchor="t">
            <a:spAutoFit/>
          </a:bodyPr>
          <a:lstStyle/>
          <a:p>
            <a:pPr algn="ctr"/>
            <a:r>
              <a:rPr sz="819" b="0" lang="en-US">
                <a:solidFill>
                  <a:srgbClr val="434343"/>
                </a:solidFill>
                <a:latin typeface="Arial"/>
              </a:rPr>
              <a:t>eligible variants · Multi-Krum requires ≥ 5 inputs</a:t>
            </a:r>
          </a:p>
        </p:txBody>
      </p:sp>
      <p:sp>
        <p:nvSpPr>
          <p:cNvPr id="143" name="TextBox 142"/>
          <p:cNvSpPr txBox="1"/>
          <p:nvPr/>
        </p:nvSpPr>
        <p:spPr>
          <a:xfrm>
            <a:off x="4937760" y="2578608"/>
            <a:ext cx="1975104" cy="201168"/>
          </a:xfrm>
          <a:prstGeom prst="rect">
            <a:avLst/>
          </a:prstGeom>
          <a:noFill/>
        </p:spPr>
        <p:txBody>
          <a:bodyPr wrap="square" lIns="18288" rIns="18288" tIns="18288" bIns="18288" anchor="t">
            <a:spAutoFit/>
          </a:bodyPr>
          <a:lstStyle/>
          <a:p>
            <a:pPr algn="ctr"/>
            <a:r>
              <a:rPr sz="940" b="1" lang="en-US">
                <a:solidFill>
                  <a:srgbClr val="C40D1E"/>
                </a:solidFill>
                <a:latin typeface="Arial"/>
              </a:rPr>
              <a:t>COMPARE VALIDATION LOSS</a:t>
            </a:r>
          </a:p>
        </p:txBody>
      </p:sp>
      <p:sp>
        <p:nvSpPr>
          <p:cNvPr id="144" name="TextBox 143"/>
          <p:cNvSpPr txBox="1"/>
          <p:nvPr/>
        </p:nvSpPr>
        <p:spPr>
          <a:xfrm>
            <a:off x="4937760" y="3172968"/>
            <a:ext cx="1975104" cy="182880"/>
          </a:xfrm>
          <a:prstGeom prst="rect">
            <a:avLst/>
          </a:prstGeom>
          <a:noFill/>
        </p:spPr>
        <p:txBody>
          <a:bodyPr wrap="square" lIns="18288" rIns="18288" tIns="18288" bIns="18288" anchor="t">
            <a:spAutoFit/>
          </a:bodyPr>
          <a:lstStyle/>
          <a:p>
            <a:pPr algn="ctr"/>
            <a:r>
              <a:rPr sz="810" b="0" lang="en-US">
                <a:solidFill>
                  <a:srgbClr val="434343"/>
                </a:solidFill>
                <a:latin typeface="Arial"/>
              </a:rPr>
              <a:t>same signed · hash-pinned set</a:t>
            </a:r>
          </a:p>
        </p:txBody>
      </p:sp>
      <p:sp>
        <p:nvSpPr>
          <p:cNvPr id="145" name="Decision 144"/>
          <p:cNvSpPr/>
          <p:nvPr/>
        </p:nvSpPr>
        <p:spPr>
          <a:xfrm>
            <a:off x="7187184" y="2185416"/>
            <a:ext cx="1673352" cy="1673352"/>
          </a:xfrm>
          <a:prstGeom prst="flowChartDecision">
            <a:avLst/>
          </a:prstGeom>
          <a:solidFill>
            <a:srgbClr val="FFF1E7"/>
          </a:solidFill>
          <a:ln w="190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7479792" y="2551176"/>
            <a:ext cx="1088136" cy="192024"/>
          </a:xfrm>
          <a:prstGeom prst="rect">
            <a:avLst/>
          </a:prstGeom>
          <a:noFill/>
        </p:spPr>
        <p:txBody>
          <a:bodyPr wrap="square" lIns="18288" rIns="18288" tIns="18288" bIns="18288" anchor="t">
            <a:spAutoFit/>
          </a:bodyPr>
          <a:lstStyle/>
          <a:p>
            <a:pPr algn="ctr"/>
            <a:r>
              <a:rPr sz="1000" b="1" lang="en-US">
                <a:solidFill>
                  <a:srgbClr val="FF6C00"/>
                </a:solidFill>
                <a:latin typeface="Arial"/>
              </a:rPr>
              <a:t>L(best) ≤</a:t>
            </a:r>
          </a:p>
        </p:txBody>
      </p:sp>
      <p:sp>
        <p:nvSpPr>
          <p:cNvPr id="147" name="TextBox 146"/>
          <p:cNvSpPr txBox="1"/>
          <p:nvPr/>
        </p:nvSpPr>
        <p:spPr>
          <a:xfrm>
            <a:off x="7406640" y="2816352"/>
            <a:ext cx="1234440" cy="347472"/>
          </a:xfrm>
          <a:prstGeom prst="rect">
            <a:avLst/>
          </a:prstGeom>
          <a:noFill/>
        </p:spPr>
        <p:txBody>
          <a:bodyPr wrap="square" lIns="18288" rIns="18288" tIns="18288" bIns="18288" anchor="t">
            <a:spAutoFit/>
          </a:bodyPr>
          <a:lstStyle/>
          <a:p>
            <a:pPr algn="ctr"/>
            <a:r>
              <a:rPr sz="919" b="1" lang="en-US">
                <a:solidFill>
                  <a:srgbClr val="434343"/>
                </a:solidFill>
                <a:latin typeface="Arial"/>
              </a:rPr>
              <a:t>1.05 × L(parent)?</a:t>
            </a:r>
          </a:p>
        </p:txBody>
      </p:sp>
      <p:sp>
        <p:nvSpPr>
          <p:cNvPr id="148" name="Rounded Rectangle 147"/>
          <p:cNvSpPr/>
          <p:nvPr/>
        </p:nvSpPr>
        <p:spPr>
          <a:xfrm>
            <a:off x="9061704" y="2057400"/>
            <a:ext cx="1234440" cy="621792"/>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9217152" y="2139696"/>
            <a:ext cx="923544" cy="155448"/>
          </a:xfrm>
          <a:prstGeom prst="rect">
            <a:avLst/>
          </a:prstGeom>
          <a:noFill/>
        </p:spPr>
        <p:txBody>
          <a:bodyPr wrap="square" lIns="0" rIns="0" tIns="0" bIns="0" anchor="t">
            <a:spAutoFit/>
          </a:bodyPr>
          <a:lstStyle/>
          <a:p>
            <a:pPr algn="ctr"/>
            <a:r>
              <a:rPr sz="840" b="1" lang="en-US">
                <a:solidFill>
                  <a:srgbClr val="2F8F46"/>
                </a:solidFill>
                <a:latin typeface="Arial"/>
              </a:rPr>
              <a:t>YES</a:t>
            </a:r>
          </a:p>
        </p:txBody>
      </p:sp>
      <p:sp>
        <p:nvSpPr>
          <p:cNvPr id="150" name="TextBox 149"/>
          <p:cNvSpPr txBox="1"/>
          <p:nvPr/>
        </p:nvSpPr>
        <p:spPr>
          <a:xfrm>
            <a:off x="9153144" y="2350008"/>
            <a:ext cx="1051560" cy="164592"/>
          </a:xfrm>
          <a:prstGeom prst="rect">
            <a:avLst/>
          </a:prstGeom>
          <a:noFill/>
        </p:spPr>
        <p:txBody>
          <a:bodyPr wrap="square" lIns="0" rIns="0" tIns="0" bIns="0" anchor="t">
            <a:spAutoFit/>
          </a:bodyPr>
          <a:lstStyle/>
          <a:p>
            <a:pPr algn="ctr"/>
            <a:r>
              <a:rPr sz="760" b="1" lang="en-US">
                <a:solidFill>
                  <a:srgbClr val="434343"/>
                </a:solidFill>
                <a:latin typeface="Arial"/>
              </a:rPr>
              <a:t>BEST CANDIDATE</a:t>
            </a:r>
          </a:p>
        </p:txBody>
      </p:sp>
      <p:sp>
        <p:nvSpPr>
          <p:cNvPr id="151" name="Rounded Rectangle 150"/>
          <p:cNvSpPr/>
          <p:nvPr/>
        </p:nvSpPr>
        <p:spPr>
          <a:xfrm>
            <a:off x="9061704" y="3355848"/>
            <a:ext cx="1234440" cy="62179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9217152" y="3438144"/>
            <a:ext cx="923544" cy="155448"/>
          </a:xfrm>
          <a:prstGeom prst="rect">
            <a:avLst/>
          </a:prstGeom>
          <a:noFill/>
        </p:spPr>
        <p:txBody>
          <a:bodyPr wrap="square" lIns="0" rIns="0" tIns="0" bIns="0" anchor="t">
            <a:spAutoFit/>
          </a:bodyPr>
          <a:lstStyle/>
          <a:p>
            <a:pPr algn="ctr"/>
            <a:r>
              <a:rPr sz="840" b="1" lang="en-US">
                <a:solidFill>
                  <a:srgbClr val="FF6C00"/>
                </a:solidFill>
                <a:latin typeface="Arial"/>
              </a:rPr>
              <a:t>NO</a:t>
            </a:r>
          </a:p>
        </p:txBody>
      </p:sp>
      <p:sp>
        <p:nvSpPr>
          <p:cNvPr id="153" name="TextBox 152"/>
          <p:cNvSpPr txBox="1"/>
          <p:nvPr/>
        </p:nvSpPr>
        <p:spPr>
          <a:xfrm>
            <a:off x="9153144" y="3648456"/>
            <a:ext cx="1051560" cy="164592"/>
          </a:xfrm>
          <a:prstGeom prst="rect">
            <a:avLst/>
          </a:prstGeom>
          <a:noFill/>
        </p:spPr>
        <p:txBody>
          <a:bodyPr wrap="square" lIns="0" rIns="0" tIns="0" bIns="0" anchor="t">
            <a:spAutoFit/>
          </a:bodyPr>
          <a:lstStyle/>
          <a:p>
            <a:pPr algn="ctr"/>
            <a:r>
              <a:rPr sz="760" b="1" lang="en-US">
                <a:solidFill>
                  <a:srgbClr val="434343"/>
                </a:solidFill>
                <a:latin typeface="Arial"/>
              </a:rPr>
              <a:t>PARENT MODEL</a:t>
            </a:r>
          </a:p>
        </p:txBody>
      </p:sp>
      <p:sp>
        <p:nvSpPr>
          <p:cNvPr id="154" name="Rounded Rectangle 153"/>
          <p:cNvSpPr/>
          <p:nvPr/>
        </p:nvSpPr>
        <p:spPr>
          <a:xfrm>
            <a:off x="10588752" y="2304288"/>
            <a:ext cx="1097280" cy="1426464"/>
          </a:xfrm>
          <a:prstGeom prst="roundRect">
            <a:avLst/>
          </a:prstGeom>
          <a:solidFill>
            <a:srgbClr val="F3F3F3"/>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10689336" y="2560320"/>
            <a:ext cx="896112"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FINALIZE</a:t>
            </a:r>
          </a:p>
        </p:txBody>
      </p:sp>
      <p:sp>
        <p:nvSpPr>
          <p:cNvPr id="156" name="TextBox 155"/>
          <p:cNvSpPr txBox="1"/>
          <p:nvPr/>
        </p:nvSpPr>
        <p:spPr>
          <a:xfrm>
            <a:off x="10689336" y="2852928"/>
            <a:ext cx="896112" cy="246888"/>
          </a:xfrm>
          <a:prstGeom prst="rect">
            <a:avLst/>
          </a:prstGeom>
          <a:noFill/>
        </p:spPr>
        <p:txBody>
          <a:bodyPr wrap="square" lIns="18288" rIns="18288" tIns="18288" bIns="18288" anchor="t">
            <a:spAutoFit/>
          </a:bodyPr>
          <a:lstStyle/>
          <a:p>
            <a:pPr algn="ctr"/>
            <a:r>
              <a:rPr sz="1300" b="1" lang="en-US">
                <a:solidFill>
                  <a:srgbClr val="434343"/>
                </a:solidFill>
                <a:latin typeface="Arial"/>
              </a:rPr>
              <a:t>ROUND</a:t>
            </a:r>
          </a:p>
        </p:txBody>
      </p:sp>
      <p:sp>
        <p:nvSpPr>
          <p:cNvPr id="157" name="TextBox 156"/>
          <p:cNvSpPr txBox="1"/>
          <p:nvPr/>
        </p:nvSpPr>
        <p:spPr>
          <a:xfrm>
            <a:off x="10634472" y="3200400"/>
            <a:ext cx="1005840" cy="347472"/>
          </a:xfrm>
          <a:prstGeom prst="rect">
            <a:avLst/>
          </a:prstGeom>
          <a:noFill/>
        </p:spPr>
        <p:txBody>
          <a:bodyPr wrap="square" lIns="18288" rIns="18288" tIns="18288" bIns="18288" anchor="t">
            <a:spAutoFit/>
          </a:bodyPr>
          <a:lstStyle/>
          <a:p>
            <a:pPr algn="ctr"/>
            <a:r>
              <a:rPr sz="720" b="0" lang="en-US">
                <a:solidFill>
                  <a:srgbClr val="434343"/>
                </a:solidFill>
                <a:latin typeface="Arial"/>
              </a:rPr>
              <a:t>record the chosen
model +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Hybrid-R-style: aggregate first, select once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ORIGINAL HYBRID-R COMPARES AGGREGATE CANDIDATES · VITA-FL ADDS THE PARENT-MODEL GATE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261872"/>
            <a:ext cx="2176272" cy="389534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44968" y="1261872"/>
            <a:ext cx="3977639" cy="3895344"/>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1527048" y="2331720"/>
            <a:ext cx="0" cy="557784"/>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20240" y="3255264"/>
            <a:ext cx="896112" cy="0"/>
          </a:xfrm>
          <a:prstGeom prst="line">
            <a:avLst/>
          </a:prstGeom>
          <a:ln w="24130">
            <a:solidFill>
              <a:srgbClr val="43434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816352" y="1691640"/>
            <a:ext cx="0" cy="3026664"/>
          </a:xfrm>
          <a:prstGeom prst="line">
            <a:avLst/>
          </a:prstGeom>
          <a:ln w="19050">
            <a:solidFill>
              <a:srgbClr val="B2B2B2"/>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816352" y="1691640"/>
            <a:ext cx="237744"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816352" y="2697480"/>
            <a:ext cx="237744" cy="0"/>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816352" y="3703320"/>
            <a:ext cx="237744"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816352" y="4709160"/>
            <a:ext cx="237744"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333488" y="1691640"/>
            <a:ext cx="640080" cy="301752"/>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333488" y="1993392"/>
            <a:ext cx="640080" cy="704088"/>
          </a:xfrm>
          <a:prstGeom prst="line">
            <a:avLst/>
          </a:prstGeom>
          <a:ln w="1905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7333488" y="1993392"/>
            <a:ext cx="640080" cy="1709928"/>
          </a:xfrm>
          <a:prstGeom prst="line">
            <a:avLst/>
          </a:prstGeom>
          <a:ln w="1905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33488" y="1993392"/>
            <a:ext cx="640080" cy="2715768"/>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738360" y="2267712"/>
            <a:ext cx="0" cy="192024"/>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38360" y="3090672"/>
            <a:ext cx="0" cy="173736"/>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8759952" y="3904487"/>
            <a:ext cx="978408" cy="310897"/>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738360" y="3904487"/>
            <a:ext cx="978408" cy="310897"/>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1481328"/>
            <a:ext cx="1737360" cy="201168"/>
          </a:xfrm>
          <a:prstGeom prst="rect">
            <a:avLst/>
          </a:prstGeom>
          <a:noFill/>
        </p:spPr>
        <p:txBody>
          <a:bodyPr wrap="square" lIns="0" rIns="0" tIns="0" bIns="0" anchor="t">
            <a:spAutoFit/>
          </a:bodyPr>
          <a:lstStyle/>
          <a:p>
            <a:pPr algn="ctr"/>
            <a:r>
              <a:rPr sz="1070" b="1" lang="en-US">
                <a:solidFill>
                  <a:srgbClr val="1F90CC"/>
                </a:solidFill>
                <a:latin typeface="Arial"/>
              </a:rPr>
              <a:t>ROUND INPUT</a:t>
            </a:r>
          </a:p>
        </p:txBody>
      </p:sp>
      <p:sp>
        <p:nvSpPr>
          <p:cNvPr id="26" name="TextBox 25"/>
          <p:cNvSpPr txBox="1"/>
          <p:nvPr/>
        </p:nvSpPr>
        <p:spPr>
          <a:xfrm>
            <a:off x="621792" y="1783080"/>
            <a:ext cx="1810512" cy="182880"/>
          </a:xfrm>
          <a:prstGeom prst="rect">
            <a:avLst/>
          </a:prstGeom>
          <a:noFill/>
        </p:spPr>
        <p:txBody>
          <a:bodyPr wrap="square" lIns="0" rIns="0" tIns="0" bIns="0" anchor="t">
            <a:spAutoFit/>
          </a:bodyPr>
          <a:lstStyle/>
          <a:p>
            <a:pPr algn="ctr"/>
            <a:r>
              <a:rPr sz="919" b="1" lang="en-US">
                <a:solidFill>
                  <a:srgbClr val="434343"/>
                </a:solidFill>
                <a:latin typeface="Arial"/>
              </a:rPr>
              <a:t>5 LEARNER UPDATES</a:t>
            </a:r>
          </a:p>
        </p:txBody>
      </p:sp>
      <p:sp>
        <p:nvSpPr>
          <p:cNvPr id="27" name="Oval 26"/>
          <p:cNvSpPr/>
          <p:nvPr/>
        </p:nvSpPr>
        <p:spPr>
          <a:xfrm>
            <a:off x="649224" y="2029968"/>
            <a:ext cx="292608" cy="292608"/>
          </a:xfrm>
          <a:prstGeom prst="ellipse">
            <a:avLst/>
          </a:prstGeom>
          <a:solidFill>
            <a:srgbClr val="1F90CC"/>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9224" y="2084831"/>
            <a:ext cx="292608" cy="128016"/>
          </a:xfrm>
          <a:prstGeom prst="rect">
            <a:avLst/>
          </a:prstGeom>
          <a:noFill/>
        </p:spPr>
        <p:txBody>
          <a:bodyPr wrap="square" lIns="0" rIns="0" tIns="0" bIns="0" anchor="t">
            <a:spAutoFit/>
          </a:bodyPr>
          <a:lstStyle/>
          <a:p>
            <a:pPr algn="ctr"/>
            <a:r>
              <a:rPr sz="750" b="1" lang="en-US">
                <a:solidFill>
                  <a:srgbClr val="FFFFFF"/>
                </a:solidFill>
                <a:latin typeface="Arial"/>
              </a:rPr>
              <a:t>1</a:t>
            </a:r>
          </a:p>
        </p:txBody>
      </p:sp>
      <p:sp>
        <p:nvSpPr>
          <p:cNvPr id="29" name="Oval 28"/>
          <p:cNvSpPr/>
          <p:nvPr/>
        </p:nvSpPr>
        <p:spPr>
          <a:xfrm>
            <a:off x="1005840" y="2029968"/>
            <a:ext cx="292608" cy="292608"/>
          </a:xfrm>
          <a:prstGeom prst="ellipse">
            <a:avLst/>
          </a:prstGeom>
          <a:solidFill>
            <a:srgbClr val="1F90CC"/>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5840" y="2084831"/>
            <a:ext cx="292608" cy="128016"/>
          </a:xfrm>
          <a:prstGeom prst="rect">
            <a:avLst/>
          </a:prstGeom>
          <a:noFill/>
        </p:spPr>
        <p:txBody>
          <a:bodyPr wrap="square" lIns="0" rIns="0" tIns="0" bIns="0" anchor="t">
            <a:spAutoFit/>
          </a:bodyPr>
          <a:lstStyle/>
          <a:p>
            <a:pPr algn="ctr"/>
            <a:r>
              <a:rPr sz="750" b="1" lang="en-US">
                <a:solidFill>
                  <a:srgbClr val="FFFFFF"/>
                </a:solidFill>
                <a:latin typeface="Arial"/>
              </a:rPr>
              <a:t>2</a:t>
            </a:r>
          </a:p>
        </p:txBody>
      </p:sp>
      <p:sp>
        <p:nvSpPr>
          <p:cNvPr id="31" name="Oval 30"/>
          <p:cNvSpPr/>
          <p:nvPr/>
        </p:nvSpPr>
        <p:spPr>
          <a:xfrm>
            <a:off x="1362456" y="2029968"/>
            <a:ext cx="292608" cy="292608"/>
          </a:xfrm>
          <a:prstGeom prst="ellipse">
            <a:avLst/>
          </a:prstGeom>
          <a:solidFill>
            <a:srgbClr val="1F90CC"/>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362456" y="2084831"/>
            <a:ext cx="292608" cy="128016"/>
          </a:xfrm>
          <a:prstGeom prst="rect">
            <a:avLst/>
          </a:prstGeom>
          <a:noFill/>
        </p:spPr>
        <p:txBody>
          <a:bodyPr wrap="square" lIns="0" rIns="0" tIns="0" bIns="0" anchor="t">
            <a:spAutoFit/>
          </a:bodyPr>
          <a:lstStyle/>
          <a:p>
            <a:pPr algn="ctr"/>
            <a:r>
              <a:rPr sz="750" b="1" lang="en-US">
                <a:solidFill>
                  <a:srgbClr val="FFFFFF"/>
                </a:solidFill>
                <a:latin typeface="Arial"/>
              </a:rPr>
              <a:t>3</a:t>
            </a:r>
          </a:p>
        </p:txBody>
      </p:sp>
      <p:sp>
        <p:nvSpPr>
          <p:cNvPr id="33" name="Oval 32"/>
          <p:cNvSpPr/>
          <p:nvPr/>
        </p:nvSpPr>
        <p:spPr>
          <a:xfrm>
            <a:off x="1719072" y="2029968"/>
            <a:ext cx="292608" cy="292608"/>
          </a:xfrm>
          <a:prstGeom prst="ellipse">
            <a:avLst/>
          </a:prstGeom>
          <a:solidFill>
            <a:srgbClr val="1F90CC"/>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719072" y="2084831"/>
            <a:ext cx="292608" cy="128016"/>
          </a:xfrm>
          <a:prstGeom prst="rect">
            <a:avLst/>
          </a:prstGeom>
          <a:noFill/>
        </p:spPr>
        <p:txBody>
          <a:bodyPr wrap="square" lIns="0" rIns="0" tIns="0" bIns="0" anchor="t">
            <a:spAutoFit/>
          </a:bodyPr>
          <a:lstStyle/>
          <a:p>
            <a:pPr algn="ctr"/>
            <a:r>
              <a:rPr sz="750" b="1" lang="en-US">
                <a:solidFill>
                  <a:srgbClr val="FFFFFF"/>
                </a:solidFill>
                <a:latin typeface="Arial"/>
              </a:rPr>
              <a:t>4</a:t>
            </a:r>
          </a:p>
        </p:txBody>
      </p:sp>
      <p:sp>
        <p:nvSpPr>
          <p:cNvPr id="35" name="Oval 34"/>
          <p:cNvSpPr/>
          <p:nvPr/>
        </p:nvSpPr>
        <p:spPr>
          <a:xfrm>
            <a:off x="2075688" y="2029968"/>
            <a:ext cx="292608" cy="292608"/>
          </a:xfrm>
          <a:prstGeom prst="ellipse">
            <a:avLst/>
          </a:prstGeom>
          <a:solidFill>
            <a:srgbClr val="1F90CC"/>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75688" y="2084831"/>
            <a:ext cx="292608" cy="128016"/>
          </a:xfrm>
          <a:prstGeom prst="rect">
            <a:avLst/>
          </a:prstGeom>
          <a:noFill/>
        </p:spPr>
        <p:txBody>
          <a:bodyPr wrap="square" lIns="0" rIns="0" tIns="0" bIns="0" anchor="t">
            <a:spAutoFit/>
          </a:bodyPr>
          <a:lstStyle/>
          <a:p>
            <a:pPr algn="ctr"/>
            <a:r>
              <a:rPr sz="750" b="1" lang="en-US">
                <a:solidFill>
                  <a:srgbClr val="FFFFFF"/>
                </a:solidFill>
                <a:latin typeface="Arial"/>
              </a:rPr>
              <a:t>5</a:t>
            </a:r>
          </a:p>
        </p:txBody>
      </p:sp>
      <p:sp>
        <p:nvSpPr>
          <p:cNvPr id="37" name="Oval 36"/>
          <p:cNvSpPr/>
          <p:nvPr/>
        </p:nvSpPr>
        <p:spPr>
          <a:xfrm>
            <a:off x="1161288" y="2889504"/>
            <a:ext cx="731520" cy="731520"/>
          </a:xfrm>
          <a:prstGeom prst="ellipse">
            <a:avLst/>
          </a:prstGeom>
          <a:solidFill>
            <a:srgbClr val="FFF1E7"/>
          </a:solidFill>
          <a:ln w="190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161288" y="3017520"/>
            <a:ext cx="731520" cy="310896"/>
          </a:xfrm>
          <a:prstGeom prst="rect">
            <a:avLst/>
          </a:prstGeom>
          <a:noFill/>
        </p:spPr>
        <p:txBody>
          <a:bodyPr wrap="square" lIns="0" rIns="0" tIns="0" bIns="0" anchor="ctr">
            <a:spAutoFit/>
          </a:bodyPr>
          <a:lstStyle/>
          <a:p>
            <a:pPr algn="ctr"/>
            <a:r>
              <a:rPr sz="2000" b="1" lang="en-US">
                <a:solidFill>
                  <a:srgbClr val="FF6C00"/>
                </a:solidFill>
                <a:latin typeface="Arial"/>
              </a:rPr>
              <a:t>Σ</a:t>
            </a:r>
          </a:p>
        </p:txBody>
      </p:sp>
      <p:sp>
        <p:nvSpPr>
          <p:cNvPr id="39" name="TextBox 38"/>
          <p:cNvSpPr txBox="1"/>
          <p:nvPr/>
        </p:nvSpPr>
        <p:spPr>
          <a:xfrm>
            <a:off x="658368" y="3803904"/>
            <a:ext cx="1737360" cy="182880"/>
          </a:xfrm>
          <a:prstGeom prst="rect">
            <a:avLst/>
          </a:prstGeom>
          <a:noFill/>
        </p:spPr>
        <p:txBody>
          <a:bodyPr wrap="square" lIns="0" rIns="0" tIns="0" bIns="0" anchor="t">
            <a:spAutoFit/>
          </a:bodyPr>
          <a:lstStyle/>
          <a:p>
            <a:pPr algn="ctr"/>
            <a:r>
              <a:rPr sz="900" b="1" lang="en-US">
                <a:solidFill>
                  <a:srgbClr val="FF6C00"/>
                </a:solidFill>
                <a:latin typeface="Arial"/>
              </a:rPr>
              <a:t>SELECTED AGGREGATOR</a:t>
            </a:r>
          </a:p>
        </p:txBody>
      </p:sp>
      <p:sp>
        <p:nvSpPr>
          <p:cNvPr id="40" name="TextBox 39"/>
          <p:cNvSpPr txBox="1"/>
          <p:nvPr/>
        </p:nvSpPr>
        <p:spPr>
          <a:xfrm>
            <a:off x="658368" y="4096512"/>
            <a:ext cx="1737360" cy="493776"/>
          </a:xfrm>
          <a:prstGeom prst="rect">
            <a:avLst/>
          </a:prstGeom>
          <a:noFill/>
        </p:spPr>
        <p:txBody>
          <a:bodyPr wrap="square" lIns="0" rIns="0" tIns="0" bIns="0" anchor="ctr">
            <a:spAutoFit/>
          </a:bodyPr>
          <a:lstStyle/>
          <a:p>
            <a:pPr algn="ctr"/>
            <a:r>
              <a:rPr sz="900" b="0" lang="en-US">
                <a:solidFill>
                  <a:srgbClr val="434343"/>
                </a:solidFill>
                <a:latin typeface="Arial"/>
              </a:rPr>
              <a:t>combines the five updates
no local update of its own</a:t>
            </a:r>
          </a:p>
        </p:txBody>
      </p:sp>
      <p:sp>
        <p:nvSpPr>
          <p:cNvPr id="41" name="TextBox 40"/>
          <p:cNvSpPr txBox="1"/>
          <p:nvPr/>
        </p:nvSpPr>
        <p:spPr>
          <a:xfrm>
            <a:off x="612648" y="4718304"/>
            <a:ext cx="1828800" cy="164592"/>
          </a:xfrm>
          <a:prstGeom prst="rect">
            <a:avLst/>
          </a:prstGeom>
          <a:noFill/>
        </p:spPr>
        <p:txBody>
          <a:bodyPr wrap="square" lIns="0" rIns="0" tIns="0" bIns="0" anchor="t">
            <a:spAutoFit/>
          </a:bodyPr>
          <a:lstStyle/>
          <a:p>
            <a:pPr algn="ctr"/>
            <a:r>
              <a:rPr sz="780" b="1" lang="en-US">
                <a:solidFill>
                  <a:srgbClr val="C40D1E"/>
                </a:solidFill>
                <a:latin typeface="Arial"/>
              </a:rPr>
              <a:t>NO PER-UPDATE BCE GATE</a:t>
            </a:r>
          </a:p>
        </p:txBody>
      </p:sp>
      <p:sp>
        <p:nvSpPr>
          <p:cNvPr id="42" name="TextBox 41"/>
          <p:cNvSpPr txBox="1"/>
          <p:nvPr/>
        </p:nvSpPr>
        <p:spPr>
          <a:xfrm>
            <a:off x="658368" y="4910328"/>
            <a:ext cx="1737360" cy="164592"/>
          </a:xfrm>
          <a:prstGeom prst="rect">
            <a:avLst/>
          </a:prstGeom>
          <a:noFill/>
        </p:spPr>
        <p:txBody>
          <a:bodyPr wrap="square" lIns="0" rIns="0" tIns="0" bIns="0" anchor="t">
            <a:spAutoFit/>
          </a:bodyPr>
          <a:lstStyle/>
          <a:p>
            <a:pPr algn="ctr"/>
            <a:r>
              <a:rPr sz="780" b="1" lang="en-US">
                <a:solidFill>
                  <a:srgbClr val="1F90CC"/>
                </a:solidFill>
                <a:latin typeface="Arial"/>
              </a:rPr>
              <a:t>same pool for every rule</a:t>
            </a:r>
          </a:p>
        </p:txBody>
      </p:sp>
      <p:sp>
        <p:nvSpPr>
          <p:cNvPr id="43" name="Rounded Rectangle 42"/>
          <p:cNvSpPr/>
          <p:nvPr/>
        </p:nvSpPr>
        <p:spPr>
          <a:xfrm>
            <a:off x="3054096" y="1298448"/>
            <a:ext cx="4279392" cy="786384"/>
          </a:xfrm>
          <a:prstGeom prst="roundRect">
            <a:avLst/>
          </a:prstGeom>
          <a:solidFill>
            <a:srgbClr val="EAF5FA"/>
          </a:solidFill>
          <a:ln w="15875">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3255264" y="1453895"/>
            <a:ext cx="713232" cy="475488"/>
          </a:xfrm>
          <a:prstGeom prst="ellipse">
            <a:avLst/>
          </a:prstGeom>
          <a:solidFill>
            <a:srgbClr val="FFFFFF"/>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55264" y="1572768"/>
            <a:ext cx="713232" cy="155448"/>
          </a:xfrm>
          <a:prstGeom prst="rect">
            <a:avLst/>
          </a:prstGeom>
          <a:noFill/>
        </p:spPr>
        <p:txBody>
          <a:bodyPr wrap="square" lIns="0" rIns="0" tIns="0" bIns="0" anchor="ctr">
            <a:spAutoFit/>
          </a:bodyPr>
          <a:lstStyle/>
          <a:p>
            <a:pPr algn="ctr"/>
            <a:r>
              <a:rPr sz="900" b="1" lang="en-US">
                <a:solidFill>
                  <a:srgbClr val="1F90CC"/>
                </a:solidFill>
                <a:latin typeface="Arial"/>
              </a:rPr>
              <a:t>5/5</a:t>
            </a:r>
          </a:p>
        </p:txBody>
      </p:sp>
      <p:sp>
        <p:nvSpPr>
          <p:cNvPr id="46" name="TextBox 45"/>
          <p:cNvSpPr txBox="1"/>
          <p:nvPr/>
        </p:nvSpPr>
        <p:spPr>
          <a:xfrm>
            <a:off x="4178808" y="1417319"/>
            <a:ext cx="2852928" cy="182880"/>
          </a:xfrm>
          <a:prstGeom prst="rect">
            <a:avLst/>
          </a:prstGeom>
          <a:noFill/>
        </p:spPr>
        <p:txBody>
          <a:bodyPr wrap="square" lIns="0" rIns="0" tIns="0" bIns="0" anchor="t">
            <a:spAutoFit/>
          </a:bodyPr>
          <a:lstStyle/>
          <a:p>
            <a:pPr algn="l"/>
            <a:r>
              <a:rPr sz="1019" b="1" lang="en-US">
                <a:solidFill>
                  <a:srgbClr val="1F90CC"/>
                </a:solidFill>
                <a:latin typeface="Arial"/>
              </a:rPr>
              <a:t>FEDAVG</a:t>
            </a:r>
          </a:p>
        </p:txBody>
      </p:sp>
      <p:sp>
        <p:nvSpPr>
          <p:cNvPr id="47" name="TextBox 46"/>
          <p:cNvSpPr txBox="1"/>
          <p:nvPr/>
        </p:nvSpPr>
        <p:spPr>
          <a:xfrm>
            <a:off x="4178808" y="1691639"/>
            <a:ext cx="2852928" cy="246888"/>
          </a:xfrm>
          <a:prstGeom prst="rect">
            <a:avLst/>
          </a:prstGeom>
          <a:noFill/>
        </p:spPr>
        <p:txBody>
          <a:bodyPr wrap="square" lIns="0" rIns="0" tIns="0" bIns="0" anchor="t">
            <a:spAutoFit/>
          </a:bodyPr>
          <a:lstStyle/>
          <a:p>
            <a:pPr algn="l"/>
            <a:r>
              <a:rPr sz="850" b="0" lang="en-US">
                <a:solidFill>
                  <a:srgbClr val="434343"/>
                </a:solidFill>
                <a:latin typeface="Arial"/>
              </a:rPr>
              <a:t>all five complete updates · equal mean</a:t>
            </a:r>
          </a:p>
        </p:txBody>
      </p:sp>
      <p:sp>
        <p:nvSpPr>
          <p:cNvPr id="48" name="Rounded Rectangle 47"/>
          <p:cNvSpPr/>
          <p:nvPr/>
        </p:nvSpPr>
        <p:spPr>
          <a:xfrm>
            <a:off x="3054096" y="2304288"/>
            <a:ext cx="4279392" cy="786384"/>
          </a:xfrm>
          <a:prstGeom prst="roundRect">
            <a:avLst/>
          </a:prstGeom>
          <a:solidFill>
            <a:srgbClr val="F3EBF9"/>
          </a:solidFill>
          <a:ln w="15875">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255264" y="2459736"/>
            <a:ext cx="713232" cy="475488"/>
          </a:xfrm>
          <a:prstGeom prst="ellipse">
            <a:avLst/>
          </a:prstGeom>
          <a:solidFill>
            <a:srgbClr val="FFFFFF"/>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255264" y="2578608"/>
            <a:ext cx="713232" cy="155448"/>
          </a:xfrm>
          <a:prstGeom prst="rect">
            <a:avLst/>
          </a:prstGeom>
          <a:noFill/>
        </p:spPr>
        <p:txBody>
          <a:bodyPr wrap="square" lIns="0" rIns="0" tIns="0" bIns="0" anchor="ctr">
            <a:spAutoFit/>
          </a:bodyPr>
          <a:lstStyle/>
          <a:p>
            <a:pPr algn="ctr"/>
            <a:r>
              <a:rPr sz="900" b="1" lang="en-US">
                <a:solidFill>
                  <a:srgbClr val="7A35B5"/>
                </a:solidFill>
                <a:latin typeface="Arial"/>
              </a:rPr>
              <a:t>3RD / θ</a:t>
            </a:r>
          </a:p>
        </p:txBody>
      </p:sp>
      <p:sp>
        <p:nvSpPr>
          <p:cNvPr id="51" name="TextBox 50"/>
          <p:cNvSpPr txBox="1"/>
          <p:nvPr/>
        </p:nvSpPr>
        <p:spPr>
          <a:xfrm>
            <a:off x="4178808" y="2423160"/>
            <a:ext cx="2852928" cy="182880"/>
          </a:xfrm>
          <a:prstGeom prst="rect">
            <a:avLst/>
          </a:prstGeom>
          <a:noFill/>
        </p:spPr>
        <p:txBody>
          <a:bodyPr wrap="square" lIns="0" rIns="0" tIns="0" bIns="0" anchor="t">
            <a:spAutoFit/>
          </a:bodyPr>
          <a:lstStyle/>
          <a:p>
            <a:pPr algn="l"/>
            <a:r>
              <a:rPr sz="1019" b="1" lang="en-US">
                <a:solidFill>
                  <a:srgbClr val="7A35B5"/>
                </a:solidFill>
                <a:latin typeface="Arial"/>
              </a:rPr>
              <a:t>COORDINATE MEDIAN</a:t>
            </a:r>
          </a:p>
        </p:txBody>
      </p:sp>
      <p:sp>
        <p:nvSpPr>
          <p:cNvPr id="52" name="TextBox 51"/>
          <p:cNvSpPr txBox="1"/>
          <p:nvPr/>
        </p:nvSpPr>
        <p:spPr>
          <a:xfrm>
            <a:off x="4178808" y="2697480"/>
            <a:ext cx="2852928" cy="246888"/>
          </a:xfrm>
          <a:prstGeom prst="rect">
            <a:avLst/>
          </a:prstGeom>
          <a:noFill/>
        </p:spPr>
        <p:txBody>
          <a:bodyPr wrap="square" lIns="0" rIns="0" tIns="0" bIns="0" anchor="t">
            <a:spAutoFit/>
          </a:bodyPr>
          <a:lstStyle/>
          <a:p>
            <a:pPr algn="l"/>
            <a:r>
              <a:rPr sz="850" b="0" lang="en-US">
                <a:solidFill>
                  <a:srgbClr val="434343"/>
                </a:solidFill>
                <a:latin typeface="Arial"/>
              </a:rPr>
              <a:t>middle value per parameter · not one whole learner</a:t>
            </a:r>
          </a:p>
        </p:txBody>
      </p:sp>
      <p:sp>
        <p:nvSpPr>
          <p:cNvPr id="53" name="Rounded Rectangle 52"/>
          <p:cNvSpPr/>
          <p:nvPr/>
        </p:nvSpPr>
        <p:spPr>
          <a:xfrm>
            <a:off x="3054096" y="3310128"/>
            <a:ext cx="4279392" cy="786384"/>
          </a:xfrm>
          <a:prstGeom prst="roundRect">
            <a:avLst/>
          </a:prstGeom>
          <a:solidFill>
            <a:srgbClr val="FFF1E7"/>
          </a:solidFill>
          <a:ln w="15875">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255264" y="3465576"/>
            <a:ext cx="713232" cy="475488"/>
          </a:xfrm>
          <a:prstGeom prst="ellipse">
            <a:avLst/>
          </a:prstGeom>
          <a:solidFill>
            <a:srgbClr val="FFFFFF"/>
          </a:solidFill>
          <a:ln w="1397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255264" y="3584448"/>
            <a:ext cx="713232" cy="155448"/>
          </a:xfrm>
          <a:prstGeom prst="rect">
            <a:avLst/>
          </a:prstGeom>
          <a:noFill/>
        </p:spPr>
        <p:txBody>
          <a:bodyPr wrap="square" lIns="0" rIns="0" tIns="0" bIns="0" anchor="ctr">
            <a:spAutoFit/>
          </a:bodyPr>
          <a:lstStyle/>
          <a:p>
            <a:pPr algn="ctr"/>
            <a:r>
              <a:rPr sz="900" b="1" lang="en-US">
                <a:solidFill>
                  <a:srgbClr val="FF6C00"/>
                </a:solidFill>
                <a:latin typeface="Arial"/>
              </a:rPr>
              <a:t>q=1/2</a:t>
            </a:r>
          </a:p>
        </p:txBody>
      </p:sp>
      <p:sp>
        <p:nvSpPr>
          <p:cNvPr id="56" name="TextBox 55"/>
          <p:cNvSpPr txBox="1"/>
          <p:nvPr/>
        </p:nvSpPr>
        <p:spPr>
          <a:xfrm>
            <a:off x="4178808" y="3429000"/>
            <a:ext cx="2852928" cy="182880"/>
          </a:xfrm>
          <a:prstGeom prst="rect">
            <a:avLst/>
          </a:prstGeom>
          <a:noFill/>
        </p:spPr>
        <p:txBody>
          <a:bodyPr wrap="square" lIns="0" rIns="0" tIns="0" bIns="0" anchor="t">
            <a:spAutoFit/>
          </a:bodyPr>
          <a:lstStyle/>
          <a:p>
            <a:pPr algn="l"/>
            <a:r>
              <a:rPr sz="1019" b="1" lang="en-US">
                <a:solidFill>
                  <a:srgbClr val="FF6C00"/>
                </a:solidFill>
                <a:latin typeface="Arial"/>
              </a:rPr>
              <a:t>TRIMMED MEAN</a:t>
            </a:r>
          </a:p>
        </p:txBody>
      </p:sp>
      <p:sp>
        <p:nvSpPr>
          <p:cNvPr id="57" name="TextBox 56"/>
          <p:cNvSpPr txBox="1"/>
          <p:nvPr/>
        </p:nvSpPr>
        <p:spPr>
          <a:xfrm>
            <a:off x="4178808" y="3703320"/>
            <a:ext cx="2852928" cy="246888"/>
          </a:xfrm>
          <a:prstGeom prst="rect">
            <a:avLst/>
          </a:prstGeom>
          <a:noFill/>
        </p:spPr>
        <p:txBody>
          <a:bodyPr wrap="square" lIns="0" rIns="0" tIns="0" bIns="0" anchor="t">
            <a:spAutoFit/>
          </a:bodyPr>
          <a:lstStyle/>
          <a:p>
            <a:pPr algn="l"/>
            <a:r>
              <a:rPr sz="850" b="0" lang="en-US">
                <a:solidFill>
                  <a:srgbClr val="434343"/>
                </a:solidFill>
                <a:latin typeface="Arial"/>
              </a:rPr>
              <a:t>q=1: mean 3/5 · q=2: middle only (= median)</a:t>
            </a:r>
          </a:p>
        </p:txBody>
      </p:sp>
      <p:sp>
        <p:nvSpPr>
          <p:cNvPr id="58" name="Rounded Rectangle 57"/>
          <p:cNvSpPr/>
          <p:nvPr/>
        </p:nvSpPr>
        <p:spPr>
          <a:xfrm>
            <a:off x="3054096" y="4315968"/>
            <a:ext cx="4279392" cy="786384"/>
          </a:xfrm>
          <a:prstGeom prst="roundRect">
            <a:avLst/>
          </a:prstGeom>
          <a:solidFill>
            <a:srgbClr val="EAF6ED"/>
          </a:solidFill>
          <a:ln w="1587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3255264" y="4471416"/>
            <a:ext cx="713232" cy="475488"/>
          </a:xfrm>
          <a:prstGeom prst="ellipse">
            <a:avLst/>
          </a:prstGeom>
          <a:solidFill>
            <a:srgbClr val="FFFFFF"/>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255264" y="4590288"/>
            <a:ext cx="713232" cy="155448"/>
          </a:xfrm>
          <a:prstGeom prst="rect">
            <a:avLst/>
          </a:prstGeom>
          <a:noFill/>
        </p:spPr>
        <p:txBody>
          <a:bodyPr wrap="square" lIns="0" rIns="0" tIns="0" bIns="0" anchor="ctr">
            <a:spAutoFit/>
          </a:bodyPr>
          <a:lstStyle/>
          <a:p>
            <a:pPr algn="ctr"/>
            <a:r>
              <a:rPr sz="900" b="1" lang="en-US">
                <a:solidFill>
                  <a:srgbClr val="2F8F46"/>
                </a:solidFill>
                <a:latin typeface="Arial"/>
              </a:rPr>
              <a:t>2/5</a:t>
            </a:r>
          </a:p>
        </p:txBody>
      </p:sp>
      <p:sp>
        <p:nvSpPr>
          <p:cNvPr id="61" name="TextBox 60"/>
          <p:cNvSpPr txBox="1"/>
          <p:nvPr/>
        </p:nvSpPr>
        <p:spPr>
          <a:xfrm>
            <a:off x="4178808" y="4434840"/>
            <a:ext cx="2852928" cy="182880"/>
          </a:xfrm>
          <a:prstGeom prst="rect">
            <a:avLst/>
          </a:prstGeom>
          <a:noFill/>
        </p:spPr>
        <p:txBody>
          <a:bodyPr wrap="square" lIns="0" rIns="0" tIns="0" bIns="0" anchor="t">
            <a:spAutoFit/>
          </a:bodyPr>
          <a:lstStyle/>
          <a:p>
            <a:pPr algn="l"/>
            <a:r>
              <a:rPr sz="1019" b="1" lang="en-US">
                <a:solidFill>
                  <a:srgbClr val="2F8F46"/>
                </a:solidFill>
                <a:latin typeface="Arial"/>
              </a:rPr>
              <a:t>MULTI-KRUM</a:t>
            </a:r>
          </a:p>
        </p:txBody>
      </p:sp>
      <p:sp>
        <p:nvSpPr>
          <p:cNvPr id="62" name="TextBox 61"/>
          <p:cNvSpPr txBox="1"/>
          <p:nvPr/>
        </p:nvSpPr>
        <p:spPr>
          <a:xfrm>
            <a:off x="4178808" y="4709159"/>
            <a:ext cx="2852928" cy="246888"/>
          </a:xfrm>
          <a:prstGeom prst="rect">
            <a:avLst/>
          </a:prstGeom>
          <a:noFill/>
        </p:spPr>
        <p:txBody>
          <a:bodyPr wrap="square" lIns="0" rIns="0" tIns="0" bIns="0" anchor="t">
            <a:spAutoFit/>
          </a:bodyPr>
          <a:lstStyle/>
          <a:p>
            <a:pPr algn="l"/>
            <a:r>
              <a:rPr sz="850" b="0" lang="en-US">
                <a:solidFill>
                  <a:srgbClr val="434343"/>
                </a:solidFill>
                <a:latin typeface="Arial"/>
              </a:rPr>
              <a:t>distance-score all 5 whole updates · average selected 2</a:t>
            </a:r>
          </a:p>
        </p:txBody>
      </p:sp>
      <p:sp>
        <p:nvSpPr>
          <p:cNvPr id="63" name="TextBox 62"/>
          <p:cNvSpPr txBox="1"/>
          <p:nvPr/>
        </p:nvSpPr>
        <p:spPr>
          <a:xfrm>
            <a:off x="8028431" y="1389888"/>
            <a:ext cx="3401568" cy="201168"/>
          </a:xfrm>
          <a:prstGeom prst="rect">
            <a:avLst/>
          </a:prstGeom>
          <a:noFill/>
        </p:spPr>
        <p:txBody>
          <a:bodyPr wrap="square" lIns="0" rIns="0" tIns="0" bIns="0" anchor="t">
            <a:spAutoFit/>
          </a:bodyPr>
          <a:lstStyle/>
          <a:p>
            <a:pPr algn="ctr"/>
            <a:r>
              <a:rPr sz="1030" b="1" lang="en-US">
                <a:solidFill>
                  <a:srgbClr val="434343"/>
                </a:solidFill>
                <a:latin typeface="Arial"/>
              </a:rPr>
              <a:t>WHICH AGGREGATE COUNTS?</a:t>
            </a:r>
          </a:p>
        </p:txBody>
      </p:sp>
      <p:sp>
        <p:nvSpPr>
          <p:cNvPr id="64" name="Oval 63"/>
          <p:cNvSpPr/>
          <p:nvPr/>
        </p:nvSpPr>
        <p:spPr>
          <a:xfrm>
            <a:off x="8449056" y="1746504"/>
            <a:ext cx="310896" cy="310896"/>
          </a:xfrm>
          <a:prstGeom prst="ellipse">
            <a:avLst/>
          </a:prstGeom>
          <a:solidFill>
            <a:srgbClr val="1F90CC"/>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449056" y="1810512"/>
            <a:ext cx="310896" cy="128016"/>
          </a:xfrm>
          <a:prstGeom prst="rect">
            <a:avLst/>
          </a:prstGeom>
          <a:noFill/>
        </p:spPr>
        <p:txBody>
          <a:bodyPr wrap="square" lIns="0" rIns="0" tIns="0" bIns="0" anchor="t">
            <a:spAutoFit/>
          </a:bodyPr>
          <a:lstStyle/>
          <a:p>
            <a:pPr algn="ctr"/>
            <a:r>
              <a:rPr sz="680" b="1" lang="en-US">
                <a:solidFill>
                  <a:srgbClr val="FFFFFF"/>
                </a:solidFill>
                <a:latin typeface="Arial"/>
              </a:rPr>
              <a:t>F</a:t>
            </a:r>
          </a:p>
        </p:txBody>
      </p:sp>
      <p:sp>
        <p:nvSpPr>
          <p:cNvPr id="66" name="Oval 65"/>
          <p:cNvSpPr/>
          <p:nvPr/>
        </p:nvSpPr>
        <p:spPr>
          <a:xfrm>
            <a:off x="8933688" y="1746504"/>
            <a:ext cx="310896" cy="310896"/>
          </a:xfrm>
          <a:prstGeom prst="ellipse">
            <a:avLst/>
          </a:prstGeom>
          <a:solidFill>
            <a:srgbClr val="7A35B5"/>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933688" y="1810512"/>
            <a:ext cx="310896" cy="128016"/>
          </a:xfrm>
          <a:prstGeom prst="rect">
            <a:avLst/>
          </a:prstGeom>
          <a:noFill/>
        </p:spPr>
        <p:txBody>
          <a:bodyPr wrap="square" lIns="0" rIns="0" tIns="0" bIns="0" anchor="t">
            <a:spAutoFit/>
          </a:bodyPr>
          <a:lstStyle/>
          <a:p>
            <a:pPr algn="ctr"/>
            <a:r>
              <a:rPr sz="680" b="1" lang="en-US">
                <a:solidFill>
                  <a:srgbClr val="FFFFFF"/>
                </a:solidFill>
                <a:latin typeface="Arial"/>
              </a:rPr>
              <a:t>M</a:t>
            </a:r>
          </a:p>
        </p:txBody>
      </p:sp>
      <p:sp>
        <p:nvSpPr>
          <p:cNvPr id="68" name="Oval 67"/>
          <p:cNvSpPr/>
          <p:nvPr/>
        </p:nvSpPr>
        <p:spPr>
          <a:xfrm>
            <a:off x="9418320" y="1746504"/>
            <a:ext cx="310896" cy="310896"/>
          </a:xfrm>
          <a:prstGeom prst="ellipse">
            <a:avLst/>
          </a:prstGeom>
          <a:solidFill>
            <a:srgbClr val="FF6C00"/>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418320" y="1810512"/>
            <a:ext cx="310896" cy="128016"/>
          </a:xfrm>
          <a:prstGeom prst="rect">
            <a:avLst/>
          </a:prstGeom>
          <a:noFill/>
        </p:spPr>
        <p:txBody>
          <a:bodyPr wrap="square" lIns="0" rIns="0" tIns="0" bIns="0" anchor="t">
            <a:spAutoFit/>
          </a:bodyPr>
          <a:lstStyle/>
          <a:p>
            <a:pPr algn="ctr"/>
            <a:r>
              <a:rPr sz="680" b="1" lang="en-US">
                <a:solidFill>
                  <a:srgbClr val="FFFFFF"/>
                </a:solidFill>
                <a:latin typeface="Arial"/>
              </a:rPr>
              <a:t>T1</a:t>
            </a:r>
          </a:p>
        </p:txBody>
      </p:sp>
      <p:sp>
        <p:nvSpPr>
          <p:cNvPr id="70" name="Oval 69"/>
          <p:cNvSpPr/>
          <p:nvPr/>
        </p:nvSpPr>
        <p:spPr>
          <a:xfrm>
            <a:off x="9902952" y="1746504"/>
            <a:ext cx="310896" cy="310896"/>
          </a:xfrm>
          <a:prstGeom prst="ellipse">
            <a:avLst/>
          </a:prstGeom>
          <a:solidFill>
            <a:srgbClr val="FF6C00"/>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9902952" y="1810512"/>
            <a:ext cx="310896" cy="128016"/>
          </a:xfrm>
          <a:prstGeom prst="rect">
            <a:avLst/>
          </a:prstGeom>
          <a:noFill/>
        </p:spPr>
        <p:txBody>
          <a:bodyPr wrap="square" lIns="0" rIns="0" tIns="0" bIns="0" anchor="t">
            <a:spAutoFit/>
          </a:bodyPr>
          <a:lstStyle/>
          <a:p>
            <a:pPr algn="ctr"/>
            <a:r>
              <a:rPr sz="680" b="1" lang="en-US">
                <a:solidFill>
                  <a:srgbClr val="FFFFFF"/>
                </a:solidFill>
                <a:latin typeface="Arial"/>
              </a:rPr>
              <a:t>T2</a:t>
            </a:r>
          </a:p>
        </p:txBody>
      </p:sp>
      <p:sp>
        <p:nvSpPr>
          <p:cNvPr id="72" name="Oval 71"/>
          <p:cNvSpPr/>
          <p:nvPr/>
        </p:nvSpPr>
        <p:spPr>
          <a:xfrm>
            <a:off x="10387584" y="1746504"/>
            <a:ext cx="310896" cy="310896"/>
          </a:xfrm>
          <a:prstGeom prst="ellipse">
            <a:avLst/>
          </a:prstGeom>
          <a:solidFill>
            <a:srgbClr val="2F8F46"/>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387584" y="1810512"/>
            <a:ext cx="310896" cy="128016"/>
          </a:xfrm>
          <a:prstGeom prst="rect">
            <a:avLst/>
          </a:prstGeom>
          <a:noFill/>
        </p:spPr>
        <p:txBody>
          <a:bodyPr wrap="square" lIns="0" rIns="0" tIns="0" bIns="0" anchor="t">
            <a:spAutoFit/>
          </a:bodyPr>
          <a:lstStyle/>
          <a:p>
            <a:pPr algn="ctr"/>
            <a:r>
              <a:rPr sz="680" b="1" lang="en-US">
                <a:solidFill>
                  <a:srgbClr val="FFFFFF"/>
                </a:solidFill>
                <a:latin typeface="Arial"/>
              </a:rPr>
              <a:t>K</a:t>
            </a:r>
          </a:p>
        </p:txBody>
      </p:sp>
      <p:sp>
        <p:nvSpPr>
          <p:cNvPr id="74" name="TextBox 73"/>
          <p:cNvSpPr txBox="1"/>
          <p:nvPr/>
        </p:nvSpPr>
        <p:spPr>
          <a:xfrm>
            <a:off x="8119872" y="2121408"/>
            <a:ext cx="3236976" cy="164592"/>
          </a:xfrm>
          <a:prstGeom prst="rect">
            <a:avLst/>
          </a:prstGeom>
          <a:noFill/>
        </p:spPr>
        <p:txBody>
          <a:bodyPr wrap="square" lIns="0" rIns="0" tIns="0" bIns="0" anchor="t">
            <a:spAutoFit/>
          </a:bodyPr>
          <a:lstStyle/>
          <a:p>
            <a:pPr algn="ctr"/>
            <a:r>
              <a:rPr sz="770" b="0" lang="en-US">
                <a:solidFill>
                  <a:srgbClr val="434343"/>
                </a:solidFill>
                <a:latin typeface="Arial"/>
              </a:rPr>
              <a:t>five aggregate candidates · one shared reference</a:t>
            </a:r>
          </a:p>
        </p:txBody>
      </p:sp>
      <p:sp>
        <p:nvSpPr>
          <p:cNvPr id="75" name="Rounded Rectangle 74"/>
          <p:cNvSpPr/>
          <p:nvPr/>
        </p:nvSpPr>
        <p:spPr>
          <a:xfrm>
            <a:off x="8119872" y="2468880"/>
            <a:ext cx="3236976" cy="621792"/>
          </a:xfrm>
          <a:prstGeom prst="roundRect">
            <a:avLst/>
          </a:prstGeom>
          <a:solidFill>
            <a:srgbClr val="F3EBF9"/>
          </a:solidFill>
          <a:ln w="15875">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293608" y="2551176"/>
            <a:ext cx="2889504" cy="146304"/>
          </a:xfrm>
          <a:prstGeom prst="rect">
            <a:avLst/>
          </a:prstGeom>
          <a:noFill/>
        </p:spPr>
        <p:txBody>
          <a:bodyPr wrap="square" lIns="0" rIns="0" tIns="0" bIns="0" anchor="t">
            <a:spAutoFit/>
          </a:bodyPr>
          <a:lstStyle/>
          <a:p>
            <a:pPr algn="ctr"/>
            <a:r>
              <a:rPr sz="760" b="1" lang="en-US">
                <a:solidFill>
                  <a:srgbClr val="7A35B5"/>
                </a:solidFill>
                <a:latin typeface="Arial"/>
              </a:rPr>
              <a:t>ORIGINAL HYBRID-R</a:t>
            </a:r>
          </a:p>
        </p:txBody>
      </p:sp>
      <p:sp>
        <p:nvSpPr>
          <p:cNvPr id="77" name="TextBox 76"/>
          <p:cNvSpPr txBox="1"/>
          <p:nvPr/>
        </p:nvSpPr>
        <p:spPr>
          <a:xfrm>
            <a:off x="8293608" y="2788920"/>
            <a:ext cx="2889504" cy="164592"/>
          </a:xfrm>
          <a:prstGeom prst="rect">
            <a:avLst/>
          </a:prstGeom>
          <a:noFill/>
        </p:spPr>
        <p:txBody>
          <a:bodyPr wrap="square" lIns="0" rIns="0" tIns="0" bIns="0" anchor="t">
            <a:spAutoFit/>
          </a:bodyPr>
          <a:lstStyle/>
          <a:p>
            <a:pPr algn="ctr"/>
            <a:r>
              <a:rPr sz="900" b="1" lang="en-US">
                <a:solidFill>
                  <a:srgbClr val="434343"/>
                </a:solidFill>
                <a:latin typeface="Arial"/>
              </a:rPr>
              <a:t>lowest aggregate BCE = L(best)</a:t>
            </a:r>
          </a:p>
        </p:txBody>
      </p:sp>
      <p:sp>
        <p:nvSpPr>
          <p:cNvPr id="78" name="Rounded Rectangle 77"/>
          <p:cNvSpPr/>
          <p:nvPr/>
        </p:nvSpPr>
        <p:spPr>
          <a:xfrm>
            <a:off x="8119872" y="3273552"/>
            <a:ext cx="3236976" cy="630936"/>
          </a:xfrm>
          <a:prstGeom prst="roundRect">
            <a:avLst/>
          </a:prstGeom>
          <a:solidFill>
            <a:srgbClr val="FFF1E7"/>
          </a:solidFill>
          <a:ln w="15875">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293608" y="3355848"/>
            <a:ext cx="2889504" cy="146304"/>
          </a:xfrm>
          <a:prstGeom prst="rect">
            <a:avLst/>
          </a:prstGeom>
          <a:noFill/>
        </p:spPr>
        <p:txBody>
          <a:bodyPr wrap="square" lIns="0" rIns="0" tIns="0" bIns="0" anchor="t">
            <a:spAutoFit/>
          </a:bodyPr>
          <a:lstStyle/>
          <a:p>
            <a:pPr algn="ctr"/>
            <a:r>
              <a:rPr sz="760" b="1" lang="en-US">
                <a:solidFill>
                  <a:srgbClr val="FF6C00"/>
                </a:solidFill>
                <a:latin typeface="Arial"/>
              </a:rPr>
              <a:t>VITA-FL EXTENSION</a:t>
            </a:r>
          </a:p>
        </p:txBody>
      </p:sp>
      <p:sp>
        <p:nvSpPr>
          <p:cNvPr id="80" name="TextBox 79"/>
          <p:cNvSpPr txBox="1"/>
          <p:nvPr/>
        </p:nvSpPr>
        <p:spPr>
          <a:xfrm>
            <a:off x="8293608" y="3602736"/>
            <a:ext cx="2889504" cy="164592"/>
          </a:xfrm>
          <a:prstGeom prst="rect">
            <a:avLst/>
          </a:prstGeom>
          <a:noFill/>
        </p:spPr>
        <p:txBody>
          <a:bodyPr wrap="square" lIns="0" rIns="0" tIns="0" bIns="0" anchor="t">
            <a:spAutoFit/>
          </a:bodyPr>
          <a:lstStyle/>
          <a:p>
            <a:pPr algn="ctr"/>
            <a:r>
              <a:rPr sz="900" b="1" lang="en-US">
                <a:solidFill>
                  <a:srgbClr val="434343"/>
                </a:solidFill>
                <a:latin typeface="Arial"/>
              </a:rPr>
              <a:t>L(best) ≤ 1.05 × L(parent)?</a:t>
            </a:r>
          </a:p>
        </p:txBody>
      </p:sp>
      <p:sp>
        <p:nvSpPr>
          <p:cNvPr id="81" name="Rounded Rectangle 80"/>
          <p:cNvSpPr/>
          <p:nvPr/>
        </p:nvSpPr>
        <p:spPr>
          <a:xfrm>
            <a:off x="7927848" y="4224528"/>
            <a:ext cx="1664208" cy="694944"/>
          </a:xfrm>
          <a:prstGeom prst="roundRect">
            <a:avLst/>
          </a:prstGeom>
          <a:solidFill>
            <a:srgbClr val="EAF6ED"/>
          </a:solidFill>
          <a:ln w="17145">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8110727" y="4315968"/>
            <a:ext cx="1298448" cy="146304"/>
          </a:xfrm>
          <a:prstGeom prst="rect">
            <a:avLst/>
          </a:prstGeom>
          <a:noFill/>
        </p:spPr>
        <p:txBody>
          <a:bodyPr wrap="square" lIns="0" rIns="0" tIns="0" bIns="0" anchor="t">
            <a:spAutoFit/>
          </a:bodyPr>
          <a:lstStyle/>
          <a:p>
            <a:pPr algn="ctr"/>
            <a:r>
              <a:rPr sz="810" b="1" lang="en-US">
                <a:solidFill>
                  <a:srgbClr val="2F8F46"/>
                </a:solidFill>
                <a:latin typeface="Arial"/>
              </a:rPr>
              <a:t>YES</a:t>
            </a:r>
          </a:p>
        </p:txBody>
      </p:sp>
      <p:sp>
        <p:nvSpPr>
          <p:cNvPr id="83" name="TextBox 82"/>
          <p:cNvSpPr txBox="1"/>
          <p:nvPr/>
        </p:nvSpPr>
        <p:spPr>
          <a:xfrm>
            <a:off x="8110727" y="4517136"/>
            <a:ext cx="1298448" cy="310896"/>
          </a:xfrm>
          <a:prstGeom prst="rect">
            <a:avLst/>
          </a:prstGeom>
          <a:noFill/>
        </p:spPr>
        <p:txBody>
          <a:bodyPr wrap="square" lIns="0" rIns="0" tIns="0" bIns="0" anchor="t">
            <a:spAutoFit/>
          </a:bodyPr>
          <a:lstStyle/>
          <a:p>
            <a:pPr algn="ctr"/>
            <a:r>
              <a:rPr sz="780" b="1" lang="en-US">
                <a:solidFill>
                  <a:srgbClr val="434343"/>
                </a:solidFill>
                <a:latin typeface="Arial"/>
              </a:rPr>
              <a:t>best aggregate
becomes parent</a:t>
            </a:r>
          </a:p>
        </p:txBody>
      </p:sp>
      <p:sp>
        <p:nvSpPr>
          <p:cNvPr id="84" name="Rounded Rectangle 83"/>
          <p:cNvSpPr/>
          <p:nvPr/>
        </p:nvSpPr>
        <p:spPr>
          <a:xfrm>
            <a:off x="9884664" y="4224528"/>
            <a:ext cx="1664208" cy="694944"/>
          </a:xfrm>
          <a:prstGeom prst="roundRect">
            <a:avLst/>
          </a:prstGeom>
          <a:solidFill>
            <a:srgbClr val="EAF5FA"/>
          </a:solidFill>
          <a:ln w="17145">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10067544" y="4315968"/>
            <a:ext cx="1298448" cy="146304"/>
          </a:xfrm>
          <a:prstGeom prst="rect">
            <a:avLst/>
          </a:prstGeom>
          <a:noFill/>
        </p:spPr>
        <p:txBody>
          <a:bodyPr wrap="square" lIns="0" rIns="0" tIns="0" bIns="0" anchor="t">
            <a:spAutoFit/>
          </a:bodyPr>
          <a:lstStyle/>
          <a:p>
            <a:pPr algn="ctr"/>
            <a:r>
              <a:rPr sz="810" b="1" lang="en-US">
                <a:solidFill>
                  <a:srgbClr val="1F90CC"/>
                </a:solidFill>
                <a:latin typeface="Arial"/>
              </a:rPr>
              <a:t>NO</a:t>
            </a:r>
          </a:p>
        </p:txBody>
      </p:sp>
      <p:sp>
        <p:nvSpPr>
          <p:cNvPr id="86" name="TextBox 85"/>
          <p:cNvSpPr txBox="1"/>
          <p:nvPr/>
        </p:nvSpPr>
        <p:spPr>
          <a:xfrm>
            <a:off x="10067544" y="4517136"/>
            <a:ext cx="1298448" cy="310896"/>
          </a:xfrm>
          <a:prstGeom prst="rect">
            <a:avLst/>
          </a:prstGeom>
          <a:noFill/>
        </p:spPr>
        <p:txBody>
          <a:bodyPr wrap="square" lIns="0" rIns="0" tIns="0" bIns="0" anchor="t">
            <a:spAutoFit/>
          </a:bodyPr>
          <a:lstStyle/>
          <a:p>
            <a:pPr algn="ctr"/>
            <a:r>
              <a:rPr sz="780" b="1" lang="en-US">
                <a:solidFill>
                  <a:srgbClr val="434343"/>
                </a:solidFill>
                <a:latin typeface="Arial"/>
              </a:rPr>
              <a:t>unchanged parent
remains</a:t>
            </a:r>
          </a:p>
        </p:txBody>
      </p:sp>
      <p:sp>
        <p:nvSpPr>
          <p:cNvPr id="87" name="TextBox 86"/>
          <p:cNvSpPr txBox="1"/>
          <p:nvPr/>
        </p:nvSpPr>
        <p:spPr>
          <a:xfrm>
            <a:off x="987552" y="5376672"/>
            <a:ext cx="10204704" cy="256032"/>
          </a:xfrm>
          <a:prstGeom prst="rect">
            <a:avLst/>
          </a:prstGeom>
          <a:noFill/>
        </p:spPr>
        <p:txBody>
          <a:bodyPr wrap="square" lIns="0" rIns="0" tIns="0" bIns="0" anchor="ctr">
            <a:spAutoFit/>
          </a:bodyPr>
          <a:lstStyle/>
          <a:p>
            <a:pPr algn="ctr"/>
            <a:r>
              <a:rPr sz="1019" b="1" lang="en-US">
                <a:solidFill>
                  <a:srgbClr val="434343"/>
                </a:solidFill>
                <a:latin typeface="Arial"/>
              </a:rPr>
              <a:t>No worker is classified by BCE: each rule controls update influence; the parent gate limits visible regression.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3" name="TextBox 12"/>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4" name="TextBox 13"/>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15" name="Rounded Rectangle 14"/>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17" name="TextBox 16"/>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18" name="TextBox 17"/>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19" name="TextBox 18"/>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0" name="Rounded Rectangle 19"/>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2" name="Rounded Rectangle 21"/>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4" name="TextBox 23"/>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25" name="Rounded Rectangle 24"/>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27" name="TextBox 26"/>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28" name="Rounded Rectangle 27"/>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0" name="TextBox 29"/>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1" name="Rectangle 30"/>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3" name="Rounded Rectangle 32"/>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35" name="TextBox 34"/>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36" name="TextBox 35"/>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37" name="TextBox 36"/>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38" name="Rectangle 37"/>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evidence from the receiving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FIGUERA PROPOSAL (2026) · RECEIVER-CREATED · OWNER-ENCRYPTED · TRANSPARENCY-RECORDED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472184"/>
            <a:ext cx="10771632" cy="274320"/>
          </a:xfrm>
          <a:prstGeom prst="rect">
            <a:avLst/>
          </a:prstGeom>
          <a:noFill/>
        </p:spPr>
        <p:txBody>
          <a:bodyPr wrap="square" lIns="18288" rIns="18288" tIns="18288" bIns="18288" anchor="ctr">
            <a:spAutoFit/>
          </a:bodyPr>
          <a:lstStyle/>
          <a:p>
            <a:pPr algn="ctr"/>
            <a:r>
              <a:rPr sz="1100" b="1" lang="en-US">
                <a:solidFill>
                  <a:srgbClr val="C40D1E"/>
                </a:solidFill>
                <a:latin typeface="Arial"/>
              </a:rPr>
              <a:t>CORE IDEA   </a:t>
            </a:r>
            <a:r>
              <a:rPr sz="1300" b="1" lang="en-US">
                <a:solidFill>
                  <a:srgbClr val="434343"/>
                </a:solidFill>
                <a:latin typeface="Arial"/>
              </a:rPr>
              <a:t>The service that performs the action creates the evidence—not the agent.</a:t>
            </a:r>
          </a:p>
        </p:txBody>
      </p:sp>
      <p:sp>
        <p:nvSpPr>
          <p:cNvPr id="9" name="Rounded Rectangle 8"/>
          <p:cNvSpPr/>
          <p:nvPr/>
        </p:nvSpPr>
        <p:spPr>
          <a:xfrm>
            <a:off x="658368" y="2148840"/>
            <a:ext cx="2880360" cy="1444752"/>
          </a:xfrm>
          <a:prstGeom prst="roundRect">
            <a:avLst/>
          </a:prstGeom>
          <a:solidFill>
            <a:srgbClr val="EAF5FA"/>
          </a:solidFill>
          <a:ln w="1778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95728"/>
            <a:ext cx="2551176" cy="246888"/>
          </a:xfrm>
          <a:prstGeom prst="rect">
            <a:avLst/>
          </a:prstGeom>
          <a:noFill/>
        </p:spPr>
        <p:txBody>
          <a:bodyPr wrap="square" lIns="18288" rIns="18288" tIns="18288" bIns="18288" anchor="t">
            <a:spAutoFit/>
          </a:bodyPr>
          <a:lstStyle/>
          <a:p>
            <a:pPr algn="ctr"/>
            <a:r>
              <a:rPr sz="1150" b="1" lang="en-US">
                <a:solidFill>
                  <a:srgbClr val="1F90CC"/>
                </a:solidFill>
                <a:latin typeface="Arial"/>
              </a:rPr>
              <a:t>1  AUTHORIZED REQUEST</a:t>
            </a:r>
          </a:p>
        </p:txBody>
      </p:sp>
      <p:sp>
        <p:nvSpPr>
          <p:cNvPr id="11" name="TextBox 10"/>
          <p:cNvSpPr txBox="1"/>
          <p:nvPr/>
        </p:nvSpPr>
        <p:spPr>
          <a:xfrm>
            <a:off x="93268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agent presents the owner's permission for one action.</a:t>
            </a:r>
          </a:p>
        </p:txBody>
      </p:sp>
      <p:sp>
        <p:nvSpPr>
          <p:cNvPr id="12" name="Rounded Rectangle 11"/>
          <p:cNvSpPr/>
          <p:nvPr/>
        </p:nvSpPr>
        <p:spPr>
          <a:xfrm>
            <a:off x="4407408" y="2148840"/>
            <a:ext cx="2880360" cy="1444752"/>
          </a:xfrm>
          <a:prstGeom prst="roundRect">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395728"/>
            <a:ext cx="2551176" cy="246888"/>
          </a:xfrm>
          <a:prstGeom prst="rect">
            <a:avLst/>
          </a:prstGeom>
          <a:noFill/>
        </p:spPr>
        <p:txBody>
          <a:bodyPr wrap="square" lIns="18288" rIns="18288" tIns="18288" bIns="18288" anchor="t">
            <a:spAutoFit/>
          </a:bodyPr>
          <a:lstStyle/>
          <a:p>
            <a:pPr algn="ctr"/>
            <a:r>
              <a:rPr sz="1150" b="1" lang="en-US">
                <a:solidFill>
                  <a:srgbClr val="2F8F46"/>
                </a:solidFill>
                <a:latin typeface="Arial"/>
              </a:rPr>
              <a:t>2  RECEIVING SERVICE</a:t>
            </a:r>
          </a:p>
        </p:txBody>
      </p:sp>
      <p:sp>
        <p:nvSpPr>
          <p:cNvPr id="14" name="TextBox 13"/>
          <p:cNvSpPr txBox="1"/>
          <p:nvPr/>
        </p:nvSpPr>
        <p:spPr>
          <a:xfrm>
            <a:off x="468172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service executes the action and signs an encrypted receipt.</a:t>
            </a:r>
          </a:p>
        </p:txBody>
      </p:sp>
      <p:sp>
        <p:nvSpPr>
          <p:cNvPr id="15" name="Rounded Rectangle 14"/>
          <p:cNvSpPr/>
          <p:nvPr/>
        </p:nvSpPr>
        <p:spPr>
          <a:xfrm>
            <a:off x="8156448" y="2148840"/>
            <a:ext cx="2880360" cy="1444752"/>
          </a:xfrm>
          <a:prstGeom prst="roundRect">
            <a:avLst/>
          </a:prstGeom>
          <a:solidFill>
            <a:srgbClr val="F3EBF9"/>
          </a:solidFill>
          <a:ln w="1778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95728"/>
            <a:ext cx="2551176" cy="246888"/>
          </a:xfrm>
          <a:prstGeom prst="rect">
            <a:avLst/>
          </a:prstGeom>
          <a:noFill/>
        </p:spPr>
        <p:txBody>
          <a:bodyPr wrap="square" lIns="18288" rIns="18288" tIns="18288" bIns="18288" anchor="t">
            <a:spAutoFit/>
          </a:bodyPr>
          <a:lstStyle/>
          <a:p>
            <a:pPr algn="ctr"/>
            <a:r>
              <a:rPr sz="1150" b="1" lang="en-US">
                <a:solidFill>
                  <a:srgbClr val="7A35B5"/>
                </a:solidFill>
                <a:latin typeface="Arial"/>
              </a:rPr>
              <a:t>3  TRANSPARENCY LOG</a:t>
            </a:r>
          </a:p>
        </p:txBody>
      </p:sp>
      <p:sp>
        <p:nvSpPr>
          <p:cNvPr id="17" name="TextBox 16"/>
          <p:cNvSpPr txBox="1"/>
          <p:nvPr/>
        </p:nvSpPr>
        <p:spPr>
          <a:xfrm>
            <a:off x="843076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log records the receipt and returns inclusion evidence.</a:t>
            </a:r>
          </a:p>
        </p:txBody>
      </p:sp>
      <p:cxnSp>
        <p:nvCxnSpPr>
          <p:cNvPr id="18" name="Connector 17"/>
          <p:cNvCxnSpPr/>
          <p:nvPr/>
        </p:nvCxnSpPr>
        <p:spPr>
          <a:xfrm>
            <a:off x="3557016" y="2871216"/>
            <a:ext cx="795528"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306056" y="2871216"/>
            <a:ext cx="795527"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78992" y="3968496"/>
            <a:ext cx="10030968"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4169663"/>
            <a:ext cx="2258568" cy="219456"/>
          </a:xfrm>
          <a:prstGeom prst="rect">
            <a:avLst/>
          </a:prstGeom>
          <a:noFill/>
        </p:spPr>
        <p:txBody>
          <a:bodyPr wrap="square" lIns="18288" rIns="18288" tIns="18288" bIns="18288" anchor="t">
            <a:spAutoFit/>
          </a:bodyPr>
          <a:lstStyle/>
          <a:p>
            <a:pPr algn="l"/>
            <a:r>
              <a:rPr sz="1100" b="1" lang="en-US">
                <a:solidFill>
                  <a:srgbClr val="C40D1E"/>
                </a:solidFill>
                <a:latin typeface="Arial"/>
              </a:rPr>
              <a:t>OWNER VERIFIES LATER</a:t>
            </a:r>
          </a:p>
        </p:txBody>
      </p:sp>
      <p:sp>
        <p:nvSpPr>
          <p:cNvPr id="22" name="TextBox 21"/>
          <p:cNvSpPr txBox="1"/>
          <p:nvPr/>
        </p:nvSpPr>
        <p:spPr>
          <a:xfrm>
            <a:off x="3712463" y="4151376"/>
            <a:ext cx="7040880" cy="246888"/>
          </a:xfrm>
          <a:prstGeom prst="rect">
            <a:avLst/>
          </a:prstGeom>
          <a:noFill/>
        </p:spPr>
        <p:txBody>
          <a:bodyPr wrap="square" lIns="18288" rIns="18288" tIns="18288" bIns="18288" anchor="ctr">
            <a:spAutoFit/>
          </a:bodyPr>
          <a:lstStyle/>
          <a:p>
            <a:pPr algn="ctr"/>
            <a:r>
              <a:rPr sz="1100" b="1" lang="en-US">
                <a:solidFill>
                  <a:srgbClr val="434343"/>
                </a:solidFill>
                <a:latin typeface="Arial"/>
              </a:rPr>
              <a:t>Check log inclusion + service signature  →  decrypt the receipt</a:t>
            </a:r>
          </a:p>
        </p:txBody>
      </p:sp>
      <p:sp>
        <p:nvSpPr>
          <p:cNvPr id="23" name="Rectangle 22"/>
          <p:cNvSpPr/>
          <p:nvPr/>
        </p:nvSpPr>
        <p:spPr>
          <a:xfrm>
            <a:off x="1078992" y="4892040"/>
            <a:ext cx="10030968" cy="45720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5010912"/>
            <a:ext cx="9537192" cy="210312"/>
          </a:xfrm>
          <a:prstGeom prst="rect">
            <a:avLst/>
          </a:prstGeom>
          <a:noFill/>
        </p:spPr>
        <p:txBody>
          <a:bodyPr wrap="square" lIns="18288" rIns="18288" tIns="18288" bIns="18288" anchor="t">
            <a:spAutoFit/>
          </a:bodyPr>
          <a:lstStyle/>
          <a:p>
            <a:pPr algn="ctr"/>
            <a:r>
              <a:rPr sz="1120" b="1" lang="en-US">
                <a:solidFill>
                  <a:srgbClr val="FFFFFF"/>
                </a:solidFill>
                <a:latin typeface="Arial"/>
              </a:rPr>
              <a:t>VITA-FL adopts the receiver-first pattern: publish the receipt before returning success.</a:t>
            </a:r>
          </a:p>
        </p:txBody>
      </p:sp>
      <p:sp>
        <p:nvSpPr>
          <p:cNvPr id="25" name="TextBox 24"/>
          <p:cNvSpPr txBox="1"/>
          <p:nvPr/>
        </p:nvSpPr>
        <p:spPr>
          <a:xfrm>
            <a:off x="731520" y="5504688"/>
            <a:ext cx="10716768" cy="164592"/>
          </a:xfrm>
          <a:prstGeom prst="rect">
            <a:avLst/>
          </a:prstGeom>
          <a:noFill/>
        </p:spPr>
        <p:txBody>
          <a:bodyPr wrap="square" lIns="18288" rIns="18288" tIns="18288" bIns="18288" anchor="t">
            <a:spAutoFit/>
          </a:bodyPr>
          <a:lstStyle/>
          <a:p>
            <a:pPr algn="ctr"/>
            <a:r>
              <a:rPr sz="819" b="0" lang="en-US">
                <a:solidFill>
                  <a:srgbClr val="434343"/>
                </a:solidFill>
                <a:latin typeface="Arial"/>
              </a:rPr>
              <a:t>Source: J. Figuera, Notarized Agents, arXiv:2606.04193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0" name="Rounded Rectangle 9"/>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2" name="TextBox 11"/>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3" name="Rectangle 12"/>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15" name="Rounded Rectangle 14"/>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17" name="TextBox 16"/>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18" name="Rectangle 17"/>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0" name="Rounded Rectangle 19"/>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2" name="TextBox 21"/>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3" name="Rectangle 22"/>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25" name="Rectangle 24"/>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3" name="Oval 12"/>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15" name="TextBox 14"/>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16" name="TextBox 15"/>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17" name="Oval 16"/>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19" name="TextBox 18"/>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0" name="TextBox 19"/>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1" name="Oval 20"/>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3" name="TextBox 22"/>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4" name="TextBox 23"/>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25" name="Oval 24"/>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27" name="TextBox 26"/>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28" name="TextBox 27"/>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29" name="Oval 28"/>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1" name="TextBox 30"/>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2" name="TextBox 31"/>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3" name="Rectangle 32"/>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authoritative end-to-end Phala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TIER-1 CAPACITY ALLOCATION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15" name="TextBox 14"/>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16" name="Oval 15"/>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18" name="TextBox 17"/>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19" name="Oval 18"/>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1" name="TextBox 20"/>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2" name="Oval 21"/>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4" name="TextBox 23"/>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25" name="Oval 24"/>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27" name="TextBox 26"/>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28" name="Oval 27"/>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1</a:t>
            </a:r>
          </a:p>
        </p:txBody>
      </p:sp>
      <p:sp>
        <p:nvSpPr>
          <p:cNvPr id="30" name="TextBox 29"/>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RECOVERED GAP</a:t>
            </a:r>
          </a:p>
        </p:txBody>
      </p:sp>
      <p:sp>
        <p:nvSpPr>
          <p:cNvPr id="31" name="Rounded Rectangle 30"/>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3" name="TextBox 32"/>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14 min 20.87 s</a:t>
            </a:r>
          </a:p>
        </p:txBody>
      </p:sp>
      <p:sp>
        <p:nvSpPr>
          <p:cNvPr id="34" name="TextBox 33"/>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37.43 s mean evaluation interval</a:t>
            </a:r>
          </a:p>
        </p:txBody>
      </p:sp>
      <p:sp>
        <p:nvSpPr>
          <p:cNvPr id="35" name="Rounded Rectangle 34"/>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37" name="TextBox 36"/>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5.218 ms</a:t>
            </a:r>
          </a:p>
        </p:txBody>
      </p:sp>
      <p:sp>
        <p:nvSpPr>
          <p:cNvPr id="38" name="TextBox 37"/>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39" name="Rounded Rectangle 38"/>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1" name="TextBox 40"/>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617,350,840 gas</a:t>
            </a:r>
          </a:p>
        </p:txBody>
      </p:sp>
      <p:sp>
        <p:nvSpPr>
          <p:cNvPr id="42" name="TextBox 41"/>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472,618,555 gas</a:t>
            </a:r>
          </a:p>
        </p:txBody>
      </p:sp>
      <p:sp>
        <p:nvSpPr>
          <p:cNvPr id="43" name="Rounded Rectangle 42"/>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45" name="TextBox 44"/>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46" name="Rounded Rectangle 45"/>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48" name="TextBox 47"/>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49" name="Rounded Rectangle 48"/>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1" name="TextBox 50"/>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ONE PHALA TRAJECTORY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0" name="TextBox 9"/>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0.313 at global round 18</a:t>
            </a:r>
          </a:p>
        </p:txBody>
      </p:sp>
      <p:sp>
        <p:nvSpPr>
          <p:cNvPr id="11" name="Rectangle 10"/>
          <p:cNvSpPr/>
          <p:nvPr/>
        </p:nvSpPr>
        <p:spPr>
          <a:xfrm>
            <a:off x="3005195" y="2011680"/>
            <a:ext cx="794335" cy="722376"/>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4" name="Connector 13"/>
          <p:cNvCxnSpPr/>
          <p:nvPr/>
        </p:nvCxnSpPr>
        <p:spPr>
          <a:xfrm>
            <a:off x="886968" y="253704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48056" y="24638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16" name="Connector 15"/>
          <p:cNvCxnSpPr/>
          <p:nvPr/>
        </p:nvCxnSpPr>
        <p:spPr>
          <a:xfrm>
            <a:off x="886968" y="234003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 y="22668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18" name="Connector 17"/>
          <p:cNvCxnSpPr/>
          <p:nvPr/>
        </p:nvCxnSpPr>
        <p:spPr>
          <a:xfrm>
            <a:off x="886968" y="2143021"/>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48056" y="206986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sp>
        <p:nvSpPr>
          <p:cNvPr id="20" name="TextBox 19"/>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1" name="Connector 20"/>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3" name="Connector 22"/>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5" name="Connector 24"/>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7" name="Connector 26"/>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9" name="Connector 28"/>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1" name="Connector 30"/>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86968" y="2103916"/>
            <a:ext cx="132389" cy="30136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19357" y="2386577"/>
            <a:ext cx="132389" cy="1870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51746" y="2386577"/>
            <a:ext cx="132389" cy="14752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284135" y="2534098"/>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416524" y="2532862"/>
            <a:ext cx="132390" cy="1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548914" y="2532862"/>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681303" y="2513727"/>
            <a:ext cx="132389" cy="1913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813692" y="2513727"/>
            <a:ext cx="132389" cy="168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946081" y="2443680"/>
            <a:ext cx="132389" cy="717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2078470" y="2426901"/>
            <a:ext cx="132390" cy="167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210860" y="2426901"/>
            <a:ext cx="132389" cy="294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2343249" y="2456358"/>
            <a:ext cx="132389" cy="11416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475638" y="2559202"/>
            <a:ext cx="132389" cy="1132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2608027" y="2559202"/>
            <a:ext cx="132390" cy="153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2740417" y="2511197"/>
            <a:ext cx="132389" cy="6335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2872806" y="2511197"/>
            <a:ext cx="132389" cy="13788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005195"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137584"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269973" y="2649085"/>
            <a:ext cx="132390"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3402363"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534752"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667141"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3799530" y="2548140"/>
            <a:ext cx="132390" cy="1009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45819" y="206276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3890772" y="2506992"/>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3023483" y="2020824"/>
            <a:ext cx="757759" cy="201168"/>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23483" y="2043684"/>
            <a:ext cx="757759" cy="146304"/>
          </a:xfrm>
          <a:prstGeom prst="rect">
            <a:avLst/>
          </a:prstGeom>
          <a:noFill/>
        </p:spPr>
        <p:txBody>
          <a:bodyPr wrap="square" lIns="0" rIns="0" tIns="0" bIns="0" anchor="ctr">
            <a:spAutoFit/>
          </a:bodyPr>
          <a:lstStyle/>
          <a:p>
            <a:pPr algn="ctr"/>
            <a:r>
              <a:rPr sz="570" b="1" lang="en-US">
                <a:solidFill>
                  <a:srgbClr val="FF6C00"/>
                </a:solidFill>
                <a:latin typeface="Arial"/>
              </a:rPr>
              <a:t>PARENT FALLBACK</a:t>
            </a:r>
          </a:p>
        </p:txBody>
      </p:sp>
      <p:sp>
        <p:nvSpPr>
          <p:cNvPr id="60" name="Rounded Rectangle 59"/>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62" name="TextBox 61"/>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0.710 at global round 11</a:t>
            </a:r>
          </a:p>
        </p:txBody>
      </p:sp>
      <p:sp>
        <p:nvSpPr>
          <p:cNvPr id="63" name="Rectangle 62"/>
          <p:cNvSpPr/>
          <p:nvPr/>
        </p:nvSpPr>
        <p:spPr>
          <a:xfrm>
            <a:off x="6836531" y="2011680"/>
            <a:ext cx="794335" cy="722376"/>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Connector 63"/>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6" name="Connector 65"/>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68" name="Connector 67"/>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70" name="Connector 69"/>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72" name="TextBox 71"/>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73" name="Connector 72"/>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5" name="Connector 74"/>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77" name="Connector 76"/>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79" name="Connector 78"/>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0" name="TextBox 79"/>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81" name="Connector 80"/>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83" name="Connector 82"/>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87" name="Connector 86"/>
          <p:cNvCxnSpPr/>
          <p:nvPr/>
        </p:nvCxnSpPr>
        <p:spPr>
          <a:xfrm flipV="1">
            <a:off x="4718304" y="2174208"/>
            <a:ext cx="132389" cy="7126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4850693" y="2124080"/>
            <a:ext cx="132389" cy="501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4983082" y="2117140"/>
            <a:ext cx="132389" cy="694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5115471" y="2117140"/>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5247860" y="2117140"/>
            <a:ext cx="132390" cy="566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5380250" y="2122805"/>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5512639" y="2098710"/>
            <a:ext cx="132389" cy="2409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5645028" y="2086115"/>
            <a:ext cx="132389" cy="1259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5777417" y="2069395"/>
            <a:ext cx="132389" cy="1672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5909806" y="2069395"/>
            <a:ext cx="132390" cy="8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6042196" y="2077201"/>
            <a:ext cx="132389" cy="103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6174585" y="2077201"/>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V="1">
            <a:off x="6306974" y="2084466"/>
            <a:ext cx="132389" cy="121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V="1">
            <a:off x="6439363" y="2071091"/>
            <a:ext cx="132390" cy="1337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571753" y="2071091"/>
            <a:ext cx="132389" cy="911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704142" y="2080203"/>
            <a:ext cx="132389" cy="145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836531"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968920"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7101309" y="2094766"/>
            <a:ext cx="132390"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a:off x="7233699"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a:off x="7366088"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a:off x="7498477"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V="1">
            <a:off x="7630866" y="2086326"/>
            <a:ext cx="132390" cy="844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10" name="Oval 109"/>
          <p:cNvSpPr/>
          <p:nvPr/>
        </p:nvSpPr>
        <p:spPr>
          <a:xfrm>
            <a:off x="4677156" y="2204321"/>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7722108" y="204517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Rectangle 111"/>
          <p:cNvSpPr/>
          <p:nvPr/>
        </p:nvSpPr>
        <p:spPr>
          <a:xfrm>
            <a:off x="6854819" y="2020824"/>
            <a:ext cx="757759" cy="201168"/>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6854819" y="2043684"/>
            <a:ext cx="757759" cy="146304"/>
          </a:xfrm>
          <a:prstGeom prst="rect">
            <a:avLst/>
          </a:prstGeom>
          <a:noFill/>
        </p:spPr>
        <p:txBody>
          <a:bodyPr wrap="square" lIns="0" rIns="0" tIns="0" bIns="0" anchor="ctr">
            <a:spAutoFit/>
          </a:bodyPr>
          <a:lstStyle/>
          <a:p>
            <a:pPr algn="ctr"/>
            <a:r>
              <a:rPr sz="570" b="1" lang="en-US">
                <a:solidFill>
                  <a:srgbClr val="FF6C00"/>
                </a:solidFill>
                <a:latin typeface="Arial"/>
              </a:rPr>
              <a:t>PARENT FALLBACK</a:t>
            </a:r>
          </a:p>
        </p:txBody>
      </p:sp>
      <p:sp>
        <p:nvSpPr>
          <p:cNvPr id="114" name="Rounded Rectangle 113"/>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6" name="TextBox 115"/>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0.187 at global round 18</a:t>
            </a:r>
          </a:p>
        </p:txBody>
      </p:sp>
      <p:sp>
        <p:nvSpPr>
          <p:cNvPr id="117" name="Rectangle 116"/>
          <p:cNvSpPr/>
          <p:nvPr/>
        </p:nvSpPr>
        <p:spPr>
          <a:xfrm>
            <a:off x="10667867" y="2011680"/>
            <a:ext cx="794335" cy="722376"/>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8" name="Connector 117"/>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20" name="Connector 119"/>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22" name="Connector 121"/>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24" name="TextBox 123"/>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25" name="Connector 124"/>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6" name="TextBox 125"/>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7" name="Connector 126"/>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8" name="TextBox 127"/>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9" name="Connector 128"/>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0" name="TextBox 129"/>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31" name="Connector 130"/>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2" name="TextBox 131"/>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33" name="Connector 132"/>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35" name="Connector 134"/>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8549640" y="2388300"/>
            <a:ext cx="132389" cy="1995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8682029" y="2333785"/>
            <a:ext cx="132389" cy="2540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8814418" y="2333785"/>
            <a:ext cx="132389" cy="8407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a:off x="8946807" y="2417859"/>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V="1">
            <a:off x="9079196" y="2360540"/>
            <a:ext cx="132390" cy="5731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a:off x="9211586" y="2360540"/>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9343975" y="2360540"/>
            <a:ext cx="132389" cy="6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9476364" y="2361145"/>
            <a:ext cx="132389" cy="1905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9608753" y="2284538"/>
            <a:ext cx="132389" cy="9565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9741142" y="2284538"/>
            <a:ext cx="132390" cy="534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flipV="1">
            <a:off x="9873532" y="2229929"/>
            <a:ext cx="132389" cy="599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0005921" y="2229929"/>
            <a:ext cx="132389" cy="3071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flipV="1">
            <a:off x="10138310" y="2190557"/>
            <a:ext cx="132389" cy="7009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0270699" y="2190557"/>
            <a:ext cx="132390" cy="16927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0403089" y="2359827"/>
            <a:ext cx="132389" cy="5227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flipV="1">
            <a:off x="10535478" y="2171437"/>
            <a:ext cx="132389" cy="24066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10667867"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10800256"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10932645" y="2171437"/>
            <a:ext cx="132390"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11065035"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11197424"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11329813"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11462202" y="2171437"/>
            <a:ext cx="132390" cy="2434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60" name="Oval 159"/>
          <p:cNvSpPr/>
          <p:nvPr/>
        </p:nvSpPr>
        <p:spPr>
          <a:xfrm>
            <a:off x="8508492" y="2347152"/>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Oval 160"/>
          <p:cNvSpPr/>
          <p:nvPr/>
        </p:nvSpPr>
        <p:spPr>
          <a:xfrm>
            <a:off x="11553444" y="2154633"/>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10686155" y="2020824"/>
            <a:ext cx="757759" cy="201168"/>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10686155" y="2043684"/>
            <a:ext cx="757759" cy="146304"/>
          </a:xfrm>
          <a:prstGeom prst="rect">
            <a:avLst/>
          </a:prstGeom>
          <a:noFill/>
        </p:spPr>
        <p:txBody>
          <a:bodyPr wrap="square" lIns="0" rIns="0" tIns="0" bIns="0" anchor="ctr">
            <a:spAutoFit/>
          </a:bodyPr>
          <a:lstStyle/>
          <a:p>
            <a:pPr algn="ctr"/>
            <a:r>
              <a:rPr sz="570" b="1" lang="en-US">
                <a:solidFill>
                  <a:srgbClr val="FF6C00"/>
                </a:solidFill>
                <a:latin typeface="Arial"/>
              </a:rPr>
              <a:t>PARENT FALLBACK</a:t>
            </a:r>
          </a:p>
        </p:txBody>
      </p:sp>
      <p:sp>
        <p:nvSpPr>
          <p:cNvPr id="164" name="Rounded Rectangle 163"/>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66" name="TextBox 165"/>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86.73% · interpret with the baseline</a:t>
            </a:r>
          </a:p>
        </p:txBody>
      </p:sp>
      <p:sp>
        <p:nvSpPr>
          <p:cNvPr id="167" name="Rectangle 166"/>
          <p:cNvSpPr/>
          <p:nvPr/>
        </p:nvSpPr>
        <p:spPr>
          <a:xfrm>
            <a:off x="4678945" y="4151376"/>
            <a:ext cx="1044801" cy="758952"/>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8" name="Connector 167"/>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9" name="TextBox 168"/>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70" name="Connector 169"/>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1" name="TextBox 170"/>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72" name="Connector 171"/>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3" name="TextBox 172"/>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74" name="Connector 173"/>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75" name="TextBox 174"/>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76" name="TextBox 175"/>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77" name="Connector 176"/>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8" name="TextBox 177"/>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79" name="Connector 178"/>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0" name="TextBox 179"/>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81" name="Connector 180"/>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2" name="TextBox 181"/>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83" name="Connector 182"/>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4" name="TextBox 183"/>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85" name="Connector 184"/>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86" name="TextBox 185"/>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87" name="Connector 186"/>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a:off x="1892808" y="4292868"/>
            <a:ext cx="174133" cy="26840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2066941" y="4508104"/>
            <a:ext cx="174134" cy="5316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V="1">
            <a:off x="2241075" y="4393988"/>
            <a:ext cx="174133" cy="11411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a:off x="2415208" y="4393988"/>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2589342" y="4393988"/>
            <a:ext cx="174133" cy="62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a:off x="2763475" y="4400271"/>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2937609" y="4400271"/>
            <a:ext cx="174133" cy="17259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V="1">
            <a:off x="3111742" y="4492853"/>
            <a:ext cx="174134" cy="8001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3285876" y="4492853"/>
            <a:ext cx="174134" cy="17683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460010" y="4669692"/>
            <a:ext cx="174133" cy="12158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flipV="1">
            <a:off x="3634143" y="4742887"/>
            <a:ext cx="174134" cy="4838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flipV="1">
            <a:off x="3808277" y="4609814"/>
            <a:ext cx="174133" cy="1330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982410" y="4609814"/>
            <a:ext cx="174134" cy="4183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flipV="1">
            <a:off x="4156544" y="4551172"/>
            <a:ext cx="174133" cy="10047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4330677" y="4551172"/>
            <a:ext cx="174134" cy="22264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flipV="1">
            <a:off x="4504811" y="4513205"/>
            <a:ext cx="174134" cy="260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678945" y="4513205"/>
            <a:ext cx="174133"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853078" y="4513205"/>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a:off x="5027212" y="4513205"/>
            <a:ext cx="174133"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a:off x="5201345" y="4513205"/>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a:off x="5375479" y="4513205"/>
            <a:ext cx="174133"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a:off x="5549612" y="4513205"/>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a:off x="5723746" y="4513205"/>
            <a:ext cx="174134" cy="19010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12" name="Oval 211"/>
          <p:cNvSpPr/>
          <p:nvPr/>
        </p:nvSpPr>
        <p:spPr>
          <a:xfrm>
            <a:off x="1851660" y="4251720"/>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Oval 212"/>
          <p:cNvSpPr/>
          <p:nvPr/>
        </p:nvSpPr>
        <p:spPr>
          <a:xfrm>
            <a:off x="5856732" y="4662161"/>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Rectangle 213"/>
          <p:cNvSpPr/>
          <p:nvPr/>
        </p:nvSpPr>
        <p:spPr>
          <a:xfrm>
            <a:off x="4697233" y="4160520"/>
            <a:ext cx="1008225" cy="201168"/>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TextBox 214"/>
          <p:cNvSpPr txBox="1"/>
          <p:nvPr/>
        </p:nvSpPr>
        <p:spPr>
          <a:xfrm>
            <a:off x="4697233" y="4183380"/>
            <a:ext cx="1008225" cy="146304"/>
          </a:xfrm>
          <a:prstGeom prst="rect">
            <a:avLst/>
          </a:prstGeom>
          <a:noFill/>
        </p:spPr>
        <p:txBody>
          <a:bodyPr wrap="square" lIns="0" rIns="0" tIns="0" bIns="0" anchor="ctr">
            <a:spAutoFit/>
          </a:bodyPr>
          <a:lstStyle/>
          <a:p>
            <a:pPr algn="ctr"/>
            <a:r>
              <a:rPr sz="570" b="1" lang="en-US">
                <a:solidFill>
                  <a:srgbClr val="FF6C00"/>
                </a:solidFill>
                <a:latin typeface="Arial"/>
              </a:rPr>
              <a:t>PARENT FALLBACK</a:t>
            </a:r>
          </a:p>
        </p:txBody>
      </p:sp>
      <p:sp>
        <p:nvSpPr>
          <p:cNvPr id="216" name="Rounded Rectangle 215"/>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TextBox 216"/>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18" name="TextBox 217"/>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31.92% · final 29.80%</a:t>
            </a:r>
          </a:p>
        </p:txBody>
      </p:sp>
      <p:sp>
        <p:nvSpPr>
          <p:cNvPr id="219" name="Rectangle 218"/>
          <p:cNvSpPr/>
          <p:nvPr/>
        </p:nvSpPr>
        <p:spPr>
          <a:xfrm>
            <a:off x="9461257" y="4151376"/>
            <a:ext cx="1044801" cy="758952"/>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0" name="Connector 219"/>
          <p:cNvCxnSpPr/>
          <p:nvPr/>
        </p:nvCxnSpPr>
        <p:spPr>
          <a:xfrm>
            <a:off x="6675120"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6236208"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22" name="Connector 221"/>
          <p:cNvCxnSpPr/>
          <p:nvPr/>
        </p:nvCxnSpPr>
        <p:spPr>
          <a:xfrm>
            <a:off x="6675120"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3" name="TextBox 222"/>
          <p:cNvSpPr txBox="1"/>
          <p:nvPr/>
        </p:nvSpPr>
        <p:spPr>
          <a:xfrm>
            <a:off x="6236208"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24" name="Connector 223"/>
          <p:cNvCxnSpPr/>
          <p:nvPr/>
        </p:nvCxnSpPr>
        <p:spPr>
          <a:xfrm>
            <a:off x="6675120" y="440436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6236208" y="43312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26" name="Connector 225"/>
          <p:cNvCxnSpPr/>
          <p:nvPr/>
        </p:nvCxnSpPr>
        <p:spPr>
          <a:xfrm>
            <a:off x="6675120" y="423570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6236208" y="416255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28" name="TextBox 227"/>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29" name="Connector 228"/>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0" name="TextBox 229"/>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31" name="Connector 230"/>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2" name="TextBox 231"/>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33" name="Connector 232"/>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4" name="TextBox 233"/>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35" name="Connector 234"/>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6" name="TextBox 235"/>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37" name="Connector 236"/>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8" name="TextBox 237"/>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39" name="Connector 238"/>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a:off x="6675120" y="4713696"/>
            <a:ext cx="174133" cy="5676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flipV="1">
            <a:off x="6849253" y="4428004"/>
            <a:ext cx="174134" cy="342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7023387" y="4242304"/>
            <a:ext cx="174133" cy="18570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7197520" y="4242304"/>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7371654" y="4242304"/>
            <a:ext cx="174133" cy="2067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7545787" y="4262980"/>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7719921" y="4262980"/>
            <a:ext cx="174133" cy="15487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flipV="1">
            <a:off x="7894054" y="4300947"/>
            <a:ext cx="174134" cy="1169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8068188" y="4300947"/>
            <a:ext cx="174134" cy="27140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8242322" y="4572354"/>
            <a:ext cx="174133" cy="14510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1" name="Connector 250"/>
          <p:cNvCxnSpPr/>
          <p:nvPr/>
        </p:nvCxnSpPr>
        <p:spPr>
          <a:xfrm flipV="1">
            <a:off x="8416455" y="4635131"/>
            <a:ext cx="174134" cy="82324"/>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2" name="Connector 251"/>
          <p:cNvCxnSpPr/>
          <p:nvPr/>
        </p:nvCxnSpPr>
        <p:spPr>
          <a:xfrm flipV="1">
            <a:off x="8590589" y="4582128"/>
            <a:ext cx="174133" cy="5300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3" name="Connector 252"/>
          <p:cNvCxnSpPr/>
          <p:nvPr/>
        </p:nvCxnSpPr>
        <p:spPr>
          <a:xfrm>
            <a:off x="8764722" y="4582128"/>
            <a:ext cx="174134" cy="4811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4" name="Connector 253"/>
          <p:cNvCxnSpPr/>
          <p:nvPr/>
        </p:nvCxnSpPr>
        <p:spPr>
          <a:xfrm flipV="1">
            <a:off x="8938856" y="4328012"/>
            <a:ext cx="174133" cy="30223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5" name="Connector 254"/>
          <p:cNvCxnSpPr/>
          <p:nvPr/>
        </p:nvCxnSpPr>
        <p:spPr>
          <a:xfrm>
            <a:off x="9112989" y="4328012"/>
            <a:ext cx="174134" cy="276294"/>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6" name="Connector 255"/>
          <p:cNvCxnSpPr/>
          <p:nvPr/>
        </p:nvCxnSpPr>
        <p:spPr>
          <a:xfrm flipV="1">
            <a:off x="9287123" y="4346432"/>
            <a:ext cx="174134" cy="257874"/>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7" name="Connector 256"/>
          <p:cNvCxnSpPr/>
          <p:nvPr/>
        </p:nvCxnSpPr>
        <p:spPr>
          <a:xfrm>
            <a:off x="9461257" y="4346432"/>
            <a:ext cx="174133"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8" name="Connector 257"/>
          <p:cNvCxnSpPr/>
          <p:nvPr/>
        </p:nvCxnSpPr>
        <p:spPr>
          <a:xfrm>
            <a:off x="9635390" y="4346432"/>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9" name="Connector 258"/>
          <p:cNvCxnSpPr/>
          <p:nvPr/>
        </p:nvCxnSpPr>
        <p:spPr>
          <a:xfrm>
            <a:off x="9809524" y="4346432"/>
            <a:ext cx="174133"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0" name="Connector 259"/>
          <p:cNvCxnSpPr/>
          <p:nvPr/>
        </p:nvCxnSpPr>
        <p:spPr>
          <a:xfrm>
            <a:off x="9983657" y="4346432"/>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1" name="Connector 260"/>
          <p:cNvCxnSpPr/>
          <p:nvPr/>
        </p:nvCxnSpPr>
        <p:spPr>
          <a:xfrm>
            <a:off x="10157791" y="4346432"/>
            <a:ext cx="174133"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2" name="Connector 261"/>
          <p:cNvCxnSpPr/>
          <p:nvPr/>
        </p:nvCxnSpPr>
        <p:spPr>
          <a:xfrm>
            <a:off x="10331924" y="4346432"/>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63" name="Connector 262"/>
          <p:cNvCxnSpPr/>
          <p:nvPr/>
        </p:nvCxnSpPr>
        <p:spPr>
          <a:xfrm>
            <a:off x="10506058" y="4346432"/>
            <a:ext cx="174134" cy="75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64" name="Oval 263"/>
          <p:cNvSpPr/>
          <p:nvPr/>
        </p:nvSpPr>
        <p:spPr>
          <a:xfrm>
            <a:off x="6633972" y="4672548"/>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Oval 264"/>
          <p:cNvSpPr/>
          <p:nvPr/>
        </p:nvSpPr>
        <p:spPr>
          <a:xfrm>
            <a:off x="10639044" y="438046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Rectangle 265"/>
          <p:cNvSpPr/>
          <p:nvPr/>
        </p:nvSpPr>
        <p:spPr>
          <a:xfrm>
            <a:off x="9479545" y="4160520"/>
            <a:ext cx="1008225" cy="201168"/>
          </a:xfrm>
          <a:prstGeom prst="rect">
            <a:avLst/>
          </a:prstGeom>
          <a:solidFill>
            <a:srgbClr val="FFF1E7"/>
          </a:solidFill>
          <a:ln w="2540">
            <a:solidFill>
              <a:srgbClr val="FFF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TextBox 266"/>
          <p:cNvSpPr txBox="1"/>
          <p:nvPr/>
        </p:nvSpPr>
        <p:spPr>
          <a:xfrm>
            <a:off x="9479545" y="4183380"/>
            <a:ext cx="1008225" cy="146304"/>
          </a:xfrm>
          <a:prstGeom prst="rect">
            <a:avLst/>
          </a:prstGeom>
          <a:noFill/>
        </p:spPr>
        <p:txBody>
          <a:bodyPr wrap="square" lIns="0" rIns="0" tIns="0" bIns="0" anchor="ctr">
            <a:spAutoFit/>
          </a:bodyPr>
          <a:lstStyle/>
          <a:p>
            <a:pPr algn="ctr"/>
            <a:r>
              <a:rPr sz="570" b="1" lang="en-US">
                <a:solidFill>
                  <a:srgbClr val="FF6C00"/>
                </a:solidFill>
                <a:latin typeface="Arial"/>
              </a:rPr>
              <a:t>PARENT FALLBACK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CHESTMNIST IS STRONGLY IMBALANCED; ACCURACY REWARDS NEGATIVES, AUROC AND F1 EXPOSE LEARNING QUALITY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9" name="Rectangle 8"/>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2" name="TextBox 11"/>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3" name="TextBox 12"/>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4" name="TextBox 13"/>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15" name="TextBox 14"/>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16" name="TextBox 15"/>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17" name="TextBox 16"/>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18" name="Rectangle 17"/>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0" name="TextBox 19"/>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1" name="TextBox 20"/>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86.73%</a:t>
            </a:r>
          </a:p>
        </p:txBody>
      </p:sp>
      <p:sp>
        <p:nvSpPr>
          <p:cNvPr id="22" name="Rectangle 21"/>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4" name="TextBox 23"/>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25" name="TextBox 24"/>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29.80%</a:t>
            </a:r>
          </a:p>
        </p:txBody>
      </p:sp>
      <p:sp>
        <p:nvSpPr>
          <p:cNvPr id="26" name="Rectangle 25"/>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28" name="TextBox 27"/>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29" name="TextBox 28"/>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0.185</a:t>
            </a:r>
          </a:p>
        </p:txBody>
      </p:sp>
      <p:sp>
        <p:nvSpPr>
          <p:cNvPr id="30" name="Rectangle 29"/>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2" name="TextBox 31"/>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3" name="TextBox 32"/>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0.704</a:t>
            </a:r>
          </a:p>
        </p:txBody>
      </p:sp>
      <p:sp>
        <p:nvSpPr>
          <p:cNvPr id="34" name="Rounded Rectangle 33"/>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36" name="Oval 35"/>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38" name="TextBox 37"/>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39" name="Oval 38"/>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1" name="TextBox 40"/>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2" name="Oval 41"/>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4" name="TextBox 43"/>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45" name="Oval 44"/>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7" name="TextBox 46"/>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48" name="Rounded Rectangle 47"/>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0.704 shows ranking signal, while F1 0.185 calls for label-specific threshold calibration.</a:t>
            </a:r>
          </a:p>
        </p:txBody>
      </p:sp>
      <p:sp>
        <p:nvSpPr>
          <p:cNvPr id="50" name="Rectangle 49"/>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9" name="TextBox 8"/>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0" name="TextBox 9"/>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1" name="TextBox 10"/>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2" name="TextBox 11"/>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3" name="Connector 12"/>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17" name="TextBox 16"/>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18" name="TextBox 17"/>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19" name="Oval 18"/>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1" name="TextBox 20"/>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2" name="TextBox 21"/>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selection + atomic handoff</a:t>
            </a:r>
          </a:p>
        </p:txBody>
      </p:sp>
      <p:sp>
        <p:nvSpPr>
          <p:cNvPr id="23" name="Oval 22"/>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5" name="TextBox 24"/>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26" name="TextBox 25"/>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27" name="Oval 26"/>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29" name="TextBox 28"/>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0" name="Oval 29"/>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2" name="TextBox 31"/>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3" name="TextBox 32"/>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4" name="Oval 33"/>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6" name="TextBox 35"/>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37" name="TextBox 36"/>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38" name="Oval 37"/>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0" name="TextBox 39"/>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1" name="TextBox 40"/>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2" name="TextBox 41"/>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3" name="Rectangle 42"/>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One worker image—two authorized measured roles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PER-WORKER RTMR3 REPLAY AND SEPARATE POLICY AUTHORIZATION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081528" y="1307592"/>
            <a:ext cx="6035040"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19272" y="1499616"/>
            <a:ext cx="5559552" cy="228600"/>
          </a:xfrm>
          <a:prstGeom prst="rect">
            <a:avLst/>
          </a:prstGeom>
          <a:noFill/>
        </p:spPr>
        <p:txBody>
          <a:bodyPr wrap="square" lIns="18288" rIns="18288" tIns="18288" bIns="18288" anchor="t">
            <a:spAutoFit/>
          </a:bodyPr>
          <a:lstStyle/>
          <a:p>
            <a:pPr algn="ctr"/>
            <a:r>
              <a:rPr sz="1420" b="1" lang="en-US">
                <a:solidFill>
                  <a:srgbClr val="C40D1E"/>
                </a:solidFill>
                <a:latin typeface="Arial"/>
              </a:rPr>
              <a:t>ONE DIGEST-PINNED dfl-worker IMAGE</a:t>
            </a:r>
          </a:p>
        </p:txBody>
      </p:sp>
      <p:sp>
        <p:nvSpPr>
          <p:cNvPr id="10" name="TextBox 9"/>
          <p:cNvSpPr txBox="1"/>
          <p:nvPr/>
        </p:nvSpPr>
        <p:spPr>
          <a:xfrm>
            <a:off x="3410712" y="1746504"/>
            <a:ext cx="5376672"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The packaged image contains both training and native inference code.</a:t>
            </a:r>
          </a:p>
        </p:txBody>
      </p:sp>
      <p:cxnSp>
        <p:nvCxnSpPr>
          <p:cNvPr id="11" name="Connector 10"/>
          <p:cNvCxnSpPr/>
          <p:nvPr/>
        </p:nvCxnSpPr>
        <p:spPr>
          <a:xfrm>
            <a:off x="6099048" y="2002536"/>
            <a:ext cx="0" cy="219456"/>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36392" y="2221992"/>
            <a:ext cx="5925312" cy="0"/>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6392" y="2221992"/>
            <a:ext cx="0" cy="210312"/>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61704" y="2221992"/>
            <a:ext cx="0" cy="210312"/>
          </a:xfrm>
          <a:prstGeom prst="line">
            <a:avLst/>
          </a:prstGeom>
          <a:ln w="2032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03504" y="2487168"/>
            <a:ext cx="5193792" cy="197510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2706624"/>
            <a:ext cx="4791456" cy="256032"/>
          </a:xfrm>
          <a:prstGeom prst="rect">
            <a:avLst/>
          </a:prstGeom>
          <a:noFill/>
        </p:spPr>
        <p:txBody>
          <a:bodyPr wrap="square" lIns="18288" rIns="18288" tIns="18288" bIns="18288" anchor="t">
            <a:spAutoFit/>
          </a:bodyPr>
          <a:lstStyle/>
          <a:p>
            <a:pPr algn="ctr"/>
            <a:r>
              <a:rPr sz="1500" b="1" lang="en-US">
                <a:solidFill>
                  <a:srgbClr val="1F90CC"/>
                </a:solidFill>
                <a:latin typeface="Arial"/>
              </a:rPr>
              <a:t>WORKERS 1–5</a:t>
            </a:r>
          </a:p>
        </p:txBody>
      </p:sp>
      <p:sp>
        <p:nvSpPr>
          <p:cNvPr id="17" name="TextBox 16"/>
          <p:cNvSpPr txBox="1"/>
          <p:nvPr/>
        </p:nvSpPr>
        <p:spPr>
          <a:xfrm>
            <a:off x="804672"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TRAINING-ONLY PROFILE</a:t>
            </a:r>
          </a:p>
        </p:txBody>
      </p:sp>
      <p:sp>
        <p:nvSpPr>
          <p:cNvPr id="18" name="TextBox 17"/>
          <p:cNvSpPr txBox="1"/>
          <p:nvPr/>
        </p:nvSpPr>
        <p:spPr>
          <a:xfrm>
            <a:off x="905256"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00" lang="en-US">
                <a:solidFill>
                  <a:srgbClr val="434343"/>
                </a:solidFill>
                <a:latin typeface="Arial"/>
              </a:rPr>
              <a:t>TEE_INFERENCE_ENABLED = 0</a:t>
            </a:r>
          </a:p>
          <a:p>
            <a:pPr>
              <a:lnSpc>
                <a:spcPct val="100000"/>
              </a:lnSpc>
              <a:spcAft>
                <a:spcPts val="300"/>
              </a:spcAft>
            </a:pPr>
            <a:r>
              <a:rPr sz="1000" lang="en-US">
                <a:solidFill>
                  <a:srgbClr val="1F90CC"/>
                </a:solidFill>
                <a:latin typeface="Arial"/>
              </a:rPr>
              <a:t>●  </a:t>
            </a:r>
            <a:r>
              <a:rPr sz="900" lang="en-US">
                <a:solidFill>
                  <a:srgbClr val="434343"/>
                </a:solidFill>
                <a:latin typeface="Arial"/>
              </a:rPr>
              <a:t>Inference process and endpoint are not started</a:t>
            </a:r>
          </a:p>
          <a:p>
            <a:pPr>
              <a:lnSpc>
                <a:spcPct val="100000"/>
              </a:lnSpc>
              <a:spcAft>
                <a:spcPts val="300"/>
              </a:spcAft>
            </a:pPr>
            <a:r>
              <a:rPr sz="1000" lang="en-US">
                <a:solidFill>
                  <a:srgbClr val="1F90CC"/>
                </a:solidFill>
                <a:latin typeface="Arial"/>
              </a:rPr>
              <a:t>●  </a:t>
            </a:r>
            <a:r>
              <a:rPr sz="900" lang="en-US">
                <a:solidFill>
                  <a:srgbClr val="434343"/>
                </a:solidFill>
                <a:latin typeface="Arial"/>
              </a:rPr>
              <a:t>Training-only policy-v2 identity</a:t>
            </a:r>
          </a:p>
          <a:p>
            <a:pPr>
              <a:lnSpc>
                <a:spcPct val="100000"/>
              </a:lnSpc>
              <a:spcAft>
                <a:spcPts val="300"/>
              </a:spcAft>
            </a:pPr>
            <a:r>
              <a:rPr sz="1000" lang="en-US">
                <a:solidFill>
                  <a:srgbClr val="1F90CC"/>
                </a:solidFill>
                <a:latin typeface="Arial"/>
              </a:rPr>
              <a:t>●  </a:t>
            </a:r>
            <a:r>
              <a:rPr sz="900" lang="en-US">
                <a:solidFill>
                  <a:srgbClr val="434343"/>
                </a:solidFill>
                <a:latin typeface="Arial"/>
              </a:rPr>
              <a:t>Worker-specific Compose, event log, Quote V4, and RTMR3</a:t>
            </a:r>
          </a:p>
        </p:txBody>
      </p:sp>
      <p:sp>
        <p:nvSpPr>
          <p:cNvPr id="19" name="Rounded Rectangle 18"/>
          <p:cNvSpPr/>
          <p:nvPr/>
        </p:nvSpPr>
        <p:spPr>
          <a:xfrm>
            <a:off x="6391656" y="2487168"/>
            <a:ext cx="5193792" cy="197510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2824" y="2706624"/>
            <a:ext cx="4791456" cy="256032"/>
          </a:xfrm>
          <a:prstGeom prst="rect">
            <a:avLst/>
          </a:prstGeom>
          <a:noFill/>
        </p:spPr>
        <p:txBody>
          <a:bodyPr wrap="square" lIns="18288" rIns="18288" tIns="18288" bIns="18288" anchor="t">
            <a:spAutoFit/>
          </a:bodyPr>
          <a:lstStyle/>
          <a:p>
            <a:pPr algn="ctr"/>
            <a:r>
              <a:rPr sz="1500" b="1" lang="en-US">
                <a:solidFill>
                  <a:srgbClr val="2F8F46"/>
                </a:solidFill>
                <a:latin typeface="Arial"/>
              </a:rPr>
              <a:t>WORKER 0</a:t>
            </a:r>
          </a:p>
        </p:txBody>
      </p:sp>
      <p:sp>
        <p:nvSpPr>
          <p:cNvPr id="21" name="TextBox 20"/>
          <p:cNvSpPr txBox="1"/>
          <p:nvPr/>
        </p:nvSpPr>
        <p:spPr>
          <a:xfrm>
            <a:off x="6592824"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COMBINED PROFILE</a:t>
            </a:r>
          </a:p>
        </p:txBody>
      </p:sp>
      <p:sp>
        <p:nvSpPr>
          <p:cNvPr id="22" name="TextBox 21"/>
          <p:cNvSpPr txBox="1"/>
          <p:nvPr/>
        </p:nvSpPr>
        <p:spPr>
          <a:xfrm>
            <a:off x="6693408"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2F8F46"/>
                </a:solidFill>
                <a:latin typeface="Arial"/>
              </a:rPr>
              <a:t>●  </a:t>
            </a:r>
            <a:r>
              <a:rPr sz="900" lang="en-US">
                <a:solidFill>
                  <a:srgbClr val="434343"/>
                </a:solidFill>
                <a:latin typeface="Arial"/>
              </a:rPr>
              <a:t>TEE_INFERENCE_ENABLED = 1</a:t>
            </a:r>
          </a:p>
          <a:p>
            <a:pPr>
              <a:lnSpc>
                <a:spcPct val="100000"/>
              </a:lnSpc>
              <a:spcAft>
                <a:spcPts val="300"/>
              </a:spcAft>
            </a:pPr>
            <a:r>
              <a:rPr sz="1000" lang="en-US">
                <a:solidFill>
                  <a:srgbClr val="2F8F46"/>
                </a:solidFill>
                <a:latin typeface="Arial"/>
              </a:rPr>
              <a:t>●  </a:t>
            </a:r>
            <a:r>
              <a:rPr sz="900" lang="en-US">
                <a:solidFill>
                  <a:srgbClr val="434343"/>
                </a:solidFill>
                <a:latin typeface="Arial"/>
              </a:rPr>
              <a:t>Receiver starts beside the DFL services in the same CVM</a:t>
            </a:r>
          </a:p>
          <a:p>
            <a:pPr>
              <a:lnSpc>
                <a:spcPct val="100000"/>
              </a:lnSpc>
              <a:spcAft>
                <a:spcPts val="300"/>
              </a:spcAft>
            </a:pPr>
            <a:r>
              <a:rPr sz="1000" lang="en-US">
                <a:solidFill>
                  <a:srgbClr val="2F8F46"/>
                </a:solidFill>
                <a:latin typeface="Arial"/>
              </a:rPr>
              <a:t>●  </a:t>
            </a:r>
            <a:r>
              <a:rPr sz="900" lang="en-US">
                <a:solidFill>
                  <a:srgbClr val="434343"/>
                </a:solidFill>
                <a:latin typeface="Arial"/>
              </a:rPr>
              <a:t>Combined training-and-inference policy-v2 identity</a:t>
            </a:r>
          </a:p>
          <a:p>
            <a:pPr>
              <a:lnSpc>
                <a:spcPct val="100000"/>
              </a:lnSpc>
              <a:spcAft>
                <a:spcPts val="300"/>
              </a:spcAft>
            </a:pPr>
            <a:r>
              <a:rPr sz="1000" lang="en-US">
                <a:solidFill>
                  <a:srgbClr val="2F8F46"/>
                </a:solidFill>
                <a:latin typeface="Arial"/>
              </a:rPr>
              <a:t>●  </a:t>
            </a:r>
            <a:r>
              <a:rPr sz="900" lang="en-US">
                <a:solidFill>
                  <a:srgbClr val="434343"/>
                </a:solidFill>
                <a:latin typeface="Arial"/>
              </a:rPr>
              <a:t>Its own Compose, event log, Quote V4, and RTMR3</a:t>
            </a:r>
          </a:p>
        </p:txBody>
      </p:sp>
      <p:sp>
        <p:nvSpPr>
          <p:cNvPr id="23" name="Rectangle 22"/>
          <p:cNvSpPr/>
          <p:nvPr/>
        </p:nvSpPr>
        <p:spPr>
          <a:xfrm>
            <a:off x="676656" y="4645152"/>
            <a:ext cx="6912864"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754880"/>
            <a:ext cx="1609344" cy="182880"/>
          </a:xfrm>
          <a:prstGeom prst="rect">
            <a:avLst/>
          </a:prstGeom>
          <a:noFill/>
        </p:spPr>
        <p:txBody>
          <a:bodyPr wrap="square" lIns="18288" rIns="18288" tIns="18288" bIns="18288" anchor="t">
            <a:spAutoFit/>
          </a:bodyPr>
          <a:lstStyle/>
          <a:p>
            <a:pPr algn="l"/>
            <a:r>
              <a:rPr sz="880" b="1" lang="en-US">
                <a:solidFill>
                  <a:srgbClr val="7A35B5"/>
                </a:solidFill>
                <a:latin typeface="Arial"/>
              </a:rPr>
              <a:t>PER-WORKER REPLAY</a:t>
            </a:r>
          </a:p>
        </p:txBody>
      </p:sp>
      <p:sp>
        <p:nvSpPr>
          <p:cNvPr id="25" name="TextBox 24"/>
          <p:cNvSpPr txBox="1"/>
          <p:nvPr/>
        </p:nvSpPr>
        <p:spPr>
          <a:xfrm>
            <a:off x="2423160" y="4727448"/>
            <a:ext cx="4956048" cy="237744"/>
          </a:xfrm>
          <a:prstGeom prst="rect">
            <a:avLst/>
          </a:prstGeom>
          <a:noFill/>
        </p:spPr>
        <p:txBody>
          <a:bodyPr wrap="square" lIns="18288" rIns="18288" tIns="18288" bIns="18288" anchor="ctr">
            <a:spAutoFit/>
          </a:bodyPr>
          <a:lstStyle/>
          <a:p>
            <a:pPr algn="ctr"/>
            <a:r>
              <a:rPr sz="869" b="1" lang="en-US">
                <a:solidFill>
                  <a:srgbClr val="434343"/>
                </a:solidFill>
                <a:latin typeface="Arial"/>
              </a:rPr>
              <a:t>Compose preimage → ordered events → reconstructed RTMR3 = quoted RTMR3</a:t>
            </a:r>
          </a:p>
        </p:txBody>
      </p:sp>
      <p:sp>
        <p:nvSpPr>
          <p:cNvPr id="26" name="Rectangle 25"/>
          <p:cNvSpPr/>
          <p:nvPr/>
        </p:nvSpPr>
        <p:spPr>
          <a:xfrm>
            <a:off x="7754112" y="4645152"/>
            <a:ext cx="3776472"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18704" y="4754880"/>
            <a:ext cx="1225296" cy="182880"/>
          </a:xfrm>
          <a:prstGeom prst="rect">
            <a:avLst/>
          </a:prstGeom>
          <a:noFill/>
        </p:spPr>
        <p:txBody>
          <a:bodyPr wrap="square" lIns="18288" rIns="18288" tIns="18288" bIns="18288" anchor="t">
            <a:spAutoFit/>
          </a:bodyPr>
          <a:lstStyle/>
          <a:p>
            <a:pPr algn="l"/>
            <a:r>
              <a:rPr sz="880" b="1" lang="en-US">
                <a:solidFill>
                  <a:srgbClr val="FF6C00"/>
                </a:solidFill>
                <a:latin typeface="Arial"/>
              </a:rPr>
              <a:t>AUTHORIZATION</a:t>
            </a:r>
          </a:p>
        </p:txBody>
      </p:sp>
      <p:sp>
        <p:nvSpPr>
          <p:cNvPr id="28" name="TextBox 27"/>
          <p:cNvSpPr txBox="1"/>
          <p:nvPr/>
        </p:nvSpPr>
        <p:spPr>
          <a:xfrm>
            <a:off x="9125712" y="4718304"/>
            <a:ext cx="2194560" cy="265176"/>
          </a:xfrm>
          <a:prstGeom prst="rect">
            <a:avLst/>
          </a:prstGeom>
          <a:noFill/>
        </p:spPr>
        <p:txBody>
          <a:bodyPr wrap="square" lIns="18288" rIns="18288" tIns="18288" bIns="18288" anchor="ctr">
            <a:spAutoFit/>
          </a:bodyPr>
          <a:lstStyle/>
          <a:p>
            <a:pPr algn="ctr"/>
            <a:r>
              <a:rPr sz="830" b="1" lang="en-US">
                <a:solidFill>
                  <a:srgbClr val="434343"/>
                </a:solidFill>
                <a:latin typeface="Arial"/>
              </a:rPr>
              <a:t>expected image digest + allowed role-policy hash</a:t>
            </a:r>
          </a:p>
        </p:txBody>
      </p:sp>
      <p:sp>
        <p:nvSpPr>
          <p:cNvPr id="29" name="Rectangle 28"/>
          <p:cNvSpPr/>
          <p:nvPr/>
        </p:nvSpPr>
        <p:spPr>
          <a:xfrm>
            <a:off x="932688" y="5340096"/>
            <a:ext cx="10341864" cy="384048"/>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431536"/>
            <a:ext cx="9976104" cy="201168"/>
          </a:xfrm>
          <a:prstGeom prst="rect">
            <a:avLst/>
          </a:prstGeom>
          <a:noFill/>
        </p:spPr>
        <p:txBody>
          <a:bodyPr wrap="square" lIns="18288" rIns="18288" tIns="18288" bIns="18288" anchor="ctr">
            <a:spAutoFit/>
          </a:bodyPr>
          <a:lstStyle/>
          <a:p>
            <a:pPr algn="ctr"/>
            <a:r>
              <a:rPr sz="1019" b="1" lang="en-US">
                <a:solidFill>
                  <a:srgbClr val="FFFFFF"/>
                </a:solidFill>
                <a:latin typeface="Arial"/>
              </a:rPr>
              <a:t>Different Compose and RTMR3 values may pass; an injected image or unapproved role misses the admitted policy.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0" name="Picture 9" descr="T1.png"/>
          <p:cNvPicPr>
            <a:picLocks noChangeAspect="1"/>
          </p:cNvPicPr>
          <p:nvPr/>
        </p:nvPicPr>
        <p:blipFill>
          <a:blip r:embed="rId2"/>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3" name="Picture 12" descr="T2.png"/>
          <p:cNvPicPr>
            <a:picLocks noChangeAspect="1"/>
          </p:cNvPicPr>
          <p:nvPr/>
        </p:nvPicPr>
        <p:blipFill>
          <a:blip r:embed="rId3"/>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16" name="Picture 15" descr="T3.png"/>
          <p:cNvPicPr>
            <a:picLocks noChangeAspect="1"/>
          </p:cNvPicPr>
          <p:nvPr/>
        </p:nvPicPr>
        <p:blipFill>
          <a:blip r:embed="rId4"/>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19" name="Picture 18" descr="T4.png"/>
          <p:cNvPicPr>
            <a:picLocks noChangeAspect="1"/>
          </p:cNvPicPr>
          <p:nvPr/>
        </p:nvPicPr>
        <p:blipFill>
          <a:blip r:embed="rId5"/>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2" name="Picture 21" descr="T5.png"/>
          <p:cNvPicPr>
            <a:picLocks noChangeAspect="1"/>
          </p:cNvPicPr>
          <p:nvPr/>
        </p:nvPicPr>
        <p:blipFill>
          <a:blip r:embed="rId6"/>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25" name="Picture 24" descr="T6.png"/>
          <p:cNvPicPr>
            <a:picLocks noChangeAspect="1"/>
          </p:cNvPicPr>
          <p:nvPr/>
        </p:nvPicPr>
        <p:blipFill>
          <a:blip r:embed="rId7"/>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28" name="Picture 27"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0" name="Picture 9" descr="T8.png"/>
          <p:cNvPicPr>
            <a:picLocks noChangeAspect="1"/>
          </p:cNvPicPr>
          <p:nvPr/>
        </p:nvPicPr>
        <p:blipFill>
          <a:blip r:embed="rId2"/>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3" name="Picture 12" descr="T9.png"/>
          <p:cNvPicPr>
            <a:picLocks noChangeAspect="1"/>
          </p:cNvPicPr>
          <p:nvPr/>
        </p:nvPicPr>
        <p:blipFill>
          <a:blip r:embed="rId3"/>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16" name="Picture 15" descr="T10.png"/>
          <p:cNvPicPr>
            <a:picLocks noChangeAspect="1"/>
          </p:cNvPicPr>
          <p:nvPr/>
        </p:nvPicPr>
        <p:blipFill>
          <a:blip r:embed="rId4"/>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19" name="Picture 18" descr="T11.png"/>
          <p:cNvPicPr>
            <a:picLocks noChangeAspect="1"/>
          </p:cNvPicPr>
          <p:nvPr/>
        </p:nvPicPr>
        <p:blipFill>
          <a:blip r:embed="rId5"/>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2" name="Picture 21" descr="T12.png"/>
          <p:cNvPicPr>
            <a:picLocks noChangeAspect="1"/>
          </p:cNvPicPr>
          <p:nvPr/>
        </p:nvPicPr>
        <p:blipFill>
          <a:blip r:embed="rId6"/>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25" name="Picture 24" descr="T13.png"/>
          <p:cNvPicPr>
            <a:picLocks noChangeAspect="1"/>
          </p:cNvPicPr>
          <p:nvPr/>
        </p:nvPicPr>
        <p:blipFill>
          <a:blip r:embed="rId7"/>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28" name="Picture 27"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