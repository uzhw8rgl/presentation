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40"/>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804" autoAdjust="0"/>
    <p:restoredTop sz="96327"/>
  </p:normalViewPr>
  <p:slideViewPr>
    <p:cSldViewPr snapToGrid="0" snapToObjects="1">
      <p:cViewPr varScale="1">
        <p:scale>
          <a:sx n="143" d="100"/>
          <a:sy n="143" d="100"/>
        </p:scale>
        <p:origin x="224" y="552"/>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20.08.26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presentation introduces VITA-FL, a prototype that connects verifiable decentralized federated learning to attested inference in an AI-agent system. The central question is not only whether a prediction appears plausible. It is whether a user can inspect which model, which input, and which measured workload actually produced that result—and whether the supporting evidence was retained independently of the conversational claim.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Prior work typically treats decentralized model production, agent orchestration, and verifiable inference as separate concerns. The gap lies in composing these mechanisms into one deployment-oriented path. The thesis therefore asks how a DFL model can remain attributable from production to inference, how integrity and selected availability properties can be strengthened during training, and how a concrete inference can be bound to measured execution and transparent tool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Before publication, the system checks several distinct claims. Attestation determines whether an admitted participant runs the expected workload. Independent source signatures authenticate the image and its annotation. The ledger fixes the round context, aggregator, accepted inputs, and policy. Finally, deterministic candidate selection can retain the parent model when validation loss degrades beyond the configured threshold. This narrows specific attack paths, but it is not a proof of general Byzantine-robust learning.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first clarification is that both alternatives execute off chain. The design question is which evidence accompanies that execution. A zero-knowledge proof can establish strong computational correctness for exactly the relation encoded by a circuit and may keep witness values private. It does not by itself identify the native software stack, prove training history, or establish operational key custody. The experimental ZK branch required circuit setup, proof keys, witness generation, proving, and verification. VITA-FL instead needs a stateful workflow with native training and inference, ledger and IPFS interaction, protected model recovery, and application-bound keys. Intel TDX isolation and DCAP evidence, appraised against explicit policy, address that operational-provenance claim directly while retaining Intel, Phala/dstack, policy, and key custody as trust anchors. The choice therefore does not reject ZK: it reserves ZK for narrow encoded-computation claims where the additional translation and proving cost is justified. References: IETF RFC 9334; Intel TDX/DCAP documentation; Chen et al., ZKML, EuroSys 2024, https://doi.org/10.1145/3627703.3650088; and https://docs.ezkl.xyz/getting-started/.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Aggregator selection is weighted by recorded participation. Every currently authorized participant receives a base weight of one, so a newcomer remains selectable. Accepted worker updates and completed aggregations increase the corresponding score, while defined failures can subtract one. The contract maps a hash-derived value into cumulative weight intervals. This is auditable weighted pseudo-randomness; the block-derived entropy is not an unbiased VRF and the score represents participation history rather than model quality.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model handoff connects decentralized production to inference. Large artifacts remain outside the ledger, but the ledger authoritatively identifies the current publication and its references. Encryption protects model confidentiality, the publisher signature authenticates its origin, and content identifiers bind the retrieved objects. The measured receiver resolves and verifies this state itself. As a result, the agent cannot substitute an arbitrary local path or silently select a stale model.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Figuera's Sello protocol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adopts a Sello-inspired profile and additionally fails closed unless the receiver publishes its receipt before returning a successful tool result.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evaluation distinguishes live integration, participant-scale experiments, and automated negative tests. The Phala run exercised the connected services, training, all three MCP operations, and attested inference. Separate experiments completed 50-round runs with 10, 50, and 100 participants. Negative tests checked whether manipulated, stale, or context-mismatched objects fail closed. The later adaptive aggregation extension has component and binding tests, but no dedicated live adversarial-robustness experiment.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three completed ChestMNIST runs each expose forty-nine learned global models from rounds two through fifty; round one is the bootstrap state. Loss falls from approximately 0.62 to 0.188 and exact match rises to approximately fifty-three percent. The trajectories for ten, fifty, and one hundred participants almost overlap. This is an observed single run per scale, so it validates repeatable protocol execution but is not statistical evidence of scale invariance.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optimization curves must not be read as clinical success. At round fifty, macro AUROC is approximately 0.504, 0.507, and 0.508 for ten, fifty, and one hundred participants. Micro F1 falls to about 0.0001 and macro F1 to about 0.0005 to 0.001. Loss reduction and rising exact match are therefore explained by majority-negative behavior under severe class imbalance. These runs validate protocol execution and participant scaling, not diagnostic utility.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The complete inference path produced three receiver-signed tool receipts and one complete evidence-bundle record. The provenance evaluation accepted all 78,468 prepared training samples and rejected targeted changes to pixels, labels, and signer policy. All participant-scale experiments reached round 50. However, macro AUROC remained close to 0.50 and the F1 scores approached zero. These results demonstrate protocol execution and evidence binding, not useful diagnostic performance.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At prototype level, the research questions can be answered positively: a DFL model can be integrated into an agent system without making the conversational model a root of trust, provided that model selection, verification, inference, and receipt validation remain deterministic. VITA-FL is deliberately trust-minimized rather than trustless. Its main contribution is the composition of narrowly scoped evidence across system boundaries while keeping the remaining hardware, policy, key-management, ledger, storage, and log assumptions explicit.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sv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23.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76072" y="548640"/>
            <a:ext cx="5303520" cy="221599"/>
          </a:xfrm>
          <a:prstGeom prst="rect">
            <a:avLst/>
          </a:prstGeom>
          <a:noFill/>
        </p:spPr>
        <p:txBody>
          <a:bodyPr wrap="square" lIns="18288" tIns="18288" rIns="18288" bIns="18288" anchor="t">
            <a:spAutoFit/>
          </a:bodyPr>
          <a:lstStyle/>
          <a:p>
            <a:pPr algn="l"/>
            <a:r>
              <a:rPr lang="en-US" sz="1200" b="1" dirty="0">
                <a:solidFill>
                  <a:srgbClr val="C40D1E"/>
                </a:solidFill>
                <a:latin typeface="Arial"/>
              </a:rPr>
              <a:t>MASTER'S THESIS PRESENTATION</a:t>
            </a:r>
          </a:p>
        </p:txBody>
      </p:sp>
      <p:sp>
        <p:nvSpPr>
          <p:cNvPr id="3" name="TextBox 2"/>
          <p:cNvSpPr txBox="1"/>
          <p:nvPr/>
        </p:nvSpPr>
        <p:spPr>
          <a:xfrm>
            <a:off x="611932" y="4861920"/>
            <a:ext cx="8460352" cy="775597"/>
          </a:xfrm>
          <a:prstGeom prst="rect">
            <a:avLst/>
          </a:prstGeom>
          <a:noFill/>
        </p:spPr>
        <p:txBody>
          <a:bodyPr wrap="square" lIns="18288" tIns="18288" rIns="18288" bIns="18288" anchor="t">
            <a:spAutoFit/>
          </a:bodyPr>
          <a:lstStyle/>
          <a:p>
            <a:pPr algn="l"/>
            <a:r>
              <a:rPr lang="en-US" sz="2400" b="0" dirty="0">
                <a:solidFill>
                  <a:srgbClr val="FFFFFF"/>
                </a:solidFill>
                <a:latin typeface="Arial"/>
              </a:rPr>
              <a:t>Verifiable Decentralized Federated Machine Learning and Inference for AI Agent Systems</a:t>
            </a:r>
          </a:p>
        </p:txBody>
      </p:sp>
      <p:sp>
        <p:nvSpPr>
          <p:cNvPr id="11" name="TextBox 10"/>
          <p:cNvSpPr txBox="1"/>
          <p:nvPr/>
        </p:nvSpPr>
        <p:spPr>
          <a:xfrm>
            <a:off x="621792" y="5925312"/>
            <a:ext cx="2468880" cy="256032"/>
          </a:xfrm>
          <a:prstGeom prst="rect">
            <a:avLst/>
          </a:prstGeom>
          <a:noFill/>
        </p:spPr>
        <p:txBody>
          <a:bodyPr wrap="square" lIns="18288" tIns="18288" rIns="18288" bIns="18288" anchor="t">
            <a:spAutoFit/>
          </a:bodyPr>
          <a:lstStyle/>
          <a:p>
            <a:pPr algn="l"/>
            <a:r>
              <a:rPr lang="en-US" sz="1500" b="1">
                <a:solidFill>
                  <a:srgbClr val="FFFFFF"/>
                </a:solidFill>
                <a:latin typeface="Arial"/>
              </a:rPr>
              <a:t>Ramon Mehrpoya</a:t>
            </a:r>
          </a:p>
        </p:txBody>
      </p:sp>
      <p:sp>
        <p:nvSpPr>
          <p:cNvPr id="12" name="TextBox 11"/>
          <p:cNvSpPr txBox="1"/>
          <p:nvPr/>
        </p:nvSpPr>
        <p:spPr>
          <a:xfrm>
            <a:off x="621792" y="6254496"/>
            <a:ext cx="3657600" cy="219456"/>
          </a:xfrm>
          <a:prstGeom prst="rect">
            <a:avLst/>
          </a:prstGeom>
          <a:noFill/>
        </p:spPr>
        <p:txBody>
          <a:bodyPr wrap="square" lIns="18288" tIns="18288" rIns="18288" bIns="18288" anchor="t">
            <a:spAutoFit/>
          </a:bodyPr>
          <a:lstStyle/>
          <a:p>
            <a:pPr algn="l"/>
            <a:r>
              <a:rPr lang="en-US" sz="1100" b="0">
                <a:solidFill>
                  <a:srgbClr val="FFFFFF"/>
                </a:solidFill>
                <a:latin typeface="Arial"/>
              </a:rPr>
              <a:t>Master's Thesis</a:t>
            </a:r>
          </a:p>
        </p:txBody>
      </p:sp>
      <p:sp>
        <p:nvSpPr>
          <p:cNvPr id="13" name="TextBox 12"/>
          <p:cNvSpPr txBox="1"/>
          <p:nvPr/>
        </p:nvSpPr>
        <p:spPr>
          <a:xfrm>
            <a:off x="9921240" y="6254496"/>
            <a:ext cx="1719072" cy="219456"/>
          </a:xfrm>
          <a:prstGeom prst="rect">
            <a:avLst/>
          </a:prstGeom>
          <a:noFill/>
        </p:spPr>
        <p:txBody>
          <a:bodyPr wrap="square" lIns="18288" tIns="18288" rIns="18288" bIns="18288" anchor="t">
            <a:spAutoFit/>
          </a:bodyPr>
          <a:lstStyle/>
          <a:p>
            <a:pPr algn="r"/>
            <a:r>
              <a:rPr lang="en-US" sz="1100" b="0">
                <a:solidFill>
                  <a:srgbClr val="FFFFFF"/>
                </a:solidFill>
                <a:latin typeface="Arial"/>
              </a:rPr>
              <a:t>19 August 2026</a:t>
            </a:r>
          </a:p>
        </p:txBody>
      </p:sp>
      <p:pic>
        <p:nvPicPr>
          <p:cNvPr id="14" name="Bildplatzhalter 7" descr="Ein Bild, das draußen, Baum, Straße, Bürgersteig enthält.&#10;&#10;Automatisch generierte Beschreibung">
            <a:extLst>
              <a:ext uri="{FF2B5EF4-FFF2-40B4-BE49-F238E27FC236}">
                <a16:creationId xmlns:a16="http://schemas.microsoft.com/office/drawing/2014/main" id="{8C3B2A11-4E53-79CC-0485-F326EE871361}"/>
              </a:ext>
            </a:extLst>
          </p:cNvPr>
          <p:cNvPicPr>
            <a:picLocks noChangeAspect="1"/>
          </p:cNvPicPr>
          <p:nvPr/>
        </p:nvPicPr>
        <p:blipFill rotWithShape="1">
          <a:blip r:embed="rId3"/>
          <a:srcRect t="38334" b="6404"/>
          <a:stretch/>
        </p:blipFill>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12" name="TextBox 11"/>
          <p:cNvSpPr txBox="1"/>
          <p:nvPr/>
        </p:nvSpPr>
        <p:spPr>
          <a:xfrm>
            <a:off x="4956048" y="1499616"/>
            <a:ext cx="5989320" cy="438912"/>
          </a:xfrm>
          <a:prstGeom prst="rect">
            <a:avLst/>
          </a:prstGeom>
          <a:noFill/>
        </p:spPr>
        <p:txBody>
          <a:bodyPr wrap="square" lIns="18288" tIns="18288" rIns="18288" bIns="18288" anchor="ctr">
            <a:spAutoFit/>
          </a:bodyPr>
          <a:lstStyle/>
          <a:p>
            <a:pPr algn="l"/>
            <a:r>
              <a:rPr lang="en-US" sz="2600" b="1">
                <a:solidFill>
                  <a:srgbClr val="434343"/>
                </a:solidFill>
                <a:latin typeface="Arial"/>
              </a:rPr>
              <a:t>Ramon Mehrpoya</a:t>
            </a:r>
          </a:p>
        </p:txBody>
      </p:sp>
      <p:sp>
        <p:nvSpPr>
          <p:cNvPr id="13" name="TextBox 12"/>
          <p:cNvSpPr txBox="1"/>
          <p:nvPr/>
        </p:nvSpPr>
        <p:spPr>
          <a:xfrm>
            <a:off x="4965192" y="2359152"/>
            <a:ext cx="2423160" cy="182880"/>
          </a:xfrm>
          <a:prstGeom prst="rect">
            <a:avLst/>
          </a:prstGeom>
          <a:noFill/>
        </p:spPr>
        <p:txBody>
          <a:bodyPr wrap="square" lIns="18288" tIns="18288" rIns="18288" bIns="18288" anchor="ctr">
            <a:spAutoFit/>
          </a:bodyPr>
          <a:lstStyle/>
          <a:p>
            <a:pPr algn="l"/>
            <a:r>
              <a:rPr lang="en-US" sz="840" b="1">
                <a:solidFill>
                  <a:srgbClr val="C40D1E"/>
                </a:solidFill>
                <a:latin typeface="Arial"/>
              </a:rPr>
              <a:t>ACADEMIC BACKGROUND</a:t>
            </a:r>
          </a:p>
        </p:txBody>
      </p:sp>
      <p:sp>
        <p:nvSpPr>
          <p:cNvPr id="14" name="TextBox 13"/>
          <p:cNvSpPr txBox="1"/>
          <p:nvPr/>
        </p:nvSpPr>
        <p:spPr>
          <a:xfrm>
            <a:off x="4965192" y="2615184"/>
            <a:ext cx="5897880" cy="283464"/>
          </a:xfrm>
          <a:prstGeom prst="rect">
            <a:avLst/>
          </a:prstGeom>
          <a:noFill/>
        </p:spPr>
        <p:txBody>
          <a:bodyPr wrap="square" lIns="18288" tIns="18288" rIns="18288" bIns="18288" anchor="ctr">
            <a:spAutoFit/>
          </a:bodyPr>
          <a:lstStyle/>
          <a:p>
            <a:pPr algn="l"/>
            <a:r>
              <a:rPr lang="en-US" sz="1260" b="1">
                <a:solidFill>
                  <a:srgbClr val="434343"/>
                </a:solidFill>
                <a:latin typeface="Arial"/>
              </a:rPr>
              <a:t>Bachelor's degree in Business Informatics · TU Berlin</a:t>
            </a:r>
          </a:p>
        </p:txBody>
      </p:sp>
      <p:sp>
        <p:nvSpPr>
          <p:cNvPr id="15" name="TextBox 14"/>
          <p:cNvSpPr txBox="1"/>
          <p:nvPr/>
        </p:nvSpPr>
        <p:spPr>
          <a:xfrm>
            <a:off x="4965192" y="2898648"/>
            <a:ext cx="5897880" cy="283464"/>
          </a:xfrm>
          <a:prstGeom prst="rect">
            <a:avLst/>
          </a:prstGeom>
          <a:noFill/>
        </p:spPr>
        <p:txBody>
          <a:bodyPr wrap="square" lIns="18288" tIns="18288" rIns="18288" bIns="18288" anchor="ctr">
            <a:spAutoFit/>
          </a:bodyPr>
          <a:lstStyle/>
          <a:p>
            <a:pPr algn="l"/>
            <a:r>
              <a:rPr lang="en-US" sz="1260" b="1">
                <a:solidFill>
                  <a:srgbClr val="434343"/>
                </a:solidFill>
                <a:latin typeface="Arial"/>
              </a:rPr>
              <a:t>Master's thesis candidate · Computer Science · TU Berlin</a:t>
            </a:r>
          </a:p>
        </p:txBody>
      </p:sp>
      <p:sp>
        <p:nvSpPr>
          <p:cNvPr id="16" name="TextBox 15"/>
          <p:cNvSpPr txBox="1"/>
          <p:nvPr/>
        </p:nvSpPr>
        <p:spPr>
          <a:xfrm>
            <a:off x="4965192" y="3209544"/>
            <a:ext cx="3154680" cy="182880"/>
          </a:xfrm>
          <a:prstGeom prst="rect">
            <a:avLst/>
          </a:prstGeom>
          <a:noFill/>
        </p:spPr>
        <p:txBody>
          <a:bodyPr wrap="square" lIns="18288" tIns="18288" rIns="18288" bIns="18288" anchor="ctr">
            <a:spAutoFit/>
          </a:bodyPr>
          <a:lstStyle/>
          <a:p>
            <a:pPr algn="l"/>
            <a:r>
              <a:rPr lang="en-US" sz="840" b="1">
                <a:solidFill>
                  <a:srgbClr val="C40D1E"/>
                </a:solidFill>
                <a:latin typeface="Arial"/>
              </a:rPr>
              <a:t>PROJECT EXPERIENCE AT ISE, TU BERLIN</a:t>
            </a:r>
          </a:p>
        </p:txBody>
      </p:sp>
      <p:sp>
        <p:nvSpPr>
          <p:cNvPr id="17" name="Rounded Rectangle 16"/>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0" y="3575304"/>
            <a:ext cx="1801368" cy="164592"/>
          </a:xfrm>
          <a:prstGeom prst="rect">
            <a:avLst/>
          </a:prstGeom>
          <a:noFill/>
        </p:spPr>
        <p:txBody>
          <a:bodyPr wrap="square" lIns="18288" tIns="18288" rIns="18288" bIns="18288" anchor="ctr">
            <a:spAutoFit/>
          </a:bodyPr>
          <a:lstStyle/>
          <a:p>
            <a:pPr algn="ctr"/>
            <a:r>
              <a:rPr lang="en-US" sz="780" b="1">
                <a:solidFill>
                  <a:srgbClr val="2F8F46"/>
                </a:solidFill>
                <a:latin typeface="Arial"/>
              </a:rPr>
              <a:t>GAIA-X 4 PLC-AAD</a:t>
            </a:r>
          </a:p>
        </p:txBody>
      </p:sp>
      <p:sp>
        <p:nvSpPr>
          <p:cNvPr id="19" name="TextBox 18"/>
          <p:cNvSpPr txBox="1"/>
          <p:nvPr/>
        </p:nvSpPr>
        <p:spPr>
          <a:xfrm>
            <a:off x="5047488" y="3858768"/>
            <a:ext cx="1764792" cy="320040"/>
          </a:xfrm>
          <a:prstGeom prst="rect">
            <a:avLst/>
          </a:prstGeom>
          <a:noFill/>
        </p:spPr>
        <p:txBody>
          <a:bodyPr wrap="square" lIns="18288" tIns="18288" rIns="18288" bIns="18288" anchor="ctr">
            <a:spAutoFit/>
          </a:bodyPr>
          <a:lstStyle/>
          <a:p>
            <a:pPr algn="ctr"/>
            <a:r>
              <a:rPr lang="en-US" sz="840" b="1">
                <a:solidFill>
                  <a:srgbClr val="434343"/>
                </a:solidFill>
                <a:latin typeface="Arial"/>
              </a:rPr>
              <a:t>Blockchain &amp;
encryption</a:t>
            </a:r>
          </a:p>
        </p:txBody>
      </p:sp>
      <p:cxnSp>
        <p:nvCxnSpPr>
          <p:cNvPr id="20" name="Connector 19"/>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50024" y="3575304"/>
            <a:ext cx="1801368" cy="164592"/>
          </a:xfrm>
          <a:prstGeom prst="rect">
            <a:avLst/>
          </a:prstGeom>
          <a:noFill/>
        </p:spPr>
        <p:txBody>
          <a:bodyPr wrap="square" lIns="18288" tIns="18288" rIns="18288" bIns="18288" anchor="ctr">
            <a:spAutoFit/>
          </a:bodyPr>
          <a:lstStyle/>
          <a:p>
            <a:pPr algn="ctr"/>
            <a:r>
              <a:rPr lang="en-US" sz="780" b="1">
                <a:solidFill>
                  <a:srgbClr val="1F90CC"/>
                </a:solidFill>
                <a:latin typeface="Arial"/>
              </a:rPr>
              <a:t>ZOKRATES PLUS</a:t>
            </a:r>
          </a:p>
        </p:txBody>
      </p:sp>
      <p:sp>
        <p:nvSpPr>
          <p:cNvPr id="23" name="TextBox 22"/>
          <p:cNvSpPr txBox="1"/>
          <p:nvPr/>
        </p:nvSpPr>
        <p:spPr>
          <a:xfrm>
            <a:off x="7068312" y="3858768"/>
            <a:ext cx="1764792" cy="320040"/>
          </a:xfrm>
          <a:prstGeom prst="rect">
            <a:avLst/>
          </a:prstGeom>
          <a:noFill/>
        </p:spPr>
        <p:txBody>
          <a:bodyPr wrap="square" lIns="18288" tIns="18288" rIns="18288" bIns="18288" anchor="ctr">
            <a:spAutoFit/>
          </a:bodyPr>
          <a:lstStyle/>
          <a:p>
            <a:pPr algn="ctr"/>
            <a:r>
              <a:rPr lang="en-US" sz="840" b="1">
                <a:solidFill>
                  <a:srgbClr val="434343"/>
                </a:solidFill>
                <a:latin typeface="Arial"/>
              </a:rPr>
              <a:t>ZK · TEE · remote
attestation · DFL</a:t>
            </a:r>
          </a:p>
        </p:txBody>
      </p:sp>
      <p:cxnSp>
        <p:nvCxnSpPr>
          <p:cNvPr id="24" name="Connector 23"/>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061704" y="3575304"/>
            <a:ext cx="1801368" cy="164592"/>
          </a:xfrm>
          <a:prstGeom prst="rect">
            <a:avLst/>
          </a:prstGeom>
          <a:noFill/>
        </p:spPr>
        <p:txBody>
          <a:bodyPr wrap="square" lIns="18288" tIns="18288" rIns="18288" bIns="18288" anchor="ctr">
            <a:spAutoFit/>
          </a:bodyPr>
          <a:lstStyle/>
          <a:p>
            <a:pPr algn="ctr"/>
            <a:r>
              <a:rPr lang="en-US" sz="780" b="1">
                <a:solidFill>
                  <a:srgbClr val="FF6C00"/>
                </a:solidFill>
                <a:latin typeface="Arial"/>
              </a:rPr>
              <a:t>ZODIAC</a:t>
            </a:r>
          </a:p>
        </p:txBody>
      </p:sp>
      <p:sp>
        <p:nvSpPr>
          <p:cNvPr id="27" name="TextBox 26"/>
          <p:cNvSpPr txBox="1"/>
          <p:nvPr/>
        </p:nvSpPr>
        <p:spPr>
          <a:xfrm>
            <a:off x="9079992" y="3858768"/>
            <a:ext cx="1764792" cy="320040"/>
          </a:xfrm>
          <a:prstGeom prst="rect">
            <a:avLst/>
          </a:prstGeom>
          <a:noFill/>
        </p:spPr>
        <p:txBody>
          <a:bodyPr wrap="square" lIns="18288" tIns="18288" rIns="18288" bIns="18288" anchor="ctr">
            <a:spAutoFit/>
          </a:bodyPr>
          <a:lstStyle/>
          <a:p>
            <a:pPr algn="ctr"/>
            <a:r>
              <a:rPr lang="en-US" sz="840" b="1">
                <a:solidFill>
                  <a:srgbClr val="434343"/>
                </a:solidFill>
                <a:latin typeface="Arial"/>
              </a:rPr>
              <a:t>AI agents &amp;
MCP tools</a:t>
            </a:r>
          </a:p>
        </p:txBody>
      </p:sp>
      <p:cxnSp>
        <p:nvCxnSpPr>
          <p:cNvPr id="28" name="Connector 27"/>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93792" y="4718304"/>
            <a:ext cx="1572768" cy="164592"/>
          </a:xfrm>
          <a:prstGeom prst="rect">
            <a:avLst/>
          </a:prstGeom>
          <a:noFill/>
        </p:spPr>
        <p:txBody>
          <a:bodyPr wrap="square" lIns="18288" tIns="18288" rIns="18288" bIns="18288" anchor="ctr">
            <a:spAutoFit/>
          </a:bodyPr>
          <a:lstStyle/>
          <a:p>
            <a:pPr algn="l"/>
            <a:r>
              <a:rPr lang="en-US" sz="780" b="1">
                <a:solidFill>
                  <a:srgbClr val="C40D1E"/>
                </a:solidFill>
                <a:latin typeface="Arial"/>
              </a:rPr>
              <a:t>THESIS PROTOTYPE</a:t>
            </a:r>
          </a:p>
        </p:txBody>
      </p:sp>
      <p:sp>
        <p:nvSpPr>
          <p:cNvPr id="31" name="TextBox 30"/>
          <p:cNvSpPr txBox="1"/>
          <p:nvPr/>
        </p:nvSpPr>
        <p:spPr>
          <a:xfrm>
            <a:off x="5193792" y="4937760"/>
            <a:ext cx="1234440" cy="265176"/>
          </a:xfrm>
          <a:prstGeom prst="rect">
            <a:avLst/>
          </a:prstGeom>
          <a:noFill/>
        </p:spPr>
        <p:txBody>
          <a:bodyPr wrap="square" lIns="18288" tIns="18288" rIns="18288" bIns="18288" anchor="ctr">
            <a:spAutoFit/>
          </a:bodyPr>
          <a:lstStyle/>
          <a:p>
            <a:pPr algn="l"/>
            <a:r>
              <a:rPr lang="en-US" sz="1620" b="1">
                <a:solidFill>
                  <a:srgbClr val="434343"/>
                </a:solidFill>
                <a:latin typeface="Arial"/>
              </a:rPr>
              <a:t>VITA-FL</a:t>
            </a:r>
          </a:p>
        </p:txBody>
      </p:sp>
      <p:sp>
        <p:nvSpPr>
          <p:cNvPr id="32" name="TextBox 31"/>
          <p:cNvSpPr txBox="1"/>
          <p:nvPr/>
        </p:nvSpPr>
        <p:spPr>
          <a:xfrm>
            <a:off x="6519672" y="4919472"/>
            <a:ext cx="4041648" cy="347472"/>
          </a:xfrm>
          <a:prstGeom prst="rect">
            <a:avLst/>
          </a:prstGeom>
          <a:noFill/>
        </p:spPr>
        <p:txBody>
          <a:bodyPr wrap="square" lIns="18288" tIns="18288" rIns="18288" bIns="18288" anchor="ctr">
            <a:spAutoFit/>
          </a:bodyPr>
          <a:lstStyle/>
          <a:p>
            <a:pPr algn="l"/>
            <a:r>
              <a:rPr lang="en-US" sz="960" b="1">
                <a:solidFill>
                  <a:srgbClr val="434343"/>
                </a:solidFill>
                <a:latin typeface="Arial"/>
              </a:rPr>
              <a:t>Verifiable Inference and Trust Architecture
for Federated Learning</a:t>
            </a:r>
          </a:p>
        </p:txBody>
      </p:sp>
      <p:pic>
        <p:nvPicPr>
          <p:cNvPr id="34" name="Grafik 33">
            <a:extLst>
              <a:ext uri="{FF2B5EF4-FFF2-40B4-BE49-F238E27FC236}">
                <a16:creationId xmlns:a16="http://schemas.microsoft.com/office/drawing/2014/main" id="{70A53C39-527E-830D-8D76-422BF8442FC4}"/>
              </a:ext>
            </a:extLst>
          </p:cNvPr>
          <p:cNvPicPr>
            <a:picLocks noChangeAspect="1"/>
          </p:cNvPicPr>
          <p:nvPr/>
        </p:nvPicPr>
        <p:blipFill>
          <a:blip r:embed="rId3"/>
          <a:stretch>
            <a:fillRect/>
          </a:stretch>
        </p:blipFill>
        <p:spPr>
          <a:xfrm>
            <a:off x="1183714" y="1465752"/>
            <a:ext cx="2588620" cy="388049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xray_concept.png"/>
          <p:cNvPicPr>
            <a:picLocks noChangeAspect="1"/>
          </p:cNvPicPr>
          <p:nvPr/>
        </p:nvPicPr>
        <p:blipFill>
          <a:blip r:embed="rId3"/>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tIns="18288" rIns="18288" bIns="18288" anchor="t">
            <a:spAutoFit/>
          </a:bodyPr>
          <a:lstStyle/>
          <a:p>
            <a:pPr algn="ctr"/>
            <a:r>
              <a:rPr lang="en-US" sz="2000" b="1">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4"/>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53128" y="2029968"/>
            <a:ext cx="2487168" cy="182880"/>
          </a:xfrm>
          <a:prstGeom prst="rect">
            <a:avLst/>
          </a:prstGeom>
          <a:noFill/>
        </p:spPr>
        <p:txBody>
          <a:bodyPr wrap="square" lIns="18288" tIns="18288" rIns="18288" bIns="18288" anchor="t">
            <a:spAutoFit/>
          </a:bodyPr>
          <a:lstStyle/>
          <a:p>
            <a:pPr algn="l"/>
            <a:r>
              <a:rPr lang="en-US" sz="950" b="1">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tIns="18288" rIns="18288" bIns="18288" anchor="ctr">
            <a:spAutoFit/>
          </a:bodyPr>
          <a:lstStyle/>
          <a:p>
            <a:pPr algn="l"/>
            <a:r>
              <a:rPr lang="en-US" sz="2500" b="1">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tIns="18288" rIns="18288" bIns="18288" anchor="ctr">
            <a:spAutoFit/>
          </a:bodyPr>
          <a:lstStyle/>
          <a:p>
            <a:pPr algn="l"/>
            <a:r>
              <a:rPr lang="en-US" sz="1050" b="1">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3"/>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93792" y="2029968"/>
            <a:ext cx="2542032" cy="182880"/>
          </a:xfrm>
          <a:prstGeom prst="rect">
            <a:avLst/>
          </a:prstGeom>
          <a:noFill/>
        </p:spPr>
        <p:txBody>
          <a:bodyPr wrap="square" lIns="18288" tIns="18288" rIns="18288" bIns="18288" anchor="t">
            <a:spAutoFit/>
          </a:bodyPr>
          <a:lstStyle/>
          <a:p>
            <a:pPr algn="l"/>
            <a:r>
              <a:rPr lang="en-US" sz="950" b="1">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tIns="18288" rIns="18288" bIns="18288" anchor="ctr">
            <a:spAutoFit/>
          </a:bodyPr>
          <a:lstStyle/>
          <a:p>
            <a:pPr algn="l"/>
            <a:r>
              <a:rPr lang="en-US" sz="1850" b="1">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tIns="18288" rIns="18288" bIns="18288" anchor="t">
            <a:spAutoFit/>
          </a:bodyPr>
          <a:lstStyle/>
          <a:p>
            <a:pPr algn="l"/>
            <a:r>
              <a:rPr lang="en-US" sz="969" b="1">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961120" y="1627632"/>
            <a:ext cx="2423160" cy="182880"/>
          </a:xfrm>
          <a:prstGeom prst="rect">
            <a:avLst/>
          </a:prstGeom>
          <a:noFill/>
        </p:spPr>
        <p:txBody>
          <a:bodyPr wrap="square" lIns="18288" tIns="18288" rIns="18288" bIns="18288" anchor="t">
            <a:spAutoFit/>
          </a:bodyPr>
          <a:lstStyle/>
          <a:p>
            <a:pPr algn="ctr"/>
            <a:r>
              <a:rPr lang="en-US" sz="819" b="1">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07424" y="2020824"/>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07424" y="2587752"/>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07424" y="3145536"/>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107424" y="3712464"/>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107424" y="4279392"/>
            <a:ext cx="164592" cy="146304"/>
          </a:xfrm>
          <a:prstGeom prst="rect">
            <a:avLst/>
          </a:prstGeom>
          <a:noFill/>
        </p:spPr>
        <p:txBody>
          <a:bodyPr wrap="square" lIns="0" tIns="0" rIns="0" bIns="0" anchor="ctr">
            <a:spAutoFit/>
          </a:bodyPr>
          <a:lstStyle/>
          <a:p>
            <a:pPr algn="ctr"/>
            <a:r>
              <a:rPr lang="en-US" sz="700" b="1">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tIns="0" rIns="0" bIns="0" anchor="ctr">
            <a:spAutoFit/>
          </a:bodyPr>
          <a:lstStyle/>
          <a:p>
            <a:pPr algn="l"/>
            <a:r>
              <a:rPr lang="en-US" sz="750" b="1">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tIns="18288" rIns="18288" bIns="18288" anchor="t">
            <a:spAutoFit/>
          </a:bodyPr>
          <a:lstStyle/>
          <a:p>
            <a:pPr algn="ctr"/>
            <a:r>
              <a:rPr lang="en-US" sz="780" b="1">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6968" y="1572768"/>
            <a:ext cx="2971800" cy="292608"/>
          </a:xfrm>
          <a:prstGeom prst="rect">
            <a:avLst/>
          </a:prstGeom>
          <a:noFill/>
        </p:spPr>
        <p:txBody>
          <a:bodyPr wrap="square" lIns="18288" tIns="18288" rIns="18288" bIns="18288" anchor="ctr">
            <a:spAutoFit/>
          </a:bodyPr>
          <a:lstStyle/>
          <a:p>
            <a:pPr algn="ctr"/>
            <a:r>
              <a:rPr lang="en-US" sz="1700" b="1">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tIns="18288" rIns="18288" bIns="18288" anchor="ctr">
            <a:spAutoFit/>
          </a:bodyPr>
          <a:lstStyle/>
          <a:p>
            <a:pPr algn="ctr"/>
            <a:r>
              <a:rPr lang="en-US" sz="1050" b="0">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tIns="18288" rIns="18288" bIns="18288" anchor="ctr">
            <a:spAutoFit/>
          </a:bodyPr>
          <a:lstStyle/>
          <a:p>
            <a:pPr algn="ctr"/>
            <a:r>
              <a:rPr lang="en-US" sz="2200" b="1">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54296" y="1572768"/>
            <a:ext cx="2971800" cy="292608"/>
          </a:xfrm>
          <a:prstGeom prst="rect">
            <a:avLst/>
          </a:prstGeom>
          <a:noFill/>
        </p:spPr>
        <p:txBody>
          <a:bodyPr wrap="square" lIns="18288" tIns="18288" rIns="18288" bIns="18288" anchor="ctr">
            <a:spAutoFit/>
          </a:bodyPr>
          <a:lstStyle/>
          <a:p>
            <a:pPr algn="ctr"/>
            <a:r>
              <a:rPr lang="en-US" sz="1700" b="1">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tIns="18288" rIns="18288" bIns="18288" anchor="ctr">
            <a:spAutoFit/>
          </a:bodyPr>
          <a:lstStyle/>
          <a:p>
            <a:pPr algn="ctr"/>
            <a:r>
              <a:rPr lang="en-US" sz="1050" b="0">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tIns="18288" rIns="18288" bIns="18288" anchor="ctr">
            <a:spAutoFit/>
          </a:bodyPr>
          <a:lstStyle/>
          <a:p>
            <a:pPr algn="ctr"/>
            <a:r>
              <a:rPr lang="en-US" sz="2200" b="1">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21624" y="1572768"/>
            <a:ext cx="2971800" cy="292608"/>
          </a:xfrm>
          <a:prstGeom prst="rect">
            <a:avLst/>
          </a:prstGeom>
          <a:noFill/>
        </p:spPr>
        <p:txBody>
          <a:bodyPr wrap="square" lIns="18288" tIns="18288" rIns="18288" bIns="18288" anchor="ctr">
            <a:spAutoFit/>
          </a:bodyPr>
          <a:lstStyle/>
          <a:p>
            <a:pPr algn="ctr"/>
            <a:r>
              <a:rPr lang="en-US" sz="1700" b="1">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tIns="18288" rIns="18288" bIns="18288" anchor="ctr">
            <a:spAutoFit/>
          </a:bodyPr>
          <a:lstStyle/>
          <a:p>
            <a:pPr algn="ctr"/>
            <a:r>
              <a:rPr lang="en-US" sz="1050" b="0">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761488"/>
            <a:ext cx="10451592" cy="329184"/>
          </a:xfrm>
          <a:prstGeom prst="rect">
            <a:avLst/>
          </a:prstGeom>
          <a:noFill/>
        </p:spPr>
        <p:txBody>
          <a:bodyPr wrap="square" lIns="18288" tIns="18288" rIns="18288" bIns="18288" anchor="ctr">
            <a:spAutoFit/>
          </a:bodyPr>
          <a:lstStyle/>
          <a:p>
            <a:pPr algn="ctr"/>
            <a:r>
              <a:rPr lang="en-US" sz="1500" b="1">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41248" y="3611880"/>
            <a:ext cx="1051560" cy="310896"/>
          </a:xfrm>
          <a:prstGeom prst="rect">
            <a:avLst/>
          </a:prstGeom>
          <a:noFill/>
        </p:spPr>
        <p:txBody>
          <a:bodyPr wrap="square" lIns="18288" tIns="18288" rIns="18288" bIns="18288" anchor="ctr">
            <a:spAutoFit/>
          </a:bodyPr>
          <a:lstStyle/>
          <a:p>
            <a:pPr algn="l"/>
            <a:r>
              <a:rPr lang="en-US" sz="1500" b="1">
                <a:solidFill>
                  <a:srgbClr val="2F8F46"/>
                </a:solidFill>
                <a:latin typeface="Arial"/>
              </a:rPr>
              <a:t>RQ 1</a:t>
            </a:r>
          </a:p>
        </p:txBody>
      </p:sp>
      <p:sp>
        <p:nvSpPr>
          <p:cNvPr id="23" name="TextBox 22"/>
          <p:cNvSpPr txBox="1"/>
          <p:nvPr/>
        </p:nvSpPr>
        <p:spPr>
          <a:xfrm>
            <a:off x="841248" y="4069080"/>
            <a:ext cx="3063240" cy="1188720"/>
          </a:xfrm>
          <a:prstGeom prst="rect">
            <a:avLst/>
          </a:prstGeom>
          <a:noFill/>
        </p:spPr>
        <p:txBody>
          <a:bodyPr wrap="square" lIns="18288" tIns="18288" rIns="18288" bIns="18288" anchor="ctr">
            <a:spAutoFit/>
          </a:bodyPr>
          <a:lstStyle/>
          <a:p>
            <a:pPr algn="l"/>
            <a:r>
              <a:rPr lang="en-US" sz="1450" b="1">
                <a:solidFill>
                  <a:srgbClr val="434343"/>
                </a:solidFill>
                <a:latin typeface="Arial"/>
              </a:rPr>
              <a:t>How can a DFL model be integrated into an agent system through a trust-minimized, user-inspectable path?</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62856" y="3611880"/>
            <a:ext cx="1051560" cy="310896"/>
          </a:xfrm>
          <a:prstGeom prst="rect">
            <a:avLst/>
          </a:prstGeom>
          <a:noFill/>
        </p:spPr>
        <p:txBody>
          <a:bodyPr wrap="square" lIns="18288" tIns="18288" rIns="18288" bIns="18288" anchor="ctr">
            <a:spAutoFit/>
          </a:bodyPr>
          <a:lstStyle/>
          <a:p>
            <a:pPr algn="l"/>
            <a:r>
              <a:rPr lang="en-US" sz="1500" b="1">
                <a:solidFill>
                  <a:srgbClr val="1F90CC"/>
                </a:solidFill>
                <a:latin typeface="Arial"/>
              </a:rPr>
              <a:t>RQ 1.1</a:t>
            </a:r>
          </a:p>
        </p:txBody>
      </p:sp>
      <p:sp>
        <p:nvSpPr>
          <p:cNvPr id="26" name="TextBox 25"/>
          <p:cNvSpPr txBox="1"/>
          <p:nvPr/>
        </p:nvSpPr>
        <p:spPr>
          <a:xfrm>
            <a:off x="4562856" y="4069080"/>
            <a:ext cx="3063240" cy="1188720"/>
          </a:xfrm>
          <a:prstGeom prst="rect">
            <a:avLst/>
          </a:prstGeom>
          <a:noFill/>
        </p:spPr>
        <p:txBody>
          <a:bodyPr wrap="square" lIns="18288" tIns="18288" rIns="18288" bIns="18288" anchor="ctr">
            <a:spAutoFit/>
          </a:bodyPr>
          <a:lstStyle/>
          <a:p>
            <a:pPr algn="l"/>
            <a:r>
              <a:rPr lang="en-US" sz="1450" b="1">
                <a:solidFill>
                  <a:srgbClr val="434343"/>
                </a:solidFill>
                <a:latin typeface="Arial"/>
              </a:rPr>
              <a:t>How can DFL strengthen integrity, accountable provenance, and selected availability properties?</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84464" y="3611880"/>
            <a:ext cx="1051560" cy="310896"/>
          </a:xfrm>
          <a:prstGeom prst="rect">
            <a:avLst/>
          </a:prstGeom>
          <a:noFill/>
        </p:spPr>
        <p:txBody>
          <a:bodyPr wrap="square" lIns="18288" tIns="18288" rIns="18288" bIns="18288" anchor="ctr">
            <a:spAutoFit/>
          </a:bodyPr>
          <a:lstStyle/>
          <a:p>
            <a:pPr algn="l"/>
            <a:r>
              <a:rPr lang="en-US" sz="1500" b="1">
                <a:solidFill>
                  <a:srgbClr val="7A35B5"/>
                </a:solidFill>
                <a:latin typeface="Arial"/>
              </a:rPr>
              <a:t>RQ 1.2</a:t>
            </a:r>
          </a:p>
        </p:txBody>
      </p:sp>
      <p:sp>
        <p:nvSpPr>
          <p:cNvPr id="29" name="TextBox 28"/>
          <p:cNvSpPr txBox="1"/>
          <p:nvPr/>
        </p:nvSpPr>
        <p:spPr>
          <a:xfrm>
            <a:off x="8284464" y="4069080"/>
            <a:ext cx="3063240" cy="1188720"/>
          </a:xfrm>
          <a:prstGeom prst="rect">
            <a:avLst/>
          </a:prstGeom>
          <a:noFill/>
        </p:spPr>
        <p:txBody>
          <a:bodyPr wrap="square" lIns="18288" tIns="18288" rIns="18288" bIns="18288" anchor="ctr">
            <a:spAutoFit/>
          </a:bodyPr>
          <a:lstStyle/>
          <a:p>
            <a:pPr algn="l"/>
            <a:r>
              <a:rPr lang="en-US" sz="1450" b="1">
                <a:solidFill>
                  <a:srgbClr val="434343"/>
                </a:solidFill>
                <a:latin typeface="Arial"/>
              </a:rPr>
              <a:t>How can inference over the current DFL model be bound to attested execution and transparently recorded tool use?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endParaRP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581912"/>
            <a:ext cx="1645920" cy="274320"/>
          </a:xfrm>
          <a:prstGeom prst="rect">
            <a:avLst/>
          </a:prstGeom>
          <a:noFill/>
        </p:spPr>
        <p:txBody>
          <a:bodyPr wrap="square" lIns="18288" tIns="18288" rIns="18288" bIns="18288" anchor="t">
            <a:spAutoFit/>
          </a:bodyPr>
          <a:lstStyle/>
          <a:p>
            <a:pPr algn="l"/>
            <a:r>
              <a:rPr lang="en-US" sz="1400" b="1">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tIns="18288" rIns="18288" bIns="18288" anchor="t">
            <a:spAutoFit/>
          </a:bodyPr>
          <a:lstStyle/>
          <a:p>
            <a:pPr algn="l"/>
            <a:r>
              <a:rPr lang="en-US" sz="1400" b="1">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96112" y="2276856"/>
            <a:ext cx="1188719" cy="292608"/>
          </a:xfrm>
          <a:prstGeom prst="rect">
            <a:avLst/>
          </a:prstGeom>
          <a:noFill/>
        </p:spPr>
        <p:txBody>
          <a:bodyPr wrap="square" lIns="18288" tIns="18288" rIns="18288" bIns="18288" anchor="ctr">
            <a:spAutoFit/>
          </a:bodyPr>
          <a:lstStyle/>
          <a:p>
            <a:pPr algn="ctr"/>
            <a:r>
              <a:rPr lang="en-US" sz="1150" b="1">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86584" y="2276856"/>
            <a:ext cx="1188719" cy="292608"/>
          </a:xfrm>
          <a:prstGeom prst="rect">
            <a:avLst/>
          </a:prstGeom>
          <a:noFill/>
        </p:spPr>
        <p:txBody>
          <a:bodyPr wrap="square" lIns="18288" tIns="18288" rIns="18288" bIns="18288" anchor="ctr">
            <a:spAutoFit/>
          </a:bodyPr>
          <a:lstStyle/>
          <a:p>
            <a:pPr algn="ctr"/>
            <a:r>
              <a:rPr lang="en-US" sz="1150" b="1">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68496" y="2276856"/>
            <a:ext cx="1188719" cy="292608"/>
          </a:xfrm>
          <a:prstGeom prst="rect">
            <a:avLst/>
          </a:prstGeom>
          <a:noFill/>
        </p:spPr>
        <p:txBody>
          <a:bodyPr wrap="square" lIns="18288" tIns="18288" rIns="18288" bIns="18288" anchor="ctr">
            <a:spAutoFit/>
          </a:bodyPr>
          <a:lstStyle/>
          <a:p>
            <a:pPr algn="ctr"/>
            <a:r>
              <a:rPr lang="en-US" sz="1150" b="1">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11696" y="2276856"/>
            <a:ext cx="1517904" cy="292608"/>
          </a:xfrm>
          <a:prstGeom prst="rect">
            <a:avLst/>
          </a:prstGeom>
          <a:noFill/>
        </p:spPr>
        <p:txBody>
          <a:bodyPr wrap="square" lIns="18288" tIns="18288" rIns="18288" bIns="18288" anchor="ctr">
            <a:spAutoFit/>
          </a:bodyPr>
          <a:lstStyle/>
          <a:p>
            <a:pPr algn="ctr"/>
            <a:r>
              <a:rPr lang="en-US" sz="1150" b="1">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23376" y="2276856"/>
            <a:ext cx="1060704" cy="292608"/>
          </a:xfrm>
          <a:prstGeom prst="rect">
            <a:avLst/>
          </a:prstGeom>
          <a:noFill/>
        </p:spPr>
        <p:txBody>
          <a:bodyPr wrap="square" lIns="18288" tIns="18288" rIns="18288" bIns="18288" anchor="ctr">
            <a:spAutoFit/>
          </a:bodyPr>
          <a:lstStyle/>
          <a:p>
            <a:pPr algn="ctr"/>
            <a:r>
              <a:rPr lang="en-US" sz="1150" b="1">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149840" y="2276856"/>
            <a:ext cx="1060704" cy="292608"/>
          </a:xfrm>
          <a:prstGeom prst="rect">
            <a:avLst/>
          </a:prstGeom>
          <a:noFill/>
        </p:spPr>
        <p:txBody>
          <a:bodyPr wrap="square" lIns="18288" tIns="18288" rIns="18288" bIns="18288" anchor="ctr">
            <a:spAutoFit/>
          </a:bodyPr>
          <a:lstStyle/>
          <a:p>
            <a:pPr algn="ctr"/>
            <a:r>
              <a:rPr lang="en-US" sz="1150" b="1">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tIns="18288" rIns="18288" bIns="18288" anchor="ctr">
            <a:spAutoFit/>
          </a:bodyPr>
          <a:lstStyle/>
          <a:p>
            <a:pPr algn="ctr"/>
            <a:r>
              <a:rPr lang="en-US" sz="1000" b="1">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212080" y="3758184"/>
            <a:ext cx="1828800" cy="237744"/>
          </a:xfrm>
          <a:prstGeom prst="rect">
            <a:avLst/>
          </a:prstGeom>
          <a:noFill/>
        </p:spPr>
        <p:txBody>
          <a:bodyPr wrap="square" lIns="18288" tIns="18288" rIns="18288" bIns="18288" anchor="t">
            <a:spAutoFit/>
          </a:bodyPr>
          <a:lstStyle/>
          <a:p>
            <a:pPr algn="ctr"/>
            <a:r>
              <a:rPr lang="en-US" sz="1400" b="1">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tIns="18288" rIns="18288" bIns="18288" anchor="t">
            <a:spAutoFit/>
          </a:bodyPr>
          <a:lstStyle/>
          <a:p>
            <a:pPr algn="ctr"/>
            <a:r>
              <a:rPr lang="en-US" sz="1050" b="1">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tIns="18288" rIns="18288" bIns="18288" anchor="ctr">
            <a:spAutoFit/>
          </a:bodyPr>
          <a:lstStyle/>
          <a:p>
            <a:pPr algn="ctr"/>
            <a:r>
              <a:rPr lang="en-US" sz="1650" b="1">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tIns="18288" rIns="18288" bIns="18288" anchor="ctr">
            <a:spAutoFit/>
          </a:bodyPr>
          <a:lstStyle/>
          <a:p>
            <a:pPr algn="ctr"/>
            <a:r>
              <a:rPr lang="en-US" sz="1650" b="1">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3659" cy="22939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6083" y="2387374"/>
            <a:ext cx="24723" cy="21877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30806" y="2606152"/>
            <a:ext cx="35786" cy="2081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71352" y="3198819"/>
            <a:ext cx="68976" cy="17633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40328" y="3375152"/>
            <a:ext cx="80038" cy="16572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720366" y="3540872"/>
            <a:ext cx="91101" cy="15511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026859" y="3974366"/>
            <a:ext cx="124291" cy="12327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151150" y="4097640"/>
            <a:ext cx="135354" cy="11266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286504" y="4210304"/>
            <a:ext cx="146416" cy="10205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758944" y="4484624"/>
            <a:ext cx="179606" cy="7021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938550" y="4554840"/>
            <a:ext cx="190669" cy="5960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5129219" y="4614446"/>
            <a:ext cx="201733" cy="48994"/>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024" y="2157984"/>
            <a:ext cx="14648" cy="22939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5370" y="2387374"/>
            <a:ext cx="25654" cy="21877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28710" y="2606152"/>
            <a:ext cx="36660" cy="2081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52688" y="3198819"/>
            <a:ext cx="69680" cy="17633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472000" y="3375152"/>
            <a:ext cx="80688" cy="16572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380306" y="3540872"/>
            <a:ext cx="91694" cy="15511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039184" y="3974366"/>
            <a:ext cx="124714" cy="12327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7903464" y="4097640"/>
            <a:ext cx="135720" cy="112664"/>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756736" y="4210304"/>
            <a:ext cx="146728" cy="10205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250514" y="4484624"/>
            <a:ext cx="179747" cy="7021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059760" y="4554840"/>
            <a:ext cx="190754" cy="5960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6858000" y="4614446"/>
            <a:ext cx="201760" cy="48994"/>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4807" y="3922776"/>
            <a:ext cx="73745" cy="11892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5813" y="4041704"/>
            <a:ext cx="78994" cy="1109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1570" y="4152617"/>
            <a:ext cx="84243" cy="1028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67344" y="4437267"/>
            <a:ext cx="99991" cy="7885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362103" y="4516120"/>
            <a:ext cx="105241" cy="7083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251613" y="4586957"/>
            <a:ext cx="110490" cy="6282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888647" y="4751380"/>
            <a:ext cx="126238" cy="3877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757160" y="4790157"/>
            <a:ext cx="131487" cy="3076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620423" y="4820920"/>
            <a:ext cx="136737" cy="227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178717" y="4863817"/>
            <a:ext cx="152485" cy="12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020983" y="4854504"/>
            <a:ext cx="157734" cy="93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6858000" y="4837176"/>
            <a:ext cx="162983" cy="17328"/>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4704" cy="11892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5104" y="4041704"/>
            <a:ext cx="79840" cy="1109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4944" y="4152617"/>
            <a:ext cx="84978" cy="1028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25285" y="4437267"/>
            <a:ext cx="100387" cy="7885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725672" y="4516120"/>
            <a:ext cx="105522" cy="7083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831194" y="4586957"/>
            <a:ext cx="110660" cy="6282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78582" y="4751380"/>
            <a:ext cx="126068" cy="3877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304650" y="4790157"/>
            <a:ext cx="131206" cy="3076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435856" y="4820920"/>
            <a:ext cx="136341" cy="227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860290" y="4863817"/>
            <a:ext cx="151750" cy="129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5012040" y="4854504"/>
            <a:ext cx="156888" cy="93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5168928" y="4837176"/>
            <a:ext cx="162024" cy="17328"/>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tIns="18288" rIns="18288" bIns="18288" anchor="t">
            <a:spAutoFit/>
          </a:bodyPr>
          <a:lstStyle/>
          <a:p>
            <a:pPr algn="l"/>
            <a:r>
              <a:rPr lang="en-US" sz="780" b="1">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TextBox 224"/>
          <p:cNvSpPr txBox="1"/>
          <p:nvPr/>
        </p:nvSpPr>
        <p:spPr>
          <a:xfrm>
            <a:off x="2902671" y="1631015"/>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TextBox 228"/>
          <p:cNvSpPr txBox="1"/>
          <p:nvPr/>
        </p:nvSpPr>
        <p:spPr>
          <a:xfrm>
            <a:off x="3246120" y="1591056"/>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8315919" y="1631015"/>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TextBox 238"/>
          <p:cNvSpPr txBox="1"/>
          <p:nvPr/>
        </p:nvSpPr>
        <p:spPr>
          <a:xfrm>
            <a:off x="8659368" y="1591056"/>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TextBox 244"/>
          <p:cNvSpPr txBox="1"/>
          <p:nvPr/>
        </p:nvSpPr>
        <p:spPr>
          <a:xfrm>
            <a:off x="9266895" y="3532967"/>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TextBox 248"/>
          <p:cNvSpPr txBox="1"/>
          <p:nvPr/>
        </p:nvSpPr>
        <p:spPr>
          <a:xfrm>
            <a:off x="9610344" y="3493008"/>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TextBox 254"/>
          <p:cNvSpPr txBox="1"/>
          <p:nvPr/>
        </p:nvSpPr>
        <p:spPr>
          <a:xfrm>
            <a:off x="5499567" y="4602815"/>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TextBox 258"/>
          <p:cNvSpPr txBox="1"/>
          <p:nvPr/>
        </p:nvSpPr>
        <p:spPr>
          <a:xfrm>
            <a:off x="5843016" y="4562856"/>
            <a:ext cx="1060704"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tIns="18288" rIns="18288" bIns="18288" anchor="t">
            <a:spAutoFit/>
          </a:bodyPr>
          <a:lstStyle/>
          <a:p>
            <a:pPr algn="l"/>
            <a:r>
              <a:rPr lang="en-US" sz="600" b="1">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TextBox 265"/>
          <p:cNvSpPr txBox="1"/>
          <p:nvPr/>
        </p:nvSpPr>
        <p:spPr>
          <a:xfrm>
            <a:off x="1951695" y="3532967"/>
            <a:ext cx="119969" cy="89976"/>
          </a:xfrm>
          <a:prstGeom prst="rect">
            <a:avLst/>
          </a:prstGeom>
          <a:noFill/>
        </p:spPr>
        <p:txBody>
          <a:bodyPr wrap="square" lIns="0" tIns="0" rIns="0" bIns="0" anchor="ctr">
            <a:spAutoFit/>
          </a:bodyPr>
          <a:lstStyle/>
          <a:p>
            <a:pPr algn="ctr"/>
            <a:r>
              <a:rPr lang="en-US" sz="697" b="1">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TextBox 269"/>
          <p:cNvSpPr txBox="1"/>
          <p:nvPr/>
        </p:nvSpPr>
        <p:spPr>
          <a:xfrm>
            <a:off x="2295144" y="3493008"/>
            <a:ext cx="841247" cy="173736"/>
          </a:xfrm>
          <a:prstGeom prst="rect">
            <a:avLst/>
          </a:prstGeom>
          <a:noFill/>
        </p:spPr>
        <p:txBody>
          <a:bodyPr wrap="square" lIns="18288" tIns="18288" rIns="18288" bIns="18288" anchor="t">
            <a:spAutoFit/>
          </a:bodyPr>
          <a:lstStyle/>
          <a:p>
            <a:pPr algn="l"/>
            <a:r>
              <a:rPr lang="en-US" sz="1050" b="1">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tIns="18288" rIns="18288" bIns="18288" anchor="t">
            <a:spAutoFit/>
          </a:bodyPr>
          <a:lstStyle/>
          <a:p>
            <a:pPr algn="l"/>
            <a:r>
              <a:rPr lang="en-US" sz="770" b="0">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TextBox 272"/>
          <p:cNvSpPr txBox="1"/>
          <p:nvPr/>
        </p:nvSpPr>
        <p:spPr>
          <a:xfrm>
            <a:off x="5084064" y="2441448"/>
            <a:ext cx="2020824" cy="201168"/>
          </a:xfrm>
          <a:prstGeom prst="rect">
            <a:avLst/>
          </a:prstGeom>
          <a:noFill/>
        </p:spPr>
        <p:txBody>
          <a:bodyPr wrap="square" lIns="18288" tIns="18288" rIns="18288" bIns="18288" anchor="t">
            <a:spAutoFit/>
          </a:bodyPr>
          <a:lstStyle/>
          <a:p>
            <a:pPr algn="ctr"/>
            <a:r>
              <a:rPr lang="en-US" sz="1050" b="1">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tIns="18288" rIns="18288" bIns="18288" anchor="t">
            <a:spAutoFit/>
          </a:bodyPr>
          <a:lstStyle/>
          <a:p>
            <a:pPr algn="ctr"/>
            <a:r>
              <a:rPr lang="en-US" sz="1950" b="1">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TextBox 283"/>
          <p:cNvSpPr txBox="1"/>
          <p:nvPr/>
        </p:nvSpPr>
        <p:spPr>
          <a:xfrm>
            <a:off x="6025896" y="3282696"/>
            <a:ext cx="146304" cy="109728"/>
          </a:xfrm>
          <a:prstGeom prst="rect">
            <a:avLst/>
          </a:prstGeom>
          <a:noFill/>
        </p:spPr>
        <p:txBody>
          <a:bodyPr wrap="square" lIns="0" tIns="0" rIns="0" bIns="0" anchor="t">
            <a:spAutoFit/>
          </a:bodyPr>
          <a:lstStyle/>
          <a:p>
            <a:pPr algn="ctr"/>
            <a:r>
              <a:rPr lang="en-US" sz="800" b="1">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TextBox 285"/>
          <p:cNvSpPr txBox="1"/>
          <p:nvPr/>
        </p:nvSpPr>
        <p:spPr>
          <a:xfrm>
            <a:off x="5202936" y="3616452"/>
            <a:ext cx="1792224" cy="109728"/>
          </a:xfrm>
          <a:prstGeom prst="rect">
            <a:avLst/>
          </a:prstGeom>
          <a:noFill/>
        </p:spPr>
        <p:txBody>
          <a:bodyPr wrap="square" lIns="0" tIns="0" rIns="0" bIns="0" anchor="t">
            <a:spAutoFit/>
          </a:bodyPr>
          <a:lstStyle/>
          <a:p>
            <a:pPr algn="ctr"/>
            <a:r>
              <a:rPr lang="en-US" sz="770" b="0">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TextBox 287"/>
          <p:cNvSpPr txBox="1"/>
          <p:nvPr/>
        </p:nvSpPr>
        <p:spPr>
          <a:xfrm>
            <a:off x="731520" y="1810512"/>
            <a:ext cx="1271016" cy="164592"/>
          </a:xfrm>
          <a:prstGeom prst="rect">
            <a:avLst/>
          </a:prstGeom>
          <a:noFill/>
        </p:spPr>
        <p:txBody>
          <a:bodyPr wrap="square" lIns="18288" tIns="18288" rIns="18288" bIns="18288" anchor="t">
            <a:spAutoFit/>
          </a:bodyPr>
          <a:lstStyle/>
          <a:p>
            <a:pPr algn="ctr"/>
            <a:r>
              <a:rPr lang="en-US" sz="1000" b="1">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tIns="18288" rIns="18288" bIns="18288" anchor="t">
            <a:spAutoFit/>
          </a:bodyPr>
          <a:lstStyle/>
          <a:p>
            <a:pPr algn="l"/>
            <a:r>
              <a:rPr lang="en-US" sz="740" b="0">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tIns="18288" rIns="18288" bIns="18288" anchor="t">
            <a:spAutoFit/>
          </a:bodyPr>
          <a:lstStyle/>
          <a:p>
            <a:pPr algn="l"/>
            <a:r>
              <a:rPr lang="en-US" sz="740" b="0">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tIns="18288" rIns="18288" bIns="18288" anchor="t">
            <a:spAutoFit/>
          </a:bodyPr>
          <a:lstStyle/>
          <a:p>
            <a:pPr algn="l"/>
            <a:r>
              <a:rPr lang="en-US" sz="740" b="0">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tIns="18288" rIns="18288" bIns="18288" anchor="t">
            <a:spAutoFit/>
          </a:bodyPr>
          <a:lstStyle/>
          <a:p>
            <a:pPr algn="l"/>
            <a:r>
              <a:rPr lang="en-US" sz="600" b="0">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Block 1: verifiable model production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FOUR CONTROL POINTS BEFORE MODEL PUBLICATION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594360" y="1399032"/>
            <a:ext cx="2487168" cy="126187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600200"/>
            <a:ext cx="347472" cy="228600"/>
          </a:xfrm>
          <a:prstGeom prst="rect">
            <a:avLst/>
          </a:prstGeom>
          <a:noFill/>
        </p:spPr>
        <p:txBody>
          <a:bodyPr wrap="square" lIns="18288" tIns="18288" rIns="18288" bIns="18288" anchor="t">
            <a:spAutoFit/>
          </a:bodyPr>
          <a:lstStyle/>
          <a:p>
            <a:pPr algn="l"/>
            <a:r>
              <a:rPr lang="en-US" sz="1100" b="1">
                <a:solidFill>
                  <a:srgbClr val="2F8F46"/>
                </a:solidFill>
                <a:latin typeface="Arial"/>
              </a:rPr>
              <a:t>01</a:t>
            </a:r>
          </a:p>
        </p:txBody>
      </p:sp>
      <p:sp>
        <p:nvSpPr>
          <p:cNvPr id="10" name="TextBox 9"/>
          <p:cNvSpPr txBox="1"/>
          <p:nvPr/>
        </p:nvSpPr>
        <p:spPr>
          <a:xfrm>
            <a:off x="1152144" y="1572768"/>
            <a:ext cx="1673352" cy="274320"/>
          </a:xfrm>
          <a:prstGeom prst="rect">
            <a:avLst/>
          </a:prstGeom>
          <a:noFill/>
        </p:spPr>
        <p:txBody>
          <a:bodyPr wrap="square" lIns="18288" tIns="18288" rIns="18288" bIns="18288" anchor="t">
            <a:spAutoFit/>
          </a:bodyPr>
          <a:lstStyle/>
          <a:p>
            <a:pPr algn="l"/>
            <a:r>
              <a:rPr lang="en-US" sz="1350" b="1">
                <a:solidFill>
                  <a:srgbClr val="2F8F46"/>
                </a:solidFill>
                <a:latin typeface="Arial"/>
              </a:rPr>
              <a:t>INPUT</a:t>
            </a:r>
          </a:p>
        </p:txBody>
      </p:sp>
      <p:sp>
        <p:nvSpPr>
          <p:cNvPr id="11" name="TextBox 10"/>
          <p:cNvSpPr txBox="1"/>
          <p:nvPr/>
        </p:nvSpPr>
        <p:spPr>
          <a:xfrm>
            <a:off x="749808"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Device signs image
Radiologist signs label</a:t>
            </a:r>
          </a:p>
        </p:txBody>
      </p:sp>
      <p:cxnSp>
        <p:nvCxnSpPr>
          <p:cNvPr id="12" name="Connector 11"/>
          <p:cNvCxnSpPr/>
          <p:nvPr/>
        </p:nvCxnSpPr>
        <p:spPr>
          <a:xfrm>
            <a:off x="3099816" y="2029968"/>
            <a:ext cx="24688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83279" y="1399032"/>
            <a:ext cx="2487168" cy="126187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29584" y="1600200"/>
            <a:ext cx="347472" cy="228600"/>
          </a:xfrm>
          <a:prstGeom prst="rect">
            <a:avLst/>
          </a:prstGeom>
          <a:noFill/>
        </p:spPr>
        <p:txBody>
          <a:bodyPr wrap="square" lIns="18288" tIns="18288" rIns="18288" bIns="18288" anchor="t">
            <a:spAutoFit/>
          </a:bodyPr>
          <a:lstStyle/>
          <a:p>
            <a:pPr algn="l"/>
            <a:r>
              <a:rPr lang="en-US" sz="1100" b="1">
                <a:solidFill>
                  <a:srgbClr val="1F90CC"/>
                </a:solidFill>
                <a:latin typeface="Arial"/>
              </a:rPr>
              <a:t>02</a:t>
            </a:r>
          </a:p>
        </p:txBody>
      </p:sp>
      <p:sp>
        <p:nvSpPr>
          <p:cNvPr id="15" name="TextBox 14"/>
          <p:cNvSpPr txBox="1"/>
          <p:nvPr/>
        </p:nvSpPr>
        <p:spPr>
          <a:xfrm>
            <a:off x="3941063" y="1572768"/>
            <a:ext cx="1673352" cy="274320"/>
          </a:xfrm>
          <a:prstGeom prst="rect">
            <a:avLst/>
          </a:prstGeom>
          <a:noFill/>
        </p:spPr>
        <p:txBody>
          <a:bodyPr wrap="square" lIns="18288" tIns="18288" rIns="18288" bIns="18288" anchor="t">
            <a:spAutoFit/>
          </a:bodyPr>
          <a:lstStyle/>
          <a:p>
            <a:pPr algn="l"/>
            <a:r>
              <a:rPr lang="en-US" sz="1350" b="1">
                <a:solidFill>
                  <a:srgbClr val="1F90CC"/>
                </a:solidFill>
                <a:latin typeface="Arial"/>
              </a:rPr>
              <a:t>ADMISSION</a:t>
            </a:r>
          </a:p>
        </p:txBody>
      </p:sp>
      <p:sp>
        <p:nvSpPr>
          <p:cNvPr id="16" name="TextBox 15"/>
          <p:cNvSpPr txBox="1"/>
          <p:nvPr/>
        </p:nvSpPr>
        <p:spPr>
          <a:xfrm>
            <a:off x="3538727"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TDX/DCAP · RTMR3 replay
REPORTDATA binding</a:t>
            </a:r>
          </a:p>
        </p:txBody>
      </p:sp>
      <p:cxnSp>
        <p:nvCxnSpPr>
          <p:cNvPr id="17" name="Connector 16"/>
          <p:cNvCxnSpPr/>
          <p:nvPr/>
        </p:nvCxnSpPr>
        <p:spPr>
          <a:xfrm>
            <a:off x="5888736" y="2029968"/>
            <a:ext cx="24688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1399032"/>
            <a:ext cx="2487168" cy="126187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18504" y="1600200"/>
            <a:ext cx="347472" cy="228600"/>
          </a:xfrm>
          <a:prstGeom prst="rect">
            <a:avLst/>
          </a:prstGeom>
          <a:noFill/>
        </p:spPr>
        <p:txBody>
          <a:bodyPr wrap="square" lIns="18288" tIns="18288" rIns="18288" bIns="18288" anchor="t">
            <a:spAutoFit/>
          </a:bodyPr>
          <a:lstStyle/>
          <a:p>
            <a:pPr algn="l"/>
            <a:r>
              <a:rPr lang="en-US" sz="1100" b="1">
                <a:solidFill>
                  <a:srgbClr val="7A35B5"/>
                </a:solidFill>
                <a:latin typeface="Arial"/>
              </a:rPr>
              <a:t>03</a:t>
            </a:r>
          </a:p>
        </p:txBody>
      </p:sp>
      <p:sp>
        <p:nvSpPr>
          <p:cNvPr id="20" name="TextBox 19"/>
          <p:cNvSpPr txBox="1"/>
          <p:nvPr/>
        </p:nvSpPr>
        <p:spPr>
          <a:xfrm>
            <a:off x="6729984" y="1572768"/>
            <a:ext cx="1673352" cy="274320"/>
          </a:xfrm>
          <a:prstGeom prst="rect">
            <a:avLst/>
          </a:prstGeom>
          <a:noFill/>
        </p:spPr>
        <p:txBody>
          <a:bodyPr wrap="square" lIns="18288" tIns="18288" rIns="18288" bIns="18288" anchor="t">
            <a:spAutoFit/>
          </a:bodyPr>
          <a:lstStyle/>
          <a:p>
            <a:pPr algn="l"/>
            <a:r>
              <a:rPr lang="en-US" sz="1350" b="1">
                <a:solidFill>
                  <a:srgbClr val="7A35B5"/>
                </a:solidFill>
                <a:latin typeface="Arial"/>
              </a:rPr>
              <a:t>ROUND</a:t>
            </a:r>
          </a:p>
        </p:txBody>
      </p:sp>
      <p:sp>
        <p:nvSpPr>
          <p:cNvPr id="21" name="TextBox 20"/>
          <p:cNvSpPr txBox="1"/>
          <p:nvPr/>
        </p:nvSpPr>
        <p:spPr>
          <a:xfrm>
            <a:off x="6327648"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Ledger fixes aggregator,
input root, and policy</a:t>
            </a:r>
          </a:p>
        </p:txBody>
      </p:sp>
      <p:cxnSp>
        <p:nvCxnSpPr>
          <p:cNvPr id="22" name="Connector 21"/>
          <p:cNvCxnSpPr/>
          <p:nvPr/>
        </p:nvCxnSpPr>
        <p:spPr>
          <a:xfrm>
            <a:off x="8677656" y="2029968"/>
            <a:ext cx="246888"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61119" y="1399032"/>
            <a:ext cx="2487168" cy="126187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07424" y="1600200"/>
            <a:ext cx="347472" cy="228600"/>
          </a:xfrm>
          <a:prstGeom prst="rect">
            <a:avLst/>
          </a:prstGeom>
          <a:noFill/>
        </p:spPr>
        <p:txBody>
          <a:bodyPr wrap="square" lIns="18288" tIns="18288" rIns="18288" bIns="18288" anchor="t">
            <a:spAutoFit/>
          </a:bodyPr>
          <a:lstStyle/>
          <a:p>
            <a:pPr algn="l"/>
            <a:r>
              <a:rPr lang="en-US" sz="1100" b="1">
                <a:solidFill>
                  <a:srgbClr val="FF6C00"/>
                </a:solidFill>
                <a:latin typeface="Arial"/>
              </a:rPr>
              <a:t>04</a:t>
            </a:r>
          </a:p>
        </p:txBody>
      </p:sp>
      <p:sp>
        <p:nvSpPr>
          <p:cNvPr id="25" name="TextBox 24"/>
          <p:cNvSpPr txBox="1"/>
          <p:nvPr/>
        </p:nvSpPr>
        <p:spPr>
          <a:xfrm>
            <a:off x="9518903" y="1572768"/>
            <a:ext cx="1673352" cy="274320"/>
          </a:xfrm>
          <a:prstGeom prst="rect">
            <a:avLst/>
          </a:prstGeom>
          <a:noFill/>
        </p:spPr>
        <p:txBody>
          <a:bodyPr wrap="square" lIns="18288" tIns="18288" rIns="18288" bIns="18288" anchor="t">
            <a:spAutoFit/>
          </a:bodyPr>
          <a:lstStyle/>
          <a:p>
            <a:pPr algn="l"/>
            <a:r>
              <a:rPr lang="en-US" sz="1350" b="1">
                <a:solidFill>
                  <a:srgbClr val="FF6C00"/>
                </a:solidFill>
                <a:latin typeface="Arial"/>
              </a:rPr>
              <a:t>AGGREGATION</a:t>
            </a:r>
          </a:p>
        </p:txBody>
      </p:sp>
      <p:sp>
        <p:nvSpPr>
          <p:cNvPr id="26" name="TextBox 25"/>
          <p:cNvSpPr txBox="1"/>
          <p:nvPr/>
        </p:nvSpPr>
        <p:spPr>
          <a:xfrm>
            <a:off x="9116567" y="1993392"/>
            <a:ext cx="2176272" cy="457200"/>
          </a:xfrm>
          <a:prstGeom prst="rect">
            <a:avLst/>
          </a:prstGeom>
          <a:noFill/>
        </p:spPr>
        <p:txBody>
          <a:bodyPr wrap="square" lIns="18288" tIns="18288" rIns="18288" bIns="18288" anchor="t">
            <a:spAutoFit/>
          </a:bodyPr>
          <a:lstStyle/>
          <a:p>
            <a:pPr algn="ctr"/>
            <a:r>
              <a:rPr lang="en-US" sz="1250" b="1">
                <a:solidFill>
                  <a:srgbClr val="434343"/>
                </a:solidFill>
                <a:latin typeface="Arial"/>
              </a:rPr>
              <a:t>Candidate comparison
Parent-loss guard</a:t>
            </a:r>
          </a:p>
        </p:txBody>
      </p:sp>
      <p:sp>
        <p:nvSpPr>
          <p:cNvPr id="27" name="Rounded Rectangle 26"/>
          <p:cNvSpPr/>
          <p:nvPr/>
        </p:nvSpPr>
        <p:spPr>
          <a:xfrm>
            <a:off x="640080" y="2999232"/>
            <a:ext cx="3364992" cy="19019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7" y="3227832"/>
            <a:ext cx="2962656" cy="329184"/>
          </a:xfrm>
          <a:prstGeom prst="rect">
            <a:avLst/>
          </a:prstGeom>
          <a:noFill/>
        </p:spPr>
        <p:txBody>
          <a:bodyPr wrap="square" lIns="18288" tIns="18288" rIns="18288" bIns="18288" anchor="t">
            <a:spAutoFit/>
          </a:bodyPr>
          <a:lstStyle/>
          <a:p>
            <a:pPr algn="l"/>
            <a:r>
              <a:rPr lang="en-US" sz="1600" b="1">
                <a:solidFill>
                  <a:srgbClr val="1F90CC"/>
                </a:solidFill>
                <a:latin typeface="Arial"/>
              </a:rPr>
              <a:t>Measured workload identity</a:t>
            </a:r>
          </a:p>
        </p:txBody>
      </p:sp>
      <p:sp>
        <p:nvSpPr>
          <p:cNvPr id="29" name="TextBox 28"/>
          <p:cNvSpPr txBox="1"/>
          <p:nvPr/>
        </p:nvSpPr>
        <p:spPr>
          <a:xfrm>
            <a:off x="841247" y="3749039"/>
            <a:ext cx="2944368" cy="841248"/>
          </a:xfrm>
          <a:prstGeom prst="rect">
            <a:avLst/>
          </a:prstGeom>
          <a:noFill/>
        </p:spPr>
        <p:txBody>
          <a:bodyPr wrap="square" lIns="18288" tIns="18288" rIns="18288" bIns="18288" anchor="t">
            <a:spAutoFit/>
          </a:bodyPr>
          <a:lstStyle/>
          <a:p>
            <a:pPr algn="l"/>
            <a:r>
              <a:rPr lang="en-US" sz="1400" b="0">
                <a:solidFill>
                  <a:srgbClr val="434343"/>
                </a:solidFill>
                <a:latin typeface="Arial"/>
              </a:rPr>
              <a:t>Registration binds the image, policy, participant, action key, endpoints, and freshness.</a:t>
            </a:r>
          </a:p>
        </p:txBody>
      </p:sp>
      <p:sp>
        <p:nvSpPr>
          <p:cNvPr id="30" name="Rounded Rectangle 29"/>
          <p:cNvSpPr/>
          <p:nvPr/>
        </p:nvSpPr>
        <p:spPr>
          <a:xfrm>
            <a:off x="4325112" y="2999232"/>
            <a:ext cx="3364992" cy="19019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26280" y="3227832"/>
            <a:ext cx="2962656" cy="329184"/>
          </a:xfrm>
          <a:prstGeom prst="rect">
            <a:avLst/>
          </a:prstGeom>
          <a:noFill/>
        </p:spPr>
        <p:txBody>
          <a:bodyPr wrap="square" lIns="18288" tIns="18288" rIns="18288" bIns="18288" anchor="t">
            <a:spAutoFit/>
          </a:bodyPr>
          <a:lstStyle/>
          <a:p>
            <a:pPr algn="l"/>
            <a:r>
              <a:rPr lang="en-US" sz="1600" b="1">
                <a:solidFill>
                  <a:srgbClr val="2F8F46"/>
                </a:solidFill>
                <a:latin typeface="Arial"/>
              </a:rPr>
              <a:t>Input provenance</a:t>
            </a:r>
          </a:p>
        </p:txBody>
      </p:sp>
      <p:sp>
        <p:nvSpPr>
          <p:cNvPr id="32" name="TextBox 31"/>
          <p:cNvSpPr txBox="1"/>
          <p:nvPr/>
        </p:nvSpPr>
        <p:spPr>
          <a:xfrm>
            <a:off x="4526280" y="3749039"/>
            <a:ext cx="2944368" cy="841248"/>
          </a:xfrm>
          <a:prstGeom prst="rect">
            <a:avLst/>
          </a:prstGeom>
          <a:noFill/>
        </p:spPr>
        <p:txBody>
          <a:bodyPr wrap="square" lIns="18288" tIns="18288" rIns="18288" bIns="18288" anchor="t">
            <a:spAutoFit/>
          </a:bodyPr>
          <a:lstStyle/>
          <a:p>
            <a:pPr algn="l"/>
            <a:r>
              <a:rPr lang="en-US" sz="1400" b="0">
                <a:solidFill>
                  <a:srgbClr val="434343"/>
                </a:solidFill>
                <a:latin typeface="Arial"/>
              </a:rPr>
              <a:t>Independent RSA signatures authenticate pixels and labels; active signers are resolved from the ledger.</a:t>
            </a:r>
          </a:p>
        </p:txBody>
      </p:sp>
      <p:sp>
        <p:nvSpPr>
          <p:cNvPr id="33" name="Rounded Rectangle 32"/>
          <p:cNvSpPr/>
          <p:nvPr/>
        </p:nvSpPr>
        <p:spPr>
          <a:xfrm>
            <a:off x="8010144" y="2999232"/>
            <a:ext cx="3364992" cy="19019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11312" y="3227832"/>
            <a:ext cx="2962656" cy="329184"/>
          </a:xfrm>
          <a:prstGeom prst="rect">
            <a:avLst/>
          </a:prstGeom>
          <a:noFill/>
        </p:spPr>
        <p:txBody>
          <a:bodyPr wrap="square" lIns="18288" tIns="18288" rIns="18288" bIns="18288" anchor="t">
            <a:spAutoFit/>
          </a:bodyPr>
          <a:lstStyle/>
          <a:p>
            <a:pPr algn="l"/>
            <a:r>
              <a:rPr lang="en-US" sz="1600" b="1">
                <a:solidFill>
                  <a:srgbClr val="7A35B5"/>
                </a:solidFill>
                <a:latin typeface="Arial"/>
              </a:rPr>
              <a:t>Publication integrity</a:t>
            </a:r>
          </a:p>
        </p:txBody>
      </p:sp>
      <p:sp>
        <p:nvSpPr>
          <p:cNvPr id="35" name="TextBox 34"/>
          <p:cNvSpPr txBox="1"/>
          <p:nvPr/>
        </p:nvSpPr>
        <p:spPr>
          <a:xfrm>
            <a:off x="8211312" y="3749039"/>
            <a:ext cx="2944368" cy="841248"/>
          </a:xfrm>
          <a:prstGeom prst="rect">
            <a:avLst/>
          </a:prstGeom>
          <a:noFill/>
        </p:spPr>
        <p:txBody>
          <a:bodyPr wrap="square" lIns="18288" tIns="18288" rIns="18288" bIns="18288" anchor="t">
            <a:spAutoFit/>
          </a:bodyPr>
          <a:lstStyle/>
          <a:p>
            <a:pPr algn="l"/>
            <a:r>
              <a:rPr lang="en-US" sz="1400" b="0">
                <a:solidFill>
                  <a:srgbClr val="434343"/>
                </a:solidFill>
                <a:latin typeface="Arial"/>
              </a:rPr>
              <a:t>Atomic finalization binds the closed input root to the algorithm, policy, output, and nonce.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Why attested off-chain execution—not ZK everywhere?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BOTH EXECUTE OFF-CHAIN · THE EVIDENCE AND TRUST ASSUMPTIONS DIFFER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1457352"/>
            <a:ext cx="10570464" cy="230832"/>
          </a:xfrm>
          <a:prstGeom prst="rect">
            <a:avLst/>
          </a:prstGeom>
          <a:noFill/>
        </p:spPr>
        <p:txBody>
          <a:bodyPr wrap="square" lIns="18288" tIns="18288" rIns="18288" bIns="18288" anchor="ctr">
            <a:spAutoFit/>
          </a:bodyPr>
          <a:lstStyle/>
          <a:p>
            <a:pPr algn="ctr"/>
            <a:r>
              <a:rPr lang="en-US" sz="1050" b="1" dirty="0">
                <a:solidFill>
                  <a:srgbClr val="C40D1E"/>
                </a:solidFill>
                <a:latin typeface="Arial"/>
              </a:rPr>
              <a:t>ASK FIRST   </a:t>
            </a:r>
            <a:r>
              <a:rPr lang="en-US" sz="1260" b="1" dirty="0">
                <a:solidFill>
                  <a:srgbClr val="434343"/>
                </a:solidFill>
                <a:latin typeface="Arial"/>
              </a:rPr>
              <a:t>Do we need proof of one circuit — or provenance for a stateful native service?</a:t>
            </a:r>
          </a:p>
        </p:txBody>
      </p:sp>
      <p:sp>
        <p:nvSpPr>
          <p:cNvPr id="10" name="Rounded Rectangle 9"/>
          <p:cNvSpPr/>
          <p:nvPr/>
        </p:nvSpPr>
        <p:spPr>
          <a:xfrm>
            <a:off x="566928" y="1984248"/>
            <a:ext cx="5376672" cy="2395728"/>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5528" y="2194560"/>
            <a:ext cx="3593592" cy="265176"/>
          </a:xfrm>
          <a:prstGeom prst="rect">
            <a:avLst/>
          </a:prstGeom>
          <a:noFill/>
        </p:spPr>
        <p:txBody>
          <a:bodyPr wrap="square" lIns="18288" tIns="18288" rIns="18288" bIns="18288" anchor="t">
            <a:spAutoFit/>
          </a:bodyPr>
          <a:lstStyle/>
          <a:p>
            <a:pPr algn="l"/>
            <a:r>
              <a:rPr lang="en-US" sz="1420" b="1">
                <a:solidFill>
                  <a:srgbClr val="1F90CC"/>
                </a:solidFill>
                <a:latin typeface="Arial"/>
              </a:rPr>
              <a:t>TEE + REMOTE ATTESTATION</a:t>
            </a:r>
          </a:p>
        </p:txBody>
      </p:sp>
      <p:sp>
        <p:nvSpPr>
          <p:cNvPr id="14" name="TextBox 13"/>
          <p:cNvSpPr txBox="1"/>
          <p:nvPr/>
        </p:nvSpPr>
        <p:spPr>
          <a:xfrm>
            <a:off x="813816" y="2560320"/>
            <a:ext cx="4846320" cy="201168"/>
          </a:xfrm>
          <a:prstGeom prst="rect">
            <a:avLst/>
          </a:prstGeom>
          <a:noFill/>
        </p:spPr>
        <p:txBody>
          <a:bodyPr wrap="square" lIns="18288" tIns="18288" rIns="18288" bIns="18288" anchor="t">
            <a:spAutoFit/>
          </a:bodyPr>
          <a:lstStyle/>
          <a:p>
            <a:pPr algn="l"/>
            <a:r>
              <a:rPr lang="en-US" sz="980" b="1">
                <a:solidFill>
                  <a:srgbClr val="1F90CC"/>
                </a:solidFill>
                <a:latin typeface="Arial"/>
              </a:rPr>
              <a:t>MEASURED NATIVE WORKLOAD</a:t>
            </a:r>
          </a:p>
        </p:txBody>
      </p:sp>
      <p:sp>
        <p:nvSpPr>
          <p:cNvPr id="15" name="TextBox 14"/>
          <p:cNvSpPr txBox="1"/>
          <p:nvPr/>
        </p:nvSpPr>
        <p:spPr>
          <a:xfrm>
            <a:off x="804672" y="2834640"/>
            <a:ext cx="4882896" cy="1353312"/>
          </a:xfrm>
          <a:prstGeom prst="rect">
            <a:avLst/>
          </a:prstGeom>
          <a:noFill/>
        </p:spPr>
        <p:txBody>
          <a:bodyPr wrap="square" lIns="27432" tIns="18288" rIns="27432" bIns="18288">
            <a:spAutoFit/>
          </a:bodyPr>
          <a:lstStyle/>
          <a:p>
            <a:pPr>
              <a:lnSpc>
                <a:spcPct val="100000"/>
              </a:lnSpc>
              <a:spcAft>
                <a:spcPts val="200"/>
              </a:spcAft>
            </a:pPr>
            <a:r>
              <a:rPr lang="en-US" sz="1000">
                <a:solidFill>
                  <a:srgbClr val="1F90CC"/>
                </a:solidFill>
                <a:latin typeface="Arial"/>
              </a:rPr>
              <a:t>●  </a:t>
            </a:r>
            <a:r>
              <a:rPr lang="en-US" sz="1050">
                <a:solidFill>
                  <a:srgbClr val="434343"/>
                </a:solidFill>
                <a:latin typeface="Arial"/>
              </a:rPr>
              <a:t>Native PyTorch, ledger/IPFS I/O, and key custody stay in one stateful workflow</a:t>
            </a:r>
          </a:p>
          <a:p>
            <a:pPr>
              <a:lnSpc>
                <a:spcPct val="100000"/>
              </a:lnSpc>
              <a:spcAft>
                <a:spcPts val="200"/>
              </a:spcAft>
            </a:pPr>
            <a:r>
              <a:rPr lang="en-US" sz="1000">
                <a:solidFill>
                  <a:srgbClr val="1F90CC"/>
                </a:solidFill>
                <a:latin typeface="Arial"/>
              </a:rPr>
              <a:t>●  </a:t>
            </a:r>
            <a:r>
              <a:rPr lang="en-US" sz="1050">
                <a:solidFill>
                  <a:srgbClr val="434343"/>
                </a:solidFill>
                <a:latin typeface="Arial"/>
              </a:rPr>
              <a:t>TDX isolation protects model, data, and secrets while they are in use</a:t>
            </a:r>
          </a:p>
          <a:p>
            <a:pPr>
              <a:lnSpc>
                <a:spcPct val="100000"/>
              </a:lnSpc>
              <a:spcAft>
                <a:spcPts val="200"/>
              </a:spcAft>
            </a:pPr>
            <a:r>
              <a:rPr lang="en-US" sz="1000">
                <a:solidFill>
                  <a:srgbClr val="1F90CC"/>
                </a:solidFill>
                <a:latin typeface="Arial"/>
              </a:rPr>
              <a:t>●  </a:t>
            </a:r>
            <a:r>
              <a:rPr lang="en-US" sz="1050">
                <a:solidFill>
                  <a:srgbClr val="434343"/>
                </a:solidFill>
                <a:latin typeface="Arial"/>
              </a:rPr>
              <a:t>DCAP evidence plus policy bind the TCB, image/Compose, identities, endpoints, and freshness</a:t>
            </a:r>
          </a:p>
          <a:p>
            <a:pPr>
              <a:lnSpc>
                <a:spcPct val="100000"/>
              </a:lnSpc>
              <a:spcAft>
                <a:spcPts val="200"/>
              </a:spcAft>
            </a:pPr>
            <a:r>
              <a:rPr lang="en-US" sz="1000">
                <a:solidFill>
                  <a:srgbClr val="1F90CC"/>
                </a:solidFill>
                <a:latin typeface="Arial"/>
              </a:rPr>
              <a:t>●  </a:t>
            </a:r>
            <a:r>
              <a:rPr lang="en-US" sz="1050">
                <a:solidFill>
                  <a:srgbClr val="434343"/>
                </a:solidFill>
                <a:latin typeface="Arial"/>
              </a:rPr>
              <a:t>The finalized model stays in its native training representation</a:t>
            </a:r>
          </a:p>
        </p:txBody>
      </p:sp>
      <p:sp>
        <p:nvSpPr>
          <p:cNvPr id="16" name="Rounded Rectangle 15"/>
          <p:cNvSpPr/>
          <p:nvPr/>
        </p:nvSpPr>
        <p:spPr>
          <a:xfrm>
            <a:off x="6236208" y="1984248"/>
            <a:ext cx="5376672" cy="239572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64808" y="2194560"/>
            <a:ext cx="3593592" cy="265176"/>
          </a:xfrm>
          <a:prstGeom prst="rect">
            <a:avLst/>
          </a:prstGeom>
          <a:noFill/>
        </p:spPr>
        <p:txBody>
          <a:bodyPr wrap="square" lIns="18288" tIns="18288" rIns="18288" bIns="18288" anchor="t">
            <a:spAutoFit/>
          </a:bodyPr>
          <a:lstStyle/>
          <a:p>
            <a:pPr algn="l"/>
            <a:r>
              <a:rPr lang="en-US" sz="1420" b="1">
                <a:solidFill>
                  <a:srgbClr val="7A35B5"/>
                </a:solidFill>
                <a:latin typeface="Arial"/>
              </a:rPr>
              <a:t>ZK-PROVED COMPUTATION</a:t>
            </a:r>
          </a:p>
        </p:txBody>
      </p:sp>
      <p:sp>
        <p:nvSpPr>
          <p:cNvPr id="20" name="TextBox 19"/>
          <p:cNvSpPr txBox="1"/>
          <p:nvPr/>
        </p:nvSpPr>
        <p:spPr>
          <a:xfrm>
            <a:off x="6483096" y="2560320"/>
            <a:ext cx="4846320" cy="201168"/>
          </a:xfrm>
          <a:prstGeom prst="rect">
            <a:avLst/>
          </a:prstGeom>
          <a:noFill/>
        </p:spPr>
        <p:txBody>
          <a:bodyPr wrap="square" lIns="18288" tIns="18288" rIns="18288" bIns="18288" anchor="t">
            <a:spAutoFit/>
          </a:bodyPr>
          <a:lstStyle/>
          <a:p>
            <a:pPr algn="l"/>
            <a:r>
              <a:rPr lang="en-US" sz="980" b="1">
                <a:solidFill>
                  <a:srgbClr val="7A35B5"/>
                </a:solidFill>
                <a:latin typeface="Arial"/>
              </a:rPr>
              <a:t>EXACT ENCODED RELATION</a:t>
            </a:r>
          </a:p>
        </p:txBody>
      </p:sp>
      <p:sp>
        <p:nvSpPr>
          <p:cNvPr id="21" name="TextBox 20"/>
          <p:cNvSpPr txBox="1"/>
          <p:nvPr/>
        </p:nvSpPr>
        <p:spPr>
          <a:xfrm>
            <a:off x="6473952" y="2834640"/>
            <a:ext cx="4882896" cy="1457835"/>
          </a:xfrm>
          <a:prstGeom prst="rect">
            <a:avLst/>
          </a:prstGeom>
          <a:noFill/>
        </p:spPr>
        <p:txBody>
          <a:bodyPr wrap="square" lIns="27432" tIns="18288" rIns="27432" bIns="18288">
            <a:spAutoFit/>
          </a:bodyPr>
          <a:lstStyle/>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Strong correctness for one precisely encoded model–input–output relation</a:t>
            </a:r>
          </a:p>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Circuit setup/keys → witness → proof → verify</a:t>
            </a:r>
          </a:p>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Translation, quantization, setup, and proving cost change with the model or circuit</a:t>
            </a:r>
          </a:p>
          <a:p>
            <a:pPr>
              <a:lnSpc>
                <a:spcPct val="100000"/>
              </a:lnSpc>
              <a:spcAft>
                <a:spcPts val="200"/>
              </a:spcAft>
            </a:pPr>
            <a:r>
              <a:rPr lang="en-US" sz="1000" dirty="0">
                <a:solidFill>
                  <a:srgbClr val="7A35B5"/>
                </a:solidFill>
                <a:latin typeface="Arial"/>
              </a:rPr>
              <a:t>●  </a:t>
            </a:r>
            <a:r>
              <a:rPr lang="en-US" sz="1050" dirty="0">
                <a:solidFill>
                  <a:srgbClr val="434343"/>
                </a:solidFill>
                <a:latin typeface="Arial"/>
              </a:rPr>
              <a:t>The proof alone does not establish native runtime identity, training history, or key custody</a:t>
            </a:r>
          </a:p>
          <a:p>
            <a:pPr>
              <a:lnSpc>
                <a:spcPct val="100000"/>
              </a:lnSpc>
              <a:spcAft>
                <a:spcPts val="200"/>
              </a:spcAft>
            </a:pPr>
            <a:r>
              <a:rPr lang="en-US" sz="1050" dirty="0">
                <a:solidFill>
                  <a:srgbClr val="7A35B5"/>
                </a:solidFill>
                <a:latin typeface="Arial"/>
              </a:rPr>
              <a:t>● </a:t>
            </a:r>
            <a:r>
              <a:rPr lang="en-US" sz="1050" dirty="0">
                <a:solidFill>
                  <a:srgbClr val="434343"/>
                </a:solidFill>
                <a:latin typeface="Arial"/>
              </a:rPr>
              <a:t>Decryption, encryption and signing of the model is very resource intensive </a:t>
            </a:r>
          </a:p>
          <a:p>
            <a:pPr>
              <a:lnSpc>
                <a:spcPct val="100000"/>
              </a:lnSpc>
              <a:spcAft>
                <a:spcPts val="200"/>
              </a:spcAft>
            </a:pPr>
            <a:r>
              <a:rPr lang="en-US" sz="1050" dirty="0">
                <a:solidFill>
                  <a:srgbClr val="7A35B5"/>
                </a:solidFill>
                <a:latin typeface="Arial"/>
              </a:rPr>
              <a:t>● </a:t>
            </a:r>
            <a:r>
              <a:rPr lang="en-US" sz="1050" dirty="0">
                <a:solidFill>
                  <a:srgbClr val="434343"/>
                </a:solidFill>
                <a:latin typeface="Arial"/>
              </a:rPr>
              <a:t>Secret Keys are known to the user </a:t>
            </a:r>
          </a:p>
        </p:txBody>
      </p:sp>
      <p:sp>
        <p:nvSpPr>
          <p:cNvPr id="24" name="TextBox 23"/>
          <p:cNvSpPr txBox="1"/>
          <p:nvPr/>
        </p:nvSpPr>
        <p:spPr>
          <a:xfrm>
            <a:off x="704088" y="5349240"/>
            <a:ext cx="10771632" cy="118872"/>
          </a:xfrm>
          <a:prstGeom prst="rect">
            <a:avLst/>
          </a:prstGeom>
          <a:noFill/>
        </p:spPr>
        <p:txBody>
          <a:bodyPr wrap="square" lIns="0" tIns="0" rIns="0" bIns="0" anchor="t">
            <a:spAutoFit/>
          </a:bodyPr>
          <a:lstStyle/>
          <a:p>
            <a:pPr algn="ctr"/>
            <a:r>
              <a:rPr lang="en-US" sz="730" b="0">
                <a:solidFill>
                  <a:srgbClr val="434343"/>
                </a:solidFill>
                <a:latin typeface="Arial"/>
              </a:rPr>
              <a:t>Sources: RFC 9334 · Intel TDX/DCAP · Chen et al., EuroSys ’24 · EZKL docs.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94944" y="1536192"/>
            <a:ext cx="2331720" cy="228600"/>
          </a:xfrm>
          <a:prstGeom prst="rect">
            <a:avLst/>
          </a:prstGeom>
          <a:noFill/>
        </p:spPr>
        <p:txBody>
          <a:bodyPr wrap="square" lIns="18288" tIns="18288" rIns="18288" bIns="18288" anchor="t">
            <a:spAutoFit/>
          </a:bodyPr>
          <a:lstStyle/>
          <a:p>
            <a:pPr algn="l"/>
            <a:r>
              <a:rPr lang="en-US" sz="1250" b="1">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07792" y="1572768"/>
            <a:ext cx="3566160" cy="164592"/>
          </a:xfrm>
          <a:prstGeom prst="rect">
            <a:avLst/>
          </a:prstGeom>
          <a:noFill/>
        </p:spPr>
        <p:txBody>
          <a:bodyPr wrap="square" lIns="18288" tIns="18288" rIns="18288" bIns="18288" anchor="ctr">
            <a:spAutoFit/>
          </a:bodyPr>
          <a:lstStyle/>
          <a:p>
            <a:pPr algn="ctr"/>
            <a:r>
              <a:rPr lang="en-US" sz="950" b="1">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tIns="18288" rIns="18288" bIns="18288" anchor="ctr">
            <a:spAutoFit/>
          </a:bodyPr>
          <a:lstStyle/>
          <a:p>
            <a:pPr algn="ctr"/>
            <a:r>
              <a:rPr lang="en-US" sz="800" b="0">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2104" y="2459736"/>
            <a:ext cx="1353312" cy="228600"/>
          </a:xfrm>
          <a:prstGeom prst="rect">
            <a:avLst/>
          </a:prstGeom>
          <a:noFill/>
        </p:spPr>
        <p:txBody>
          <a:bodyPr wrap="square" lIns="18288" tIns="18288" rIns="18288" bIns="18288" anchor="t">
            <a:spAutoFit/>
          </a:bodyPr>
          <a:lstStyle/>
          <a:p>
            <a:pPr algn="ctr"/>
            <a:r>
              <a:rPr lang="en-US" sz="1150" b="1">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tIns="18288" rIns="18288" bIns="18288" anchor="ctr">
            <a:spAutoFit/>
          </a:bodyPr>
          <a:lstStyle/>
          <a:p>
            <a:pPr algn="ctr"/>
            <a:r>
              <a:rPr lang="en-US" sz="960" b="1">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24912" y="2459736"/>
            <a:ext cx="1261872" cy="228600"/>
          </a:xfrm>
          <a:prstGeom prst="rect">
            <a:avLst/>
          </a:prstGeom>
          <a:noFill/>
        </p:spPr>
        <p:txBody>
          <a:bodyPr wrap="square" lIns="18288" tIns="18288" rIns="18288" bIns="18288" anchor="t">
            <a:spAutoFit/>
          </a:bodyPr>
          <a:lstStyle/>
          <a:p>
            <a:pPr algn="ctr"/>
            <a:r>
              <a:rPr lang="en-US" sz="1150" b="1">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tIns="18288" rIns="18288" bIns="18288" anchor="ctr">
            <a:spAutoFit/>
          </a:bodyPr>
          <a:lstStyle/>
          <a:p>
            <a:pPr algn="ctr"/>
            <a:r>
              <a:rPr lang="en-US" sz="919" b="1">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608576" y="2350008"/>
            <a:ext cx="1792224" cy="228600"/>
          </a:xfrm>
          <a:prstGeom prst="rect">
            <a:avLst/>
          </a:prstGeom>
          <a:noFill/>
        </p:spPr>
        <p:txBody>
          <a:bodyPr wrap="square" lIns="18288" tIns="18288" rIns="18288" bIns="18288" anchor="t">
            <a:spAutoFit/>
          </a:bodyPr>
          <a:lstStyle/>
          <a:p>
            <a:pPr algn="ctr"/>
            <a:r>
              <a:rPr lang="en-US" sz="1200" b="1">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tIns="18288" rIns="18288" bIns="18288" anchor="ctr">
            <a:spAutoFit/>
          </a:bodyPr>
          <a:lstStyle/>
          <a:p>
            <a:pPr algn="ctr"/>
            <a:r>
              <a:rPr lang="en-US" sz="960" b="1">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81728" y="4041648"/>
            <a:ext cx="1645920" cy="201168"/>
          </a:xfrm>
          <a:prstGeom prst="rect">
            <a:avLst/>
          </a:prstGeom>
          <a:noFill/>
        </p:spPr>
        <p:txBody>
          <a:bodyPr wrap="square" lIns="18288" tIns="18288" rIns="18288" bIns="18288" anchor="ctr">
            <a:spAutoFit/>
          </a:bodyPr>
          <a:lstStyle/>
          <a:p>
            <a:pPr algn="ctr"/>
            <a:r>
              <a:rPr lang="en-US" sz="1040" b="1">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 y="4114800"/>
            <a:ext cx="2999232" cy="201168"/>
          </a:xfrm>
          <a:prstGeom prst="rect">
            <a:avLst/>
          </a:prstGeom>
          <a:noFill/>
        </p:spPr>
        <p:txBody>
          <a:bodyPr wrap="square" lIns="18288" tIns="18288" rIns="18288" bIns="18288" anchor="t">
            <a:spAutoFit/>
          </a:bodyPr>
          <a:lstStyle/>
          <a:p>
            <a:pPr algn="l"/>
            <a:r>
              <a:rPr lang="en-US" sz="1060" b="1">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tIns="18288" rIns="18288" bIns="18288" anchor="ctr">
            <a:spAutoFit/>
          </a:bodyPr>
          <a:lstStyle/>
          <a:p>
            <a:pPr algn="l"/>
            <a:r>
              <a:rPr lang="en-US" sz="869" b="1">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88352" y="1536192"/>
            <a:ext cx="4041648" cy="228600"/>
          </a:xfrm>
          <a:prstGeom prst="rect">
            <a:avLst/>
          </a:prstGeom>
          <a:noFill/>
        </p:spPr>
        <p:txBody>
          <a:bodyPr wrap="square" lIns="18288" tIns="18288" rIns="18288" bIns="18288" anchor="t">
            <a:spAutoFit/>
          </a:bodyPr>
          <a:lstStyle/>
          <a:p>
            <a:pPr algn="l"/>
            <a:r>
              <a:rPr lang="en-US" sz="1180" b="1">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tIns="18288" rIns="18288" bIns="18288" anchor="t">
            <a:spAutoFit/>
          </a:bodyPr>
          <a:lstStyle/>
          <a:p>
            <a:pPr algn="ctr"/>
            <a:r>
              <a:rPr lang="en-US" sz="1220" b="1">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tIns="18288" rIns="18288" bIns="18288" anchor="t">
            <a:spAutoFit/>
          </a:bodyPr>
          <a:lstStyle/>
          <a:p>
            <a:pPr algn="ctr"/>
            <a:r>
              <a:rPr lang="en-US" sz="919" b="1">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973568" y="3163824"/>
            <a:ext cx="2871216" cy="201168"/>
          </a:xfrm>
          <a:prstGeom prst="rect">
            <a:avLst/>
          </a:prstGeom>
          <a:noFill/>
        </p:spPr>
        <p:txBody>
          <a:bodyPr wrap="square" lIns="18288" tIns="18288" rIns="18288" bIns="18288" anchor="ctr">
            <a:spAutoFit/>
          </a:bodyPr>
          <a:lstStyle/>
          <a:p>
            <a:pPr algn="ctr"/>
            <a:r>
              <a:rPr lang="en-US" sz="1010" b="1">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443216" y="3886200"/>
            <a:ext cx="1133856" cy="182880"/>
          </a:xfrm>
          <a:prstGeom prst="rect">
            <a:avLst/>
          </a:prstGeom>
          <a:noFill/>
        </p:spPr>
        <p:txBody>
          <a:bodyPr wrap="square" lIns="18288" tIns="18288" rIns="18288" bIns="18288" anchor="t">
            <a:spAutoFit/>
          </a:bodyPr>
          <a:lstStyle/>
          <a:p>
            <a:pPr algn="ctr"/>
            <a:r>
              <a:rPr lang="en-US" sz="860" b="1">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tIns="18288" rIns="18288" bIns="18288" anchor="ctr">
            <a:spAutoFit/>
          </a:bodyPr>
          <a:lstStyle/>
          <a:p>
            <a:pPr algn="ctr"/>
            <a:r>
              <a:rPr lang="en-US" sz="869" b="1">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869680" y="3886200"/>
            <a:ext cx="1133856" cy="182880"/>
          </a:xfrm>
          <a:prstGeom prst="rect">
            <a:avLst/>
          </a:prstGeom>
          <a:noFill/>
        </p:spPr>
        <p:txBody>
          <a:bodyPr wrap="square" lIns="18288" tIns="18288" rIns="18288" bIns="18288" anchor="t">
            <a:spAutoFit/>
          </a:bodyPr>
          <a:lstStyle/>
          <a:p>
            <a:pPr algn="ctr"/>
            <a:r>
              <a:rPr lang="en-US" sz="860" b="1">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tIns="18288" rIns="18288" bIns="18288" anchor="ctr">
            <a:spAutoFit/>
          </a:bodyPr>
          <a:lstStyle/>
          <a:p>
            <a:pPr algn="ctr"/>
            <a:r>
              <a:rPr lang="en-US" sz="869" b="1">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296144" y="3886200"/>
            <a:ext cx="1133856" cy="182880"/>
          </a:xfrm>
          <a:prstGeom prst="rect">
            <a:avLst/>
          </a:prstGeom>
          <a:noFill/>
        </p:spPr>
        <p:txBody>
          <a:bodyPr wrap="square" lIns="18288" tIns="18288" rIns="18288" bIns="18288" anchor="t">
            <a:spAutoFit/>
          </a:bodyPr>
          <a:lstStyle/>
          <a:p>
            <a:pPr algn="ctr"/>
            <a:r>
              <a:rPr lang="en-US" sz="860" b="1">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tIns="18288" rIns="18288" bIns="18288" anchor="ctr">
            <a:spAutoFit/>
          </a:bodyPr>
          <a:lstStyle/>
          <a:p>
            <a:pPr algn="ctr"/>
            <a:r>
              <a:rPr lang="en-US" sz="869" b="1">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tIns="18288" rIns="18288" bIns="18288" anchor="ctr">
            <a:spAutoFit/>
          </a:bodyPr>
          <a:lstStyle/>
          <a:p>
            <a:pPr algn="ctr"/>
            <a:r>
              <a:rPr lang="en-US" sz="810" b="1">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tIns="0" rIns="0" bIns="0" anchor="ctr">
            <a:spAutoFit/>
          </a:bodyPr>
          <a:lstStyle/>
          <a:p>
            <a:pPr algn="ctr"/>
            <a:r>
              <a:rPr lang="en-US" sz="740" b="1">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841248" y="5495544"/>
            <a:ext cx="10524744" cy="146304"/>
          </a:xfrm>
          <a:prstGeom prst="rect">
            <a:avLst/>
          </a:prstGeom>
          <a:noFill/>
        </p:spPr>
        <p:txBody>
          <a:bodyPr wrap="square" lIns="0" tIns="0" rIns="0" bIns="0" anchor="ctr">
            <a:spAutoFit/>
          </a:bodyPr>
          <a:lstStyle/>
          <a:p>
            <a:pPr algn="ctr"/>
            <a:r>
              <a:rPr lang="en-US" sz="960" b="1">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32688" y="1481328"/>
            <a:ext cx="10332720" cy="256032"/>
          </a:xfrm>
          <a:prstGeom prst="rect">
            <a:avLst/>
          </a:prstGeom>
          <a:noFill/>
        </p:spPr>
        <p:txBody>
          <a:bodyPr wrap="square" lIns="18288" tIns="18288" rIns="18288" bIns="18288" anchor="ctr">
            <a:spAutoFit/>
          </a:bodyPr>
          <a:lstStyle/>
          <a:p>
            <a:pPr algn="ctr"/>
            <a:r>
              <a:rPr lang="en-US" sz="1700" b="1">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2176272"/>
            <a:ext cx="2249424" cy="182880"/>
          </a:xfrm>
          <a:prstGeom prst="rect">
            <a:avLst/>
          </a:prstGeom>
          <a:noFill/>
        </p:spPr>
        <p:txBody>
          <a:bodyPr wrap="square" lIns="18288" tIns="18288" rIns="18288" bIns="18288" anchor="t">
            <a:spAutoFit/>
          </a:bodyPr>
          <a:lstStyle/>
          <a:p>
            <a:pPr algn="ctr"/>
            <a:r>
              <a:rPr lang="en-US" sz="1050" b="1">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94176" y="2176272"/>
            <a:ext cx="2249424" cy="182880"/>
          </a:xfrm>
          <a:prstGeom prst="rect">
            <a:avLst/>
          </a:prstGeom>
          <a:noFill/>
        </p:spPr>
        <p:txBody>
          <a:bodyPr wrap="square" lIns="18288" tIns="18288" rIns="18288" bIns="18288" anchor="t">
            <a:spAutoFit/>
          </a:bodyPr>
          <a:lstStyle/>
          <a:p>
            <a:pPr algn="ctr"/>
            <a:r>
              <a:rPr lang="en-US" sz="1050" b="1">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2176272"/>
            <a:ext cx="2249424" cy="182880"/>
          </a:xfrm>
          <a:prstGeom prst="rect">
            <a:avLst/>
          </a:prstGeom>
          <a:noFill/>
        </p:spPr>
        <p:txBody>
          <a:bodyPr wrap="square" lIns="18288" tIns="18288" rIns="18288" bIns="18288" anchor="t">
            <a:spAutoFit/>
          </a:bodyPr>
          <a:lstStyle/>
          <a:p>
            <a:pPr algn="ctr"/>
            <a:r>
              <a:rPr lang="en-US" sz="1050" b="1">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90303" y="2176272"/>
            <a:ext cx="2249424" cy="182880"/>
          </a:xfrm>
          <a:prstGeom prst="rect">
            <a:avLst/>
          </a:prstGeom>
          <a:noFill/>
        </p:spPr>
        <p:txBody>
          <a:bodyPr wrap="square" lIns="18288" tIns="18288" rIns="18288" bIns="18288" anchor="t">
            <a:spAutoFit/>
          </a:bodyPr>
          <a:lstStyle/>
          <a:p>
            <a:pPr algn="ctr"/>
            <a:r>
              <a:rPr lang="en-US" sz="1050" b="1">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tIns="18288" rIns="18288" bIns="18288" anchor="ctr">
            <a:spAutoFit/>
          </a:bodyPr>
          <a:lstStyle/>
          <a:p>
            <a:pPr algn="ctr"/>
            <a:r>
              <a:rPr lang="en-US" sz="1200" b="1">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2688" y="3383280"/>
            <a:ext cx="702781" cy="237744"/>
          </a:xfrm>
          <a:prstGeom prst="rect">
            <a:avLst/>
          </a:prstGeom>
          <a:noFill/>
        </p:spPr>
        <p:txBody>
          <a:bodyPr wrap="square" lIns="0" tIns="0" rIns="0" bIns="0" anchor="ctr">
            <a:spAutoFit/>
          </a:bodyPr>
          <a:lstStyle/>
          <a:p>
            <a:pPr algn="ctr"/>
            <a:r>
              <a:rPr lang="en-US" sz="819" b="1">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672045" y="3383280"/>
            <a:ext cx="1442139" cy="237744"/>
          </a:xfrm>
          <a:prstGeom prst="rect">
            <a:avLst/>
          </a:prstGeom>
          <a:noFill/>
        </p:spPr>
        <p:txBody>
          <a:bodyPr wrap="square" lIns="0" tIns="0" rIns="0" bIns="0" anchor="ctr">
            <a:spAutoFit/>
          </a:bodyPr>
          <a:lstStyle/>
          <a:p>
            <a:pPr algn="ctr"/>
            <a:r>
              <a:rPr lang="en-US" sz="1000" b="1">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150761" y="3383280"/>
            <a:ext cx="2920854" cy="237744"/>
          </a:xfrm>
          <a:prstGeom prst="rect">
            <a:avLst/>
          </a:prstGeom>
          <a:noFill/>
        </p:spPr>
        <p:txBody>
          <a:bodyPr wrap="square" lIns="0" tIns="0" rIns="0" bIns="0" anchor="ctr">
            <a:spAutoFit/>
          </a:bodyPr>
          <a:lstStyle/>
          <a:p>
            <a:pPr algn="ctr"/>
            <a:r>
              <a:rPr lang="en-US" sz="1000" b="1">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108192" y="3383280"/>
            <a:ext cx="5138928" cy="237744"/>
          </a:xfrm>
          <a:prstGeom prst="rect">
            <a:avLst/>
          </a:prstGeom>
          <a:noFill/>
        </p:spPr>
        <p:txBody>
          <a:bodyPr wrap="square" lIns="0" tIns="0" rIns="0" bIns="0" anchor="ctr">
            <a:spAutoFit/>
          </a:bodyPr>
          <a:lstStyle/>
          <a:p>
            <a:pPr algn="ctr"/>
            <a:r>
              <a:rPr lang="en-US" sz="1000" b="1">
                <a:solidFill>
                  <a:srgbClr val="FFFFFF"/>
                </a:solidFill>
                <a:latin typeface="Arial"/>
              </a:rPr>
              <a:t>50.0%</a:t>
            </a:r>
          </a:p>
        </p:txBody>
      </p:sp>
      <p:sp>
        <p:nvSpPr>
          <p:cNvPr id="30" name="TextBox 29"/>
          <p:cNvSpPr txBox="1"/>
          <p:nvPr/>
        </p:nvSpPr>
        <p:spPr>
          <a:xfrm>
            <a:off x="1024128" y="3904487"/>
            <a:ext cx="10131552" cy="228600"/>
          </a:xfrm>
          <a:prstGeom prst="rect">
            <a:avLst/>
          </a:prstGeom>
          <a:noFill/>
        </p:spPr>
        <p:txBody>
          <a:bodyPr wrap="square" lIns="18288" tIns="18288" rIns="18288" bIns="18288" anchor="t">
            <a:spAutoFit/>
          </a:bodyPr>
          <a:lstStyle/>
          <a:p>
            <a:pPr algn="ctr"/>
            <a:r>
              <a:rPr lang="en-US" sz="1100" b="1">
                <a:solidFill>
                  <a:srgbClr val="434343"/>
                </a:solidFill>
                <a:latin typeface="Arial"/>
              </a:rPr>
              <a:t>On-chain draw: hash(prevrandao, time, block, round, incumbent) mod 14 → cumulative interval</a:t>
            </a:r>
          </a:p>
        </p:txBody>
      </p:sp>
      <p:sp>
        <p:nvSpPr>
          <p:cNvPr id="31" name="Rounded Rectangle 30"/>
          <p:cNvSpPr/>
          <p:nvPr/>
        </p:nvSpPr>
        <p:spPr>
          <a:xfrm>
            <a:off x="749808" y="4315968"/>
            <a:ext cx="5285232" cy="960120"/>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87552" y="4498848"/>
            <a:ext cx="1737360" cy="201168"/>
          </a:xfrm>
          <a:prstGeom prst="rect">
            <a:avLst/>
          </a:prstGeom>
          <a:noFill/>
        </p:spPr>
        <p:txBody>
          <a:bodyPr wrap="square" lIns="18288" tIns="18288" rIns="18288" bIns="18288" anchor="t">
            <a:spAutoFit/>
          </a:bodyPr>
          <a:lstStyle/>
          <a:p>
            <a:pPr algn="l"/>
            <a:r>
              <a:rPr lang="en-US" sz="1150" b="1">
                <a:solidFill>
                  <a:srgbClr val="2F8F46"/>
                </a:solidFill>
                <a:latin typeface="Arial"/>
              </a:rPr>
              <a:t>SCORE CHANGES</a:t>
            </a:r>
          </a:p>
        </p:txBody>
      </p:sp>
      <p:sp>
        <p:nvSpPr>
          <p:cNvPr id="33" name="TextBox 32"/>
          <p:cNvSpPr txBox="1"/>
          <p:nvPr/>
        </p:nvSpPr>
        <p:spPr>
          <a:xfrm>
            <a:off x="987552" y="4773168"/>
            <a:ext cx="4754880" cy="310896"/>
          </a:xfrm>
          <a:prstGeom prst="rect">
            <a:avLst/>
          </a:prstGeom>
          <a:noFill/>
        </p:spPr>
        <p:txBody>
          <a:bodyPr wrap="square" lIns="18288" tIns="18288" rIns="18288" bIns="18288" anchor="ctr">
            <a:spAutoFit/>
          </a:bodyPr>
          <a:lstStyle/>
          <a:p>
            <a:pPr algn="l"/>
            <a:r>
              <a:rPr lang="en-US" sz="1150" b="1">
                <a:solidFill>
                  <a:srgbClr val="434343"/>
                </a:solidFill>
                <a:latin typeface="Arial"/>
              </a:rPr>
              <a:t>+1 for a first accepted update or completed aggregation; −1 after defined failure, floored at zero.</a:t>
            </a:r>
          </a:p>
        </p:txBody>
      </p:sp>
      <p:sp>
        <p:nvSpPr>
          <p:cNvPr id="34" name="Rounded Rectangle 33"/>
          <p:cNvSpPr/>
          <p:nvPr/>
        </p:nvSpPr>
        <p:spPr>
          <a:xfrm>
            <a:off x="6199632" y="4315968"/>
            <a:ext cx="5248656" cy="960120"/>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37376" y="4498848"/>
            <a:ext cx="1005840" cy="201168"/>
          </a:xfrm>
          <a:prstGeom prst="rect">
            <a:avLst/>
          </a:prstGeom>
          <a:noFill/>
        </p:spPr>
        <p:txBody>
          <a:bodyPr wrap="square" lIns="18288" tIns="18288" rIns="18288" bIns="18288" anchor="t">
            <a:spAutoFit/>
          </a:bodyPr>
          <a:lstStyle/>
          <a:p>
            <a:pPr algn="l"/>
            <a:r>
              <a:rPr lang="en-US" sz="1150" b="1">
                <a:solidFill>
                  <a:srgbClr val="FF6C00"/>
                </a:solidFill>
                <a:latin typeface="Arial"/>
              </a:rPr>
              <a:t>SCOPE</a:t>
            </a:r>
          </a:p>
        </p:txBody>
      </p:sp>
      <p:sp>
        <p:nvSpPr>
          <p:cNvPr id="36" name="TextBox 35"/>
          <p:cNvSpPr txBox="1"/>
          <p:nvPr/>
        </p:nvSpPr>
        <p:spPr>
          <a:xfrm>
            <a:off x="6437376" y="4773168"/>
            <a:ext cx="4736592" cy="310896"/>
          </a:xfrm>
          <a:prstGeom prst="rect">
            <a:avLst/>
          </a:prstGeom>
          <a:noFill/>
        </p:spPr>
        <p:txBody>
          <a:bodyPr wrap="square" lIns="18288" tIns="18288" rIns="18288" bIns="18288" anchor="ctr">
            <a:spAutoFit/>
          </a:bodyPr>
          <a:lstStyle/>
          <a:p>
            <a:pPr algn="l"/>
            <a:r>
              <a:rPr lang="en-US" sz="1150" b="1">
                <a:solidFill>
                  <a:srgbClr val="434343"/>
                </a:solidFill>
                <a:latin typeface="Arial"/>
              </a:rPr>
              <a:t>Auditable weighted pseudo-random selection—not a bias-resistant randomness beacon or a quality score.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438912" y="1399032"/>
            <a:ext cx="2066543" cy="1874519"/>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1572768"/>
            <a:ext cx="310896" cy="201168"/>
          </a:xfrm>
          <a:prstGeom prst="rect">
            <a:avLst/>
          </a:prstGeom>
          <a:noFill/>
        </p:spPr>
        <p:txBody>
          <a:bodyPr wrap="square" lIns="18288" tIns="18288" rIns="18288" bIns="18288" anchor="t">
            <a:spAutoFit/>
          </a:bodyPr>
          <a:lstStyle/>
          <a:p>
            <a:pPr algn="l"/>
            <a:r>
              <a:rPr lang="en-US" sz="1050" b="1">
                <a:solidFill>
                  <a:srgbClr val="1F90CC"/>
                </a:solidFill>
                <a:latin typeface="Arial"/>
              </a:rPr>
              <a:t>01</a:t>
            </a:r>
          </a:p>
        </p:txBody>
      </p:sp>
      <p:sp>
        <p:nvSpPr>
          <p:cNvPr id="10" name="TextBox 9"/>
          <p:cNvSpPr txBox="1"/>
          <p:nvPr/>
        </p:nvSpPr>
        <p:spPr>
          <a:xfrm>
            <a:off x="914400" y="1554480"/>
            <a:ext cx="1408176" cy="246888"/>
          </a:xfrm>
          <a:prstGeom prst="rect">
            <a:avLst/>
          </a:prstGeom>
          <a:noFill/>
        </p:spPr>
        <p:txBody>
          <a:bodyPr wrap="square" lIns="18288" tIns="18288" rIns="18288" bIns="18288" anchor="t">
            <a:spAutoFit/>
          </a:bodyPr>
          <a:lstStyle/>
          <a:p>
            <a:pPr algn="l"/>
            <a:r>
              <a:rPr lang="en-US" sz="1120" b="1">
                <a:solidFill>
                  <a:srgbClr val="1F90CC"/>
                </a:solidFill>
                <a:latin typeface="Arial"/>
              </a:rPr>
              <a:t>OBSERVE</a:t>
            </a:r>
          </a:p>
        </p:txBody>
      </p:sp>
      <p:sp>
        <p:nvSpPr>
          <p:cNvPr id="11" name="TextBox 10"/>
          <p:cNvSpPr txBox="1"/>
          <p:nvPr/>
        </p:nvSpPr>
        <p:spPr>
          <a:xfrm>
            <a:off x="603503"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Workers detect repeated lack of round progress.</a:t>
            </a:r>
          </a:p>
        </p:txBody>
      </p:sp>
      <p:cxnSp>
        <p:nvCxnSpPr>
          <p:cNvPr id="12" name="Connector 11"/>
          <p:cNvCxnSpPr/>
          <p:nvPr/>
        </p:nvCxnSpPr>
        <p:spPr>
          <a:xfrm>
            <a:off x="2523744" y="2331720"/>
            <a:ext cx="201168"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0632" y="1399032"/>
            <a:ext cx="2066543" cy="1874519"/>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907791" y="1572768"/>
            <a:ext cx="310896" cy="201168"/>
          </a:xfrm>
          <a:prstGeom prst="rect">
            <a:avLst/>
          </a:prstGeom>
          <a:noFill/>
        </p:spPr>
        <p:txBody>
          <a:bodyPr wrap="square" lIns="18288" tIns="18288" rIns="18288" bIns="18288" anchor="t">
            <a:spAutoFit/>
          </a:bodyPr>
          <a:lstStyle/>
          <a:p>
            <a:pPr algn="l"/>
            <a:r>
              <a:rPr lang="en-US" sz="1050" b="1">
                <a:solidFill>
                  <a:srgbClr val="2F8F46"/>
                </a:solidFill>
                <a:latin typeface="Arial"/>
              </a:rPr>
              <a:t>02</a:t>
            </a:r>
          </a:p>
        </p:txBody>
      </p:sp>
      <p:sp>
        <p:nvSpPr>
          <p:cNvPr id="15" name="TextBox 14"/>
          <p:cNvSpPr txBox="1"/>
          <p:nvPr/>
        </p:nvSpPr>
        <p:spPr>
          <a:xfrm>
            <a:off x="3246120" y="1554480"/>
            <a:ext cx="1408176" cy="246888"/>
          </a:xfrm>
          <a:prstGeom prst="rect">
            <a:avLst/>
          </a:prstGeom>
          <a:noFill/>
        </p:spPr>
        <p:txBody>
          <a:bodyPr wrap="square" lIns="18288" tIns="18288" rIns="18288" bIns="18288" anchor="t">
            <a:spAutoFit/>
          </a:bodyPr>
          <a:lstStyle/>
          <a:p>
            <a:pPr algn="l"/>
            <a:r>
              <a:rPr lang="en-US" sz="1120" b="1">
                <a:solidFill>
                  <a:srgbClr val="2F8F46"/>
                </a:solidFill>
                <a:latin typeface="Arial"/>
              </a:rPr>
              <a:t>REPORT</a:t>
            </a:r>
          </a:p>
        </p:txBody>
      </p:sp>
      <p:sp>
        <p:nvSpPr>
          <p:cNvPr id="16" name="TextBox 15"/>
          <p:cNvSpPr txBox="1"/>
          <p:nvPr/>
        </p:nvSpPr>
        <p:spPr>
          <a:xfrm>
            <a:off x="2935224"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Action key signs the exact round and aggregator; duplicates reject.</a:t>
            </a:r>
          </a:p>
        </p:txBody>
      </p:sp>
      <p:cxnSp>
        <p:nvCxnSpPr>
          <p:cNvPr id="17" name="Connector 16"/>
          <p:cNvCxnSpPr/>
          <p:nvPr/>
        </p:nvCxnSpPr>
        <p:spPr>
          <a:xfrm>
            <a:off x="4855464" y="2331720"/>
            <a:ext cx="201167"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02352" y="1399032"/>
            <a:ext cx="2066543" cy="1874519"/>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239512" y="1572768"/>
            <a:ext cx="310896" cy="201168"/>
          </a:xfrm>
          <a:prstGeom prst="rect">
            <a:avLst/>
          </a:prstGeom>
          <a:noFill/>
        </p:spPr>
        <p:txBody>
          <a:bodyPr wrap="square" lIns="18288" tIns="18288" rIns="18288" bIns="18288" anchor="t">
            <a:spAutoFit/>
          </a:bodyPr>
          <a:lstStyle/>
          <a:p>
            <a:pPr algn="l"/>
            <a:r>
              <a:rPr lang="en-US" sz="1050" b="1">
                <a:solidFill>
                  <a:srgbClr val="7A35B5"/>
                </a:solidFill>
                <a:latin typeface="Arial"/>
              </a:rPr>
              <a:t>03</a:t>
            </a:r>
          </a:p>
        </p:txBody>
      </p:sp>
      <p:sp>
        <p:nvSpPr>
          <p:cNvPr id="20" name="TextBox 19"/>
          <p:cNvSpPr txBox="1"/>
          <p:nvPr/>
        </p:nvSpPr>
        <p:spPr>
          <a:xfrm>
            <a:off x="5577840" y="1554480"/>
            <a:ext cx="1408176" cy="246888"/>
          </a:xfrm>
          <a:prstGeom prst="rect">
            <a:avLst/>
          </a:prstGeom>
          <a:noFill/>
        </p:spPr>
        <p:txBody>
          <a:bodyPr wrap="square" lIns="18288" tIns="18288" rIns="18288" bIns="18288" anchor="t">
            <a:spAutoFit/>
          </a:bodyPr>
          <a:lstStyle/>
          <a:p>
            <a:pPr algn="l"/>
            <a:r>
              <a:rPr lang="en-US" sz="1120" b="1">
                <a:solidFill>
                  <a:srgbClr val="7A35B5"/>
                </a:solidFill>
                <a:latin typeface="Arial"/>
              </a:rPr>
              <a:t>FREEZE QUORUM</a:t>
            </a:r>
          </a:p>
        </p:txBody>
      </p:sp>
      <p:sp>
        <p:nvSpPr>
          <p:cNvPr id="21" name="TextBox 20"/>
          <p:cNvSpPr txBox="1"/>
          <p:nvPr/>
        </p:nvSpPr>
        <p:spPr>
          <a:xfrm>
            <a:off x="5266944"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First report snapshots E reporters; q = ceil(E·p/100), p = 50%.</a:t>
            </a:r>
          </a:p>
        </p:txBody>
      </p:sp>
      <p:cxnSp>
        <p:nvCxnSpPr>
          <p:cNvPr id="22" name="Connector 21"/>
          <p:cNvCxnSpPr/>
          <p:nvPr/>
        </p:nvCxnSpPr>
        <p:spPr>
          <a:xfrm>
            <a:off x="7187183" y="2331720"/>
            <a:ext cx="201169"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34071" y="1399032"/>
            <a:ext cx="2066543" cy="1874519"/>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71231" y="1572768"/>
            <a:ext cx="310896" cy="201168"/>
          </a:xfrm>
          <a:prstGeom prst="rect">
            <a:avLst/>
          </a:prstGeom>
          <a:noFill/>
        </p:spPr>
        <p:txBody>
          <a:bodyPr wrap="square" lIns="18288" tIns="18288" rIns="18288" bIns="18288" anchor="t">
            <a:spAutoFit/>
          </a:bodyPr>
          <a:lstStyle/>
          <a:p>
            <a:pPr algn="l"/>
            <a:r>
              <a:rPr lang="en-US" sz="1050" b="1">
                <a:solidFill>
                  <a:srgbClr val="C40D1E"/>
                </a:solidFill>
                <a:latin typeface="Arial"/>
              </a:rPr>
              <a:t>04</a:t>
            </a:r>
          </a:p>
        </p:txBody>
      </p:sp>
      <p:sp>
        <p:nvSpPr>
          <p:cNvPr id="25" name="TextBox 24"/>
          <p:cNvSpPr txBox="1"/>
          <p:nvPr/>
        </p:nvSpPr>
        <p:spPr>
          <a:xfrm>
            <a:off x="7909559" y="1554480"/>
            <a:ext cx="1408176" cy="246888"/>
          </a:xfrm>
          <a:prstGeom prst="rect">
            <a:avLst/>
          </a:prstGeom>
          <a:noFill/>
        </p:spPr>
        <p:txBody>
          <a:bodyPr wrap="square" lIns="18288" tIns="18288" rIns="18288" bIns="18288" anchor="t">
            <a:spAutoFit/>
          </a:bodyPr>
          <a:lstStyle/>
          <a:p>
            <a:pPr algn="l"/>
            <a:r>
              <a:rPr lang="en-US" sz="1120" b="1">
                <a:solidFill>
                  <a:srgbClr val="C40D1E"/>
                </a:solidFill>
                <a:latin typeface="Arial"/>
              </a:rPr>
              <a:t>ABORT</a:t>
            </a:r>
          </a:p>
        </p:txBody>
      </p:sp>
      <p:sp>
        <p:nvSpPr>
          <p:cNvPr id="26" name="TextBox 25"/>
          <p:cNvSpPr txBox="1"/>
          <p:nvPr/>
        </p:nvSpPr>
        <p:spPr>
          <a:xfrm>
            <a:off x="7598663"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Penalize the failed aggregator, mark round r aborted, advance to r+1.</a:t>
            </a:r>
          </a:p>
        </p:txBody>
      </p:sp>
      <p:cxnSp>
        <p:nvCxnSpPr>
          <p:cNvPr id="27" name="Connector 26"/>
          <p:cNvCxnSpPr/>
          <p:nvPr/>
        </p:nvCxnSpPr>
        <p:spPr>
          <a:xfrm>
            <a:off x="9518903" y="2331720"/>
            <a:ext cx="201169" cy="0"/>
          </a:xfrm>
          <a:prstGeom prst="line">
            <a:avLst/>
          </a:prstGeom>
          <a:ln w="1524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65792" y="1399032"/>
            <a:ext cx="2066543" cy="1874519"/>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902952" y="1572768"/>
            <a:ext cx="310896" cy="201168"/>
          </a:xfrm>
          <a:prstGeom prst="rect">
            <a:avLst/>
          </a:prstGeom>
          <a:noFill/>
        </p:spPr>
        <p:txBody>
          <a:bodyPr wrap="square" lIns="18288" tIns="18288" rIns="18288" bIns="18288" anchor="t">
            <a:spAutoFit/>
          </a:bodyPr>
          <a:lstStyle/>
          <a:p>
            <a:pPr algn="l"/>
            <a:r>
              <a:rPr lang="en-US" sz="1050" b="1">
                <a:solidFill>
                  <a:srgbClr val="FF6C00"/>
                </a:solidFill>
                <a:latin typeface="Arial"/>
              </a:rPr>
              <a:t>05</a:t>
            </a:r>
          </a:p>
        </p:txBody>
      </p:sp>
      <p:sp>
        <p:nvSpPr>
          <p:cNvPr id="30" name="TextBox 29"/>
          <p:cNvSpPr txBox="1"/>
          <p:nvPr/>
        </p:nvSpPr>
        <p:spPr>
          <a:xfrm>
            <a:off x="10241280" y="1554480"/>
            <a:ext cx="1408176" cy="246888"/>
          </a:xfrm>
          <a:prstGeom prst="rect">
            <a:avLst/>
          </a:prstGeom>
          <a:noFill/>
        </p:spPr>
        <p:txBody>
          <a:bodyPr wrap="square" lIns="18288" tIns="18288" rIns="18288" bIns="18288" anchor="t">
            <a:spAutoFit/>
          </a:bodyPr>
          <a:lstStyle/>
          <a:p>
            <a:pPr algn="l"/>
            <a:r>
              <a:rPr lang="en-US" sz="1120" b="1">
                <a:solidFill>
                  <a:srgbClr val="FF6C00"/>
                </a:solidFill>
                <a:latin typeface="Arial"/>
              </a:rPr>
              <a:t>REPLACE</a:t>
            </a:r>
          </a:p>
        </p:txBody>
      </p:sp>
      <p:sp>
        <p:nvSpPr>
          <p:cNvPr id="31" name="TextBox 30"/>
          <p:cNvSpPr txBox="1"/>
          <p:nvPr/>
        </p:nvSpPr>
        <p:spPr>
          <a:xfrm>
            <a:off x="9930384" y="1975104"/>
            <a:ext cx="1737360" cy="1024128"/>
          </a:xfrm>
          <a:prstGeom prst="rect">
            <a:avLst/>
          </a:prstGeom>
          <a:noFill/>
        </p:spPr>
        <p:txBody>
          <a:bodyPr wrap="square" lIns="18288" tIns="18288" rIns="18288" bIns="18288" anchor="ctr">
            <a:spAutoFit/>
          </a:bodyPr>
          <a:lstStyle/>
          <a:p>
            <a:pPr algn="ctr"/>
            <a:r>
              <a:rPr lang="en-US" sz="1050" b="1">
                <a:solidFill>
                  <a:srgbClr val="434343"/>
                </a:solidFill>
                <a:latin typeface="Arial"/>
              </a:rPr>
              <a:t>Weighted draw excludes the failed address; state returns to TRAINING.</a:t>
            </a:r>
          </a:p>
        </p:txBody>
      </p:sp>
      <p:sp>
        <p:nvSpPr>
          <p:cNvPr id="32" name="TextBox 31"/>
          <p:cNvSpPr txBox="1"/>
          <p:nvPr/>
        </p:nvSpPr>
        <p:spPr>
          <a:xfrm>
            <a:off x="713232" y="3602736"/>
            <a:ext cx="1645920" cy="219456"/>
          </a:xfrm>
          <a:prstGeom prst="rect">
            <a:avLst/>
          </a:prstGeom>
          <a:noFill/>
        </p:spPr>
        <p:txBody>
          <a:bodyPr wrap="square" lIns="18288" tIns="18288" rIns="18288" bIns="18288" anchor="t">
            <a:spAutoFit/>
          </a:bodyPr>
          <a:lstStyle/>
          <a:p>
            <a:pPr algn="l"/>
            <a:r>
              <a:rPr lang="en-US" sz="1150" b="1">
                <a:solidFill>
                  <a:srgbClr val="C40D1E"/>
                </a:solidFill>
                <a:latin typeface="Arial"/>
              </a:rPr>
              <a:t>STATE TRANSITION</a:t>
            </a:r>
          </a:p>
        </p:txBody>
      </p:sp>
      <p:sp>
        <p:nvSpPr>
          <p:cNvPr id="33" name="Rounded Rectangle 32"/>
          <p:cNvSpPr/>
          <p:nvPr/>
        </p:nvSpPr>
        <p:spPr>
          <a:xfrm>
            <a:off x="713232" y="3877056"/>
            <a:ext cx="3273552" cy="97840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77824" y="4059936"/>
            <a:ext cx="2944368" cy="201168"/>
          </a:xfrm>
          <a:prstGeom prst="rect">
            <a:avLst/>
          </a:prstGeom>
          <a:noFill/>
        </p:spPr>
        <p:txBody>
          <a:bodyPr wrap="square" lIns="18288" tIns="18288" rIns="18288" bIns="18288" anchor="t">
            <a:spAutoFit/>
          </a:bodyPr>
          <a:lstStyle/>
          <a:p>
            <a:pPr algn="ctr"/>
            <a:r>
              <a:rPr lang="en-US" sz="1050" b="1">
                <a:solidFill>
                  <a:srgbClr val="2F8F46"/>
                </a:solidFill>
                <a:latin typeface="Arial"/>
              </a:rPr>
              <a:t>LAST FINALIZED STATE</a:t>
            </a:r>
          </a:p>
        </p:txBody>
      </p:sp>
      <p:sp>
        <p:nvSpPr>
          <p:cNvPr id="35" name="TextBox 34"/>
          <p:cNvSpPr txBox="1"/>
          <p:nvPr/>
        </p:nvSpPr>
        <p:spPr>
          <a:xfrm>
            <a:off x="877824" y="4352544"/>
            <a:ext cx="2944368" cy="237744"/>
          </a:xfrm>
          <a:prstGeom prst="rect">
            <a:avLst/>
          </a:prstGeom>
          <a:noFill/>
        </p:spPr>
        <p:txBody>
          <a:bodyPr wrap="square" lIns="18288" tIns="18288" rIns="18288" bIns="18288" anchor="t">
            <a:spAutoFit/>
          </a:bodyPr>
          <a:lstStyle/>
          <a:p>
            <a:pPr algn="ctr"/>
            <a:r>
              <a:rPr lang="en-US" sz="1150" b="1">
                <a:solidFill>
                  <a:srgbClr val="434343"/>
                </a:solidFill>
                <a:latin typeface="Arial"/>
              </a:rPr>
              <a:t>Model M(r−1) remains authoritative</a:t>
            </a:r>
          </a:p>
        </p:txBody>
      </p:sp>
      <p:cxnSp>
        <p:nvCxnSpPr>
          <p:cNvPr id="36" name="Connector 35"/>
          <p:cNvCxnSpPr/>
          <p:nvPr/>
        </p:nvCxnSpPr>
        <p:spPr>
          <a:xfrm>
            <a:off x="4005072" y="4361688"/>
            <a:ext cx="274320" cy="0"/>
          </a:xfrm>
          <a:prstGeom prst="line">
            <a:avLst/>
          </a:prstGeom>
          <a:ln w="1778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315968" y="3877056"/>
            <a:ext cx="3273552" cy="97840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480559" y="4059936"/>
            <a:ext cx="2944368" cy="201168"/>
          </a:xfrm>
          <a:prstGeom prst="rect">
            <a:avLst/>
          </a:prstGeom>
          <a:noFill/>
        </p:spPr>
        <p:txBody>
          <a:bodyPr wrap="square" lIns="18288" tIns="18288" rIns="18288" bIns="18288" anchor="t">
            <a:spAutoFit/>
          </a:bodyPr>
          <a:lstStyle/>
          <a:p>
            <a:pPr algn="ctr"/>
            <a:r>
              <a:rPr lang="en-US" sz="1050" b="1">
                <a:solidFill>
                  <a:srgbClr val="C40D1E"/>
                </a:solidFill>
                <a:latin typeface="Arial"/>
              </a:rPr>
              <a:t>FAILED ATTEMPT</a:t>
            </a:r>
          </a:p>
        </p:txBody>
      </p:sp>
      <p:sp>
        <p:nvSpPr>
          <p:cNvPr id="39" name="TextBox 38"/>
          <p:cNvSpPr txBox="1"/>
          <p:nvPr/>
        </p:nvSpPr>
        <p:spPr>
          <a:xfrm>
            <a:off x="4480559" y="4352544"/>
            <a:ext cx="2944368" cy="237744"/>
          </a:xfrm>
          <a:prstGeom prst="rect">
            <a:avLst/>
          </a:prstGeom>
          <a:noFill/>
        </p:spPr>
        <p:txBody>
          <a:bodyPr wrap="square" lIns="18288" tIns="18288" rIns="18288" bIns="18288" anchor="t">
            <a:spAutoFit/>
          </a:bodyPr>
          <a:lstStyle/>
          <a:p>
            <a:pPr algn="ctr"/>
            <a:r>
              <a:rPr lang="en-US" sz="1150" b="1">
                <a:solidFill>
                  <a:srgbClr val="434343"/>
                </a:solidFill>
                <a:latin typeface="Arial"/>
              </a:rPr>
              <a:t>Round r is recorded as aborted</a:t>
            </a:r>
          </a:p>
        </p:txBody>
      </p:sp>
      <p:cxnSp>
        <p:nvCxnSpPr>
          <p:cNvPr id="40" name="Connector 39"/>
          <p:cNvCxnSpPr/>
          <p:nvPr/>
        </p:nvCxnSpPr>
        <p:spPr>
          <a:xfrm>
            <a:off x="7607808" y="4361688"/>
            <a:ext cx="274319" cy="0"/>
          </a:xfrm>
          <a:prstGeom prst="line">
            <a:avLst/>
          </a:prstGeom>
          <a:ln w="1778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918704" y="3877056"/>
            <a:ext cx="3273552" cy="97840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083296" y="4059936"/>
            <a:ext cx="2944368" cy="201168"/>
          </a:xfrm>
          <a:prstGeom prst="rect">
            <a:avLst/>
          </a:prstGeom>
          <a:noFill/>
        </p:spPr>
        <p:txBody>
          <a:bodyPr wrap="square" lIns="18288" tIns="18288" rIns="18288" bIns="18288" anchor="t">
            <a:spAutoFit/>
          </a:bodyPr>
          <a:lstStyle/>
          <a:p>
            <a:pPr algn="ctr"/>
            <a:r>
              <a:rPr lang="en-US" sz="1050" b="1">
                <a:solidFill>
                  <a:srgbClr val="1F90CC"/>
                </a:solidFill>
                <a:latin typeface="Arial"/>
              </a:rPr>
              <a:t>SUCCESSOR ROUND</a:t>
            </a:r>
          </a:p>
        </p:txBody>
      </p:sp>
      <p:sp>
        <p:nvSpPr>
          <p:cNvPr id="43" name="TextBox 42"/>
          <p:cNvSpPr txBox="1"/>
          <p:nvPr/>
        </p:nvSpPr>
        <p:spPr>
          <a:xfrm>
            <a:off x="8083296" y="4352544"/>
            <a:ext cx="2944368" cy="237744"/>
          </a:xfrm>
          <a:prstGeom prst="rect">
            <a:avLst/>
          </a:prstGeom>
          <a:noFill/>
        </p:spPr>
        <p:txBody>
          <a:bodyPr wrap="square" lIns="18288" tIns="18288" rIns="18288" bIns="18288" anchor="t">
            <a:spAutoFit/>
          </a:bodyPr>
          <a:lstStyle/>
          <a:p>
            <a:pPr algn="ctr"/>
            <a:r>
              <a:rPr lang="en-US" sz="1150" b="1">
                <a:solidFill>
                  <a:srgbClr val="434343"/>
                </a:solidFill>
                <a:latin typeface="Arial"/>
              </a:rPr>
              <a:t>Round r+1 restarts from M(r−1)</a:t>
            </a:r>
          </a:p>
        </p:txBody>
      </p:sp>
      <p:sp>
        <p:nvSpPr>
          <p:cNvPr id="44" name="Rectangle 43"/>
          <p:cNvSpPr/>
          <p:nvPr/>
        </p:nvSpPr>
        <p:spPr>
          <a:xfrm>
            <a:off x="1298448" y="5093208"/>
            <a:ext cx="9601200" cy="44805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99616" y="5193792"/>
            <a:ext cx="9198864" cy="246888"/>
          </a:xfrm>
          <a:prstGeom prst="rect">
            <a:avLst/>
          </a:prstGeom>
          <a:noFill/>
        </p:spPr>
        <p:txBody>
          <a:bodyPr wrap="square" lIns="18288" tIns="18288" rIns="18288" bIns="18288" anchor="ctr">
            <a:spAutoFit/>
          </a:bodyPr>
          <a:lstStyle/>
          <a:p>
            <a:pPr algn="ctr"/>
            <a:r>
              <a:rPr lang="en-US" sz="1280" b="1">
                <a:solidFill>
                  <a:srgbClr val="FFFFFF"/>
                </a:solidFill>
                <a:latin typeface="Arial"/>
              </a:rPr>
              <a:t>No blockchain rewind: the failed attempt is abandoned and the previous finalized model is preserved.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The critical boundary: authoritative model handoff</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ARTIFACT IDENTITY SURVIVES UNTRUSTED STORAGE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85800" y="1682496"/>
            <a:ext cx="2980944" cy="1947672"/>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50392" y="1956816"/>
            <a:ext cx="2651760" cy="292608"/>
          </a:xfrm>
          <a:prstGeom prst="rect">
            <a:avLst/>
          </a:prstGeom>
          <a:noFill/>
        </p:spPr>
        <p:txBody>
          <a:bodyPr wrap="square" lIns="18288" tIns="18288" rIns="18288" bIns="18288" anchor="t">
            <a:spAutoFit/>
          </a:bodyPr>
          <a:lstStyle/>
          <a:p>
            <a:pPr algn="ctr"/>
            <a:r>
              <a:rPr lang="en-US" sz="1700" b="1">
                <a:solidFill>
                  <a:srgbClr val="C40D1E"/>
                </a:solidFill>
                <a:latin typeface="Arial"/>
              </a:rPr>
              <a:t>LEDGER</a:t>
            </a:r>
          </a:p>
        </p:txBody>
      </p:sp>
      <p:sp>
        <p:nvSpPr>
          <p:cNvPr id="10" name="TextBox 9"/>
          <p:cNvSpPr txBox="1"/>
          <p:nvPr/>
        </p:nvSpPr>
        <p:spPr>
          <a:xfrm>
            <a:off x="868680" y="2560320"/>
            <a:ext cx="2615184" cy="658368"/>
          </a:xfrm>
          <a:prstGeom prst="rect">
            <a:avLst/>
          </a:prstGeom>
          <a:noFill/>
        </p:spPr>
        <p:txBody>
          <a:bodyPr wrap="square" lIns="18288" tIns="18288" rIns="18288" bIns="18288" anchor="t">
            <a:spAutoFit/>
          </a:bodyPr>
          <a:lstStyle/>
          <a:p>
            <a:pPr algn="ctr"/>
            <a:r>
              <a:rPr lang="en-US" sz="1600" b="1">
                <a:solidFill>
                  <a:srgbClr val="434343"/>
                </a:solidFill>
                <a:latin typeface="Arial"/>
              </a:rPr>
              <a:t>Round · publisher
Model, key, and signature CIDs</a:t>
            </a:r>
          </a:p>
        </p:txBody>
      </p:sp>
      <p:sp>
        <p:nvSpPr>
          <p:cNvPr id="11" name="Rounded Rectangle 10"/>
          <p:cNvSpPr/>
          <p:nvPr/>
        </p:nvSpPr>
        <p:spPr>
          <a:xfrm>
            <a:off x="4315968" y="1682496"/>
            <a:ext cx="2980944" cy="1947672"/>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59" y="1956816"/>
            <a:ext cx="2651760" cy="292608"/>
          </a:xfrm>
          <a:prstGeom prst="rect">
            <a:avLst/>
          </a:prstGeom>
          <a:noFill/>
        </p:spPr>
        <p:txBody>
          <a:bodyPr wrap="square" lIns="18288" tIns="18288" rIns="18288" bIns="18288" anchor="t">
            <a:spAutoFit/>
          </a:bodyPr>
          <a:lstStyle/>
          <a:p>
            <a:pPr algn="ctr"/>
            <a:r>
              <a:rPr lang="en-US" sz="1700" b="1">
                <a:solidFill>
                  <a:srgbClr val="7A35B5"/>
                </a:solidFill>
                <a:latin typeface="Arial"/>
              </a:rPr>
              <a:t>IPFS</a:t>
            </a:r>
          </a:p>
        </p:txBody>
      </p:sp>
      <p:sp>
        <p:nvSpPr>
          <p:cNvPr id="13" name="TextBox 12"/>
          <p:cNvSpPr txBox="1"/>
          <p:nvPr/>
        </p:nvSpPr>
        <p:spPr>
          <a:xfrm>
            <a:off x="4498848" y="2560320"/>
            <a:ext cx="2615184" cy="658368"/>
          </a:xfrm>
          <a:prstGeom prst="rect">
            <a:avLst/>
          </a:prstGeom>
          <a:noFill/>
        </p:spPr>
        <p:txBody>
          <a:bodyPr wrap="square" lIns="18288" tIns="18288" rIns="18288" bIns="18288" anchor="t">
            <a:spAutoFit/>
          </a:bodyPr>
          <a:lstStyle/>
          <a:p>
            <a:pPr algn="ctr"/>
            <a:r>
              <a:rPr lang="en-US" sz="1600" b="1">
                <a:solidFill>
                  <a:srgbClr val="434343"/>
                </a:solidFill>
                <a:latin typeface="Arial"/>
              </a:rPr>
              <a:t>AES-GCM model ciphertext
RSA-OAEP key envelopes</a:t>
            </a:r>
          </a:p>
        </p:txBody>
      </p:sp>
      <p:sp>
        <p:nvSpPr>
          <p:cNvPr id="14" name="Rounded Rectangle 13"/>
          <p:cNvSpPr/>
          <p:nvPr/>
        </p:nvSpPr>
        <p:spPr>
          <a:xfrm>
            <a:off x="7936992" y="1682496"/>
            <a:ext cx="2980944" cy="194767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01583" y="1956816"/>
            <a:ext cx="2651760" cy="292608"/>
          </a:xfrm>
          <a:prstGeom prst="rect">
            <a:avLst/>
          </a:prstGeom>
          <a:noFill/>
        </p:spPr>
        <p:txBody>
          <a:bodyPr wrap="square" lIns="18288" tIns="18288" rIns="18288" bIns="18288" anchor="t">
            <a:spAutoFit/>
          </a:bodyPr>
          <a:lstStyle/>
          <a:p>
            <a:pPr algn="ctr"/>
            <a:r>
              <a:rPr lang="en-US" sz="1700" b="1">
                <a:solidFill>
                  <a:srgbClr val="2F8F46"/>
                </a:solidFill>
                <a:latin typeface="Arial"/>
              </a:rPr>
              <a:t>MEASURED RECEIVER</a:t>
            </a:r>
          </a:p>
        </p:txBody>
      </p:sp>
      <p:sp>
        <p:nvSpPr>
          <p:cNvPr id="16" name="TextBox 15"/>
          <p:cNvSpPr txBox="1"/>
          <p:nvPr/>
        </p:nvSpPr>
        <p:spPr>
          <a:xfrm>
            <a:off x="8119871" y="2560320"/>
            <a:ext cx="2615184" cy="658368"/>
          </a:xfrm>
          <a:prstGeom prst="rect">
            <a:avLst/>
          </a:prstGeom>
          <a:noFill/>
        </p:spPr>
        <p:txBody>
          <a:bodyPr wrap="square" lIns="18288" tIns="18288" rIns="18288" bIns="18288" anchor="t">
            <a:spAutoFit/>
          </a:bodyPr>
          <a:lstStyle/>
          <a:p>
            <a:pPr algn="ctr"/>
            <a:r>
              <a:rPr lang="en-US" sz="1600" b="1">
                <a:solidFill>
                  <a:srgbClr val="434343"/>
                </a:solidFill>
                <a:latin typeface="Arial"/>
              </a:rPr>
              <a:t>Resolve · decrypt
Verify signature and hashes</a:t>
            </a:r>
          </a:p>
        </p:txBody>
      </p:sp>
      <p:cxnSp>
        <p:nvCxnSpPr>
          <p:cNvPr id="17" name="Connector 16"/>
          <p:cNvCxnSpPr/>
          <p:nvPr/>
        </p:nvCxnSpPr>
        <p:spPr>
          <a:xfrm>
            <a:off x="3694176" y="2660904"/>
            <a:ext cx="566928" cy="0"/>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324344" y="2660904"/>
            <a:ext cx="557783" cy="0"/>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197864" y="4014215"/>
            <a:ext cx="97840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35024" y="4197096"/>
            <a:ext cx="9509760" cy="274320"/>
          </a:xfrm>
          <a:prstGeom prst="rect">
            <a:avLst/>
          </a:prstGeom>
          <a:noFill/>
        </p:spPr>
        <p:txBody>
          <a:bodyPr wrap="square" lIns="18288" tIns="18288" rIns="18288" bIns="18288" anchor="ctr">
            <a:spAutoFit/>
          </a:bodyPr>
          <a:lstStyle/>
          <a:p>
            <a:pPr algn="ctr"/>
            <a:r>
              <a:rPr lang="en-US" sz="1400" b="0">
                <a:solidFill>
                  <a:srgbClr val="434343"/>
                </a:solidFill>
                <a:latin typeface="Arial"/>
              </a:rPr>
              <a:t>Bound identity:  </a:t>
            </a:r>
            <a:r>
              <a:rPr lang="en-US" sz="1500" b="1">
                <a:solidFill>
                  <a:srgbClr val="C40D1E"/>
                </a:solidFill>
                <a:latin typeface="Arial"/>
              </a:rPr>
              <a:t>publication hash</a:t>
            </a:r>
            <a:r>
              <a:rPr lang="en-US" sz="1500" b="0">
                <a:solidFill>
                  <a:srgbClr val="B2B2B2"/>
                </a:solidFill>
                <a:latin typeface="Arial"/>
              </a:rPr>
              <a:t>  ·  </a:t>
            </a:r>
            <a:r>
              <a:rPr lang="en-US" sz="1500" b="1">
                <a:solidFill>
                  <a:srgbClr val="2F8F46"/>
                </a:solidFill>
                <a:latin typeface="Arial"/>
              </a:rPr>
              <a:t>model hash</a:t>
            </a:r>
            <a:r>
              <a:rPr lang="en-US" sz="1500" b="0">
                <a:solidFill>
                  <a:srgbClr val="B2B2B2"/>
                </a:solidFill>
                <a:latin typeface="Arial"/>
              </a:rPr>
              <a:t>  ·  </a:t>
            </a:r>
            <a:r>
              <a:rPr lang="en-US" sz="1500" b="1">
                <a:solidFill>
                  <a:srgbClr val="7A35B5"/>
                </a:solidFill>
                <a:latin typeface="Arial"/>
              </a:rPr>
              <a:t>publisher key</a:t>
            </a:r>
          </a:p>
        </p:txBody>
      </p:sp>
      <p:sp>
        <p:nvSpPr>
          <p:cNvPr id="21" name="Rectangle 20"/>
          <p:cNvSpPr/>
          <p:nvPr/>
        </p:nvSpPr>
        <p:spPr>
          <a:xfrm>
            <a:off x="1965960" y="4809744"/>
            <a:ext cx="8238744" cy="73152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176272" y="4919472"/>
            <a:ext cx="7818120" cy="512064"/>
          </a:xfrm>
          <a:prstGeom prst="rect">
            <a:avLst/>
          </a:prstGeom>
          <a:noFill/>
        </p:spPr>
        <p:txBody>
          <a:bodyPr wrap="square" lIns="18288" tIns="18288" rIns="18288" bIns="18288" anchor="ctr">
            <a:spAutoFit/>
          </a:bodyPr>
          <a:lstStyle/>
          <a:p>
            <a:pPr algn="ctr"/>
            <a:r>
              <a:rPr lang="en-US" sz="1400" b="1">
                <a:solidFill>
                  <a:srgbClr val="FFFFFF"/>
                </a:solidFill>
                <a:latin typeface="Arial"/>
              </a:rPr>
              <a:t>The agent never supplies a model path—the measured receiver resolves the current publication itself.</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Sello: the receiving service becomes the witness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PROPOSED BY JUAN FIGUERA (2026) · RECEIVER-ATTESTED CONFIDENTIAL RECEIPTS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585216" y="1335024"/>
            <a:ext cx="11009376" cy="475488"/>
          </a:xfrm>
          <a:prstGeom prst="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1453896"/>
            <a:ext cx="10643616" cy="228600"/>
          </a:xfrm>
          <a:prstGeom prst="rect">
            <a:avLst/>
          </a:prstGeom>
          <a:noFill/>
        </p:spPr>
        <p:txBody>
          <a:bodyPr wrap="square" lIns="18288" tIns="18288" rIns="18288" bIns="18288" anchor="ctr">
            <a:spAutoFit/>
          </a:bodyPr>
          <a:lstStyle/>
          <a:p>
            <a:pPr algn="ctr"/>
            <a:r>
              <a:rPr lang="en-US" sz="1080" b="1">
                <a:solidFill>
                  <a:srgbClr val="C40D1E"/>
                </a:solidFill>
                <a:latin typeface="Arial"/>
              </a:rPr>
              <a:t>TRUST-BOUNDARY INVERSION   </a:t>
            </a:r>
            <a:r>
              <a:rPr lang="en-US" sz="1250" b="1">
                <a:solidFill>
                  <a:srgbClr val="434343"/>
                </a:solidFill>
                <a:latin typeface="Arial"/>
              </a:rPr>
              <a:t>Instead of trusting agent-side traces, the called service records what it observed.</a:t>
            </a:r>
          </a:p>
        </p:txBody>
      </p:sp>
      <p:sp>
        <p:nvSpPr>
          <p:cNvPr id="10" name="Rounded Rectangle 9"/>
          <p:cNvSpPr/>
          <p:nvPr/>
        </p:nvSpPr>
        <p:spPr>
          <a:xfrm>
            <a:off x="502920" y="2039112"/>
            <a:ext cx="2148840" cy="12435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936" y="2240280"/>
            <a:ext cx="1892808" cy="246888"/>
          </a:xfrm>
          <a:prstGeom prst="rect">
            <a:avLst/>
          </a:prstGeom>
          <a:noFill/>
        </p:spPr>
        <p:txBody>
          <a:bodyPr wrap="square" lIns="18288" tIns="18288" rIns="18288" bIns="18288" anchor="t">
            <a:spAutoFit/>
          </a:bodyPr>
          <a:lstStyle/>
          <a:p>
            <a:pPr algn="ctr"/>
            <a:r>
              <a:rPr lang="en-US" sz="1130" b="1">
                <a:solidFill>
                  <a:srgbClr val="1F90CC"/>
                </a:solidFill>
                <a:latin typeface="Arial"/>
              </a:rPr>
              <a:t>1  AGENT</a:t>
            </a:r>
          </a:p>
        </p:txBody>
      </p:sp>
      <p:sp>
        <p:nvSpPr>
          <p:cNvPr id="12" name="TextBox 11"/>
          <p:cNvSpPr txBox="1"/>
          <p:nvPr/>
        </p:nvSpPr>
        <p:spPr>
          <a:xfrm>
            <a:off x="658368" y="2578608"/>
            <a:ext cx="1837944"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Action + signed JWS token
Owner HPKE key · log policy</a:t>
            </a:r>
          </a:p>
        </p:txBody>
      </p:sp>
      <p:sp>
        <p:nvSpPr>
          <p:cNvPr id="13" name="Rounded Rectangle 12"/>
          <p:cNvSpPr/>
          <p:nvPr/>
        </p:nvSpPr>
        <p:spPr>
          <a:xfrm>
            <a:off x="3090672" y="2039112"/>
            <a:ext cx="2331720" cy="124358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18688" y="2240280"/>
            <a:ext cx="2075687" cy="246888"/>
          </a:xfrm>
          <a:prstGeom prst="rect">
            <a:avLst/>
          </a:prstGeom>
          <a:noFill/>
        </p:spPr>
        <p:txBody>
          <a:bodyPr wrap="square" lIns="18288" tIns="18288" rIns="18288" bIns="18288" anchor="t">
            <a:spAutoFit/>
          </a:bodyPr>
          <a:lstStyle/>
          <a:p>
            <a:pPr algn="ctr"/>
            <a:r>
              <a:rPr lang="en-US" sz="1130" b="1">
                <a:solidFill>
                  <a:srgbClr val="2F8F46"/>
                </a:solidFill>
                <a:latin typeface="Arial"/>
              </a:rPr>
              <a:t>2  RECEIVING SERVICE</a:t>
            </a:r>
          </a:p>
        </p:txBody>
      </p:sp>
      <p:sp>
        <p:nvSpPr>
          <p:cNvPr id="15" name="TextBox 14"/>
          <p:cNvSpPr txBox="1"/>
          <p:nvPr/>
        </p:nvSpPr>
        <p:spPr>
          <a:xfrm>
            <a:off x="3246120" y="2578608"/>
            <a:ext cx="2020824"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Verify token · execute action
Hash exact input + output</a:t>
            </a:r>
          </a:p>
        </p:txBody>
      </p:sp>
      <p:sp>
        <p:nvSpPr>
          <p:cNvPr id="16" name="Rounded Rectangle 15"/>
          <p:cNvSpPr/>
          <p:nvPr/>
        </p:nvSpPr>
        <p:spPr>
          <a:xfrm>
            <a:off x="5870448" y="2039112"/>
            <a:ext cx="2377440" cy="12435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998464" y="2240280"/>
            <a:ext cx="2121408" cy="246888"/>
          </a:xfrm>
          <a:prstGeom prst="rect">
            <a:avLst/>
          </a:prstGeom>
          <a:noFill/>
        </p:spPr>
        <p:txBody>
          <a:bodyPr wrap="square" lIns="18288" tIns="18288" rIns="18288" bIns="18288" anchor="t">
            <a:spAutoFit/>
          </a:bodyPr>
          <a:lstStyle/>
          <a:p>
            <a:pPr algn="ctr"/>
            <a:r>
              <a:rPr lang="en-US" sz="1130" b="1">
                <a:solidFill>
                  <a:srgbClr val="FF6C00"/>
                </a:solidFill>
                <a:latin typeface="Arial"/>
              </a:rPr>
              <a:t>3  SELLO RECEIPT</a:t>
            </a:r>
          </a:p>
        </p:txBody>
      </p:sp>
      <p:sp>
        <p:nvSpPr>
          <p:cNvPr id="18" name="TextBox 17"/>
          <p:cNvSpPr txBox="1"/>
          <p:nvPr/>
        </p:nvSpPr>
        <p:spPr>
          <a:xfrm>
            <a:off x="6025896" y="2578608"/>
            <a:ext cx="2066544"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HPKE encrypt to owner
COSE_Sign1 with service key</a:t>
            </a:r>
          </a:p>
        </p:txBody>
      </p:sp>
      <p:sp>
        <p:nvSpPr>
          <p:cNvPr id="19" name="Rounded Rectangle 18"/>
          <p:cNvSpPr/>
          <p:nvPr/>
        </p:nvSpPr>
        <p:spPr>
          <a:xfrm>
            <a:off x="8695944" y="2039112"/>
            <a:ext cx="2889504" cy="1243584"/>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23960" y="2240280"/>
            <a:ext cx="2633472" cy="246888"/>
          </a:xfrm>
          <a:prstGeom prst="rect">
            <a:avLst/>
          </a:prstGeom>
          <a:noFill/>
        </p:spPr>
        <p:txBody>
          <a:bodyPr wrap="square" lIns="18288" tIns="18288" rIns="18288" bIns="18288" anchor="t">
            <a:spAutoFit/>
          </a:bodyPr>
          <a:lstStyle/>
          <a:p>
            <a:pPr algn="ctr"/>
            <a:r>
              <a:rPr lang="en-US" sz="1130" b="1">
                <a:solidFill>
                  <a:srgbClr val="7A35B5"/>
                </a:solidFill>
                <a:latin typeface="Arial"/>
              </a:rPr>
              <a:t>4  TRANSPARENCY LOG</a:t>
            </a:r>
          </a:p>
        </p:txBody>
      </p:sp>
      <p:sp>
        <p:nvSpPr>
          <p:cNvPr id="21" name="TextBox 20"/>
          <p:cNvSpPr txBox="1"/>
          <p:nvPr/>
        </p:nvSpPr>
        <p:spPr>
          <a:xfrm>
            <a:off x="8851392" y="2578608"/>
            <a:ext cx="2578608" cy="521207"/>
          </a:xfrm>
          <a:prstGeom prst="rect">
            <a:avLst/>
          </a:prstGeom>
          <a:noFill/>
        </p:spPr>
        <p:txBody>
          <a:bodyPr wrap="square" lIns="18288" tIns="18288" rIns="18288" bIns="18288" anchor="ctr">
            <a:spAutoFit/>
          </a:bodyPr>
          <a:lstStyle/>
          <a:p>
            <a:pPr algn="ctr"/>
            <a:r>
              <a:rPr lang="en-US" sz="980" b="1">
                <a:solidFill>
                  <a:srgbClr val="434343"/>
                </a:solidFill>
                <a:latin typeface="Arial"/>
              </a:rPr>
              <a:t>Append encrypted envelope
Return Merkle inclusion proof</a:t>
            </a:r>
          </a:p>
        </p:txBody>
      </p:sp>
      <p:cxnSp>
        <p:nvCxnSpPr>
          <p:cNvPr id="22" name="Connector 21"/>
          <p:cNvCxnSpPr/>
          <p:nvPr/>
        </p:nvCxnSpPr>
        <p:spPr>
          <a:xfrm>
            <a:off x="2670048" y="2660904"/>
            <a:ext cx="365760" cy="0"/>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440680" y="2660904"/>
            <a:ext cx="374904" cy="0"/>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266175" y="2660904"/>
            <a:ext cx="374905" cy="0"/>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49840" y="3319272"/>
            <a:ext cx="0" cy="256032"/>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88136" y="3621024"/>
            <a:ext cx="9976104" cy="731520"/>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289304" y="3767328"/>
            <a:ext cx="2679192" cy="219456"/>
          </a:xfrm>
          <a:prstGeom prst="rect">
            <a:avLst/>
          </a:prstGeom>
          <a:noFill/>
        </p:spPr>
        <p:txBody>
          <a:bodyPr wrap="square" lIns="18288" tIns="18288" rIns="18288" bIns="18288" anchor="t">
            <a:spAutoFit/>
          </a:bodyPr>
          <a:lstStyle/>
          <a:p>
            <a:pPr algn="l"/>
            <a:r>
              <a:rPr lang="en-US" sz="1080" b="1">
                <a:solidFill>
                  <a:srgbClr val="C40D1E"/>
                </a:solidFill>
                <a:latin typeface="Arial"/>
              </a:rPr>
              <a:t>5  OWNER RECONSTRUCTS THE TRAIL</a:t>
            </a:r>
          </a:p>
        </p:txBody>
      </p:sp>
      <p:sp>
        <p:nvSpPr>
          <p:cNvPr id="28" name="TextBox 27"/>
          <p:cNvSpPr txBox="1"/>
          <p:nvPr/>
        </p:nvSpPr>
        <p:spPr>
          <a:xfrm>
            <a:off x="3877056" y="3749039"/>
            <a:ext cx="6912864" cy="265176"/>
          </a:xfrm>
          <a:prstGeom prst="rect">
            <a:avLst/>
          </a:prstGeom>
          <a:noFill/>
        </p:spPr>
        <p:txBody>
          <a:bodyPr wrap="square" lIns="18288" tIns="18288" rIns="18288" bIns="18288" anchor="ctr">
            <a:spAutoFit/>
          </a:bodyPr>
          <a:lstStyle/>
          <a:p>
            <a:pPr algn="ctr"/>
            <a:r>
              <a:rPr lang="en-US" sz="1120" b="1">
                <a:solidFill>
                  <a:srgbClr val="434343"/>
                </a:solidFill>
                <a:latin typeface="Arial"/>
              </a:rPr>
              <a:t>Query by token_ref  →  verify witnessed log + service signature  →  decrypt locally</a:t>
            </a:r>
          </a:p>
        </p:txBody>
      </p:sp>
      <p:sp>
        <p:nvSpPr>
          <p:cNvPr id="29" name="Rounded Rectangle 28"/>
          <p:cNvSpPr/>
          <p:nvPr/>
        </p:nvSpPr>
        <p:spPr>
          <a:xfrm>
            <a:off x="585216" y="4617720"/>
            <a:ext cx="2587752" cy="5303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13232" y="4754880"/>
            <a:ext cx="393192" cy="182880"/>
          </a:xfrm>
          <a:prstGeom prst="rect">
            <a:avLst/>
          </a:prstGeom>
          <a:noFill/>
        </p:spPr>
        <p:txBody>
          <a:bodyPr wrap="square" lIns="18288" tIns="18288" rIns="18288" bIns="18288" anchor="t">
            <a:spAutoFit/>
          </a:bodyPr>
          <a:lstStyle/>
          <a:p>
            <a:pPr algn="l"/>
            <a:r>
              <a:rPr lang="en-US" sz="980" b="1">
                <a:solidFill>
                  <a:srgbClr val="1F90CC"/>
                </a:solidFill>
                <a:latin typeface="Arial"/>
              </a:rPr>
              <a:t>P1</a:t>
            </a:r>
          </a:p>
        </p:txBody>
      </p:sp>
      <p:sp>
        <p:nvSpPr>
          <p:cNvPr id="31" name="TextBox 30"/>
          <p:cNvSpPr txBox="1"/>
          <p:nvPr/>
        </p:nvSpPr>
        <p:spPr>
          <a:xfrm>
            <a:off x="1088136"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Receiver signs</a:t>
            </a:r>
          </a:p>
        </p:txBody>
      </p:sp>
      <p:sp>
        <p:nvSpPr>
          <p:cNvPr id="32" name="Rounded Rectangle 31"/>
          <p:cNvSpPr/>
          <p:nvPr/>
        </p:nvSpPr>
        <p:spPr>
          <a:xfrm>
            <a:off x="3383280" y="4617720"/>
            <a:ext cx="2587752" cy="5303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511296" y="4754880"/>
            <a:ext cx="393192" cy="182880"/>
          </a:xfrm>
          <a:prstGeom prst="rect">
            <a:avLst/>
          </a:prstGeom>
          <a:noFill/>
        </p:spPr>
        <p:txBody>
          <a:bodyPr wrap="square" lIns="18288" tIns="18288" rIns="18288" bIns="18288" anchor="t">
            <a:spAutoFit/>
          </a:bodyPr>
          <a:lstStyle/>
          <a:p>
            <a:pPr algn="l"/>
            <a:r>
              <a:rPr lang="en-US" sz="980" b="1">
                <a:solidFill>
                  <a:srgbClr val="2F8F46"/>
                </a:solidFill>
                <a:latin typeface="Arial"/>
              </a:rPr>
              <a:t>P2</a:t>
            </a:r>
          </a:p>
        </p:txBody>
      </p:sp>
      <p:sp>
        <p:nvSpPr>
          <p:cNvPr id="34" name="TextBox 33"/>
          <p:cNvSpPr txBox="1"/>
          <p:nvPr/>
        </p:nvSpPr>
        <p:spPr>
          <a:xfrm>
            <a:off x="3886200"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Owner-encrypted</a:t>
            </a:r>
          </a:p>
        </p:txBody>
      </p:sp>
      <p:sp>
        <p:nvSpPr>
          <p:cNvPr id="35" name="Rounded Rectangle 34"/>
          <p:cNvSpPr/>
          <p:nvPr/>
        </p:nvSpPr>
        <p:spPr>
          <a:xfrm>
            <a:off x="6181344" y="4617720"/>
            <a:ext cx="2587752" cy="5303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309359" y="4754880"/>
            <a:ext cx="393192" cy="182880"/>
          </a:xfrm>
          <a:prstGeom prst="rect">
            <a:avLst/>
          </a:prstGeom>
          <a:noFill/>
        </p:spPr>
        <p:txBody>
          <a:bodyPr wrap="square" lIns="18288" tIns="18288" rIns="18288" bIns="18288" anchor="t">
            <a:spAutoFit/>
          </a:bodyPr>
          <a:lstStyle/>
          <a:p>
            <a:pPr algn="l"/>
            <a:r>
              <a:rPr lang="en-US" sz="980" b="1">
                <a:solidFill>
                  <a:srgbClr val="FF6C00"/>
                </a:solidFill>
                <a:latin typeface="Arial"/>
              </a:rPr>
              <a:t>P3</a:t>
            </a:r>
          </a:p>
        </p:txBody>
      </p:sp>
      <p:sp>
        <p:nvSpPr>
          <p:cNvPr id="37" name="TextBox 36"/>
          <p:cNvSpPr txBox="1"/>
          <p:nvPr/>
        </p:nvSpPr>
        <p:spPr>
          <a:xfrm>
            <a:off x="6684264"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Witness-cosigned log</a:t>
            </a:r>
          </a:p>
        </p:txBody>
      </p:sp>
      <p:sp>
        <p:nvSpPr>
          <p:cNvPr id="38" name="Rounded Rectangle 37"/>
          <p:cNvSpPr/>
          <p:nvPr/>
        </p:nvSpPr>
        <p:spPr>
          <a:xfrm>
            <a:off x="8979408" y="4617720"/>
            <a:ext cx="2587752" cy="5303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07424" y="4754880"/>
            <a:ext cx="393192" cy="182880"/>
          </a:xfrm>
          <a:prstGeom prst="rect">
            <a:avLst/>
          </a:prstGeom>
          <a:noFill/>
        </p:spPr>
        <p:txBody>
          <a:bodyPr wrap="square" lIns="18288" tIns="18288" rIns="18288" bIns="18288" anchor="t">
            <a:spAutoFit/>
          </a:bodyPr>
          <a:lstStyle/>
          <a:p>
            <a:pPr algn="l"/>
            <a:r>
              <a:rPr lang="en-US" sz="980" b="1">
                <a:solidFill>
                  <a:srgbClr val="7A35B5"/>
                </a:solidFill>
                <a:latin typeface="Arial"/>
              </a:rPr>
              <a:t>P4</a:t>
            </a:r>
          </a:p>
        </p:txBody>
      </p:sp>
      <p:sp>
        <p:nvSpPr>
          <p:cNvPr id="40" name="TextBox 39"/>
          <p:cNvSpPr txBox="1"/>
          <p:nvPr/>
        </p:nvSpPr>
        <p:spPr>
          <a:xfrm>
            <a:off x="9482328" y="4736592"/>
            <a:ext cx="1938528" cy="210312"/>
          </a:xfrm>
          <a:prstGeom prst="rect">
            <a:avLst/>
          </a:prstGeom>
          <a:noFill/>
        </p:spPr>
        <p:txBody>
          <a:bodyPr wrap="square" lIns="18288" tIns="18288" rIns="18288" bIns="18288" anchor="t">
            <a:spAutoFit/>
          </a:bodyPr>
          <a:lstStyle/>
          <a:p>
            <a:pPr algn="ctr"/>
            <a:r>
              <a:rPr lang="en-US" sz="1030" b="1">
                <a:solidFill>
                  <a:srgbClr val="434343"/>
                </a:solidFill>
                <a:latin typeface="Arial"/>
              </a:rPr>
              <a:t>Owner discovery</a:t>
            </a:r>
          </a:p>
        </p:txBody>
      </p:sp>
      <p:sp>
        <p:nvSpPr>
          <p:cNvPr id="41" name="TextBox 40"/>
          <p:cNvSpPr txBox="1"/>
          <p:nvPr/>
        </p:nvSpPr>
        <p:spPr>
          <a:xfrm>
            <a:off x="731520" y="5330952"/>
            <a:ext cx="10716768" cy="201168"/>
          </a:xfrm>
          <a:prstGeom prst="rect">
            <a:avLst/>
          </a:prstGeom>
          <a:noFill/>
        </p:spPr>
        <p:txBody>
          <a:bodyPr wrap="square" lIns="18288" tIns="18288" rIns="18288" bIns="18288" anchor="ctr">
            <a:spAutoFit/>
          </a:bodyPr>
          <a:lstStyle/>
          <a:p>
            <a:pPr algn="ctr"/>
            <a:r>
              <a:rPr lang="en-US" sz="919" b="1">
                <a:solidFill>
                  <a:srgbClr val="FF6C00"/>
                </a:solidFill>
                <a:latin typeface="Arial"/>
              </a:rPr>
              <a:t>BOUNDARY   </a:t>
            </a:r>
            <a:r>
              <a:rPr lang="en-US" sz="980" b="1">
                <a:solidFill>
                  <a:srgbClr val="434343"/>
                </a:solidFill>
                <a:latin typeface="Arial"/>
              </a:rPr>
              <a:t>No receipt can prove an unmade call; service collusion remains outside the guarantee.</a:t>
            </a:r>
          </a:p>
        </p:txBody>
      </p:sp>
      <p:sp>
        <p:nvSpPr>
          <p:cNvPr id="42" name="TextBox 41"/>
          <p:cNvSpPr txBox="1"/>
          <p:nvPr/>
        </p:nvSpPr>
        <p:spPr>
          <a:xfrm>
            <a:off x="731520" y="5532120"/>
            <a:ext cx="10716768" cy="164592"/>
          </a:xfrm>
          <a:prstGeom prst="rect">
            <a:avLst/>
          </a:prstGeom>
          <a:noFill/>
        </p:spPr>
        <p:txBody>
          <a:bodyPr wrap="square" lIns="18288" tIns="18288" rIns="18288" bIns="18288" anchor="t">
            <a:spAutoFit/>
          </a:bodyPr>
          <a:lstStyle/>
          <a:p>
            <a:pPr algn="ctr"/>
            <a:r>
              <a:rPr lang="en-US" sz="840" b="0">
                <a:solidFill>
                  <a:srgbClr val="434343"/>
                </a:solidFill>
                <a:latin typeface="Arial"/>
              </a:rPr>
              <a:t>Source: J. Figuera, Notarized Agents, arXiv:2606.04193 (2026).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9204" y="1499616"/>
            <a:ext cx="1856231" cy="201168"/>
          </a:xfrm>
          <a:prstGeom prst="rect">
            <a:avLst/>
          </a:prstGeom>
          <a:noFill/>
        </p:spPr>
        <p:txBody>
          <a:bodyPr wrap="square" lIns="18288" tIns="18288" rIns="18288" bIns="18288" anchor="t">
            <a:spAutoFit/>
          </a:bodyPr>
          <a:lstStyle/>
          <a:p>
            <a:pPr algn="ctr"/>
            <a:r>
              <a:rPr lang="en-US" sz="1150" b="1">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86883" y="1499616"/>
            <a:ext cx="1856231" cy="201168"/>
          </a:xfrm>
          <a:prstGeom prst="rect">
            <a:avLst/>
          </a:prstGeom>
          <a:noFill/>
        </p:spPr>
        <p:txBody>
          <a:bodyPr wrap="square" lIns="18288" tIns="18288" rIns="18288" bIns="18288" anchor="t">
            <a:spAutoFit/>
          </a:bodyPr>
          <a:lstStyle/>
          <a:p>
            <a:pPr algn="ctr"/>
            <a:r>
              <a:rPr lang="en-US" sz="1150" b="1">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83396" y="1499616"/>
            <a:ext cx="1947672" cy="201168"/>
          </a:xfrm>
          <a:prstGeom prst="rect">
            <a:avLst/>
          </a:prstGeom>
          <a:noFill/>
        </p:spPr>
        <p:txBody>
          <a:bodyPr wrap="square" lIns="18288" tIns="18288" rIns="18288" bIns="18288" anchor="t">
            <a:spAutoFit/>
          </a:bodyPr>
          <a:lstStyle/>
          <a:p>
            <a:pPr algn="ctr"/>
            <a:r>
              <a:rPr lang="en-US" sz="1150" b="1">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tIns="18288" rIns="18288" bIns="18288" anchor="t">
            <a:spAutoFit/>
          </a:bodyPr>
          <a:lstStyle/>
          <a:p>
            <a:pPr algn="l"/>
            <a:r>
              <a:rPr lang="en-US" sz="1120" b="1">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tIns="18288" rIns="18288" bIns="18288" anchor="t">
            <a:spAutoFit/>
          </a:bodyPr>
          <a:lstStyle/>
          <a:p>
            <a:pPr algn="r"/>
            <a:r>
              <a:rPr lang="en-US" sz="940" b="1">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tIns="18288" rIns="18288" bIns="18288" anchor="t">
            <a:spAutoFit/>
          </a:bodyPr>
          <a:lstStyle/>
          <a:p>
            <a:pPr algn="ctr"/>
            <a:r>
              <a:rPr lang="en-US" sz="950" b="1">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tIns="18288" rIns="18288" bIns="18288" anchor="t">
            <a:spAutoFit/>
          </a:bodyPr>
          <a:lstStyle/>
          <a:p>
            <a:pPr algn="l"/>
            <a:r>
              <a:rPr lang="en-US" sz="1120" b="1">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tIns="18288" rIns="18288" bIns="18288" anchor="t">
            <a:spAutoFit/>
          </a:bodyPr>
          <a:lstStyle/>
          <a:p>
            <a:pPr algn="r"/>
            <a:r>
              <a:rPr lang="en-US" sz="940" b="1">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tIns="18288" rIns="18288" bIns="18288" anchor="t">
            <a:spAutoFit/>
          </a:bodyPr>
          <a:lstStyle/>
          <a:p>
            <a:pPr algn="ctr"/>
            <a:r>
              <a:rPr lang="en-US" sz="950" b="1">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tIns="18288" rIns="18288" bIns="18288" anchor="t">
            <a:spAutoFit/>
          </a:bodyPr>
          <a:lstStyle/>
          <a:p>
            <a:pPr algn="l"/>
            <a:r>
              <a:rPr lang="en-US" sz="1120" b="1">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tIns="18288" rIns="18288" bIns="18288" anchor="t">
            <a:spAutoFit/>
          </a:bodyPr>
          <a:lstStyle/>
          <a:p>
            <a:pPr algn="r"/>
            <a:r>
              <a:rPr lang="en-US" sz="940" b="1">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tIns="18288" rIns="18288" bIns="18288" anchor="t">
            <a:spAutoFit/>
          </a:bodyPr>
          <a:lstStyle/>
          <a:p>
            <a:pPr algn="ctr"/>
            <a:r>
              <a:rPr lang="en-US" sz="950" b="1">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tIns="18288" rIns="18288" bIns="18288" anchor="t">
            <a:spAutoFit/>
          </a:bodyPr>
          <a:lstStyle/>
          <a:p>
            <a:pPr algn="ctr"/>
            <a:r>
              <a:rPr lang="en-US" sz="1080" b="1">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87552" y="4965192"/>
            <a:ext cx="10168128" cy="246888"/>
          </a:xfrm>
          <a:prstGeom prst="rect">
            <a:avLst/>
          </a:prstGeom>
          <a:noFill/>
        </p:spPr>
        <p:txBody>
          <a:bodyPr wrap="square" lIns="18288" tIns="18288" rIns="18288" bIns="18288" anchor="ctr">
            <a:spAutoFit/>
          </a:bodyPr>
          <a:lstStyle/>
          <a:p>
            <a:pPr algn="ctr"/>
            <a:r>
              <a:rPr lang="en-US" sz="1500" b="1">
                <a:solidFill>
                  <a:srgbClr val="7A35B5"/>
                </a:solidFill>
                <a:latin typeface="Arial"/>
              </a:rPr>
              <a:t>3 × receiver-signed tool receipts</a:t>
            </a:r>
            <a:r>
              <a:rPr lang="en-US" sz="1600" b="0">
                <a:solidFill>
                  <a:srgbClr val="434343"/>
                </a:solidFill>
                <a:latin typeface="Arial"/>
              </a:rPr>
              <a:t>   +   </a:t>
            </a:r>
            <a:r>
              <a:rPr lang="en-US" sz="1500" b="1">
                <a:solidFill>
                  <a:srgbClr val="1F90CC"/>
                </a:solidFill>
                <a:latin typeface="Arial"/>
              </a:rPr>
              <a:t>1 × complete inference bundle</a:t>
            </a:r>
            <a:r>
              <a:rPr lang="en-US" sz="1500" b="1">
                <a:solidFill>
                  <a:srgbClr val="2F8F46"/>
                </a:solidFill>
                <a:latin typeface="Arial"/>
              </a:rPr>
              <a:t>   = 4 log records</a:t>
            </a:r>
          </a:p>
        </p:txBody>
      </p:sp>
      <p:sp>
        <p:nvSpPr>
          <p:cNvPr id="36" name="TextBox 35"/>
          <p:cNvSpPr txBox="1"/>
          <p:nvPr/>
        </p:nvSpPr>
        <p:spPr>
          <a:xfrm>
            <a:off x="1078992" y="5449824"/>
            <a:ext cx="10030968" cy="210312"/>
          </a:xfrm>
          <a:prstGeom prst="rect">
            <a:avLst/>
          </a:prstGeom>
          <a:noFill/>
        </p:spPr>
        <p:txBody>
          <a:bodyPr wrap="square" lIns="18288" tIns="18288" rIns="18288" bIns="18288" anchor="t">
            <a:spAutoFit/>
          </a:bodyPr>
          <a:lstStyle/>
          <a:p>
            <a:pPr algn="ctr"/>
            <a:r>
              <a:rPr lang="en-US" sz="1100" b="1">
                <a:solidFill>
                  <a:srgbClr val="434343"/>
                </a:solidFill>
                <a:latin typeface="Arial"/>
              </a:rPr>
              <a:t>The log establishes accepted inclusion and ordering—not the semantic truth of the evidence.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384048" y="1371600"/>
            <a:ext cx="2157984" cy="384048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064" y="1572768"/>
            <a:ext cx="1901952" cy="384048"/>
          </a:xfrm>
          <a:prstGeom prst="rect">
            <a:avLst/>
          </a:prstGeom>
          <a:noFill/>
        </p:spPr>
        <p:txBody>
          <a:bodyPr wrap="square" lIns="18288" tIns="18288" rIns="18288" bIns="18288" anchor="ctr">
            <a:spAutoFit/>
          </a:bodyPr>
          <a:lstStyle/>
          <a:p>
            <a:pPr algn="ctr"/>
            <a:r>
              <a:rPr lang="en-US" sz="1100" b="1">
                <a:solidFill>
                  <a:srgbClr val="2F8F46"/>
                </a:solidFill>
                <a:latin typeface="Arial"/>
              </a:rPr>
              <a:t>01  MEDICAL INPUT</a:t>
            </a:r>
          </a:p>
        </p:txBody>
      </p:sp>
      <p:sp>
        <p:nvSpPr>
          <p:cNvPr id="10" name="Rectangle 9"/>
          <p:cNvSpPr/>
          <p:nvPr/>
        </p:nvSpPr>
        <p:spPr>
          <a:xfrm>
            <a:off x="548640" y="2057400"/>
            <a:ext cx="1828800" cy="10972"/>
          </a:xfrm>
          <a:prstGeom prst="rect">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66928" y="2221992"/>
            <a:ext cx="1792224" cy="2679192"/>
          </a:xfrm>
          <a:prstGeom prst="rect">
            <a:avLst/>
          </a:prstGeom>
          <a:noFill/>
        </p:spPr>
        <p:txBody>
          <a:bodyPr wrap="square" lIns="18288" tIns="18288" rIns="18288" bIns="18288" anchor="t">
            <a:spAutoFit/>
          </a:bodyPr>
          <a:lstStyle/>
          <a:p>
            <a:pPr algn="l"/>
            <a:r>
              <a:rPr lang="en-US" sz="919" b="1">
                <a:solidFill>
                  <a:srgbClr val="2F8F46"/>
                </a:solidFill>
                <a:latin typeface="Arial"/>
              </a:rPr>
              <a:t>SIGN
</a:t>
            </a:r>
            <a:r>
              <a:rPr lang="en-US" sz="880" b="0">
                <a:solidFill>
                  <a:srgbClr val="434343"/>
                </a:solidFill>
                <a:latin typeface="Arial"/>
              </a:rPr>
              <a:t>Device: RSA-2048 + SHA-256
Radiologist: separate RSA signature
</a:t>
            </a:r>
            <a:r>
              <a:rPr lang="en-US" sz="919" b="1">
                <a:solidFill>
                  <a:srgbClr val="2F8F46"/>
                </a:solidFill>
                <a:latin typeface="Arial"/>
              </a:rPr>
              <a:t>VERIFY
</a:t>
            </a:r>
            <a:r>
              <a:rPr lang="en-US" sz="880" b="0">
                <a:solidFill>
                  <a:srgbClr val="434343"/>
                </a:solidFill>
                <a:latin typeface="Arial"/>
              </a:rPr>
              <a:t>Current on-chain role, key, and certificate snapshot</a:t>
            </a:r>
          </a:p>
        </p:txBody>
      </p:sp>
      <p:cxnSp>
        <p:nvCxnSpPr>
          <p:cNvPr id="12" name="Connector 11"/>
          <p:cNvCxnSpPr/>
          <p:nvPr/>
        </p:nvCxnSpPr>
        <p:spPr>
          <a:xfrm>
            <a:off x="2560320" y="3291840"/>
            <a:ext cx="118871"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15768" y="1371600"/>
            <a:ext cx="2157984" cy="3840480"/>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843784" y="1572768"/>
            <a:ext cx="1901952" cy="384048"/>
          </a:xfrm>
          <a:prstGeom prst="rect">
            <a:avLst/>
          </a:prstGeom>
          <a:noFill/>
        </p:spPr>
        <p:txBody>
          <a:bodyPr wrap="square" lIns="18288" tIns="18288" rIns="18288" bIns="18288" anchor="ctr">
            <a:spAutoFit/>
          </a:bodyPr>
          <a:lstStyle/>
          <a:p>
            <a:pPr algn="ctr"/>
            <a:r>
              <a:rPr lang="en-US" sz="1100" b="1">
                <a:solidFill>
                  <a:srgbClr val="1F90CC"/>
                </a:solidFill>
                <a:latin typeface="Arial"/>
              </a:rPr>
              <a:t>02  PARTICIPANT TEE</a:t>
            </a:r>
          </a:p>
        </p:txBody>
      </p:sp>
      <p:sp>
        <p:nvSpPr>
          <p:cNvPr id="15" name="Rectangle 14"/>
          <p:cNvSpPr/>
          <p:nvPr/>
        </p:nvSpPr>
        <p:spPr>
          <a:xfrm>
            <a:off x="2880360" y="2057400"/>
            <a:ext cx="1828800" cy="10972"/>
          </a:xfrm>
          <a:prstGeom prst="rect">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898648" y="2221992"/>
            <a:ext cx="1792224" cy="2679192"/>
          </a:xfrm>
          <a:prstGeom prst="rect">
            <a:avLst/>
          </a:prstGeom>
          <a:noFill/>
        </p:spPr>
        <p:txBody>
          <a:bodyPr wrap="square" lIns="18288" tIns="18288" rIns="18288" bIns="18288" anchor="t">
            <a:spAutoFit/>
          </a:bodyPr>
          <a:lstStyle/>
          <a:p>
            <a:pPr algn="l"/>
            <a:r>
              <a:rPr lang="en-US" sz="919" b="1">
                <a:solidFill>
                  <a:srgbClr val="1F90CC"/>
                </a:solidFill>
                <a:latin typeface="Arial"/>
              </a:rPr>
              <a:t>SIGN
</a:t>
            </a:r>
            <a:r>
              <a:rPr lang="en-US" sz="880" b="0">
                <a:solidFill>
                  <a:srgbClr val="434343"/>
                </a:solidFill>
                <a:latin typeface="Arial"/>
              </a:rPr>
              <a:t>dstack-bound secp256k1 action key
</a:t>
            </a:r>
            <a:r>
              <a:rPr lang="en-US" sz="919" b="1">
                <a:solidFill>
                  <a:srgbClr val="1F90CC"/>
                </a:solidFill>
                <a:latin typeface="Arial"/>
              </a:rPr>
              <a:t>KEY CUSTODY
</a:t>
            </a:r>
            <a:r>
              <a:rPr lang="en-US" sz="880" b="0">
                <a:solidFill>
                  <a:srgbClr val="434343"/>
                </a:solidFill>
                <a:latin typeface="Arial"/>
              </a:rPr>
              <a:t>RSA-3072 key sealed with dstack-derived AES-256-GCM
</a:t>
            </a:r>
            <a:r>
              <a:rPr lang="en-US" sz="919" b="1">
                <a:solidFill>
                  <a:srgbClr val="1F90CC"/>
                </a:solidFill>
                <a:latin typeface="Arial"/>
              </a:rPr>
              <a:t>BIND
</a:t>
            </a:r>
            <a:r>
              <a:rPr lang="en-US" sz="880" b="0">
                <a:solidFill>
                  <a:srgbClr val="434343"/>
                </a:solidFill>
                <a:latin typeface="Arial"/>
              </a:rPr>
              <a:t>REPORTDATA + RTMR3</a:t>
            </a:r>
          </a:p>
        </p:txBody>
      </p:sp>
      <p:cxnSp>
        <p:nvCxnSpPr>
          <p:cNvPr id="17" name="Connector 16"/>
          <p:cNvCxnSpPr/>
          <p:nvPr/>
        </p:nvCxnSpPr>
        <p:spPr>
          <a:xfrm>
            <a:off x="4892040"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47488" y="1371600"/>
            <a:ext cx="2157984" cy="3840480"/>
          </a:xfrm>
          <a:prstGeom prst="roundRect">
            <a:avLst/>
          </a:prstGeom>
          <a:solidFill>
            <a:srgbClr val="FFF1E7"/>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75503" y="1572768"/>
            <a:ext cx="1901952" cy="384048"/>
          </a:xfrm>
          <a:prstGeom prst="rect">
            <a:avLst/>
          </a:prstGeom>
          <a:noFill/>
        </p:spPr>
        <p:txBody>
          <a:bodyPr wrap="square" lIns="18288" tIns="18288" rIns="18288" bIns="18288" anchor="ctr">
            <a:spAutoFit/>
          </a:bodyPr>
          <a:lstStyle/>
          <a:p>
            <a:pPr algn="ctr"/>
            <a:r>
              <a:rPr lang="en-US" sz="1100" b="1">
                <a:solidFill>
                  <a:srgbClr val="FF6C00"/>
                </a:solidFill>
                <a:latin typeface="Arial"/>
              </a:rPr>
              <a:t>03  WORKER UPDATE</a:t>
            </a:r>
          </a:p>
        </p:txBody>
      </p:sp>
      <p:sp>
        <p:nvSpPr>
          <p:cNvPr id="20" name="Rectangle 19"/>
          <p:cNvSpPr/>
          <p:nvPr/>
        </p:nvSpPr>
        <p:spPr>
          <a:xfrm>
            <a:off x="5212079" y="2057400"/>
            <a:ext cx="1828800" cy="10972"/>
          </a:xfrm>
          <a:prstGeom prst="rect">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230368" y="2221992"/>
            <a:ext cx="1792224" cy="2679192"/>
          </a:xfrm>
          <a:prstGeom prst="rect">
            <a:avLst/>
          </a:prstGeom>
          <a:noFill/>
        </p:spPr>
        <p:txBody>
          <a:bodyPr wrap="square" lIns="18288" tIns="18288" rIns="18288" bIns="18288" anchor="t">
            <a:spAutoFit/>
          </a:bodyPr>
          <a:lstStyle/>
          <a:p>
            <a:pPr algn="l"/>
            <a:r>
              <a:rPr lang="en-US" sz="919" b="1">
                <a:solidFill>
                  <a:srgbClr val="FF6C00"/>
                </a:solidFill>
                <a:latin typeface="Arial"/>
              </a:rPr>
              <a:t>ENCRYPT
</a:t>
            </a:r>
            <a:r>
              <a:rPr lang="en-US" sz="880" b="0">
                <a:solidFill>
                  <a:srgbClr val="434343"/>
                </a:solidFill>
                <a:latin typeface="Arial"/>
              </a:rPr>
              <a:t>AES-256-CBC update; RSA-OAEP-SHA-256 key wrap
</a:t>
            </a:r>
            <a:r>
              <a:rPr lang="en-US" sz="919" b="1">
                <a:solidFill>
                  <a:srgbClr val="FF6C00"/>
                </a:solidFill>
                <a:latin typeface="Arial"/>
              </a:rPr>
              <a:t>SIGN + BIND
</a:t>
            </a:r>
            <a:r>
              <a:rPr lang="en-US" sz="880" b="0">
                <a:solidFill>
                  <a:srgbClr val="434343"/>
                </a:solidFill>
                <a:latin typeface="Arial"/>
              </a:rPr>
              <a:t>Worker RSA-SHA-256 package signature + EIP-712 commitment</a:t>
            </a:r>
          </a:p>
        </p:txBody>
      </p:sp>
      <p:cxnSp>
        <p:nvCxnSpPr>
          <p:cNvPr id="22" name="Connector 21"/>
          <p:cNvCxnSpPr/>
          <p:nvPr/>
        </p:nvCxnSpPr>
        <p:spPr>
          <a:xfrm>
            <a:off x="7223759"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379208" y="1371600"/>
            <a:ext cx="2157984" cy="3840480"/>
          </a:xfrm>
          <a:prstGeom prst="roundRect">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07224" y="1572768"/>
            <a:ext cx="1901952" cy="384048"/>
          </a:xfrm>
          <a:prstGeom prst="rect">
            <a:avLst/>
          </a:prstGeom>
          <a:noFill/>
        </p:spPr>
        <p:txBody>
          <a:bodyPr wrap="square" lIns="18288" tIns="18288" rIns="18288" bIns="18288" anchor="ctr">
            <a:spAutoFit/>
          </a:bodyPr>
          <a:lstStyle/>
          <a:p>
            <a:pPr algn="ctr"/>
            <a:r>
              <a:rPr lang="en-US" sz="1100" b="1">
                <a:solidFill>
                  <a:srgbClr val="7A35B5"/>
                </a:solidFill>
                <a:latin typeface="Arial"/>
              </a:rPr>
              <a:t>04  GLOBAL MODEL</a:t>
            </a:r>
          </a:p>
        </p:txBody>
      </p:sp>
      <p:sp>
        <p:nvSpPr>
          <p:cNvPr id="25" name="Rectangle 24"/>
          <p:cNvSpPr/>
          <p:nvPr/>
        </p:nvSpPr>
        <p:spPr>
          <a:xfrm>
            <a:off x="7543800" y="2057400"/>
            <a:ext cx="1828800" cy="10972"/>
          </a:xfrm>
          <a:prstGeom prst="rect">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562088" y="2221992"/>
            <a:ext cx="1792224" cy="2679192"/>
          </a:xfrm>
          <a:prstGeom prst="rect">
            <a:avLst/>
          </a:prstGeom>
          <a:noFill/>
        </p:spPr>
        <p:txBody>
          <a:bodyPr wrap="square" lIns="18288" tIns="18288" rIns="18288" bIns="18288" anchor="t">
            <a:spAutoFit/>
          </a:bodyPr>
          <a:lstStyle/>
          <a:p>
            <a:pPr algn="l"/>
            <a:r>
              <a:rPr lang="en-US" sz="919" b="1">
                <a:solidFill>
                  <a:srgbClr val="7A35B5"/>
                </a:solidFill>
                <a:latin typeface="Arial"/>
              </a:rPr>
              <a:t>ENCRYPT
</a:t>
            </a:r>
            <a:r>
              <a:rPr lang="en-US" sz="880" b="0">
                <a:solidFill>
                  <a:srgbClr val="434343"/>
                </a:solidFill>
                <a:latin typeface="Arial"/>
              </a:rPr>
              <a:t>AES-256-GCM model; per-recipient RSA-OAEP key wrap
</a:t>
            </a:r>
            <a:r>
              <a:rPr lang="en-US" sz="919" b="1">
                <a:solidFill>
                  <a:srgbClr val="7A35B5"/>
                </a:solidFill>
                <a:latin typeface="Arial"/>
              </a:rPr>
              <a:t>SIGN + BIND
</a:t>
            </a:r>
            <a:r>
              <a:rPr lang="en-US" sz="880" b="0">
                <a:solidFill>
                  <a:srgbClr val="434343"/>
                </a:solidFill>
                <a:latin typeface="Arial"/>
              </a:rPr>
              <a:t>Aggregator RSA-SHA-256 + EIP-712 finalization; IPFS CIDs</a:t>
            </a:r>
          </a:p>
        </p:txBody>
      </p:sp>
      <p:cxnSp>
        <p:nvCxnSpPr>
          <p:cNvPr id="27" name="Connector 26"/>
          <p:cNvCxnSpPr/>
          <p:nvPr/>
        </p:nvCxnSpPr>
        <p:spPr>
          <a:xfrm>
            <a:off x="9555480" y="3291840"/>
            <a:ext cx="118872" cy="0"/>
          </a:xfrm>
          <a:prstGeom prst="line">
            <a:avLst/>
          </a:prstGeom>
          <a:ln w="1397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710928" y="1371600"/>
            <a:ext cx="2157984" cy="3840480"/>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38944" y="1572768"/>
            <a:ext cx="1901952" cy="384048"/>
          </a:xfrm>
          <a:prstGeom prst="rect">
            <a:avLst/>
          </a:prstGeom>
          <a:noFill/>
        </p:spPr>
        <p:txBody>
          <a:bodyPr wrap="square" lIns="18288" tIns="18288" rIns="18288" bIns="18288" anchor="ctr">
            <a:spAutoFit/>
          </a:bodyPr>
          <a:lstStyle/>
          <a:p>
            <a:pPr algn="ctr"/>
            <a:r>
              <a:rPr lang="en-US" sz="1100" b="1">
                <a:solidFill>
                  <a:srgbClr val="C40D1E"/>
                </a:solidFill>
                <a:latin typeface="Arial"/>
              </a:rPr>
              <a:t>05  INFERENCE + LOG</a:t>
            </a:r>
          </a:p>
        </p:txBody>
      </p:sp>
      <p:sp>
        <p:nvSpPr>
          <p:cNvPr id="30" name="Rectangle 29"/>
          <p:cNvSpPr/>
          <p:nvPr/>
        </p:nvSpPr>
        <p:spPr>
          <a:xfrm>
            <a:off x="9875519" y="2057400"/>
            <a:ext cx="1828800" cy="10972"/>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893807" y="2221992"/>
            <a:ext cx="1792224" cy="2679192"/>
          </a:xfrm>
          <a:prstGeom prst="rect">
            <a:avLst/>
          </a:prstGeom>
          <a:noFill/>
        </p:spPr>
        <p:txBody>
          <a:bodyPr wrap="square" lIns="18288" tIns="18288" rIns="18288" bIns="18288" anchor="t">
            <a:spAutoFit/>
          </a:bodyPr>
          <a:lstStyle/>
          <a:p>
            <a:pPr algn="l"/>
            <a:r>
              <a:rPr lang="en-US" sz="919" b="1">
                <a:solidFill>
                  <a:srgbClr val="C40D1E"/>
                </a:solidFill>
                <a:latin typeface="Arial"/>
              </a:rPr>
              <a:t>VERIFY
</a:t>
            </a:r>
            <a:r>
              <a:rPr lang="en-US" sz="880" b="0">
                <a:solidFill>
                  <a:srgbClr val="434343"/>
                </a:solidFill>
                <a:latin typeface="Arial"/>
              </a:rPr>
              <a:t>Finalized tuple + publisher signatures
</a:t>
            </a:r>
            <a:r>
              <a:rPr lang="en-US" sz="919" b="1">
                <a:solidFill>
                  <a:srgbClr val="C40D1E"/>
                </a:solidFill>
                <a:latin typeface="Arial"/>
              </a:rPr>
              <a:t>SIGN / ENCRYPT
</a:t>
            </a:r>
            <a:r>
              <a:rPr lang="en-US" sz="880" b="0">
                <a:solidFill>
                  <a:srgbClr val="434343"/>
                </a:solidFill>
                <a:latin typeface="Arial"/>
              </a:rPr>
              <a:t>Ed25519 AIR + TDX; HPKE receiver receipt
</a:t>
            </a:r>
            <a:r>
              <a:rPr lang="en-US" sz="919" b="1">
                <a:solidFill>
                  <a:srgbClr val="C40D1E"/>
                </a:solidFill>
                <a:latin typeface="Arial"/>
              </a:rPr>
              <a:t>LOG
</a:t>
            </a:r>
            <a:r>
              <a:rPr lang="en-US" sz="880" b="0">
                <a:solidFill>
                  <a:srgbClr val="434343"/>
                </a:solidFill>
                <a:latin typeface="Arial"/>
              </a:rPr>
              <a:t>ES256 statement + CCF inclusion receipt</a:t>
            </a:r>
          </a:p>
        </p:txBody>
      </p:sp>
      <p:sp>
        <p:nvSpPr>
          <p:cNvPr id="32" name="Rectangle 31"/>
          <p:cNvSpPr/>
          <p:nvPr/>
        </p:nvSpPr>
        <p:spPr>
          <a:xfrm>
            <a:off x="896112" y="5330952"/>
            <a:ext cx="10405872" cy="32004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78992" y="5404104"/>
            <a:ext cx="10040112" cy="173736"/>
          </a:xfrm>
          <a:prstGeom prst="rect">
            <a:avLst/>
          </a:prstGeom>
          <a:noFill/>
        </p:spPr>
        <p:txBody>
          <a:bodyPr wrap="square" lIns="18288" tIns="18288" rIns="18288" bIns="18288" anchor="ctr">
            <a:spAutoFit/>
          </a:bodyPr>
          <a:lstStyle/>
          <a:p>
            <a:pPr algn="ctr"/>
            <a:r>
              <a:rPr lang="en-US" sz="1019" b="1">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Evaluation: what was actually tested?</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THREE EVIDENCE LEVELS—NOT ONE BLANKET SUCCESS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40080" y="1389888"/>
            <a:ext cx="3364992" cy="3840480"/>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1" y="1664208"/>
            <a:ext cx="3035808" cy="274320"/>
          </a:xfrm>
          <a:prstGeom prst="rect">
            <a:avLst/>
          </a:prstGeom>
          <a:noFill/>
        </p:spPr>
        <p:txBody>
          <a:bodyPr wrap="square" lIns="18288" tIns="18288" rIns="18288" bIns="18288" anchor="t">
            <a:spAutoFit/>
          </a:bodyPr>
          <a:lstStyle/>
          <a:p>
            <a:pPr algn="ctr"/>
            <a:r>
              <a:rPr lang="en-US" sz="1300" b="1">
                <a:solidFill>
                  <a:srgbClr val="1F90CC"/>
                </a:solidFill>
                <a:latin typeface="Arial"/>
              </a:rPr>
              <a:t>LIVE INTEGRATION</a:t>
            </a:r>
          </a:p>
        </p:txBody>
      </p:sp>
      <p:sp>
        <p:nvSpPr>
          <p:cNvPr id="10" name="TextBox 9"/>
          <p:cNvSpPr txBox="1"/>
          <p:nvPr/>
        </p:nvSpPr>
        <p:spPr>
          <a:xfrm>
            <a:off x="804671" y="2267712"/>
            <a:ext cx="3035808" cy="594360"/>
          </a:xfrm>
          <a:prstGeom prst="rect">
            <a:avLst/>
          </a:prstGeom>
          <a:noFill/>
        </p:spPr>
        <p:txBody>
          <a:bodyPr wrap="square" lIns="18288" tIns="18288" rIns="18288" bIns="18288" anchor="t">
            <a:spAutoFit/>
          </a:bodyPr>
          <a:lstStyle/>
          <a:p>
            <a:pPr algn="ctr"/>
            <a:r>
              <a:rPr lang="en-US" sz="2700" b="1">
                <a:solidFill>
                  <a:srgbClr val="434343"/>
                </a:solidFill>
                <a:latin typeface="Arial"/>
              </a:rPr>
              <a:t>3 TEE workers</a:t>
            </a:r>
          </a:p>
        </p:txBody>
      </p:sp>
      <p:sp>
        <p:nvSpPr>
          <p:cNvPr id="11" name="TextBox 10"/>
          <p:cNvSpPr txBox="1"/>
          <p:nvPr/>
        </p:nvSpPr>
        <p:spPr>
          <a:xfrm>
            <a:off x="804671" y="2926080"/>
            <a:ext cx="3035808" cy="310896"/>
          </a:xfrm>
          <a:prstGeom prst="rect">
            <a:avLst/>
          </a:prstGeom>
          <a:noFill/>
        </p:spPr>
        <p:txBody>
          <a:bodyPr wrap="square" lIns="18288" tIns="18288" rIns="18288" bIns="18288" anchor="t">
            <a:spAutoFit/>
          </a:bodyPr>
          <a:lstStyle/>
          <a:p>
            <a:pPr algn="ctr"/>
            <a:r>
              <a:rPr lang="en-US" sz="1500" b="1">
                <a:solidFill>
                  <a:srgbClr val="1F90CC"/>
                </a:solidFill>
                <a:latin typeface="Arial"/>
              </a:rPr>
              <a:t>5 observed training rounds</a:t>
            </a:r>
          </a:p>
        </p:txBody>
      </p:sp>
      <p:sp>
        <p:nvSpPr>
          <p:cNvPr id="12" name="Rectangle 11"/>
          <p:cNvSpPr/>
          <p:nvPr/>
        </p:nvSpPr>
        <p:spPr>
          <a:xfrm>
            <a:off x="1078992"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0976" y="3858768"/>
            <a:ext cx="2743200" cy="621792"/>
          </a:xfrm>
          <a:prstGeom prst="rect">
            <a:avLst/>
          </a:prstGeom>
          <a:noFill/>
        </p:spPr>
        <p:txBody>
          <a:bodyPr wrap="square" lIns="18288" tIns="18288" rIns="18288" bIns="18288" anchor="t">
            <a:spAutoFit/>
          </a:bodyPr>
          <a:lstStyle/>
          <a:p>
            <a:pPr algn="ctr"/>
            <a:r>
              <a:rPr lang="en-US" sz="1500" b="1">
                <a:solidFill>
                  <a:srgbClr val="434343"/>
                </a:solidFill>
                <a:latin typeface="Arial"/>
              </a:rPr>
              <a:t>All three MCP operations
plus attested inference</a:t>
            </a:r>
          </a:p>
        </p:txBody>
      </p:sp>
      <p:sp>
        <p:nvSpPr>
          <p:cNvPr id="14" name="Rectangle 13"/>
          <p:cNvSpPr/>
          <p:nvPr/>
        </p:nvSpPr>
        <p:spPr>
          <a:xfrm>
            <a:off x="1481328" y="4709160"/>
            <a:ext cx="1682496" cy="329184"/>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36192" y="4791456"/>
            <a:ext cx="1572768" cy="164592"/>
          </a:xfrm>
          <a:prstGeom prst="rect">
            <a:avLst/>
          </a:prstGeom>
          <a:noFill/>
        </p:spPr>
        <p:txBody>
          <a:bodyPr wrap="square" lIns="18288" tIns="18288" rIns="18288" bIns="18288" anchor="t">
            <a:spAutoFit/>
          </a:bodyPr>
          <a:lstStyle/>
          <a:p>
            <a:pPr algn="ctr"/>
            <a:r>
              <a:rPr lang="en-US" sz="950" b="1">
                <a:solidFill>
                  <a:srgbClr val="FFFFFF"/>
                </a:solidFill>
                <a:latin typeface="Arial"/>
              </a:rPr>
              <a:t>LIVE</a:t>
            </a:r>
          </a:p>
        </p:txBody>
      </p:sp>
      <p:sp>
        <p:nvSpPr>
          <p:cNvPr id="16" name="Rounded Rectangle 15"/>
          <p:cNvSpPr/>
          <p:nvPr/>
        </p:nvSpPr>
        <p:spPr>
          <a:xfrm>
            <a:off x="4325112" y="1389888"/>
            <a:ext cx="3364992" cy="3840480"/>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489704" y="1664208"/>
            <a:ext cx="3035808" cy="274320"/>
          </a:xfrm>
          <a:prstGeom prst="rect">
            <a:avLst/>
          </a:prstGeom>
          <a:noFill/>
        </p:spPr>
        <p:txBody>
          <a:bodyPr wrap="square" lIns="18288" tIns="18288" rIns="18288" bIns="18288" anchor="t">
            <a:spAutoFit/>
          </a:bodyPr>
          <a:lstStyle/>
          <a:p>
            <a:pPr algn="ctr"/>
            <a:r>
              <a:rPr lang="en-US" sz="1300" b="1">
                <a:solidFill>
                  <a:srgbClr val="2F8F46"/>
                </a:solidFill>
                <a:latin typeface="Arial"/>
              </a:rPr>
              <a:t>SCALE EXPERIMENTS</a:t>
            </a:r>
          </a:p>
        </p:txBody>
      </p:sp>
      <p:sp>
        <p:nvSpPr>
          <p:cNvPr id="18" name="TextBox 17"/>
          <p:cNvSpPr txBox="1"/>
          <p:nvPr/>
        </p:nvSpPr>
        <p:spPr>
          <a:xfrm>
            <a:off x="4489704" y="2267712"/>
            <a:ext cx="3035808" cy="594360"/>
          </a:xfrm>
          <a:prstGeom prst="rect">
            <a:avLst/>
          </a:prstGeom>
          <a:noFill/>
        </p:spPr>
        <p:txBody>
          <a:bodyPr wrap="square" lIns="18288" tIns="18288" rIns="18288" bIns="18288" anchor="t">
            <a:spAutoFit/>
          </a:bodyPr>
          <a:lstStyle/>
          <a:p>
            <a:pPr algn="ctr"/>
            <a:r>
              <a:rPr lang="en-US" sz="2700" b="1">
                <a:solidFill>
                  <a:srgbClr val="434343"/>
                </a:solidFill>
                <a:latin typeface="Arial"/>
              </a:rPr>
              <a:t>10 · 50 · 100</a:t>
            </a:r>
          </a:p>
        </p:txBody>
      </p:sp>
      <p:sp>
        <p:nvSpPr>
          <p:cNvPr id="19" name="TextBox 18"/>
          <p:cNvSpPr txBox="1"/>
          <p:nvPr/>
        </p:nvSpPr>
        <p:spPr>
          <a:xfrm>
            <a:off x="4489704" y="2926080"/>
            <a:ext cx="3035808" cy="310896"/>
          </a:xfrm>
          <a:prstGeom prst="rect">
            <a:avLst/>
          </a:prstGeom>
          <a:noFill/>
        </p:spPr>
        <p:txBody>
          <a:bodyPr wrap="square" lIns="18288" tIns="18288" rIns="18288" bIns="18288" anchor="t">
            <a:spAutoFit/>
          </a:bodyPr>
          <a:lstStyle/>
          <a:p>
            <a:pPr algn="ctr"/>
            <a:r>
              <a:rPr lang="en-US" sz="1500" b="1">
                <a:solidFill>
                  <a:srgbClr val="2F8F46"/>
                </a:solidFill>
                <a:latin typeface="Arial"/>
              </a:rPr>
              <a:t>participants</a:t>
            </a:r>
          </a:p>
        </p:txBody>
      </p:sp>
      <p:sp>
        <p:nvSpPr>
          <p:cNvPr id="20" name="Rectangle 19"/>
          <p:cNvSpPr/>
          <p:nvPr/>
        </p:nvSpPr>
        <p:spPr>
          <a:xfrm>
            <a:off x="4764024"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6008" y="3858768"/>
            <a:ext cx="2743200" cy="621792"/>
          </a:xfrm>
          <a:prstGeom prst="rect">
            <a:avLst/>
          </a:prstGeom>
          <a:noFill/>
        </p:spPr>
        <p:txBody>
          <a:bodyPr wrap="square" lIns="18288" tIns="18288" rIns="18288" bIns="18288" anchor="t">
            <a:spAutoFit/>
          </a:bodyPr>
          <a:lstStyle/>
          <a:p>
            <a:pPr algn="ctr"/>
            <a:r>
              <a:rPr lang="en-US" sz="1500" b="1">
                <a:solidFill>
                  <a:srgbClr val="434343"/>
                </a:solidFill>
                <a:latin typeface="Arial"/>
              </a:rPr>
              <a:t>50 rounds per configuration</a:t>
            </a:r>
          </a:p>
        </p:txBody>
      </p:sp>
      <p:sp>
        <p:nvSpPr>
          <p:cNvPr id="22" name="Rectangle 21"/>
          <p:cNvSpPr/>
          <p:nvPr/>
        </p:nvSpPr>
        <p:spPr>
          <a:xfrm>
            <a:off x="5166360" y="4709160"/>
            <a:ext cx="1682496" cy="329184"/>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21224" y="4791456"/>
            <a:ext cx="1572768" cy="164592"/>
          </a:xfrm>
          <a:prstGeom prst="rect">
            <a:avLst/>
          </a:prstGeom>
          <a:noFill/>
        </p:spPr>
        <p:txBody>
          <a:bodyPr wrap="square" lIns="18288" tIns="18288" rIns="18288" bIns="18288" anchor="t">
            <a:spAutoFit/>
          </a:bodyPr>
          <a:lstStyle/>
          <a:p>
            <a:pPr algn="ctr"/>
            <a:r>
              <a:rPr lang="en-US" sz="950" b="1">
                <a:solidFill>
                  <a:srgbClr val="FFFFFF"/>
                </a:solidFill>
                <a:latin typeface="Arial"/>
              </a:rPr>
              <a:t>COMPLETED</a:t>
            </a:r>
          </a:p>
        </p:txBody>
      </p:sp>
      <p:sp>
        <p:nvSpPr>
          <p:cNvPr id="24" name="Rounded Rectangle 23"/>
          <p:cNvSpPr/>
          <p:nvPr/>
        </p:nvSpPr>
        <p:spPr>
          <a:xfrm>
            <a:off x="8010144" y="1389888"/>
            <a:ext cx="3364992" cy="3840480"/>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74736" y="1664208"/>
            <a:ext cx="3035808" cy="274320"/>
          </a:xfrm>
          <a:prstGeom prst="rect">
            <a:avLst/>
          </a:prstGeom>
          <a:noFill/>
        </p:spPr>
        <p:txBody>
          <a:bodyPr wrap="square" lIns="18288" tIns="18288" rIns="18288" bIns="18288" anchor="t">
            <a:spAutoFit/>
          </a:bodyPr>
          <a:lstStyle/>
          <a:p>
            <a:pPr algn="ctr"/>
            <a:r>
              <a:rPr lang="en-US" sz="1300" b="1">
                <a:solidFill>
                  <a:srgbClr val="FF6C00"/>
                </a:solidFill>
                <a:latin typeface="Arial"/>
              </a:rPr>
              <a:t>FAIL-CLOSED TESTS</a:t>
            </a:r>
          </a:p>
        </p:txBody>
      </p:sp>
      <p:sp>
        <p:nvSpPr>
          <p:cNvPr id="26" name="TextBox 25"/>
          <p:cNvSpPr txBox="1"/>
          <p:nvPr/>
        </p:nvSpPr>
        <p:spPr>
          <a:xfrm>
            <a:off x="8174736" y="2267712"/>
            <a:ext cx="3035808" cy="594360"/>
          </a:xfrm>
          <a:prstGeom prst="rect">
            <a:avLst/>
          </a:prstGeom>
          <a:noFill/>
        </p:spPr>
        <p:txBody>
          <a:bodyPr wrap="square" lIns="18288" tIns="18288" rIns="18288" bIns="18288" anchor="t">
            <a:spAutoFit/>
          </a:bodyPr>
          <a:lstStyle/>
          <a:p>
            <a:pPr algn="ctr"/>
            <a:r>
              <a:rPr lang="en-US" sz="2300" b="1">
                <a:solidFill>
                  <a:srgbClr val="434343"/>
                </a:solidFill>
                <a:latin typeface="Arial"/>
              </a:rPr>
              <a:t>Admission · data</a:t>
            </a:r>
          </a:p>
        </p:txBody>
      </p:sp>
      <p:sp>
        <p:nvSpPr>
          <p:cNvPr id="27" name="TextBox 26"/>
          <p:cNvSpPr txBox="1"/>
          <p:nvPr/>
        </p:nvSpPr>
        <p:spPr>
          <a:xfrm>
            <a:off x="8174736" y="2926080"/>
            <a:ext cx="3035808" cy="310896"/>
          </a:xfrm>
          <a:prstGeom prst="rect">
            <a:avLst/>
          </a:prstGeom>
          <a:noFill/>
        </p:spPr>
        <p:txBody>
          <a:bodyPr wrap="square" lIns="18288" tIns="18288" rIns="18288" bIns="18288" anchor="t">
            <a:spAutoFit/>
          </a:bodyPr>
          <a:lstStyle/>
          <a:p>
            <a:pPr algn="ctr"/>
            <a:r>
              <a:rPr lang="en-US" sz="1500" b="1">
                <a:solidFill>
                  <a:srgbClr val="FF6C00"/>
                </a:solidFill>
                <a:latin typeface="Arial"/>
              </a:rPr>
              <a:t>Provenance · bindings</a:t>
            </a:r>
          </a:p>
        </p:txBody>
      </p:sp>
      <p:sp>
        <p:nvSpPr>
          <p:cNvPr id="28" name="Rectangle 27"/>
          <p:cNvSpPr/>
          <p:nvPr/>
        </p:nvSpPr>
        <p:spPr>
          <a:xfrm>
            <a:off x="8449056" y="3502152"/>
            <a:ext cx="2487168" cy="13716"/>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21040" y="3858768"/>
            <a:ext cx="2743200" cy="621792"/>
          </a:xfrm>
          <a:prstGeom prst="rect">
            <a:avLst/>
          </a:prstGeom>
          <a:noFill/>
        </p:spPr>
        <p:txBody>
          <a:bodyPr wrap="square" lIns="18288" tIns="18288" rIns="18288" bIns="18288" anchor="t">
            <a:spAutoFit/>
          </a:bodyPr>
          <a:lstStyle/>
          <a:p>
            <a:pPr algn="ctr"/>
            <a:r>
              <a:rPr lang="en-US" sz="1500" b="1">
                <a:solidFill>
                  <a:srgbClr val="434343"/>
                </a:solidFill>
                <a:latin typeface="Arial"/>
              </a:rPr>
              <a:t>Receipts · recovery</a:t>
            </a:r>
          </a:p>
        </p:txBody>
      </p:sp>
      <p:sp>
        <p:nvSpPr>
          <p:cNvPr id="30" name="Rectangle 29"/>
          <p:cNvSpPr/>
          <p:nvPr/>
        </p:nvSpPr>
        <p:spPr>
          <a:xfrm>
            <a:off x="8851392" y="4709160"/>
            <a:ext cx="1682496" cy="329184"/>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906256" y="4791456"/>
            <a:ext cx="1572768" cy="164592"/>
          </a:xfrm>
          <a:prstGeom prst="rect">
            <a:avLst/>
          </a:prstGeom>
          <a:noFill/>
        </p:spPr>
        <p:txBody>
          <a:bodyPr wrap="square" lIns="18288" tIns="18288" rIns="18288" bIns="18288" anchor="t">
            <a:spAutoFit/>
          </a:bodyPr>
          <a:lstStyle/>
          <a:p>
            <a:pPr algn="ctr"/>
            <a:r>
              <a:rPr lang="en-US" sz="950" b="1">
                <a:solidFill>
                  <a:srgbClr val="FFFFFF"/>
                </a:solidFill>
                <a:latin typeface="Arial"/>
              </a:rPr>
              <a:t>AUTOMATED</a:t>
            </a:r>
          </a:p>
        </p:txBody>
      </p:sp>
      <p:sp>
        <p:nvSpPr>
          <p:cNvPr id="32" name="TextBox 31"/>
          <p:cNvSpPr txBox="1"/>
          <p:nvPr/>
        </p:nvSpPr>
        <p:spPr>
          <a:xfrm>
            <a:off x="914400" y="5385816"/>
            <a:ext cx="10351008" cy="228600"/>
          </a:xfrm>
          <a:prstGeom prst="rect">
            <a:avLst/>
          </a:prstGeom>
          <a:noFill/>
        </p:spPr>
        <p:txBody>
          <a:bodyPr wrap="square" lIns="18288" tIns="18288" rIns="18288" bIns="18288" anchor="t">
            <a:spAutoFit/>
          </a:bodyPr>
          <a:lstStyle/>
          <a:p>
            <a:pPr algn="ctr"/>
            <a:r>
              <a:rPr lang="en-US" sz="1150" b="1">
                <a:solidFill>
                  <a:srgbClr val="C40D1E"/>
                </a:solidFill>
                <a:latin typeface="Arial"/>
              </a:rPr>
              <a:t>Not evaluated: clinical suitability · formal Byzantine fault tolerance · general poisoning robustness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Observed optimization trajectories overlap across scale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ONE COMPLETED RUN FOR 10, 50, AND 100 PARTICIPANTS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502920"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648" y="1463040"/>
            <a:ext cx="5312664"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Binary cross-entropy loss</a:t>
            </a:r>
          </a:p>
        </p:txBody>
      </p:sp>
      <p:cxnSp>
        <p:nvCxnSpPr>
          <p:cNvPr id="10" name="Connector 9"/>
          <p:cNvCxnSpPr/>
          <p:nvPr/>
        </p:nvCxnSpPr>
        <p:spPr>
          <a:xfrm>
            <a:off x="1933956"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99132"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2" name="Connector 11"/>
          <p:cNvCxnSpPr/>
          <p:nvPr/>
        </p:nvCxnSpPr>
        <p:spPr>
          <a:xfrm>
            <a:off x="2823972"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089148"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4" name="Connector 13"/>
          <p:cNvCxnSpPr/>
          <p:nvPr/>
        </p:nvCxnSpPr>
        <p:spPr>
          <a:xfrm>
            <a:off x="3713988"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979164"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6" name="Connector 15"/>
          <p:cNvCxnSpPr/>
          <p:nvPr/>
        </p:nvCxnSpPr>
        <p:spPr>
          <a:xfrm>
            <a:off x="978408" y="429367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9496" y="422052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0.20</a:t>
            </a:r>
          </a:p>
        </p:txBody>
      </p:sp>
      <p:cxnSp>
        <p:nvCxnSpPr>
          <p:cNvPr id="18" name="Connector 17"/>
          <p:cNvCxnSpPr/>
          <p:nvPr/>
        </p:nvCxnSpPr>
        <p:spPr>
          <a:xfrm>
            <a:off x="978408" y="379266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39496" y="3719512"/>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0.30</a:t>
            </a:r>
          </a:p>
        </p:txBody>
      </p:sp>
      <p:cxnSp>
        <p:nvCxnSpPr>
          <p:cNvPr id="20" name="Connector 19"/>
          <p:cNvCxnSpPr/>
          <p:nvPr/>
        </p:nvCxnSpPr>
        <p:spPr>
          <a:xfrm>
            <a:off x="978408" y="329164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39496" y="321849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0.40</a:t>
            </a:r>
          </a:p>
        </p:txBody>
      </p:sp>
      <p:cxnSp>
        <p:nvCxnSpPr>
          <p:cNvPr id="22" name="Connector 21"/>
          <p:cNvCxnSpPr/>
          <p:nvPr/>
        </p:nvCxnSpPr>
        <p:spPr>
          <a:xfrm>
            <a:off x="978408" y="2790634"/>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39496" y="2717482"/>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0.50</a:t>
            </a:r>
          </a:p>
        </p:txBody>
      </p:sp>
      <p:cxnSp>
        <p:nvCxnSpPr>
          <p:cNvPr id="24" name="Connector 23"/>
          <p:cNvCxnSpPr/>
          <p:nvPr/>
        </p:nvCxnSpPr>
        <p:spPr>
          <a:xfrm>
            <a:off x="978408" y="228961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39496" y="221646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0.60</a:t>
            </a:r>
          </a:p>
        </p:txBody>
      </p:sp>
      <p:cxnSp>
        <p:nvCxnSpPr>
          <p:cNvPr id="26" name="Connector 25"/>
          <p:cNvCxnSpPr/>
          <p:nvPr/>
        </p:nvCxnSpPr>
        <p:spPr>
          <a:xfrm>
            <a:off x="978408"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13816"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28" name="Connector 27"/>
          <p:cNvCxnSpPr/>
          <p:nvPr/>
        </p:nvCxnSpPr>
        <p:spPr>
          <a:xfrm>
            <a:off x="17907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2610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30" name="Connector 29"/>
          <p:cNvCxnSpPr/>
          <p:nvPr/>
        </p:nvCxnSpPr>
        <p:spPr>
          <a:xfrm>
            <a:off x="280606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2641473"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32" name="Connector 31"/>
          <p:cNvCxnSpPr/>
          <p:nvPr/>
        </p:nvCxnSpPr>
        <p:spPr>
          <a:xfrm>
            <a:off x="382143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65683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34" name="Connector 33"/>
          <p:cNvCxnSpPr/>
          <p:nvPr/>
        </p:nvCxnSpPr>
        <p:spPr>
          <a:xfrm>
            <a:off x="4836795"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672203"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36" name="Connector 35"/>
          <p:cNvCxnSpPr/>
          <p:nvPr/>
        </p:nvCxnSpPr>
        <p:spPr>
          <a:xfrm>
            <a:off x="585216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8756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38" name="Connector 37"/>
          <p:cNvCxnSpPr/>
          <p:nvPr/>
        </p:nvCxnSpPr>
        <p:spPr>
          <a:xfrm>
            <a:off x="978408"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78408"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78408" y="2168634"/>
            <a:ext cx="101536" cy="743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79944" y="2911960"/>
            <a:ext cx="101537" cy="47423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181481" y="3386191"/>
            <a:ext cx="101536" cy="30510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283017" y="3691299"/>
            <a:ext cx="101537" cy="1912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384554" y="3882531"/>
            <a:ext cx="101536" cy="121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486090" y="4004348"/>
            <a:ext cx="101537" cy="813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587627" y="4085723"/>
            <a:ext cx="101536" cy="5596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689163" y="4141691"/>
            <a:ext cx="101537" cy="401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790700" y="4181872"/>
            <a:ext cx="101536" cy="298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892236" y="4211733"/>
            <a:ext cx="101537" cy="227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993773" y="4234454"/>
            <a:ext cx="101536" cy="1802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095309" y="4252481"/>
            <a:ext cx="101537" cy="141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196846" y="4266594"/>
            <a:ext cx="101536" cy="115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298382" y="4278173"/>
            <a:ext cx="101537" cy="95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399919" y="4287717"/>
            <a:ext cx="101536" cy="810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501455" y="4295818"/>
            <a:ext cx="101537" cy="65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602992" y="4302387"/>
            <a:ext cx="101536" cy="593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704528" y="4308319"/>
            <a:ext cx="101537" cy="498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806065" y="4313304"/>
            <a:ext cx="101536" cy="418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907601" y="4317492"/>
            <a:ext cx="101537" cy="38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009138" y="4321295"/>
            <a:ext cx="101536" cy="32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3110674" y="4324557"/>
            <a:ext cx="101537" cy="28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3212211" y="4327357"/>
            <a:ext cx="101536" cy="25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3313747" y="4329922"/>
            <a:ext cx="101537" cy="228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3415284" y="4332202"/>
            <a:ext cx="101536" cy="20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3516820" y="4334211"/>
            <a:ext cx="101537" cy="182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3618357" y="4336040"/>
            <a:ext cx="101536" cy="17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719893" y="4337813"/>
            <a:ext cx="101537" cy="1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3821430" y="4339236"/>
            <a:ext cx="101536" cy="141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3922966" y="4340654"/>
            <a:ext cx="101537" cy="120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024503" y="4341857"/>
            <a:ext cx="101536" cy="117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126039" y="4343029"/>
            <a:ext cx="101537" cy="9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227576" y="4343981"/>
            <a:ext cx="101536" cy="89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4329112" y="4344878"/>
            <a:ext cx="101537" cy="7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4430649" y="4345644"/>
            <a:ext cx="101536" cy="8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532185" y="4346491"/>
            <a:ext cx="101537" cy="8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633722" y="4347303"/>
            <a:ext cx="101536" cy="64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4735258" y="4347944"/>
            <a:ext cx="101537" cy="5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836795" y="4348500"/>
            <a:ext cx="101536" cy="5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4938331" y="4349071"/>
            <a:ext cx="101537" cy="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5039868" y="4349582"/>
            <a:ext cx="101536" cy="4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141404" y="4350053"/>
            <a:ext cx="101537" cy="4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242941" y="4350509"/>
            <a:ext cx="101536" cy="4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344477" y="4350955"/>
            <a:ext cx="101537" cy="36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5446014" y="4351321"/>
            <a:ext cx="101536" cy="4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5547550" y="4351732"/>
            <a:ext cx="101537" cy="32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649087" y="4352057"/>
            <a:ext cx="101536" cy="38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750623" y="4352438"/>
            <a:ext cx="101537" cy="27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78408" y="2179421"/>
            <a:ext cx="101536" cy="73445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79944" y="2913874"/>
            <a:ext cx="101537" cy="47085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1181481" y="3384728"/>
            <a:ext cx="101536" cy="305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1283017" y="3689891"/>
            <a:ext cx="101537" cy="1928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1384554" y="3882777"/>
            <a:ext cx="101536" cy="123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1486090" y="4005781"/>
            <a:ext cx="101537" cy="809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587627" y="4086685"/>
            <a:ext cx="101536" cy="556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1689163" y="4142307"/>
            <a:ext cx="101537" cy="399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790700" y="4182228"/>
            <a:ext cx="101536" cy="2958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892236" y="4211813"/>
            <a:ext cx="101537" cy="225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993773" y="4234374"/>
            <a:ext cx="101536" cy="1777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095309" y="4252145"/>
            <a:ext cx="101537" cy="1416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2196846" y="4266309"/>
            <a:ext cx="101536" cy="115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2298382" y="4277867"/>
            <a:ext cx="101537" cy="95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2399919" y="4287456"/>
            <a:ext cx="101536" cy="8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2501455" y="4295528"/>
            <a:ext cx="101537" cy="67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602992" y="4302322"/>
            <a:ext cx="101536" cy="58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2704528" y="4308143"/>
            <a:ext cx="101537" cy="50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2806065" y="4313168"/>
            <a:ext cx="101536" cy="43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2907601" y="4317547"/>
            <a:ext cx="101537" cy="38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3009138" y="4321395"/>
            <a:ext cx="101536" cy="3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3110674" y="4324777"/>
            <a:ext cx="101537" cy="30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3212211" y="4327803"/>
            <a:ext cx="101536" cy="26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3313747" y="4330499"/>
            <a:ext cx="101537" cy="240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3415284" y="4332908"/>
            <a:ext cx="101536" cy="21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3516820" y="4335103"/>
            <a:ext cx="101537" cy="19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3618357" y="4337082"/>
            <a:ext cx="101536" cy="17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719893" y="4338881"/>
            <a:ext cx="101537" cy="165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3821430" y="4340539"/>
            <a:ext cx="101536" cy="14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3922966" y="4342037"/>
            <a:ext cx="101537" cy="13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4024503" y="4343430"/>
            <a:ext cx="101536" cy="126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126039" y="4344697"/>
            <a:ext cx="101537" cy="11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4227576" y="4345865"/>
            <a:ext cx="101536" cy="10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4329112" y="4346937"/>
            <a:ext cx="101537" cy="9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430649" y="4347934"/>
            <a:ext cx="101536" cy="9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4532185" y="4348851"/>
            <a:ext cx="101537" cy="8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4633722" y="4349692"/>
            <a:ext cx="101536" cy="80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4735258" y="4350494"/>
            <a:ext cx="101537" cy="7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4836795" y="4351246"/>
            <a:ext cx="101536" cy="6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4938331" y="4351927"/>
            <a:ext cx="101537" cy="6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5039868" y="4352563"/>
            <a:ext cx="101536" cy="59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5141404" y="4353160"/>
            <a:ext cx="101537" cy="5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5242941" y="4353711"/>
            <a:ext cx="101536" cy="51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5344477" y="4354227"/>
            <a:ext cx="101537" cy="4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5446014" y="4354723"/>
            <a:ext cx="101536" cy="4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5547550" y="4355179"/>
            <a:ext cx="101537" cy="42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5649087" y="4355604"/>
            <a:ext cx="101536" cy="3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750623" y="4356000"/>
            <a:ext cx="101537" cy="38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78408" y="2172437"/>
            <a:ext cx="101536" cy="7373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79944" y="2909770"/>
            <a:ext cx="101537" cy="4738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181481" y="3383635"/>
            <a:ext cx="101536" cy="304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1283017" y="3688613"/>
            <a:ext cx="101537" cy="19353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1384554" y="3882145"/>
            <a:ext cx="101536" cy="12346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486090" y="4005610"/>
            <a:ext cx="101537" cy="8119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1587627" y="4086800"/>
            <a:ext cx="101536" cy="557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689163" y="4142593"/>
            <a:ext cx="101537" cy="399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790700" y="4182559"/>
            <a:ext cx="101536" cy="297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892236" y="4212264"/>
            <a:ext cx="101537" cy="226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993773" y="4234950"/>
            <a:ext cx="101536" cy="177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2095309" y="4252681"/>
            <a:ext cx="101537" cy="141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2196846" y="4266865"/>
            <a:ext cx="101536" cy="1154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2298382" y="4278413"/>
            <a:ext cx="101537" cy="95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2399919" y="4287972"/>
            <a:ext cx="101536" cy="79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2501455" y="4295969"/>
            <a:ext cx="101537" cy="67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602992" y="4302732"/>
            <a:ext cx="101536" cy="58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704528" y="4308539"/>
            <a:ext cx="101537" cy="501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806065" y="4313554"/>
            <a:ext cx="101536" cy="43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2907601" y="4317913"/>
            <a:ext cx="101537" cy="382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3009138" y="4321741"/>
            <a:ext cx="101536" cy="33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3110674" y="4325108"/>
            <a:ext cx="101537" cy="30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212211" y="4328119"/>
            <a:ext cx="101536" cy="267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3313747" y="4330794"/>
            <a:ext cx="101537" cy="239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3415284" y="4333189"/>
            <a:ext cx="101536" cy="21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516820" y="4335363"/>
            <a:ext cx="101537" cy="19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618357" y="4337322"/>
            <a:ext cx="101536" cy="1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719893" y="4339106"/>
            <a:ext cx="101537" cy="1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821430" y="4340739"/>
            <a:ext cx="101536" cy="148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922966" y="4342227"/>
            <a:ext cx="101537" cy="13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4024503" y="4343590"/>
            <a:ext cx="101536" cy="12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4126039" y="4344833"/>
            <a:ext cx="101537" cy="11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4227576" y="4345990"/>
            <a:ext cx="101536" cy="106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329112" y="4347052"/>
            <a:ext cx="101537" cy="9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430649" y="4348029"/>
            <a:ext cx="101536" cy="9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532185" y="4348951"/>
            <a:ext cx="101537" cy="84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633722" y="4349798"/>
            <a:ext cx="101536" cy="7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735258" y="4350579"/>
            <a:ext cx="101537" cy="7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a:off x="4836795" y="4351306"/>
            <a:ext cx="101536" cy="6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a:off x="4938331" y="4351987"/>
            <a:ext cx="101537" cy="64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5039868" y="4352628"/>
            <a:ext cx="101536" cy="5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5141404" y="4353225"/>
            <a:ext cx="101537" cy="55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5242941" y="4353776"/>
            <a:ext cx="101536" cy="5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5344477" y="4354297"/>
            <a:ext cx="101537" cy="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a:off x="5446014" y="4354783"/>
            <a:ext cx="101536" cy="4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a:off x="5547550" y="4355239"/>
            <a:ext cx="101537" cy="4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5649087" y="4355670"/>
            <a:ext cx="101536" cy="4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5750623" y="4356080"/>
            <a:ext cx="101537" cy="37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6153912" y="1371600"/>
            <a:ext cx="5532120" cy="35204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TextBox 184"/>
          <p:cNvSpPr txBox="1"/>
          <p:nvPr/>
        </p:nvSpPr>
        <p:spPr>
          <a:xfrm>
            <a:off x="6263640" y="1463040"/>
            <a:ext cx="5312664"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Exact match (%)</a:t>
            </a:r>
          </a:p>
        </p:txBody>
      </p:sp>
      <p:cxnSp>
        <p:nvCxnSpPr>
          <p:cNvPr id="186" name="Connector 185"/>
          <p:cNvCxnSpPr/>
          <p:nvPr/>
        </p:nvCxnSpPr>
        <p:spPr>
          <a:xfrm>
            <a:off x="75849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7850123"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88" name="Connector 187"/>
          <p:cNvCxnSpPr/>
          <p:nvPr/>
        </p:nvCxnSpPr>
        <p:spPr>
          <a:xfrm>
            <a:off x="84749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8740139"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90" name="Connector 189"/>
          <p:cNvCxnSpPr/>
          <p:nvPr/>
        </p:nvCxnSpPr>
        <p:spPr>
          <a:xfrm>
            <a:off x="93649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9630156"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92" name="Connector 191"/>
          <p:cNvCxnSpPr/>
          <p:nvPr/>
        </p:nvCxnSpPr>
        <p:spPr>
          <a:xfrm>
            <a:off x="6629400" y="4443983"/>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6190488" y="4370831"/>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a:t>
            </a:r>
          </a:p>
        </p:txBody>
      </p:sp>
      <p:cxnSp>
        <p:nvCxnSpPr>
          <p:cNvPr id="194" name="Connector 193"/>
          <p:cNvCxnSpPr/>
          <p:nvPr/>
        </p:nvCxnSpPr>
        <p:spPr>
          <a:xfrm>
            <a:off x="6629400" y="4014542"/>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6190488" y="3941390"/>
            <a:ext cx="393192" cy="146304"/>
          </a:xfrm>
          <a:prstGeom prst="rect">
            <a:avLst/>
          </a:prstGeom>
          <a:noFill/>
        </p:spPr>
        <p:txBody>
          <a:bodyPr wrap="square" lIns="0" tIns="0" rIns="0" bIns="0" anchor="ctr">
            <a:spAutoFit/>
          </a:bodyPr>
          <a:lstStyle/>
          <a:p>
            <a:pPr algn="r"/>
            <a:r>
              <a:rPr lang="en-US" sz="720" b="0">
                <a:solidFill>
                  <a:srgbClr val="686868"/>
                </a:solidFill>
                <a:latin typeface="Arial"/>
              </a:rPr>
              <a:t>10</a:t>
            </a:r>
          </a:p>
        </p:txBody>
      </p:sp>
      <p:cxnSp>
        <p:nvCxnSpPr>
          <p:cNvPr id="196" name="Connector 195"/>
          <p:cNvCxnSpPr/>
          <p:nvPr/>
        </p:nvCxnSpPr>
        <p:spPr>
          <a:xfrm>
            <a:off x="6629400" y="3585101"/>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6190488" y="3511949"/>
            <a:ext cx="393192" cy="146304"/>
          </a:xfrm>
          <a:prstGeom prst="rect">
            <a:avLst/>
          </a:prstGeom>
          <a:noFill/>
        </p:spPr>
        <p:txBody>
          <a:bodyPr wrap="square" lIns="0" tIns="0" rIns="0" bIns="0" anchor="ctr">
            <a:spAutoFit/>
          </a:bodyPr>
          <a:lstStyle/>
          <a:p>
            <a:pPr algn="r"/>
            <a:r>
              <a:rPr lang="en-US" sz="720" b="0">
                <a:solidFill>
                  <a:srgbClr val="686868"/>
                </a:solidFill>
                <a:latin typeface="Arial"/>
              </a:rPr>
              <a:t>20</a:t>
            </a:r>
          </a:p>
        </p:txBody>
      </p:sp>
      <p:cxnSp>
        <p:nvCxnSpPr>
          <p:cNvPr id="198" name="Connector 197"/>
          <p:cNvCxnSpPr/>
          <p:nvPr/>
        </p:nvCxnSpPr>
        <p:spPr>
          <a:xfrm>
            <a:off x="6629400" y="3155659"/>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6190488" y="308250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30</a:t>
            </a:r>
          </a:p>
        </p:txBody>
      </p:sp>
      <p:cxnSp>
        <p:nvCxnSpPr>
          <p:cNvPr id="200" name="Connector 199"/>
          <p:cNvCxnSpPr/>
          <p:nvPr/>
        </p:nvCxnSpPr>
        <p:spPr>
          <a:xfrm>
            <a:off x="6629400" y="2726218"/>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6190488" y="2653066"/>
            <a:ext cx="393192" cy="146304"/>
          </a:xfrm>
          <a:prstGeom prst="rect">
            <a:avLst/>
          </a:prstGeom>
          <a:noFill/>
        </p:spPr>
        <p:txBody>
          <a:bodyPr wrap="square" lIns="0" tIns="0" rIns="0" bIns="0" anchor="ctr">
            <a:spAutoFit/>
          </a:bodyPr>
          <a:lstStyle/>
          <a:p>
            <a:pPr algn="r"/>
            <a:r>
              <a:rPr lang="en-US" sz="720" b="0">
                <a:solidFill>
                  <a:srgbClr val="686868"/>
                </a:solidFill>
                <a:latin typeface="Arial"/>
              </a:rPr>
              <a:t>40</a:t>
            </a:r>
          </a:p>
        </p:txBody>
      </p:sp>
      <p:cxnSp>
        <p:nvCxnSpPr>
          <p:cNvPr id="202" name="Connector 201"/>
          <p:cNvCxnSpPr/>
          <p:nvPr/>
        </p:nvCxnSpPr>
        <p:spPr>
          <a:xfrm>
            <a:off x="6629400" y="2296776"/>
            <a:ext cx="48737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190488" y="2223624"/>
            <a:ext cx="393192" cy="146304"/>
          </a:xfrm>
          <a:prstGeom prst="rect">
            <a:avLst/>
          </a:prstGeom>
          <a:noFill/>
        </p:spPr>
        <p:txBody>
          <a:bodyPr wrap="square" lIns="0" tIns="0" rIns="0" bIns="0" anchor="ctr">
            <a:spAutoFit/>
          </a:bodyPr>
          <a:lstStyle/>
          <a:p>
            <a:pPr algn="r"/>
            <a:r>
              <a:rPr lang="en-US" sz="720" b="0">
                <a:solidFill>
                  <a:srgbClr val="686868"/>
                </a:solidFill>
                <a:latin typeface="Arial"/>
              </a:rPr>
              <a:t>50</a:t>
            </a:r>
          </a:p>
        </p:txBody>
      </p:sp>
      <p:cxnSp>
        <p:nvCxnSpPr>
          <p:cNvPr id="204" name="Connector 203"/>
          <p:cNvCxnSpPr/>
          <p:nvPr/>
        </p:nvCxnSpPr>
        <p:spPr>
          <a:xfrm>
            <a:off x="6629400"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464808"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206" name="Connector 205"/>
          <p:cNvCxnSpPr/>
          <p:nvPr/>
        </p:nvCxnSpPr>
        <p:spPr>
          <a:xfrm>
            <a:off x="744169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277100"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208" name="Connector 207"/>
          <p:cNvCxnSpPr/>
          <p:nvPr/>
        </p:nvCxnSpPr>
        <p:spPr>
          <a:xfrm>
            <a:off x="845705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9" name="TextBox 208"/>
          <p:cNvSpPr txBox="1"/>
          <p:nvPr/>
        </p:nvSpPr>
        <p:spPr>
          <a:xfrm>
            <a:off x="8292465"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210" name="Connector 209"/>
          <p:cNvCxnSpPr/>
          <p:nvPr/>
        </p:nvCxnSpPr>
        <p:spPr>
          <a:xfrm>
            <a:off x="947242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1" name="TextBox 210"/>
          <p:cNvSpPr txBox="1"/>
          <p:nvPr/>
        </p:nvSpPr>
        <p:spPr>
          <a:xfrm>
            <a:off x="9307830"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212" name="Connector 211"/>
          <p:cNvCxnSpPr/>
          <p:nvPr/>
        </p:nvCxnSpPr>
        <p:spPr>
          <a:xfrm>
            <a:off x="10487787"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3" name="TextBox 212"/>
          <p:cNvSpPr txBox="1"/>
          <p:nvPr/>
        </p:nvSpPr>
        <p:spPr>
          <a:xfrm>
            <a:off x="10323195"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214" name="Connector 213"/>
          <p:cNvCxnSpPr/>
          <p:nvPr/>
        </p:nvCxnSpPr>
        <p:spPr>
          <a:xfrm>
            <a:off x="11503152" y="2039112"/>
            <a:ext cx="0" cy="2404871"/>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5" name="TextBox 214"/>
          <p:cNvSpPr txBox="1"/>
          <p:nvPr/>
        </p:nvSpPr>
        <p:spPr>
          <a:xfrm>
            <a:off x="11338560" y="4489703"/>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216" name="Connector 215"/>
          <p:cNvCxnSpPr/>
          <p:nvPr/>
        </p:nvCxnSpPr>
        <p:spPr>
          <a:xfrm>
            <a:off x="6629400" y="2039112"/>
            <a:ext cx="0" cy="2404871"/>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6629400" y="4443983"/>
            <a:ext cx="48737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629400" y="4434029"/>
            <a:ext cx="101536" cy="97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730936" y="4200864"/>
            <a:ext cx="101537" cy="2331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flipV="1">
            <a:off x="6832473" y="3196800"/>
            <a:ext cx="101536" cy="10040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flipV="1">
            <a:off x="6934009" y="2586894"/>
            <a:ext cx="101537" cy="60990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flipV="1">
            <a:off x="7035546" y="2321568"/>
            <a:ext cx="101536" cy="2653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flipV="1">
            <a:off x="7137082" y="2235804"/>
            <a:ext cx="101537" cy="857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flipV="1">
            <a:off x="7238619" y="2194647"/>
            <a:ext cx="101536" cy="411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7340155" y="2178951"/>
            <a:ext cx="101537" cy="1569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flipV="1">
            <a:off x="7441692" y="2172440"/>
            <a:ext cx="101536" cy="65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flipV="1">
            <a:off x="7543228" y="2169378"/>
            <a:ext cx="101537" cy="30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7644765" y="2168227"/>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7746301" y="2167081"/>
            <a:ext cx="101537" cy="114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847838" y="2165930"/>
            <a:ext cx="101536" cy="115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flipV="1">
            <a:off x="7949374" y="2165165"/>
            <a:ext cx="101537" cy="76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8050911" y="2165165"/>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flipV="1">
            <a:off x="8152447" y="2164976"/>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flipV="1">
            <a:off x="8253984" y="2164401"/>
            <a:ext cx="101536" cy="5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8355520" y="216440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flipV="1">
            <a:off x="8457057" y="2164208"/>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flipV="1">
            <a:off x="8558593" y="2164019"/>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8660130" y="2163637"/>
            <a:ext cx="101536" cy="3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8761666" y="2163637"/>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flipV="1">
            <a:off x="8863203" y="2163443"/>
            <a:ext cx="101536"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8964739"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066276" y="2163637"/>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9167812" y="2163443"/>
            <a:ext cx="101537" cy="1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9269349"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9370885"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472422"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9573958"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9675495"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9777031"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9878568"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9980104"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10081641" y="2163443"/>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10183177" y="2163443"/>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0284714" y="2163250"/>
            <a:ext cx="101536" cy="19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10386250"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10487787"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10589323" y="2163250"/>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10690860" y="2163250"/>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10792396" y="2163061"/>
            <a:ext cx="101537" cy="18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10893933"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995469"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1097006"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1198542"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11300079" y="2163061"/>
            <a:ext cx="101536"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11401615" y="2163061"/>
            <a:ext cx="10153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6629400" y="4435562"/>
            <a:ext cx="101536" cy="84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6730936" y="4186314"/>
            <a:ext cx="101537" cy="24924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6832473" y="3198522"/>
            <a:ext cx="101536" cy="9877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6934009" y="2601633"/>
            <a:ext cx="101537" cy="5968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7035546" y="2331711"/>
            <a:ext cx="101536" cy="2699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7137082" y="2235615"/>
            <a:ext cx="101537" cy="9609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7238619" y="2196369"/>
            <a:ext cx="101536" cy="392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7340155" y="2182012"/>
            <a:ext cx="101537" cy="1435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7441692" y="2176078"/>
            <a:ext cx="101536" cy="59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7543228" y="2171100"/>
            <a:ext cx="101537" cy="497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7644765" y="2169378"/>
            <a:ext cx="101536" cy="17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7746301" y="2168038"/>
            <a:ext cx="101537" cy="13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7847838" y="2166699"/>
            <a:ext cx="101536" cy="13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7949374" y="2166316"/>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8050911" y="2165548"/>
            <a:ext cx="101536" cy="76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8152447" y="2165165"/>
            <a:ext cx="101537" cy="3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8253984" y="2164783"/>
            <a:ext cx="101536"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8355520" y="2164208"/>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8457057" y="216401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8558593" y="216382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8660130" y="2163826"/>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flipV="1">
            <a:off x="8761666" y="2163637"/>
            <a:ext cx="101537" cy="38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8863203" y="216363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8964739" y="216363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flipV="1">
            <a:off x="9066276" y="2163250"/>
            <a:ext cx="101536" cy="3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9167812" y="2163250"/>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9269349" y="2163250"/>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flipV="1">
            <a:off x="9370885" y="216306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9472422" y="2163061"/>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flipV="1">
            <a:off x="9573958" y="2162486"/>
            <a:ext cx="101537" cy="57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9675495" y="216248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flipV="1">
            <a:off x="9777031" y="2162297"/>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9878568"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9980104" y="2162297"/>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10081641" y="2162297"/>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flipV="1">
            <a:off x="10183177" y="2162104"/>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flipV="1">
            <a:off x="10284714" y="2161910"/>
            <a:ext cx="101536" cy="19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flipV="1">
            <a:off x="10386250" y="2161721"/>
            <a:ext cx="101537"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flipV="1">
            <a:off x="10487787" y="2161528"/>
            <a:ext cx="101536"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10589323" y="2161528"/>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flipV="1">
            <a:off x="10690860" y="2161339"/>
            <a:ext cx="101536" cy="18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flipV="1">
            <a:off x="10792396" y="2161146"/>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10893933"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10995469"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11097006"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11198542" y="2161146"/>
            <a:ext cx="10153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11300079" y="2161146"/>
            <a:ext cx="101536"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flipV="1">
            <a:off x="11401615" y="2160953"/>
            <a:ext cx="101537" cy="19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flipV="1">
            <a:off x="6629400" y="4435562"/>
            <a:ext cx="101536" cy="84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flipV="1">
            <a:off x="6730936" y="4182870"/>
            <a:ext cx="101537" cy="25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flipV="1">
            <a:off x="6832473" y="3200051"/>
            <a:ext cx="101536" cy="98281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flipV="1">
            <a:off x="6934009" y="2604888"/>
            <a:ext cx="101537" cy="5951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7035546" y="2334009"/>
            <a:ext cx="101536" cy="27087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flipV="1">
            <a:off x="7137082" y="2235040"/>
            <a:ext cx="101537" cy="98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flipV="1">
            <a:off x="7238619" y="2197709"/>
            <a:ext cx="101536" cy="3733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7340155" y="2182588"/>
            <a:ext cx="101537" cy="1512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7441692" y="2175695"/>
            <a:ext cx="101536" cy="68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7543228" y="2171294"/>
            <a:ext cx="101537" cy="440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7644765" y="2169378"/>
            <a:ext cx="101536" cy="191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7746301" y="2167845"/>
            <a:ext cx="101537" cy="15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7847838" y="2167081"/>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7949374" y="216612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8050911" y="2165741"/>
            <a:ext cx="101536"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8152447" y="2164783"/>
            <a:ext cx="101537" cy="9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8253984" y="2164019"/>
            <a:ext cx="101536" cy="76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8355520" y="2164019"/>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8457057" y="2164019"/>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8558593" y="2164019"/>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8660130" y="216401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8761666" y="2163637"/>
            <a:ext cx="101537" cy="3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8863203" y="2163443"/>
            <a:ext cx="101536" cy="1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8964739" y="216344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9066276" y="2163443"/>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9167812" y="2163250"/>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9269349" y="2163250"/>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9370885" y="216325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9472422" y="2162679"/>
            <a:ext cx="101536" cy="57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9573958" y="216248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9675495" y="216248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9777031" y="2162297"/>
            <a:ext cx="101537"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9878568" y="2161910"/>
            <a:ext cx="101536" cy="3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9980104" y="2161910"/>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10081641" y="2161721"/>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10183177" y="2161721"/>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10284714" y="2161721"/>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10386250" y="2161528"/>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10487787" y="2161528"/>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10589323" y="2161528"/>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10690860" y="2161339"/>
            <a:ext cx="101536" cy="1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10792396" y="2161146"/>
            <a:ext cx="101537"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a:off x="10893933"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10995469"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11097006" y="2161146"/>
            <a:ext cx="101536"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11198542" y="2161146"/>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flipV="1">
            <a:off x="11300079" y="2160953"/>
            <a:ext cx="101536" cy="19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11401615" y="2160953"/>
            <a:ext cx="10153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62" name="Rounded Rectangle 361"/>
          <p:cNvSpPr/>
          <p:nvPr/>
        </p:nvSpPr>
        <p:spPr>
          <a:xfrm>
            <a:off x="594360" y="5074920"/>
            <a:ext cx="3547872" cy="47548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TextBox 362"/>
          <p:cNvSpPr txBox="1"/>
          <p:nvPr/>
        </p:nvSpPr>
        <p:spPr>
          <a:xfrm>
            <a:off x="722376" y="5175504"/>
            <a:ext cx="1024128" cy="182880"/>
          </a:xfrm>
          <a:prstGeom prst="rect">
            <a:avLst/>
          </a:prstGeom>
          <a:noFill/>
        </p:spPr>
        <p:txBody>
          <a:bodyPr wrap="square" lIns="18288" tIns="18288" rIns="18288" bIns="18288" anchor="t">
            <a:spAutoFit/>
          </a:bodyPr>
          <a:lstStyle/>
          <a:p>
            <a:pPr algn="l"/>
            <a:r>
              <a:rPr lang="en-US" sz="880" b="1">
                <a:solidFill>
                  <a:srgbClr val="1F90CC"/>
                </a:solidFill>
                <a:latin typeface="Arial"/>
              </a:rPr>
              <a:t>LOSS</a:t>
            </a:r>
          </a:p>
        </p:txBody>
      </p:sp>
      <p:sp>
        <p:nvSpPr>
          <p:cNvPr id="364" name="TextBox 363"/>
          <p:cNvSpPr txBox="1"/>
          <p:nvPr/>
        </p:nvSpPr>
        <p:spPr>
          <a:xfrm>
            <a:off x="1673352" y="5157216"/>
            <a:ext cx="2304288" cy="219456"/>
          </a:xfrm>
          <a:prstGeom prst="rect">
            <a:avLst/>
          </a:prstGeom>
          <a:noFill/>
        </p:spPr>
        <p:txBody>
          <a:bodyPr wrap="square" lIns="18288" tIns="18288" rIns="18288" bIns="18288" anchor="ctr">
            <a:spAutoFit/>
          </a:bodyPr>
          <a:lstStyle/>
          <a:p>
            <a:pPr algn="ctr"/>
            <a:r>
              <a:rPr lang="en-US" sz="980" b="1">
                <a:solidFill>
                  <a:srgbClr val="434343"/>
                </a:solidFill>
                <a:latin typeface="Arial"/>
              </a:rPr>
              <a:t>≈ 0.62  →  ≈ 0.188</a:t>
            </a:r>
          </a:p>
        </p:txBody>
      </p:sp>
      <p:sp>
        <p:nvSpPr>
          <p:cNvPr id="365" name="Rounded Rectangle 364"/>
          <p:cNvSpPr/>
          <p:nvPr/>
        </p:nvSpPr>
        <p:spPr>
          <a:xfrm>
            <a:off x="4389120" y="5074920"/>
            <a:ext cx="3547872" cy="47548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TextBox 365"/>
          <p:cNvSpPr txBox="1"/>
          <p:nvPr/>
        </p:nvSpPr>
        <p:spPr>
          <a:xfrm>
            <a:off x="4517136" y="5175504"/>
            <a:ext cx="1024128" cy="182880"/>
          </a:xfrm>
          <a:prstGeom prst="rect">
            <a:avLst/>
          </a:prstGeom>
          <a:noFill/>
        </p:spPr>
        <p:txBody>
          <a:bodyPr wrap="square" lIns="18288" tIns="18288" rIns="18288" bIns="18288" anchor="t">
            <a:spAutoFit/>
          </a:bodyPr>
          <a:lstStyle/>
          <a:p>
            <a:pPr algn="l"/>
            <a:r>
              <a:rPr lang="en-US" sz="880" b="1">
                <a:solidFill>
                  <a:srgbClr val="2F8F46"/>
                </a:solidFill>
                <a:latin typeface="Arial"/>
              </a:rPr>
              <a:t>EXACT MATCH</a:t>
            </a:r>
          </a:p>
        </p:txBody>
      </p:sp>
      <p:sp>
        <p:nvSpPr>
          <p:cNvPr id="367" name="TextBox 366"/>
          <p:cNvSpPr txBox="1"/>
          <p:nvPr/>
        </p:nvSpPr>
        <p:spPr>
          <a:xfrm>
            <a:off x="5468112" y="5157216"/>
            <a:ext cx="2304288" cy="219456"/>
          </a:xfrm>
          <a:prstGeom prst="rect">
            <a:avLst/>
          </a:prstGeom>
          <a:noFill/>
        </p:spPr>
        <p:txBody>
          <a:bodyPr wrap="square" lIns="18288" tIns="18288" rIns="18288" bIns="18288" anchor="ctr">
            <a:spAutoFit/>
          </a:bodyPr>
          <a:lstStyle/>
          <a:p>
            <a:pPr algn="ctr"/>
            <a:r>
              <a:rPr lang="en-US" sz="980" b="1">
                <a:solidFill>
                  <a:srgbClr val="434343"/>
                </a:solidFill>
                <a:latin typeface="Arial"/>
              </a:rPr>
              <a:t>≈ 0%  →  ≈ 53.16%</a:t>
            </a:r>
          </a:p>
        </p:txBody>
      </p:sp>
      <p:sp>
        <p:nvSpPr>
          <p:cNvPr id="368" name="Rounded Rectangle 367"/>
          <p:cNvSpPr/>
          <p:nvPr/>
        </p:nvSpPr>
        <p:spPr>
          <a:xfrm>
            <a:off x="8183880" y="5074920"/>
            <a:ext cx="3547872" cy="475488"/>
          </a:xfrm>
          <a:prstGeom prst="roundRect">
            <a:avLst/>
          </a:prstGeom>
          <a:solidFill>
            <a:srgbClr val="F3F3F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TextBox 368"/>
          <p:cNvSpPr txBox="1"/>
          <p:nvPr/>
        </p:nvSpPr>
        <p:spPr>
          <a:xfrm>
            <a:off x="8311896" y="5175504"/>
            <a:ext cx="1024128" cy="182880"/>
          </a:xfrm>
          <a:prstGeom prst="rect">
            <a:avLst/>
          </a:prstGeom>
          <a:noFill/>
        </p:spPr>
        <p:txBody>
          <a:bodyPr wrap="square" lIns="18288" tIns="18288" rIns="18288" bIns="18288" anchor="t">
            <a:spAutoFit/>
          </a:bodyPr>
          <a:lstStyle/>
          <a:p>
            <a:pPr algn="l"/>
            <a:r>
              <a:rPr lang="en-US" sz="880" b="1">
                <a:solidFill>
                  <a:srgbClr val="434343"/>
                </a:solidFill>
                <a:latin typeface="Arial"/>
              </a:rPr>
              <a:t>OBSERVATION</a:t>
            </a:r>
          </a:p>
        </p:txBody>
      </p:sp>
      <p:sp>
        <p:nvSpPr>
          <p:cNvPr id="370" name="TextBox 369"/>
          <p:cNvSpPr txBox="1"/>
          <p:nvPr/>
        </p:nvSpPr>
        <p:spPr>
          <a:xfrm>
            <a:off x="9262872" y="5157216"/>
            <a:ext cx="2304288" cy="219456"/>
          </a:xfrm>
          <a:prstGeom prst="rect">
            <a:avLst/>
          </a:prstGeom>
          <a:noFill/>
        </p:spPr>
        <p:txBody>
          <a:bodyPr wrap="square" lIns="18288" tIns="18288" rIns="18288" bIns="18288" anchor="ctr">
            <a:spAutoFit/>
          </a:bodyPr>
          <a:lstStyle/>
          <a:p>
            <a:pPr algn="ctr"/>
            <a:r>
              <a:rPr lang="en-US" sz="980" b="1">
                <a:solidFill>
                  <a:srgbClr val="434343"/>
                </a:solidFill>
                <a:latin typeface="Arial"/>
              </a:rPr>
              <a:t>Nearly identical curves at all three tested scales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Optimization does not imply useful discrimination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AUROC REMAINS NEAR CHANCE WHILE BOTH F1 SCORES COLLAPSE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384048"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93776" y="1463040"/>
            <a:ext cx="3511296"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Macro AUROC</a:t>
            </a:r>
          </a:p>
        </p:txBody>
      </p:sp>
      <p:cxnSp>
        <p:nvCxnSpPr>
          <p:cNvPr id="10" name="Connector 9"/>
          <p:cNvCxnSpPr/>
          <p:nvPr/>
        </p:nvCxnSpPr>
        <p:spPr>
          <a:xfrm>
            <a:off x="914400"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179576"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2" name="Connector 11"/>
          <p:cNvCxnSpPr/>
          <p:nvPr/>
        </p:nvCxnSpPr>
        <p:spPr>
          <a:xfrm>
            <a:off x="1804415"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069591"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4" name="Connector 13"/>
          <p:cNvCxnSpPr/>
          <p:nvPr/>
        </p:nvCxnSpPr>
        <p:spPr>
          <a:xfrm>
            <a:off x="2694431" y="1819656"/>
            <a:ext cx="219457"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9607"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6" name="Connector 15"/>
          <p:cNvCxnSpPr/>
          <p:nvPr/>
        </p:nvCxnSpPr>
        <p:spPr>
          <a:xfrm>
            <a:off x="859536" y="4050791"/>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20623" y="3977639"/>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0.49</a:t>
            </a:r>
          </a:p>
        </p:txBody>
      </p:sp>
      <p:cxnSp>
        <p:nvCxnSpPr>
          <p:cNvPr id="18" name="Connector 17"/>
          <p:cNvCxnSpPr/>
          <p:nvPr/>
        </p:nvCxnSpPr>
        <p:spPr>
          <a:xfrm>
            <a:off x="859536" y="3246119"/>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3" y="3172967"/>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0.50</a:t>
            </a:r>
          </a:p>
        </p:txBody>
      </p:sp>
      <p:cxnSp>
        <p:nvCxnSpPr>
          <p:cNvPr id="20" name="Connector 19"/>
          <p:cNvCxnSpPr/>
          <p:nvPr/>
        </p:nvCxnSpPr>
        <p:spPr>
          <a:xfrm>
            <a:off x="859536" y="24414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20623" y="236829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0.51</a:t>
            </a:r>
          </a:p>
        </p:txBody>
      </p:sp>
      <p:cxnSp>
        <p:nvCxnSpPr>
          <p:cNvPr id="22" name="Connector 21"/>
          <p:cNvCxnSpPr/>
          <p:nvPr/>
        </p:nvCxnSpPr>
        <p:spPr>
          <a:xfrm>
            <a:off x="859536"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4944"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24" name="Connector 23"/>
          <p:cNvCxnSpPr/>
          <p:nvPr/>
        </p:nvCxnSpPr>
        <p:spPr>
          <a:xfrm>
            <a:off x="137160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20700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26" name="Connector 25"/>
          <p:cNvCxnSpPr/>
          <p:nvPr/>
        </p:nvCxnSpPr>
        <p:spPr>
          <a:xfrm>
            <a:off x="201168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184708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28" name="Connector 27"/>
          <p:cNvCxnSpPr/>
          <p:nvPr/>
        </p:nvCxnSpPr>
        <p:spPr>
          <a:xfrm>
            <a:off x="26517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248716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30" name="Connector 29"/>
          <p:cNvCxnSpPr/>
          <p:nvPr/>
        </p:nvCxnSpPr>
        <p:spPr>
          <a:xfrm>
            <a:off x="329184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12724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32" name="Connector 31"/>
          <p:cNvCxnSpPr/>
          <p:nvPr/>
        </p:nvCxnSpPr>
        <p:spPr>
          <a:xfrm>
            <a:off x="393192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6732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34" name="Connector 33"/>
          <p:cNvCxnSpPr/>
          <p:nvPr/>
        </p:nvCxnSpPr>
        <p:spPr>
          <a:xfrm>
            <a:off x="859536"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59536"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59536" y="3246119"/>
            <a:ext cx="3072384"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3438144" y="3081527"/>
            <a:ext cx="457200" cy="128016"/>
          </a:xfrm>
          <a:prstGeom prst="rect">
            <a:avLst/>
          </a:prstGeom>
          <a:noFill/>
        </p:spPr>
        <p:txBody>
          <a:bodyPr wrap="square" lIns="0" tIns="0" rIns="0" bIns="0" anchor="t">
            <a:spAutoFit/>
          </a:bodyPr>
          <a:lstStyle/>
          <a:p>
            <a:pPr algn="r"/>
            <a:r>
              <a:rPr lang="en-US" sz="700" b="0">
                <a:solidFill>
                  <a:srgbClr val="686868"/>
                </a:solidFill>
                <a:latin typeface="Arial"/>
              </a:rPr>
              <a:t>chance</a:t>
            </a:r>
          </a:p>
        </p:txBody>
      </p:sp>
      <p:cxnSp>
        <p:nvCxnSpPr>
          <p:cNvPr id="38" name="Connector 37"/>
          <p:cNvCxnSpPr/>
          <p:nvPr/>
        </p:nvCxnSpPr>
        <p:spPr>
          <a:xfrm>
            <a:off x="859536" y="3893317"/>
            <a:ext cx="64008" cy="2307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23544" y="4083783"/>
            <a:ext cx="64008" cy="402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987552" y="3848014"/>
            <a:ext cx="64008" cy="23576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51560" y="3551814"/>
            <a:ext cx="64008" cy="29620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15568" y="3316609"/>
            <a:ext cx="64008" cy="2352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179576" y="3150846"/>
            <a:ext cx="64008" cy="1657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243584" y="3019363"/>
            <a:ext cx="64008" cy="13148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307592" y="2950000"/>
            <a:ext cx="64008" cy="693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71600" y="2893029"/>
            <a:ext cx="64008" cy="56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435608" y="2887075"/>
            <a:ext cx="64008" cy="595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499616" y="2872671"/>
            <a:ext cx="64008" cy="144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563624" y="2872671"/>
            <a:ext cx="64008" cy="716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627632" y="2879833"/>
            <a:ext cx="64008" cy="1070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691640" y="2890535"/>
            <a:ext cx="64008" cy="133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755648" y="2903892"/>
            <a:ext cx="64008" cy="44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819656" y="2948069"/>
            <a:ext cx="64008" cy="11748"/>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1883664" y="2956438"/>
            <a:ext cx="64008" cy="337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947672" y="2956438"/>
            <a:ext cx="64008" cy="692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011680" y="2963358"/>
            <a:ext cx="64008" cy="125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075688" y="2975911"/>
            <a:ext cx="64008" cy="97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2139696" y="2985647"/>
            <a:ext cx="64008" cy="155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2203704" y="3001177"/>
            <a:ext cx="64008" cy="88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267712" y="3009868"/>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331720" y="3009868"/>
            <a:ext cx="64008" cy="9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2395728" y="3018478"/>
            <a:ext cx="64008" cy="72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2459736" y="3018478"/>
            <a:ext cx="64008" cy="249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2523744" y="3020972"/>
            <a:ext cx="64008" cy="531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2587752" y="3026283"/>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2651760" y="3026444"/>
            <a:ext cx="64008" cy="91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2715768" y="3031513"/>
            <a:ext cx="64008" cy="410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779776" y="3029260"/>
            <a:ext cx="64008" cy="225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843784" y="3029260"/>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2907792" y="3027490"/>
            <a:ext cx="64008" cy="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971800" y="3027490"/>
            <a:ext cx="64008" cy="16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3035808" y="3021938"/>
            <a:ext cx="64008" cy="57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3099816" y="3021696"/>
            <a:ext cx="64008" cy="2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V="1">
            <a:off x="3163824" y="3017754"/>
            <a:ext cx="64008" cy="39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227832" y="3013891"/>
            <a:ext cx="64008" cy="386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291840" y="3009546"/>
            <a:ext cx="64008" cy="434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355848" y="3009546"/>
            <a:ext cx="64008" cy="64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419856" y="3007856"/>
            <a:ext cx="64008" cy="233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483864" y="3003430"/>
            <a:ext cx="64008" cy="442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547872" y="2996993"/>
            <a:ext cx="64008" cy="64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611880" y="2987176"/>
            <a:ext cx="64007" cy="981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675887" y="2967703"/>
            <a:ext cx="64009" cy="1947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39896" y="2959898"/>
            <a:ext cx="64008" cy="78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803904" y="2936723"/>
            <a:ext cx="64008" cy="2317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867912" y="2927228"/>
            <a:ext cx="64008" cy="949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859536" y="3884063"/>
            <a:ext cx="64008" cy="19497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923544" y="4060206"/>
            <a:ext cx="64008" cy="188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987552" y="3842060"/>
            <a:ext cx="64008" cy="2181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1051560" y="3549481"/>
            <a:ext cx="64008" cy="29257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1115568" y="3348635"/>
            <a:ext cx="64008" cy="2008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1179576" y="3207817"/>
            <a:ext cx="64008" cy="14081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1243584" y="3117694"/>
            <a:ext cx="64008" cy="9012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1307592" y="3039158"/>
            <a:ext cx="64008" cy="785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371600" y="2970439"/>
            <a:ext cx="64008" cy="687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1435608" y="2911698"/>
            <a:ext cx="64008" cy="5874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1499616" y="2869694"/>
            <a:ext cx="64008" cy="420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1563624" y="2841852"/>
            <a:ext cx="64008" cy="278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1627632" y="2833001"/>
            <a:ext cx="64008" cy="8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1691640" y="2825839"/>
            <a:ext cx="64008"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1755648" y="2822540"/>
            <a:ext cx="64008" cy="32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1819656" y="2822540"/>
            <a:ext cx="64008" cy="83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1883664" y="2830909"/>
            <a:ext cx="64008" cy="2116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947672" y="2852072"/>
            <a:ext cx="64008" cy="563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2011680" y="2857704"/>
            <a:ext cx="64008" cy="748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2075688" y="2856497"/>
            <a:ext cx="64008" cy="869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2139696" y="2839599"/>
            <a:ext cx="64008" cy="1689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2203704" y="2837748"/>
            <a:ext cx="64008" cy="18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2267712" y="2837748"/>
            <a:ext cx="64008" cy="3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2331720" y="2837990"/>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2395728" y="2835898"/>
            <a:ext cx="64008" cy="20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2459736" y="2835495"/>
            <a:ext cx="64008" cy="40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2523744" y="2834369"/>
            <a:ext cx="64008" cy="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2587752" y="2822942"/>
            <a:ext cx="64008" cy="114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2651760" y="2818356"/>
            <a:ext cx="64008" cy="458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2715768" y="2808941"/>
            <a:ext cx="64008" cy="941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2779776" y="2801780"/>
            <a:ext cx="64008" cy="716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2843784" y="2796952"/>
            <a:ext cx="64008" cy="48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2907792" y="2789710"/>
            <a:ext cx="64008" cy="724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2971800" y="2776030"/>
            <a:ext cx="64008" cy="136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035808" y="2767903"/>
            <a:ext cx="64008" cy="812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099816" y="2759695"/>
            <a:ext cx="64008" cy="820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163824" y="2756718"/>
            <a:ext cx="64008" cy="297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227832" y="2707713"/>
            <a:ext cx="64008" cy="490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291840" y="2690896"/>
            <a:ext cx="64008" cy="168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355848" y="2688884"/>
            <a:ext cx="64008" cy="201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3419856" y="2688884"/>
            <a:ext cx="64008" cy="128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3483864" y="2690172"/>
            <a:ext cx="64008" cy="241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3547872" y="2692586"/>
            <a:ext cx="64008" cy="50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3611880" y="2697655"/>
            <a:ext cx="64007" cy="716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3675887" y="2704817"/>
            <a:ext cx="64009" cy="104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3739896" y="2705863"/>
            <a:ext cx="64008" cy="152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3803904" y="2704253"/>
            <a:ext cx="64008" cy="31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3867912" y="2694034"/>
            <a:ext cx="64008" cy="1021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859536" y="3858073"/>
            <a:ext cx="64008" cy="21267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923544" y="4055861"/>
            <a:ext cx="64008" cy="148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987552" y="3844554"/>
            <a:ext cx="64008" cy="2113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1051560" y="3559298"/>
            <a:ext cx="64008" cy="2852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1115568" y="3360142"/>
            <a:ext cx="64008" cy="1991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1179576" y="3209185"/>
            <a:ext cx="64008" cy="1509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1243584" y="3113429"/>
            <a:ext cx="64008" cy="957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307592" y="3042296"/>
            <a:ext cx="64008" cy="711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371600" y="2961266"/>
            <a:ext cx="64008" cy="810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1435608" y="2889972"/>
            <a:ext cx="64008" cy="7129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499616" y="2848129"/>
            <a:ext cx="64008" cy="418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563624" y="2825437"/>
            <a:ext cx="64008" cy="2269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1627632" y="2805401"/>
            <a:ext cx="64008" cy="200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1691640" y="2787617"/>
            <a:ext cx="64008" cy="177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1755648" y="2775950"/>
            <a:ext cx="64008" cy="1166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819656" y="2769110"/>
            <a:ext cx="64008" cy="6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883664" y="2769110"/>
            <a:ext cx="64008" cy="98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947672" y="2779007"/>
            <a:ext cx="64008" cy="305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011680" y="2809585"/>
            <a:ext cx="64008" cy="434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2075688" y="2813930"/>
            <a:ext cx="64008" cy="56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2139696" y="2814493"/>
            <a:ext cx="64008" cy="3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2203704" y="2816747"/>
            <a:ext cx="64008" cy="88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2267712" y="2806769"/>
            <a:ext cx="64008" cy="997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2331720" y="2783272"/>
            <a:ext cx="64008" cy="2349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2395728" y="2776513"/>
            <a:ext cx="64008" cy="675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2459736" y="2776513"/>
            <a:ext cx="64008" cy="225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2523744" y="2777961"/>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2587752" y="2777961"/>
            <a:ext cx="64008" cy="72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2651760" y="2774984"/>
            <a:ext cx="64008" cy="370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2715768" y="2764845"/>
            <a:ext cx="64008" cy="1013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2779776" y="2755431"/>
            <a:ext cx="64008" cy="941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2843784" y="2738774"/>
            <a:ext cx="64008" cy="1665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2907792" y="2727347"/>
            <a:ext cx="64008" cy="1142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2971800" y="2713507"/>
            <a:ext cx="64008" cy="138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3035808" y="2653398"/>
            <a:ext cx="64008" cy="6010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3099816" y="2634649"/>
            <a:ext cx="64008" cy="1874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3163824" y="2630867"/>
            <a:ext cx="64008" cy="37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3227832" y="2625154"/>
            <a:ext cx="64008" cy="571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3291840" y="2620648"/>
            <a:ext cx="64008" cy="450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3355848" y="2616705"/>
            <a:ext cx="64008" cy="39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3419856" y="2615900"/>
            <a:ext cx="64008" cy="8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3483864" y="2615176"/>
            <a:ext cx="64008" cy="72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3547872" y="2615176"/>
            <a:ext cx="64008" cy="498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a:off x="3611880" y="2620165"/>
            <a:ext cx="64007" cy="273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3675887" y="2617671"/>
            <a:ext cx="64009" cy="523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3739896" y="2592967"/>
            <a:ext cx="64008" cy="247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3803904" y="2578885"/>
            <a:ext cx="64008" cy="14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3867912" y="2570839"/>
            <a:ext cx="64008" cy="804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182" name="Rounded Rectangle 181"/>
          <p:cNvSpPr/>
          <p:nvPr/>
        </p:nvSpPr>
        <p:spPr>
          <a:xfrm>
            <a:off x="4233672"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4343400" y="1463040"/>
            <a:ext cx="3511296"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Micro F1</a:t>
            </a:r>
          </a:p>
        </p:txBody>
      </p:sp>
      <p:cxnSp>
        <p:nvCxnSpPr>
          <p:cNvPr id="184" name="Connector 183"/>
          <p:cNvCxnSpPr/>
          <p:nvPr/>
        </p:nvCxnSpPr>
        <p:spPr>
          <a:xfrm>
            <a:off x="4764024"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185" name="TextBox 184"/>
          <p:cNvSpPr txBox="1"/>
          <p:nvPr/>
        </p:nvSpPr>
        <p:spPr>
          <a:xfrm>
            <a:off x="5029200"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186" name="Connector 185"/>
          <p:cNvCxnSpPr/>
          <p:nvPr/>
        </p:nvCxnSpPr>
        <p:spPr>
          <a:xfrm>
            <a:off x="5654040"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187" name="TextBox 186"/>
          <p:cNvSpPr txBox="1"/>
          <p:nvPr/>
        </p:nvSpPr>
        <p:spPr>
          <a:xfrm>
            <a:off x="5919216"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188" name="Connector 187"/>
          <p:cNvCxnSpPr/>
          <p:nvPr/>
        </p:nvCxnSpPr>
        <p:spPr>
          <a:xfrm>
            <a:off x="6544056"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189" name="TextBox 188"/>
          <p:cNvSpPr txBox="1"/>
          <p:nvPr/>
        </p:nvSpPr>
        <p:spPr>
          <a:xfrm>
            <a:off x="6809232"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190" name="Connector 189"/>
          <p:cNvCxnSpPr/>
          <p:nvPr/>
        </p:nvCxnSpPr>
        <p:spPr>
          <a:xfrm>
            <a:off x="4709160" y="445312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1" name="TextBox 190"/>
          <p:cNvSpPr txBox="1"/>
          <p:nvPr/>
        </p:nvSpPr>
        <p:spPr>
          <a:xfrm>
            <a:off x="4270248" y="437997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0.00</a:t>
            </a:r>
          </a:p>
        </p:txBody>
      </p:sp>
      <p:cxnSp>
        <p:nvCxnSpPr>
          <p:cNvPr id="192" name="Connector 191"/>
          <p:cNvCxnSpPr/>
          <p:nvPr/>
        </p:nvCxnSpPr>
        <p:spPr>
          <a:xfrm>
            <a:off x="4709160" y="335584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3" name="TextBox 192"/>
          <p:cNvSpPr txBox="1"/>
          <p:nvPr/>
        </p:nvSpPr>
        <p:spPr>
          <a:xfrm>
            <a:off x="4270248" y="328269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0.05</a:t>
            </a:r>
          </a:p>
        </p:txBody>
      </p:sp>
      <p:cxnSp>
        <p:nvCxnSpPr>
          <p:cNvPr id="194" name="Connector 193"/>
          <p:cNvCxnSpPr/>
          <p:nvPr/>
        </p:nvCxnSpPr>
        <p:spPr>
          <a:xfrm>
            <a:off x="4709160" y="2258567"/>
            <a:ext cx="3072384"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5" name="TextBox 194"/>
          <p:cNvSpPr txBox="1"/>
          <p:nvPr/>
        </p:nvSpPr>
        <p:spPr>
          <a:xfrm>
            <a:off x="4270248" y="218541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0.10</a:t>
            </a:r>
          </a:p>
        </p:txBody>
      </p:sp>
      <p:cxnSp>
        <p:nvCxnSpPr>
          <p:cNvPr id="196" name="Connector 195"/>
          <p:cNvCxnSpPr/>
          <p:nvPr/>
        </p:nvCxnSpPr>
        <p:spPr>
          <a:xfrm>
            <a:off x="4709160"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7" name="TextBox 196"/>
          <p:cNvSpPr txBox="1"/>
          <p:nvPr/>
        </p:nvSpPr>
        <p:spPr>
          <a:xfrm>
            <a:off x="4544568"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198" name="Connector 197"/>
          <p:cNvCxnSpPr/>
          <p:nvPr/>
        </p:nvCxnSpPr>
        <p:spPr>
          <a:xfrm>
            <a:off x="522122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99" name="TextBox 198"/>
          <p:cNvSpPr txBox="1"/>
          <p:nvPr/>
        </p:nvSpPr>
        <p:spPr>
          <a:xfrm>
            <a:off x="505663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200" name="Connector 199"/>
          <p:cNvCxnSpPr/>
          <p:nvPr/>
        </p:nvCxnSpPr>
        <p:spPr>
          <a:xfrm>
            <a:off x="586130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1" name="TextBox 200"/>
          <p:cNvSpPr txBox="1"/>
          <p:nvPr/>
        </p:nvSpPr>
        <p:spPr>
          <a:xfrm>
            <a:off x="569671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202" name="Connector 201"/>
          <p:cNvCxnSpPr/>
          <p:nvPr/>
        </p:nvCxnSpPr>
        <p:spPr>
          <a:xfrm>
            <a:off x="65013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3" name="TextBox 202"/>
          <p:cNvSpPr txBox="1"/>
          <p:nvPr/>
        </p:nvSpPr>
        <p:spPr>
          <a:xfrm>
            <a:off x="633679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204" name="Connector 203"/>
          <p:cNvCxnSpPr/>
          <p:nvPr/>
        </p:nvCxnSpPr>
        <p:spPr>
          <a:xfrm>
            <a:off x="714146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5" name="TextBox 204"/>
          <p:cNvSpPr txBox="1"/>
          <p:nvPr/>
        </p:nvSpPr>
        <p:spPr>
          <a:xfrm>
            <a:off x="697687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206" name="Connector 205"/>
          <p:cNvCxnSpPr/>
          <p:nvPr/>
        </p:nvCxnSpPr>
        <p:spPr>
          <a:xfrm>
            <a:off x="778154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61695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208" name="Connector 207"/>
          <p:cNvCxnSpPr/>
          <p:nvPr/>
        </p:nvCxnSpPr>
        <p:spPr>
          <a:xfrm>
            <a:off x="4709160"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4709160" y="4453127"/>
            <a:ext cx="3072384"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4709160" y="2185094"/>
            <a:ext cx="64008" cy="466409"/>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4773168" y="2651503"/>
            <a:ext cx="64008" cy="3684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a:off x="4837176" y="3019926"/>
            <a:ext cx="64008" cy="46355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a:off x="4901184" y="3483483"/>
            <a:ext cx="64008" cy="46305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a:off x="4965192" y="3946535"/>
            <a:ext cx="64008" cy="26521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5029200" y="4211748"/>
            <a:ext cx="64008" cy="1172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5093208" y="4329025"/>
            <a:ext cx="64008" cy="4624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5157216" y="4375265"/>
            <a:ext cx="64008" cy="306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5221224" y="4405901"/>
            <a:ext cx="64008" cy="1033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5285232" y="4416237"/>
            <a:ext cx="64008" cy="1312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5349240" y="4429360"/>
            <a:ext cx="64008" cy="261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5413248" y="4431972"/>
            <a:ext cx="64008" cy="526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5477256" y="4437239"/>
            <a:ext cx="64008" cy="263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5541264"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5605272" y="4442528"/>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flipV="1">
            <a:off x="5669280"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5733288" y="4439872"/>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5797296" y="4439872"/>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flipV="1">
            <a:off x="5861304" y="4442506"/>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5925312"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5989320"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6053328"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6117336" y="4442506"/>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6181344" y="4442506"/>
            <a:ext cx="64008" cy="265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6245352"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6309360"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6373368" y="4445161"/>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6437376" y="4445161"/>
            <a:ext cx="64008" cy="26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650138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656539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62940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69340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675741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682142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688543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694944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01344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07745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14146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20547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726948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a:off x="733348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a:off x="739749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7461504"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a:off x="7525512"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7589520"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a:off x="7653528"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7717536" y="444781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4709160" y="2183470"/>
            <a:ext cx="64008" cy="44878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4773168" y="2632257"/>
            <a:ext cx="64008" cy="37796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4837176" y="3010226"/>
            <a:ext cx="64008" cy="46882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4901184" y="3479050"/>
            <a:ext cx="64008" cy="46867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4965192" y="3947720"/>
            <a:ext cx="64008" cy="25481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5029200" y="4202531"/>
            <a:ext cx="64008" cy="10389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a:off x="5093208" y="4306421"/>
            <a:ext cx="64008" cy="4828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a:off x="5157216" y="4354701"/>
            <a:ext cx="64008" cy="225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a:off x="5221224" y="4377218"/>
            <a:ext cx="64008" cy="2593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a:off x="5285232" y="4403157"/>
            <a:ext cx="64008" cy="1303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a:off x="5349240" y="4416193"/>
            <a:ext cx="64008" cy="184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a:off x="5413248" y="4434627"/>
            <a:ext cx="64008" cy="263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5477256" y="4437239"/>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a:off x="5541264" y="4437239"/>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5605272" y="4439872"/>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a:off x="5669280"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a:off x="5733288"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a:off x="5797296"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a:off x="5861304" y="44398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5925312" y="4439850"/>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a:off x="5989320"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53328" y="4439850"/>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17336" y="4439850"/>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81344" y="4442506"/>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245352" y="4442506"/>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a:off x="6309360"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a:off x="6373368" y="444516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a:off x="6437376" y="4445161"/>
            <a:ext cx="64008" cy="265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650138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656539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662940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669340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6757416"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6821424"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6885432"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6949440"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7013448" y="444781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7077456" y="4447817"/>
            <a:ext cx="64008" cy="265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714146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720547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726948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733348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739749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7461504"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7525512"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7589520"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7653528"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7717536" y="445047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709160" y="2167054"/>
            <a:ext cx="64008" cy="43768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773168" y="2604737"/>
            <a:ext cx="64008" cy="3870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837176" y="2991814"/>
            <a:ext cx="64008" cy="46711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01184" y="3458926"/>
            <a:ext cx="64008" cy="47720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4965192" y="3936133"/>
            <a:ext cx="64008" cy="26418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29200" y="4200314"/>
            <a:ext cx="64008" cy="10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093208" y="4301396"/>
            <a:ext cx="64008" cy="5076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157216" y="4352156"/>
            <a:ext cx="64008" cy="250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21224" y="4377240"/>
            <a:ext cx="64008" cy="2328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285232" y="4400524"/>
            <a:ext cx="64008" cy="1830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49240" y="4418827"/>
            <a:ext cx="64008" cy="10511"/>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13248" y="4429338"/>
            <a:ext cx="64008" cy="792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flipV="1">
            <a:off x="5477256" y="4437239"/>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41264" y="4437239"/>
            <a:ext cx="64008" cy="263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605272"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a:off x="5669280"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a:off x="5733288"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a:off x="5797296"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a:off x="5861304" y="44398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a:off x="5925312" y="4439872"/>
            <a:ext cx="64008" cy="263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a:off x="5989320"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a:off x="6053328"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a:off x="6117336"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a:off x="6181344" y="4442506"/>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a:off x="6245352" y="4442506"/>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a:off x="6309360" y="4445161"/>
            <a:ext cx="64008" cy="265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a:off x="637336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643737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a:off x="650138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a:off x="656539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a:off x="6629400"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6693408"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a:off x="6757416"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a:off x="6821424"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a:off x="6885432" y="444781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a:off x="6949440" y="4447817"/>
            <a:ext cx="64008" cy="265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a:off x="701344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a:off x="707745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a:off x="714146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a:off x="720547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a:off x="726948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a:off x="733348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a:off x="739749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a:off x="7461504"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a:off x="7525512"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a:off x="7589520"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a:off x="7653528"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a:off x="7717536" y="4450472"/>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354" name="Rounded Rectangle 353"/>
          <p:cNvSpPr/>
          <p:nvPr/>
        </p:nvSpPr>
        <p:spPr>
          <a:xfrm>
            <a:off x="8083296" y="1371600"/>
            <a:ext cx="3730752" cy="3529584"/>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TextBox 354"/>
          <p:cNvSpPr txBox="1"/>
          <p:nvPr/>
        </p:nvSpPr>
        <p:spPr>
          <a:xfrm>
            <a:off x="8193023" y="1463040"/>
            <a:ext cx="3511296" cy="256032"/>
          </a:xfrm>
          <a:prstGeom prst="rect">
            <a:avLst/>
          </a:prstGeom>
          <a:noFill/>
        </p:spPr>
        <p:txBody>
          <a:bodyPr wrap="square" lIns="18288" tIns="18288" rIns="18288" bIns="18288" anchor="ctr">
            <a:spAutoFit/>
          </a:bodyPr>
          <a:lstStyle/>
          <a:p>
            <a:pPr algn="ctr"/>
            <a:r>
              <a:rPr lang="en-US" sz="1250" b="1">
                <a:solidFill>
                  <a:srgbClr val="434343"/>
                </a:solidFill>
                <a:latin typeface="Arial"/>
              </a:rPr>
              <a:t>Macro F1</a:t>
            </a:r>
          </a:p>
        </p:txBody>
      </p:sp>
      <p:cxnSp>
        <p:nvCxnSpPr>
          <p:cNvPr id="356" name="Connector 355"/>
          <p:cNvCxnSpPr/>
          <p:nvPr/>
        </p:nvCxnSpPr>
        <p:spPr>
          <a:xfrm>
            <a:off x="8613648" y="1819656"/>
            <a:ext cx="219456" cy="0"/>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sp>
        <p:nvSpPr>
          <p:cNvPr id="357" name="TextBox 356"/>
          <p:cNvSpPr txBox="1"/>
          <p:nvPr/>
        </p:nvSpPr>
        <p:spPr>
          <a:xfrm>
            <a:off x="8878824" y="1755648"/>
            <a:ext cx="548640" cy="137160"/>
          </a:xfrm>
          <a:prstGeom prst="rect">
            <a:avLst/>
          </a:prstGeom>
          <a:noFill/>
        </p:spPr>
        <p:txBody>
          <a:bodyPr wrap="square" lIns="0" tIns="0" rIns="0" bIns="0" anchor="ctr">
            <a:spAutoFit/>
          </a:bodyPr>
          <a:lstStyle/>
          <a:p>
            <a:pPr algn="l"/>
            <a:r>
              <a:rPr lang="en-US" sz="750" b="1">
                <a:solidFill>
                  <a:srgbClr val="1F90CC"/>
                </a:solidFill>
                <a:latin typeface="Arial"/>
              </a:rPr>
              <a:t>N=10</a:t>
            </a:r>
          </a:p>
        </p:txBody>
      </p:sp>
      <p:cxnSp>
        <p:nvCxnSpPr>
          <p:cNvPr id="358" name="Connector 357"/>
          <p:cNvCxnSpPr/>
          <p:nvPr/>
        </p:nvCxnSpPr>
        <p:spPr>
          <a:xfrm>
            <a:off x="9503664" y="1819656"/>
            <a:ext cx="219456" cy="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sp>
        <p:nvSpPr>
          <p:cNvPr id="359" name="TextBox 358"/>
          <p:cNvSpPr txBox="1"/>
          <p:nvPr/>
        </p:nvSpPr>
        <p:spPr>
          <a:xfrm>
            <a:off x="9768839" y="1755648"/>
            <a:ext cx="548640" cy="137160"/>
          </a:xfrm>
          <a:prstGeom prst="rect">
            <a:avLst/>
          </a:prstGeom>
          <a:noFill/>
        </p:spPr>
        <p:txBody>
          <a:bodyPr wrap="square" lIns="0" tIns="0" rIns="0" bIns="0" anchor="ctr">
            <a:spAutoFit/>
          </a:bodyPr>
          <a:lstStyle/>
          <a:p>
            <a:pPr algn="l"/>
            <a:r>
              <a:rPr lang="en-US" sz="750" b="1">
                <a:solidFill>
                  <a:srgbClr val="C40D1E"/>
                </a:solidFill>
                <a:latin typeface="Arial"/>
              </a:rPr>
              <a:t>N=50</a:t>
            </a:r>
          </a:p>
        </p:txBody>
      </p:sp>
      <p:cxnSp>
        <p:nvCxnSpPr>
          <p:cNvPr id="360" name="Connector 359"/>
          <p:cNvCxnSpPr/>
          <p:nvPr/>
        </p:nvCxnSpPr>
        <p:spPr>
          <a:xfrm>
            <a:off x="10393680" y="1819656"/>
            <a:ext cx="219456"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61" name="TextBox 360"/>
          <p:cNvSpPr txBox="1"/>
          <p:nvPr/>
        </p:nvSpPr>
        <p:spPr>
          <a:xfrm>
            <a:off x="10658856" y="1755648"/>
            <a:ext cx="548640" cy="137160"/>
          </a:xfrm>
          <a:prstGeom prst="rect">
            <a:avLst/>
          </a:prstGeom>
          <a:noFill/>
        </p:spPr>
        <p:txBody>
          <a:bodyPr wrap="square" lIns="0" tIns="0" rIns="0" bIns="0" anchor="ctr">
            <a:spAutoFit/>
          </a:bodyPr>
          <a:lstStyle/>
          <a:p>
            <a:pPr algn="l"/>
            <a:r>
              <a:rPr lang="en-US" sz="750" b="1">
                <a:solidFill>
                  <a:srgbClr val="2F8F46"/>
                </a:solidFill>
                <a:latin typeface="Arial"/>
              </a:rPr>
              <a:t>N=100</a:t>
            </a:r>
          </a:p>
        </p:txBody>
      </p:sp>
      <p:cxnSp>
        <p:nvCxnSpPr>
          <p:cNvPr id="362" name="Connector 361"/>
          <p:cNvCxnSpPr/>
          <p:nvPr/>
        </p:nvCxnSpPr>
        <p:spPr>
          <a:xfrm>
            <a:off x="8558784" y="445312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3" name="TextBox 362"/>
          <p:cNvSpPr txBox="1"/>
          <p:nvPr/>
        </p:nvSpPr>
        <p:spPr>
          <a:xfrm>
            <a:off x="8119871" y="437997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0.00</a:t>
            </a:r>
          </a:p>
        </p:txBody>
      </p:sp>
      <p:cxnSp>
        <p:nvCxnSpPr>
          <p:cNvPr id="364" name="Connector 363"/>
          <p:cNvCxnSpPr/>
          <p:nvPr/>
        </p:nvCxnSpPr>
        <p:spPr>
          <a:xfrm>
            <a:off x="8558784" y="335584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5" name="TextBox 364"/>
          <p:cNvSpPr txBox="1"/>
          <p:nvPr/>
        </p:nvSpPr>
        <p:spPr>
          <a:xfrm>
            <a:off x="8119871" y="328269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0.05</a:t>
            </a:r>
          </a:p>
        </p:txBody>
      </p:sp>
      <p:cxnSp>
        <p:nvCxnSpPr>
          <p:cNvPr id="366" name="Connector 365"/>
          <p:cNvCxnSpPr/>
          <p:nvPr/>
        </p:nvCxnSpPr>
        <p:spPr>
          <a:xfrm>
            <a:off x="8558784" y="2258567"/>
            <a:ext cx="3072383"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367" name="TextBox 366"/>
          <p:cNvSpPr txBox="1"/>
          <p:nvPr/>
        </p:nvSpPr>
        <p:spPr>
          <a:xfrm>
            <a:off x="8119871" y="2185415"/>
            <a:ext cx="393192" cy="146304"/>
          </a:xfrm>
          <a:prstGeom prst="rect">
            <a:avLst/>
          </a:prstGeom>
          <a:noFill/>
        </p:spPr>
        <p:txBody>
          <a:bodyPr wrap="square" lIns="0" tIns="0" rIns="0" bIns="0" anchor="ctr">
            <a:spAutoFit/>
          </a:bodyPr>
          <a:lstStyle/>
          <a:p>
            <a:pPr algn="r"/>
            <a:r>
              <a:rPr lang="en-US" sz="720" b="0">
                <a:solidFill>
                  <a:srgbClr val="686868"/>
                </a:solidFill>
                <a:latin typeface="Arial"/>
              </a:rPr>
              <a:t>0.10</a:t>
            </a:r>
          </a:p>
        </p:txBody>
      </p:sp>
      <p:cxnSp>
        <p:nvCxnSpPr>
          <p:cNvPr id="368" name="Connector 367"/>
          <p:cNvCxnSpPr/>
          <p:nvPr/>
        </p:nvCxnSpPr>
        <p:spPr>
          <a:xfrm>
            <a:off x="8558784"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69" name="TextBox 368"/>
          <p:cNvSpPr txBox="1"/>
          <p:nvPr/>
        </p:nvSpPr>
        <p:spPr>
          <a:xfrm>
            <a:off x="8394192"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a:t>
            </a:r>
          </a:p>
        </p:txBody>
      </p:sp>
      <p:cxnSp>
        <p:nvCxnSpPr>
          <p:cNvPr id="370" name="Connector 369"/>
          <p:cNvCxnSpPr/>
          <p:nvPr/>
        </p:nvCxnSpPr>
        <p:spPr>
          <a:xfrm>
            <a:off x="907084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1" name="TextBox 370"/>
          <p:cNvSpPr txBox="1"/>
          <p:nvPr/>
        </p:nvSpPr>
        <p:spPr>
          <a:xfrm>
            <a:off x="890625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10</a:t>
            </a:r>
          </a:p>
        </p:txBody>
      </p:sp>
      <p:cxnSp>
        <p:nvCxnSpPr>
          <p:cNvPr id="372" name="Connector 371"/>
          <p:cNvCxnSpPr/>
          <p:nvPr/>
        </p:nvCxnSpPr>
        <p:spPr>
          <a:xfrm>
            <a:off x="971092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3" name="TextBox 372"/>
          <p:cNvSpPr txBox="1"/>
          <p:nvPr/>
        </p:nvSpPr>
        <p:spPr>
          <a:xfrm>
            <a:off x="954633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20</a:t>
            </a:r>
          </a:p>
        </p:txBody>
      </p:sp>
      <p:cxnSp>
        <p:nvCxnSpPr>
          <p:cNvPr id="374" name="Connector 373"/>
          <p:cNvCxnSpPr/>
          <p:nvPr/>
        </p:nvCxnSpPr>
        <p:spPr>
          <a:xfrm>
            <a:off x="1035100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5" name="TextBox 374"/>
          <p:cNvSpPr txBox="1"/>
          <p:nvPr/>
        </p:nvSpPr>
        <p:spPr>
          <a:xfrm>
            <a:off x="1018641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30</a:t>
            </a:r>
          </a:p>
        </p:txBody>
      </p:sp>
      <p:cxnSp>
        <p:nvCxnSpPr>
          <p:cNvPr id="376" name="Connector 375"/>
          <p:cNvCxnSpPr/>
          <p:nvPr/>
        </p:nvCxnSpPr>
        <p:spPr>
          <a:xfrm>
            <a:off x="10991088"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7" name="TextBox 376"/>
          <p:cNvSpPr txBox="1"/>
          <p:nvPr/>
        </p:nvSpPr>
        <p:spPr>
          <a:xfrm>
            <a:off x="1082649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40</a:t>
            </a:r>
          </a:p>
        </p:txBody>
      </p:sp>
      <p:cxnSp>
        <p:nvCxnSpPr>
          <p:cNvPr id="378" name="Connector 377"/>
          <p:cNvCxnSpPr/>
          <p:nvPr/>
        </p:nvCxnSpPr>
        <p:spPr>
          <a:xfrm>
            <a:off x="11631167" y="2039112"/>
            <a:ext cx="0" cy="2414015"/>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79" name="TextBox 378"/>
          <p:cNvSpPr txBox="1"/>
          <p:nvPr/>
        </p:nvSpPr>
        <p:spPr>
          <a:xfrm>
            <a:off x="11466576" y="4498847"/>
            <a:ext cx="329184" cy="137160"/>
          </a:xfrm>
          <a:prstGeom prst="rect">
            <a:avLst/>
          </a:prstGeom>
          <a:noFill/>
        </p:spPr>
        <p:txBody>
          <a:bodyPr wrap="square" lIns="0" tIns="0" rIns="0" bIns="0" anchor="ctr">
            <a:spAutoFit/>
          </a:bodyPr>
          <a:lstStyle/>
          <a:p>
            <a:pPr algn="ctr"/>
            <a:r>
              <a:rPr lang="en-US" sz="720" b="0">
                <a:solidFill>
                  <a:srgbClr val="686868"/>
                </a:solidFill>
                <a:latin typeface="Arial"/>
              </a:rPr>
              <a:t>50</a:t>
            </a:r>
          </a:p>
        </p:txBody>
      </p:sp>
      <p:cxnSp>
        <p:nvCxnSpPr>
          <p:cNvPr id="380" name="Connector 379"/>
          <p:cNvCxnSpPr/>
          <p:nvPr/>
        </p:nvCxnSpPr>
        <p:spPr>
          <a:xfrm>
            <a:off x="8558784" y="2039112"/>
            <a:ext cx="0" cy="2414015"/>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8558784" y="4453127"/>
            <a:ext cx="3072383"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8558784" y="2739308"/>
            <a:ext cx="64008" cy="35104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8622792" y="3090350"/>
            <a:ext cx="64008" cy="3751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8686800" y="3465510"/>
            <a:ext cx="64008" cy="34985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8750808" y="3815366"/>
            <a:ext cx="64007" cy="17201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8814815" y="3987376"/>
            <a:ext cx="64009" cy="15555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8878824" y="4142926"/>
            <a:ext cx="64008" cy="7564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8942832" y="4218573"/>
            <a:ext cx="64008" cy="1703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9006840" y="4235603"/>
            <a:ext cx="64008" cy="3673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9070848" y="4272340"/>
            <a:ext cx="64008" cy="51177"/>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flipV="1">
            <a:off x="9134856" y="4296853"/>
            <a:ext cx="64007" cy="2666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a:off x="9198863" y="4296853"/>
            <a:ext cx="64009" cy="4543"/>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3" name="Connector 392"/>
          <p:cNvCxnSpPr/>
          <p:nvPr/>
        </p:nvCxnSpPr>
        <p:spPr>
          <a:xfrm>
            <a:off x="9262872" y="4301396"/>
            <a:ext cx="64008" cy="6397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4" name="Connector 393"/>
          <p:cNvCxnSpPr/>
          <p:nvPr/>
        </p:nvCxnSpPr>
        <p:spPr>
          <a:xfrm>
            <a:off x="9326880" y="4365367"/>
            <a:ext cx="64008" cy="32414"/>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9390888" y="4397781"/>
            <a:ext cx="64008" cy="11016"/>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9454896" y="44087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flipV="1">
            <a:off x="9518904" y="4397737"/>
            <a:ext cx="64008"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flipV="1">
            <a:off x="9582912" y="4397715"/>
            <a:ext cx="64007"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9646919" y="4397715"/>
            <a:ext cx="64009" cy="1106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0" name="Connector 399"/>
          <p:cNvCxnSpPr/>
          <p:nvPr/>
        </p:nvCxnSpPr>
        <p:spPr>
          <a:xfrm flipV="1">
            <a:off x="9710928" y="4408753"/>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1" name="Connector 400"/>
          <p:cNvCxnSpPr/>
          <p:nvPr/>
        </p:nvCxnSpPr>
        <p:spPr>
          <a:xfrm>
            <a:off x="9774936"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2" name="Connector 401"/>
          <p:cNvCxnSpPr/>
          <p:nvPr/>
        </p:nvCxnSpPr>
        <p:spPr>
          <a:xfrm>
            <a:off x="9838944" y="4408753"/>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a:off x="9902952" y="4408753"/>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9966959" y="4408732"/>
            <a:ext cx="64008" cy="21"/>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a:off x="10030967" y="4408732"/>
            <a:ext cx="64009" cy="1108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a:off x="10094976"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a:off x="10158984"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a:off x="10222992" y="4419814"/>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a:off x="10287000" y="4419814"/>
            <a:ext cx="64008" cy="11105"/>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a:off x="1035100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1041501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1047902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a:off x="1054303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1060704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a:off x="1067104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a:off x="10735056" y="4430919"/>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a:off x="10799063" y="4430919"/>
            <a:ext cx="64009"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a:off x="10863072"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a:off x="10927080"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10991088"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a:off x="11055096"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a:off x="11119104" y="4430919"/>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11183112" y="4430897"/>
            <a:ext cx="64008" cy="22"/>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a:off x="11247120"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a:off x="11311128"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11375136"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11439144"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a:off x="11503152" y="4430897"/>
            <a:ext cx="64007"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11567159" y="4430897"/>
            <a:ext cx="64008" cy="0"/>
          </a:xfrm>
          <a:prstGeom prst="line">
            <a:avLst/>
          </a:prstGeom>
          <a:ln w="2095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8558784" y="2737289"/>
            <a:ext cx="64008" cy="34349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8622792" y="3080781"/>
            <a:ext cx="64008" cy="37562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8686800" y="3456402"/>
            <a:ext cx="64008" cy="348628"/>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8750808" y="3805030"/>
            <a:ext cx="64007" cy="23394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8814815" y="4038970"/>
            <a:ext cx="64009" cy="11589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a:off x="8878824" y="4154865"/>
            <a:ext cx="64008" cy="4771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8942832" y="4202575"/>
            <a:ext cx="64008" cy="2264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9006840" y="4225222"/>
            <a:ext cx="64008" cy="7795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9070848" y="4303173"/>
            <a:ext cx="64008" cy="2217"/>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flipV="1">
            <a:off x="9134856" y="4269991"/>
            <a:ext cx="64007" cy="35399"/>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9198863" y="4269991"/>
            <a:ext cx="64009" cy="9083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a:off x="9262872" y="4360824"/>
            <a:ext cx="64008" cy="480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9326880" y="4365126"/>
            <a:ext cx="64008" cy="50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a:off x="9390888" y="4365126"/>
            <a:ext cx="64008" cy="3285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V="1">
            <a:off x="9454896" y="4397847"/>
            <a:ext cx="64008" cy="131"/>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V="1">
            <a:off x="9518904" y="4397803"/>
            <a:ext cx="64008"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V="1">
            <a:off x="9582912" y="4397759"/>
            <a:ext cx="64007" cy="44"/>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V="1">
            <a:off x="9646919" y="4397737"/>
            <a:ext cx="64009"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V="1">
            <a:off x="9710928" y="439771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a:off x="9774936"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a:off x="9838944" y="439771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V="1">
            <a:off x="9902952" y="4397649"/>
            <a:ext cx="64007" cy="6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a:off x="9966959" y="4397649"/>
            <a:ext cx="64008" cy="11083"/>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a:off x="10030967" y="4408732"/>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a:off x="10094976" y="4408732"/>
            <a:ext cx="64008" cy="1106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a:off x="10158984"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a:off x="10222992" y="4419792"/>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a:off x="10287000" y="4419792"/>
            <a:ext cx="64008" cy="11105"/>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a:off x="10351008" y="4430897"/>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10415016" y="4430875"/>
            <a:ext cx="64008" cy="22"/>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a:off x="10479024"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a:off x="1054303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a:off x="10607040"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a:off x="10671048"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a:off x="10735056" y="4430875"/>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a:off x="10799063" y="4430875"/>
            <a:ext cx="64009"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a:off x="10863072" y="4430875"/>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a:off x="10927080" y="4430875"/>
            <a:ext cx="64008" cy="11126"/>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a:off x="1099108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1105509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1111910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11183112"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11247120"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a:off x="11311128"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a:off x="11375136"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a:off x="11439144"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a:off x="11503152" y="4442001"/>
            <a:ext cx="64007"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a:off x="11567159" y="4442001"/>
            <a:ext cx="64008" cy="0"/>
          </a:xfrm>
          <a:prstGeom prst="line">
            <a:avLst/>
          </a:prstGeom>
          <a:ln w="20955">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a:off x="8558784" y="2731715"/>
            <a:ext cx="64008" cy="33647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a:off x="8622792" y="3068185"/>
            <a:ext cx="64008" cy="37821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8686800" y="3446395"/>
            <a:ext cx="64008" cy="34421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a:off x="8750808" y="3790612"/>
            <a:ext cx="64007" cy="24348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a:off x="8814815" y="4034098"/>
            <a:ext cx="64009" cy="11885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a:off x="8878824" y="4152956"/>
            <a:ext cx="64008" cy="1444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a:off x="8942832" y="4167396"/>
            <a:ext cx="64008" cy="5613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9006840" y="4223533"/>
            <a:ext cx="64008" cy="7996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V="1">
            <a:off x="9070848" y="4239750"/>
            <a:ext cx="64008" cy="6375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a:off x="9134856" y="4239750"/>
            <a:ext cx="64007" cy="3537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a:off x="9198863" y="4275127"/>
            <a:ext cx="64009" cy="21199"/>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a:off x="9262872" y="4296326"/>
            <a:ext cx="64008" cy="693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flipV="1">
            <a:off x="9326880" y="4365104"/>
            <a:ext cx="64008" cy="5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a:off x="9390888" y="4365104"/>
            <a:ext cx="64008" cy="32808"/>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flipV="1">
            <a:off x="9454896" y="4397825"/>
            <a:ext cx="64008" cy="87"/>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flipV="1">
            <a:off x="9518904" y="4397781"/>
            <a:ext cx="64008" cy="4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V="1">
            <a:off x="9582912" y="4397715"/>
            <a:ext cx="64007" cy="6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9646919" y="4397715"/>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a:off x="9710928" y="439771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9774936" y="4397715"/>
            <a:ext cx="64008" cy="1108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flipV="1">
            <a:off x="9838944" y="44087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499" name="Connector 498"/>
          <p:cNvCxnSpPr/>
          <p:nvPr/>
        </p:nvCxnSpPr>
        <p:spPr>
          <a:xfrm flipV="1">
            <a:off x="9902952" y="4408732"/>
            <a:ext cx="64007" cy="43"/>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0" name="Connector 499"/>
          <p:cNvCxnSpPr/>
          <p:nvPr/>
        </p:nvCxnSpPr>
        <p:spPr>
          <a:xfrm flipV="1">
            <a:off x="9966959" y="4408710"/>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1" name="Connector 500"/>
          <p:cNvCxnSpPr/>
          <p:nvPr/>
        </p:nvCxnSpPr>
        <p:spPr>
          <a:xfrm>
            <a:off x="10030967" y="4408710"/>
            <a:ext cx="64009"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2" name="Connector 501"/>
          <p:cNvCxnSpPr/>
          <p:nvPr/>
        </p:nvCxnSpPr>
        <p:spPr>
          <a:xfrm>
            <a:off x="10094976" y="4408710"/>
            <a:ext cx="64008" cy="11104"/>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3" name="Connector 502"/>
          <p:cNvCxnSpPr/>
          <p:nvPr/>
        </p:nvCxnSpPr>
        <p:spPr>
          <a:xfrm>
            <a:off x="10158984" y="4419814"/>
            <a:ext cx="64008" cy="11105"/>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4" name="Connector 503"/>
          <p:cNvCxnSpPr/>
          <p:nvPr/>
        </p:nvCxnSpPr>
        <p:spPr>
          <a:xfrm>
            <a:off x="10222992"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5" name="Connector 504"/>
          <p:cNvCxnSpPr/>
          <p:nvPr/>
        </p:nvCxnSpPr>
        <p:spPr>
          <a:xfrm>
            <a:off x="10287000" y="4430919"/>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6" name="Connector 505"/>
          <p:cNvCxnSpPr/>
          <p:nvPr/>
        </p:nvCxnSpPr>
        <p:spPr>
          <a:xfrm flipV="1">
            <a:off x="10351008" y="4430897"/>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7" name="Connector 506"/>
          <p:cNvCxnSpPr/>
          <p:nvPr/>
        </p:nvCxnSpPr>
        <p:spPr>
          <a:xfrm>
            <a:off x="10415016"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8" name="Connector 507"/>
          <p:cNvCxnSpPr/>
          <p:nvPr/>
        </p:nvCxnSpPr>
        <p:spPr>
          <a:xfrm>
            <a:off x="10479024"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09" name="Connector 508"/>
          <p:cNvCxnSpPr/>
          <p:nvPr/>
        </p:nvCxnSpPr>
        <p:spPr>
          <a:xfrm>
            <a:off x="10543032" y="4430897"/>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0" name="Connector 509"/>
          <p:cNvCxnSpPr/>
          <p:nvPr/>
        </p:nvCxnSpPr>
        <p:spPr>
          <a:xfrm flipV="1">
            <a:off x="10607040" y="4430875"/>
            <a:ext cx="64008" cy="22"/>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1" name="Connector 510"/>
          <p:cNvCxnSpPr/>
          <p:nvPr/>
        </p:nvCxnSpPr>
        <p:spPr>
          <a:xfrm>
            <a:off x="10671048" y="4430875"/>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2" name="Connector 511"/>
          <p:cNvCxnSpPr/>
          <p:nvPr/>
        </p:nvCxnSpPr>
        <p:spPr>
          <a:xfrm>
            <a:off x="10735056" y="4430875"/>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3" name="Connector 512"/>
          <p:cNvCxnSpPr/>
          <p:nvPr/>
        </p:nvCxnSpPr>
        <p:spPr>
          <a:xfrm>
            <a:off x="10799063" y="4430875"/>
            <a:ext cx="64009" cy="11126"/>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4" name="Connector 513"/>
          <p:cNvCxnSpPr/>
          <p:nvPr/>
        </p:nvCxnSpPr>
        <p:spPr>
          <a:xfrm>
            <a:off x="1086307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5" name="Connector 514"/>
          <p:cNvCxnSpPr/>
          <p:nvPr/>
        </p:nvCxnSpPr>
        <p:spPr>
          <a:xfrm>
            <a:off x="1092708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6" name="Connector 515"/>
          <p:cNvCxnSpPr/>
          <p:nvPr/>
        </p:nvCxnSpPr>
        <p:spPr>
          <a:xfrm>
            <a:off x="1099108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a:off x="1105509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a:off x="1111910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a:off x="11183112"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a:off x="11247120"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a:off x="11311128"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a:off x="11375136"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a:off x="11439144"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11503152" y="4442001"/>
            <a:ext cx="64007"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a:off x="11567159" y="4442001"/>
            <a:ext cx="64008" cy="0"/>
          </a:xfrm>
          <a:prstGeom prst="line">
            <a:avLst/>
          </a:prstGeom>
          <a:ln w="20955">
            <a:solidFill>
              <a:srgbClr val="2F8F46"/>
            </a:solidFill>
          </a:ln>
        </p:spPr>
        <p:style>
          <a:lnRef idx="2">
            <a:schemeClr val="accent1"/>
          </a:lnRef>
          <a:fillRef idx="0">
            <a:schemeClr val="accent1"/>
          </a:fillRef>
          <a:effectRef idx="1">
            <a:schemeClr val="accent1"/>
          </a:effectRef>
          <a:fontRef idx="minor">
            <a:schemeClr val="tx1"/>
          </a:fontRef>
        </p:style>
      </p:cxnSp>
      <p:sp>
        <p:nvSpPr>
          <p:cNvPr id="526" name="Rectangle 525"/>
          <p:cNvSpPr/>
          <p:nvPr/>
        </p:nvSpPr>
        <p:spPr>
          <a:xfrm>
            <a:off x="914400" y="5093208"/>
            <a:ext cx="10360152" cy="4663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7" name="TextBox 526"/>
          <p:cNvSpPr txBox="1"/>
          <p:nvPr/>
        </p:nvSpPr>
        <p:spPr>
          <a:xfrm>
            <a:off x="1133856" y="5193792"/>
            <a:ext cx="9921240" cy="246888"/>
          </a:xfrm>
          <a:prstGeom prst="rect">
            <a:avLst/>
          </a:prstGeom>
          <a:noFill/>
        </p:spPr>
        <p:txBody>
          <a:bodyPr wrap="square" lIns="18288" tIns="18288" rIns="18288" bIns="18288" anchor="ctr">
            <a:spAutoFit/>
          </a:bodyPr>
          <a:lstStyle/>
          <a:p>
            <a:pPr algn="ctr"/>
            <a:r>
              <a:rPr lang="en-US" sz="1220" b="1">
                <a:solidFill>
                  <a:srgbClr val="FFFFFF"/>
                </a:solidFill>
                <a:latin typeface="Arial"/>
              </a:rPr>
              <a:t>The model converges toward majority-negative predictions: protocol execution succeeds, diagnostic learning quality does not.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Results: demonstrated chain and explicit limits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SYSTEM INTEGRATION IS NOT A CLINICAL CLAIM</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40080" y="1399032"/>
            <a:ext cx="3364992" cy="162763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5528" y="1627632"/>
            <a:ext cx="3054096" cy="475488"/>
          </a:xfrm>
          <a:prstGeom prst="rect">
            <a:avLst/>
          </a:prstGeom>
          <a:noFill/>
        </p:spPr>
        <p:txBody>
          <a:bodyPr wrap="square" lIns="18288" tIns="18288" rIns="18288" bIns="18288" anchor="t">
            <a:spAutoFit/>
          </a:bodyPr>
          <a:lstStyle/>
          <a:p>
            <a:pPr algn="ctr"/>
            <a:r>
              <a:rPr lang="en-US" sz="2700" b="1">
                <a:solidFill>
                  <a:srgbClr val="7A35B5"/>
                </a:solidFill>
                <a:latin typeface="Arial"/>
              </a:rPr>
              <a:t>3 + 1</a:t>
            </a:r>
          </a:p>
        </p:txBody>
      </p:sp>
      <p:sp>
        <p:nvSpPr>
          <p:cNvPr id="10" name="TextBox 9"/>
          <p:cNvSpPr txBox="1"/>
          <p:nvPr/>
        </p:nvSpPr>
        <p:spPr>
          <a:xfrm>
            <a:off x="795528" y="2194560"/>
            <a:ext cx="3054096" cy="274320"/>
          </a:xfrm>
          <a:prstGeom prst="rect">
            <a:avLst/>
          </a:prstGeom>
          <a:noFill/>
        </p:spPr>
        <p:txBody>
          <a:bodyPr wrap="square" lIns="18288" tIns="18288" rIns="18288" bIns="18288" anchor="t">
            <a:spAutoFit/>
          </a:bodyPr>
          <a:lstStyle/>
          <a:p>
            <a:pPr algn="ctr"/>
            <a:r>
              <a:rPr lang="en-US" sz="1400" b="1">
                <a:solidFill>
                  <a:srgbClr val="434343"/>
                </a:solidFill>
                <a:latin typeface="Arial"/>
              </a:rPr>
              <a:t>transparency records</a:t>
            </a:r>
          </a:p>
        </p:txBody>
      </p:sp>
      <p:sp>
        <p:nvSpPr>
          <p:cNvPr id="11" name="TextBox 10"/>
          <p:cNvSpPr txBox="1"/>
          <p:nvPr/>
        </p:nvSpPr>
        <p:spPr>
          <a:xfrm>
            <a:off x="859536" y="2596896"/>
            <a:ext cx="2926080" cy="292608"/>
          </a:xfrm>
          <a:prstGeom prst="rect">
            <a:avLst/>
          </a:prstGeom>
          <a:noFill/>
        </p:spPr>
        <p:txBody>
          <a:bodyPr wrap="square" lIns="18288" tIns="18288" rIns="18288" bIns="18288" anchor="t">
            <a:spAutoFit/>
          </a:bodyPr>
          <a:lstStyle/>
          <a:p>
            <a:pPr algn="ctr"/>
            <a:r>
              <a:rPr lang="en-US" sz="1080" b="0">
                <a:solidFill>
                  <a:srgbClr val="434343"/>
                </a:solidFill>
                <a:latin typeface="Arial"/>
              </a:rPr>
              <a:t>Three tool receipts plus one complete inference bundle</a:t>
            </a:r>
          </a:p>
        </p:txBody>
      </p:sp>
      <p:sp>
        <p:nvSpPr>
          <p:cNvPr id="12" name="Rounded Rectangle 11"/>
          <p:cNvSpPr/>
          <p:nvPr/>
        </p:nvSpPr>
        <p:spPr>
          <a:xfrm>
            <a:off x="4325112" y="1399032"/>
            <a:ext cx="3364992" cy="16276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27632"/>
            <a:ext cx="3054096" cy="475488"/>
          </a:xfrm>
          <a:prstGeom prst="rect">
            <a:avLst/>
          </a:prstGeom>
          <a:noFill/>
        </p:spPr>
        <p:txBody>
          <a:bodyPr wrap="square" lIns="18288" tIns="18288" rIns="18288" bIns="18288" anchor="t">
            <a:spAutoFit/>
          </a:bodyPr>
          <a:lstStyle/>
          <a:p>
            <a:pPr algn="ctr"/>
            <a:r>
              <a:rPr lang="en-US" sz="2700" b="1">
                <a:solidFill>
                  <a:srgbClr val="2F8F46"/>
                </a:solidFill>
                <a:latin typeface="Arial"/>
              </a:rPr>
              <a:t>78,468</a:t>
            </a:r>
          </a:p>
        </p:txBody>
      </p:sp>
      <p:sp>
        <p:nvSpPr>
          <p:cNvPr id="14" name="TextBox 13"/>
          <p:cNvSpPr txBox="1"/>
          <p:nvPr/>
        </p:nvSpPr>
        <p:spPr>
          <a:xfrm>
            <a:off x="4480560" y="2194560"/>
            <a:ext cx="3054096" cy="274320"/>
          </a:xfrm>
          <a:prstGeom prst="rect">
            <a:avLst/>
          </a:prstGeom>
          <a:noFill/>
        </p:spPr>
        <p:txBody>
          <a:bodyPr wrap="square" lIns="18288" tIns="18288" rIns="18288" bIns="18288" anchor="t">
            <a:spAutoFit/>
          </a:bodyPr>
          <a:lstStyle/>
          <a:p>
            <a:pPr algn="ctr"/>
            <a:r>
              <a:rPr lang="en-US" sz="1400" b="1">
                <a:solidFill>
                  <a:srgbClr val="434343"/>
                </a:solidFill>
                <a:latin typeface="Arial"/>
              </a:rPr>
              <a:t>signed training samples</a:t>
            </a:r>
          </a:p>
        </p:txBody>
      </p:sp>
      <p:sp>
        <p:nvSpPr>
          <p:cNvPr id="15" name="TextBox 14"/>
          <p:cNvSpPr txBox="1"/>
          <p:nvPr/>
        </p:nvSpPr>
        <p:spPr>
          <a:xfrm>
            <a:off x="4544568" y="2596896"/>
            <a:ext cx="2926080" cy="292608"/>
          </a:xfrm>
          <a:prstGeom prst="rect">
            <a:avLst/>
          </a:prstGeom>
          <a:noFill/>
        </p:spPr>
        <p:txBody>
          <a:bodyPr wrap="square" lIns="18288" tIns="18288" rIns="18288" bIns="18288" anchor="t">
            <a:spAutoFit/>
          </a:bodyPr>
          <a:lstStyle/>
          <a:p>
            <a:pPr algn="ctr"/>
            <a:r>
              <a:rPr lang="en-US" sz="1080" b="0">
                <a:solidFill>
                  <a:srgbClr val="434343"/>
                </a:solidFill>
                <a:latin typeface="Arial"/>
              </a:rPr>
              <a:t>Pixel, label, and policy tampering rejected</a:t>
            </a:r>
          </a:p>
        </p:txBody>
      </p:sp>
      <p:sp>
        <p:nvSpPr>
          <p:cNvPr id="16" name="Rounded Rectangle 15"/>
          <p:cNvSpPr/>
          <p:nvPr/>
        </p:nvSpPr>
        <p:spPr>
          <a:xfrm>
            <a:off x="8010144" y="1399032"/>
            <a:ext cx="3364992" cy="16276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65592" y="1627632"/>
            <a:ext cx="3054096" cy="475488"/>
          </a:xfrm>
          <a:prstGeom prst="rect">
            <a:avLst/>
          </a:prstGeom>
          <a:noFill/>
        </p:spPr>
        <p:txBody>
          <a:bodyPr wrap="square" lIns="18288" tIns="18288" rIns="18288" bIns="18288" anchor="t">
            <a:spAutoFit/>
          </a:bodyPr>
          <a:lstStyle/>
          <a:p>
            <a:pPr algn="ctr"/>
            <a:r>
              <a:rPr lang="en-US" sz="2700" b="1">
                <a:solidFill>
                  <a:srgbClr val="1F90CC"/>
                </a:solidFill>
                <a:latin typeface="Arial"/>
              </a:rPr>
              <a:t>10 · 50 · 100</a:t>
            </a:r>
          </a:p>
        </p:txBody>
      </p:sp>
      <p:sp>
        <p:nvSpPr>
          <p:cNvPr id="18" name="TextBox 17"/>
          <p:cNvSpPr txBox="1"/>
          <p:nvPr/>
        </p:nvSpPr>
        <p:spPr>
          <a:xfrm>
            <a:off x="8165592" y="2194560"/>
            <a:ext cx="3054096" cy="274320"/>
          </a:xfrm>
          <a:prstGeom prst="rect">
            <a:avLst/>
          </a:prstGeom>
          <a:noFill/>
        </p:spPr>
        <p:txBody>
          <a:bodyPr wrap="square" lIns="18288" tIns="18288" rIns="18288" bIns="18288" anchor="t">
            <a:spAutoFit/>
          </a:bodyPr>
          <a:lstStyle/>
          <a:p>
            <a:pPr algn="ctr"/>
            <a:r>
              <a:rPr lang="en-US" sz="1400" b="1">
                <a:solidFill>
                  <a:srgbClr val="434343"/>
                </a:solidFill>
                <a:latin typeface="Arial"/>
              </a:rPr>
              <a:t>participants</a:t>
            </a:r>
          </a:p>
        </p:txBody>
      </p:sp>
      <p:sp>
        <p:nvSpPr>
          <p:cNvPr id="19" name="TextBox 18"/>
          <p:cNvSpPr txBox="1"/>
          <p:nvPr/>
        </p:nvSpPr>
        <p:spPr>
          <a:xfrm>
            <a:off x="8229600" y="2596896"/>
            <a:ext cx="2926080" cy="292608"/>
          </a:xfrm>
          <a:prstGeom prst="rect">
            <a:avLst/>
          </a:prstGeom>
          <a:noFill/>
        </p:spPr>
        <p:txBody>
          <a:bodyPr wrap="square" lIns="18288" tIns="18288" rIns="18288" bIns="18288" anchor="t">
            <a:spAutoFit/>
          </a:bodyPr>
          <a:lstStyle/>
          <a:p>
            <a:pPr algn="ctr"/>
            <a:r>
              <a:rPr lang="en-US" sz="1080" b="0">
                <a:solidFill>
                  <a:srgbClr val="434343"/>
                </a:solidFill>
                <a:latin typeface="Arial"/>
              </a:rPr>
              <a:t>Every scale experiment reached round 50</a:t>
            </a:r>
          </a:p>
        </p:txBody>
      </p:sp>
      <p:sp>
        <p:nvSpPr>
          <p:cNvPr id="20" name="Rounded Rectangle 19"/>
          <p:cNvSpPr/>
          <p:nvPr/>
        </p:nvSpPr>
        <p:spPr>
          <a:xfrm>
            <a:off x="658368" y="3346704"/>
            <a:ext cx="5285232" cy="15179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96112" y="3575304"/>
            <a:ext cx="1920240" cy="274320"/>
          </a:xfrm>
          <a:prstGeom prst="rect">
            <a:avLst/>
          </a:prstGeom>
          <a:noFill/>
        </p:spPr>
        <p:txBody>
          <a:bodyPr wrap="square" lIns="18288" tIns="18288" rIns="18288" bIns="18288" anchor="t">
            <a:spAutoFit/>
          </a:bodyPr>
          <a:lstStyle/>
          <a:p>
            <a:pPr algn="l"/>
            <a:r>
              <a:rPr lang="en-US" sz="1400" b="1">
                <a:solidFill>
                  <a:srgbClr val="2F8F46"/>
                </a:solidFill>
                <a:latin typeface="Arial"/>
              </a:rPr>
              <a:t>DEMONSTRATED</a:t>
            </a:r>
          </a:p>
        </p:txBody>
      </p:sp>
      <p:sp>
        <p:nvSpPr>
          <p:cNvPr id="22" name="TextBox 21"/>
          <p:cNvSpPr txBox="1"/>
          <p:nvPr/>
        </p:nvSpPr>
        <p:spPr>
          <a:xfrm>
            <a:off x="877824" y="4005072"/>
            <a:ext cx="4754880" cy="658368"/>
          </a:xfrm>
          <a:prstGeom prst="rect">
            <a:avLst/>
          </a:prstGeom>
          <a:noFill/>
        </p:spPr>
        <p:txBody>
          <a:bodyPr wrap="square" lIns="27432" tIns="18288" rIns="27432" bIns="18288">
            <a:spAutoFit/>
          </a:bodyPr>
          <a:lstStyle/>
          <a:p>
            <a:pPr>
              <a:lnSpc>
                <a:spcPct val="100000"/>
              </a:lnSpc>
              <a:spcAft>
                <a:spcPts val="500"/>
              </a:spcAft>
            </a:pPr>
            <a:r>
              <a:rPr lang="en-US" sz="1250">
                <a:solidFill>
                  <a:srgbClr val="2F8F46"/>
                </a:solidFill>
                <a:latin typeface="Arial"/>
              </a:rPr>
              <a:t>●  </a:t>
            </a:r>
            <a:r>
              <a:rPr lang="en-US" sz="1450">
                <a:solidFill>
                  <a:srgbClr val="434343"/>
                </a:solidFill>
                <a:latin typeface="Arial"/>
              </a:rPr>
              <a:t>End-to-end execution of the prototype</a:t>
            </a:r>
          </a:p>
          <a:p>
            <a:pPr>
              <a:lnSpc>
                <a:spcPct val="100000"/>
              </a:lnSpc>
              <a:spcAft>
                <a:spcPts val="500"/>
              </a:spcAft>
            </a:pPr>
            <a:r>
              <a:rPr lang="en-US" sz="1250">
                <a:solidFill>
                  <a:srgbClr val="2F8F46"/>
                </a:solidFill>
                <a:latin typeface="Arial"/>
              </a:rPr>
              <a:t>●  </a:t>
            </a:r>
            <a:r>
              <a:rPr lang="en-US" sz="1450">
                <a:solidFill>
                  <a:srgbClr val="434343"/>
                </a:solidFill>
                <a:latin typeface="Arial"/>
              </a:rPr>
              <a:t>Rejection of tampered and stale-context objects</a:t>
            </a:r>
          </a:p>
        </p:txBody>
      </p:sp>
      <p:sp>
        <p:nvSpPr>
          <p:cNvPr id="23" name="Rounded Rectangle 22"/>
          <p:cNvSpPr/>
          <p:nvPr/>
        </p:nvSpPr>
        <p:spPr>
          <a:xfrm>
            <a:off x="6217920" y="3346704"/>
            <a:ext cx="5285232" cy="1517904"/>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55664" y="3575304"/>
            <a:ext cx="2377440" cy="274320"/>
          </a:xfrm>
          <a:prstGeom prst="rect">
            <a:avLst/>
          </a:prstGeom>
          <a:noFill/>
        </p:spPr>
        <p:txBody>
          <a:bodyPr wrap="square" lIns="18288" tIns="18288" rIns="18288" bIns="18288" anchor="t">
            <a:spAutoFit/>
          </a:bodyPr>
          <a:lstStyle/>
          <a:p>
            <a:pPr algn="l"/>
            <a:r>
              <a:rPr lang="en-US" sz="1400" b="1">
                <a:solidFill>
                  <a:srgbClr val="FF6C00"/>
                </a:solidFill>
                <a:latin typeface="Arial"/>
              </a:rPr>
              <a:t>NOT DEMONSTRATED</a:t>
            </a:r>
          </a:p>
        </p:txBody>
      </p:sp>
      <p:sp>
        <p:nvSpPr>
          <p:cNvPr id="25" name="TextBox 24"/>
          <p:cNvSpPr txBox="1"/>
          <p:nvPr/>
        </p:nvSpPr>
        <p:spPr>
          <a:xfrm>
            <a:off x="6437376" y="4005072"/>
            <a:ext cx="4736592" cy="658368"/>
          </a:xfrm>
          <a:prstGeom prst="rect">
            <a:avLst/>
          </a:prstGeom>
          <a:noFill/>
        </p:spPr>
        <p:txBody>
          <a:bodyPr wrap="square" lIns="27432" tIns="18288" rIns="27432" bIns="18288">
            <a:spAutoFit/>
          </a:bodyPr>
          <a:lstStyle/>
          <a:p>
            <a:pPr>
              <a:lnSpc>
                <a:spcPct val="100000"/>
              </a:lnSpc>
              <a:spcAft>
                <a:spcPts val="500"/>
              </a:spcAft>
            </a:pPr>
            <a:r>
              <a:rPr lang="en-US" sz="1250">
                <a:solidFill>
                  <a:srgbClr val="FF6C00"/>
                </a:solidFill>
                <a:latin typeface="Arial"/>
              </a:rPr>
              <a:t>●  </a:t>
            </a:r>
            <a:r>
              <a:rPr lang="en-US" sz="1450">
                <a:solidFill>
                  <a:srgbClr val="434343"/>
                </a:solidFill>
                <a:latin typeface="Arial"/>
              </a:rPr>
              <a:t>Clinical validity or diagnostic utility</a:t>
            </a:r>
          </a:p>
          <a:p>
            <a:pPr>
              <a:lnSpc>
                <a:spcPct val="100000"/>
              </a:lnSpc>
              <a:spcAft>
                <a:spcPts val="500"/>
              </a:spcAft>
            </a:pPr>
            <a:r>
              <a:rPr lang="en-US" sz="1250">
                <a:solidFill>
                  <a:srgbClr val="FF6C00"/>
                </a:solidFill>
                <a:latin typeface="Arial"/>
              </a:rPr>
              <a:t>●  </a:t>
            </a:r>
            <a:r>
              <a:rPr lang="en-US" sz="1450">
                <a:solidFill>
                  <a:srgbClr val="434343"/>
                </a:solidFill>
                <a:latin typeface="Arial"/>
              </a:rPr>
              <a:t>Macro AUROC ≈ 0.50; F1 scores trend toward zero</a:t>
            </a:r>
          </a:p>
        </p:txBody>
      </p:sp>
      <p:sp>
        <p:nvSpPr>
          <p:cNvPr id="26" name="Rectangle 25"/>
          <p:cNvSpPr/>
          <p:nvPr/>
        </p:nvSpPr>
        <p:spPr>
          <a:xfrm>
            <a:off x="1207008" y="5120640"/>
            <a:ext cx="9784080" cy="43891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89888" y="5221224"/>
            <a:ext cx="9418320" cy="228600"/>
          </a:xfrm>
          <a:prstGeom prst="rect">
            <a:avLst/>
          </a:prstGeom>
          <a:noFill/>
        </p:spPr>
        <p:txBody>
          <a:bodyPr wrap="square" lIns="18288" tIns="18288" rIns="18288" bIns="18288" anchor="t">
            <a:spAutoFit/>
          </a:bodyPr>
          <a:lstStyle/>
          <a:p>
            <a:pPr algn="ctr"/>
            <a:r>
              <a:rPr lang="en-US" sz="1400" b="1">
                <a:solidFill>
                  <a:srgbClr val="FFFFFF"/>
                </a:solidFill>
                <a:latin typeface="Arial"/>
              </a:rPr>
              <a:t>The evidence chain supports the process claim—not the medical correctness of the model.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TRUST-MINIMIZED—NOT TRUSTLESS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ounded Rectangle 7"/>
          <p:cNvSpPr/>
          <p:nvPr/>
        </p:nvSpPr>
        <p:spPr>
          <a:xfrm>
            <a:off x="640080" y="1389888"/>
            <a:ext cx="5257800" cy="33558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1664208"/>
            <a:ext cx="2011680" cy="292608"/>
          </a:xfrm>
          <a:prstGeom prst="rect">
            <a:avLst/>
          </a:prstGeom>
          <a:noFill/>
        </p:spPr>
        <p:txBody>
          <a:bodyPr wrap="square" lIns="18288" tIns="18288" rIns="18288" bIns="18288" anchor="t">
            <a:spAutoFit/>
          </a:bodyPr>
          <a:lstStyle/>
          <a:p>
            <a:pPr algn="l"/>
            <a:r>
              <a:rPr lang="en-US" sz="1500" b="1">
                <a:solidFill>
                  <a:srgbClr val="2F8F46"/>
                </a:solidFill>
                <a:latin typeface="Arial"/>
              </a:rPr>
              <a:t>DEMONSTRATED</a:t>
            </a:r>
          </a:p>
        </p:txBody>
      </p:sp>
      <p:sp>
        <p:nvSpPr>
          <p:cNvPr id="10" name="TextBox 9"/>
          <p:cNvSpPr txBox="1"/>
          <p:nvPr/>
        </p:nvSpPr>
        <p:spPr>
          <a:xfrm>
            <a:off x="896112" y="2176272"/>
            <a:ext cx="4690872" cy="1938528"/>
          </a:xfrm>
          <a:prstGeom prst="rect">
            <a:avLst/>
          </a:prstGeom>
          <a:noFill/>
        </p:spPr>
        <p:txBody>
          <a:bodyPr wrap="square" lIns="27432" tIns="18288" rIns="27432" bIns="18288">
            <a:spAutoFit/>
          </a:bodyPr>
          <a:lstStyle/>
          <a:p>
            <a:pPr>
              <a:lnSpc>
                <a:spcPct val="100000"/>
              </a:lnSpc>
              <a:spcAft>
                <a:spcPts val="800"/>
              </a:spcAft>
            </a:pPr>
            <a:r>
              <a:rPr lang="en-US" sz="1300">
                <a:solidFill>
                  <a:srgbClr val="2F8F46"/>
                </a:solidFill>
                <a:latin typeface="Arial"/>
              </a:rPr>
              <a:t>●  </a:t>
            </a:r>
            <a:r>
              <a:rPr lang="en-US" sz="1500">
                <a:solidFill>
                  <a:srgbClr val="434343"/>
                </a:solidFill>
                <a:latin typeface="Arial"/>
              </a:rPr>
              <a:t>Reproducible, fail-closed path from DFL publication to agent-mediated inference</a:t>
            </a:r>
          </a:p>
          <a:p>
            <a:pPr>
              <a:lnSpc>
                <a:spcPct val="100000"/>
              </a:lnSpc>
              <a:spcAft>
                <a:spcPts val="800"/>
              </a:spcAft>
            </a:pPr>
            <a:r>
              <a:rPr lang="en-US" sz="1300">
                <a:solidFill>
                  <a:srgbClr val="2F8F46"/>
                </a:solidFill>
                <a:latin typeface="Arial"/>
              </a:rPr>
              <a:t>●  </a:t>
            </a:r>
            <a:r>
              <a:rPr lang="en-US" sz="1500">
                <a:solidFill>
                  <a:srgbClr val="434343"/>
                </a:solidFill>
                <a:latin typeface="Arial"/>
              </a:rPr>
              <a:t>Authoritative model selection and deterministic validation outside the language model</a:t>
            </a:r>
          </a:p>
          <a:p>
            <a:pPr>
              <a:lnSpc>
                <a:spcPct val="100000"/>
              </a:lnSpc>
              <a:spcAft>
                <a:spcPts val="800"/>
              </a:spcAft>
            </a:pPr>
            <a:r>
              <a:rPr lang="en-US" sz="1300">
                <a:solidFill>
                  <a:srgbClr val="2F8F46"/>
                </a:solidFill>
                <a:latin typeface="Arial"/>
              </a:rPr>
              <a:t>●  </a:t>
            </a:r>
            <a:r>
              <a:rPr lang="en-US" sz="1500">
                <a:solidFill>
                  <a:srgbClr val="434343"/>
                </a:solidFill>
                <a:latin typeface="Arial"/>
              </a:rPr>
              <a:t>User-inspectable tool receipts and complete inference evidence</a:t>
            </a:r>
          </a:p>
        </p:txBody>
      </p:sp>
      <p:sp>
        <p:nvSpPr>
          <p:cNvPr id="11" name="Rounded Rectangle 10"/>
          <p:cNvSpPr/>
          <p:nvPr/>
        </p:nvSpPr>
        <p:spPr>
          <a:xfrm>
            <a:off x="6236208" y="1389888"/>
            <a:ext cx="5257800" cy="3355848"/>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1664208"/>
            <a:ext cx="2834640" cy="292608"/>
          </a:xfrm>
          <a:prstGeom prst="rect">
            <a:avLst/>
          </a:prstGeom>
          <a:noFill/>
        </p:spPr>
        <p:txBody>
          <a:bodyPr wrap="square" lIns="18288" tIns="18288" rIns="18288" bIns="18288" anchor="t">
            <a:spAutoFit/>
          </a:bodyPr>
          <a:lstStyle/>
          <a:p>
            <a:pPr algn="l"/>
            <a:r>
              <a:rPr lang="en-US" sz="1500" b="1">
                <a:solidFill>
                  <a:srgbClr val="FF6C00"/>
                </a:solidFill>
                <a:latin typeface="Arial"/>
              </a:rPr>
              <a:t>REMAINING BOUNDARIES</a:t>
            </a:r>
          </a:p>
        </p:txBody>
      </p:sp>
      <p:sp>
        <p:nvSpPr>
          <p:cNvPr id="13" name="TextBox 12"/>
          <p:cNvSpPr txBox="1"/>
          <p:nvPr/>
        </p:nvSpPr>
        <p:spPr>
          <a:xfrm>
            <a:off x="6492240" y="2176272"/>
            <a:ext cx="4681728" cy="1938528"/>
          </a:xfrm>
          <a:prstGeom prst="rect">
            <a:avLst/>
          </a:prstGeom>
          <a:noFill/>
        </p:spPr>
        <p:txBody>
          <a:bodyPr wrap="square" lIns="27432" tIns="18288" rIns="27432" bIns="18288">
            <a:spAutoFit/>
          </a:bodyPr>
          <a:lstStyle/>
          <a:p>
            <a:pPr>
              <a:lnSpc>
                <a:spcPct val="100000"/>
              </a:lnSpc>
              <a:spcAft>
                <a:spcPts val="800"/>
              </a:spcAft>
            </a:pPr>
            <a:r>
              <a:rPr lang="en-US" sz="1300">
                <a:solidFill>
                  <a:srgbClr val="FF6C00"/>
                </a:solidFill>
                <a:latin typeface="Arial"/>
              </a:rPr>
              <a:t>●  </a:t>
            </a:r>
            <a:r>
              <a:rPr lang="en-US" sz="1500">
                <a:solidFill>
                  <a:srgbClr val="434343"/>
                </a:solidFill>
                <a:latin typeface="Arial"/>
              </a:rPr>
              <a:t>TEE/dstack, policies, key custody, and ledger consensus remain trust anchors</a:t>
            </a:r>
          </a:p>
          <a:p>
            <a:pPr>
              <a:lnSpc>
                <a:spcPct val="100000"/>
              </a:lnSpc>
              <a:spcAft>
                <a:spcPts val="800"/>
              </a:spcAft>
            </a:pPr>
            <a:r>
              <a:rPr lang="en-US" sz="1300">
                <a:solidFill>
                  <a:srgbClr val="FF6C00"/>
                </a:solidFill>
                <a:latin typeface="Arial"/>
              </a:rPr>
              <a:t>●  </a:t>
            </a:r>
            <a:r>
              <a:rPr lang="en-US" sz="1500">
                <a:solidFill>
                  <a:srgbClr val="434343"/>
                </a:solidFill>
                <a:latin typeface="Arial"/>
              </a:rPr>
              <a:t>Independent log witnesses, supply-chain provenance, and adversarial live testing remain future work</a:t>
            </a:r>
          </a:p>
          <a:p>
            <a:pPr>
              <a:lnSpc>
                <a:spcPct val="100000"/>
              </a:lnSpc>
              <a:spcAft>
                <a:spcPts val="800"/>
              </a:spcAft>
            </a:pPr>
            <a:r>
              <a:rPr lang="en-US" sz="1300">
                <a:solidFill>
                  <a:srgbClr val="FF6C00"/>
                </a:solidFill>
                <a:latin typeface="Arial"/>
              </a:rPr>
              <a:t>●  </a:t>
            </a:r>
            <a:r>
              <a:rPr lang="en-US" sz="1500">
                <a:solidFill>
                  <a:srgbClr val="434343"/>
                </a:solidFill>
                <a:latin typeface="Arial"/>
              </a:rPr>
              <a:t>Native DICOM data, larger models, repeated runs, and a user study</a:t>
            </a:r>
          </a:p>
        </p:txBody>
      </p:sp>
      <p:sp>
        <p:nvSpPr>
          <p:cNvPr id="14" name="Rectangle 13"/>
          <p:cNvSpPr/>
          <p:nvPr/>
        </p:nvSpPr>
        <p:spPr>
          <a:xfrm>
            <a:off x="960120" y="4928616"/>
            <a:ext cx="10241280" cy="59436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5129784"/>
            <a:ext cx="1600200" cy="219456"/>
          </a:xfrm>
          <a:prstGeom prst="rect">
            <a:avLst/>
          </a:prstGeom>
          <a:noFill/>
        </p:spPr>
        <p:txBody>
          <a:bodyPr wrap="square" lIns="18288" tIns="18288" rIns="18288" bIns="18288" anchor="t">
            <a:spAutoFit/>
          </a:bodyPr>
          <a:lstStyle/>
          <a:p>
            <a:pPr algn="l"/>
            <a:r>
              <a:rPr lang="en-US" sz="1050" b="1">
                <a:solidFill>
                  <a:srgbClr val="FFFFFF"/>
                </a:solidFill>
                <a:latin typeface="Arial"/>
              </a:rPr>
              <a:t>CORE CONTRIBUTION</a:t>
            </a:r>
          </a:p>
        </p:txBody>
      </p:sp>
      <p:sp>
        <p:nvSpPr>
          <p:cNvPr id="16" name="TextBox 15"/>
          <p:cNvSpPr txBox="1"/>
          <p:nvPr/>
        </p:nvSpPr>
        <p:spPr>
          <a:xfrm>
            <a:off x="2852928" y="5038344"/>
            <a:ext cx="8028431" cy="329184"/>
          </a:xfrm>
          <a:prstGeom prst="rect">
            <a:avLst/>
          </a:prstGeom>
          <a:noFill/>
        </p:spPr>
        <p:txBody>
          <a:bodyPr wrap="square" lIns="18288" tIns="18288" rIns="18288" bIns="18288" anchor="ctr">
            <a:spAutoFit/>
          </a:bodyPr>
          <a:lstStyle/>
          <a:p>
            <a:pPr algn="ctr"/>
            <a:r>
              <a:rPr lang="en-US" sz="1450" b="1">
                <a:solidFill>
                  <a:srgbClr val="FFFFFF"/>
                </a:solidFill>
                <a:latin typeface="Arial"/>
              </a:rPr>
              <a:t>Verifiability emerges from composing narrow, explicitly scoped evidence—not from trusting a single agent or service.</a:t>
            </a:r>
          </a:p>
        </p:txBody>
      </p:sp>
      <p:sp>
        <p:nvSpPr>
          <p:cNvPr id="17" name="TextBox 16"/>
          <p:cNvSpPr txBox="1"/>
          <p:nvPr/>
        </p:nvSpPr>
        <p:spPr>
          <a:xfrm>
            <a:off x="8942832" y="6300216"/>
            <a:ext cx="2176272" cy="201168"/>
          </a:xfrm>
          <a:prstGeom prst="rect">
            <a:avLst/>
          </a:prstGeom>
          <a:noFill/>
        </p:spPr>
        <p:txBody>
          <a:bodyPr wrap="square" lIns="18288" tIns="18288" rIns="18288" bIns="18288" anchor="t">
            <a:spAutoFit/>
          </a:bodyPr>
          <a:lstStyle/>
          <a:p>
            <a:pPr algn="r"/>
            <a:r>
              <a:rPr lang="en-US" sz="1200" b="1">
                <a:solidFill>
                  <a:srgbClr val="FFFFFF"/>
                </a:solidFill>
                <a:latin typeface="Arial"/>
              </a:rPr>
              <a:t>Thank you · Questions?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4088"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  </a:t>
            </a:r>
            <a:r>
              <a:rPr lang="en-US" sz="950" b="1">
                <a:solidFill>
                  <a:srgbClr val="434343"/>
                </a:solidFill>
                <a:latin typeface="Arial"/>
              </a:rPr>
              <a:t>Admission / identity</a:t>
            </a:r>
          </a:p>
        </p:txBody>
      </p:sp>
      <p:pic>
        <p:nvPicPr>
          <p:cNvPr id="10" name="Picture 9" descr="T1.png"/>
          <p:cNvPicPr>
            <a:picLocks noChangeAspect="1"/>
          </p:cNvPicPr>
          <p:nvPr/>
        </p:nvPicPr>
        <p:blipFill>
          <a:blip r:embed="rId3"/>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02152"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T2  </a:t>
            </a:r>
            <a:r>
              <a:rPr lang="en-US" sz="950" b="1">
                <a:solidFill>
                  <a:srgbClr val="434343"/>
                </a:solidFill>
                <a:latin typeface="Arial"/>
              </a:rPr>
              <a:t>Replay / stale context</a:t>
            </a:r>
          </a:p>
        </p:txBody>
      </p:sp>
      <p:pic>
        <p:nvPicPr>
          <p:cNvPr id="13" name="Picture 12" descr="T2.png"/>
          <p:cNvPicPr>
            <a:picLocks noChangeAspect="1"/>
          </p:cNvPicPr>
          <p:nvPr/>
        </p:nvPicPr>
        <p:blipFill>
          <a:blip r:embed="rId4"/>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0216"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T3  </a:t>
            </a:r>
            <a:r>
              <a:rPr lang="en-US" sz="950" b="1">
                <a:solidFill>
                  <a:srgbClr val="434343"/>
                </a:solidFill>
                <a:latin typeface="Arial"/>
              </a:rPr>
              <a:t>Training-input provenance</a:t>
            </a:r>
          </a:p>
        </p:txBody>
      </p:sp>
      <p:pic>
        <p:nvPicPr>
          <p:cNvPr id="16" name="Picture 15" descr="T3.png"/>
          <p:cNvPicPr>
            <a:picLocks noChangeAspect="1"/>
          </p:cNvPicPr>
          <p:nvPr/>
        </p:nvPicPr>
        <p:blipFill>
          <a:blip r:embed="rId5"/>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098280"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T4  </a:t>
            </a:r>
            <a:r>
              <a:rPr lang="en-US" sz="950" b="1">
                <a:solidFill>
                  <a:srgbClr val="434343"/>
                </a:solidFill>
                <a:latin typeface="Arial"/>
              </a:rPr>
              <a:t>Artifact substitution</a:t>
            </a:r>
          </a:p>
        </p:txBody>
      </p:sp>
      <p:pic>
        <p:nvPicPr>
          <p:cNvPr id="19" name="Picture 18" descr="T4.png"/>
          <p:cNvPicPr>
            <a:picLocks noChangeAspect="1"/>
          </p:cNvPicPr>
          <p:nvPr/>
        </p:nvPicPr>
        <p:blipFill>
          <a:blip r:embed="rId6"/>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03120"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T5  </a:t>
            </a:r>
            <a:r>
              <a:rPr lang="en-US" sz="950" b="1">
                <a:solidFill>
                  <a:srgbClr val="434343"/>
                </a:solidFill>
                <a:latin typeface="Arial"/>
              </a:rPr>
              <a:t>Model/key disclosure</a:t>
            </a:r>
          </a:p>
        </p:txBody>
      </p:sp>
      <p:pic>
        <p:nvPicPr>
          <p:cNvPr id="22" name="Picture 21" descr="T5.png"/>
          <p:cNvPicPr>
            <a:picLocks noChangeAspect="1"/>
          </p:cNvPicPr>
          <p:nvPr/>
        </p:nvPicPr>
        <p:blipFill>
          <a:blip r:embed="rId7"/>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01184"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T6  </a:t>
            </a:r>
            <a:r>
              <a:rPr lang="en-US" sz="950" b="1">
                <a:solidFill>
                  <a:srgbClr val="434343"/>
                </a:solidFill>
                <a:latin typeface="Arial"/>
              </a:rPr>
              <a:t>Aggregator omission</a:t>
            </a:r>
          </a:p>
        </p:txBody>
      </p:sp>
      <p:pic>
        <p:nvPicPr>
          <p:cNvPr id="25" name="Picture 24" descr="T6.png"/>
          <p:cNvPicPr>
            <a:picLocks noChangeAspect="1"/>
          </p:cNvPicPr>
          <p:nvPr/>
        </p:nvPicPr>
        <p:blipFill>
          <a:blip r:embed="rId8"/>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699248"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T7  </a:t>
            </a:r>
            <a:r>
              <a:rPr lang="en-US" sz="950" b="1">
                <a:solidFill>
                  <a:srgbClr val="434343"/>
                </a:solidFill>
                <a:latin typeface="Arial"/>
              </a:rPr>
              <a:t>Valid malicious updates</a:t>
            </a:r>
          </a:p>
        </p:txBody>
      </p:sp>
      <p:pic>
        <p:nvPicPr>
          <p:cNvPr id="28" name="Picture 27" descr="T7.png"/>
          <p:cNvPicPr>
            <a:picLocks noChangeAspect="1"/>
          </p:cNvPicPr>
          <p:nvPr/>
        </p:nvPicPr>
        <p:blipFill>
          <a:blip r:embed="rId9"/>
          <a:stretch>
            <a:fillRect/>
          </a:stretch>
        </p:blipFill>
        <p:spPr>
          <a:xfrm>
            <a:off x="7843764" y="3749040"/>
            <a:ext cx="2088406" cy="135331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04088"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T8  </a:t>
            </a:r>
            <a:r>
              <a:rPr lang="en-US" sz="950" b="1">
                <a:solidFill>
                  <a:srgbClr val="434343"/>
                </a:solidFill>
                <a:latin typeface="Arial"/>
              </a:rPr>
              <a:t>Inference evidence</a:t>
            </a:r>
          </a:p>
        </p:txBody>
      </p:sp>
      <p:pic>
        <p:nvPicPr>
          <p:cNvPr id="10" name="Picture 9" descr="T8.png"/>
          <p:cNvPicPr>
            <a:picLocks noChangeAspect="1"/>
          </p:cNvPicPr>
          <p:nvPr/>
        </p:nvPicPr>
        <p:blipFill>
          <a:blip r:embed="rId3"/>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02152"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T9  </a:t>
            </a:r>
            <a:r>
              <a:rPr lang="en-US" sz="950" b="1">
                <a:solidFill>
                  <a:srgbClr val="434343"/>
                </a:solidFill>
                <a:latin typeface="Arial"/>
              </a:rPr>
              <a:t>Agent/tool manipulation</a:t>
            </a:r>
          </a:p>
        </p:txBody>
      </p:sp>
      <p:pic>
        <p:nvPicPr>
          <p:cNvPr id="13" name="Picture 12" descr="T9.png"/>
          <p:cNvPicPr>
            <a:picLocks noChangeAspect="1"/>
          </p:cNvPicPr>
          <p:nvPr/>
        </p:nvPicPr>
        <p:blipFill>
          <a:blip r:embed="rId4"/>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0216"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T10  </a:t>
            </a:r>
            <a:r>
              <a:rPr lang="en-US" sz="950" b="1">
                <a:solidFill>
                  <a:srgbClr val="434343"/>
                </a:solidFill>
                <a:latin typeface="Arial"/>
              </a:rPr>
              <a:t>Evidence suppression</a:t>
            </a:r>
          </a:p>
        </p:txBody>
      </p:sp>
      <p:pic>
        <p:nvPicPr>
          <p:cNvPr id="16" name="Picture 15" descr="T10.png"/>
          <p:cNvPicPr>
            <a:picLocks noChangeAspect="1"/>
          </p:cNvPicPr>
          <p:nvPr/>
        </p:nvPicPr>
        <p:blipFill>
          <a:blip r:embed="rId5"/>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098280" y="1444752"/>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T11  </a:t>
            </a:r>
            <a:r>
              <a:rPr lang="en-US" sz="950" b="1">
                <a:solidFill>
                  <a:srgbClr val="434343"/>
                </a:solidFill>
                <a:latin typeface="Arial"/>
              </a:rPr>
              <a:t>Log omission/equivocation</a:t>
            </a:r>
          </a:p>
        </p:txBody>
      </p:sp>
      <p:pic>
        <p:nvPicPr>
          <p:cNvPr id="19" name="Picture 18" descr="T11.png"/>
          <p:cNvPicPr>
            <a:picLocks noChangeAspect="1"/>
          </p:cNvPicPr>
          <p:nvPr/>
        </p:nvPicPr>
        <p:blipFill>
          <a:blip r:embed="rId6"/>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03120"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T12  </a:t>
            </a:r>
            <a:r>
              <a:rPr lang="en-US" sz="950" b="1">
                <a:solidFill>
                  <a:srgbClr val="434343"/>
                </a:solidFill>
                <a:latin typeface="Arial"/>
              </a:rPr>
              <a:t>Infrastructure DoS</a:t>
            </a:r>
          </a:p>
        </p:txBody>
      </p:sp>
      <p:pic>
        <p:nvPicPr>
          <p:cNvPr id="22" name="Picture 21" descr="T12.png"/>
          <p:cNvPicPr>
            <a:picLocks noChangeAspect="1"/>
          </p:cNvPicPr>
          <p:nvPr/>
        </p:nvPicPr>
        <p:blipFill>
          <a:blip r:embed="rId7"/>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901184"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T13  </a:t>
            </a:r>
            <a:r>
              <a:rPr lang="en-US" sz="950" b="1">
                <a:solidFill>
                  <a:srgbClr val="434343"/>
                </a:solidFill>
                <a:latin typeface="Arial"/>
              </a:rPr>
              <a:t>Root/key compromise</a:t>
            </a:r>
          </a:p>
        </p:txBody>
      </p:sp>
      <p:pic>
        <p:nvPicPr>
          <p:cNvPr id="25" name="Picture 24" descr="T13.png"/>
          <p:cNvPicPr>
            <a:picLocks noChangeAspect="1"/>
          </p:cNvPicPr>
          <p:nvPr/>
        </p:nvPicPr>
        <p:blipFill>
          <a:blip r:embed="rId8"/>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699248" y="3474720"/>
            <a:ext cx="2377440" cy="256032"/>
          </a:xfrm>
          <a:prstGeom prst="rect">
            <a:avLst/>
          </a:prstGeom>
          <a:noFill/>
        </p:spPr>
        <p:txBody>
          <a:bodyPr wrap="square" lIns="18288" tIns="18288" rIns="18288" bIns="18288" anchor="ctr">
            <a:spAutoFit/>
          </a:bodyPr>
          <a:lstStyle/>
          <a:p>
            <a:pPr algn="l"/>
            <a:r>
              <a:rPr lang="en-US" sz="950" b="1">
                <a:solidFill>
                  <a:srgbClr val="C40D1E"/>
                </a:solidFill>
                <a:latin typeface="Arial"/>
              </a:rPr>
              <a:t>T14  </a:t>
            </a:r>
            <a:r>
              <a:rPr lang="en-US" sz="950" b="1">
                <a:solidFill>
                  <a:srgbClr val="434343"/>
                </a:solidFill>
                <a:latin typeface="Arial"/>
              </a:rPr>
              <a:t>Systemic collusion</a:t>
            </a:r>
          </a:p>
        </p:txBody>
      </p:sp>
      <p:pic>
        <p:nvPicPr>
          <p:cNvPr id="28" name="Picture 27" descr="T14.png"/>
          <p:cNvPicPr>
            <a:picLocks noChangeAspect="1"/>
          </p:cNvPicPr>
          <p:nvPr/>
        </p:nvPicPr>
        <p:blipFill>
          <a:blip r:embed="rId9"/>
          <a:stretch>
            <a:fillRect/>
          </a:stretch>
        </p:blipFill>
        <p:spPr>
          <a:xfrm>
            <a:off x="7671816" y="3819532"/>
            <a:ext cx="2432304" cy="1212327"/>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png"/>
          <p:cNvPicPr>
            <a:picLocks noChangeAspect="1"/>
          </p:cNvPicPr>
          <p:nvPr/>
        </p:nvPicPr>
        <p:blipFill>
          <a:blip r:embed="rId3"/>
          <a:stretch>
            <a:fillRect/>
          </a:stretch>
        </p:blipFill>
        <p:spPr>
          <a:xfrm>
            <a:off x="2553109" y="1307592"/>
            <a:ext cx="7101021" cy="477316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2.png"/>
          <p:cNvPicPr>
            <a:picLocks noChangeAspect="1"/>
          </p:cNvPicPr>
          <p:nvPr/>
        </p:nvPicPr>
        <p:blipFill>
          <a:blip r:embed="rId3"/>
          <a:stretch>
            <a:fillRect/>
          </a:stretch>
        </p:blipFill>
        <p:spPr>
          <a:xfrm>
            <a:off x="2607852" y="1307592"/>
            <a:ext cx="6991534" cy="477316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3.png"/>
          <p:cNvPicPr>
            <a:picLocks noChangeAspect="1"/>
          </p:cNvPicPr>
          <p:nvPr/>
        </p:nvPicPr>
        <p:blipFill>
          <a:blip r:embed="rId3"/>
          <a:stretch>
            <a:fillRect/>
          </a:stretch>
        </p:blipFill>
        <p:spPr>
          <a:xfrm>
            <a:off x="1355247" y="1307592"/>
            <a:ext cx="9496744" cy="477316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4.png"/>
          <p:cNvPicPr>
            <a:picLocks noChangeAspect="1"/>
          </p:cNvPicPr>
          <p:nvPr/>
        </p:nvPicPr>
        <p:blipFill>
          <a:blip r:embed="rId3"/>
          <a:stretch>
            <a:fillRect/>
          </a:stretch>
        </p:blipFill>
        <p:spPr>
          <a:xfrm>
            <a:off x="2460939" y="1307592"/>
            <a:ext cx="7285361" cy="4773168"/>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5.png"/>
          <p:cNvPicPr>
            <a:picLocks noChangeAspect="1"/>
          </p:cNvPicPr>
          <p:nvPr/>
        </p:nvPicPr>
        <p:blipFill>
          <a:blip r:embed="rId3"/>
          <a:stretch>
            <a:fillRect/>
          </a:stretch>
        </p:blipFill>
        <p:spPr>
          <a:xfrm>
            <a:off x="2591485" y="1307592"/>
            <a:ext cx="7024269" cy="4773168"/>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6.png"/>
          <p:cNvPicPr>
            <a:picLocks noChangeAspect="1"/>
          </p:cNvPicPr>
          <p:nvPr/>
        </p:nvPicPr>
        <p:blipFill>
          <a:blip r:embed="rId3"/>
          <a:stretch>
            <a:fillRect/>
          </a:stretch>
        </p:blipFill>
        <p:spPr>
          <a:xfrm>
            <a:off x="2635048" y="1307592"/>
            <a:ext cx="6937142" cy="477316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7.png"/>
          <p:cNvPicPr>
            <a:picLocks noChangeAspect="1"/>
          </p:cNvPicPr>
          <p:nvPr/>
        </p:nvPicPr>
        <p:blipFill>
          <a:blip r:embed="rId3"/>
          <a:stretch>
            <a:fillRect/>
          </a:stretch>
        </p:blipFill>
        <p:spPr>
          <a:xfrm>
            <a:off x="2420686" y="1307592"/>
            <a:ext cx="7365866" cy="477316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8.png"/>
          <p:cNvPicPr>
            <a:picLocks noChangeAspect="1"/>
          </p:cNvPicPr>
          <p:nvPr/>
        </p:nvPicPr>
        <p:blipFill>
          <a:blip r:embed="rId3"/>
          <a:stretch>
            <a:fillRect/>
          </a:stretch>
        </p:blipFill>
        <p:spPr>
          <a:xfrm>
            <a:off x="2923911" y="1307592"/>
            <a:ext cx="6359417" cy="4773168"/>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9.png"/>
          <p:cNvPicPr>
            <a:picLocks noChangeAspect="1"/>
          </p:cNvPicPr>
          <p:nvPr/>
        </p:nvPicPr>
        <p:blipFill>
          <a:blip r:embed="rId3"/>
          <a:stretch>
            <a:fillRect/>
          </a:stretch>
        </p:blipFill>
        <p:spPr>
          <a:xfrm>
            <a:off x="2839954" y="1307592"/>
            <a:ext cx="6527330" cy="4773168"/>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0.png"/>
          <p:cNvPicPr>
            <a:picLocks noChangeAspect="1"/>
          </p:cNvPicPr>
          <p:nvPr/>
        </p:nvPicPr>
        <p:blipFill>
          <a:blip r:embed="rId3"/>
          <a:stretch>
            <a:fillRect/>
          </a:stretch>
        </p:blipFill>
        <p:spPr>
          <a:xfrm>
            <a:off x="2660826" y="1307592"/>
            <a:ext cx="6885586" cy="477316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1.png"/>
          <p:cNvPicPr>
            <a:picLocks noChangeAspect="1"/>
          </p:cNvPicPr>
          <p:nvPr/>
        </p:nvPicPr>
        <p:blipFill>
          <a:blip r:embed="rId3"/>
          <a:stretch>
            <a:fillRect/>
          </a:stretch>
        </p:blipFill>
        <p:spPr>
          <a:xfrm>
            <a:off x="1872359" y="1307592"/>
            <a:ext cx="8462520" cy="4773168"/>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400" b="0">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2.png"/>
          <p:cNvPicPr>
            <a:picLocks noChangeAspect="1"/>
          </p:cNvPicPr>
          <p:nvPr/>
        </p:nvPicPr>
        <p:blipFill>
          <a:blip r:embed="rId3"/>
          <a:stretch>
            <a:fillRect/>
          </a:stretch>
        </p:blipFill>
        <p:spPr>
          <a:xfrm>
            <a:off x="2083107" y="1307592"/>
            <a:ext cx="8041025" cy="4773168"/>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3.png"/>
          <p:cNvPicPr>
            <a:picLocks noChangeAspect="1"/>
          </p:cNvPicPr>
          <p:nvPr/>
        </p:nvPicPr>
        <p:blipFill>
          <a:blip r:embed="rId3"/>
          <a:stretch>
            <a:fillRect/>
          </a:stretch>
        </p:blipFill>
        <p:spPr>
          <a:xfrm>
            <a:off x="2038969" y="1307592"/>
            <a:ext cx="8129301" cy="4773168"/>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57784" y="292608"/>
            <a:ext cx="8823960" cy="566928"/>
          </a:xfrm>
          <a:prstGeom prst="rect">
            <a:avLst/>
          </a:prstGeom>
          <a:noFill/>
        </p:spPr>
        <p:txBody>
          <a:bodyPr wrap="square" lIns="18288" tIns="18288" rIns="18288" bIns="18288" anchor="t">
            <a:spAutoFit/>
          </a:bodyPr>
          <a:lstStyle/>
          <a:p>
            <a:pPr algn="l"/>
            <a:r>
              <a:rPr lang="en-US" sz="2150" b="0">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tIns="18288" rIns="18288" bIns="18288" anchor="t">
            <a:spAutoFit/>
          </a:bodyPr>
          <a:lstStyle/>
          <a:p>
            <a:pPr algn="l"/>
            <a:r>
              <a:rPr lang="en-US" sz="950" b="1">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6291072"/>
            <a:ext cx="914400" cy="201168"/>
          </a:xfrm>
          <a:prstGeom prst="rect">
            <a:avLst/>
          </a:prstGeom>
          <a:noFill/>
        </p:spPr>
        <p:txBody>
          <a:bodyPr wrap="square" lIns="18288" tIns="18288" rIns="18288" bIns="18288" anchor="t">
            <a:spAutoFit/>
          </a:bodyPr>
          <a:lstStyle/>
          <a:p>
            <a:pPr algn="l"/>
            <a:r>
              <a:rPr lang="en-US" sz="950" b="0">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tIns="18288" rIns="18288" bIns="18288" anchor="t">
            <a:spAutoFit/>
          </a:bodyPr>
          <a:lstStyle/>
          <a:p>
            <a:pPr algn="l"/>
            <a:r>
              <a:rPr lang="en-US" sz="850" b="0">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tIns="18288" rIns="18288" bIns="18288" anchor="t">
            <a:spAutoFit/>
          </a:bodyPr>
          <a:lstStyle/>
          <a:p>
            <a:pPr algn="r"/>
            <a:r>
              <a:rPr lang="en-US" sz="850" b="0">
                <a:solidFill>
                  <a:srgbClr val="FFFFFF"/>
                </a:solidFill>
                <a:latin typeface="Arial"/>
              </a:rPr>
              <a:t>19 August 2026</a:t>
            </a:r>
          </a:p>
        </p:txBody>
      </p:sp>
      <p:pic>
        <p:nvPicPr>
          <p:cNvPr id="8" name="Picture 7" descr="T14.png"/>
          <p:cNvPicPr>
            <a:picLocks noChangeAspect="1"/>
          </p:cNvPicPr>
          <p:nvPr/>
        </p:nvPicPr>
        <p:blipFill>
          <a:blip r:embed="rId3"/>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6053</Words>
  <Application>Microsoft Macintosh PowerPoint</Application>
  <PresentationFormat>Breitbild</PresentationFormat>
  <Paragraphs>603</Paragraphs>
  <Slides>37</Slides>
  <Notes>37</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37</vt:i4>
      </vt:variant>
    </vt:vector>
  </HeadingPairs>
  <TitlesOfParts>
    <vt:vector size="42"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subject>Verifiable Decentralized Federated Machine Learning and Inference for AI Agent Systems</dc:subject>
  <dc:creator>Ramon Mehrpoya</dc:creator>
  <cp:keywords>VITA-FL, DFL, TEE, attested inference, transparency log</cp:keywords>
  <cp:lastModifiedBy>TU-Pseudonym 7918998349315269</cp:lastModifiedBy>
  <cp:revision>4</cp:revision>
  <cp:lastPrinted>2021-03-24T16:10:50Z</cp:lastPrinted>
  <dcterms:created xsi:type="dcterms:W3CDTF">2023-04-20T08:54:03Z</dcterms:created>
  <dcterms:modified xsi:type="dcterms:W3CDTF">2026-08-20T07:13:06Z</dcterms:modified>
  <dc:language>en-US</dc:language>
</cp:coreProperties>
</file>