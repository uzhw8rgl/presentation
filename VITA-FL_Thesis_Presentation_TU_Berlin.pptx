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302" r:id="rId54"/>
    <p:sldId id="303" r:id="rId55"/>
    <p:sldId id="304" r:id="rId56"/>
    <p:sldId id="305" r:id="rId57"/>
    <p:sldId id="306" r:id="rId58"/>
    <p:sldId id="307" r:id="rId59"/>
    <p:sldId id="301" r:id="rId53"/>
    <p:sldId id="279" r:id="rId31"/>
    <p:sldId id="300" r:id="rId52"/>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5.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26.xml"/><Relationship Id="rId53" Type="http://schemas.openxmlformats.org/officeDocument/2006/relationships/slide" Target="slides/slide24.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 Existing work already connects lifecycle stages, as shown on the following comparison slide. The thesis studies a concrete attestation-based implementation and its trust assumptions; it does not claim to be the first end-to-end verifiable AI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hospital consortium developing a chest X-ray model together. Each institution contributes experience from its own patient population while keeping the underlying records local. The three hospitals illustrate a wider consortium; they are not the participant count of the prototype evaluation. The hospitals also want shared control over participation and model development, confidence that contributions are processed correctly, and a way to continue if the participant coordinating training becomes unavailable. Later, a physician accesses this custom-trained specialist model through an AI assistant. The value of joint training depends on being able to establish that this model processed the submitted image and produced the reported result. The arrows summarize model development and later use; they do not depict patient-data transfers or an implementation architecture. This is the motivating scenario from Chapter 1, not a claim of clinical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Reading this slide: System coverage distinguishes DFL, inference, agents, and a transparency log. General training proofs do not automatically count as DFL; an execution transcript, provenance database, or model ledger does not automatically count as a transparency log for inference/tool statements. The columns are not an exhaustive capability list. Filled blocks/dots mean implemented or evaluated in the described prototype. Outlines mean discussed, proposed, or framework options. A dash means not described as a mechanism of the checked work, not proof of absence from every related implementation. ZKP includes the zero-knowledge proofs used by each system, including certificate or transcript proofs; it is not limited to ML computation. Proof scope remains specific to each row. Paper names link to primary sources. The representative selection is not a systematic literature review or a security ranking. Quote verification and RTMR3 replay are grouped under remote attestation as two selected checks, not an exhaustive definition of attestation. RTMR3 is specific to the TDX measurement path.</a:t>
            </a:r>
          </a:p>
          <a:p/>
          <a:p>
            <a:r>
              <a:rPr lang="en-US"/>
              <a:t>Lee, Heiss et al., End-to-End Verifiable Decentralized Federated Learning (ICBC 2024), https://arxiv.org/html/2404.12623v1, sections V–VII: Groth16 zkSNARKs with ZoKrates cover registration and per-round signed-data provenance, device binding, and local update computation. A smart contract verifies local updates and performs aggregation. Their device attestation is not TEE remote attestation. End-to-end refers to the learning workflow; downstream inference and agent execution are not described.</a:t>
            </a:r>
          </a:p>
          <a:p/>
          <a:p>
            <a:r>
              <a:rPr lang="en-US"/>
              <a:t>Ebrahimi, Sober, Hoang, Ileri, Sanders and Schulte, Blockchain-Based Federated Learning Utilizing Zero-Knowledge Proofs for Verifiable Training and Aggregation (IEEE Blockchain 2024), pp. 54–63, https://doi.org/10.1109/Blockchain62396.2024.00017. The author's companion implementation, https://github.com/ElmiraEbrahimi/Veriblock-FL, supplies separate ZoKrates zk-SNARK circuits for local training and global aggregation, with Solidity proof verification. Model parameters remain off chain; the ledger holds hashes and global-model IPFS references. FederatedModel.sol, getStakeWinnersAndSelectedAggregatorIndex, and devices/middleware/aggregator_selection.py implement changing off-chain aggregators. Hence DFL and ZKP are filled as implemented. The checked implementation does not describe a served inference/agent lifecycle, a tool/inference-receipt transparency log, TEEs, quote verification or RTMR3 replay. A model ledger is not the receipt transparency log meant by this slide. Both training and aggregation are already verifiable here; VITA-FL's distinction is its TEE/remote-attestation mechanism and its continuation to inference, agent use and receipts. The classification was checked against the public companion implementation; the publisher full text was inaccessible, so no paper section numbers or exact historical code correspondence are asserted.</a:t>
            </a:r>
          </a:p>
          <a:p/>
          <a:p>
            <a:r>
              <a:rPr lang="en-US"/>
              <a:t>Voltran (2024), https://arxiv.org/html/2408.06885v1, sections III-C, IV, VII: Intel SGX aggregation with remote attestation and encrypted channels; enclave-result signatures are checked on chain. A trusted committee provisions signing keys. The focus is confidential distributed aggregation within FL, not later inference or agent use. On-chain result-signature checks are not on-chain RA. The Quote verification cell reads SGX RA because RA is used and evaluated (Appendix D-C), but concrete quote fields, certificate/collateral checks, and verifier implementation are not specified. This is not a claim that Voltran omits quote verification. Its model ledger is not a separate tool/inference-receipt transparency log. No TDX/RTMR3 replay is described.</a:t>
            </a:r>
          </a:p>
          <a:p/>
          <a:p>
            <a:r>
              <a:rPr lang="en-US"/>
              <a:t>Hartmann (2024), Advancing the Efficiency of Verifiable Decentralized Federated Learning, TU Berlin master's thesis: the original implementation is present in the vita-fl Git history at 3362a185929b355b69099f2819b8b42638055957 (Johann Hartmann, 5 October 2024). Worker training and aggregation use TEEs with smart-contract coordination. RISC Zero proves certificate-signature verification in the simulated attestation path, not ML training or aggregation; the filled ZKP marker refers to that certificate proof. In remote_attestation/methods/guest/src/bin/verify_ar.rs, lines 74–142 parse CA/VCEK certificates, verify an RSA-PSS/SHA-384 signature, and commit a Boolean result; the guest does not consume a hardware report or app measurements. remote_attestation/apps/src/bin/publisher.rs, lines 167–174, selects Groth16 proving. The Simulated cell distinguishes this registration design from authenticated production hardware quotes. cloud_setup/terraform/main.tf configures an AMD SEV-SNP VM. No downstream inference/agent/transparency-log path or RTMR3 replay is described in the examined predecessor. The original thesis PDF and a public publication URL were not available locally; the bibliography entry is hartmann2024dfl.</a:t>
            </a:r>
          </a:p>
          <a:p/>
          <a:p>
            <a:r>
              <a:rPr lang="en-US"/>
              <a:t>ZKML (EuroSys 2024), https://ddkang.github.io/papers/2024/zkml-eurosys.pdf, sections 2–4 and 8–9: implemented halo2-based compiler and inference-proof optimizations. Table 2 also lists CNN training as supported; section 4.4 explicitly makes training proofs a non-focus. Thus the single inference stage on this slide does not mean training is impossible. Attested sensors are mentioned as a combinable input source, not a deployed TEE/TDX inference attestation mechanism.</a:t>
            </a:r>
          </a:p>
          <a:p/>
          <a:p>
            <a:r>
              <a:rPr lang="en-US"/>
              <a:t>ZkAudit, Trustless Audits without Revealing Data or Models (ICML 2024), https://proceedings.mlr.press/v235/waiwitlikhit24a.html and https://arxiv.org/html/2404.04500v1, sections 3–6: ZkAudit-T proves training with committed data/weights; ZkAudit-I proves later audit functions using the same bindings, including inference in the implemented audits. This is an implemented training-to-audit lifecycle link, although generic training is not a column in this version of the slide. There is no agent or DFL coordination protocol. The Inference cell reads Audits to distinguish this application from a served native inference API. Published commitments do not themselves establish a transparency log.</a:t>
            </a:r>
          </a:p>
          <a:p/>
          <a:p>
            <a:r>
              <a:rPr lang="en-US"/>
              <a:t>Balan et al., A Framework for Cryptographic Verifiability of End-to-End AI Pipelines (2025), https://arxiv.org/html/2503.22573v1, sections 3–5: conceptual linkage of data, training, evaluation, inference, and unlearning through signatures, commitments, and ZKPs. Section 4.2.2 explicitly discusses decentralized FL approaches, including PTDFL; the outlined DFL cell refers to this discussion, not an own implemented DFL protocol. The slide shows selected parts of that broader lifecycle. This is a framework and tooling analysis, not a new fully implemented pipeline. The outlined ZKP marker denotes the framework's discussion and mapping of existing ZKP approaches. The outlined TEE marker refers only to related verifiable-database techniques discussed in section 5.1; no own remote-attestation or image-measurement verification pipeline is specified. The discussed DECORAIT blockchain metadata registry is not a specified transparency service with verified inclusion receipts in this framework.</a:t>
            </a:r>
          </a:p>
          <a:p/>
          <a:p>
            <a:r>
              <a:rPr lang="en-US"/>
              <a:t>AIR revision 02, Attested Inference Receipt: A COSE/CWT Profile for Confidential AI Inference, https://www.ietf.org/archive/id/draft-tsyrulnikov-rats-attested-inference-receipt-02.html, sections 7.2–7.3 and 14: an Internet-Draft with a demonstration implementation, EphemeralML. Filled cells refer to the reported receipt emission/verification and TEE execution, not to a finalized standard. The Platform RA cell summarizes platform-specific attestation: full single-document AIR provenance is implemented for Nitro; TDX/GCP evidence remains split across boot-time and transport/platform verification paths. Full single-document TDX validation is future work. The profile explicitly specifies TDX/DCAP quote checks, and can carry RTMR3 measurements, but does not specify replay of a dstack application event log. An external transparency log is outside the current profile (section 11.4). No DFL or agent workflow is established by the receipt format.</a:t>
            </a:r>
          </a:p>
          <a:p/>
          <a:p>
            <a:r>
              <a:rPr lang="en-US"/>
              <a:t>VET Your Agent (2025 preprint), https://arxiv.org/html/2512.15892v1, sections 6–10 and Appendix A: framework plus evaluated implementation. TLSNotary/Web Proofs bind API transcripts; VeriTrade combines a Claude API trace with a TEE proxy. A self-hosted Intel TDX notary is evaluated. The filled ZKP marker refers to interactive ZK proofs inside TLSNotary/MPC-TLS for TLS records and plaintext, confirmed in the pinned alpha.12 verifier: https://github.com/tlsnotary/tlsn/blob/v0.1.0-alpha.12/crates/verifier/src/lib.rs#L253. Exported Web Proofs rely on the notary; they do not prove LLM inference arithmetic. SNARK/STARK computation proofs remain framework options. RA is discussed, but concrete quote/certificate/app-policy verification and RTMR3/dstack replay are not specified. This does not mean VET never uses attestation. Locally collected traces are not an append-only transparency log with inclusion proofs; selective-disclosure and freshness limitations remain.</a:t>
            </a:r>
          </a:p>
          <a:p/>
          <a:p>
            <a:r>
              <a:rPr lang="en-US"/>
              <a:t>Sello / Figuera (2026), Notarized Agents: Receiver-Attested Confidential Receipts for AI Agent Actions, https://arxiv.org/html/2606.04193v1, sections 4, 6–7: the receiving service signs owner-encrypted tool receipts and publishes them to a transparency log. The reference implementation and cryptographic microbenchmarks use a local mock log; hosted-log submission latency is not measured first-party. Filled cells describe this implemented receipt lifecycle, not a production deployment or proof of all agent reasoning. Receiver-attested means service signatures, not TEE remote attestation. Suppression before a call reaches the receiver and receiver collusion remain outside the guarantee. The protocol does not by itself verify ML inference arithmetic.</a:t>
            </a:r>
          </a:p>
          <a:p/>
          <a:p>
            <a:r>
              <a:rPr lang="en-US"/>
              <a:t>VITA-FL: native training, aggregation, and inference use TEEs and bound evidence rather than ZK proofs of those ML computations. The evaluated runtime also uses no ZK proof for admission: AutomataDcapTdxV4Attestation.sol rejects verifyAndAttestWithZKProof with ZK_Verification_Not_Supported, and DeviceRegistry.sol calls verifyAndAttestOnChainWithRtmr3EventLog. The ZKP dash concerns this operational prototype, not the thesis's discussion of explored alternatives. Full TDX/DCAP quote-signature, certificate, QE, and TCB verification occurs at admission. The image policy parses the exact app_compose preimage, derives its compose hash and immutable image digest, checks the approved image/base-runtime policy, and replays the ordered RTMR3 event chain against the authenticated quote. RTMR3 alone does not identify an image, and replay alone does not authenticate a quote. This dstack/TDX-specific mechanism is an implementation distinction, not a general security advantage over SGX or ZKPs. See https://docs.phala.com/phala-cloud/attestation/verify-your-application. For each inference the agent verifies signed AIR bindings and RTMR3 consistency, but does not authenticate the quote signature or validate the DCAP certificate/collateral chain: dcap_collateral_verified is false. It relies on prior receiver admission and the registered receipt key. The Agent stage means authenticated tool receipts, deterministic model resolution, and recorded inference evidence, not a proof of all LLM reasoning. The Transparency Log cell refers to receiver-published Sello-style tool receipts and inclusion checks, not the training ledger alone. This part builds on existing work: Sello, https://arxiv.org/abs/2606.04193, and the SCITT architecture, https://www.rfc-editor.org/rfc/rfc9943.html. Local code references: vita-fl/smart_contracts/src/attestation/AutomataDcapTdxV4Attestation.sol and vita-fl/agent/tee_inference_client.py.</a:t>
            </a:r>
          </a:p>
          <a:p/>
          <a:p>
            <a:r>
              <a:rPr lang="en-US"/>
              <a:t>Technical background references: SCITT / RFC 9943, https://www.rfc-editor.org/rfc/rfc9943.html, defines signed statements, registration policy, verifiable data structures, and inclusion receipts. It is a transparency architecture rather than a DFL/agent system. Phala/dstack application verification, https://docs.phala.com/phala-cloud/attestation/verify-your-application, supplies the technical precedent for quote authentication, manifest/digest policy, and RTMR3 replay. VITA-FL applies those mechanisms; it does not introduce RTMR3 image binding.</a:t>
            </a:r>
          </a:p>
          <a:p/>
          <a:p>
            <a:r>
              <a:rPr lang="en-US"/>
              <a:t>Takeaway: lifecycle connections already exist. VITA-FL studies an attestation-based DFL-to-inference integration with agent evidence and concrete image-policy checks. No first-system claim, no exhaustive research-gap proof, and no measured TEE-vs-ZKP performance advantage follow from this comparison. Sources checked 20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Federated learning lets participants train a model together while retaining their records locally. DFL is a decentralized form of FL; the left diagram specifically shows centrally coordinated FL. A global model is the shared starting model of a round. A worker is the computing process at a participant, for example a hospital. It starts from that model, trains on local records, and submits its local parameter set or update. The aggregator collects and checks contributions, combines accepted local models, and publishes the next global model. The arrows on the left represent model exchange, never raw patient records. A permanent central server holds the coordination role; continued progress depends on it or an explicit replacement mechanism. On the right, the same participants A, B, and C appear in three successive rounds. Red identifies the aggregator: first A, then B, then C. The other participants perform local training. The horizontal arrows indicate progression between rounds. This is an illustrative assignment sequence, not a mandatory round-robin schedule. Weighted selection can also choose the same aggregator in consecutive rounds. Each eligible participant can assume the role under VITA-FL's shared contract rules. A stalled aggregator can be replaced through the recovery protocol. Rotation alone does not establish availability: decentralization requires agreement and recovery rules and retains infrastructure dependencies. Other DFL designs use peer-to-peer mixing instead of a single rotating aggregator. In the prototype, the current aggregator does not train during its aggregation round: six participants therefore provide five local models. Contribution checks enforce protocol rules; they do not establish that training data are benign. Sources: thesis Chapter 2, Section 2.1; McMahan et al., AISTATS 2017, https://arxiv.org/abs/1602.05629; Martínez Beltrán et al., IEEE Communications Surveys &amp; Tutorials 2023, https://doi.org/10.1109/COMST.2023.3315746.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Lifecycle overview before the detailed architecture. Workers train locally and send encrypted local updates directly to the current aggregator over authenticated HTTPS. The aggregator combines the updates, stores the encrypted global-model bundle in IPFS, and finalizes its references on blockchain. Workers resolve the finalized reference and load the model from IPFS for the next training round. The Global model segment therefore represents both publication and retrieval. The blockchain also coordinates rounds and records accepted submission commitments; those interactions are abstracted here. Aggregation is an assigned participant role, and selection can choose the same participant in successive rounds.</a:t>
            </a:r>
          </a:p>
          <a:p/>
          <a:p>
            <a:r>
              <a:rPr lang="en-US"/>
              <a:t>A finalized model can also be used for inference. The Published model arrow summarizes the receiver resolving its authoritative blockchain reference and retrieving the corresponding IPFS bundle. The agent invokes the inference service through MCP and receives its result. The receiver publishes the tool receipt to the separate transparency log. Domain evidence binds the model, inference input, and output; log inclusion alone does not verify computation. Admission and retained signing identities underpin execution; this overview does not imply a fresh full DCAP check for every call. No inference-to-training feedback is implied. The circle groups functions, not a shared TEE or trust boundary.</a:t>
            </a:r>
          </a:p>
          <a:p/>
          <a:p>
            <a:r>
              <a:rPr lang="en-US"/>
              <a:t>Prototype references: vita-fl/dfl/node_server/src/server.ts:463-533,672-702,2110-2180,2313-2330; vita-fl/dfl/node_server/src/ipfs.ts:315-346,380-435; vita-fl/smart_contracts/src/core/GMStorage.sol:180-248; vita-fl/smart_contracts/src/core/AggregatorSelection.sol:171-195.</a:t>
            </a:r>
          </a:p>
          <a:p/>
          <a:p>
            <a:r>
              <a:rPr lang="en-US"/>
              <a:t>The Phala remote attestation check below Inference represents appraisal of the receiver's TDX quote through the Phala verifier. The agent consumes the verification result and checks the expected deployment policy. The connector indicates evidence verification, not an additional training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Green denotes model production; purple denotes blockchain and IPFS; blue denotes agent orchestration, inference and evidence logging. The DFL and agent/inference responsibilities remain separate; shared infrastructure is not a third execution responsibility. These boxes are functional groups, not deployment or attestation boundaries.</a:t>
            </a:r>
          </a:p>
          <a:p/>
          <a:p>
            <a:r>
              <a:rPr lang="en-US"/>
              <a:t>Ledger -&gt; Receiver TEE supplies the finalized model reference: CIDs, round and publisher key. IPFS -&gt; Receiver TEE supplies the signed, encrypted model bundle and associated artifacts. The receiver independently resolves, retrieves and verifies them. Purple arrowheads depict incoming information; the receiver initiates retrieval. The ledger does not upload model bytes to IPFS. DFL publication arrows summarize the active aggregator publishing artifacts and their references.</a:t>
            </a:r>
          </a:p>
          <a:p/>
          <a:p>
            <a:r>
              <a:rPr lang="en-US"/>
              <a:t>Local code references: vita-fl/tee_inference/service/model_source.py:218; vita-fl/agent/blockchain_source.py:354,544. The MCP/log chain is the existing slide's compact view of tools and evidence, not a detailed call-sequence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shortened slide ends at provisioning the expected worker image digest in DeviceRegistry on the running blockchain. Later remote-attestation checks are outside the visible scope.</a:t>
            </a:r>
          </a:p>
          <a:p/>
          <a:p>
            <a:r>
              <a:rPr lang="en-US"/>
              <a:t>A worker-code push triggers the configured GitHub Actions publisher. TypeScript is compiled; JavaScript tests cover policy and model/key/round binding. Python tests include tampered data and forged receipts. These tests precede the Docker Buildx build of dfl/Dockerfile and publication to GHCR. Digest denotes the immutable registry image digest, not a Git commit or a local Docker image configuration ID. The deployment job for GitHub environment phala passes the exact repository@sha256:Digest reference and source revision to Terraform. GitHub Actions executes the build and deployment job; GitHub Deployments records the deployment. Auto-deploy requires the configured branch and PHALA_AUTO_DEPLOY=true.</a:t>
            </a:r>
          </a:p>
          <a:p/>
          <a:p>
            <a:r>
              <a:rPr lang="en-US"/>
              <a:t>Terraform passes var.worker_image into the contracts Compose template as EXPECTED_WORKER_IMAGE. The variable contains the complete pinned worker image reference. It does not replace the contracts container image, and Terraform does not send image bytes through this environment variable. Phala/dstack runs the contracts container using its own separately configured image.</a:t>
            </a:r>
          </a:p>
          <a:p/>
          <a:p>
            <a:r>
              <a:rPr lang="en-US"/>
              <a:t>In the prototype, smart-contracts waits for healthy Anvil and uses RPC_URL=http://anvil:8545. starter_docker.sh deploys the contracts, obtains DEVICE_REGISTRY_ADDRESS, extracts the 64-hex-digit image digest from EXPECTED_WORKER_IMAGE, validates it, and sends an owner-signed transaction calling setExpectedWorkerImageDigest(bytes32). DeviceRegistry stores it in bytes32 public expectedWorkerImageDigest. The setter is owner-only and cannot change the policy after the run roster is committed. The diagram therefore depicts bootstrap policy provisioning, not arbitrary updates to a committed registry.</a:t>
            </a:r>
          </a:p>
          <a:p/>
          <a:p>
            <a:r>
              <a:rPr lang="en-US"/>
              <a:t>Sources checked 20 September 2026:</a:t>
            </a:r>
          </a:p>
          <a:p>
            <a:r>
              <a:rPr lang="en-US"/>
              <a:t>vita-fl/.github/workflows/publish-dfl-worker.yml:50-83,95-107,119-134</a:t>
            </a:r>
          </a:p>
          <a:p>
            <a:r>
              <a:rPr lang="en-US"/>
              <a:t>vita-fl/.github/workflows/deploy-phala.yml:26-86</a:t>
            </a:r>
          </a:p>
          <a:p>
            <a:r>
              <a:rPr lang="en-US"/>
              <a:t>vita-fl/phala/main.tf:166</a:t>
            </a:r>
          </a:p>
          <a:p>
            <a:r>
              <a:rPr lang="en-US"/>
              <a:t>vita-fl/phala/dstack-compose.contracts.phala.tftpl:64-75,102</a:t>
            </a:r>
          </a:p>
          <a:p>
            <a:r>
              <a:rPr lang="en-US"/>
              <a:t>vita-fl/smart_contracts/starter_docker.sh:229-237,598-602,1150-1163</a:t>
            </a:r>
          </a:p>
          <a:p>
            <a:r>
              <a:rPr lang="en-US"/>
              <a:t>vita-fl/smart_contracts/src/core/DeviceRegistry.sol:41,93-97</a:t>
            </a:r>
          </a:p>
          <a:p>
            <a:r>
              <a:rPr lang="en-US"/>
              <a:t>Only source inspection and slide generation were performed; no deployment or on-chain transaction was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previous slide provisions the expected worker-image Digest in DeviceRegistry. This slide explains how the independently supplied live evidence is checked against that policy.</a:t>
            </a:r>
          </a:p>
          <a:p/>
          <a:p>
            <a:r>
              <a:rPr lang="en-US"/>
              <a:t>The worker obtains exact measured app_compose bytes, an ordered RTMR3 event log and a TDX Quote V4 from dstack. It performs preliminary consistency checks and submits all three in a single DeviceRegistry.registerDeviceWithAttestedAppCompose transaction, signed by its TEE action authority. The quote is supplied alongside the log; replay does not create the quote. The arrows are evidence dependencies, not an instruction to execute the Solidity functions in this visual order.</a:t>
            </a:r>
          </a:p>
          <a:p/>
          <a:p>
            <a:r>
              <a:rPr lang="en-US"/>
              <a:t>Everything inside the purple boundary is checked on chain. DeviceRegistry derives the pinned image Digest, SHA-256 of the exact app_compose bytes, and the normalized worker-policy hash. It compares the Digest with expectedWorkerImageDigest and requires an allowed worker policy. The state field contains the 32-byte Registry image digest extracted from the CI-provisioned immutable reference. The event log contains a compose-hash event, not the image Digest itself.</a:t>
            </a:r>
          </a:p>
          <a:p/>
          <a:p>
            <a:r>
              <a:rPr lang="en-US"/>
              <a:t>DeviceRegistry calls AutomataDcapTdxV4Attestation, the DCAP verifier. It authenticates the TDX quote through the Intel-rooted PCK certificate chain and quote/QE signatures, collateral and TCB appraisal, and checks the expected MRTD and RTMR0–2 base-runtime measurements. The verifier requires exactly one compose-hash event matching SHA-256 of the exact app_compose preimage. It replays the ordered RTMR3 runtime events with SHA-384 from a 48-byte all-zero initial value, including event-type and event-digest checks, and compares the result with the RTMR3 authenticated in the quote body. App-compose hashing and RTMR3 extension use different hash functions.</a:t>
            </a:r>
          </a:p>
          <a:p/>
          <a:p>
            <a:r>
              <a:rPr lang="en-US"/>
              <a:t>DeviceRegistry also verifies enrollment authorization and REPORTDATA binding to the registration fields, including participant, action authority, RSA public key, receipt key where applicable, workload, endpoints and fresh nonce. Successful admission therefore requires the conjunction of quote authenticity, trusted base runtime, allowed image and workload policy, event-log binding/replay, and enrollment/key binding. The source image policy and trusted runtime remain trust assumptions; an authenticated image does not itself prove data quality or bug-free training.</a:t>
            </a:r>
          </a:p>
          <a:p/>
          <a:p>
            <a:r>
              <a:rPr lang="en-US"/>
              <a:t>Source map, local prototype checked 20 September 2026:</a:t>
            </a:r>
          </a:p>
          <a:p>
            <a:r>
              <a:rPr lang="en-US"/>
              <a:t>vita-fl/dfl/node_server/src/server.ts:977–1001,1844–1866</a:t>
            </a:r>
          </a:p>
          <a:p>
            <a:r>
              <a:rPr lang="en-US"/>
              <a:t>vita-fl/dfl/node_server/src/bc_client.ts:1146,1226</a:t>
            </a:r>
          </a:p>
          <a:p>
            <a:r>
              <a:rPr lang="en-US"/>
              <a:t>vita-fl/smart_contracts/src/core/DeviceRegistry.sol:308–344,428–434,487–503</a:t>
            </a:r>
          </a:p>
          <a:p>
            <a:r>
              <a:rPr lang="en-US"/>
              <a:t>vita-fl/smart_contracts/src/attestation/AppComposeImage.sol:831</a:t>
            </a:r>
          </a:p>
          <a:p>
            <a:r>
              <a:rPr lang="en-US"/>
              <a:t>vita-fl/smart_contracts/src/attestation/AutomataDcapTdxV4Attestation.sol:151–171,310,458–506</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Actor map: a worker holds separate keys for blockchain actions, model exchange, tool receipts, and inference evidence. The AES sealing key is internal custody of a randomly generated RSA key. Model payload bytes use separate symmetric encryption keys.</a:t>
            </a:r>
          </a:p>
          <a:p/>
          <a:p>
            <a:r>
              <a:rPr lang="en-US"/>
              <a:t>This slide expands the former key-derivation half into three distinct operational purposes. dstack KMS authorization and VITA-FL on-chain worker admission are separate checks. DeviceRegistry does not release the KMS secrets; the visual sequence of the two slides is explanatory, not a boot-order dependency.</a:t>
            </a:r>
          </a:p>
          <a:p/>
          <a:p>
            <a:r>
              <a:rPr lang="en-US"/>
              <a:t>The attested dstack KMS protects root material and authorizes the application under its workload policy. Within the guest, the application calls GetKey through /var/run/dstack.sock. The application root and requested derivation path scope the returned material. VITA-FL then applies purpose-specific derivation and context. Same image alone is insufficient to guarantee the same key: the application root/KMS context, path and additional derivation context must also remain stable. The optional GetKey purpose concerns signature-chain metadata; distinct paths separate key bytes. Returned material is available in workload memory and must be protected there.</a:t>
            </a:r>
          </a:p>
          <a:p/>
          <a:p>
            <a:r>
              <a:rPr lang="en-US"/>
              <a:t>ACTION SIGNING: vita-fl/participant-ethereum-action/v1 returns material used with HMAC-SHA-256 and participant, chain ID and DeviceRegistry address context to derive a valid secp256k1 scalar. The action authority signs authorized protocol transactions, is re-derived for signing, and is checked against the startup address. The action signer rejects value transfers.</a:t>
            </a:r>
          </a:p>
          <a:p/>
          <a:p>
            <a:r>
              <a:rPr lang="en-US"/>
              <a:t>MODEL-KEY CUSTODY: vita-fl/participant-rsa-wrap/v1 returns material from which HKDF-SHA-256 derives an AES-256-GCM wrapping key. The participant RSA-3072 key is generated randomly when sealed state does not exist; it is not deterministically derived from dstack. The AES key seals the PKCS#8 private key with participant identity as associated data. Existing sealed state is unsealed on restart. Stable RSA identity requires retaining that sealed state; re-deriving the wrapping key alone cannot recreate a lost random RSA key. The RSA key signs/decrypts model artifacts and allows the inference worker to decrypt the published model bundle. Persistent storage contains sealed state, while working PEM files reside in /run/vita-fl tmpfs.</a:t>
            </a:r>
          </a:p>
          <a:p/>
          <a:p>
            <a:r>
              <a:rPr lang="en-US"/>
              <a:t>RECEIPT SIGNING: The current Sello receiver uses vita-fl/sello/tee-inference/v1, with HMAC-SHA-256 and participant/chain/registry/service context producing an Ed25519 seed. The Python receiver independently derives the same signing identity. AIR evidence uses a separate master-thesis/air-v1 path and Ed25519 key. The two protocols do not share a single receipt key. Their detailed paths are left in notes so the slide can concentrate on the shared key-derivation principle.</a:t>
            </a:r>
          </a:p>
          <a:p/>
          <a:p>
            <a:r>
              <a:rPr lang="en-US"/>
              <a:t>The action authority, RSA public key and inference worker's Sello receipt public key are bound into quote REPORTDATA during DeviceRegistry enrollment, connecting these operational identities to the verified workload on the preceding slide. AIR binds its own receipt public key and manifest/request context in separate inference evidence. Private key bytes are not written into the registry.</a:t>
            </a:r>
          </a:p>
          <a:p/>
          <a:p>
            <a:r>
              <a:rPr lang="en-US"/>
              <a:t>Source map, local prototype checked 20 September 2026:</a:t>
            </a:r>
          </a:p>
          <a:p>
            <a:r>
              <a:rPr lang="en-US"/>
              <a:t>vita-fl/dfl/node_server/src/action_key.ts:10–11,65–101,185,217</a:t>
            </a:r>
          </a:p>
          <a:p>
            <a:r>
              <a:rPr lang="en-US"/>
              <a:t>vita-fl/dfl/node_server/src/participant_key.ts:14,81,164–178,247–279</a:t>
            </a:r>
          </a:p>
          <a:p>
            <a:r>
              <a:rPr lang="en-US"/>
              <a:t>vita-fl/dfl/node_server/src/sello_key.ts:5,61,92</a:t>
            </a:r>
          </a:p>
          <a:p>
            <a:r>
              <a:rPr lang="en-US"/>
              <a:t>vita-fl/agent_receipts/dstack_key.py:32,91</a:t>
            </a:r>
          </a:p>
          <a:p>
            <a:r>
              <a:rPr lang="en-US"/>
              <a:t>vita-fl/tee_inference/service/attestation.py:56–71</a:t>
            </a:r>
          </a:p>
          <a:p>
            <a:r>
              <a:rPr lang="en-US"/>
              <a:t>vita-fl/dfl/node_server/src/server.ts:1834–1866,2893–2915</a:t>
            </a:r>
          </a:p>
          <a:p>
            <a:r>
              <a:rPr lang="en-US"/>
              <a:t>vita-fl/smart_contracts/src/core/DeviceRegistry.sol:342–344</a:t>
            </a:r>
          </a:p>
          <a:p>
            <a:r>
              <a:rPr lang="en-US"/>
              <a:t>vita-fl/phala/README.md:460,477–484</a:t>
            </a:r>
          </a:p>
          <a:p/>
          <a:p/>
          <a:p>
            <a:r>
              <a:rPr lang="en-US"/>
              <a:t>Concrete uses reviewed for the alternatives: the secp256k1 action key signs protocol transactions, local-update commitments and aggregation statements. The random RSA-3072 key signs model packages and unwraps the symmetric encryption keys used for model transport. The derived AES-256-GCM sealing key protects RSA private-key state on disk; it is distinct from the fresh symmetric keys used to encrypt model bytes. Sello uses Ed25519 to sign receiver-created tool-action receipts submitted to the transparency log; AIR uses a separate Ed25519 key to sign inference evidence verified by the agent. The log proves recording; it does not independently prove computation. Public action, RSA and Sello identities are enrollment-bound; AIR has a separate inference-quote binding.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follows the participating actors. Worker packages go directly to the aggregator, commitments and closure are on chain, computation stays in the TEE, and IPFS holds the encrypted publication before finalization.</a:t>
            </a:r>
          </a:p>
          <a:p/>
          <a:p>
            <a:r>
              <a:rPr lang="en-US"/>
              <a:t>These diagrams show a regular training round, not round-0 bootstrap. The aggregation rule is equal-weight FedAvg, with no validation-loss gate in the active policy.</a:t>
            </a:r>
          </a:p>
          <a:p/>
          <a:p>
            <a:r>
              <a:rPr lang="en-US"/>
              <a:t>Workers send encrypted, signed local-model packages directly to the current aggregator over authenticated HTTPS. These local updates are not stored in IPFS. The receiver verifies package signatures and expected context, decrypts the package, compares its plaintext model hash with the worker commitment, and records the worker's action-key-signed commitment on chain through GMStorage. One logical worker has at most one consistent accepted submission.</a:t>
            </a:r>
          </a:p>
          <a:p/>
          <a:p>
            <a:r>
              <a:rPr lang="en-US"/>
              <a:t>The selected aggregator closes the input window only when the policy-required minimum is reached. AggregationPolicy freezes an ordered input fingerprint and explicit accepted count. inputRoot is a rolling Keccak accumulator over accepted worker/commitment pairs in admission order, not a Merkle root. Closing disallows further submissions. Deadline expiry does not automatically close the round or bypass the minimum. The visible phrase frozen input set means this fingerprint plus count and per-worker records; it is not an on-chain copy of the model tensors.</a:t>
            </a:r>
          </a:p>
          <a:p/>
          <a:p>
            <a:r>
              <a:rPr lang="en-US"/>
              <a:t>Within the TEE, server.ts stages authorized model files whose SHA-256 hashes match the corresponding on-chain records and rechecks the hashes after copying. The local file count must exactly equal the immutable accepted count. Python then sorts unique worker-address filenames canonically, loads all staged models, checks the count, and computes the arithmetic mean of every corresponding state-dict tensor with equal weight per accepted model. This ordering is distinct from admission order in the rolling input commitment. Invalid or incomplete inputs block aggregation. Deterministic execution here refers to the pinned implementation and ordered inputs, not universal bitwise reproducibility across arbitrary hardware or software environments.</a:t>
            </a:r>
          </a:p>
          <a:p/>
          <a:p>
            <a:r>
              <a:rPr lang="en-US"/>
              <a:t>The resulting model is RSA-signed, encrypted in an AES-GCM model bundle, and published to IPFS together with its encrypted-bundle signature and per-recipient key bundle. The aggregator obtains all three CIDs before creating the aggregation statement. The action key signs an EIP-712 statement binding round, aggregator, input fingerprint/count, algorithm/policy, output model and bundle hashes, publication hash over the three CIDs, and nonce. The signature domain binds chain ID and GMStorage. This action signature is separate from the RSA model-package signature.</a:t>
            </a:r>
          </a:p>
          <a:p/>
          <a:p>
            <a:r>
              <a:rPr lang="en-US"/>
              <a:t>GMStorage.finalizeRoundWithAggregation validates current aggregator authorization, closed inputs, nonempty references and hashes, and unpublished round state. AggregationPolicy reconstructs the statement using stored frozen inputs and policy, then verifies the registered action-key signature. Solidity does not rerun FedAvg; correct computation is trusted to the previously attested application holding that key. The single finalization transaction records model references/evidence, marks the round complete, updates counters and advances the round. IPFS publication happened earlier and is not atomic with the blockchain transaction. Next-aggregator selection is a subsequent call, not part of this finalization transaction.</a:t>
            </a:r>
          </a:p>
          <a:p/>
          <a:p>
            <a:r>
              <a:rPr lang="en-US"/>
              <a:t>Source map, checked against local prototype on 20 September 2026:</a:t>
            </a:r>
          </a:p>
          <a:p>
            <a:r>
              <a:rPr lang="en-US"/>
              <a:t>vita-fl/dfl/node_server/src/server.ts:625–702,1310–1365,1930–2004,2229–2330,2786–2828</a:t>
            </a:r>
          </a:p>
          <a:p>
            <a:r>
              <a:rPr lang="en-US"/>
              <a:t>vita-fl/dfl/neural_network/cli.py:1248–1320</a:t>
            </a:r>
          </a:p>
          <a:p>
            <a:r>
              <a:rPr lang="en-US"/>
              <a:t>vita-fl/dfl/node_server/src/ipfs.ts:300–367</a:t>
            </a:r>
          </a:p>
          <a:p>
            <a:r>
              <a:rPr lang="en-US"/>
              <a:t>vita-fl/dfl/node_server/src/bc_client.ts:542–650</a:t>
            </a:r>
          </a:p>
          <a:p>
            <a:r>
              <a:rPr lang="en-US"/>
              <a:t>vita-fl/smart_contracts/src/core/GMStorage.sol:180–248,294–373</a:t>
            </a:r>
          </a:p>
          <a:p>
            <a:r>
              <a:rPr lang="en-US"/>
              <a:t>vita-fl/smart_contracts/src/core/AggregationPolicy.sol:16,203–215,260–305</a:t>
            </a:r>
          </a:p>
          <a:p>
            <a:r>
              <a:rPr lang="en-US"/>
              <a:t>vita-fl/smart_contracts/src/core/AggregatorSelection.sol:169–195</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AND AIR — TASKS AND GUARANTEES</a:t>
            </a:r>
          </a:p>
          <a:p/>
          <a:p>
            <a:r>
              <a:rPr lang="en-US"/>
              <a:t>SOURCE: Juan Figuera, Notarized Agents: Receiver-Attested Confidential Receipts for AI Agent Actions (2026), arXiv:2606.04193v1. https://arxiv.org/abs/2606.04193</a:t>
            </a:r>
          </a:p>
          <a:p>
            <a:r>
              <a:rPr lang="en-US"/>
              <a:t>The paper moves receipt production to the receiving service, encrypts receipt contents for an independent owner, and combines witnessed logging with owner discovery by token reference.</a:t>
            </a:r>
          </a:p>
          <a:p/>
          <a:p>
            <a:r>
              <a:rPr lang="en-US"/>
              <a:t>CURRENT VITA-FL IMPLEMENTATION (23 September 2026): The three fixed operations are model-bundle fetch, ChestMNIST image selection, and inference. The receiver hashes the exact canonical tool input and raw response, HPKE-encrypts the receipt body, and signs its COSE_Sign1 envelope with a dedicated Ed25519 key. The receiver publishes to SCITT before releasing a successful response. The agent verifies the signature, decrypts the receipt, checks byte commitments and verifies the SCITT publication bundle. A log failure yields HTTP 503; already performed computation is not rolled back. The Sello inference input is a job_id object, not the image pixels. Pixel-level evidence is in the separately published AIR bundle.</a:t>
            </a:r>
          </a:p>
          <a:p/>
          <a:p>
            <a:r>
              <a:rPr lang="en-US"/>
              <a:t>VITA-FL ADDITIONS: dstack-derived receiver key, bound at DCAP admission to Worker 0 and its endpoint in DeviceRegistry; mandatory mTLS; short-lived JWS with audience, action scopes, certificate thumbprint and matching subject. This is transport identity, not attestation of agent code. A random jti is not a one-use store and the token is not bound to the request Digest.</a:t>
            </a:r>
          </a:p>
          <a:p/>
          <a:p>
            <a:r>
              <a:rPr lang="en-US"/>
              <a:t>DEVIATIONS / LIMITS: SCITT/CCF runs as one virtual node with no witness cosigning or independent log-key pin. Retrieval follows a returned publication URL; there is no owner discovery service indexed by token reference. Owner HPKE private key and token-issuer signing seed are configured in the agent runtime: the independent-owner threat boundary is therefore not preserved against compromise of that runtime. Domain evidence remains a separate layer. These slides describe the local implementation, not a newly deployed or evaluated run.</a:t>
            </a:r>
          </a:p>
          <a:p/>
          <a:p>
            <a:r>
              <a:rPr lang="en-US"/>
              <a:t>CODE: vita-fl/agent_receipts/sello_v1.py; agent_receipts/environment.py; agent_receipts/receiver_log.py; agent_receipts/scitt.py; agent_receipts/dstack_key.py; agent/sello_client.py; tee_inference/service/app.py; transport_security/peer.py; phala/dstack-compose.contracts.phala.tftpl.</a:t>
            </a:r>
          </a:p>
          <a:p/>
          <a:p>
            <a:r>
              <a:rPr lang="en-US"/>
              <a:t>SOURCE: B. Tsyrulnikov, Attested Inference Receipt (AIR): A COSE/CWT Profile for Confidential AI Inference, Internet-Draft 02, 5 July 2026. https://www.ietf.org/archive/id/draft-tsyrulnikov-rats-attested-inference-receipt-02.html</a:t>
            </a:r>
          </a:p>
          <a:p>
            <a:r>
              <a:rPr lang="en-US"/>
              <a:t>This is a work-in-progress draft, not a peer-reviewed paper or RFC. It defines signed single-inference evidence and distinguishes receipt validation from platform attestation appraisal.</a:t>
            </a:r>
          </a:p>
          <a:p/>
          <a:p>
            <a:r>
              <a:rPr lang="en-US"/>
              <a:t>CURRENT VITA-FL IMPLEMENTATION (23 September 2026): Native ChestMNIST inference uses deterministic CBOR request, response and model-manifest bytes. A dedicated dstack-derived Ed25519 key signs the AIR-style COSE/CWT receipt. The model Digest is the manifest Digest; that manifest binds the separately available DFL model artifact. The receipt contains commitments, not the original model weights or pixels. The returned domain bundle additionally contains exact numeric request/response bytes, manifest, receipt/key, quote, REPORTDATA, ordered event log and measured app_compose. The agent verifies the bundle and separately publishes it to SCITT. This published bundle contains the input pixels in plaintext; receipt hashing does not make this bundle confidential.</a:t>
            </a:r>
          </a:p>
          <a:p/>
          <a:p>
            <a:r>
              <a:rPr lang="en-US"/>
              <a:t>KEY / WORKLOAD BINDING: The 64-byte TDX REPORTDATA contains a domain-separated hash of the AIR public key and model-manifest Digest, followed by the request Digest. A fresh quote is requested per inference; its Digest is included in the AIR receipt. The verifier checks the AIR signature, request/response/manifest/nonce bindings, REPORTDATA, ordered SHA-384 RTMR3 replay, measured Compose, expected worker-image Digest and deployment policy. This is domain evidence for the numeric DFL inference, not evidence of the agent's LLM prompt or Ollama reasoning.</a:t>
            </a:r>
          </a:p>
          <a:p/>
          <a:p>
            <a:r>
              <a:rPr lang="en-US"/>
              <a:t>DEVIATIONS / LIMITS: The per-call verifier explicitly returns dcap_collateral_verified=False. It does not authenticate the individual quote's Intel signature/certificate chain, TCB or revocation collateral; it relies on separately admitted Worker 0 and its registry-bound Sello receiver identity. It also does not reconcile all signed measurement-map values with the quote registers. The REPORTDATA layout is VITA-FL-specific; it differs from revision 02's illustrated TDX key-binding construction. The nonce is generated by the receiver, not the verifier, and there is no seen-cti store; the 300-second issue-time policy (30-second skew) gives recentness, not full replay protection. Describe the profile as AIR-style. Signature and attestation do not establish model accuracy or prove the forward-pass arithmetic independently of trusted execution.</a:t>
            </a:r>
          </a:p>
          <a:p/>
          <a:p>
            <a:r>
              <a:rPr lang="en-US"/>
              <a:t>CODE: vita-fl/tee_inference/air/v1.py; tee_inference/service/attestation.py; tee_inference/service/jobs.py; tee_inference/protocol/v1.py; agent/tee_inference_client.py; agent/scitt_client.py.</a:t>
            </a:r>
          </a:p>
          <a:p/>
          <a:p>
            <a:r>
              <a:rPr lang="en-US"/>
              <a:t>USER REQUEST: Explain together, on one slide, the implemented responsibilities and guarantees of Sello and AIR. This is the current prototype, not the proposed RA-TLS + Phala API extension.</a:t>
            </a:r>
          </a:p>
          <a:p/>
          <a:p>
            <a:r>
              <a:rPr lang="en-US"/>
              <a:t>EXACT TASKS AND ENFORCED CHECKS</a:t>
            </a:r>
          </a:p>
          <a:p>
            <a:r>
              <a:rPr lang="en-US"/>
              <a:t>AIR data integrity: Ed25519 signature and SHA-256 commitments to the exact deterministic-CBOR model manifest, complete numeric inference request, response and quote. Substitution is detected relative to the authenticated signing identity. The manifest commits to model artifacts; model weights themselves are not placed inside the receipt.</a:t>
            </a:r>
          </a:p>
          <a:p>
            <a:r>
              <a:rPr lang="en-US"/>
              <a:t>AIR quote binding: REPORTDATA = SHA256("MasterThesis.AIR.key.v1" || AIR_public_key || manifest_hash) || request_hash. The response is bound by the AIR signature, not directly by the existing REPORTDATA. The receipt also hashes the quote.</a:t>
            </a:r>
          </a:p>
          <a:p>
            <a:r>
              <a:rPr lang="en-US"/>
              <a:t>AIR configuration: RTMR3 is replayed from the ordered event log. Compose hash, expected image digest and configured Chain-ID, GMStorage, DeviceRegistry and RPC endpoint are compared. This is quote-field consistency and deployment policy checking; per-inference Intel quote cryptography remains unverified.</a:t>
            </a:r>
          </a:p>
          <a:p>
            <a:r>
              <a:rPr lang="en-US"/>
              <a:t>Sello authorization: mandatory PKI mTLS plus signed, short-lived token; agent subject, receiver origin/audience, allowed action scope, certificate thumbprint and expiration must match. Jobs belong to the authenticated subject. This transport is not RA-TLS.</a:t>
            </a:r>
          </a:p>
          <a:p>
            <a:r>
              <a:rPr lang="en-US"/>
              <a:t>Sello response evidence: admitted receiver's Ed25519 signature binds action, exact logical tool input hash, exact output hash, token reference and result status. Agent compares them to the actual invocation. For run inference, tool input is the canonical job_id object, while output is the complete AIR evidence bundle. It is not evidence about the LLM's reasoning or original chat prompt.</a:t>
            </a:r>
          </a:p>
          <a:p>
            <a:r>
              <a:rPr lang="en-US"/>
              <a:t>Sello confidentiality: HPKE encrypts the receipt body for the owner. Signature covers the encrypted receipt; public envelope metadata remain visible. The owner private key and token issuer seed are currently in the agent runtime.</a:t>
            </a:r>
          </a:p>
          <a:p>
            <a:r>
              <a:rPr lang="en-US"/>
              <a:t>Publication: receiver publishes Sello before releasing a successful response; agent verifies Sello and its SCITT receipt, checks AIR and separately registers the AIR bundle. No successful verified tool result is released on publication failure. Computation precedes publication and is not rolled back when logging fails.</a:t>
            </a:r>
          </a:p>
          <a:p/>
          <a:p>
            <a:r>
              <a:rPr lang="en-US"/>
              <a:t>SCOPE OF GUARANTEES</a:t>
            </a:r>
          </a:p>
          <a:p>
            <a:r>
              <a:rPr lang="en-US"/>
              <a:t>Current AIR verifier reports dcap_collateral_verified=False. Prior on-chain admission and registry-bound receiver identity remain trust inputs. It does not reconcile every signed measurement-map entry with the quote. AIR nonce is receiver-generated, and neither AIR nor Sello provides an exactly-once execution guarantee.</a:t>
            </a:r>
          </a:p>
          <a:p>
            <a:r>
              <a:rPr lang="en-US"/>
              <a:t>The separate AIR bundle contains unencrypted input and output bytes. HPKE privacy applies only to the Sello receipt. SCITT is a single CCF Virtual Mode node without independent witnesses or a pinned log key; development TLS disables server certificate verification and the Phala log uses tmpfs. Registration proves inclusion against the obtained service keys, not permanent availability or a globally unique history. No medical accuracy or independent arithmetic proof is claimed.</a:t>
            </a:r>
          </a:p>
          <a:p/>
          <a:p>
            <a:r>
              <a:rPr lang="en-US"/>
              <a:t>LAYOUT: All diagrams are native, editable PowerPoint shapes. Approved comparison integrated as Page 20 of the main presentation. Colour role: blue = Sello/tool interaction; green = AIR/numeric DFL inference; purple = shared logging.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It executed the current deterministic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The run recorded no aborted attempt or selection-gap recovery. The 24 model evaluations span 689.22 seconds, or 29.97 seconds between evaluations on average. The final round-25 model was then consumed through the measured TEE inference path in 2.839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in the observability export accounts for all six registrations. The 329 unique transactions and 616,141,147 gas quantify the simulated Anvil EVM protocol execution, including 472,240,960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0.414148 to its minimum of 0.329733 at global round 24 and ends at 0.332544. Macro AUROC evaluates per-label ranking and weights every label equally; 0.5 is chance and 1 is ideal. It rises from 0.655573 to 0.720301 at round 13 and ends at 0.711352, providing non-random ranking evidence. Macro F1 is the per-label harmonic mean of precision and recall; it reaches 0.195377 at global round 8 and ends at 0.177471. Label-wise accuracy starts at 88.6936 percent and ends at 85.8592 percent. Exact match requires all fourteen binary labels of a sample to be correct simultaneously; it peaks at 32.7509 percent and ends at 26.0242 percent. Because only 5.2569 percent of label positions are positive, both accuracy curves are dominated by negatives and must be read with the all-negative baselines on the next slide. Every point belongs to the same current equal-weight FedAvg model lineage.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model has lower label accuracy, 85.8592 percent, and lower exact match, 26.0242 percent, because positive class weighting deliberately makes positive predictions instead of choosing the trivial all-negative shortcut. Its macro AUROC of 0.711352 demonstrates non-random per-label ranking. Its macro F1 of 0.177471 and micro F1 of 0.262582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FedAvg rounds, the final model reached macro AUROC 0.711 and macro F1 0.177, and Worker 0 consumed that model through the measured inference path. The modest F1 reflects rare ChestMNIST positives, one fixed 0.5 threshold, two local epochs, and the compact CNN.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 shows nested boundaries: the Worker 0 TEE contains one combined dfl-worker container, two service roles and their internal key material. The agent invokes inference and receives results/evidence through the API.</a:t>
            </a:r>
          </a:p>
          <a:p/>
          <a:p>
            <a:r>
              <a:rPr lang="en-US"/>
              <a:t>The active Phala deployment uses exactly one dfl-worker service and one immutable image reference per worker CVM. That image packages the Node DFL service, Python training code, native tee_inference code and agent_receipts. Worker 0 starts training services and the inference receiver as processes in the same container. Other workers contain the same code but do not start inference. This is not a pair of independent container images.</a:t>
            </a:r>
          </a:p>
          <a:p/>
          <a:p>
            <a:r>
              <a:rPr lang="en-US"/>
              <a:t>Inference can load encrypted model publications using the existing participant RSA private key inside the worker CVM. Node owns RSA initialization: it obtains a dstack-derived wrapping key, creates or unseals the random RSA key, and materializes temporary PEM files in /run/vita-fl. Inference uses the same runtime RSA file. RSA unwraps model-transport symmetric keys; it is not the receipt-signing key. Sello and AIR use separate Ed25519 signing keys. Paths/context separate cryptographic purposes but are not an isolation mechanism between processes with access to the same dstack socket. No private-key export to the external agent is part of the intended inference interface. The external agent receives results and signed evidence, and can request/use public verification material.</a:t>
            </a:r>
          </a:p>
          <a:p/>
          <a:p>
            <a:r>
              <a:rPr lang="en-US"/>
              <a:t>The joint OCI image Digest covers both training and inference code. The on-chain verifier derives the image Digest and role-policy hash from the measured app_compose, binds the Compose hash into the event log, replays RTMR3, and compares it with the certificate-verified TDX quote. Image and role-policy checks authorize participation. The parser requires one worker service and one image. Training-only and combined-inference policies are separately allowed; each CVM has its own Compose/event log/quote and potentially different final RTMR3.</a:t>
            </a:r>
          </a:p>
          <a:p/>
          <a:p>
            <a:r>
              <a:rPr lang="en-US"/>
              <a:t>SECURITY SCOPE: these diagrams show intended key custody under the approved application. On-chain admission is distinct from Phala KMS key-release authorization. Startup loads keys before entering the registration state machine. The repository does not independently bind managed-KMS release to DeviceRegistry image/role allowlists. If a malicious upgrade of the same app is authorized by the KMS under the same key root, refusing that version's on-chain registration alone cannot prevent it from retrieving keys. Actual deployed KMS/upgrade authorization was not inspected. Trusted image execution and KMS/upgrade policy are necessary assumptions; the TEE does not isolate approved processes from one another. Do not present these diagrams as unconditional protection against malicious same-app upgrades.</a:t>
            </a:r>
          </a:p>
          <a:p/>
          <a:p>
            <a:r>
              <a:rPr lang="en-US"/>
              <a:t>PER-INFERENCE VERIFICATION: the agent checks AIR signatures, context, report-data binding, replayed RTMR3, measured Compose and its expected image Digest. Terraform derives this expected inference Digest from worker_image. The per-call Python verifier reports dcap_collateral_verified=False; do not describe it as an independent complete DCAP validation for every request. Receiver admission and registry-bound identity provide additional trust context.</a:t>
            </a:r>
          </a:p>
          <a:p/>
          <a:p>
            <a:r>
              <a:rPr lang="en-US"/>
              <a:t>TOOL TRANSPORT: MCP Tool request labels the conceptual tool call. In the deployed agent, LangChain wrappers invoke imported functions from mcp_server.py; the remote inference request uses HTTP REST. This diagram does not claim a public MCP transport server on the worker.</a:t>
            </a:r>
          </a:p>
          <a:p/>
          <a:p>
            <a:r>
              <a:rPr lang="en-US"/>
              <a:t>Source map, checked against local prototype on 20 September 2026:</a:t>
            </a:r>
          </a:p>
          <a:p>
            <a:r>
              <a:rPr lang="en-US"/>
              <a:t>vita-fl/phala/dstack-compose.worker.phala.tftpl:1–18,34–37,87–104</a:t>
            </a:r>
          </a:p>
          <a:p>
            <a:r>
              <a:rPr lang="en-US"/>
              <a:t>vita-fl/phala/dynamic-workers/main.tf:67</a:t>
            </a:r>
          </a:p>
          <a:p>
            <a:r>
              <a:rPr lang="en-US"/>
              <a:t>vita-fl/phala/main.tf:180</a:t>
            </a:r>
          </a:p>
          <a:p>
            <a:r>
              <a:rPr lang="en-US"/>
              <a:t>vita-fl/dfl/Dockerfile:90–99</a:t>
            </a:r>
          </a:p>
          <a:p>
            <a:r>
              <a:rPr lang="en-US"/>
              <a:t>vita-fl/dfl/start_node_neural_network.sh:332–365</a:t>
            </a:r>
          </a:p>
          <a:p>
            <a:r>
              <a:rPr lang="en-US"/>
              <a:t>vita-fl/dfl/node_server/src/server.ts:1823–1868,2890–2923</a:t>
            </a:r>
          </a:p>
          <a:p>
            <a:r>
              <a:rPr lang="en-US"/>
              <a:t>vita-fl/dfl/node_server/src/action_key.ts:65–98</a:t>
            </a:r>
          </a:p>
          <a:p>
            <a:r>
              <a:rPr lang="en-US"/>
              <a:t>vita-fl/dfl/node_server/src/participant_key.ts:247–286</a:t>
            </a:r>
          </a:p>
          <a:p>
            <a:r>
              <a:rPr lang="en-US"/>
              <a:t>vita-fl/tee_inference/service/model_source.py:146–220</a:t>
            </a:r>
          </a:p>
          <a:p>
            <a:r>
              <a:rPr lang="en-US"/>
              <a:t>vita-fl/tee_inference/service/attestation.py:49–60,109–121</a:t>
            </a:r>
          </a:p>
          <a:p>
            <a:r>
              <a:rPr lang="en-US"/>
              <a:t>vita-fl/agent/blockchain_source.py:467–480</a:t>
            </a:r>
          </a:p>
          <a:p>
            <a:r>
              <a:rPr lang="en-US"/>
              <a:t>vita-fl/smart_contracts/src/core/DeviceRegistry.sol:487–490</a:t>
            </a:r>
          </a:p>
          <a:p>
            <a:r>
              <a:rPr lang="en-US"/>
              <a:t>vita-fl/smart_contracts/src/attestation/AppComposeImage.sol:588–592</a:t>
            </a:r>
          </a:p>
          <a:p>
            <a:r>
              <a:rPr lang="en-US"/>
              <a:t>vita-fl/agent/tee_inference_client.py:445–472,605–624</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SELECTED VARIANT A — CI CHECKS AND EXTERNAL SYSTEM TESTS</a:t>
            </a:r>
          </a:p>
          <a:p/>
          <a:p>
            <a:r>
              <a:rPr lang="en-US"/>
              <a:t>PURPOSE</a:t>
            </a:r>
          </a:p>
          <a:p>
            <a:r>
              <a:rPr lang="en-US"/>
              <a:t>Approved replacement for Page 26. The left catalog combines unit/component and</a:t>
            </a:r>
          </a:p>
          <a:p>
            <a:r>
              <a:rPr lang="en-US"/>
              <a:t>local integration tests under CI, grouped by the subject under test. The right</a:t>
            </a:r>
          </a:p>
          <a:p>
            <a:r>
              <a:rPr lang="en-US"/>
              <a:t>catalog explains external scenario types and their expected responses. Counts</a:t>
            </a:r>
          </a:p>
          <a:p>
            <a:r>
              <a:rPr lang="en-US"/>
              <a:t>refer to implementations, not passed executions or independent samples.</a:t>
            </a:r>
          </a:p>
          <a:p>
            <a:r>
              <a:rPr lang="en-US"/>
              <a:t>The source/configuration snapshot is dated 27 September 2026. No test or cloud</a:t>
            </a:r>
          </a:p>
          <a:p>
            <a:r>
              <a:rPr lang="en-US"/>
              <a:t>campaign was executed to build this slide. The adjacent historical 24-round</a:t>
            </a:r>
          </a:p>
          <a:p>
            <a:r>
              <a:rPr lang="en-US"/>
              <a:t>Phala experiment remains separate evidence; it is not attributed to the current</a:t>
            </a:r>
          </a:p>
          <a:p>
            <a:r>
              <a:rPr lang="en-US"/>
              <a:t>SMEW/SMA/test-driver profile.</a:t>
            </a:r>
          </a:p>
          <a:p/>
          <a:p>
            <a:r>
              <a:rPr lang="en-US"/>
              <a:t>CI BOUNDARY AND COUNTING</a:t>
            </a:r>
          </a:p>
          <a:p>
            <a:r>
              <a:rPr lang="en-US"/>
              <a:t>878 unique CI-selected declarations: 617 Python, 145 Solidity and 116 Node tests.</a:t>
            </a:r>
          </a:p>
          <a:p>
            <a:r>
              <a:rPr lang="en-US"/>
              <a:t>The seven groups are mutually exclusive assignments of test source areas. Each</a:t>
            </a:r>
          </a:p>
          <a:p>
            <a:r>
              <a:rPr lang="en-US"/>
              <a:t>declaration counts once; parametrization, loops, repeated workflow invocations</a:t>
            </a:r>
          </a:p>
          <a:p>
            <a:r>
              <a:rPr lang="en-US"/>
              <a:t>and subtests are not expanded. Conditional skips remain included. The scope is</a:t>
            </a:r>
          </a:p>
          <a:p>
            <a:r>
              <a:rPr lang="en-US"/>
              <a:t>vita-fl/.github/workflows/ci.yml and the explicit test entrypoints it selects.</a:t>
            </a:r>
          </a:p>
          <a:p>
            <a:r>
              <a:rPr lang="en-US"/>
              <a:t>The node job installs Foundry and requires the Anvil transaction tests. The CI</a:t>
            </a:r>
          </a:p>
          <a:p>
            <a:r>
              <a:rPr lang="en-US"/>
              <a:t>runs on GitHub-hosted Ubuntu for push/PR on main and phala_app_key or manual</a:t>
            </a:r>
          </a:p>
          <a:p>
            <a:r>
              <a:rPr lang="en-US"/>
              <a:t>workflow dispatch. Lint, formatting, build steps and the two runtime readiness</a:t>
            </a:r>
          </a:p>
          <a:p>
            <a:r>
              <a:rPr lang="en-US"/>
              <a:t>checks for Anvil/IPFS are additional pipeline checks, excluded from the 878.</a:t>
            </a:r>
          </a:p>
          <a:p>
            <a:r>
              <a:rPr lang="en-US"/>
              <a:t>The previous 808 inventory is historical. No new unit/integration split is</a:t>
            </a:r>
          </a:p>
          <a:p>
            <a:r>
              <a:rPr lang="en-US"/>
              <a:t>asserted: new tests require fresh assertion-level classification if that split</a:t>
            </a:r>
          </a:p>
          <a:p>
            <a:r>
              <a:rPr lang="en-US"/>
              <a:t>is ever needed again. Unit/component/integration are merged by explicit request.</a:t>
            </a:r>
          </a:p>
          <a:p>
            <a:r>
              <a:rPr lang="en-US"/>
              <a:t>Tests of the TD, SMEW and SMA tools are not silently added to the vita-fl CI count.</a:t>
            </a:r>
          </a:p>
          <a:p/>
          <a:p>
            <a:r>
              <a:rPr lang="en-US"/>
              <a:t>EXTERNAL SCOPE AND CONFIGURATION</a:t>
            </a:r>
          </a:p>
          <a:p>
            <a:r>
              <a:rPr lang="en-US"/>
              <a:t>The TD has nine CLI modes. Eight are considered here: configuration, normal,</a:t>
            </a:r>
          </a:p>
          <a:p>
            <a:r>
              <a:rPr lang="en-US"/>
              <a:t>early, partial, zero, recovery, inference and security. The optional manipulation</a:t>
            </a:r>
          </a:p>
          <a:p>
            <a:r>
              <a:rPr lang="en-US"/>
              <a:t>mode is excluded according to the user's requested scope. Tool-order attacks are</a:t>
            </a:r>
          </a:p>
          <a:p>
            <a:r>
              <a:rPr lang="en-US"/>
              <a:t>also excluded. Eight implemented modes do not mean eight passed live scenarios.</a:t>
            </a:r>
          </a:p>
          <a:p>
            <a:r>
              <a:rPr lang="en-US"/>
              <a:t>The selected local Phala profile has six workers, five successful training rounds,</a:t>
            </a:r>
          </a:p>
          <a:p>
            <a:r>
              <a:rPr lang="en-US"/>
              <a:t>client limit five, epoch one, a 45-second collection deadline, a 3600-second</a:t>
            </a:r>
          </a:p>
          <a:p>
            <a:r>
              <a:rPr lang="en-US"/>
              <a:t>scenario deadline, one-second polling, deployed-agent inference, participant</a:t>
            </a:r>
          </a:p>
          <a:p>
            <a:r>
              <a:rPr lang="en-US"/>
              <a:t>coverage and required transparency audit. Configuration is a setup-only check;</a:t>
            </a:r>
          </a:p>
          <a:p>
            <a:r>
              <a:rPr lang="en-US"/>
              <a:t>the five-round setting applies to training scenarios. train_before_inference is</a:t>
            </a:r>
          </a:p>
          <a:p>
            <a:r>
              <a:rPr lang="en-US"/>
              <a:t>enabled for the inference-only mode in this profile. Bootstrap and aborted</a:t>
            </a:r>
          </a:p>
          <a:p>
            <a:r>
              <a:rPr lang="en-US"/>
              <a:t>attempts are excluded from the five successful rounds. Other runs can vary the</a:t>
            </a:r>
          </a:p>
          <a:p>
            <a:r>
              <a:rPr lang="en-US"/>
              <a:t>parameters, so the profile is not attributed to every historical result.</a:t>
            </a:r>
          </a:p>
          <a:p>
            <a:r>
              <a:rPr lang="en-US"/>
              <a:t>SMEW schedules campaigns/repetitions and validates reports; SMA supervises the</a:t>
            </a:r>
          </a:p>
          <a:p>
            <a:r>
              <a:rPr lang="en-US"/>
              <a:t>local TD subprocess and retrieves Prometheus data for the run window. The TD</a:t>
            </a:r>
          </a:p>
          <a:p>
            <a:r>
              <a:rPr lang="en-US"/>
              <a:t>drives the remote VITA-FL deployment, checks assertions and produces the verdict.</a:t>
            </a:r>
          </a:p>
          <a:p>
            <a:r>
              <a:rPr lang="en-US"/>
              <a:t>No general energy measurement is claimed. Measurements currently include round</a:t>
            </a:r>
          </a:p>
          <a:p>
            <a:r>
              <a:rPr lang="en-US"/>
              <a:t>progress, aborted attempts and transaction gas.</a:t>
            </a:r>
          </a:p>
          <a:p/>
          <a:p>
            <a:r>
              <a:rPr lang="en-US"/>
              <a:t>EXTERNAL ORACLES</a:t>
            </a:r>
          </a:p>
          <a:p>
            <a:r>
              <a:rPr lang="en-US"/>
              <a:t>configuration: five training parameters round-trip; invalid timeouts are rejected</a:t>
            </a:r>
          </a:p>
          <a:p>
            <a:r>
              <a:rPr lang="en-US"/>
              <a:t>with HTTP 400 and the saved configuration remains unchanged.</a:t>
            </a:r>
          </a:p>
          <a:p>
            <a:r>
              <a:rPr lang="en-US"/>
              <a:t>normal: completed nonempty rounds, count/root/policy consistency, unchanged frozen</a:t>
            </a:r>
          </a:p>
          <a:p>
            <a:r>
              <a:rPr lang="en-US"/>
              <a:t>roster and all-six-worker participation; finalized-model inference is verified.</a:t>
            </a:r>
          </a:p>
          <a:p>
            <a:r>
              <a:rPr lang="en-US"/>
              <a:t>early/partial/zero: a cooperative admin-controlled upload gate at the deployed</a:t>
            </a:r>
          </a:p>
          <a:p>
            <a:r>
              <a:rPr lang="en-US"/>
              <a:t>receiver limits accepted clients in the first training round. Respectively 5,</a:t>
            </a:r>
          </a:p>
          <a:p>
            <a:r>
              <a:rPr lang="en-US"/>
              <a:t>2 or 0 accepted inputs establish early closure, exact partial publication after</a:t>
            </a:r>
          </a:p>
          <a:p>
            <a:r>
              <a:rPr lang="en-US"/>
              <a:t>the deadline, or no publication followed by quorum recovery. This is explicit</a:t>
            </a:r>
          </a:p>
          <a:p>
            <a:r>
              <a:rPr lang="en-US"/>
              <a:t>test instrumentation; the gate is not described as a network outage. The receipt</a:t>
            </a:r>
          </a:p>
          <a:p>
            <a:r>
              <a:rPr lang="en-US"/>
              <a:t>of a gate command alone does not establish the expected contribution set.</a:t>
            </a:r>
          </a:p>
          <a:p>
            <a:r>
              <a:rPr lang="en-US"/>
              <a:t>recovery: stop and confirm the selected aggregator CVM, observe three distinct</a:t>
            </a:r>
          </a:p>
          <a:p>
            <a:r>
              <a:rPr lang="en-US"/>
              <a:t>eligible reports out of five voters, keep the old state below quorum, then prove</a:t>
            </a:r>
          </a:p>
          <a:p>
            <a:r>
              <a:rPr lang="en-US"/>
              <a:t>abort/reselection on the third vote and successful resumed publication. Restore</a:t>
            </a:r>
          </a:p>
          <a:p>
            <a:r>
              <a:rPr lang="en-US"/>
              <a:t>the CVM; cleanup failure invalidates the run. The local aggregator timer is not</a:t>
            </a:r>
          </a:p>
          <a:p>
            <a:r>
              <a:rPr lang="en-US"/>
              <a:t>replaced or advanced by the driver. Contract vote conditions remain separate.</a:t>
            </a:r>
          </a:p>
          <a:p>
            <a:r>
              <a:rPr lang="en-US"/>
              <a:t>security: 16 required checks comprise five UI/control checks, four read-only EVM</a:t>
            </a:r>
          </a:p>
          <a:p>
            <a:r>
              <a:rPr lang="en-US"/>
              <a:t>guards, one positive inference control and six inference authorization negatives.</a:t>
            </a:r>
          </a:p>
          <a:p>
            <a:r>
              <a:rPr lang="en-US"/>
              <a:t>EVM guards use eth_call; they do not submit an attack transaction. Wrong reasons,</a:t>
            </a:r>
          </a:p>
          <a:p>
            <a:r>
              <a:rPr lang="en-US"/>
              <a:t>TLS/network errors and unavailable positive controls do not count as rejection.</a:t>
            </a:r>
          </a:p>
          <a:p>
            <a:r>
              <a:rPr lang="en-US"/>
              <a:t>Audit: 17 additional checks are 10 SCITT publisher/inclusion checks, one AIR/TDX,</a:t>
            </a:r>
          </a:p>
          <a:p>
            <a:r>
              <a:rPr lang="en-US"/>
              <a:t>three attestation sessions and three Sello receipts. Re-fetch published bytes,</a:t>
            </a:r>
          </a:p>
          <a:p>
            <a:r>
              <a:rPr lang="en-US"/>
              <a:t>verify bindings to this run and local trust policy, decrypt owner-authorized</a:t>
            </a:r>
          </a:p>
          <a:p>
            <a:r>
              <a:rPr lang="en-US"/>
              <a:t>Sello context and request fresh Phala quote appraisal. This is independent</a:t>
            </a:r>
          </a:p>
          <a:p>
            <a:r>
              <a:rPr lang="en-US"/>
              <a:t>execution using production verifier primitives, not an independent Intel DCAP</a:t>
            </a:r>
          </a:p>
          <a:p>
            <a:r>
              <a:rPr lang="en-US"/>
              <a:t>implementation or a reconstruction of the original TLS/PoP handshake.</a:t>
            </a:r>
          </a:p>
          <a:p>
            <a:r>
              <a:rPr lang="en-US"/>
              <a:t>The audit spans inference-enabled scenarios; it is not a ninth scenario mode.</a:t>
            </a:r>
          </a:p>
          <a:p>
            <a:r>
              <a:rPr lang="en-US"/>
              <a:t>16 security checks and 17 audit checks are not added to the scenario count.</a:t>
            </a:r>
          </a:p>
          <a:p/>
          <a:p>
            <a:r>
              <a:rPr lang="en-US"/>
              <a:t>INTERPRETATION</a:t>
            </a:r>
          </a:p>
          <a:p>
            <a:r>
              <a:rPr lang="en-US"/>
              <a:t>This slide inventories configured tests, not clinical quality, LLM reasoning,</a:t>
            </a:r>
          </a:p>
          <a:p>
            <a:r>
              <a:rPr lang="en-US"/>
              <a:t>load capacity or complete coverage of Chapter 4 threats. Configuration and code</a:t>
            </a:r>
          </a:p>
          <a:p>
            <a:r>
              <a:rPr lang="en-US"/>
              <a:t>availability are kept separate from observed live outcomes. Existing reports</a:t>
            </a:r>
          </a:p>
          <a:p>
            <a:r>
              <a:rPr lang="en-US"/>
              <a:t>contain a five-round Recovery PASS and a complete 17-check audit; early, partial,</a:t>
            </a:r>
          </a:p>
          <a:p>
            <a:r>
              <a:rPr lang="en-US"/>
              <a:t>zero and security must not be described as demonstrated successes from that run.</a:t>
            </a:r>
          </a:p>
          <a:p>
            <a:r>
              <a:rPr lang="en-US"/>
              <a:t>Some code properties have no live fault probe.</a:t>
            </a:r>
          </a:p>
          <a:p/>
          <a:p>
            <a:r>
              <a:rPr lang="en-US"/>
              <a:t>SOURCE MAP</a:t>
            </a:r>
          </a:p>
          <a:p>
            <a:r>
              <a:rPr lang="en-US"/>
              <a:t>Full current CI declaration manifest and source hashes: ci-inventory.json.</a:t>
            </a:r>
          </a:p>
          <a:p>
            <a:r>
              <a:rPr lang="en-US"/>
              <a:t>External scenario groups and public configuration: external-scope.json.</a:t>
            </a:r>
          </a:p>
          <a:p>
            <a:r>
              <a:rPr lang="en-US"/>
              <a:t>Presentation-facing labels/mapping: slide-data.json.</a:t>
            </a:r>
          </a:p>
          <a:p>
            <a:r>
              <a:rPr lang="en-US"/>
              <a:t>vita-fl/.github/workflows/ci.yml</a:t>
            </a:r>
          </a:p>
          <a:p>
            <a:r>
              <a:rPr lang="en-US"/>
              <a:t>vita-fl-td/src/vita_fl_td/config.py</a:t>
            </a:r>
          </a:p>
          <a:p>
            <a:r>
              <a:rPr lang="en-US"/>
              <a:t>vita-fl-td/src/vita_fl_td/runner.py</a:t>
            </a:r>
          </a:p>
          <a:p>
            <a:r>
              <a:rPr lang="en-US"/>
              <a:t>vita-fl-td/src/vita_fl_td/quorum.py</a:t>
            </a:r>
          </a:p>
          <a:p>
            <a:r>
              <a:rPr lang="en-US"/>
              <a:t>vita-fl-td/src/vita_fl_td/security_bridge.py</a:t>
            </a:r>
          </a:p>
          <a:p>
            <a:r>
              <a:rPr lang="en-US"/>
              <a:t>vita-fl-td/src/vita_fl_td/transparency_audit.py</a:t>
            </a:r>
          </a:p>
          <a:p>
            <a:r>
              <a:rPr lang="en-US"/>
              <a:t>vita-fl-td/docs/security-scenarios.md</a:t>
            </a:r>
          </a:p>
          <a:p>
            <a:r>
              <a:rPr lang="en-US"/>
              <a:t>vita-fl-td/docs/transparency-audit.md</a:t>
            </a:r>
          </a:p>
          <a:p>
            <a:r>
              <a:rPr lang="en-US"/>
              <a:t>SMEW/README.md</a:t>
            </a:r>
          </a:p>
          <a:p>
            <a:r>
              <a:rPr lang="en-US"/>
              <a:t>sustainability-measurement-agent/sma/sma.py</a:t>
            </a:r>
          </a:p>
          <a:p/>
          <a:p/>
          <a:p>
            <a:r>
              <a:rPr lang="en-US"/>
              <a:t>GROUP COUNTS</a:t>
            </a:r>
          </a:p>
          <a:p>
            <a:r>
              <a:rPr lang="en-US"/>
              <a:t>Learning &amp; model integrity: 78 — Data splits · aggregation math · model bindings</a:t>
            </a:r>
          </a:p>
          <a:p>
            <a:r>
              <a:rPr lang="en-US"/>
              <a:t>Round control &amp; recovery: 117 — Local timer · input closure · quorum · publication</a:t>
            </a:r>
          </a:p>
          <a:p>
            <a:r>
              <a:rPr lang="en-US"/>
              <a:t>Identity &amp; secure transport: 240 — Admission · quotes · keys · TLS · authorization</a:t>
            </a:r>
          </a:p>
          <a:p>
            <a:r>
              <a:rPr lang="en-US"/>
              <a:t>Inference &amp; agent workflow: 49 — MCP tools · job ownership · TEE/ZK workflow</a:t>
            </a:r>
          </a:p>
          <a:p>
            <a:r>
              <a:rPr lang="en-US"/>
              <a:t>Receipts &amp; provenance: 64 — AIR / Sello / SCITT · signatures · data provenance</a:t>
            </a:r>
          </a:p>
          <a:p>
            <a:r>
              <a:rPr lang="en-US"/>
              <a:t>Runtime control &amp; telemetry: 107 — Configuration · upload gates · worker telemetry</a:t>
            </a:r>
          </a:p>
          <a:p>
            <a:r>
              <a:rPr lang="en-US"/>
              <a:t>Deployment &amp; packaging: 223 — Image policy · revision order · Docker / Terraform</a:t>
            </a:r>
          </a:p>
          <a:p>
            <a:r>
              <a:rPr lang="en-US"/>
              <a:t>Inventory paths are relative to presentation/concepts/test-evaluation/ci-external/.</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APPROVED EVALUATION ARCHITECTURE — EXPERIMENT HOST AND PHALA</a:t>
            </a:r>
          </a:p>
          <a:p/>
          <a:p>
            <a:r>
              <a:rPr lang="en-US"/>
              <a:t>PURPOSE AND SCOPE</a:t>
            </a:r>
          </a:p>
          <a:p>
            <a:r>
              <a:rPr lang="en-US"/>
              <a:t>Meta-level architecture of the current evaluation workflow, checked against local</a:t>
            </a:r>
          </a:p>
          <a:p>
            <a:r>
              <a:rPr lang="en-US"/>
              <a:t>implementation on 27 September 2026. This slide describes responsibilities and</a:t>
            </a:r>
          </a:p>
          <a:p>
            <a:r>
              <a:rPr lang="en-US"/>
              <a:t>execution boundaries, not the outcome of a new run or a measured success rate.</a:t>
            </a:r>
          </a:p>
          <a:p>
            <a:r>
              <a:rPr lang="en-US"/>
              <a:t>It introduces the evaluation section before the historical 24-round Phala run.</a:t>
            </a:r>
          </a:p>
          <a:p>
            <a:r>
              <a:rPr lang="en-US"/>
              <a:t>That historical experiment is separate evidence; this slide does not claim it</a:t>
            </a:r>
          </a:p>
          <a:p>
            <a:r>
              <a:rPr lang="en-US"/>
              <a:t>was conducted with the current SMEW/SMA/test-driver workflow.</a:t>
            </a:r>
          </a:p>
          <a:p/>
          <a:p>
            <a:r>
              <a:rPr lang="en-US"/>
              <a:t>COMPONENT ROLES</a:t>
            </a:r>
          </a:p>
          <a:p>
            <a:r>
              <a:rPr lang="en-US"/>
              <a:t>SMEW (Sustainability Measurement Experiment Workflow) defines campaign matrices</a:t>
            </a:r>
          </a:p>
          <a:p>
            <a:r>
              <a:rPr lang="en-US"/>
              <a:t>and repetitions, distributes runs to daemons, supervises the measurement process,</a:t>
            </a:r>
          </a:p>
          <a:p>
            <a:r>
              <a:rPr lang="en-US"/>
              <a:t>collects reports and validates completeness and overall status. The orchestrator</a:t>
            </a:r>
          </a:p>
          <a:p>
            <a:r>
              <a:rPr lang="en-US"/>
              <a:t>can be hosted separately from the daemon. Diagrams group both under SMEW.</a:t>
            </a:r>
          </a:p>
          <a:p>
            <a:r>
              <a:rPr lang="en-US"/>
              <a:t>SMA (Sustainability Measurement Agent) starts vita-fl-td as a local subprocess,</a:t>
            </a:r>
          </a:p>
          <a:p>
            <a:r>
              <a:rPr lang="en-US"/>
              <a:t>records a measurement window with configured pre/post time, collects process</a:t>
            </a:r>
          </a:p>
          <a:p>
            <a:r>
              <a:rPr lang="en-US"/>
              <a:t>metadata and result files, and fetches Prometheus range-query data for that window</a:t>
            </a:r>
          </a:p>
          <a:p>
            <a:r>
              <a:rPr lang="en-US"/>
              <a:t>after execution. Prometheus performs the continuous scrape; SMA is not a sensor.</a:t>
            </a:r>
          </a:p>
          <a:p>
            <a:r>
              <a:rPr lang="en-US"/>
              <a:t>vita-fl-td drives the deployed system through its real control API, chain RPC and</a:t>
            </a:r>
          </a:p>
          <a:p>
            <a:r>
              <a:rPr lang="en-US"/>
              <a:t>cloud-agent endpoints; selected fault scenarios also use the Phala API. It checks</a:t>
            </a:r>
          </a:p>
          <a:p>
            <a:r>
              <a:rPr lang="en-US"/>
              <a:t>scenario-specific assertions, on-chain events and published evidence. When audit</a:t>
            </a:r>
          </a:p>
          <a:p>
            <a:r>
              <a:rPr lang="en-US"/>
              <a:t>is enabled, it re-verifies SCITT, AIR/TDX and Sello evidence from the transparency</a:t>
            </a:r>
          </a:p>
          <a:p>
            <a:r>
              <a:rPr lang="en-US"/>
              <a:t>log. It reuses production verifier primitives and obtains fresh Phala quote</a:t>
            </a:r>
          </a:p>
          <a:p>
            <a:r>
              <a:rPr lang="en-US"/>
              <a:t>appraisals; it does not implement an independent Intel DCAP verifier.</a:t>
            </a:r>
          </a:p>
          <a:p>
            <a:r>
              <a:rPr lang="en-US"/>
              <a:t>VITA-FL is the deployed system under test: distributed training and aggregation,</a:t>
            </a:r>
          </a:p>
          <a:p>
            <a:r>
              <a:rPr lang="en-US"/>
              <a:t>agent tools, attested inference, contracts, storage, transparency log and metrics.</a:t>
            </a:r>
          </a:p>
          <a:p>
            <a:r>
              <a:rPr lang="en-US"/>
              <a:t>The test driver controls a predeployed system; it does not deploy the cloud stack.</a:t>
            </a:r>
          </a:p>
          <a:p/>
          <a:p>
            <a:r>
              <a:rPr lang="en-US"/>
              <a:t>EXECUTION AND DATA FLOWS</a:t>
            </a:r>
          </a:p>
          <a:p>
            <a:r>
              <a:rPr lang="en-US"/>
              <a:t>In the evaluated Phala setup, SMEW daemon, SMA and the test driver execute on the</a:t>
            </a:r>
          </a:p>
          <a:p>
            <a:r>
              <a:rPr lang="en-US"/>
              <a:t>experiment host; VITA-FL and its Prometheus monitoring execute in Phala. Other</a:t>
            </a:r>
          </a:p>
          <a:p>
            <a:r>
              <a:rPr lang="en-US"/>
              <a:t>Docker profiles and a separately hosted SMEW orchestrator are possible.</a:t>
            </a:r>
          </a:p>
          <a:p>
            <a:r>
              <a:rPr lang="en-US"/>
              <a:t>SMEW daemon -&gt; SMA: launch and supervise a parameterized run.</a:t>
            </a:r>
          </a:p>
          <a:p>
            <a:r>
              <a:rPr lang="en-US"/>
              <a:t>SMA -&gt; TD: start a subprocess scenario and await its completion.</a:t>
            </a:r>
          </a:p>
          <a:p>
            <a:r>
              <a:rPr lang="en-US"/>
              <a:t>TD -&gt; VITA-FL: API/RPC control and configured fault injection.</a:t>
            </a:r>
          </a:p>
          <a:p>
            <a:r>
              <a:rPr lang="en-US"/>
              <a:t>VITA-FL -&gt; TD: state, events and published evidence for assertions.</a:t>
            </a:r>
          </a:p>
          <a:p>
            <a:r>
              <a:rPr lang="en-US"/>
              <a:t>VITA-FL -&gt; Prometheus: exported progress, operating and gas metrics.</a:t>
            </a:r>
          </a:p>
          <a:p>
            <a:r>
              <a:rPr lang="en-US"/>
              <a:t>Prometheus -&gt; SMA: time series queried for the recorded run window.</a:t>
            </a:r>
          </a:p>
          <a:p>
            <a:r>
              <a:rPr lang="en-US"/>
              <a:t>TD -&gt; SMA -&gt; SMEW reports: verdict, checks, JUnit and archived run artifacts.</a:t>
            </a:r>
          </a:p>
          <a:p>
            <a:r>
              <a:rPr lang="en-US"/>
              <a:t>Saved reports -&gt; SMEW Marimo notebook: compare and visualize completed runs.</a:t>
            </a:r>
          </a:p>
          <a:p>
            <a:r>
              <a:rPr lang="en-US"/>
              <a:t>Marimo does not start the campaign or re-run the cryptographic verification.</a:t>
            </a:r>
          </a:p>
          <a:p/>
          <a:p>
            <a:r>
              <a:rPr lang="en-US"/>
              <a:t>INTERPRETATION LIMITS</a:t>
            </a:r>
          </a:p>
          <a:p>
            <a:r>
              <a:rPr lang="en-US"/>
              <a:t>A successful subprocess exit alone is not a passed system evaluation. TD supplies</a:t>
            </a:r>
          </a:p>
          <a:p>
            <a:r>
              <a:rPr lang="en-US"/>
              <a:t>semantic verdicts and evidence; SMEW also requires a successful measurement run</a:t>
            </a:r>
          </a:p>
          <a:p>
            <a:r>
              <a:rPr lang="en-US"/>
              <a:t>and a valid report. Configured assertions determine the claim supported by a run.</a:t>
            </a:r>
          </a:p>
          <a:p>
            <a:r>
              <a:rPr lang="en-US"/>
              <a:t>SMA's name does not imply energy measurement: this integration uses exported</a:t>
            </a:r>
          </a:p>
          <a:p>
            <a:r>
              <a:rPr lang="en-US"/>
              <a:t>Prometheus metrics (including training progress and gas use), not measured Joules.</a:t>
            </a:r>
          </a:p>
          <a:p>
            <a:r>
              <a:rPr lang="en-US"/>
              <a:t>The diagrams simplify internal VITA services and do not represent every API call.</a:t>
            </a:r>
          </a:p>
          <a:p>
            <a:r>
              <a:rPr lang="en-US"/>
              <a:t>VITA-FL is a separate deployed system, not a subprocess of the local test driver.</a:t>
            </a:r>
          </a:p>
          <a:p>
            <a:r>
              <a:rPr lang="en-US"/>
              <a:t>Solid neutral arrows mean launch/control, blue arrows mean evidence/report return,</a:t>
            </a:r>
          </a:p>
          <a:p>
            <a:r>
              <a:rPr lang="en-US"/>
              <a:t>and dashed purple arrows show metric collection and retrieval of time series.</a:t>
            </a:r>
          </a:p>
          <a:p/>
          <a:p>
            <a:r>
              <a:rPr lang="en-US"/>
              <a:t>SOURCE MAP (workspace-relative):</a:t>
            </a:r>
          </a:p>
          <a:p>
            <a:r>
              <a:rPr lang="en-US"/>
              <a:t>SMEW/README.md</a:t>
            </a:r>
          </a:p>
          <a:p>
            <a:r>
              <a:rPr lang="en-US"/>
              <a:t>SMEW/smew/daemon.py</a:t>
            </a:r>
          </a:p>
          <a:p>
            <a:r>
              <a:rPr lang="en-US"/>
              <a:t>SMEW/smew/runner.py</a:t>
            </a:r>
          </a:p>
          <a:p>
            <a:r>
              <a:rPr lang="en-US"/>
              <a:t>SMEW/smew/analysis/vita_fl.py</a:t>
            </a:r>
          </a:p>
          <a:p>
            <a:r>
              <a:rPr lang="en-US"/>
              <a:t>SMEW/reporting.py</a:t>
            </a:r>
          </a:p>
          <a:p>
            <a:r>
              <a:rPr lang="en-US"/>
              <a:t>sustainability-measurement-agent/sma/sma.py</a:t>
            </a:r>
          </a:p>
          <a:p>
            <a:r>
              <a:rPr lang="en-US"/>
              <a:t>vita-fl-td/README.md</a:t>
            </a:r>
          </a:p>
          <a:p>
            <a:r>
              <a:rPr lang="en-US"/>
              <a:t>vita-fl-td/src/vita_fl_td/cli.py</a:t>
            </a:r>
          </a:p>
          <a:p>
            <a:r>
              <a:rPr lang="en-US"/>
              <a:t>vita-fl-td/src/vita_fl_td/runner.py</a:t>
            </a:r>
          </a:p>
          <a:p>
            <a:r>
              <a:rPr lang="en-US"/>
              <a:t>vita-fl-td/src/vita_fl_td/transparency_audit.py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"01-admission",</a:t>
            </a:r>
          </a:p>
          <a:p>
            <a:r>
              <a:rPr lang="en-US"/>
              <a:t>  "name_de": "1 · Worker-Autorität",</a:t>
            </a:r>
          </a:p>
          <a:p>
            <a:r>
              <a:rPr lang="en-US"/>
              <a:t>  "title": "Attack tree: unauthorized worker authority",</a:t>
            </a:r>
          </a:p>
          <a:p>
            <a:r>
              <a:rPr lang="en-US"/>
              <a:t>  "threats": [</a:t>
            </a:r>
          </a:p>
          <a:p>
            <a:r>
              <a:rPr lang="en-US"/>
              <a:t>    "T1",</a:t>
            </a:r>
          </a:p>
          <a:p>
            <a:r>
              <a:rPr lang="en-US"/>
              <a:t>    "T2"</a:t>
            </a:r>
          </a:p>
          <a:p>
            <a:r>
              <a:rPr lang="en-US"/>
              <a:t>  ],</a:t>
            </a:r>
          </a:p>
          <a:p>
            <a:r>
              <a:rPr lang="en-US"/>
              <a:t>  "domains": [</a:t>
            </a:r>
          </a:p>
          <a:p>
            <a:r>
              <a:rPr lang="en-US"/>
              <a:t>    "DFL"</a:t>
            </a:r>
          </a:p>
          <a:p>
            <a:r>
              <a:rPr lang="en-US"/>
              <a:t>  ],</a:t>
            </a:r>
          </a:p>
          <a:p>
            <a:r>
              <a:rPr lang="en-US"/>
              <a:t>  "root": {</a:t>
            </a:r>
          </a:p>
          <a:p>
            <a:r>
              <a:rPr lang="en-US"/>
              <a:t>    "label": "Gain unauthorized worker authority",</a:t>
            </a:r>
          </a:p>
          <a:p>
            <a:r>
              <a:rPr lang="en-US"/>
              <a:t>    "op": "OR",</a:t>
            </a:r>
          </a:p>
          <a:p>
            <a:r>
              <a:rPr lang="en-US"/>
              <a:t>    "children": [</a:t>
            </a:r>
          </a:p>
          <a:p>
            <a:r>
              <a:rPr lang="en-US"/>
              <a:t>      {</a:t>
            </a:r>
          </a:p>
          <a:p>
            <a:r>
              <a:rPr lang="en-US"/>
              <a:t>        "label": "Admit an unapproved workload",</a:t>
            </a:r>
          </a:p>
          <a:p>
            <a:r>
              <a:rPr lang="en-US"/>
              <a:t>        "op": "AND",</a:t>
            </a:r>
          </a:p>
          <a:p>
            <a:r>
              <a:rPr lang="en-US"/>
              <a:t>        "children": [</a:t>
            </a:r>
          </a:p>
          <a:p>
            <a:r>
              <a:rPr lang="en-US"/>
              <a:t>          {</a:t>
            </a:r>
          </a:p>
          <a:p>
            <a:r>
              <a:rPr lang="en-US"/>
              <a:t>            "label": "Present a genuine quote for an unapproved image",</a:t>
            </a:r>
          </a:p>
          <a:p>
            <a:r>
              <a:rPr lang="en-US"/>
              <a:t>            "refs": [</a:t>
            </a:r>
          </a:p>
          <a:p>
            <a:r>
              <a:rPr lang="en-US"/>
              <a:t>              "T1"</a:t>
            </a:r>
          </a:p>
          <a:p>
            <a:r>
              <a:rPr lang="en-US"/>
              <a:t>            ],</a:t>
            </a:r>
          </a:p>
          <a:p>
            <a:r>
              <a:rPr lang="en-US"/>
              <a:t>            "note": "The attacker can launch an unapproved image and obtain a genuine quote for it. Successful registration would additionally require an owner-committed participant, its enrollment signature, the quote-bound action-key sender, current nonce and permitted image/policy. A quote alone supplies none of those authorizations.",</a:t>
            </a:r>
          </a:p>
          <a:p>
            <a:r>
              <a:rPr lang="en-US"/>
              <a:t>            "kind": "condition",</a:t>
            </a:r>
          </a:p>
          <a:p>
            <a:r>
              <a:rPr lang="en-US"/>
              <a:t>            "short_label": "Quote for unapproved image",</a:t>
            </a:r>
          </a:p>
          <a:p>
            <a:r>
              <a:rPr lang="en-US"/>
              <a:t>            "assessment": "neutral",</a:t>
            </a:r>
          </a:p>
          <a:p>
            <a:r>
              <a:rPr lang="en-US"/>
              <a:t>            "assessment_reason": "Action or prerequisite shown without an independent security verdict. Its effect depends on the remaining AND/OR conditions.",</a:t>
            </a:r>
          </a:p>
          <a:p>
            <a:r>
              <a:rPr lang="en-US"/>
              <a:t>            "attacker_capability": "Build and attest an attacker-controlled CVM.",</a:t>
            </a:r>
          </a:p>
          <a:p>
            <a:r>
              <a:rPr lang="en-US"/>
              <a:t>            "required_credentials": "Own quote/key only; legitimate roster enrollment and accepted workload policy are not assumed."</a:t>
            </a:r>
          </a:p>
          <a:p>
            <a:r>
              <a:rPr lang="en-US"/>
              <a:t>          },</a:t>
            </a:r>
          </a:p>
          <a:p>
            <a:r>
              <a:rPr lang="en-US"/>
              <a:t>          {</a:t>
            </a:r>
          </a:p>
          <a:p>
            <a:r>
              <a:rPr lang="en-US"/>
              <a:t>            "label": "Verifier accepts the wrong app measurement / policy",</a:t>
            </a:r>
          </a:p>
          <a:p>
            <a:r>
              <a:rPr lang="en-US"/>
              <a:t>            "refs": [</a:t>
            </a:r>
          </a:p>
          <a:p>
            <a:r>
              <a:rPr lang="en-US"/>
              <a:t>              "F3",</a:t>
            </a:r>
          </a:p>
          <a:p>
            <a:r>
              <a:rPr lang="en-US"/>
              <a:t>              "AS3",</a:t>
            </a:r>
          </a:p>
          <a:p>
            <a:r>
              <a:rPr lang="en-US"/>
              <a:t>              "AS4"</a:t>
            </a:r>
          </a:p>
          <a:p>
            <a:r>
              <a:rPr lang="en-US"/>
              <a:t>            ],</a:t>
            </a:r>
          </a:p>
          <a:p>
            <a:r>
              <a:rPr lang="en-US"/>
              <a:t>            "note": "The shown attempt is rejected by committed-roster membership, expected image digest and allowed role-policy checks. Green does not assume an exploitable verifier defect.",</a:t>
            </a:r>
          </a:p>
          <a:p>
            <a:r>
              <a:rPr lang="en-US"/>
              <a:t>            "kind": "check_failure",</a:t>
            </a:r>
          </a:p>
          <a:p>
            <a:r>
              <a:rPr lang="en-US"/>
              <a:t>            "short_label": "Pass image / roster / policy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registration of the changed workload.",</a:t>
            </a:r>
          </a:p>
          <a:p>
            <a:r>
              <a:rPr lang="en-US"/>
              <a:t>            "required_credentials": "Would need required enrollment/action authority plus a prohibited policy-check bypass."</a:t>
            </a:r>
          </a:p>
          <a:p>
            <a:r>
              <a:rPr lang="en-US"/>
              <a:t>          }</a:t>
            </a:r>
          </a:p>
          <a:p>
            <a:r>
              <a:rPr lang="en-US"/>
              <a:t>        ],</a:t>
            </a:r>
          </a:p>
          <a:p>
            <a:r>
              <a:rPr lang="en-US"/>
              <a:t>        "refs": [</a:t>
            </a:r>
          </a:p>
          <a:p>
            <a:r>
              <a:rPr lang="en-US"/>
              <a:t>          "T1",</a:t>
            </a:r>
          </a:p>
          <a:p>
            <a:r>
              <a:rPr lang="en-US"/>
              <a:t>          "F3"</a:t>
            </a:r>
          </a:p>
          <a:p>
            <a:r>
              <a:rPr lang="en-US"/>
              <a:t>        ],</a:t>
            </a:r>
          </a:p>
          <a:p>
            <a:r>
              <a:rPr lang="en-US"/>
              <a:t>        "note": "Authentic evidence of unapproved code plus acceptance despite the policy mismatch jointly yields this route; genuine attestation alone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"Rebind valid attestation",</a:t>
            </a:r>
          </a:p>
          <a:p>
            <a:r>
              <a:rPr lang="en-US"/>
              <a:t>        "op": "AND",</a:t>
            </a:r>
          </a:p>
          <a:p>
            <a:r>
              <a:rPr lang="en-US"/>
              <a:t>        "children": [</a:t>
            </a:r>
          </a:p>
          <a:p>
            <a:r>
              <a:rPr lang="en-US"/>
              <a:t>          {</a:t>
            </a:r>
          </a:p>
          <a:p>
            <a:r>
              <a:rPr lang="en-US"/>
              <a:t>            "label": "Attach valid evidence to another identity, key or endpoint",</a:t>
            </a:r>
          </a:p>
          <a:p>
            <a:r>
              <a:rPr lang="en-US"/>
              <a:t>            "refs": [</a:t>
            </a:r>
          </a:p>
          <a:p>
            <a:r>
              <a:rPr lang="en-US"/>
              <a:t>              "T1"</a:t>
            </a:r>
          </a:p>
          <a:p>
            <a:r>
              <a:rPr lang="en-US"/>
              <a:t>            ],</a:t>
            </a:r>
          </a:p>
          <a:p>
            <a:r>
              <a:rPr lang="en-US"/>
              <a:t>            "note": "Reuse genuine evidence under a different logical identity, action authority, communication key, endpoint or deployment context.",</a:t>
            </a:r>
          </a:p>
          <a:p>
            <a:r>
              <a:rPr lang="en-US"/>
              <a:t>            "kind": "condition",</a:t>
            </a:r>
          </a:p>
          <a:p>
            <a:r>
              <a:rPr lang="en-US"/>
              <a:t>            "short_label": "Rebind identity / key / endpoint",</a:t>
            </a:r>
          </a:p>
          <a:p>
            <a:r>
              <a:rPr lang="en-US"/>
              <a:t>            "assessment": "neutral",</a:t>
            </a:r>
          </a:p>
          <a:p>
            <a:r>
              <a:rPr lang="en-US"/>
              <a:t>            "assessment_reason": "Action or prerequisite shown without an independent security verdict. Its effect depends on the remaining AND/OR conditions.",</a:t>
            </a:r>
          </a:p>
          <a:p>
            <a:r>
              <a:rPr lang="en-US"/>
              <a:t>            "attacker_capability": "Copy available genuine quote/enrollment material and alter claimed context.",</a:t>
            </a:r>
          </a:p>
          <a:p>
            <a:r>
              <a:rPr lang="en-US"/>
              <a:t>            "required_credentials": "No private key needed to submit a copied or altered object; no fresh valid signature is assumed."</a:t>
            </a:r>
          </a:p>
          <a:p>
            <a:r>
              <a:rPr lang="en-US"/>
              <a:t>          },</a:t>
            </a:r>
          </a:p>
          <a:p>
            <a:r>
              <a:rPr lang="en-US"/>
              <a:t>          {</a:t>
            </a:r>
          </a:p>
          <a:p>
            <a:r>
              <a:rPr lang="en-US"/>
              <a:t>            "label": "Registry accepts the mismatched identity / key / context",</a:t>
            </a:r>
          </a:p>
          <a:p>
            <a:r>
              <a:rPr lang="en-US"/>
              <a:t>            "refs": [</a:t>
            </a:r>
          </a:p>
          <a:p>
            <a:r>
              <a:rPr lang="en-US"/>
              <a:t>              "F3",</a:t>
            </a:r>
          </a:p>
          <a:p>
            <a:r>
              <a:rPr lang="en-US"/>
              <a:t>              "F11"</a:t>
            </a:r>
          </a:p>
          <a:p>
            <a:r>
              <a:rPr lang="en-US"/>
              <a:t>            ],</a:t>
            </a:r>
          </a:p>
          <a:p>
            <a:r>
              <a:rPr lang="en-US"/>
              <a:t>            "note": "Enrollment signature and quote REPORTDATA jointly bind participant, action authority, RSA public key, endpoint, compose/image/policy and nonce. Substitution does not create matching fresh evidence.",</a:t>
            </a:r>
          </a:p>
          <a:p>
            <a:r>
              <a:rPr lang="en-US"/>
              <a:t>            "kind": "check_failure",</a:t>
            </a:r>
          </a:p>
          <a:p>
            <a:r>
              <a:rPr lang="en-US"/>
              <a:t>            "short_label": "Pass enrollment / quote bindings",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to make the altered context pass verification.",</a:t>
            </a:r>
          </a:p>
          <a:p>
            <a:r>
              <a:rPr lang="en-US"/>
              <a:t>            "required_credentials": "Fresh matching enrollment/quote evidence is absent; their verification blocks this attempt."</a:t>
            </a:r>
          </a:p>
          <a:p>
            <a:r>
              <a:rPr lang="en-US"/>
              <a:t>          }</a:t>
            </a:r>
          </a:p>
          <a:p>
            <a:r>
              <a:rPr lang="en-US"/>
              <a:t>        ],</a:t>
            </a:r>
          </a:p>
          <a:p>
            <a:r>
              <a:rPr lang="en-US"/>
              <a:t>        "refs": [</a:t>
            </a:r>
          </a:p>
          <a:p>
            <a:r>
              <a:rPr lang="en-US"/>
              <a:t>          "T1",</a:t>
            </a:r>
          </a:p>
          <a:p>
            <a:r>
              <a:rPr lang="en-US"/>
              <a:t>          "F3",</a:t>
            </a:r>
          </a:p>
          <a:p>
            <a:r>
              <a:rPr lang="en-US"/>
              <a:t>          "F11"</a:t>
            </a:r>
          </a:p>
          <a:p>
            <a:r>
              <a:rPr lang="en-US"/>
              <a:t>        ],</a:t>
            </a:r>
          </a:p>
          <a:p>
            <a:r>
              <a:rPr lang="en-US"/>
              <a:t>        "note": "Different authority/context plus erroneous registry admission are jointly needed.",</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"Replay earlier authority",</a:t>
            </a:r>
          </a:p>
          <a:p>
            <a:r>
              <a:rPr lang="en-US"/>
              <a:t>        "op": "AND",</a:t>
            </a:r>
          </a:p>
          <a:p>
            <a:r>
              <a:rPr lang="en-US"/>
              <a:t>        "children": [</a:t>
            </a:r>
          </a:p>
          <a:p>
            <a:r>
              <a:rPr lang="en-US"/>
              <a:t>          {</a:t>
            </a:r>
          </a:p>
          <a:p>
            <a:r>
              <a:rPr lang="en-US"/>
              <a:t>            "label": "Reuse captured signed material",</a:t>
            </a:r>
          </a:p>
          <a:p>
            <a:r>
              <a:rPr lang="en-US"/>
              <a:t>            "op": "OR",</a:t>
            </a:r>
          </a:p>
          <a:p>
            <a:r>
              <a:rPr lang="en-US"/>
              <a:t>            "children": [</a:t>
            </a:r>
          </a:p>
          <a:p>
            <a:r>
              <a:rPr lang="en-US"/>
              <a:t>              {</a:t>
            </a:r>
          </a:p>
          <a:p>
            <a:r>
              <a:rPr lang="en-US"/>
              <a:t>                "label": "Reuse evidence with a consumed registration counter",</a:t>
            </a:r>
          </a:p>
          <a:p>
            <a:r>
              <a:rPr lang="en-US"/>
              <a:t>                "refs": [</a:t>
            </a:r>
          </a:p>
          <a:p>
            <a:r>
              <a:rPr lang="en-US"/>
              <a:t>                  "T2",</a:t>
            </a:r>
          </a:p>
          <a:p>
            <a:r>
              <a:rPr lang="en-US"/>
              <a:t>                  "F11"</a:t>
            </a:r>
          </a:p>
          <a:p>
            <a:r>
              <a:rPr lang="en-US"/>
              <a:t>                ],</a:t>
            </a:r>
          </a:p>
          <a:p>
            <a:r>
              <a:rPr lang="en-US"/>
              <a:t>                "note": "Attempt a later registration with evidence whose counter has already been consumed.",</a:t>
            </a:r>
          </a:p>
          <a:p>
            <a:r>
              <a:rPr lang="en-US"/>
              <a:t>                "kind": "condition",</a:t>
            </a:r>
          </a:p>
          <a:p>
            <a:r>
              <a:rPr lang="en-US"/>
              <a:t>                "short_label": "Replay consumed registration",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"Replay captured earlier enrollment/registration evidence.",</a:t>
            </a:r>
          </a:p>
          <a:p>
            <a:r>
              <a:rPr lang="en-US"/>
              <a:t>                "required_credentials": "None for replay; the original signature is reused, not newly forged."</a:t>
            </a:r>
          </a:p>
          <a:p>
            <a:r>
              <a:rPr lang="en-US"/>
              <a:t>              },</a:t>
            </a:r>
          </a:p>
          <a:p>
            <a:r>
              <a:rPr lang="en-US"/>
              <a:t>              {</a:t>
            </a:r>
          </a:p>
          <a:p>
            <a:r>
              <a:rPr lang="en-US"/>
              <a:t>                "label": "Replay a previously signed round action in an invalid current context",</a:t>
            </a:r>
          </a:p>
          <a:p>
            <a:r>
              <a:rPr lang="en-US"/>
              <a:t>                "refs": [</a:t>
            </a:r>
          </a:p>
          <a:p>
            <a:r>
              <a:rPr lang="en-US"/>
              <a:t>                  "T2",</a:t>
            </a:r>
          </a:p>
          <a:p>
            <a:r>
              <a:rPr lang="en-US"/>
              <a:t>                  "F11"</a:t>
            </a:r>
          </a:p>
          <a:p>
            <a:r>
              <a:rPr lang="en-US"/>
              <a:t>                ],</a:t>
            </a:r>
          </a:p>
          <a:p>
            <a:r>
              <a:rPr lang="en-US"/>
              <a:t>                "note": "Replay a recorded signed action, not sign a new one with an unavailable old key. Current authority/context and transaction replay checks still apply. The fully registered run freezes roster mutation.",</a:t>
            </a:r>
          </a:p>
          <a:p>
            <a:r>
              <a:rPr lang="en-US"/>
              <a:t>                "kind": "condition",</a:t>
            </a:r>
          </a:p>
          <a:p>
            <a:r>
              <a:rPr lang="en-US"/>
              <a:t>                "short_label": "Replay an earlier signed action",</a:t>
            </a:r>
          </a:p>
          <a:p>
            <a:r>
              <a:rPr lang="en-US"/>
              <a:t>                "assessment": "neutral",</a:t>
            </a:r>
          </a:p>
          <a:p>
            <a:r>
              <a:rPr lang="en-US"/>
              <a:t>                "assessment_reason": "Action or prerequisite shown without an independent security verdict. Its effect depends on the remaining AND/OR conditions.",</a:t>
            </a:r>
          </a:p>
          <a:p>
            <a:r>
              <a:rPr lang="en-US"/>
              <a:t>                "attacker_capability": "Copy a previously signed transaction/action.",</a:t>
            </a:r>
          </a:p>
          <a:p>
            <a:r>
              <a:rPr lang="en-US"/>
              <a:t>                "required_credentials": "No new private-key access; only recorded signed material."</a:t>
            </a:r>
          </a:p>
          <a:p>
            <a:r>
              <a:rPr lang="en-US"/>
              <a:t>              }</a:t>
            </a:r>
          </a:p>
          <a:p>
            <a:r>
              <a:rPr lang="en-US"/>
              <a:t>            ],</a:t>
            </a:r>
          </a:p>
          <a:p>
            <a:r>
              <a:rPr lang="en-US"/>
              <a:t>            "refs": [</a:t>
            </a:r>
          </a:p>
          <a:p>
            <a:r>
              <a:rPr lang="en-US"/>
              <a:t>              "T2"</a:t>
            </a:r>
          </a:p>
          <a:p>
            <a:r>
              <a:rPr lang="en-US"/>
              <a:t>            ],</a:t>
            </a:r>
          </a:p>
          <a:p>
            <a:r>
              <a:rPr lang="en-US"/>
              <a:t>            "note": "Recorded registration or round-action material can be copied without access to its private signing key. No fresh signature and no regular in-run key-rotation mechanism are assumed.",</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"Current-authority / freshness checks accept it",</a:t>
            </a:r>
          </a:p>
          <a:p>
            <a:r>
              <a:rPr lang="en-US"/>
              <a:t>            "refs": [</a:t>
            </a:r>
          </a:p>
          <a:p>
            <a:r>
              <a:rPr lang="en-US"/>
              <a:t>              "F11"</a:t>
            </a:r>
          </a:p>
          <a:p>
            <a:r>
              <a:rPr lang="en-US"/>
              <a:t>            ],</a:t>
            </a:r>
          </a:p>
          <a:p>
            <a:r>
              <a:rPr lang="en-US"/>
              <a:t>            "note": "Consumed registration nonces, frozen roster and action-specific current-state/context checks reject invalid replay. In-run key rotation is not silently assumed.",</a:t>
            </a:r>
          </a:p>
          <a:p>
            <a:r>
              <a:rPr lang="en-US"/>
              <a:t>            "kind": "check_failure",</a:t>
            </a:r>
          </a:p>
          <a:p>
            <a:r>
              <a:rPr lang="en-US"/>
              <a:t>            "short_label": "Pass nonce / current-state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of stale material.",</a:t>
            </a:r>
          </a:p>
          <a:p>
            <a:r>
              <a:rPr lang="en-US"/>
              <a:t>            "required_credentials": "No new valid current-context signature; verification must be defeated to succeed."</a:t>
            </a:r>
          </a:p>
          <a:p>
            <a:r>
              <a:rPr lang="en-US"/>
              <a:t>          }</a:t>
            </a:r>
          </a:p>
          <a:p>
            <a:r>
              <a:rPr lang="en-US"/>
              <a:t>        ],</a:t>
            </a:r>
          </a:p>
          <a:p>
            <a:r>
              <a:rPr lang="en-US"/>
              <a:t>        "refs": [</a:t>
            </a:r>
          </a:p>
          <a:p>
            <a:r>
              <a:rPr lang="en-US"/>
              <a:t>          "T2",</a:t>
            </a:r>
          </a:p>
          <a:p>
            <a:r>
              <a:rPr lang="en-US"/>
              <a:t>          "F11"</a:t>
            </a:r>
          </a:p>
          <a:p>
            <a:r>
              <a:rPr lang="en-US"/>
              <a:t>        ],</a:t>
            </a:r>
          </a:p>
          <a:p>
            <a:r>
              <a:rPr lang="en-US"/>
              <a:t>        "note": "Stale authority and acceptance by the corresponding current-state check must concern the same attempted transition.",</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"refs": [</a:t>
            </a:r>
          </a:p>
          <a:p>
            <a:r>
              <a:rPr lang="en-US"/>
              <a:t>      "T1",</a:t>
            </a:r>
          </a:p>
          <a:p>
            <a:r>
              <a:rPr lang="en-US"/>
              <a:t>      "T2",</a:t>
            </a:r>
          </a:p>
          <a:p>
            <a:r>
              <a:rPr lang="en-US"/>
              <a:t>      "F3",</a:t>
            </a:r>
          </a:p>
          <a:p>
            <a:r>
              <a:rPr lang="en-US"/>
              <a:t>      "F11"</a:t>
            </a:r>
          </a:p>
          <a:p>
            <a:r>
              <a:rPr lang="en-US"/>
              <a:t>    ],</a:t>
            </a:r>
          </a:p>
          <a:p>
            <a:r>
              <a:rPr lang="en-US"/>
              <a:t>    "note": "Scope: external admission/substitution/replay attempts against the intact owner-committed run. Governance and protected-signing compromise are separate trust boundaries, not capabilities silently granted here.",</a:t>
            </a:r>
          </a:p>
          <a:p>
            <a:r>
              <a:rPr lang="en-US"/>
              <a:t>    "assessment": "blocked",</a:t>
            </a:r>
          </a:p>
          <a:p>
            <a:r>
              <a:rPr lang="en-US"/>
              <a:t>    "assessment_reason": "OR over (blocked, blocked, blocked); each route retains all actor, credential, timing and context prerequisites. No attack success was observed."</a:t>
            </a:r>
          </a:p>
          <a:p>
            <a:r>
              <a:rPr lang="en-US"/>
              <a:t>  },</a:t>
            </a:r>
          </a:p>
          <a:p>
            <a:r>
              <a:rPr lang="en-US"/>
              <a:t>  "takeaway": "Admission binds roster, code and keys; replaying a signature does not grant current signing authority.",</a:t>
            </a:r>
          </a:p>
          <a:p>
            <a:r>
              <a:rPr lang="en-US"/>
              <a:t>  "source_lines": {</a:t>
            </a:r>
          </a:p>
          <a:p>
            <a:r>
              <a:rPr lang="en-US"/>
              <a:t>    "T1": [</a:t>
            </a:r>
          </a:p>
          <a:p>
            <a:r>
              <a:rPr lang="en-US"/>
              <a:t>      279,</a:t>
            </a:r>
          </a:p>
          <a:p>
            <a:r>
              <a:rPr lang="en-US"/>
              <a:t>      291</a:t>
            </a:r>
          </a:p>
          <a:p>
            <a:r>
              <a:rPr lang="en-US"/>
              <a:t>    ],</a:t>
            </a:r>
          </a:p>
          <a:p>
            <a:r>
              <a:rPr lang="en-US"/>
              <a:t>    "T2": [</a:t>
            </a:r>
          </a:p>
          <a:p>
            <a:r>
              <a:rPr lang="en-US"/>
              <a:t>      299,</a:t>
            </a:r>
          </a:p>
          <a:p>
            <a:r>
              <a:rPr lang="en-US"/>
              <a:t>      309</a:t>
            </a:r>
          </a:p>
          <a:p>
            <a:r>
              <a:rPr lang="en-US"/>
              <a:t>    ],</a:t>
            </a:r>
          </a:p>
          <a:p>
            <a:r>
              <a:rPr lang="en-US"/>
              <a:t>    "F3": [</a:t>
            </a:r>
          </a:p>
          <a:p>
            <a:r>
              <a:rPr lang="en-US"/>
              <a:t>      562,</a:t>
            </a:r>
          </a:p>
          <a:p>
            <a:r>
              <a:rPr lang="en-US"/>
              <a:t>      568</a:t>
            </a:r>
          </a:p>
          <a:p>
            <a:r>
              <a:rPr lang="en-US"/>
              <a:t>    ],</a:t>
            </a:r>
          </a:p>
          <a:p>
            <a:r>
              <a:rPr lang="en-US"/>
              <a:t>    "F11": [</a:t>
            </a:r>
          </a:p>
          <a:p>
            <a:r>
              <a:rPr lang="en-US"/>
              <a:t>      619,</a:t>
            </a:r>
          </a:p>
          <a:p>
            <a:r>
              <a:rPr lang="en-US"/>
              <a:t>      624</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"vita-fl/smart_contracts/src/core/DeviceRegistry.sol",</a:t>
            </a:r>
          </a:p>
          <a:p>
            <a:r>
              <a:rPr lang="en-US"/>
              <a:t>        "lines": [</a:t>
            </a:r>
          </a:p>
          <a:p>
            <a:r>
              <a:rPr lang="en-US"/>
              <a:t>          119,</a:t>
            </a:r>
          </a:p>
          <a:p>
            <a:r>
              <a:rPr lang="en-US"/>
              <a:t>          134,</a:t>
            </a:r>
          </a:p>
          <a:p>
            <a:r>
              <a:rPr lang="en-US"/>
              <a:t>          248,</a:t>
            </a:r>
          </a:p>
          <a:p>
            <a:r>
              <a:rPr lang="en-US"/>
              <a:t>          255,</a:t>
            </a:r>
          </a:p>
          <a:p>
            <a:r>
              <a:rPr lang="en-US"/>
              <a:t>          293,</a:t>
            </a:r>
          </a:p>
          <a:p>
            <a:r>
              <a:rPr lang="en-US"/>
              <a:t>          338,</a:t>
            </a:r>
          </a:p>
          <a:p>
            <a:r>
              <a:rPr lang="en-US"/>
              <a:t>          477,</a:t>
            </a:r>
          </a:p>
          <a:p>
            <a:r>
              <a:rPr lang="en-US"/>
              <a:t>          530</a:t>
            </a:r>
          </a:p>
          <a:p>
            <a:r>
              <a:rPr lang="en-US"/>
              <a:t>        ],</a:t>
            </a:r>
          </a:p>
          <a:p>
            <a:r>
              <a:rPr lang="en-US"/>
              <a:t>        "finding": "Committed roster, current action authority, enrollment/REPORTDATA binding, consumed nonce, image/policy and frozen roster.",</a:t>
            </a:r>
          </a:p>
          <a:p>
            <a:r>
              <a:rPr lang="en-US"/>
              <a:t>        "sha256": "f00f9f5268d1f0f55158b71d334dc50542a1ac7704818460634f988d87ef7f4b"</a:t>
            </a:r>
          </a:p>
          <a:p>
            <a:r>
              <a:rPr lang="en-US"/>
              <a:t>      },</a:t>
            </a:r>
          </a:p>
          <a:p>
            <a:r>
              <a:rPr lang="en-US"/>
              <a:t>      {</a:t>
            </a:r>
          </a:p>
          <a:p>
            <a:r>
              <a:rPr lang="en-US"/>
              <a:t>        "path": "vita-fl/smart_contracts/src/attestation/AutomataDcapTdxV4Attestation.sol",</a:t>
            </a:r>
          </a:p>
          <a:p>
            <a:r>
              <a:rPr lang="en-US"/>
              <a:t>        "lines": [</a:t>
            </a:r>
          </a:p>
          <a:p>
            <a:r>
              <a:rPr lang="en-US"/>
              <a:t>          149,</a:t>
            </a:r>
          </a:p>
          <a:p>
            <a:r>
              <a:rPr lang="en-US"/>
              <a:t>          171,</a:t>
            </a:r>
          </a:p>
          <a:p>
            <a:r>
              <a:rPr lang="en-US"/>
              <a:t>          310,</a:t>
            </a:r>
          </a:p>
          <a:p>
            <a:r>
              <a:rPr lang="en-US"/>
              <a:t>          333</a:t>
            </a:r>
          </a:p>
          <a:p>
            <a:r>
              <a:rPr lang="en-US"/>
              <a:t>        ],</a:t>
            </a:r>
          </a:p>
          <a:p>
            <a:r>
              <a:rPr lang="en-US"/>
              <a:t>        "finding": "DCAP signature/platform and RTMR3 replay checks.",</a:t>
            </a:r>
          </a:p>
          <a:p>
            <a:r>
              <a:rPr lang="en-US"/>
              <a:t>        "sha256": "9d373198ce9209b90ab3055bf6bd8cd39f1a95227632d78003285ab98bed09b0"</a:t>
            </a:r>
          </a:p>
          <a:p>
            <a:r>
              <a:rPr lang="en-US"/>
              <a:t>      },</a:t>
            </a:r>
          </a:p>
          <a:p>
            <a:r>
              <a:rPr lang="en-US"/>
              <a:t>      {</a:t>
            </a:r>
          </a:p>
          <a:p>
            <a:r>
              <a:rPr lang="en-US"/>
              <a:t>        "path": "vita-fl/dfl/node_server/src/action_key.ts",</a:t>
            </a:r>
          </a:p>
          <a:p>
            <a:r>
              <a:rPr lang="en-US"/>
              <a:t>        "lines": [</a:t>
            </a:r>
          </a:p>
          <a:p>
            <a:r>
              <a:rPr lang="en-US"/>
              <a:t>          65,</a:t>
            </a:r>
          </a:p>
          <a:p>
            <a:r>
              <a:rPr lang="en-US"/>
              <a:t>          98,</a:t>
            </a:r>
          </a:p>
          <a:p>
            <a:r>
              <a:rPr lang="en-US"/>
              <a:t>          198,</a:t>
            </a:r>
          </a:p>
          <a:p>
            <a:r>
              <a:rPr lang="en-US"/>
              <a:t>          205</a:t>
            </a:r>
          </a:p>
          <a:p>
            <a:r>
              <a:rPr lang="en-US"/>
              <a:t>        ],</a:t>
            </a:r>
          </a:p>
          <a:p>
            <a:r>
              <a:rPr lang="en-US"/>
              <a:t>        "finding": "Separate Phala dstack-derived action signer, bound to participant, chain and registry.",</a:t>
            </a:r>
          </a:p>
          <a:p>
            <a:r>
              <a:rPr lang="en-US"/>
              <a:t>        "sha256": "1b9ddf9e0c58f76c1090937c5f521da69eedc5612fe07b980d3b3f19603a6d62"</a:t>
            </a:r>
          </a:p>
          <a:p>
            <a:r>
              <a:rPr lang="en-US"/>
              <a:t>      }</a:t>
            </a:r>
          </a:p>
          <a:p>
            <a:r>
              <a:rPr lang="en-US"/>
              <a:t>    ],</a:t>
            </a:r>
          </a:p>
          <a:p>
            <a:r>
              <a:rPr lang="en-US"/>
              <a:t>    "limits": [</a:t>
            </a:r>
          </a:p>
          <a:p>
            <a:r>
              <a:rPr lang="en-US"/>
              <a:t>      "Green covers the shown external attempts under intact admission/governance assumptions, not compromise of the attestation root or administrator."</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"02-model",</a:t>
            </a:r>
          </a:p>
          <a:p>
            <a:r>
              <a:rPr lang="en-US"/>
              <a:t>  "name_de": "2 · Modellintegrität und Poisoning",</a:t>
            </a:r>
          </a:p>
          <a:p>
            <a:r>
              <a:rPr lang="en-US"/>
              <a:t>  "title": "Attack tree: model integrity and poisoning",</a:t>
            </a:r>
          </a:p>
          <a:p>
            <a:r>
              <a:rPr lang="en-US"/>
              <a:t>  "threats": [</a:t>
            </a:r>
          </a:p>
          <a:p>
            <a:r>
              <a:rPr lang="en-US"/>
              <a:t>    "T3",</a:t>
            </a:r>
          </a:p>
          <a:p>
            <a:r>
              <a:rPr lang="en-US"/>
              <a:t>    "T4",</a:t>
            </a:r>
          </a:p>
          <a:p>
            <a:r>
              <a:rPr lang="en-US"/>
              <a:t>    "T6",</a:t>
            </a:r>
          </a:p>
          <a:p>
            <a:r>
              <a:rPr lang="en-US"/>
              <a:t>    "T7",</a:t>
            </a:r>
          </a:p>
          <a:p>
            <a:r>
              <a:rPr lang="en-US"/>
              <a:t>    "T13",</a:t>
            </a:r>
          </a:p>
          <a:p>
            <a:r>
              <a:rPr lang="en-US"/>
              <a:t>    "T14"</a:t>
            </a:r>
          </a:p>
          <a:p>
            <a:r>
              <a:rPr lang="en-US"/>
              <a:t>  ],</a:t>
            </a:r>
          </a:p>
          <a:p>
            <a:r>
              <a:rPr lang="en-US"/>
              <a:t>  "domains": [</a:t>
            </a:r>
          </a:p>
          <a:p>
            <a:r>
              <a:rPr lang="en-US"/>
              <a:t>    "DFL"</a:t>
            </a:r>
          </a:p>
          <a:p>
            <a:r>
              <a:rPr lang="en-US"/>
              <a:t>  ],</a:t>
            </a:r>
          </a:p>
          <a:p>
            <a:r>
              <a:rPr lang="en-US"/>
              <a:t>  "root": {</a:t>
            </a:r>
          </a:p>
          <a:p>
            <a:r>
              <a:rPr lang="en-US"/>
              <a:t>    "label": "Corrupt the model in this run",</a:t>
            </a:r>
          </a:p>
          <a:p>
            <a:r>
              <a:rPr lang="en-US"/>
              <a:t>    "op": "OR",</a:t>
            </a:r>
          </a:p>
          <a:p>
            <a:r>
              <a:rPr lang="en-US"/>
              <a:t>    "children": [</a:t>
            </a:r>
          </a:p>
          <a:p>
            <a:r>
              <a:rPr lang="en-US"/>
              <a:t>      {</a:t>
            </a:r>
          </a:p>
          <a:p>
            <a:r>
              <a:rPr lang="en-US"/>
              <a:t>        "label": "Train on tampered inputs",</a:t>
            </a:r>
          </a:p>
          <a:p>
            <a:r>
              <a:rPr lang="en-US"/>
              <a:t>        "op": "AND",</a:t>
            </a:r>
          </a:p>
          <a:p>
            <a:r>
              <a:rPr lang="en-US"/>
              <a:t>        "children": [</a:t>
            </a:r>
          </a:p>
          <a:p>
            <a:r>
              <a:rPr lang="en-US"/>
              <a:t>          {</a:t>
            </a:r>
          </a:p>
          <a:p>
            <a:r>
              <a:rPr lang="en-US"/>
              <a:t>            "label": "Alter signed image / label bytes or substitute signer role",</a:t>
            </a:r>
          </a:p>
          <a:p>
            <a:r>
              <a:rPr lang="en-US"/>
              <a:t>            "refs": [</a:t>
            </a:r>
          </a:p>
          <a:p>
            <a:r>
              <a:rPr lang="en-US"/>
              <a:t>              "T3"</a:t>
            </a:r>
          </a:p>
          <a:p>
            <a:r>
              <a:rPr lang="en-US"/>
              <a:t>            ],</a:t>
            </a:r>
          </a:p>
          <a:p>
            <a:r>
              <a:rPr lang="en-US"/>
              <a:t>            "note": "An outsider can edit a copy of sample bytes or signer metadata, but this does not make that copy part of the admitted training input. ChestMNIST shards are bundled in the image and copied at startup; a changed image also faces admission. The full success path requires reaching the training input and bypassing provenance verification.",</a:t>
            </a:r>
          </a:p>
          <a:p>
            <a:r>
              <a:rPr lang="en-US"/>
              <a:t>            "kind": "condition",</a:t>
            </a:r>
          </a:p>
          <a:p>
            <a:r>
              <a:rPr lang="en-US"/>
              <a:t>            "short_label": "Alter signed sample bytes",</a:t>
            </a:r>
          </a:p>
          <a:p>
            <a:r>
              <a:rPr lang="en-US"/>
              <a:t>            "assessment": "neutral",</a:t>
            </a:r>
          </a:p>
          <a:p>
            <a:r>
              <a:rPr lang="en-US"/>
              <a:t>            "assessment_reason": "Action or prerequisite shown without an independent security verdict. Its effect depends on the remaining AND/OR conditions.",</a:t>
            </a:r>
          </a:p>
          <a:p>
            <a:r>
              <a:rPr lang="en-US"/>
              <a:t>            "attacker_capability": "Modify an input copy or candidate data package; no protected runtime write is assumed.",</a:t>
            </a:r>
          </a:p>
          <a:p>
            <a:r>
              <a:rPr lang="en-US"/>
              <a:t>            "required_credentials": "No key needed to alter bytes; the existing medical signature becomes invalid."</a:t>
            </a:r>
          </a:p>
          <a:p>
            <a:r>
              <a:rPr lang="en-US"/>
              <a:t>          },</a:t>
            </a:r>
          </a:p>
          <a:p>
            <a:r>
              <a:rPr lang="en-US"/>
              <a:t>          {</a:t>
            </a:r>
          </a:p>
          <a:p>
            <a:r>
              <a:rPr lang="en-US"/>
              <a:t>            "label": "Worker accepts invalid signatures, links or signer roles",</a:t>
            </a:r>
          </a:p>
          <a:p>
            <a:r>
              <a:rPr lang="en-US"/>
              <a:t>            "refs": [</a:t>
            </a:r>
          </a:p>
          <a:p>
            <a:r>
              <a:rPr lang="en-US"/>
              <a:t>              "F9"</a:t>
            </a:r>
          </a:p>
          <a:p>
            <a:r>
              <a:rPr lang="en-US"/>
              <a:t>            ],</a:t>
            </a:r>
          </a:p>
          <a:p>
            <a:r>
              <a:rPr lang="en-US"/>
              <a:t>            "note": "Before training, separate image/annotation signatures, their image linkage and current authorized signer roles are checked. A modified external file is not automatically mounted into the approved runtime.",</a:t>
            </a:r>
          </a:p>
          <a:p>
            <a:r>
              <a:rPr lang="en-US"/>
              <a:t>            "kind": "check_failure",</a:t>
            </a:r>
          </a:p>
          <a:p>
            <a:r>
              <a:rPr lang="en-US"/>
              <a:t>            "short_label": "Pass provenance checks anyway",</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and actual training on the changed input.",</a:t>
            </a:r>
          </a:p>
          <a:p>
            <a:r>
              <a:rPr lang="en-US"/>
              <a:t>            "required_credentials": "No valid matching medical signatures; intact provenance/admission checks block the attempt."</a:t>
            </a:r>
          </a:p>
          <a:p>
            <a:r>
              <a:rPr lang="en-US"/>
              <a:t>          }</a:t>
            </a:r>
          </a:p>
          <a:p>
            <a:r>
              <a:rPr lang="en-US"/>
              <a:t>        ],</a:t>
            </a:r>
          </a:p>
          <a:p>
            <a:r>
              <a:rPr lang="en-US"/>
              <a:t>        "refs": [</a:t>
            </a:r>
          </a:p>
          <a:p>
            <a:r>
              <a:rPr lang="en-US"/>
              <a:t>          "T3",</a:t>
            </a:r>
          </a:p>
          <a:p>
            <a:r>
              <a:rPr lang="en-US"/>
              <a:t>          "F9"</a:t>
            </a:r>
          </a:p>
          <a:p>
            <a:r>
              <a:rPr lang="en-US"/>
              <a:t>        ],</a:t>
            </a:r>
          </a:p>
          <a:p>
            <a:r>
              <a:rPr lang="en-US"/>
              <a:t>        "note": "Data or signer manipulation plus acceptance into training is necessary. Detecting either before training defeats this modeled path.",</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"Substitute model artifacts",</a:t>
            </a:r>
          </a:p>
          <a:p>
            <a:r>
              <a:rPr lang="en-US"/>
              <a:t>        "op": "AND",</a:t>
            </a:r>
          </a:p>
          <a:p>
            <a:r>
              <a:rPr lang="en-US"/>
              <a:t>        "children": [</a:t>
            </a:r>
          </a:p>
          <a:p>
            <a:r>
              <a:rPr lang="en-US"/>
              <a:t>          {</a:t>
            </a:r>
          </a:p>
          <a:p>
            <a:r>
              <a:rPr lang="en-US"/>
              <a:t>            "label": "Store returns a swapped update or an old signed model",</a:t>
            </a:r>
          </a:p>
          <a:p>
            <a:r>
              <a:rPr lang="en-US"/>
              <a:t>            "refs": [</a:t>
            </a:r>
          </a:p>
          <a:p>
            <a:r>
              <a:rPr lang="en-US"/>
              <a:t>              "T4"</a:t>
            </a:r>
          </a:p>
          <a:p>
            <a:r>
              <a:rPr lang="en-US"/>
              <a:t>            ],</a:t>
            </a:r>
          </a:p>
          <a:p>
            <a:r>
              <a:rPr lang="en-US"/>
              <a:t>            "note": "An intermediary substitutes update bytes, model/signature objects, recipient bundle or a stale publication.",</a:t>
            </a:r>
          </a:p>
          <a:p>
            <a:r>
              <a:rPr lang="en-US"/>
              <a:t>            "kind": "condition",</a:t>
            </a:r>
          </a:p>
          <a:p>
            <a:r>
              <a:rPr lang="en-US"/>
              <a:t>            "short_label": "Swap update / replay old model",</a:t>
            </a:r>
          </a:p>
          <a:p>
            <a:r>
              <a:rPr lang="en-US"/>
              <a:t>            "assessment": "neutral",</a:t>
            </a:r>
          </a:p>
          <a:p>
            <a:r>
              <a:rPr lang="en-US"/>
              <a:t>            "assessment_reason": "Action or prerequisite shown without an independent security verdict. Its effect depends on the remaining AND/OR conditions.",</a:t>
            </a:r>
          </a:p>
          <a:p>
            <a:r>
              <a:rPr lang="en-US"/>
              <a:t>            "attacker_capability": "Control returned storage objects or intercepted artifact delivery.",</a:t>
            </a:r>
          </a:p>
          <a:p>
            <a:r>
              <a:rPr lang="en-US"/>
              <a:t>            "required_credentials": "No private key for byte changes or replay of an existing signed object."</a:t>
            </a:r>
          </a:p>
          <a:p>
            <a:r>
              <a:rPr lang="en-US"/>
              <a:t>          },</a:t>
            </a:r>
          </a:p>
          <a:p>
            <a:r>
              <a:rPr lang="en-US"/>
              <a:t>          {</a:t>
            </a:r>
          </a:p>
          <a:p>
            <a:r>
              <a:rPr lang="en-US"/>
              <a:t>            "label": "Consumer uses artifacts that violate tuple / context binding",</a:t>
            </a:r>
          </a:p>
          <a:p>
            <a:r>
              <a:rPr lang="en-US"/>
              <a:t>            "refs": [</a:t>
            </a:r>
          </a:p>
          <a:p>
            <a:r>
              <a:rPr lang="en-US"/>
              <a:t>              "F5",</a:t>
            </a:r>
          </a:p>
          <a:p>
            <a:r>
              <a:rPr lang="en-US"/>
              <a:t>              "F11"</a:t>
            </a:r>
          </a:p>
          <a:p>
            <a:r>
              <a:rPr lang="en-US"/>
              <a:t>            ],</a:t>
            </a:r>
          </a:p>
          <a:p>
            <a:r>
              <a:rPr lang="en-US"/>
              <a:t>            "note": "Consumers bind signatures, artifact hashes, authorized participant, round and authoritative publication tuple. New accepted updates additionally have current action-key commitments. Replaying an old valid signature does not satisfy a new context.",</a:t>
            </a:r>
          </a:p>
          <a:p>
            <a:r>
              <a:rPr lang="en-US"/>
              <a:t>            "kind": "check_failure",</a:t>
            </a:r>
          </a:p>
          <a:p>
            <a:r>
              <a:rPr lang="en-US"/>
              <a:t>            "short_label": "Pass signature / context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use of a substituted or stale artifact.",</a:t>
            </a:r>
          </a:p>
          <a:p>
            <a:r>
              <a:rPr lang="en-US"/>
              <a:t>            "required_credentials": "Matching artifact signatures and action/context commitments are absent; intact checks reject the attempt."</a:t>
            </a:r>
          </a:p>
          <a:p>
            <a:r>
              <a:rPr lang="en-US"/>
              <a:t>          }</a:t>
            </a:r>
          </a:p>
          <a:p>
            <a:r>
              <a:rPr lang="en-US"/>
              <a:t>        ],</a:t>
            </a:r>
          </a:p>
          <a:p>
            <a:r>
              <a:rPr lang="en-US"/>
              <a:t>        "refs": [</a:t>
            </a:r>
          </a:p>
          <a:p>
            <a:r>
              <a:rPr lang="en-US"/>
              <a:t>          "T4",</a:t>
            </a:r>
          </a:p>
          <a:p>
            <a:r>
              <a:rPr lang="en-US"/>
              <a:t>          "F5",</a:t>
            </a:r>
          </a:p>
          <a:p>
            <a:r>
              <a:rPr lang="en-US"/>
              <a:t>          "F11"</a:t>
            </a:r>
          </a:p>
          <a:p>
            <a:r>
              <a:rPr lang="en-US"/>
              <a:t>        ],</a:t>
            </a:r>
          </a:p>
          <a:p>
            <a:r>
              <a:rPr lang="en-US"/>
              <a:t>        "note": "Substituted bytes must actually be accepted and used. This path can occur after finalization and need not create a new malicious publication.",</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"Publish a false aggregate",</a:t>
            </a:r>
          </a:p>
          <a:p>
            <a:r>
              <a:rPr lang="en-US"/>
              <a:t>        "op": "AND",</a:t>
            </a:r>
          </a:p>
          <a:p>
            <a:r>
              <a:rPr lang="en-US"/>
              <a:t>        "children": [</a:t>
            </a:r>
          </a:p>
          <a:p>
            <a:r>
              <a:rPr lang="en-US"/>
              <a:t>          {</a:t>
            </a:r>
          </a:p>
          <a:p>
            <a:r>
              <a:rPr lang="en-US"/>
              <a:t>            "label": "Compromise the admitted aggregator process or obtain both required signing authorities",</a:t>
            </a:r>
          </a:p>
          <a:p>
            <a:r>
              <a:rPr lang="en-US"/>
              <a:t>            "short_label": "Compromise aggregator runtime",</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"Requires actual control of the protected aggregator process, or the current aggregator action key AND its RSA artifact signer. Running or enrolling a CVM alone supplies neither capability. This explicitly crosses protected execution/key custody (AS5).",</a:t>
            </a:r>
          </a:p>
          <a:p>
            <a:r>
              <a:rPr lang="en-US"/>
              <a:t>            "refs": [</a:t>
            </a:r>
          </a:p>
          <a:p>
            <a:r>
              <a:rPr lang="en-US"/>
              <a:t>              "T6",</a:t>
            </a:r>
          </a:p>
          <a:p>
            <a:r>
              <a:rPr lang="en-US"/>
              <a:t>              "T13",</a:t>
            </a:r>
          </a:p>
          <a:p>
            <a:r>
              <a:rPr lang="en-US"/>
              <a:t>              "AS5"</a:t>
            </a:r>
          </a:p>
          <a:p>
            <a:r>
              <a:rPr lang="en-US"/>
              <a:t>            ],</a:t>
            </a:r>
          </a:p>
          <a:p>
            <a:r>
              <a:rPr lang="en-US"/>
              <a:t>            "attacker_capability": "Protected aggregator execution/signing compromise.",</a:t>
            </a:r>
          </a:p>
          <a:p>
            <a:r>
              <a:rPr lang="en-US"/>
              <a:t>            "required_credentials": "Current aggregator action key plus RSA artifact signing authority, or control of the TEE process using both."</a:t>
            </a:r>
          </a:p>
          <a:p>
            <a:r>
              <a:rPr lang="en-US"/>
              <a:t>          },</a:t>
            </a:r>
          </a:p>
          <a:p>
            <a:r>
              <a:rPr lang="en-US"/>
              <a:t>          {</a:t>
            </a:r>
          </a:p>
          <a:p>
            <a:r>
              <a:rPr lang="en-US"/>
              <a:t>            "label": "Publish a mathematically false output with valid signatures and accepted-set bindings",</a:t>
            </a:r>
          </a:p>
          <a:p>
            <a:r>
              <a:rPr lang="en-US"/>
              <a:t>            "short_label": "Sign false aggregate as valid",</a:t>
            </a:r>
          </a:p>
          <a:p>
            <a:r>
              <a:rPr lang="en-US"/>
              <a:t>            "assessment": "neutral",</a:t>
            </a:r>
          </a:p>
          <a:p>
            <a:r>
              <a:rPr lang="en-US"/>
              <a:t>            "assessment_reason": "A capability or necessary condition only; the other AND conditions still have to hold.",</a:t>
            </a:r>
          </a:p>
          <a:p>
            <a:r>
              <a:rPr lang="en-US"/>
              <a:t>            "note": "The intact staging path checks accepted membership, plaintext hashes and exact count and averages exactly those staged files. The contract checks signed set/policy/output bindings; it does not independently recompute the numerical mean. This leaf requires a false result that retains every cryptographic/role/context binding, not a trivially mismatched hash.",</a:t>
            </a:r>
          </a:p>
          <a:p>
            <a:r>
              <a:rPr lang="en-US"/>
              <a:t>            "refs": [</a:t>
            </a:r>
          </a:p>
          <a:p>
            <a:r>
              <a:rPr lang="en-US"/>
              <a:t>              "T6",</a:t>
            </a:r>
          </a:p>
          <a:p>
            <a:r>
              <a:rPr lang="en-US"/>
              <a:t>              "F4",</a:t>
            </a:r>
          </a:p>
          <a:p>
            <a:r>
              <a:rPr lang="en-US"/>
              <a:t>              "F5"</a:t>
            </a:r>
          </a:p>
          <a:p>
            <a:r>
              <a:rPr lang="en-US"/>
              <a:t>            ],</a:t>
            </a:r>
          </a:p>
          <a:p>
            <a:r>
              <a:rPr lang="en-US"/>
              <a:t>            "attacker_capability": "Use the compromised aggregator authority to choose and publish a false result.",</a:t>
            </a:r>
          </a:p>
          <a:p>
            <a:r>
              <a:rPr lang="en-US"/>
              <a:t>            "required_credentials": "Both signing authorities supplied by the preceding condition, plus normal publication context."</a:t>
            </a:r>
          </a:p>
          <a:p>
            <a:r>
              <a:rPr lang="en-US"/>
              <a:t>          }</a:t>
            </a:r>
          </a:p>
          <a:p>
            <a:r>
              <a:rPr lang="en-US"/>
              <a:t>        ],</a:t>
            </a:r>
          </a:p>
          <a:p>
            <a:r>
              <a:rPr lang="en-US"/>
              <a:t>        "note": "No external uncredentialed omission route is asserted. Correct computation depends on the admitted execution; signatures bind the claimed calculation and output but are not an independent arithmetic proof.",</a:t>
            </a:r>
          </a:p>
          <a:p>
            <a:r>
              <a:rPr lang="en-US"/>
              <a:t>        "refs": [</a:t>
            </a:r>
          </a:p>
          <a:p>
            <a:r>
              <a:rPr lang="en-US"/>
              <a:t>          "T6",</a:t>
            </a:r>
          </a:p>
          <a:p>
            <a:r>
              <a:rPr lang="en-US"/>
              <a:t>          "T13",</a:t>
            </a:r>
          </a:p>
          <a:p>
            <a:r>
              <a:rPr lang="en-US"/>
              <a:t>          "F4",</a:t>
            </a:r>
          </a:p>
          <a:p>
            <a:r>
              <a:rPr lang="en-US"/>
              <a:t>          "F5",</a:t>
            </a:r>
          </a:p>
          <a:p>
            <a:r>
              <a:rPr lang="en-US"/>
              <a:t>          "AS5"</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"label": "Inject a harmful signed update",</a:t>
            </a:r>
          </a:p>
          <a:p>
            <a:r>
              <a:rPr lang="en-US"/>
              <a:t>        "op": "AND",</a:t>
            </a:r>
          </a:p>
          <a:p>
            <a:r>
              <a:rPr lang="en-US"/>
              <a:t>        "children": [</a:t>
            </a:r>
          </a:p>
          <a:p>
            <a:r>
              <a:rPr lang="en-US"/>
              <a:t>          {</a:t>
            </a:r>
          </a:p>
          <a:p>
            <a:r>
              <a:rPr lang="en-US"/>
              <a:t>            "label": "Compromise admitted worker execution so it can choose an arbitrary update",</a:t>
            </a:r>
          </a:p>
          <a:p>
            <a:r>
              <a:rPr lang="en-US"/>
              <a:t>            "short_label": "Compromise worker runtime",</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"The approved training code does not expose an arbitrary-update signing interface. A successful process/key-custody compromise is explicitly required for this in-run arbitrary-update route; it is not implied by participant ownership.",</a:t>
            </a:r>
          </a:p>
          <a:p>
            <a:r>
              <a:rPr lang="en-US"/>
              <a:t>            "refs": [</a:t>
            </a:r>
          </a:p>
          <a:p>
            <a:r>
              <a:rPr lang="en-US"/>
              <a:t>              "T7",</a:t>
            </a:r>
          </a:p>
          <a:p>
            <a:r>
              <a:rPr lang="en-US"/>
              <a:t>              "T13",</a:t>
            </a:r>
          </a:p>
          <a:p>
            <a:r>
              <a:rPr lang="en-US"/>
              <a:t>              "AS5"</a:t>
            </a:r>
          </a:p>
          <a:p>
            <a:r>
              <a:rPr lang="en-US"/>
              <a:t>            ],</a:t>
            </a:r>
          </a:p>
          <a:p>
            <a:r>
              <a:rPr lang="en-US"/>
              <a:t>            "attacker_capability": "Actual control of the admitted worker training/signing execution.",</a:t>
            </a:r>
          </a:p>
          <a:p>
            <a:r>
              <a:rPr lang="en-US"/>
              <a:t>            "required_credentials": "Worker RSA signing authority and current action-key commitment authority, or their protected process."</a:t>
            </a:r>
          </a:p>
          <a:p>
            <a:r>
              <a:rPr lang="en-US"/>
              <a:t>          },</a:t>
            </a:r>
          </a:p>
          <a:p>
            <a:r>
              <a:rPr lang="en-US"/>
              <a:t>          {</a:t>
            </a:r>
          </a:p>
          <a:p>
            <a:r>
              <a:rPr lang="en-US"/>
              <a:t>            "label": "Submit a well-formed harmful update whose inclusion actually degrades the aggregate",</a:t>
            </a:r>
          </a:p>
          <a:p>
            <a:r>
              <a:rPr lang="en-US"/>
              <a:t>            "short_label": "Sign a harmful in-context update",</a:t>
            </a:r>
          </a:p>
          <a:p>
            <a:r>
              <a:rPr lang="en-US"/>
              <a:t>            "assessment": "neutral",</a:t>
            </a:r>
          </a:p>
          <a:p>
            <a:r>
              <a:rPr lang="en-US"/>
              <a:t>            "assessment_reason": "A capability or necessary condition only; the other AND conditions still have to hold.",</a:t>
            </a:r>
          </a:p>
          <a:p>
            <a:r>
              <a:rPr lang="en-US"/>
              <a:t>            "note": "The manipulated update must be signed, committed with the current worker action key, accepted in the current context, included, and actually harm aggregate quality. The equal-weight mean has no demonstrated statistical poisoning defense. No harmful update or measured quality effect was produced in this review.",</a:t>
            </a:r>
          </a:p>
          <a:p>
            <a:r>
              <a:rPr lang="en-US"/>
              <a:t>            "refs": [</a:t>
            </a:r>
          </a:p>
          <a:p>
            <a:r>
              <a:rPr lang="en-US"/>
              <a:t>              "T7",</a:t>
            </a:r>
          </a:p>
          <a:p>
            <a:r>
              <a:rPr lang="en-US"/>
              <a:t>              "T14",</a:t>
            </a:r>
          </a:p>
          <a:p>
            <a:r>
              <a:rPr lang="en-US"/>
              <a:t>              "F5"</a:t>
            </a:r>
          </a:p>
          <a:p>
            <a:r>
              <a:rPr lang="en-US"/>
              <a:t>            ],</a:t>
            </a:r>
          </a:p>
          <a:p>
            <a:r>
              <a:rPr lang="en-US"/>
              <a:t>            "attacker_capability": "Choose an effective harmful update through the compromised worker.",</a:t>
            </a:r>
          </a:p>
          <a:p>
            <a:r>
              <a:rPr lang="en-US"/>
              <a:t>            "required_credentials": "Both worker signing authorities from the preceding condition; all normal shape/context/acceptance checks still apply."</a:t>
            </a:r>
          </a:p>
          <a:p>
            <a:r>
              <a:rPr lang="en-US"/>
              <a:t>          }</a:t>
            </a:r>
          </a:p>
          <a:p>
            <a:r>
              <a:rPr lang="en-US"/>
              <a:t>        ],</a:t>
            </a:r>
          </a:p>
          <a:p>
            <a:r>
              <a:rPr lang="en-US"/>
              <a:t>        "note": "This selected in-run route makes missing worker signing authority explicit. Legitimately signed misleading medical data is a separate semantic limitation if such data is authorized and provisioned; it is not automatically an available injection path into the current bundled dataset.",</a:t>
            </a:r>
          </a:p>
          <a:p>
            <a:r>
              <a:rPr lang="en-US"/>
              <a:t>        "refs": [</a:t>
            </a:r>
          </a:p>
          <a:p>
            <a:r>
              <a:rPr lang="en-US"/>
              <a:t>          "T7",</a:t>
            </a:r>
          </a:p>
          <a:p>
            <a:r>
              <a:rPr lang="en-US"/>
              <a:t>          "T13",</a:t>
            </a:r>
          </a:p>
          <a:p>
            <a:r>
              <a:rPr lang="en-US"/>
              <a:t>          "T14",</a:t>
            </a:r>
          </a:p>
          <a:p>
            <a:r>
              <a:rPr lang="en-US"/>
              <a:t>          "AS5"</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"refs": [</a:t>
            </a:r>
          </a:p>
          <a:p>
            <a:r>
              <a:rPr lang="en-US"/>
              <a:t>      "T3",</a:t>
            </a:r>
          </a:p>
          <a:p>
            <a:r>
              <a:rPr lang="en-US"/>
              <a:t>      "T4",</a:t>
            </a:r>
          </a:p>
          <a:p>
            <a:r>
              <a:rPr lang="en-US"/>
              <a:t>      "T6",</a:t>
            </a:r>
          </a:p>
          <a:p>
            <a:r>
              <a:rPr lang="en-US"/>
              <a:t>      "T7",</a:t>
            </a:r>
          </a:p>
          <a:p>
            <a:r>
              <a:rPr lang="en-US"/>
              <a:t>      "T14"</a:t>
            </a:r>
          </a:p>
          <a:p>
            <a:r>
              <a:rPr lang="en-US"/>
              <a:t>    ],</a:t>
            </a:r>
          </a:p>
          <a:p>
            <a:r>
              <a:rPr lang="en-US"/>
              <a:t>    "note": "Scope: selected attacks on the existing admitted run. Outsiders can alter available objects but cannot invent RSA- and action-signed worker updates. False aggregation and arbitrary harmful updates below explicitly require compromise of admitted execution. This is not a statistical robustness guarantee.",</a:t>
            </a:r>
          </a:p>
          <a:p>
            <a:r>
              <a:rPr lang="en-US"/>
              <a:t>    "assessment": "boundary",</a:t>
            </a:r>
          </a:p>
          <a:p>
            <a:r>
              <a:rPr lang="en-US"/>
              <a:t>    "assessment_reason": "OR over (blocked, blocked, boundary, boundary); each route retains all actor, credential, timing and context prerequisites. No attack success was observed."</a:t>
            </a:r>
          </a:p>
          <a:p>
            <a:r>
              <a:rPr lang="en-US"/>
              <a:t>  },</a:t>
            </a:r>
          </a:p>
          <a:p>
            <a:r>
              <a:rPr lang="en-US"/>
              <a:t>  "takeaway": "Arbitrary updates need protected signing authority; this does not establish statistical model robustness.",</a:t>
            </a:r>
          </a:p>
          <a:p>
            <a:r>
              <a:rPr lang="en-US"/>
              <a:t>  "source_lines": {</a:t>
            </a:r>
          </a:p>
          <a:p>
            <a:r>
              <a:rPr lang="en-US"/>
              <a:t>    "T3": [</a:t>
            </a:r>
          </a:p>
          <a:p>
            <a:r>
              <a:rPr lang="en-US"/>
              <a:t>      317,</a:t>
            </a:r>
          </a:p>
          <a:p>
            <a:r>
              <a:rPr lang="en-US"/>
              <a:t>      326</a:t>
            </a:r>
          </a:p>
          <a:p>
            <a:r>
              <a:rPr lang="en-US"/>
              <a:t>    ],</a:t>
            </a:r>
          </a:p>
          <a:p>
            <a:r>
              <a:rPr lang="en-US"/>
              <a:t>    "T4": [</a:t>
            </a:r>
          </a:p>
          <a:p>
            <a:r>
              <a:rPr lang="en-US"/>
              <a:t>      334,</a:t>
            </a:r>
          </a:p>
          <a:p>
            <a:r>
              <a:rPr lang="en-US"/>
              <a:t>      342</a:t>
            </a:r>
          </a:p>
          <a:p>
            <a:r>
              <a:rPr lang="en-US"/>
              <a:t>    ],</a:t>
            </a:r>
          </a:p>
          <a:p>
            <a:r>
              <a:rPr lang="en-US"/>
              <a:t>    "T6": [</a:t>
            </a:r>
          </a:p>
          <a:p>
            <a:r>
              <a:rPr lang="en-US"/>
              <a:t>      367,</a:t>
            </a:r>
          </a:p>
          <a:p>
            <a:r>
              <a:rPr lang="en-US"/>
              <a:t>      378</a:t>
            </a:r>
          </a:p>
          <a:p>
            <a:r>
              <a:rPr lang="en-US"/>
              <a:t>    ],</a:t>
            </a:r>
          </a:p>
          <a:p>
            <a:r>
              <a:rPr lang="en-US"/>
              <a:t>    "T7": [</a:t>
            </a:r>
          </a:p>
          <a:p>
            <a:r>
              <a:rPr lang="en-US"/>
              <a:t>      386,</a:t>
            </a:r>
          </a:p>
          <a:p>
            <a:r>
              <a:rPr lang="en-US"/>
              <a:t>      399</a:t>
            </a:r>
          </a:p>
          <a:p>
            <a:r>
              <a:rPr lang="en-US"/>
              <a:t>    ],</a:t>
            </a:r>
          </a:p>
          <a:p>
            <a:r>
              <a:rPr lang="en-US"/>
              <a:t>    "T14": [</a:t>
            </a:r>
          </a:p>
          <a:p>
            <a:r>
              <a:rPr lang="en-US"/>
              <a:t>      528,</a:t>
            </a:r>
          </a:p>
          <a:p>
            <a:r>
              <a:rPr lang="en-US"/>
              <a:t>      538</a:t>
            </a:r>
          </a:p>
          <a:p>
            <a:r>
              <a:rPr lang="en-US"/>
              <a:t>    ],</a:t>
            </a:r>
          </a:p>
          <a:p>
            <a:r>
              <a:rPr lang="en-US"/>
              <a:t>    "F4/F5": [</a:t>
            </a:r>
          </a:p>
          <a:p>
            <a:r>
              <a:rPr lang="en-US"/>
              <a:t>      570,</a:t>
            </a:r>
          </a:p>
          <a:p>
            <a:r>
              <a:rPr lang="en-US"/>
              <a:t>      584</a:t>
            </a:r>
          </a:p>
          <a:p>
            <a:r>
              <a:rPr lang="en-US"/>
              <a:t>    ],</a:t>
            </a:r>
          </a:p>
          <a:p>
            <a:r>
              <a:rPr lang="en-US"/>
              <a:t>    "F9": [</a:t>
            </a:r>
          </a:p>
          <a:p>
            <a:r>
              <a:rPr lang="en-US"/>
              <a:t>      604,</a:t>
            </a:r>
          </a:p>
          <a:p>
            <a:r>
              <a:rPr lang="en-US"/>
              <a:t>      609</a:t>
            </a:r>
          </a:p>
          <a:p>
            <a:r>
              <a:rPr lang="en-US"/>
              <a:t>    ],</a:t>
            </a:r>
          </a:p>
          <a:p>
            <a:r>
              <a:rPr lang="en-US"/>
              <a:t>    "T13": [</a:t>
            </a:r>
          </a:p>
          <a:p>
            <a:r>
              <a:rPr lang="en-US"/>
              <a:t>      508,</a:t>
            </a:r>
          </a:p>
          <a:p>
            <a:r>
              <a:rPr lang="en-US"/>
              <a:t>      520</a:t>
            </a:r>
          </a:p>
          <a:p>
            <a:r>
              <a:rPr lang="en-US"/>
              <a:t>    ],</a:t>
            </a:r>
          </a:p>
          <a:p>
            <a:r>
              <a:rPr lang="en-US"/>
              <a:t>    "AS5": [</a:t>
            </a:r>
          </a:p>
          <a:p>
            <a:r>
              <a:rPr lang="en-US"/>
              <a:t>      225,</a:t>
            </a:r>
          </a:p>
          <a:p>
            <a:r>
              <a:rPr lang="en-US"/>
              <a:t>      228</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"vita-fl/dfl/node_server/src/server.ts",</a:t>
            </a:r>
          </a:p>
          <a:p>
            <a:r>
              <a:rPr lang="en-US"/>
              <a:t>        "lines": [</a:t>
            </a:r>
          </a:p>
          <a:p>
            <a:r>
              <a:rPr lang="en-US"/>
              <a:t>          470,</a:t>
            </a:r>
          </a:p>
          <a:p>
            <a:r>
              <a:rPr lang="en-US"/>
              <a:t>          518,</a:t>
            </a:r>
          </a:p>
          <a:p>
            <a:r>
              <a:rPr lang="en-US"/>
              <a:t>          644,</a:t>
            </a:r>
          </a:p>
          <a:p>
            <a:r>
              <a:rPr lang="en-US"/>
              <a:t>          732,</a:t>
            </a:r>
          </a:p>
          <a:p>
            <a:r>
              <a:rPr lang="en-US"/>
              <a:t>          1341,</a:t>
            </a:r>
          </a:p>
          <a:p>
            <a:r>
              <a:rPr lang="en-US"/>
              <a:t>          1399,</a:t>
            </a:r>
          </a:p>
          <a:p>
            <a:r>
              <a:rPr lang="en-US"/>
              <a:t>          2146,</a:t>
            </a:r>
          </a:p>
          <a:p>
            <a:r>
              <a:rPr lang="en-US"/>
              <a:t>          2155,</a:t>
            </a:r>
          </a:p>
          <a:p>
            <a:r>
              <a:rPr lang="en-US"/>
              <a:t>          2276,</a:t>
            </a:r>
          </a:p>
          <a:p>
            <a:r>
              <a:rPr lang="en-US"/>
              <a:t>          2317,</a:t>
            </a:r>
          </a:p>
          <a:p>
            <a:r>
              <a:rPr lang="en-US"/>
              <a:t>          2820,</a:t>
            </a:r>
          </a:p>
          <a:p>
            <a:r>
              <a:rPr lang="en-US"/>
              <a:t>          2860</a:t>
            </a:r>
          </a:p>
          <a:p>
            <a:r>
              <a:rPr lang="en-US"/>
              <a:t>        ],</a:t>
            </a:r>
          </a:p>
          <a:p>
            <a:r>
              <a:rPr lang="en-US"/>
              <a:t>        "finding": "Update RSA authentication and action commitment; accepted-set staging/hash/count checks; model signature verification.",</a:t>
            </a:r>
          </a:p>
          <a:p>
            <a:r>
              <a:rPr lang="en-US"/>
              <a:t>        "sha256": "b7248ae1f0e5f374bee10cc023b4af78b32ab8dbdf1e3d22c704e4decb7ce9a5"</a:t>
            </a:r>
          </a:p>
          <a:p>
            <a:r>
              <a:rPr lang="en-US"/>
              <a:t>      },</a:t>
            </a:r>
          </a:p>
          <a:p>
            <a:r>
              <a:rPr lang="en-US"/>
              <a:t>      {</a:t>
            </a:r>
          </a:p>
          <a:p>
            <a:r>
              <a:rPr lang="en-US"/>
              <a:t>        "path": "vita-fl/dfl/neural_network/cli.py",</a:t>
            </a:r>
          </a:p>
          <a:p>
            <a:r>
              <a:rPr lang="en-US"/>
              <a:t>        "lines": [</a:t>
            </a:r>
          </a:p>
          <a:p>
            <a:r>
              <a:rPr lang="en-US"/>
              <a:t>          985,</a:t>
            </a:r>
          </a:p>
          <a:p>
            <a:r>
              <a:rPr lang="en-US"/>
              <a:t>          990,</a:t>
            </a:r>
          </a:p>
          <a:p>
            <a:r>
              <a:rPr lang="en-US"/>
              <a:t>          1279,</a:t>
            </a:r>
          </a:p>
          <a:p>
            <a:r>
              <a:rPr lang="en-US"/>
              <a:t>          1311</a:t>
            </a:r>
          </a:p>
          <a:p>
            <a:r>
              <a:rPr lang="en-US"/>
              <a:t>        ],</a:t>
            </a:r>
          </a:p>
          <a:p>
            <a:r>
              <a:rPr lang="en-US"/>
              <a:t>        "finding": "Provenance before training; exact staged files used for equal-weight aggregation and signed output.",</a:t>
            </a:r>
          </a:p>
          <a:p>
            <a:r>
              <a:rPr lang="en-US"/>
              <a:t>        "sha256": "215b85e8762aaa40d7c21fc9690d9b2b4bf33d50715e22017d1dc5d055f3212d"</a:t>
            </a:r>
          </a:p>
          <a:p>
            <a:r>
              <a:rPr lang="en-US"/>
              <a:t>      },</a:t>
            </a:r>
          </a:p>
          <a:p>
            <a:r>
              <a:rPr lang="en-US"/>
              <a:t>      {</a:t>
            </a:r>
          </a:p>
          <a:p>
            <a:r>
              <a:rPr lang="en-US"/>
              <a:t>        "path": "vita-fl/smart_contracts/src/core/AggregationPolicy.sol",</a:t>
            </a:r>
          </a:p>
          <a:p>
            <a:r>
              <a:rPr lang="en-US"/>
              <a:t>        "lines": [</a:t>
            </a:r>
          </a:p>
          <a:p>
            <a:r>
              <a:rPr lang="en-US"/>
              <a:t>          237,</a:t>
            </a:r>
          </a:p>
          <a:p>
            <a:r>
              <a:rPr lang="en-US"/>
              <a:t>          278</a:t>
            </a:r>
          </a:p>
          <a:p>
            <a:r>
              <a:rPr lang="en-US"/>
              <a:t>        ],</a:t>
            </a:r>
          </a:p>
          <a:p>
            <a:r>
              <a:rPr lang="en-US"/>
              <a:t>        "finding": "Action signature binds policy/set/output; no independent numerical recomputation.",</a:t>
            </a:r>
          </a:p>
          <a:p>
            <a:r>
              <a:rPr lang="en-US"/>
              <a:t>        "sha256": "e9965ed9cdd521d06f1b703f6822296e82f2a8d2de6cbeb14216cab7431ca368"</a:t>
            </a:r>
          </a:p>
          <a:p>
            <a:r>
              <a:rPr lang="en-US"/>
              <a:t>      },</a:t>
            </a:r>
          </a:p>
          <a:p>
            <a:r>
              <a:rPr lang="en-US"/>
              <a:t>      {</a:t>
            </a:r>
          </a:p>
          <a:p>
            <a:r>
              <a:rPr lang="en-US"/>
              <a:t>        "path": "vita-fl/smart_contracts/src/core/GMStorage.sol",</a:t>
            </a:r>
          </a:p>
          <a:p>
            <a:r>
              <a:rPr lang="en-US"/>
              <a:t>        "lines": [</a:t>
            </a:r>
          </a:p>
          <a:p>
            <a:r>
              <a:rPr lang="en-US"/>
              <a:t>          294,</a:t>
            </a:r>
          </a:p>
          <a:p>
            <a:r>
              <a:rPr lang="en-US"/>
              <a:t>          342</a:t>
            </a:r>
          </a:p>
          <a:p>
            <a:r>
              <a:rPr lang="en-US"/>
              <a:t>        ],</a:t>
            </a:r>
          </a:p>
          <a:p>
            <a:r>
              <a:rPr lang="en-US"/>
              <a:t>        "finding": "Update commitment requires current action authority.",</a:t>
            </a:r>
          </a:p>
          <a:p>
            <a:r>
              <a:rPr lang="en-US"/>
              <a:t>        "sha256": "84deba98bda6b74e6b03b0b917f09638f9de7b0d21114eedbd1efef366924003"</a:t>
            </a:r>
          </a:p>
          <a:p>
            <a:r>
              <a:rPr lang="en-US"/>
              <a:t>      },</a:t>
            </a:r>
          </a:p>
          <a:p>
            <a:r>
              <a:rPr lang="en-US"/>
              <a:t>      {</a:t>
            </a:r>
          </a:p>
          <a:p>
            <a:r>
              <a:rPr lang="en-US"/>
              <a:t>        "path": "vita-fl/dfl/node_server/src/gm_crypto.ts",</a:t>
            </a:r>
          </a:p>
          <a:p>
            <a:r>
              <a:rPr lang="en-US"/>
              <a:t>        "lines": [</a:t>
            </a:r>
          </a:p>
          <a:p>
            <a:r>
              <a:rPr lang="en-US"/>
              <a:t>          126,</a:t>
            </a:r>
          </a:p>
          <a:p>
            <a:r>
              <a:rPr lang="en-US"/>
              <a:t>          172,</a:t>
            </a:r>
          </a:p>
          <a:p>
            <a:r>
              <a:rPr lang="en-US"/>
              <a:t>          209,</a:t>
            </a:r>
          </a:p>
          <a:p>
            <a:r>
              <a:rPr lang="en-US"/>
              <a:t>          213</a:t>
            </a:r>
          </a:p>
          <a:p>
            <a:r>
              <a:rPr lang="en-US"/>
              <a:t>        ],</a:t>
            </a:r>
          </a:p>
          <a:p>
            <a:r>
              <a:rPr lang="en-US"/>
              <a:t>        "finding": "Plaintext model and encrypted bundle have RSA signatures.",</a:t>
            </a:r>
          </a:p>
          <a:p>
            <a:r>
              <a:rPr lang="en-US"/>
              <a:t>        "sha256": "b54558861535277ad3e94492d59716d4bb419101324d1d5ac95ca42d61b441bf"</a:t>
            </a:r>
          </a:p>
          <a:p>
            <a:r>
              <a:rPr lang="en-US"/>
              <a:t>      },</a:t>
            </a:r>
          </a:p>
          <a:p>
            <a:r>
              <a:rPr lang="en-US"/>
              <a:t>      {</a:t>
            </a:r>
          </a:p>
          <a:p>
            <a:r>
              <a:rPr lang="en-US"/>
              <a:t>        "path": "vita-fl/dfl/Dockerfile",</a:t>
            </a:r>
          </a:p>
          <a:p>
            <a:r>
              <a:rPr lang="en-US"/>
              <a:t>        "lines": [</a:t>
            </a:r>
          </a:p>
          <a:p>
            <a:r>
              <a:rPr lang="en-US"/>
              <a:t>          73,</a:t>
            </a:r>
          </a:p>
          <a:p>
            <a:r>
              <a:rPr lang="en-US"/>
              <a:t>          76</a:t>
            </a:r>
          </a:p>
          <a:p>
            <a:r>
              <a:rPr lang="en-US"/>
              <a:t>        ],</a:t>
            </a:r>
          </a:p>
          <a:p>
            <a:r>
              <a:rPr lang="en-US"/>
              <a:t>        "finding": "Training data included in admitted image.",</a:t>
            </a:r>
          </a:p>
          <a:p>
            <a:r>
              <a:rPr lang="en-US"/>
              <a:t>        "sha256": "931bac007801b2ae91c7687b886400c9d6ccd263478c2f96944cef379f7f2c09"</a:t>
            </a:r>
          </a:p>
          <a:p>
            <a:r>
              <a:rPr lang="en-US"/>
              <a:t>      },</a:t>
            </a:r>
          </a:p>
          <a:p>
            <a:r>
              <a:rPr lang="en-US"/>
              <a:t>      {</a:t>
            </a:r>
          </a:p>
          <a:p>
            <a:r>
              <a:rPr lang="en-US"/>
              <a:t>        "path": "vita-fl/dfl/start_node_neural_network.sh",</a:t>
            </a:r>
          </a:p>
          <a:p>
            <a:r>
              <a:rPr lang="en-US"/>
              <a:t>        "lines": [</a:t>
            </a:r>
          </a:p>
          <a:p>
            <a:r>
              <a:rPr lang="en-US"/>
              <a:t>          71,</a:t>
            </a:r>
          </a:p>
          <a:p>
            <a:r>
              <a:rPr lang="en-US"/>
              <a:t>          80</a:t>
            </a:r>
          </a:p>
          <a:p>
            <a:r>
              <a:rPr lang="en-US"/>
              <a:t>        ],</a:t>
            </a:r>
          </a:p>
          <a:p>
            <a:r>
              <a:rPr lang="en-US"/>
              <a:t>        "finding": "Selected existing training directory copied at startup.",</a:t>
            </a:r>
          </a:p>
          <a:p>
            <a:r>
              <a:rPr lang="en-US"/>
              <a:t>        "sha256": "429d22be7a958df81f101ae8794e77e560674617cd4bce8cf7ee122ff50c09bb"</a:t>
            </a:r>
          </a:p>
          <a:p>
            <a:r>
              <a:rPr lang="en-US"/>
              <a:t>      },</a:t>
            </a:r>
          </a:p>
          <a:p>
            <a:r>
              <a:rPr lang="en-US"/>
              <a:t>      {</a:t>
            </a:r>
          </a:p>
          <a:p>
            <a:r>
              <a:rPr lang="en-US"/>
              <a:t>        "path": "vita-fl/dfl/node_server/src/worker_policy.ts",</a:t>
            </a:r>
          </a:p>
          <a:p>
            <a:r>
              <a:rPr lang="en-US"/>
              <a:t>        "lines": [</a:t>
            </a:r>
          </a:p>
          <a:p>
            <a:r>
              <a:rPr lang="en-US"/>
              <a:t>          45,</a:t>
            </a:r>
          </a:p>
          <a:p>
            <a:r>
              <a:rPr lang="en-US"/>
              <a:t>          76,</a:t>
            </a:r>
          </a:p>
          <a:p>
            <a:r>
              <a:rPr lang="en-US"/>
              <a:t>          478,</a:t>
            </a:r>
          </a:p>
          <a:p>
            <a:r>
              <a:rPr lang="en-US"/>
              <a:t>          480</a:t>
            </a:r>
          </a:p>
          <a:p>
            <a:r>
              <a:rPr lang="en-US"/>
              <a:t>        ],</a:t>
            </a:r>
          </a:p>
          <a:p>
            <a:r>
              <a:rPr lang="en-US"/>
              <a:t>        "finding": "TRAIN_DATA_SRC, DATASET_NAME and EPOCH are variable allowed policy values.",</a:t>
            </a:r>
          </a:p>
          <a:p>
            <a:r>
              <a:rPr lang="en-US"/>
              <a:t>        "sha256": "861b3d73a14472869188fc0723801bc35a200ffe62fa908c7121b7bac5763a3d"</a:t>
            </a:r>
          </a:p>
          <a:p>
            <a:r>
              <a:rPr lang="en-US"/>
              <a:t>      },</a:t>
            </a:r>
          </a:p>
          <a:p>
            <a:r>
              <a:rPr lang="en-US"/>
              <a:t>      {</a:t>
            </a:r>
          </a:p>
          <a:p>
            <a:r>
              <a:rPr lang="en-US"/>
              <a:t>        "path": "vita-fl/dfl/neural_network/dicom_provenance.py",</a:t>
            </a:r>
          </a:p>
          <a:p>
            <a:r>
              <a:rPr lang="en-US"/>
              <a:t>        "lines": [</a:t>
            </a:r>
          </a:p>
          <a:p>
            <a:r>
              <a:rPr lang="en-US"/>
              <a:t>          307,</a:t>
            </a:r>
          </a:p>
          <a:p>
            <a:r>
              <a:rPr lang="en-US"/>
              <a:t>          374</a:t>
            </a:r>
          </a:p>
          <a:p>
            <a:r>
              <a:rPr lang="en-US"/>
              <a:t>        ],</a:t>
            </a:r>
          </a:p>
          <a:p>
            <a:r>
              <a:rPr lang="en-US"/>
              <a:t>        "finding": "Verify separate acquisition/annotation signatures, image linkage and current authorized signer roles.",</a:t>
            </a:r>
          </a:p>
          <a:p>
            <a:r>
              <a:rPr lang="en-US"/>
              <a:t>        "sha256": "49c95818d969dbdf24226f6ce09109bc74f8b9d6752f5755aeb0ec828f6eb13e"</a:t>
            </a:r>
          </a:p>
          <a:p>
            <a:r>
              <a:rPr lang="en-US"/>
              <a:t>      }</a:t>
            </a:r>
          </a:p>
          <a:p>
            <a:r>
              <a:rPr lang="en-US"/>
              <a:t>    ],</a:t>
            </a:r>
          </a:p>
          <a:p>
            <a:r>
              <a:rPr lang="en-US"/>
              <a:t>    "limits": [</a:t>
            </a:r>
          </a:p>
          <a:p>
            <a:r>
              <a:rPr lang="en-US"/>
              <a:t>      "Not all launch configuration is immutable: an authorized deployment actor can select existing data paths and epoch settings; no arbitrary new signed-data feed or quality attack was demonstrated.",</a:t>
            </a:r>
          </a:p>
          <a:p>
            <a:r>
              <a:rPr lang="en-US"/>
              <a:t>      "An authorized medical signer may honestly authenticate false semantics without breaking cryptography. A future approved data-provisioning path must be evaluated separately; merely being outside this run is not labeled an assumption breach.",</a:t>
            </a:r>
          </a:p>
          <a:p>
            <a:r>
              <a:rPr lang="en-US"/>
              <a:t>      "Yellow root applies only to the displayed in-run compromise routes. It neither proves model quality nor exhaustively excludes launch-configuration or learning attacks."</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"03-recovery",</a:t>
            </a:r>
          </a:p>
          <a:p>
            <a:r>
              <a:rPr lang="en-US"/>
              <a:t>  "name_de": "3 · Rundenfortschritt und Recovery",</a:t>
            </a:r>
          </a:p>
          <a:p>
            <a:r>
              <a:rPr lang="en-US"/>
              <a:t>  "title": "Attack tree: disrupt rounds and recovery",</a:t>
            </a:r>
          </a:p>
          <a:p>
            <a:r>
              <a:rPr lang="en-US"/>
              <a:t>  "threats": [</a:t>
            </a:r>
          </a:p>
          <a:p>
            <a:r>
              <a:rPr lang="en-US"/>
              <a:t>    "T2",</a:t>
            </a:r>
          </a:p>
          <a:p>
            <a:r>
              <a:rPr lang="en-US"/>
              <a:t>    "T6",</a:t>
            </a:r>
          </a:p>
          <a:p>
            <a:r>
              <a:rPr lang="en-US"/>
              <a:t>    "T12",</a:t>
            </a:r>
          </a:p>
          <a:p>
            <a:r>
              <a:rPr lang="en-US"/>
              <a:t>    "T13",</a:t>
            </a:r>
          </a:p>
          <a:p>
            <a:r>
              <a:rPr lang="en-US"/>
              <a:t>    "T14"</a:t>
            </a:r>
          </a:p>
          <a:p>
            <a:r>
              <a:rPr lang="en-US"/>
              <a:t>  ],</a:t>
            </a:r>
          </a:p>
          <a:p>
            <a:r>
              <a:rPr lang="en-US"/>
              <a:t>  "domains": [</a:t>
            </a:r>
          </a:p>
          <a:p>
            <a:r>
              <a:rPr lang="en-US"/>
              <a:t>    "DFL"</a:t>
            </a:r>
          </a:p>
          <a:p>
            <a:r>
              <a:rPr lang="en-US"/>
              <a:t>  ],</a:t>
            </a:r>
          </a:p>
          <a:p>
            <a:r>
              <a:rPr lang="en-US"/>
              <a:t>  "root": {</a:t>
            </a:r>
          </a:p>
          <a:p>
            <a:r>
              <a:rPr lang="en-US"/>
              <a:t>    "label": "Disrupt rounds or recovery",</a:t>
            </a:r>
          </a:p>
          <a:p>
            <a:r>
              <a:rPr lang="en-US"/>
              <a:t>    "op": "OR",</a:t>
            </a:r>
          </a:p>
          <a:p>
            <a:r>
              <a:rPr lang="en-US"/>
              <a:t>    "children": [</a:t>
            </a:r>
          </a:p>
          <a:p>
            <a:r>
              <a:rPr lang="en-US"/>
              <a:t>      {</a:t>
            </a:r>
          </a:p>
          <a:p>
            <a:r>
              <a:rPr lang="en-US"/>
              <a:t>        "label": "Forge reports as an outsider",</a:t>
            </a:r>
          </a:p>
          <a:p>
            <a:r>
              <a:rPr lang="en-US"/>
              <a:t>        "op": "AND",</a:t>
            </a:r>
          </a:p>
          <a:p>
            <a:r>
              <a:rPr lang="en-US"/>
              <a:t>        "children": [</a:t>
            </a:r>
          </a:p>
          <a:p>
            <a:r>
              <a:rPr lang="en-US"/>
              <a:t>          {</a:t>
            </a:r>
          </a:p>
          <a:p>
            <a:r>
              <a:rPr lang="en-US"/>
              <a:t>            "label": "Submit a timeout report using an unauthorized outsider transaction sender",</a:t>
            </a:r>
          </a:p>
          <a:p>
            <a:r>
              <a:rPr lang="en-US"/>
              <a:t>            "short_label": "Submit an unauthorized report",</a:t>
            </a:r>
          </a:p>
          <a:p>
            <a:r>
              <a:rPr lang="en-US"/>
              <a:t>            "assessment": "neutral",</a:t>
            </a:r>
          </a:p>
          <a:p>
            <a:r>
              <a:rPr lang="en-US"/>
              <a:t>            "assessment_reason": "A capability or necessary condition only; the other AND conditions still have to hold.",</a:t>
            </a:r>
          </a:p>
          <a:p>
            <a:r>
              <a:rPr lang="en-US"/>
              <a:t>            "note": "Calling the public function from an outsider account does not grant current reporter authority. This branch concerns newly invented reports, not replay of an already signed authorized transaction. Such replay instead meets transaction nonce, duplicate-report and context guards.",</a:t>
            </a:r>
          </a:p>
          <a:p>
            <a:r>
              <a:rPr lang="en-US"/>
              <a:t>            "refs": [</a:t>
            </a:r>
          </a:p>
          <a:p>
            <a:r>
              <a:rPr lang="en-US"/>
              <a:t>              "T2",</a:t>
            </a:r>
          </a:p>
          <a:p>
            <a:r>
              <a:rPr lang="en-US"/>
              <a:t>              "T14",</a:t>
            </a:r>
          </a:p>
          <a:p>
            <a:r>
              <a:rPr lang="en-US"/>
              <a:t>              "F11"</a:t>
            </a:r>
          </a:p>
          <a:p>
            <a:r>
              <a:rPr lang="en-US"/>
              <a:t>            ],</a:t>
            </a:r>
          </a:p>
          <a:p>
            <a:r>
              <a:rPr lang="en-US"/>
              <a:t>            "attacker_capability": "Invoke the public report function from an attacker-owned account.",</a:t>
            </a:r>
          </a:p>
          <a:p>
            <a:r>
              <a:rPr lang="en-US"/>
              <a:t>            "required_credentials": "Only an outsider transaction key; no authorized TEE action signature."</a:t>
            </a:r>
          </a:p>
          <a:p>
            <a:r>
              <a:rPr lang="en-US"/>
              <a:t>          },</a:t>
            </a:r>
          </a:p>
          <a:p>
            <a:r>
              <a:rPr lang="en-US"/>
              <a:t>          {</a:t>
            </a:r>
          </a:p>
          <a:p>
            <a:r>
              <a:rPr lang="en-US"/>
              <a:t>            "label": "Get reports accepted without the required current action-key authority",</a:t>
            </a:r>
          </a:p>
          <a:p>
            <a:r>
              <a:rPr lang="en-US"/>
              <a:t>            "short_label": "Bypass current action authority",</a:t>
            </a:r>
          </a:p>
          <a:p>
            <a:r>
              <a:rPr lang="en-US"/>
              <a:t>            "assessment": "blocked",</a:t>
            </a:r>
          </a:p>
          <a:p>
            <a:r>
              <a:rPr lang="en-US"/>
              <a:t>            "assessment_reason": "The intact reviewed implementation rejects this success condition under its stated trust assumptions. This is not a demonstrated bypass.",</a:t>
            </a:r>
          </a:p>
          <a:p>
            <a:r>
              <a:rPr lang="en-US"/>
              <a:t>            "note": "The contract resolves msg.sender through the currently registered action key. Logical participant/enrollment accounts are not accepted as reporter authority.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a:t>
            </a:r>
          </a:p>
          <a:p>
            <a:r>
              <a:rPr lang="en-US"/>
              <a:t>            "refs": [</a:t>
            </a:r>
          </a:p>
          <a:p>
            <a:r>
              <a:rPr lang="en-US"/>
              <a:t>              "F2",</a:t>
            </a:r>
          </a:p>
          <a:p>
            <a:r>
              <a:rPr lang="en-US"/>
              <a:t>              "F11"</a:t>
            </a:r>
          </a:p>
          <a:p>
            <a:r>
              <a:rPr lang="en-US"/>
              <a:t>            ],</a:t>
            </a:r>
          </a:p>
          <a:p>
            <a:r>
              <a:rPr lang="en-US"/>
              <a:t>            "attacker_capability": "Attempt unauthorized report acceptance.",</a:t>
            </a:r>
          </a:p>
          <a:p>
            <a:r>
              <a:rPr lang="en-US"/>
              <a:t>            "required_credentials": "Required current TEE action-key signature is absent; intact authorization blocks the route."</a:t>
            </a:r>
          </a:p>
          <a:p>
            <a:r>
              <a:rPr lang="en-US"/>
              <a:t>          }</a:t>
            </a:r>
          </a:p>
          <a:p>
            <a:r>
              <a:rPr lang="en-US"/>
              <a:t>        ],</a:t>
            </a:r>
          </a:p>
          <a:p>
            <a:r>
              <a:rPr lang="en-US"/>
              <a:t>        "note": "This is the blocked uncredentialed report-forgery attempt, not an ability to generate valid arbitrary votes.",</a:t>
            </a:r>
          </a:p>
          <a:p>
            <a:r>
              <a:rPr lang="en-US"/>
              <a:t>        "refs": [</a:t>
            </a:r>
          </a:p>
          <a:p>
            <a:r>
              <a:rPr lang="en-US"/>
              <a:t>          "T2",</a:t>
            </a:r>
          </a:p>
          <a:p>
            <a:r>
              <a:rPr lang="en-US"/>
              <a:t>          "T14",</a:t>
            </a:r>
          </a:p>
          <a:p>
            <a:r>
              <a:rPr lang="en-US"/>
              <a:t>          "F2",</a:t>
            </a:r>
          </a:p>
          <a:p>
            <a:r>
              <a:rPr lang="en-US"/>
              <a:t>          "F11"</a:t>
            </a:r>
          </a:p>
          <a:p>
            <a:r>
              <a:rPr lang="en-US"/>
              <a:t>        ],</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"Fabricate a signed quorum",</a:t>
            </a:r>
          </a:p>
          <a:p>
            <a:r>
              <a:rPr lang="en-US"/>
              <a:t>        "op": "AND",</a:t>
            </a:r>
          </a:p>
          <a:p>
            <a:r>
              <a:rPr lang="en-US"/>
              <a:t>        "children": [</a:t>
            </a:r>
          </a:p>
          <a:p>
            <a:r>
              <a:rPr lang="en-US"/>
              <a:t>          {</a:t>
            </a:r>
          </a:p>
          <a:p>
            <a:r>
              <a:rPr lang="en-US"/>
              <a:t>            "label": "Compromise enough admitted action signers to produce arbitrary current-authority reports",</a:t>
            </a:r>
          </a:p>
          <a:p>
            <a:r>
              <a:rPr lang="en-US"/>
              <a:t>            "short_label": "Compromise quorum signers",</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"Actual arbitrary-transaction signing with enough distinct current TEE action keys is required. Logical participant keys, owning several CVMs or enrolling several allowed workers is insufficient. Quorum is ceil(eligible reporters * percentage / 100); default 50%, hence 3 of 5 non-aggregators for six authorized participants. Going offline does not remove an authorized identity or shrink an existing snapshot.",</a:t>
            </a:r>
          </a:p>
          <a:p>
            <a:r>
              <a:rPr lang="en-US"/>
              <a:t>            "refs": [</a:t>
            </a:r>
          </a:p>
          <a:p>
            <a:r>
              <a:rPr lang="en-US"/>
              <a:t>              "T13",</a:t>
            </a:r>
          </a:p>
          <a:p>
            <a:r>
              <a:rPr lang="en-US"/>
              <a:t>              "T14",</a:t>
            </a:r>
          </a:p>
          <a:p>
            <a:r>
              <a:rPr lang="en-US"/>
              <a:t>              "AS5"</a:t>
            </a:r>
          </a:p>
          <a:p>
            <a:r>
              <a:rPr lang="en-US"/>
              <a:t>            ],</a:t>
            </a:r>
          </a:p>
          <a:p>
            <a:r>
              <a:rPr lang="en-US"/>
              <a:t>            "attacker_capability": "Compromise enough protected reporter signers or their execution.",</a:t>
            </a:r>
          </a:p>
          <a:p>
            <a:r>
              <a:rPr lang="en-US"/>
              <a:t>            "required_credentials": "Enough current TEE action keys to meet the reporting quorum."</a:t>
            </a:r>
          </a:p>
          <a:p>
            <a:r>
              <a:rPr lang="en-US"/>
              <a:t>          },</a:t>
            </a:r>
          </a:p>
          <a:p>
            <a:r>
              <a:rPr lang="en-US"/>
              <a:t>          {</a:t>
            </a:r>
          </a:p>
          <a:p>
            <a:r>
              <a:rPr lang="en-US"/>
              <a:t>            "label": "Submit false reports that satisfy every time, round, eligibility and quorum guard",</a:t>
            </a:r>
          </a:p>
          <a:p>
            <a:r>
              <a:rPr lang="en-US"/>
              <a:t>            "short_label": "Meet time / round / quorum guards",</a:t>
            </a:r>
          </a:p>
          <a:p>
            <a:r>
              <a:rPr lang="en-US"/>
              <a:t>            "assessment": "neutral",</a:t>
            </a:r>
          </a:p>
          <a:p>
            <a:r>
              <a:rPr lang="en-US"/>
              <a:t>            "assessment_reason": "A capability or necessary condition only; the other AND conditions still have to hold.",</a:t>
            </a:r>
          </a:p>
          <a:p>
            <a:r>
              <a:rPr lang="en-US"/>
              <a:t>            "note":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 Even compromised signers cannot skip those guards. This branch invents no key-extraction method.",</a:t>
            </a:r>
          </a:p>
          <a:p>
            <a:r>
              <a:rPr lang="en-US"/>
              <a:t>            "refs": [</a:t>
            </a:r>
          </a:p>
          <a:p>
            <a:r>
              <a:rPr lang="en-US"/>
              <a:t>              "T14",</a:t>
            </a:r>
          </a:p>
          <a:p>
            <a:r>
              <a:rPr lang="en-US"/>
              <a:t>              "F2"</a:t>
            </a:r>
          </a:p>
          <a:p>
            <a:r>
              <a:rPr lang="en-US"/>
              <a:t>            ],</a:t>
            </a:r>
          </a:p>
          <a:p>
            <a:r>
              <a:rPr lang="en-US"/>
              <a:t>            "attacker_capability": "Use compromised signers for otherwise contract-valid reports.",</a:t>
            </a:r>
          </a:p>
          <a:p>
            <a:r>
              <a:rPr lang="en-US"/>
              <a:t>            "required_credentials": "Current action-key signatures supplied by the preceding condition."</a:t>
            </a:r>
          </a:p>
          <a:p>
            <a:r>
              <a:rPr lang="en-US"/>
              <a:t>          }</a:t>
            </a:r>
          </a:p>
          <a:p>
            <a:r>
              <a:rPr lang="en-US"/>
              <a:t>        ],</a:t>
            </a:r>
          </a:p>
          <a:p>
            <a:r>
              <a:rPr lang="en-US"/>
              <a:t>        "note": "Only this route describes deliberately fabricated but validly authorized votes; it explicitly requires protected-signing compromise.",</a:t>
            </a:r>
          </a:p>
          <a:p>
            <a:r>
              <a:rPr lang="en-US"/>
              <a:t>        "refs": [</a:t>
            </a:r>
          </a:p>
          <a:p>
            <a:r>
              <a:rPr lang="en-US"/>
              <a:t>          "T13",</a:t>
            </a:r>
          </a:p>
          <a:p>
            <a:r>
              <a:rPr lang="en-US"/>
              <a:t>          "T14",</a:t>
            </a:r>
          </a:p>
          <a:p>
            <a:r>
              <a:rPr lang="en-US"/>
              <a:t>          "AS5",</a:t>
            </a:r>
          </a:p>
          <a:p>
            <a:r>
              <a:rPr lang="en-US"/>
              <a:t>          "F2"</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"label": "Trigger timeout replacement",</a:t>
            </a:r>
          </a:p>
          <a:p>
            <a:r>
              <a:rPr lang="en-US"/>
              <a:t>        "op": "AND",</a:t>
            </a:r>
          </a:p>
          <a:p>
            <a:r>
              <a:rPr lang="en-US"/>
              <a:t>        "children": [</a:t>
            </a:r>
          </a:p>
          <a:p>
            <a:r>
              <a:rPr lang="en-US"/>
              <a:t>          {</a:t>
            </a:r>
          </a:p>
          <a:p>
            <a:r>
              <a:rPr lang="en-US"/>
              <a:t>            "label": "Block all uploads before the first acceptance and keep the round unable to publish",</a:t>
            </a:r>
          </a:p>
          <a:p>
            <a:r>
              <a:rPr lang="en-US"/>
              <a:t>            "short_label": "Block all uploads before acceptance",</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"The network/hosting attacker prevents every update reaching the selected aggregator before any update is accepted. An empty set cannot close. Blocking only a subset is insufficient evidence: remaining contributions may allow publication after the deadline. The disruption must last through worker miss thresholds and time allowances.",</a:t>
            </a:r>
          </a:p>
          <a:p>
            <a:r>
              <a:rPr lang="en-US"/>
              <a:t>            "refs": [</a:t>
            </a:r>
          </a:p>
          <a:p>
            <a:r>
              <a:rPr lang="en-US"/>
              <a:t>              "T6",</a:t>
            </a:r>
          </a:p>
          <a:p>
            <a:r>
              <a:rPr lang="en-US"/>
              <a:t>              "T12"</a:t>
            </a:r>
          </a:p>
          <a:p>
            <a:r>
              <a:rPr lang="en-US"/>
              <a:t>            ],</a:t>
            </a:r>
          </a:p>
          <a:p>
            <a:r>
              <a:rPr lang="en-US"/>
              <a:t>            "attacker_capability": "Control availability of all worker-to-selected-aggregator upload paths long enough.",</a:t>
            </a:r>
          </a:p>
          <a:p>
            <a:r>
              <a:rPr lang="en-US"/>
              <a:t>            "required_credentials": "No worker private key; packets/connections are withheld."</a:t>
            </a:r>
          </a:p>
          <a:p>
            <a:r>
              <a:rPr lang="en-US"/>
              <a:t>          },</a:t>
            </a:r>
          </a:p>
          <a:p>
            <a:r>
              <a:rPr lang="en-US"/>
              <a:t>          {</a:t>
            </a:r>
          </a:p>
          <a:p>
            <a:r>
              <a:rPr lang="en-US"/>
              <a:t>            "label": "Enough intact workers observe timeouts and their valid reports reach the live ledger",</a:t>
            </a:r>
          </a:p>
          <a:p>
            <a:r>
              <a:rPr lang="en-US"/>
              <a:t>            "short_label": "Honest timeout votes reach ledger",</a:t>
            </a:r>
          </a:p>
          <a:p>
            <a:r>
              <a:rPr lang="en-US"/>
              <a:t>            "assessment": "neutral",</a:t>
            </a:r>
          </a:p>
          <a:p>
            <a:r>
              <a:rPr lang="en-US"/>
              <a:t>            "assessment_reason": "A capability or necessary condition only; the other AND conditions still have to hold.",</a:t>
            </a:r>
          </a:p>
          <a:p>
            <a:r>
              <a:rPr lang="en-US"/>
              <a:t>            "note": "At least the reporting quorum keeps running, can read policy/state and send transactions. Upload failures feed the miss counter; honest code waits through the collection/aggregation allowance and signs its own reports.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 Quorum is ceil(eligible reporters * percentage / 100); default 50%, hence 3 of 5 non-aggregators for six authorized participants. Going offline does not remove an authorized identity or shrink an existing snapshot.",</a:t>
            </a:r>
          </a:p>
          <a:p>
            <a:r>
              <a:rPr lang="en-US"/>
              <a:t>            "refs": [</a:t>
            </a:r>
          </a:p>
          <a:p>
            <a:r>
              <a:rPr lang="en-US"/>
              <a:t>              "T12",</a:t>
            </a:r>
          </a:p>
          <a:p>
            <a:r>
              <a:rPr lang="en-US"/>
              <a:t>              "F2"</a:t>
            </a:r>
          </a:p>
          <a:p>
            <a:r>
              <a:rPr lang="en-US"/>
              <a:t>            ],</a:t>
            </a:r>
          </a:p>
          <a:p>
            <a:r>
              <a:rPr lang="en-US"/>
              <a:t>            "attacker_capability": "Maintain selective network disruption while leaving worker-to-ledger access available.",</a:t>
            </a:r>
          </a:p>
          <a:p>
            <a:r>
              <a:rPr lang="en-US"/>
              <a:t>            "required_credentials": "The attacker has no key; intact workers create their own valid timeout signatures."</a:t>
            </a:r>
          </a:p>
          <a:p>
            <a:r>
              <a:rPr lang="en-US"/>
              <a:t>          }</a:t>
            </a:r>
          </a:p>
          <a:p>
            <a:r>
              <a:rPr lang="en-US"/>
              <a:t>        ],</a:t>
            </a:r>
          </a:p>
          <a:p>
            <a:r>
              <a:rPr lang="en-US"/>
              <a:t>        "note": "This is an availability attack with a correct recovery reaction. It does not prove an unjustified replacement of a reachable, timely-publishing aggregator or a forged signature.",</a:t>
            </a:r>
          </a:p>
          <a:p>
            <a:r>
              <a:rPr lang="en-US"/>
              <a:t>        "refs": [</a:t>
            </a:r>
          </a:p>
          <a:p>
            <a:r>
              <a:rPr lang="en-US"/>
              <a:t>          "T6",</a:t>
            </a:r>
          </a:p>
          <a:p>
            <a:r>
              <a:rPr lang="en-US"/>
              <a:t>          "T12",</a:t>
            </a:r>
          </a:p>
          <a:p>
            <a:r>
              <a:rPr lang="en-US"/>
              <a:t>          "F2"</a:t>
            </a:r>
          </a:p>
          <a:p>
            <a:r>
              <a:rPr lang="en-US"/>
              <a:t>        ],</a:t>
            </a:r>
          </a:p>
          <a:p>
            <a:r>
              <a:rPr lang="en-US"/>
              <a:t>        "assessment": "possible",</a:t>
            </a:r>
          </a:p>
          <a:p>
            <a:r>
              <a:rPr lang="en-US"/>
              <a:t>        "assessment_reason": "AND over (possible, neutral); each route retains all actor, credential, timing and context prerequisites. No attack success was observed."</a:t>
            </a:r>
          </a:p>
          <a:p>
            <a:r>
              <a:rPr lang="en-US"/>
              <a:t>      },</a:t>
            </a:r>
          </a:p>
          <a:p>
            <a:r>
              <a:rPr lang="en-US"/>
              <a:t>      {</a:t>
            </a:r>
          </a:p>
          <a:p>
            <a:r>
              <a:rPr lang="en-US"/>
              <a:t>        "label": "Prevent timely recovery",</a:t>
            </a:r>
          </a:p>
          <a:p>
            <a:r>
              <a:rPr lang="en-US"/>
              <a:t>        "op": "AND",</a:t>
            </a:r>
          </a:p>
          <a:p>
            <a:r>
              <a:rPr lang="en-US"/>
              <a:t>        "children": [</a:t>
            </a:r>
          </a:p>
          <a:p>
            <a:r>
              <a:rPr lang="en-US"/>
              <a:t>          {</a:t>
            </a:r>
          </a:p>
          <a:p>
            <a:r>
              <a:rPr lang="en-US"/>
              <a:t>            "label": "Keep the selected aggregator unavailable during the recovery interval",</a:t>
            </a:r>
          </a:p>
          <a:p>
            <a:r>
              <a:rPr lang="en-US"/>
              <a:t>            "short_label": "Keep selected aggregator offline",</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"Requires actual infrastructure/network availability control and a sustained outage, not arbitrary behavior inside intact admitted code.",</a:t>
            </a:r>
          </a:p>
          <a:p>
            <a:r>
              <a:rPr lang="en-US"/>
              <a:t>            "refs": [</a:t>
            </a:r>
          </a:p>
          <a:p>
            <a:r>
              <a:rPr lang="en-US"/>
              <a:t>              "T6",</a:t>
            </a:r>
          </a:p>
          <a:p>
            <a:r>
              <a:rPr lang="en-US"/>
              <a:t>              "T12"</a:t>
            </a:r>
          </a:p>
          <a:p>
            <a:r>
              <a:rPr lang="en-US"/>
              <a:t>            ],</a:t>
            </a:r>
          </a:p>
          <a:p>
            <a:r>
              <a:rPr lang="en-US"/>
              <a:t>            "attacker_capability": "Stop the hosted CVM/service or cut its communication.",</a:t>
            </a:r>
          </a:p>
          <a:p>
            <a:r>
              <a:rPr lang="en-US"/>
              <a:t>            "required_credentials": "Hosting/network control; no TEE signing key."</a:t>
            </a:r>
          </a:p>
          <a:p>
            <a:r>
              <a:rPr lang="en-US"/>
              <a:t>          },</a:t>
            </a:r>
          </a:p>
          <a:p>
            <a:r>
              <a:rPr lang="en-US"/>
              <a:t>          {</a:t>
            </a:r>
          </a:p>
          <a:p>
            <a:r>
              <a:rPr lang="en-US"/>
              <a:t>            "label": "Keep recovery reports from reaching quorum by blocking ledger access or enough reporters",</a:t>
            </a:r>
          </a:p>
          <a:p>
            <a:r>
              <a:rPr lang="en-US"/>
              <a:t>            "short_label": "Block ledger / reporting quorum",</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"Sustain the disruption before enough votes are counted. Either prevent report transactions/required policy reads or stop enough eligible workers. The fixed authorization/snapshot count does not automatically shrink with offline workers. Quorum is ceil(eligible reporters * percentage / 100); default 50%, hence 3 of 5 non-aggregators for six authorized participants. Going offline does not remove an authorized identity or shrink an existing snapshot.",</a:t>
            </a:r>
          </a:p>
          <a:p>
            <a:r>
              <a:rPr lang="en-US"/>
              <a:t>            "refs": [</a:t>
            </a:r>
          </a:p>
          <a:p>
            <a:r>
              <a:rPr lang="en-US"/>
              <a:t>              "T12",</a:t>
            </a:r>
          </a:p>
          <a:p>
            <a:r>
              <a:rPr lang="en-US"/>
              <a:t>              "F2"</a:t>
            </a:r>
          </a:p>
          <a:p>
            <a:r>
              <a:rPr lang="en-US"/>
              <a:t>            ],</a:t>
            </a:r>
          </a:p>
          <a:p>
            <a:r>
              <a:rPr lang="en-US"/>
              <a:t>            "attacker_capability": "Control reporter availability or their ledger connectivity.",</a:t>
            </a:r>
          </a:p>
          <a:p>
            <a:r>
              <a:rPr lang="en-US"/>
              <a:t>            "required_credentials": "No signature key; denial of delivery/execution suffices."</a:t>
            </a:r>
          </a:p>
          <a:p>
            <a:r>
              <a:rPr lang="en-US"/>
              <a:t>          }</a:t>
            </a:r>
          </a:p>
          <a:p>
            <a:r>
              <a:rPr lang="en-US"/>
              <a:t>        ],</a:t>
            </a:r>
          </a:p>
          <a:p>
            <a:r>
              <a:rPr lang="en-US"/>
              <a:t>        "note": "The aggregator outage and missing report quorum must overlap. One failed aggregator alone is covered by recovery.",</a:t>
            </a:r>
          </a:p>
          <a:p>
            <a:r>
              <a:rPr lang="en-US"/>
              <a:t>        "refs": [</a:t>
            </a:r>
          </a:p>
          <a:p>
            <a:r>
              <a:rPr lang="en-US"/>
              <a:t>          "T6",</a:t>
            </a:r>
          </a:p>
          <a:p>
            <a:r>
              <a:rPr lang="en-US"/>
              <a:t>          "T12",</a:t>
            </a:r>
          </a:p>
          <a:p>
            <a:r>
              <a:rPr lang="en-US"/>
              <a:t>          "F2"</a:t>
            </a:r>
          </a:p>
          <a:p>
            <a:r>
              <a:rPr lang="en-US"/>
              <a:t>        ],</a:t>
            </a:r>
          </a:p>
          <a:p>
            <a:r>
              <a:rPr lang="en-US"/>
              <a:t>        "assessment": "possible",</a:t>
            </a:r>
          </a:p>
          <a:p>
            <a:r>
              <a:rPr lang="en-US"/>
              <a:t>        "assessment_reason": "AND over (possible, possible); each route retains all actor, credential, timing and context prerequisites. No attack success was observed."</a:t>
            </a:r>
          </a:p>
          <a:p>
            <a:r>
              <a:rPr lang="en-US"/>
              <a:t>      }</a:t>
            </a:r>
          </a:p>
          <a:p>
            <a:r>
              <a:rPr lang="en-US"/>
              <a:t>    ],</a:t>
            </a:r>
          </a:p>
          <a:p>
            <a:r>
              <a:rPr lang="en-US"/>
              <a:t>    "note": "Separates outsider forgery, compromised signing authority, selective network outage with honest recovery, and blocked recovery. Availability disruption is not automatically a failure of quorum safety.",</a:t>
            </a:r>
          </a:p>
          <a:p>
            <a:r>
              <a:rPr lang="en-US"/>
              <a:t>    "refs": [</a:t>
            </a:r>
          </a:p>
          <a:p>
            <a:r>
              <a:rPr lang="en-US"/>
              <a:t>      "T2",</a:t>
            </a:r>
          </a:p>
          <a:p>
            <a:r>
              <a:rPr lang="en-US"/>
              <a:t>      "T6",</a:t>
            </a:r>
          </a:p>
          <a:p>
            <a:r>
              <a:rPr lang="en-US"/>
              <a:t>      "T12",</a:t>
            </a:r>
          </a:p>
          <a:p>
            <a:r>
              <a:rPr lang="en-US"/>
              <a:t>      "T13",</a:t>
            </a:r>
          </a:p>
          <a:p>
            <a:r>
              <a:rPr lang="en-US"/>
              <a:t>      "T14",</a:t>
            </a:r>
          </a:p>
          <a:p>
            <a:r>
              <a:rPr lang="en-US"/>
              <a:t>      "F2"</a:t>
            </a:r>
          </a:p>
          <a:p>
            <a:r>
              <a:rPr lang="en-US"/>
              <a:t>    ],</a:t>
            </a:r>
          </a:p>
          <a:p>
            <a:r>
              <a:rPr lang="en-US"/>
              <a:t>    "assessment": "possible",</a:t>
            </a:r>
          </a:p>
          <a:p>
            <a:r>
              <a:rPr lang="en-US"/>
              <a:t>    "assessment_reason": "OR over (blocked, boundary, possible, possible); each route retains all actor, credential, timing and context prerequisites. No attack success was observed."</a:t>
            </a:r>
          </a:p>
          <a:p>
            <a:r>
              <a:rPr lang="en-US"/>
              <a:t>  },</a:t>
            </a:r>
          </a:p>
          <a:p>
            <a:r>
              <a:rPr lang="en-US"/>
              <a:t>  "takeaway": "Invented valid votes need TEE signing control; blocked traffic can trigger honest timeout votes without stolen keys.",</a:t>
            </a:r>
          </a:p>
          <a:p>
            <a:r>
              <a:rPr lang="en-US"/>
              <a:t>  "source_lines": {</a:t>
            </a:r>
          </a:p>
          <a:p>
            <a:r>
              <a:rPr lang="en-US"/>
              <a:t>    "T6": [</a:t>
            </a:r>
          </a:p>
          <a:p>
            <a:r>
              <a:rPr lang="en-US"/>
              <a:t>      367,</a:t>
            </a:r>
          </a:p>
          <a:p>
            <a:r>
              <a:rPr lang="en-US"/>
              <a:t>      378</a:t>
            </a:r>
          </a:p>
          <a:p>
            <a:r>
              <a:rPr lang="en-US"/>
              <a:t>    ],</a:t>
            </a:r>
          </a:p>
          <a:p>
            <a:r>
              <a:rPr lang="en-US"/>
              <a:t>    "T12": [</a:t>
            </a:r>
          </a:p>
          <a:p>
            <a:r>
              <a:rPr lang="en-US"/>
              <a:t>      491,</a:t>
            </a:r>
          </a:p>
          <a:p>
            <a:r>
              <a:rPr lang="en-US"/>
              <a:t>      500</a:t>
            </a:r>
          </a:p>
          <a:p>
            <a:r>
              <a:rPr lang="en-US"/>
              <a:t>    ],</a:t>
            </a:r>
          </a:p>
          <a:p>
            <a:r>
              <a:rPr lang="en-US"/>
              <a:t>    "T14": [</a:t>
            </a:r>
          </a:p>
          <a:p>
            <a:r>
              <a:rPr lang="en-US"/>
              <a:t>      528,</a:t>
            </a:r>
          </a:p>
          <a:p>
            <a:r>
              <a:rPr lang="en-US"/>
              <a:t>      538</a:t>
            </a:r>
          </a:p>
          <a:p>
            <a:r>
              <a:rPr lang="en-US"/>
              <a:t>    ],</a:t>
            </a:r>
          </a:p>
          <a:p>
            <a:r>
              <a:rPr lang="en-US"/>
              <a:t>    "F2": [</a:t>
            </a:r>
          </a:p>
          <a:p>
            <a:r>
              <a:rPr lang="en-US"/>
              <a:t>      555,</a:t>
            </a:r>
          </a:p>
          <a:p>
            <a:r>
              <a:rPr lang="en-US"/>
              <a:t>      560</a:t>
            </a:r>
          </a:p>
          <a:p>
            <a:r>
              <a:rPr lang="en-US"/>
              <a:t>    ],</a:t>
            </a:r>
          </a:p>
          <a:p>
            <a:r>
              <a:rPr lang="en-US"/>
              <a:t>    "quorum_boundary": [</a:t>
            </a:r>
          </a:p>
          <a:p>
            <a:r>
              <a:rPr lang="en-US"/>
              <a:t>      678,</a:t>
            </a:r>
          </a:p>
          <a:p>
            <a:r>
              <a:rPr lang="en-US"/>
              <a:t>      678</a:t>
            </a:r>
          </a:p>
          <a:p>
            <a:r>
              <a:rPr lang="en-US"/>
              <a:t>    ],</a:t>
            </a:r>
          </a:p>
          <a:p>
            <a:r>
              <a:rPr lang="en-US"/>
              <a:t>    "T2": [</a:t>
            </a:r>
          </a:p>
          <a:p>
            <a:r>
              <a:rPr lang="en-US"/>
              <a:t>      299,</a:t>
            </a:r>
          </a:p>
          <a:p>
            <a:r>
              <a:rPr lang="en-US"/>
              <a:t>      309</a:t>
            </a:r>
          </a:p>
          <a:p>
            <a:r>
              <a:rPr lang="en-US"/>
              <a:t>    ],</a:t>
            </a:r>
          </a:p>
          <a:p>
            <a:r>
              <a:rPr lang="en-US"/>
              <a:t>    "T13": [</a:t>
            </a:r>
          </a:p>
          <a:p>
            <a:r>
              <a:rPr lang="en-US"/>
              <a:t>      508,</a:t>
            </a:r>
          </a:p>
          <a:p>
            <a:r>
              <a:rPr lang="en-US"/>
              <a:t>      520</a:t>
            </a:r>
          </a:p>
          <a:p>
            <a:r>
              <a:rPr lang="en-US"/>
              <a:t>    ],</a:t>
            </a:r>
          </a:p>
          <a:p>
            <a:r>
              <a:rPr lang="en-US"/>
              <a:t>    "AS5": [</a:t>
            </a:r>
          </a:p>
          <a:p>
            <a:r>
              <a:rPr lang="en-US"/>
              <a:t>      225,</a:t>
            </a:r>
          </a:p>
          <a:p>
            <a:r>
              <a:rPr lang="en-US"/>
              <a:t>      228</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"vita-fl/dfl/node_server/src/action_key.ts",</a:t>
            </a:r>
          </a:p>
          <a:p>
            <a:r>
              <a:rPr lang="en-US"/>
              <a:t>        "lines": [</a:t>
            </a:r>
          </a:p>
          <a:p>
            <a:r>
              <a:rPr lang="en-US"/>
              <a:t>          65,</a:t>
            </a:r>
          </a:p>
          <a:p>
            <a:r>
              <a:rPr lang="en-US"/>
              <a:t>          98,</a:t>
            </a:r>
          </a:p>
          <a:p>
            <a:r>
              <a:rPr lang="en-US"/>
              <a:t>          198,</a:t>
            </a:r>
          </a:p>
          <a:p>
            <a:r>
              <a:rPr lang="en-US"/>
              <a:t>          205</a:t>
            </a:r>
          </a:p>
          <a:p>
            <a:r>
              <a:rPr lang="en-US"/>
              <a:t>        ],</a:t>
            </a:r>
          </a:p>
          <a:p>
            <a:r>
              <a:rPr lang="en-US"/>
              <a:t>        "finding": "Phala dstack-derived current action signer.",</a:t>
            </a:r>
          </a:p>
          <a:p>
            <a:r>
              <a:rPr lang="en-US"/>
              <a:t>        "sha256": "1b9ddf9e0c58f76c1090937c5f521da69eedc5612fe07b980d3b3f19603a6d62"</a:t>
            </a:r>
          </a:p>
          <a:p>
            <a:r>
              <a:rPr lang="en-US"/>
              <a:t>      },</a:t>
            </a:r>
          </a:p>
          <a:p>
            <a:r>
              <a:rPr lang="en-US"/>
              <a:t>      {</a:t>
            </a:r>
          </a:p>
          <a:p>
            <a:r>
              <a:rPr lang="en-US"/>
              <a:t>        "path": "vita-fl/dfl/node_server/src/bc_client.ts",</a:t>
            </a:r>
          </a:p>
          <a:p>
            <a:r>
              <a:rPr lang="en-US"/>
              <a:t>        "lines": [</a:t>
            </a:r>
          </a:p>
          <a:p>
            <a:r>
              <a:rPr lang="en-US"/>
              <a:t>          877,</a:t>
            </a:r>
          </a:p>
          <a:p>
            <a:r>
              <a:rPr lang="en-US"/>
              <a:t>          907</a:t>
            </a:r>
          </a:p>
          <a:p>
            <a:r>
              <a:rPr lang="en-US"/>
              <a:t>        ],</a:t>
            </a:r>
          </a:p>
          <a:p>
            <a:r>
              <a:rPr lang="en-US"/>
              <a:t>        "finding": "Report transaction uses the action signer.",</a:t>
            </a:r>
          </a:p>
          <a:p>
            <a:r>
              <a:rPr lang="en-US"/>
              <a:t>        "sha256": "fda5f1b6a89bfa97e94ae048ca5b8ae04ec31efa6212e8d65777d54123ef2e0b"</a:t>
            </a:r>
          </a:p>
          <a:p>
            <a:r>
              <a:rPr lang="en-US"/>
              <a:t>      },</a:t>
            </a:r>
          </a:p>
          <a:p>
            <a:r>
              <a:rPr lang="en-US"/>
              <a:t>      {</a:t>
            </a:r>
          </a:p>
          <a:p>
            <a:r>
              <a:rPr lang="en-US"/>
              <a:t>        "path": "vita-fl/smart_contracts/src/core/DeviceRegistry.sol",</a:t>
            </a:r>
          </a:p>
          <a:p>
            <a:r>
              <a:rPr lang="en-US"/>
              <a:t>        "lines": [</a:t>
            </a:r>
          </a:p>
          <a:p>
            <a:r>
              <a:rPr lang="en-US"/>
              <a:t>          248,</a:t>
            </a:r>
          </a:p>
          <a:p>
            <a:r>
              <a:rPr lang="en-US"/>
              <a:t>          255</a:t>
            </a:r>
          </a:p>
          <a:p>
            <a:r>
              <a:rPr lang="en-US"/>
              <a:t>        ],</a:t>
            </a:r>
          </a:p>
          <a:p>
            <a:r>
              <a:rPr lang="en-US"/>
              <a:t>        "finding": "Only current registered action address resolves to reporter identity.",</a:t>
            </a:r>
          </a:p>
          <a:p>
            <a:r>
              <a:rPr lang="en-US"/>
              <a:t>        "sha256": "f00f9f5268d1f0f55158b71d334dc50542a1ac7704818460634f988d87ef7f4b"</a:t>
            </a:r>
          </a:p>
          <a:p>
            <a:r>
              <a:rPr lang="en-US"/>
              <a:t>      },</a:t>
            </a:r>
          </a:p>
          <a:p>
            <a:r>
              <a:rPr lang="en-US"/>
              <a:t>      {</a:t>
            </a:r>
          </a:p>
          <a:p>
            <a:r>
              <a:rPr lang="en-US"/>
              <a:t>        "path": "vita-fl/smart_contracts/src/core/AggregatorSelection.sol",</a:t>
            </a:r>
          </a:p>
          <a:p>
            <a:r>
              <a:rPr lang="en-US"/>
              <a:t>        "lines": [</a:t>
            </a:r>
          </a:p>
          <a:p>
            <a:r>
              <a:rPr lang="en-US"/>
              <a:t>          195,</a:t>
            </a:r>
          </a:p>
          <a:p>
            <a:r>
              <a:rPr lang="en-US"/>
              <a:t>          277,</a:t>
            </a:r>
          </a:p>
          <a:p>
            <a:r>
              <a:rPr lang="en-US"/>
              <a:t>          280,</a:t>
            </a:r>
          </a:p>
          <a:p>
            <a:r>
              <a:rPr lang="en-US"/>
              <a:t>          313</a:t>
            </a:r>
          </a:p>
          <a:p>
            <a:r>
              <a:rPr lang="en-US"/>
              <a:t>        ],</a:t>
            </a:r>
          </a:p>
          <a:p>
            <a:r>
              <a:rPr lang="en-US"/>
              <a:t>        "finding": "Reportability, context, authority, snapshot/quorum and replacement guards.",</a:t>
            </a:r>
          </a:p>
          <a:p>
            <a:r>
              <a:rPr lang="en-US"/>
              <a:t>        "sha256": "9d2fc0b94f4a7efb5f1364d75b7415630f28ef4b250e61051ff5f9da32ea5755"</a:t>
            </a:r>
          </a:p>
          <a:p>
            <a:r>
              <a:rPr lang="en-US"/>
              <a:t>      },</a:t>
            </a:r>
          </a:p>
          <a:p>
            <a:r>
              <a:rPr lang="en-US"/>
              <a:t>      {</a:t>
            </a:r>
          </a:p>
          <a:p>
            <a:r>
              <a:rPr lang="en-US"/>
              <a:t>        "path": "vita-fl/dfl/node_server/src/server.ts",</a:t>
            </a:r>
          </a:p>
          <a:p>
            <a:r>
              <a:rPr lang="en-US"/>
              <a:t>        "lines": [</a:t>
            </a:r>
          </a:p>
          <a:p>
            <a:r>
              <a:rPr lang="en-US"/>
              <a:t>          110,</a:t>
            </a:r>
          </a:p>
          <a:p>
            <a:r>
              <a:rPr lang="en-US"/>
              <a:t>          174,</a:t>
            </a:r>
          </a:p>
          <a:p>
            <a:r>
              <a:rPr lang="en-US"/>
              <a:t>          2037,</a:t>
            </a:r>
          </a:p>
          <a:p>
            <a:r>
              <a:rPr lang="en-US"/>
              <a:t>          2044,</a:t>
            </a:r>
          </a:p>
          <a:p>
            <a:r>
              <a:rPr lang="en-US"/>
              <a:t>          2208,</a:t>
            </a:r>
          </a:p>
          <a:p>
            <a:r>
              <a:rPr lang="en-US"/>
              <a:t>          2240</a:t>
            </a:r>
          </a:p>
          <a:p>
            <a:r>
              <a:rPr lang="en-US"/>
              <a:t>        ],</a:t>
            </a:r>
          </a:p>
          <a:p>
            <a:r>
              <a:rPr lang="en-US"/>
              <a:t>        "finding": "Honest miss tracking, empty-set recovery, failed uploads and reporting.",</a:t>
            </a:r>
          </a:p>
          <a:p>
            <a:r>
              <a:rPr lang="en-US"/>
              <a:t>        "sha256": "b7248ae1f0e5f374bee10cc023b4af78b32ab8dbdf1e3d22c704e4decb7ce9a5"</a:t>
            </a:r>
          </a:p>
          <a:p>
            <a:r>
              <a:rPr lang="en-US"/>
              <a:t>      },</a:t>
            </a:r>
          </a:p>
          <a:p>
            <a:r>
              <a:rPr lang="en-US"/>
              <a:t>      {</a:t>
            </a:r>
          </a:p>
          <a:p>
            <a:r>
              <a:rPr lang="en-US"/>
              <a:t>        "path": "vita-fl/dfl/node_server/src/state_timing.ts",</a:t>
            </a:r>
          </a:p>
          <a:p>
            <a:r>
              <a:rPr lang="en-US"/>
              <a:t>        "lines": [</a:t>
            </a:r>
          </a:p>
          <a:p>
            <a:r>
              <a:rPr lang="en-US"/>
              <a:t>          88,</a:t>
            </a:r>
          </a:p>
          <a:p>
            <a:r>
              <a:rPr lang="en-US"/>
              <a:t>          111,</a:t>
            </a:r>
          </a:p>
          <a:p>
            <a:r>
              <a:rPr lang="en-US"/>
              <a:t>          149,</a:t>
            </a:r>
          </a:p>
          <a:p>
            <a:r>
              <a:rPr lang="en-US"/>
              <a:t>          155</a:t>
            </a:r>
          </a:p>
          <a:p>
            <a:r>
              <a:rPr lang="en-US"/>
              <a:t>        ],</a:t>
            </a:r>
          </a:p>
          <a:p>
            <a:r>
              <a:rPr lang="en-US"/>
              <a:t>        "finding": "Cannot close empty set; defer honest report during window/aggregation allowance.",</a:t>
            </a:r>
          </a:p>
          <a:p>
            <a:r>
              <a:rPr lang="en-US"/>
              <a:t>        "sha256": "e537c423ea03613e761be268807af496ab89b1958610710449118288752e414d"</a:t>
            </a:r>
          </a:p>
          <a:p>
            <a:r>
              <a:rPr lang="en-US"/>
              <a:t>      },</a:t>
            </a:r>
          </a:p>
          <a:p>
            <a:r>
              <a:rPr lang="en-US"/>
              <a:t>      {</a:t>
            </a:r>
          </a:p>
          <a:p>
            <a:r>
              <a:rPr lang="en-US"/>
              <a:t>        "path": "vita-fl/smart_contracts/src/core/GMStorage.sol",</a:t>
            </a:r>
          </a:p>
          <a:p>
            <a:r>
              <a:rPr lang="en-US"/>
              <a:t>        "lines": [</a:t>
            </a:r>
          </a:p>
          <a:p>
            <a:r>
              <a:rPr lang="en-US"/>
              <a:t>          453,</a:t>
            </a:r>
          </a:p>
          <a:p>
            <a:r>
              <a:rPr lang="en-US"/>
              <a:t>          489</a:t>
            </a:r>
          </a:p>
          <a:p>
            <a:r>
              <a:rPr lang="en-US"/>
              <a:t>        ],</a:t>
            </a:r>
          </a:p>
          <a:p>
            <a:r>
              <a:rPr lang="en-US"/>
              <a:t>        "finding": "Bootstrap exception and aborted-round transition.",</a:t>
            </a:r>
          </a:p>
          <a:p>
            <a:r>
              <a:rPr lang="en-US"/>
              <a:t>        "sha256": "84deba98bda6b74e6b03b0b917f09638f9de7b0d21114eedbd1efef366924003"</a:t>
            </a:r>
          </a:p>
          <a:p>
            <a:r>
              <a:rPr lang="en-US"/>
              <a:t>      }</a:t>
            </a:r>
          </a:p>
          <a:p>
            <a:r>
              <a:rPr lang="en-US"/>
              <a:t>    ],</a:t>
            </a:r>
          </a:p>
          <a:p>
            <a:r>
              <a:rPr lang="en-US"/>
              <a:t>    "limits": [</a:t>
            </a:r>
          </a:p>
          <a:p>
            <a:r>
              <a:rPr lang="en-US"/>
              <a:t>      "No forged vote, network partition or quorum attack was executed.",</a:t>
            </a:r>
          </a:p>
          <a:p>
            <a:r>
              <a:rPr lang="en-US"/>
              <a:t>      "Red partition route is an availability effect with honest recovery; it is not evidence of unjustified eviction under healthy connectivity.",</a:t>
            </a:r>
          </a:p>
          <a:p>
            <a:r>
              <a:rPr lang="en-US"/>
              <a:t>      "Threshold is configuration-dependent; 3/5 is the current default example for six authorized participants."</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"04-inference",</a:t>
            </a:r>
          </a:p>
          <a:p>
            <a:r>
              <a:rPr lang="en-US"/>
              <a:t>  "name_de": "4 · Falsche Inferenz als verifiziert ausgeben",</a:t>
            </a:r>
          </a:p>
          <a:p>
            <a:r>
              <a:rPr lang="en-US"/>
              <a:t>  "title": "Attack tree: verify an invalid inference result",</a:t>
            </a:r>
          </a:p>
          <a:p>
            <a:r>
              <a:rPr lang="en-US"/>
              <a:t>  "threats": [</a:t>
            </a:r>
          </a:p>
          <a:p>
            <a:r>
              <a:rPr lang="en-US"/>
              <a:t>    "T2",</a:t>
            </a:r>
          </a:p>
          <a:p>
            <a:r>
              <a:rPr lang="en-US"/>
              <a:t>    "T4",</a:t>
            </a:r>
          </a:p>
          <a:p>
            <a:r>
              <a:rPr lang="en-US"/>
              <a:t>    "T8",</a:t>
            </a:r>
          </a:p>
          <a:p>
            <a:r>
              <a:rPr lang="en-US"/>
              <a:t>    "T9"</a:t>
            </a:r>
          </a:p>
          <a:p>
            <a:r>
              <a:rPr lang="en-US"/>
              <a:t>  ],</a:t>
            </a:r>
          </a:p>
          <a:p>
            <a:r>
              <a:rPr lang="en-US"/>
              <a:t>  "domains": [</a:t>
            </a:r>
          </a:p>
          <a:p>
            <a:r>
              <a:rPr lang="en-US"/>
              <a:t>    "Agent"</a:t>
            </a:r>
          </a:p>
          <a:p>
            <a:r>
              <a:rPr lang="en-US"/>
              <a:t>  ],</a:t>
            </a:r>
          </a:p>
          <a:p>
            <a:r>
              <a:rPr lang="en-US"/>
              <a:t>  "root": {</a:t>
            </a:r>
          </a:p>
          <a:p>
            <a:r>
              <a:rPr lang="en-US"/>
              <a:t>    "label": "Verify an invalid inference result",</a:t>
            </a:r>
          </a:p>
          <a:p>
            <a:r>
              <a:rPr lang="en-US"/>
              <a:t>    "op": "OR",</a:t>
            </a:r>
          </a:p>
          <a:p>
            <a:r>
              <a:rPr lang="en-US"/>
              <a:t>    "children": [</a:t>
            </a:r>
          </a:p>
          <a:p>
            <a:r>
              <a:rPr lang="en-US"/>
              <a:t>      {</a:t>
            </a:r>
          </a:p>
          <a:p>
            <a:r>
              <a:rPr lang="en-US"/>
              <a:t>        "label": "Use the wrong model bundle",</a:t>
            </a:r>
          </a:p>
          <a:p>
            <a:r>
              <a:rPr lang="en-US"/>
              <a:t>        "op": "AND",</a:t>
            </a:r>
          </a:p>
          <a:p>
            <a:r>
              <a:rPr lang="en-US"/>
              <a:t>        "children": [</a:t>
            </a:r>
          </a:p>
          <a:p>
            <a:r>
              <a:rPr lang="en-US"/>
              <a:t>          {</a:t>
            </a:r>
          </a:p>
          <a:p>
            <a:r>
              <a:rPr lang="en-US"/>
              <a:t>            "label": "Return an old model with its genuine publisher signature",</a:t>
            </a:r>
          </a:p>
          <a:p>
            <a:r>
              <a:rPr lang="en-US"/>
              <a:t>            "refs": [</a:t>
            </a:r>
          </a:p>
          <a:p>
            <a:r>
              <a:rPr lang="en-US"/>
              <a:t>              "T4"</a:t>
            </a:r>
          </a:p>
          <a:p>
            <a:r>
              <a:rPr lang="en-US"/>
              <a:t>            ],</a:t>
            </a:r>
          </a:p>
          <a:p>
            <a:r>
              <a:rPr lang="en-US"/>
              <a:t>            "note": "Use a legitimately signed older model as in the concrete Chapter 4 storage example; signature authenticity alone can hold.",</a:t>
            </a:r>
          </a:p>
          <a:p>
            <a:r>
              <a:rPr lang="en-US"/>
              <a:t>            "kind": "condition",</a:t>
            </a:r>
          </a:p>
          <a:p>
            <a:r>
              <a:rPr lang="en-US"/>
              <a:t>            "short_label": "Replay an old signed model",</a:t>
            </a:r>
          </a:p>
          <a:p>
            <a:r>
              <a:rPr lang="en-US"/>
              <a:t>            "assessment": "neutral",</a:t>
            </a:r>
          </a:p>
          <a:p>
            <a:r>
              <a:rPr lang="en-US"/>
              <a:t>            "assessment_reason": "Action or prerequisite shown without an independent security verdict. Its effect depends on the remaining AND/OR conditions.",</a:t>
            </a:r>
          </a:p>
          <a:p>
            <a:r>
              <a:rPr lang="en-US"/>
              <a:t>            "attacker_capability": "Return a captured older signed storage object.",</a:t>
            </a:r>
          </a:p>
          <a:p>
            <a:r>
              <a:rPr lang="en-US"/>
              <a:t>            "required_credentials": "No signing key to replay an existing valid object."</a:t>
            </a:r>
          </a:p>
          <a:p>
            <a:r>
              <a:rPr lang="en-US"/>
              <a:t>          },</a:t>
            </a:r>
          </a:p>
          <a:p>
            <a:r>
              <a:rPr lang="en-US"/>
              <a:t>          {</a:t>
            </a:r>
          </a:p>
          <a:p>
            <a:r>
              <a:rPr lang="en-US"/>
              <a:t>            "label": "Verify inference from a bundle that disagrees with the publication selected at model preparation",</a:t>
            </a:r>
          </a:p>
          <a:p>
            <a:r>
              <a:rPr lang="en-US"/>
              <a:t>            "refs": [</a:t>
            </a:r>
          </a:p>
          <a:p>
            <a:r>
              <a:rPr lang="en-US"/>
              <a:t>              "F5",</a:t>
            </a:r>
          </a:p>
          <a:p>
            <a:r>
              <a:rPr lang="en-US"/>
              <a:t>              "F6",</a:t>
            </a:r>
          </a:p>
          <a:p>
            <a:r>
              <a:rPr lang="en-US"/>
              <a:t>              "F11"</a:t>
            </a:r>
          </a:p>
          <a:p>
            <a:r>
              <a:rPr lang="en-US"/>
              <a:t>            ],</a:t>
            </a:r>
          </a:p>
          <a:p>
            <a:r>
              <a:rPr lang="en-US"/>
              <a:t>            "note": "Model preparation independently resolves the authoritative bundle and verifies its authorized signature and round. Jobs are bound to that prepared model. This does not claim that every subsequent inference re-fetches the globally newest publication. The downstream verification must also incorrectly accept a different binding for this attack to succeed.",</a:t>
            </a:r>
          </a:p>
          <a:p>
            <a:r>
              <a:rPr lang="en-US"/>
              <a:t>            "kind": "check_failure",</a:t>
            </a:r>
          </a:p>
          <a:p>
            <a:r>
              <a:rPr lang="en-US"/>
              <a:t>            "short_label": "Pass selected-bundle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contrary to the prepared authoritative model tuple.",</a:t>
            </a:r>
          </a:p>
          <a:p>
            <a:r>
              <a:rPr lang="en-US"/>
              <a:t>            "required_credentials": "Cannot mint matching model/AIR/Sello evidence; intact tuple/binding checks block this path."</a:t>
            </a:r>
          </a:p>
          <a:p>
            <a:r>
              <a:rPr lang="en-US"/>
              <a:t>          }</a:t>
            </a:r>
          </a:p>
          <a:p>
            <a:r>
              <a:rPr lang="en-US"/>
              <a:t>        ],</a:t>
            </a:r>
          </a:p>
          <a:p>
            <a:r>
              <a:rPr lang="en-US"/>
              <a:t>        "refs": [</a:t>
            </a:r>
          </a:p>
          <a:p>
            <a:r>
              <a:rPr lang="en-US"/>
              <a:t>          "T4",</a:t>
            </a:r>
          </a:p>
          <a:p>
            <a:r>
              <a:rPr lang="en-US"/>
              <a:t>          "F5",</a:t>
            </a:r>
          </a:p>
          <a:p>
            <a:r>
              <a:rPr lang="en-US"/>
              <a:t>          "F11"</a:t>
            </a:r>
          </a:p>
          <a:p>
            <a:r>
              <a:rPr lang="en-US"/>
              <a:t>        ],</a:t>
            </a:r>
          </a:p>
          <a:p>
            <a:r>
              <a:rPr lang="en-US"/>
              <a:t>        "note": "Replayed storage bytes do not require key theft. Success still requires the intact preparation and verification path to accept the wrong model binding; green is scoped to that selected model, not perpetual latest-version freshness.",</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"Mix valid but unrelated evidence",</a:t>
            </a:r>
          </a:p>
          <a:p>
            <a:r>
              <a:rPr lang="en-US"/>
              <a:t>        "op": "AND",</a:t>
            </a:r>
          </a:p>
          <a:p>
            <a:r>
              <a:rPr lang="en-US"/>
              <a:t>        "children": [</a:t>
            </a:r>
          </a:p>
          <a:p>
            <a:r>
              <a:rPr lang="en-US"/>
              <a:t>          {</a:t>
            </a:r>
          </a:p>
          <a:p>
            <a:r>
              <a:rPr lang="en-US"/>
              <a:t>            "label": "Introduce a foreign context",</a:t>
            </a:r>
          </a:p>
          <a:p>
            <a:r>
              <a:rPr lang="en-US"/>
              <a:t>            "op": "OR",</a:t>
            </a:r>
          </a:p>
          <a:p>
            <a:r>
              <a:rPr lang="en-US"/>
              <a:t>            "children": [</a:t>
            </a:r>
          </a:p>
          <a:p>
            <a:r>
              <a:rPr lang="en-US"/>
              <a:t>              {</a:t>
            </a:r>
          </a:p>
          <a:p>
            <a:r>
              <a:rPr lang="en-US"/>
              <a:t>                "label": "Substitute output for another model / image job",</a:t>
            </a:r>
          </a:p>
          <a:p>
            <a:r>
              <a:rPr lang="en-US"/>
              <a:t>                "refs": [</a:t>
            </a:r>
          </a:p>
          <a:p>
            <a:r>
              <a:rPr lang="en-US"/>
              <a:t>                  "T8"</a:t>
            </a:r>
          </a:p>
          <a:p>
            <a:r>
              <a:rPr lang="en-US"/>
              <a:t>                ],</a:t>
            </a:r>
          </a:p>
          <a:p>
            <a:r>
              <a:rPr lang="en-US"/>
              <a:t>                "note": "The response does not belong to the receiver-issued image job and model selected for this call.",</a:t>
            </a:r>
          </a:p>
          <a:p>
            <a:r>
              <a:rPr lang="en-US"/>
              <a:t>                "kind": "condition",</a:t>
            </a:r>
          </a:p>
          <a:p>
            <a:r>
              <a:rPr lang="en-US"/>
              <a:t>                "short_label": "Swap output / job evidence",</a:t>
            </a:r>
          </a:p>
          <a:p>
            <a:r>
              <a:rPr lang="en-US"/>
              <a:t>                "assessment": "neutral",</a:t>
            </a:r>
          </a:p>
          <a:p>
            <a:r>
              <a:rPr lang="en-US"/>
              <a:t>                "assessment_reason": "Action or prerequisite shown without an independent security verdict. Its effect depends on the remaining AND/OR conditions.",</a:t>
            </a:r>
          </a:p>
          <a:p>
            <a:r>
              <a:rPr lang="en-US"/>
              <a:t>                "attacker_capability": "Replace bytes or reuse captured output from a different job.",</a:t>
            </a:r>
          </a:p>
          <a:p>
            <a:r>
              <a:rPr lang="en-US"/>
              <a:t>                "required_credentials": "No key to attempt substitution; no fresh valid receipt is assumed."</a:t>
            </a:r>
          </a:p>
          <a:p>
            <a:r>
              <a:rPr lang="en-US"/>
              <a:t>              },</a:t>
            </a:r>
          </a:p>
          <a:p>
            <a:r>
              <a:rPr lang="en-US"/>
              <a:t>              {</a:t>
            </a:r>
          </a:p>
          <a:p>
            <a:r>
              <a:rPr lang="en-US"/>
              <a:t>                "label": "Replay a request or receipt from another session",</a:t>
            </a:r>
          </a:p>
          <a:p>
            <a:r>
              <a:rPr lang="en-US"/>
              <a:t>                "refs": [</a:t>
            </a:r>
          </a:p>
          <a:p>
            <a:r>
              <a:rPr lang="en-US"/>
              <a:t>                  "T2",</a:t>
            </a:r>
          </a:p>
          <a:p>
            <a:r>
              <a:rPr lang="en-US"/>
              <a:t>                  "T8"</a:t>
            </a:r>
          </a:p>
          <a:p>
            <a:r>
              <a:rPr lang="en-US"/>
              <a:t>                ],</a:t>
            </a:r>
          </a:p>
          <a:p>
            <a:r>
              <a:rPr lang="en-US"/>
              <a:t>                "note": "The signature can remain valid, but the model, receiver run, session or request context differs. Same-context replay within the issue-time window is a separate residual boundary.",</a:t>
            </a:r>
          </a:p>
          <a:p>
            <a:r>
              <a:rPr lang="en-US"/>
              <a:t>                "kind": "condition",</a:t>
            </a:r>
          </a:p>
          <a:p>
            <a:r>
              <a:rPr lang="en-US"/>
              <a:t>                "short_label": "Replay across sessions",</a:t>
            </a:r>
          </a:p>
          <a:p>
            <a:r>
              <a:rPr lang="en-US"/>
              <a:t>                "assessment": "neutral",</a:t>
            </a:r>
          </a:p>
          <a:p>
            <a:r>
              <a:rPr lang="en-US"/>
              <a:t>                "assessment_reason": "Action or prerequisite shown without an independent security verdict. Its effect depends on the remaining AND/OR conditions.",</a:t>
            </a:r>
          </a:p>
          <a:p>
            <a:r>
              <a:rPr lang="en-US"/>
              <a:t>                "attacker_capability": "Replay available evidence from another request/session.",</a:t>
            </a:r>
          </a:p>
          <a:p>
            <a:r>
              <a:rPr lang="en-US"/>
              <a:t>                "required_credentials": "No signing key to copy a previously valid receipt."</a:t>
            </a:r>
          </a:p>
          <a:p>
            <a:r>
              <a:rPr lang="en-US"/>
              <a:t>              }</a:t>
            </a:r>
          </a:p>
          <a:p>
            <a:r>
              <a:rPr lang="en-US"/>
              <a:t>            ],</a:t>
            </a:r>
          </a:p>
          <a:p>
            <a:r>
              <a:rPr lang="en-US"/>
              <a:t>            "refs": [</a:t>
            </a:r>
          </a:p>
          <a:p>
            <a:r>
              <a:rPr lang="en-US"/>
              <a:t>              "T2",</a:t>
            </a:r>
          </a:p>
          <a:p>
            <a:r>
              <a:rPr lang="en-US"/>
              <a:t>              "T8"</a:t>
            </a:r>
          </a:p>
          <a:p>
            <a:r>
              <a:rPr lang="en-US"/>
              <a:t>            ],</a:t>
            </a:r>
          </a:p>
          <a:p>
            <a:r>
              <a:rPr lang="en-US"/>
              <a:t>            "note": "These are alternative ways to create incompatible evidence objects.",</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"Verifier accepts conflicting manifest / digests / job bindings",</a:t>
            </a:r>
          </a:p>
          <a:p>
            <a:r>
              <a:rPr lang="en-US"/>
              <a:t>            "refs": [</a:t>
            </a:r>
          </a:p>
          <a:p>
            <a:r>
              <a:rPr lang="en-US"/>
              <a:t>              "F6",</a:t>
            </a:r>
          </a:p>
          <a:p>
            <a:r>
              <a:rPr lang="en-US"/>
              <a:t>              "F11"</a:t>
            </a:r>
          </a:p>
          <a:p>
            <a:r>
              <a:rPr lang="en-US"/>
              <a:t>            ],</a:t>
            </a:r>
          </a:p>
          <a:p>
            <a:r>
              <a:rPr lang="en-US"/>
              <a:t>            "note": "AIR verification binds signature, nonce, manifest/request/response digests, quote and RA-TLS session; Sello additionally binds the exact service/action/job-call input and response to the admitted receiver. A valid object in a different context is rejected.",</a:t>
            </a:r>
          </a:p>
          <a:p>
            <a:r>
              <a:rPr lang="en-US"/>
              <a:t>            "kind": "check_failure",</a:t>
            </a:r>
          </a:p>
          <a:p>
            <a:r>
              <a:rPr lang="en-US"/>
              <a:t>            "short_label": "Pass digest / session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of conflicting signed evidence.",</a:t>
            </a:r>
          </a:p>
          <a:p>
            <a:r>
              <a:rPr lang="en-US"/>
              <a:t>            "required_credentials": "Fresh matching AIR/Sello signing authority is absent; intact checks reject the shown substitution."</a:t>
            </a:r>
          </a:p>
          <a:p>
            <a:r>
              <a:rPr lang="en-US"/>
              <a:t>          }</a:t>
            </a:r>
          </a:p>
          <a:p>
            <a:r>
              <a:rPr lang="en-US"/>
              <a:t>        ],</a:t>
            </a:r>
          </a:p>
          <a:p>
            <a:r>
              <a:rPr lang="en-US"/>
              <a:t>        "refs": [</a:t>
            </a:r>
          </a:p>
          <a:p>
            <a:r>
              <a:rPr lang="en-US"/>
              <a:t>          "T2",</a:t>
            </a:r>
          </a:p>
          <a:p>
            <a:r>
              <a:rPr lang="en-US"/>
              <a:t>          "T8",</a:t>
            </a:r>
          </a:p>
          <a:p>
            <a:r>
              <a:rPr lang="en-US"/>
              <a:t>          "F6",</a:t>
            </a:r>
          </a:p>
          <a:p>
            <a:r>
              <a:rPr lang="en-US"/>
              <a:t>          "F11"</a:t>
            </a:r>
          </a:p>
          <a:p>
            <a:r>
              <a:rPr lang="en-US"/>
              <a:t>        ],</a:t>
            </a:r>
          </a:p>
          <a:p>
            <a:r>
              <a:rPr lang="en-US"/>
              <a:t>        "note": "Incompatible evidence must receive an accepting verification decision. Merely swapping an object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"Fake verified tool success",</a:t>
            </a:r>
          </a:p>
          <a:p>
            <a:r>
              <a:rPr lang="en-US"/>
              <a:t>        "op": "AND",</a:t>
            </a:r>
          </a:p>
          <a:p>
            <a:r>
              <a:rPr lang="en-US"/>
              <a:t>        "children": [</a:t>
            </a:r>
          </a:p>
          <a:p>
            <a:r>
              <a:rPr lang="en-US"/>
              <a:t>          {</a:t>
            </a:r>
          </a:p>
          <a:p>
            <a:r>
              <a:rPr lang="en-US"/>
              <a:t>            "label": "Use prompt instructions to ask the agent to skip evidence verification",</a:t>
            </a:r>
          </a:p>
          <a:p>
            <a:r>
              <a:rPr lang="en-US"/>
              <a:t>            "short_label": "Inject misleading instructions",</a:t>
            </a:r>
          </a:p>
          <a:p>
            <a:r>
              <a:rPr lang="en-US"/>
              <a:t>            "assessment": "neutral",</a:t>
            </a:r>
          </a:p>
          <a:p>
            <a:r>
              <a:rPr lang="en-US"/>
              <a:t>            "assessment_reason": "A capability or necessary condition only; the other AND conditions still have to hold.",</a:t>
            </a:r>
          </a:p>
          <a:p>
            <a:r>
              <a:rPr lang="en-US"/>
              <a:t>            "note": "Prompt content can influence orchestration, but the tools are registered locally in code. It does not grant tool-registration control, receipt-signing keys or authority to change deterministic verification.",</a:t>
            </a:r>
          </a:p>
          <a:p>
            <a:r>
              <a:rPr lang="en-US"/>
              <a:t>            "refs": [</a:t>
            </a:r>
          </a:p>
          <a:p>
            <a:r>
              <a:rPr lang="en-US"/>
              <a:t>              "T9",</a:t>
            </a:r>
          </a:p>
          <a:p>
            <a:r>
              <a:rPr lang="en-US"/>
              <a:t>              "F8"</a:t>
            </a:r>
          </a:p>
          <a:p>
            <a:r>
              <a:rPr lang="en-US"/>
              <a:t>            ],</a:t>
            </a:r>
          </a:p>
          <a:p>
            <a:r>
              <a:rPr lang="en-US"/>
              <a:t>            "attacker_capability": "Control attacker-supplied prompt content.",</a:t>
            </a:r>
          </a:p>
          <a:p>
            <a:r>
              <a:rPr lang="en-US"/>
              <a:t>            "required_credentials": "No private keys or control over local tool definitions."</a:t>
            </a:r>
          </a:p>
          <a:p>
            <a:r>
              <a:rPr lang="en-US"/>
              <a:t>          },</a:t>
            </a:r>
          </a:p>
          <a:p>
            <a:r>
              <a:rPr lang="en-US"/>
              <a:t>          {</a:t>
            </a:r>
          </a:p>
          <a:p>
            <a:r>
              <a:rPr lang="en-US"/>
              <a:t>            "label": "Have the intact tool return verified success despite missing or invalid checks",</a:t>
            </a:r>
          </a:p>
          <a:p>
            <a:r>
              <a:rPr lang="en-US"/>
              <a:t>            "short_label": "Return verified success anyway",</a:t>
            </a:r>
          </a:p>
          <a:p>
            <a:r>
              <a:rPr lang="en-US"/>
              <a:t>            "assessment": "blocked",</a:t>
            </a:r>
          </a:p>
          <a:p>
            <a:r>
              <a:rPr lang="en-US"/>
              <a:t>            "assessment_reason": "The intact reviewed implementation rejects this success condition under its stated trust assumptions. This is not a demonstrated bypass.",</a:t>
            </a:r>
          </a:p>
          <a:p>
            <a:r>
              <a:rPr lang="en-US"/>
              <a:t>            "note": "The technical verified-and-transparency-logged stage is set only after verification and domain publication. This does not cover arbitrary final LLM prose: its hallucination filter is heuristic and no universal truthful-chat guarantee is claimed.",</a:t>
            </a:r>
          </a:p>
          <a:p>
            <a:r>
              <a:rPr lang="en-US"/>
              <a:t>            "refs": [</a:t>
            </a:r>
          </a:p>
          <a:p>
            <a:r>
              <a:rPr lang="en-US"/>
              <a:t>              "T9",</a:t>
            </a:r>
          </a:p>
          <a:p>
            <a:r>
              <a:rPr lang="en-US"/>
              <a:t>              "F8",</a:t>
            </a:r>
          </a:p>
          <a:p>
            <a:r>
              <a:rPr lang="en-US"/>
              <a:t>              "NF3"</a:t>
            </a:r>
          </a:p>
          <a:p>
            <a:r>
              <a:rPr lang="en-US"/>
              <a:t>            ],</a:t>
            </a:r>
          </a:p>
          <a:p>
            <a:r>
              <a:rPr lang="en-US"/>
              <a:t>            "attacker_capability": "Attempt to bypass intact technical tool acceptance using prompt content.",</a:t>
            </a:r>
          </a:p>
          <a:p>
            <a:r>
              <a:rPr lang="en-US"/>
              <a:t>            "required_credentials": "Prompt instructions supply neither the required AIR/Sello evidence nor control of the verifier code."</a:t>
            </a:r>
          </a:p>
          <a:p>
            <a:r>
              <a:rPr lang="en-US"/>
              <a:t>          }</a:t>
            </a:r>
          </a:p>
          <a:p>
            <a:r>
              <a:rPr lang="en-US"/>
              <a:t>        ],</a:t>
            </a:r>
          </a:p>
          <a:p>
            <a:r>
              <a:rPr lang="en-US"/>
              <a:t>        "note": "No tool-metadata or tool-identity mutation is assumed from prompt access. Code compromise is a separate stronger actor outside this shown prompt-only route.",</a:t>
            </a:r>
          </a:p>
          <a:p>
            <a:r>
              <a:rPr lang="en-US"/>
              <a:t>        "refs": [</a:t>
            </a:r>
          </a:p>
          <a:p>
            <a:r>
              <a:rPr lang="en-US"/>
              <a:t>          "T9",</a:t>
            </a:r>
          </a:p>
          <a:p>
            <a:r>
              <a:rPr lang="en-US"/>
              <a:t>          "F8",</a:t>
            </a:r>
          </a:p>
          <a:p>
            <a:r>
              <a:rPr lang="en-US"/>
              <a:t>          "NF3"</a:t>
            </a:r>
          </a:p>
          <a:p>
            <a:r>
              <a:rPr lang="en-US"/>
              <a:t>        ],</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"refs": [</a:t>
            </a:r>
          </a:p>
          <a:p>
            <a:r>
              <a:rPr lang="en-US"/>
              <a:t>      "T2",</a:t>
            </a:r>
          </a:p>
          <a:p>
            <a:r>
              <a:rPr lang="en-US"/>
              <a:t>      "T4",</a:t>
            </a:r>
          </a:p>
          <a:p>
            <a:r>
              <a:rPr lang="en-US"/>
              <a:t>      "T8",</a:t>
            </a:r>
          </a:p>
          <a:p>
            <a:r>
              <a:rPr lang="en-US"/>
              <a:t>      "T9"</a:t>
            </a:r>
          </a:p>
          <a:p>
            <a:r>
              <a:rPr lang="en-US"/>
              <a:t>    ],</a:t>
            </a:r>
          </a:p>
          <a:p>
            <a:r>
              <a:rPr lang="en-US"/>
              <a:t>    "note": "Scope is deterministic verified-tool acceptance by intact client/receiver implementations. Arbitrary LLM chat claims are not covered; their heuristic filter is not a security proof. An attacker does not gain AIR/Sello keys or local tool-registration control through prompt text.",</a:t>
            </a:r>
          </a:p>
          <a:p>
            <a:r>
              <a:rPr lang="en-US"/>
              <a:t>    "assessment": "blocked",</a:t>
            </a:r>
          </a:p>
          <a:p>
            <a:r>
              <a:rPr lang="en-US"/>
              <a:t>    "assessment_reason": "OR over (blocked, blocked, blocked); each route retains all actor, credential, timing and context prerequisites. No attack success was observed."</a:t>
            </a:r>
          </a:p>
          <a:p>
            <a:r>
              <a:rPr lang="en-US"/>
              <a:t>  },</a:t>
            </a:r>
          </a:p>
          <a:p>
            <a:r>
              <a:rPr lang="en-US"/>
              <a:t>  "takeaway": "Verified tool status requires bound evidence; arbitrary LLM wording is outside this guarantee.",</a:t>
            </a:r>
          </a:p>
          <a:p>
            <a:r>
              <a:rPr lang="en-US"/>
              <a:t>  "source_lines": {</a:t>
            </a:r>
          </a:p>
          <a:p>
            <a:r>
              <a:rPr lang="en-US"/>
              <a:t>    "T2": [</a:t>
            </a:r>
          </a:p>
          <a:p>
            <a:r>
              <a:rPr lang="en-US"/>
              <a:t>      299,</a:t>
            </a:r>
          </a:p>
          <a:p>
            <a:r>
              <a:rPr lang="en-US"/>
              <a:t>      309</a:t>
            </a:r>
          </a:p>
          <a:p>
            <a:r>
              <a:rPr lang="en-US"/>
              <a:t>    ],</a:t>
            </a:r>
          </a:p>
          <a:p>
            <a:r>
              <a:rPr lang="en-US"/>
              <a:t>    "T4": [</a:t>
            </a:r>
          </a:p>
          <a:p>
            <a:r>
              <a:rPr lang="en-US"/>
              <a:t>      334,</a:t>
            </a:r>
          </a:p>
          <a:p>
            <a:r>
              <a:rPr lang="en-US"/>
              <a:t>      342</a:t>
            </a:r>
          </a:p>
          <a:p>
            <a:r>
              <a:rPr lang="en-US"/>
              <a:t>    ],</a:t>
            </a:r>
          </a:p>
          <a:p>
            <a:r>
              <a:rPr lang="en-US"/>
              <a:t>    "T8": [</a:t>
            </a:r>
          </a:p>
          <a:p>
            <a:r>
              <a:rPr lang="en-US"/>
              <a:t>      413,</a:t>
            </a:r>
          </a:p>
          <a:p>
            <a:r>
              <a:rPr lang="en-US"/>
              <a:t>      426</a:t>
            </a:r>
          </a:p>
          <a:p>
            <a:r>
              <a:rPr lang="en-US"/>
              <a:t>    ],</a:t>
            </a:r>
          </a:p>
          <a:p>
            <a:r>
              <a:rPr lang="en-US"/>
              <a:t>    "T9": [</a:t>
            </a:r>
          </a:p>
          <a:p>
            <a:r>
              <a:rPr lang="en-US"/>
              <a:t>      432,</a:t>
            </a:r>
          </a:p>
          <a:p>
            <a:r>
              <a:rPr lang="en-US"/>
              <a:t>      441</a:t>
            </a:r>
          </a:p>
          <a:p>
            <a:r>
              <a:rPr lang="en-US"/>
              <a:t>    ],</a:t>
            </a:r>
          </a:p>
          <a:p>
            <a:r>
              <a:rPr lang="en-US"/>
              <a:t>    "F5/F6": [</a:t>
            </a:r>
          </a:p>
          <a:p>
            <a:r>
              <a:rPr lang="en-US"/>
              <a:t>      579,</a:t>
            </a:r>
          </a:p>
          <a:p>
            <a:r>
              <a:rPr lang="en-US"/>
              <a:t>      590</a:t>
            </a:r>
          </a:p>
          <a:p>
            <a:r>
              <a:rPr lang="en-US"/>
              <a:t>    ],</a:t>
            </a:r>
          </a:p>
          <a:p>
            <a:r>
              <a:rPr lang="en-US"/>
              <a:t>    "F8": [</a:t>
            </a:r>
          </a:p>
          <a:p>
            <a:r>
              <a:rPr lang="en-US"/>
              <a:t>      598,</a:t>
            </a:r>
          </a:p>
          <a:p>
            <a:r>
              <a:rPr lang="en-US"/>
              <a:t>      602</a:t>
            </a:r>
          </a:p>
          <a:p>
            <a:r>
              <a:rPr lang="en-US"/>
              <a:t>    ],</a:t>
            </a:r>
          </a:p>
          <a:p>
            <a:r>
              <a:rPr lang="en-US"/>
              <a:t>    "F11": [</a:t>
            </a:r>
          </a:p>
          <a:p>
            <a:r>
              <a:rPr lang="en-US"/>
              <a:t>      619,</a:t>
            </a:r>
          </a:p>
          <a:p>
            <a:r>
              <a:rPr lang="en-US"/>
              <a:t>      624</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"vita-fl/tee_inference/service/model_source.py",</a:t>
            </a:r>
          </a:p>
          <a:p>
            <a:r>
              <a:rPr lang="en-US"/>
              <a:t>        "lines": [</a:t>
            </a:r>
          </a:p>
          <a:p>
            <a:r>
              <a:rPr lang="en-US"/>
              <a:t>          218,</a:t>
            </a:r>
          </a:p>
          <a:p>
            <a:r>
              <a:rPr lang="en-US"/>
              <a:t>          241</a:t>
            </a:r>
          </a:p>
          <a:p>
            <a:r>
              <a:rPr lang="en-US"/>
              <a:t>        ],</a:t>
            </a:r>
          </a:p>
          <a:p>
            <a:r>
              <a:rPr lang="en-US"/>
              <a:t>        "finding": "Resolve and verify authoritative model bundle at preparation.",</a:t>
            </a:r>
          </a:p>
          <a:p>
            <a:r>
              <a:rPr lang="en-US"/>
              <a:t>        "sha256": "b119df10f732074c41698e5f7dbb0e60b6d6d102da8abc2ea1e24d9bbc9605c4"</a:t>
            </a:r>
          </a:p>
          <a:p>
            <a:r>
              <a:rPr lang="en-US"/>
              <a:t>      },</a:t>
            </a:r>
          </a:p>
          <a:p>
            <a:r>
              <a:rPr lang="en-US"/>
              <a:t>      {</a:t>
            </a:r>
          </a:p>
          <a:p>
            <a:r>
              <a:rPr lang="en-US"/>
              <a:t>        "path": "vita-fl/tee_inference/service/app.py",</a:t>
            </a:r>
          </a:p>
          <a:p>
            <a:r>
              <a:rPr lang="en-US"/>
              <a:t>        "lines": [</a:t>
            </a:r>
          </a:p>
          <a:p>
            <a:r>
              <a:rPr lang="en-US"/>
              <a:t>          329,</a:t>
            </a:r>
          </a:p>
          <a:p>
            <a:r>
              <a:rPr lang="en-US"/>
              <a:t>          360</a:t>
            </a:r>
          </a:p>
          <a:p>
            <a:r>
              <a:rPr lang="en-US"/>
              <a:t>        ],</a:t>
            </a:r>
          </a:p>
          <a:p>
            <a:r>
              <a:rPr lang="en-US"/>
              <a:t>        "finding": "Inference job uses prepared model context.",</a:t>
            </a:r>
          </a:p>
          <a:p>
            <a:r>
              <a:rPr lang="en-US"/>
              <a:t>        "sha256": "b3c84a4ef9dc909edbb9049d5858067153598e19a5a7c13dcbc3ae91291f093d"</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618,</a:t>
            </a:r>
          </a:p>
          <a:p>
            <a:r>
              <a:rPr lang="en-US"/>
              <a:t>          704,</a:t>
            </a:r>
          </a:p>
          <a:p>
            <a:r>
              <a:rPr lang="en-US"/>
              <a:t>          755</a:t>
            </a:r>
          </a:p>
          <a:p>
            <a:r>
              <a:rPr lang="en-US"/>
              <a:t>        ],</a:t>
            </a:r>
          </a:p>
          <a:p>
            <a:r>
              <a:rPr lang="en-US"/>
              <a:t>        "finding": "Exact job input; AIR/nonce/digests/session verification; domain publication before verified stage.",</a:t>
            </a:r>
          </a:p>
          <a:p>
            <a:r>
              <a:rPr lang="en-US"/>
              <a:t>        "sha256": "4f1b0cd4b0f3e9443400bb574589c9f6fa47302e2a4bd774d5a45ea9a65b6b0d"</a:t>
            </a:r>
          </a:p>
          <a:p>
            <a:r>
              <a:rPr lang="en-US"/>
              <a:t>      },</a:t>
            </a:r>
          </a:p>
          <a:p>
            <a:r>
              <a:rPr lang="en-US"/>
              <a:t>      {</a:t>
            </a:r>
          </a:p>
          <a:p>
            <a:r>
              <a:rPr lang="en-US"/>
              <a:t>        "path": "vita-fl/agent/sello_client.py",</a:t>
            </a:r>
          </a:p>
          <a:p>
            <a:r>
              <a:rPr lang="en-US"/>
              <a:t>        "lines": [</a:t>
            </a:r>
          </a:p>
          <a:p>
            <a:r>
              <a:rPr lang="en-US"/>
              <a:t>          182,</a:t>
            </a:r>
          </a:p>
          <a:p>
            <a:r>
              <a:rPr lang="en-US"/>
              <a:t>          199</a:t>
            </a:r>
          </a:p>
          <a:p>
            <a:r>
              <a:rPr lang="en-US"/>
              <a:t>        ],</a:t>
            </a:r>
          </a:p>
          <a:p>
            <a:r>
              <a:rPr lang="en-US"/>
              <a:t>        "finding": "Sello service/action/input/output/session binding.",</a:t>
            </a:r>
          </a:p>
          <a:p>
            <a:r>
              <a:rPr lang="en-US"/>
              <a:t>        "sha256": "9a35d6ba08c3aa43e44c05a57c5ced271484e32fac1580c2715b3c92d009db67"</a:t>
            </a:r>
          </a:p>
          <a:p>
            <a:r>
              <a:rPr lang="en-US"/>
              <a:t>      },</a:t>
            </a:r>
          </a:p>
          <a:p>
            <a:r>
              <a:rPr lang="en-US"/>
              <a:t>      {</a:t>
            </a:r>
          </a:p>
          <a:p>
            <a:r>
              <a:rPr lang="en-US"/>
              <a:t>        "path": "vita-fl/agent/run_agent.py",</a:t>
            </a:r>
          </a:p>
          <a:p>
            <a:r>
              <a:rPr lang="en-US"/>
              <a:t>        "lines": [</a:t>
            </a:r>
          </a:p>
          <a:p>
            <a:r>
              <a:rPr lang="en-US"/>
              <a:t>          329,</a:t>
            </a:r>
          </a:p>
          <a:p>
            <a:r>
              <a:rPr lang="en-US"/>
              <a:t>          365,</a:t>
            </a:r>
          </a:p>
          <a:p>
            <a:r>
              <a:rPr lang="en-US"/>
              <a:t>          728,</a:t>
            </a:r>
          </a:p>
          <a:p>
            <a:r>
              <a:rPr lang="en-US"/>
              <a:t>          737,</a:t>
            </a:r>
          </a:p>
          <a:p>
            <a:r>
              <a:rPr lang="en-US"/>
              <a:t>          1058</a:t>
            </a:r>
          </a:p>
          <a:p>
            <a:r>
              <a:rPr lang="en-US"/>
              <a:t>        ],</a:t>
            </a:r>
          </a:p>
          <a:p>
            <a:r>
              <a:rPr lang="en-US"/>
              <a:t>        "finding": "Local tool definitions; heuristic final-text check distinct from technical success.",</a:t>
            </a:r>
          </a:p>
          <a:p>
            <a:r>
              <a:rPr lang="en-US"/>
              <a:t>        "sha256": "6afbfeffdedd638f0f364f96db09915510e3270aef4ac3559c7ba6f810a7780d"</a:t>
            </a:r>
          </a:p>
          <a:p>
            <a:r>
              <a:rPr lang="en-US"/>
              <a:t>      }</a:t>
            </a:r>
          </a:p>
          <a:p>
            <a:r>
              <a:rPr lang="en-US"/>
              <a:t>    ],</a:t>
            </a:r>
          </a:p>
          <a:p>
            <a:r>
              <a:rPr lang="en-US"/>
              <a:t>    "limits": [</a:t>
            </a:r>
          </a:p>
          <a:p>
            <a:r>
              <a:rPr lang="en-US"/>
              <a:t>      "Green is limited to intact technical verification; not unrestricted chat text or compromised client code.",</a:t>
            </a:r>
          </a:p>
          <a:p>
            <a:r>
              <a:rPr lang="en-US"/>
              <a:t>      "Current publication means selected at model preparation; per-call absolute latest-model freshness is not asserted."</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"05-audit",</a:t>
            </a:r>
          </a:p>
          <a:p>
            <a:r>
              <a:rPr lang="en-US"/>
              <a:t>  "name_de": "5 · Receipts und Transparency Log",</a:t>
            </a:r>
          </a:p>
          <a:p>
            <a:r>
              <a:rPr lang="en-US"/>
              <a:t>  "title": "Attack tree: evidence and interaction suppression",</a:t>
            </a:r>
          </a:p>
          <a:p>
            <a:r>
              <a:rPr lang="en-US"/>
              <a:t>  "threats": [</a:t>
            </a:r>
          </a:p>
          <a:p>
            <a:r>
              <a:rPr lang="en-US"/>
              <a:t>    "T10",</a:t>
            </a:r>
          </a:p>
          <a:p>
            <a:r>
              <a:rPr lang="en-US"/>
              <a:t>    "T11"</a:t>
            </a:r>
          </a:p>
          <a:p>
            <a:r>
              <a:rPr lang="en-US"/>
              <a:t>  ],</a:t>
            </a:r>
          </a:p>
          <a:p>
            <a:r>
              <a:rPr lang="en-US"/>
              <a:t>  "domains": [</a:t>
            </a:r>
          </a:p>
          <a:p>
            <a:r>
              <a:rPr lang="en-US"/>
              <a:t>    "Agent"</a:t>
            </a:r>
          </a:p>
          <a:p>
            <a:r>
              <a:rPr lang="en-US"/>
              <a:t>  ],</a:t>
            </a:r>
          </a:p>
          <a:p>
            <a:r>
              <a:rPr lang="en-US"/>
              <a:t>  "root": {</a:t>
            </a:r>
          </a:p>
          <a:p>
            <a:r>
              <a:rPr lang="en-US"/>
              <a:t>    "label": "Undermine evidence or suppress interaction",</a:t>
            </a:r>
          </a:p>
          <a:p>
            <a:r>
              <a:rPr lang="en-US"/>
              <a:t>    "op": "OR",</a:t>
            </a:r>
          </a:p>
          <a:p>
            <a:r>
              <a:rPr lang="en-US"/>
              <a:t>    "children": [</a:t>
            </a:r>
          </a:p>
          <a:p>
            <a:r>
              <a:rPr lang="en-US"/>
              <a:t>      {</a:t>
            </a:r>
          </a:p>
          <a:p>
            <a:r>
              <a:rPr lang="en-US"/>
              <a:t>        "label": "Claim complete evidence despite missing records",</a:t>
            </a:r>
          </a:p>
          <a:p>
            <a:r>
              <a:rPr lang="en-US"/>
              <a:t>        "op": "AND",</a:t>
            </a:r>
          </a:p>
          <a:p>
            <a:r>
              <a:rPr lang="en-US"/>
              <a:t>        "children": [</a:t>
            </a:r>
          </a:p>
          <a:p>
            <a:r>
              <a:rPr lang="en-US"/>
              <a:t>          {</a:t>
            </a:r>
          </a:p>
          <a:p>
            <a:r>
              <a:rPr lang="en-US"/>
              <a:t>            "label": "Leave a required record absent",</a:t>
            </a:r>
          </a:p>
          <a:p>
            <a:r>
              <a:rPr lang="en-US"/>
              <a:t>            "op": "OR",</a:t>
            </a:r>
          </a:p>
          <a:p>
            <a:r>
              <a:rPr lang="en-US"/>
              <a:t>            "children": [</a:t>
            </a:r>
          </a:p>
          <a:p>
            <a:r>
              <a:rPr lang="en-US"/>
              <a:t>              {</a:t>
            </a:r>
          </a:p>
          <a:p>
            <a:r>
              <a:rPr lang="en-US"/>
              <a:t>                "label": "Receiver Sello receipt is not accepted by the log",</a:t>
            </a:r>
          </a:p>
          <a:p>
            <a:r>
              <a:rPr lang="en-US"/>
              <a:t>                "refs": [</a:t>
            </a:r>
          </a:p>
          <a:p>
            <a:r>
              <a:rPr lang="en-US"/>
              <a:t>                  "T10",</a:t>
            </a:r>
          </a:p>
          <a:p>
            <a:r>
              <a:rPr lang="en-US"/>
              <a:t>                  "F10"</a:t>
            </a:r>
          </a:p>
          <a:p>
            <a:r>
              <a:rPr lang="en-US"/>
              <a:t>                ],</a:t>
            </a:r>
          </a:p>
          <a:p>
            <a:r>
              <a:rPr lang="en-US"/>
              <a:t>                "note": "The receipt committing to canonical receiver-call input/output is absent from the owner-authorized log, or lacks its required verified statement.",</a:t>
            </a:r>
          </a:p>
          <a:p>
            <a:r>
              <a:rPr lang="en-US"/>
              <a:t>                "kind": "condition",</a:t>
            </a:r>
          </a:p>
          <a:p>
            <a:r>
              <a:rPr lang="en-US"/>
              <a:t>                "short_label": "Block Sello publication",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"Refuse/drop receipt publication requests or responses.",</a:t>
            </a:r>
          </a:p>
          <a:p>
            <a:r>
              <a:rPr lang="en-US"/>
              <a:t>                "required_credentials": "No signer key to deny log/network availability."</a:t>
            </a:r>
          </a:p>
          <a:p>
            <a:r>
              <a:rPr lang="en-US"/>
              <a:t>              },</a:t>
            </a:r>
          </a:p>
          <a:p>
            <a:r>
              <a:rPr lang="en-US"/>
              <a:t>              {</a:t>
            </a:r>
          </a:p>
          <a:p>
            <a:r>
              <a:rPr lang="en-US"/>
              <a:t>                "label": "Verified inference domain bundle is not published",</a:t>
            </a:r>
          </a:p>
          <a:p>
            <a:r>
              <a:rPr lang="en-US"/>
              <a:t>                "refs": [</a:t>
            </a:r>
          </a:p>
          <a:p>
            <a:r>
              <a:rPr lang="en-US"/>
              <a:t>                  "T10",</a:t>
            </a:r>
          </a:p>
          <a:p>
            <a:r>
              <a:rPr lang="en-US"/>
              <a:t>                  "F10"</a:t>
            </a:r>
          </a:p>
          <a:p>
            <a:r>
              <a:rPr lang="en-US"/>
              <a:t>                ],</a:t>
            </a:r>
          </a:p>
          <a:p>
            <a:r>
              <a:rPr lang="en-US"/>
              <a:t>                "note": "The separate domain bundle contains numeric inference request/response, manifest and execution evidence. A Sello receipt alone does not replace it.",</a:t>
            </a:r>
          </a:p>
          <a:p>
            <a:r>
              <a:rPr lang="en-US"/>
              <a:t>                "kind": "condition",</a:t>
            </a:r>
          </a:p>
          <a:p>
            <a:r>
              <a:rPr lang="en-US"/>
              <a:t>                "short_label": "Block inference publication",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"Refuse/drop domain-evidence publication.",</a:t>
            </a:r>
          </a:p>
          <a:p>
            <a:r>
              <a:rPr lang="en-US"/>
              <a:t>                "required_credentials": "No key to prevent delivery; cannot fabricate replacement evidence."</a:t>
            </a:r>
          </a:p>
          <a:p>
            <a:r>
              <a:rPr lang="en-US"/>
              <a:t>              }</a:t>
            </a:r>
          </a:p>
          <a:p>
            <a:r>
              <a:rPr lang="en-US"/>
              <a:t>            ],</a:t>
            </a:r>
          </a:p>
          <a:p>
            <a:r>
              <a:rPr lang="en-US"/>
              <a:t>            "refs": [</a:t>
            </a:r>
          </a:p>
          <a:p>
            <a:r>
              <a:rPr lang="en-US"/>
              <a:t>              "T10",</a:t>
            </a:r>
          </a:p>
          <a:p>
            <a:r>
              <a:rPr lang="en-US"/>
              <a:t>              "F10"</a:t>
            </a:r>
          </a:p>
          <a:p>
            <a:r>
              <a:rPr lang="en-US"/>
              <a:t>            ],</a:t>
            </a:r>
          </a:p>
          <a:p>
            <a:r>
              <a:rPr lang="en-US"/>
              <a:t>            "note": "The two records serve different claims and have different publication stages. Either missing required record defeats evidence completeness.",</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"Workflow still marks the corresponding claim successful",</a:t>
            </a:r>
          </a:p>
          <a:p>
            <a:r>
              <a:rPr lang="en-US"/>
              <a:t>            "refs": [</a:t>
            </a:r>
          </a:p>
          <a:p>
            <a:r>
              <a:rPr lang="en-US"/>
              <a:t>              "F10",</a:t>
            </a:r>
          </a:p>
          <a:p>
            <a:r>
              <a:rPr lang="en-US"/>
              <a:t>              "NF3"</a:t>
            </a:r>
          </a:p>
          <a:p>
            <a:r>
              <a:rPr lang="en-US"/>
              <a:t>            ],</a:t>
            </a:r>
          </a:p>
          <a:p>
            <a:r>
              <a:rPr lang="en-US"/>
              <a:t>            "note": "Receiver returns failure when required Sello publication fails; client verifies the receipt and exact logged bytes; inference domain publication precedes the technical verified stage. A visible failure is availability loss, not a successful false completeness claim. Arbitrary chat prose is outside this scope.",</a:t>
            </a:r>
          </a:p>
          <a:p>
            <a:r>
              <a:rPr lang="en-US"/>
              <a:t>            "kind": "check_failure",</a:t>
            </a:r>
          </a:p>
          <a:p>
            <a:r>
              <a:rPr lang="en-US"/>
              <a:t>            "short_label": "Still return verified success",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false technical completeness despite the missing record.",</a:t>
            </a:r>
          </a:p>
          <a:p>
            <a:r>
              <a:rPr lang="en-US"/>
              <a:t>            "required_credentials": "No required valid publication/verification evidence; intact path fails closed."</a:t>
            </a:r>
          </a:p>
          <a:p>
            <a:r>
              <a:rPr lang="en-US"/>
              <a:t>          }</a:t>
            </a:r>
          </a:p>
          <a:p>
            <a:r>
              <a:rPr lang="en-US"/>
              <a:t>        ],</a:t>
            </a:r>
          </a:p>
          <a:p>
            <a:r>
              <a:rPr lang="en-US"/>
              <a:t>        "refs": [</a:t>
            </a:r>
          </a:p>
          <a:p>
            <a:r>
              <a:rPr lang="en-US"/>
              <a:t>          "T10",</a:t>
            </a:r>
          </a:p>
          <a:p>
            <a:r>
              <a:rPr lang="en-US"/>
              <a:t>          "F10",</a:t>
            </a:r>
          </a:p>
          <a:p>
            <a:r>
              <a:rPr lang="en-US"/>
              <a:t>          "NF3"</a:t>
            </a:r>
          </a:p>
          <a:p>
            <a:r>
              <a:rPr lang="en-US"/>
              <a:t>        ],</a:t>
            </a:r>
          </a:p>
          <a:p>
            <a:r>
              <a:rPr lang="en-US"/>
              <a:t>        "note": "Absence plus a false successful claim is required. The normal prototype is specified to fail closed.",</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"Conceal log equivocation",</a:t>
            </a:r>
          </a:p>
          <a:p>
            <a:r>
              <a:rPr lang="en-US"/>
              <a:t>        "op": "AND",</a:t>
            </a:r>
          </a:p>
          <a:p>
            <a:r>
              <a:rPr lang="en-US"/>
              <a:t>        "children": [</a:t>
            </a:r>
          </a:p>
          <a:p>
            <a:r>
              <a:rPr lang="en-US"/>
              <a:t>          {</a:t>
            </a:r>
          </a:p>
          <a:p>
            <a:r>
              <a:rPr lang="en-US"/>
              <a:t>            "label": "A controlled log issues valid statements for conflicting views",</a:t>
            </a:r>
          </a:p>
          <a:p>
            <a:r>
              <a:rPr lang="en-US"/>
              <a:t>            "refs": [</a:t>
            </a:r>
          </a:p>
          <a:p>
            <a:r>
              <a:rPr lang="en-US"/>
              <a:t>              "T11",</a:t>
            </a:r>
          </a:p>
          <a:p>
            <a:r>
              <a:rPr lang="en-US"/>
              <a:t>              "AS8"</a:t>
            </a:r>
          </a:p>
          <a:p>
            <a:r>
              <a:rPr lang="en-US"/>
              <a:t>            ],</a:t>
            </a:r>
          </a:p>
          <a:p>
            <a:r>
              <a:rPr lang="en-US"/>
              <a:t>            "note": "Requires control of the trusted log service and the ability to issue valid log statements. Merely observing receipts or manipulating network bytes does not confer this authority. It does not require forging honest receiver/AIR/Sello signatures.",</a:t>
            </a:r>
          </a:p>
          <a:p>
            <a:r>
              <a:rPr lang="en-US"/>
              <a:t>            "kind": "condition",</a:t>
            </a:r>
          </a:p>
          <a:p>
            <a:r>
              <a:rPr lang="en-US"/>
              <a:t>            "short_label": "Log signs conflicting views",</a:t>
            </a:r>
          </a:p>
          <a:p>
            <a:r>
              <a:rPr lang="en-US"/>
              <a:t>            "assessment": "neutral",</a:t>
            </a:r>
          </a:p>
          <a:p>
            <a:r>
              <a:rPr lang="en-US"/>
              <a:t>            "assessment_reason": "Action or prerequisite shown without an independent security verdict. Its effect depends on the remaining AND/OR conditions.",</a:t>
            </a:r>
          </a:p>
          <a:p>
            <a:r>
              <a:rPr lang="en-US"/>
              <a:t>            "attacker_capability": "Malicious/compromised authorized log service with log-statement signing authority.",</a:t>
            </a:r>
          </a:p>
          <a:p>
            <a:r>
              <a:rPr lang="en-US"/>
              <a:t>            "required_credentials": "The log signing authority, not participant, AIR or Sello private keys."</a:t>
            </a:r>
          </a:p>
          <a:p>
            <a:r>
              <a:rPr lang="en-US"/>
              <a:t>          },</a:t>
            </a:r>
          </a:p>
          <a:p>
            <a:r>
              <a:rPr lang="en-US"/>
              <a:t>          {</a:t>
            </a:r>
          </a:p>
          <a:p>
            <a:r>
              <a:rPr lang="en-US"/>
              <a:t>            "label": "No independent witness or anchor compares the views",</a:t>
            </a:r>
          </a:p>
          <a:p>
            <a:r>
              <a:rPr lang="en-US"/>
              <a:t>            "refs": [</a:t>
            </a:r>
          </a:p>
          <a:p>
            <a:r>
              <a:rPr lang="en-US"/>
              <a:t>              "AS8"</a:t>
            </a:r>
          </a:p>
          <a:p>
            <a:r>
              <a:rPr lang="en-US"/>
              <a:t>            ],</a:t>
            </a:r>
          </a:p>
          <a:p>
            <a:r>
              <a:rPr lang="en-US"/>
              <a:t>            "note": "Environmental boundary: the prototype has no independent witnesses. The diagram does not claim an attacker can defeat an existing witness deployment.",</a:t>
            </a:r>
          </a:p>
          <a:p>
            <a:r>
              <a:rPr lang="en-US"/>
              <a:t>            "kind": "boundary",</a:t>
            </a:r>
          </a:p>
          <a:p>
            <a:r>
              <a:rPr lang="en-US"/>
              <a:t>            "short_label": "No independent view comparison",</a:t>
            </a:r>
          </a:p>
          <a:p>
            <a:r>
              <a:rPr lang="en-US"/>
              <a:t>            "assessment": "boundary",</a:t>
            </a:r>
          </a:p>
          <a:p>
            <a:r>
              <a:rPr lang="en-US"/>
              <a:t>            "assessment_reason": "AS8 marks the external consistency boundary: local statements cannot establish a single global view without independent witnessing/anchoring. Yellow marks this external assurance dependency, not an already breached cryptographic primitive.",</a:t>
            </a:r>
          </a:p>
          <a:p>
            <a:r>
              <a:rPr lang="en-US"/>
              <a:t>            "attacker_capability": "Exploit the absence of independent comparison after the controlled log issues conflicting views.",</a:t>
            </a:r>
          </a:p>
          <a:p>
            <a:r>
              <a:rPr lang="en-US"/>
              <a:t>            "required_credentials": "Log authority comes from the other AND condition; no witness compromise is assumed."</a:t>
            </a:r>
          </a:p>
          <a:p>
            <a:r>
              <a:rPr lang="en-US"/>
              <a:t>          }</a:t>
            </a:r>
          </a:p>
          <a:p>
            <a:r>
              <a:rPr lang="en-US"/>
              <a:t>        ],</a:t>
            </a:r>
          </a:p>
          <a:p>
            <a:r>
              <a:rPr lang="en-US"/>
              <a:t>        "refs": [</a:t>
            </a:r>
          </a:p>
          <a:p>
            <a:r>
              <a:rPr lang="en-US"/>
              <a:t>          "T11",</a:t>
            </a:r>
          </a:p>
          <a:p>
            <a:r>
              <a:rPr lang="en-US"/>
              <a:t>          "AS8"</a:t>
            </a:r>
          </a:p>
          <a:p>
            <a:r>
              <a:rPr lang="en-US"/>
              <a:t>        ],</a:t>
            </a:r>
          </a:p>
          <a:p>
            <a:r>
              <a:rPr lang="en-US"/>
              <a:t>        "note": "Both validly signed equivocation by the controlled log and absence of independent history comparison are necessary. This is the AS8 log-consistency boundary, not arbitrary signature forging by a network outsider.",</a:t>
            </a:r>
          </a:p>
          <a:p>
            <a:r>
              <a:rPr lang="en-US"/>
              <a:t>        "assessment": "boundary",</a:t>
            </a:r>
          </a:p>
          <a:p>
            <a:r>
              <a:rPr lang="en-US"/>
              <a:t>        "assessment_reason": "AND over (neutral, boundary); each route retains all actor, credential, timing and context prerequisites. No attack success was observed."</a:t>
            </a:r>
          </a:p>
          <a:p>
            <a:r>
              <a:rPr lang="en-US"/>
              <a:t>      },</a:t>
            </a:r>
          </a:p>
          <a:p>
            <a:r>
              <a:rPr lang="en-US"/>
              <a:t>      {</a:t>
            </a:r>
          </a:p>
          <a:p>
            <a:r>
              <a:rPr lang="en-US"/>
              <a:t>        "label": "Suppress the entire interaction",</a:t>
            </a:r>
          </a:p>
          <a:p>
            <a:r>
              <a:rPr lang="en-US"/>
              <a:t>        "op": "OR",</a:t>
            </a:r>
          </a:p>
          <a:p>
            <a:r>
              <a:rPr lang="en-US"/>
              <a:t>        "children": [</a:t>
            </a:r>
          </a:p>
          <a:p>
            <a:r>
              <a:rPr lang="en-US"/>
              <a:t>          {</a:t>
            </a:r>
          </a:p>
          <a:p>
            <a:r>
              <a:rPr lang="en-US"/>
              <a:t>            "label": "Drop the request before it reaches the receiver",</a:t>
            </a:r>
          </a:p>
          <a:p>
            <a:r>
              <a:rPr lang="en-US"/>
              <a:t>            "refs": [</a:t>
            </a:r>
          </a:p>
          <a:p>
            <a:r>
              <a:rPr lang="en-US"/>
              <a:t>              "T10"</a:t>
            </a:r>
          </a:p>
          <a:p>
            <a:r>
              <a:rPr lang="en-US"/>
              <a:t>            ],</a:t>
            </a:r>
          </a:p>
          <a:p>
            <a:r>
              <a:rPr lang="en-US"/>
              <a:t>            "note": "An actor controlling request forwarding or service/network availability can prevent the call reaching the receiver. There is then no receiver execution for which a receipt could exist. No fabricated success is asserted.",</a:t>
            </a:r>
          </a:p>
          <a:p>
            <a:r>
              <a:rPr lang="en-US"/>
              <a:t>            "kind": "condition",</a:t>
            </a:r>
          </a:p>
          <a:p>
            <a:r>
              <a:rPr lang="en-US"/>
              <a:t>            "short_label": "Drop request before execution",</a:t>
            </a:r>
          </a:p>
          <a:p>
            <a:r>
              <a:rPr lang="en-US"/>
              <a:t>            "assessment": "possible",</a:t>
            </a:r>
          </a:p>
          <a:p>
            <a:r>
              <a:rPr lang="en-US"/>
              <a:t>            "assessment_reason": "T10 permits suppression before the receiver sees a call. No receiver receipt can prove the execution of a call that never arrived; no trust assumption has to fail.",</a:t>
            </a:r>
          </a:p>
          <a:p>
            <a:r>
              <a:rPr lang="en-US"/>
              <a:t>            "attacker_capability": "Control request forwarding or network/service availability.",</a:t>
            </a:r>
          </a:p>
          <a:p>
            <a:r>
              <a:rPr lang="en-US"/>
              <a:t>            "required_credentials": "No protected signing key."</a:t>
            </a:r>
          </a:p>
          <a:p>
            <a:r>
              <a:rPr lang="en-US"/>
              <a:t>          },</a:t>
            </a:r>
          </a:p>
          <a:p>
            <a:r>
              <a:rPr lang="en-US"/>
              <a:t>          {</a:t>
            </a:r>
          </a:p>
          <a:p>
            <a:r>
              <a:rPr lang="en-US"/>
              <a:t>            "label": "Intermediary withholds the entire result from the user",</a:t>
            </a:r>
          </a:p>
          <a:p>
            <a:r>
              <a:rPr lang="en-US"/>
              <a:t>            "refs": [</a:t>
            </a:r>
          </a:p>
          <a:p>
            <a:r>
              <a:rPr lang="en-US"/>
              <a:t>              "T10"</a:t>
            </a:r>
          </a:p>
          <a:p>
            <a:r>
              <a:rPr lang="en-US"/>
              <a:t>            ],</a:t>
            </a:r>
          </a:p>
          <a:p>
            <a:r>
              <a:rPr lang="en-US"/>
              <a:t>            "note": "A receipt may already exist if execution completed. Withholding a result does not delete a published record; the failure concerns the user-visible interaction.",</a:t>
            </a:r>
          </a:p>
          <a:p>
            <a:r>
              <a:rPr lang="en-US"/>
              <a:t>            "kind": "condition",</a:t>
            </a:r>
          </a:p>
          <a:p>
            <a:r>
              <a:rPr lang="en-US"/>
              <a:t>            "short_label": "Withhold response from user",</a:t>
            </a:r>
          </a:p>
          <a:p>
            <a:r>
              <a:rPr lang="en-US"/>
              <a:t>            "assessment": "possible",</a:t>
            </a:r>
          </a:p>
          <a:p>
            <a:r>
              <a:rPr lang="en-US"/>
              <a:t>            "assessment_reason": "T10 permits withholding the entire user-facing result. A previously published receipt can remain intact; the colored success concerns interaction suppression, not log erasure.",</a:t>
            </a:r>
          </a:p>
          <a:p>
            <a:r>
              <a:rPr lang="en-US"/>
              <a:t>            "attacker_capability": "Control result forwarding or response-path availability.",</a:t>
            </a:r>
          </a:p>
          <a:p>
            <a:r>
              <a:rPr lang="en-US"/>
              <a:t>            "required_credentials": "No key to withhold a response; already published evidence is not deleted."</a:t>
            </a:r>
          </a:p>
          <a:p>
            <a:r>
              <a:rPr lang="en-US"/>
              <a:t>          }</a:t>
            </a:r>
          </a:p>
          <a:p>
            <a:r>
              <a:rPr lang="en-US"/>
              <a:t>        ],</a:t>
            </a:r>
          </a:p>
          <a:p>
            <a:r>
              <a:rPr lang="en-US"/>
              <a:t>        "refs": [</a:t>
            </a:r>
          </a:p>
          <a:p>
            <a:r>
              <a:rPr lang="en-US"/>
              <a:t>          "T10"</a:t>
            </a:r>
          </a:p>
          <a:p>
            <a:r>
              <a:rPr lang="en-US"/>
              <a:t>        ],</a:t>
            </a:r>
          </a:p>
          <a:p>
            <a:r>
              <a:rPr lang="en-US"/>
              <a:t>        "note": "Either omission can suppress the intended interaction at the user boundary; full log erasure is not implied.",</a:t>
            </a:r>
          </a:p>
          <a:p>
            <a:r>
              <a:rPr lang="en-US"/>
              <a:t>        "assessment": "possible",</a:t>
            </a:r>
          </a:p>
          <a:p>
            <a:r>
              <a:rPr lang="en-US"/>
              <a:t>        "assessment_reason": "OR over (possible, possible); each route retains all actor, credential, timing and context prerequisites. No attack success was observed."</a:t>
            </a:r>
          </a:p>
          <a:p>
            <a:r>
              <a:rPr lang="en-US"/>
              <a:t>      }</a:t>
            </a:r>
          </a:p>
          <a:p>
            <a:r>
              <a:rPr lang="en-US"/>
              <a:t>    ],</a:t>
            </a:r>
          </a:p>
          <a:p>
            <a:r>
              <a:rPr lang="en-US"/>
              <a:t>    "refs": [</a:t>
            </a:r>
          </a:p>
          <a:p>
            <a:r>
              <a:rPr lang="en-US"/>
              <a:t>      "T10",</a:t>
            </a:r>
          </a:p>
          <a:p>
            <a:r>
              <a:rPr lang="en-US"/>
              <a:t>      "T11"</a:t>
            </a:r>
          </a:p>
          <a:p>
            <a:r>
              <a:rPr lang="en-US"/>
              <a:t>    ],</a:t>
            </a:r>
          </a:p>
          <a:p>
            <a:r>
              <a:rPr lang="en-US"/>
              <a:t>    "note": "The root includes false completeness, inconsistent log histories and suppressed interaction. Exact-byte inclusion is not proof that every intended interaction exists.",</a:t>
            </a:r>
          </a:p>
          <a:p>
            <a:r>
              <a:rPr lang="en-US"/>
              <a:t>    "assessment": "possible",</a:t>
            </a:r>
          </a:p>
          <a:p>
            <a:r>
              <a:rPr lang="en-US"/>
              <a:t>    "assessment_reason": "OR over (blocked, boundary, possible); each route retains all actor, credential, timing and context prerequisites. No attack success was observed."</a:t>
            </a:r>
          </a:p>
          <a:p>
            <a:r>
              <a:rPr lang="en-US"/>
              <a:t>  },</a:t>
            </a:r>
          </a:p>
          <a:p>
            <a:r>
              <a:rPr lang="en-US"/>
              <a:t>  "takeaway": "Dropping traffic needs no key; conflicting valid log views require control of the log authority.",</a:t>
            </a:r>
          </a:p>
          <a:p>
            <a:r>
              <a:rPr lang="en-US"/>
              <a:t>  "source_lines": {</a:t>
            </a:r>
          </a:p>
          <a:p>
            <a:r>
              <a:rPr lang="en-US"/>
              <a:t>    "workflow_receipts": [</a:t>
            </a:r>
          </a:p>
          <a:p>
            <a:r>
              <a:rPr lang="en-US"/>
              <a:t>      145,</a:t>
            </a:r>
          </a:p>
          <a:p>
            <a:r>
              <a:rPr lang="en-US"/>
              <a:t>      150</a:t>
            </a:r>
          </a:p>
          <a:p>
            <a:r>
              <a:rPr lang="en-US"/>
              <a:t>    ],</a:t>
            </a:r>
          </a:p>
          <a:p>
            <a:r>
              <a:rPr lang="en-US"/>
              <a:t>    "T10": [</a:t>
            </a:r>
          </a:p>
          <a:p>
            <a:r>
              <a:rPr lang="en-US"/>
              <a:t>      449,</a:t>
            </a:r>
          </a:p>
          <a:p>
            <a:r>
              <a:rPr lang="en-US"/>
              <a:t>      459</a:t>
            </a:r>
          </a:p>
          <a:p>
            <a:r>
              <a:rPr lang="en-US"/>
              <a:t>    ],</a:t>
            </a:r>
          </a:p>
          <a:p>
            <a:r>
              <a:rPr lang="en-US"/>
              <a:t>    "T11": [</a:t>
            </a:r>
          </a:p>
          <a:p>
            <a:r>
              <a:rPr lang="en-US"/>
              <a:t>      467,</a:t>
            </a:r>
          </a:p>
          <a:p>
            <a:r>
              <a:rPr lang="en-US"/>
              <a:t>      476</a:t>
            </a:r>
          </a:p>
          <a:p>
            <a:r>
              <a:rPr lang="en-US"/>
              <a:t>    ],</a:t>
            </a:r>
          </a:p>
          <a:p>
            <a:r>
              <a:rPr lang="en-US"/>
              <a:t>    "AS8": [</a:t>
            </a:r>
          </a:p>
          <a:p>
            <a:r>
              <a:rPr lang="en-US"/>
              <a:t>      242,</a:t>
            </a:r>
          </a:p>
          <a:p>
            <a:r>
              <a:rPr lang="en-US"/>
              <a:t>      245</a:t>
            </a:r>
          </a:p>
          <a:p>
            <a:r>
              <a:rPr lang="en-US"/>
              <a:t>    ],</a:t>
            </a:r>
          </a:p>
          <a:p>
            <a:r>
              <a:rPr lang="en-US"/>
              <a:t>    "F10": [</a:t>
            </a:r>
          </a:p>
          <a:p>
            <a:r>
              <a:rPr lang="en-US"/>
              <a:t>      611,</a:t>
            </a:r>
          </a:p>
          <a:p>
            <a:r>
              <a:rPr lang="en-US"/>
              <a:t>      617</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"vita-fl/tee_inference/service/app.py",</a:t>
            </a:r>
          </a:p>
          <a:p>
            <a:r>
              <a:rPr lang="en-US"/>
              <a:t>        "lines": [</a:t>
            </a:r>
          </a:p>
          <a:p>
            <a:r>
              <a:rPr lang="en-US"/>
              <a:t>          196,</a:t>
            </a:r>
          </a:p>
          <a:p>
            <a:r>
              <a:rPr lang="en-US"/>
              <a:t>          246</a:t>
            </a:r>
          </a:p>
          <a:p>
            <a:r>
              <a:rPr lang="en-US"/>
              <a:t>        ],</a:t>
            </a:r>
          </a:p>
          <a:p>
            <a:r>
              <a:rPr lang="en-US"/>
              <a:t>        "finding": "Receiver fails when required Sello publication cannot complete.",</a:t>
            </a:r>
          </a:p>
          <a:p>
            <a:r>
              <a:rPr lang="en-US"/>
              <a:t>        "sha256": "b3c84a4ef9dc909edbb9049d5858067153598e19a5a7c13dcbc3ae91291f093d"</a:t>
            </a:r>
          </a:p>
          <a:p>
            <a:r>
              <a:rPr lang="en-US"/>
              <a:t>      },</a:t>
            </a:r>
          </a:p>
          <a:p>
            <a:r>
              <a:rPr lang="en-US"/>
              <a:t>      {</a:t>
            </a:r>
          </a:p>
          <a:p>
            <a:r>
              <a:rPr lang="en-US"/>
              <a:t>        "path": "vita-fl/agent/sello_client.py",</a:t>
            </a:r>
          </a:p>
          <a:p>
            <a:r>
              <a:rPr lang="en-US"/>
              <a:t>        "lines": [</a:t>
            </a:r>
          </a:p>
          <a:p>
            <a:r>
              <a:rPr lang="en-US"/>
              <a:t>          182,</a:t>
            </a:r>
          </a:p>
          <a:p>
            <a:r>
              <a:rPr lang="en-US"/>
              <a:t>          199</a:t>
            </a:r>
          </a:p>
          <a:p>
            <a:r>
              <a:rPr lang="en-US"/>
              <a:t>        ],</a:t>
            </a:r>
          </a:p>
          <a:p>
            <a:r>
              <a:rPr lang="en-US"/>
              <a:t>        "finding": "Verify exact receiver call and receipt.",</a:t>
            </a:r>
          </a:p>
          <a:p>
            <a:r>
              <a:rPr lang="en-US"/>
              <a:t>        "sha256": "9a35d6ba08c3aa43e44c05a57c5ced271484e32fac1580c2715b3c92d009db67"</a:t>
            </a:r>
          </a:p>
          <a:p>
            <a:r>
              <a:rPr lang="en-US"/>
              <a:t>      },</a:t>
            </a:r>
          </a:p>
          <a:p>
            <a:r>
              <a:rPr lang="en-US"/>
              <a:t>      {</a:t>
            </a:r>
          </a:p>
          <a:p>
            <a:r>
              <a:rPr lang="en-US"/>
              <a:t>        "path": "vita-fl/agent_receipts/scitt.py",</a:t>
            </a:r>
          </a:p>
          <a:p>
            <a:r>
              <a:rPr lang="en-US"/>
              <a:t>        "lines": [</a:t>
            </a:r>
          </a:p>
          <a:p>
            <a:r>
              <a:rPr lang="en-US"/>
              <a:t>          93,</a:t>
            </a:r>
          </a:p>
          <a:p>
            <a:r>
              <a:rPr lang="en-US"/>
              <a:t>          115,</a:t>
            </a:r>
          </a:p>
          <a:p>
            <a:r>
              <a:rPr lang="en-US"/>
              <a:t>          189,</a:t>
            </a:r>
          </a:p>
          <a:p>
            <a:r>
              <a:rPr lang="en-US"/>
              <a:t>          216</a:t>
            </a:r>
          </a:p>
          <a:p>
            <a:r>
              <a:rPr lang="en-US"/>
              <a:t>        ],</a:t>
            </a:r>
          </a:p>
          <a:p>
            <a:r>
              <a:rPr lang="en-US"/>
              <a:t>        "finding": "Local statement/key/exact-byte verification, no independent history comparison in this path.",</a:t>
            </a:r>
          </a:p>
          <a:p>
            <a:r>
              <a:rPr lang="en-US"/>
              <a:t>        "sha256": "818367d460c73c4f14a46172e4da8762f68640b4fa471d61e2acc0ba06b7f159"</a:t>
            </a:r>
          </a:p>
          <a:p>
            <a:r>
              <a:rPr lang="en-US"/>
              <a:t>      },</a:t>
            </a:r>
          </a:p>
          <a:p>
            <a:r>
              <a:rPr lang="en-US"/>
              <a:t>      {</a:t>
            </a:r>
          </a:p>
          <a:p>
            <a:r>
              <a:rPr lang="en-US"/>
              <a:t>        "path": "vita-fl/agent/tee_inference_client.py",</a:t>
            </a:r>
          </a:p>
          <a:p>
            <a:r>
              <a:rPr lang="en-US"/>
              <a:t>        "lines": [</a:t>
            </a:r>
          </a:p>
          <a:p>
            <a:r>
              <a:rPr lang="en-US"/>
              <a:t>          704,</a:t>
            </a:r>
          </a:p>
          <a:p>
            <a:r>
              <a:rPr lang="en-US"/>
              <a:t>          755</a:t>
            </a:r>
          </a:p>
          <a:p>
            <a:r>
              <a:rPr lang="en-US"/>
              <a:t>        ],</a:t>
            </a:r>
          </a:p>
          <a:p>
            <a:r>
              <a:rPr lang="en-US"/>
              <a:t>        "finding": "Domain publication required before technical verified success.",</a:t>
            </a:r>
          </a:p>
          <a:p>
            <a:r>
              <a:rPr lang="en-US"/>
              <a:t>        "sha256": "4f1b0cd4b0f3e9443400bb574589c9f6fa47302e2a4bd774d5a45ea9a65b6b0d"</a:t>
            </a:r>
          </a:p>
          <a:p>
            <a:r>
              <a:rPr lang="en-US"/>
              <a:t>      }</a:t>
            </a:r>
          </a:p>
          <a:p>
            <a:r>
              <a:rPr lang="en-US"/>
              <a:t>    ],</a:t>
            </a:r>
          </a:p>
          <a:p>
            <a:r>
              <a:rPr lang="en-US"/>
              <a:t>    "limits": [</a:t>
            </a:r>
          </a:p>
          <a:p>
            <a:r>
              <a:rPr lang="en-US"/>
              <a:t>      "Split-view route requires malicious log authority, not just a network adversary.",</a:t>
            </a:r>
          </a:p>
          <a:p>
            <a:r>
              <a:rPr lang="en-US"/>
              <a:t>      "No requests were suppressed or log views forked in this review.",</a:t>
            </a:r>
          </a:p>
          <a:p>
            <a:r>
              <a:rPr lang="en-US"/>
              <a:t>      "Withheld response does not erase receipts that are already published."</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"06-disclosure",</a:t>
            </a:r>
          </a:p>
          <a:p>
            <a:r>
              <a:rPr lang="en-US"/>
              <a:t>  "name_de": "6 · Modellschlüssel und Klartext",</a:t>
            </a:r>
          </a:p>
          <a:p>
            <a:r>
              <a:rPr lang="en-US"/>
              <a:t>  "title": "Attack tree: disclose the TEE-held model",</a:t>
            </a:r>
          </a:p>
          <a:p>
            <a:r>
              <a:rPr lang="en-US"/>
              <a:t>  "threats": [</a:t>
            </a:r>
          </a:p>
          <a:p>
            <a:r>
              <a:rPr lang="en-US"/>
              <a:t>    "T5",</a:t>
            </a:r>
          </a:p>
          <a:p>
            <a:r>
              <a:rPr lang="en-US"/>
              <a:t>    "T13"</a:t>
            </a:r>
          </a:p>
          <a:p>
            <a:r>
              <a:rPr lang="en-US"/>
              <a:t>  ],</a:t>
            </a:r>
          </a:p>
          <a:p>
            <a:r>
              <a:rPr lang="en-US"/>
              <a:t>  "domains": [</a:t>
            </a:r>
          </a:p>
          <a:p>
            <a:r>
              <a:rPr lang="en-US"/>
              <a:t>    "DFL",</a:t>
            </a:r>
          </a:p>
          <a:p>
            <a:r>
              <a:rPr lang="en-US"/>
              <a:t>    "Agent"</a:t>
            </a:r>
          </a:p>
          <a:p>
            <a:r>
              <a:rPr lang="en-US"/>
              <a:t>  ],</a:t>
            </a:r>
          </a:p>
          <a:p>
            <a:r>
              <a:rPr lang="en-US"/>
              <a:t>  "root": {</a:t>
            </a:r>
          </a:p>
          <a:p>
            <a:r>
              <a:rPr lang="en-US"/>
              <a:t>    "label": "Expose model outside the TEE",</a:t>
            </a:r>
          </a:p>
          <a:p>
            <a:r>
              <a:rPr lang="en-US"/>
              <a:t>    "op": "OR",</a:t>
            </a:r>
          </a:p>
          <a:p>
            <a:r>
              <a:rPr lang="en-US"/>
              <a:t>    "children": [</a:t>
            </a:r>
          </a:p>
          <a:p>
            <a:r>
              <a:rPr lang="en-US"/>
              <a:t>      {</a:t>
            </a:r>
          </a:p>
          <a:p>
            <a:r>
              <a:rPr lang="en-US"/>
              <a:t>        "label": "Bypass admitted-key protection",</a:t>
            </a:r>
          </a:p>
          <a:p>
            <a:r>
              <a:rPr lang="en-US"/>
              <a:t>        "op": "AND",</a:t>
            </a:r>
          </a:p>
          <a:p>
            <a:r>
              <a:rPr lang="en-US"/>
              <a:t>        "children": [</a:t>
            </a:r>
          </a:p>
          <a:p>
            <a:r>
              <a:rPr lang="en-US"/>
              <a:t>          {</a:t>
            </a:r>
          </a:p>
          <a:p>
            <a:r>
              <a:rPr lang="en-US"/>
              <a:t>            "label": "Obtain the published encrypted model bundle",</a:t>
            </a:r>
          </a:p>
          <a:p>
            <a:r>
              <a:rPr lang="en-US"/>
              <a:t>            "refs": [</a:t>
            </a:r>
          </a:p>
          <a:p>
            <a:r>
              <a:rPr lang="en-US"/>
              <a:t>              "T5"</a:t>
            </a:r>
          </a:p>
          <a:p>
            <a:r>
              <a:rPr lang="en-US"/>
              <a:t>            ],</a:t>
            </a:r>
          </a:p>
          <a:p>
            <a:r>
              <a:rPr lang="en-US"/>
              <a:t>            "note": "Ciphertext can be publicly downloadable without violating the confidentiality claim.",</a:t>
            </a:r>
          </a:p>
          <a:p>
            <a:r>
              <a:rPr lang="en-US"/>
              <a:t>            "kind": "condition",</a:t>
            </a:r>
          </a:p>
          <a:p>
            <a:r>
              <a:rPr lang="en-US"/>
              <a:t>            "short_label": "Obtain model ciphertext",</a:t>
            </a:r>
          </a:p>
          <a:p>
            <a:r>
              <a:rPr lang="en-US"/>
              <a:t>            "assessment": "neutral",</a:t>
            </a:r>
          </a:p>
          <a:p>
            <a:r>
              <a:rPr lang="en-US"/>
              <a:t>            "assessment_reason": "Action or prerequisite shown without an independent security verdict. Its effect depends on the remaining AND/OR conditions.",</a:t>
            </a:r>
          </a:p>
          <a:p>
            <a:r>
              <a:rPr lang="en-US"/>
              <a:t>            "attacker_capability": "Read publicly retrievable encrypted model objects.",</a:t>
            </a:r>
          </a:p>
          <a:p>
            <a:r>
              <a:rPr lang="en-US"/>
              <a:t>            "required_credentials": "No private key to obtain ciphertext."</a:t>
            </a:r>
          </a:p>
          <a:p>
            <a:r>
              <a:rPr lang="en-US"/>
              <a:t>          },</a:t>
            </a:r>
          </a:p>
          <a:p>
            <a:r>
              <a:rPr lang="en-US"/>
              <a:t>          {</a:t>
            </a:r>
          </a:p>
          <a:p>
            <a:r>
              <a:rPr lang="en-US"/>
              <a:t>            "label": "Recover its key outside the eligible recipient snapshot",</a:t>
            </a:r>
          </a:p>
          <a:p>
            <a:r>
              <a:rPr lang="en-US"/>
              <a:t>            "refs": [</a:t>
            </a:r>
          </a:p>
          <a:p>
            <a:r>
              <a:rPr lang="en-US"/>
              <a:t>              "F7",</a:t>
            </a:r>
          </a:p>
          <a:p>
            <a:r>
              <a:rPr lang="en-US"/>
              <a:t>              "T5",</a:t>
            </a:r>
          </a:p>
          <a:p>
            <a:r>
              <a:rPr lang="en-US"/>
              <a:t>              "AS1"</a:t>
            </a:r>
          </a:p>
          <a:p>
            <a:r>
              <a:rPr lang="en-US"/>
              <a:t>            ],</a:t>
            </a:r>
          </a:p>
          <a:p>
            <a:r>
              <a:rPr lang="en-US"/>
              <a:t>            "note": "This is a required failure of the intended encrypted distribution guarantee. Chapter 4 does not supply a cryptographic break or key-recovery exploit.",</a:t>
            </a:r>
          </a:p>
          <a:p>
            <a:r>
              <a:rPr lang="en-US"/>
              <a:t>            "kind": "check_failure",</a:t>
            </a:r>
          </a:p>
          <a:p>
            <a:r>
              <a:rPr lang="en-US"/>
              <a:t>            "short_label": "Decrypt without recipient key",</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decryption as an ineligible outsider.",</a:t>
            </a:r>
          </a:p>
          <a:p>
            <a:r>
              <a:rPr lang="en-US"/>
              <a:t>            "required_credentials": "Matching authorized recipient private key is absent; intact RSA/AES protection blocks this route."</a:t>
            </a:r>
          </a:p>
          <a:p>
            <a:r>
              <a:rPr lang="en-US"/>
              <a:t>          }</a:t>
            </a:r>
          </a:p>
          <a:p>
            <a:r>
              <a:rPr lang="en-US"/>
              <a:t>        ],</a:t>
            </a:r>
          </a:p>
          <a:p>
            <a:r>
              <a:rPr lang="en-US"/>
              <a:t>        "refs": [</a:t>
            </a:r>
          </a:p>
          <a:p>
            <a:r>
              <a:rPr lang="en-US"/>
              <a:t>          "T5",</a:t>
            </a:r>
          </a:p>
          <a:p>
            <a:r>
              <a:rPr lang="en-US"/>
              <a:t>          "F7"</a:t>
            </a:r>
          </a:p>
          <a:p>
            <a:r>
              <a:rPr lang="en-US"/>
              <a:t>        ],</a:t>
            </a:r>
          </a:p>
          <a:p>
            <a:r>
              <a:rPr lang="en-US"/>
              <a:t>        "note": "Possession of ciphertext and its matching decryption key yields plaintext under the normal published format; ciphertext alone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"Break TEE secret protection",</a:t>
            </a:r>
          </a:p>
          <a:p>
            <a:r>
              <a:rPr lang="en-US"/>
              <a:t>        "op": "AND",</a:t>
            </a:r>
          </a:p>
          <a:p>
            <a:r>
              <a:rPr lang="en-US"/>
              <a:t>        "children": [</a:t>
            </a:r>
          </a:p>
          <a:p>
            <a:r>
              <a:rPr lang="en-US"/>
              <a:t>          {</a:t>
            </a:r>
          </a:p>
          <a:p>
            <a:r>
              <a:rPr lang="en-US"/>
              <a:t>            "label": "Obtain the matching encrypted model",</a:t>
            </a:r>
          </a:p>
          <a:p>
            <a:r>
              <a:rPr lang="en-US"/>
              <a:t>            "refs": [</a:t>
            </a:r>
          </a:p>
          <a:p>
            <a:r>
              <a:rPr lang="en-US"/>
              <a:t>              "T5"</a:t>
            </a:r>
          </a:p>
          <a:p>
            <a:r>
              <a:rPr lang="en-US"/>
              <a:t>            ],</a:t>
            </a:r>
          </a:p>
          <a:p>
            <a:r>
              <a:rPr lang="en-US"/>
              <a:t>            "note": "The ciphertext must match the recovered round key. A key wrapper is needed only for the stolen-recipient-key unwrap alternative; direct exposure of the round key does not require one.",</a:t>
            </a:r>
          </a:p>
          <a:p>
            <a:r>
              <a:rPr lang="en-US"/>
              <a:t>            "kind": "condition",</a:t>
            </a:r>
          </a:p>
          <a:p>
            <a:r>
              <a:rPr lang="en-US"/>
              <a:t>            "short_label": "Obtain matching ciphertext",</a:t>
            </a:r>
          </a:p>
          <a:p>
            <a:r>
              <a:rPr lang="en-US"/>
              <a:t>            "assessment": "neutral",</a:t>
            </a:r>
          </a:p>
          <a:p>
            <a:r>
              <a:rPr lang="en-US"/>
              <a:t>            "assessment_reason": "Action or prerequisite shown without an independent security verdict. Its effect depends on the remaining AND/OR conditions.",</a:t>
            </a:r>
          </a:p>
          <a:p>
            <a:r>
              <a:rPr lang="en-US"/>
              <a:t>            "attacker_capability": "Read publicly retrievable encrypted model objects.",</a:t>
            </a:r>
          </a:p>
          <a:p>
            <a:r>
              <a:rPr lang="en-US"/>
              <a:t>            "required_credentials": "No private key to obtain ciphertext."</a:t>
            </a:r>
          </a:p>
          <a:p>
            <a:r>
              <a:rPr lang="en-US"/>
              <a:t>          },</a:t>
            </a:r>
          </a:p>
          <a:p>
            <a:r>
              <a:rPr lang="en-US"/>
              <a:t>          {</a:t>
            </a:r>
          </a:p>
          <a:p>
            <a:r>
              <a:rPr lang="en-US"/>
              <a:t>            "label": "Obtain the matching round key",</a:t>
            </a:r>
          </a:p>
          <a:p>
            <a:r>
              <a:rPr lang="en-US"/>
              <a:t>            "op": "OR",</a:t>
            </a:r>
          </a:p>
          <a:p>
            <a:r>
              <a:rPr lang="en-US"/>
              <a:t>            "children": [</a:t>
            </a:r>
          </a:p>
          <a:p>
            <a:r>
              <a:rPr lang="en-US"/>
              <a:t>              {</a:t>
            </a:r>
          </a:p>
          <a:p>
            <a:r>
              <a:rPr lang="en-US"/>
              <a:t>                "label": "Use a stolen recipient private key to unwrap the model key",</a:t>
            </a:r>
          </a:p>
          <a:p>
            <a:r>
              <a:rPr lang="en-US"/>
              <a:t>                "refs": [</a:t>
            </a:r>
          </a:p>
          <a:p>
            <a:r>
              <a:rPr lang="en-US"/>
              <a:t>                  "T13",</a:t>
            </a:r>
          </a:p>
          <a:p>
            <a:r>
              <a:rPr lang="en-US"/>
              <a:t>                  "AS5"</a:t>
            </a:r>
          </a:p>
          <a:p>
            <a:r>
              <a:rPr lang="en-US"/>
              <a:t>                ],</a:t>
            </a:r>
          </a:p>
          <a:p>
            <a:r>
              <a:rPr lang="en-US"/>
              <a:t>                "note": "Private-key extraction is an explicit assumption failure. This leaf includes successful unwrap of the matching envelope; no extraction method is claimed.",</a:t>
            </a:r>
          </a:p>
          <a:p>
            <a:r>
              <a:rPr lang="en-US"/>
              <a:t>                "kind": "boundary",</a:t>
            </a:r>
          </a:p>
          <a:p>
            <a:r>
              <a:rPr lang="en-US"/>
              <a:t>                "short_label": "Unwrap with stolen recipient key",</a:t>
            </a:r>
          </a:p>
          <a:p>
            <a:r>
              <a:rPr lang="en-US"/>
              <a:t>                "assessment": "boundary",</a:t>
            </a:r>
          </a:p>
          <a:p>
            <a:r>
              <a:rPr lang="en-US"/>
              <a:t>                "assessment_reason": "This path requires the explicit AS5 protected-key-custody assumption to fail and successful unwrapping of the matching model key.",</a:t>
            </a:r>
          </a:p>
          <a:p>
            <a:r>
              <a:rPr lang="en-US"/>
              <a:t>                "attacker_capability": "Actually extract the admitted recipient RSA private key and obtain its matching envelope.",</a:t>
            </a:r>
          </a:p>
          <a:p>
            <a:r>
              <a:rPr lang="en-US"/>
              <a:t>                "required_credentials": "The matching TEE recipient RSA private key; deployment ownership does not supply it."</a:t>
            </a:r>
          </a:p>
          <a:p>
            <a:r>
              <a:rPr lang="en-US"/>
              <a:t>              },</a:t>
            </a:r>
          </a:p>
          <a:p>
            <a:r>
              <a:rPr lang="en-US"/>
              <a:t>              {</a:t>
            </a:r>
          </a:p>
          <a:p>
            <a:r>
              <a:rPr lang="en-US"/>
              <a:t>                "label": "Expose the model key while the workload holds it in plaintext",</a:t>
            </a:r>
          </a:p>
          <a:p>
            <a:r>
              <a:rPr lang="en-US"/>
              <a:t>                "refs": [</a:t>
            </a:r>
          </a:p>
          <a:p>
            <a:r>
              <a:rPr lang="en-US"/>
              <a:t>                  "T13",</a:t>
            </a:r>
          </a:p>
          <a:p>
            <a:r>
              <a:rPr lang="en-US"/>
              <a:t>                  "AS5"</a:t>
            </a:r>
          </a:p>
          <a:p>
            <a:r>
              <a:rPr lang="en-US"/>
              <a:t>                ],</a:t>
            </a:r>
          </a:p>
          <a:p>
            <a:r>
              <a:rPr lang="en-US"/>
              <a:t>                "note": "The protected workload is compromised while the relevant key is materialized; a generic process exploit without actual key exposure is not enough.",</a:t>
            </a:r>
          </a:p>
          <a:p>
            <a:r>
              <a:rPr lang="en-US"/>
              <a:t>                "kind": "boundary",</a:t>
            </a:r>
          </a:p>
          <a:p>
            <a:r>
              <a:rPr lang="en-US"/>
              <a:t>                "short_label": "Expose live model key",</a:t>
            </a:r>
          </a:p>
          <a:p>
            <a:r>
              <a:rPr lang="en-US"/>
              <a:t>                "assessment": "boundary",</a:t>
            </a:r>
          </a:p>
          <a:p>
            <a:r>
              <a:rPr lang="en-US"/>
              <a:t>                "assessment_reason": "This path requires AS5 to fail while the matching model key is materialized in the protected process.",</a:t>
            </a:r>
          </a:p>
          <a:p>
            <a:r>
              <a:rPr lang="en-US"/>
              <a:t>                "attacker_capability": "Compromise execution while the matching model key is materialized.",</a:t>
            </a:r>
          </a:p>
          <a:p>
            <a:r>
              <a:rPr lang="en-US"/>
              <a:t>                "required_credentials": "Actual access to the live plaintext model key."</a:t>
            </a:r>
          </a:p>
          <a:p>
            <a:r>
              <a:rPr lang="en-US"/>
              <a:t>              }</a:t>
            </a:r>
          </a:p>
          <a:p>
            <a:r>
              <a:rPr lang="en-US"/>
              <a:t>            ],</a:t>
            </a:r>
          </a:p>
          <a:p>
            <a:r>
              <a:rPr lang="en-US"/>
              <a:t>            "refs": [</a:t>
            </a:r>
          </a:p>
          <a:p>
            <a:r>
              <a:rPr lang="en-US"/>
              <a:t>              "T13",</a:t>
            </a:r>
          </a:p>
          <a:p>
            <a:r>
              <a:rPr lang="en-US"/>
              <a:t>              "AS5"</a:t>
            </a:r>
          </a:p>
          <a:p>
            <a:r>
              <a:rPr lang="en-US"/>
              <a:t>            ],</a:t>
            </a:r>
          </a:p>
          <a:p>
            <a:r>
              <a:rPr lang="en-US"/>
              <a:t>            "note": "The two custody failures provide alternative ways to recover the actual matching round key.",</a:t>
            </a:r>
          </a:p>
          <a:p>
            <a:r>
              <a:rPr lang="en-US"/>
              <a:t>            "assessment": "boundary",</a:t>
            </a:r>
          </a:p>
          <a:p>
            <a:r>
              <a:rPr lang="en-US"/>
              <a:t>            "assessment_reason": "OR over (boundary, boundary); each route retains all actor, credential, timing and context prerequisites. No attack success was observed."</a:t>
            </a:r>
          </a:p>
          <a:p>
            <a:r>
              <a:rPr lang="en-US"/>
              <a:t>          }</a:t>
            </a:r>
          </a:p>
          <a:p>
            <a:r>
              <a:rPr lang="en-US"/>
              <a:t>        ],</a:t>
            </a:r>
          </a:p>
          <a:p>
            <a:r>
              <a:rPr lang="en-US"/>
              <a:t>        "refs": [</a:t>
            </a:r>
          </a:p>
          <a:p>
            <a:r>
              <a:rPr lang="en-US"/>
              <a:t>          "T5",</a:t>
            </a:r>
          </a:p>
          <a:p>
            <a:r>
              <a:rPr lang="en-US"/>
              <a:t>          "T13",</a:t>
            </a:r>
          </a:p>
          <a:p>
            <a:r>
              <a:rPr lang="en-US"/>
              <a:t>          "AS5"</a:t>
            </a:r>
          </a:p>
          <a:p>
            <a:r>
              <a:rPr lang="en-US"/>
              <a:t>        ],</a:t>
            </a:r>
          </a:p>
          <a:p>
            <a:r>
              <a:rPr lang="en-US"/>
              <a:t>        "note": "A usable matching secret plus accessible matching ciphertext suffices. Additional signature checks cannot restore compromised key custody.",</a:t>
            </a:r>
          </a:p>
          <a:p>
            <a:r>
              <a:rPr lang="en-US"/>
              <a:t>        "assessment": "boundary",</a:t>
            </a:r>
          </a:p>
          <a:p>
            <a:r>
              <a:rPr lang="en-US"/>
              <a:t>        "assessment_reason": "AND over (neutral, boundary); each route retains all actor, credential, timing and context prerequisites. No attack success was observed."</a:t>
            </a:r>
          </a:p>
          <a:p>
            <a:r>
              <a:rPr lang="en-US"/>
              <a:t>      },</a:t>
            </a:r>
          </a:p>
          <a:p>
            <a:r>
              <a:rPr lang="en-US"/>
              <a:t>      {</a:t>
            </a:r>
          </a:p>
          <a:p>
            <a:r>
              <a:rPr lang="en-US"/>
              <a:t>        "label": "Expose secrets through operator control",</a:t>
            </a:r>
          </a:p>
          <a:p>
            <a:r>
              <a:rPr lang="en-US"/>
              <a:t>        "op": "OR",</a:t>
            </a:r>
          </a:p>
          <a:p>
            <a:r>
              <a:rPr lang="en-US"/>
              <a:t>        "refs": [</a:t>
            </a:r>
          </a:p>
          <a:p>
            <a:r>
              <a:rPr lang="en-US"/>
              <a:t>          "T13",</a:t>
            </a:r>
          </a:p>
          <a:p>
            <a:r>
              <a:rPr lang="en-US"/>
              <a:t>          "AS4",</a:t>
            </a:r>
          </a:p>
          <a:p>
            <a:r>
              <a:rPr lang="en-US"/>
              <a:t>          "AS5"</a:t>
            </a:r>
          </a:p>
          <a:p>
            <a:r>
              <a:rPr lang="en-US"/>
              <a:t>        ],</a:t>
            </a:r>
          </a:p>
          <a:p>
            <a:r>
              <a:rPr lang="en-US"/>
              <a:t>        "note": "These are conditional implementation boundaries, not confirmed exploits. The official launchers disable SSH, but admission does not itself attest SSH absence. KMS release of existing app secrets to an upgrade is a separate authorization question. Each route below explicitly requires successful access and disclosure; owning the deployment alone is not enough.",</a:t>
            </a:r>
          </a:p>
          <a:p>
            <a:r>
              <a:rPr lang="en-US"/>
              <a:t>        "children": [</a:t>
            </a:r>
          </a:p>
          <a:p>
            <a:r>
              <a:rPr lang="en-US"/>
              <a:t>          {</a:t>
            </a:r>
          </a:p>
          <a:p>
            <a:r>
              <a:rPr lang="en-US"/>
              <a:t>            "label": "Use privileged access inside the admitted TEE to disclose the matching model key",</a:t>
            </a:r>
          </a:p>
          <a:p>
            <a:r>
              <a:rPr lang="en-US"/>
              <a:t>            "short_label": "Read model key via guest access",</a:t>
            </a:r>
          </a:p>
          <a:p>
            <a:r>
              <a:rPr lang="en-US"/>
              <a:t>            "refs": [</a:t>
            </a:r>
          </a:p>
          <a:p>
            <a:r>
              <a:rPr lang="en-US"/>
              <a:t>              "T13",</a:t>
            </a:r>
          </a:p>
          <a:p>
            <a:r>
              <a:rPr lang="en-US"/>
              <a:t>              "AS4",</a:t>
            </a:r>
          </a:p>
          <a:p>
            <a:r>
              <a:rPr lang="en-US"/>
              <a:t>              "AS5"</a:t>
            </a:r>
          </a:p>
          <a:p>
            <a:r>
              <a:rPr lang="en-US"/>
              <a:t>            ],</a:t>
            </a:r>
          </a:p>
          <a:p>
            <a:r>
              <a:rPr lang="en-US"/>
              <a:t>            "kind": "boundary",</a:t>
            </a:r>
          </a:p>
          <a:p>
            <a:r>
              <a:rPr lang="en-US"/>
              <a:t>            "assessment": "boundary",</a:t>
            </a:r>
          </a:p>
          <a:p>
            <a:r>
              <a:rPr lang="en-US"/>
              <a:t>            "note": "The official launcher sets ssh_authorized_keys=[]; phala/README.md documents that separate SSH user configuration is outside the verified app_compose. Thus admission alone does not prove absence of privileged guest access in an independently launched otherwise-identical CVM. This leaf requires actual privileged access and extraction of a usable matching model key, followed by decryption of the available ciphertext. It does not assert SSH access in the current deployment. Runtime private-key material is written inside the guest with mode 0600.",</a:t>
            </a:r>
          </a:p>
          <a:p>
            <a:r>
              <a:rPr lang="en-US"/>
              <a:t>            "assessment_reason": "Yellow denotes the required failure of protected key custody and the explicit deployment-evidence boundary (AS4/AS5), not an automatic capability of a human deployer.",</a:t>
            </a:r>
          </a:p>
          <a:p>
            <a:r>
              <a:rPr lang="en-US"/>
              <a:t>            "attacker_capability": "Actually obtain privileged access inside the admitted guest and extract its usable secrets.",</a:t>
            </a:r>
          </a:p>
          <a:p>
            <a:r>
              <a:rPr lang="en-US"/>
              <a:t>            "required_credentials": "Privileged guest access and matching key material, not merely cloud deployment rights."</a:t>
            </a:r>
          </a:p>
          <a:p>
            <a:r>
              <a:rPr lang="en-US"/>
              <a:t>          },</a:t>
            </a:r>
          </a:p>
          <a:p>
            <a:r>
              <a:rPr lang="en-US"/>
              <a:t>          {</a:t>
            </a:r>
          </a:p>
          <a:p>
            <a:r>
              <a:rPr lang="en-US"/>
              <a:t>            "label": "Registry-unapproved upgraded code obtains prior app secrets and exposes the matching model key",</a:t>
            </a:r>
          </a:p>
          <a:p>
            <a:r>
              <a:rPr lang="en-US"/>
              <a:t>            "short_label": "Altered code obtains old keys",</a:t>
            </a:r>
          </a:p>
          <a:p>
            <a:r>
              <a:rPr lang="en-US"/>
              <a:t>            "refs": [</a:t>
            </a:r>
          </a:p>
          <a:p>
            <a:r>
              <a:rPr lang="en-US"/>
              <a:t>              "T13",</a:t>
            </a:r>
          </a:p>
          <a:p>
            <a:r>
              <a:rPr lang="en-US"/>
              <a:t>              "AS4",</a:t>
            </a:r>
          </a:p>
          <a:p>
            <a:r>
              <a:rPr lang="en-US"/>
              <a:t>              "AS5"</a:t>
            </a:r>
          </a:p>
          <a:p>
            <a:r>
              <a:rPr lang="en-US"/>
              <a:t>            ],</a:t>
            </a:r>
          </a:p>
          <a:p>
            <a:r>
              <a:rPr lang="en-US"/>
              <a:t>            "kind": "boundary",</a:t>
            </a:r>
          </a:p>
          <a:p>
            <a:r>
              <a:rPr lang="en-US"/>
              <a:t>            "assessment": "boundary",</a:t>
            </a:r>
          </a:p>
          <a:p>
            <a:r>
              <a:rPr lang="en-US"/>
              <a:t>            "note": "DeviceRegistry checks the configured image digest and role policy at new admission. Releasing existing application secrets to an upgraded workload is a separate KMS decision. The application uses dstack getKey to unseal its persisted recipient key; the effective live KMS upgrade policy was not verified. This successful attack condition additionally requires access to the persisted key state and matching envelope, recovery and disclosure of the model key, and decryption of the available ciphertext. An image update or an unchanged app identifier alone does not prove access. No current KMS vulnerability is claimed.",</a:t>
            </a:r>
          </a:p>
          <a:p>
            <a:r>
              <a:rPr lang="en-US"/>
              <a:t>            "assessment_reason": "Yellow denotes the required failure of the intended secret-release/key-custody protection for altered code. The open live-policy question is documented separately and is not itself evidence that an attack succeeds.",</a:t>
            </a:r>
          </a:p>
          <a:p>
            <a:r>
              <a:rPr lang="en-US"/>
              <a:t>            "attacker_capability": "Make registry-unapproved upgraded execution receive prior app secrets and usable sealed state and disclose the matching model key.",</a:t>
            </a:r>
          </a:p>
          <a:p>
            <a:r>
              <a:rPr lang="en-US"/>
              <a:t>            "required_credentials": "Actual KMS release plus matching persisted key state/envelope; app ownership or update ability alone is insufficient."</a:t>
            </a:r>
          </a:p>
          <a:p>
            <a:r>
              <a:rPr lang="en-US"/>
              <a:t>          }</a:t>
            </a:r>
          </a:p>
          <a:p>
            <a:r>
              <a:rPr lang="en-US"/>
              <a:t>        ],</a:t>
            </a:r>
          </a:p>
          <a:p>
            <a:r>
              <a:rPr lang="en-US"/>
              <a:t>        "assessment": "boundary",</a:t>
            </a:r>
          </a:p>
          <a:p>
            <a:r>
              <a:rPr lang="en-US"/>
              <a:t>        "assessment_reason": "OR over (boundary, boundary); each route retains all actor, credential, timing and context prerequisites. No attack success was observed."</a:t>
            </a:r>
          </a:p>
          <a:p>
            <a:r>
              <a:rPr lang="en-US"/>
              <a:t>      }</a:t>
            </a:r>
          </a:p>
          <a:p>
            <a:r>
              <a:rPr lang="en-US"/>
              <a:t>    ],</a:t>
            </a:r>
          </a:p>
          <a:p>
            <a:r>
              <a:rPr lang="en-US"/>
              <a:t>    "refs": [</a:t>
            </a:r>
          </a:p>
          <a:p>
            <a:r>
              <a:rPr lang="en-US"/>
              <a:t>      "T5",</a:t>
            </a:r>
          </a:p>
          <a:p>
            <a:r>
              <a:rPr lang="en-US"/>
              <a:t>      "T13"</a:t>
            </a:r>
          </a:p>
          <a:p>
            <a:r>
              <a:rPr lang="en-US"/>
              <a:t>    ],</a:t>
            </a:r>
          </a:p>
          <a:p>
            <a:r>
              <a:rPr lang="en-US"/>
              <a:t>    "note": "The admitted plaintext recipient is the protected workload, not its human deployer. The modeled paths require actual model disclosure or recovery of its matching decryption key. Operator privileges alone do not establish either. No export from the running deployment has been observed.",</a:t>
            </a:r>
          </a:p>
          <a:p>
            <a:r>
              <a:rPr lang="en-US"/>
              <a:t>    "assessment": "boundary",</a:t>
            </a:r>
          </a:p>
          <a:p>
            <a:r>
              <a:rPr lang="en-US"/>
              <a:t>    "assessment_reason": "OR over (blocked, boundary, boundary); each route retains all actor, credential, timing and context prerequisites. No attack success was observed."</a:t>
            </a:r>
          </a:p>
          <a:p>
            <a:r>
              <a:rPr lang="en-US"/>
              <a:t>  },</a:t>
            </a:r>
          </a:p>
          <a:p>
            <a:r>
              <a:rPr lang="en-US"/>
              <a:t>  "takeaway": "Model keys go to admitted TEE workloads; deploying a TEE does not itself grant access to its plaintext.",</a:t>
            </a:r>
          </a:p>
          <a:p>
            <a:r>
              <a:rPr lang="en-US"/>
              <a:t>  "source_lines": {</a:t>
            </a:r>
          </a:p>
          <a:p>
            <a:r>
              <a:rPr lang="en-US"/>
              <a:t>    "T5": [</a:t>
            </a:r>
          </a:p>
          <a:p>
            <a:r>
              <a:rPr lang="en-US"/>
              <a:t>      350,</a:t>
            </a:r>
          </a:p>
          <a:p>
            <a:r>
              <a:rPr lang="en-US"/>
              <a:t>      359</a:t>
            </a:r>
          </a:p>
          <a:p>
            <a:r>
              <a:rPr lang="en-US"/>
              <a:t>    ],</a:t>
            </a:r>
          </a:p>
          <a:p>
            <a:r>
              <a:rPr lang="en-US"/>
              <a:t>    "T13": [</a:t>
            </a:r>
          </a:p>
          <a:p>
            <a:r>
              <a:rPr lang="en-US"/>
              <a:t>      508,</a:t>
            </a:r>
          </a:p>
          <a:p>
            <a:r>
              <a:rPr lang="en-US"/>
              <a:t>      520</a:t>
            </a:r>
          </a:p>
          <a:p>
            <a:r>
              <a:rPr lang="en-US"/>
              <a:t>    ],</a:t>
            </a:r>
          </a:p>
          <a:p>
            <a:r>
              <a:rPr lang="en-US"/>
              <a:t>    "F7": [</a:t>
            </a:r>
          </a:p>
          <a:p>
            <a:r>
              <a:rPr lang="en-US"/>
              <a:t>      592,</a:t>
            </a:r>
          </a:p>
          <a:p>
            <a:r>
              <a:rPr lang="en-US"/>
              <a:t>      596</a:t>
            </a:r>
          </a:p>
          <a:p>
            <a:r>
              <a:rPr lang="en-US"/>
              <a:t>    ],</a:t>
            </a:r>
          </a:p>
          <a:p>
            <a:r>
              <a:rPr lang="en-US"/>
              <a:t>    "AS5": [</a:t>
            </a:r>
          </a:p>
          <a:p>
            <a:r>
              <a:rPr lang="en-US"/>
              <a:t>      225,</a:t>
            </a:r>
          </a:p>
          <a:p>
            <a:r>
              <a:rPr lang="en-US"/>
              <a:t>      228</a:t>
            </a:r>
          </a:p>
          <a:p>
            <a:r>
              <a:rPr lang="en-US"/>
              <a:t>    ],</a:t>
            </a:r>
          </a:p>
          <a:p>
            <a:r>
              <a:rPr lang="en-US"/>
              <a:t>    "AS4": [</a:t>
            </a:r>
          </a:p>
          <a:p>
            <a:r>
              <a:rPr lang="en-US"/>
              <a:t>      220,</a:t>
            </a:r>
          </a:p>
          <a:p>
            <a:r>
              <a:rPr lang="en-US"/>
              <a:t>      223</a:t>
            </a:r>
          </a:p>
          <a:p>
            <a:r>
              <a:rPr lang="en-US"/>
              <a:t>    ]</a:t>
            </a:r>
          </a:p>
          <a:p>
            <a:r>
              <a:rPr lang="en-US"/>
              <a:t>  },</a:t>
            </a:r>
          </a:p>
          <a:p>
            <a:r>
              <a:rPr lang="en-US"/>
              <a:t>  "implementation_context": {</a:t>
            </a:r>
          </a:p>
          <a:p>
            <a:r>
              <a:rPr lang="en-US"/>
              <a:t>    "scope": "Read-only review of recipient encryption, TEE key material and documented deployment boundaries; no live KMS/SSH test, no attack and no exhaustive security audit.",</a:t>
            </a:r>
          </a:p>
          <a:p>
            <a:r>
              <a:rPr lang="en-US"/>
              <a:t>    "sources": [</a:t>
            </a:r>
          </a:p>
          <a:p>
            <a:r>
              <a:rPr lang="en-US"/>
              <a:t>      {</a:t>
            </a:r>
          </a:p>
          <a:p>
            <a:r>
              <a:rPr lang="en-US"/>
              <a:t>        "path": "vita-fl/dfl/node_server/src/gm_crypto.ts",</a:t>
            </a:r>
          </a:p>
          <a:p>
            <a:r>
              <a:rPr lang="en-US"/>
              <a:t>        "lines": [</a:t>
            </a:r>
          </a:p>
          <a:p>
            <a:r>
              <a:rPr lang="en-US"/>
              <a:t>          178,</a:t>
            </a:r>
          </a:p>
          <a:p>
            <a:r>
              <a:rPr lang="en-US"/>
              <a:t>          195</a:t>
            </a:r>
          </a:p>
          <a:p>
            <a:r>
              <a:rPr lang="en-US"/>
              <a:t>        ],</a:t>
            </a:r>
          </a:p>
          <a:p>
            <a:r>
              <a:rPr lang="en-US"/>
              <a:t>        "finding": "Model key wrapped separately for each eligible recipient public key.",</a:t>
            </a:r>
          </a:p>
          <a:p>
            <a:r>
              <a:rPr lang="en-US"/>
              <a:t>        "sha256": "b54558861535277ad3e94492d59716d4bb419101324d1d5ac95ca42d61b441bf"</a:t>
            </a:r>
          </a:p>
          <a:p>
            <a:r>
              <a:rPr lang="en-US"/>
              <a:t>      },</a:t>
            </a:r>
          </a:p>
          <a:p>
            <a:r>
              <a:rPr lang="en-US"/>
              <a:t>      {</a:t>
            </a:r>
          </a:p>
          <a:p>
            <a:r>
              <a:rPr lang="en-US"/>
              <a:t>        "path": "vita-fl/dfl/node_server/src/participant_key.ts",</a:t>
            </a:r>
          </a:p>
          <a:p>
            <a:r>
              <a:rPr lang="en-US"/>
              <a:t>        "lines": [</a:t>
            </a:r>
          </a:p>
          <a:p>
            <a:r>
              <a:rPr lang="en-US"/>
              <a:t>          247,</a:t>
            </a:r>
          </a:p>
          <a:p>
            <a:r>
              <a:rPr lang="en-US"/>
              <a:t>          290,</a:t>
            </a:r>
          </a:p>
          <a:p>
            <a:r>
              <a:rPr lang="en-US"/>
              <a:t>          332,</a:t>
            </a:r>
          </a:p>
          <a:p>
            <a:r>
              <a:rPr lang="en-US"/>
              <a:t>          350</a:t>
            </a:r>
          </a:p>
          <a:p>
            <a:r>
              <a:rPr lang="en-US"/>
              <a:t>        ],</a:t>
            </a:r>
          </a:p>
          <a:p>
            <a:r>
              <a:rPr lang="en-US"/>
              <a:t>        "finding": "dstack-derived sealing key protects persisted RSA private key; runtime PEM materializes inside the guest.",</a:t>
            </a:r>
          </a:p>
          <a:p>
            <a:r>
              <a:rPr lang="en-US"/>
              <a:t>        "sha256": "70f7dbb95e4b6ca65dc2e6ef2d4d5b05b1d35b573f273e0d52986435cb98a03a"</a:t>
            </a:r>
          </a:p>
          <a:p>
            <a:r>
              <a:rPr lang="en-US"/>
              <a:t>      },</a:t>
            </a:r>
          </a:p>
          <a:p>
            <a:r>
              <a:rPr lang="en-US"/>
              <a:t>      {</a:t>
            </a:r>
          </a:p>
          <a:p>
            <a:r>
              <a:rPr lang="en-US"/>
              <a:t>        "path": "vita-fl/smart_contracts/src/core/DeviceRegistry.sol",</a:t>
            </a:r>
          </a:p>
          <a:p>
            <a:r>
              <a:rPr lang="en-US"/>
              <a:t>        "lines": [</a:t>
            </a:r>
          </a:p>
          <a:p>
            <a:r>
              <a:rPr lang="en-US"/>
              <a:t>          487,</a:t>
            </a:r>
          </a:p>
          <a:p>
            <a:r>
              <a:rPr lang="en-US"/>
              <a:t>          490</a:t>
            </a:r>
          </a:p>
          <a:p>
            <a:r>
              <a:rPr lang="en-US"/>
              <a:t>        ],</a:t>
            </a:r>
          </a:p>
          <a:p>
            <a:r>
              <a:rPr lang="en-US"/>
              <a:t>        "finding": "New admission requires configured worker image digest and allowed role policy.",</a:t>
            </a:r>
          </a:p>
          <a:p>
            <a:r>
              <a:rPr lang="en-US"/>
              <a:t>        "sha256": "f00f9f5268d1f0f55158b71d334dc50542a1ac7704818460634f988d87ef7f4b"</a:t>
            </a:r>
          </a:p>
          <a:p>
            <a:r>
              <a:rPr lang="en-US"/>
              <a:t>      },</a:t>
            </a:r>
          </a:p>
          <a:p>
            <a:r>
              <a:rPr lang="en-US"/>
              <a:t>      {</a:t>
            </a:r>
          </a:p>
          <a:p>
            <a:r>
              <a:rPr lang="en-US"/>
              <a:t>        "path": "vita-fl/phala/main.tf",</a:t>
            </a:r>
          </a:p>
          <a:p>
            <a:r>
              <a:rPr lang="en-US"/>
              <a:t>        "lines": [</a:t>
            </a:r>
          </a:p>
          <a:p>
            <a:r>
              <a:rPr lang="en-US"/>
              <a:t>          395,</a:t>
            </a:r>
          </a:p>
          <a:p>
            <a:r>
              <a:rPr lang="en-US"/>
              <a:t>          403</a:t>
            </a:r>
          </a:p>
          <a:p>
            <a:r>
              <a:rPr lang="en-US"/>
              <a:t>        ],</a:t>
            </a:r>
          </a:p>
          <a:p>
            <a:r>
              <a:rPr lang="en-US"/>
              <a:t>        "finding": "Official worker launcher selects KMS and disables SSH/prelaunch.",</a:t>
            </a:r>
          </a:p>
          <a:p>
            <a:r>
              <a:rPr lang="en-US"/>
              <a:t>        "sha256": "f5807bb33025b4d91fb3536e7cd94d2400c3ca1e1d5720d62920ff6bb521ced5"</a:t>
            </a:r>
          </a:p>
          <a:p>
            <a:r>
              <a:rPr lang="en-US"/>
              <a:t>      },</a:t>
            </a:r>
          </a:p>
          <a:p>
            <a:r>
              <a:rPr lang="en-US"/>
              <a:t>      {</a:t>
            </a:r>
          </a:p>
          <a:p>
            <a:r>
              <a:rPr lang="en-US"/>
              <a:t>        "path": "vita-fl/phala/README.md",</a:t>
            </a:r>
          </a:p>
          <a:p>
            <a:r>
              <a:rPr lang="en-US"/>
              <a:t>        "lines": [</a:t>
            </a:r>
          </a:p>
          <a:p>
            <a:r>
              <a:rPr lang="en-US"/>
              <a:t>          877,</a:t>
            </a:r>
          </a:p>
          <a:p>
            <a:r>
              <a:rPr lang="en-US"/>
              <a:t>          885</a:t>
            </a:r>
          </a:p>
          <a:p>
            <a:r>
              <a:rPr lang="en-US"/>
              <a:t>        ],</a:t>
            </a:r>
          </a:p>
          <a:p>
            <a:r>
              <a:rPr lang="en-US"/>
              <a:t>        "finding": "SSH absence is a deployment control outside current app_compose attestation.",</a:t>
            </a:r>
          </a:p>
          <a:p>
            <a:r>
              <a:rPr lang="en-US"/>
              <a:t>        "sha256": "a078c0b0db2f47530674349de2e3617e5ad7e058f9f72d904288248641b717c8"</a:t>
            </a:r>
          </a:p>
          <a:p>
            <a:r>
              <a:rPr lang="en-US"/>
              <a:t>      }</a:t>
            </a:r>
          </a:p>
          <a:p>
            <a:r>
              <a:rPr lang="en-US"/>
              <a:t>    ],</a:t>
            </a:r>
          </a:p>
          <a:p>
            <a:r>
              <a:rPr lang="en-US"/>
              <a:t>    "limits": [</a:t>
            </a:r>
          </a:p>
          <a:p>
            <a:r>
              <a:rPr lang="en-US"/>
              <a:t>      "The effective cloud KMS upgrade policy was not verified.",</a:t>
            </a:r>
          </a:p>
          <a:p>
            <a:r>
              <a:rPr lang="en-US"/>
              <a:t>      "No privileged access or secret export from the current deployment was demonstrated.",</a:t>
            </a:r>
          </a:p>
          <a:p>
            <a:r>
              <a:rPr lang="en-US"/>
              <a:t>      "This is not an exhaustive implementation audit."</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404.12623" TargetMode="External"/><Relationship Id="rId3" Type="http://schemas.openxmlformats.org/officeDocument/2006/relationships/hyperlink" Target="https://doi.org/10.1109/Blockchain62396.2024.00017" TargetMode="External"/><Relationship Id="rId4" Type="http://schemas.openxmlformats.org/officeDocument/2006/relationships/hyperlink" Target="https://arxiv.org/abs/2408.06885" TargetMode="External"/><Relationship Id="rId5" Type="http://schemas.openxmlformats.org/officeDocument/2006/relationships/hyperlink" Target="https://doi.org/10.1145/3627703.3650088" TargetMode="External"/><Relationship Id="rId6" Type="http://schemas.openxmlformats.org/officeDocument/2006/relationships/hyperlink" Target="https://proceedings.mlr.press/v235/waiwitlikhit24a.html" TargetMode="External"/><Relationship Id="rId7" Type="http://schemas.openxmlformats.org/officeDocument/2006/relationships/hyperlink" Target="https://arxiv.org/abs/2503.22573" TargetMode="External"/><Relationship Id="rId8" Type="http://schemas.openxmlformats.org/officeDocument/2006/relationships/hyperlink" Target="https://www.ietf.org/archive/id/draft-tsyrulnikov-rats-attested-inference-receipt-02.html" TargetMode="External"/><Relationship Id="rId9" Type="http://schemas.openxmlformats.org/officeDocument/2006/relationships/hyperlink" Target="https://arxiv.org/abs/2512.15892" TargetMode="External"/><Relationship Id="rId10" Type="http://schemas.openxmlformats.org/officeDocument/2006/relationships/hyperlink" Target="https://arxiv.org/abs/2606.04193" TargetMode="Externa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6.04193" TargetMode="External"/><Relationship Id="rId3" Type="http://schemas.openxmlformats.org/officeDocument/2006/relationships/hyperlink" Target="https://www.ietf.org/archive/id/draft-tsyrulnikov-rats-attested-inference-receipt-02.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descr="ramon-mehrpoya-portrait-2026-09-08.jpg"/>
          <p:cNvPicPr>
            <a:picLocks noChangeAspect="1"/>
          </p:cNvPicPr>
          <p:nvPr/>
        </p:nvPicPr>
        <p:blipFill>
          <a:blip r:embed="rId2"/>
          <a:srcRect t="18382"/>
          <a:stretch>
            <a:fillRect/>
          </a:stretch>
        </p:blipFill>
        <p:spPr>
          <a:xfrm>
            <a:off x="612648" y="1362456"/>
            <a:ext cx="3730752" cy="4059936"/>
          </a:xfrm>
          <a:prstGeom prst="round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cxnSp>
        <p:nvCxnSpPr>
          <p:cNvPr id="17" name="Connector 16"/>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cxnSp>
        <p:nvCxnSpPr>
          <p:cNvPr id="20" name="Connector 19"/>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cxnSp>
        <p:nvCxnSpPr>
          <p:cNvPr id="23" name="Connector 22"/>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age 2 technology icon: blockchain / 1"/>
          <p:cNvCxnSpPr/>
          <p:nvPr/>
        </p:nvCxnSpPr>
        <p:spPr>
          <a:xfrm>
            <a:off x="5533263" y="3914775"/>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2 technology icon: blockchain / 2"/>
          <p:cNvCxnSpPr/>
          <p:nvPr/>
        </p:nvCxnSpPr>
        <p:spPr>
          <a:xfrm>
            <a:off x="5666994"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2 technology icon: blockchain / 3"/>
          <p:cNvCxnSpPr/>
          <p:nvPr/>
        </p:nvCxnSpPr>
        <p:spPr>
          <a:xfrm flipH="1">
            <a:off x="5533263" y="4058793"/>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2 technology icon: blockchain / 4"/>
          <p:cNvCxnSpPr/>
          <p:nvPr/>
        </p:nvCxnSpPr>
        <p:spPr>
          <a:xfrm flipV="1">
            <a:off x="5533263"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28" name="Page 2 technology icon: blockchain / 5"/>
          <p:cNvSpPr/>
          <p:nvPr/>
        </p:nvSpPr>
        <p:spPr>
          <a:xfrm>
            <a:off x="5481828"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age 2 technology icon: blockchain / 6"/>
          <p:cNvSpPr/>
          <p:nvPr/>
        </p:nvSpPr>
        <p:spPr>
          <a:xfrm>
            <a:off x="5646420"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age 2 technology icon: blockchain / 7"/>
          <p:cNvSpPr/>
          <p:nvPr/>
        </p:nvSpPr>
        <p:spPr>
          <a:xfrm>
            <a:off x="5481828"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age 2 technology icon: blockchain / 8"/>
          <p:cNvSpPr/>
          <p:nvPr/>
        </p:nvSpPr>
        <p:spPr>
          <a:xfrm>
            <a:off x="5646420"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Page 2 technology icon: encryption / 1"/>
          <p:cNvCxnSpPr/>
          <p:nvPr/>
        </p:nvCxnSpPr>
        <p:spPr>
          <a:xfrm flipV="1">
            <a:off x="6182487"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2 technology icon: encryption / 2"/>
          <p:cNvCxnSpPr/>
          <p:nvPr/>
        </p:nvCxnSpPr>
        <p:spPr>
          <a:xfrm flipV="1">
            <a:off x="6182487" y="3901487"/>
            <a:ext cx="2833"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2 technology icon: encryption / 3"/>
          <p:cNvCxnSpPr/>
          <p:nvPr/>
        </p:nvCxnSpPr>
        <p:spPr>
          <a:xfrm flipV="1">
            <a:off x="6185320" y="3882199"/>
            <a:ext cx="7835"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 name="Page 2 technology icon: encryption / 4"/>
          <p:cNvCxnSpPr/>
          <p:nvPr/>
        </p:nvCxnSpPr>
        <p:spPr>
          <a:xfrm flipV="1">
            <a:off x="6193155" y="3867197"/>
            <a:ext cx="11834"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 name="Page 2 technology icon: encryption / 5"/>
          <p:cNvCxnSpPr/>
          <p:nvPr/>
        </p:nvCxnSpPr>
        <p:spPr>
          <a:xfrm flipV="1">
            <a:off x="6204989" y="3856481"/>
            <a:ext cx="14836"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Page 2 technology icon: encryption / 6"/>
          <p:cNvCxnSpPr/>
          <p:nvPr/>
        </p:nvCxnSpPr>
        <p:spPr>
          <a:xfrm flipV="1">
            <a:off x="6219825" y="3850052"/>
            <a:ext cx="16835"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2 technology icon: encryption / 7"/>
          <p:cNvCxnSpPr/>
          <p:nvPr/>
        </p:nvCxnSpPr>
        <p:spPr>
          <a:xfrm flipV="1">
            <a:off x="6236660" y="3847909"/>
            <a:ext cx="17836"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9" name="Page 2 technology icon: encryption / 8"/>
          <p:cNvCxnSpPr/>
          <p:nvPr/>
        </p:nvCxnSpPr>
        <p:spPr>
          <a:xfrm>
            <a:off x="6254496" y="3847909"/>
            <a:ext cx="17835"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0" name="Page 2 technology icon: encryption / 9"/>
          <p:cNvCxnSpPr/>
          <p:nvPr/>
        </p:nvCxnSpPr>
        <p:spPr>
          <a:xfrm>
            <a:off x="6272331" y="3850052"/>
            <a:ext cx="16836"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1" name="Page 2 technology icon: encryption / 10"/>
          <p:cNvCxnSpPr/>
          <p:nvPr/>
        </p:nvCxnSpPr>
        <p:spPr>
          <a:xfrm>
            <a:off x="6289167" y="3856481"/>
            <a:ext cx="14835"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2" name="Page 2 technology icon: encryption / 11"/>
          <p:cNvCxnSpPr/>
          <p:nvPr/>
        </p:nvCxnSpPr>
        <p:spPr>
          <a:xfrm>
            <a:off x="6304002" y="3867197"/>
            <a:ext cx="11835"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3" name="Page 2 technology icon: encryption / 12"/>
          <p:cNvCxnSpPr/>
          <p:nvPr/>
        </p:nvCxnSpPr>
        <p:spPr>
          <a:xfrm>
            <a:off x="6315837" y="3882199"/>
            <a:ext cx="7834"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4" name="Page 2 technology icon: encryption / 13"/>
          <p:cNvCxnSpPr/>
          <p:nvPr/>
        </p:nvCxnSpPr>
        <p:spPr>
          <a:xfrm>
            <a:off x="6323671" y="3901487"/>
            <a:ext cx="2834"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5" name="Page 2 technology icon: encryption / 14"/>
          <p:cNvCxnSpPr/>
          <p:nvPr/>
        </p:nvCxnSpPr>
        <p:spPr>
          <a:xfrm>
            <a:off x="6326505"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6" name="Page 2 technology icon: encryption / 15"/>
          <p:cNvSpPr/>
          <p:nvPr/>
        </p:nvSpPr>
        <p:spPr>
          <a:xfrm>
            <a:off x="6141339" y="3955923"/>
            <a:ext cx="226314" cy="164592"/>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age 2 technology icon: encryption / 16"/>
          <p:cNvSpPr/>
          <p:nvPr/>
        </p:nvSpPr>
        <p:spPr>
          <a:xfrm>
            <a:off x="6239065" y="4007357"/>
            <a:ext cx="30861" cy="30861"/>
          </a:xfrm>
          <a:prstGeom prst="ellipse">
            <a:avLst/>
          </a:prstGeom>
          <a:solidFill>
            <a:srgbClr val="2F8F46"/>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Page 2 technology icon: encryption / 17"/>
          <p:cNvCxnSpPr/>
          <p:nvPr/>
        </p:nvCxnSpPr>
        <p:spPr>
          <a:xfrm>
            <a:off x="6254496" y="4038219"/>
            <a:ext cx="0" cy="3086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9" name="Page 2 technology icon: zk / 1"/>
          <p:cNvSpPr/>
          <p:nvPr/>
        </p:nvSpPr>
        <p:spPr>
          <a:xfrm>
            <a:off x="7171182" y="3842765"/>
            <a:ext cx="288036" cy="288036"/>
          </a:xfrm>
          <a:prstGeom prst="ellipse">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age 2 technology icon: zk / 2"/>
          <p:cNvSpPr txBox="1"/>
          <p:nvPr/>
        </p:nvSpPr>
        <p:spPr>
          <a:xfrm>
            <a:off x="7191756" y="3883913"/>
            <a:ext cx="246888" cy="205739"/>
          </a:xfrm>
          <a:prstGeom prst="rect">
            <a:avLst/>
          </a:prstGeom>
          <a:noFill/>
        </p:spPr>
        <p:txBody>
          <a:bodyPr wrap="none" lIns="0" rIns="0" tIns="0" bIns="0" anchor="ctr">
            <a:spAutoFit/>
          </a:bodyPr>
          <a:lstStyle/>
          <a:p>
            <a:pPr algn="ctr"/>
            <a:r>
              <a:rPr sz="800" b="1">
                <a:solidFill>
                  <a:srgbClr val="1F90CC"/>
                </a:solidFill>
                <a:latin typeface="Arial"/>
              </a:rPr>
              <a:t>ZK</a:t>
            </a:r>
          </a:p>
        </p:txBody>
      </p:sp>
      <p:cxnSp>
        <p:nvCxnSpPr>
          <p:cNvPr id="51" name="Page 2 technology icon: tee / 1"/>
          <p:cNvCxnSpPr/>
          <p:nvPr/>
        </p:nvCxnSpPr>
        <p:spPr>
          <a:xfrm>
            <a:off x="7674102"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Page 2 technology icon: tee / 2"/>
          <p:cNvCxnSpPr/>
          <p:nvPr/>
        </p:nvCxnSpPr>
        <p:spPr>
          <a:xfrm>
            <a:off x="7674102"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2 technology icon: tee / 3"/>
          <p:cNvCxnSpPr/>
          <p:nvPr/>
        </p:nvCxnSpPr>
        <p:spPr>
          <a:xfrm>
            <a:off x="7591806"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2 technology icon: tee / 4"/>
          <p:cNvCxnSpPr/>
          <p:nvPr/>
        </p:nvCxnSpPr>
        <p:spPr>
          <a:xfrm>
            <a:off x="7838694"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2 technology icon: tee / 5"/>
          <p:cNvCxnSpPr/>
          <p:nvPr/>
        </p:nvCxnSpPr>
        <p:spPr>
          <a:xfrm>
            <a:off x="7735823"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2 technology icon: tee / 6"/>
          <p:cNvCxnSpPr/>
          <p:nvPr/>
        </p:nvCxnSpPr>
        <p:spPr>
          <a:xfrm>
            <a:off x="7735823"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2 technology icon: tee / 7"/>
          <p:cNvCxnSpPr/>
          <p:nvPr/>
        </p:nvCxnSpPr>
        <p:spPr>
          <a:xfrm>
            <a:off x="7591806"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2 technology icon: tee / 8"/>
          <p:cNvCxnSpPr/>
          <p:nvPr/>
        </p:nvCxnSpPr>
        <p:spPr>
          <a:xfrm>
            <a:off x="7838694"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2 technology icon: tee / 9"/>
          <p:cNvCxnSpPr/>
          <p:nvPr/>
        </p:nvCxnSpPr>
        <p:spPr>
          <a:xfrm>
            <a:off x="7797546"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2 technology icon: tee / 10"/>
          <p:cNvCxnSpPr/>
          <p:nvPr/>
        </p:nvCxnSpPr>
        <p:spPr>
          <a:xfrm>
            <a:off x="7797546"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2 technology icon: tee / 11"/>
          <p:cNvCxnSpPr/>
          <p:nvPr/>
        </p:nvCxnSpPr>
        <p:spPr>
          <a:xfrm>
            <a:off x="7591806"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2 technology icon: tee / 12"/>
          <p:cNvCxnSpPr/>
          <p:nvPr/>
        </p:nvCxnSpPr>
        <p:spPr>
          <a:xfrm>
            <a:off x="7838694"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3" name="Page 2 technology icon: tee / 13"/>
          <p:cNvSpPr/>
          <p:nvPr/>
        </p:nvSpPr>
        <p:spPr>
          <a:xfrm>
            <a:off x="7632954" y="3883913"/>
            <a:ext cx="205739" cy="205739"/>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Page 2 technology icon: tee / 14"/>
          <p:cNvCxnSpPr/>
          <p:nvPr/>
        </p:nvCxnSpPr>
        <p:spPr>
          <a:xfrm flipV="1">
            <a:off x="7694675"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2 technology icon: tee / 15"/>
          <p:cNvCxnSpPr/>
          <p:nvPr/>
        </p:nvCxnSpPr>
        <p:spPr>
          <a:xfrm flipV="1">
            <a:off x="7694675" y="3933848"/>
            <a:ext cx="1620"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Page 2 technology icon: tee / 16"/>
          <p:cNvCxnSpPr/>
          <p:nvPr/>
        </p:nvCxnSpPr>
        <p:spPr>
          <a:xfrm flipV="1">
            <a:off x="7696295" y="3924204"/>
            <a:ext cx="4477"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Page 2 technology icon: tee / 17"/>
          <p:cNvCxnSpPr/>
          <p:nvPr/>
        </p:nvCxnSpPr>
        <p:spPr>
          <a:xfrm flipV="1">
            <a:off x="7700772" y="3916703"/>
            <a:ext cx="6762"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Page 2 technology icon: tee / 18"/>
          <p:cNvCxnSpPr/>
          <p:nvPr/>
        </p:nvCxnSpPr>
        <p:spPr>
          <a:xfrm flipV="1">
            <a:off x="7707534" y="3911346"/>
            <a:ext cx="8477"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2 technology icon: tee / 19"/>
          <p:cNvCxnSpPr/>
          <p:nvPr/>
        </p:nvCxnSpPr>
        <p:spPr>
          <a:xfrm flipV="1">
            <a:off x="7716011" y="3908131"/>
            <a:ext cx="9621"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2 technology icon: tee / 20"/>
          <p:cNvCxnSpPr/>
          <p:nvPr/>
        </p:nvCxnSpPr>
        <p:spPr>
          <a:xfrm flipV="1">
            <a:off x="7725632" y="3907059"/>
            <a:ext cx="10191"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2 technology icon: tee / 21"/>
          <p:cNvCxnSpPr/>
          <p:nvPr/>
        </p:nvCxnSpPr>
        <p:spPr>
          <a:xfrm>
            <a:off x="7735823" y="3907059"/>
            <a:ext cx="10192"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2 technology icon: tee / 22"/>
          <p:cNvCxnSpPr/>
          <p:nvPr/>
        </p:nvCxnSpPr>
        <p:spPr>
          <a:xfrm>
            <a:off x="7746015" y="3908131"/>
            <a:ext cx="9620"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2 technology icon: tee / 23"/>
          <p:cNvCxnSpPr/>
          <p:nvPr/>
        </p:nvCxnSpPr>
        <p:spPr>
          <a:xfrm>
            <a:off x="7755635" y="3911346"/>
            <a:ext cx="8478"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2 technology icon: tee / 24"/>
          <p:cNvCxnSpPr/>
          <p:nvPr/>
        </p:nvCxnSpPr>
        <p:spPr>
          <a:xfrm>
            <a:off x="7764113" y="3916703"/>
            <a:ext cx="6763"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2 technology icon: tee / 25"/>
          <p:cNvCxnSpPr/>
          <p:nvPr/>
        </p:nvCxnSpPr>
        <p:spPr>
          <a:xfrm>
            <a:off x="7770876" y="3924204"/>
            <a:ext cx="4476"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2 technology icon: tee / 26"/>
          <p:cNvCxnSpPr/>
          <p:nvPr/>
        </p:nvCxnSpPr>
        <p:spPr>
          <a:xfrm>
            <a:off x="7775352" y="3933848"/>
            <a:ext cx="1619"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2 technology icon: tee / 27"/>
          <p:cNvCxnSpPr/>
          <p:nvPr/>
        </p:nvCxnSpPr>
        <p:spPr>
          <a:xfrm>
            <a:off x="7776971"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8" name="Page 2 technology icon: tee / 28"/>
          <p:cNvSpPr/>
          <p:nvPr/>
        </p:nvSpPr>
        <p:spPr>
          <a:xfrm>
            <a:off x="7684388" y="3966209"/>
            <a:ext cx="102869" cy="82296"/>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Page 2 technology icon: attestation / 1"/>
          <p:cNvCxnSpPr/>
          <p:nvPr/>
        </p:nvCxnSpPr>
        <p:spPr>
          <a:xfrm flipH="1">
            <a:off x="8053578" y="3853053"/>
            <a:ext cx="14401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Page 2 technology icon: attestation / 2"/>
          <p:cNvCxnSpPr/>
          <p:nvPr/>
        </p:nvCxnSpPr>
        <p:spPr>
          <a:xfrm>
            <a:off x="8053578" y="3853053"/>
            <a:ext cx="0" cy="26746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Page 2 technology icon: attestation / 3"/>
          <p:cNvCxnSpPr/>
          <p:nvPr/>
        </p:nvCxnSpPr>
        <p:spPr>
          <a:xfrm>
            <a:off x="8053578" y="4120514"/>
            <a:ext cx="205740"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Page 2 technology icon: attestation / 4"/>
          <p:cNvCxnSpPr/>
          <p:nvPr/>
        </p:nvCxnSpPr>
        <p:spPr>
          <a:xfrm flipV="1">
            <a:off x="8259318" y="3914775"/>
            <a:ext cx="0" cy="205739"/>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Page 2 technology icon: attestation / 5"/>
          <p:cNvCxnSpPr/>
          <p:nvPr/>
        </p:nvCxnSpPr>
        <p:spPr>
          <a:xfrm flipH="1" flipV="1">
            <a:off x="8197596" y="3853053"/>
            <a:ext cx="61722"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Page 2 technology icon: attestation / 6"/>
          <p:cNvCxnSpPr/>
          <p:nvPr/>
        </p:nvCxnSpPr>
        <p:spPr>
          <a:xfrm>
            <a:off x="8197596" y="3853053"/>
            <a:ext cx="0"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Page 2 technology icon: attestation / 7"/>
          <p:cNvCxnSpPr/>
          <p:nvPr/>
        </p:nvCxnSpPr>
        <p:spPr>
          <a:xfrm>
            <a:off x="8197596" y="3914775"/>
            <a:ext cx="61722"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Page 2 technology icon: attestation / 8"/>
          <p:cNvCxnSpPr/>
          <p:nvPr/>
        </p:nvCxnSpPr>
        <p:spPr>
          <a:xfrm>
            <a:off x="8094726" y="3945635"/>
            <a:ext cx="72009"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Page 2 technology icon: attestation / 9"/>
          <p:cNvCxnSpPr/>
          <p:nvPr/>
        </p:nvCxnSpPr>
        <p:spPr>
          <a:xfrm>
            <a:off x="8094726" y="3986783"/>
            <a:ext cx="51435"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Page 2 technology icon: attestation / 10"/>
          <p:cNvCxnSpPr/>
          <p:nvPr/>
        </p:nvCxnSpPr>
        <p:spPr>
          <a:xfrm>
            <a:off x="8105013" y="4048505"/>
            <a:ext cx="41148" cy="41149"/>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9" name="Page 2 technology icon: attestation / 11"/>
          <p:cNvCxnSpPr/>
          <p:nvPr/>
        </p:nvCxnSpPr>
        <p:spPr>
          <a:xfrm flipV="1">
            <a:off x="8146161" y="3997071"/>
            <a:ext cx="92583" cy="92583"/>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2 technology icon: dfl / 1"/>
          <p:cNvCxnSpPr/>
          <p:nvPr/>
        </p:nvCxnSpPr>
        <p:spPr>
          <a:xfrm>
            <a:off x="8577072" y="3873627"/>
            <a:ext cx="123443"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2 technology icon: dfl / 2"/>
          <p:cNvCxnSpPr/>
          <p:nvPr/>
        </p:nvCxnSpPr>
        <p:spPr>
          <a:xfrm flipH="1">
            <a:off x="8649080"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2 technology icon: dfl / 3"/>
          <p:cNvCxnSpPr/>
          <p:nvPr/>
        </p:nvCxnSpPr>
        <p:spPr>
          <a:xfrm flipH="1">
            <a:off x="8505063" y="4099940"/>
            <a:ext cx="144017"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2 technology icon: dfl / 4"/>
          <p:cNvCxnSpPr/>
          <p:nvPr/>
        </p:nvCxnSpPr>
        <p:spPr>
          <a:xfrm flipH="1" flipV="1">
            <a:off x="8453628"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2 technology icon: dfl / 5"/>
          <p:cNvCxnSpPr/>
          <p:nvPr/>
        </p:nvCxnSpPr>
        <p:spPr>
          <a:xfrm flipV="1">
            <a:off x="8453628" y="3873627"/>
            <a:ext cx="123444"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2 technology icon: dfl / 6"/>
          <p:cNvCxnSpPr/>
          <p:nvPr/>
        </p:nvCxnSpPr>
        <p:spPr>
          <a:xfrm>
            <a:off x="8577072" y="3873627"/>
            <a:ext cx="72008"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2 technology icon: dfl / 7"/>
          <p:cNvCxnSpPr/>
          <p:nvPr/>
        </p:nvCxnSpPr>
        <p:spPr>
          <a:xfrm flipH="1" flipV="1">
            <a:off x="8453628"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2 technology icon: dfl / 8"/>
          <p:cNvCxnSpPr/>
          <p:nvPr/>
        </p:nvCxnSpPr>
        <p:spPr>
          <a:xfrm>
            <a:off x="8453628" y="3966209"/>
            <a:ext cx="246887" cy="0"/>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2 technology icon: dfl / 9"/>
          <p:cNvCxnSpPr/>
          <p:nvPr/>
        </p:nvCxnSpPr>
        <p:spPr>
          <a:xfrm flipH="1">
            <a:off x="8505063"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9" name="Page 2 technology icon: dfl / 10"/>
          <p:cNvCxnSpPr/>
          <p:nvPr/>
        </p:nvCxnSpPr>
        <p:spPr>
          <a:xfrm flipV="1">
            <a:off x="8505063" y="3873627"/>
            <a:ext cx="72009"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100" name="Page 2 technology icon: dfl / 11"/>
          <p:cNvSpPr/>
          <p:nvPr/>
        </p:nvSpPr>
        <p:spPr>
          <a:xfrm>
            <a:off x="8550325" y="3846880"/>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2 technology icon: dfl / 12"/>
          <p:cNvSpPr/>
          <p:nvPr/>
        </p:nvSpPr>
        <p:spPr>
          <a:xfrm>
            <a:off x="8673769"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2 technology icon: dfl / 13"/>
          <p:cNvSpPr/>
          <p:nvPr/>
        </p:nvSpPr>
        <p:spPr>
          <a:xfrm>
            <a:off x="8622334"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2 technology icon: dfl / 14"/>
          <p:cNvSpPr/>
          <p:nvPr/>
        </p:nvSpPr>
        <p:spPr>
          <a:xfrm>
            <a:off x="8478316"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age 2 technology icon: dfl / 15"/>
          <p:cNvSpPr/>
          <p:nvPr/>
        </p:nvSpPr>
        <p:spPr>
          <a:xfrm>
            <a:off x="8426881"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Page 2 technology icon: agent / 1"/>
          <p:cNvCxnSpPr/>
          <p:nvPr/>
        </p:nvCxnSpPr>
        <p:spPr>
          <a:xfrm>
            <a:off x="9637776" y="3863339"/>
            <a:ext cx="0" cy="51436"/>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06" name="Page 2 technology icon: agent / 2"/>
          <p:cNvSpPr/>
          <p:nvPr/>
        </p:nvSpPr>
        <p:spPr>
          <a:xfrm>
            <a:off x="9622345" y="3837622"/>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age 2 technology icon: agent / 3"/>
          <p:cNvSpPr/>
          <p:nvPr/>
        </p:nvSpPr>
        <p:spPr>
          <a:xfrm>
            <a:off x="9514332" y="3914775"/>
            <a:ext cx="246888" cy="205739"/>
          </a:xfrm>
          <a:prstGeom prst="roundRect">
            <a:avLst/>
          </a:prstGeom>
          <a:solidFill>
            <a:srgbClr val="FFF1E7"/>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8" name="Page 2 technology icon: agent / 4"/>
          <p:cNvCxnSpPr/>
          <p:nvPr/>
        </p:nvCxnSpPr>
        <p:spPr>
          <a:xfrm>
            <a:off x="948347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9" name="Page 2 technology icon: agent / 5"/>
          <p:cNvCxnSpPr/>
          <p:nvPr/>
        </p:nvCxnSpPr>
        <p:spPr>
          <a:xfrm>
            <a:off x="979208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10" name="Page 2 technology icon: agent / 6"/>
          <p:cNvSpPr/>
          <p:nvPr/>
        </p:nvSpPr>
        <p:spPr>
          <a:xfrm>
            <a:off x="9565767"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age 2 technology icon: agent / 7"/>
          <p:cNvSpPr/>
          <p:nvPr/>
        </p:nvSpPr>
        <p:spPr>
          <a:xfrm>
            <a:off x="9678924"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2" name="Page 2 technology icon: agent / 8"/>
          <p:cNvCxnSpPr/>
          <p:nvPr/>
        </p:nvCxnSpPr>
        <p:spPr>
          <a:xfrm>
            <a:off x="9586340" y="4069079"/>
            <a:ext cx="102871" cy="0"/>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3" name="Page 2 technology icon: mcp / 1"/>
          <p:cNvCxnSpPr/>
          <p:nvPr/>
        </p:nvCxnSpPr>
        <p:spPr>
          <a:xfrm flipV="1">
            <a:off x="10155326" y="3853227"/>
            <a:ext cx="124143" cy="12414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2 technology icon: mcp / 2"/>
          <p:cNvCxnSpPr/>
          <p:nvPr/>
        </p:nvCxnSpPr>
        <p:spPr>
          <a:xfrm flipV="1">
            <a:off x="10279469"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2 technology icon: mcp / 3"/>
          <p:cNvCxnSpPr/>
          <p:nvPr/>
        </p:nvCxnSpPr>
        <p:spPr>
          <a:xfrm flipV="1">
            <a:off x="10282802"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2 technology icon: mcp / 4"/>
          <p:cNvCxnSpPr/>
          <p:nvPr/>
        </p:nvCxnSpPr>
        <p:spPr>
          <a:xfrm flipV="1">
            <a:off x="10286354"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2 technology icon: mcp / 5"/>
          <p:cNvCxnSpPr/>
          <p:nvPr/>
        </p:nvCxnSpPr>
        <p:spPr>
          <a:xfrm flipV="1">
            <a:off x="10290093"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2 technology icon: mcp / 6"/>
          <p:cNvCxnSpPr/>
          <p:nvPr/>
        </p:nvCxnSpPr>
        <p:spPr>
          <a:xfrm flipV="1">
            <a:off x="10293988"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2 technology icon: mcp / 7"/>
          <p:cNvCxnSpPr/>
          <p:nvPr/>
        </p:nvCxnSpPr>
        <p:spPr>
          <a:xfrm flipV="1">
            <a:off x="10298008" y="3841175"/>
            <a:ext cx="4114"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2 technology icon: mcp / 8"/>
          <p:cNvCxnSpPr/>
          <p:nvPr/>
        </p:nvCxnSpPr>
        <p:spPr>
          <a:xfrm flipV="1">
            <a:off x="1030212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2 technology icon: mcp / 9"/>
          <p:cNvCxnSpPr/>
          <p:nvPr/>
        </p:nvCxnSpPr>
        <p:spPr>
          <a:xfrm flipV="1">
            <a:off x="10306298"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2 technology icon: mcp / 10"/>
          <p:cNvCxnSpPr/>
          <p:nvPr/>
        </p:nvCxnSpPr>
        <p:spPr>
          <a:xfrm>
            <a:off x="10310505"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2 technology icon: mcp / 11"/>
          <p:cNvCxnSpPr/>
          <p:nvPr/>
        </p:nvCxnSpPr>
        <p:spPr>
          <a:xfrm>
            <a:off x="1031471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2 technology icon: mcp / 12"/>
          <p:cNvCxnSpPr/>
          <p:nvPr/>
        </p:nvCxnSpPr>
        <p:spPr>
          <a:xfrm>
            <a:off x="10318888" y="3841175"/>
            <a:ext cx="4113"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2 technology icon: mcp / 13"/>
          <p:cNvCxnSpPr/>
          <p:nvPr/>
        </p:nvCxnSpPr>
        <p:spPr>
          <a:xfrm>
            <a:off x="10323001"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2 technology icon: mcp / 14"/>
          <p:cNvCxnSpPr/>
          <p:nvPr/>
        </p:nvCxnSpPr>
        <p:spPr>
          <a:xfrm>
            <a:off x="10327021"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2 technology icon: mcp / 15"/>
          <p:cNvCxnSpPr/>
          <p:nvPr/>
        </p:nvCxnSpPr>
        <p:spPr>
          <a:xfrm>
            <a:off x="10330916"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2 technology icon: mcp / 16"/>
          <p:cNvCxnSpPr/>
          <p:nvPr/>
        </p:nvCxnSpPr>
        <p:spPr>
          <a:xfrm>
            <a:off x="10334655"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2 technology icon: mcp / 17"/>
          <p:cNvCxnSpPr/>
          <p:nvPr/>
        </p:nvCxnSpPr>
        <p:spPr>
          <a:xfrm>
            <a:off x="10338207"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2 technology icon: mcp / 18"/>
          <p:cNvCxnSpPr/>
          <p:nvPr/>
        </p:nvCxnSpPr>
        <p:spPr>
          <a:xfrm>
            <a:off x="10341540" y="3853227"/>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2 technology icon: mcp / 19"/>
          <p:cNvCxnSpPr/>
          <p:nvPr/>
        </p:nvCxnSpPr>
        <p:spPr>
          <a:xfrm>
            <a:off x="10341540" y="385322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2 technology icon: mcp / 20"/>
          <p:cNvCxnSpPr/>
          <p:nvPr/>
        </p:nvCxnSpPr>
        <p:spPr>
          <a:xfrm>
            <a:off x="10344553" y="3856561"/>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2 technology icon: mcp / 21"/>
          <p:cNvCxnSpPr/>
          <p:nvPr/>
        </p:nvCxnSpPr>
        <p:spPr>
          <a:xfrm>
            <a:off x="10347164" y="3860113"/>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2 technology icon: mcp / 22"/>
          <p:cNvCxnSpPr/>
          <p:nvPr/>
        </p:nvCxnSpPr>
        <p:spPr>
          <a:xfrm>
            <a:off x="10349374" y="386385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2 technology icon: mcp / 23"/>
          <p:cNvCxnSpPr/>
          <p:nvPr/>
        </p:nvCxnSpPr>
        <p:spPr>
          <a:xfrm>
            <a:off x="10351182" y="3867747"/>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2 technology icon: mcp / 24"/>
          <p:cNvCxnSpPr/>
          <p:nvPr/>
        </p:nvCxnSpPr>
        <p:spPr>
          <a:xfrm>
            <a:off x="10352588" y="3871767"/>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2 technology icon: mcp / 25"/>
          <p:cNvCxnSpPr/>
          <p:nvPr/>
        </p:nvCxnSpPr>
        <p:spPr>
          <a:xfrm>
            <a:off x="10353592" y="387588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2 technology icon: mcp / 26"/>
          <p:cNvCxnSpPr/>
          <p:nvPr/>
        </p:nvCxnSpPr>
        <p:spPr>
          <a:xfrm>
            <a:off x="10354195" y="388005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2 technology icon: mcp / 27"/>
          <p:cNvCxnSpPr/>
          <p:nvPr/>
        </p:nvCxnSpPr>
        <p:spPr>
          <a:xfrm flipH="1">
            <a:off x="10354195" y="388426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2 technology icon: mcp / 28"/>
          <p:cNvCxnSpPr/>
          <p:nvPr/>
        </p:nvCxnSpPr>
        <p:spPr>
          <a:xfrm flipH="1">
            <a:off x="10353592" y="388847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2 technology icon: mcp / 29"/>
          <p:cNvCxnSpPr/>
          <p:nvPr/>
        </p:nvCxnSpPr>
        <p:spPr>
          <a:xfrm flipH="1">
            <a:off x="10352588" y="389264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2 technology icon: mcp / 30"/>
          <p:cNvCxnSpPr/>
          <p:nvPr/>
        </p:nvCxnSpPr>
        <p:spPr>
          <a:xfrm flipH="1">
            <a:off x="10351182" y="389675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2 technology icon: mcp / 31"/>
          <p:cNvCxnSpPr/>
          <p:nvPr/>
        </p:nvCxnSpPr>
        <p:spPr>
          <a:xfrm flipH="1">
            <a:off x="10349374" y="390077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2 technology icon: mcp / 32"/>
          <p:cNvCxnSpPr/>
          <p:nvPr/>
        </p:nvCxnSpPr>
        <p:spPr>
          <a:xfrm flipH="1">
            <a:off x="10347164" y="3904674"/>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2 technology icon: mcp / 33"/>
          <p:cNvCxnSpPr/>
          <p:nvPr/>
        </p:nvCxnSpPr>
        <p:spPr>
          <a:xfrm flipH="1">
            <a:off x="10344553" y="3908413"/>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2 technology icon: mcp / 34"/>
          <p:cNvCxnSpPr/>
          <p:nvPr/>
        </p:nvCxnSpPr>
        <p:spPr>
          <a:xfrm flipH="1">
            <a:off x="10341540" y="391196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2 technology icon: mcp / 35"/>
          <p:cNvCxnSpPr/>
          <p:nvPr/>
        </p:nvCxnSpPr>
        <p:spPr>
          <a:xfrm flipH="1">
            <a:off x="10247787" y="3915299"/>
            <a:ext cx="93753" cy="9375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2 technology icon: mcp / 36"/>
          <p:cNvCxnSpPr/>
          <p:nvPr/>
        </p:nvCxnSpPr>
        <p:spPr>
          <a:xfrm flipV="1">
            <a:off x="10249080" y="3915299"/>
            <a:ext cx="92460" cy="9246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2 technology icon: mcp / 37"/>
          <p:cNvCxnSpPr/>
          <p:nvPr/>
        </p:nvCxnSpPr>
        <p:spPr>
          <a:xfrm flipV="1">
            <a:off x="10341540" y="3912286"/>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2 technology icon: mcp / 38"/>
          <p:cNvCxnSpPr/>
          <p:nvPr/>
        </p:nvCxnSpPr>
        <p:spPr>
          <a:xfrm flipV="1">
            <a:off x="10344873"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2 technology icon: mcp / 39"/>
          <p:cNvCxnSpPr/>
          <p:nvPr/>
        </p:nvCxnSpPr>
        <p:spPr>
          <a:xfrm flipV="1">
            <a:off x="10348425" y="3907465"/>
            <a:ext cx="3740"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2 technology icon: mcp / 40"/>
          <p:cNvCxnSpPr/>
          <p:nvPr/>
        </p:nvCxnSpPr>
        <p:spPr>
          <a:xfrm flipV="1">
            <a:off x="10352165"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2 technology icon: mcp / 41"/>
          <p:cNvCxnSpPr/>
          <p:nvPr/>
        </p:nvCxnSpPr>
        <p:spPr>
          <a:xfrm flipV="1">
            <a:off x="10356060"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2 technology icon: mcp / 42"/>
          <p:cNvCxnSpPr/>
          <p:nvPr/>
        </p:nvCxnSpPr>
        <p:spPr>
          <a:xfrm flipV="1">
            <a:off x="10360080" y="3903247"/>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2 technology icon: mcp / 43"/>
          <p:cNvCxnSpPr/>
          <p:nvPr/>
        </p:nvCxnSpPr>
        <p:spPr>
          <a:xfrm flipV="1">
            <a:off x="10364193" y="3902644"/>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2 technology icon: mcp / 44"/>
          <p:cNvCxnSpPr/>
          <p:nvPr/>
        </p:nvCxnSpPr>
        <p:spPr>
          <a:xfrm flipV="1">
            <a:off x="10368369" y="390244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2 technology icon: mcp / 45"/>
          <p:cNvCxnSpPr/>
          <p:nvPr/>
        </p:nvCxnSpPr>
        <p:spPr>
          <a:xfrm>
            <a:off x="10372576" y="3902443"/>
            <a:ext cx="4208"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2 technology icon: mcp / 46"/>
          <p:cNvCxnSpPr/>
          <p:nvPr/>
        </p:nvCxnSpPr>
        <p:spPr>
          <a:xfrm>
            <a:off x="10376784" y="3902644"/>
            <a:ext cx="4175"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2 technology icon: mcp / 47"/>
          <p:cNvCxnSpPr/>
          <p:nvPr/>
        </p:nvCxnSpPr>
        <p:spPr>
          <a:xfrm>
            <a:off x="10380959" y="3903247"/>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2 technology icon: mcp / 48"/>
          <p:cNvCxnSpPr/>
          <p:nvPr/>
        </p:nvCxnSpPr>
        <p:spPr>
          <a:xfrm>
            <a:off x="10385073"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2 technology icon: mcp / 49"/>
          <p:cNvCxnSpPr/>
          <p:nvPr/>
        </p:nvCxnSpPr>
        <p:spPr>
          <a:xfrm>
            <a:off x="10389093"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2 technology icon: mcp / 50"/>
          <p:cNvCxnSpPr/>
          <p:nvPr/>
        </p:nvCxnSpPr>
        <p:spPr>
          <a:xfrm>
            <a:off x="10392988" y="3907465"/>
            <a:ext cx="3739"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2 technology icon: mcp / 51"/>
          <p:cNvCxnSpPr/>
          <p:nvPr/>
        </p:nvCxnSpPr>
        <p:spPr>
          <a:xfrm>
            <a:off x="10396727"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2 technology icon: mcp / 52"/>
          <p:cNvCxnSpPr/>
          <p:nvPr/>
        </p:nvCxnSpPr>
        <p:spPr>
          <a:xfrm>
            <a:off x="10400279" y="3912286"/>
            <a:ext cx="3334"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2 technology icon: mcp / 53"/>
          <p:cNvCxnSpPr/>
          <p:nvPr/>
        </p:nvCxnSpPr>
        <p:spPr>
          <a:xfrm>
            <a:off x="10403613" y="3915299"/>
            <a:ext cx="645" cy="6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2 technology icon: mcp / 54"/>
          <p:cNvCxnSpPr/>
          <p:nvPr/>
        </p:nvCxnSpPr>
        <p:spPr>
          <a:xfrm>
            <a:off x="10404258" y="3915945"/>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2 technology icon: mcp / 55"/>
          <p:cNvCxnSpPr/>
          <p:nvPr/>
        </p:nvCxnSpPr>
        <p:spPr>
          <a:xfrm>
            <a:off x="10407272" y="3919279"/>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2 technology icon: mcp / 56"/>
          <p:cNvCxnSpPr/>
          <p:nvPr/>
        </p:nvCxnSpPr>
        <p:spPr>
          <a:xfrm>
            <a:off x="10409883" y="3922831"/>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2 technology icon: mcp / 57"/>
          <p:cNvCxnSpPr/>
          <p:nvPr/>
        </p:nvCxnSpPr>
        <p:spPr>
          <a:xfrm>
            <a:off x="10412093" y="3926570"/>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2 technology icon: mcp / 58"/>
          <p:cNvCxnSpPr/>
          <p:nvPr/>
        </p:nvCxnSpPr>
        <p:spPr>
          <a:xfrm>
            <a:off x="10413901" y="3930465"/>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2 technology icon: mcp / 59"/>
          <p:cNvCxnSpPr/>
          <p:nvPr/>
        </p:nvCxnSpPr>
        <p:spPr>
          <a:xfrm>
            <a:off x="10415307" y="3934485"/>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2 technology icon: mcp / 60"/>
          <p:cNvCxnSpPr/>
          <p:nvPr/>
        </p:nvCxnSpPr>
        <p:spPr>
          <a:xfrm>
            <a:off x="10416311" y="393859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2 technology icon: mcp / 61"/>
          <p:cNvCxnSpPr/>
          <p:nvPr/>
        </p:nvCxnSpPr>
        <p:spPr>
          <a:xfrm>
            <a:off x="10416914" y="3942774"/>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2 technology icon: mcp / 62"/>
          <p:cNvCxnSpPr/>
          <p:nvPr/>
        </p:nvCxnSpPr>
        <p:spPr>
          <a:xfrm flipH="1">
            <a:off x="10416914" y="3946981"/>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2 technology icon: mcp / 63"/>
          <p:cNvCxnSpPr/>
          <p:nvPr/>
        </p:nvCxnSpPr>
        <p:spPr>
          <a:xfrm flipH="1">
            <a:off x="10416311" y="395118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2 technology icon: mcp / 64"/>
          <p:cNvCxnSpPr/>
          <p:nvPr/>
        </p:nvCxnSpPr>
        <p:spPr>
          <a:xfrm flipH="1">
            <a:off x="10415307" y="3955364"/>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2 technology icon: mcp / 65"/>
          <p:cNvCxnSpPr/>
          <p:nvPr/>
        </p:nvCxnSpPr>
        <p:spPr>
          <a:xfrm flipH="1">
            <a:off x="10413901" y="3959478"/>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2 technology icon: mcp / 66"/>
          <p:cNvCxnSpPr/>
          <p:nvPr/>
        </p:nvCxnSpPr>
        <p:spPr>
          <a:xfrm flipH="1">
            <a:off x="10412093" y="3963497"/>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2 technology icon: mcp / 67"/>
          <p:cNvCxnSpPr/>
          <p:nvPr/>
        </p:nvCxnSpPr>
        <p:spPr>
          <a:xfrm flipH="1">
            <a:off x="10409883" y="3967392"/>
            <a:ext cx="2210"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2 technology icon: mcp / 68"/>
          <p:cNvCxnSpPr/>
          <p:nvPr/>
        </p:nvCxnSpPr>
        <p:spPr>
          <a:xfrm flipH="1">
            <a:off x="10407272" y="3971132"/>
            <a:ext cx="2611"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2 technology icon: mcp / 69"/>
          <p:cNvCxnSpPr/>
          <p:nvPr/>
        </p:nvCxnSpPr>
        <p:spPr>
          <a:xfrm flipH="1">
            <a:off x="10404258" y="3974683"/>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2 technology icon: mcp / 70"/>
          <p:cNvCxnSpPr/>
          <p:nvPr/>
        </p:nvCxnSpPr>
        <p:spPr>
          <a:xfrm flipH="1">
            <a:off x="10291983" y="3978017"/>
            <a:ext cx="112275" cy="11227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2 technology icon: mcp / 71"/>
          <p:cNvCxnSpPr/>
          <p:nvPr/>
        </p:nvCxnSpPr>
        <p:spPr>
          <a:xfrm flipH="1">
            <a:off x="10290978" y="4090294"/>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2 technology icon: mcp / 72"/>
          <p:cNvCxnSpPr/>
          <p:nvPr/>
        </p:nvCxnSpPr>
        <p:spPr>
          <a:xfrm flipH="1">
            <a:off x="10290108" y="4091405"/>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2 technology icon: mcp / 73"/>
          <p:cNvCxnSpPr/>
          <p:nvPr/>
        </p:nvCxnSpPr>
        <p:spPr>
          <a:xfrm flipH="1">
            <a:off x="10289371" y="4092589"/>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2 technology icon: mcp / 74"/>
          <p:cNvCxnSpPr/>
          <p:nvPr/>
        </p:nvCxnSpPr>
        <p:spPr>
          <a:xfrm flipH="1">
            <a:off x="10288769" y="4093835"/>
            <a:ext cx="602" cy="129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2 technology icon: mcp / 75"/>
          <p:cNvCxnSpPr/>
          <p:nvPr/>
        </p:nvCxnSpPr>
        <p:spPr>
          <a:xfrm flipH="1">
            <a:off x="10288300" y="409513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2 technology icon: mcp / 76"/>
          <p:cNvCxnSpPr/>
          <p:nvPr/>
        </p:nvCxnSpPr>
        <p:spPr>
          <a:xfrm flipH="1">
            <a:off x="10287965" y="4096473"/>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2 technology icon: mcp / 77"/>
          <p:cNvCxnSpPr/>
          <p:nvPr/>
        </p:nvCxnSpPr>
        <p:spPr>
          <a:xfrm flipH="1">
            <a:off x="10287764" y="4097844"/>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2 technology icon: mcp / 78"/>
          <p:cNvCxnSpPr/>
          <p:nvPr/>
        </p:nvCxnSpPr>
        <p:spPr>
          <a:xfrm flipH="1">
            <a:off x="10287697" y="4099236"/>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2 technology icon: mcp / 79"/>
          <p:cNvCxnSpPr/>
          <p:nvPr/>
        </p:nvCxnSpPr>
        <p:spPr>
          <a:xfrm>
            <a:off x="10287697" y="4100638"/>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2 technology icon: mcp / 80"/>
          <p:cNvCxnSpPr/>
          <p:nvPr/>
        </p:nvCxnSpPr>
        <p:spPr>
          <a:xfrm>
            <a:off x="10287764" y="4102040"/>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2 technology icon: mcp / 81"/>
          <p:cNvCxnSpPr/>
          <p:nvPr/>
        </p:nvCxnSpPr>
        <p:spPr>
          <a:xfrm>
            <a:off x="10287965" y="4103432"/>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2 technology icon: mcp / 82"/>
          <p:cNvCxnSpPr/>
          <p:nvPr/>
        </p:nvCxnSpPr>
        <p:spPr>
          <a:xfrm>
            <a:off x="10288300" y="410480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2 technology icon: mcp / 83"/>
          <p:cNvCxnSpPr/>
          <p:nvPr/>
        </p:nvCxnSpPr>
        <p:spPr>
          <a:xfrm>
            <a:off x="10288769" y="4106143"/>
            <a:ext cx="602" cy="129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2 technology icon: mcp / 84"/>
          <p:cNvCxnSpPr/>
          <p:nvPr/>
        </p:nvCxnSpPr>
        <p:spPr>
          <a:xfrm>
            <a:off x="10289371" y="4107442"/>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2 technology icon: mcp / 85"/>
          <p:cNvCxnSpPr/>
          <p:nvPr/>
        </p:nvCxnSpPr>
        <p:spPr>
          <a:xfrm>
            <a:off x="10290108" y="4108688"/>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2 technology icon: mcp / 86"/>
          <p:cNvCxnSpPr/>
          <p:nvPr/>
        </p:nvCxnSpPr>
        <p:spPr>
          <a:xfrm>
            <a:off x="10290978" y="4109872"/>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2 technology icon: mcp / 87"/>
          <p:cNvCxnSpPr/>
          <p:nvPr/>
        </p:nvCxnSpPr>
        <p:spPr>
          <a:xfrm>
            <a:off x="10291983" y="4110983"/>
            <a:ext cx="23054" cy="2305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2 technology icon: mcp / 88"/>
          <p:cNvCxnSpPr/>
          <p:nvPr/>
        </p:nvCxnSpPr>
        <p:spPr>
          <a:xfrm flipH="1">
            <a:off x="10218691" y="3884263"/>
            <a:ext cx="91814" cy="918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2 technology icon: mcp / 89"/>
          <p:cNvCxnSpPr/>
          <p:nvPr/>
        </p:nvCxnSpPr>
        <p:spPr>
          <a:xfrm flipH="1">
            <a:off x="10215678" y="397607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2 technology icon: mcp / 90"/>
          <p:cNvCxnSpPr/>
          <p:nvPr/>
        </p:nvCxnSpPr>
        <p:spPr>
          <a:xfrm flipH="1">
            <a:off x="10213066" y="3979411"/>
            <a:ext cx="2612"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2 technology icon: mcp / 91"/>
          <p:cNvCxnSpPr/>
          <p:nvPr/>
        </p:nvCxnSpPr>
        <p:spPr>
          <a:xfrm flipH="1">
            <a:off x="10210857" y="3982962"/>
            <a:ext cx="2209"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2 technology icon: mcp / 92"/>
          <p:cNvCxnSpPr/>
          <p:nvPr/>
        </p:nvCxnSpPr>
        <p:spPr>
          <a:xfrm flipH="1">
            <a:off x="10209049" y="398670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2 technology icon: mcp / 93"/>
          <p:cNvCxnSpPr/>
          <p:nvPr/>
        </p:nvCxnSpPr>
        <p:spPr>
          <a:xfrm flipH="1">
            <a:off x="10207643" y="3990597"/>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2 technology icon: mcp / 94"/>
          <p:cNvCxnSpPr/>
          <p:nvPr/>
        </p:nvCxnSpPr>
        <p:spPr>
          <a:xfrm flipH="1">
            <a:off x="10206639" y="3994616"/>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2 technology icon: mcp / 95"/>
          <p:cNvCxnSpPr/>
          <p:nvPr/>
        </p:nvCxnSpPr>
        <p:spPr>
          <a:xfrm flipH="1">
            <a:off x="10206036" y="399873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2 technology icon: mcp / 96"/>
          <p:cNvCxnSpPr/>
          <p:nvPr/>
        </p:nvCxnSpPr>
        <p:spPr>
          <a:xfrm flipH="1">
            <a:off x="10205835" y="400290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2 technology icon: mcp / 97"/>
          <p:cNvCxnSpPr/>
          <p:nvPr/>
        </p:nvCxnSpPr>
        <p:spPr>
          <a:xfrm>
            <a:off x="10205835" y="400711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2 technology icon: mcp / 98"/>
          <p:cNvCxnSpPr/>
          <p:nvPr/>
        </p:nvCxnSpPr>
        <p:spPr>
          <a:xfrm>
            <a:off x="10206036" y="401132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2 technology icon: mcp / 99"/>
          <p:cNvCxnSpPr/>
          <p:nvPr/>
        </p:nvCxnSpPr>
        <p:spPr>
          <a:xfrm>
            <a:off x="10206639" y="401549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2 technology icon: mcp / 100"/>
          <p:cNvCxnSpPr/>
          <p:nvPr/>
        </p:nvCxnSpPr>
        <p:spPr>
          <a:xfrm>
            <a:off x="10207643" y="401960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2 technology icon: mcp / 101"/>
          <p:cNvCxnSpPr/>
          <p:nvPr/>
        </p:nvCxnSpPr>
        <p:spPr>
          <a:xfrm>
            <a:off x="10209049" y="402362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2 technology icon: mcp / 102"/>
          <p:cNvCxnSpPr/>
          <p:nvPr/>
        </p:nvCxnSpPr>
        <p:spPr>
          <a:xfrm>
            <a:off x="10210857" y="4027524"/>
            <a:ext cx="2209"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2 technology icon: mcp / 103"/>
          <p:cNvCxnSpPr/>
          <p:nvPr/>
        </p:nvCxnSpPr>
        <p:spPr>
          <a:xfrm>
            <a:off x="10213066" y="4031263"/>
            <a:ext cx="2612"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2 technology icon: mcp / 104"/>
          <p:cNvCxnSpPr/>
          <p:nvPr/>
        </p:nvCxnSpPr>
        <p:spPr>
          <a:xfrm>
            <a:off x="10215678" y="403481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2 technology icon: mcp / 105"/>
          <p:cNvCxnSpPr/>
          <p:nvPr/>
        </p:nvCxnSpPr>
        <p:spPr>
          <a:xfrm>
            <a:off x="10218691" y="4038149"/>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2 technology icon: mcp / 106"/>
          <p:cNvCxnSpPr/>
          <p:nvPr/>
        </p:nvCxnSpPr>
        <p:spPr>
          <a:xfrm>
            <a:off x="10218691"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2 technology icon: mcp / 107"/>
          <p:cNvCxnSpPr/>
          <p:nvPr/>
        </p:nvCxnSpPr>
        <p:spPr>
          <a:xfrm>
            <a:off x="10222024"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2 technology icon: mcp / 108"/>
          <p:cNvCxnSpPr/>
          <p:nvPr/>
        </p:nvCxnSpPr>
        <p:spPr>
          <a:xfrm>
            <a:off x="10225576"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2 technology icon: mcp / 109"/>
          <p:cNvCxnSpPr/>
          <p:nvPr/>
        </p:nvCxnSpPr>
        <p:spPr>
          <a:xfrm>
            <a:off x="10229315"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2 technology icon: mcp / 110"/>
          <p:cNvCxnSpPr/>
          <p:nvPr/>
        </p:nvCxnSpPr>
        <p:spPr>
          <a:xfrm>
            <a:off x="10233210"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2 technology icon: mcp / 111"/>
          <p:cNvCxnSpPr/>
          <p:nvPr/>
        </p:nvCxnSpPr>
        <p:spPr>
          <a:xfrm>
            <a:off x="10237230" y="4049196"/>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2 technology icon: mcp / 112"/>
          <p:cNvCxnSpPr/>
          <p:nvPr/>
        </p:nvCxnSpPr>
        <p:spPr>
          <a:xfrm>
            <a:off x="1024134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2 technology icon: mcp / 113"/>
          <p:cNvCxnSpPr/>
          <p:nvPr/>
        </p:nvCxnSpPr>
        <p:spPr>
          <a:xfrm>
            <a:off x="10245519"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2 technology icon: mcp / 114"/>
          <p:cNvCxnSpPr/>
          <p:nvPr/>
        </p:nvCxnSpPr>
        <p:spPr>
          <a:xfrm flipV="1">
            <a:off x="10249726"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2 technology icon: mcp / 115"/>
          <p:cNvCxnSpPr/>
          <p:nvPr/>
        </p:nvCxnSpPr>
        <p:spPr>
          <a:xfrm flipV="1">
            <a:off x="1025393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8" name="Page 2 technology icon: mcp / 116"/>
          <p:cNvCxnSpPr/>
          <p:nvPr/>
        </p:nvCxnSpPr>
        <p:spPr>
          <a:xfrm flipV="1">
            <a:off x="10258109" y="4049196"/>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9" name="Page 2 technology icon: mcp / 117"/>
          <p:cNvCxnSpPr/>
          <p:nvPr/>
        </p:nvCxnSpPr>
        <p:spPr>
          <a:xfrm flipV="1">
            <a:off x="10262223"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0" name="Page 2 technology icon: mcp / 118"/>
          <p:cNvCxnSpPr/>
          <p:nvPr/>
        </p:nvCxnSpPr>
        <p:spPr>
          <a:xfrm flipV="1">
            <a:off x="10266243"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1" name="Page 2 technology icon: mcp / 119"/>
          <p:cNvCxnSpPr/>
          <p:nvPr/>
        </p:nvCxnSpPr>
        <p:spPr>
          <a:xfrm flipV="1">
            <a:off x="10270138"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2" name="Page 2 technology icon: mcp / 120"/>
          <p:cNvCxnSpPr/>
          <p:nvPr/>
        </p:nvCxnSpPr>
        <p:spPr>
          <a:xfrm flipV="1">
            <a:off x="10273877"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3" name="Page 2 technology icon: mcp / 121"/>
          <p:cNvCxnSpPr/>
          <p:nvPr/>
        </p:nvCxnSpPr>
        <p:spPr>
          <a:xfrm flipV="1">
            <a:off x="10277429"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4" name="Page 2 technology icon: mcp / 122"/>
          <p:cNvCxnSpPr/>
          <p:nvPr/>
        </p:nvCxnSpPr>
        <p:spPr>
          <a:xfrm flipV="1">
            <a:off x="10280762" y="3946334"/>
            <a:ext cx="91814" cy="9181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sp>
        <p:nvSpPr>
          <p:cNvPr id="235" name="Rounded Rectangle 234"/>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37" name="TextBox 236"/>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238" name="TextBox 237"/>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Rounded Rectangle 12"/>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cxnSp>
        <p:nvCxnSpPr>
          <p:cNvPr id="15" name="Page 4 technology icon: blockchain / 1"/>
          <p:cNvCxnSpPr/>
          <p:nvPr/>
        </p:nvCxnSpPr>
        <p:spPr>
          <a:xfrm>
            <a:off x="9450895" y="2199703"/>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6" name="Page 4 technology icon: blockchain / 2"/>
          <p:cNvCxnSpPr/>
          <p:nvPr/>
        </p:nvCxnSpPr>
        <p:spPr>
          <a:xfrm>
            <a:off x="9696069"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7" name="Page 4 technology icon: blockchain / 3"/>
          <p:cNvCxnSpPr/>
          <p:nvPr/>
        </p:nvCxnSpPr>
        <p:spPr>
          <a:xfrm flipH="1">
            <a:off x="9450895" y="2463736"/>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8" name="Page 4 technology icon: blockchain / 4"/>
          <p:cNvCxnSpPr/>
          <p:nvPr/>
        </p:nvCxnSpPr>
        <p:spPr>
          <a:xfrm flipV="1">
            <a:off x="9450895"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19" name="Page 4 technology icon: blockchain / 5"/>
          <p:cNvSpPr/>
          <p:nvPr/>
        </p:nvSpPr>
        <p:spPr>
          <a:xfrm>
            <a:off x="9356598"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age 4 technology icon: blockchain / 6"/>
          <p:cNvSpPr/>
          <p:nvPr/>
        </p:nvSpPr>
        <p:spPr>
          <a:xfrm>
            <a:off x="9658350"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age 4 technology icon: blockchain / 7"/>
          <p:cNvSpPr/>
          <p:nvPr/>
        </p:nvSpPr>
        <p:spPr>
          <a:xfrm>
            <a:off x="9356598"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age 4 technology icon: blockchain / 8"/>
          <p:cNvSpPr/>
          <p:nvPr/>
        </p:nvSpPr>
        <p:spPr>
          <a:xfrm>
            <a:off x="9658350"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age 4 technology icon: encryption / 1"/>
          <p:cNvCxnSpPr/>
          <p:nvPr/>
        </p:nvCxnSpPr>
        <p:spPr>
          <a:xfrm flipV="1">
            <a:off x="10630471"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4" name="Page 4 technology icon: encryption / 2"/>
          <p:cNvCxnSpPr/>
          <p:nvPr/>
        </p:nvCxnSpPr>
        <p:spPr>
          <a:xfrm flipV="1">
            <a:off x="10630471"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5" name="Page 4 technology icon: encryption / 3"/>
          <p:cNvCxnSpPr/>
          <p:nvPr/>
        </p:nvCxnSpPr>
        <p:spPr>
          <a:xfrm flipV="1">
            <a:off x="1063566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6" name="Page 4 technology icon: encryption / 4"/>
          <p:cNvCxnSpPr/>
          <p:nvPr/>
        </p:nvCxnSpPr>
        <p:spPr>
          <a:xfrm flipV="1">
            <a:off x="1065002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7" name="Page 4 technology icon: encryption / 5"/>
          <p:cNvCxnSpPr/>
          <p:nvPr/>
        </p:nvCxnSpPr>
        <p:spPr>
          <a:xfrm flipV="1">
            <a:off x="10671726"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8" name="Page 4 technology icon: encryption / 6"/>
          <p:cNvCxnSpPr/>
          <p:nvPr/>
        </p:nvCxnSpPr>
        <p:spPr>
          <a:xfrm flipV="1">
            <a:off x="10698924"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9" name="Page 4 technology icon: encryption / 7"/>
          <p:cNvCxnSpPr/>
          <p:nvPr/>
        </p:nvCxnSpPr>
        <p:spPr>
          <a:xfrm flipV="1">
            <a:off x="10729789" y="2077116"/>
            <a:ext cx="32699"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0" name="Page 4 technology icon: encryption / 8"/>
          <p:cNvCxnSpPr/>
          <p:nvPr/>
        </p:nvCxnSpPr>
        <p:spPr>
          <a:xfrm>
            <a:off x="10762488" y="2077116"/>
            <a:ext cx="32698"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1" name="Page 4 technology icon: encryption / 9"/>
          <p:cNvCxnSpPr/>
          <p:nvPr/>
        </p:nvCxnSpPr>
        <p:spPr>
          <a:xfrm>
            <a:off x="10795186"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2" name="Page 4 technology icon: encryption / 10"/>
          <p:cNvCxnSpPr/>
          <p:nvPr/>
        </p:nvCxnSpPr>
        <p:spPr>
          <a:xfrm>
            <a:off x="10826051"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3" name="Page 4 technology icon: encryption / 11"/>
          <p:cNvCxnSpPr/>
          <p:nvPr/>
        </p:nvCxnSpPr>
        <p:spPr>
          <a:xfrm>
            <a:off x="1085324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4" name="Page 4 technology icon: encryption / 12"/>
          <p:cNvCxnSpPr/>
          <p:nvPr/>
        </p:nvCxnSpPr>
        <p:spPr>
          <a:xfrm>
            <a:off x="1087494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5" name="Page 4 technology icon: encryption / 13"/>
          <p:cNvCxnSpPr/>
          <p:nvPr/>
        </p:nvCxnSpPr>
        <p:spPr>
          <a:xfrm>
            <a:off x="10889309"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6" name="Page 4 technology icon: encryption / 14"/>
          <p:cNvCxnSpPr/>
          <p:nvPr/>
        </p:nvCxnSpPr>
        <p:spPr>
          <a:xfrm>
            <a:off x="10894504"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37" name="Page 4 technology icon: encryption / 15"/>
          <p:cNvSpPr/>
          <p:nvPr/>
        </p:nvSpPr>
        <p:spPr>
          <a:xfrm>
            <a:off x="10555033" y="2275141"/>
            <a:ext cx="414909" cy="301752"/>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age 4 technology icon: encryption / 16"/>
          <p:cNvSpPr/>
          <p:nvPr/>
        </p:nvSpPr>
        <p:spPr>
          <a:xfrm>
            <a:off x="10734198" y="2369439"/>
            <a:ext cx="56578" cy="56578"/>
          </a:xfrm>
          <a:prstGeom prst="ellipse">
            <a:avLst/>
          </a:prstGeom>
          <a:solidFill>
            <a:srgbClr val="83D49B"/>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Page 4 technology icon: encryption / 17"/>
          <p:cNvCxnSpPr/>
          <p:nvPr/>
        </p:nvCxnSpPr>
        <p:spPr>
          <a:xfrm>
            <a:off x="10762488" y="2426017"/>
            <a:ext cx="0" cy="5657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40" name="Page 4 technology icon: zk / 1"/>
          <p:cNvSpPr/>
          <p:nvPr/>
        </p:nvSpPr>
        <p:spPr>
          <a:xfrm>
            <a:off x="9318879" y="2881503"/>
            <a:ext cx="528066" cy="528066"/>
          </a:xfrm>
          <a:prstGeom prst="ellipse">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ge 4 technology icon: zk / 2"/>
          <p:cNvSpPr txBox="1"/>
          <p:nvPr/>
        </p:nvSpPr>
        <p:spPr>
          <a:xfrm>
            <a:off x="9356598" y="2956941"/>
            <a:ext cx="452628" cy="377190"/>
          </a:xfrm>
          <a:prstGeom prst="rect">
            <a:avLst/>
          </a:prstGeom>
          <a:noFill/>
        </p:spPr>
        <p:txBody>
          <a:bodyPr wrap="none" lIns="0" rIns="0" tIns="0" bIns="0" anchor="ctr">
            <a:spAutoFit/>
          </a:bodyPr>
          <a:lstStyle/>
          <a:p>
            <a:pPr algn="ctr"/>
            <a:r>
              <a:rPr sz="1466" b="1">
                <a:solidFill>
                  <a:srgbClr val="86CEEF"/>
                </a:solidFill>
                <a:latin typeface="Arial"/>
              </a:rPr>
              <a:t>ZK</a:t>
            </a:r>
          </a:p>
        </p:txBody>
      </p:sp>
      <p:cxnSp>
        <p:nvCxnSpPr>
          <p:cNvPr id="42" name="Page 4 technology icon: tee / 1"/>
          <p:cNvCxnSpPr/>
          <p:nvPr/>
        </p:nvCxnSpPr>
        <p:spPr>
          <a:xfrm>
            <a:off x="10649331"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3" name="Page 4 technology icon: tee / 2"/>
          <p:cNvCxnSpPr/>
          <p:nvPr/>
        </p:nvCxnSpPr>
        <p:spPr>
          <a:xfrm>
            <a:off x="10649331"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4" name="Page 4 technology icon: tee / 3"/>
          <p:cNvCxnSpPr/>
          <p:nvPr/>
        </p:nvCxnSpPr>
        <p:spPr>
          <a:xfrm>
            <a:off x="10498455" y="3032379"/>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5" name="Page 4 technology icon: tee / 4"/>
          <p:cNvCxnSpPr/>
          <p:nvPr/>
        </p:nvCxnSpPr>
        <p:spPr>
          <a:xfrm>
            <a:off x="10951083" y="3032379"/>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6" name="Page 4 technology icon: tee / 5"/>
          <p:cNvCxnSpPr/>
          <p:nvPr/>
        </p:nvCxnSpPr>
        <p:spPr>
          <a:xfrm>
            <a:off x="10762488"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7" name="Page 4 technology icon: tee / 6"/>
          <p:cNvCxnSpPr/>
          <p:nvPr/>
        </p:nvCxnSpPr>
        <p:spPr>
          <a:xfrm>
            <a:off x="10762488"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8" name="Page 4 technology icon: tee / 7"/>
          <p:cNvCxnSpPr/>
          <p:nvPr/>
        </p:nvCxnSpPr>
        <p:spPr>
          <a:xfrm>
            <a:off x="10498455" y="3145536"/>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9" name="Page 4 technology icon: tee / 8"/>
          <p:cNvCxnSpPr/>
          <p:nvPr/>
        </p:nvCxnSpPr>
        <p:spPr>
          <a:xfrm>
            <a:off x="10951083" y="3145536"/>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0" name="Page 4 technology icon: tee / 9"/>
          <p:cNvCxnSpPr/>
          <p:nvPr/>
        </p:nvCxnSpPr>
        <p:spPr>
          <a:xfrm>
            <a:off x="10875644"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1" name="Page 4 technology icon: tee / 10"/>
          <p:cNvCxnSpPr/>
          <p:nvPr/>
        </p:nvCxnSpPr>
        <p:spPr>
          <a:xfrm>
            <a:off x="10875644"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2" name="Page 4 technology icon: tee / 11"/>
          <p:cNvCxnSpPr/>
          <p:nvPr/>
        </p:nvCxnSpPr>
        <p:spPr>
          <a:xfrm>
            <a:off x="10498455" y="3258693"/>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3" name="Page 4 technology icon: tee / 12"/>
          <p:cNvCxnSpPr/>
          <p:nvPr/>
        </p:nvCxnSpPr>
        <p:spPr>
          <a:xfrm>
            <a:off x="10951083" y="3258693"/>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54" name="Page 4 technology icon: tee / 13"/>
          <p:cNvSpPr/>
          <p:nvPr/>
        </p:nvSpPr>
        <p:spPr>
          <a:xfrm>
            <a:off x="10573892" y="2956941"/>
            <a:ext cx="377190" cy="377190"/>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Page 4 technology icon: tee / 14"/>
          <p:cNvCxnSpPr/>
          <p:nvPr/>
        </p:nvCxnSpPr>
        <p:spPr>
          <a:xfrm flipV="1">
            <a:off x="10687050"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6" name="Page 4 technology icon: tee / 15"/>
          <p:cNvCxnSpPr/>
          <p:nvPr/>
        </p:nvCxnSpPr>
        <p:spPr>
          <a:xfrm flipV="1">
            <a:off x="10687050" y="3048488"/>
            <a:ext cx="2968"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7" name="Page 4 technology icon: tee / 16"/>
          <p:cNvCxnSpPr/>
          <p:nvPr/>
        </p:nvCxnSpPr>
        <p:spPr>
          <a:xfrm flipV="1">
            <a:off x="10690018" y="3030807"/>
            <a:ext cx="8208"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8" name="Page 4 technology icon: tee / 17"/>
          <p:cNvCxnSpPr/>
          <p:nvPr/>
        </p:nvCxnSpPr>
        <p:spPr>
          <a:xfrm flipV="1">
            <a:off x="10698226" y="3017055"/>
            <a:ext cx="12398"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9" name="Page 4 technology icon: tee / 18"/>
          <p:cNvCxnSpPr/>
          <p:nvPr/>
        </p:nvCxnSpPr>
        <p:spPr>
          <a:xfrm flipV="1">
            <a:off x="10710624" y="3007233"/>
            <a:ext cx="15542"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0" name="Page 4 technology icon: tee / 19"/>
          <p:cNvCxnSpPr/>
          <p:nvPr/>
        </p:nvCxnSpPr>
        <p:spPr>
          <a:xfrm flipV="1">
            <a:off x="10726166" y="3001339"/>
            <a:ext cx="17637"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1" name="Page 4 technology icon: tee / 20"/>
          <p:cNvCxnSpPr/>
          <p:nvPr/>
        </p:nvCxnSpPr>
        <p:spPr>
          <a:xfrm flipV="1">
            <a:off x="10743803" y="2999374"/>
            <a:ext cx="18685"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2" name="Page 4 technology icon: tee / 21"/>
          <p:cNvCxnSpPr/>
          <p:nvPr/>
        </p:nvCxnSpPr>
        <p:spPr>
          <a:xfrm>
            <a:off x="10762488" y="2999374"/>
            <a:ext cx="18684"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3" name="Page 4 technology icon: tee / 22"/>
          <p:cNvCxnSpPr/>
          <p:nvPr/>
        </p:nvCxnSpPr>
        <p:spPr>
          <a:xfrm>
            <a:off x="10781172" y="3001339"/>
            <a:ext cx="17638"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4" name="Page 4 technology icon: tee / 23"/>
          <p:cNvCxnSpPr/>
          <p:nvPr/>
        </p:nvCxnSpPr>
        <p:spPr>
          <a:xfrm>
            <a:off x="10798810" y="3007233"/>
            <a:ext cx="15541"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5" name="Page 4 technology icon: tee / 24"/>
          <p:cNvCxnSpPr/>
          <p:nvPr/>
        </p:nvCxnSpPr>
        <p:spPr>
          <a:xfrm>
            <a:off x="10814351" y="3017055"/>
            <a:ext cx="12399"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6" name="Page 4 technology icon: tee / 25"/>
          <p:cNvCxnSpPr/>
          <p:nvPr/>
        </p:nvCxnSpPr>
        <p:spPr>
          <a:xfrm>
            <a:off x="10826750" y="3030807"/>
            <a:ext cx="8207"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7" name="Page 4 technology icon: tee / 26"/>
          <p:cNvCxnSpPr/>
          <p:nvPr/>
        </p:nvCxnSpPr>
        <p:spPr>
          <a:xfrm>
            <a:off x="10834957" y="3048488"/>
            <a:ext cx="2969"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8" name="Page 4 technology icon: tee / 27"/>
          <p:cNvCxnSpPr/>
          <p:nvPr/>
        </p:nvCxnSpPr>
        <p:spPr>
          <a:xfrm>
            <a:off x="10837926"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69" name="Page 4 technology icon: tee / 28"/>
          <p:cNvSpPr/>
          <p:nvPr/>
        </p:nvSpPr>
        <p:spPr>
          <a:xfrm>
            <a:off x="10668190" y="3107817"/>
            <a:ext cx="188595" cy="150876"/>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Page 4 technology icon: attestation / 1"/>
          <p:cNvCxnSpPr/>
          <p:nvPr/>
        </p:nvCxnSpPr>
        <p:spPr>
          <a:xfrm flipH="1">
            <a:off x="9394317" y="3714178"/>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1" name="Page 4 technology icon: attestation / 2"/>
          <p:cNvCxnSpPr/>
          <p:nvPr/>
        </p:nvCxnSpPr>
        <p:spPr>
          <a:xfrm>
            <a:off x="9394317" y="3714178"/>
            <a:ext cx="0" cy="49034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2" name="Page 4 technology icon: attestation / 3"/>
          <p:cNvCxnSpPr/>
          <p:nvPr/>
        </p:nvCxnSpPr>
        <p:spPr>
          <a:xfrm>
            <a:off x="9394317" y="4204525"/>
            <a:ext cx="377190"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3" name="Page 4 technology icon: attestation / 4"/>
          <p:cNvCxnSpPr/>
          <p:nvPr/>
        </p:nvCxnSpPr>
        <p:spPr>
          <a:xfrm flipV="1">
            <a:off x="9771507" y="3827335"/>
            <a:ext cx="0" cy="37719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4" name="Page 4 technology icon: attestation / 5"/>
          <p:cNvCxnSpPr/>
          <p:nvPr/>
        </p:nvCxnSpPr>
        <p:spPr>
          <a:xfrm flipH="1" flipV="1">
            <a:off x="9658350" y="3714178"/>
            <a:ext cx="113157"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5" name="Page 4 technology icon: attestation / 6"/>
          <p:cNvCxnSpPr/>
          <p:nvPr/>
        </p:nvCxnSpPr>
        <p:spPr>
          <a:xfrm>
            <a:off x="9658350" y="3714178"/>
            <a:ext cx="0"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6" name="Page 4 technology icon: attestation / 7"/>
          <p:cNvCxnSpPr/>
          <p:nvPr/>
        </p:nvCxnSpPr>
        <p:spPr>
          <a:xfrm>
            <a:off x="9658350" y="3827335"/>
            <a:ext cx="11315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7" name="Page 4 technology icon: attestation / 8"/>
          <p:cNvCxnSpPr/>
          <p:nvPr/>
        </p:nvCxnSpPr>
        <p:spPr>
          <a:xfrm>
            <a:off x="9469755" y="3883913"/>
            <a:ext cx="132016"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8" name="Page 4 technology icon: attestation / 9"/>
          <p:cNvCxnSpPr/>
          <p:nvPr/>
        </p:nvCxnSpPr>
        <p:spPr>
          <a:xfrm>
            <a:off x="9469755" y="3959352"/>
            <a:ext cx="94297"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9" name="Page 4 technology icon: attestation / 10"/>
          <p:cNvCxnSpPr/>
          <p:nvPr/>
        </p:nvCxnSpPr>
        <p:spPr>
          <a:xfrm>
            <a:off x="9488614" y="4072509"/>
            <a:ext cx="75438" cy="75438"/>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0" name="Page 4 technology icon: attestation / 11"/>
          <p:cNvCxnSpPr/>
          <p:nvPr/>
        </p:nvCxnSpPr>
        <p:spPr>
          <a:xfrm flipV="1">
            <a:off x="9564052" y="3978211"/>
            <a:ext cx="169736" cy="169736"/>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1" name="Page 4 technology icon: dfl / 1"/>
          <p:cNvCxnSpPr/>
          <p:nvPr/>
        </p:nvCxnSpPr>
        <p:spPr>
          <a:xfrm>
            <a:off x="10762488"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2" name="Page 4 technology icon: dfl / 2"/>
          <p:cNvCxnSpPr/>
          <p:nvPr/>
        </p:nvCxnSpPr>
        <p:spPr>
          <a:xfrm flipH="1">
            <a:off x="10894504" y="3921633"/>
            <a:ext cx="94298"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3" name="Page 4 technology icon: dfl / 3"/>
          <p:cNvCxnSpPr/>
          <p:nvPr/>
        </p:nvCxnSpPr>
        <p:spPr>
          <a:xfrm flipH="1">
            <a:off x="10630471" y="4166806"/>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4" name="Page 4 technology icon: dfl / 4"/>
          <p:cNvCxnSpPr/>
          <p:nvPr/>
        </p:nvCxnSpPr>
        <p:spPr>
          <a:xfrm flipH="1" flipV="1">
            <a:off x="10536174" y="3921633"/>
            <a:ext cx="94297"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5" name="Page 4 technology icon: dfl / 5"/>
          <p:cNvCxnSpPr/>
          <p:nvPr/>
        </p:nvCxnSpPr>
        <p:spPr>
          <a:xfrm flipV="1">
            <a:off x="10536174"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6" name="Page 4 technology icon: dfl / 6"/>
          <p:cNvCxnSpPr/>
          <p:nvPr/>
        </p:nvCxnSpPr>
        <p:spPr>
          <a:xfrm>
            <a:off x="10762488" y="3751897"/>
            <a:ext cx="132016"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7" name="Page 4 technology icon: dfl / 7"/>
          <p:cNvCxnSpPr/>
          <p:nvPr/>
        </p:nvCxnSpPr>
        <p:spPr>
          <a:xfrm flipH="1" flipV="1">
            <a:off x="10536174" y="3921633"/>
            <a:ext cx="358330"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8" name="Page 4 technology icon: dfl / 8"/>
          <p:cNvCxnSpPr/>
          <p:nvPr/>
        </p:nvCxnSpPr>
        <p:spPr>
          <a:xfrm>
            <a:off x="10536174" y="3921633"/>
            <a:ext cx="452628" cy="0"/>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9" name="Page 4 technology icon: dfl / 9"/>
          <p:cNvCxnSpPr/>
          <p:nvPr/>
        </p:nvCxnSpPr>
        <p:spPr>
          <a:xfrm flipH="1">
            <a:off x="10630471" y="3921633"/>
            <a:ext cx="358331"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90" name="Page 4 technology icon: dfl / 10"/>
          <p:cNvCxnSpPr/>
          <p:nvPr/>
        </p:nvCxnSpPr>
        <p:spPr>
          <a:xfrm flipV="1">
            <a:off x="10630471" y="3751897"/>
            <a:ext cx="132017"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91" name="Page 4 technology icon: dfl / 11"/>
          <p:cNvSpPr/>
          <p:nvPr/>
        </p:nvSpPr>
        <p:spPr>
          <a:xfrm>
            <a:off x="10713453" y="3702862"/>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age 4 technology icon: dfl / 12"/>
          <p:cNvSpPr/>
          <p:nvPr/>
        </p:nvSpPr>
        <p:spPr>
          <a:xfrm>
            <a:off x="10939767"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age 4 technology icon: dfl / 13"/>
          <p:cNvSpPr/>
          <p:nvPr/>
        </p:nvSpPr>
        <p:spPr>
          <a:xfrm>
            <a:off x="10845469"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age 4 technology icon: dfl / 14"/>
          <p:cNvSpPr/>
          <p:nvPr/>
        </p:nvSpPr>
        <p:spPr>
          <a:xfrm>
            <a:off x="10581436"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age 4 technology icon: dfl / 15"/>
          <p:cNvSpPr/>
          <p:nvPr/>
        </p:nvSpPr>
        <p:spPr>
          <a:xfrm>
            <a:off x="10487139"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Page 4 technology icon: agent / 1"/>
          <p:cNvCxnSpPr/>
          <p:nvPr/>
        </p:nvCxnSpPr>
        <p:spPr>
          <a:xfrm>
            <a:off x="9582912" y="4546854"/>
            <a:ext cx="0" cy="9429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97" name="Page 4 technology icon: agent / 2"/>
          <p:cNvSpPr/>
          <p:nvPr/>
        </p:nvSpPr>
        <p:spPr>
          <a:xfrm>
            <a:off x="9554622" y="4499705"/>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age 4 technology icon: agent / 3"/>
          <p:cNvSpPr/>
          <p:nvPr/>
        </p:nvSpPr>
        <p:spPr>
          <a:xfrm>
            <a:off x="9356598" y="4641151"/>
            <a:ext cx="452628" cy="377190"/>
          </a:xfrm>
          <a:prstGeom prst="roundRect">
            <a:avLst/>
          </a:prstGeom>
          <a:solidFill>
            <a:srgbClr val="434343"/>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Page 4 technology icon: agent / 4"/>
          <p:cNvCxnSpPr/>
          <p:nvPr/>
        </p:nvCxnSpPr>
        <p:spPr>
          <a:xfrm>
            <a:off x="9300019"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0" name="Page 4 technology icon: agent / 5"/>
          <p:cNvCxnSpPr/>
          <p:nvPr/>
        </p:nvCxnSpPr>
        <p:spPr>
          <a:xfrm>
            <a:off x="9865804"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101" name="Page 4 technology icon: agent / 6"/>
          <p:cNvSpPr/>
          <p:nvPr/>
        </p:nvSpPr>
        <p:spPr>
          <a:xfrm>
            <a:off x="9450895"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4 technology icon: agent / 7"/>
          <p:cNvSpPr/>
          <p:nvPr/>
        </p:nvSpPr>
        <p:spPr>
          <a:xfrm>
            <a:off x="9658350"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3" name="Page 4 technology icon: agent / 8"/>
          <p:cNvCxnSpPr/>
          <p:nvPr/>
        </p:nvCxnSpPr>
        <p:spPr>
          <a:xfrm>
            <a:off x="9488614" y="4924044"/>
            <a:ext cx="188595" cy="0"/>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4" name="Page 4 technology icon: mcp / 1"/>
          <p:cNvCxnSpPr/>
          <p:nvPr/>
        </p:nvCxnSpPr>
        <p:spPr>
          <a:xfrm flipV="1">
            <a:off x="10521086" y="4528315"/>
            <a:ext cx="227595" cy="22759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5" name="Page 4 technology icon: mcp / 2"/>
          <p:cNvCxnSpPr/>
          <p:nvPr/>
        </p:nvCxnSpPr>
        <p:spPr>
          <a:xfrm flipV="1">
            <a:off x="10748681" y="4522791"/>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6" name="Page 4 technology icon: mcp / 3"/>
          <p:cNvCxnSpPr/>
          <p:nvPr/>
        </p:nvCxnSpPr>
        <p:spPr>
          <a:xfrm flipV="1">
            <a:off x="10754793"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7" name="Page 4 technology icon: mcp / 4"/>
          <p:cNvCxnSpPr/>
          <p:nvPr/>
        </p:nvCxnSpPr>
        <p:spPr>
          <a:xfrm flipV="1">
            <a:off x="10761304"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8" name="Page 4 technology icon: mcp / 5"/>
          <p:cNvCxnSpPr/>
          <p:nvPr/>
        </p:nvCxnSpPr>
        <p:spPr>
          <a:xfrm flipV="1">
            <a:off x="10768159"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9" name="Page 4 technology icon: mcp / 6"/>
          <p:cNvCxnSpPr/>
          <p:nvPr/>
        </p:nvCxnSpPr>
        <p:spPr>
          <a:xfrm flipV="1">
            <a:off x="1077530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0" name="Page 4 technology icon: mcp / 7"/>
          <p:cNvCxnSpPr/>
          <p:nvPr/>
        </p:nvCxnSpPr>
        <p:spPr>
          <a:xfrm flipV="1">
            <a:off x="10782670" y="4506219"/>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1" name="Page 4 technology icon: mcp / 8"/>
          <p:cNvCxnSpPr/>
          <p:nvPr/>
        </p:nvCxnSpPr>
        <p:spPr>
          <a:xfrm flipV="1">
            <a:off x="10790212" y="4505114"/>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2" name="Page 4 technology icon: mcp / 9"/>
          <p:cNvCxnSpPr/>
          <p:nvPr/>
        </p:nvCxnSpPr>
        <p:spPr>
          <a:xfrm flipV="1">
            <a:off x="10797867"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3" name="Page 4 technology icon: mcp / 10"/>
          <p:cNvCxnSpPr/>
          <p:nvPr/>
        </p:nvCxnSpPr>
        <p:spPr>
          <a:xfrm>
            <a:off x="10805580"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4" name="Page 4 technology icon: mcp / 11"/>
          <p:cNvCxnSpPr/>
          <p:nvPr/>
        </p:nvCxnSpPr>
        <p:spPr>
          <a:xfrm>
            <a:off x="10813293" y="4505114"/>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5" name="Page 4 technology icon: mcp / 12"/>
          <p:cNvCxnSpPr/>
          <p:nvPr/>
        </p:nvCxnSpPr>
        <p:spPr>
          <a:xfrm>
            <a:off x="10820949" y="4506219"/>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6" name="Page 4 technology icon: mcp / 13"/>
          <p:cNvCxnSpPr/>
          <p:nvPr/>
        </p:nvCxnSpPr>
        <p:spPr>
          <a:xfrm>
            <a:off x="1082849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7" name="Page 4 technology icon: mcp / 14"/>
          <p:cNvCxnSpPr/>
          <p:nvPr/>
        </p:nvCxnSpPr>
        <p:spPr>
          <a:xfrm>
            <a:off x="10835860"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8" name="Page 4 technology icon: mcp / 15"/>
          <p:cNvCxnSpPr/>
          <p:nvPr/>
        </p:nvCxnSpPr>
        <p:spPr>
          <a:xfrm>
            <a:off x="10843001"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9" name="Page 4 technology icon: mcp / 16"/>
          <p:cNvCxnSpPr/>
          <p:nvPr/>
        </p:nvCxnSpPr>
        <p:spPr>
          <a:xfrm>
            <a:off x="10849856"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0" name="Page 4 technology icon: mcp / 17"/>
          <p:cNvCxnSpPr/>
          <p:nvPr/>
        </p:nvCxnSpPr>
        <p:spPr>
          <a:xfrm>
            <a:off x="10856367" y="4522791"/>
            <a:ext cx="6111"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1" name="Page 4 technology icon: mcp / 18"/>
          <p:cNvCxnSpPr/>
          <p:nvPr/>
        </p:nvCxnSpPr>
        <p:spPr>
          <a:xfrm>
            <a:off x="10862478" y="4528315"/>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2" name="Page 4 technology icon: mcp / 19"/>
          <p:cNvCxnSpPr/>
          <p:nvPr/>
        </p:nvCxnSpPr>
        <p:spPr>
          <a:xfrm>
            <a:off x="10862478" y="4528315"/>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3" name="Page 4 technology icon: mcp / 20"/>
          <p:cNvCxnSpPr/>
          <p:nvPr/>
        </p:nvCxnSpPr>
        <p:spPr>
          <a:xfrm>
            <a:off x="10868002" y="4534426"/>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4" name="Page 4 technology icon: mcp / 21"/>
          <p:cNvCxnSpPr/>
          <p:nvPr/>
        </p:nvCxnSpPr>
        <p:spPr>
          <a:xfrm>
            <a:off x="10872790" y="4540938"/>
            <a:ext cx="4051" cy="685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Page 4 technology icon: mcp / 22"/>
          <p:cNvCxnSpPr/>
          <p:nvPr/>
        </p:nvCxnSpPr>
        <p:spPr>
          <a:xfrm>
            <a:off x="10876841" y="4547792"/>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6" name="Page 4 technology icon: mcp / 23"/>
          <p:cNvCxnSpPr/>
          <p:nvPr/>
        </p:nvCxnSpPr>
        <p:spPr>
          <a:xfrm>
            <a:off x="10880155" y="455493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7" name="Page 4 technology icon: mcp / 24"/>
          <p:cNvCxnSpPr/>
          <p:nvPr/>
        </p:nvCxnSpPr>
        <p:spPr>
          <a:xfrm>
            <a:off x="10882733" y="4562303"/>
            <a:ext cx="1841"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8" name="Page 4 technology icon: mcp / 25"/>
          <p:cNvCxnSpPr/>
          <p:nvPr/>
        </p:nvCxnSpPr>
        <p:spPr>
          <a:xfrm>
            <a:off x="10884574" y="4569845"/>
            <a:ext cx="1105"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9" name="Page 4 technology icon: mcp / 26"/>
          <p:cNvCxnSpPr/>
          <p:nvPr/>
        </p:nvCxnSpPr>
        <p:spPr>
          <a:xfrm>
            <a:off x="10885679" y="4577500"/>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0" name="Page 4 technology icon: mcp / 27"/>
          <p:cNvCxnSpPr/>
          <p:nvPr/>
        </p:nvCxnSpPr>
        <p:spPr>
          <a:xfrm flipH="1">
            <a:off x="10885679" y="4585213"/>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1" name="Page 4 technology icon: mcp / 28"/>
          <p:cNvCxnSpPr/>
          <p:nvPr/>
        </p:nvCxnSpPr>
        <p:spPr>
          <a:xfrm flipH="1">
            <a:off x="10884574" y="4592926"/>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2" name="Page 4 technology icon: mcp / 29"/>
          <p:cNvCxnSpPr/>
          <p:nvPr/>
        </p:nvCxnSpPr>
        <p:spPr>
          <a:xfrm flipH="1">
            <a:off x="10882733" y="4600582"/>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3" name="Page 4 technology icon: mcp / 30"/>
          <p:cNvCxnSpPr/>
          <p:nvPr/>
        </p:nvCxnSpPr>
        <p:spPr>
          <a:xfrm flipH="1">
            <a:off x="10880155" y="460812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Page 4 technology icon: mcp / 31"/>
          <p:cNvCxnSpPr/>
          <p:nvPr/>
        </p:nvCxnSpPr>
        <p:spPr>
          <a:xfrm flipH="1">
            <a:off x="10876841" y="4615493"/>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5" name="Page 4 technology icon: mcp / 32"/>
          <p:cNvCxnSpPr/>
          <p:nvPr/>
        </p:nvCxnSpPr>
        <p:spPr>
          <a:xfrm flipH="1">
            <a:off x="10872790" y="4622634"/>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6" name="Page 4 technology icon: mcp / 33"/>
          <p:cNvCxnSpPr/>
          <p:nvPr/>
        </p:nvCxnSpPr>
        <p:spPr>
          <a:xfrm flipH="1">
            <a:off x="10868002" y="462948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7" name="Page 4 technology icon: mcp / 34"/>
          <p:cNvCxnSpPr/>
          <p:nvPr/>
        </p:nvCxnSpPr>
        <p:spPr>
          <a:xfrm flipH="1">
            <a:off x="10862478" y="4636001"/>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8" name="Page 4 technology icon: mcp / 35"/>
          <p:cNvCxnSpPr/>
          <p:nvPr/>
        </p:nvCxnSpPr>
        <p:spPr>
          <a:xfrm flipH="1">
            <a:off x="10690597" y="4642112"/>
            <a:ext cx="171881" cy="17188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9" name="Page 4 technology icon: mcp / 36"/>
          <p:cNvCxnSpPr/>
          <p:nvPr/>
        </p:nvCxnSpPr>
        <p:spPr>
          <a:xfrm flipV="1">
            <a:off x="10692968" y="4642112"/>
            <a:ext cx="169510" cy="169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0" name="Page 4 technology icon: mcp / 37"/>
          <p:cNvCxnSpPr/>
          <p:nvPr/>
        </p:nvCxnSpPr>
        <p:spPr>
          <a:xfrm flipV="1">
            <a:off x="10862478"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1" name="Page 4 technology icon: mcp / 38"/>
          <p:cNvCxnSpPr/>
          <p:nvPr/>
        </p:nvCxnSpPr>
        <p:spPr>
          <a:xfrm flipV="1">
            <a:off x="10868590"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2" name="Page 4 technology icon: mcp / 39"/>
          <p:cNvCxnSpPr/>
          <p:nvPr/>
        </p:nvCxnSpPr>
        <p:spPr>
          <a:xfrm flipV="1">
            <a:off x="10875102"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3" name="Page 4 technology icon: mcp / 40"/>
          <p:cNvCxnSpPr/>
          <p:nvPr/>
        </p:nvCxnSpPr>
        <p:spPr>
          <a:xfrm flipV="1">
            <a:off x="10881957"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4" name="Page 4 technology icon: mcp / 41"/>
          <p:cNvCxnSpPr/>
          <p:nvPr/>
        </p:nvCxnSpPr>
        <p:spPr>
          <a:xfrm flipV="1">
            <a:off x="10889098"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5" name="Page 4 technology icon: mcp / 42"/>
          <p:cNvCxnSpPr/>
          <p:nvPr/>
        </p:nvCxnSpPr>
        <p:spPr>
          <a:xfrm flipV="1">
            <a:off x="10896468" y="4620017"/>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6" name="Page 4 technology icon: mcp / 43"/>
          <p:cNvCxnSpPr/>
          <p:nvPr/>
        </p:nvCxnSpPr>
        <p:spPr>
          <a:xfrm flipV="1">
            <a:off x="10904009" y="4618912"/>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Page 4 technology icon: mcp / 44"/>
          <p:cNvCxnSpPr/>
          <p:nvPr/>
        </p:nvCxnSpPr>
        <p:spPr>
          <a:xfrm flipV="1">
            <a:off x="10911665" y="4618544"/>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8" name="Page 4 technology icon: mcp / 45"/>
          <p:cNvCxnSpPr/>
          <p:nvPr/>
        </p:nvCxnSpPr>
        <p:spPr>
          <a:xfrm>
            <a:off x="10919378" y="4618544"/>
            <a:ext cx="7714"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9" name="Page 4 technology icon: mcp / 46"/>
          <p:cNvCxnSpPr/>
          <p:nvPr/>
        </p:nvCxnSpPr>
        <p:spPr>
          <a:xfrm>
            <a:off x="10927092" y="4618912"/>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0" name="Page 4 technology icon: mcp / 47"/>
          <p:cNvCxnSpPr/>
          <p:nvPr/>
        </p:nvCxnSpPr>
        <p:spPr>
          <a:xfrm>
            <a:off x="10934747" y="4620017"/>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1" name="Page 4 technology icon: mcp / 48"/>
          <p:cNvCxnSpPr/>
          <p:nvPr/>
        </p:nvCxnSpPr>
        <p:spPr>
          <a:xfrm>
            <a:off x="10942289"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2" name="Page 4 technology icon: mcp / 49"/>
          <p:cNvCxnSpPr/>
          <p:nvPr/>
        </p:nvCxnSpPr>
        <p:spPr>
          <a:xfrm>
            <a:off x="10949659"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3" name="Page 4 technology icon: mcp / 50"/>
          <p:cNvCxnSpPr/>
          <p:nvPr/>
        </p:nvCxnSpPr>
        <p:spPr>
          <a:xfrm>
            <a:off x="10956800"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4" name="Page 4 technology icon: mcp / 51"/>
          <p:cNvCxnSpPr/>
          <p:nvPr/>
        </p:nvCxnSpPr>
        <p:spPr>
          <a:xfrm>
            <a:off x="10963655"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5" name="Page 4 technology icon: mcp / 52"/>
          <p:cNvCxnSpPr/>
          <p:nvPr/>
        </p:nvCxnSpPr>
        <p:spPr>
          <a:xfrm>
            <a:off x="10970167"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6" name="Page 4 technology icon: mcp / 53"/>
          <p:cNvCxnSpPr/>
          <p:nvPr/>
        </p:nvCxnSpPr>
        <p:spPr>
          <a:xfrm>
            <a:off x="10976279" y="4642112"/>
            <a:ext cx="1183" cy="11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7" name="Page 4 technology icon: mcp / 54"/>
          <p:cNvCxnSpPr/>
          <p:nvPr/>
        </p:nvCxnSpPr>
        <p:spPr>
          <a:xfrm>
            <a:off x="10977462" y="4643297"/>
            <a:ext cx="5524"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8" name="Page 4 technology icon: mcp / 55"/>
          <p:cNvCxnSpPr/>
          <p:nvPr/>
        </p:nvCxnSpPr>
        <p:spPr>
          <a:xfrm>
            <a:off x="10982986" y="464940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9" name="Page 4 technology icon: mcp / 56"/>
          <p:cNvCxnSpPr/>
          <p:nvPr/>
        </p:nvCxnSpPr>
        <p:spPr>
          <a:xfrm>
            <a:off x="10987774" y="4655921"/>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0" name="Page 4 technology icon: mcp / 57"/>
          <p:cNvCxnSpPr/>
          <p:nvPr/>
        </p:nvCxnSpPr>
        <p:spPr>
          <a:xfrm>
            <a:off x="10991825" y="46627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1" name="Page 4 technology icon: mcp / 58"/>
          <p:cNvCxnSpPr/>
          <p:nvPr/>
        </p:nvCxnSpPr>
        <p:spPr>
          <a:xfrm>
            <a:off x="10995139" y="466991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2" name="Page 4 technology icon: mcp / 59"/>
          <p:cNvCxnSpPr/>
          <p:nvPr/>
        </p:nvCxnSpPr>
        <p:spPr>
          <a:xfrm>
            <a:off x="10997717" y="4677286"/>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3" name="Page 4 technology icon: mcp / 60"/>
          <p:cNvCxnSpPr/>
          <p:nvPr/>
        </p:nvCxnSpPr>
        <p:spPr>
          <a:xfrm>
            <a:off x="10999559" y="4684828"/>
            <a:ext cx="1104"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4" name="Page 4 technology icon: mcp / 61"/>
          <p:cNvCxnSpPr/>
          <p:nvPr/>
        </p:nvCxnSpPr>
        <p:spPr>
          <a:xfrm>
            <a:off x="11000663" y="4692483"/>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5" name="Page 4 technology icon: mcp / 62"/>
          <p:cNvCxnSpPr/>
          <p:nvPr/>
        </p:nvCxnSpPr>
        <p:spPr>
          <a:xfrm flipH="1">
            <a:off x="11000663" y="4700196"/>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6" name="Page 4 technology icon: mcp / 63"/>
          <p:cNvCxnSpPr/>
          <p:nvPr/>
        </p:nvCxnSpPr>
        <p:spPr>
          <a:xfrm flipH="1">
            <a:off x="10999559" y="4707909"/>
            <a:ext cx="1104"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7" name="Page 4 technology icon: mcp / 64"/>
          <p:cNvCxnSpPr/>
          <p:nvPr/>
        </p:nvCxnSpPr>
        <p:spPr>
          <a:xfrm flipH="1">
            <a:off x="10997717" y="4715565"/>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8" name="Page 4 technology icon: mcp / 65"/>
          <p:cNvCxnSpPr/>
          <p:nvPr/>
        </p:nvCxnSpPr>
        <p:spPr>
          <a:xfrm flipH="1">
            <a:off x="10995139" y="472310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9" name="Page 4 technology icon: mcp / 66"/>
          <p:cNvCxnSpPr/>
          <p:nvPr/>
        </p:nvCxnSpPr>
        <p:spPr>
          <a:xfrm flipH="1">
            <a:off x="10991825" y="47304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0" name="Page 4 technology icon: mcp / 67"/>
          <p:cNvCxnSpPr/>
          <p:nvPr/>
        </p:nvCxnSpPr>
        <p:spPr>
          <a:xfrm flipH="1">
            <a:off x="10987774" y="4737617"/>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1" name="Page 4 technology icon: mcp / 68"/>
          <p:cNvCxnSpPr/>
          <p:nvPr/>
        </p:nvCxnSpPr>
        <p:spPr>
          <a:xfrm flipH="1">
            <a:off x="10982986" y="4744472"/>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2" name="Page 4 technology icon: mcp / 69"/>
          <p:cNvCxnSpPr/>
          <p:nvPr/>
        </p:nvCxnSpPr>
        <p:spPr>
          <a:xfrm flipH="1">
            <a:off x="10977462" y="4750984"/>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3" name="Page 4 technology icon: mcp / 70"/>
          <p:cNvCxnSpPr/>
          <p:nvPr/>
        </p:nvCxnSpPr>
        <p:spPr>
          <a:xfrm flipH="1">
            <a:off x="10771623" y="4757095"/>
            <a:ext cx="205839" cy="205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4" name="Page 4 technology icon: mcp / 71"/>
          <p:cNvCxnSpPr/>
          <p:nvPr/>
        </p:nvCxnSpPr>
        <p:spPr>
          <a:xfrm flipH="1">
            <a:off x="10769782" y="4962936"/>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5" name="Page 4 technology icon: mcp / 72"/>
          <p:cNvCxnSpPr/>
          <p:nvPr/>
        </p:nvCxnSpPr>
        <p:spPr>
          <a:xfrm flipH="1">
            <a:off x="10768186" y="4964973"/>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6" name="Page 4 technology icon: mcp / 73"/>
          <p:cNvCxnSpPr/>
          <p:nvPr/>
        </p:nvCxnSpPr>
        <p:spPr>
          <a:xfrm flipH="1">
            <a:off x="10766836" y="4967143"/>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7" name="Page 4 technology icon: mcp / 74"/>
          <p:cNvCxnSpPr/>
          <p:nvPr/>
        </p:nvCxnSpPr>
        <p:spPr>
          <a:xfrm flipH="1">
            <a:off x="10765731" y="4969428"/>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8" name="Page 4 technology icon: mcp / 75"/>
          <p:cNvCxnSpPr/>
          <p:nvPr/>
        </p:nvCxnSpPr>
        <p:spPr>
          <a:xfrm flipH="1">
            <a:off x="10764872" y="4971808"/>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9" name="Page 4 technology icon: mcp / 76"/>
          <p:cNvCxnSpPr/>
          <p:nvPr/>
        </p:nvCxnSpPr>
        <p:spPr>
          <a:xfrm flipH="1">
            <a:off x="10764258" y="4974265"/>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0" name="Page 4 technology icon: mcp / 77"/>
          <p:cNvCxnSpPr/>
          <p:nvPr/>
        </p:nvCxnSpPr>
        <p:spPr>
          <a:xfrm flipH="1">
            <a:off x="10763890" y="4976778"/>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1" name="Page 4 technology icon: mcp / 78"/>
          <p:cNvCxnSpPr/>
          <p:nvPr/>
        </p:nvCxnSpPr>
        <p:spPr>
          <a:xfrm flipH="1">
            <a:off x="10763767" y="4979330"/>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2" name="Page 4 technology icon: mcp / 79"/>
          <p:cNvCxnSpPr/>
          <p:nvPr/>
        </p:nvCxnSpPr>
        <p:spPr>
          <a:xfrm>
            <a:off x="10763767" y="4981901"/>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3" name="Page 4 technology icon: mcp / 80"/>
          <p:cNvCxnSpPr/>
          <p:nvPr/>
        </p:nvCxnSpPr>
        <p:spPr>
          <a:xfrm>
            <a:off x="10763890" y="4984472"/>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4" name="Page 4 technology icon: mcp / 81"/>
          <p:cNvCxnSpPr/>
          <p:nvPr/>
        </p:nvCxnSpPr>
        <p:spPr>
          <a:xfrm>
            <a:off x="10764258" y="4987024"/>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5" name="Page 4 technology icon: mcp / 82"/>
          <p:cNvCxnSpPr/>
          <p:nvPr/>
        </p:nvCxnSpPr>
        <p:spPr>
          <a:xfrm>
            <a:off x="10764872" y="4989537"/>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6" name="Page 4 technology icon: mcp / 83"/>
          <p:cNvCxnSpPr/>
          <p:nvPr/>
        </p:nvCxnSpPr>
        <p:spPr>
          <a:xfrm>
            <a:off x="10765731" y="4991994"/>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7" name="Page 4 technology icon: mcp / 84"/>
          <p:cNvCxnSpPr/>
          <p:nvPr/>
        </p:nvCxnSpPr>
        <p:spPr>
          <a:xfrm>
            <a:off x="10766836" y="4994374"/>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8" name="Page 4 technology icon: mcp / 85"/>
          <p:cNvCxnSpPr/>
          <p:nvPr/>
        </p:nvCxnSpPr>
        <p:spPr>
          <a:xfrm>
            <a:off x="10768186" y="4996659"/>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9" name="Page 4 technology icon: mcp / 86"/>
          <p:cNvCxnSpPr/>
          <p:nvPr/>
        </p:nvCxnSpPr>
        <p:spPr>
          <a:xfrm>
            <a:off x="10769782" y="4998829"/>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0" name="Page 4 technology icon: mcp / 87"/>
          <p:cNvCxnSpPr/>
          <p:nvPr/>
        </p:nvCxnSpPr>
        <p:spPr>
          <a:xfrm>
            <a:off x="10771623" y="5000866"/>
            <a:ext cx="42266" cy="422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1" name="Page 4 technology icon: mcp / 88"/>
          <p:cNvCxnSpPr/>
          <p:nvPr/>
        </p:nvCxnSpPr>
        <p:spPr>
          <a:xfrm flipH="1">
            <a:off x="10637254" y="4585213"/>
            <a:ext cx="168327" cy="16832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2" name="Page 4 technology icon: mcp / 89"/>
          <p:cNvCxnSpPr/>
          <p:nvPr/>
        </p:nvCxnSpPr>
        <p:spPr>
          <a:xfrm flipH="1">
            <a:off x="10631731" y="4753539"/>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3" name="Page 4 technology icon: mcp / 90"/>
          <p:cNvCxnSpPr/>
          <p:nvPr/>
        </p:nvCxnSpPr>
        <p:spPr>
          <a:xfrm flipH="1">
            <a:off x="10626943" y="4759651"/>
            <a:ext cx="4788" cy="65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4" name="Page 4 technology icon: mcp / 91"/>
          <p:cNvCxnSpPr/>
          <p:nvPr/>
        </p:nvCxnSpPr>
        <p:spPr>
          <a:xfrm flipH="1">
            <a:off x="10622892" y="4766162"/>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5" name="Page 4 technology icon: mcp / 92"/>
          <p:cNvCxnSpPr/>
          <p:nvPr/>
        </p:nvCxnSpPr>
        <p:spPr>
          <a:xfrm flipH="1">
            <a:off x="10619578" y="4773017"/>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6" name="Page 4 technology icon: mcp / 93"/>
          <p:cNvCxnSpPr/>
          <p:nvPr/>
        </p:nvCxnSpPr>
        <p:spPr>
          <a:xfrm flipH="1">
            <a:off x="10617000" y="478015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7" name="Page 4 technology icon: mcp / 94"/>
          <p:cNvCxnSpPr/>
          <p:nvPr/>
        </p:nvCxnSpPr>
        <p:spPr>
          <a:xfrm flipH="1">
            <a:off x="10615159" y="4787528"/>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8" name="Page 4 technology icon: mcp / 95"/>
          <p:cNvCxnSpPr/>
          <p:nvPr/>
        </p:nvCxnSpPr>
        <p:spPr>
          <a:xfrm flipH="1">
            <a:off x="10614054" y="4795069"/>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9" name="Page 4 technology icon: mcp / 96"/>
          <p:cNvCxnSpPr/>
          <p:nvPr/>
        </p:nvCxnSpPr>
        <p:spPr>
          <a:xfrm flipH="1">
            <a:off x="10613686" y="4802725"/>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0" name="Page 4 technology icon: mcp / 97"/>
          <p:cNvCxnSpPr/>
          <p:nvPr/>
        </p:nvCxnSpPr>
        <p:spPr>
          <a:xfrm>
            <a:off x="10613686" y="4810438"/>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1" name="Page 4 technology icon: mcp / 98"/>
          <p:cNvCxnSpPr/>
          <p:nvPr/>
        </p:nvCxnSpPr>
        <p:spPr>
          <a:xfrm>
            <a:off x="10614054" y="4818151"/>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2" name="Page 4 technology icon: mcp / 99"/>
          <p:cNvCxnSpPr/>
          <p:nvPr/>
        </p:nvCxnSpPr>
        <p:spPr>
          <a:xfrm>
            <a:off x="10615159" y="4825807"/>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3" name="Page 4 technology icon: mcp / 100"/>
          <p:cNvCxnSpPr/>
          <p:nvPr/>
        </p:nvCxnSpPr>
        <p:spPr>
          <a:xfrm>
            <a:off x="10617000" y="483334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4" name="Page 4 technology icon: mcp / 101"/>
          <p:cNvCxnSpPr/>
          <p:nvPr/>
        </p:nvCxnSpPr>
        <p:spPr>
          <a:xfrm>
            <a:off x="10619578" y="4840718"/>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5" name="Page 4 technology icon: mcp / 102"/>
          <p:cNvCxnSpPr/>
          <p:nvPr/>
        </p:nvCxnSpPr>
        <p:spPr>
          <a:xfrm>
            <a:off x="10622892" y="4847859"/>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6" name="Page 4 technology icon: mcp / 103"/>
          <p:cNvCxnSpPr/>
          <p:nvPr/>
        </p:nvCxnSpPr>
        <p:spPr>
          <a:xfrm>
            <a:off x="10626943" y="4854714"/>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7" name="Page 4 technology icon: mcp / 104"/>
          <p:cNvCxnSpPr/>
          <p:nvPr/>
        </p:nvCxnSpPr>
        <p:spPr>
          <a:xfrm>
            <a:off x="10631731" y="4861226"/>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8" name="Page 4 technology icon: mcp / 105"/>
          <p:cNvCxnSpPr/>
          <p:nvPr/>
        </p:nvCxnSpPr>
        <p:spPr>
          <a:xfrm>
            <a:off x="10637254" y="4867338"/>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9" name="Page 4 technology icon: mcp / 106"/>
          <p:cNvCxnSpPr/>
          <p:nvPr/>
        </p:nvCxnSpPr>
        <p:spPr>
          <a:xfrm>
            <a:off x="10637254" y="4867338"/>
            <a:ext cx="6112"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0" name="Page 4 technology icon: mcp / 107"/>
          <p:cNvCxnSpPr/>
          <p:nvPr/>
        </p:nvCxnSpPr>
        <p:spPr>
          <a:xfrm>
            <a:off x="10643366" y="4872861"/>
            <a:ext cx="6511"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1" name="Page 4 technology icon: mcp / 108"/>
          <p:cNvCxnSpPr/>
          <p:nvPr/>
        </p:nvCxnSpPr>
        <p:spPr>
          <a:xfrm>
            <a:off x="10649877"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2" name="Page 4 technology icon: mcp / 109"/>
          <p:cNvCxnSpPr/>
          <p:nvPr/>
        </p:nvCxnSpPr>
        <p:spPr>
          <a:xfrm>
            <a:off x="10656732"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3" name="Page 4 technology icon: mcp / 110"/>
          <p:cNvCxnSpPr/>
          <p:nvPr/>
        </p:nvCxnSpPr>
        <p:spPr>
          <a:xfrm>
            <a:off x="1066387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4" name="Page 4 technology icon: mcp / 111"/>
          <p:cNvCxnSpPr/>
          <p:nvPr/>
        </p:nvCxnSpPr>
        <p:spPr>
          <a:xfrm>
            <a:off x="10671243" y="4887590"/>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5" name="Page 4 technology icon: mcp / 112"/>
          <p:cNvCxnSpPr/>
          <p:nvPr/>
        </p:nvCxnSpPr>
        <p:spPr>
          <a:xfrm>
            <a:off x="10678785" y="4889431"/>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6" name="Page 4 technology icon: mcp / 113"/>
          <p:cNvCxnSpPr/>
          <p:nvPr/>
        </p:nvCxnSpPr>
        <p:spPr>
          <a:xfrm>
            <a:off x="10686440"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7" name="Page 4 technology icon: mcp / 114"/>
          <p:cNvCxnSpPr/>
          <p:nvPr/>
        </p:nvCxnSpPr>
        <p:spPr>
          <a:xfrm flipV="1">
            <a:off x="10694153"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8" name="Page 4 technology icon: mcp / 115"/>
          <p:cNvCxnSpPr/>
          <p:nvPr/>
        </p:nvCxnSpPr>
        <p:spPr>
          <a:xfrm flipV="1">
            <a:off x="10701866" y="4889431"/>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9" name="Page 4 technology icon: mcp / 116"/>
          <p:cNvCxnSpPr/>
          <p:nvPr/>
        </p:nvCxnSpPr>
        <p:spPr>
          <a:xfrm flipV="1">
            <a:off x="10709522" y="4887590"/>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0" name="Page 4 technology icon: mcp / 117"/>
          <p:cNvCxnSpPr/>
          <p:nvPr/>
        </p:nvCxnSpPr>
        <p:spPr>
          <a:xfrm flipV="1">
            <a:off x="1071706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1" name="Page 4 technology icon: mcp / 118"/>
          <p:cNvCxnSpPr/>
          <p:nvPr/>
        </p:nvCxnSpPr>
        <p:spPr>
          <a:xfrm flipV="1">
            <a:off x="10724433"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2" name="Page 4 technology icon: mcp / 119"/>
          <p:cNvCxnSpPr/>
          <p:nvPr/>
        </p:nvCxnSpPr>
        <p:spPr>
          <a:xfrm flipV="1">
            <a:off x="10731574"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3" name="Page 4 technology icon: mcp / 120"/>
          <p:cNvCxnSpPr/>
          <p:nvPr/>
        </p:nvCxnSpPr>
        <p:spPr>
          <a:xfrm flipV="1">
            <a:off x="10738429" y="487286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4" name="Page 4 technology icon: mcp / 121"/>
          <p:cNvCxnSpPr/>
          <p:nvPr/>
        </p:nvCxnSpPr>
        <p:spPr>
          <a:xfrm flipV="1">
            <a:off x="10744941" y="4867338"/>
            <a:ext cx="6111"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5" name="Page 4 technology icon: mcp / 122"/>
          <p:cNvCxnSpPr/>
          <p:nvPr/>
        </p:nvCxnSpPr>
        <p:spPr>
          <a:xfrm flipV="1">
            <a:off x="10751052" y="4699011"/>
            <a:ext cx="168326" cy="16832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6" name="Page 4 symbol connection: 1"/>
          <p:cNvCxnSpPr/>
          <p:nvPr/>
        </p:nvCxnSpPr>
        <p:spPr>
          <a:xfrm>
            <a:off x="9948672" y="2331720"/>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7" name="Page 4 symbol connection: 2"/>
          <p:cNvCxnSpPr/>
          <p:nvPr/>
        </p:nvCxnSpPr>
        <p:spPr>
          <a:xfrm>
            <a:off x="9582912"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4 symbol connection: 3"/>
          <p:cNvCxnSpPr/>
          <p:nvPr/>
        </p:nvCxnSpPr>
        <p:spPr>
          <a:xfrm>
            <a:off x="10762488"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9" name="Page 4 symbol connection: 4"/>
          <p:cNvCxnSpPr/>
          <p:nvPr/>
        </p:nvCxnSpPr>
        <p:spPr>
          <a:xfrm>
            <a:off x="9948672" y="3145536"/>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0" name="Page 4 symbol connection: 5"/>
          <p:cNvCxnSpPr/>
          <p:nvPr/>
        </p:nvCxnSpPr>
        <p:spPr>
          <a:xfrm>
            <a:off x="9582912"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1" name="Page 4 symbol connection: 6"/>
          <p:cNvCxnSpPr/>
          <p:nvPr/>
        </p:nvCxnSpPr>
        <p:spPr>
          <a:xfrm>
            <a:off x="10762488"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2" name="Page 4 symbol connection: 7"/>
          <p:cNvCxnSpPr/>
          <p:nvPr/>
        </p:nvCxnSpPr>
        <p:spPr>
          <a:xfrm>
            <a:off x="9948672" y="3959352"/>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3" name="Page 4 symbol connection: 8"/>
          <p:cNvCxnSpPr/>
          <p:nvPr/>
        </p:nvCxnSpPr>
        <p:spPr>
          <a:xfrm>
            <a:off x="9582912"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4" name="Page 4 symbol connection: 9"/>
          <p:cNvCxnSpPr/>
          <p:nvPr/>
        </p:nvCxnSpPr>
        <p:spPr>
          <a:xfrm>
            <a:off x="10762488"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5" name="Page 4 symbol connection: 10"/>
          <p:cNvCxnSpPr/>
          <p:nvPr/>
        </p:nvCxnSpPr>
        <p:spPr>
          <a:xfrm>
            <a:off x="9948672" y="4773168"/>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RESEARCH POSITIONING</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Focus: attestation-based DFL → inference → verifiable agent use.</a:t>
            </a:r>
          </a:p>
        </p:txBody>
      </p:sp>
      <p:cxnSp>
        <p:nvCxnSpPr>
          <p:cNvPr id="21" name="Page 5 technology icon: encryption / 1"/>
          <p:cNvCxnSpPr/>
          <p:nvPr/>
        </p:nvCxnSpPr>
        <p:spPr>
          <a:xfrm flipV="1">
            <a:off x="1061275"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2" name="Page 5 technology icon: encryption / 2"/>
          <p:cNvCxnSpPr/>
          <p:nvPr/>
        </p:nvCxnSpPr>
        <p:spPr>
          <a:xfrm flipV="1">
            <a:off x="1061275"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3" name="Page 5 technology icon: encryption / 3"/>
          <p:cNvCxnSpPr/>
          <p:nvPr/>
        </p:nvCxnSpPr>
        <p:spPr>
          <a:xfrm flipV="1">
            <a:off x="1065211"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4" name="Page 5 technology icon: encryption / 4"/>
          <p:cNvCxnSpPr/>
          <p:nvPr/>
        </p:nvCxnSpPr>
        <p:spPr>
          <a:xfrm flipV="1">
            <a:off x="1076092"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5 technology icon: encryption / 5"/>
          <p:cNvCxnSpPr/>
          <p:nvPr/>
        </p:nvCxnSpPr>
        <p:spPr>
          <a:xfrm flipV="1">
            <a:off x="1092529"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5 technology icon: encryption / 6"/>
          <p:cNvCxnSpPr/>
          <p:nvPr/>
        </p:nvCxnSpPr>
        <p:spPr>
          <a:xfrm flipV="1">
            <a:off x="1113133"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5 technology icon: encryption / 7"/>
          <p:cNvCxnSpPr/>
          <p:nvPr/>
        </p:nvCxnSpPr>
        <p:spPr>
          <a:xfrm flipV="1">
            <a:off x="1136516" y="3620166"/>
            <a:ext cx="24772"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8" name="Page 5 technology icon: encryption / 8"/>
          <p:cNvCxnSpPr/>
          <p:nvPr/>
        </p:nvCxnSpPr>
        <p:spPr>
          <a:xfrm>
            <a:off x="1161288" y="3620166"/>
            <a:ext cx="24771"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9" name="Page 5 technology icon: encryption / 9"/>
          <p:cNvCxnSpPr/>
          <p:nvPr/>
        </p:nvCxnSpPr>
        <p:spPr>
          <a:xfrm>
            <a:off x="1186059"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 name="Page 5 technology icon: encryption / 10"/>
          <p:cNvCxnSpPr/>
          <p:nvPr/>
        </p:nvCxnSpPr>
        <p:spPr>
          <a:xfrm>
            <a:off x="1209442"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 name="Page 5 technology icon: encryption / 11"/>
          <p:cNvCxnSpPr/>
          <p:nvPr/>
        </p:nvCxnSpPr>
        <p:spPr>
          <a:xfrm>
            <a:off x="1230046"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 name="Page 5 technology icon: encryption / 12"/>
          <p:cNvCxnSpPr/>
          <p:nvPr/>
        </p:nvCxnSpPr>
        <p:spPr>
          <a:xfrm>
            <a:off x="1246483"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5 technology icon: encryption / 13"/>
          <p:cNvCxnSpPr/>
          <p:nvPr/>
        </p:nvCxnSpPr>
        <p:spPr>
          <a:xfrm>
            <a:off x="1257364"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5 technology icon: encryption / 14"/>
          <p:cNvCxnSpPr/>
          <p:nvPr/>
        </p:nvCxnSpPr>
        <p:spPr>
          <a:xfrm>
            <a:off x="1261300"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35" name="Page 5 technology icon: encryption / 15"/>
          <p:cNvSpPr/>
          <p:nvPr/>
        </p:nvSpPr>
        <p:spPr>
          <a:xfrm>
            <a:off x="1004125" y="3770185"/>
            <a:ext cx="314325" cy="2286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age 5 technology icon: encryption / 16"/>
          <p:cNvSpPr/>
          <p:nvPr/>
        </p:nvSpPr>
        <p:spPr>
          <a:xfrm>
            <a:off x="1139856" y="3841623"/>
            <a:ext cx="42862" cy="42862"/>
          </a:xfrm>
          <a:prstGeom prst="ellipse">
            <a:avLst/>
          </a:prstGeom>
          <a:solidFill>
            <a:srgbClr val="2F8F46"/>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Page 5 technology icon: encryption / 17"/>
          <p:cNvCxnSpPr/>
          <p:nvPr/>
        </p:nvCxnSpPr>
        <p:spPr>
          <a:xfrm>
            <a:off x="1161288" y="3884485"/>
            <a:ext cx="0" cy="4286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5 symbol connection: 1"/>
          <p:cNvCxnSpPr/>
          <p:nvPr/>
        </p:nvCxnSpPr>
        <p:spPr>
          <a:xfrm>
            <a:off x="14813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 name="Page 5 technology icon: tee / 1"/>
          <p:cNvCxnSpPr/>
          <p:nvPr/>
        </p:nvCxnSpPr>
        <p:spPr>
          <a:xfrm>
            <a:off x="272148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Page 5 technology icon: tee / 2"/>
          <p:cNvCxnSpPr/>
          <p:nvPr/>
        </p:nvCxnSpPr>
        <p:spPr>
          <a:xfrm>
            <a:off x="272148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Page 5 technology icon: tee / 3"/>
          <p:cNvCxnSpPr/>
          <p:nvPr/>
        </p:nvCxnSpPr>
        <p:spPr>
          <a:xfrm>
            <a:off x="26071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Page 5 technology icon: tee / 4"/>
          <p:cNvCxnSpPr/>
          <p:nvPr/>
        </p:nvCxnSpPr>
        <p:spPr>
          <a:xfrm>
            <a:off x="29500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Page 5 technology icon: tee / 5"/>
          <p:cNvCxnSpPr/>
          <p:nvPr/>
        </p:nvCxnSpPr>
        <p:spPr>
          <a:xfrm>
            <a:off x="2807208"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Page 5 technology icon: tee / 6"/>
          <p:cNvCxnSpPr/>
          <p:nvPr/>
        </p:nvCxnSpPr>
        <p:spPr>
          <a:xfrm>
            <a:off x="2807208"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Page 5 technology icon: tee / 7"/>
          <p:cNvCxnSpPr/>
          <p:nvPr/>
        </p:nvCxnSpPr>
        <p:spPr>
          <a:xfrm>
            <a:off x="26071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Page 5 technology icon: tee / 8"/>
          <p:cNvCxnSpPr/>
          <p:nvPr/>
        </p:nvCxnSpPr>
        <p:spPr>
          <a:xfrm>
            <a:off x="29500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Page 5 technology icon: tee / 9"/>
          <p:cNvCxnSpPr/>
          <p:nvPr/>
        </p:nvCxnSpPr>
        <p:spPr>
          <a:xfrm>
            <a:off x="289293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Page 5 technology icon: tee / 10"/>
          <p:cNvCxnSpPr/>
          <p:nvPr/>
        </p:nvCxnSpPr>
        <p:spPr>
          <a:xfrm>
            <a:off x="289293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Page 5 technology icon: tee / 11"/>
          <p:cNvCxnSpPr/>
          <p:nvPr/>
        </p:nvCxnSpPr>
        <p:spPr>
          <a:xfrm>
            <a:off x="26071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Page 5 technology icon: tee / 12"/>
          <p:cNvCxnSpPr/>
          <p:nvPr/>
        </p:nvCxnSpPr>
        <p:spPr>
          <a:xfrm>
            <a:off x="29500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51" name="Page 5 technology icon: tee / 13"/>
          <p:cNvSpPr/>
          <p:nvPr/>
        </p:nvSpPr>
        <p:spPr>
          <a:xfrm>
            <a:off x="2664333" y="3670173"/>
            <a:ext cx="285750" cy="28575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Page 5 technology icon: tee / 14"/>
          <p:cNvCxnSpPr/>
          <p:nvPr/>
        </p:nvCxnSpPr>
        <p:spPr>
          <a:xfrm flipV="1">
            <a:off x="27500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5 technology icon: tee / 15"/>
          <p:cNvCxnSpPr/>
          <p:nvPr/>
        </p:nvCxnSpPr>
        <p:spPr>
          <a:xfrm flipV="1">
            <a:off x="2750058" y="3739526"/>
            <a:ext cx="2248"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5 technology icon: tee / 16"/>
          <p:cNvCxnSpPr/>
          <p:nvPr/>
        </p:nvCxnSpPr>
        <p:spPr>
          <a:xfrm flipV="1">
            <a:off x="2752306"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5 technology icon: tee / 17"/>
          <p:cNvCxnSpPr/>
          <p:nvPr/>
        </p:nvCxnSpPr>
        <p:spPr>
          <a:xfrm flipV="1">
            <a:off x="2758524"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5 technology icon: tee / 18"/>
          <p:cNvCxnSpPr/>
          <p:nvPr/>
        </p:nvCxnSpPr>
        <p:spPr>
          <a:xfrm flipV="1">
            <a:off x="2767917"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5 technology icon: tee / 19"/>
          <p:cNvCxnSpPr/>
          <p:nvPr/>
        </p:nvCxnSpPr>
        <p:spPr>
          <a:xfrm flipV="1">
            <a:off x="2779691"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5 technology icon: tee / 20"/>
          <p:cNvCxnSpPr/>
          <p:nvPr/>
        </p:nvCxnSpPr>
        <p:spPr>
          <a:xfrm flipV="1">
            <a:off x="2793052" y="3702319"/>
            <a:ext cx="14156"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5 technology icon: tee / 21"/>
          <p:cNvCxnSpPr/>
          <p:nvPr/>
        </p:nvCxnSpPr>
        <p:spPr>
          <a:xfrm>
            <a:off x="2807208" y="3702319"/>
            <a:ext cx="14155"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5 technology icon: tee / 22"/>
          <p:cNvCxnSpPr/>
          <p:nvPr/>
        </p:nvCxnSpPr>
        <p:spPr>
          <a:xfrm>
            <a:off x="2821363"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5 technology icon: tee / 23"/>
          <p:cNvCxnSpPr/>
          <p:nvPr/>
        </p:nvCxnSpPr>
        <p:spPr>
          <a:xfrm>
            <a:off x="2834724"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5 technology icon: tee / 24"/>
          <p:cNvCxnSpPr/>
          <p:nvPr/>
        </p:nvCxnSpPr>
        <p:spPr>
          <a:xfrm>
            <a:off x="2846498"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Page 5 technology icon: tee / 25"/>
          <p:cNvCxnSpPr/>
          <p:nvPr/>
        </p:nvCxnSpPr>
        <p:spPr>
          <a:xfrm>
            <a:off x="2855891"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Page 5 technology icon: tee / 26"/>
          <p:cNvCxnSpPr/>
          <p:nvPr/>
        </p:nvCxnSpPr>
        <p:spPr>
          <a:xfrm>
            <a:off x="2862109" y="3739526"/>
            <a:ext cx="2249"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5 technology icon: tee / 27"/>
          <p:cNvCxnSpPr/>
          <p:nvPr/>
        </p:nvCxnSpPr>
        <p:spPr>
          <a:xfrm>
            <a:off x="28643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Page 5 technology icon: tee / 28"/>
          <p:cNvSpPr/>
          <p:nvPr/>
        </p:nvSpPr>
        <p:spPr>
          <a:xfrm>
            <a:off x="2735770" y="3784473"/>
            <a:ext cx="142875" cy="11430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Page 5 symbol connection: 2"/>
          <p:cNvCxnSpPr/>
          <p:nvPr/>
        </p:nvCxnSpPr>
        <p:spPr>
          <a:xfrm>
            <a:off x="312724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Page 5 technology icon: attestation / 1"/>
          <p:cNvCxnSpPr/>
          <p:nvPr/>
        </p:nvCxnSpPr>
        <p:spPr>
          <a:xfrm flipH="1">
            <a:off x="4310253" y="36273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5 technology icon: attestation / 2"/>
          <p:cNvCxnSpPr/>
          <p:nvPr/>
        </p:nvCxnSpPr>
        <p:spPr>
          <a:xfrm>
            <a:off x="4310253" y="3627310"/>
            <a:ext cx="0" cy="37147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5 technology icon: attestation / 3"/>
          <p:cNvCxnSpPr/>
          <p:nvPr/>
        </p:nvCxnSpPr>
        <p:spPr>
          <a:xfrm>
            <a:off x="4310253" y="3998785"/>
            <a:ext cx="2857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5 technology icon: attestation / 4"/>
          <p:cNvCxnSpPr/>
          <p:nvPr/>
        </p:nvCxnSpPr>
        <p:spPr>
          <a:xfrm flipV="1">
            <a:off x="4596003" y="3713035"/>
            <a:ext cx="0" cy="2857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5 technology icon: attestation / 5"/>
          <p:cNvCxnSpPr/>
          <p:nvPr/>
        </p:nvCxnSpPr>
        <p:spPr>
          <a:xfrm flipH="1" flipV="1">
            <a:off x="4510278" y="3627310"/>
            <a:ext cx="85725"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5 technology icon: attestation / 6"/>
          <p:cNvCxnSpPr/>
          <p:nvPr/>
        </p:nvCxnSpPr>
        <p:spPr>
          <a:xfrm>
            <a:off x="4510278" y="3627310"/>
            <a:ext cx="0"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5 technology icon: attestation / 7"/>
          <p:cNvCxnSpPr/>
          <p:nvPr/>
        </p:nvCxnSpPr>
        <p:spPr>
          <a:xfrm>
            <a:off x="4510278" y="3713035"/>
            <a:ext cx="857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5 technology icon: attestation / 8"/>
          <p:cNvCxnSpPr/>
          <p:nvPr/>
        </p:nvCxnSpPr>
        <p:spPr>
          <a:xfrm>
            <a:off x="4367403" y="3755898"/>
            <a:ext cx="100012"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5 technology icon: attestation / 9"/>
          <p:cNvCxnSpPr/>
          <p:nvPr/>
        </p:nvCxnSpPr>
        <p:spPr>
          <a:xfrm>
            <a:off x="4367403" y="3813048"/>
            <a:ext cx="71437"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5 technology icon: attestation / 10"/>
          <p:cNvCxnSpPr/>
          <p:nvPr/>
        </p:nvCxnSpPr>
        <p:spPr>
          <a:xfrm>
            <a:off x="4381690" y="3898773"/>
            <a:ext cx="57150" cy="57150"/>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Page 5 technology icon: attestation / 11"/>
          <p:cNvCxnSpPr/>
          <p:nvPr/>
        </p:nvCxnSpPr>
        <p:spPr>
          <a:xfrm flipV="1">
            <a:off x="4438840" y="3827335"/>
            <a:ext cx="128588" cy="128588"/>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Page 5 symbol connection: 3"/>
          <p:cNvCxnSpPr/>
          <p:nvPr/>
        </p:nvCxnSpPr>
        <p:spPr>
          <a:xfrm>
            <a:off x="477316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Page 5 technology icon: blockchain / 1"/>
          <p:cNvCxnSpPr/>
          <p:nvPr/>
        </p:nvCxnSpPr>
        <p:spPr>
          <a:xfrm>
            <a:off x="5999035" y="3713035"/>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1" name="Page 5 technology icon: blockchain / 2"/>
          <p:cNvCxnSpPr/>
          <p:nvPr/>
        </p:nvCxnSpPr>
        <p:spPr>
          <a:xfrm>
            <a:off x="6184773"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2" name="Page 5 technology icon: blockchain / 3"/>
          <p:cNvCxnSpPr/>
          <p:nvPr/>
        </p:nvCxnSpPr>
        <p:spPr>
          <a:xfrm flipH="1">
            <a:off x="5999035" y="3913060"/>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3" name="Page 5 technology icon: blockchain / 4"/>
          <p:cNvCxnSpPr/>
          <p:nvPr/>
        </p:nvCxnSpPr>
        <p:spPr>
          <a:xfrm flipV="1">
            <a:off x="5999035"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84" name="Page 5 technology icon: blockchain / 5"/>
          <p:cNvSpPr/>
          <p:nvPr/>
        </p:nvSpPr>
        <p:spPr>
          <a:xfrm>
            <a:off x="59275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age 5 technology icon: blockchain / 6"/>
          <p:cNvSpPr/>
          <p:nvPr/>
        </p:nvSpPr>
        <p:spPr>
          <a:xfrm>
            <a:off x="61561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age 5 technology icon: blockchain / 7"/>
          <p:cNvSpPr/>
          <p:nvPr/>
        </p:nvSpPr>
        <p:spPr>
          <a:xfrm>
            <a:off x="59275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age 5 technology icon: blockchain / 8"/>
          <p:cNvSpPr/>
          <p:nvPr/>
        </p:nvSpPr>
        <p:spPr>
          <a:xfrm>
            <a:off x="61561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Page 5 symbol connection: 4"/>
          <p:cNvCxnSpPr/>
          <p:nvPr/>
        </p:nvCxnSpPr>
        <p:spPr>
          <a:xfrm>
            <a:off x="641908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9" name="Page 5 technology icon: dfl / 1"/>
          <p:cNvCxnSpPr/>
          <p:nvPr/>
        </p:nvCxnSpPr>
        <p:spPr>
          <a:xfrm>
            <a:off x="774496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5 technology icon: dfl / 2"/>
          <p:cNvCxnSpPr/>
          <p:nvPr/>
        </p:nvCxnSpPr>
        <p:spPr>
          <a:xfrm flipH="1">
            <a:off x="7844980" y="3784473"/>
            <a:ext cx="71438"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5 technology icon: dfl / 3"/>
          <p:cNvCxnSpPr/>
          <p:nvPr/>
        </p:nvCxnSpPr>
        <p:spPr>
          <a:xfrm flipH="1">
            <a:off x="7644955" y="39702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5 technology icon: dfl / 4"/>
          <p:cNvCxnSpPr/>
          <p:nvPr/>
        </p:nvCxnSpPr>
        <p:spPr>
          <a:xfrm flipH="1" flipV="1">
            <a:off x="7573518" y="3784473"/>
            <a:ext cx="71437"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5 technology icon: dfl / 5"/>
          <p:cNvCxnSpPr/>
          <p:nvPr/>
        </p:nvCxnSpPr>
        <p:spPr>
          <a:xfrm flipV="1">
            <a:off x="757351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5 technology icon: dfl / 6"/>
          <p:cNvCxnSpPr/>
          <p:nvPr/>
        </p:nvCxnSpPr>
        <p:spPr>
          <a:xfrm>
            <a:off x="7744968" y="3655885"/>
            <a:ext cx="100012"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5 technology icon: dfl / 7"/>
          <p:cNvCxnSpPr/>
          <p:nvPr/>
        </p:nvCxnSpPr>
        <p:spPr>
          <a:xfrm flipH="1" flipV="1">
            <a:off x="7573518" y="3784473"/>
            <a:ext cx="271462"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5 technology icon: dfl / 8"/>
          <p:cNvCxnSpPr/>
          <p:nvPr/>
        </p:nvCxnSpPr>
        <p:spPr>
          <a:xfrm>
            <a:off x="7573518" y="3784473"/>
            <a:ext cx="342900" cy="0"/>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5 technology icon: dfl / 9"/>
          <p:cNvCxnSpPr/>
          <p:nvPr/>
        </p:nvCxnSpPr>
        <p:spPr>
          <a:xfrm flipH="1">
            <a:off x="7644955" y="3784473"/>
            <a:ext cx="271463"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5 technology icon: dfl / 10"/>
          <p:cNvCxnSpPr/>
          <p:nvPr/>
        </p:nvCxnSpPr>
        <p:spPr>
          <a:xfrm flipV="1">
            <a:off x="7644955" y="3655885"/>
            <a:ext cx="100013"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99" name="Page 5 technology icon: dfl / 11"/>
          <p:cNvSpPr/>
          <p:nvPr/>
        </p:nvSpPr>
        <p:spPr>
          <a:xfrm>
            <a:off x="7707820" y="3618738"/>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age 5 technology icon: dfl / 12"/>
          <p:cNvSpPr/>
          <p:nvPr/>
        </p:nvSpPr>
        <p:spPr>
          <a:xfrm>
            <a:off x="78792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5 technology icon: dfl / 13"/>
          <p:cNvSpPr/>
          <p:nvPr/>
        </p:nvSpPr>
        <p:spPr>
          <a:xfrm>
            <a:off x="7807833"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5 technology icon: dfl / 14"/>
          <p:cNvSpPr/>
          <p:nvPr/>
        </p:nvSpPr>
        <p:spPr>
          <a:xfrm>
            <a:off x="7607808"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5 technology icon: dfl / 15"/>
          <p:cNvSpPr/>
          <p:nvPr/>
        </p:nvSpPr>
        <p:spPr>
          <a:xfrm>
            <a:off x="75363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4" name="Page 5 symbol connection: 5"/>
          <p:cNvCxnSpPr/>
          <p:nvPr/>
        </p:nvCxnSpPr>
        <p:spPr>
          <a:xfrm flipH="1">
            <a:off x="806500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5" name="Page 5 technology icon: mcp / 1"/>
          <p:cNvCxnSpPr/>
          <p:nvPr/>
        </p:nvCxnSpPr>
        <p:spPr>
          <a:xfrm flipV="1">
            <a:off x="9208008" y="3627553"/>
            <a:ext cx="172420" cy="1724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6" name="Page 5 technology icon: mcp / 2"/>
          <p:cNvCxnSpPr/>
          <p:nvPr/>
        </p:nvCxnSpPr>
        <p:spPr>
          <a:xfrm flipV="1">
            <a:off x="938042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7" name="Page 5 technology icon: mcp / 3"/>
          <p:cNvCxnSpPr/>
          <p:nvPr/>
        </p:nvCxnSpPr>
        <p:spPr>
          <a:xfrm flipV="1">
            <a:off x="9385058"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8" name="Page 5 technology icon: mcp / 4"/>
          <p:cNvCxnSpPr/>
          <p:nvPr/>
        </p:nvCxnSpPr>
        <p:spPr>
          <a:xfrm flipV="1">
            <a:off x="9389991"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9" name="Page 5 technology icon: mcp / 5"/>
          <p:cNvCxnSpPr/>
          <p:nvPr/>
        </p:nvCxnSpPr>
        <p:spPr>
          <a:xfrm flipV="1">
            <a:off x="9395184" y="361416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0" name="Page 5 technology icon: mcp / 6"/>
          <p:cNvCxnSpPr/>
          <p:nvPr/>
        </p:nvCxnSpPr>
        <p:spPr>
          <a:xfrm flipV="1">
            <a:off x="9400594"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1" name="Page 5 technology icon: mcp / 7"/>
          <p:cNvCxnSpPr/>
          <p:nvPr/>
        </p:nvCxnSpPr>
        <p:spPr>
          <a:xfrm flipV="1">
            <a:off x="9406177" y="361081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2" name="Page 5 technology icon: mcp / 8"/>
          <p:cNvCxnSpPr/>
          <p:nvPr/>
        </p:nvCxnSpPr>
        <p:spPr>
          <a:xfrm flipV="1">
            <a:off x="9411891"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Page 5 technology icon: mcp / 9"/>
          <p:cNvCxnSpPr/>
          <p:nvPr/>
        </p:nvCxnSpPr>
        <p:spPr>
          <a:xfrm flipV="1">
            <a:off x="9417691"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5 technology icon: mcp / 10"/>
          <p:cNvCxnSpPr/>
          <p:nvPr/>
        </p:nvCxnSpPr>
        <p:spPr>
          <a:xfrm>
            <a:off x="9423534"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5 technology icon: mcp / 11"/>
          <p:cNvCxnSpPr/>
          <p:nvPr/>
        </p:nvCxnSpPr>
        <p:spPr>
          <a:xfrm>
            <a:off x="9429377"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5 technology icon: mcp / 12"/>
          <p:cNvCxnSpPr/>
          <p:nvPr/>
        </p:nvCxnSpPr>
        <p:spPr>
          <a:xfrm>
            <a:off x="9435177" y="361081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5 technology icon: mcp / 13"/>
          <p:cNvCxnSpPr/>
          <p:nvPr/>
        </p:nvCxnSpPr>
        <p:spPr>
          <a:xfrm>
            <a:off x="9440890"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5 technology icon: mcp / 14"/>
          <p:cNvCxnSpPr/>
          <p:nvPr/>
        </p:nvCxnSpPr>
        <p:spPr>
          <a:xfrm>
            <a:off x="9446473" y="361416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5 technology icon: mcp / 15"/>
          <p:cNvCxnSpPr/>
          <p:nvPr/>
        </p:nvCxnSpPr>
        <p:spPr>
          <a:xfrm>
            <a:off x="9451882"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5 technology icon: mcp / 16"/>
          <p:cNvCxnSpPr/>
          <p:nvPr/>
        </p:nvCxnSpPr>
        <p:spPr>
          <a:xfrm>
            <a:off x="9457075"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5 technology icon: mcp / 17"/>
          <p:cNvCxnSpPr/>
          <p:nvPr/>
        </p:nvCxnSpPr>
        <p:spPr>
          <a:xfrm>
            <a:off x="946200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5 technology icon: mcp / 18"/>
          <p:cNvCxnSpPr/>
          <p:nvPr/>
        </p:nvCxnSpPr>
        <p:spPr>
          <a:xfrm>
            <a:off x="9466638" y="3627553"/>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5 technology icon: mcp / 19"/>
          <p:cNvCxnSpPr/>
          <p:nvPr/>
        </p:nvCxnSpPr>
        <p:spPr>
          <a:xfrm>
            <a:off x="9466638" y="362755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5 technology icon: mcp / 20"/>
          <p:cNvCxnSpPr/>
          <p:nvPr/>
        </p:nvCxnSpPr>
        <p:spPr>
          <a:xfrm>
            <a:off x="9470823" y="3632183"/>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5 technology icon: mcp / 21"/>
          <p:cNvCxnSpPr/>
          <p:nvPr/>
        </p:nvCxnSpPr>
        <p:spPr>
          <a:xfrm>
            <a:off x="9474450" y="3637116"/>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5 technology icon: mcp / 22"/>
          <p:cNvCxnSpPr/>
          <p:nvPr/>
        </p:nvCxnSpPr>
        <p:spPr>
          <a:xfrm>
            <a:off x="9477519" y="3642309"/>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5 technology icon: mcp / 23"/>
          <p:cNvCxnSpPr/>
          <p:nvPr/>
        </p:nvCxnSpPr>
        <p:spPr>
          <a:xfrm>
            <a:off x="9480030" y="364771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5 technology icon: mcp / 24"/>
          <p:cNvCxnSpPr/>
          <p:nvPr/>
        </p:nvCxnSpPr>
        <p:spPr>
          <a:xfrm>
            <a:off x="9481983" y="3653302"/>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5 technology icon: mcp / 25"/>
          <p:cNvCxnSpPr/>
          <p:nvPr/>
        </p:nvCxnSpPr>
        <p:spPr>
          <a:xfrm>
            <a:off x="9483378" y="3659015"/>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5 technology icon: mcp / 26"/>
          <p:cNvCxnSpPr/>
          <p:nvPr/>
        </p:nvCxnSpPr>
        <p:spPr>
          <a:xfrm>
            <a:off x="9484214" y="3664815"/>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5 technology icon: mcp / 27"/>
          <p:cNvCxnSpPr/>
          <p:nvPr/>
        </p:nvCxnSpPr>
        <p:spPr>
          <a:xfrm flipH="1">
            <a:off x="9484214" y="3670658"/>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5 technology icon: mcp / 28"/>
          <p:cNvCxnSpPr/>
          <p:nvPr/>
        </p:nvCxnSpPr>
        <p:spPr>
          <a:xfrm flipH="1">
            <a:off x="9483378" y="3676501"/>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5 technology icon: mcp / 29"/>
          <p:cNvCxnSpPr/>
          <p:nvPr/>
        </p:nvCxnSpPr>
        <p:spPr>
          <a:xfrm flipH="1">
            <a:off x="9481983" y="3682301"/>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5 technology icon: mcp / 30"/>
          <p:cNvCxnSpPr/>
          <p:nvPr/>
        </p:nvCxnSpPr>
        <p:spPr>
          <a:xfrm flipH="1">
            <a:off x="9480030" y="3688014"/>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5 technology icon: mcp / 31"/>
          <p:cNvCxnSpPr/>
          <p:nvPr/>
        </p:nvCxnSpPr>
        <p:spPr>
          <a:xfrm flipH="1">
            <a:off x="9477519" y="369359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5 technology icon: mcp / 32"/>
          <p:cNvCxnSpPr/>
          <p:nvPr/>
        </p:nvCxnSpPr>
        <p:spPr>
          <a:xfrm flipH="1">
            <a:off x="9474450" y="3699007"/>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5 technology icon: mcp / 33"/>
          <p:cNvCxnSpPr/>
          <p:nvPr/>
        </p:nvCxnSpPr>
        <p:spPr>
          <a:xfrm flipH="1">
            <a:off x="9470823" y="3704200"/>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5 technology icon: mcp / 34"/>
          <p:cNvCxnSpPr/>
          <p:nvPr/>
        </p:nvCxnSpPr>
        <p:spPr>
          <a:xfrm flipH="1">
            <a:off x="9466638" y="370913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5 technology icon: mcp / 35"/>
          <p:cNvCxnSpPr/>
          <p:nvPr/>
        </p:nvCxnSpPr>
        <p:spPr>
          <a:xfrm flipH="1">
            <a:off x="9336425" y="3713763"/>
            <a:ext cx="130213" cy="1302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5 technology icon: mcp / 36"/>
          <p:cNvCxnSpPr/>
          <p:nvPr/>
        </p:nvCxnSpPr>
        <p:spPr>
          <a:xfrm flipV="1">
            <a:off x="9338221" y="3713763"/>
            <a:ext cx="128417" cy="12841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5 technology icon: mcp / 37"/>
          <p:cNvCxnSpPr/>
          <p:nvPr/>
        </p:nvCxnSpPr>
        <p:spPr>
          <a:xfrm flipV="1">
            <a:off x="9466638"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5 technology icon: mcp / 38"/>
          <p:cNvCxnSpPr/>
          <p:nvPr/>
        </p:nvCxnSpPr>
        <p:spPr>
          <a:xfrm flipV="1">
            <a:off x="9471268" y="3705952"/>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5 technology icon: mcp / 39"/>
          <p:cNvCxnSpPr/>
          <p:nvPr/>
        </p:nvCxnSpPr>
        <p:spPr>
          <a:xfrm flipV="1">
            <a:off x="9476201" y="3702883"/>
            <a:ext cx="5194"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5 technology icon: mcp / 40"/>
          <p:cNvCxnSpPr/>
          <p:nvPr/>
        </p:nvCxnSpPr>
        <p:spPr>
          <a:xfrm flipV="1">
            <a:off x="9481395" y="370037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5 technology icon: mcp / 41"/>
          <p:cNvCxnSpPr/>
          <p:nvPr/>
        </p:nvCxnSpPr>
        <p:spPr>
          <a:xfrm flipV="1">
            <a:off x="9486804" y="3698419"/>
            <a:ext cx="5584"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5 technology icon: mcp / 42"/>
          <p:cNvCxnSpPr/>
          <p:nvPr/>
        </p:nvCxnSpPr>
        <p:spPr>
          <a:xfrm flipV="1">
            <a:off x="9492388" y="369702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5 technology icon: mcp / 43"/>
          <p:cNvCxnSpPr/>
          <p:nvPr/>
        </p:nvCxnSpPr>
        <p:spPr>
          <a:xfrm flipV="1">
            <a:off x="9498101" y="369618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5 technology icon: mcp / 44"/>
          <p:cNvCxnSpPr/>
          <p:nvPr/>
        </p:nvCxnSpPr>
        <p:spPr>
          <a:xfrm flipV="1">
            <a:off x="9503901" y="369590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5 technology icon: mcp / 45"/>
          <p:cNvCxnSpPr/>
          <p:nvPr/>
        </p:nvCxnSpPr>
        <p:spPr>
          <a:xfrm>
            <a:off x="9509744" y="3695908"/>
            <a:ext cx="5844"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5 technology icon: mcp / 46"/>
          <p:cNvCxnSpPr/>
          <p:nvPr/>
        </p:nvCxnSpPr>
        <p:spPr>
          <a:xfrm>
            <a:off x="9515588" y="3696187"/>
            <a:ext cx="5799"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5 technology icon: mcp / 47"/>
          <p:cNvCxnSpPr/>
          <p:nvPr/>
        </p:nvCxnSpPr>
        <p:spPr>
          <a:xfrm>
            <a:off x="9521387" y="369702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5 technology icon: mcp / 48"/>
          <p:cNvCxnSpPr/>
          <p:nvPr/>
        </p:nvCxnSpPr>
        <p:spPr>
          <a:xfrm>
            <a:off x="9527101" y="369841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5 technology icon: mcp / 49"/>
          <p:cNvCxnSpPr/>
          <p:nvPr/>
        </p:nvCxnSpPr>
        <p:spPr>
          <a:xfrm>
            <a:off x="9532684" y="370037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5 technology icon: mcp / 50"/>
          <p:cNvCxnSpPr/>
          <p:nvPr/>
        </p:nvCxnSpPr>
        <p:spPr>
          <a:xfrm>
            <a:off x="9538094" y="3702883"/>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5 technology icon: mcp / 51"/>
          <p:cNvCxnSpPr/>
          <p:nvPr/>
        </p:nvCxnSpPr>
        <p:spPr>
          <a:xfrm>
            <a:off x="9543287" y="3705952"/>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5 technology icon: mcp / 52"/>
          <p:cNvCxnSpPr/>
          <p:nvPr/>
        </p:nvCxnSpPr>
        <p:spPr>
          <a:xfrm>
            <a:off x="9548221"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5 technology icon: mcp / 53"/>
          <p:cNvCxnSpPr/>
          <p:nvPr/>
        </p:nvCxnSpPr>
        <p:spPr>
          <a:xfrm>
            <a:off x="9552851" y="3713763"/>
            <a:ext cx="896" cy="89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5 technology icon: mcp / 54"/>
          <p:cNvCxnSpPr/>
          <p:nvPr/>
        </p:nvCxnSpPr>
        <p:spPr>
          <a:xfrm>
            <a:off x="9553747" y="3714661"/>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5 technology icon: mcp / 55"/>
          <p:cNvCxnSpPr/>
          <p:nvPr/>
        </p:nvCxnSpPr>
        <p:spPr>
          <a:xfrm>
            <a:off x="9557932" y="3719291"/>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5 technology icon: mcp / 56"/>
          <p:cNvCxnSpPr/>
          <p:nvPr/>
        </p:nvCxnSpPr>
        <p:spPr>
          <a:xfrm>
            <a:off x="9561559" y="3724224"/>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5 technology icon: mcp / 57"/>
          <p:cNvCxnSpPr/>
          <p:nvPr/>
        </p:nvCxnSpPr>
        <p:spPr>
          <a:xfrm>
            <a:off x="9564628" y="372941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5 technology icon: mcp / 58"/>
          <p:cNvCxnSpPr/>
          <p:nvPr/>
        </p:nvCxnSpPr>
        <p:spPr>
          <a:xfrm>
            <a:off x="9567139" y="3734827"/>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5 technology icon: mcp / 59"/>
          <p:cNvCxnSpPr/>
          <p:nvPr/>
        </p:nvCxnSpPr>
        <p:spPr>
          <a:xfrm>
            <a:off x="9569092" y="3740410"/>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5 technology icon: mcp / 60"/>
          <p:cNvCxnSpPr/>
          <p:nvPr/>
        </p:nvCxnSpPr>
        <p:spPr>
          <a:xfrm>
            <a:off x="9570487" y="3746123"/>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5 technology icon: mcp / 61"/>
          <p:cNvCxnSpPr/>
          <p:nvPr/>
        </p:nvCxnSpPr>
        <p:spPr>
          <a:xfrm>
            <a:off x="9571324" y="375192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5 technology icon: mcp / 62"/>
          <p:cNvCxnSpPr/>
          <p:nvPr/>
        </p:nvCxnSpPr>
        <p:spPr>
          <a:xfrm flipH="1">
            <a:off x="9571324" y="3757766"/>
            <a:ext cx="279" cy="58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5 technology icon: mcp / 63"/>
          <p:cNvCxnSpPr/>
          <p:nvPr/>
        </p:nvCxnSpPr>
        <p:spPr>
          <a:xfrm flipH="1">
            <a:off x="9570487" y="3763610"/>
            <a:ext cx="837" cy="579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5 technology icon: mcp / 64"/>
          <p:cNvCxnSpPr/>
          <p:nvPr/>
        </p:nvCxnSpPr>
        <p:spPr>
          <a:xfrm flipH="1">
            <a:off x="9569092" y="3769409"/>
            <a:ext cx="1395" cy="57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5 technology icon: mcp / 65"/>
          <p:cNvCxnSpPr/>
          <p:nvPr/>
        </p:nvCxnSpPr>
        <p:spPr>
          <a:xfrm flipH="1">
            <a:off x="9567139" y="3775123"/>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5 technology icon: mcp / 66"/>
          <p:cNvCxnSpPr/>
          <p:nvPr/>
        </p:nvCxnSpPr>
        <p:spPr>
          <a:xfrm flipH="1">
            <a:off x="9564628" y="3780706"/>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5 technology icon: mcp / 67"/>
          <p:cNvCxnSpPr/>
          <p:nvPr/>
        </p:nvCxnSpPr>
        <p:spPr>
          <a:xfrm flipH="1">
            <a:off x="9561559" y="3786115"/>
            <a:ext cx="3069" cy="519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5 technology icon: mcp / 68"/>
          <p:cNvCxnSpPr/>
          <p:nvPr/>
        </p:nvCxnSpPr>
        <p:spPr>
          <a:xfrm flipH="1">
            <a:off x="9557932" y="3791309"/>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5 technology icon: mcp / 69"/>
          <p:cNvCxnSpPr/>
          <p:nvPr/>
        </p:nvCxnSpPr>
        <p:spPr>
          <a:xfrm flipH="1">
            <a:off x="9553747" y="3796242"/>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5 technology icon: mcp / 70"/>
          <p:cNvCxnSpPr/>
          <p:nvPr/>
        </p:nvCxnSpPr>
        <p:spPr>
          <a:xfrm flipH="1">
            <a:off x="9397808" y="3800872"/>
            <a:ext cx="155939" cy="15593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5 technology icon: mcp / 71"/>
          <p:cNvCxnSpPr/>
          <p:nvPr/>
        </p:nvCxnSpPr>
        <p:spPr>
          <a:xfrm flipH="1">
            <a:off x="9396414" y="3956811"/>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5 technology icon: mcp / 72"/>
          <p:cNvCxnSpPr/>
          <p:nvPr/>
        </p:nvCxnSpPr>
        <p:spPr>
          <a:xfrm flipH="1">
            <a:off x="9395205" y="3958355"/>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5 technology icon: mcp / 73"/>
          <p:cNvCxnSpPr/>
          <p:nvPr/>
        </p:nvCxnSpPr>
        <p:spPr>
          <a:xfrm flipH="1">
            <a:off x="9394182" y="3959999"/>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5 technology icon: mcp / 74"/>
          <p:cNvCxnSpPr/>
          <p:nvPr/>
        </p:nvCxnSpPr>
        <p:spPr>
          <a:xfrm flipH="1">
            <a:off x="9393345" y="3961730"/>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5 technology icon: mcp / 75"/>
          <p:cNvCxnSpPr/>
          <p:nvPr/>
        </p:nvCxnSpPr>
        <p:spPr>
          <a:xfrm flipH="1">
            <a:off x="9392694" y="3963533"/>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5 technology icon: mcp / 76"/>
          <p:cNvCxnSpPr/>
          <p:nvPr/>
        </p:nvCxnSpPr>
        <p:spPr>
          <a:xfrm flipH="1">
            <a:off x="9392229" y="3965394"/>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5 technology icon: mcp / 77"/>
          <p:cNvCxnSpPr/>
          <p:nvPr/>
        </p:nvCxnSpPr>
        <p:spPr>
          <a:xfrm flipH="1">
            <a:off x="9391950" y="3967298"/>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5 technology icon: mcp / 78"/>
          <p:cNvCxnSpPr/>
          <p:nvPr/>
        </p:nvCxnSpPr>
        <p:spPr>
          <a:xfrm flipH="1">
            <a:off x="9391857" y="3969231"/>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5 technology icon: mcp / 79"/>
          <p:cNvCxnSpPr/>
          <p:nvPr/>
        </p:nvCxnSpPr>
        <p:spPr>
          <a:xfrm>
            <a:off x="9391857" y="3971179"/>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5 technology icon: mcp / 80"/>
          <p:cNvCxnSpPr/>
          <p:nvPr/>
        </p:nvCxnSpPr>
        <p:spPr>
          <a:xfrm>
            <a:off x="9391950" y="3973127"/>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5 technology icon: mcp / 81"/>
          <p:cNvCxnSpPr/>
          <p:nvPr/>
        </p:nvCxnSpPr>
        <p:spPr>
          <a:xfrm>
            <a:off x="9392229" y="3975060"/>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5 technology icon: mcp / 82"/>
          <p:cNvCxnSpPr/>
          <p:nvPr/>
        </p:nvCxnSpPr>
        <p:spPr>
          <a:xfrm>
            <a:off x="9392694" y="3976964"/>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5 technology icon: mcp / 83"/>
          <p:cNvCxnSpPr/>
          <p:nvPr/>
        </p:nvCxnSpPr>
        <p:spPr>
          <a:xfrm>
            <a:off x="9393345" y="3978825"/>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5 technology icon: mcp / 84"/>
          <p:cNvCxnSpPr/>
          <p:nvPr/>
        </p:nvCxnSpPr>
        <p:spPr>
          <a:xfrm>
            <a:off x="9394182" y="3980628"/>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5 technology icon: mcp / 85"/>
          <p:cNvCxnSpPr/>
          <p:nvPr/>
        </p:nvCxnSpPr>
        <p:spPr>
          <a:xfrm>
            <a:off x="9395205" y="3982359"/>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5 technology icon: mcp / 86"/>
          <p:cNvCxnSpPr/>
          <p:nvPr/>
        </p:nvCxnSpPr>
        <p:spPr>
          <a:xfrm>
            <a:off x="9396414" y="3984003"/>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5 technology icon: mcp / 87"/>
          <p:cNvCxnSpPr/>
          <p:nvPr/>
        </p:nvCxnSpPr>
        <p:spPr>
          <a:xfrm>
            <a:off x="9397808" y="3985547"/>
            <a:ext cx="32020" cy="320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5 technology icon: mcp / 88"/>
          <p:cNvCxnSpPr/>
          <p:nvPr/>
        </p:nvCxnSpPr>
        <p:spPr>
          <a:xfrm flipH="1">
            <a:off x="9296014" y="367065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5 technology icon: mcp / 89"/>
          <p:cNvCxnSpPr/>
          <p:nvPr/>
        </p:nvCxnSpPr>
        <p:spPr>
          <a:xfrm flipH="1">
            <a:off x="9291829" y="3798178"/>
            <a:ext cx="4185" cy="462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5 technology icon: mcp / 90"/>
          <p:cNvCxnSpPr/>
          <p:nvPr/>
        </p:nvCxnSpPr>
        <p:spPr>
          <a:xfrm flipH="1">
            <a:off x="9288202" y="3802807"/>
            <a:ext cx="3627" cy="493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5 technology icon: mcp / 91"/>
          <p:cNvCxnSpPr/>
          <p:nvPr/>
        </p:nvCxnSpPr>
        <p:spPr>
          <a:xfrm flipH="1">
            <a:off x="9285134" y="3807741"/>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5 technology icon: mcp / 92"/>
          <p:cNvCxnSpPr/>
          <p:nvPr/>
        </p:nvCxnSpPr>
        <p:spPr>
          <a:xfrm flipH="1">
            <a:off x="9282623" y="3812934"/>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5 technology icon: mcp / 93"/>
          <p:cNvCxnSpPr/>
          <p:nvPr/>
        </p:nvCxnSpPr>
        <p:spPr>
          <a:xfrm flipH="1">
            <a:off x="9280670" y="3818343"/>
            <a:ext cx="1953" cy="558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5 technology icon: mcp / 94"/>
          <p:cNvCxnSpPr/>
          <p:nvPr/>
        </p:nvCxnSpPr>
        <p:spPr>
          <a:xfrm flipH="1">
            <a:off x="9279275" y="3823927"/>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5 technology icon: mcp / 95"/>
          <p:cNvCxnSpPr/>
          <p:nvPr/>
        </p:nvCxnSpPr>
        <p:spPr>
          <a:xfrm flipH="1">
            <a:off x="9278438" y="3829640"/>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5 technology icon: mcp / 96"/>
          <p:cNvCxnSpPr/>
          <p:nvPr/>
        </p:nvCxnSpPr>
        <p:spPr>
          <a:xfrm flipH="1">
            <a:off x="9278159" y="3835440"/>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5 technology icon: mcp / 97"/>
          <p:cNvCxnSpPr/>
          <p:nvPr/>
        </p:nvCxnSpPr>
        <p:spPr>
          <a:xfrm>
            <a:off x="9278159" y="384128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5 technology icon: mcp / 98"/>
          <p:cNvCxnSpPr/>
          <p:nvPr/>
        </p:nvCxnSpPr>
        <p:spPr>
          <a:xfrm>
            <a:off x="9278438" y="3847126"/>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5 technology icon: mcp / 99"/>
          <p:cNvCxnSpPr/>
          <p:nvPr/>
        </p:nvCxnSpPr>
        <p:spPr>
          <a:xfrm>
            <a:off x="9279275" y="3852926"/>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5 technology icon: mcp / 100"/>
          <p:cNvCxnSpPr/>
          <p:nvPr/>
        </p:nvCxnSpPr>
        <p:spPr>
          <a:xfrm>
            <a:off x="9280670" y="385863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5 technology icon: mcp / 101"/>
          <p:cNvCxnSpPr/>
          <p:nvPr/>
        </p:nvCxnSpPr>
        <p:spPr>
          <a:xfrm>
            <a:off x="9282623" y="3864222"/>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5 technology icon: mcp / 102"/>
          <p:cNvCxnSpPr/>
          <p:nvPr/>
        </p:nvCxnSpPr>
        <p:spPr>
          <a:xfrm>
            <a:off x="9285134" y="3869632"/>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5 technology icon: mcp / 103"/>
          <p:cNvCxnSpPr/>
          <p:nvPr/>
        </p:nvCxnSpPr>
        <p:spPr>
          <a:xfrm>
            <a:off x="9288202" y="3874825"/>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5 technology icon: mcp / 104"/>
          <p:cNvCxnSpPr/>
          <p:nvPr/>
        </p:nvCxnSpPr>
        <p:spPr>
          <a:xfrm>
            <a:off x="9291829" y="3879758"/>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5 technology icon: mcp / 105"/>
          <p:cNvCxnSpPr/>
          <p:nvPr/>
        </p:nvCxnSpPr>
        <p:spPr>
          <a:xfrm>
            <a:off x="9296014" y="3884388"/>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5 technology icon: mcp / 106"/>
          <p:cNvCxnSpPr/>
          <p:nvPr/>
        </p:nvCxnSpPr>
        <p:spPr>
          <a:xfrm>
            <a:off x="9296014" y="388438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5 technology icon: mcp / 107"/>
          <p:cNvCxnSpPr/>
          <p:nvPr/>
        </p:nvCxnSpPr>
        <p:spPr>
          <a:xfrm>
            <a:off x="9300644" y="3888573"/>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5 technology icon: mcp / 108"/>
          <p:cNvCxnSpPr/>
          <p:nvPr/>
        </p:nvCxnSpPr>
        <p:spPr>
          <a:xfrm>
            <a:off x="9305577"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5 technology icon: mcp / 109"/>
          <p:cNvCxnSpPr/>
          <p:nvPr/>
        </p:nvCxnSpPr>
        <p:spPr>
          <a:xfrm>
            <a:off x="9310770"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5 technology icon: mcp / 110"/>
          <p:cNvCxnSpPr/>
          <p:nvPr/>
        </p:nvCxnSpPr>
        <p:spPr>
          <a:xfrm>
            <a:off x="9316180"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5 technology icon: mcp / 111"/>
          <p:cNvCxnSpPr/>
          <p:nvPr/>
        </p:nvCxnSpPr>
        <p:spPr>
          <a:xfrm>
            <a:off x="9321763"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5 technology icon: mcp / 112"/>
          <p:cNvCxnSpPr/>
          <p:nvPr/>
        </p:nvCxnSpPr>
        <p:spPr>
          <a:xfrm>
            <a:off x="9327476"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5 technology icon: mcp / 113"/>
          <p:cNvCxnSpPr/>
          <p:nvPr/>
        </p:nvCxnSpPr>
        <p:spPr>
          <a:xfrm>
            <a:off x="9333276"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5 technology icon: mcp / 114"/>
          <p:cNvCxnSpPr/>
          <p:nvPr/>
        </p:nvCxnSpPr>
        <p:spPr>
          <a:xfrm flipV="1">
            <a:off x="9339119"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5 technology icon: mcp / 115"/>
          <p:cNvCxnSpPr/>
          <p:nvPr/>
        </p:nvCxnSpPr>
        <p:spPr>
          <a:xfrm flipV="1">
            <a:off x="9344962"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5 technology icon: mcp / 116"/>
          <p:cNvCxnSpPr/>
          <p:nvPr/>
        </p:nvCxnSpPr>
        <p:spPr>
          <a:xfrm flipV="1">
            <a:off x="9350762"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5 technology icon: mcp / 117"/>
          <p:cNvCxnSpPr/>
          <p:nvPr/>
        </p:nvCxnSpPr>
        <p:spPr>
          <a:xfrm flipV="1">
            <a:off x="9356475"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5 technology icon: mcp / 118"/>
          <p:cNvCxnSpPr/>
          <p:nvPr/>
        </p:nvCxnSpPr>
        <p:spPr>
          <a:xfrm flipV="1">
            <a:off x="9362058"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5 technology icon: mcp / 119"/>
          <p:cNvCxnSpPr/>
          <p:nvPr/>
        </p:nvCxnSpPr>
        <p:spPr>
          <a:xfrm flipV="1">
            <a:off x="9367468"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5 technology icon: mcp / 120"/>
          <p:cNvCxnSpPr/>
          <p:nvPr/>
        </p:nvCxnSpPr>
        <p:spPr>
          <a:xfrm flipV="1">
            <a:off x="9372661" y="3888573"/>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5 technology icon: mcp / 121"/>
          <p:cNvCxnSpPr/>
          <p:nvPr/>
        </p:nvCxnSpPr>
        <p:spPr>
          <a:xfrm flipV="1">
            <a:off x="9377595" y="3884388"/>
            <a:ext cx="4629"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5 technology icon: mcp / 122"/>
          <p:cNvCxnSpPr/>
          <p:nvPr/>
        </p:nvCxnSpPr>
        <p:spPr>
          <a:xfrm flipV="1">
            <a:off x="9382224" y="375686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5 symbol connection: 6"/>
          <p:cNvCxnSpPr/>
          <p:nvPr/>
        </p:nvCxnSpPr>
        <p:spPr>
          <a:xfrm flipH="1">
            <a:off x="97109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5 technology icon: agent / 1"/>
          <p:cNvCxnSpPr/>
          <p:nvPr/>
        </p:nvCxnSpPr>
        <p:spPr>
          <a:xfrm>
            <a:off x="11036808" y="3641598"/>
            <a:ext cx="0" cy="71437"/>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29" name="Page 5 technology icon: agent / 2"/>
          <p:cNvSpPr/>
          <p:nvPr/>
        </p:nvSpPr>
        <p:spPr>
          <a:xfrm>
            <a:off x="11015376" y="3605879"/>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age 5 technology icon: agent / 3"/>
          <p:cNvSpPr/>
          <p:nvPr/>
        </p:nvSpPr>
        <p:spPr>
          <a:xfrm>
            <a:off x="10865358" y="3713035"/>
            <a:ext cx="342900" cy="285750"/>
          </a:xfrm>
          <a:prstGeom prst="roundRect">
            <a:avLst/>
          </a:prstGeom>
          <a:solidFill>
            <a:srgbClr val="FFFFFF"/>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1" name="Page 5 technology icon: agent / 4"/>
          <p:cNvCxnSpPr/>
          <p:nvPr/>
        </p:nvCxnSpPr>
        <p:spPr>
          <a:xfrm>
            <a:off x="10822495"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2" name="Page 5 technology icon: agent / 5"/>
          <p:cNvCxnSpPr/>
          <p:nvPr/>
        </p:nvCxnSpPr>
        <p:spPr>
          <a:xfrm>
            <a:off x="11251120"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3" name="Page 5 technology icon: agent / 6"/>
          <p:cNvSpPr/>
          <p:nvPr/>
        </p:nvSpPr>
        <p:spPr>
          <a:xfrm>
            <a:off x="10936795"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age 5 technology icon: agent / 7"/>
          <p:cNvSpPr/>
          <p:nvPr/>
        </p:nvSpPr>
        <p:spPr>
          <a:xfrm>
            <a:off x="11093958"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Page 5 technology icon: agent / 8"/>
          <p:cNvCxnSpPr/>
          <p:nvPr/>
        </p:nvCxnSpPr>
        <p:spPr>
          <a:xfrm>
            <a:off x="10965370" y="3927348"/>
            <a:ext cx="142875" cy="0"/>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6" name="Rounded Rectangle 235"/>
          <p:cNvSpPr/>
          <p:nvPr/>
        </p:nvSpPr>
        <p:spPr>
          <a:xfrm>
            <a:off x="621792" y="4407408"/>
            <a:ext cx="3502152" cy="102412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841248" y="4517136"/>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8" name="TextBox 237"/>
          <p:cNvSpPr txBox="1"/>
          <p:nvPr/>
        </p:nvSpPr>
        <p:spPr>
          <a:xfrm>
            <a:off x="841248"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Trustworthy integration</a:t>
            </a:r>
          </a:p>
        </p:txBody>
      </p:sp>
      <p:sp>
        <p:nvSpPr>
          <p:cNvPr id="239" name="Rounded Rectangle 238"/>
          <p:cNvSpPr/>
          <p:nvPr/>
        </p:nvSpPr>
        <p:spPr>
          <a:xfrm>
            <a:off x="4343400" y="4407408"/>
            <a:ext cx="3502152" cy="102412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4562856" y="4517136"/>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41" name="TextBox 240"/>
          <p:cNvSpPr txBox="1"/>
          <p:nvPr/>
        </p:nvSpPr>
        <p:spPr>
          <a:xfrm>
            <a:off x="4562856"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Integrity &amp; availability</a:t>
            </a:r>
          </a:p>
        </p:txBody>
      </p:sp>
      <p:sp>
        <p:nvSpPr>
          <p:cNvPr id="242" name="Rounded Rectangle 241"/>
          <p:cNvSpPr/>
          <p:nvPr/>
        </p:nvSpPr>
        <p:spPr>
          <a:xfrm>
            <a:off x="8065008" y="4407408"/>
            <a:ext cx="3502152" cy="102412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8284464" y="4517136"/>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44" name="TextBox 243"/>
          <p:cNvSpPr txBox="1"/>
          <p:nvPr/>
        </p:nvSpPr>
        <p:spPr>
          <a:xfrm>
            <a:off x="8284464"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Verifiable inference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Several hospitals. One shared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MOTIVATION · LEARNING TOGETHER, KEEPING PATIENT DATA LOCAL</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13232" y="1691640"/>
            <a:ext cx="3840480" cy="27889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865376"/>
            <a:ext cx="3401568"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Hospital consortium</a:t>
            </a:r>
          </a:p>
        </p:txBody>
      </p:sp>
      <p:sp>
        <p:nvSpPr>
          <p:cNvPr id="10" name="Rectangle 9"/>
          <p:cNvSpPr/>
          <p:nvPr/>
        </p:nvSpPr>
        <p:spPr>
          <a:xfrm>
            <a:off x="1053846"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29868"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93876"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14" name="Rectangle 13"/>
          <p:cNvSpPr/>
          <p:nvPr/>
        </p:nvSpPr>
        <p:spPr>
          <a:xfrm>
            <a:off x="1365885"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09853"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8592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A</a:t>
            </a:r>
          </a:p>
        </p:txBody>
      </p:sp>
      <p:sp>
        <p:nvSpPr>
          <p:cNvPr id="18" name="Rectangle 17"/>
          <p:cNvSpPr/>
          <p:nvPr/>
        </p:nvSpPr>
        <p:spPr>
          <a:xfrm>
            <a:off x="2233422"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09444"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473452"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05456"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22" name="Rectangle 21"/>
          <p:cNvSpPr/>
          <p:nvPr/>
        </p:nvSpPr>
        <p:spPr>
          <a:xfrm>
            <a:off x="2545461"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89429"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65501"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8839"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B</a:t>
            </a:r>
          </a:p>
        </p:txBody>
      </p:sp>
      <p:sp>
        <p:nvSpPr>
          <p:cNvPr id="26" name="Rectangle 25"/>
          <p:cNvSpPr/>
          <p:nvPr/>
        </p:nvSpPr>
        <p:spPr>
          <a:xfrm>
            <a:off x="3412998"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89020"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53028"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85032"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30" name="Rectangle 29"/>
          <p:cNvSpPr/>
          <p:nvPr/>
        </p:nvSpPr>
        <p:spPr>
          <a:xfrm>
            <a:off x="3725036"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6900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45077"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28415"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C</a:t>
            </a:r>
          </a:p>
        </p:txBody>
      </p:sp>
      <p:sp>
        <p:nvSpPr>
          <p:cNvPr id="34" name="TextBox 33"/>
          <p:cNvSpPr txBox="1"/>
          <p:nvPr/>
        </p:nvSpPr>
        <p:spPr>
          <a:xfrm>
            <a:off x="950976" y="3730752"/>
            <a:ext cx="3364992"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Complementary datasets
Patient data stay local</a:t>
            </a:r>
          </a:p>
        </p:txBody>
      </p:sp>
      <p:cxnSp>
        <p:nvCxnSpPr>
          <p:cNvPr id="35" name="Connector 34"/>
          <p:cNvCxnSpPr/>
          <p:nvPr/>
        </p:nvCxnSpPr>
        <p:spPr>
          <a:xfrm>
            <a:off x="4681728" y="2898648"/>
            <a:ext cx="438912" cy="0"/>
          </a:xfrm>
          <a:prstGeom prst="line">
            <a:avLst/>
          </a:prstGeom>
          <a:ln w="254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48656" y="1691640"/>
            <a:ext cx="2788920" cy="2788920"/>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40680" y="1865376"/>
            <a:ext cx="2404872"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Jointly trained</a:t>
            </a:r>
          </a:p>
        </p:txBody>
      </p:sp>
      <p:cxnSp>
        <p:nvCxnSpPr>
          <p:cNvPr id="38" name="Connector 37"/>
          <p:cNvCxnSpPr/>
          <p:nvPr/>
        </p:nvCxnSpPr>
        <p:spPr>
          <a:xfrm flipV="1">
            <a:off x="5879592" y="2395728"/>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79592" y="2505456"/>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79592" y="2505456"/>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879592" y="2395728"/>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79592" y="2834640"/>
            <a:ext cx="768096" cy="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79592" y="2834640"/>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879592" y="2395728"/>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879592" y="2834640"/>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879592" y="3163824"/>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647688" y="2395728"/>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647688" y="2395728"/>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647688" y="265176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647688" y="283464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647688" y="2651760"/>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647688" y="3017520"/>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5797296" y="2423160"/>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797296"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797296" y="3081528"/>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565392" y="2313432"/>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565392"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565392" y="3191256"/>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315200" y="256946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315200" y="293522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49824" y="3730752"/>
            <a:ext cx="2386584"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Custom-trained model
for chest X-rays</a:t>
            </a:r>
          </a:p>
        </p:txBody>
      </p:sp>
      <p:cxnSp>
        <p:nvCxnSpPr>
          <p:cNvPr id="62" name="Connector 61"/>
          <p:cNvCxnSpPr/>
          <p:nvPr/>
        </p:nvCxnSpPr>
        <p:spPr>
          <a:xfrm>
            <a:off x="8165592" y="2898648"/>
            <a:ext cx="438912" cy="0"/>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732520" y="1691640"/>
            <a:ext cx="2770632" cy="2788920"/>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33688" y="1865376"/>
            <a:ext cx="2368296"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Later use</a:t>
            </a:r>
          </a:p>
        </p:txBody>
      </p:sp>
      <p:cxnSp>
        <p:nvCxnSpPr>
          <p:cNvPr id="65" name="Hospital motivation: agent / 1"/>
          <p:cNvCxnSpPr/>
          <p:nvPr/>
        </p:nvCxnSpPr>
        <p:spPr>
          <a:xfrm>
            <a:off x="10113264" y="2489454"/>
            <a:ext cx="0" cy="140017"/>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Hospital motivation: agent / 2"/>
          <p:cNvSpPr/>
          <p:nvPr/>
        </p:nvSpPr>
        <p:spPr>
          <a:xfrm>
            <a:off x="10071258" y="2419445"/>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Hospital motivation: agent / 3"/>
          <p:cNvSpPr/>
          <p:nvPr/>
        </p:nvSpPr>
        <p:spPr>
          <a:xfrm>
            <a:off x="9777222" y="2629471"/>
            <a:ext cx="672084" cy="560070"/>
          </a:xfrm>
          <a:prstGeom prst="roundRect">
            <a:avLst/>
          </a:prstGeom>
          <a:solidFill>
            <a:srgbClr val="EAF5FA"/>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Hospital motivation: agent / 4"/>
          <p:cNvCxnSpPr/>
          <p:nvPr/>
        </p:nvCxnSpPr>
        <p:spPr>
          <a:xfrm>
            <a:off x="9693211"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Hospital motivation: agent / 5"/>
          <p:cNvCxnSpPr/>
          <p:nvPr/>
        </p:nvCxnSpPr>
        <p:spPr>
          <a:xfrm>
            <a:off x="10533316"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0" name="Hospital motivation: agent / 6"/>
          <p:cNvSpPr/>
          <p:nvPr/>
        </p:nvSpPr>
        <p:spPr>
          <a:xfrm>
            <a:off x="9917239"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Hospital motivation: agent / 7"/>
          <p:cNvSpPr/>
          <p:nvPr/>
        </p:nvSpPr>
        <p:spPr>
          <a:xfrm>
            <a:off x="10225278"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Hospital motivation: agent / 8"/>
          <p:cNvCxnSpPr/>
          <p:nvPr/>
        </p:nvCxnSpPr>
        <p:spPr>
          <a:xfrm>
            <a:off x="9973246" y="3049524"/>
            <a:ext cx="280035" cy="0"/>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887968" y="3712463"/>
            <a:ext cx="2468880" cy="594360"/>
          </a:xfrm>
          <a:prstGeom prst="rect">
            <a:avLst/>
          </a:prstGeom>
          <a:noFill/>
        </p:spPr>
        <p:txBody>
          <a:bodyPr wrap="square" lIns="18288" rIns="18288" tIns="18288" bIns="18288" anchor="t">
            <a:spAutoFit/>
          </a:bodyPr>
          <a:lstStyle/>
          <a:p>
            <a:pPr algn="ctr"/>
            <a:r>
              <a:rPr sz="1250" b="0" lang="en-US">
                <a:solidFill>
                  <a:srgbClr val="434343"/>
                </a:solidFill>
                <a:latin typeface="Arial"/>
              </a:rPr>
              <a:t>Physician accesses the model
through an AI assistant</a:t>
            </a:r>
          </a:p>
        </p:txBody>
      </p:sp>
      <p:sp>
        <p:nvSpPr>
          <p:cNvPr id="74" name="Rectangle 73"/>
          <p:cNvSpPr/>
          <p:nvPr/>
        </p:nvSpPr>
        <p:spPr>
          <a:xfrm>
            <a:off x="731520" y="4846320"/>
            <a:ext cx="10762488" cy="658368"/>
          </a:xfrm>
          <a:prstGeom prst="rect">
            <a:avLst/>
          </a:prstGeom>
          <a:solidFill>
            <a:srgbClr val="FFFFFF"/>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846320"/>
            <a:ext cx="68580" cy="658368"/>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0976" y="5020056"/>
            <a:ext cx="10222992" cy="292608"/>
          </a:xfrm>
          <a:prstGeom prst="rect">
            <a:avLst/>
          </a:prstGeom>
          <a:noFill/>
        </p:spPr>
        <p:txBody>
          <a:bodyPr wrap="square" lIns="18288" rIns="18288" tIns="18288" bIns="18288" anchor="t">
            <a:spAutoFit/>
          </a:bodyPr>
          <a:lstStyle/>
          <a:p>
            <a:pPr algn="ctr"/>
            <a:r>
              <a:rPr sz="1700" b="1" lang="en-US">
                <a:solidFill>
                  <a:srgbClr val="434343"/>
                </a:solidFill>
                <a:latin typeface="Arial"/>
              </a:rPr>
              <a:t>Shared control during training. Evidence for each prediction.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Prior work: system coverage and verification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EXISTING LIFECYCLE LINKS · DIFFERENT EVIDENCE AND TRUST ASSUMPTIONS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49808" y="1380744"/>
            <a:ext cx="2194560" cy="246888"/>
          </a:xfrm>
          <a:prstGeom prst="rect">
            <a:avLst/>
          </a:prstGeom>
          <a:noFill/>
        </p:spPr>
        <p:txBody>
          <a:bodyPr wrap="square" lIns="18288" rIns="18288" tIns="18288" bIns="18288" anchor="t">
            <a:spAutoFit/>
          </a:bodyPr>
          <a:lstStyle/>
          <a:p>
            <a:pPr algn="l"/>
            <a:r>
              <a:rPr sz="1200" b="1" lang="en-US">
                <a:solidFill>
                  <a:srgbClr val="434343"/>
                </a:solidFill>
                <a:latin typeface="Arial"/>
              </a:rPr>
              <a:t>WORK</a:t>
            </a:r>
          </a:p>
        </p:txBody>
      </p:sp>
      <p:sp>
        <p:nvSpPr>
          <p:cNvPr id="14" name="TextBox 13"/>
          <p:cNvSpPr txBox="1"/>
          <p:nvPr/>
        </p:nvSpPr>
        <p:spPr>
          <a:xfrm>
            <a:off x="3063240" y="1380744"/>
            <a:ext cx="4453128"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SYSTEM COVERAGE</a:t>
            </a:r>
          </a:p>
        </p:txBody>
      </p:sp>
      <p:sp>
        <p:nvSpPr>
          <p:cNvPr id="15" name="TextBox 14"/>
          <p:cNvSpPr txBox="1"/>
          <p:nvPr/>
        </p:nvSpPr>
        <p:spPr>
          <a:xfrm>
            <a:off x="7626096" y="1380744"/>
            <a:ext cx="3877056"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VERIFICATION MECHANISMS</a:t>
            </a:r>
          </a:p>
        </p:txBody>
      </p:sp>
      <p:sp>
        <p:nvSpPr>
          <p:cNvPr id="16" name="TextBox 15"/>
          <p:cNvSpPr txBox="1"/>
          <p:nvPr/>
        </p:nvSpPr>
        <p:spPr>
          <a:xfrm>
            <a:off x="3012948" y="1892807"/>
            <a:ext cx="1033272" cy="402336"/>
          </a:xfrm>
          <a:prstGeom prst="rect">
            <a:avLst/>
          </a:prstGeom>
          <a:noFill/>
        </p:spPr>
        <p:txBody>
          <a:bodyPr wrap="square" lIns="0" rIns="0" tIns="0" bIns="0" anchor="ctr">
            <a:spAutoFit/>
          </a:bodyPr>
          <a:lstStyle/>
          <a:p>
            <a:pPr algn="ctr"/>
            <a:r>
              <a:rPr sz="1150" b="1" lang="en-US">
                <a:solidFill>
                  <a:srgbClr val="2F8F46"/>
                </a:solidFill>
                <a:latin typeface="Arial"/>
              </a:rPr>
              <a:t>DFL</a:t>
            </a:r>
          </a:p>
        </p:txBody>
      </p:sp>
      <p:sp>
        <p:nvSpPr>
          <p:cNvPr id="17" name="TextBox 16"/>
          <p:cNvSpPr txBox="1"/>
          <p:nvPr/>
        </p:nvSpPr>
        <p:spPr>
          <a:xfrm>
            <a:off x="4110228" y="1892807"/>
            <a:ext cx="1106424" cy="402336"/>
          </a:xfrm>
          <a:prstGeom prst="rect">
            <a:avLst/>
          </a:prstGeom>
          <a:noFill/>
        </p:spPr>
        <p:txBody>
          <a:bodyPr wrap="square" lIns="0" rIns="0" tIns="0" bIns="0" anchor="ctr">
            <a:spAutoFit/>
          </a:bodyPr>
          <a:lstStyle/>
          <a:p>
            <a:pPr algn="ctr"/>
            <a:r>
              <a:rPr sz="1150" b="1" lang="en-US">
                <a:solidFill>
                  <a:srgbClr val="1F90CC"/>
                </a:solidFill>
                <a:latin typeface="Arial"/>
              </a:rPr>
              <a:t>Inference</a:t>
            </a:r>
          </a:p>
        </p:txBody>
      </p:sp>
      <p:sp>
        <p:nvSpPr>
          <p:cNvPr id="18" name="TextBox 17"/>
          <p:cNvSpPr txBox="1"/>
          <p:nvPr/>
        </p:nvSpPr>
        <p:spPr>
          <a:xfrm>
            <a:off x="5280660" y="1892807"/>
            <a:ext cx="905256" cy="402336"/>
          </a:xfrm>
          <a:prstGeom prst="rect">
            <a:avLst/>
          </a:prstGeom>
          <a:noFill/>
        </p:spPr>
        <p:txBody>
          <a:bodyPr wrap="square" lIns="0" rIns="0" tIns="0" bIns="0" anchor="ctr">
            <a:spAutoFit/>
          </a:bodyPr>
          <a:lstStyle/>
          <a:p>
            <a:pPr algn="ctr"/>
            <a:r>
              <a:rPr sz="1150" b="1" lang="en-US">
                <a:solidFill>
                  <a:srgbClr val="FF6C00"/>
                </a:solidFill>
                <a:latin typeface="Arial"/>
              </a:rPr>
              <a:t>Agent</a:t>
            </a:r>
          </a:p>
        </p:txBody>
      </p:sp>
      <p:sp>
        <p:nvSpPr>
          <p:cNvPr id="19" name="TextBox 18"/>
          <p:cNvSpPr txBox="1"/>
          <p:nvPr/>
        </p:nvSpPr>
        <p:spPr>
          <a:xfrm>
            <a:off x="6249924" y="1892807"/>
            <a:ext cx="1316736" cy="402336"/>
          </a:xfrm>
          <a:prstGeom prst="rect">
            <a:avLst/>
          </a:prstGeom>
          <a:noFill/>
        </p:spPr>
        <p:txBody>
          <a:bodyPr wrap="square" lIns="0" rIns="0" tIns="0" bIns="0" anchor="ctr">
            <a:spAutoFit/>
          </a:bodyPr>
          <a:lstStyle/>
          <a:p>
            <a:pPr algn="ctr"/>
            <a:r>
              <a:rPr sz="1150" b="1" lang="en-US">
                <a:solidFill>
                  <a:srgbClr val="7A35B5"/>
                </a:solidFill>
                <a:latin typeface="Arial"/>
              </a:rPr>
              <a:t>Transparency
Log</a:t>
            </a:r>
          </a:p>
        </p:txBody>
      </p:sp>
      <p:sp>
        <p:nvSpPr>
          <p:cNvPr id="20" name="TextBox 19"/>
          <p:cNvSpPr txBox="1"/>
          <p:nvPr/>
        </p:nvSpPr>
        <p:spPr>
          <a:xfrm>
            <a:off x="9125712" y="1627632"/>
            <a:ext cx="2404872" cy="246888"/>
          </a:xfrm>
          <a:prstGeom prst="rect">
            <a:avLst/>
          </a:prstGeom>
          <a:noFill/>
        </p:spPr>
        <p:txBody>
          <a:bodyPr wrap="square" lIns="18288" rIns="18288" tIns="18288" bIns="18288" anchor="t">
            <a:spAutoFit/>
          </a:bodyPr>
          <a:lstStyle/>
          <a:p>
            <a:pPr algn="ctr"/>
            <a:r>
              <a:rPr sz="1150" b="1" lang="en-US">
                <a:solidFill>
                  <a:srgbClr val="434343"/>
                </a:solidFill>
                <a:latin typeface="Arial"/>
              </a:rPr>
              <a:t>Remote attestation</a:t>
            </a:r>
          </a:p>
        </p:txBody>
      </p:sp>
      <p:cxnSp>
        <p:nvCxnSpPr>
          <p:cNvPr id="21" name="Connector 20"/>
          <p:cNvCxnSpPr/>
          <p:nvPr/>
        </p:nvCxnSpPr>
        <p:spPr>
          <a:xfrm>
            <a:off x="9253728" y="1883664"/>
            <a:ext cx="2139696" cy="0"/>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253728"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93424"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35823" y="1938528"/>
            <a:ext cx="566928" cy="384048"/>
          </a:xfrm>
          <a:prstGeom prst="rect">
            <a:avLst/>
          </a:prstGeom>
          <a:noFill/>
        </p:spPr>
        <p:txBody>
          <a:bodyPr wrap="square" lIns="0" rIns="0" tIns="0" bIns="0" anchor="ctr">
            <a:spAutoFit/>
          </a:bodyPr>
          <a:lstStyle/>
          <a:p>
            <a:pPr algn="ctr"/>
            <a:r>
              <a:rPr sz="1130" b="1" lang="en-US">
                <a:solidFill>
                  <a:srgbClr val="434343"/>
                </a:solidFill>
                <a:latin typeface="Arial"/>
              </a:rPr>
              <a:t>ZKP</a:t>
            </a:r>
          </a:p>
        </p:txBody>
      </p:sp>
      <p:sp>
        <p:nvSpPr>
          <p:cNvPr id="25" name="TextBox 24"/>
          <p:cNvSpPr txBox="1"/>
          <p:nvPr/>
        </p:nvSpPr>
        <p:spPr>
          <a:xfrm>
            <a:off x="8398764" y="1938528"/>
            <a:ext cx="557784" cy="384048"/>
          </a:xfrm>
          <a:prstGeom prst="rect">
            <a:avLst/>
          </a:prstGeom>
          <a:noFill/>
        </p:spPr>
        <p:txBody>
          <a:bodyPr wrap="square" lIns="0" rIns="0" tIns="0" bIns="0" anchor="ctr">
            <a:spAutoFit/>
          </a:bodyPr>
          <a:lstStyle/>
          <a:p>
            <a:pPr algn="ctr"/>
            <a:r>
              <a:rPr sz="1130" b="1" lang="en-US">
                <a:solidFill>
                  <a:srgbClr val="434343"/>
                </a:solidFill>
                <a:latin typeface="Arial"/>
              </a:rPr>
              <a:t>TEE</a:t>
            </a:r>
          </a:p>
        </p:txBody>
      </p:sp>
      <p:sp>
        <p:nvSpPr>
          <p:cNvPr id="26" name="TextBox 25"/>
          <p:cNvSpPr txBox="1"/>
          <p:nvPr/>
        </p:nvSpPr>
        <p:spPr>
          <a:xfrm>
            <a:off x="9144000" y="1938528"/>
            <a:ext cx="1115568" cy="384048"/>
          </a:xfrm>
          <a:prstGeom prst="rect">
            <a:avLst/>
          </a:prstGeom>
          <a:noFill/>
        </p:spPr>
        <p:txBody>
          <a:bodyPr wrap="square" lIns="0" rIns="0" tIns="0" bIns="0" anchor="ctr">
            <a:spAutoFit/>
          </a:bodyPr>
          <a:lstStyle/>
          <a:p>
            <a:pPr algn="ctr"/>
            <a:r>
              <a:rPr sz="1130" b="1" lang="en-US">
                <a:solidFill>
                  <a:srgbClr val="434343"/>
                </a:solidFill>
                <a:latin typeface="Arial"/>
              </a:rPr>
              <a:t>Quote
verification</a:t>
            </a:r>
          </a:p>
        </p:txBody>
      </p:sp>
      <p:sp>
        <p:nvSpPr>
          <p:cNvPr id="27" name="TextBox 26"/>
          <p:cNvSpPr txBox="1"/>
          <p:nvPr/>
        </p:nvSpPr>
        <p:spPr>
          <a:xfrm>
            <a:off x="10479024" y="1938528"/>
            <a:ext cx="987552" cy="384048"/>
          </a:xfrm>
          <a:prstGeom prst="rect">
            <a:avLst/>
          </a:prstGeom>
          <a:noFill/>
        </p:spPr>
        <p:txBody>
          <a:bodyPr wrap="square" lIns="0" rIns="0" tIns="0" bIns="0" anchor="ctr">
            <a:spAutoFit/>
          </a:bodyPr>
          <a:lstStyle/>
          <a:p>
            <a:pPr algn="ctr"/>
            <a:r>
              <a:rPr sz="1130" b="1" lang="en-US">
                <a:solidFill>
                  <a:srgbClr val="434343"/>
                </a:solidFill>
                <a:latin typeface="Arial"/>
              </a:rPr>
              <a:t>RTMR3
replay</a:t>
            </a:r>
          </a:p>
        </p:txBody>
      </p:sp>
      <p:sp>
        <p:nvSpPr>
          <p:cNvPr id="28" name="Rectangle 27"/>
          <p:cNvSpPr/>
          <p:nvPr/>
        </p:nvSpPr>
        <p:spPr>
          <a:xfrm>
            <a:off x="640080" y="2368296"/>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2372868"/>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2"/>
              </a:rPr>
              <a:t>Lee, Heiss et al. · 2024</a:t>
            </a:r>
          </a:p>
        </p:txBody>
      </p:sp>
      <p:sp>
        <p:nvSpPr>
          <p:cNvPr id="30" name="Literature: Lee, Heiss et al. · 2024: DFL"/>
          <p:cNvSpPr/>
          <p:nvPr/>
        </p:nvSpPr>
        <p:spPr>
          <a:xfrm>
            <a:off x="3063240" y="2379726"/>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63240" y="2379726"/>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32" name="Connector 31"/>
          <p:cNvCxnSpPr/>
          <p:nvPr/>
        </p:nvCxnSpPr>
        <p:spPr>
          <a:xfrm>
            <a:off x="4599431"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669280"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44283"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944307" y="242133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613648"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37776"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908792"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40080" y="2638044"/>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 y="264261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3"/>
              </a:rPr>
              <a:t>Ebrahimi et al. · 2024</a:t>
            </a:r>
          </a:p>
        </p:txBody>
      </p:sp>
      <p:sp>
        <p:nvSpPr>
          <p:cNvPr id="41" name="Literature: Ebrahimi et al. · 2024: DFL"/>
          <p:cNvSpPr/>
          <p:nvPr/>
        </p:nvSpPr>
        <p:spPr>
          <a:xfrm>
            <a:off x="3063240" y="2649474"/>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63240" y="2649474"/>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43" name="Connector 42"/>
          <p:cNvCxnSpPr/>
          <p:nvPr/>
        </p:nvCxnSpPr>
        <p:spPr>
          <a:xfrm>
            <a:off x="4599431"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844283"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7944307" y="2691079"/>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613648"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37776"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908792"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40080" y="2907791"/>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 y="291236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4"/>
              </a:rPr>
              <a:t>Voltran · 2024</a:t>
            </a:r>
          </a:p>
        </p:txBody>
      </p:sp>
      <p:sp>
        <p:nvSpPr>
          <p:cNvPr id="52" name="Literature: Voltran · 2024: Aggregate"/>
          <p:cNvSpPr/>
          <p:nvPr/>
        </p:nvSpPr>
        <p:spPr>
          <a:xfrm>
            <a:off x="3063240" y="2919222"/>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063240" y="2919222"/>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Aggregate</a:t>
            </a:r>
          </a:p>
        </p:txBody>
      </p:sp>
      <p:cxnSp>
        <p:nvCxnSpPr>
          <p:cNvPr id="54" name="Connector 53"/>
          <p:cNvCxnSpPr/>
          <p:nvPr/>
        </p:nvCxnSpPr>
        <p:spPr>
          <a:xfrm>
            <a:off x="4599431"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844283"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955279"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8602675" y="29608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62288" y="291236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SGX RA</a:t>
            </a:r>
          </a:p>
        </p:txBody>
      </p:sp>
      <p:cxnSp>
        <p:nvCxnSpPr>
          <p:cNvPr id="60" name="Connector 59"/>
          <p:cNvCxnSpPr/>
          <p:nvPr/>
        </p:nvCxnSpPr>
        <p:spPr>
          <a:xfrm>
            <a:off x="10908792"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40080" y="3177539"/>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3182111"/>
            <a:ext cx="2221992" cy="246888"/>
          </a:xfrm>
          <a:prstGeom prst="rect">
            <a:avLst/>
          </a:prstGeom>
          <a:noFill/>
        </p:spPr>
        <p:txBody>
          <a:bodyPr wrap="square" lIns="0" rIns="0" tIns="0" bIns="0" anchor="ctr">
            <a:spAutoFit/>
          </a:bodyPr>
          <a:lstStyle/>
          <a:p>
            <a:pPr algn="l"/>
            <a:r>
              <a:rPr sz="1140" b="0" lang="en-US">
                <a:solidFill>
                  <a:srgbClr val="434343"/>
                </a:solidFill>
                <a:latin typeface="Arial"/>
              </a:rPr>
              <a:t>Hartmann · 2024</a:t>
            </a:r>
          </a:p>
        </p:txBody>
      </p:sp>
      <p:sp>
        <p:nvSpPr>
          <p:cNvPr id="63" name="Literature: Hartmann · 2024: DFL"/>
          <p:cNvSpPr/>
          <p:nvPr/>
        </p:nvSpPr>
        <p:spPr>
          <a:xfrm>
            <a:off x="3063240" y="3188970"/>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063240" y="3188970"/>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65" name="Connector 64"/>
          <p:cNvCxnSpPr/>
          <p:nvPr/>
        </p:nvCxnSpPr>
        <p:spPr>
          <a:xfrm>
            <a:off x="4599431"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669280"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844283"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944307"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602675"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2288" y="3182111"/>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Simulated</a:t>
            </a:r>
          </a:p>
        </p:txBody>
      </p:sp>
      <p:cxnSp>
        <p:nvCxnSpPr>
          <p:cNvPr id="71" name="Connector 70"/>
          <p:cNvCxnSpPr/>
          <p:nvPr/>
        </p:nvCxnSpPr>
        <p:spPr>
          <a:xfrm>
            <a:off x="10908792"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640080" y="3447287"/>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8952" y="345185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5"/>
              </a:rPr>
              <a:t>ZKML · 2024</a:t>
            </a:r>
          </a:p>
        </p:txBody>
      </p:sp>
      <p:cxnSp>
        <p:nvCxnSpPr>
          <p:cNvPr id="74" name="Connector 73"/>
          <p:cNvCxnSpPr/>
          <p:nvPr/>
        </p:nvCxnSpPr>
        <p:spPr>
          <a:xfrm>
            <a:off x="34655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5" name="Literature: ZKML · 2024: Inference"/>
          <p:cNvSpPr/>
          <p:nvPr/>
        </p:nvSpPr>
        <p:spPr>
          <a:xfrm>
            <a:off x="4160520" y="3458718"/>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60520" y="3458718"/>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cxnSp>
        <p:nvCxnSpPr>
          <p:cNvPr id="77" name="Connector 76"/>
          <p:cNvCxnSpPr/>
          <p:nvPr/>
        </p:nvCxnSpPr>
        <p:spPr>
          <a:xfrm>
            <a:off x="5669280"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844283" y="357530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944307" y="3500323"/>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8613648"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6377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908792"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640080" y="3717035"/>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58952" y="3721607"/>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6"/>
              </a:rPr>
              <a:t>ZkAudit · 2024</a:t>
            </a:r>
          </a:p>
        </p:txBody>
      </p:sp>
      <p:cxnSp>
        <p:nvCxnSpPr>
          <p:cNvPr id="85" name="Connector 84"/>
          <p:cNvCxnSpPr/>
          <p:nvPr/>
        </p:nvCxnSpPr>
        <p:spPr>
          <a:xfrm>
            <a:off x="34655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6" name="Literature: ZkAudit · 2024: Audits"/>
          <p:cNvSpPr/>
          <p:nvPr/>
        </p:nvSpPr>
        <p:spPr>
          <a:xfrm>
            <a:off x="4160520" y="3728465"/>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160520" y="372846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Audits</a:t>
            </a:r>
          </a:p>
        </p:txBody>
      </p:sp>
      <p:cxnSp>
        <p:nvCxnSpPr>
          <p:cNvPr id="88" name="Connector 87"/>
          <p:cNvCxnSpPr/>
          <p:nvPr/>
        </p:nvCxnSpPr>
        <p:spPr>
          <a:xfrm>
            <a:off x="5669280"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844283" y="384505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7944307" y="377007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8613648"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377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908792"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640080" y="3986783"/>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58952" y="399135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7"/>
              </a:rPr>
              <a:t>Balan et al. · 2025</a:t>
            </a:r>
          </a:p>
        </p:txBody>
      </p:sp>
      <p:cxnSp>
        <p:nvCxnSpPr>
          <p:cNvPr id="96" name="Connector 95"/>
          <p:cNvCxnSpPr/>
          <p:nvPr/>
        </p:nvCxnSpPr>
        <p:spPr>
          <a:xfrm>
            <a:off x="4009644" y="4114799"/>
            <a:ext cx="137160" cy="0"/>
          </a:xfrm>
          <a:prstGeom prst="line">
            <a:avLst/>
          </a:prstGeom>
          <a:ln w="15240">
            <a:solidFill>
              <a:srgbClr val="43434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7" name="Literature: Balan et al. · 2025: DFL"/>
          <p:cNvSpPr/>
          <p:nvPr/>
        </p:nvSpPr>
        <p:spPr>
          <a:xfrm>
            <a:off x="3063240" y="3998213"/>
            <a:ext cx="932688" cy="233172"/>
          </a:xfrm>
          <a:prstGeom prst="roundRect">
            <a:avLst/>
          </a:prstGeom>
          <a:solidFill>
            <a:srgbClr val="FFFFFF"/>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063240" y="3998213"/>
            <a:ext cx="932688" cy="233172"/>
          </a:xfrm>
          <a:prstGeom prst="rect">
            <a:avLst/>
          </a:prstGeom>
          <a:noFill/>
        </p:spPr>
        <p:txBody>
          <a:bodyPr wrap="square" lIns="0" rIns="0" tIns="0" bIns="0" anchor="ctr">
            <a:spAutoFit/>
          </a:bodyPr>
          <a:lstStyle/>
          <a:p>
            <a:pPr algn="ctr"/>
            <a:r>
              <a:rPr sz="1080" b="1" lang="en-US">
                <a:solidFill>
                  <a:srgbClr val="2F8F46"/>
                </a:solidFill>
                <a:latin typeface="Arial"/>
              </a:rPr>
              <a:t>DFL</a:t>
            </a:r>
          </a:p>
        </p:txBody>
      </p:sp>
      <p:sp>
        <p:nvSpPr>
          <p:cNvPr id="99" name="Literature: Balan et al. · 2025: Inference"/>
          <p:cNvSpPr/>
          <p:nvPr/>
        </p:nvSpPr>
        <p:spPr>
          <a:xfrm>
            <a:off x="4160520" y="3998213"/>
            <a:ext cx="1005840" cy="233172"/>
          </a:xfrm>
          <a:prstGeom prst="roundRect">
            <a:avLst/>
          </a:prstGeom>
          <a:solidFill>
            <a:srgbClr val="FFFFFF"/>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160520" y="3998213"/>
            <a:ext cx="1005840" cy="233172"/>
          </a:xfrm>
          <a:prstGeom prst="rect">
            <a:avLst/>
          </a:prstGeom>
          <a:noFill/>
        </p:spPr>
        <p:txBody>
          <a:bodyPr wrap="square" lIns="0" rIns="0" tIns="0" bIns="0" anchor="ctr">
            <a:spAutoFit/>
          </a:bodyPr>
          <a:lstStyle/>
          <a:p>
            <a:pPr algn="ctr"/>
            <a:r>
              <a:rPr sz="1080" b="1" lang="en-US">
                <a:solidFill>
                  <a:srgbClr val="1F90CC"/>
                </a:solidFill>
                <a:latin typeface="Arial"/>
              </a:rPr>
              <a:t>Inference</a:t>
            </a:r>
          </a:p>
        </p:txBody>
      </p:sp>
      <p:cxnSp>
        <p:nvCxnSpPr>
          <p:cNvPr id="101" name="Connector 100"/>
          <p:cNvCxnSpPr/>
          <p:nvPr/>
        </p:nvCxnSpPr>
        <p:spPr>
          <a:xfrm>
            <a:off x="5669280"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844283" y="4114799"/>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7944307"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602675"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9637776"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908792"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7" name="Rectangle 106"/>
          <p:cNvSpPr/>
          <p:nvPr/>
        </p:nvSpPr>
        <p:spPr>
          <a:xfrm>
            <a:off x="640080" y="4256531"/>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58952" y="426110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8"/>
              </a:rPr>
              <a:t>AIR-02 · draft + demo</a:t>
            </a:r>
          </a:p>
        </p:txBody>
      </p:sp>
      <p:cxnSp>
        <p:nvCxnSpPr>
          <p:cNvPr id="109" name="Connector 108"/>
          <p:cNvCxnSpPr/>
          <p:nvPr/>
        </p:nvCxnSpPr>
        <p:spPr>
          <a:xfrm>
            <a:off x="3465576"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0" name="Literature: AIR-02 · draft + demo: Receipts"/>
          <p:cNvSpPr/>
          <p:nvPr/>
        </p:nvSpPr>
        <p:spPr>
          <a:xfrm>
            <a:off x="4160520" y="4267962"/>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160520" y="4267962"/>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12" name="Connector 111"/>
          <p:cNvCxnSpPr/>
          <p:nvPr/>
        </p:nvCxnSpPr>
        <p:spPr>
          <a:xfrm>
            <a:off x="5669280"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844283"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955279"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5" name="Oval 114"/>
          <p:cNvSpPr/>
          <p:nvPr/>
        </p:nvSpPr>
        <p:spPr>
          <a:xfrm>
            <a:off x="8602675" y="430956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62288" y="426110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Platform RA</a:t>
            </a:r>
          </a:p>
        </p:txBody>
      </p:sp>
      <p:cxnSp>
        <p:nvCxnSpPr>
          <p:cNvPr id="117" name="Connector 116"/>
          <p:cNvCxnSpPr/>
          <p:nvPr/>
        </p:nvCxnSpPr>
        <p:spPr>
          <a:xfrm>
            <a:off x="10908792"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8" name="Rectangle 117"/>
          <p:cNvSpPr/>
          <p:nvPr/>
        </p:nvSpPr>
        <p:spPr>
          <a:xfrm>
            <a:off x="640080" y="4526279"/>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58952" y="4530851"/>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9"/>
              </a:rPr>
              <a:t>VET · 2025</a:t>
            </a:r>
          </a:p>
        </p:txBody>
      </p:sp>
      <p:cxnSp>
        <p:nvCxnSpPr>
          <p:cNvPr id="120" name="Connector 119"/>
          <p:cNvCxnSpPr/>
          <p:nvPr/>
        </p:nvCxnSpPr>
        <p:spPr>
          <a:xfrm>
            <a:off x="5180076" y="4654295"/>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4655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2" name="Literature: VET · 2025: API trace"/>
          <p:cNvSpPr/>
          <p:nvPr/>
        </p:nvSpPr>
        <p:spPr>
          <a:xfrm>
            <a:off x="4160520" y="4537709"/>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160520" y="4537709"/>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API trace</a:t>
            </a:r>
          </a:p>
        </p:txBody>
      </p:sp>
      <p:sp>
        <p:nvSpPr>
          <p:cNvPr id="124" name="Literature: VET · 2025: Agent"/>
          <p:cNvSpPr/>
          <p:nvPr/>
        </p:nvSpPr>
        <p:spPr>
          <a:xfrm>
            <a:off x="5330952" y="4537709"/>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330952" y="4537709"/>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cxnSp>
        <p:nvCxnSpPr>
          <p:cNvPr id="126" name="Connector 125"/>
          <p:cNvCxnSpPr/>
          <p:nvPr/>
        </p:nvCxnSpPr>
        <p:spPr>
          <a:xfrm>
            <a:off x="6844283" y="4654295"/>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7" name="Oval 126"/>
          <p:cNvSpPr/>
          <p:nvPr/>
        </p:nvSpPr>
        <p:spPr>
          <a:xfrm>
            <a:off x="7944307"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602675"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Connector 128"/>
          <p:cNvCxnSpPr/>
          <p:nvPr/>
        </p:nvCxnSpPr>
        <p:spPr>
          <a:xfrm>
            <a:off x="96377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908792"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1" name="Rectangle 130"/>
          <p:cNvSpPr/>
          <p:nvPr/>
        </p:nvSpPr>
        <p:spPr>
          <a:xfrm>
            <a:off x="640080" y="4796027"/>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758952" y="480059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10"/>
              </a:rPr>
              <a:t>Sello · 2026</a:t>
            </a:r>
          </a:p>
        </p:txBody>
      </p:sp>
      <p:cxnSp>
        <p:nvCxnSpPr>
          <p:cNvPr id="133" name="Connector 132"/>
          <p:cNvCxnSpPr/>
          <p:nvPr/>
        </p:nvCxnSpPr>
        <p:spPr>
          <a:xfrm>
            <a:off x="6149340" y="4924043"/>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34655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599431"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6" name="Literature: Sello · 2026: Tools"/>
          <p:cNvSpPr/>
          <p:nvPr/>
        </p:nvSpPr>
        <p:spPr>
          <a:xfrm>
            <a:off x="5330952" y="4807457"/>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330952" y="4807457"/>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Tools</a:t>
            </a:r>
          </a:p>
        </p:txBody>
      </p:sp>
      <p:sp>
        <p:nvSpPr>
          <p:cNvPr id="138" name="Literature: Sello · 2026: Receipts"/>
          <p:cNvSpPr/>
          <p:nvPr/>
        </p:nvSpPr>
        <p:spPr>
          <a:xfrm>
            <a:off x="6300216" y="4807457"/>
            <a:ext cx="1216152" cy="233172"/>
          </a:xfrm>
          <a:prstGeom prst="roundRect">
            <a:avLst/>
          </a:prstGeom>
          <a:solidFill>
            <a:srgbClr val="7A35B5"/>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6300216" y="4807457"/>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40" name="Connector 139"/>
          <p:cNvCxnSpPr/>
          <p:nvPr/>
        </p:nvCxnSpPr>
        <p:spPr>
          <a:xfrm>
            <a:off x="7955279"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8613648"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6377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908792"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44" name="Rectangle 143"/>
          <p:cNvSpPr/>
          <p:nvPr/>
        </p:nvSpPr>
        <p:spPr>
          <a:xfrm>
            <a:off x="640080" y="5065775"/>
            <a:ext cx="10917936" cy="256032"/>
          </a:xfrm>
          <a:prstGeom prst="rect">
            <a:avLst/>
          </a:prstGeom>
          <a:solidFill>
            <a:srgbClr val="FBEAEC"/>
          </a:solidFill>
          <a:ln>
            <a:solidFill>
              <a:srgbClr val="FB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40080" y="5065775"/>
            <a:ext cx="41148" cy="256032"/>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58952" y="5070347"/>
            <a:ext cx="2221992" cy="246888"/>
          </a:xfrm>
          <a:prstGeom prst="rect">
            <a:avLst/>
          </a:prstGeom>
          <a:noFill/>
        </p:spPr>
        <p:txBody>
          <a:bodyPr wrap="square" lIns="0" rIns="0" tIns="0" bIns="0" anchor="ctr">
            <a:spAutoFit/>
          </a:bodyPr>
          <a:lstStyle/>
          <a:p>
            <a:pPr algn="l"/>
            <a:r>
              <a:rPr sz="1140" b="1" lang="en-US">
                <a:solidFill>
                  <a:srgbClr val="C40D1E"/>
                </a:solidFill>
                <a:latin typeface="Arial"/>
              </a:rPr>
              <a:t>VITA-FL · this thesis</a:t>
            </a:r>
          </a:p>
        </p:txBody>
      </p:sp>
      <p:cxnSp>
        <p:nvCxnSpPr>
          <p:cNvPr id="147" name="Connector 146"/>
          <p:cNvCxnSpPr/>
          <p:nvPr/>
        </p:nvCxnSpPr>
        <p:spPr>
          <a:xfrm>
            <a:off x="4009644"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180076"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6149340"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Literature: VITA-FL · this thesis: DFL"/>
          <p:cNvSpPr/>
          <p:nvPr/>
        </p:nvSpPr>
        <p:spPr>
          <a:xfrm>
            <a:off x="3063240" y="5077205"/>
            <a:ext cx="932688"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063240" y="5077205"/>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sp>
        <p:nvSpPr>
          <p:cNvPr id="152" name="Literature: VITA-FL · this thesis: Inference"/>
          <p:cNvSpPr/>
          <p:nvPr/>
        </p:nvSpPr>
        <p:spPr>
          <a:xfrm>
            <a:off x="4160520" y="5077205"/>
            <a:ext cx="1005840"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160520" y="507720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sp>
        <p:nvSpPr>
          <p:cNvPr id="154" name="Literature: VITA-FL · this thesis: Agent"/>
          <p:cNvSpPr/>
          <p:nvPr/>
        </p:nvSpPr>
        <p:spPr>
          <a:xfrm>
            <a:off x="5330952" y="5077205"/>
            <a:ext cx="80467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330952" y="5077205"/>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sp>
        <p:nvSpPr>
          <p:cNvPr id="156" name="Literature: VITA-FL · this thesis: Receipts"/>
          <p:cNvSpPr/>
          <p:nvPr/>
        </p:nvSpPr>
        <p:spPr>
          <a:xfrm>
            <a:off x="6300216" y="5077205"/>
            <a:ext cx="121615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300216" y="5077205"/>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58" name="Connector 157"/>
          <p:cNvCxnSpPr/>
          <p:nvPr/>
        </p:nvCxnSpPr>
        <p:spPr>
          <a:xfrm>
            <a:off x="7955279" y="519379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59" name="Oval 158"/>
          <p:cNvSpPr/>
          <p:nvPr/>
        </p:nvSpPr>
        <p:spPr>
          <a:xfrm>
            <a:off x="8602675"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9626803"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0897819"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2192731" y="54754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432304" y="5413248"/>
            <a:ext cx="1325880" cy="274320"/>
          </a:xfrm>
          <a:prstGeom prst="rect">
            <a:avLst/>
          </a:prstGeom>
          <a:noFill/>
        </p:spPr>
        <p:txBody>
          <a:bodyPr wrap="square" lIns="0" rIns="0" tIns="0" bIns="0" anchor="ctr">
            <a:spAutoFit/>
          </a:bodyPr>
          <a:lstStyle/>
          <a:p>
            <a:pPr algn="l"/>
            <a:r>
              <a:rPr sz="1150" b="0" lang="en-US">
                <a:solidFill>
                  <a:srgbClr val="434343"/>
                </a:solidFill>
                <a:latin typeface="Arial"/>
              </a:rPr>
              <a:t>Implemented</a:t>
            </a:r>
          </a:p>
        </p:txBody>
      </p:sp>
      <p:sp>
        <p:nvSpPr>
          <p:cNvPr id="164" name="Oval 163"/>
          <p:cNvSpPr/>
          <p:nvPr/>
        </p:nvSpPr>
        <p:spPr>
          <a:xfrm>
            <a:off x="4597603" y="5475427"/>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837176" y="5413248"/>
            <a:ext cx="2423160" cy="274320"/>
          </a:xfrm>
          <a:prstGeom prst="rect">
            <a:avLst/>
          </a:prstGeom>
          <a:noFill/>
        </p:spPr>
        <p:txBody>
          <a:bodyPr wrap="square" lIns="0" rIns="0" tIns="0" bIns="0" anchor="ctr">
            <a:spAutoFit/>
          </a:bodyPr>
          <a:lstStyle/>
          <a:p>
            <a:pPr algn="l"/>
            <a:r>
              <a:rPr sz="1150" b="0" lang="en-US">
                <a:solidFill>
                  <a:srgbClr val="434343"/>
                </a:solidFill>
                <a:latin typeface="Arial"/>
              </a:rPr>
              <a:t>Discussed / framework</a:t>
            </a:r>
          </a:p>
        </p:txBody>
      </p:sp>
      <p:cxnSp>
        <p:nvCxnSpPr>
          <p:cNvPr id="166" name="Connector 165"/>
          <p:cNvCxnSpPr/>
          <p:nvPr/>
        </p:nvCxnSpPr>
        <p:spPr>
          <a:xfrm>
            <a:off x="8092440" y="55504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8321040" y="5413248"/>
            <a:ext cx="1600200" cy="274320"/>
          </a:xfrm>
          <a:prstGeom prst="rect">
            <a:avLst/>
          </a:prstGeom>
          <a:noFill/>
        </p:spPr>
        <p:txBody>
          <a:bodyPr wrap="square" lIns="0" rIns="0" tIns="0" bIns="0" anchor="ctr">
            <a:spAutoFit/>
          </a:bodyPr>
          <a:lstStyle/>
          <a:p>
            <a:pPr algn="l"/>
            <a:r>
              <a:rPr sz="1150" b="0" lang="en-US">
                <a:solidFill>
                  <a:srgbClr val="434343"/>
                </a:solidFill>
                <a:latin typeface="Arial"/>
              </a:rPr>
              <a:t>Not described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FL and DFL: who trains, who coordinates?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FEDERATED LEARNING · DECENTRALIZED COORDINATION · ROLES AND RESPONSIBILITIES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694944"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Centrally coordinated FL</a:t>
            </a:r>
          </a:p>
        </p:txBody>
      </p:sp>
      <p:sp>
        <p:nvSpPr>
          <p:cNvPr id="15" name="TextBox 14"/>
          <p:cNvSpPr txBox="1"/>
          <p:nvPr/>
        </p:nvSpPr>
        <p:spPr>
          <a:xfrm>
            <a:off x="868680" y="1901952"/>
            <a:ext cx="4846320" cy="219456"/>
          </a:xfrm>
          <a:prstGeom prst="rect">
            <a:avLst/>
          </a:prstGeom>
          <a:noFill/>
        </p:spPr>
        <p:txBody>
          <a:bodyPr wrap="square" lIns="18288" rIns="18288" tIns="18288" bIns="18288" anchor="t">
            <a:spAutoFit/>
          </a:bodyPr>
          <a:lstStyle/>
          <a:p>
            <a:pPr algn="ctr"/>
            <a:r>
              <a:rPr sz="1150" b="0" lang="en-US">
                <a:solidFill>
                  <a:srgbClr val="434343"/>
                </a:solidFill>
                <a:latin typeface="Arial"/>
              </a:rPr>
              <a:t>Permanent central coordinator</a:t>
            </a:r>
          </a:p>
        </p:txBody>
      </p:sp>
      <p:sp>
        <p:nvSpPr>
          <p:cNvPr id="16" name="Rounded Rectangle 15"/>
          <p:cNvSpPr/>
          <p:nvPr/>
        </p:nvSpPr>
        <p:spPr>
          <a:xfrm>
            <a:off x="6300216"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DFL used in VITA-FL</a:t>
            </a:r>
          </a:p>
        </p:txBody>
      </p:sp>
      <p:sp>
        <p:nvSpPr>
          <p:cNvPr id="18" name="TextBox 17"/>
          <p:cNvSpPr txBox="1"/>
          <p:nvPr/>
        </p:nvSpPr>
        <p:spPr>
          <a:xfrm>
            <a:off x="6473952" y="1901952"/>
            <a:ext cx="4846320" cy="219456"/>
          </a:xfrm>
          <a:prstGeom prst="rect">
            <a:avLst/>
          </a:prstGeom>
          <a:noFill/>
        </p:spPr>
        <p:txBody>
          <a:bodyPr wrap="square" lIns="18288" rIns="18288" tIns="18288" bIns="18288" anchor="t">
            <a:spAutoFit/>
          </a:bodyPr>
          <a:lstStyle/>
          <a:p>
            <a:pPr algn="ctr"/>
            <a:r>
              <a:rPr sz="1250" b="1" lang="en-US">
                <a:solidFill>
                  <a:srgbClr val="434343"/>
                </a:solidFill>
                <a:latin typeface="Arial"/>
              </a:rPr>
              <a:t>Each participant can take the aggregator role</a:t>
            </a:r>
          </a:p>
        </p:txBody>
      </p:sp>
      <p:cxnSp>
        <p:nvCxnSpPr>
          <p:cNvPr id="19" name="Connector 18"/>
          <p:cNvCxnSpPr/>
          <p:nvPr/>
        </p:nvCxnSpPr>
        <p:spPr>
          <a:xfrm flipV="1">
            <a:off x="1528557"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507250"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2988"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50692"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3302493"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81186"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23160" y="2249424"/>
            <a:ext cx="1737360" cy="475488"/>
          </a:xfrm>
          <a:prstGeom prst="roundRect">
            <a:avLst/>
          </a:prstGeom>
          <a:solidFill>
            <a:srgbClr val="FBEAEC"/>
          </a:solidFill>
          <a:ln w="13335">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8024" y="2281428"/>
            <a:ext cx="1627631" cy="393192"/>
          </a:xfrm>
          <a:prstGeom prst="rect">
            <a:avLst/>
          </a:prstGeom>
          <a:noFill/>
        </p:spPr>
        <p:txBody>
          <a:bodyPr wrap="square" lIns="0" rIns="0" tIns="0" bIns="0" anchor="ctr">
            <a:spAutoFit/>
          </a:bodyPr>
          <a:lstStyle/>
          <a:p>
            <a:pPr algn="ctr"/>
            <a:r>
              <a:rPr sz="1100" b="1" lang="en-US">
                <a:solidFill>
                  <a:srgbClr val="C40D1E"/>
                </a:solidFill>
                <a:latin typeface="Arial"/>
              </a:rPr>
              <a:t>Fixed server
Aggregator</a:t>
            </a:r>
          </a:p>
        </p:txBody>
      </p:sp>
      <p:sp>
        <p:nvSpPr>
          <p:cNvPr id="27" name="Rounded Rectangle 26"/>
          <p:cNvSpPr/>
          <p:nvPr/>
        </p:nvSpPr>
        <p:spPr>
          <a:xfrm>
            <a:off x="932688"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A</a:t>
            </a:r>
          </a:p>
        </p:txBody>
      </p:sp>
      <p:sp>
        <p:nvSpPr>
          <p:cNvPr id="29" name="Rounded Rectangle 28"/>
          <p:cNvSpPr/>
          <p:nvPr/>
        </p:nvSpPr>
        <p:spPr>
          <a:xfrm>
            <a:off x="2706624"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61488"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B</a:t>
            </a:r>
          </a:p>
        </p:txBody>
      </p:sp>
      <p:sp>
        <p:nvSpPr>
          <p:cNvPr id="31" name="Rounded Rectangle 30"/>
          <p:cNvSpPr/>
          <p:nvPr/>
        </p:nvSpPr>
        <p:spPr>
          <a:xfrm>
            <a:off x="4480560"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C</a:t>
            </a:r>
          </a:p>
        </p:txBody>
      </p:sp>
      <p:sp>
        <p:nvSpPr>
          <p:cNvPr id="33" name="TextBox 32"/>
          <p:cNvSpPr txBox="1"/>
          <p:nvPr/>
        </p:nvSpPr>
        <p:spPr>
          <a:xfrm>
            <a:off x="6611112"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1</a:t>
            </a:r>
          </a:p>
        </p:txBody>
      </p:sp>
      <p:cxnSp>
        <p:nvCxnSpPr>
          <p:cNvPr id="34" name="Connector 33"/>
          <p:cNvCxnSpPr/>
          <p:nvPr/>
        </p:nvCxnSpPr>
        <p:spPr>
          <a:xfrm flipH="1">
            <a:off x="6912864"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78624" y="2807208"/>
            <a:ext cx="365759"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68312" y="2596896"/>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2596896"/>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A</a:t>
            </a:r>
          </a:p>
        </p:txBody>
      </p:sp>
      <p:sp>
        <p:nvSpPr>
          <p:cNvPr id="38" name="Oval 37"/>
          <p:cNvSpPr/>
          <p:nvPr/>
        </p:nvSpPr>
        <p:spPr>
          <a:xfrm>
            <a:off x="670255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40" name="Oval 39"/>
          <p:cNvSpPr/>
          <p:nvPr/>
        </p:nvSpPr>
        <p:spPr>
          <a:xfrm>
            <a:off x="743407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3407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42" name="TextBox 41"/>
          <p:cNvSpPr txBox="1"/>
          <p:nvPr/>
        </p:nvSpPr>
        <p:spPr>
          <a:xfrm>
            <a:off x="6574536"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A aggregates</a:t>
            </a:r>
          </a:p>
        </p:txBody>
      </p:sp>
      <p:cxnSp>
        <p:nvCxnSpPr>
          <p:cNvPr id="43" name="Connector 42"/>
          <p:cNvCxnSpPr/>
          <p:nvPr/>
        </p:nvCxnSpPr>
        <p:spPr>
          <a:xfrm>
            <a:off x="7909560" y="3017520"/>
            <a:ext cx="347471"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0"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2</a:t>
            </a:r>
          </a:p>
        </p:txBody>
      </p:sp>
      <p:cxnSp>
        <p:nvCxnSpPr>
          <p:cNvPr id="45" name="Connector 44"/>
          <p:cNvCxnSpPr/>
          <p:nvPr/>
        </p:nvCxnSpPr>
        <p:spPr>
          <a:xfrm flipV="1">
            <a:off x="8531352"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531352"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8686800"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0"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49" name="Oval 48"/>
          <p:cNvSpPr/>
          <p:nvPr/>
        </p:nvSpPr>
        <p:spPr>
          <a:xfrm>
            <a:off x="8321040"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B</a:t>
            </a:r>
          </a:p>
        </p:txBody>
      </p:sp>
      <p:sp>
        <p:nvSpPr>
          <p:cNvPr id="51" name="Oval 50"/>
          <p:cNvSpPr/>
          <p:nvPr/>
        </p:nvSpPr>
        <p:spPr>
          <a:xfrm>
            <a:off x="9052560"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0"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53" name="TextBox 52"/>
          <p:cNvSpPr txBox="1"/>
          <p:nvPr/>
        </p:nvSpPr>
        <p:spPr>
          <a:xfrm>
            <a:off x="8193024"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B aggregates</a:t>
            </a:r>
          </a:p>
        </p:txBody>
      </p:sp>
      <p:cxnSp>
        <p:nvCxnSpPr>
          <p:cNvPr id="54" name="Connector 53"/>
          <p:cNvCxnSpPr/>
          <p:nvPr/>
        </p:nvCxnSpPr>
        <p:spPr>
          <a:xfrm>
            <a:off x="9528048" y="3017520"/>
            <a:ext cx="347472"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9848088"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3</a:t>
            </a:r>
          </a:p>
        </p:txBody>
      </p:sp>
      <p:cxnSp>
        <p:nvCxnSpPr>
          <p:cNvPr id="56" name="Connector 55"/>
          <p:cNvCxnSpPr/>
          <p:nvPr/>
        </p:nvCxnSpPr>
        <p:spPr>
          <a:xfrm flipH="1" flipV="1">
            <a:off x="10515600"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149840"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10305288"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305288"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60" name="Oval 59"/>
          <p:cNvSpPr/>
          <p:nvPr/>
        </p:nvSpPr>
        <p:spPr>
          <a:xfrm>
            <a:off x="9939528"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9528"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62" name="Oval 61"/>
          <p:cNvSpPr/>
          <p:nvPr/>
        </p:nvSpPr>
        <p:spPr>
          <a:xfrm>
            <a:off x="10671048"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71048"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C</a:t>
            </a:r>
          </a:p>
        </p:txBody>
      </p:sp>
      <p:sp>
        <p:nvSpPr>
          <p:cNvPr id="64" name="TextBox 63"/>
          <p:cNvSpPr txBox="1"/>
          <p:nvPr/>
        </p:nvSpPr>
        <p:spPr>
          <a:xfrm>
            <a:off x="9811512"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C aggregates</a:t>
            </a:r>
          </a:p>
        </p:txBody>
      </p:sp>
      <p:sp>
        <p:nvSpPr>
          <p:cNvPr id="65" name="TextBox 64"/>
          <p:cNvSpPr txBox="1"/>
          <p:nvPr/>
        </p:nvSpPr>
        <p:spPr>
          <a:xfrm>
            <a:off x="832104" y="4087368"/>
            <a:ext cx="10561320" cy="256032"/>
          </a:xfrm>
          <a:prstGeom prst="rect">
            <a:avLst/>
          </a:prstGeom>
          <a:noFill/>
        </p:spPr>
        <p:txBody>
          <a:bodyPr wrap="square" lIns="18288" rIns="18288" tIns="18288" bIns="18288" anchor="t">
            <a:spAutoFit/>
          </a:bodyPr>
          <a:lstStyle/>
          <a:p>
            <a:pPr algn="ctr"/>
            <a:r>
              <a:rPr sz="1300" b="1" lang="en-US">
                <a:solidFill>
                  <a:srgbClr val="434343"/>
                </a:solidFill>
                <a:latin typeface="Arial"/>
              </a:rPr>
              <a:t>Both keep training records local and exchange model parameters.</a:t>
            </a:r>
          </a:p>
        </p:txBody>
      </p:sp>
      <p:sp>
        <p:nvSpPr>
          <p:cNvPr id="66" name="Rounded Rectangle 65"/>
          <p:cNvSpPr/>
          <p:nvPr/>
        </p:nvSpPr>
        <p:spPr>
          <a:xfrm>
            <a:off x="694944" y="4489704"/>
            <a:ext cx="5193792" cy="1042415"/>
          </a:xfrm>
          <a:prstGeom prst="roundRect">
            <a:avLst/>
          </a:prstGeom>
          <a:solidFill>
            <a:srgbClr val="EAF6ED"/>
          </a:solidFill>
          <a:ln w="101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8680" y="4599432"/>
            <a:ext cx="4837176" cy="192024"/>
          </a:xfrm>
          <a:prstGeom prst="rect">
            <a:avLst/>
          </a:prstGeom>
          <a:noFill/>
        </p:spPr>
        <p:txBody>
          <a:bodyPr wrap="square" lIns="18288" rIns="18288" tIns="18288" bIns="18288" anchor="t">
            <a:spAutoFit/>
          </a:bodyPr>
          <a:lstStyle/>
          <a:p>
            <a:pPr algn="l"/>
            <a:r>
              <a:rPr sz="1150" b="1" lang="en-US">
                <a:solidFill>
                  <a:srgbClr val="2F8F46"/>
                </a:solidFill>
                <a:latin typeface="Arial"/>
              </a:rPr>
              <a:t>WORKER · LOCAL TRAINING</a:t>
            </a:r>
          </a:p>
        </p:txBody>
      </p:sp>
      <p:sp>
        <p:nvSpPr>
          <p:cNvPr id="68" name="TextBox 67"/>
          <p:cNvSpPr txBox="1"/>
          <p:nvPr/>
        </p:nvSpPr>
        <p:spPr>
          <a:xfrm>
            <a:off x="868680"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Start from the shared global model.</a:t>
            </a:r>
          </a:p>
        </p:txBody>
      </p:sp>
      <p:sp>
        <p:nvSpPr>
          <p:cNvPr id="69" name="TextBox 68"/>
          <p:cNvSpPr txBox="1"/>
          <p:nvPr/>
        </p:nvSpPr>
        <p:spPr>
          <a:xfrm>
            <a:off x="868680"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Train on local data → local model.</a:t>
            </a:r>
          </a:p>
        </p:txBody>
      </p:sp>
      <p:sp>
        <p:nvSpPr>
          <p:cNvPr id="70" name="TextBox 69"/>
          <p:cNvSpPr txBox="1"/>
          <p:nvPr/>
        </p:nvSpPr>
        <p:spPr>
          <a:xfrm>
            <a:off x="868680"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Submit the local model / parameter update.</a:t>
            </a:r>
          </a:p>
        </p:txBody>
      </p:sp>
      <p:sp>
        <p:nvSpPr>
          <p:cNvPr id="71" name="Rounded Rectangle 70"/>
          <p:cNvSpPr/>
          <p:nvPr/>
        </p:nvSpPr>
        <p:spPr>
          <a:xfrm>
            <a:off x="6300216" y="4489704"/>
            <a:ext cx="5193792" cy="1042415"/>
          </a:xfrm>
          <a:prstGeom prst="round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73952" y="4599432"/>
            <a:ext cx="4837176" cy="192024"/>
          </a:xfrm>
          <a:prstGeom prst="rect">
            <a:avLst/>
          </a:prstGeom>
          <a:noFill/>
        </p:spPr>
        <p:txBody>
          <a:bodyPr wrap="square" lIns="18288" rIns="18288" tIns="18288" bIns="18288" anchor="t">
            <a:spAutoFit/>
          </a:bodyPr>
          <a:lstStyle/>
          <a:p>
            <a:pPr algn="l"/>
            <a:r>
              <a:rPr sz="1150" b="1" lang="en-US">
                <a:solidFill>
                  <a:srgbClr val="C40D1E"/>
                </a:solidFill>
                <a:latin typeface="Arial"/>
              </a:rPr>
              <a:t>AGGREGATOR · SHARED MODEL</a:t>
            </a:r>
          </a:p>
        </p:txBody>
      </p:sp>
      <p:sp>
        <p:nvSpPr>
          <p:cNvPr id="73" name="TextBox 72"/>
          <p:cNvSpPr txBox="1"/>
          <p:nvPr/>
        </p:nvSpPr>
        <p:spPr>
          <a:xfrm>
            <a:off x="6473952"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Collect and check contributions.</a:t>
            </a:r>
          </a:p>
        </p:txBody>
      </p:sp>
      <p:sp>
        <p:nvSpPr>
          <p:cNvPr id="74" name="TextBox 73"/>
          <p:cNvSpPr txBox="1"/>
          <p:nvPr/>
        </p:nvSpPr>
        <p:spPr>
          <a:xfrm>
            <a:off x="6473952"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Combine the accepted local models.</a:t>
            </a:r>
          </a:p>
        </p:txBody>
      </p:sp>
      <p:sp>
        <p:nvSpPr>
          <p:cNvPr id="75" name="TextBox 74"/>
          <p:cNvSpPr txBox="1"/>
          <p:nvPr/>
        </p:nvSpPr>
        <p:spPr>
          <a:xfrm>
            <a:off x="6473952"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Publish the next global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from training to verifiable 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Oval 12"/>
          <p:cNvSpPr/>
          <p:nvPr/>
        </p:nvSpPr>
        <p:spPr>
          <a:xfrm>
            <a:off x="1673352" y="1965960"/>
            <a:ext cx="3163824" cy="3163824"/>
          </a:xfrm>
          <a:prstGeom prst="ellipse">
            <a:avLst/>
          </a:prstGeom>
          <a:solidFill>
            <a:srgbClr val="FFFFFF"/>
          </a:solidFill>
          <a:ln w="2857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Editable circular flow"/>
          <p:cNvCxnSpPr/>
          <p:nvPr/>
        </p:nvCxnSpPr>
        <p:spPr>
          <a:xfrm flipH="1">
            <a:off x="1699841" y="3218974"/>
            <a:ext cx="8079" cy="40617"/>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5" name="Editable circular flow"/>
          <p:cNvCxnSpPr/>
          <p:nvPr/>
        </p:nvCxnSpPr>
        <p:spPr>
          <a:xfrm flipH="1">
            <a:off x="1692827" y="3259591"/>
            <a:ext cx="7014" cy="4081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6" name="Editable circular flow"/>
          <p:cNvCxnSpPr/>
          <p:nvPr/>
        </p:nvCxnSpPr>
        <p:spPr>
          <a:xfrm flipH="1">
            <a:off x="1686885" y="3300406"/>
            <a:ext cx="5942" cy="4098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7" name="Editable circular flow"/>
          <p:cNvCxnSpPr/>
          <p:nvPr/>
        </p:nvCxnSpPr>
        <p:spPr>
          <a:xfrm flipH="1">
            <a:off x="1682017" y="3341391"/>
            <a:ext cx="4868" cy="41126"/>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8" name="Editable circular flow"/>
          <p:cNvCxnSpPr/>
          <p:nvPr/>
        </p:nvCxnSpPr>
        <p:spPr>
          <a:xfrm flipH="1">
            <a:off x="1678228" y="3382517"/>
            <a:ext cx="3789" cy="4123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9" name="Editable circular flow"/>
          <p:cNvCxnSpPr/>
          <p:nvPr/>
        </p:nvCxnSpPr>
        <p:spPr>
          <a:xfrm flipH="1">
            <a:off x="1675519" y="3423756"/>
            <a:ext cx="2709" cy="4132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0" name="Editable circular flow"/>
          <p:cNvCxnSpPr/>
          <p:nvPr/>
        </p:nvCxnSpPr>
        <p:spPr>
          <a:xfrm flipH="1">
            <a:off x="1673894" y="3465081"/>
            <a:ext cx="1625" cy="413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1" name="Editable circular flow"/>
          <p:cNvCxnSpPr/>
          <p:nvPr/>
        </p:nvCxnSpPr>
        <p:spPr>
          <a:xfrm flipH="1">
            <a:off x="1673352" y="3506462"/>
            <a:ext cx="542" cy="41410"/>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Editable circular flow"/>
          <p:cNvCxnSpPr/>
          <p:nvPr/>
        </p:nvCxnSpPr>
        <p:spPr>
          <a:xfrm flipV="1">
            <a:off x="3796309" y="5019710"/>
            <a:ext cx="38727" cy="1467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3" name="Editable circular flow"/>
          <p:cNvCxnSpPr/>
          <p:nvPr/>
        </p:nvCxnSpPr>
        <p:spPr>
          <a:xfrm flipV="1">
            <a:off x="3835036" y="5004029"/>
            <a:ext cx="38330" cy="156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4" name="Editable circular flow"/>
          <p:cNvCxnSpPr/>
          <p:nvPr/>
        </p:nvCxnSpPr>
        <p:spPr>
          <a:xfrm flipV="1">
            <a:off x="3873366" y="4987350"/>
            <a:ext cx="37906" cy="1667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5" name="Editable circular flow"/>
          <p:cNvCxnSpPr/>
          <p:nvPr/>
        </p:nvCxnSpPr>
        <p:spPr>
          <a:xfrm flipV="1">
            <a:off x="3911272" y="4969685"/>
            <a:ext cx="37456" cy="1766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6" name="Editable circular flow"/>
          <p:cNvCxnSpPr/>
          <p:nvPr/>
        </p:nvCxnSpPr>
        <p:spPr>
          <a:xfrm flipV="1">
            <a:off x="3948728" y="4951045"/>
            <a:ext cx="36981" cy="1864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7" name="Editable circular flow"/>
          <p:cNvCxnSpPr/>
          <p:nvPr/>
        </p:nvCxnSpPr>
        <p:spPr>
          <a:xfrm flipV="1">
            <a:off x="3985709" y="4931443"/>
            <a:ext cx="36481" cy="1960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8" name="Editable circular flow"/>
          <p:cNvCxnSpPr/>
          <p:nvPr/>
        </p:nvCxnSpPr>
        <p:spPr>
          <a:xfrm flipV="1">
            <a:off x="4022190" y="4910893"/>
            <a:ext cx="35955" cy="2055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9" name="Editable circular flow"/>
          <p:cNvCxnSpPr/>
          <p:nvPr/>
        </p:nvCxnSpPr>
        <p:spPr>
          <a:xfrm flipV="1">
            <a:off x="4058145" y="4889409"/>
            <a:ext cx="35404" cy="21484"/>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Editable circular flow"/>
          <p:cNvCxnSpPr/>
          <p:nvPr/>
        </p:nvCxnSpPr>
        <p:spPr>
          <a:xfrm flipH="1" flipV="1">
            <a:off x="4364040" y="2419572"/>
            <a:ext cx="29156" cy="2941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1" name="Editable circular flow"/>
          <p:cNvCxnSpPr/>
          <p:nvPr/>
        </p:nvCxnSpPr>
        <p:spPr>
          <a:xfrm flipH="1" flipV="1">
            <a:off x="4334125" y="2390934"/>
            <a:ext cx="29915" cy="2863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2" name="Editable circular flow"/>
          <p:cNvCxnSpPr/>
          <p:nvPr/>
        </p:nvCxnSpPr>
        <p:spPr>
          <a:xfrm flipH="1" flipV="1">
            <a:off x="4303470" y="2363089"/>
            <a:ext cx="30655" cy="2784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3" name="Editable circular flow"/>
          <p:cNvCxnSpPr/>
          <p:nvPr/>
        </p:nvCxnSpPr>
        <p:spPr>
          <a:xfrm flipH="1" flipV="1">
            <a:off x="4272097" y="2336057"/>
            <a:ext cx="31373" cy="2703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4" name="Editable circular flow"/>
          <p:cNvCxnSpPr/>
          <p:nvPr/>
        </p:nvCxnSpPr>
        <p:spPr>
          <a:xfrm flipH="1" flipV="1">
            <a:off x="4240027" y="2309854"/>
            <a:ext cx="32070" cy="2620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5" name="Editable circular flow"/>
          <p:cNvCxnSpPr/>
          <p:nvPr/>
        </p:nvCxnSpPr>
        <p:spPr>
          <a:xfrm flipH="1" flipV="1">
            <a:off x="4207282" y="2284500"/>
            <a:ext cx="32745" cy="25354"/>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6" name="Editable circular flow"/>
          <p:cNvCxnSpPr/>
          <p:nvPr/>
        </p:nvCxnSpPr>
        <p:spPr>
          <a:xfrm flipH="1" flipV="1">
            <a:off x="4173884" y="2260012"/>
            <a:ext cx="33398" cy="2448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7" name="Editable circular flow"/>
          <p:cNvCxnSpPr/>
          <p:nvPr/>
        </p:nvCxnSpPr>
        <p:spPr>
          <a:xfrm flipH="1" flipV="1">
            <a:off x="4139857" y="2236407"/>
            <a:ext cx="34027" cy="23605"/>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unctional node: Workers / Local training"/>
          <p:cNvSpPr/>
          <p:nvPr/>
        </p:nvSpPr>
        <p:spPr>
          <a:xfrm>
            <a:off x="1387796" y="1849709"/>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abel: Workers"/>
          <p:cNvSpPr txBox="1"/>
          <p:nvPr/>
        </p:nvSpPr>
        <p:spPr>
          <a:xfrm>
            <a:off x="1442660" y="1959437"/>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Workers</a:t>
            </a:r>
          </a:p>
        </p:txBody>
      </p:sp>
      <p:sp>
        <p:nvSpPr>
          <p:cNvPr id="40" name="Label: Local training"/>
          <p:cNvSpPr txBox="1"/>
          <p:nvPr/>
        </p:nvSpPr>
        <p:spPr>
          <a:xfrm>
            <a:off x="1442660" y="2370917"/>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Local training</a:t>
            </a:r>
          </a:p>
        </p:txBody>
      </p:sp>
      <p:sp>
        <p:nvSpPr>
          <p:cNvPr id="41" name="Functional node: Aggregator / Combine updates"/>
          <p:cNvSpPr/>
          <p:nvPr/>
        </p:nvSpPr>
        <p:spPr>
          <a:xfrm>
            <a:off x="1387796" y="4441362"/>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abel: Aggregator"/>
          <p:cNvSpPr txBox="1"/>
          <p:nvPr/>
        </p:nvSpPr>
        <p:spPr>
          <a:xfrm>
            <a:off x="1442660" y="4551090"/>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Aggregator</a:t>
            </a:r>
          </a:p>
        </p:txBody>
      </p:sp>
      <p:sp>
        <p:nvSpPr>
          <p:cNvPr id="43" name="Label: Combine updates"/>
          <p:cNvSpPr txBox="1"/>
          <p:nvPr/>
        </p:nvSpPr>
        <p:spPr>
          <a:xfrm>
            <a:off x="1442660" y="4962570"/>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Combine updates</a:t>
            </a:r>
          </a:p>
        </p:txBody>
      </p:sp>
      <p:sp>
        <p:nvSpPr>
          <p:cNvPr id="44" name="Label: DFL"/>
          <p:cNvSpPr txBox="1"/>
          <p:nvPr/>
        </p:nvSpPr>
        <p:spPr>
          <a:xfrm>
            <a:off x="2715768" y="3337560"/>
            <a:ext cx="1115568" cy="420624"/>
          </a:xfrm>
          <a:prstGeom prst="rect">
            <a:avLst/>
          </a:prstGeom>
          <a:noFill/>
        </p:spPr>
        <p:txBody>
          <a:bodyPr wrap="square" lIns="0" rIns="0" tIns="0" bIns="0" anchor="ctr">
            <a:spAutoFit/>
          </a:bodyPr>
          <a:lstStyle/>
          <a:p>
            <a:pPr algn="ctr"/>
            <a:r>
              <a:rPr sz="2600" b="1" lang="en-US">
                <a:solidFill>
                  <a:srgbClr val="207548"/>
                </a:solidFill>
                <a:latin typeface="Arial"/>
              </a:rPr>
              <a:t>DFL</a:t>
            </a:r>
          </a:p>
        </p:txBody>
      </p:sp>
      <p:sp>
        <p:nvSpPr>
          <p:cNvPr id="45" name="Label: Local / updates"/>
          <p:cNvSpPr txBox="1"/>
          <p:nvPr/>
        </p:nvSpPr>
        <p:spPr>
          <a:xfrm>
            <a:off x="566928" y="3209544"/>
            <a:ext cx="1078992" cy="612648"/>
          </a:xfrm>
          <a:prstGeom prst="rect">
            <a:avLst/>
          </a:prstGeom>
          <a:noFill/>
        </p:spPr>
        <p:txBody>
          <a:bodyPr wrap="square" lIns="0" rIns="0" tIns="0" bIns="0" anchor="ctr">
            <a:spAutoFit/>
          </a:bodyPr>
          <a:lstStyle/>
          <a:p>
            <a:pPr algn="ctr"/>
            <a:r>
              <a:rPr sz="1500" b="0" lang="en-US">
                <a:solidFill>
                  <a:srgbClr val="207548"/>
                </a:solidFill>
                <a:latin typeface="Arial"/>
              </a:rPr>
              <a:t>Local
updates</a:t>
            </a:r>
          </a:p>
        </p:txBody>
      </p:sp>
      <p:sp>
        <p:nvSpPr>
          <p:cNvPr id="46" name="Label: Load model"/>
          <p:cNvSpPr txBox="1"/>
          <p:nvPr/>
        </p:nvSpPr>
        <p:spPr>
          <a:xfrm>
            <a:off x="3355848" y="1536192"/>
            <a:ext cx="1664208" cy="310896"/>
          </a:xfrm>
          <a:prstGeom prst="rect">
            <a:avLst/>
          </a:prstGeom>
          <a:noFill/>
        </p:spPr>
        <p:txBody>
          <a:bodyPr wrap="square" lIns="0" rIns="0" tIns="0" bIns="0" anchor="ctr">
            <a:spAutoFit/>
          </a:bodyPr>
          <a:lstStyle/>
          <a:p>
            <a:pPr algn="ctr"/>
            <a:r>
              <a:rPr sz="1500" b="0" lang="en-US">
                <a:solidFill>
                  <a:srgbClr val="207548"/>
                </a:solidFill>
                <a:latin typeface="Arial"/>
              </a:rPr>
              <a:t>Load model</a:t>
            </a:r>
          </a:p>
        </p:txBody>
      </p:sp>
      <p:sp>
        <p:nvSpPr>
          <p:cNvPr id="47" name="Label: Publish model"/>
          <p:cNvSpPr txBox="1"/>
          <p:nvPr/>
        </p:nvSpPr>
        <p:spPr>
          <a:xfrm>
            <a:off x="3172968" y="5321808"/>
            <a:ext cx="1947672" cy="292608"/>
          </a:xfrm>
          <a:prstGeom prst="rect">
            <a:avLst/>
          </a:prstGeom>
          <a:noFill/>
        </p:spPr>
        <p:txBody>
          <a:bodyPr wrap="square" lIns="0" rIns="0" tIns="0" bIns="0" anchor="ctr">
            <a:spAutoFit/>
          </a:bodyPr>
          <a:lstStyle/>
          <a:p>
            <a:pPr algn="ctr"/>
            <a:r>
              <a:rPr sz="1500" b="0" lang="en-US">
                <a:solidFill>
                  <a:srgbClr val="207548"/>
                </a:solidFill>
                <a:latin typeface="Arial"/>
              </a:rPr>
              <a:t>Publish model</a:t>
            </a:r>
          </a:p>
        </p:txBody>
      </p:sp>
      <p:sp>
        <p:nvSpPr>
          <p:cNvPr id="48" name="Functional publication segment on DFL cycle"/>
          <p:cNvSpPr/>
          <p:nvPr/>
        </p:nvSpPr>
        <p:spPr>
          <a:xfrm>
            <a:off x="3831335" y="2505456"/>
            <a:ext cx="2011680" cy="2084831"/>
          </a:xfrm>
          <a:prstGeom prst="roundRect">
            <a:avLst/>
          </a:prstGeom>
          <a:solidFill>
            <a:srgbClr val="F8F5FB"/>
          </a:solidFill>
          <a:ln w="1651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 Global model"/>
          <p:cNvSpPr txBox="1"/>
          <p:nvPr/>
        </p:nvSpPr>
        <p:spPr>
          <a:xfrm>
            <a:off x="3904487" y="2615184"/>
            <a:ext cx="1865376" cy="320040"/>
          </a:xfrm>
          <a:prstGeom prst="rect">
            <a:avLst/>
          </a:prstGeom>
          <a:noFill/>
        </p:spPr>
        <p:txBody>
          <a:bodyPr wrap="square" lIns="0" rIns="0" tIns="0" bIns="0" anchor="ctr">
            <a:spAutoFit/>
          </a:bodyPr>
          <a:lstStyle/>
          <a:p>
            <a:pPr algn="ctr"/>
            <a:r>
              <a:rPr sz="1800" b="1" lang="en-US">
                <a:solidFill>
                  <a:srgbClr val="7446A6"/>
                </a:solidFill>
                <a:latin typeface="Arial"/>
              </a:rPr>
              <a:t>Global model</a:t>
            </a:r>
          </a:p>
        </p:txBody>
      </p:sp>
      <p:sp>
        <p:nvSpPr>
          <p:cNvPr id="50" name="Rounded Rectangle 49"/>
          <p:cNvSpPr/>
          <p:nvPr/>
        </p:nvSpPr>
        <p:spPr>
          <a:xfrm>
            <a:off x="3931920" y="3081527"/>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 IPFS"/>
          <p:cNvSpPr txBox="1"/>
          <p:nvPr/>
        </p:nvSpPr>
        <p:spPr>
          <a:xfrm>
            <a:off x="4005072" y="3127248"/>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IPFS</a:t>
            </a:r>
          </a:p>
        </p:txBody>
      </p:sp>
      <p:sp>
        <p:nvSpPr>
          <p:cNvPr id="52" name="Label: Model files"/>
          <p:cNvSpPr txBox="1"/>
          <p:nvPr/>
        </p:nvSpPr>
        <p:spPr>
          <a:xfrm>
            <a:off x="4005072" y="3465575"/>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files</a:t>
            </a:r>
          </a:p>
        </p:txBody>
      </p:sp>
      <p:sp>
        <p:nvSpPr>
          <p:cNvPr id="53" name="Rounded Rectangle 52"/>
          <p:cNvSpPr/>
          <p:nvPr/>
        </p:nvSpPr>
        <p:spPr>
          <a:xfrm>
            <a:off x="3931920" y="3803904"/>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 Blockchain"/>
          <p:cNvSpPr txBox="1"/>
          <p:nvPr/>
        </p:nvSpPr>
        <p:spPr>
          <a:xfrm>
            <a:off x="4005072" y="3849624"/>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Blockchain</a:t>
            </a:r>
          </a:p>
        </p:txBody>
      </p:sp>
      <p:sp>
        <p:nvSpPr>
          <p:cNvPr id="55" name="Label: Model reference"/>
          <p:cNvSpPr txBox="1"/>
          <p:nvPr/>
        </p:nvSpPr>
        <p:spPr>
          <a:xfrm>
            <a:off x="4005072" y="4187952"/>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reference</a:t>
            </a:r>
          </a:p>
        </p:txBody>
      </p:sp>
      <p:cxnSp>
        <p:nvCxnSpPr>
          <p:cNvPr id="56" name="Flow"/>
          <p:cNvCxnSpPr/>
          <p:nvPr/>
        </p:nvCxnSpPr>
        <p:spPr>
          <a:xfrm>
            <a:off x="5897880" y="3547872"/>
            <a:ext cx="1444751"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Label: Published / model"/>
          <p:cNvSpPr txBox="1"/>
          <p:nvPr/>
        </p:nvSpPr>
        <p:spPr>
          <a:xfrm>
            <a:off x="6016752" y="2788920"/>
            <a:ext cx="1252728" cy="594360"/>
          </a:xfrm>
          <a:prstGeom prst="rect">
            <a:avLst/>
          </a:prstGeom>
          <a:noFill/>
        </p:spPr>
        <p:txBody>
          <a:bodyPr wrap="square" lIns="0" rIns="0" tIns="0" bIns="0" anchor="ctr">
            <a:spAutoFit/>
          </a:bodyPr>
          <a:lstStyle/>
          <a:p>
            <a:pPr algn="ctr"/>
            <a:r>
              <a:rPr sz="1600" b="0" lang="en-US">
                <a:solidFill>
                  <a:srgbClr val="7446A6"/>
                </a:solidFill>
                <a:latin typeface="Arial"/>
              </a:rPr>
              <a:t>Published
model</a:t>
            </a:r>
          </a:p>
        </p:txBody>
      </p:sp>
      <p:sp>
        <p:nvSpPr>
          <p:cNvPr id="58" name="Node: Inference"/>
          <p:cNvSpPr/>
          <p:nvPr/>
        </p:nvSpPr>
        <p:spPr>
          <a:xfrm>
            <a:off x="7388352" y="3067812"/>
            <a:ext cx="1810512" cy="960120"/>
          </a:xfrm>
          <a:prstGeom prst="roundRect">
            <a:avLst/>
          </a:prstGeom>
          <a:solidFill>
            <a:srgbClr val="EDF4FA"/>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Inference"/>
          <p:cNvSpPr txBox="1"/>
          <p:nvPr/>
        </p:nvSpPr>
        <p:spPr>
          <a:xfrm>
            <a:off x="7452360" y="3095244"/>
            <a:ext cx="1682495" cy="905256"/>
          </a:xfrm>
          <a:prstGeom prst="rect">
            <a:avLst/>
          </a:prstGeom>
          <a:noFill/>
        </p:spPr>
        <p:txBody>
          <a:bodyPr wrap="square" lIns="0" rIns="0" tIns="0" bIns="0" anchor="ctr">
            <a:spAutoFit/>
          </a:bodyPr>
          <a:lstStyle/>
          <a:p>
            <a:pPr algn="ctr"/>
            <a:r>
              <a:rPr sz="2000" b="1" lang="en-US">
                <a:solidFill>
                  <a:srgbClr val="1764A1"/>
                </a:solidFill>
                <a:latin typeface="Arial"/>
              </a:rPr>
              <a:t>Inference</a:t>
            </a:r>
          </a:p>
        </p:txBody>
      </p:sp>
      <p:sp>
        <p:nvSpPr>
          <p:cNvPr id="60" name="Oval 59"/>
          <p:cNvSpPr/>
          <p:nvPr/>
        </p:nvSpPr>
        <p:spPr>
          <a:xfrm>
            <a:off x="7854696" y="137160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091525" y="1655064"/>
            <a:ext cx="404164" cy="303123"/>
          </a:xfrm>
          <a:prstGeom prst="roundRect">
            <a:avLst/>
          </a:prstGeom>
          <a:solidFill>
            <a:srgbClr val="FFFFFF"/>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86348"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349569"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Flow"/>
          <p:cNvCxnSpPr/>
          <p:nvPr/>
        </p:nvCxnSpPr>
        <p:spPr>
          <a:xfrm>
            <a:off x="8223656" y="1888236"/>
            <a:ext cx="139903"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Flow"/>
          <p:cNvCxnSpPr/>
          <p:nvPr/>
        </p:nvCxnSpPr>
        <p:spPr>
          <a:xfrm flipV="1">
            <a:off x="8293608" y="1569567"/>
            <a:ext cx="0" cy="85497"/>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8262518" y="1507388"/>
            <a:ext cx="62179" cy="62179"/>
          </a:xfrm>
          <a:prstGeom prst="ellipse">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Agent"/>
          <p:cNvSpPr txBox="1"/>
          <p:nvPr/>
        </p:nvSpPr>
        <p:spPr>
          <a:xfrm>
            <a:off x="7242048" y="2368296"/>
            <a:ext cx="2103120" cy="347472"/>
          </a:xfrm>
          <a:prstGeom prst="rect">
            <a:avLst/>
          </a:prstGeom>
          <a:noFill/>
        </p:spPr>
        <p:txBody>
          <a:bodyPr wrap="square" lIns="0" rIns="0" tIns="0" bIns="0" anchor="ctr">
            <a:spAutoFit/>
          </a:bodyPr>
          <a:lstStyle/>
          <a:p>
            <a:pPr algn="ctr"/>
            <a:r>
              <a:rPr sz="1900" b="1" lang="en-US">
                <a:solidFill>
                  <a:srgbClr val="1764A1"/>
                </a:solidFill>
                <a:latin typeface="Arial"/>
              </a:rPr>
              <a:t>Agent</a:t>
            </a:r>
          </a:p>
        </p:txBody>
      </p:sp>
      <p:cxnSp>
        <p:nvCxnSpPr>
          <p:cNvPr id="68" name="Flow"/>
          <p:cNvCxnSpPr/>
          <p:nvPr/>
        </p:nvCxnSpPr>
        <p:spPr>
          <a:xfrm>
            <a:off x="8065008" y="2743200"/>
            <a:ext cx="0" cy="265176"/>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Label: MCP"/>
          <p:cNvSpPr txBox="1"/>
          <p:nvPr/>
        </p:nvSpPr>
        <p:spPr>
          <a:xfrm>
            <a:off x="7397496" y="2738628"/>
            <a:ext cx="594360" cy="274320"/>
          </a:xfrm>
          <a:prstGeom prst="rect">
            <a:avLst/>
          </a:prstGeom>
          <a:noFill/>
        </p:spPr>
        <p:txBody>
          <a:bodyPr wrap="square" lIns="0" rIns="0" tIns="0" bIns="0" anchor="ctr">
            <a:spAutoFit/>
          </a:bodyPr>
          <a:lstStyle/>
          <a:p>
            <a:pPr algn="ctr"/>
            <a:r>
              <a:rPr sz="1600" b="1" lang="en-US">
                <a:solidFill>
                  <a:srgbClr val="1764A1"/>
                </a:solidFill>
                <a:latin typeface="Arial"/>
              </a:rPr>
              <a:t>MCP</a:t>
            </a:r>
          </a:p>
        </p:txBody>
      </p:sp>
      <p:cxnSp>
        <p:nvCxnSpPr>
          <p:cNvPr id="70" name="Flow"/>
          <p:cNvCxnSpPr/>
          <p:nvPr/>
        </p:nvCxnSpPr>
        <p:spPr>
          <a:xfrm flipV="1">
            <a:off x="8540496" y="2743200"/>
            <a:ext cx="0" cy="265176"/>
          </a:xfrm>
          <a:prstGeom prst="line">
            <a:avLst/>
          </a:prstGeom>
          <a:ln w="1905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Label: Result"/>
          <p:cNvSpPr txBox="1"/>
          <p:nvPr/>
        </p:nvSpPr>
        <p:spPr>
          <a:xfrm>
            <a:off x="8668512" y="2738628"/>
            <a:ext cx="722376" cy="274320"/>
          </a:xfrm>
          <a:prstGeom prst="rect">
            <a:avLst/>
          </a:prstGeom>
          <a:noFill/>
        </p:spPr>
        <p:txBody>
          <a:bodyPr wrap="square" lIns="0" rIns="0" tIns="0" bIns="0" anchor="ctr">
            <a:spAutoFit/>
          </a:bodyPr>
          <a:lstStyle/>
          <a:p>
            <a:pPr algn="ctr"/>
            <a:r>
              <a:rPr sz="1400" b="0" lang="en-US">
                <a:solidFill>
                  <a:srgbClr val="67747C"/>
                </a:solidFill>
                <a:latin typeface="Arial"/>
              </a:rPr>
              <a:t>Result</a:t>
            </a:r>
          </a:p>
        </p:txBody>
      </p:sp>
      <p:cxnSp>
        <p:nvCxnSpPr>
          <p:cNvPr id="72" name="Flow"/>
          <p:cNvCxnSpPr/>
          <p:nvPr/>
        </p:nvCxnSpPr>
        <p:spPr>
          <a:xfrm>
            <a:off x="9244584" y="3547872"/>
            <a:ext cx="1115568" cy="0"/>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Label: Tool receipt"/>
          <p:cNvSpPr txBox="1"/>
          <p:nvPr/>
        </p:nvSpPr>
        <p:spPr>
          <a:xfrm>
            <a:off x="9281160" y="3081528"/>
            <a:ext cx="1115568" cy="301752"/>
          </a:xfrm>
          <a:prstGeom prst="rect">
            <a:avLst/>
          </a:prstGeom>
          <a:noFill/>
        </p:spPr>
        <p:txBody>
          <a:bodyPr wrap="square" lIns="0" rIns="0" tIns="0" bIns="0" anchor="ctr">
            <a:spAutoFit/>
          </a:bodyPr>
          <a:lstStyle/>
          <a:p>
            <a:pPr algn="ctr"/>
            <a:r>
              <a:rPr sz="1300" b="0" lang="en-US">
                <a:solidFill>
                  <a:srgbClr val="1764A1"/>
                </a:solidFill>
                <a:latin typeface="Arial"/>
              </a:rPr>
              <a:t>Tool receipt</a:t>
            </a:r>
          </a:p>
        </p:txBody>
      </p:sp>
      <p:sp>
        <p:nvSpPr>
          <p:cNvPr id="74" name="Oval 73"/>
          <p:cNvSpPr/>
          <p:nvPr/>
        </p:nvSpPr>
        <p:spPr>
          <a:xfrm>
            <a:off x="10433304" y="310896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229203"/>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716768" y="3268065"/>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677906" y="3306927"/>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Flow"/>
          <p:cNvCxnSpPr/>
          <p:nvPr/>
        </p:nvCxnSpPr>
        <p:spPr>
          <a:xfrm>
            <a:off x="10755630" y="3439058"/>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9" name="Flow"/>
          <p:cNvCxnSpPr/>
          <p:nvPr/>
        </p:nvCxnSpPr>
        <p:spPr>
          <a:xfrm>
            <a:off x="10755630" y="3547872"/>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80" name="Flow"/>
          <p:cNvCxnSpPr/>
          <p:nvPr/>
        </p:nvCxnSpPr>
        <p:spPr>
          <a:xfrm>
            <a:off x="10755630" y="3656685"/>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81" name="Label: Transparency / log"/>
          <p:cNvSpPr txBox="1"/>
          <p:nvPr/>
        </p:nvSpPr>
        <p:spPr>
          <a:xfrm>
            <a:off x="9820656" y="4105656"/>
            <a:ext cx="2103120" cy="658368"/>
          </a:xfrm>
          <a:prstGeom prst="rect">
            <a:avLst/>
          </a:prstGeom>
          <a:noFill/>
        </p:spPr>
        <p:txBody>
          <a:bodyPr wrap="square" lIns="0" rIns="0" tIns="0" bIns="0" anchor="ctr">
            <a:spAutoFit/>
          </a:bodyPr>
          <a:lstStyle/>
          <a:p>
            <a:pPr algn="ctr"/>
            <a:r>
              <a:rPr sz="1800" b="1" lang="en-US">
                <a:solidFill>
                  <a:srgbClr val="1764A1"/>
                </a:solidFill>
                <a:latin typeface="Arial"/>
              </a:rPr>
              <a:t>Transparency
log</a:t>
            </a:r>
          </a:p>
        </p:txBody>
      </p:sp>
      <p:cxnSp>
        <p:nvCxnSpPr>
          <p:cNvPr id="82" name="Association: Inference and Phala attestation check"/>
          <p:cNvCxnSpPr/>
          <p:nvPr/>
        </p:nvCxnSpPr>
        <p:spPr>
          <a:xfrm>
            <a:off x="8293608" y="4027932"/>
            <a:ext cx="0" cy="461772"/>
          </a:xfrm>
          <a:prstGeom prst="line">
            <a:avLst/>
          </a:prstGeom>
          <a:ln w="19050">
            <a:solidFill>
              <a:srgbClr val="1764A1"/>
            </a:solidFill>
          </a:ln>
        </p:spPr>
        <p:style>
          <a:lnRef idx="2">
            <a:schemeClr val="accent1"/>
          </a:lnRef>
          <a:fillRef idx="0">
            <a:schemeClr val="accent1"/>
          </a:fillRef>
          <a:effectRef idx="1">
            <a:schemeClr val="accent1"/>
          </a:effectRef>
          <a:fontRef idx="minor">
            <a:schemeClr val="tx1"/>
          </a:fontRef>
        </p:style>
      </p:cxnSp>
      <p:sp>
        <p:nvSpPr>
          <p:cNvPr id="83" name="Node: Phala remote attestation check"/>
          <p:cNvSpPr/>
          <p:nvPr/>
        </p:nvSpPr>
        <p:spPr>
          <a:xfrm>
            <a:off x="7004304" y="4489704"/>
            <a:ext cx="2578608" cy="758952"/>
          </a:xfrm>
          <a:prstGeom prst="roundRect">
            <a:avLst/>
          </a:prstGeom>
          <a:solidFill>
            <a:srgbClr val="EDF4FA"/>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Label: Phala"/>
          <p:cNvSpPr txBox="1"/>
          <p:nvPr/>
        </p:nvSpPr>
        <p:spPr>
          <a:xfrm>
            <a:off x="7104888" y="4581144"/>
            <a:ext cx="2377440" cy="301752"/>
          </a:xfrm>
          <a:prstGeom prst="rect">
            <a:avLst/>
          </a:prstGeom>
          <a:noFill/>
        </p:spPr>
        <p:txBody>
          <a:bodyPr wrap="square" lIns="0" rIns="0" tIns="0" bIns="0" anchor="ctr">
            <a:spAutoFit/>
          </a:bodyPr>
          <a:lstStyle/>
          <a:p>
            <a:pPr algn="ctr"/>
            <a:r>
              <a:rPr sz="1700" b="1" lang="en-US">
                <a:solidFill>
                  <a:srgbClr val="1764A1"/>
                </a:solidFill>
                <a:latin typeface="Arial"/>
              </a:rPr>
              <a:t>Phala</a:t>
            </a:r>
          </a:p>
        </p:txBody>
      </p:sp>
      <p:sp>
        <p:nvSpPr>
          <p:cNvPr id="85" name="Label: Remote attestation check"/>
          <p:cNvSpPr txBox="1"/>
          <p:nvPr/>
        </p:nvSpPr>
        <p:spPr>
          <a:xfrm>
            <a:off x="7104888" y="4937760"/>
            <a:ext cx="2377440" cy="228600"/>
          </a:xfrm>
          <a:prstGeom prst="rect">
            <a:avLst/>
          </a:prstGeom>
          <a:noFill/>
        </p:spPr>
        <p:txBody>
          <a:bodyPr wrap="square" lIns="0" rIns="0" tIns="0" bIns="0" anchor="ctr">
            <a:spAutoFit/>
          </a:bodyPr>
          <a:lstStyle/>
          <a:p>
            <a:pPr algn="ctr"/>
            <a:r>
              <a:rPr sz="1230" b="0" lang="en-US">
                <a:solidFill>
                  <a:srgbClr val="1764A1"/>
                </a:solidFill>
                <a:latin typeface="Arial"/>
              </a:rPr>
              <a:t>Remote attestation check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76072" y="1508760"/>
            <a:ext cx="3108960" cy="320040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886200" y="1508760"/>
            <a:ext cx="2432304" cy="3611880"/>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19672" y="1508760"/>
            <a:ext cx="5093208" cy="320040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Shared group frame: DFL and infrastructure / 1"/>
          <p:cNvCxnSpPr/>
          <p:nvPr/>
        </p:nvCxnSpPr>
        <p:spPr>
          <a:xfrm>
            <a:off x="438912" y="1380744"/>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 name="Shared group frame: DFL and infrastructure / 2"/>
          <p:cNvCxnSpPr/>
          <p:nvPr/>
        </p:nvCxnSpPr>
        <p:spPr>
          <a:xfrm>
            <a:off x="6391656"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8" name="Shared group frame: DFL and infrastructure / 3"/>
          <p:cNvCxnSpPr/>
          <p:nvPr/>
        </p:nvCxnSpPr>
        <p:spPr>
          <a:xfrm flipH="1">
            <a:off x="438912" y="5248656"/>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9" name="Shared group frame: DFL and infrastructure / 4"/>
          <p:cNvCxnSpPr/>
          <p:nvPr/>
        </p:nvCxnSpPr>
        <p:spPr>
          <a:xfrm flipV="1">
            <a:off x="438912"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0" name="Shared group frame: Infrastructure and agent / 1"/>
          <p:cNvCxnSpPr/>
          <p:nvPr/>
        </p:nvCxnSpPr>
        <p:spPr>
          <a:xfrm>
            <a:off x="3785615" y="1298448"/>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1" name="Shared group frame: Infrastructure and agent / 2"/>
          <p:cNvCxnSpPr/>
          <p:nvPr/>
        </p:nvCxnSpPr>
        <p:spPr>
          <a:xfrm>
            <a:off x="11759184"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2" name="Shared group frame: Infrastructure and agent / 3"/>
          <p:cNvCxnSpPr/>
          <p:nvPr/>
        </p:nvCxnSpPr>
        <p:spPr>
          <a:xfrm flipH="1">
            <a:off x="3785615" y="5376672"/>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Shared group frame: Infrastructure and agent / 4"/>
          <p:cNvCxnSpPr/>
          <p:nvPr/>
        </p:nvCxnSpPr>
        <p:spPr>
          <a:xfrm flipV="1">
            <a:off x="3785615"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1719072"/>
            <a:ext cx="2651760" cy="274320"/>
          </a:xfrm>
          <a:prstGeom prst="rect">
            <a:avLst/>
          </a:prstGeom>
          <a:noFill/>
        </p:spPr>
        <p:txBody>
          <a:bodyPr wrap="square" lIns="0" rIns="0" tIns="0" bIns="0" anchor="ctr">
            <a:spAutoFit/>
          </a:bodyPr>
          <a:lstStyle/>
          <a:p>
            <a:pPr algn="l"/>
            <a:r>
              <a:rPr sz="1350" b="1" lang="en-US">
                <a:solidFill>
                  <a:srgbClr val="207548"/>
                </a:solidFill>
                <a:latin typeface="Arial"/>
              </a:rPr>
              <a:t>DFL BLOCK</a:t>
            </a:r>
          </a:p>
        </p:txBody>
      </p:sp>
      <p:sp>
        <p:nvSpPr>
          <p:cNvPr id="25" name="TextBox 24"/>
          <p:cNvSpPr txBox="1"/>
          <p:nvPr/>
        </p:nvSpPr>
        <p:spPr>
          <a:xfrm>
            <a:off x="4069080" y="1719072"/>
            <a:ext cx="2066543" cy="274320"/>
          </a:xfrm>
          <a:prstGeom prst="rect">
            <a:avLst/>
          </a:prstGeom>
          <a:noFill/>
        </p:spPr>
        <p:txBody>
          <a:bodyPr wrap="square" lIns="0" rIns="0" tIns="0" bIns="0" anchor="ctr">
            <a:spAutoFit/>
          </a:bodyPr>
          <a:lstStyle/>
          <a:p>
            <a:pPr algn="ctr"/>
            <a:r>
              <a:rPr sz="1150" b="1" lang="en-US">
                <a:solidFill>
                  <a:srgbClr val="7446A6"/>
                </a:solidFill>
                <a:latin typeface="Arial"/>
              </a:rPr>
              <a:t>BLOCKCHAIN / IPFS</a:t>
            </a:r>
          </a:p>
        </p:txBody>
      </p:sp>
      <p:sp>
        <p:nvSpPr>
          <p:cNvPr id="26" name="TextBox 25"/>
          <p:cNvSpPr txBox="1"/>
          <p:nvPr/>
        </p:nvSpPr>
        <p:spPr>
          <a:xfrm>
            <a:off x="6729984" y="1719072"/>
            <a:ext cx="4663440" cy="274320"/>
          </a:xfrm>
          <a:prstGeom prst="rect">
            <a:avLst/>
          </a:prstGeom>
          <a:noFill/>
        </p:spPr>
        <p:txBody>
          <a:bodyPr wrap="square" lIns="0" rIns="0" tIns="0" bIns="0" anchor="ctr">
            <a:spAutoFit/>
          </a:bodyPr>
          <a:lstStyle/>
          <a:p>
            <a:pPr algn="l"/>
            <a:r>
              <a:rPr sz="1350" b="1" lang="en-US">
                <a:solidFill>
                  <a:srgbClr val="1764A1"/>
                </a:solidFill>
                <a:latin typeface="Arial"/>
              </a:rPr>
              <a:t>AGENT AND INFERENCE BLOCK</a:t>
            </a:r>
          </a:p>
        </p:txBody>
      </p:sp>
      <p:sp>
        <p:nvSpPr>
          <p:cNvPr id="27" name="Data"/>
          <p:cNvSpPr/>
          <p:nvPr/>
        </p:nvSpPr>
        <p:spPr>
          <a:xfrm>
            <a:off x="795528" y="2340864"/>
            <a:ext cx="113385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 y="2432304"/>
            <a:ext cx="950976" cy="274320"/>
          </a:xfrm>
          <a:prstGeom prst="rect">
            <a:avLst/>
          </a:prstGeom>
          <a:noFill/>
        </p:spPr>
        <p:txBody>
          <a:bodyPr wrap="square" lIns="0" rIns="0" tIns="0" bIns="0" anchor="ctr">
            <a:spAutoFit/>
          </a:bodyPr>
          <a:lstStyle/>
          <a:p>
            <a:pPr algn="ctr"/>
            <a:r>
              <a:rPr sz="1200" b="1" lang="en-US">
                <a:solidFill>
                  <a:srgbClr val="207548"/>
                </a:solidFill>
                <a:latin typeface="Arial"/>
              </a:rPr>
              <a:t>DATA</a:t>
            </a:r>
          </a:p>
        </p:txBody>
      </p:sp>
      <p:sp>
        <p:nvSpPr>
          <p:cNvPr id="29" name="TextBox 28"/>
          <p:cNvSpPr txBox="1"/>
          <p:nvPr/>
        </p:nvSpPr>
        <p:spPr>
          <a:xfrm>
            <a:off x="886968" y="2807208"/>
            <a:ext cx="950976" cy="502919"/>
          </a:xfrm>
          <a:prstGeom prst="rect">
            <a:avLst/>
          </a:prstGeom>
          <a:noFill/>
        </p:spPr>
        <p:txBody>
          <a:bodyPr wrap="square" lIns="0" rIns="0" tIns="0" bIns="0" anchor="ctr">
            <a:spAutoFit/>
          </a:bodyPr>
          <a:lstStyle/>
          <a:p>
            <a:pPr algn="ctr"/>
            <a:r>
              <a:rPr sz="1050" b="0" lang="en-US">
                <a:solidFill>
                  <a:srgbClr val="434343"/>
                </a:solidFill>
                <a:latin typeface="Arial"/>
              </a:rPr>
              <a:t>Signed
input</a:t>
            </a:r>
          </a:p>
        </p:txBody>
      </p:sp>
      <p:sp>
        <p:nvSpPr>
          <p:cNvPr id="30" name="Worker"/>
          <p:cNvSpPr/>
          <p:nvPr/>
        </p:nvSpPr>
        <p:spPr>
          <a:xfrm>
            <a:off x="2167128" y="2340864"/>
            <a:ext cx="127101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58568" y="2432304"/>
            <a:ext cx="1088136" cy="274320"/>
          </a:xfrm>
          <a:prstGeom prst="rect">
            <a:avLst/>
          </a:prstGeom>
          <a:noFill/>
        </p:spPr>
        <p:txBody>
          <a:bodyPr wrap="square" lIns="0" rIns="0" tIns="0" bIns="0" anchor="ctr">
            <a:spAutoFit/>
          </a:bodyPr>
          <a:lstStyle/>
          <a:p>
            <a:pPr algn="ctr"/>
            <a:r>
              <a:rPr sz="1050" b="1" lang="en-US">
                <a:solidFill>
                  <a:srgbClr val="207548"/>
                </a:solidFill>
                <a:latin typeface="Arial"/>
              </a:rPr>
              <a:t>WORKER TEE</a:t>
            </a:r>
          </a:p>
        </p:txBody>
      </p:sp>
      <p:sp>
        <p:nvSpPr>
          <p:cNvPr id="32" name="TextBox 31"/>
          <p:cNvSpPr txBox="1"/>
          <p:nvPr/>
        </p:nvSpPr>
        <p:spPr>
          <a:xfrm>
            <a:off x="2258568" y="2807208"/>
            <a:ext cx="1088136" cy="502919"/>
          </a:xfrm>
          <a:prstGeom prst="rect">
            <a:avLst/>
          </a:prstGeom>
          <a:noFill/>
        </p:spPr>
        <p:txBody>
          <a:bodyPr wrap="square" lIns="0" rIns="0" tIns="0" bIns="0" anchor="ctr">
            <a:spAutoFit/>
          </a:bodyPr>
          <a:lstStyle/>
          <a:p>
            <a:pPr algn="ctr"/>
            <a:r>
              <a:rPr sz="1050" b="0" lang="en-US">
                <a:solidFill>
                  <a:srgbClr val="434343"/>
                </a:solidFill>
                <a:latin typeface="Arial"/>
              </a:rPr>
              <a:t>Attested
training</a:t>
            </a:r>
          </a:p>
        </p:txBody>
      </p:sp>
      <p:sp>
        <p:nvSpPr>
          <p:cNvPr id="33" name="Ledger"/>
          <p:cNvSpPr/>
          <p:nvPr/>
        </p:nvSpPr>
        <p:spPr>
          <a:xfrm>
            <a:off x="4096512" y="2340864"/>
            <a:ext cx="2011680" cy="105156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87952" y="2432304"/>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LEDGER</a:t>
            </a:r>
          </a:p>
        </p:txBody>
      </p:sp>
      <p:sp>
        <p:nvSpPr>
          <p:cNvPr id="35" name="TextBox 34"/>
          <p:cNvSpPr txBox="1"/>
          <p:nvPr/>
        </p:nvSpPr>
        <p:spPr>
          <a:xfrm>
            <a:off x="4187952" y="2807208"/>
            <a:ext cx="1828800" cy="502919"/>
          </a:xfrm>
          <a:prstGeom prst="rect">
            <a:avLst/>
          </a:prstGeom>
          <a:noFill/>
        </p:spPr>
        <p:txBody>
          <a:bodyPr wrap="square" lIns="0" rIns="0" tIns="0" bIns="0" anchor="ctr">
            <a:spAutoFit/>
          </a:bodyPr>
          <a:lstStyle/>
          <a:p>
            <a:pPr algn="ctr"/>
            <a:r>
              <a:rPr sz="1050" b="0" lang="en-US">
                <a:solidFill>
                  <a:srgbClr val="434343"/>
                </a:solidFill>
                <a:latin typeface="Arial"/>
              </a:rPr>
              <a:t>Finalized
model reference</a:t>
            </a:r>
          </a:p>
        </p:txBody>
      </p:sp>
      <p:sp>
        <p:nvSpPr>
          <p:cNvPr id="36" name="IPFS"/>
          <p:cNvSpPr/>
          <p:nvPr/>
        </p:nvSpPr>
        <p:spPr>
          <a:xfrm>
            <a:off x="4096512" y="3685032"/>
            <a:ext cx="2011680" cy="109728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87952" y="3776472"/>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IPFS</a:t>
            </a:r>
          </a:p>
        </p:txBody>
      </p:sp>
      <p:sp>
        <p:nvSpPr>
          <p:cNvPr id="38" name="TextBox 37"/>
          <p:cNvSpPr txBox="1"/>
          <p:nvPr/>
        </p:nvSpPr>
        <p:spPr>
          <a:xfrm>
            <a:off x="4187952" y="4151376"/>
            <a:ext cx="1828800" cy="548640"/>
          </a:xfrm>
          <a:prstGeom prst="rect">
            <a:avLst/>
          </a:prstGeom>
          <a:noFill/>
        </p:spPr>
        <p:txBody>
          <a:bodyPr wrap="square" lIns="0" rIns="0" tIns="0" bIns="0" anchor="ctr">
            <a:spAutoFit/>
          </a:bodyPr>
          <a:lstStyle/>
          <a:p>
            <a:pPr algn="ctr"/>
            <a:r>
              <a:rPr sz="1050" b="0" lang="en-US">
                <a:solidFill>
                  <a:srgbClr val="434343"/>
                </a:solidFill>
                <a:latin typeface="Arial"/>
              </a:rPr>
              <a:t>Signed, encrypted
model bundle</a:t>
            </a:r>
          </a:p>
        </p:txBody>
      </p:sp>
      <p:sp>
        <p:nvSpPr>
          <p:cNvPr id="39" name="Receiver"/>
          <p:cNvSpPr/>
          <p:nvPr/>
        </p:nvSpPr>
        <p:spPr>
          <a:xfrm>
            <a:off x="6775704" y="2340864"/>
            <a:ext cx="1929384"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67144" y="2432304"/>
            <a:ext cx="1746504" cy="274320"/>
          </a:xfrm>
          <a:prstGeom prst="rect">
            <a:avLst/>
          </a:prstGeom>
          <a:noFill/>
        </p:spPr>
        <p:txBody>
          <a:bodyPr wrap="square" lIns="0" rIns="0" tIns="0" bIns="0" anchor="ctr">
            <a:spAutoFit/>
          </a:bodyPr>
          <a:lstStyle/>
          <a:p>
            <a:pPr algn="ctr"/>
            <a:r>
              <a:rPr sz="1200" b="1" lang="en-US">
                <a:solidFill>
                  <a:srgbClr val="1764A1"/>
                </a:solidFill>
                <a:latin typeface="Arial"/>
              </a:rPr>
              <a:t>RECEIVER TEE</a:t>
            </a:r>
          </a:p>
        </p:txBody>
      </p:sp>
      <p:sp>
        <p:nvSpPr>
          <p:cNvPr id="41" name="TextBox 40"/>
          <p:cNvSpPr txBox="1"/>
          <p:nvPr/>
        </p:nvSpPr>
        <p:spPr>
          <a:xfrm>
            <a:off x="6867144" y="2807208"/>
            <a:ext cx="1746504" cy="502919"/>
          </a:xfrm>
          <a:prstGeom prst="rect">
            <a:avLst/>
          </a:prstGeom>
          <a:noFill/>
        </p:spPr>
        <p:txBody>
          <a:bodyPr wrap="square" lIns="0" rIns="0" tIns="0" bIns="0" anchor="ctr">
            <a:spAutoFit/>
          </a:bodyPr>
          <a:lstStyle/>
          <a:p>
            <a:pPr algn="ctr"/>
            <a:r>
              <a:rPr sz="1050" b="0" lang="en-US">
                <a:solidFill>
                  <a:srgbClr val="434343"/>
                </a:solidFill>
                <a:latin typeface="Arial"/>
              </a:rPr>
              <a:t>Resolve
and infer</a:t>
            </a:r>
          </a:p>
        </p:txBody>
      </p:sp>
      <p:sp>
        <p:nvSpPr>
          <p:cNvPr id="42" name="MCP"/>
          <p:cNvSpPr/>
          <p:nvPr/>
        </p:nvSpPr>
        <p:spPr>
          <a:xfrm>
            <a:off x="8979408" y="2340864"/>
            <a:ext cx="1042415"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70848" y="2432304"/>
            <a:ext cx="859536" cy="274320"/>
          </a:xfrm>
          <a:prstGeom prst="rect">
            <a:avLst/>
          </a:prstGeom>
          <a:noFill/>
        </p:spPr>
        <p:txBody>
          <a:bodyPr wrap="square" lIns="0" rIns="0" tIns="0" bIns="0" anchor="ctr">
            <a:spAutoFit/>
          </a:bodyPr>
          <a:lstStyle/>
          <a:p>
            <a:pPr algn="ctr"/>
            <a:r>
              <a:rPr sz="1200" b="1" lang="en-US">
                <a:solidFill>
                  <a:srgbClr val="1764A1"/>
                </a:solidFill>
                <a:latin typeface="Arial"/>
              </a:rPr>
              <a:t>MCP</a:t>
            </a:r>
          </a:p>
        </p:txBody>
      </p:sp>
      <p:sp>
        <p:nvSpPr>
          <p:cNvPr id="44" name="TextBox 43"/>
          <p:cNvSpPr txBox="1"/>
          <p:nvPr/>
        </p:nvSpPr>
        <p:spPr>
          <a:xfrm>
            <a:off x="9070848" y="2807208"/>
            <a:ext cx="859536" cy="502919"/>
          </a:xfrm>
          <a:prstGeom prst="rect">
            <a:avLst/>
          </a:prstGeom>
          <a:noFill/>
        </p:spPr>
        <p:txBody>
          <a:bodyPr wrap="square" lIns="0" rIns="0" tIns="0" bIns="0" anchor="ctr">
            <a:spAutoFit/>
          </a:bodyPr>
          <a:lstStyle/>
          <a:p>
            <a:pPr algn="ctr"/>
            <a:r>
              <a:rPr sz="1050" b="0" lang="en-US">
                <a:solidFill>
                  <a:srgbClr val="434343"/>
                </a:solidFill>
                <a:latin typeface="Arial"/>
              </a:rPr>
              <a:t>Bounded
tools</a:t>
            </a:r>
          </a:p>
        </p:txBody>
      </p:sp>
      <p:sp>
        <p:nvSpPr>
          <p:cNvPr id="45" name="Log"/>
          <p:cNvSpPr/>
          <p:nvPr/>
        </p:nvSpPr>
        <p:spPr>
          <a:xfrm>
            <a:off x="10287000" y="2340864"/>
            <a:ext cx="1078992"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2432304"/>
            <a:ext cx="896112" cy="274320"/>
          </a:xfrm>
          <a:prstGeom prst="rect">
            <a:avLst/>
          </a:prstGeom>
          <a:noFill/>
        </p:spPr>
        <p:txBody>
          <a:bodyPr wrap="square" lIns="0" rIns="0" tIns="0" bIns="0" anchor="ctr">
            <a:spAutoFit/>
          </a:bodyPr>
          <a:lstStyle/>
          <a:p>
            <a:pPr algn="ctr"/>
            <a:r>
              <a:rPr sz="1200" b="1" lang="en-US">
                <a:solidFill>
                  <a:srgbClr val="1764A1"/>
                </a:solidFill>
                <a:latin typeface="Arial"/>
              </a:rPr>
              <a:t>LOG</a:t>
            </a:r>
          </a:p>
        </p:txBody>
      </p:sp>
      <p:sp>
        <p:nvSpPr>
          <p:cNvPr id="47" name="TextBox 46"/>
          <p:cNvSpPr txBox="1"/>
          <p:nvPr/>
        </p:nvSpPr>
        <p:spPr>
          <a:xfrm>
            <a:off x="10378440" y="2807208"/>
            <a:ext cx="896112" cy="502919"/>
          </a:xfrm>
          <a:prstGeom prst="rect">
            <a:avLst/>
          </a:prstGeom>
          <a:noFill/>
        </p:spPr>
        <p:txBody>
          <a:bodyPr wrap="square" lIns="0" rIns="0" tIns="0" bIns="0" anchor="ctr">
            <a:spAutoFit/>
          </a:bodyPr>
          <a:lstStyle/>
          <a:p>
            <a:pPr algn="ctr"/>
            <a:r>
              <a:rPr sz="1050" b="0" lang="en-US">
                <a:solidFill>
                  <a:srgbClr val="434343"/>
                </a:solidFill>
                <a:latin typeface="Arial"/>
              </a:rPr>
              <a:t>Receipts /
evidence</a:t>
            </a:r>
          </a:p>
        </p:txBody>
      </p:sp>
      <p:cxnSp>
        <p:nvCxnSpPr>
          <p:cNvPr id="48" name="Data to worker / 1"/>
          <p:cNvCxnSpPr/>
          <p:nvPr/>
        </p:nvCxnSpPr>
        <p:spPr>
          <a:xfrm>
            <a:off x="1956816" y="2866644"/>
            <a:ext cx="182880" cy="0"/>
          </a:xfrm>
          <a:prstGeom prst="line">
            <a:avLst/>
          </a:prstGeom>
          <a:ln w="1778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Publish reference / 1"/>
          <p:cNvCxnSpPr/>
          <p:nvPr/>
        </p:nvCxnSpPr>
        <p:spPr>
          <a:xfrm>
            <a:off x="3465576" y="2866644"/>
            <a:ext cx="59436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Publish artifacts / 1"/>
          <p:cNvCxnSpPr/>
          <p:nvPr/>
        </p:nvCxnSpPr>
        <p:spPr>
          <a:xfrm>
            <a:off x="2802636" y="3429000"/>
            <a:ext cx="0" cy="804672"/>
          </a:xfrm>
          <a:prstGeom prst="line">
            <a:avLst/>
          </a:prstGeom>
          <a:ln w="2286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1" name="Publish artifacts / 2"/>
          <p:cNvCxnSpPr/>
          <p:nvPr/>
        </p:nvCxnSpPr>
        <p:spPr>
          <a:xfrm>
            <a:off x="2802636" y="4233672"/>
            <a:ext cx="125730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edger to receiver / 1"/>
          <p:cNvCxnSpPr/>
          <p:nvPr/>
        </p:nvCxnSpPr>
        <p:spPr>
          <a:xfrm>
            <a:off x="6135624" y="2866644"/>
            <a:ext cx="60350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IPFS to receiver / 1"/>
          <p:cNvCxnSpPr/>
          <p:nvPr/>
        </p:nvCxnSpPr>
        <p:spPr>
          <a:xfrm>
            <a:off x="6135624" y="4233672"/>
            <a:ext cx="32004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IPFS to receiver / 2"/>
          <p:cNvCxnSpPr/>
          <p:nvPr/>
        </p:nvCxnSpPr>
        <p:spPr>
          <a:xfrm flipV="1">
            <a:off x="6455664" y="3163824"/>
            <a:ext cx="0" cy="1069848"/>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IPFS to receiver / 3"/>
          <p:cNvCxnSpPr/>
          <p:nvPr/>
        </p:nvCxnSpPr>
        <p:spPr>
          <a:xfrm>
            <a:off x="6455664" y="3163824"/>
            <a:ext cx="28346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Receiver to MCP / 1"/>
          <p:cNvCxnSpPr/>
          <p:nvPr/>
        </p:nvCxnSpPr>
        <p:spPr>
          <a:xfrm>
            <a:off x="8732520" y="2866644"/>
            <a:ext cx="210312"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MCP to log / 1"/>
          <p:cNvCxnSpPr/>
          <p:nvPr/>
        </p:nvCxnSpPr>
        <p:spPr>
          <a:xfrm>
            <a:off x="10049256" y="2866644"/>
            <a:ext cx="201168"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95528" y="4864608"/>
            <a:ext cx="2651760" cy="246888"/>
          </a:xfrm>
          <a:prstGeom prst="rect">
            <a:avLst/>
          </a:prstGeom>
          <a:noFill/>
        </p:spPr>
        <p:txBody>
          <a:bodyPr wrap="square" lIns="0" rIns="0" tIns="0" bIns="0" anchor="ctr">
            <a:spAutoFit/>
          </a:bodyPr>
          <a:lstStyle/>
          <a:p>
            <a:pPr algn="ctr"/>
            <a:r>
              <a:rPr sz="1150" b="1" lang="en-US">
                <a:solidFill>
                  <a:srgbClr val="207548"/>
                </a:solidFill>
                <a:latin typeface="Arial"/>
              </a:rPr>
              <a:t>Produces the model</a:t>
            </a:r>
          </a:p>
        </p:txBody>
      </p:sp>
      <p:sp>
        <p:nvSpPr>
          <p:cNvPr id="59" name="TextBox 58"/>
          <p:cNvSpPr txBox="1"/>
          <p:nvPr/>
        </p:nvSpPr>
        <p:spPr>
          <a:xfrm>
            <a:off x="6803136" y="4855464"/>
            <a:ext cx="4535424" cy="274320"/>
          </a:xfrm>
          <a:prstGeom prst="rect">
            <a:avLst/>
          </a:prstGeom>
          <a:noFill/>
        </p:spPr>
        <p:txBody>
          <a:bodyPr wrap="square" lIns="0" rIns="0" tIns="0" bIns="0" anchor="ctr">
            <a:spAutoFit/>
          </a:bodyPr>
          <a:lstStyle/>
          <a:p>
            <a:pPr algn="ctr"/>
            <a:r>
              <a:rPr sz="1200" b="1" lang="en-US">
                <a:solidFill>
                  <a:srgbClr val="1764A1"/>
                </a:solidFill>
                <a:latin typeface="Arial"/>
              </a:rPr>
              <a:t>The agent orchestrates tools and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6" name="Rounded Rectangle 225"/>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ounded Rectangle 228"/>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1" name="Rectangle 230"/>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5" name="TextBox 234"/>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6" name="Rounded Rectangle 235"/>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ounded Rectangle 238"/>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1" name="Rectangle 240"/>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extBox 243"/>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5" name="TextBox 244"/>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6" name="Rounded Rectangle 245"/>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ounded Rectangle 248"/>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extBox 249"/>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1" name="Rectangle 250"/>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5" name="TextBox 254"/>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6" name="Rounded Rectangle 255"/>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ounded Rectangle 258"/>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1" name="Rectangle 260"/>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5" name="TextBox 264"/>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6" name="TextBox 265"/>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7" name="Rounded Rectangle 266"/>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ounded Rectangle 269"/>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72" name="Rectangle 271"/>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6" name="TextBox 275"/>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7" name="Rounded Rectangle 276"/>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9" name="TextBox 278"/>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80" name="Connector 279"/>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8" name="Rounded Rectangle 287"/>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90" name="Rounded Rectangle 289"/>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92" name="Rounded Rectangle 291"/>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94" name="Connector 293"/>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6" name="Connector 295"/>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8" name="Connector 297"/>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9" name="TextBox 298"/>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300" name="Connector 299"/>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1" name="TextBox 300"/>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5" name="Rounded Rectangle 14"/>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7" name="Rectangle 16"/>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9" name="TextBox 18"/>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20" name="TextBox 19"/>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21" name="Rounded Rectangle 20"/>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23" name="Rectangle 22"/>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5" name="TextBox 24"/>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6" name="TextBox 25"/>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7" name="Rectangle 26"/>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9" name="TextBox 28"/>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From worker image to on-chain policy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Label: GITHUB ACTIONS"/>
          <p:cNvSpPr txBox="1"/>
          <p:nvPr/>
        </p:nvSpPr>
        <p:spPr>
          <a:xfrm>
            <a:off x="2002536" y="1444752"/>
            <a:ext cx="5577840" cy="265176"/>
          </a:xfrm>
          <a:prstGeom prst="rect">
            <a:avLst/>
          </a:prstGeom>
          <a:noFill/>
        </p:spPr>
        <p:txBody>
          <a:bodyPr wrap="square" lIns="0" rIns="0" tIns="0" bIns="0" anchor="ctr">
            <a:spAutoFit/>
          </a:bodyPr>
          <a:lstStyle/>
          <a:p>
            <a:pPr algn="ctr"/>
            <a:r>
              <a:rPr sz="1300" b="1" lang="en-US">
                <a:solidFill>
                  <a:srgbClr val="1764A1"/>
                </a:solidFill>
                <a:latin typeface="Arial"/>
              </a:rPr>
              <a:t>GITHUB ACTIONS</a:t>
            </a:r>
          </a:p>
        </p:txBody>
      </p:sp>
      <p:sp>
        <p:nvSpPr>
          <p:cNvPr id="14" name="Label: GitHub push"/>
          <p:cNvSpPr txBox="1"/>
          <p:nvPr/>
        </p:nvSpPr>
        <p:spPr>
          <a:xfrm>
            <a:off x="548639" y="2441448"/>
            <a:ext cx="2011680" cy="374904"/>
          </a:xfrm>
          <a:prstGeom prst="rect">
            <a:avLst/>
          </a:prstGeom>
          <a:noFill/>
        </p:spPr>
        <p:txBody>
          <a:bodyPr wrap="square" lIns="0" rIns="0" tIns="0" bIns="0" anchor="ctr">
            <a:spAutoFit/>
          </a:bodyPr>
          <a:lstStyle/>
          <a:p>
            <a:pPr algn="ctr"/>
            <a:r>
              <a:rPr sz="2000" b="1" lang="en-US">
                <a:solidFill>
                  <a:srgbClr val="263440"/>
                </a:solidFill>
                <a:latin typeface="Arial"/>
              </a:rPr>
              <a:t>GitHub push</a:t>
            </a:r>
          </a:p>
        </p:txBody>
      </p:sp>
      <p:sp>
        <p:nvSpPr>
          <p:cNvPr id="15" name="Label: Worker tests"/>
          <p:cNvSpPr txBox="1"/>
          <p:nvPr/>
        </p:nvSpPr>
        <p:spPr>
          <a:xfrm>
            <a:off x="2697480" y="2441448"/>
            <a:ext cx="2377440" cy="374904"/>
          </a:xfrm>
          <a:prstGeom prst="rect">
            <a:avLst/>
          </a:prstGeom>
          <a:noFill/>
        </p:spPr>
        <p:txBody>
          <a:bodyPr wrap="square" lIns="0" rIns="0" tIns="0" bIns="0" anchor="ctr">
            <a:spAutoFit/>
          </a:bodyPr>
          <a:lstStyle/>
          <a:p>
            <a:pPr algn="ctr"/>
            <a:r>
              <a:rPr sz="2000" b="1" lang="en-US">
                <a:solidFill>
                  <a:srgbClr val="1764A1"/>
                </a:solidFill>
                <a:latin typeface="Arial"/>
              </a:rPr>
              <a:t>Worker tests</a:t>
            </a:r>
          </a:p>
        </p:txBody>
      </p:sp>
      <p:sp>
        <p:nvSpPr>
          <p:cNvPr id="16" name="Label: Build → GHCR"/>
          <p:cNvSpPr txBox="1"/>
          <p:nvPr/>
        </p:nvSpPr>
        <p:spPr>
          <a:xfrm>
            <a:off x="5554980" y="2441448"/>
            <a:ext cx="2606040" cy="374904"/>
          </a:xfrm>
          <a:prstGeom prst="rect">
            <a:avLst/>
          </a:prstGeom>
          <a:noFill/>
        </p:spPr>
        <p:txBody>
          <a:bodyPr wrap="square" lIns="0" rIns="0" tIns="0" bIns="0" anchor="ctr">
            <a:spAutoFit/>
          </a:bodyPr>
          <a:lstStyle/>
          <a:p>
            <a:pPr algn="ctr"/>
            <a:r>
              <a:rPr sz="2000" b="1" lang="en-US">
                <a:solidFill>
                  <a:srgbClr val="1764A1"/>
                </a:solidFill>
                <a:latin typeface="Arial"/>
              </a:rPr>
              <a:t>Build → GHCR</a:t>
            </a:r>
          </a:p>
        </p:txBody>
      </p:sp>
      <p:sp>
        <p:nvSpPr>
          <p:cNvPr id="17" name="Label: Terraform"/>
          <p:cNvSpPr txBox="1"/>
          <p:nvPr/>
        </p:nvSpPr>
        <p:spPr>
          <a:xfrm>
            <a:off x="8618220" y="2441448"/>
            <a:ext cx="2514600" cy="374904"/>
          </a:xfrm>
          <a:prstGeom prst="rect">
            <a:avLst/>
          </a:prstGeom>
          <a:noFill/>
        </p:spPr>
        <p:txBody>
          <a:bodyPr wrap="square" lIns="0" rIns="0" tIns="0" bIns="0" anchor="ctr">
            <a:spAutoFit/>
          </a:bodyPr>
          <a:lstStyle/>
          <a:p>
            <a:pPr algn="ctr"/>
            <a:r>
              <a:rPr sz="2000" b="1" lang="en-US">
                <a:solidFill>
                  <a:srgbClr val="7446A6"/>
                </a:solidFill>
                <a:latin typeface="Arial"/>
              </a:rPr>
              <a:t>Terraform</a:t>
            </a:r>
          </a:p>
        </p:txBody>
      </p:sp>
      <p:cxnSp>
        <p:nvCxnSpPr>
          <p:cNvPr id="18" name="Pipeline flow"/>
          <p:cNvCxnSpPr/>
          <p:nvPr/>
        </p:nvCxnSpPr>
        <p:spPr>
          <a:xfrm>
            <a:off x="2011680" y="2020824"/>
            <a:ext cx="138074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Pipeline flow"/>
          <p:cNvCxnSpPr/>
          <p:nvPr/>
        </p:nvCxnSpPr>
        <p:spPr>
          <a:xfrm>
            <a:off x="4389120" y="2020824"/>
            <a:ext cx="197510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Pipeline flow"/>
          <p:cNvCxnSpPr/>
          <p:nvPr/>
        </p:nvCxnSpPr>
        <p:spPr>
          <a:xfrm>
            <a:off x="7351775" y="2020824"/>
            <a:ext cx="2029969"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Pipeline flow"/>
          <p:cNvCxnSpPr/>
          <p:nvPr/>
        </p:nvCxnSpPr>
        <p:spPr>
          <a:xfrm>
            <a:off x="1444752" y="1819656"/>
            <a:ext cx="0" cy="402336"/>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Pipeline flow"/>
          <p:cNvCxnSpPr/>
          <p:nvPr/>
        </p:nvCxnSpPr>
        <p:spPr>
          <a:xfrm flipV="1">
            <a:off x="1444752" y="1892807"/>
            <a:ext cx="274320" cy="192024"/>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Pipeline flow"/>
          <p:cNvCxnSpPr/>
          <p:nvPr/>
        </p:nvCxnSpPr>
        <p:spPr>
          <a:xfrm flipV="1">
            <a:off x="1719072" y="1819656"/>
            <a:ext cx="0" cy="73151"/>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99032"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399032" y="2176272"/>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73351"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94176" y="1801368"/>
            <a:ext cx="384048" cy="438912"/>
          </a:xfrm>
          <a:prstGeom prst="rect">
            <a:avLst/>
          </a:prstGeom>
          <a:solidFill>
            <a:srgbClr val="FFFFFF"/>
          </a:solidFill>
          <a:ln w="2032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Pipeline flow"/>
          <p:cNvCxnSpPr/>
          <p:nvPr/>
        </p:nvCxnSpPr>
        <p:spPr>
          <a:xfrm>
            <a:off x="3749039" y="1911095"/>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29" name="Pipeline flow"/>
          <p:cNvCxnSpPr/>
          <p:nvPr/>
        </p:nvCxnSpPr>
        <p:spPr>
          <a:xfrm flipV="1">
            <a:off x="3803904" y="1856231"/>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0" name="Pipeline flow"/>
          <p:cNvCxnSpPr/>
          <p:nvPr/>
        </p:nvCxnSpPr>
        <p:spPr>
          <a:xfrm>
            <a:off x="3941063" y="1911095"/>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1" name="Pipeline flow"/>
          <p:cNvCxnSpPr/>
          <p:nvPr/>
        </p:nvCxnSpPr>
        <p:spPr>
          <a:xfrm>
            <a:off x="3749039" y="2075688"/>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2" name="Pipeline flow"/>
          <p:cNvCxnSpPr/>
          <p:nvPr/>
        </p:nvCxnSpPr>
        <p:spPr>
          <a:xfrm flipV="1">
            <a:off x="3803904" y="2020824"/>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3" name="Pipeline flow"/>
          <p:cNvCxnSpPr/>
          <p:nvPr/>
        </p:nvCxnSpPr>
        <p:spPr>
          <a:xfrm>
            <a:off x="3941063" y="2075688"/>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4" name="Pipeline flow"/>
          <p:cNvCxnSpPr/>
          <p:nvPr/>
        </p:nvCxnSpPr>
        <p:spPr>
          <a:xfrm>
            <a:off x="68580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5" name="Pipeline flow"/>
          <p:cNvCxnSpPr/>
          <p:nvPr/>
        </p:nvCxnSpPr>
        <p:spPr>
          <a:xfrm>
            <a:off x="70866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6" name="Pipeline flow"/>
          <p:cNvCxnSpPr/>
          <p:nvPr/>
        </p:nvCxnSpPr>
        <p:spPr>
          <a:xfrm flipH="1">
            <a:off x="68580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7" name="Pipeline flow"/>
          <p:cNvCxnSpPr/>
          <p:nvPr/>
        </p:nvCxnSpPr>
        <p:spPr>
          <a:xfrm flipH="1" flipV="1">
            <a:off x="66294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8" name="Pipeline flow"/>
          <p:cNvCxnSpPr/>
          <p:nvPr/>
        </p:nvCxnSpPr>
        <p:spPr>
          <a:xfrm flipV="1">
            <a:off x="66294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9" name="Pipeline flow"/>
          <p:cNvCxnSpPr/>
          <p:nvPr/>
        </p:nvCxnSpPr>
        <p:spPr>
          <a:xfrm flipV="1">
            <a:off x="66294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0" name="Pipeline flow"/>
          <p:cNvCxnSpPr/>
          <p:nvPr/>
        </p:nvCxnSpPr>
        <p:spPr>
          <a:xfrm>
            <a:off x="66294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1" name="Pipeline flow"/>
          <p:cNvCxnSpPr/>
          <p:nvPr/>
        </p:nvCxnSpPr>
        <p:spPr>
          <a:xfrm flipV="1">
            <a:off x="68580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2" name="Pipeline flow"/>
          <p:cNvCxnSpPr/>
          <p:nvPr/>
        </p:nvCxnSpPr>
        <p:spPr>
          <a:xfrm>
            <a:off x="6858000" y="2057400"/>
            <a:ext cx="0" cy="23774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619488"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02952"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902952" y="2075688"/>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Label: Worker code"/>
          <p:cNvSpPr txBox="1"/>
          <p:nvPr/>
        </p:nvSpPr>
        <p:spPr>
          <a:xfrm>
            <a:off x="685800" y="2907792"/>
            <a:ext cx="1737360" cy="283464"/>
          </a:xfrm>
          <a:prstGeom prst="rect">
            <a:avLst/>
          </a:prstGeom>
          <a:noFill/>
        </p:spPr>
        <p:txBody>
          <a:bodyPr wrap="square" lIns="0" rIns="0" tIns="0" bIns="0" anchor="ctr">
            <a:spAutoFit/>
          </a:bodyPr>
          <a:lstStyle/>
          <a:p>
            <a:pPr algn="ctr"/>
            <a:r>
              <a:rPr sz="1600" b="0" lang="en-US">
                <a:solidFill>
                  <a:srgbClr val="67747C"/>
                </a:solidFill>
                <a:latin typeface="Arial"/>
              </a:rPr>
              <a:t>Worker code</a:t>
            </a:r>
          </a:p>
        </p:txBody>
      </p:sp>
      <p:sp>
        <p:nvSpPr>
          <p:cNvPr id="47" name="Label: TS / JS · policy and rounds"/>
          <p:cNvSpPr txBox="1"/>
          <p:nvPr/>
        </p:nvSpPr>
        <p:spPr>
          <a:xfrm>
            <a:off x="2313432" y="2907792"/>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TS / JS · policy and rounds</a:t>
            </a:r>
          </a:p>
        </p:txBody>
      </p:sp>
      <p:sp>
        <p:nvSpPr>
          <p:cNvPr id="48" name="Label: Python · data and receipts"/>
          <p:cNvSpPr txBox="1"/>
          <p:nvPr/>
        </p:nvSpPr>
        <p:spPr>
          <a:xfrm>
            <a:off x="2313432" y="3218688"/>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Python · data and receipts</a:t>
            </a:r>
          </a:p>
        </p:txBody>
      </p:sp>
      <p:sp>
        <p:nvSpPr>
          <p:cNvPr id="49" name="Rounded Rectangle 48"/>
          <p:cNvSpPr/>
          <p:nvPr/>
        </p:nvSpPr>
        <p:spPr>
          <a:xfrm>
            <a:off x="5687568" y="2880360"/>
            <a:ext cx="2340864" cy="42976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Label: Image Digest"/>
          <p:cNvSpPr txBox="1"/>
          <p:nvPr/>
        </p:nvSpPr>
        <p:spPr>
          <a:xfrm>
            <a:off x="5769864" y="2935224"/>
            <a:ext cx="2176272" cy="301752"/>
          </a:xfrm>
          <a:prstGeom prst="rect">
            <a:avLst/>
          </a:prstGeom>
          <a:noFill/>
        </p:spPr>
        <p:txBody>
          <a:bodyPr wrap="square" lIns="0" rIns="0" tIns="0" bIns="0" anchor="ctr">
            <a:spAutoFit/>
          </a:bodyPr>
          <a:lstStyle/>
          <a:p>
            <a:pPr algn="ctr"/>
            <a:r>
              <a:rPr sz="1700" b="1" lang="en-US">
                <a:solidFill>
                  <a:srgbClr val="7446A6"/>
                </a:solidFill>
                <a:latin typeface="Arial"/>
              </a:rPr>
              <a:t>Image Digest</a:t>
            </a:r>
          </a:p>
        </p:txBody>
      </p:sp>
      <p:sp>
        <p:nvSpPr>
          <p:cNvPr id="51" name="Label: GitHub env: phala"/>
          <p:cNvSpPr txBox="1"/>
          <p:nvPr/>
        </p:nvSpPr>
        <p:spPr>
          <a:xfrm>
            <a:off x="8577072" y="2907792"/>
            <a:ext cx="2596896" cy="283464"/>
          </a:xfrm>
          <a:prstGeom prst="rect">
            <a:avLst/>
          </a:prstGeom>
          <a:noFill/>
        </p:spPr>
        <p:txBody>
          <a:bodyPr wrap="square" lIns="0" rIns="0" tIns="0" bIns="0" anchor="ctr">
            <a:spAutoFit/>
          </a:bodyPr>
          <a:lstStyle/>
          <a:p>
            <a:pPr algn="ctr"/>
            <a:r>
              <a:rPr sz="1500" b="0" lang="en-US">
                <a:solidFill>
                  <a:srgbClr val="67747C"/>
                </a:solidFill>
                <a:latin typeface="Arial"/>
              </a:rPr>
              <a:t>GitHub env: phala</a:t>
            </a:r>
          </a:p>
        </p:txBody>
      </p:sp>
      <p:sp>
        <p:nvSpPr>
          <p:cNvPr id="52" name="Label: worker_image"/>
          <p:cNvSpPr txBox="1"/>
          <p:nvPr/>
        </p:nvSpPr>
        <p:spPr>
          <a:xfrm>
            <a:off x="8577072" y="3236976"/>
            <a:ext cx="2596896" cy="256032"/>
          </a:xfrm>
          <a:prstGeom prst="rect">
            <a:avLst/>
          </a:prstGeom>
          <a:noFill/>
        </p:spPr>
        <p:txBody>
          <a:bodyPr wrap="square" lIns="0" rIns="0" tIns="0" bIns="0" anchor="ctr">
            <a:spAutoFit/>
          </a:bodyPr>
          <a:lstStyle/>
          <a:p>
            <a:pPr algn="ctr"/>
            <a:r>
              <a:rPr sz="1400" b="1" lang="en-US">
                <a:solidFill>
                  <a:srgbClr val="7446A6"/>
                </a:solidFill>
                <a:latin typeface="Arial"/>
              </a:rPr>
              <a:t>worker_image</a:t>
            </a:r>
          </a:p>
        </p:txBody>
      </p:sp>
      <p:cxnSp>
        <p:nvCxnSpPr>
          <p:cNvPr id="53" name="Pipeline flow"/>
          <p:cNvCxnSpPr/>
          <p:nvPr/>
        </p:nvCxnSpPr>
        <p:spPr>
          <a:xfrm>
            <a:off x="9875520" y="3557016"/>
            <a:ext cx="0" cy="173736"/>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Pipeline flow"/>
          <p:cNvCxnSpPr/>
          <p:nvPr/>
        </p:nvCxnSpPr>
        <p:spPr>
          <a:xfrm flipH="1">
            <a:off x="2880360" y="3730752"/>
            <a:ext cx="699516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Pipeline flow"/>
          <p:cNvCxnSpPr/>
          <p:nvPr/>
        </p:nvCxnSpPr>
        <p:spPr>
          <a:xfrm>
            <a:off x="2880360" y="3730752"/>
            <a:ext cx="0" cy="265176"/>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Label: Pinned worker image"/>
          <p:cNvSpPr txBox="1"/>
          <p:nvPr/>
        </p:nvSpPr>
        <p:spPr>
          <a:xfrm>
            <a:off x="4672584" y="3419856"/>
            <a:ext cx="2843784" cy="256032"/>
          </a:xfrm>
          <a:prstGeom prst="rect">
            <a:avLst/>
          </a:prstGeom>
          <a:noFill/>
        </p:spPr>
        <p:txBody>
          <a:bodyPr wrap="square" lIns="0" rIns="0" tIns="0" bIns="0" anchor="ctr">
            <a:spAutoFit/>
          </a:bodyPr>
          <a:lstStyle/>
          <a:p>
            <a:pPr algn="ctr"/>
            <a:r>
              <a:rPr sz="1400" b="0" lang="en-US">
                <a:solidFill>
                  <a:srgbClr val="7446A6"/>
                </a:solidFill>
                <a:latin typeface="Arial"/>
              </a:rPr>
              <a:t>Pinned worker image</a:t>
            </a:r>
          </a:p>
        </p:txBody>
      </p:sp>
      <p:sp>
        <p:nvSpPr>
          <p:cNvPr id="57" name="Label: PHALA / DSTACK"/>
          <p:cNvSpPr txBox="1"/>
          <p:nvPr/>
        </p:nvSpPr>
        <p:spPr>
          <a:xfrm>
            <a:off x="795528" y="3776472"/>
            <a:ext cx="1819656" cy="246888"/>
          </a:xfrm>
          <a:prstGeom prst="rect">
            <a:avLst/>
          </a:prstGeom>
          <a:noFill/>
        </p:spPr>
        <p:txBody>
          <a:bodyPr wrap="square" lIns="0" rIns="0" tIns="0" bIns="0" anchor="ctr">
            <a:spAutoFit/>
          </a:bodyPr>
          <a:lstStyle/>
          <a:p>
            <a:pPr algn="l"/>
            <a:r>
              <a:rPr sz="1200" b="1" lang="en-US">
                <a:solidFill>
                  <a:srgbClr val="207548"/>
                </a:solidFill>
                <a:latin typeface="Arial"/>
              </a:rPr>
              <a:t>PHALA / DSTACK</a:t>
            </a:r>
          </a:p>
        </p:txBody>
      </p:sp>
      <p:sp>
        <p:nvSpPr>
          <p:cNvPr id="58" name="Rounded Rectangle 57"/>
          <p:cNvSpPr/>
          <p:nvPr/>
        </p:nvSpPr>
        <p:spPr>
          <a:xfrm>
            <a:off x="594360" y="4050791"/>
            <a:ext cx="4572000"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Contracts container"/>
          <p:cNvSpPr txBox="1"/>
          <p:nvPr/>
        </p:nvSpPr>
        <p:spPr>
          <a:xfrm>
            <a:off x="795528" y="4169663"/>
            <a:ext cx="4169663" cy="393192"/>
          </a:xfrm>
          <a:prstGeom prst="rect">
            <a:avLst/>
          </a:prstGeom>
          <a:noFill/>
        </p:spPr>
        <p:txBody>
          <a:bodyPr wrap="square" lIns="0" rIns="0" tIns="0" bIns="0" anchor="ctr">
            <a:spAutoFit/>
          </a:bodyPr>
          <a:lstStyle/>
          <a:p>
            <a:pPr algn="ctr"/>
            <a:r>
              <a:rPr sz="2300" b="1" lang="en-US">
                <a:solidFill>
                  <a:srgbClr val="7446A6"/>
                </a:solidFill>
                <a:latin typeface="Arial"/>
              </a:rPr>
              <a:t>Contracts container</a:t>
            </a:r>
          </a:p>
        </p:txBody>
      </p:sp>
      <p:sp>
        <p:nvSpPr>
          <p:cNvPr id="60" name="Label: EXPECTED_WORKER_IMAGE"/>
          <p:cNvSpPr txBox="1"/>
          <p:nvPr/>
        </p:nvSpPr>
        <p:spPr>
          <a:xfrm>
            <a:off x="795528" y="4654296"/>
            <a:ext cx="4169663" cy="310896"/>
          </a:xfrm>
          <a:prstGeom prst="rect">
            <a:avLst/>
          </a:prstGeom>
          <a:noFill/>
        </p:spPr>
        <p:txBody>
          <a:bodyPr wrap="square" lIns="0" rIns="0" tIns="0" bIns="0" anchor="ctr">
            <a:spAutoFit/>
          </a:bodyPr>
          <a:lstStyle/>
          <a:p>
            <a:pPr algn="ctr"/>
            <a:r>
              <a:rPr sz="1700" b="1" lang="en-US">
                <a:solidFill>
                  <a:srgbClr val="7446A6"/>
                </a:solidFill>
                <a:latin typeface="Arial"/>
              </a:rPr>
              <a:t>EXPECTED_WORKER_IMAGE</a:t>
            </a:r>
          </a:p>
        </p:txBody>
      </p:sp>
      <p:sp>
        <p:nvSpPr>
          <p:cNvPr id="61" name="Label: ghcr.io/…@sha256:Digest"/>
          <p:cNvSpPr txBox="1"/>
          <p:nvPr/>
        </p:nvSpPr>
        <p:spPr>
          <a:xfrm>
            <a:off x="795528" y="5084064"/>
            <a:ext cx="4169663" cy="292608"/>
          </a:xfrm>
          <a:prstGeom prst="rect">
            <a:avLst/>
          </a:prstGeom>
          <a:noFill/>
        </p:spPr>
        <p:txBody>
          <a:bodyPr wrap="square" lIns="0" rIns="0" tIns="0" bIns="0" anchor="ctr">
            <a:spAutoFit/>
          </a:bodyPr>
          <a:lstStyle/>
          <a:p>
            <a:pPr algn="ctr"/>
            <a:r>
              <a:rPr sz="1600" b="0" lang="en-US">
                <a:solidFill>
                  <a:srgbClr val="263440"/>
                </a:solidFill>
                <a:latin typeface="Arial"/>
              </a:rPr>
              <a:t>ghcr.io/…@sha256:Digest</a:t>
            </a:r>
          </a:p>
        </p:txBody>
      </p:sp>
      <p:cxnSp>
        <p:nvCxnSpPr>
          <p:cNvPr id="62" name="Pipeline flow"/>
          <p:cNvCxnSpPr/>
          <p:nvPr/>
        </p:nvCxnSpPr>
        <p:spPr>
          <a:xfrm>
            <a:off x="5221224" y="4745736"/>
            <a:ext cx="1600200"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Label: Extract digest"/>
          <p:cNvSpPr txBox="1"/>
          <p:nvPr/>
        </p:nvSpPr>
        <p:spPr>
          <a:xfrm>
            <a:off x="5257800" y="4297680"/>
            <a:ext cx="1527048" cy="274320"/>
          </a:xfrm>
          <a:prstGeom prst="rect">
            <a:avLst/>
          </a:prstGeom>
          <a:noFill/>
        </p:spPr>
        <p:txBody>
          <a:bodyPr wrap="square" lIns="0" rIns="0" tIns="0" bIns="0" anchor="ctr">
            <a:spAutoFit/>
          </a:bodyPr>
          <a:lstStyle/>
          <a:p>
            <a:pPr algn="ctr"/>
            <a:r>
              <a:rPr sz="1400" b="0" lang="en-US">
                <a:solidFill>
                  <a:srgbClr val="263440"/>
                </a:solidFill>
                <a:latin typeface="Arial"/>
              </a:rPr>
              <a:t>Extract digest</a:t>
            </a:r>
          </a:p>
        </p:txBody>
      </p:sp>
      <p:sp>
        <p:nvSpPr>
          <p:cNvPr id="64" name="Label: Owner transaction"/>
          <p:cNvSpPr txBox="1"/>
          <p:nvPr/>
        </p:nvSpPr>
        <p:spPr>
          <a:xfrm>
            <a:off x="5257800" y="4919472"/>
            <a:ext cx="1527048" cy="502920"/>
          </a:xfrm>
          <a:prstGeom prst="rect">
            <a:avLst/>
          </a:prstGeom>
          <a:noFill/>
        </p:spPr>
        <p:txBody>
          <a:bodyPr wrap="square" lIns="0" rIns="0" tIns="0" bIns="0" anchor="ctr">
            <a:spAutoFit/>
          </a:bodyPr>
          <a:lstStyle/>
          <a:p>
            <a:pPr algn="ctr"/>
            <a:r>
              <a:rPr sz="1300" b="0" lang="en-US">
                <a:solidFill>
                  <a:srgbClr val="7446A6"/>
                </a:solidFill>
                <a:latin typeface="Arial"/>
              </a:rPr>
              <a:t>Owner transaction</a:t>
            </a:r>
          </a:p>
        </p:txBody>
      </p:sp>
      <p:sp>
        <p:nvSpPr>
          <p:cNvPr id="65" name="Label: RUNNING BLOCKCHAIN"/>
          <p:cNvSpPr txBox="1"/>
          <p:nvPr/>
        </p:nvSpPr>
        <p:spPr>
          <a:xfrm>
            <a:off x="7040880" y="3776472"/>
            <a:ext cx="4315968" cy="246888"/>
          </a:xfrm>
          <a:prstGeom prst="rect">
            <a:avLst/>
          </a:prstGeom>
          <a:noFill/>
        </p:spPr>
        <p:txBody>
          <a:bodyPr wrap="square" lIns="0" rIns="0" tIns="0" bIns="0" anchor="ctr">
            <a:spAutoFit/>
          </a:bodyPr>
          <a:lstStyle/>
          <a:p>
            <a:pPr algn="l"/>
            <a:r>
              <a:rPr sz="1200" b="1" lang="en-US">
                <a:solidFill>
                  <a:srgbClr val="7446A6"/>
                </a:solidFill>
                <a:latin typeface="Arial"/>
              </a:rPr>
              <a:t>RUNNING BLOCKCHAIN</a:t>
            </a:r>
          </a:p>
        </p:txBody>
      </p:sp>
      <p:sp>
        <p:nvSpPr>
          <p:cNvPr id="66" name="Rounded Rectangle 65"/>
          <p:cNvSpPr/>
          <p:nvPr/>
        </p:nvSpPr>
        <p:spPr>
          <a:xfrm>
            <a:off x="6876288" y="4050791"/>
            <a:ext cx="4718304"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DeviceRegistry"/>
          <p:cNvSpPr txBox="1"/>
          <p:nvPr/>
        </p:nvSpPr>
        <p:spPr>
          <a:xfrm>
            <a:off x="7077456" y="4169663"/>
            <a:ext cx="4315968" cy="393192"/>
          </a:xfrm>
          <a:prstGeom prst="rect">
            <a:avLst/>
          </a:prstGeom>
          <a:noFill/>
        </p:spPr>
        <p:txBody>
          <a:bodyPr wrap="square" lIns="0" rIns="0" tIns="0" bIns="0" anchor="ctr">
            <a:spAutoFit/>
          </a:bodyPr>
          <a:lstStyle/>
          <a:p>
            <a:pPr algn="ctr"/>
            <a:r>
              <a:rPr sz="2300" b="1" lang="en-US">
                <a:solidFill>
                  <a:srgbClr val="7446A6"/>
                </a:solidFill>
                <a:latin typeface="Arial"/>
              </a:rPr>
              <a:t>DeviceRegistry</a:t>
            </a:r>
          </a:p>
        </p:txBody>
      </p:sp>
      <p:sp>
        <p:nvSpPr>
          <p:cNvPr id="68" name="Label: expectedWorkerImageDigest = Digest"/>
          <p:cNvSpPr txBox="1"/>
          <p:nvPr/>
        </p:nvSpPr>
        <p:spPr>
          <a:xfrm>
            <a:off x="7077456" y="4663440"/>
            <a:ext cx="4315968" cy="310896"/>
          </a:xfrm>
          <a:prstGeom prst="rect">
            <a:avLst/>
          </a:prstGeom>
          <a:noFill/>
        </p:spPr>
        <p:txBody>
          <a:bodyPr wrap="square" lIns="0" rIns="0" tIns="0" bIns="0" anchor="ctr">
            <a:spAutoFit/>
          </a:bodyPr>
          <a:lstStyle/>
          <a:p>
            <a:pPr algn="ctr"/>
            <a:r>
              <a:rPr sz="1450" b="1" lang="en-US">
                <a:solidFill>
                  <a:srgbClr val="7446A6"/>
                </a:solidFill>
                <a:latin typeface="Arial"/>
              </a:rPr>
              <a:t>expectedWorkerImageDigest = Digest</a:t>
            </a:r>
          </a:p>
        </p:txBody>
      </p:sp>
      <p:sp>
        <p:nvSpPr>
          <p:cNvPr id="69" name="Label: setExpectedWorkerImageDigest(bytes32)"/>
          <p:cNvSpPr txBox="1"/>
          <p:nvPr/>
        </p:nvSpPr>
        <p:spPr>
          <a:xfrm>
            <a:off x="7077456" y="5102352"/>
            <a:ext cx="4315968" cy="265176"/>
          </a:xfrm>
          <a:prstGeom prst="rect">
            <a:avLst/>
          </a:prstGeom>
          <a:noFill/>
        </p:spPr>
        <p:txBody>
          <a:bodyPr wrap="square" lIns="0" rIns="0" tIns="0" bIns="0" anchor="ctr">
            <a:spAutoFit/>
          </a:bodyPr>
          <a:lstStyle/>
          <a:p>
            <a:pPr algn="ctr"/>
            <a:r>
              <a:rPr sz="1350" b="0" lang="en-US">
                <a:solidFill>
                  <a:srgbClr val="263440"/>
                </a:solidFill>
                <a:latin typeface="Arial"/>
              </a:rPr>
              <a:t>setExpectedWorkerImageDigest(bytes32)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Verify the deployed worker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SUBMIT APP_COMPOSE, EVENT LOG AND TDX QUOTE TOGETHER FOR ON-CHAIN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ttestation: WORKER TEE / DSTACK"/>
          <p:cNvSpPr txBox="1"/>
          <p:nvPr/>
        </p:nvSpPr>
        <p:spPr>
          <a:xfrm>
            <a:off x="594360" y="1417320"/>
            <a:ext cx="2542032" cy="274320"/>
          </a:xfrm>
          <a:prstGeom prst="rect">
            <a:avLst/>
          </a:prstGeom>
          <a:noFill/>
        </p:spPr>
        <p:txBody>
          <a:bodyPr wrap="square" lIns="0" rIns="0" tIns="0" bIns="0" anchor="ctr">
            <a:spAutoFit/>
          </a:bodyPr>
          <a:lstStyle/>
          <a:p>
            <a:pPr algn="ctr"/>
            <a:r>
              <a:rPr sz="1300" b="1" lang="en-US">
                <a:solidFill>
                  <a:srgbClr val="207548"/>
                </a:solidFill>
                <a:latin typeface="Arial"/>
              </a:rPr>
              <a:t>WORKER TEE / DSTACK</a:t>
            </a:r>
          </a:p>
        </p:txBody>
      </p:sp>
      <p:sp>
        <p:nvSpPr>
          <p:cNvPr id="14" name="Rounded Rectangle 13"/>
          <p:cNvSpPr/>
          <p:nvPr/>
        </p:nvSpPr>
        <p:spPr>
          <a:xfrm>
            <a:off x="3401568" y="1353312"/>
            <a:ext cx="8193024" cy="4325112"/>
          </a:xfrm>
          <a:prstGeom prst="roundRect">
            <a:avLst/>
          </a:prstGeom>
          <a:solidFill>
            <a:srgbClr val="FAF8FC"/>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ttestation: ON CHAIN · DeviceRegistry + DCAP verifier"/>
          <p:cNvSpPr txBox="1"/>
          <p:nvPr/>
        </p:nvSpPr>
        <p:spPr>
          <a:xfrm>
            <a:off x="3639312" y="1463040"/>
            <a:ext cx="7680960" cy="301752"/>
          </a:xfrm>
          <a:prstGeom prst="rect">
            <a:avLst/>
          </a:prstGeom>
          <a:noFill/>
        </p:spPr>
        <p:txBody>
          <a:bodyPr wrap="square" lIns="0" rIns="0" tIns="0" bIns="0" anchor="ctr">
            <a:spAutoFit/>
          </a:bodyPr>
          <a:lstStyle/>
          <a:p>
            <a:pPr algn="ctr"/>
            <a:r>
              <a:rPr sz="1600" b="1" lang="en-US">
                <a:solidFill>
                  <a:srgbClr val="7446A6"/>
                </a:solidFill>
                <a:latin typeface="Arial"/>
              </a:rPr>
              <a:t>ON CHAIN · DeviceRegistry + DCAP verifier</a:t>
            </a:r>
          </a:p>
        </p:txBody>
      </p:sp>
      <p:sp>
        <p:nvSpPr>
          <p:cNvPr id="16" name="Rounded Rectangle 15"/>
          <p:cNvSpPr/>
          <p:nvPr/>
        </p:nvSpPr>
        <p:spPr>
          <a:xfrm>
            <a:off x="594360" y="192024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639312" y="192024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172968" y="230886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320040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39312" y="320040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172968" y="35890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4360" y="4480560"/>
            <a:ext cx="2542032" cy="96012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39312" y="4480560"/>
            <a:ext cx="5934456" cy="96012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172968" y="49606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ttestation: app_compose"/>
          <p:cNvSpPr txBox="1"/>
          <p:nvPr/>
        </p:nvSpPr>
        <p:spPr>
          <a:xfrm>
            <a:off x="731520" y="201168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app_compose</a:t>
            </a:r>
          </a:p>
        </p:txBody>
      </p:sp>
      <p:sp>
        <p:nvSpPr>
          <p:cNvPr id="26" name="Attestation: …@sha256:Digest"/>
          <p:cNvSpPr txBox="1"/>
          <p:nvPr/>
        </p:nvSpPr>
        <p:spPr>
          <a:xfrm>
            <a:off x="731520" y="2386584"/>
            <a:ext cx="2267712" cy="210312"/>
          </a:xfrm>
          <a:prstGeom prst="rect">
            <a:avLst/>
          </a:prstGeom>
          <a:noFill/>
        </p:spPr>
        <p:txBody>
          <a:bodyPr wrap="square" lIns="0" rIns="0" tIns="0" bIns="0" anchor="ctr">
            <a:spAutoFit/>
          </a:bodyPr>
          <a:lstStyle/>
          <a:p>
            <a:pPr algn="ctr"/>
            <a:r>
              <a:rPr sz="1400" b="0" lang="en-US">
                <a:solidFill>
                  <a:srgbClr val="263440"/>
                </a:solidFill>
                <a:latin typeface="Arial"/>
              </a:rPr>
              <a:t>…@sha256:Digest</a:t>
            </a:r>
          </a:p>
        </p:txBody>
      </p:sp>
      <p:sp>
        <p:nvSpPr>
          <p:cNvPr id="27" name="Attestation: Compare image Digest with stored policy"/>
          <p:cNvSpPr txBox="1"/>
          <p:nvPr/>
        </p:nvSpPr>
        <p:spPr>
          <a:xfrm>
            <a:off x="3776472" y="201168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Compare image Digest with stored policy</a:t>
            </a:r>
          </a:p>
        </p:txBody>
      </p:sp>
      <p:sp>
        <p:nvSpPr>
          <p:cNvPr id="28" name="Attestation: DeviceRegistry.expectedWorkerImageDigest"/>
          <p:cNvSpPr txBox="1"/>
          <p:nvPr/>
        </p:nvSpPr>
        <p:spPr>
          <a:xfrm>
            <a:off x="3776472" y="2395728"/>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DeviceRegistry.expectedWorkerImageDigest</a:t>
            </a:r>
          </a:p>
        </p:txBody>
      </p:sp>
      <p:sp>
        <p:nvSpPr>
          <p:cNvPr id="29" name="Attestation: Event log"/>
          <p:cNvSpPr txBox="1"/>
          <p:nvPr/>
        </p:nvSpPr>
        <p:spPr>
          <a:xfrm>
            <a:off x="731520" y="329184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Event log</a:t>
            </a:r>
          </a:p>
        </p:txBody>
      </p:sp>
      <p:sp>
        <p:nvSpPr>
          <p:cNvPr id="30" name="Attestation: Ordered runtime events"/>
          <p:cNvSpPr txBox="1"/>
          <p:nvPr/>
        </p:nvSpPr>
        <p:spPr>
          <a:xfrm>
            <a:off x="731520" y="3666744"/>
            <a:ext cx="2267712" cy="210312"/>
          </a:xfrm>
          <a:prstGeom prst="rect">
            <a:avLst/>
          </a:prstGeom>
          <a:noFill/>
        </p:spPr>
        <p:txBody>
          <a:bodyPr wrap="square" lIns="0" rIns="0" tIns="0" bIns="0" anchor="ctr">
            <a:spAutoFit/>
          </a:bodyPr>
          <a:lstStyle/>
          <a:p>
            <a:pPr algn="ctr"/>
            <a:r>
              <a:rPr sz="1300" b="0" lang="en-US">
                <a:solidFill>
                  <a:srgbClr val="263440"/>
                </a:solidFill>
                <a:latin typeface="Arial"/>
              </a:rPr>
              <a:t>Ordered runtime events</a:t>
            </a:r>
          </a:p>
        </p:txBody>
      </p:sp>
      <p:sp>
        <p:nvSpPr>
          <p:cNvPr id="31" name="Attestation: Replay the RTMR3 event chain"/>
          <p:cNvSpPr txBox="1"/>
          <p:nvPr/>
        </p:nvSpPr>
        <p:spPr>
          <a:xfrm>
            <a:off x="3776472" y="329184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Replay the RTMR3 event chain</a:t>
            </a:r>
          </a:p>
        </p:txBody>
      </p:sp>
      <p:sp>
        <p:nvSpPr>
          <p:cNvPr id="32" name="Attestation: Start at zero · SHA-384 extend every event"/>
          <p:cNvSpPr txBox="1"/>
          <p:nvPr/>
        </p:nvSpPr>
        <p:spPr>
          <a:xfrm>
            <a:off x="3776472" y="3666744"/>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Start at zero · SHA-384 extend every event</a:t>
            </a:r>
          </a:p>
        </p:txBody>
      </p:sp>
      <p:sp>
        <p:nvSpPr>
          <p:cNvPr id="33" name="Attestation: TDX Quote"/>
          <p:cNvSpPr txBox="1"/>
          <p:nvPr/>
        </p:nvSpPr>
        <p:spPr>
          <a:xfrm>
            <a:off x="731520" y="457200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TDX Quote</a:t>
            </a:r>
          </a:p>
        </p:txBody>
      </p:sp>
      <p:sp>
        <p:nvSpPr>
          <p:cNvPr id="34" name="Attestation: RTMR3 · REPORTDATA"/>
          <p:cNvSpPr txBox="1"/>
          <p:nvPr/>
        </p:nvSpPr>
        <p:spPr>
          <a:xfrm>
            <a:off x="731520" y="5020056"/>
            <a:ext cx="2267712" cy="228600"/>
          </a:xfrm>
          <a:prstGeom prst="rect">
            <a:avLst/>
          </a:prstGeom>
          <a:noFill/>
        </p:spPr>
        <p:txBody>
          <a:bodyPr wrap="square" lIns="0" rIns="0" tIns="0" bIns="0" anchor="ctr">
            <a:spAutoFit/>
          </a:bodyPr>
          <a:lstStyle/>
          <a:p>
            <a:pPr algn="ctr"/>
            <a:r>
              <a:rPr sz="1300" b="0" lang="en-US">
                <a:solidFill>
                  <a:srgbClr val="263440"/>
                </a:solidFill>
                <a:latin typeface="Arial"/>
              </a:rPr>
              <a:t>RTMR3 · REPORTDATA</a:t>
            </a:r>
          </a:p>
        </p:txBody>
      </p:sp>
      <p:sp>
        <p:nvSpPr>
          <p:cNvPr id="35" name="Attestation: Verify quote authenticity and bindings"/>
          <p:cNvSpPr txBox="1"/>
          <p:nvPr/>
        </p:nvSpPr>
        <p:spPr>
          <a:xfrm>
            <a:off x="3776472" y="457200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Verify quote authenticity and bindings</a:t>
            </a:r>
          </a:p>
        </p:txBody>
      </p:sp>
      <p:sp>
        <p:nvSpPr>
          <p:cNvPr id="36" name="Attestation: Intel signatures · TCB · base-runtime measurements / REPORTDATA: participant · keys · nonce"/>
          <p:cNvSpPr txBox="1"/>
          <p:nvPr/>
        </p:nvSpPr>
        <p:spPr>
          <a:xfrm>
            <a:off x="3776472" y="4956048"/>
            <a:ext cx="5660136" cy="393192"/>
          </a:xfrm>
          <a:prstGeom prst="rect">
            <a:avLst/>
          </a:prstGeom>
          <a:noFill/>
        </p:spPr>
        <p:txBody>
          <a:bodyPr wrap="square" lIns="0" rIns="0" tIns="0" bIns="0" anchor="ctr">
            <a:spAutoFit/>
          </a:bodyPr>
          <a:lstStyle/>
          <a:p>
            <a:pPr algn="ctr"/>
            <a:r>
              <a:rPr sz="1250" b="0" lang="en-US">
                <a:solidFill>
                  <a:srgbClr val="263440"/>
                </a:solidFill>
                <a:latin typeface="Arial"/>
              </a:rPr>
              <a:t>Intel signatures · TCB · base-runtime measurements
REPORTDATA: participant · keys · nonce</a:t>
            </a:r>
          </a:p>
        </p:txBody>
      </p:sp>
      <p:cxnSp>
        <p:nvCxnSpPr>
          <p:cNvPr id="37" name="Connector 36"/>
          <p:cNvCxnSpPr/>
          <p:nvPr/>
        </p:nvCxnSpPr>
        <p:spPr>
          <a:xfrm>
            <a:off x="3895344" y="2734056"/>
            <a:ext cx="0" cy="429768"/>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Attestation: SHA-256(app_compose) = compose-hash event"/>
          <p:cNvSpPr txBox="1"/>
          <p:nvPr/>
        </p:nvSpPr>
        <p:spPr>
          <a:xfrm>
            <a:off x="4133087" y="281635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SHA-256(app_compose) = compose-hash event</a:t>
            </a:r>
          </a:p>
        </p:txBody>
      </p:sp>
      <p:cxnSp>
        <p:nvCxnSpPr>
          <p:cNvPr id="39" name="Connector 38"/>
          <p:cNvCxnSpPr/>
          <p:nvPr/>
        </p:nvCxnSpPr>
        <p:spPr>
          <a:xfrm>
            <a:off x="3895344" y="4014215"/>
            <a:ext cx="0" cy="429769"/>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Attestation: Replayed RTMR3 = authenticated quote RTMR3"/>
          <p:cNvSpPr txBox="1"/>
          <p:nvPr/>
        </p:nvSpPr>
        <p:spPr>
          <a:xfrm>
            <a:off x="4133087" y="409651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Replayed RTMR3 = authenticated quote RTMR3</a:t>
            </a:r>
          </a:p>
        </p:txBody>
      </p:sp>
      <p:cxnSp>
        <p:nvCxnSpPr>
          <p:cNvPr id="41" name="Connector 40"/>
          <p:cNvCxnSpPr/>
          <p:nvPr/>
        </p:nvCxnSpPr>
        <p:spPr>
          <a:xfrm>
            <a:off x="9610344" y="230886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10344" y="35890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10344" y="49606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893808" y="2308860"/>
            <a:ext cx="0" cy="265176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893808" y="3589020"/>
            <a:ext cx="256032"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469880" y="2761488"/>
            <a:ext cx="603504" cy="603504"/>
          </a:xfrm>
          <a:prstGeom prst="ellipse">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607040" y="3054096"/>
            <a:ext cx="118872" cy="118872"/>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725912" y="2926080"/>
            <a:ext cx="237744" cy="246888"/>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sp>
        <p:nvSpPr>
          <p:cNvPr id="49" name="Attestation: Verified / worker"/>
          <p:cNvSpPr txBox="1"/>
          <p:nvPr/>
        </p:nvSpPr>
        <p:spPr>
          <a:xfrm>
            <a:off x="10168128" y="3483864"/>
            <a:ext cx="1225296" cy="603504"/>
          </a:xfrm>
          <a:prstGeom prst="rect">
            <a:avLst/>
          </a:prstGeom>
          <a:noFill/>
        </p:spPr>
        <p:txBody>
          <a:bodyPr wrap="square" lIns="0" rIns="0" tIns="0" bIns="0" anchor="ctr">
            <a:spAutoFit/>
          </a:bodyPr>
          <a:lstStyle/>
          <a:p>
            <a:pPr algn="ctr"/>
            <a:r>
              <a:rPr sz="1800" b="1" lang="en-US">
                <a:solidFill>
                  <a:srgbClr val="207548"/>
                </a:solidFill>
                <a:latin typeface="Arial"/>
              </a:rPr>
              <a:t>Verified
worker</a:t>
            </a:r>
          </a:p>
        </p:txBody>
      </p:sp>
      <p:sp>
        <p:nvSpPr>
          <p:cNvPr id="50" name="Attestation: All checks / pass"/>
          <p:cNvSpPr txBox="1"/>
          <p:nvPr/>
        </p:nvSpPr>
        <p:spPr>
          <a:xfrm>
            <a:off x="10168128" y="4215384"/>
            <a:ext cx="1225296" cy="475488"/>
          </a:xfrm>
          <a:prstGeom prst="rect">
            <a:avLst/>
          </a:prstGeom>
          <a:noFill/>
        </p:spPr>
        <p:txBody>
          <a:bodyPr wrap="square" lIns="0" rIns="0" tIns="0" bIns="0" anchor="ctr">
            <a:spAutoFit/>
          </a:bodyPr>
          <a:lstStyle/>
          <a:p>
            <a:pPr algn="ctr"/>
            <a:r>
              <a:rPr sz="1300" b="0" lang="en-US">
                <a:solidFill>
                  <a:srgbClr val="67747C"/>
                </a:solidFill>
                <a:latin typeface="Arial"/>
              </a:rPr>
              <a:t>All checks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Key use at the system interfaces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Key use: dstack GetKey(path): action, wrapping and receipt keys"/>
          <p:cNvSpPr txBox="1"/>
          <p:nvPr/>
        </p:nvSpPr>
        <p:spPr>
          <a:xfrm>
            <a:off x="594360" y="1362456"/>
            <a:ext cx="11000232" cy="329184"/>
          </a:xfrm>
          <a:prstGeom prst="rect">
            <a:avLst/>
          </a:prstGeom>
          <a:noFill/>
        </p:spPr>
        <p:txBody>
          <a:bodyPr wrap="square" lIns="0" rIns="0" tIns="0" bIns="0" anchor="ctr">
            <a:spAutoFit/>
          </a:bodyPr>
          <a:lstStyle/>
          <a:p>
            <a:pPr algn="ctr"/>
            <a:r>
              <a:rPr sz="1900" b="0" lang="en-US">
                <a:solidFill>
                  <a:srgbClr val="263440"/>
                </a:solidFill>
                <a:latin typeface="Arial"/>
              </a:rPr>
              <a:t>dstack GetKey(path): action, wrapping and receipt keys</a:t>
            </a:r>
          </a:p>
        </p:txBody>
      </p:sp>
      <p:sp>
        <p:nvSpPr>
          <p:cNvPr id="14" name="Rounded Rectangle 13"/>
          <p:cNvSpPr/>
          <p:nvPr/>
        </p:nvSpPr>
        <p:spPr>
          <a:xfrm>
            <a:off x="3922776" y="1856231"/>
            <a:ext cx="4334256" cy="3639312"/>
          </a:xfrm>
          <a:prstGeom prst="roundRect">
            <a:avLst/>
          </a:prstGeom>
          <a:solidFill>
            <a:srgbClr val="F8F9FA"/>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Key use icon: tee / 1"/>
          <p:cNvCxnSpPr/>
          <p:nvPr/>
        </p:nvCxnSpPr>
        <p:spPr>
          <a:xfrm>
            <a:off x="4749165"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Key use icon: tee / 2"/>
          <p:cNvCxnSpPr/>
          <p:nvPr/>
        </p:nvCxnSpPr>
        <p:spPr>
          <a:xfrm>
            <a:off x="4749165"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Key use icon: tee / 3"/>
          <p:cNvCxnSpPr/>
          <p:nvPr/>
        </p:nvCxnSpPr>
        <p:spPr>
          <a:xfrm>
            <a:off x="4644008" y="2106549"/>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Key use icon: tee / 4"/>
          <p:cNvCxnSpPr/>
          <p:nvPr/>
        </p:nvCxnSpPr>
        <p:spPr>
          <a:xfrm>
            <a:off x="4959477" y="2106549"/>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Key use icon: tee / 5"/>
          <p:cNvCxnSpPr/>
          <p:nvPr/>
        </p:nvCxnSpPr>
        <p:spPr>
          <a:xfrm>
            <a:off x="4828032"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Key use icon: tee / 6"/>
          <p:cNvCxnSpPr/>
          <p:nvPr/>
        </p:nvCxnSpPr>
        <p:spPr>
          <a:xfrm>
            <a:off x="4828032"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Key use icon: tee / 7"/>
          <p:cNvCxnSpPr/>
          <p:nvPr/>
        </p:nvCxnSpPr>
        <p:spPr>
          <a:xfrm>
            <a:off x="4644008" y="2185416"/>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Key use icon: tee / 8"/>
          <p:cNvCxnSpPr/>
          <p:nvPr/>
        </p:nvCxnSpPr>
        <p:spPr>
          <a:xfrm>
            <a:off x="4959477" y="2185416"/>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Key use icon: tee / 9"/>
          <p:cNvCxnSpPr/>
          <p:nvPr/>
        </p:nvCxnSpPr>
        <p:spPr>
          <a:xfrm>
            <a:off x="4906899"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Key use icon: tee / 10"/>
          <p:cNvCxnSpPr/>
          <p:nvPr/>
        </p:nvCxnSpPr>
        <p:spPr>
          <a:xfrm>
            <a:off x="4906899"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Key use icon: tee / 11"/>
          <p:cNvCxnSpPr/>
          <p:nvPr/>
        </p:nvCxnSpPr>
        <p:spPr>
          <a:xfrm>
            <a:off x="4644008" y="2264283"/>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6" name="Key use icon: tee / 12"/>
          <p:cNvCxnSpPr/>
          <p:nvPr/>
        </p:nvCxnSpPr>
        <p:spPr>
          <a:xfrm>
            <a:off x="4959477" y="2264283"/>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7" name="Key use icon: tee / 13"/>
          <p:cNvSpPr/>
          <p:nvPr/>
        </p:nvSpPr>
        <p:spPr>
          <a:xfrm>
            <a:off x="4696587" y="2053971"/>
            <a:ext cx="262890" cy="262890"/>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Key use icon: tee / 14"/>
          <p:cNvCxnSpPr/>
          <p:nvPr/>
        </p:nvCxnSpPr>
        <p:spPr>
          <a:xfrm flipV="1">
            <a:off x="4775454"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Key use icon: tee / 15"/>
          <p:cNvCxnSpPr/>
          <p:nvPr/>
        </p:nvCxnSpPr>
        <p:spPr>
          <a:xfrm flipV="1">
            <a:off x="4775454"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Key use icon: tee / 16"/>
          <p:cNvCxnSpPr/>
          <p:nvPr/>
        </p:nvCxnSpPr>
        <p:spPr>
          <a:xfrm flipV="1">
            <a:off x="4777523"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Key use icon: tee / 17"/>
          <p:cNvCxnSpPr/>
          <p:nvPr/>
        </p:nvCxnSpPr>
        <p:spPr>
          <a:xfrm flipV="1">
            <a:off x="4783243"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Key use icon: tee / 18"/>
          <p:cNvCxnSpPr/>
          <p:nvPr/>
        </p:nvCxnSpPr>
        <p:spPr>
          <a:xfrm flipV="1">
            <a:off x="4791884"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Key use icon: tee / 19"/>
          <p:cNvCxnSpPr/>
          <p:nvPr/>
        </p:nvCxnSpPr>
        <p:spPr>
          <a:xfrm flipV="1">
            <a:off x="4802716"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Key use icon: tee / 20"/>
          <p:cNvCxnSpPr/>
          <p:nvPr/>
        </p:nvCxnSpPr>
        <p:spPr>
          <a:xfrm flipV="1">
            <a:off x="4815009" y="2083546"/>
            <a:ext cx="13023"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Key use icon: tee / 21"/>
          <p:cNvCxnSpPr/>
          <p:nvPr/>
        </p:nvCxnSpPr>
        <p:spPr>
          <a:xfrm>
            <a:off x="4828032" y="2083546"/>
            <a:ext cx="13022"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Key use icon: tee / 22"/>
          <p:cNvCxnSpPr/>
          <p:nvPr/>
        </p:nvCxnSpPr>
        <p:spPr>
          <a:xfrm>
            <a:off x="4841054"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Key use icon: tee / 23"/>
          <p:cNvCxnSpPr/>
          <p:nvPr/>
        </p:nvCxnSpPr>
        <p:spPr>
          <a:xfrm>
            <a:off x="4853347"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Key use icon: tee / 24"/>
          <p:cNvCxnSpPr/>
          <p:nvPr/>
        </p:nvCxnSpPr>
        <p:spPr>
          <a:xfrm>
            <a:off x="4864179"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Key use icon: tee / 25"/>
          <p:cNvCxnSpPr/>
          <p:nvPr/>
        </p:nvCxnSpPr>
        <p:spPr>
          <a:xfrm>
            <a:off x="4872820"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Key use icon: tee / 26"/>
          <p:cNvCxnSpPr/>
          <p:nvPr/>
        </p:nvCxnSpPr>
        <p:spPr>
          <a:xfrm>
            <a:off x="4878540"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1" name="Key use icon: tee / 27"/>
          <p:cNvCxnSpPr/>
          <p:nvPr/>
        </p:nvCxnSpPr>
        <p:spPr>
          <a:xfrm>
            <a:off x="4880609"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2" name="Key use icon: tee / 28"/>
          <p:cNvSpPr/>
          <p:nvPr/>
        </p:nvSpPr>
        <p:spPr>
          <a:xfrm>
            <a:off x="4762309" y="2159127"/>
            <a:ext cx="131445" cy="105156"/>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Key use: Worker TEE"/>
          <p:cNvSpPr txBox="1"/>
          <p:nvPr/>
        </p:nvSpPr>
        <p:spPr>
          <a:xfrm>
            <a:off x="5102352" y="1956816"/>
            <a:ext cx="2039112" cy="402336"/>
          </a:xfrm>
          <a:prstGeom prst="rect">
            <a:avLst/>
          </a:prstGeom>
          <a:noFill/>
        </p:spPr>
        <p:txBody>
          <a:bodyPr wrap="square" lIns="0" rIns="0" tIns="0" bIns="0" anchor="ctr">
            <a:spAutoFit/>
          </a:bodyPr>
          <a:lstStyle/>
          <a:p>
            <a:pPr algn="ctr"/>
            <a:r>
              <a:rPr sz="2400" b="1" lang="en-US">
                <a:solidFill>
                  <a:srgbClr val="263440"/>
                </a:solidFill>
                <a:latin typeface="Arial"/>
              </a:rPr>
              <a:t>Worker TEE</a:t>
            </a:r>
          </a:p>
        </p:txBody>
      </p:sp>
      <p:sp>
        <p:nvSpPr>
          <p:cNvPr id="44" name="Rounded Rectangle 43"/>
          <p:cNvSpPr/>
          <p:nvPr/>
        </p:nvSpPr>
        <p:spPr>
          <a:xfrm>
            <a:off x="502920" y="2331720"/>
            <a:ext cx="2834640" cy="133502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Key use icon: blockchain / 1"/>
          <p:cNvCxnSpPr/>
          <p:nvPr/>
        </p:nvCxnSpPr>
        <p:spPr>
          <a:xfrm>
            <a:off x="752094" y="258089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6" name="Key use icon: blockchain / 2"/>
          <p:cNvCxnSpPr/>
          <p:nvPr/>
        </p:nvCxnSpPr>
        <p:spPr>
          <a:xfrm>
            <a:off x="90068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7" name="Key use icon: blockchain / 3"/>
          <p:cNvCxnSpPr/>
          <p:nvPr/>
        </p:nvCxnSpPr>
        <p:spPr>
          <a:xfrm flipH="1">
            <a:off x="752094" y="274091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8" name="Key use icon: blockchain / 4"/>
          <p:cNvCxnSpPr/>
          <p:nvPr/>
        </p:nvCxnSpPr>
        <p:spPr>
          <a:xfrm flipV="1">
            <a:off x="75209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sp>
        <p:nvSpPr>
          <p:cNvPr id="49" name="Key use icon: blockchain / 5"/>
          <p:cNvSpPr/>
          <p:nvPr/>
        </p:nvSpPr>
        <p:spPr>
          <a:xfrm>
            <a:off x="69494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Key use icon: blockchain / 6"/>
          <p:cNvSpPr/>
          <p:nvPr/>
        </p:nvSpPr>
        <p:spPr>
          <a:xfrm>
            <a:off x="87782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Key use icon: blockchain / 7"/>
          <p:cNvSpPr/>
          <p:nvPr/>
        </p:nvSpPr>
        <p:spPr>
          <a:xfrm>
            <a:off x="69494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Key use icon: blockchain / 8"/>
          <p:cNvSpPr/>
          <p:nvPr/>
        </p:nvSpPr>
        <p:spPr>
          <a:xfrm>
            <a:off x="87782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Key use: Blockchain"/>
          <p:cNvSpPr txBox="1"/>
          <p:nvPr/>
        </p:nvSpPr>
        <p:spPr>
          <a:xfrm>
            <a:off x="1115568" y="2441448"/>
            <a:ext cx="2103120" cy="310896"/>
          </a:xfrm>
          <a:prstGeom prst="rect">
            <a:avLst/>
          </a:prstGeom>
          <a:noFill/>
        </p:spPr>
        <p:txBody>
          <a:bodyPr wrap="square" lIns="0" rIns="0" tIns="0" bIns="0" anchor="ctr">
            <a:spAutoFit/>
          </a:bodyPr>
          <a:lstStyle/>
          <a:p>
            <a:pPr algn="l"/>
            <a:r>
              <a:rPr sz="1800" b="1" lang="en-US">
                <a:solidFill>
                  <a:srgbClr val="7446A6"/>
                </a:solidFill>
                <a:latin typeface="Arial"/>
              </a:rPr>
              <a:t>Blockchain</a:t>
            </a:r>
          </a:p>
        </p:txBody>
      </p:sp>
      <p:sp>
        <p:nvSpPr>
          <p:cNvPr id="54" name="Key use: Protocol transactions / Update commitments / Aggregation statements"/>
          <p:cNvSpPr txBox="1"/>
          <p:nvPr/>
        </p:nvSpPr>
        <p:spPr>
          <a:xfrm>
            <a:off x="667512"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Protocol transactions
Update commitments
Aggregation statements</a:t>
            </a:r>
          </a:p>
        </p:txBody>
      </p:sp>
      <p:sp>
        <p:nvSpPr>
          <p:cNvPr id="55" name="Rounded Rectangle 54"/>
          <p:cNvSpPr/>
          <p:nvPr/>
        </p:nvSpPr>
        <p:spPr>
          <a:xfrm>
            <a:off x="502920" y="3986784"/>
            <a:ext cx="2834640" cy="128016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676656" y="4160520"/>
            <a:ext cx="256032" cy="118872"/>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76656" y="4279392"/>
            <a:ext cx="256032" cy="128016"/>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30936" y="4114800"/>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0936" y="4361688"/>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86968" y="4233672"/>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Key use: Model exchange"/>
          <p:cNvSpPr txBox="1"/>
          <p:nvPr/>
        </p:nvSpPr>
        <p:spPr>
          <a:xfrm>
            <a:off x="1115568" y="4096512"/>
            <a:ext cx="2103120" cy="310896"/>
          </a:xfrm>
          <a:prstGeom prst="rect">
            <a:avLst/>
          </a:prstGeom>
          <a:noFill/>
        </p:spPr>
        <p:txBody>
          <a:bodyPr wrap="square" lIns="0" rIns="0" tIns="0" bIns="0" anchor="ctr">
            <a:spAutoFit/>
          </a:bodyPr>
          <a:lstStyle/>
          <a:p>
            <a:pPr algn="l"/>
            <a:r>
              <a:rPr sz="1800" b="1" lang="en-US">
                <a:solidFill>
                  <a:srgbClr val="207548"/>
                </a:solidFill>
                <a:latin typeface="Arial"/>
              </a:rPr>
              <a:t>Model exchange</a:t>
            </a:r>
          </a:p>
        </p:txBody>
      </p:sp>
      <p:sp>
        <p:nvSpPr>
          <p:cNvPr id="62" name="Key use: Sign model packages / Unwrap symmetric keys"/>
          <p:cNvSpPr txBox="1"/>
          <p:nvPr/>
        </p:nvSpPr>
        <p:spPr>
          <a:xfrm>
            <a:off x="667512"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Sign model packages
Unwrap symmetric keys</a:t>
            </a:r>
          </a:p>
        </p:txBody>
      </p:sp>
      <p:sp>
        <p:nvSpPr>
          <p:cNvPr id="63" name="Rounded Rectangle 62"/>
          <p:cNvSpPr/>
          <p:nvPr/>
        </p:nvSpPr>
        <p:spPr>
          <a:xfrm>
            <a:off x="8851392" y="2331720"/>
            <a:ext cx="2834640" cy="1335024"/>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9006840" y="2450591"/>
            <a:ext cx="310896" cy="39319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9070848" y="255117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070848" y="2642615"/>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070848" y="273405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sp>
        <p:nvSpPr>
          <p:cNvPr id="68" name="Key use: Receipt log"/>
          <p:cNvSpPr txBox="1"/>
          <p:nvPr/>
        </p:nvSpPr>
        <p:spPr>
          <a:xfrm>
            <a:off x="9464040" y="2441448"/>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Receipt log</a:t>
            </a:r>
          </a:p>
        </p:txBody>
      </p:sp>
      <p:sp>
        <p:nvSpPr>
          <p:cNvPr id="69" name="Key use: Signed tool-action receipts / Recording and audit trail"/>
          <p:cNvSpPr txBox="1"/>
          <p:nvPr/>
        </p:nvSpPr>
        <p:spPr>
          <a:xfrm>
            <a:off x="9015984"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Signed tool-action receipts
Recording and audit trail</a:t>
            </a:r>
          </a:p>
        </p:txBody>
      </p:sp>
      <p:sp>
        <p:nvSpPr>
          <p:cNvPr id="70" name="Rounded Rectangle 69"/>
          <p:cNvSpPr/>
          <p:nvPr/>
        </p:nvSpPr>
        <p:spPr>
          <a:xfrm>
            <a:off x="8851392" y="3986784"/>
            <a:ext cx="2834640" cy="128016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Key use icon: agent / 1"/>
          <p:cNvCxnSpPr/>
          <p:nvPr/>
        </p:nvCxnSpPr>
        <p:spPr>
          <a:xfrm>
            <a:off x="9180576" y="4178808"/>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2" name="Key use icon: agent / 2"/>
          <p:cNvSpPr/>
          <p:nvPr/>
        </p:nvSpPr>
        <p:spPr>
          <a:xfrm>
            <a:off x="9163431" y="4150233"/>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Key use icon: agent / 3"/>
          <p:cNvSpPr/>
          <p:nvPr/>
        </p:nvSpPr>
        <p:spPr>
          <a:xfrm>
            <a:off x="9043416" y="4235958"/>
            <a:ext cx="274320" cy="228600"/>
          </a:xfrm>
          <a:prstGeom prst="roundRect">
            <a:avLst/>
          </a:prstGeom>
          <a:solidFill>
            <a:srgbClr val="FFFFFF"/>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Key use icon: agent / 4"/>
          <p:cNvCxnSpPr/>
          <p:nvPr/>
        </p:nvCxnSpPr>
        <p:spPr>
          <a:xfrm>
            <a:off x="90091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5" name="Key use icon: agent / 5"/>
          <p:cNvCxnSpPr/>
          <p:nvPr/>
        </p:nvCxnSpPr>
        <p:spPr>
          <a:xfrm>
            <a:off x="93520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6" name="Key use icon: agent / 6"/>
          <p:cNvSpPr/>
          <p:nvPr/>
        </p:nvSpPr>
        <p:spPr>
          <a:xfrm>
            <a:off x="910056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Key use icon: agent / 7"/>
          <p:cNvSpPr/>
          <p:nvPr/>
        </p:nvSpPr>
        <p:spPr>
          <a:xfrm>
            <a:off x="922629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Key use icon: agent / 8"/>
          <p:cNvCxnSpPr/>
          <p:nvPr/>
        </p:nvCxnSpPr>
        <p:spPr>
          <a:xfrm>
            <a:off x="9123426" y="4407408"/>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9" name="Key use: Agent"/>
          <p:cNvSpPr txBox="1"/>
          <p:nvPr/>
        </p:nvSpPr>
        <p:spPr>
          <a:xfrm>
            <a:off x="9464040" y="4096512"/>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Agent</a:t>
            </a:r>
          </a:p>
        </p:txBody>
      </p:sp>
      <p:sp>
        <p:nvSpPr>
          <p:cNvPr id="80" name="Key use: Verify signed inference / evidence (AIR)"/>
          <p:cNvSpPr txBox="1"/>
          <p:nvPr/>
        </p:nvSpPr>
        <p:spPr>
          <a:xfrm>
            <a:off x="9015984"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Verify signed inference
evidence (AIR)</a:t>
            </a:r>
          </a:p>
        </p:txBody>
      </p:sp>
      <p:sp>
        <p:nvSpPr>
          <p:cNvPr id="81" name="Rounded Rectangle 80"/>
          <p:cNvSpPr/>
          <p:nvPr/>
        </p:nvSpPr>
        <p:spPr>
          <a:xfrm>
            <a:off x="4096512" y="2660904"/>
            <a:ext cx="1901952" cy="713232"/>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206240" y="2859145"/>
            <a:ext cx="138257" cy="138257"/>
          </a:xfrm>
          <a:prstGeom prst="ellipse">
            <a:avLst/>
          </a:prstGeom>
          <a:solidFill>
            <a:srgbClr val="FFFFFF"/>
          </a:solidFill>
          <a:ln w="1905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4341205" y="2928274"/>
            <a:ext cx="174467"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446544"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505797"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86" name="Key use: Derived / secp256k1"/>
          <p:cNvSpPr txBox="1"/>
          <p:nvPr/>
        </p:nvSpPr>
        <p:spPr>
          <a:xfrm>
            <a:off x="4599432" y="2752344"/>
            <a:ext cx="1307592" cy="530352"/>
          </a:xfrm>
          <a:prstGeom prst="rect">
            <a:avLst/>
          </a:prstGeom>
          <a:noFill/>
        </p:spPr>
        <p:txBody>
          <a:bodyPr wrap="square" lIns="0" rIns="0" tIns="0" bIns="0" anchor="ctr">
            <a:spAutoFit/>
          </a:bodyPr>
          <a:lstStyle/>
          <a:p>
            <a:pPr algn="ctr"/>
            <a:r>
              <a:rPr sz="1450" b="1" lang="en-US">
                <a:solidFill>
                  <a:srgbClr val="7446A6"/>
                </a:solidFill>
                <a:latin typeface="Arial"/>
              </a:rPr>
              <a:t>Derived
secp256k1</a:t>
            </a:r>
          </a:p>
        </p:txBody>
      </p:sp>
      <p:sp>
        <p:nvSpPr>
          <p:cNvPr id="87" name="Rounded Rectangle 86"/>
          <p:cNvSpPr/>
          <p:nvPr/>
        </p:nvSpPr>
        <p:spPr>
          <a:xfrm>
            <a:off x="6190488" y="2660904"/>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300216" y="2859145"/>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a:off x="6435181" y="2928274"/>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540520"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599773"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92" name="Key use: Sello / Ed25519"/>
          <p:cNvSpPr txBox="1"/>
          <p:nvPr/>
        </p:nvSpPr>
        <p:spPr>
          <a:xfrm>
            <a:off x="6693407" y="2752344"/>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Sello
Ed25519</a:t>
            </a:r>
          </a:p>
        </p:txBody>
      </p:sp>
      <p:sp>
        <p:nvSpPr>
          <p:cNvPr id="93" name="Rounded Rectangle 92"/>
          <p:cNvSpPr/>
          <p:nvPr/>
        </p:nvSpPr>
        <p:spPr>
          <a:xfrm>
            <a:off x="4096512" y="4041648"/>
            <a:ext cx="1901952" cy="713232"/>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206240" y="4239889"/>
            <a:ext cx="138257" cy="138257"/>
          </a:xfrm>
          <a:prstGeom prst="ellipse">
            <a:avLst/>
          </a:prstGeom>
          <a:solidFill>
            <a:srgbClr val="FFFFFF"/>
          </a:solidFill>
          <a:ln w="1905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5" name="Connector 94"/>
          <p:cNvCxnSpPr/>
          <p:nvPr/>
        </p:nvCxnSpPr>
        <p:spPr>
          <a:xfrm>
            <a:off x="4341205" y="4309018"/>
            <a:ext cx="174467" cy="0"/>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46544"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505797"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sp>
        <p:nvSpPr>
          <p:cNvPr id="98" name="Key use: Random / RSA-3072"/>
          <p:cNvSpPr txBox="1"/>
          <p:nvPr/>
        </p:nvSpPr>
        <p:spPr>
          <a:xfrm>
            <a:off x="4599432" y="4133087"/>
            <a:ext cx="1307592" cy="530352"/>
          </a:xfrm>
          <a:prstGeom prst="rect">
            <a:avLst/>
          </a:prstGeom>
          <a:noFill/>
        </p:spPr>
        <p:txBody>
          <a:bodyPr wrap="square" lIns="0" rIns="0" tIns="0" bIns="0" anchor="ctr">
            <a:spAutoFit/>
          </a:bodyPr>
          <a:lstStyle/>
          <a:p>
            <a:pPr algn="ctr"/>
            <a:r>
              <a:rPr sz="1450" b="1" lang="en-US">
                <a:solidFill>
                  <a:srgbClr val="207548"/>
                </a:solidFill>
                <a:latin typeface="Arial"/>
              </a:rPr>
              <a:t>Random
RSA-3072</a:t>
            </a:r>
          </a:p>
        </p:txBody>
      </p:sp>
      <p:sp>
        <p:nvSpPr>
          <p:cNvPr id="99" name="Rounded Rectangle 98"/>
          <p:cNvSpPr/>
          <p:nvPr/>
        </p:nvSpPr>
        <p:spPr>
          <a:xfrm>
            <a:off x="6190488" y="4041648"/>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300216" y="4239889"/>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1" name="Connector 100"/>
          <p:cNvCxnSpPr/>
          <p:nvPr/>
        </p:nvCxnSpPr>
        <p:spPr>
          <a:xfrm>
            <a:off x="6435181" y="4309018"/>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540520"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599773"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104" name="Key use: AIR / Ed25519"/>
          <p:cNvSpPr txBox="1"/>
          <p:nvPr/>
        </p:nvSpPr>
        <p:spPr>
          <a:xfrm>
            <a:off x="6693407" y="4133087"/>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AIR
Ed25519</a:t>
            </a:r>
          </a:p>
        </p:txBody>
      </p:sp>
      <p:cxnSp>
        <p:nvCxnSpPr>
          <p:cNvPr id="105" name="Connector 104"/>
          <p:cNvCxnSpPr/>
          <p:nvPr/>
        </p:nvCxnSpPr>
        <p:spPr>
          <a:xfrm flipH="1">
            <a:off x="3374136" y="3008376"/>
            <a:ext cx="694944"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119872" y="3008376"/>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3374136" y="4398264"/>
            <a:ext cx="694944"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8119872" y="4398264"/>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4096512" y="5038344"/>
            <a:ext cx="3995928" cy="31089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Key use: Derived AES-GCM seals RSA state"/>
          <p:cNvSpPr txBox="1"/>
          <p:nvPr/>
        </p:nvSpPr>
        <p:spPr>
          <a:xfrm>
            <a:off x="4169664" y="5070348"/>
            <a:ext cx="3849624" cy="246888"/>
          </a:xfrm>
          <a:prstGeom prst="rect">
            <a:avLst/>
          </a:prstGeom>
          <a:noFill/>
        </p:spPr>
        <p:txBody>
          <a:bodyPr wrap="square" lIns="0" rIns="0" tIns="0" bIns="0" anchor="ctr">
            <a:spAutoFit/>
          </a:bodyPr>
          <a:lstStyle/>
          <a:p>
            <a:pPr algn="ctr"/>
            <a:r>
              <a:rPr sz="1400" b="1" lang="en-US">
                <a:solidFill>
                  <a:srgbClr val="207548"/>
                </a:solidFill>
                <a:latin typeface="Arial"/>
              </a:rPr>
              <a:t>Derived AES-GCM seals RSA state</a:t>
            </a:r>
          </a:p>
        </p:txBody>
      </p:sp>
      <p:cxnSp>
        <p:nvCxnSpPr>
          <p:cNvPr id="111" name="Connector 110"/>
          <p:cNvCxnSpPr/>
          <p:nvPr/>
        </p:nvCxnSpPr>
        <p:spPr>
          <a:xfrm flipV="1">
            <a:off x="5056632" y="4782312"/>
            <a:ext cx="0" cy="228600"/>
          </a:xfrm>
          <a:prstGeom prst="line">
            <a:avLst/>
          </a:prstGeom>
          <a:ln w="1905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5" name="Rounded Rectangle 14"/>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7" name="TextBox 16"/>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8" name="Rounded Rectangle 17"/>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20" name="TextBox 19"/>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21" name="Rounded Rectangle 20"/>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23" name="TextBox 22"/>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24" name="Rounded Rectangle 23"/>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6" name="TextBox 25"/>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7" name="Rectangle 26"/>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9" name="Rectangle 28"/>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31" name="Rectangle 30"/>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33" name="Rectangle 32"/>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5" name="Rectangle 34"/>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7" name="Rounded Rectangle 36"/>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9" name="TextBox 38"/>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40" name="Rounded Rectangle 39"/>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42" name="TextBox 41"/>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43" name="TextBox 42"/>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44" name="TextBox 43"/>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5" name="TextBox 44"/>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6" name="TextBox 45"/>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7" name="Oval 46"/>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9" name="Oval 48"/>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51" name="Oval 50"/>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53" name="TextBox 52"/>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54" name="Oval 53"/>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7" name="TextBox 56"/>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8" name="TextBox 57"/>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9" name="TextBox 58"/>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60" name="Oval 59"/>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62" name="TextBox 61"/>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63" name="TextBox 62"/>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64" name="Oval 63"/>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6" name="TextBox 65"/>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7" name="TextBox 66"/>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8" name="Oval 67"/>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70" name="TextBox 69"/>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71" name="TextBox 70"/>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72" name="TextBox 71"/>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73" name="Connector 72"/>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6" name="TextBox 75"/>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7" name="TextBox 76"/>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8" name="TextBox 77"/>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9" name="Rectangle 78"/>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Who does what during aggregation?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ggregation: Workers"/>
          <p:cNvSpPr txBox="1"/>
          <p:nvPr/>
        </p:nvSpPr>
        <p:spPr>
          <a:xfrm>
            <a:off x="594360" y="1435608"/>
            <a:ext cx="1865376" cy="347472"/>
          </a:xfrm>
          <a:prstGeom prst="rect">
            <a:avLst/>
          </a:prstGeom>
          <a:noFill/>
        </p:spPr>
        <p:txBody>
          <a:bodyPr wrap="square" lIns="0" rIns="0" tIns="0" bIns="0" anchor="ctr">
            <a:spAutoFit/>
          </a:bodyPr>
          <a:lstStyle/>
          <a:p>
            <a:pPr algn="ctr"/>
            <a:r>
              <a:rPr sz="2100" b="1" lang="en-US">
                <a:solidFill>
                  <a:srgbClr val="207548"/>
                </a:solidFill>
                <a:latin typeface="Arial"/>
              </a:rPr>
              <a:t>Workers</a:t>
            </a:r>
          </a:p>
        </p:txBody>
      </p:sp>
      <p:sp>
        <p:nvSpPr>
          <p:cNvPr id="14" name="Aggregation: Aggregator TEE"/>
          <p:cNvSpPr txBox="1"/>
          <p:nvPr/>
        </p:nvSpPr>
        <p:spPr>
          <a:xfrm>
            <a:off x="2843784" y="1435608"/>
            <a:ext cx="2852928" cy="347472"/>
          </a:xfrm>
          <a:prstGeom prst="rect">
            <a:avLst/>
          </a:prstGeom>
          <a:noFill/>
        </p:spPr>
        <p:txBody>
          <a:bodyPr wrap="square" lIns="0" rIns="0" tIns="0" bIns="0" anchor="ctr">
            <a:spAutoFit/>
          </a:bodyPr>
          <a:lstStyle/>
          <a:p>
            <a:pPr algn="ctr"/>
            <a:r>
              <a:rPr sz="2100" b="1" lang="en-US">
                <a:solidFill>
                  <a:srgbClr val="207548"/>
                </a:solidFill>
                <a:latin typeface="Arial"/>
              </a:rPr>
              <a:t>Aggregator TEE</a:t>
            </a:r>
          </a:p>
        </p:txBody>
      </p:sp>
      <p:sp>
        <p:nvSpPr>
          <p:cNvPr id="15" name="Aggregation: IPFS"/>
          <p:cNvSpPr txBox="1"/>
          <p:nvPr/>
        </p:nvSpPr>
        <p:spPr>
          <a:xfrm>
            <a:off x="6281928" y="1435608"/>
            <a:ext cx="1965960" cy="347472"/>
          </a:xfrm>
          <a:prstGeom prst="rect">
            <a:avLst/>
          </a:prstGeom>
          <a:noFill/>
        </p:spPr>
        <p:txBody>
          <a:bodyPr wrap="square" lIns="0" rIns="0" tIns="0" bIns="0" anchor="ctr">
            <a:spAutoFit/>
          </a:bodyPr>
          <a:lstStyle/>
          <a:p>
            <a:pPr algn="ctr"/>
            <a:r>
              <a:rPr sz="2100" b="1" lang="en-US">
                <a:solidFill>
                  <a:srgbClr val="7446A6"/>
                </a:solidFill>
                <a:latin typeface="Arial"/>
              </a:rPr>
              <a:t>IPFS</a:t>
            </a:r>
          </a:p>
        </p:txBody>
      </p:sp>
      <p:sp>
        <p:nvSpPr>
          <p:cNvPr id="16" name="Aggregation: Blockchain"/>
          <p:cNvSpPr txBox="1"/>
          <p:nvPr/>
        </p:nvSpPr>
        <p:spPr>
          <a:xfrm>
            <a:off x="8759952" y="1435608"/>
            <a:ext cx="2834640" cy="347472"/>
          </a:xfrm>
          <a:prstGeom prst="rect">
            <a:avLst/>
          </a:prstGeom>
          <a:noFill/>
        </p:spPr>
        <p:txBody>
          <a:bodyPr wrap="square" lIns="0" rIns="0" tIns="0" bIns="0" anchor="ctr">
            <a:spAutoFit/>
          </a:bodyPr>
          <a:lstStyle/>
          <a:p>
            <a:pPr algn="ctr"/>
            <a:r>
              <a:rPr sz="2100" b="1" lang="en-US">
                <a:solidFill>
                  <a:srgbClr val="7446A6"/>
                </a:solidFill>
                <a:latin typeface="Arial"/>
              </a:rPr>
              <a:t>Blockchain</a:t>
            </a:r>
          </a:p>
        </p:txBody>
      </p:sp>
      <p:cxnSp>
        <p:nvCxnSpPr>
          <p:cNvPr id="17" name="Connector 16"/>
          <p:cNvCxnSpPr/>
          <p:nvPr/>
        </p:nvCxnSpPr>
        <p:spPr>
          <a:xfrm>
            <a:off x="25786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96188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222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5836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59"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525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59"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525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6128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4358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2588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0817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4358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2588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0817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66420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4650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2880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74650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82880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91109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ggregation: Signed, encrypted / local models"/>
          <p:cNvSpPr txBox="1"/>
          <p:nvPr/>
        </p:nvSpPr>
        <p:spPr>
          <a:xfrm>
            <a:off x="594360" y="2862072"/>
            <a:ext cx="1865376" cy="557784"/>
          </a:xfrm>
          <a:prstGeom prst="rect">
            <a:avLst/>
          </a:prstGeom>
          <a:noFill/>
        </p:spPr>
        <p:txBody>
          <a:bodyPr wrap="square" lIns="0" rIns="0" tIns="0" bIns="0" anchor="ctr">
            <a:spAutoFit/>
          </a:bodyPr>
          <a:lstStyle/>
          <a:p>
            <a:pPr algn="ctr"/>
            <a:r>
              <a:rPr sz="1500" b="0" lang="en-US">
                <a:solidFill>
                  <a:srgbClr val="263440"/>
                </a:solidFill>
                <a:latin typeface="Arial"/>
              </a:rPr>
              <a:t>Signed, encrypted
local models</a:t>
            </a:r>
          </a:p>
        </p:txBody>
      </p:sp>
      <p:cxnSp>
        <p:nvCxnSpPr>
          <p:cNvPr id="42" name="Connector 41"/>
          <p:cNvCxnSpPr/>
          <p:nvPr/>
        </p:nvCxnSpPr>
        <p:spPr>
          <a:xfrm>
            <a:off x="2139696" y="2487168"/>
            <a:ext cx="649224" cy="0"/>
          </a:xfrm>
          <a:prstGeom prst="line">
            <a:avLst/>
          </a:prstGeom>
          <a:ln w="2540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2843784" y="2084831"/>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ggregation: Receive + verify"/>
          <p:cNvSpPr txBox="1"/>
          <p:nvPr/>
        </p:nvSpPr>
        <p:spPr>
          <a:xfrm>
            <a:off x="2999232" y="2185416"/>
            <a:ext cx="2542032" cy="310896"/>
          </a:xfrm>
          <a:prstGeom prst="rect">
            <a:avLst/>
          </a:prstGeom>
          <a:noFill/>
        </p:spPr>
        <p:txBody>
          <a:bodyPr wrap="square" lIns="0" rIns="0" tIns="0" bIns="0" anchor="ctr">
            <a:spAutoFit/>
          </a:bodyPr>
          <a:lstStyle/>
          <a:p>
            <a:pPr algn="ctr"/>
            <a:r>
              <a:rPr sz="1700" b="1" lang="en-US">
                <a:solidFill>
                  <a:srgbClr val="207548"/>
                </a:solidFill>
                <a:latin typeface="Arial"/>
              </a:rPr>
              <a:t>Receive + verify</a:t>
            </a:r>
          </a:p>
        </p:txBody>
      </p:sp>
      <p:sp>
        <p:nvSpPr>
          <p:cNvPr id="45" name="Aggregation: Hashes and signatures"/>
          <p:cNvSpPr txBox="1"/>
          <p:nvPr/>
        </p:nvSpPr>
        <p:spPr>
          <a:xfrm>
            <a:off x="2999232" y="2596896"/>
            <a:ext cx="2542032" cy="219456"/>
          </a:xfrm>
          <a:prstGeom prst="rect">
            <a:avLst/>
          </a:prstGeom>
          <a:noFill/>
        </p:spPr>
        <p:txBody>
          <a:bodyPr wrap="square" lIns="0" rIns="0" tIns="0" bIns="0" anchor="ctr">
            <a:spAutoFit/>
          </a:bodyPr>
          <a:lstStyle/>
          <a:p>
            <a:pPr algn="ctr"/>
            <a:r>
              <a:rPr sz="1350" b="0" lang="en-US">
                <a:solidFill>
                  <a:srgbClr val="263440"/>
                </a:solidFill>
                <a:latin typeface="Arial"/>
              </a:rPr>
              <a:t>Hashes and signatures</a:t>
            </a:r>
          </a:p>
        </p:txBody>
      </p:sp>
      <p:cxnSp>
        <p:nvCxnSpPr>
          <p:cNvPr id="46" name="Connector 45"/>
          <p:cNvCxnSpPr/>
          <p:nvPr/>
        </p:nvCxnSpPr>
        <p:spPr>
          <a:xfrm>
            <a:off x="5751576" y="250088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Aggregation: Record commitments"/>
          <p:cNvSpPr txBox="1"/>
          <p:nvPr/>
        </p:nvSpPr>
        <p:spPr>
          <a:xfrm>
            <a:off x="5961888" y="211226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Record commitments</a:t>
            </a:r>
          </a:p>
        </p:txBody>
      </p:sp>
      <p:sp>
        <p:nvSpPr>
          <p:cNvPr id="48" name="Rounded Rectangle 47"/>
          <p:cNvSpPr/>
          <p:nvPr/>
        </p:nvSpPr>
        <p:spPr>
          <a:xfrm>
            <a:off x="8759952" y="2084831"/>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Aggregation: Accept commitments"/>
          <p:cNvSpPr txBox="1"/>
          <p:nvPr/>
        </p:nvSpPr>
        <p:spPr>
          <a:xfrm>
            <a:off x="8915400" y="218541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Accept commitments</a:t>
            </a:r>
          </a:p>
        </p:txBody>
      </p:sp>
      <p:sp>
        <p:nvSpPr>
          <p:cNvPr id="50" name="Aggregation: Worker · model hash"/>
          <p:cNvSpPr txBox="1"/>
          <p:nvPr/>
        </p:nvSpPr>
        <p:spPr>
          <a:xfrm>
            <a:off x="8915400" y="2596896"/>
            <a:ext cx="2523744" cy="219456"/>
          </a:xfrm>
          <a:prstGeom prst="rect">
            <a:avLst/>
          </a:prstGeom>
          <a:noFill/>
        </p:spPr>
        <p:txBody>
          <a:bodyPr wrap="square" lIns="0" rIns="0" tIns="0" bIns="0" anchor="ctr">
            <a:spAutoFit/>
          </a:bodyPr>
          <a:lstStyle/>
          <a:p>
            <a:pPr algn="ctr"/>
            <a:r>
              <a:rPr sz="1350" b="0" lang="en-US">
                <a:solidFill>
                  <a:srgbClr val="263440"/>
                </a:solidFill>
                <a:latin typeface="Arial"/>
              </a:rPr>
              <a:t>Worker · model hash</a:t>
            </a:r>
          </a:p>
        </p:txBody>
      </p:sp>
      <p:cxnSp>
        <p:nvCxnSpPr>
          <p:cNvPr id="51" name="Connector 50"/>
          <p:cNvCxnSpPr/>
          <p:nvPr/>
        </p:nvCxnSpPr>
        <p:spPr>
          <a:xfrm>
            <a:off x="10177272" y="2953512"/>
            <a:ext cx="0" cy="27432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8759952" y="3273552"/>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ggregation: Aggregator closes"/>
          <p:cNvSpPr txBox="1"/>
          <p:nvPr/>
        </p:nvSpPr>
        <p:spPr>
          <a:xfrm>
            <a:off x="8915400" y="337413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Aggregator closes</a:t>
            </a:r>
          </a:p>
        </p:txBody>
      </p:sp>
      <p:sp>
        <p:nvSpPr>
          <p:cNvPr id="54" name="Aggregation: Freeze fingerprint + count"/>
          <p:cNvSpPr txBox="1"/>
          <p:nvPr/>
        </p:nvSpPr>
        <p:spPr>
          <a:xfrm>
            <a:off x="8887968" y="3785615"/>
            <a:ext cx="2578608" cy="219456"/>
          </a:xfrm>
          <a:prstGeom prst="rect">
            <a:avLst/>
          </a:prstGeom>
          <a:noFill/>
        </p:spPr>
        <p:txBody>
          <a:bodyPr wrap="square" lIns="0" rIns="0" tIns="0" bIns="0" anchor="ctr">
            <a:spAutoFit/>
          </a:bodyPr>
          <a:lstStyle/>
          <a:p>
            <a:pPr algn="ctr"/>
            <a:r>
              <a:rPr sz="1300" b="0" lang="en-US">
                <a:solidFill>
                  <a:srgbClr val="263440"/>
                </a:solidFill>
                <a:latin typeface="Arial"/>
              </a:rPr>
              <a:t>Freeze fingerprint + count</a:t>
            </a:r>
          </a:p>
        </p:txBody>
      </p:sp>
      <p:cxnSp>
        <p:nvCxnSpPr>
          <p:cNvPr id="55" name="Connector 54"/>
          <p:cNvCxnSpPr/>
          <p:nvPr/>
        </p:nvCxnSpPr>
        <p:spPr>
          <a:xfrm flipH="1">
            <a:off x="5751576" y="368960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Aggregation: Frozen input set"/>
          <p:cNvSpPr txBox="1"/>
          <p:nvPr/>
        </p:nvSpPr>
        <p:spPr>
          <a:xfrm>
            <a:off x="5961888" y="330098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Frozen input set</a:t>
            </a:r>
          </a:p>
        </p:txBody>
      </p:sp>
      <p:sp>
        <p:nvSpPr>
          <p:cNvPr id="57" name="Rounded Rectangle 56"/>
          <p:cNvSpPr/>
          <p:nvPr/>
        </p:nvSpPr>
        <p:spPr>
          <a:xfrm>
            <a:off x="2843784" y="3273552"/>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ggregation: Check input set"/>
          <p:cNvSpPr txBox="1"/>
          <p:nvPr/>
        </p:nvSpPr>
        <p:spPr>
          <a:xfrm>
            <a:off x="2999232" y="3374136"/>
            <a:ext cx="2542032" cy="310896"/>
          </a:xfrm>
          <a:prstGeom prst="rect">
            <a:avLst/>
          </a:prstGeom>
          <a:noFill/>
        </p:spPr>
        <p:txBody>
          <a:bodyPr wrap="square" lIns="0" rIns="0" tIns="0" bIns="0" anchor="ctr">
            <a:spAutoFit/>
          </a:bodyPr>
          <a:lstStyle/>
          <a:p>
            <a:pPr algn="ctr"/>
            <a:r>
              <a:rPr sz="1550" b="1" lang="en-US">
                <a:solidFill>
                  <a:srgbClr val="207548"/>
                </a:solidFill>
                <a:latin typeface="Arial"/>
              </a:rPr>
              <a:t>Check input set</a:t>
            </a:r>
          </a:p>
        </p:txBody>
      </p:sp>
      <p:sp>
        <p:nvSpPr>
          <p:cNvPr id="59" name="Aggregation: Exact files + exact count"/>
          <p:cNvSpPr txBox="1"/>
          <p:nvPr/>
        </p:nvSpPr>
        <p:spPr>
          <a:xfrm>
            <a:off x="2999232" y="3785615"/>
            <a:ext cx="2542032" cy="219456"/>
          </a:xfrm>
          <a:prstGeom prst="rect">
            <a:avLst/>
          </a:prstGeom>
          <a:noFill/>
        </p:spPr>
        <p:txBody>
          <a:bodyPr wrap="square" lIns="0" rIns="0" tIns="0" bIns="0" anchor="ctr">
            <a:spAutoFit/>
          </a:bodyPr>
          <a:lstStyle/>
          <a:p>
            <a:pPr algn="ctr"/>
            <a:r>
              <a:rPr sz="1300" b="0" lang="en-US">
                <a:solidFill>
                  <a:srgbClr val="263440"/>
                </a:solidFill>
                <a:latin typeface="Arial"/>
              </a:rPr>
              <a:t>Exact files + exact count</a:t>
            </a:r>
          </a:p>
        </p:txBody>
      </p:sp>
      <p:cxnSp>
        <p:nvCxnSpPr>
          <p:cNvPr id="60" name="Connector 59"/>
          <p:cNvCxnSpPr/>
          <p:nvPr/>
        </p:nvCxnSpPr>
        <p:spPr>
          <a:xfrm>
            <a:off x="4270248" y="4142232"/>
            <a:ext cx="0" cy="210312"/>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843784" y="4398264"/>
            <a:ext cx="2852928" cy="90525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ggregation: Compute FedAvg"/>
          <p:cNvSpPr txBox="1"/>
          <p:nvPr/>
        </p:nvSpPr>
        <p:spPr>
          <a:xfrm>
            <a:off x="2999232" y="4489704"/>
            <a:ext cx="2542032" cy="292608"/>
          </a:xfrm>
          <a:prstGeom prst="rect">
            <a:avLst/>
          </a:prstGeom>
          <a:noFill/>
        </p:spPr>
        <p:txBody>
          <a:bodyPr wrap="square" lIns="0" rIns="0" tIns="0" bIns="0" anchor="ctr">
            <a:spAutoFit/>
          </a:bodyPr>
          <a:lstStyle/>
          <a:p>
            <a:pPr algn="ctr"/>
            <a:r>
              <a:rPr sz="1650" b="1" lang="en-US">
                <a:solidFill>
                  <a:srgbClr val="207548"/>
                </a:solidFill>
                <a:latin typeface="Arial"/>
              </a:rPr>
              <a:t>Compute FedAvg</a:t>
            </a:r>
          </a:p>
        </p:txBody>
      </p:sp>
      <p:sp>
        <p:nvSpPr>
          <p:cNvPr id="63" name="Aggregation: Equal mean per parameter / Encrypt + sign output"/>
          <p:cNvSpPr txBox="1"/>
          <p:nvPr/>
        </p:nvSpPr>
        <p:spPr>
          <a:xfrm>
            <a:off x="2999232" y="4818888"/>
            <a:ext cx="2542032" cy="429768"/>
          </a:xfrm>
          <a:prstGeom prst="rect">
            <a:avLst/>
          </a:prstGeom>
          <a:noFill/>
        </p:spPr>
        <p:txBody>
          <a:bodyPr wrap="square" lIns="0" rIns="0" tIns="0" bIns="0" anchor="ctr">
            <a:spAutoFit/>
          </a:bodyPr>
          <a:lstStyle/>
          <a:p>
            <a:pPr algn="ctr"/>
            <a:r>
              <a:rPr sz="1300" b="0" lang="en-US">
                <a:solidFill>
                  <a:srgbClr val="263440"/>
                </a:solidFill>
                <a:latin typeface="Arial"/>
              </a:rPr>
              <a:t>Equal mean per parameter
Encrypt + sign output</a:t>
            </a:r>
          </a:p>
        </p:txBody>
      </p:sp>
      <p:cxnSp>
        <p:nvCxnSpPr>
          <p:cNvPr id="64" name="Connector 63"/>
          <p:cNvCxnSpPr/>
          <p:nvPr/>
        </p:nvCxnSpPr>
        <p:spPr>
          <a:xfrm>
            <a:off x="5751576" y="4681728"/>
            <a:ext cx="475488"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281928" y="4398264"/>
            <a:ext cx="196596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ggregation: Store bundle"/>
          <p:cNvSpPr txBox="1"/>
          <p:nvPr/>
        </p:nvSpPr>
        <p:spPr>
          <a:xfrm>
            <a:off x="6419088" y="4489704"/>
            <a:ext cx="1691640" cy="292608"/>
          </a:xfrm>
          <a:prstGeom prst="rect">
            <a:avLst/>
          </a:prstGeom>
          <a:noFill/>
        </p:spPr>
        <p:txBody>
          <a:bodyPr wrap="square" lIns="0" rIns="0" tIns="0" bIns="0" anchor="ctr">
            <a:spAutoFit/>
          </a:bodyPr>
          <a:lstStyle/>
          <a:p>
            <a:pPr algn="ctr"/>
            <a:r>
              <a:rPr sz="1600" b="1" lang="en-US">
                <a:solidFill>
                  <a:srgbClr val="7446A6"/>
                </a:solidFill>
                <a:latin typeface="Arial"/>
              </a:rPr>
              <a:t>Store bundle</a:t>
            </a:r>
          </a:p>
        </p:txBody>
      </p:sp>
      <p:sp>
        <p:nvSpPr>
          <p:cNvPr id="67" name="Aggregation: Model · signature / recipient keys"/>
          <p:cNvSpPr txBox="1"/>
          <p:nvPr/>
        </p:nvSpPr>
        <p:spPr>
          <a:xfrm>
            <a:off x="6419088" y="4837176"/>
            <a:ext cx="1691640" cy="393192"/>
          </a:xfrm>
          <a:prstGeom prst="rect">
            <a:avLst/>
          </a:prstGeom>
          <a:noFill/>
        </p:spPr>
        <p:txBody>
          <a:bodyPr wrap="square" lIns="0" rIns="0" tIns="0" bIns="0" anchor="ctr">
            <a:spAutoFit/>
          </a:bodyPr>
          <a:lstStyle/>
          <a:p>
            <a:pPr algn="ctr"/>
            <a:r>
              <a:rPr sz="1280" b="0" lang="en-US">
                <a:solidFill>
                  <a:srgbClr val="263440"/>
                </a:solidFill>
                <a:latin typeface="Arial"/>
              </a:rPr>
              <a:t>Model · signature
recipient keys</a:t>
            </a:r>
          </a:p>
        </p:txBody>
      </p:sp>
      <p:sp>
        <p:nvSpPr>
          <p:cNvPr id="68" name="Rounded Rectangle 67"/>
          <p:cNvSpPr/>
          <p:nvPr/>
        </p:nvSpPr>
        <p:spPr>
          <a:xfrm>
            <a:off x="8759952" y="4398264"/>
            <a:ext cx="283464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ggregation: Finalize round"/>
          <p:cNvSpPr txBox="1"/>
          <p:nvPr/>
        </p:nvSpPr>
        <p:spPr>
          <a:xfrm>
            <a:off x="8915400" y="4489704"/>
            <a:ext cx="2523744" cy="292608"/>
          </a:xfrm>
          <a:prstGeom prst="rect">
            <a:avLst/>
          </a:prstGeom>
          <a:noFill/>
        </p:spPr>
        <p:txBody>
          <a:bodyPr wrap="square" lIns="0" rIns="0" tIns="0" bIns="0" anchor="ctr">
            <a:spAutoFit/>
          </a:bodyPr>
          <a:lstStyle/>
          <a:p>
            <a:pPr algn="ctr"/>
            <a:r>
              <a:rPr sz="1700" b="1" lang="en-US">
                <a:solidFill>
                  <a:srgbClr val="7446A6"/>
                </a:solidFill>
                <a:latin typeface="Arial"/>
              </a:rPr>
              <a:t>Finalize round</a:t>
            </a:r>
          </a:p>
        </p:txBody>
      </p:sp>
      <p:sp>
        <p:nvSpPr>
          <p:cNvPr id="70" name="Aggregation: Verify signed statement / Publish CIDs · advance"/>
          <p:cNvSpPr txBox="1"/>
          <p:nvPr/>
        </p:nvSpPr>
        <p:spPr>
          <a:xfrm>
            <a:off x="8915400" y="4818888"/>
            <a:ext cx="2523744" cy="429768"/>
          </a:xfrm>
          <a:prstGeom prst="rect">
            <a:avLst/>
          </a:prstGeom>
          <a:noFill/>
        </p:spPr>
        <p:txBody>
          <a:bodyPr wrap="square" lIns="0" rIns="0" tIns="0" bIns="0" anchor="ctr">
            <a:spAutoFit/>
          </a:bodyPr>
          <a:lstStyle/>
          <a:p>
            <a:pPr algn="ctr"/>
            <a:r>
              <a:rPr sz="1300" b="0" lang="en-US">
                <a:solidFill>
                  <a:srgbClr val="263440"/>
                </a:solidFill>
                <a:latin typeface="Arial"/>
              </a:rPr>
              <a:t>Verify signed statement
Publish CIDs · advance</a:t>
            </a:r>
          </a:p>
        </p:txBody>
      </p:sp>
      <p:cxnSp>
        <p:nvCxnSpPr>
          <p:cNvPr id="71" name="Connector 70"/>
          <p:cNvCxnSpPr/>
          <p:nvPr/>
        </p:nvCxnSpPr>
        <p:spPr>
          <a:xfrm>
            <a:off x="4270248" y="5349240"/>
            <a:ext cx="0" cy="283464"/>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70248" y="5632704"/>
            <a:ext cx="5907024"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0177272" y="5349240"/>
            <a:ext cx="0" cy="283464"/>
          </a:xfrm>
          <a:prstGeom prst="line">
            <a:avLst/>
          </a:prstGeom>
          <a:ln w="2540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Aggregation: Signed statement + IPFS CIDs · one transaction"/>
          <p:cNvSpPr txBox="1"/>
          <p:nvPr/>
        </p:nvSpPr>
        <p:spPr>
          <a:xfrm>
            <a:off x="4690872" y="5349240"/>
            <a:ext cx="5148072" cy="219456"/>
          </a:xfrm>
          <a:prstGeom prst="rect">
            <a:avLst/>
          </a:prstGeom>
          <a:noFill/>
        </p:spPr>
        <p:txBody>
          <a:bodyPr wrap="square" lIns="0" rIns="0" tIns="0" bIns="0" anchor="ctr">
            <a:spAutoFit/>
          </a:bodyPr>
          <a:lstStyle/>
          <a:p>
            <a:pPr algn="ctr"/>
            <a:r>
              <a:rPr sz="1300" b="0" lang="en-US">
                <a:solidFill>
                  <a:srgbClr val="7446A6"/>
                </a:solidFill>
                <a:latin typeface="Arial"/>
              </a:rPr>
              <a:t>Signed statement + IPFS CIDs · one transaction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8" name="TextBox 17"/>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9" name="TextBox 18"/>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20" name="Rounded Rectangle 19"/>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22" name="TextBox 21"/>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23" name="TextBox 22"/>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24" name="TextBox 23"/>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5" name="Rounded Rectangle 24"/>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7" name="Rounded Rectangle 26"/>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9" name="TextBox 28"/>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30" name="Rounded Rectangle 29"/>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32" name="TextBox 31"/>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33" name="Rounded Rectangle 32"/>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5" name="TextBox 34"/>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6" name="Rectangle 35"/>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8" name="Rounded Rectangle 37"/>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40" name="TextBox 39"/>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41" name="TextBox 40"/>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42" name="TextBox 41"/>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43" name="Rectangle 42"/>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and AIR: two layers of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VITA-FL IMPLEMENTATION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7"/>
          <p:cNvSpPr/>
          <p:nvPr/>
        </p:nvSpPr>
        <p:spPr>
          <a:xfrm>
            <a:off x="0" y="5733288"/>
            <a:ext cx="12191999" cy="39319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llo AIR: Sello checks the tool interaction. AIR binds the numeric inference."/>
          <p:cNvSpPr txBox="1"/>
          <p:nvPr/>
        </p:nvSpPr>
        <p:spPr>
          <a:xfrm>
            <a:off x="621792" y="1344168"/>
            <a:ext cx="10936224" cy="466344"/>
          </a:xfrm>
          <a:prstGeom prst="rect">
            <a:avLst/>
          </a:prstGeom>
          <a:noFill/>
        </p:spPr>
        <p:txBody>
          <a:bodyPr wrap="square" lIns="0" rIns="0" tIns="0" bIns="0" anchor="ctr">
            <a:spAutoFit/>
          </a:bodyPr>
          <a:lstStyle/>
          <a:p>
            <a:pPr algn="l"/>
            <a:r>
              <a:rPr sz="1900" b="0" lang="en-US">
                <a:solidFill>
                  <a:srgbClr val="263440"/>
                </a:solidFill>
                <a:latin typeface="Arial"/>
              </a:rPr>
              <a:t>Sello checks the tool interaction. AIR binds the numeric inference.</a:t>
            </a:r>
          </a:p>
        </p:txBody>
      </p:sp>
      <p:sp>
        <p:nvSpPr>
          <p:cNvPr id="15" name="Rectangle 19"/>
          <p:cNvSpPr/>
          <p:nvPr/>
        </p:nvSpPr>
        <p:spPr>
          <a:xfrm>
            <a:off x="630936" y="1901952"/>
            <a:ext cx="5330952" cy="2926080"/>
          </a:xfrm>
          <a:prstGeom prst="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20"/>
          <p:cNvSpPr/>
          <p:nvPr/>
        </p:nvSpPr>
        <p:spPr>
          <a:xfrm>
            <a:off x="644652" y="1915668"/>
            <a:ext cx="5303520" cy="557784"/>
          </a:xfrm>
          <a:prstGeom prst="rect">
            <a:avLst/>
          </a:prstGeom>
          <a:solidFill>
            <a:srgbClr val="EDF4FA"/>
          </a:solidFill>
          <a:ln>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ello AIR: Sello"/>
          <p:cNvSpPr txBox="1"/>
          <p:nvPr/>
        </p:nvSpPr>
        <p:spPr>
          <a:xfrm>
            <a:off x="813815" y="2011680"/>
            <a:ext cx="1325880" cy="438912"/>
          </a:xfrm>
          <a:prstGeom prst="rect">
            <a:avLst/>
          </a:prstGeom>
          <a:noFill/>
        </p:spPr>
        <p:txBody>
          <a:bodyPr wrap="square" lIns="0" rIns="0" tIns="0" bIns="0" anchor="ctr">
            <a:spAutoFit/>
          </a:bodyPr>
          <a:lstStyle/>
          <a:p>
            <a:pPr algn="l"/>
            <a:r>
              <a:rPr sz="2600" b="1" lang="en-US">
                <a:solidFill>
                  <a:srgbClr val="1764A1"/>
                </a:solidFill>
                <a:latin typeface="Arial"/>
              </a:rPr>
              <a:t>Sello</a:t>
            </a:r>
          </a:p>
        </p:txBody>
      </p:sp>
      <p:sp>
        <p:nvSpPr>
          <p:cNvPr id="18" name="Sello AIR: Tool interaction"/>
          <p:cNvSpPr txBox="1"/>
          <p:nvPr/>
        </p:nvSpPr>
        <p:spPr>
          <a:xfrm>
            <a:off x="2139696" y="2048256"/>
            <a:ext cx="3602736" cy="301752"/>
          </a:xfrm>
          <a:prstGeom prst="rect">
            <a:avLst/>
          </a:prstGeom>
          <a:noFill/>
        </p:spPr>
        <p:txBody>
          <a:bodyPr wrap="square" lIns="0" rIns="0" tIns="0" bIns="0" anchor="ctr">
            <a:spAutoFit/>
          </a:bodyPr>
          <a:lstStyle/>
          <a:p>
            <a:pPr algn="l"/>
            <a:r>
              <a:rPr sz="1800" b="0" lang="en-US">
                <a:solidFill>
                  <a:srgbClr val="1764A1"/>
                </a:solidFill>
                <a:latin typeface="Arial"/>
              </a:rPr>
              <a:t>Tool interaction</a:t>
            </a:r>
          </a:p>
        </p:txBody>
      </p:sp>
      <p:sp>
        <p:nvSpPr>
          <p:cNvPr id="19" name="Oval 23"/>
          <p:cNvSpPr/>
          <p:nvPr/>
        </p:nvSpPr>
        <p:spPr>
          <a:xfrm>
            <a:off x="813815" y="2574036"/>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ello AIR: 1"/>
          <p:cNvSpPr txBox="1"/>
          <p:nvPr/>
        </p:nvSpPr>
        <p:spPr>
          <a:xfrm>
            <a:off x="813815"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21" name="Sello AIR: An authorised agent may call"/>
          <p:cNvSpPr txBox="1"/>
          <p:nvPr/>
        </p:nvSpPr>
        <p:spPr>
          <a:xfrm>
            <a:off x="1197864" y="2560320"/>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An authorised agent may call</a:t>
            </a:r>
          </a:p>
        </p:txBody>
      </p:sp>
      <p:sp>
        <p:nvSpPr>
          <p:cNvPr id="22" name="Sello AIR: mTLS + token: identity, Inference TEE, / scope, certificate, expiry; job ownership."/>
          <p:cNvSpPr txBox="1"/>
          <p:nvPr/>
        </p:nvSpPr>
        <p:spPr>
          <a:xfrm>
            <a:off x="1197864"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mTLS + token: identity, Inference TEE,
scope, certificate, expiry; job ownership.</a:t>
            </a:r>
          </a:p>
        </p:txBody>
      </p:sp>
      <p:sp>
        <p:nvSpPr>
          <p:cNvPr id="23" name="Oval 27"/>
          <p:cNvSpPr/>
          <p:nvPr/>
        </p:nvSpPr>
        <p:spPr>
          <a:xfrm>
            <a:off x="813815" y="3314700"/>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2"/>
          <p:cNvSpPr txBox="1"/>
          <p:nvPr/>
        </p:nvSpPr>
        <p:spPr>
          <a:xfrm>
            <a:off x="813815"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25" name="Sello AIR: A signed record of the tool call"/>
          <p:cNvSpPr txBox="1"/>
          <p:nvPr/>
        </p:nvSpPr>
        <p:spPr>
          <a:xfrm>
            <a:off x="1197864" y="3300984"/>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 signed record of the tool call</a:t>
            </a:r>
          </a:p>
        </p:txBody>
      </p:sp>
      <p:sp>
        <p:nvSpPr>
          <p:cNvPr id="26" name="Sello AIR: Inference TEE signs action, input/output hashes, / token reference and result status."/>
          <p:cNvSpPr txBox="1"/>
          <p:nvPr/>
        </p:nvSpPr>
        <p:spPr>
          <a:xfrm>
            <a:off x="1197864"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Inference TEE signs action, input/output hashes,
token reference and result status.</a:t>
            </a:r>
          </a:p>
        </p:txBody>
      </p:sp>
      <p:sp>
        <p:nvSpPr>
          <p:cNvPr id="27" name="Oval 31"/>
          <p:cNvSpPr/>
          <p:nvPr/>
        </p:nvSpPr>
        <p:spPr>
          <a:xfrm>
            <a:off x="813815" y="4055363"/>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ello AIR: 3"/>
          <p:cNvSpPr txBox="1"/>
          <p:nvPr/>
        </p:nvSpPr>
        <p:spPr>
          <a:xfrm>
            <a:off x="813815"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29" name="Sello AIR: The receipt body stays encrypted"/>
          <p:cNvSpPr txBox="1"/>
          <p:nvPr/>
        </p:nvSpPr>
        <p:spPr>
          <a:xfrm>
            <a:off x="1197864" y="4041648"/>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The receipt body stays encrypted</a:t>
            </a:r>
          </a:p>
        </p:txBody>
      </p:sp>
      <p:sp>
        <p:nvSpPr>
          <p:cNvPr id="30" name="Sello AIR: HPKE seals the Sello receipt for the owner."/>
          <p:cNvSpPr txBox="1"/>
          <p:nvPr/>
        </p:nvSpPr>
        <p:spPr>
          <a:xfrm>
            <a:off x="1197864"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HPKE seals the Sello receipt for the owner.</a:t>
            </a:r>
          </a:p>
        </p:txBody>
      </p:sp>
      <p:sp>
        <p:nvSpPr>
          <p:cNvPr id="31" name="Rectangle 35"/>
          <p:cNvSpPr/>
          <p:nvPr/>
        </p:nvSpPr>
        <p:spPr>
          <a:xfrm>
            <a:off x="6217920" y="1901952"/>
            <a:ext cx="5330952" cy="2926080"/>
          </a:xfrm>
          <a:prstGeom prst="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6"/>
          <p:cNvSpPr/>
          <p:nvPr/>
        </p:nvSpPr>
        <p:spPr>
          <a:xfrm>
            <a:off x="6231636" y="1915668"/>
            <a:ext cx="5303520" cy="557784"/>
          </a:xfrm>
          <a:prstGeom prst="rect">
            <a:avLst/>
          </a:prstGeom>
          <a:solidFill>
            <a:srgbClr val="EDF6F0"/>
          </a:solidFill>
          <a:ln>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ello AIR: AIR"/>
          <p:cNvSpPr txBox="1"/>
          <p:nvPr/>
        </p:nvSpPr>
        <p:spPr>
          <a:xfrm>
            <a:off x="6400800" y="2011680"/>
            <a:ext cx="1325880" cy="438912"/>
          </a:xfrm>
          <a:prstGeom prst="rect">
            <a:avLst/>
          </a:prstGeom>
          <a:noFill/>
        </p:spPr>
        <p:txBody>
          <a:bodyPr wrap="square" lIns="0" rIns="0" tIns="0" bIns="0" anchor="ctr">
            <a:spAutoFit/>
          </a:bodyPr>
          <a:lstStyle/>
          <a:p>
            <a:pPr algn="l"/>
            <a:r>
              <a:rPr sz="2600" b="1" lang="en-US">
                <a:solidFill>
                  <a:srgbClr val="207548"/>
                </a:solidFill>
                <a:latin typeface="Arial"/>
              </a:rPr>
              <a:t>AIR</a:t>
            </a:r>
          </a:p>
        </p:txBody>
      </p:sp>
      <p:sp>
        <p:nvSpPr>
          <p:cNvPr id="34" name="Sello AIR: Attested Inference Receipt"/>
          <p:cNvSpPr txBox="1"/>
          <p:nvPr/>
        </p:nvSpPr>
        <p:spPr>
          <a:xfrm>
            <a:off x="7726679" y="2048256"/>
            <a:ext cx="3602736" cy="301752"/>
          </a:xfrm>
          <a:prstGeom prst="rect">
            <a:avLst/>
          </a:prstGeom>
          <a:noFill/>
        </p:spPr>
        <p:txBody>
          <a:bodyPr wrap="square" lIns="0" rIns="0" tIns="0" bIns="0" anchor="ctr">
            <a:spAutoFit/>
          </a:bodyPr>
          <a:lstStyle/>
          <a:p>
            <a:pPr algn="l"/>
            <a:r>
              <a:rPr sz="1800" b="0" lang="en-US">
                <a:solidFill>
                  <a:srgbClr val="207548"/>
                </a:solidFill>
                <a:latin typeface="Arial"/>
              </a:rPr>
              <a:t>Attested Inference Receipt</a:t>
            </a:r>
          </a:p>
        </p:txBody>
      </p:sp>
      <p:sp>
        <p:nvSpPr>
          <p:cNvPr id="35" name="Oval 39"/>
          <p:cNvSpPr/>
          <p:nvPr/>
        </p:nvSpPr>
        <p:spPr>
          <a:xfrm>
            <a:off x="6400800" y="2574036"/>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ello AIR: 1"/>
          <p:cNvSpPr txBox="1"/>
          <p:nvPr/>
        </p:nvSpPr>
        <p:spPr>
          <a:xfrm>
            <a:off x="6400800"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37" name="Sello AIR: Model, input and result stay linked"/>
          <p:cNvSpPr txBox="1"/>
          <p:nvPr/>
        </p:nvSpPr>
        <p:spPr>
          <a:xfrm>
            <a:off x="6784848" y="2560320"/>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Model, input and result stay linked</a:t>
            </a:r>
          </a:p>
        </p:txBody>
      </p:sp>
      <p:sp>
        <p:nvSpPr>
          <p:cNvPr id="38" name="Sello AIR: Ed25519 signs their hashes and the quote hash."/>
          <p:cNvSpPr txBox="1"/>
          <p:nvPr/>
        </p:nvSpPr>
        <p:spPr>
          <a:xfrm>
            <a:off x="6784848"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Ed25519 signs their hashes and the quote hash.</a:t>
            </a:r>
          </a:p>
        </p:txBody>
      </p:sp>
      <p:sp>
        <p:nvSpPr>
          <p:cNvPr id="39" name="Oval 43"/>
          <p:cNvSpPr/>
          <p:nvPr/>
        </p:nvSpPr>
        <p:spPr>
          <a:xfrm>
            <a:off x="6400800" y="3314700"/>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ello AIR: 2"/>
          <p:cNvSpPr txBox="1"/>
          <p:nvPr/>
        </p:nvSpPr>
        <p:spPr>
          <a:xfrm>
            <a:off x="6400800"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41" name="Sello AIR: The receipt key is bound to the quote"/>
          <p:cNvSpPr txBox="1"/>
          <p:nvPr/>
        </p:nvSpPr>
        <p:spPr>
          <a:xfrm>
            <a:off x="6784848" y="3300984"/>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The receipt key is bound to the quote</a:t>
            </a:r>
          </a:p>
        </p:txBody>
      </p:sp>
      <p:sp>
        <p:nvSpPr>
          <p:cNvPr id="42" name="Sello AIR: REPORTDATA: key + manifest + request. / The AIR signature binds the result."/>
          <p:cNvSpPr txBox="1"/>
          <p:nvPr/>
        </p:nvSpPr>
        <p:spPr>
          <a:xfrm>
            <a:off x="6784848"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REPORTDATA: key + manifest + request.
The AIR signature binds the result.</a:t>
            </a:r>
          </a:p>
        </p:txBody>
      </p:sp>
      <p:sp>
        <p:nvSpPr>
          <p:cNvPr id="43" name="Oval 47"/>
          <p:cNvSpPr/>
          <p:nvPr/>
        </p:nvSpPr>
        <p:spPr>
          <a:xfrm>
            <a:off x="6400800" y="4055363"/>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ello AIR: 3"/>
          <p:cNvSpPr txBox="1"/>
          <p:nvPr/>
        </p:nvSpPr>
        <p:spPr>
          <a:xfrm>
            <a:off x="6400800"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45" name="Sello AIR: Deployment policy is checked"/>
          <p:cNvSpPr txBox="1"/>
          <p:nvPr/>
        </p:nvSpPr>
        <p:spPr>
          <a:xfrm>
            <a:off x="6784848" y="4041648"/>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Deployment policy is checked</a:t>
            </a:r>
          </a:p>
        </p:txBody>
      </p:sp>
      <p:sp>
        <p:nvSpPr>
          <p:cNvPr id="46" name="Sello AIR: Replay RTMR3; compare Compose, image digest, / chain, contracts and RPC."/>
          <p:cNvSpPr txBox="1"/>
          <p:nvPr/>
        </p:nvSpPr>
        <p:spPr>
          <a:xfrm>
            <a:off x="6784848"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Replay RTMR3; compare Compose, image digest,
chain, contracts and RPC.</a:t>
            </a:r>
          </a:p>
        </p:txBody>
      </p:sp>
      <p:sp>
        <p:nvSpPr>
          <p:cNvPr id="47" name="Rounded Rectangle 51"/>
          <p:cNvSpPr/>
          <p:nvPr/>
        </p:nvSpPr>
        <p:spPr>
          <a:xfrm>
            <a:off x="630936" y="4965192"/>
            <a:ext cx="10917936" cy="612648"/>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52"/>
          <p:cNvSpPr/>
          <p:nvPr/>
        </p:nvSpPr>
        <p:spPr>
          <a:xfrm>
            <a:off x="786384" y="5143500"/>
            <a:ext cx="1335024" cy="25603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ello AIR: SHARED LOG"/>
          <p:cNvSpPr txBox="1"/>
          <p:nvPr/>
        </p:nvSpPr>
        <p:spPr>
          <a:xfrm>
            <a:off x="850392" y="5157216"/>
            <a:ext cx="1207007" cy="228600"/>
          </a:xfrm>
          <a:prstGeom prst="rect">
            <a:avLst/>
          </a:prstGeom>
          <a:noFill/>
        </p:spPr>
        <p:txBody>
          <a:bodyPr wrap="square" lIns="0" rIns="0" tIns="0" bIns="0" anchor="ctr">
            <a:spAutoFit/>
          </a:bodyPr>
          <a:lstStyle/>
          <a:p>
            <a:pPr algn="ctr"/>
            <a:r>
              <a:rPr sz="1150" b="1" lang="en-US">
                <a:solidFill>
                  <a:srgbClr val="FFFFFF"/>
                </a:solidFill>
                <a:latin typeface="Arial"/>
              </a:rPr>
              <a:t>SHARED LOG</a:t>
            </a:r>
          </a:p>
        </p:txBody>
      </p:sp>
      <p:sp>
        <p:nvSpPr>
          <p:cNvPr id="50" name="Sello AIR: Inference TEE logs Sello before reply"/>
          <p:cNvSpPr txBox="1"/>
          <p:nvPr/>
        </p:nvSpPr>
        <p:spPr>
          <a:xfrm>
            <a:off x="2295144" y="5125212"/>
            <a:ext cx="4261104" cy="292608"/>
          </a:xfrm>
          <a:prstGeom prst="rect">
            <a:avLst/>
          </a:prstGeom>
          <a:noFill/>
        </p:spPr>
        <p:txBody>
          <a:bodyPr wrap="square" lIns="0" rIns="0" tIns="0" bIns="0" anchor="ctr">
            <a:spAutoFit/>
          </a:bodyPr>
          <a:lstStyle/>
          <a:p>
            <a:pPr algn="l"/>
            <a:r>
              <a:rPr sz="1500" b="1" lang="en-US">
                <a:solidFill>
                  <a:srgbClr val="7446A6"/>
                </a:solidFill>
                <a:latin typeface="Arial"/>
              </a:rPr>
              <a:t>Inference TEE logs Sello before reply</a:t>
            </a:r>
          </a:p>
        </p:txBody>
      </p:sp>
      <p:cxnSp>
        <p:nvCxnSpPr>
          <p:cNvPr id="51" name="Connector 55"/>
          <p:cNvCxnSpPr/>
          <p:nvPr/>
        </p:nvCxnSpPr>
        <p:spPr>
          <a:xfrm>
            <a:off x="6656832" y="5271516"/>
            <a:ext cx="283464" cy="0"/>
          </a:xfrm>
          <a:prstGeom prst="line">
            <a:avLst/>
          </a:prstGeom>
          <a:ln w="1905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Sello AIR: Agent verifies Transparency Log / and logs AIR"/>
          <p:cNvSpPr txBox="1"/>
          <p:nvPr/>
        </p:nvSpPr>
        <p:spPr>
          <a:xfrm>
            <a:off x="7114032" y="5015484"/>
            <a:ext cx="4224528" cy="512064"/>
          </a:xfrm>
          <a:prstGeom prst="rect">
            <a:avLst/>
          </a:prstGeom>
          <a:noFill/>
        </p:spPr>
        <p:txBody>
          <a:bodyPr wrap="square" lIns="0" rIns="0" tIns="0" bIns="0" anchor="ctr">
            <a:spAutoFit/>
          </a:bodyPr>
          <a:lstStyle/>
          <a:p>
            <a:pPr algn="l"/>
            <a:r>
              <a:rPr sz="1500" b="1" lang="en-US">
                <a:solidFill>
                  <a:srgbClr val="7446A6"/>
                </a:solidFill>
                <a:latin typeface="Arial"/>
              </a:rPr>
              <a:t>Agent verifies Transparency Log
and logs AIR</a:t>
            </a:r>
          </a:p>
        </p:txBody>
      </p:sp>
      <p:sp>
        <p:nvSpPr>
          <p:cNvPr id="53" name="Sello AIR: Sello-inspired profile · Figuera (2026)"/>
          <p:cNvSpPr txBox="1"/>
          <p:nvPr/>
        </p:nvSpPr>
        <p:spPr>
          <a:xfrm>
            <a:off x="630936" y="5879592"/>
            <a:ext cx="5212080" cy="201168"/>
          </a:xfrm>
          <a:prstGeom prst="rect">
            <a:avLst/>
          </a:prstGeom>
          <a:noFill/>
        </p:spPr>
        <p:txBody>
          <a:bodyPr wrap="square" lIns="0" rIns="0" tIns="0" bIns="0" anchor="ctr">
            <a:spAutoFit/>
          </a:bodyPr>
          <a:lstStyle/>
          <a:p>
            <a:pPr algn="l"/>
            <a:r>
              <a:rPr sz="1000" b="0" lang="en-US">
                <a:solidFill>
                  <a:srgbClr val="67747C"/>
                </a:solidFill>
                <a:latin typeface="Arial"/>
                <a:hlinkClick r:id="rId2"/>
              </a:rPr>
              <a:t>Sello-inspired profile · Figuera (2026)</a:t>
            </a:r>
          </a:p>
        </p:txBody>
      </p:sp>
      <p:sp>
        <p:nvSpPr>
          <p:cNvPr id="54" name="Sello AIR: AIR-style profile · Tsyrulnikov, Internet-Draft 02 (2026)"/>
          <p:cNvSpPr txBox="1"/>
          <p:nvPr/>
        </p:nvSpPr>
        <p:spPr>
          <a:xfrm>
            <a:off x="5943600" y="5879592"/>
            <a:ext cx="5577840" cy="201168"/>
          </a:xfrm>
          <a:prstGeom prst="rect">
            <a:avLst/>
          </a:prstGeom>
          <a:noFill/>
        </p:spPr>
        <p:txBody>
          <a:bodyPr wrap="square" lIns="0" rIns="0" tIns="0" bIns="0" anchor="ctr">
            <a:spAutoFit/>
          </a:bodyPr>
          <a:lstStyle/>
          <a:p>
            <a:pPr algn="l"/>
            <a:r>
              <a:rPr sz="1000" b="0" lang="en-US">
                <a:solidFill>
                  <a:srgbClr val="67747C"/>
                </a:solidFill>
                <a:latin typeface="Arial"/>
                <a:hlinkClick r:id="rId3"/>
              </a:rPr>
              <a:t>AIR-style profile · Tsyrulnikov, Internet-Draft 02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5" name="Connector 14"/>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8" name="Connector 17"/>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21" name="Connector 20"/>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24" name="TextBox 23"/>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5" name="Connector 24"/>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9" name="TextBox 28"/>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30" name="Connector 29"/>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34" name="TextBox 33"/>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5" name="Connector 34"/>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7" name="Connector 36"/>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9" name="Rectangle 38"/>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5" name="Rounded Rectangle 14"/>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7" name="TextBox 16"/>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8" name="Rectangle 17"/>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20" name="Rounded Rectangle 19"/>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22" name="TextBox 21"/>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23" name="Rectangle 22"/>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5" name="Rounded Rectangle 24"/>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7" name="TextBox 26"/>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8" name="Rectangle 27"/>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30" name="Rectangle 29"/>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8" name="Oval 17"/>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20" name="TextBox 19"/>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21" name="TextBox 20"/>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22" name="Oval 21"/>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24" name="TextBox 23"/>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5" name="TextBox 24"/>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6" name="Oval 25"/>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8" name="TextBox 27"/>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9" name="TextBox 28"/>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30" name="Oval 29"/>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32" name="TextBox 31"/>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33" name="TextBox 32"/>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34" name="Oval 33"/>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6" name="TextBox 35"/>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7" name="TextBox 36"/>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8" name="Rectangle 37"/>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VITA-FL evaluation tools architectur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Local evaluation, deployed system</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HOW THE TOOLS WORK TOGETHER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Evaluation stack: The test driver stays outside VITA-FL and checks its observable behavior."/>
          <p:cNvSpPr txBox="1"/>
          <p:nvPr/>
        </p:nvSpPr>
        <p:spPr>
          <a:xfrm>
            <a:off x="630936" y="1389888"/>
            <a:ext cx="10927080" cy="521207"/>
          </a:xfrm>
          <a:prstGeom prst="rect">
            <a:avLst/>
          </a:prstGeom>
          <a:noFill/>
        </p:spPr>
        <p:txBody>
          <a:bodyPr wrap="square" lIns="0" rIns="0" tIns="0" bIns="0" anchor="ctr">
            <a:spAutoFit/>
          </a:bodyPr>
          <a:lstStyle/>
          <a:p>
            <a:pPr algn="l"/>
            <a:r>
              <a:rPr sz="2000" b="0" lang="en-US">
                <a:solidFill>
                  <a:srgbClr val="263440"/>
                </a:solidFill>
                <a:latin typeface="Arial"/>
              </a:rPr>
              <a:t>The test driver stays outside VITA-FL and checks its observable behavior.</a:t>
            </a:r>
          </a:p>
        </p:txBody>
      </p:sp>
      <p:sp>
        <p:nvSpPr>
          <p:cNvPr id="14" name="Rounded Rectangle 13"/>
          <p:cNvSpPr/>
          <p:nvPr/>
        </p:nvSpPr>
        <p:spPr>
          <a:xfrm>
            <a:off x="640080" y="2084831"/>
            <a:ext cx="6665976" cy="3255264"/>
          </a:xfrm>
          <a:prstGeom prst="roundRect">
            <a:avLst/>
          </a:prstGeom>
          <a:solidFill>
            <a:srgbClr val="F2F5F7"/>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99831" y="2084831"/>
            <a:ext cx="3749039" cy="3255264"/>
          </a:xfrm>
          <a:prstGeom prst="roundRect">
            <a:avLst/>
          </a:prstGeom>
          <a:solidFill>
            <a:srgbClr val="FFFFFF"/>
          </a:solidFill>
          <a:ln w="1905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valuation stack: EXPERIMENT HOST"/>
          <p:cNvSpPr txBox="1"/>
          <p:nvPr/>
        </p:nvSpPr>
        <p:spPr>
          <a:xfrm>
            <a:off x="868680" y="2212848"/>
            <a:ext cx="6172200" cy="265176"/>
          </a:xfrm>
          <a:prstGeom prst="rect">
            <a:avLst/>
          </a:prstGeom>
          <a:noFill/>
        </p:spPr>
        <p:txBody>
          <a:bodyPr wrap="square" lIns="0" rIns="0" tIns="0" bIns="0" anchor="ctr">
            <a:spAutoFit/>
          </a:bodyPr>
          <a:lstStyle/>
          <a:p>
            <a:pPr algn="l"/>
            <a:r>
              <a:rPr sz="1300" b="1" lang="en-US">
                <a:solidFill>
                  <a:srgbClr val="65737D"/>
                </a:solidFill>
                <a:latin typeface="Arial"/>
              </a:rPr>
              <a:t>EXPERIMENT HOST</a:t>
            </a:r>
          </a:p>
        </p:txBody>
      </p:sp>
      <p:sp>
        <p:nvSpPr>
          <p:cNvPr id="17" name="Evaluation stack: PHALA DEPLOYMENT"/>
          <p:cNvSpPr txBox="1"/>
          <p:nvPr/>
        </p:nvSpPr>
        <p:spPr>
          <a:xfrm>
            <a:off x="8037575" y="2212848"/>
            <a:ext cx="3255264" cy="265176"/>
          </a:xfrm>
          <a:prstGeom prst="rect">
            <a:avLst/>
          </a:prstGeom>
          <a:noFill/>
        </p:spPr>
        <p:txBody>
          <a:bodyPr wrap="square" lIns="0" rIns="0" tIns="0" bIns="0" anchor="ctr">
            <a:spAutoFit/>
          </a:bodyPr>
          <a:lstStyle/>
          <a:p>
            <a:pPr algn="l"/>
            <a:r>
              <a:rPr sz="1300" b="1" lang="en-US">
                <a:solidFill>
                  <a:srgbClr val="65737D"/>
                </a:solidFill>
                <a:latin typeface="Arial"/>
              </a:rPr>
              <a:t>PHALA DEPLOYMENT</a:t>
            </a:r>
          </a:p>
        </p:txBody>
      </p:sp>
      <p:sp>
        <p:nvSpPr>
          <p:cNvPr id="18" name="Rounded Rectangle 17"/>
          <p:cNvSpPr/>
          <p:nvPr/>
        </p:nvSpPr>
        <p:spPr>
          <a:xfrm>
            <a:off x="868680" y="2706624"/>
            <a:ext cx="1673352" cy="914400"/>
          </a:xfrm>
          <a:prstGeom prst="roundRect">
            <a:avLst/>
          </a:prstGeom>
          <a:solidFill>
            <a:srgbClr val="FFFFFF"/>
          </a:solidFill>
          <a:ln w="1270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Evaluation stack: SMEW"/>
          <p:cNvSpPr txBox="1"/>
          <p:nvPr/>
        </p:nvSpPr>
        <p:spPr>
          <a:xfrm>
            <a:off x="978407" y="2816352"/>
            <a:ext cx="1453896" cy="329184"/>
          </a:xfrm>
          <a:prstGeom prst="rect">
            <a:avLst/>
          </a:prstGeom>
          <a:noFill/>
        </p:spPr>
        <p:txBody>
          <a:bodyPr wrap="square" lIns="0" rIns="0" tIns="0" bIns="0" anchor="ctr">
            <a:spAutoFit/>
          </a:bodyPr>
          <a:lstStyle/>
          <a:p>
            <a:pPr algn="ctr"/>
            <a:r>
              <a:rPr sz="1900" b="1" lang="en-US">
                <a:solidFill>
                  <a:srgbClr val="263440"/>
                </a:solidFill>
                <a:latin typeface="Arial"/>
              </a:rPr>
              <a:t>SMEW</a:t>
            </a:r>
          </a:p>
        </p:txBody>
      </p:sp>
      <p:sp>
        <p:nvSpPr>
          <p:cNvPr id="20" name="Evaluation stack: Campaigns"/>
          <p:cNvSpPr txBox="1"/>
          <p:nvPr/>
        </p:nvSpPr>
        <p:spPr>
          <a:xfrm>
            <a:off x="950976" y="3236976"/>
            <a:ext cx="1508760" cy="246888"/>
          </a:xfrm>
          <a:prstGeom prst="rect">
            <a:avLst/>
          </a:prstGeom>
          <a:noFill/>
        </p:spPr>
        <p:txBody>
          <a:bodyPr wrap="square" lIns="0" rIns="0" tIns="0" bIns="0" anchor="ctr">
            <a:spAutoFit/>
          </a:bodyPr>
          <a:lstStyle/>
          <a:p>
            <a:pPr algn="ctr"/>
            <a:r>
              <a:rPr sz="1250" b="0" lang="en-US">
                <a:solidFill>
                  <a:srgbClr val="65737D"/>
                </a:solidFill>
                <a:latin typeface="Arial"/>
              </a:rPr>
              <a:t>Campaigns</a:t>
            </a:r>
          </a:p>
        </p:txBody>
      </p:sp>
      <p:sp>
        <p:nvSpPr>
          <p:cNvPr id="21" name="Rounded Rectangle 20"/>
          <p:cNvSpPr/>
          <p:nvPr/>
        </p:nvSpPr>
        <p:spPr>
          <a:xfrm>
            <a:off x="2880360" y="2706624"/>
            <a:ext cx="1645920" cy="914400"/>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valuation stack: SMA"/>
          <p:cNvSpPr txBox="1"/>
          <p:nvPr/>
        </p:nvSpPr>
        <p:spPr>
          <a:xfrm>
            <a:off x="2990088" y="2816352"/>
            <a:ext cx="1426464" cy="329184"/>
          </a:xfrm>
          <a:prstGeom prst="rect">
            <a:avLst/>
          </a:prstGeom>
          <a:noFill/>
        </p:spPr>
        <p:txBody>
          <a:bodyPr wrap="square" lIns="0" rIns="0" tIns="0" bIns="0" anchor="ctr">
            <a:spAutoFit/>
          </a:bodyPr>
          <a:lstStyle/>
          <a:p>
            <a:pPr algn="ctr"/>
            <a:r>
              <a:rPr sz="1900" b="1" lang="en-US">
                <a:solidFill>
                  <a:srgbClr val="7446A6"/>
                </a:solidFill>
                <a:latin typeface="Arial"/>
              </a:rPr>
              <a:t>SMA</a:t>
            </a:r>
          </a:p>
        </p:txBody>
      </p:sp>
      <p:sp>
        <p:nvSpPr>
          <p:cNvPr id="23" name="Evaluation stack: Measured run"/>
          <p:cNvSpPr txBox="1"/>
          <p:nvPr/>
        </p:nvSpPr>
        <p:spPr>
          <a:xfrm>
            <a:off x="2962656" y="3236976"/>
            <a:ext cx="1481328" cy="246888"/>
          </a:xfrm>
          <a:prstGeom prst="rect">
            <a:avLst/>
          </a:prstGeom>
          <a:noFill/>
        </p:spPr>
        <p:txBody>
          <a:bodyPr wrap="square" lIns="0" rIns="0" tIns="0" bIns="0" anchor="ctr">
            <a:spAutoFit/>
          </a:bodyPr>
          <a:lstStyle/>
          <a:p>
            <a:pPr algn="ctr"/>
            <a:r>
              <a:rPr sz="1250" b="0" lang="en-US">
                <a:solidFill>
                  <a:srgbClr val="65737D"/>
                </a:solidFill>
                <a:latin typeface="Arial"/>
              </a:rPr>
              <a:t>Measured run</a:t>
            </a:r>
          </a:p>
        </p:txBody>
      </p:sp>
      <p:sp>
        <p:nvSpPr>
          <p:cNvPr id="24" name="Rounded Rectangle 23"/>
          <p:cNvSpPr/>
          <p:nvPr/>
        </p:nvSpPr>
        <p:spPr>
          <a:xfrm>
            <a:off x="4864608" y="2706624"/>
            <a:ext cx="2212848" cy="914400"/>
          </a:xfrm>
          <a:prstGeom prst="roundRect">
            <a:avLst/>
          </a:prstGeom>
          <a:solidFill>
            <a:srgbClr val="FFFFFF"/>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valuation stack: vita-fl-td"/>
          <p:cNvSpPr txBox="1"/>
          <p:nvPr/>
        </p:nvSpPr>
        <p:spPr>
          <a:xfrm>
            <a:off x="4974336" y="2816352"/>
            <a:ext cx="1993391" cy="329184"/>
          </a:xfrm>
          <a:prstGeom prst="rect">
            <a:avLst/>
          </a:prstGeom>
          <a:noFill/>
        </p:spPr>
        <p:txBody>
          <a:bodyPr wrap="square" lIns="0" rIns="0" tIns="0" bIns="0" anchor="ctr">
            <a:spAutoFit/>
          </a:bodyPr>
          <a:lstStyle/>
          <a:p>
            <a:pPr algn="ctr"/>
            <a:r>
              <a:rPr sz="1900" b="1" lang="en-US">
                <a:solidFill>
                  <a:srgbClr val="1764A1"/>
                </a:solidFill>
                <a:latin typeface="Arial"/>
              </a:rPr>
              <a:t>vita-fl-td</a:t>
            </a:r>
          </a:p>
        </p:txBody>
      </p:sp>
      <p:sp>
        <p:nvSpPr>
          <p:cNvPr id="26" name="Evaluation stack: Assertions"/>
          <p:cNvSpPr txBox="1"/>
          <p:nvPr/>
        </p:nvSpPr>
        <p:spPr>
          <a:xfrm>
            <a:off x="4946904" y="3236976"/>
            <a:ext cx="2048255" cy="246888"/>
          </a:xfrm>
          <a:prstGeom prst="rect">
            <a:avLst/>
          </a:prstGeom>
          <a:noFill/>
        </p:spPr>
        <p:txBody>
          <a:bodyPr wrap="square" lIns="0" rIns="0" tIns="0" bIns="0" anchor="ctr">
            <a:spAutoFit/>
          </a:bodyPr>
          <a:lstStyle/>
          <a:p>
            <a:pPr algn="ctr"/>
            <a:r>
              <a:rPr sz="1250" b="0" lang="en-US">
                <a:solidFill>
                  <a:srgbClr val="65737D"/>
                </a:solidFill>
                <a:latin typeface="Arial"/>
              </a:rPr>
              <a:t>Assertions</a:t>
            </a:r>
          </a:p>
        </p:txBody>
      </p:sp>
      <p:cxnSp>
        <p:nvCxnSpPr>
          <p:cNvPr id="27" name="Connector 26"/>
          <p:cNvCxnSpPr/>
          <p:nvPr/>
        </p:nvCxnSpPr>
        <p:spPr>
          <a:xfrm>
            <a:off x="2578608" y="3108960"/>
            <a:ext cx="26517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562856" y="3108960"/>
            <a:ext cx="26517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84464" y="2706624"/>
            <a:ext cx="2880360" cy="1216152"/>
          </a:xfrm>
          <a:prstGeom prst="roundRect">
            <a:avLst/>
          </a:prstGeom>
          <a:solidFill>
            <a:srgbClr val="F2F5F7"/>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valuation stack: VITA-FL"/>
          <p:cNvSpPr txBox="1"/>
          <p:nvPr/>
        </p:nvSpPr>
        <p:spPr>
          <a:xfrm>
            <a:off x="8458200" y="2834640"/>
            <a:ext cx="2532888" cy="365760"/>
          </a:xfrm>
          <a:prstGeom prst="rect">
            <a:avLst/>
          </a:prstGeom>
          <a:noFill/>
        </p:spPr>
        <p:txBody>
          <a:bodyPr wrap="square" lIns="0" rIns="0" tIns="0" bIns="0" anchor="ctr">
            <a:spAutoFit/>
          </a:bodyPr>
          <a:lstStyle/>
          <a:p>
            <a:pPr algn="l"/>
            <a:r>
              <a:rPr sz="2200" b="1" lang="en-US">
                <a:solidFill>
                  <a:srgbClr val="263440"/>
                </a:solidFill>
                <a:latin typeface="Arial"/>
              </a:rPr>
              <a:t>VITA-FL</a:t>
            </a:r>
          </a:p>
        </p:txBody>
      </p:sp>
      <p:sp>
        <p:nvSpPr>
          <p:cNvPr id="31" name="Evaluation stack: Training · inference / contracts · evidence"/>
          <p:cNvSpPr txBox="1"/>
          <p:nvPr/>
        </p:nvSpPr>
        <p:spPr>
          <a:xfrm>
            <a:off x="8458200" y="3300984"/>
            <a:ext cx="2532888" cy="512064"/>
          </a:xfrm>
          <a:prstGeom prst="rect">
            <a:avLst/>
          </a:prstGeom>
          <a:noFill/>
        </p:spPr>
        <p:txBody>
          <a:bodyPr wrap="square" lIns="0" rIns="0" tIns="0" bIns="0" anchor="ctr">
            <a:spAutoFit/>
          </a:bodyPr>
          <a:lstStyle/>
          <a:p>
            <a:pPr algn="l"/>
            <a:r>
              <a:rPr sz="1400" b="0" lang="en-US">
                <a:solidFill>
                  <a:srgbClr val="263440"/>
                </a:solidFill>
                <a:latin typeface="Arial"/>
              </a:rPr>
              <a:t>Training · inference
contracts · evidence</a:t>
            </a:r>
          </a:p>
        </p:txBody>
      </p:sp>
      <p:cxnSp>
        <p:nvCxnSpPr>
          <p:cNvPr id="32" name="Connector 31"/>
          <p:cNvCxnSpPr/>
          <p:nvPr/>
        </p:nvCxnSpPr>
        <p:spPr>
          <a:xfrm>
            <a:off x="7114032" y="2953512"/>
            <a:ext cx="113385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Evaluation stack: API / RPC"/>
          <p:cNvSpPr txBox="1"/>
          <p:nvPr/>
        </p:nvSpPr>
        <p:spPr>
          <a:xfrm>
            <a:off x="7223760" y="2660904"/>
            <a:ext cx="978408" cy="237744"/>
          </a:xfrm>
          <a:prstGeom prst="rect">
            <a:avLst/>
          </a:prstGeom>
          <a:noFill/>
        </p:spPr>
        <p:txBody>
          <a:bodyPr wrap="square" lIns="0" rIns="0" tIns="0" bIns="0" anchor="ctr">
            <a:spAutoFit/>
          </a:bodyPr>
          <a:lstStyle/>
          <a:p>
            <a:pPr algn="ctr"/>
            <a:r>
              <a:rPr sz="1150" b="0" lang="en-US">
                <a:solidFill>
                  <a:srgbClr val="263440"/>
                </a:solidFill>
                <a:latin typeface="Arial"/>
              </a:rPr>
              <a:t>API / RPC</a:t>
            </a:r>
          </a:p>
        </p:txBody>
      </p:sp>
      <p:cxnSp>
        <p:nvCxnSpPr>
          <p:cNvPr id="34" name="Connector 33"/>
          <p:cNvCxnSpPr/>
          <p:nvPr/>
        </p:nvCxnSpPr>
        <p:spPr>
          <a:xfrm flipH="1">
            <a:off x="7114032" y="3456432"/>
            <a:ext cx="1133856"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Evaluation stack: Evidence"/>
          <p:cNvSpPr txBox="1"/>
          <p:nvPr/>
        </p:nvSpPr>
        <p:spPr>
          <a:xfrm>
            <a:off x="7251192" y="3502152"/>
            <a:ext cx="950976" cy="246888"/>
          </a:xfrm>
          <a:prstGeom prst="rect">
            <a:avLst/>
          </a:prstGeom>
          <a:noFill/>
        </p:spPr>
        <p:txBody>
          <a:bodyPr wrap="square" lIns="0" rIns="0" tIns="0" bIns="0" anchor="ctr">
            <a:spAutoFit/>
          </a:bodyPr>
          <a:lstStyle/>
          <a:p>
            <a:pPr algn="ctr"/>
            <a:r>
              <a:rPr sz="1150" b="0" lang="en-US">
                <a:solidFill>
                  <a:srgbClr val="1764A1"/>
                </a:solidFill>
                <a:latin typeface="Arial"/>
              </a:rPr>
              <a:t>Evidence</a:t>
            </a:r>
          </a:p>
        </p:txBody>
      </p:sp>
      <p:sp>
        <p:nvSpPr>
          <p:cNvPr id="36" name="Rounded Rectangle 35"/>
          <p:cNvSpPr/>
          <p:nvPr/>
        </p:nvSpPr>
        <p:spPr>
          <a:xfrm>
            <a:off x="8284464" y="4315968"/>
            <a:ext cx="2880360" cy="694944"/>
          </a:xfrm>
          <a:prstGeom prst="roundRect">
            <a:avLst/>
          </a:prstGeom>
          <a:solidFill>
            <a:srgbClr val="F3EEF8"/>
          </a:solidFill>
          <a:ln w="12700">
            <a:solidFill>
              <a:srgbClr val="C8B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Evaluation stack: Prometheus"/>
          <p:cNvSpPr txBox="1"/>
          <p:nvPr/>
        </p:nvSpPr>
        <p:spPr>
          <a:xfrm>
            <a:off x="8449056" y="4416552"/>
            <a:ext cx="2551176" cy="310896"/>
          </a:xfrm>
          <a:prstGeom prst="rect">
            <a:avLst/>
          </a:prstGeom>
          <a:noFill/>
        </p:spPr>
        <p:txBody>
          <a:bodyPr wrap="square" lIns="0" rIns="0" tIns="0" bIns="0" anchor="ctr">
            <a:spAutoFit/>
          </a:bodyPr>
          <a:lstStyle/>
          <a:p>
            <a:pPr algn="l"/>
            <a:r>
              <a:rPr sz="1800" b="1" lang="en-US">
                <a:solidFill>
                  <a:srgbClr val="7446A6"/>
                </a:solidFill>
                <a:latin typeface="Arial"/>
              </a:rPr>
              <a:t>Prometheus</a:t>
            </a:r>
          </a:p>
        </p:txBody>
      </p:sp>
      <p:sp>
        <p:nvSpPr>
          <p:cNvPr id="38" name="Evaluation stack: Recorded system metrics"/>
          <p:cNvSpPr txBox="1"/>
          <p:nvPr/>
        </p:nvSpPr>
        <p:spPr>
          <a:xfrm>
            <a:off x="8449056" y="4745736"/>
            <a:ext cx="2551176" cy="201168"/>
          </a:xfrm>
          <a:prstGeom prst="rect">
            <a:avLst/>
          </a:prstGeom>
          <a:noFill/>
        </p:spPr>
        <p:txBody>
          <a:bodyPr wrap="square" lIns="0" rIns="0" tIns="0" bIns="0" anchor="ctr">
            <a:spAutoFit/>
          </a:bodyPr>
          <a:lstStyle/>
          <a:p>
            <a:pPr algn="l"/>
            <a:r>
              <a:rPr sz="1100" b="0" lang="en-US">
                <a:solidFill>
                  <a:srgbClr val="7446A6"/>
                </a:solidFill>
                <a:latin typeface="Arial"/>
              </a:rPr>
              <a:t>Recorded system metrics</a:t>
            </a:r>
          </a:p>
        </p:txBody>
      </p:sp>
      <p:cxnSp>
        <p:nvCxnSpPr>
          <p:cNvPr id="39" name="Connector 38"/>
          <p:cNvCxnSpPr/>
          <p:nvPr/>
        </p:nvCxnSpPr>
        <p:spPr>
          <a:xfrm>
            <a:off x="9720072" y="3941063"/>
            <a:ext cx="0" cy="338329"/>
          </a:xfrm>
          <a:prstGeom prst="line">
            <a:avLst/>
          </a:prstGeom>
          <a:ln w="22860">
            <a:solidFill>
              <a:srgbClr val="7446A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3749039" y="4645152"/>
            <a:ext cx="4498849" cy="0"/>
          </a:xfrm>
          <a:prstGeom prst="line">
            <a:avLst/>
          </a:prstGeom>
          <a:ln w="22860">
            <a:solidFill>
              <a:srgbClr val="7446A6"/>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749039" y="3657600"/>
            <a:ext cx="0" cy="987552"/>
          </a:xfrm>
          <a:prstGeom prst="line">
            <a:avLst/>
          </a:prstGeom>
          <a:ln w="22860">
            <a:solidFill>
              <a:srgbClr val="7446A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Evaluation stack: Time series for run window"/>
          <p:cNvSpPr txBox="1"/>
          <p:nvPr/>
        </p:nvSpPr>
        <p:spPr>
          <a:xfrm>
            <a:off x="4178808" y="4261104"/>
            <a:ext cx="3401568" cy="256032"/>
          </a:xfrm>
          <a:prstGeom prst="rect">
            <a:avLst/>
          </a:prstGeom>
          <a:noFill/>
        </p:spPr>
        <p:txBody>
          <a:bodyPr wrap="square" lIns="0" rIns="0" tIns="0" bIns="0" anchor="ctr">
            <a:spAutoFit/>
          </a:bodyPr>
          <a:lstStyle/>
          <a:p>
            <a:pPr algn="ctr"/>
            <a:r>
              <a:rPr sz="1300" b="0" lang="en-US">
                <a:solidFill>
                  <a:srgbClr val="7446A6"/>
                </a:solidFill>
                <a:latin typeface="Arial"/>
              </a:rPr>
              <a:t>Time series for run window</a:t>
            </a:r>
          </a:p>
        </p:txBody>
      </p:sp>
      <p:sp>
        <p:nvSpPr>
          <p:cNvPr id="43" name="Rounded Rectangle 42"/>
          <p:cNvSpPr/>
          <p:nvPr/>
        </p:nvSpPr>
        <p:spPr>
          <a:xfrm>
            <a:off x="868680" y="4361688"/>
            <a:ext cx="2560320" cy="640080"/>
          </a:xfrm>
          <a:prstGeom prst="roundRect">
            <a:avLst/>
          </a:prstGeom>
          <a:solidFill>
            <a:srgbClr val="EDF4FA"/>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Evaluation stack: Reports + Marimo"/>
          <p:cNvSpPr txBox="1"/>
          <p:nvPr/>
        </p:nvSpPr>
        <p:spPr>
          <a:xfrm>
            <a:off x="1005840" y="4443984"/>
            <a:ext cx="2286000" cy="283464"/>
          </a:xfrm>
          <a:prstGeom prst="rect">
            <a:avLst/>
          </a:prstGeom>
          <a:noFill/>
        </p:spPr>
        <p:txBody>
          <a:bodyPr wrap="square" lIns="0" rIns="0" tIns="0" bIns="0" anchor="ctr">
            <a:spAutoFit/>
          </a:bodyPr>
          <a:lstStyle/>
          <a:p>
            <a:pPr algn="l"/>
            <a:r>
              <a:rPr sz="1600" b="1" lang="en-US">
                <a:solidFill>
                  <a:srgbClr val="1764A1"/>
                </a:solidFill>
                <a:latin typeface="Arial"/>
              </a:rPr>
              <a:t>Reports + Marimo</a:t>
            </a:r>
          </a:p>
        </p:txBody>
      </p:sp>
      <p:sp>
        <p:nvSpPr>
          <p:cNvPr id="45" name="Evaluation stack: Compare saved runs"/>
          <p:cNvSpPr txBox="1"/>
          <p:nvPr/>
        </p:nvSpPr>
        <p:spPr>
          <a:xfrm>
            <a:off x="1005840" y="4764024"/>
            <a:ext cx="2286000" cy="182880"/>
          </a:xfrm>
          <a:prstGeom prst="rect">
            <a:avLst/>
          </a:prstGeom>
          <a:noFill/>
        </p:spPr>
        <p:txBody>
          <a:bodyPr wrap="square" lIns="0" rIns="0" tIns="0" bIns="0" anchor="ctr">
            <a:spAutoFit/>
          </a:bodyPr>
          <a:lstStyle/>
          <a:p>
            <a:pPr algn="l"/>
            <a:r>
              <a:rPr sz="1050" b="0" lang="en-US">
                <a:solidFill>
                  <a:srgbClr val="65737D"/>
                </a:solidFill>
                <a:latin typeface="Arial"/>
              </a:rPr>
              <a:t>Compare saved runs</a:t>
            </a:r>
          </a:p>
        </p:txBody>
      </p:sp>
      <p:cxnSp>
        <p:nvCxnSpPr>
          <p:cNvPr id="46" name="Connector 45"/>
          <p:cNvCxnSpPr/>
          <p:nvPr/>
        </p:nvCxnSpPr>
        <p:spPr>
          <a:xfrm>
            <a:off x="1709928" y="3657600"/>
            <a:ext cx="0" cy="667512"/>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246120" y="3657600"/>
            <a:ext cx="0" cy="329184"/>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2496312" y="3986784"/>
            <a:ext cx="749808" cy="0"/>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496312" y="3986784"/>
            <a:ext cx="0" cy="338328"/>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980176" y="3657600"/>
            <a:ext cx="0" cy="292608"/>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4251960" y="3950208"/>
            <a:ext cx="1728216" cy="0"/>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251960" y="3657600"/>
            <a:ext cx="0" cy="292608"/>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Evaluation stack: SMA retrieves the time series for its measurement window after the scenario ends."/>
          <p:cNvSpPr txBox="1"/>
          <p:nvPr/>
        </p:nvSpPr>
        <p:spPr>
          <a:xfrm>
            <a:off x="658368" y="5468112"/>
            <a:ext cx="10890504" cy="274320"/>
          </a:xfrm>
          <a:prstGeom prst="rect">
            <a:avLst/>
          </a:prstGeom>
          <a:noFill/>
        </p:spPr>
        <p:txBody>
          <a:bodyPr wrap="square" lIns="0" rIns="0" tIns="0" bIns="0" anchor="ctr">
            <a:spAutoFit/>
          </a:bodyPr>
          <a:lstStyle/>
          <a:p>
            <a:pPr algn="l"/>
            <a:r>
              <a:rPr sz="1250" b="0" lang="en-US">
                <a:solidFill>
                  <a:srgbClr val="65737D"/>
                </a:solidFill>
                <a:latin typeface="Arial"/>
              </a:rPr>
              <a:t>SMA retrieves the time series for its measurement window after the scenario ends.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end-to-end Phala FedAvg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EQUAL-WEIGHT FEDAVG PATH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20" name="TextBox 19"/>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21" name="Oval 20"/>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23" name="TextBox 22"/>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24" name="Oval 23"/>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6" name="TextBox 25"/>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7" name="Oval 26"/>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9" name="TextBox 28"/>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30" name="Oval 29"/>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32" name="TextBox 31"/>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33" name="Oval 32"/>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0</a:t>
            </a:r>
          </a:p>
        </p:txBody>
      </p:sp>
      <p:sp>
        <p:nvSpPr>
          <p:cNvPr id="35" name="TextBox 34"/>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GAP RECOVERIES</a:t>
            </a:r>
          </a:p>
        </p:txBody>
      </p:sp>
      <p:sp>
        <p:nvSpPr>
          <p:cNvPr id="36" name="Rounded Rectangle 35"/>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8" name="TextBox 37"/>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11.49 min</a:t>
            </a:r>
          </a:p>
        </p:txBody>
      </p:sp>
      <p:sp>
        <p:nvSpPr>
          <p:cNvPr id="39" name="TextBox 38"/>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29.97 s mean evaluation interval</a:t>
            </a:r>
          </a:p>
        </p:txBody>
      </p:sp>
      <p:sp>
        <p:nvSpPr>
          <p:cNvPr id="40" name="Rounded Rectangle 39"/>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42" name="TextBox 41"/>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2.839 ms</a:t>
            </a:r>
          </a:p>
        </p:txBody>
      </p:sp>
      <p:sp>
        <p:nvSpPr>
          <p:cNvPr id="43" name="TextBox 42"/>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44" name="Rounded Rectangle 43"/>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6" name="TextBox 45"/>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616,141,147 gas</a:t>
            </a:r>
          </a:p>
        </p:txBody>
      </p:sp>
      <p:sp>
        <p:nvSpPr>
          <p:cNvPr id="47" name="TextBox 46"/>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472,240,960 gas</a:t>
            </a:r>
          </a:p>
        </p:txBody>
      </p:sp>
      <p:sp>
        <p:nvSpPr>
          <p:cNvPr id="48" name="Rounded Rectangle 47"/>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50" name="TextBox 49"/>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51" name="Rounded Rectangle 50"/>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53" name="TextBox 52"/>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54" name="Rounded Rectangle 53"/>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6" name="TextBox 55"/>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VITA-FL implemented test evaluat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CI checks and external system tests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CI COVERAGE AND EXTERNAL TEST CONFIGURATION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40080" y="1408176"/>
            <a:ext cx="5312664" cy="3886200"/>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408176"/>
            <a:ext cx="5422392" cy="3886200"/>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408176"/>
            <a:ext cx="5312664" cy="640080"/>
          </a:xfrm>
          <a:prstGeom prst="rect">
            <a:avLst/>
          </a:prstGeom>
          <a:solidFill>
            <a:srgbClr val="EDF4FA"/>
          </a:solidFill>
          <a:ln w="10160">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1408176"/>
            <a:ext cx="5422392" cy="640080"/>
          </a:xfrm>
          <a:prstGeom prst="rect">
            <a:avLst/>
          </a:prstGeom>
          <a:solidFill>
            <a:srgbClr val="F3EEF8"/>
          </a:solidFill>
          <a:ln w="10160">
            <a:solidFill>
              <a:srgbClr val="F3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I/external scope: CI · 878 definitions"/>
          <p:cNvSpPr txBox="1"/>
          <p:nvPr/>
        </p:nvSpPr>
        <p:spPr>
          <a:xfrm>
            <a:off x="832104" y="1490472"/>
            <a:ext cx="4928616" cy="329184"/>
          </a:xfrm>
          <a:prstGeom prst="rect">
            <a:avLst/>
          </a:prstGeom>
          <a:noFill/>
        </p:spPr>
        <p:txBody>
          <a:bodyPr wrap="square" lIns="0" rIns="0" tIns="0" bIns="0" anchor="ctr">
            <a:spAutoFit/>
          </a:bodyPr>
          <a:lstStyle/>
          <a:p>
            <a:pPr algn="l"/>
            <a:r>
              <a:rPr sz="2100" b="1" lang="en-US">
                <a:solidFill>
                  <a:srgbClr val="1764A1"/>
                </a:solidFill>
                <a:latin typeface="Arial"/>
              </a:rPr>
              <a:t>CI · 878 definitions</a:t>
            </a:r>
          </a:p>
        </p:txBody>
      </p:sp>
      <p:sp>
        <p:nvSpPr>
          <p:cNvPr id="18" name="CI/external scope: Unit / component / integration · GitHub Actions"/>
          <p:cNvSpPr txBox="1"/>
          <p:nvPr/>
        </p:nvSpPr>
        <p:spPr>
          <a:xfrm>
            <a:off x="832104" y="1865376"/>
            <a:ext cx="4928616" cy="219456"/>
          </a:xfrm>
          <a:prstGeom prst="rect">
            <a:avLst/>
          </a:prstGeom>
          <a:noFill/>
        </p:spPr>
        <p:txBody>
          <a:bodyPr wrap="square" lIns="0" rIns="0" tIns="0" bIns="0" anchor="ctr">
            <a:spAutoFit/>
          </a:bodyPr>
          <a:lstStyle/>
          <a:p>
            <a:pPr algn="l"/>
            <a:r>
              <a:rPr sz="1130" b="0" lang="en-US">
                <a:solidFill>
                  <a:srgbClr val="1764A1"/>
                </a:solidFill>
                <a:latin typeface="Arial"/>
              </a:rPr>
              <a:t>Unit / component / integration · GitHub Actions</a:t>
            </a:r>
          </a:p>
        </p:txBody>
      </p:sp>
      <p:sp>
        <p:nvSpPr>
          <p:cNvPr id="19" name="CI/external scope: External · 8 modes + audit"/>
          <p:cNvSpPr txBox="1"/>
          <p:nvPr/>
        </p:nvSpPr>
        <p:spPr>
          <a:xfrm>
            <a:off x="6318504" y="1490472"/>
            <a:ext cx="5029200" cy="329184"/>
          </a:xfrm>
          <a:prstGeom prst="rect">
            <a:avLst/>
          </a:prstGeom>
          <a:noFill/>
        </p:spPr>
        <p:txBody>
          <a:bodyPr wrap="square" lIns="0" rIns="0" tIns="0" bIns="0" anchor="ctr">
            <a:spAutoFit/>
          </a:bodyPr>
          <a:lstStyle/>
          <a:p>
            <a:pPr algn="l"/>
            <a:r>
              <a:rPr sz="2100" b="1" lang="en-US">
                <a:solidFill>
                  <a:srgbClr val="7446A6"/>
                </a:solidFill>
                <a:latin typeface="Arial"/>
              </a:rPr>
              <a:t>External · 8 modes + audit</a:t>
            </a:r>
          </a:p>
        </p:txBody>
      </p:sp>
      <p:sp>
        <p:nvSpPr>
          <p:cNvPr id="20" name="CI/external scope: SMEW → SMA → vita-fl-td · deployed VITA-FL in Phala"/>
          <p:cNvSpPr txBox="1"/>
          <p:nvPr/>
        </p:nvSpPr>
        <p:spPr>
          <a:xfrm>
            <a:off x="6318504" y="1865376"/>
            <a:ext cx="5029200" cy="219456"/>
          </a:xfrm>
          <a:prstGeom prst="rect">
            <a:avLst/>
          </a:prstGeom>
          <a:noFill/>
        </p:spPr>
        <p:txBody>
          <a:bodyPr wrap="square" lIns="0" rIns="0" tIns="0" bIns="0" anchor="ctr">
            <a:spAutoFit/>
          </a:bodyPr>
          <a:lstStyle/>
          <a:p>
            <a:pPr algn="l"/>
            <a:r>
              <a:rPr sz="1130" b="0" lang="en-US">
                <a:solidFill>
                  <a:srgbClr val="7446A6"/>
                </a:solidFill>
                <a:latin typeface="Arial"/>
              </a:rPr>
              <a:t>SMEW → SMA → vita-fl-td · deployed VITA-FL in Phala</a:t>
            </a:r>
          </a:p>
        </p:txBody>
      </p:sp>
      <p:sp>
        <p:nvSpPr>
          <p:cNvPr id="21" name="CI/external scope: Learning &amp; model integrity"/>
          <p:cNvSpPr txBox="1"/>
          <p:nvPr/>
        </p:nvSpPr>
        <p:spPr>
          <a:xfrm>
            <a:off x="832104" y="2148840"/>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Learning &amp; model integrity</a:t>
            </a:r>
          </a:p>
        </p:txBody>
      </p:sp>
      <p:sp>
        <p:nvSpPr>
          <p:cNvPr id="22" name="CI/external scope: Data splits · aggregation math · model bindings"/>
          <p:cNvSpPr txBox="1"/>
          <p:nvPr/>
        </p:nvSpPr>
        <p:spPr>
          <a:xfrm>
            <a:off x="832104" y="2382012"/>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Data splits · aggregation math · model bindings</a:t>
            </a:r>
          </a:p>
        </p:txBody>
      </p:sp>
      <p:sp>
        <p:nvSpPr>
          <p:cNvPr id="23" name="CI/external scope: 78"/>
          <p:cNvSpPr txBox="1"/>
          <p:nvPr/>
        </p:nvSpPr>
        <p:spPr>
          <a:xfrm>
            <a:off x="5230368" y="2185416"/>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78</a:t>
            </a:r>
          </a:p>
        </p:txBody>
      </p:sp>
      <p:cxnSp>
        <p:nvCxnSpPr>
          <p:cNvPr id="24" name="Connector 23"/>
          <p:cNvCxnSpPr/>
          <p:nvPr/>
        </p:nvCxnSpPr>
        <p:spPr>
          <a:xfrm>
            <a:off x="832104" y="2583180"/>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25" name="CI/external scope: Round control &amp; recovery"/>
          <p:cNvSpPr txBox="1"/>
          <p:nvPr/>
        </p:nvSpPr>
        <p:spPr>
          <a:xfrm>
            <a:off x="832104" y="2587752"/>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Round control &amp; recovery</a:t>
            </a:r>
          </a:p>
        </p:txBody>
      </p:sp>
      <p:sp>
        <p:nvSpPr>
          <p:cNvPr id="26" name="CI/external scope: Local timer · input closure · quorum · publication"/>
          <p:cNvSpPr txBox="1"/>
          <p:nvPr/>
        </p:nvSpPr>
        <p:spPr>
          <a:xfrm>
            <a:off x="832104" y="2820924"/>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Local timer · input closure · quorum · publication</a:t>
            </a:r>
          </a:p>
        </p:txBody>
      </p:sp>
      <p:sp>
        <p:nvSpPr>
          <p:cNvPr id="27" name="CI/external scope: 117"/>
          <p:cNvSpPr txBox="1"/>
          <p:nvPr/>
        </p:nvSpPr>
        <p:spPr>
          <a:xfrm>
            <a:off x="5230368" y="2624328"/>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117</a:t>
            </a:r>
          </a:p>
        </p:txBody>
      </p:sp>
      <p:cxnSp>
        <p:nvCxnSpPr>
          <p:cNvPr id="28" name="Connector 27"/>
          <p:cNvCxnSpPr/>
          <p:nvPr/>
        </p:nvCxnSpPr>
        <p:spPr>
          <a:xfrm>
            <a:off x="832104" y="3022092"/>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29" name="CI/external scope: Identity &amp; secure transport"/>
          <p:cNvSpPr txBox="1"/>
          <p:nvPr/>
        </p:nvSpPr>
        <p:spPr>
          <a:xfrm>
            <a:off x="832104" y="3026664"/>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Identity &amp; secure transport</a:t>
            </a:r>
          </a:p>
        </p:txBody>
      </p:sp>
      <p:sp>
        <p:nvSpPr>
          <p:cNvPr id="30" name="CI/external scope: Admission · quotes · keys · TLS · authorization"/>
          <p:cNvSpPr txBox="1"/>
          <p:nvPr/>
        </p:nvSpPr>
        <p:spPr>
          <a:xfrm>
            <a:off x="832104" y="3259836"/>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Admission · quotes · keys · TLS · authorization</a:t>
            </a:r>
          </a:p>
        </p:txBody>
      </p:sp>
      <p:sp>
        <p:nvSpPr>
          <p:cNvPr id="31" name="CI/external scope: 240"/>
          <p:cNvSpPr txBox="1"/>
          <p:nvPr/>
        </p:nvSpPr>
        <p:spPr>
          <a:xfrm>
            <a:off x="5230368" y="3063240"/>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240</a:t>
            </a:r>
          </a:p>
        </p:txBody>
      </p:sp>
      <p:cxnSp>
        <p:nvCxnSpPr>
          <p:cNvPr id="32" name="Connector 31"/>
          <p:cNvCxnSpPr/>
          <p:nvPr/>
        </p:nvCxnSpPr>
        <p:spPr>
          <a:xfrm>
            <a:off x="832104" y="3461004"/>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33" name="CI/external scope: Inference &amp; agent workflow"/>
          <p:cNvSpPr txBox="1"/>
          <p:nvPr/>
        </p:nvSpPr>
        <p:spPr>
          <a:xfrm>
            <a:off x="832104" y="3465576"/>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Inference &amp; agent workflow</a:t>
            </a:r>
          </a:p>
        </p:txBody>
      </p:sp>
      <p:sp>
        <p:nvSpPr>
          <p:cNvPr id="34" name="CI/external scope: MCP tools · job ownership · TEE/ZK workflow"/>
          <p:cNvSpPr txBox="1"/>
          <p:nvPr/>
        </p:nvSpPr>
        <p:spPr>
          <a:xfrm>
            <a:off x="832104" y="3698748"/>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MCP tools · job ownership · TEE/ZK workflow</a:t>
            </a:r>
          </a:p>
        </p:txBody>
      </p:sp>
      <p:sp>
        <p:nvSpPr>
          <p:cNvPr id="35" name="CI/external scope: 49"/>
          <p:cNvSpPr txBox="1"/>
          <p:nvPr/>
        </p:nvSpPr>
        <p:spPr>
          <a:xfrm>
            <a:off x="5230368" y="3502152"/>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49</a:t>
            </a:r>
          </a:p>
        </p:txBody>
      </p:sp>
      <p:cxnSp>
        <p:nvCxnSpPr>
          <p:cNvPr id="36" name="Connector 35"/>
          <p:cNvCxnSpPr/>
          <p:nvPr/>
        </p:nvCxnSpPr>
        <p:spPr>
          <a:xfrm>
            <a:off x="832104" y="3899915"/>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37" name="CI/external scope: Receipts &amp; provenance"/>
          <p:cNvSpPr txBox="1"/>
          <p:nvPr/>
        </p:nvSpPr>
        <p:spPr>
          <a:xfrm>
            <a:off x="832104" y="3904487"/>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Receipts &amp; provenance</a:t>
            </a:r>
          </a:p>
        </p:txBody>
      </p:sp>
      <p:sp>
        <p:nvSpPr>
          <p:cNvPr id="38" name="CI/external scope: AIR / Sello / SCITT · signatures · data provenance"/>
          <p:cNvSpPr txBox="1"/>
          <p:nvPr/>
        </p:nvSpPr>
        <p:spPr>
          <a:xfrm>
            <a:off x="832104" y="4137659"/>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AIR / Sello / SCITT · signatures · data provenance</a:t>
            </a:r>
          </a:p>
        </p:txBody>
      </p:sp>
      <p:sp>
        <p:nvSpPr>
          <p:cNvPr id="39" name="CI/external scope: 64"/>
          <p:cNvSpPr txBox="1"/>
          <p:nvPr/>
        </p:nvSpPr>
        <p:spPr>
          <a:xfrm>
            <a:off x="5230368" y="3941063"/>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64</a:t>
            </a:r>
          </a:p>
        </p:txBody>
      </p:sp>
      <p:cxnSp>
        <p:nvCxnSpPr>
          <p:cNvPr id="40" name="Connector 39"/>
          <p:cNvCxnSpPr/>
          <p:nvPr/>
        </p:nvCxnSpPr>
        <p:spPr>
          <a:xfrm>
            <a:off x="832104" y="4338827"/>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41" name="CI/external scope: Runtime control &amp; telemetry"/>
          <p:cNvSpPr txBox="1"/>
          <p:nvPr/>
        </p:nvSpPr>
        <p:spPr>
          <a:xfrm>
            <a:off x="832104" y="4343400"/>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Runtime control &amp; telemetry</a:t>
            </a:r>
          </a:p>
        </p:txBody>
      </p:sp>
      <p:sp>
        <p:nvSpPr>
          <p:cNvPr id="42" name="CI/external scope: Configuration · upload gates · worker telemetry"/>
          <p:cNvSpPr txBox="1"/>
          <p:nvPr/>
        </p:nvSpPr>
        <p:spPr>
          <a:xfrm>
            <a:off x="832104" y="4576572"/>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Configuration · upload gates · worker telemetry</a:t>
            </a:r>
          </a:p>
        </p:txBody>
      </p:sp>
      <p:sp>
        <p:nvSpPr>
          <p:cNvPr id="43" name="CI/external scope: 107"/>
          <p:cNvSpPr txBox="1"/>
          <p:nvPr/>
        </p:nvSpPr>
        <p:spPr>
          <a:xfrm>
            <a:off x="5230368" y="4379976"/>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107</a:t>
            </a:r>
          </a:p>
        </p:txBody>
      </p:sp>
      <p:cxnSp>
        <p:nvCxnSpPr>
          <p:cNvPr id="44" name="Connector 43"/>
          <p:cNvCxnSpPr/>
          <p:nvPr/>
        </p:nvCxnSpPr>
        <p:spPr>
          <a:xfrm>
            <a:off x="832104" y="4777740"/>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45" name="CI/external scope: Deployment &amp; packaging"/>
          <p:cNvSpPr txBox="1"/>
          <p:nvPr/>
        </p:nvSpPr>
        <p:spPr>
          <a:xfrm>
            <a:off x="832104" y="4782312"/>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Deployment &amp; packaging</a:t>
            </a:r>
          </a:p>
        </p:txBody>
      </p:sp>
      <p:sp>
        <p:nvSpPr>
          <p:cNvPr id="46" name="CI/external scope: Image policy · revision order · Docker / Terraform"/>
          <p:cNvSpPr txBox="1"/>
          <p:nvPr/>
        </p:nvSpPr>
        <p:spPr>
          <a:xfrm>
            <a:off x="832104" y="5015484"/>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Image policy · revision order · Docker / Terraform</a:t>
            </a:r>
          </a:p>
        </p:txBody>
      </p:sp>
      <p:sp>
        <p:nvSpPr>
          <p:cNvPr id="47" name="CI/external scope: 223"/>
          <p:cNvSpPr txBox="1"/>
          <p:nvPr/>
        </p:nvSpPr>
        <p:spPr>
          <a:xfrm>
            <a:off x="5230368" y="4818888"/>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223</a:t>
            </a:r>
          </a:p>
        </p:txBody>
      </p:sp>
      <p:sp>
        <p:nvSpPr>
          <p:cNvPr id="48" name="CI/external scope: Settings · configuration"/>
          <p:cNvSpPr txBox="1"/>
          <p:nvPr/>
        </p:nvSpPr>
        <p:spPr>
          <a:xfrm>
            <a:off x="6318504" y="2148840"/>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Settings · configuration</a:t>
            </a:r>
          </a:p>
        </p:txBody>
      </p:sp>
      <p:sp>
        <p:nvSpPr>
          <p:cNvPr id="49" name="CI/external scope: Save/read parameters; reject invalid deadlines"/>
          <p:cNvSpPr txBox="1"/>
          <p:nvPr/>
        </p:nvSpPr>
        <p:spPr>
          <a:xfrm>
            <a:off x="6318504" y="2418588"/>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Save/read parameters; reject invalid deadlines</a:t>
            </a:r>
          </a:p>
        </p:txBody>
      </p:sp>
      <p:cxnSp>
        <p:nvCxnSpPr>
          <p:cNvPr id="50" name="Connector 49"/>
          <p:cNvCxnSpPr/>
          <p:nvPr/>
        </p:nvCxnSpPr>
        <p:spPr>
          <a:xfrm>
            <a:off x="6318504" y="2638044"/>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1" name="CI/external scope: Lifecycle · normal / inference"/>
          <p:cNvSpPr txBox="1"/>
          <p:nvPr/>
        </p:nvSpPr>
        <p:spPr>
          <a:xfrm>
            <a:off x="6318504" y="2656332"/>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Lifecycle · normal / inference</a:t>
            </a:r>
          </a:p>
        </p:txBody>
      </p:sp>
      <p:sp>
        <p:nvSpPr>
          <p:cNvPr id="52" name="CI/external scope: Complete training; use and verify the finalized model"/>
          <p:cNvSpPr txBox="1"/>
          <p:nvPr/>
        </p:nvSpPr>
        <p:spPr>
          <a:xfrm>
            <a:off x="6318504" y="2926080"/>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Complete training; use and verify the finalized model</a:t>
            </a:r>
          </a:p>
        </p:txBody>
      </p:sp>
      <p:cxnSp>
        <p:nvCxnSpPr>
          <p:cNvPr id="53" name="Connector 52"/>
          <p:cNvCxnSpPr/>
          <p:nvPr/>
        </p:nvCxnSpPr>
        <p:spPr>
          <a:xfrm>
            <a:off x="6318504" y="3145536"/>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4" name="CI/external scope: Collection · early / partial / zero"/>
          <p:cNvSpPr txBox="1"/>
          <p:nvPr/>
        </p:nvSpPr>
        <p:spPr>
          <a:xfrm>
            <a:off x="6318504" y="3163824"/>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Collection · early / partial / zero</a:t>
            </a:r>
          </a:p>
        </p:txBody>
      </p:sp>
      <p:sp>
        <p:nvSpPr>
          <p:cNvPr id="55" name="CI/external scope: Close early, publish partial inputs, or recover from zero"/>
          <p:cNvSpPr txBox="1"/>
          <p:nvPr/>
        </p:nvSpPr>
        <p:spPr>
          <a:xfrm>
            <a:off x="6318504" y="3433572"/>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Close early, publish partial inputs, or recover from zero</a:t>
            </a:r>
          </a:p>
        </p:txBody>
      </p:sp>
      <p:cxnSp>
        <p:nvCxnSpPr>
          <p:cNvPr id="56" name="Connector 55"/>
          <p:cNvCxnSpPr/>
          <p:nvPr/>
        </p:nvCxnSpPr>
        <p:spPr>
          <a:xfrm>
            <a:off x="6318504" y="3653028"/>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7" name="CI/external scope: Recovery · aggregator outage"/>
          <p:cNvSpPr txBox="1"/>
          <p:nvPr/>
        </p:nvSpPr>
        <p:spPr>
          <a:xfrm>
            <a:off x="6318504" y="3671316"/>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Recovery · aggregator outage</a:t>
            </a:r>
          </a:p>
        </p:txBody>
      </p:sp>
      <p:sp>
        <p:nvSpPr>
          <p:cNvPr id="58" name="CI/external scope: Stop CVM; 1/3 → 2/3 → 3/3 votes; elect a replacement"/>
          <p:cNvSpPr txBox="1"/>
          <p:nvPr/>
        </p:nvSpPr>
        <p:spPr>
          <a:xfrm>
            <a:off x="6318504" y="3941064"/>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Stop CVM; 1/3 → 2/3 → 3/3 votes; elect a replacement</a:t>
            </a:r>
          </a:p>
        </p:txBody>
      </p:sp>
      <p:cxnSp>
        <p:nvCxnSpPr>
          <p:cNvPr id="59" name="Connector 58"/>
          <p:cNvCxnSpPr/>
          <p:nvPr/>
        </p:nvCxnSpPr>
        <p:spPr>
          <a:xfrm>
            <a:off x="6318504" y="4160520"/>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60" name="CI/external scope: Security · access and contract guards"/>
          <p:cNvSpPr txBox="1"/>
          <p:nvPr/>
        </p:nvSpPr>
        <p:spPr>
          <a:xfrm>
            <a:off x="6318504" y="4178808"/>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Security · access and contract guards</a:t>
            </a:r>
          </a:p>
        </p:txBody>
      </p:sp>
      <p:sp>
        <p:nvSpPr>
          <p:cNvPr id="61" name="CI/external scope: 16 checks: access, contracts + positive inference"/>
          <p:cNvSpPr txBox="1"/>
          <p:nvPr/>
        </p:nvSpPr>
        <p:spPr>
          <a:xfrm>
            <a:off x="6318504" y="4448556"/>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16 checks: access, contracts + positive inference</a:t>
            </a:r>
          </a:p>
        </p:txBody>
      </p:sp>
      <p:cxnSp>
        <p:nvCxnSpPr>
          <p:cNvPr id="62" name="Connector 61"/>
          <p:cNvCxnSpPr/>
          <p:nvPr/>
        </p:nvCxnSpPr>
        <p:spPr>
          <a:xfrm>
            <a:off x="6318504" y="4668012"/>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63" name="CI/external scope: Evidence · published receipt audit"/>
          <p:cNvSpPr txBox="1"/>
          <p:nvPr/>
        </p:nvSpPr>
        <p:spPr>
          <a:xfrm>
            <a:off x="6318504" y="4686300"/>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Evidence · published receipt audit</a:t>
            </a:r>
          </a:p>
        </p:txBody>
      </p:sp>
      <p:sp>
        <p:nvSpPr>
          <p:cNvPr id="64" name="CI/external scope: 17 checks: SCITT, AIR/TDX, sessions and Sello"/>
          <p:cNvSpPr txBox="1"/>
          <p:nvPr/>
        </p:nvSpPr>
        <p:spPr>
          <a:xfrm>
            <a:off x="6318504" y="4956048"/>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17 checks: SCITT, AIR/TDX, sessions and Sello</a:t>
            </a:r>
          </a:p>
        </p:txBody>
      </p:sp>
      <p:sp>
        <p:nvSpPr>
          <p:cNvPr id="65" name="CI/external scope: Phala training profile: 6 workers · 5 successful rounds · client limit 5 · 45 s deadline. Counts ≠ passed runs."/>
          <p:cNvSpPr txBox="1"/>
          <p:nvPr/>
        </p:nvSpPr>
        <p:spPr>
          <a:xfrm>
            <a:off x="658368" y="5468112"/>
            <a:ext cx="10890504" cy="265176"/>
          </a:xfrm>
          <a:prstGeom prst="rect">
            <a:avLst/>
          </a:prstGeom>
          <a:noFill/>
        </p:spPr>
        <p:txBody>
          <a:bodyPr wrap="square" lIns="0" rIns="0" tIns="0" bIns="0" anchor="ctr">
            <a:spAutoFit/>
          </a:bodyPr>
          <a:lstStyle/>
          <a:p>
            <a:pPr algn="l"/>
            <a:r>
              <a:rPr sz="1130" b="0" lang="en-US">
                <a:solidFill>
                  <a:srgbClr val="65737D"/>
                </a:solidFill>
                <a:latin typeface="Arial"/>
              </a:rPr>
              <a:t>Phala training profile: 6 workers · 5 successful rounds · client limit 5 · 45 s deadline. Counts ≠ passed runs.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EQUAL-WEIGHT FEDAVG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5" name="TextBox 14"/>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0.330 at global round 24</a:t>
            </a:r>
          </a:p>
        </p:txBody>
      </p:sp>
      <p:cxnSp>
        <p:nvCxnSpPr>
          <p:cNvPr id="16" name="Connector 15"/>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8" name="Connector 17"/>
          <p:cNvCxnSpPr/>
          <p:nvPr/>
        </p:nvCxnSpPr>
        <p:spPr>
          <a:xfrm>
            <a:off x="886968" y="255346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6" y="248031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20" name="Connector 19"/>
          <p:cNvCxnSpPr/>
          <p:nvPr/>
        </p:nvCxnSpPr>
        <p:spPr>
          <a:xfrm>
            <a:off x="886968"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6"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22" name="Connector 21"/>
          <p:cNvCxnSpPr/>
          <p:nvPr/>
        </p:nvCxnSpPr>
        <p:spPr>
          <a:xfrm>
            <a:off x="886968" y="219227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48056" y="211912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cxnSp>
        <p:nvCxnSpPr>
          <p:cNvPr id="24" name="Connector 23"/>
          <p:cNvCxnSpPr/>
          <p:nvPr/>
        </p:nvCxnSpPr>
        <p:spPr>
          <a:xfrm>
            <a:off x="886968" y="201168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8056" y="193852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0.42</a:t>
            </a:r>
          </a:p>
        </p:txBody>
      </p:sp>
      <p:sp>
        <p:nvSpPr>
          <p:cNvPr id="26" name="TextBox 25"/>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7" name="Connector 26"/>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9" name="Connector 28"/>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31" name="Connector 30"/>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33" name="Connector 32"/>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35" name="Connector 34"/>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7" name="Connector 36"/>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86968" y="2046906"/>
            <a:ext cx="132389" cy="30321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9357" y="2350116"/>
            <a:ext cx="132389" cy="451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51746" y="2395264"/>
            <a:ext cx="132389" cy="6343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4135" y="2437215"/>
            <a:ext cx="132389" cy="214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416524" y="2437215"/>
            <a:ext cx="132390" cy="516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548914" y="2488902"/>
            <a:ext cx="132389" cy="1656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681303" y="2505468"/>
            <a:ext cx="132389" cy="493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13692" y="2471035"/>
            <a:ext cx="132389" cy="8377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46081" y="2471035"/>
            <a:ext cx="132389" cy="14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078470" y="2471661"/>
            <a:ext cx="132390" cy="79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210860" y="2464425"/>
            <a:ext cx="132389" cy="7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343249" y="2464425"/>
            <a:ext cx="132389" cy="2454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475638" y="2488966"/>
            <a:ext cx="132389" cy="56682"/>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608027" y="2490208"/>
            <a:ext cx="132390" cy="5544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740417" y="2490208"/>
            <a:ext cx="132389" cy="2512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872806" y="2515332"/>
            <a:ext cx="132389" cy="1541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005195" y="2530750"/>
            <a:ext cx="132389" cy="1176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137584" y="2523027"/>
            <a:ext cx="132389" cy="1948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69973" y="2523027"/>
            <a:ext cx="132390" cy="160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402363" y="2518557"/>
            <a:ext cx="132389" cy="205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34752" y="2518557"/>
            <a:ext cx="132389" cy="2268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667141" y="2541240"/>
            <a:ext cx="132389" cy="1382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799530" y="2538148"/>
            <a:ext cx="132390" cy="169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845819" y="200575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890772" y="2497000"/>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6" name="TextBox 65"/>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0.720 at global round 13</a:t>
            </a:r>
          </a:p>
        </p:txBody>
      </p:sp>
      <p:cxnSp>
        <p:nvCxnSpPr>
          <p:cNvPr id="67" name="Connector 66"/>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9" name="Connector 68"/>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71" name="Connector 70"/>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73" name="Connector 72"/>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5" name="TextBox 74"/>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6" name="Connector 75"/>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8" name="Connector 77"/>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80" name="Connector 79"/>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82" name="Connector 81"/>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84" name="Connector 83"/>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6" name="Connector 85"/>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90" name="Connector 89"/>
          <p:cNvCxnSpPr/>
          <p:nvPr/>
        </p:nvCxnSpPr>
        <p:spPr>
          <a:xfrm flipV="1">
            <a:off x="4718304" y="2152446"/>
            <a:ext cx="132389" cy="7429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850693" y="2121395"/>
            <a:ext cx="132389" cy="3105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983082" y="2096367"/>
            <a:ext cx="132389" cy="250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115471" y="2079304"/>
            <a:ext cx="132389" cy="170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247860" y="2068459"/>
            <a:ext cx="132390" cy="10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380250" y="2061104"/>
            <a:ext cx="132389" cy="735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512639" y="2048415"/>
            <a:ext cx="132389" cy="1268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645028" y="2048415"/>
            <a:ext cx="132389" cy="182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77417" y="2043300"/>
            <a:ext cx="132389" cy="694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909806" y="2043300"/>
            <a:ext cx="132390" cy="488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042196" y="2039705"/>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174585" y="2039705"/>
            <a:ext cx="132389" cy="280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306974" y="2042513"/>
            <a:ext cx="132389" cy="371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439363" y="2041984"/>
            <a:ext cx="132390" cy="42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571753" y="2041984"/>
            <a:ext cx="132389" cy="955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704142" y="2045431"/>
            <a:ext cx="132389" cy="610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36531" y="2045431"/>
            <a:ext cx="132389" cy="6117"/>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968920" y="2051548"/>
            <a:ext cx="132389" cy="255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101309" y="2054104"/>
            <a:ext cx="132390" cy="911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7233699" y="2063219"/>
            <a:ext cx="132389" cy="7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7366088" y="2063289"/>
            <a:ext cx="132389" cy="34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7498477" y="2058990"/>
            <a:ext cx="132389" cy="774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30866" y="2058990"/>
            <a:ext cx="132390" cy="657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13" name="Oval 112"/>
          <p:cNvSpPr/>
          <p:nvPr/>
        </p:nvSpPr>
        <p:spPr>
          <a:xfrm>
            <a:off x="4677156" y="218558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7722108" y="2024414"/>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7" name="TextBox 116"/>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0.195 at global round 8</a:t>
            </a:r>
          </a:p>
        </p:txBody>
      </p:sp>
      <p:cxnSp>
        <p:nvCxnSpPr>
          <p:cNvPr id="118" name="Connector 117"/>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20" name="Connector 119"/>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22" name="Connector 121"/>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24" name="TextBox 123"/>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5" name="Connector 124"/>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7" name="Connector 126"/>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9" name="Connector 128"/>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31" name="Connector 130"/>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33" name="Connector 132"/>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5" name="Connector 134"/>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8549640" y="2446184"/>
            <a:ext cx="132389" cy="2760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8682029" y="2446184"/>
            <a:ext cx="132389" cy="72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8814418" y="2412876"/>
            <a:ext cx="132389" cy="405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8946807" y="2176417"/>
            <a:ext cx="132389" cy="23645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079196" y="2102367"/>
            <a:ext cx="132390" cy="740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9211586" y="2067342"/>
            <a:ext cx="132389" cy="3502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9343975" y="2067342"/>
            <a:ext cx="132389" cy="950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476364" y="2162344"/>
            <a:ext cx="132389" cy="1087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9608753" y="2162454"/>
            <a:ext cx="132389" cy="1076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741142" y="2110462"/>
            <a:ext cx="132390" cy="519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73532" y="2110462"/>
            <a:ext cx="132389" cy="18062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0005921" y="2259989"/>
            <a:ext cx="132389" cy="31096"/>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38310" y="2259989"/>
            <a:ext cx="132389" cy="86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270699" y="2268644"/>
            <a:ext cx="132390" cy="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0403089" y="2268736"/>
            <a:ext cx="132389" cy="1031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0535478" y="2238872"/>
            <a:ext cx="132389" cy="4017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0667867" y="2238872"/>
            <a:ext cx="132389" cy="2863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0800256" y="2267503"/>
            <a:ext cx="132389" cy="57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0932645" y="2273235"/>
            <a:ext cx="132390" cy="63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11065035" y="2266252"/>
            <a:ext cx="132389" cy="133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1197424" y="2266252"/>
            <a:ext cx="132389" cy="1900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1329813" y="2274121"/>
            <a:ext cx="132389" cy="1113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1462202" y="2274121"/>
            <a:ext cx="132390" cy="88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8508492" y="2681058"/>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1553444" y="2241775"/>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64" name="TextBox 163"/>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85.86% · interpret with the baseline</a:t>
            </a:r>
          </a:p>
        </p:txBody>
      </p:sp>
      <p:cxnSp>
        <p:nvCxnSpPr>
          <p:cNvPr id="165" name="Connector 164"/>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7" name="Connector 166"/>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9" name="Connector 168"/>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71" name="Connector 170"/>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73" name="TextBox 172"/>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74" name="Connector 173"/>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6" name="Connector 175"/>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8" name="Connector 177"/>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80" name="Connector 179"/>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82" name="Connector 181"/>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84" name="Connector 183"/>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892808" y="4371702"/>
            <a:ext cx="174133" cy="23349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66941" y="4577379"/>
            <a:ext cx="174134" cy="2781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241075" y="4428733"/>
            <a:ext cx="174133" cy="14864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2415208" y="4428733"/>
            <a:ext cx="174134" cy="16668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589342" y="4545319"/>
            <a:ext cx="174133" cy="5010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2763475" y="4545319"/>
            <a:ext cx="174134" cy="5885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937609" y="4583286"/>
            <a:ext cx="174133" cy="2089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3111742" y="4583286"/>
            <a:ext cx="174134" cy="14467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3285876" y="4727958"/>
            <a:ext cx="174134" cy="6197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3460010" y="4785687"/>
            <a:ext cx="174133" cy="424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3634143" y="4782304"/>
            <a:ext cx="174134" cy="33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3808277" y="4782304"/>
            <a:ext cx="174133" cy="641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3982410" y="4753896"/>
            <a:ext cx="174134" cy="9258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4156544" y="4753896"/>
            <a:ext cx="174133" cy="4983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4330677" y="4771349"/>
            <a:ext cx="174134" cy="3238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4504811" y="4771349"/>
            <a:ext cx="174134" cy="17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4678945" y="4788963"/>
            <a:ext cx="174133" cy="810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853078" y="4797072"/>
            <a:ext cx="174134" cy="41618"/>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5027212" y="4811947"/>
            <a:ext cx="174133" cy="2674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5201345" y="4811947"/>
            <a:ext cx="174134" cy="6057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5375479" y="4819197"/>
            <a:ext cx="174133" cy="5332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49612" y="4819197"/>
            <a:ext cx="174134" cy="2228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723746" y="4841483"/>
            <a:ext cx="174134" cy="827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9" name="Oval 208"/>
          <p:cNvSpPr/>
          <p:nvPr/>
        </p:nvSpPr>
        <p:spPr>
          <a:xfrm>
            <a:off x="1851660" y="4330554"/>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5856732" y="4808605"/>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13" name="TextBox 212"/>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32.75% · final 26.02%</a:t>
            </a:r>
          </a:p>
        </p:txBody>
      </p:sp>
      <p:cxnSp>
        <p:nvCxnSpPr>
          <p:cNvPr id="214" name="Connector 213"/>
          <p:cNvCxnSpPr/>
          <p:nvPr/>
        </p:nvCxnSpPr>
        <p:spPr>
          <a:xfrm>
            <a:off x="6675120" y="48344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6236208" y="47612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16" name="Connector 215"/>
          <p:cNvCxnSpPr/>
          <p:nvPr/>
        </p:nvCxnSpPr>
        <p:spPr>
          <a:xfrm>
            <a:off x="6675120" y="468264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236208" y="46094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8" name="Connector 217"/>
          <p:cNvCxnSpPr/>
          <p:nvPr/>
        </p:nvCxnSpPr>
        <p:spPr>
          <a:xfrm>
            <a:off x="6675120" y="445495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236208" y="43818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20" name="Connector 219"/>
          <p:cNvCxnSpPr/>
          <p:nvPr/>
        </p:nvCxnSpPr>
        <p:spPr>
          <a:xfrm>
            <a:off x="6675120" y="430316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6236208" y="423001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22" name="TextBox 221"/>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3" name="Connector 222"/>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4" name="TextBox 223"/>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5" name="Connector 224"/>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7" name="Connector 226"/>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9" name="Connector 228"/>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0" name="TextBox 229"/>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31" name="Connector 230"/>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33" name="Connector 232"/>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6675120" y="4589912"/>
            <a:ext cx="174133" cy="22295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6849253" y="4560140"/>
            <a:ext cx="174134" cy="2977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7023387" y="4246179"/>
            <a:ext cx="174133" cy="31396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7197520" y="4246179"/>
            <a:ext cx="174134" cy="15190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7371654" y="4299634"/>
            <a:ext cx="174133" cy="9845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7545787" y="4299634"/>
            <a:ext cx="174134" cy="11469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7719921" y="4298281"/>
            <a:ext cx="174133" cy="1160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7894054" y="4298281"/>
            <a:ext cx="174134" cy="26185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8068188" y="4560140"/>
            <a:ext cx="174134" cy="80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8242322" y="4640322"/>
            <a:ext cx="174133" cy="608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8416455" y="4646411"/>
            <a:ext cx="174134" cy="2232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8590589" y="4668740"/>
            <a:ext cx="174133" cy="53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8764722" y="4617316"/>
            <a:ext cx="174134" cy="10487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8938856" y="4613594"/>
            <a:ext cx="174133" cy="372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112989" y="4613594"/>
            <a:ext cx="174134" cy="2029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9287123" y="4613256"/>
            <a:ext cx="174134" cy="2063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461257" y="4613256"/>
            <a:ext cx="174133" cy="798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9635390" y="4680243"/>
            <a:ext cx="174134" cy="1285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9809524" y="4680243"/>
            <a:ext cx="174133" cy="910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9983657" y="4720842"/>
            <a:ext cx="174134" cy="5040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0157791" y="4712722"/>
            <a:ext cx="174133" cy="812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0331924" y="4647426"/>
            <a:ext cx="174134" cy="6529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06058" y="4647426"/>
            <a:ext cx="174134" cy="10927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8" name="Oval 257"/>
          <p:cNvSpPr/>
          <p:nvPr/>
        </p:nvSpPr>
        <p:spPr>
          <a:xfrm>
            <a:off x="6633972" y="477171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10639044" y="4715555"/>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FEDAVG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TextBox 12"/>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14" name="Rectangle 13"/>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7" name="TextBox 16"/>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8" name="TextBox 17"/>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9" name="TextBox 18"/>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20" name="TextBox 19"/>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21" name="TextBox 20"/>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22" name="TextBox 21"/>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23" name="Rectangle 22"/>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5" name="TextBox 24"/>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6" name="TextBox 25"/>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85.86%</a:t>
            </a:r>
          </a:p>
        </p:txBody>
      </p:sp>
      <p:sp>
        <p:nvSpPr>
          <p:cNvPr id="27" name="Rectangle 26"/>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9" name="TextBox 28"/>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30" name="TextBox 29"/>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26.02%</a:t>
            </a:r>
          </a:p>
        </p:txBody>
      </p:sp>
      <p:sp>
        <p:nvSpPr>
          <p:cNvPr id="31" name="Rectangle 30"/>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33" name="TextBox 32"/>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34" name="TextBox 33"/>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0.177</a:t>
            </a:r>
          </a:p>
        </p:txBody>
      </p:sp>
      <p:sp>
        <p:nvSpPr>
          <p:cNvPr id="35" name="Rectangle 34"/>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7" name="TextBox 36"/>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8" name="TextBox 37"/>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0.711</a:t>
            </a:r>
          </a:p>
        </p:txBody>
      </p:sp>
      <p:sp>
        <p:nvSpPr>
          <p:cNvPr id="39" name="Rounded Rectangle 38"/>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41" name="Oval 40"/>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3" name="TextBox 42"/>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44" name="Oval 43"/>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6" name="TextBox 45"/>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7" name="Oval 46"/>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9" name="TextBox 48"/>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50" name="Oval 49"/>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52" name="TextBox 51"/>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53" name="Rounded Rectangle 52"/>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0.711 shows ranking signal, while F1 0.177 calls for label-specific threshold calibration.</a:t>
            </a:r>
          </a:p>
        </p:txBody>
      </p:sp>
      <p:sp>
        <p:nvSpPr>
          <p:cNvPr id="55" name="Rectangle 54"/>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14" name="TextBox 13"/>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5" name="TextBox 14"/>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6" name="TextBox 15"/>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7" name="TextBox 16"/>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8" name="Connector 17"/>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2" name="TextBox 21"/>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23" name="TextBox 22"/>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24" name="Oval 23"/>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6" name="TextBox 25"/>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7" name="TextBox 26"/>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8" name="Oval 27"/>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30" name="TextBox 29"/>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31" name="TextBox 30"/>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32" name="Oval 31"/>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34" name="TextBox 33"/>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5" name="Oval 34"/>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7" name="TextBox 36"/>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8" name="TextBox 37"/>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9" name="Oval 38"/>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1" name="TextBox 40"/>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42" name="TextBox 41"/>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43" name="Oval 42"/>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5" name="TextBox 44"/>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6" name="TextBox 45"/>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7" name="TextBox 46"/>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8" name="Rectangle 47"/>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Training and inference share one verified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94360" y="1664208"/>
            <a:ext cx="7818120" cy="3282696"/>
          </a:xfrm>
          <a:prstGeom prst="roundRect">
            <a:avLst/>
          </a:prstGeom>
          <a:solidFill>
            <a:srgbClr val="F7F9FA"/>
          </a:solidFill>
          <a:ln w="2159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Worker inference icon: tee / 1"/>
          <p:cNvCxnSpPr/>
          <p:nvPr/>
        </p:nvCxnSpPr>
        <p:spPr>
          <a:xfrm>
            <a:off x="922401"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5" name="Worker inference icon: tee / 2"/>
          <p:cNvCxnSpPr/>
          <p:nvPr/>
        </p:nvCxnSpPr>
        <p:spPr>
          <a:xfrm>
            <a:off x="922401"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Worker inference icon: tee / 3"/>
          <p:cNvCxnSpPr/>
          <p:nvPr/>
        </p:nvCxnSpPr>
        <p:spPr>
          <a:xfrm>
            <a:off x="835533"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Worker inference icon: tee / 4"/>
          <p:cNvCxnSpPr/>
          <p:nvPr/>
        </p:nvCxnSpPr>
        <p:spPr>
          <a:xfrm>
            <a:off x="1096137"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Worker inference icon: tee / 5"/>
          <p:cNvCxnSpPr/>
          <p:nvPr/>
        </p:nvCxnSpPr>
        <p:spPr>
          <a:xfrm>
            <a:off x="987552"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Worker inference icon: tee / 6"/>
          <p:cNvCxnSpPr/>
          <p:nvPr/>
        </p:nvCxnSpPr>
        <p:spPr>
          <a:xfrm>
            <a:off x="987552"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Worker inference icon: tee / 7"/>
          <p:cNvCxnSpPr/>
          <p:nvPr/>
        </p:nvCxnSpPr>
        <p:spPr>
          <a:xfrm>
            <a:off x="835533"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Worker inference icon: tee / 8"/>
          <p:cNvCxnSpPr/>
          <p:nvPr/>
        </p:nvCxnSpPr>
        <p:spPr>
          <a:xfrm>
            <a:off x="1096137"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Worker inference icon: tee / 9"/>
          <p:cNvCxnSpPr/>
          <p:nvPr/>
        </p:nvCxnSpPr>
        <p:spPr>
          <a:xfrm>
            <a:off x="1052703"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Worker inference icon: tee / 10"/>
          <p:cNvCxnSpPr/>
          <p:nvPr/>
        </p:nvCxnSpPr>
        <p:spPr>
          <a:xfrm>
            <a:off x="1052703"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Worker inference icon: tee / 11"/>
          <p:cNvCxnSpPr/>
          <p:nvPr/>
        </p:nvCxnSpPr>
        <p:spPr>
          <a:xfrm>
            <a:off x="835533"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Worker inference icon: tee / 12"/>
          <p:cNvCxnSpPr/>
          <p:nvPr/>
        </p:nvCxnSpPr>
        <p:spPr>
          <a:xfrm>
            <a:off x="1096137"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6" name="Worker inference icon: tee / 13"/>
          <p:cNvSpPr/>
          <p:nvPr/>
        </p:nvSpPr>
        <p:spPr>
          <a:xfrm>
            <a:off x="878967" y="1857375"/>
            <a:ext cx="217170" cy="217170"/>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Worker inference icon: tee / 14"/>
          <p:cNvCxnSpPr/>
          <p:nvPr/>
        </p:nvCxnSpPr>
        <p:spPr>
          <a:xfrm flipV="1">
            <a:off x="944118"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8" name="Worker inference icon: tee / 15"/>
          <p:cNvCxnSpPr/>
          <p:nvPr/>
        </p:nvCxnSpPr>
        <p:spPr>
          <a:xfrm flipV="1">
            <a:off x="944118" y="1910083"/>
            <a:ext cx="1709"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Worker inference icon: tee / 16"/>
          <p:cNvCxnSpPr/>
          <p:nvPr/>
        </p:nvCxnSpPr>
        <p:spPr>
          <a:xfrm flipV="1">
            <a:off x="945827"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Worker inference icon: tee / 17"/>
          <p:cNvCxnSpPr/>
          <p:nvPr/>
        </p:nvCxnSpPr>
        <p:spPr>
          <a:xfrm flipV="1">
            <a:off x="95055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Worker inference icon: tee / 18"/>
          <p:cNvCxnSpPr/>
          <p:nvPr/>
        </p:nvCxnSpPr>
        <p:spPr>
          <a:xfrm flipV="1">
            <a:off x="957691"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Worker inference icon: tee / 19"/>
          <p:cNvCxnSpPr/>
          <p:nvPr/>
        </p:nvCxnSpPr>
        <p:spPr>
          <a:xfrm flipV="1">
            <a:off x="96663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Worker inference icon: tee / 20"/>
          <p:cNvCxnSpPr/>
          <p:nvPr/>
        </p:nvCxnSpPr>
        <p:spPr>
          <a:xfrm flipV="1">
            <a:off x="976794" y="1881806"/>
            <a:ext cx="10758"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Worker inference icon: tee / 21"/>
          <p:cNvCxnSpPr/>
          <p:nvPr/>
        </p:nvCxnSpPr>
        <p:spPr>
          <a:xfrm>
            <a:off x="987552" y="1881806"/>
            <a:ext cx="10757"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Worker inference icon: tee / 22"/>
          <p:cNvCxnSpPr/>
          <p:nvPr/>
        </p:nvCxnSpPr>
        <p:spPr>
          <a:xfrm>
            <a:off x="99830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Worker inference icon: tee / 23"/>
          <p:cNvCxnSpPr/>
          <p:nvPr/>
        </p:nvCxnSpPr>
        <p:spPr>
          <a:xfrm>
            <a:off x="1008464"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Worker inference icon: tee / 24"/>
          <p:cNvCxnSpPr/>
          <p:nvPr/>
        </p:nvCxnSpPr>
        <p:spPr>
          <a:xfrm>
            <a:off x="101741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Worker inference icon: tee / 25"/>
          <p:cNvCxnSpPr/>
          <p:nvPr/>
        </p:nvCxnSpPr>
        <p:spPr>
          <a:xfrm>
            <a:off x="1024551"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Worker inference icon: tee / 26"/>
          <p:cNvCxnSpPr/>
          <p:nvPr/>
        </p:nvCxnSpPr>
        <p:spPr>
          <a:xfrm>
            <a:off x="1029276" y="1910083"/>
            <a:ext cx="1710"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Worker inference icon: tee / 27"/>
          <p:cNvCxnSpPr/>
          <p:nvPr/>
        </p:nvCxnSpPr>
        <p:spPr>
          <a:xfrm>
            <a:off x="1030986"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1" name="Worker inference icon: tee / 28"/>
          <p:cNvSpPr/>
          <p:nvPr/>
        </p:nvSpPr>
        <p:spPr>
          <a:xfrm>
            <a:off x="933259" y="1944243"/>
            <a:ext cx="108585" cy="86868"/>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Worker inference: Worker 0 · TEE"/>
          <p:cNvSpPr txBox="1"/>
          <p:nvPr/>
        </p:nvSpPr>
        <p:spPr>
          <a:xfrm>
            <a:off x="1307592" y="1755648"/>
            <a:ext cx="3127248" cy="356616"/>
          </a:xfrm>
          <a:prstGeom prst="rect">
            <a:avLst/>
          </a:prstGeom>
          <a:noFill/>
        </p:spPr>
        <p:txBody>
          <a:bodyPr wrap="square" lIns="0" rIns="0" tIns="0" bIns="0" anchor="ctr">
            <a:spAutoFit/>
          </a:bodyPr>
          <a:lstStyle/>
          <a:p>
            <a:pPr algn="l"/>
            <a:r>
              <a:rPr sz="2200" b="1" lang="en-US">
                <a:solidFill>
                  <a:srgbClr val="263440"/>
                </a:solidFill>
                <a:latin typeface="Arial"/>
              </a:rPr>
              <a:t>Worker 0 · TEE</a:t>
            </a:r>
          </a:p>
        </p:txBody>
      </p:sp>
      <p:sp>
        <p:nvSpPr>
          <p:cNvPr id="43" name="Worker inference: One protected application"/>
          <p:cNvSpPr txBox="1"/>
          <p:nvPr/>
        </p:nvSpPr>
        <p:spPr>
          <a:xfrm>
            <a:off x="4809744" y="1773936"/>
            <a:ext cx="3282696" cy="320040"/>
          </a:xfrm>
          <a:prstGeom prst="rect">
            <a:avLst/>
          </a:prstGeom>
          <a:noFill/>
        </p:spPr>
        <p:txBody>
          <a:bodyPr wrap="square" lIns="0" rIns="0" tIns="0" bIns="0" anchor="ctr">
            <a:spAutoFit/>
          </a:bodyPr>
          <a:lstStyle/>
          <a:p>
            <a:pPr algn="ctr"/>
            <a:r>
              <a:rPr sz="1600" b="0" lang="en-US">
                <a:solidFill>
                  <a:srgbClr val="67747C"/>
                </a:solidFill>
                <a:latin typeface="Arial"/>
              </a:rPr>
              <a:t>One protected application</a:t>
            </a:r>
          </a:p>
        </p:txBody>
      </p:sp>
      <p:sp>
        <p:nvSpPr>
          <p:cNvPr id="44" name="Rounded Rectangle 43"/>
          <p:cNvSpPr/>
          <p:nvPr/>
        </p:nvSpPr>
        <p:spPr>
          <a:xfrm>
            <a:off x="841248" y="2304288"/>
            <a:ext cx="7324344" cy="2404872"/>
          </a:xfrm>
          <a:prstGeom prst="roundRect">
            <a:avLst/>
          </a:prstGeom>
          <a:solidFill>
            <a:srgbClr val="FFFFFF"/>
          </a:solidFill>
          <a:ln w="1524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orker inference: ONE dfl-worker CONTAINER · ONE IMAGE DIGEST"/>
          <p:cNvSpPr txBox="1"/>
          <p:nvPr/>
        </p:nvSpPr>
        <p:spPr>
          <a:xfrm>
            <a:off x="1033271" y="2441448"/>
            <a:ext cx="6940296" cy="310896"/>
          </a:xfrm>
          <a:prstGeom prst="rect">
            <a:avLst/>
          </a:prstGeom>
          <a:noFill/>
        </p:spPr>
        <p:txBody>
          <a:bodyPr wrap="square" lIns="0" rIns="0" tIns="0" bIns="0" anchor="ctr">
            <a:spAutoFit/>
          </a:bodyPr>
          <a:lstStyle/>
          <a:p>
            <a:pPr algn="ctr"/>
            <a:r>
              <a:rPr sz="1700" b="1" lang="en-US">
                <a:solidFill>
                  <a:srgbClr val="263440"/>
                </a:solidFill>
                <a:latin typeface="Arial"/>
              </a:rPr>
              <a:t>ONE dfl-worker CONTAINER · ONE IMAGE DIGEST</a:t>
            </a:r>
          </a:p>
        </p:txBody>
      </p:sp>
      <p:sp>
        <p:nvSpPr>
          <p:cNvPr id="46" name="Rounded Rectangle 45"/>
          <p:cNvSpPr/>
          <p:nvPr/>
        </p:nvSpPr>
        <p:spPr>
          <a:xfrm>
            <a:off x="1069848" y="2907792"/>
            <a:ext cx="2880360" cy="850392"/>
          </a:xfrm>
          <a:prstGeom prst="roundRect">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orker inference: DFL"/>
          <p:cNvSpPr txBox="1"/>
          <p:nvPr/>
        </p:nvSpPr>
        <p:spPr>
          <a:xfrm>
            <a:off x="1197864" y="2971800"/>
            <a:ext cx="2624328" cy="347472"/>
          </a:xfrm>
          <a:prstGeom prst="rect">
            <a:avLst/>
          </a:prstGeom>
          <a:noFill/>
        </p:spPr>
        <p:txBody>
          <a:bodyPr wrap="square" lIns="0" rIns="0" tIns="0" bIns="0" anchor="ctr">
            <a:spAutoFit/>
          </a:bodyPr>
          <a:lstStyle/>
          <a:p>
            <a:pPr algn="ctr"/>
            <a:r>
              <a:rPr sz="2100" b="1" lang="en-US">
                <a:solidFill>
                  <a:srgbClr val="207548"/>
                </a:solidFill>
                <a:latin typeface="Arial"/>
              </a:rPr>
              <a:t>DFL</a:t>
            </a:r>
          </a:p>
        </p:txBody>
      </p:sp>
      <p:sp>
        <p:nvSpPr>
          <p:cNvPr id="48" name="Worker inference: Train · aggregate · publish"/>
          <p:cNvSpPr txBox="1"/>
          <p:nvPr/>
        </p:nvSpPr>
        <p:spPr>
          <a:xfrm>
            <a:off x="1179576" y="3383280"/>
            <a:ext cx="2660904" cy="246888"/>
          </a:xfrm>
          <a:prstGeom prst="rect">
            <a:avLst/>
          </a:prstGeom>
          <a:noFill/>
        </p:spPr>
        <p:txBody>
          <a:bodyPr wrap="square" lIns="0" rIns="0" tIns="0" bIns="0" anchor="ctr">
            <a:spAutoFit/>
          </a:bodyPr>
          <a:lstStyle/>
          <a:p>
            <a:pPr algn="ctr"/>
            <a:r>
              <a:rPr sz="1450" b="0" lang="en-US">
                <a:solidFill>
                  <a:srgbClr val="263440"/>
                </a:solidFill>
                <a:latin typeface="Arial"/>
              </a:rPr>
              <a:t>Train · aggregate · publish</a:t>
            </a:r>
          </a:p>
        </p:txBody>
      </p:sp>
      <p:sp>
        <p:nvSpPr>
          <p:cNvPr id="49" name="Rounded Rectangle 48"/>
          <p:cNvSpPr/>
          <p:nvPr/>
        </p:nvSpPr>
        <p:spPr>
          <a:xfrm>
            <a:off x="4654296" y="2907792"/>
            <a:ext cx="3255264" cy="850392"/>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orker inference: Inference"/>
          <p:cNvSpPr txBox="1"/>
          <p:nvPr/>
        </p:nvSpPr>
        <p:spPr>
          <a:xfrm>
            <a:off x="4809744" y="2971800"/>
            <a:ext cx="2944368" cy="347472"/>
          </a:xfrm>
          <a:prstGeom prst="rect">
            <a:avLst/>
          </a:prstGeom>
          <a:noFill/>
        </p:spPr>
        <p:txBody>
          <a:bodyPr wrap="square" lIns="0" rIns="0" tIns="0" bIns="0" anchor="ctr">
            <a:spAutoFit/>
          </a:bodyPr>
          <a:lstStyle/>
          <a:p>
            <a:pPr algn="ctr"/>
            <a:r>
              <a:rPr sz="2100" b="1" lang="en-US">
                <a:solidFill>
                  <a:srgbClr val="1764A1"/>
                </a:solidFill>
                <a:latin typeface="Arial"/>
              </a:rPr>
              <a:t>Inference</a:t>
            </a:r>
          </a:p>
        </p:txBody>
      </p:sp>
      <p:sp>
        <p:nvSpPr>
          <p:cNvPr id="51" name="Worker inference: Load model · predict · sign"/>
          <p:cNvSpPr txBox="1"/>
          <p:nvPr/>
        </p:nvSpPr>
        <p:spPr>
          <a:xfrm>
            <a:off x="4791456" y="3383280"/>
            <a:ext cx="2980944" cy="246888"/>
          </a:xfrm>
          <a:prstGeom prst="rect">
            <a:avLst/>
          </a:prstGeom>
          <a:noFill/>
        </p:spPr>
        <p:txBody>
          <a:bodyPr wrap="square" lIns="0" rIns="0" tIns="0" bIns="0" anchor="ctr">
            <a:spAutoFit/>
          </a:bodyPr>
          <a:lstStyle/>
          <a:p>
            <a:pPr algn="ctr"/>
            <a:r>
              <a:rPr sz="1450" b="0" lang="en-US">
                <a:solidFill>
                  <a:srgbClr val="263440"/>
                </a:solidFill>
                <a:latin typeface="Arial"/>
              </a:rPr>
              <a:t>Load model · predict · sign</a:t>
            </a:r>
          </a:p>
        </p:txBody>
      </p:sp>
      <p:sp>
        <p:nvSpPr>
          <p:cNvPr id="52" name="Rounded Rectangle 51"/>
          <p:cNvSpPr/>
          <p:nvPr/>
        </p:nvSpPr>
        <p:spPr>
          <a:xfrm>
            <a:off x="1069848" y="4114800"/>
            <a:ext cx="6839712" cy="393192"/>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243584" y="4244644"/>
            <a:ext cx="161300" cy="161300"/>
          </a:xfrm>
          <a:prstGeom prst="ellipse">
            <a:avLst/>
          </a:prstGeom>
          <a:solidFill>
            <a:srgbClr val="F3EEF8"/>
          </a:solidFill>
          <a:ln w="2032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1401043" y="4325294"/>
            <a:ext cx="203546"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523939"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93067"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57" name="Worker inference: Shared RSA key · separate signing keys"/>
          <p:cNvSpPr txBox="1"/>
          <p:nvPr/>
        </p:nvSpPr>
        <p:spPr>
          <a:xfrm>
            <a:off x="1819656" y="4151376"/>
            <a:ext cx="5925312" cy="301752"/>
          </a:xfrm>
          <a:prstGeom prst="rect">
            <a:avLst/>
          </a:prstGeom>
          <a:noFill/>
        </p:spPr>
        <p:txBody>
          <a:bodyPr wrap="square" lIns="0" rIns="0" tIns="0" bIns="0" anchor="ctr">
            <a:spAutoFit/>
          </a:bodyPr>
          <a:lstStyle/>
          <a:p>
            <a:pPr algn="ctr"/>
            <a:r>
              <a:rPr sz="1500" b="1" lang="en-US">
                <a:solidFill>
                  <a:srgbClr val="7446A6"/>
                </a:solidFill>
                <a:latin typeface="Arial"/>
              </a:rPr>
              <a:t>Shared RSA key · separate signing keys</a:t>
            </a:r>
          </a:p>
        </p:txBody>
      </p:sp>
      <p:cxnSp>
        <p:nvCxnSpPr>
          <p:cNvPr id="58" name="Connector 57"/>
          <p:cNvCxnSpPr/>
          <p:nvPr/>
        </p:nvCxnSpPr>
        <p:spPr>
          <a:xfrm flipV="1">
            <a:off x="2505456" y="3794759"/>
            <a:ext cx="0" cy="292609"/>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281928" y="3794759"/>
            <a:ext cx="0" cy="292609"/>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784080" y="2880360"/>
            <a:ext cx="1810512" cy="1024128"/>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Worker inference icon: agent / 1"/>
          <p:cNvCxnSpPr/>
          <p:nvPr/>
        </p:nvCxnSpPr>
        <p:spPr>
          <a:xfrm>
            <a:off x="10671048" y="3054095"/>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2" name="Worker inference icon: agent / 2"/>
          <p:cNvSpPr/>
          <p:nvPr/>
        </p:nvSpPr>
        <p:spPr>
          <a:xfrm>
            <a:off x="10653903" y="3025520"/>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Worker inference icon: agent / 3"/>
          <p:cNvSpPr/>
          <p:nvPr/>
        </p:nvSpPr>
        <p:spPr>
          <a:xfrm>
            <a:off x="10533888" y="3111245"/>
            <a:ext cx="274320" cy="228600"/>
          </a:xfrm>
          <a:prstGeom prst="roundRect">
            <a:avLst/>
          </a:prstGeom>
          <a:solidFill>
            <a:srgbClr val="EDF4FA"/>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Worker inference icon: agent / 4"/>
          <p:cNvCxnSpPr/>
          <p:nvPr/>
        </p:nvCxnSpPr>
        <p:spPr>
          <a:xfrm>
            <a:off x="104995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Worker inference icon: agent / 5"/>
          <p:cNvCxnSpPr/>
          <p:nvPr/>
        </p:nvCxnSpPr>
        <p:spPr>
          <a:xfrm>
            <a:off x="108424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Worker inference icon: agent / 6"/>
          <p:cNvSpPr/>
          <p:nvPr/>
        </p:nvSpPr>
        <p:spPr>
          <a:xfrm>
            <a:off x="1059103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Worker inference icon: agent / 7"/>
          <p:cNvSpPr/>
          <p:nvPr/>
        </p:nvSpPr>
        <p:spPr>
          <a:xfrm>
            <a:off x="1071676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Worker inference icon: agent / 8"/>
          <p:cNvCxnSpPr/>
          <p:nvPr/>
        </p:nvCxnSpPr>
        <p:spPr>
          <a:xfrm>
            <a:off x="10613898" y="3282696"/>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9" name="Worker inference: Agent"/>
          <p:cNvSpPr txBox="1"/>
          <p:nvPr/>
        </p:nvSpPr>
        <p:spPr>
          <a:xfrm>
            <a:off x="9912096" y="3429000"/>
            <a:ext cx="1554480" cy="374904"/>
          </a:xfrm>
          <a:prstGeom prst="rect">
            <a:avLst/>
          </a:prstGeom>
          <a:noFill/>
        </p:spPr>
        <p:txBody>
          <a:bodyPr wrap="square" lIns="0" rIns="0" tIns="0" bIns="0" anchor="ctr">
            <a:spAutoFit/>
          </a:bodyPr>
          <a:lstStyle/>
          <a:p>
            <a:pPr algn="ctr"/>
            <a:r>
              <a:rPr sz="2200" b="1" lang="en-US">
                <a:solidFill>
                  <a:srgbClr val="1764A1"/>
                </a:solidFill>
                <a:latin typeface="Arial"/>
              </a:rPr>
              <a:t>Agent</a:t>
            </a:r>
          </a:p>
        </p:txBody>
      </p:sp>
      <p:cxnSp>
        <p:nvCxnSpPr>
          <p:cNvPr id="70" name="Connector 69"/>
          <p:cNvCxnSpPr/>
          <p:nvPr/>
        </p:nvCxnSpPr>
        <p:spPr>
          <a:xfrm flipV="1">
            <a:off x="10680192" y="2176272"/>
            <a:ext cx="0" cy="658368"/>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8915400" y="2176272"/>
            <a:ext cx="1764792"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915400" y="2176272"/>
            <a:ext cx="0" cy="85039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7946136" y="3026664"/>
            <a:ext cx="96926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Worker inference: MCP Tool request"/>
          <p:cNvSpPr txBox="1"/>
          <p:nvPr/>
        </p:nvSpPr>
        <p:spPr>
          <a:xfrm>
            <a:off x="8769096" y="1737360"/>
            <a:ext cx="2825496" cy="310896"/>
          </a:xfrm>
          <a:prstGeom prst="rect">
            <a:avLst/>
          </a:prstGeom>
          <a:noFill/>
        </p:spPr>
        <p:txBody>
          <a:bodyPr wrap="square" lIns="0" rIns="0" tIns="0" bIns="0" anchor="ctr">
            <a:spAutoFit/>
          </a:bodyPr>
          <a:lstStyle/>
          <a:p>
            <a:pPr algn="ctr"/>
            <a:r>
              <a:rPr sz="1600" b="1" lang="en-US">
                <a:solidFill>
                  <a:srgbClr val="1764A1"/>
                </a:solidFill>
                <a:latin typeface="Arial"/>
              </a:rPr>
              <a:t>MCP Tool request</a:t>
            </a:r>
          </a:p>
        </p:txBody>
      </p:sp>
      <p:cxnSp>
        <p:nvCxnSpPr>
          <p:cNvPr id="75" name="Connector 74"/>
          <p:cNvCxnSpPr/>
          <p:nvPr/>
        </p:nvCxnSpPr>
        <p:spPr>
          <a:xfrm>
            <a:off x="7946136" y="3648455"/>
            <a:ext cx="179222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Worker inference: Result + / evidence"/>
          <p:cNvSpPr txBox="1"/>
          <p:nvPr/>
        </p:nvSpPr>
        <p:spPr>
          <a:xfrm>
            <a:off x="8549640" y="3108960"/>
            <a:ext cx="1170432" cy="502920"/>
          </a:xfrm>
          <a:prstGeom prst="rect">
            <a:avLst/>
          </a:prstGeom>
          <a:noFill/>
        </p:spPr>
        <p:txBody>
          <a:bodyPr wrap="square" lIns="0" rIns="0" tIns="0" bIns="0" anchor="ctr">
            <a:spAutoFit/>
          </a:bodyPr>
          <a:lstStyle/>
          <a:p>
            <a:pPr algn="ctr"/>
            <a:r>
              <a:rPr sz="1400" b="0" lang="en-US">
                <a:solidFill>
                  <a:srgbClr val="1764A1"/>
                </a:solidFill>
                <a:latin typeface="Arial"/>
              </a:rPr>
              <a:t>Result +
evidence</a:t>
            </a:r>
          </a:p>
        </p:txBody>
      </p:sp>
      <p:sp>
        <p:nvSpPr>
          <p:cNvPr id="77" name="Rounded Rectangle 76"/>
          <p:cNvSpPr/>
          <p:nvPr/>
        </p:nvSpPr>
        <p:spPr>
          <a:xfrm>
            <a:off x="9784080" y="4370832"/>
            <a:ext cx="1810512" cy="594360"/>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Worker inference: Transparency / Log"/>
          <p:cNvSpPr txBox="1"/>
          <p:nvPr/>
        </p:nvSpPr>
        <p:spPr>
          <a:xfrm>
            <a:off x="9866376" y="4416552"/>
            <a:ext cx="1645920" cy="484632"/>
          </a:xfrm>
          <a:prstGeom prst="rect">
            <a:avLst/>
          </a:prstGeom>
          <a:noFill/>
        </p:spPr>
        <p:txBody>
          <a:bodyPr wrap="square" lIns="0" rIns="0" tIns="0" bIns="0" anchor="ctr">
            <a:spAutoFit/>
          </a:bodyPr>
          <a:lstStyle/>
          <a:p>
            <a:pPr algn="ctr"/>
            <a:r>
              <a:rPr sz="1500" b="1" lang="en-US">
                <a:solidFill>
                  <a:srgbClr val="7446A6"/>
                </a:solidFill>
                <a:latin typeface="Arial"/>
              </a:rPr>
              <a:t>Transparency
Log</a:t>
            </a:r>
          </a:p>
        </p:txBody>
      </p:sp>
      <p:cxnSp>
        <p:nvCxnSpPr>
          <p:cNvPr id="79" name="Connector 78"/>
          <p:cNvCxnSpPr/>
          <p:nvPr/>
        </p:nvCxnSpPr>
        <p:spPr>
          <a:xfrm>
            <a:off x="10680192" y="3950208"/>
            <a:ext cx="0" cy="374904"/>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Worker inference: AIR"/>
          <p:cNvSpPr txBox="1"/>
          <p:nvPr/>
        </p:nvSpPr>
        <p:spPr>
          <a:xfrm>
            <a:off x="10835640" y="4023360"/>
            <a:ext cx="612648" cy="246888"/>
          </a:xfrm>
          <a:prstGeom prst="rect">
            <a:avLst/>
          </a:prstGeom>
          <a:noFill/>
        </p:spPr>
        <p:txBody>
          <a:bodyPr wrap="square" lIns="0" rIns="0" tIns="0" bIns="0" anchor="ctr">
            <a:spAutoFit/>
          </a:bodyPr>
          <a:lstStyle/>
          <a:p>
            <a:pPr algn="ctr"/>
            <a:r>
              <a:rPr sz="1350" b="0" lang="en-US">
                <a:solidFill>
                  <a:srgbClr val="7446A6"/>
                </a:solidFill>
                <a:latin typeface="Arial"/>
              </a:rPr>
              <a:t>AIR</a:t>
            </a:r>
          </a:p>
        </p:txBody>
      </p:sp>
      <p:cxnSp>
        <p:nvCxnSpPr>
          <p:cNvPr id="81" name="Connector 80"/>
          <p:cNvCxnSpPr/>
          <p:nvPr/>
        </p:nvCxnSpPr>
        <p:spPr>
          <a:xfrm>
            <a:off x="7726679" y="3794759"/>
            <a:ext cx="0" cy="146305"/>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726679" y="3941064"/>
            <a:ext cx="960121" cy="0"/>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686800" y="3941064"/>
            <a:ext cx="0" cy="726948"/>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686800" y="4668012"/>
            <a:ext cx="1051560"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Worker inference: Sello"/>
          <p:cNvSpPr txBox="1"/>
          <p:nvPr/>
        </p:nvSpPr>
        <p:spPr>
          <a:xfrm>
            <a:off x="8732520" y="4325112"/>
            <a:ext cx="969264" cy="246888"/>
          </a:xfrm>
          <a:prstGeom prst="rect">
            <a:avLst/>
          </a:prstGeom>
          <a:noFill/>
        </p:spPr>
        <p:txBody>
          <a:bodyPr wrap="square" lIns="0" rIns="0" tIns="0" bIns="0" anchor="ctr">
            <a:spAutoFit/>
          </a:bodyPr>
          <a:lstStyle/>
          <a:p>
            <a:pPr algn="ctr"/>
            <a:r>
              <a:rPr sz="1400" b="0" lang="en-US">
                <a:solidFill>
                  <a:srgbClr val="7446A6"/>
                </a:solidFill>
                <a:latin typeface="Arial"/>
              </a:rPr>
              <a:t>Sello</a:t>
            </a:r>
          </a:p>
        </p:txBody>
      </p:sp>
      <p:sp>
        <p:nvSpPr>
          <p:cNvPr id="86" name="Worker inference: No private keys sent to the agent"/>
          <p:cNvSpPr txBox="1"/>
          <p:nvPr/>
        </p:nvSpPr>
        <p:spPr>
          <a:xfrm>
            <a:off x="594360" y="5285232"/>
            <a:ext cx="11000232" cy="384048"/>
          </a:xfrm>
          <a:prstGeom prst="rect">
            <a:avLst/>
          </a:prstGeom>
          <a:noFill/>
        </p:spPr>
        <p:txBody>
          <a:bodyPr wrap="square" lIns="0" rIns="0" tIns="0" bIns="0" anchor="ctr">
            <a:spAutoFit/>
          </a:bodyPr>
          <a:lstStyle/>
          <a:p>
            <a:pPr algn="ctr"/>
            <a:r>
              <a:rPr sz="2000" b="1" lang="en-US">
                <a:solidFill>
                  <a:srgbClr val="1764A1"/>
                </a:solidFill>
                <a:latin typeface="Arial"/>
              </a:rPr>
              <a:t>No private keys sent to the agent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5" name="Picture 14" descr="T1.png"/>
          <p:cNvPicPr>
            <a:picLocks noChangeAspect="1"/>
          </p:cNvPicPr>
          <p:nvPr/>
        </p:nvPicPr>
        <p:blipFill>
          <a:blip r:embed="rId2"/>
          <a:stretch>
            <a:fillRect/>
          </a:stretch>
        </p:blipFill>
        <p:spPr>
          <a:xfrm>
            <a:off x="886149" y="1719072"/>
            <a:ext cx="2013316"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8" name="Picture 17" descr="T2.png"/>
          <p:cNvPicPr>
            <a:picLocks noChangeAspect="1"/>
          </p:cNvPicPr>
          <p:nvPr/>
        </p:nvPicPr>
        <p:blipFill>
          <a:blip r:embed="rId3"/>
          <a:stretch>
            <a:fillRect/>
          </a:stretch>
        </p:blipFill>
        <p:spPr>
          <a:xfrm>
            <a:off x="3699734" y="1719072"/>
            <a:ext cx="1982274"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21" name="Picture 20" descr="T3.png"/>
          <p:cNvPicPr>
            <a:picLocks noChangeAspect="1"/>
          </p:cNvPicPr>
          <p:nvPr/>
        </p:nvPicPr>
        <p:blipFill>
          <a:blip r:embed="rId4"/>
          <a:stretch>
            <a:fillRect/>
          </a:stretch>
        </p:blipFill>
        <p:spPr>
          <a:xfrm>
            <a:off x="6272784" y="1784476"/>
            <a:ext cx="2432304" cy="122250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24" name="Picture 23" descr="T4.png"/>
          <p:cNvPicPr>
            <a:picLocks noChangeAspect="1"/>
          </p:cNvPicPr>
          <p:nvPr/>
        </p:nvPicPr>
        <p:blipFill>
          <a:blip r:embed="rId5"/>
          <a:stretch>
            <a:fillRect/>
          </a:stretch>
        </p:blipFill>
        <p:spPr>
          <a:xfrm>
            <a:off x="9254209" y="1719072"/>
            <a:ext cx="2065581"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7" name="Picture 26" descr="T5.png"/>
          <p:cNvPicPr>
            <a:picLocks noChangeAspect="1"/>
          </p:cNvPicPr>
          <p:nvPr/>
        </p:nvPicPr>
        <p:blipFill>
          <a:blip r:embed="rId6"/>
          <a:stretch>
            <a:fillRect/>
          </a:stretch>
        </p:blipFill>
        <p:spPr>
          <a:xfrm>
            <a:off x="2296062" y="3749040"/>
            <a:ext cx="1991555"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30" name="Picture 29" descr="T6.png"/>
          <p:cNvPicPr>
            <a:picLocks noChangeAspect="1"/>
          </p:cNvPicPr>
          <p:nvPr/>
        </p:nvPicPr>
        <p:blipFill>
          <a:blip r:embed="rId7"/>
          <a:stretch>
            <a:fillRect/>
          </a:stretch>
        </p:blipFill>
        <p:spPr>
          <a:xfrm>
            <a:off x="5106477" y="3749040"/>
            <a:ext cx="1966852"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33" name="Picture 32"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5" name="Picture 14" descr="T8.png"/>
          <p:cNvPicPr>
            <a:picLocks noChangeAspect="1"/>
          </p:cNvPicPr>
          <p:nvPr/>
        </p:nvPicPr>
        <p:blipFill>
          <a:blip r:embed="rId2"/>
          <a:stretch>
            <a:fillRect/>
          </a:stretch>
        </p:blipFill>
        <p:spPr>
          <a:xfrm>
            <a:off x="991281" y="1719072"/>
            <a:ext cx="1803053"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8" name="Picture 17" descr="T9.png"/>
          <p:cNvPicPr>
            <a:picLocks noChangeAspect="1"/>
          </p:cNvPicPr>
          <p:nvPr/>
        </p:nvPicPr>
        <p:blipFill>
          <a:blip r:embed="rId3"/>
          <a:stretch>
            <a:fillRect/>
          </a:stretch>
        </p:blipFill>
        <p:spPr>
          <a:xfrm>
            <a:off x="3765541" y="1719072"/>
            <a:ext cx="1850660"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21" name="Picture 20" descr="T10.png"/>
          <p:cNvPicPr>
            <a:picLocks noChangeAspect="1"/>
          </p:cNvPicPr>
          <p:nvPr/>
        </p:nvPicPr>
        <p:blipFill>
          <a:blip r:embed="rId4"/>
          <a:stretch>
            <a:fillRect/>
          </a:stretch>
        </p:blipFill>
        <p:spPr>
          <a:xfrm>
            <a:off x="6512818" y="1719072"/>
            <a:ext cx="1952235" cy="135331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24" name="Picture 23" descr="T11.png"/>
          <p:cNvPicPr>
            <a:picLocks noChangeAspect="1"/>
          </p:cNvPicPr>
          <p:nvPr/>
        </p:nvPicPr>
        <p:blipFill>
          <a:blip r:embed="rId5"/>
          <a:stretch>
            <a:fillRect/>
          </a:stretch>
        </p:blipFill>
        <p:spPr>
          <a:xfrm>
            <a:off x="9087332" y="1719072"/>
            <a:ext cx="2399335"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7" name="Picture 26" descr="T12.png"/>
          <p:cNvPicPr>
            <a:picLocks noChangeAspect="1"/>
          </p:cNvPicPr>
          <p:nvPr/>
        </p:nvPicPr>
        <p:blipFill>
          <a:blip r:embed="rId6"/>
          <a:stretch>
            <a:fillRect/>
          </a:stretch>
        </p:blipFill>
        <p:spPr>
          <a:xfrm>
            <a:off x="2151924" y="3749040"/>
            <a:ext cx="2279830"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30" name="Picture 29" descr="T13.png"/>
          <p:cNvPicPr>
            <a:picLocks noChangeAspect="1"/>
          </p:cNvPicPr>
          <p:nvPr/>
        </p:nvPicPr>
        <p:blipFill>
          <a:blip r:embed="rId7"/>
          <a:stretch>
            <a:fillRect/>
          </a:stretch>
        </p:blipFill>
        <p:spPr>
          <a:xfrm>
            <a:off x="4937474" y="3749040"/>
            <a:ext cx="2304859"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33" name="Picture 32"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VITA-FL attack tree: 01-admiss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unauthorized worker authority</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1 / 6 · T1 / T2</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334294"/>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556401"/>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13247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13247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86337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40156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300902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302274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4612494"/>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4612494"/>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4208852"/>
            <a:ext cx="0" cy="80728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4208852"/>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71232" y="42088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055864" y="393975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5864" y="393975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5864" y="447794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648956" y="408540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ttack tree: OR"/>
          <p:cNvSpPr txBox="1"/>
          <p:nvPr/>
        </p:nvSpPr>
        <p:spPr>
          <a:xfrm>
            <a:off x="7662672" y="409912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3752" y="4489050"/>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AND"/>
          <p:cNvSpPr txBox="1"/>
          <p:nvPr/>
        </p:nvSpPr>
        <p:spPr>
          <a:xfrm>
            <a:off x="4887468" y="4502766"/>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4" name="Rounded Rectangle 43"/>
          <p:cNvSpPr/>
          <p:nvPr/>
        </p:nvSpPr>
        <p:spPr>
          <a:xfrm>
            <a:off x="2391156" y="3210850"/>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24566"/>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locked / Gain unauthorized worker authority"/>
          <p:cNvSpPr/>
          <p:nvPr/>
        </p:nvSpPr>
        <p:spPr>
          <a:xfrm>
            <a:off x="594360" y="2419894"/>
            <a:ext cx="1719072" cy="1828800"/>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20478"/>
            <a:ext cx="1517904" cy="182880"/>
          </a:xfrm>
          <a:prstGeom prst="rect">
            <a:avLst/>
          </a:prstGeom>
          <a:noFill/>
        </p:spPr>
        <p:txBody>
          <a:bodyPr wrap="square" lIns="0" rIns="0" tIns="0" bIns="0" anchor="ctr">
            <a:spAutoFit/>
          </a:bodyPr>
          <a:lstStyle/>
          <a:p>
            <a:pPr algn="l"/>
            <a:r>
              <a:rPr sz="910" b="1" lang="en-US">
                <a:solidFill>
                  <a:srgbClr val="267347"/>
                </a:solidFill>
                <a:latin typeface="Arial"/>
              </a:rPr>
              <a:t>ATTACKER GOAL</a:t>
            </a:r>
          </a:p>
        </p:txBody>
      </p:sp>
      <p:sp>
        <p:nvSpPr>
          <p:cNvPr id="48" name="Attack tree: Gain unauthorized worker authority"/>
          <p:cNvSpPr txBox="1"/>
          <p:nvPr/>
        </p:nvSpPr>
        <p:spPr>
          <a:xfrm>
            <a:off x="694944" y="2767366"/>
            <a:ext cx="1517904" cy="1389888"/>
          </a:xfrm>
          <a:prstGeom prst="rect">
            <a:avLst/>
          </a:prstGeom>
          <a:noFill/>
        </p:spPr>
        <p:txBody>
          <a:bodyPr wrap="square" lIns="0" rIns="0" tIns="0" bIns="0" anchor="ctr">
            <a:spAutoFit/>
          </a:bodyPr>
          <a:lstStyle/>
          <a:p>
            <a:pPr algn="l"/>
            <a:r>
              <a:rPr sz="1550" b="1" lang="en-US">
                <a:solidFill>
                  <a:srgbClr val="267347"/>
                </a:solidFill>
                <a:latin typeface="Arial"/>
              </a:rPr>
              <a:t>Gain unauthorized worker authority</a:t>
            </a:r>
          </a:p>
        </p:txBody>
      </p:sp>
      <p:sp>
        <p:nvSpPr>
          <p:cNvPr id="49" name="Assessed node: blocked / Admit an unapproved workload"/>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Admit an unapproved workload"/>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Admit an unapproved workload</a:t>
            </a:r>
          </a:p>
        </p:txBody>
      </p:sp>
      <p:sp>
        <p:nvSpPr>
          <p:cNvPr id="51" name="Assessed node: neutral / Present a genuine quote for an unapproved imag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Quote for unapproved image"/>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Quote for unapproved image</a:t>
            </a:r>
          </a:p>
        </p:txBody>
      </p:sp>
      <p:sp>
        <p:nvSpPr>
          <p:cNvPr id="53" name="Assessed node: blocked / Verifier accepts the wrong app measurement / policy"/>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Pass image / roster / policy checks"/>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image / roster / policy checks</a:t>
            </a:r>
          </a:p>
        </p:txBody>
      </p:sp>
      <p:sp>
        <p:nvSpPr>
          <p:cNvPr id="55" name="Assessed node: blocked / Rebind valid attestation"/>
          <p:cNvSpPr/>
          <p:nvPr/>
        </p:nvSpPr>
        <p:spPr>
          <a:xfrm>
            <a:off x="2852928" y="273928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Rebind valid attestation"/>
          <p:cNvSpPr txBox="1"/>
          <p:nvPr/>
        </p:nvSpPr>
        <p:spPr>
          <a:xfrm>
            <a:off x="2962656" y="278500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Rebind valid attestation</a:t>
            </a:r>
          </a:p>
        </p:txBody>
      </p:sp>
      <p:sp>
        <p:nvSpPr>
          <p:cNvPr id="57" name="Assessed node: neutral / Attach valid evidence to another identity, key or endpoint"/>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Rebind identity / key / endpoint"/>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Rebind identity / key / endpoint</a:t>
            </a:r>
          </a:p>
        </p:txBody>
      </p:sp>
      <p:sp>
        <p:nvSpPr>
          <p:cNvPr id="59" name="Assessed node: blocked / Registry accepts the mismatched identity / key / context"/>
          <p:cNvSpPr/>
          <p:nvPr/>
        </p:nvSpPr>
        <p:spPr>
          <a:xfrm>
            <a:off x="8183879" y="315304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Pass enrollment / quote binding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enrollment / quote bindings</a:t>
            </a:r>
          </a:p>
        </p:txBody>
      </p:sp>
      <p:sp>
        <p:nvSpPr>
          <p:cNvPr id="61" name="Assessed node: blocked / Replay earlier authority"/>
          <p:cNvSpPr/>
          <p:nvPr/>
        </p:nvSpPr>
        <p:spPr>
          <a:xfrm>
            <a:off x="2852928" y="4219302"/>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Replay earlier authority"/>
          <p:cNvSpPr txBox="1"/>
          <p:nvPr/>
        </p:nvSpPr>
        <p:spPr>
          <a:xfrm>
            <a:off x="2962656" y="4265022"/>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Replay earlier authority</a:t>
            </a:r>
          </a:p>
        </p:txBody>
      </p:sp>
      <p:sp>
        <p:nvSpPr>
          <p:cNvPr id="63" name="Assessed node: neutral / Reuse captured signed material"/>
          <p:cNvSpPr/>
          <p:nvPr/>
        </p:nvSpPr>
        <p:spPr>
          <a:xfrm>
            <a:off x="5394960" y="3861380"/>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Reuse captured signed material"/>
          <p:cNvSpPr txBox="1"/>
          <p:nvPr/>
        </p:nvSpPr>
        <p:spPr>
          <a:xfrm>
            <a:off x="5504688" y="3907100"/>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Reuse captured signed material</a:t>
            </a:r>
          </a:p>
        </p:txBody>
      </p:sp>
      <p:sp>
        <p:nvSpPr>
          <p:cNvPr id="65" name="Assessed node: neutral / Reuse evidence with a consumed registration counter"/>
          <p:cNvSpPr/>
          <p:nvPr/>
        </p:nvSpPr>
        <p:spPr>
          <a:xfrm>
            <a:off x="8183879" y="369123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Replay consumed registration"/>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consumed registration</a:t>
            </a:r>
          </a:p>
        </p:txBody>
      </p:sp>
      <p:sp>
        <p:nvSpPr>
          <p:cNvPr id="67" name="Assessed node: neutral / Replay a previously signed round action in an invalid current context"/>
          <p:cNvSpPr/>
          <p:nvPr/>
        </p:nvSpPr>
        <p:spPr>
          <a:xfrm>
            <a:off x="8183879" y="422942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Replay an earlier signed action"/>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an earlier signed action</a:t>
            </a:r>
          </a:p>
        </p:txBody>
      </p:sp>
      <p:sp>
        <p:nvSpPr>
          <p:cNvPr id="69" name="Assessed node: blocked / Current-authority / freshness checks accept it"/>
          <p:cNvSpPr/>
          <p:nvPr/>
        </p:nvSpPr>
        <p:spPr>
          <a:xfrm>
            <a:off x="8183879" y="476761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Pass nonce / current-state checks"/>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nonce / current-state checks</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Admission binds roster, code and keys; replaying a signature does not grant current signing authority."/>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Admission binds roster, code and keys; replaying a signature does not grant current signing authority.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name="VITA-FL attack tree: 02-model">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model integrity and poisoning</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2 / 6 · T3 / T4 / T6 / T7 / T13 / T14</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1988819"/>
            <a:ext cx="0" cy="2825497"/>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1988819"/>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1988819"/>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53362"/>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53362"/>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2242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8653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879091"/>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293065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29306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695194"/>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69519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166110"/>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280720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282092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387248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387248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637026"/>
            <a:ext cx="0" cy="47091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637026"/>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312664" y="4107941"/>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73752" y="374903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ttack tree: AND"/>
          <p:cNvSpPr txBox="1"/>
          <p:nvPr/>
        </p:nvSpPr>
        <p:spPr>
          <a:xfrm>
            <a:off x="4887468" y="376275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8" name="Connector 37"/>
          <p:cNvCxnSpPr/>
          <p:nvPr/>
        </p:nvCxnSpPr>
        <p:spPr>
          <a:xfrm>
            <a:off x="2798063" y="481431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28032" y="481431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578858"/>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457885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312664" y="504977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4873752" y="4690872"/>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ttack tree: AND"/>
          <p:cNvSpPr txBox="1"/>
          <p:nvPr/>
        </p:nvSpPr>
        <p:spPr>
          <a:xfrm>
            <a:off x="4887468" y="470458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5" name="Rounded Rectangle 44"/>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7" name="Assessed node: boundary / Corrupt the model in this run"/>
          <p:cNvSpPr/>
          <p:nvPr/>
        </p:nvSpPr>
        <p:spPr>
          <a:xfrm>
            <a:off x="594360" y="2487168"/>
            <a:ext cx="1719072" cy="1828800"/>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94600B"/>
                </a:solidFill>
                <a:latin typeface="Arial"/>
              </a:rPr>
              <a:t>ATTACKER GOAL</a:t>
            </a:r>
          </a:p>
        </p:txBody>
      </p:sp>
      <p:sp>
        <p:nvSpPr>
          <p:cNvPr id="49" name="Attack tree: Corrupt the model in this run"/>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94600B"/>
                </a:solidFill>
                <a:latin typeface="Arial"/>
              </a:rPr>
              <a:t>Corrupt the model in this run</a:t>
            </a:r>
          </a:p>
        </p:txBody>
      </p:sp>
      <p:sp>
        <p:nvSpPr>
          <p:cNvPr id="50" name="Assessed node: blocked / Train on tampered inputs"/>
          <p:cNvSpPr/>
          <p:nvPr/>
        </p:nvSpPr>
        <p:spPr>
          <a:xfrm>
            <a:off x="2852928" y="1595628"/>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ttack tree: Train on tampered inputs"/>
          <p:cNvSpPr txBox="1"/>
          <p:nvPr/>
        </p:nvSpPr>
        <p:spPr>
          <a:xfrm>
            <a:off x="2962656" y="1641348"/>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Train on tampered inputs</a:t>
            </a:r>
          </a:p>
        </p:txBody>
      </p:sp>
      <p:sp>
        <p:nvSpPr>
          <p:cNvPr id="52" name="Assessed node: neutral / Alter signed image / label bytes or substitute signer role"/>
          <p:cNvSpPr/>
          <p:nvPr/>
        </p:nvSpPr>
        <p:spPr>
          <a:xfrm>
            <a:off x="8183879" y="1538478"/>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ttack tree: Alter signed sample bytes"/>
          <p:cNvSpPr txBox="1"/>
          <p:nvPr/>
        </p:nvSpPr>
        <p:spPr>
          <a:xfrm>
            <a:off x="8293607" y="1561337"/>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Alter signed sample bytes</a:t>
            </a:r>
          </a:p>
        </p:txBody>
      </p:sp>
      <p:sp>
        <p:nvSpPr>
          <p:cNvPr id="54" name="Assessed node: blocked / Worker accepts invalid signatures, links or signer roles"/>
          <p:cNvSpPr/>
          <p:nvPr/>
        </p:nvSpPr>
        <p:spPr>
          <a:xfrm>
            <a:off x="8183879" y="2009394"/>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ttack tree: Pass provenance checks anyway"/>
          <p:cNvSpPr txBox="1"/>
          <p:nvPr/>
        </p:nvSpPr>
        <p:spPr>
          <a:xfrm>
            <a:off x="8293607" y="203225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Pass provenance checks anyway</a:t>
            </a:r>
          </a:p>
        </p:txBody>
      </p:sp>
      <p:sp>
        <p:nvSpPr>
          <p:cNvPr id="56" name="Assessed node: blocked / Substitute model artifacts"/>
          <p:cNvSpPr/>
          <p:nvPr/>
        </p:nvSpPr>
        <p:spPr>
          <a:xfrm>
            <a:off x="2852928" y="2537460"/>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Attack tree: Substitute model artifacts"/>
          <p:cNvSpPr txBox="1"/>
          <p:nvPr/>
        </p:nvSpPr>
        <p:spPr>
          <a:xfrm>
            <a:off x="2962656" y="2583179"/>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Substitute model artifacts</a:t>
            </a:r>
          </a:p>
        </p:txBody>
      </p:sp>
      <p:sp>
        <p:nvSpPr>
          <p:cNvPr id="58" name="Assessed node: neutral / Store returns a swapped update or an old signed model"/>
          <p:cNvSpPr/>
          <p:nvPr/>
        </p:nvSpPr>
        <p:spPr>
          <a:xfrm>
            <a:off x="8183879" y="2480310"/>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Attack tree: Swap update / replay old model"/>
          <p:cNvSpPr txBox="1"/>
          <p:nvPr/>
        </p:nvSpPr>
        <p:spPr>
          <a:xfrm>
            <a:off x="8293607" y="250317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Swap update / replay old model</a:t>
            </a:r>
          </a:p>
        </p:txBody>
      </p:sp>
      <p:sp>
        <p:nvSpPr>
          <p:cNvPr id="60" name="Assessed node: blocked / Consumer uses artifacts that violate tuple / context binding"/>
          <p:cNvSpPr/>
          <p:nvPr/>
        </p:nvSpPr>
        <p:spPr>
          <a:xfrm>
            <a:off x="8183879" y="2951226"/>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ttack tree: Pass signature / context checks"/>
          <p:cNvSpPr txBox="1"/>
          <p:nvPr/>
        </p:nvSpPr>
        <p:spPr>
          <a:xfrm>
            <a:off x="8293607" y="2974086"/>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Pass signature / context checks</a:t>
            </a:r>
          </a:p>
        </p:txBody>
      </p:sp>
      <p:sp>
        <p:nvSpPr>
          <p:cNvPr id="62" name="Assessed node: boundary / Publish a false aggregate"/>
          <p:cNvSpPr/>
          <p:nvPr/>
        </p:nvSpPr>
        <p:spPr>
          <a:xfrm>
            <a:off x="2852928" y="3479291"/>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Attack tree: Publish a false aggregate"/>
          <p:cNvSpPr txBox="1"/>
          <p:nvPr/>
        </p:nvSpPr>
        <p:spPr>
          <a:xfrm>
            <a:off x="2962656" y="3525011"/>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Publish a false aggregate</a:t>
            </a:r>
          </a:p>
        </p:txBody>
      </p:sp>
      <p:sp>
        <p:nvSpPr>
          <p:cNvPr id="64" name="Assessed node: boundary / Compromise the admitted aggregator process or obtain both required signing authorities"/>
          <p:cNvSpPr/>
          <p:nvPr/>
        </p:nvSpPr>
        <p:spPr>
          <a:xfrm>
            <a:off x="8183879" y="3422142"/>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Attack tree: Compromise aggregator runtime"/>
          <p:cNvSpPr txBox="1"/>
          <p:nvPr/>
        </p:nvSpPr>
        <p:spPr>
          <a:xfrm>
            <a:off x="8293607" y="3445002"/>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aggregator runtime</a:t>
            </a:r>
          </a:p>
        </p:txBody>
      </p:sp>
      <p:sp>
        <p:nvSpPr>
          <p:cNvPr id="66" name="Assessed node: neutral / Publish a mathematically false output with valid signatures and accepted-set bindings"/>
          <p:cNvSpPr/>
          <p:nvPr/>
        </p:nvSpPr>
        <p:spPr>
          <a:xfrm>
            <a:off x="8183879" y="3893057"/>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Attack tree: Sign false aggregate as valid"/>
          <p:cNvSpPr txBox="1"/>
          <p:nvPr/>
        </p:nvSpPr>
        <p:spPr>
          <a:xfrm>
            <a:off x="8293607" y="3915918"/>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Sign false aggregate as valid</a:t>
            </a:r>
          </a:p>
        </p:txBody>
      </p:sp>
      <p:sp>
        <p:nvSpPr>
          <p:cNvPr id="68" name="Assessed node: boundary / Inject a harmful signed update"/>
          <p:cNvSpPr/>
          <p:nvPr/>
        </p:nvSpPr>
        <p:spPr>
          <a:xfrm>
            <a:off x="2852928" y="4421124"/>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ttack tree: Inject a harmful signed update"/>
          <p:cNvSpPr txBox="1"/>
          <p:nvPr/>
        </p:nvSpPr>
        <p:spPr>
          <a:xfrm>
            <a:off x="2962656" y="4466844"/>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Inject a harmful signed update</a:t>
            </a:r>
          </a:p>
        </p:txBody>
      </p:sp>
      <p:sp>
        <p:nvSpPr>
          <p:cNvPr id="70" name="Assessed node: boundary / Compromise admitted worker execution so it can choose an arbitrary update"/>
          <p:cNvSpPr/>
          <p:nvPr/>
        </p:nvSpPr>
        <p:spPr>
          <a:xfrm>
            <a:off x="8183879" y="4363974"/>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Attack tree: Compromise worker runtime"/>
          <p:cNvSpPr txBox="1"/>
          <p:nvPr/>
        </p:nvSpPr>
        <p:spPr>
          <a:xfrm>
            <a:off x="8293607" y="438683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worker runtime</a:t>
            </a:r>
          </a:p>
        </p:txBody>
      </p:sp>
      <p:sp>
        <p:nvSpPr>
          <p:cNvPr id="72" name="Assessed node: neutral / Submit a well-formed harmful update whose inclusion actually degrades the aggregate"/>
          <p:cNvSpPr/>
          <p:nvPr/>
        </p:nvSpPr>
        <p:spPr>
          <a:xfrm>
            <a:off x="8183879" y="4834890"/>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tree: Sign a harmful in-context update"/>
          <p:cNvSpPr txBox="1"/>
          <p:nvPr/>
        </p:nvSpPr>
        <p:spPr>
          <a:xfrm>
            <a:off x="8293607" y="485775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Sign a harmful in-context update</a:t>
            </a:r>
          </a:p>
        </p:txBody>
      </p:sp>
      <p:sp>
        <p:nvSpPr>
          <p:cNvPr id="74"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5"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7"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9"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81"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3" name="Attack tree: Arbitrary updates need protected signing authority; this does not establish statistical model robustness."/>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Arbitrary updates need protected signing authority; this does not establish statistical model robustness.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name="VITA-FL attack tree: 03-recovery">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disrupt rounds and recovery</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3 / 6 · T2 / T6 / T12 / T13 / T14</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1988819"/>
            <a:ext cx="0" cy="2825497"/>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1988819"/>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1988819"/>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53362"/>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53362"/>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2242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8653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879091"/>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293065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29306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695194"/>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69519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166110"/>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280720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282092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387248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387248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637026"/>
            <a:ext cx="0" cy="47091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637026"/>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312664" y="4107941"/>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73752" y="374903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ttack tree: AND"/>
          <p:cNvSpPr txBox="1"/>
          <p:nvPr/>
        </p:nvSpPr>
        <p:spPr>
          <a:xfrm>
            <a:off x="4887468" y="376275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8" name="Connector 37"/>
          <p:cNvCxnSpPr/>
          <p:nvPr/>
        </p:nvCxnSpPr>
        <p:spPr>
          <a:xfrm>
            <a:off x="2798063" y="481431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28032" y="481431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578858"/>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457885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312664" y="504977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4873752" y="4690872"/>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ttack tree: AND"/>
          <p:cNvSpPr txBox="1"/>
          <p:nvPr/>
        </p:nvSpPr>
        <p:spPr>
          <a:xfrm>
            <a:off x="4887468" y="470458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5" name="Rounded Rectangle 44"/>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7" name="Assessed node: possible / Disrupt rounds or recovery"/>
          <p:cNvSpPr/>
          <p:nvPr/>
        </p:nvSpPr>
        <p:spPr>
          <a:xfrm>
            <a:off x="594360" y="2487168"/>
            <a:ext cx="1719072" cy="1828800"/>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C40D1E"/>
                </a:solidFill>
                <a:latin typeface="Arial"/>
              </a:rPr>
              <a:t>ATTACKER GOAL</a:t>
            </a:r>
          </a:p>
        </p:txBody>
      </p:sp>
      <p:sp>
        <p:nvSpPr>
          <p:cNvPr id="49" name="Attack tree: Disrupt rounds or recovery"/>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C40D1E"/>
                </a:solidFill>
                <a:latin typeface="Arial"/>
              </a:rPr>
              <a:t>Disrupt rounds or recovery</a:t>
            </a:r>
          </a:p>
        </p:txBody>
      </p:sp>
      <p:sp>
        <p:nvSpPr>
          <p:cNvPr id="50" name="Assessed node: blocked / Forge reports as an outsider"/>
          <p:cNvSpPr/>
          <p:nvPr/>
        </p:nvSpPr>
        <p:spPr>
          <a:xfrm>
            <a:off x="2852928" y="1595628"/>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ttack tree: Forge reports as an outsider"/>
          <p:cNvSpPr txBox="1"/>
          <p:nvPr/>
        </p:nvSpPr>
        <p:spPr>
          <a:xfrm>
            <a:off x="2962656" y="1641348"/>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Forge reports as an outsider</a:t>
            </a:r>
          </a:p>
        </p:txBody>
      </p:sp>
      <p:sp>
        <p:nvSpPr>
          <p:cNvPr id="52" name="Assessed node: neutral / Submit a timeout report using an unauthorized outsider transaction sender"/>
          <p:cNvSpPr/>
          <p:nvPr/>
        </p:nvSpPr>
        <p:spPr>
          <a:xfrm>
            <a:off x="8183879" y="1538478"/>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ttack tree: Submit an unauthorized report"/>
          <p:cNvSpPr txBox="1"/>
          <p:nvPr/>
        </p:nvSpPr>
        <p:spPr>
          <a:xfrm>
            <a:off x="8293607" y="1561337"/>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Submit an unauthorized report</a:t>
            </a:r>
          </a:p>
        </p:txBody>
      </p:sp>
      <p:sp>
        <p:nvSpPr>
          <p:cNvPr id="54" name="Assessed node: blocked / Get reports accepted without the required current action-key authority"/>
          <p:cNvSpPr/>
          <p:nvPr/>
        </p:nvSpPr>
        <p:spPr>
          <a:xfrm>
            <a:off x="8183879" y="2009394"/>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ttack tree: Bypass current action authority"/>
          <p:cNvSpPr txBox="1"/>
          <p:nvPr/>
        </p:nvSpPr>
        <p:spPr>
          <a:xfrm>
            <a:off x="8293607" y="203225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Bypass current action authority</a:t>
            </a:r>
          </a:p>
        </p:txBody>
      </p:sp>
      <p:sp>
        <p:nvSpPr>
          <p:cNvPr id="56" name="Assessed node: boundary / Fabricate a signed quorum"/>
          <p:cNvSpPr/>
          <p:nvPr/>
        </p:nvSpPr>
        <p:spPr>
          <a:xfrm>
            <a:off x="2852928" y="253746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Attack tree: Fabricate a signed quorum"/>
          <p:cNvSpPr txBox="1"/>
          <p:nvPr/>
        </p:nvSpPr>
        <p:spPr>
          <a:xfrm>
            <a:off x="2962656" y="2583179"/>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Fabricate a signed quorum</a:t>
            </a:r>
          </a:p>
        </p:txBody>
      </p:sp>
      <p:sp>
        <p:nvSpPr>
          <p:cNvPr id="58" name="Assessed node: boundary / Compromise enough admitted action signers to produce arbitrary current-authority reports"/>
          <p:cNvSpPr/>
          <p:nvPr/>
        </p:nvSpPr>
        <p:spPr>
          <a:xfrm>
            <a:off x="8183879" y="2480310"/>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Attack tree: Compromise quorum signers"/>
          <p:cNvSpPr txBox="1"/>
          <p:nvPr/>
        </p:nvSpPr>
        <p:spPr>
          <a:xfrm>
            <a:off x="8293607" y="250317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quorum signers</a:t>
            </a:r>
          </a:p>
        </p:txBody>
      </p:sp>
      <p:sp>
        <p:nvSpPr>
          <p:cNvPr id="60" name="Assessed node: neutral / Submit false reports that satisfy every time, round, eligibility and quorum guard"/>
          <p:cNvSpPr/>
          <p:nvPr/>
        </p:nvSpPr>
        <p:spPr>
          <a:xfrm>
            <a:off x="8183879" y="2951226"/>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ttack tree: Meet time / round / quorum guards"/>
          <p:cNvSpPr txBox="1"/>
          <p:nvPr/>
        </p:nvSpPr>
        <p:spPr>
          <a:xfrm>
            <a:off x="8293607" y="2974086"/>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Meet time / round / quorum guards</a:t>
            </a:r>
          </a:p>
        </p:txBody>
      </p:sp>
      <p:sp>
        <p:nvSpPr>
          <p:cNvPr id="62" name="Assessed node: possible / Trigger timeout replacement"/>
          <p:cNvSpPr/>
          <p:nvPr/>
        </p:nvSpPr>
        <p:spPr>
          <a:xfrm>
            <a:off x="2852928" y="3479291"/>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Attack tree: Trigger timeout replacement"/>
          <p:cNvSpPr txBox="1"/>
          <p:nvPr/>
        </p:nvSpPr>
        <p:spPr>
          <a:xfrm>
            <a:off x="2962656" y="3525011"/>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Trigger timeout replacement</a:t>
            </a:r>
          </a:p>
        </p:txBody>
      </p:sp>
      <p:sp>
        <p:nvSpPr>
          <p:cNvPr id="64" name="Assessed node: possible / Block all uploads before the first acceptance and keep the round unable to publish"/>
          <p:cNvSpPr/>
          <p:nvPr/>
        </p:nvSpPr>
        <p:spPr>
          <a:xfrm>
            <a:off x="8183879" y="3422142"/>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Attack tree: Block all uploads before acceptance"/>
          <p:cNvSpPr txBox="1"/>
          <p:nvPr/>
        </p:nvSpPr>
        <p:spPr>
          <a:xfrm>
            <a:off x="8293607" y="3445002"/>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Block all uploads before acceptance</a:t>
            </a:r>
          </a:p>
        </p:txBody>
      </p:sp>
      <p:sp>
        <p:nvSpPr>
          <p:cNvPr id="66" name="Assessed node: neutral / Enough intact workers observe timeouts and their valid reports reach the live ledger"/>
          <p:cNvSpPr/>
          <p:nvPr/>
        </p:nvSpPr>
        <p:spPr>
          <a:xfrm>
            <a:off x="8183879" y="3893057"/>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Attack tree: Honest timeout votes reach ledger"/>
          <p:cNvSpPr txBox="1"/>
          <p:nvPr/>
        </p:nvSpPr>
        <p:spPr>
          <a:xfrm>
            <a:off x="8293607" y="3915918"/>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Honest timeout votes reach ledger</a:t>
            </a:r>
          </a:p>
        </p:txBody>
      </p:sp>
      <p:sp>
        <p:nvSpPr>
          <p:cNvPr id="68" name="Assessed node: possible / Prevent timely recovery"/>
          <p:cNvSpPr/>
          <p:nvPr/>
        </p:nvSpPr>
        <p:spPr>
          <a:xfrm>
            <a:off x="2852928" y="4421124"/>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ttack tree: Prevent timely recovery"/>
          <p:cNvSpPr txBox="1"/>
          <p:nvPr/>
        </p:nvSpPr>
        <p:spPr>
          <a:xfrm>
            <a:off x="2962656" y="4466844"/>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Prevent timely recovery</a:t>
            </a:r>
          </a:p>
        </p:txBody>
      </p:sp>
      <p:sp>
        <p:nvSpPr>
          <p:cNvPr id="70" name="Assessed node: possible / Keep the selected aggregator unavailable during the recovery interval"/>
          <p:cNvSpPr/>
          <p:nvPr/>
        </p:nvSpPr>
        <p:spPr>
          <a:xfrm>
            <a:off x="8183879" y="4363974"/>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Attack tree: Keep selected aggregator offline"/>
          <p:cNvSpPr txBox="1"/>
          <p:nvPr/>
        </p:nvSpPr>
        <p:spPr>
          <a:xfrm>
            <a:off x="8293607" y="438683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Keep selected aggregator offline</a:t>
            </a:r>
          </a:p>
        </p:txBody>
      </p:sp>
      <p:sp>
        <p:nvSpPr>
          <p:cNvPr id="72" name="Assessed node: possible / Keep recovery reports from reaching quorum by blocking ledger access or enough reporters"/>
          <p:cNvSpPr/>
          <p:nvPr/>
        </p:nvSpPr>
        <p:spPr>
          <a:xfrm>
            <a:off x="8183879" y="4834890"/>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tree: Block ledger / reporting quorum"/>
          <p:cNvSpPr txBox="1"/>
          <p:nvPr/>
        </p:nvSpPr>
        <p:spPr>
          <a:xfrm>
            <a:off x="8293607" y="485775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Block ledger / reporting quorum</a:t>
            </a:r>
          </a:p>
        </p:txBody>
      </p:sp>
      <p:sp>
        <p:nvSpPr>
          <p:cNvPr id="74"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5"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7"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9"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81"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3" name="Attack tree: Invented valid votes need TEE signing control; blocked traffic can trigger honest timeout votes without stolen keys."/>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Invented valid votes need TEE signing control; blocked traffic can trigger honest timeout votes without stolen keys.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name="VITA-FL attack tree: 04-inferenc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Attack tree: verify an invalid inference result</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4 / 6 · T2 / T4 / T8 / T9</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666666"/>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69094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536115"/>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536115"/>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3132473"/>
            <a:ext cx="0" cy="807284"/>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3132473"/>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571232" y="313247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55864" y="286337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5864" y="286337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55864" y="340156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648956" y="3009029"/>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ttack tree: OR"/>
          <p:cNvSpPr txBox="1"/>
          <p:nvPr/>
        </p:nvSpPr>
        <p:spPr>
          <a:xfrm>
            <a:off x="7662672" y="3022745"/>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34" name="Connector 33"/>
          <p:cNvCxnSpPr/>
          <p:nvPr/>
        </p:nvCxnSpPr>
        <p:spPr>
          <a:xfrm>
            <a:off x="5312664" y="393975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73752" y="3412671"/>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426387"/>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3752" y="462359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AND"/>
          <p:cNvSpPr txBox="1"/>
          <p:nvPr/>
        </p:nvSpPr>
        <p:spPr>
          <a:xfrm>
            <a:off x="4887468" y="463731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4" name="Rounded Rectangle 43"/>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locked / Verify an invalid inference result"/>
          <p:cNvSpPr/>
          <p:nvPr/>
        </p:nvSpPr>
        <p:spPr>
          <a:xfrm>
            <a:off x="594360" y="2487168"/>
            <a:ext cx="1719072" cy="1828800"/>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267347"/>
                </a:solidFill>
                <a:latin typeface="Arial"/>
              </a:rPr>
              <a:t>ATTACKER GOAL</a:t>
            </a:r>
          </a:p>
        </p:txBody>
      </p:sp>
      <p:sp>
        <p:nvSpPr>
          <p:cNvPr id="48" name="Attack tree: Verify an invalid inference result"/>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267347"/>
                </a:solidFill>
                <a:latin typeface="Arial"/>
              </a:rPr>
              <a:t>Verify an invalid inference result</a:t>
            </a:r>
          </a:p>
        </p:txBody>
      </p:sp>
      <p:sp>
        <p:nvSpPr>
          <p:cNvPr id="49" name="Assessed node: blocked / Use the wrong model bundle"/>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Use the wrong model bundle"/>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Use the wrong model bundle</a:t>
            </a:r>
          </a:p>
        </p:txBody>
      </p:sp>
      <p:sp>
        <p:nvSpPr>
          <p:cNvPr id="51" name="Assessed node: neutral / Return an old model with its genuine publisher signatur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Replay an old signed model"/>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an old signed model</a:t>
            </a:r>
          </a:p>
        </p:txBody>
      </p:sp>
      <p:sp>
        <p:nvSpPr>
          <p:cNvPr id="53" name="Assessed node: blocked / Verify inference from a bundle that disagrees with the publication selected at model preparation"/>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Pass selected-bundle checks"/>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selected-bundle checks</a:t>
            </a:r>
          </a:p>
        </p:txBody>
      </p:sp>
      <p:sp>
        <p:nvSpPr>
          <p:cNvPr id="55" name="Assessed node: blocked / Mix valid but unrelated evidence"/>
          <p:cNvSpPr/>
          <p:nvPr/>
        </p:nvSpPr>
        <p:spPr>
          <a:xfrm>
            <a:off x="2852928" y="3142923"/>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Mix valid but unrelated evidence"/>
          <p:cNvSpPr txBox="1"/>
          <p:nvPr/>
        </p:nvSpPr>
        <p:spPr>
          <a:xfrm>
            <a:off x="2962656" y="3188643"/>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Mix valid but unrelated evidence</a:t>
            </a:r>
          </a:p>
        </p:txBody>
      </p:sp>
      <p:sp>
        <p:nvSpPr>
          <p:cNvPr id="57" name="Assessed node: neutral / Introduce a foreign context"/>
          <p:cNvSpPr/>
          <p:nvPr/>
        </p:nvSpPr>
        <p:spPr>
          <a:xfrm>
            <a:off x="5394960" y="2785001"/>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Introduce a foreign context"/>
          <p:cNvSpPr txBox="1"/>
          <p:nvPr/>
        </p:nvSpPr>
        <p:spPr>
          <a:xfrm>
            <a:off x="5504688" y="2830721"/>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Introduce a foreign context</a:t>
            </a:r>
          </a:p>
        </p:txBody>
      </p:sp>
      <p:sp>
        <p:nvSpPr>
          <p:cNvPr id="59" name="Assessed node: neutral / Substitute output for another model / image job"/>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Swap output / job evidence"/>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Swap output / job evidence</a:t>
            </a:r>
          </a:p>
        </p:txBody>
      </p:sp>
      <p:sp>
        <p:nvSpPr>
          <p:cNvPr id="61" name="Assessed node: neutral / Replay a request or receipt from another session"/>
          <p:cNvSpPr/>
          <p:nvPr/>
        </p:nvSpPr>
        <p:spPr>
          <a:xfrm>
            <a:off x="8183879" y="315304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Replay across session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across sessions</a:t>
            </a:r>
          </a:p>
        </p:txBody>
      </p:sp>
      <p:sp>
        <p:nvSpPr>
          <p:cNvPr id="63" name="Assessed node: blocked / Verifier accepts conflicting manifest / digests / job bindings"/>
          <p:cNvSpPr/>
          <p:nvPr/>
        </p:nvSpPr>
        <p:spPr>
          <a:xfrm>
            <a:off x="8183879" y="369123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Pass digest / session checks"/>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digest / session checks</a:t>
            </a:r>
          </a:p>
        </p:txBody>
      </p:sp>
      <p:sp>
        <p:nvSpPr>
          <p:cNvPr id="65" name="Assessed node: blocked / Fake verified tool success"/>
          <p:cNvSpPr/>
          <p:nvPr/>
        </p:nvSpPr>
        <p:spPr>
          <a:xfrm>
            <a:off x="2852928" y="4353850"/>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Fake verified tool success"/>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Fake verified tool success</a:t>
            </a:r>
          </a:p>
        </p:txBody>
      </p:sp>
      <p:sp>
        <p:nvSpPr>
          <p:cNvPr id="67" name="Assessed node: neutral / Use prompt instructions to ask the agent to skip evidence verification"/>
          <p:cNvSpPr/>
          <p:nvPr/>
        </p:nvSpPr>
        <p:spPr>
          <a:xfrm>
            <a:off x="8183879" y="422942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Inject misleading instructions"/>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Inject misleading instructions</a:t>
            </a:r>
          </a:p>
        </p:txBody>
      </p:sp>
      <p:sp>
        <p:nvSpPr>
          <p:cNvPr id="69" name="Assessed node: blocked / Have the intact tool return verified success despite missing or invalid checks"/>
          <p:cNvSpPr/>
          <p:nvPr/>
        </p:nvSpPr>
        <p:spPr>
          <a:xfrm>
            <a:off x="8183879" y="476761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Return verified success anyway"/>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Return verified success anyway</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Verified tool status requires bound evidence; arbitrary LLM wording is outside this guarantee."/>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Verified tool status requires bound evidence; arbitrary LLM wording is outside this guarantee.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VITA-FL attack tree: 05-audit">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Attack tree: evidence and interaction suppression</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5 / 6 · T10 / T11</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666666"/>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603389"/>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459736"/>
            <a:ext cx="0" cy="228730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45973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45973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2056093"/>
            <a:ext cx="0" cy="80728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2056093"/>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712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558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55864" y="178699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055864" y="232518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648956" y="1932649"/>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ttack tree: OR"/>
          <p:cNvSpPr txBox="1"/>
          <p:nvPr/>
        </p:nvSpPr>
        <p:spPr>
          <a:xfrm>
            <a:off x="7662672" y="1946365"/>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873752" y="2336291"/>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Attack tree: AND"/>
          <p:cNvSpPr txBox="1"/>
          <p:nvPr/>
        </p:nvSpPr>
        <p:spPr>
          <a:xfrm>
            <a:off x="4887468" y="235000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0" name="Connector 29"/>
          <p:cNvCxnSpPr/>
          <p:nvPr/>
        </p:nvCxnSpPr>
        <p:spPr>
          <a:xfrm>
            <a:off x="2798063" y="367066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828032" y="367066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12664" y="3401568"/>
            <a:ext cx="0" cy="53818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40156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93975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73752" y="354721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56093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905756" y="462359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OR"/>
          <p:cNvSpPr txBox="1"/>
          <p:nvPr/>
        </p:nvSpPr>
        <p:spPr>
          <a:xfrm>
            <a:off x="4919472" y="463731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4" name="Rounded Rectangle 43"/>
          <p:cNvSpPr/>
          <p:nvPr/>
        </p:nvSpPr>
        <p:spPr>
          <a:xfrm>
            <a:off x="2391156" y="3479945"/>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493661"/>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possible / Undermine evidence or suppress interaction"/>
          <p:cNvSpPr/>
          <p:nvPr/>
        </p:nvSpPr>
        <p:spPr>
          <a:xfrm>
            <a:off x="594360" y="2688989"/>
            <a:ext cx="1719072" cy="1828800"/>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789573"/>
            <a:ext cx="1517904" cy="182880"/>
          </a:xfrm>
          <a:prstGeom prst="rect">
            <a:avLst/>
          </a:prstGeom>
          <a:noFill/>
        </p:spPr>
        <p:txBody>
          <a:bodyPr wrap="square" lIns="0" rIns="0" tIns="0" bIns="0" anchor="ctr">
            <a:spAutoFit/>
          </a:bodyPr>
          <a:lstStyle/>
          <a:p>
            <a:pPr algn="l"/>
            <a:r>
              <a:rPr sz="910" b="1" lang="en-US">
                <a:solidFill>
                  <a:srgbClr val="C40D1E"/>
                </a:solidFill>
                <a:latin typeface="Arial"/>
              </a:rPr>
              <a:t>ATTACKER GOAL</a:t>
            </a:r>
          </a:p>
        </p:txBody>
      </p:sp>
      <p:sp>
        <p:nvSpPr>
          <p:cNvPr id="48" name="Attack tree: Undermine evidence or suppress interaction"/>
          <p:cNvSpPr txBox="1"/>
          <p:nvPr/>
        </p:nvSpPr>
        <p:spPr>
          <a:xfrm>
            <a:off x="694944" y="3036461"/>
            <a:ext cx="1517904" cy="1389888"/>
          </a:xfrm>
          <a:prstGeom prst="rect">
            <a:avLst/>
          </a:prstGeom>
          <a:noFill/>
        </p:spPr>
        <p:txBody>
          <a:bodyPr wrap="square" lIns="0" rIns="0" tIns="0" bIns="0" anchor="ctr">
            <a:spAutoFit/>
          </a:bodyPr>
          <a:lstStyle/>
          <a:p>
            <a:pPr algn="l"/>
            <a:r>
              <a:rPr sz="1550" b="1" lang="en-US">
                <a:solidFill>
                  <a:srgbClr val="C40D1E"/>
                </a:solidFill>
                <a:latin typeface="Arial"/>
              </a:rPr>
              <a:t>Undermine evidence or suppress interaction</a:t>
            </a:r>
          </a:p>
        </p:txBody>
      </p:sp>
      <p:sp>
        <p:nvSpPr>
          <p:cNvPr id="49" name="Assessed node: blocked / Claim complete evidence despite missing records"/>
          <p:cNvSpPr/>
          <p:nvPr/>
        </p:nvSpPr>
        <p:spPr>
          <a:xfrm>
            <a:off x="2852928" y="2066543"/>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Claim complete evidence despite missing records"/>
          <p:cNvSpPr txBox="1"/>
          <p:nvPr/>
        </p:nvSpPr>
        <p:spPr>
          <a:xfrm>
            <a:off x="2962656" y="2112263"/>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Claim complete evidence despite missing records</a:t>
            </a:r>
          </a:p>
        </p:txBody>
      </p:sp>
      <p:sp>
        <p:nvSpPr>
          <p:cNvPr id="51" name="Assessed node: neutral / Leave a required record absent"/>
          <p:cNvSpPr/>
          <p:nvPr/>
        </p:nvSpPr>
        <p:spPr>
          <a:xfrm>
            <a:off x="5394960" y="1708621"/>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Leave a required record absent"/>
          <p:cNvSpPr txBox="1"/>
          <p:nvPr/>
        </p:nvSpPr>
        <p:spPr>
          <a:xfrm>
            <a:off x="5504688" y="1754341"/>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Leave a required record absent</a:t>
            </a:r>
          </a:p>
        </p:txBody>
      </p:sp>
      <p:sp>
        <p:nvSpPr>
          <p:cNvPr id="53" name="Assessed node: neutral / Receiver Sello receipt is not accepted by the log"/>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Block Sello publication"/>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Block Sello publication</a:t>
            </a:r>
          </a:p>
        </p:txBody>
      </p:sp>
      <p:sp>
        <p:nvSpPr>
          <p:cNvPr id="55" name="Assessed node: neutral / Verified inference domain bundle is not published"/>
          <p:cNvSpPr/>
          <p:nvPr/>
        </p:nvSpPr>
        <p:spPr>
          <a:xfrm>
            <a:off x="8183879" y="207666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Block inference publication"/>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Block inference publication</a:t>
            </a:r>
          </a:p>
        </p:txBody>
      </p:sp>
      <p:sp>
        <p:nvSpPr>
          <p:cNvPr id="57" name="Assessed node: blocked / Workflow still marks the corresponding claim successful"/>
          <p:cNvSpPr/>
          <p:nvPr/>
        </p:nvSpPr>
        <p:spPr>
          <a:xfrm>
            <a:off x="8183879" y="261485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Still return verified success"/>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Still return verified success</a:t>
            </a:r>
          </a:p>
        </p:txBody>
      </p:sp>
      <p:sp>
        <p:nvSpPr>
          <p:cNvPr id="59" name="Assessed node: boundary / Conceal log equivocation"/>
          <p:cNvSpPr/>
          <p:nvPr/>
        </p:nvSpPr>
        <p:spPr>
          <a:xfrm>
            <a:off x="2852928" y="327747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Conceal log equivocation"/>
          <p:cNvSpPr txBox="1"/>
          <p:nvPr/>
        </p:nvSpPr>
        <p:spPr>
          <a:xfrm>
            <a:off x="2962656" y="3323190"/>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Conceal log equivocation</a:t>
            </a:r>
          </a:p>
        </p:txBody>
      </p:sp>
      <p:sp>
        <p:nvSpPr>
          <p:cNvPr id="61" name="Assessed node: neutral / A controlled log issues valid statements for conflicting views"/>
          <p:cNvSpPr/>
          <p:nvPr/>
        </p:nvSpPr>
        <p:spPr>
          <a:xfrm>
            <a:off x="8183879" y="315304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Log signs conflicting view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Log signs conflicting views</a:t>
            </a:r>
          </a:p>
        </p:txBody>
      </p:sp>
      <p:sp>
        <p:nvSpPr>
          <p:cNvPr id="63" name="Assessed node: boundary / No independent witness or anchor compares the views"/>
          <p:cNvSpPr/>
          <p:nvPr/>
        </p:nvSpPr>
        <p:spPr>
          <a:xfrm>
            <a:off x="8183879" y="369123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No independent view comparison"/>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No independent view comparison</a:t>
            </a:r>
          </a:p>
        </p:txBody>
      </p:sp>
      <p:sp>
        <p:nvSpPr>
          <p:cNvPr id="65" name="Assessed node: possible / Suppress the entire interaction"/>
          <p:cNvSpPr/>
          <p:nvPr/>
        </p:nvSpPr>
        <p:spPr>
          <a:xfrm>
            <a:off x="2852928" y="4353850"/>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Suppress the entire interaction"/>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Suppress the entire interaction</a:t>
            </a:r>
          </a:p>
        </p:txBody>
      </p:sp>
      <p:sp>
        <p:nvSpPr>
          <p:cNvPr id="67" name="Assessed node: possible / Drop the request before it reaches the receiver"/>
          <p:cNvSpPr/>
          <p:nvPr/>
        </p:nvSpPr>
        <p:spPr>
          <a:xfrm>
            <a:off x="8183879" y="4229426"/>
            <a:ext cx="3401568" cy="497041"/>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Drop request before execution"/>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Drop request before execution</a:t>
            </a:r>
          </a:p>
        </p:txBody>
      </p:sp>
      <p:sp>
        <p:nvSpPr>
          <p:cNvPr id="69" name="Assessed node: possible / Intermediary withholds the entire result from the user"/>
          <p:cNvSpPr/>
          <p:nvPr/>
        </p:nvSpPr>
        <p:spPr>
          <a:xfrm>
            <a:off x="8183879" y="4767616"/>
            <a:ext cx="3401568" cy="497041"/>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Withhold response from user"/>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Withhold response from user</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Dropping traffic needs no key; conflicting valid log views require control of the log authority."/>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Dropping traffic needs no key; conflicting valid log views require control of the log authority.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VITA-FL attack tree: 06-disclosur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disclose the TEE-held model</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6 / 6 · T5 / T13</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69094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267020"/>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267020"/>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863378"/>
            <a:ext cx="0" cy="807284"/>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670662"/>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71232" y="367066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5864" y="3401568"/>
            <a:ext cx="0" cy="53818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55864" y="340156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055864" y="393975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648956" y="354721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Attack tree: OR"/>
          <p:cNvSpPr txBox="1"/>
          <p:nvPr/>
        </p:nvSpPr>
        <p:spPr>
          <a:xfrm>
            <a:off x="7662672" y="356093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35" name="Rounded Rectangle 34"/>
          <p:cNvSpPr/>
          <p:nvPr/>
        </p:nvSpPr>
        <p:spPr>
          <a:xfrm>
            <a:off x="4873752" y="31435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157292"/>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905756" y="462359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OR"/>
          <p:cNvSpPr txBox="1"/>
          <p:nvPr/>
        </p:nvSpPr>
        <p:spPr>
          <a:xfrm>
            <a:off x="4919472" y="463731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4" name="Rounded Rectangle 43"/>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oundary / Expose model outside the TEE"/>
          <p:cNvSpPr/>
          <p:nvPr/>
        </p:nvSpPr>
        <p:spPr>
          <a:xfrm>
            <a:off x="594360" y="2487168"/>
            <a:ext cx="1719072" cy="1828800"/>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94600B"/>
                </a:solidFill>
                <a:latin typeface="Arial"/>
              </a:rPr>
              <a:t>ATTACKER GOAL</a:t>
            </a:r>
          </a:p>
        </p:txBody>
      </p:sp>
      <p:sp>
        <p:nvSpPr>
          <p:cNvPr id="48" name="Attack tree: Expose model outside the TEE"/>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94600B"/>
                </a:solidFill>
                <a:latin typeface="Arial"/>
              </a:rPr>
              <a:t>Expose model outside the TEE</a:t>
            </a:r>
          </a:p>
        </p:txBody>
      </p:sp>
      <p:sp>
        <p:nvSpPr>
          <p:cNvPr id="49" name="Assessed node: blocked / Bypass admitted-key protection"/>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Bypass admitted-key protection"/>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Bypass admitted-key protection</a:t>
            </a:r>
          </a:p>
        </p:txBody>
      </p:sp>
      <p:sp>
        <p:nvSpPr>
          <p:cNvPr id="51" name="Assessed node: neutral / Obtain the published encrypted model bundl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Obtain model ciphertext"/>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Obtain model ciphertext</a:t>
            </a:r>
          </a:p>
        </p:txBody>
      </p:sp>
      <p:sp>
        <p:nvSpPr>
          <p:cNvPr id="53" name="Assessed node: blocked / Recover its key outside the eligible recipient snapshot"/>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Decrypt without recipient key"/>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Decrypt without recipient key</a:t>
            </a:r>
          </a:p>
        </p:txBody>
      </p:sp>
      <p:sp>
        <p:nvSpPr>
          <p:cNvPr id="55" name="Assessed node: boundary / Break TEE secret protection"/>
          <p:cNvSpPr/>
          <p:nvPr/>
        </p:nvSpPr>
        <p:spPr>
          <a:xfrm>
            <a:off x="2852928" y="2873828"/>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Break TEE secret protection"/>
          <p:cNvSpPr txBox="1"/>
          <p:nvPr/>
        </p:nvSpPr>
        <p:spPr>
          <a:xfrm>
            <a:off x="2962656" y="2919548"/>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Break TEE secret protection</a:t>
            </a:r>
          </a:p>
        </p:txBody>
      </p:sp>
      <p:sp>
        <p:nvSpPr>
          <p:cNvPr id="57" name="Assessed node: neutral / Obtain the matching encrypted model"/>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Obtain matching ciphertext"/>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Obtain matching ciphertext</a:t>
            </a:r>
          </a:p>
        </p:txBody>
      </p:sp>
      <p:sp>
        <p:nvSpPr>
          <p:cNvPr id="59" name="Assessed node: boundary / Obtain the matching round key"/>
          <p:cNvSpPr/>
          <p:nvPr/>
        </p:nvSpPr>
        <p:spPr>
          <a:xfrm>
            <a:off x="5394960" y="3323190"/>
            <a:ext cx="2176272" cy="69494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Obtain the matching round key"/>
          <p:cNvSpPr txBox="1"/>
          <p:nvPr/>
        </p:nvSpPr>
        <p:spPr>
          <a:xfrm>
            <a:off x="5504688" y="3368910"/>
            <a:ext cx="1956815" cy="603504"/>
          </a:xfrm>
          <a:prstGeom prst="rect">
            <a:avLst/>
          </a:prstGeom>
          <a:noFill/>
        </p:spPr>
        <p:txBody>
          <a:bodyPr wrap="square" lIns="0" rIns="0" tIns="0" bIns="0" anchor="ctr">
            <a:spAutoFit/>
          </a:bodyPr>
          <a:lstStyle/>
          <a:p>
            <a:pPr algn="l"/>
            <a:r>
              <a:rPr sz="1240" b="1" lang="en-US">
                <a:solidFill>
                  <a:srgbClr val="94600B"/>
                </a:solidFill>
                <a:latin typeface="Arial"/>
              </a:rPr>
              <a:t>Obtain the matching round key</a:t>
            </a:r>
          </a:p>
        </p:txBody>
      </p:sp>
      <p:sp>
        <p:nvSpPr>
          <p:cNvPr id="61" name="Assessed node: boundary / Use a stolen recipient private key to unwrap the model key"/>
          <p:cNvSpPr/>
          <p:nvPr/>
        </p:nvSpPr>
        <p:spPr>
          <a:xfrm>
            <a:off x="8183879" y="3153047"/>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Unwrap with stolen recipient key"/>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Unwrap with stolen recipient key</a:t>
            </a:r>
          </a:p>
        </p:txBody>
      </p:sp>
      <p:sp>
        <p:nvSpPr>
          <p:cNvPr id="63" name="Assessed node: boundary / Expose the model key while the workload holds it in plaintext"/>
          <p:cNvSpPr/>
          <p:nvPr/>
        </p:nvSpPr>
        <p:spPr>
          <a:xfrm>
            <a:off x="8183879" y="369123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Expose live model key"/>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Expose live model key</a:t>
            </a:r>
          </a:p>
        </p:txBody>
      </p:sp>
      <p:sp>
        <p:nvSpPr>
          <p:cNvPr id="65" name="Assessed node: boundary / Expose secrets through operator control"/>
          <p:cNvSpPr/>
          <p:nvPr/>
        </p:nvSpPr>
        <p:spPr>
          <a:xfrm>
            <a:off x="2852928" y="435385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Expose secrets through operator control"/>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Expose secrets through operator control</a:t>
            </a:r>
          </a:p>
        </p:txBody>
      </p:sp>
      <p:sp>
        <p:nvSpPr>
          <p:cNvPr id="67" name="Assessed node: boundary / Use privileged access inside the admitted TEE to disclose the matching model key"/>
          <p:cNvSpPr/>
          <p:nvPr/>
        </p:nvSpPr>
        <p:spPr>
          <a:xfrm>
            <a:off x="8183879" y="422942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Read model key via guest access"/>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Read model key via guest access</a:t>
            </a:r>
          </a:p>
        </p:txBody>
      </p:sp>
      <p:sp>
        <p:nvSpPr>
          <p:cNvPr id="69" name="Assessed node: boundary / Registry-unapproved upgraded code obtains prior app secrets and exposes the matching model key"/>
          <p:cNvSpPr/>
          <p:nvPr/>
        </p:nvSpPr>
        <p:spPr>
          <a:xfrm>
            <a:off x="8183879" y="476761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Altered code obtains old keys"/>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Altered code obtains old keys</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Model keys go to admitted TEE workloads; deploying a TEE does not itself grant access to its plaintext."/>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Model keys go to admitted TEE workloads; deploying a TEE does not itself grant access to its plaintext.</a:t>
            </a:r>
          </a:p>
        </p:txBody>
      </p:sp>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