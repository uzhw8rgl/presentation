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 id="2147483710" r:id="rId2"/>
  </p:sldMasterIdLst>
  <p:notesMasterIdLst>
    <p:notesMasterId r:id="rId8"/>
  </p:notesMasterIdLst>
  <p:sldIdLst>
    <p:sldId id="256" r:id="rId7"/>
    <p:sldId id="257" r:id="rId6"/>
    <p:sldId id="258" r:id="rId5"/>
    <p:sldId id="259" r:id="rId4"/>
    <p:sldId id="260" r:id="rId3"/>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40D1E"/>
    <a:srgbClr val="9013FE"/>
    <a:srgbClr val="1F90CC"/>
    <a:srgbClr val="434343"/>
    <a:srgbClr val="C40E02"/>
    <a:srgbClr val="FFFFFF"/>
    <a:srgbClr val="49CB40"/>
    <a:srgbClr val="C50E1F"/>
    <a:srgbClr val="B2B2B2"/>
    <a:srgbClr val="71717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973" autoAdjust="0"/>
    <p:restoredTop sz="96327"/>
  </p:normalViewPr>
  <p:slideViewPr>
    <p:cSldViewPr snapToGrid="0" snapToObjects="1">
      <p:cViewPr varScale="1">
        <p:scale>
          <a:sx n="81" d="100"/>
          <a:sy n="81" d="100"/>
        </p:scale>
        <p:origin x="542" y="48"/>
      </p:cViewPr>
      <p:guideLst/>
    </p:cSldViewPr>
  </p:slideViewPr>
  <p:notesTextViewPr>
    <p:cViewPr>
      <p:scale>
        <a:sx n="1" d="1"/>
        <a:sy n="1" d="1"/>
      </p:scale>
      <p:origin x="0" y="0"/>
    </p:cViewPr>
  </p:notesTextViewPr>
  <p:notesViewPr>
    <p:cSldViewPr snapToGrid="0" snapToObjects="1" showGuides="1">
      <p:cViewPr varScale="1">
        <p:scale>
          <a:sx n="153" d="100"/>
          <a:sy n="153" d="100"/>
        </p:scale>
        <p:origin x="4920" y="192"/>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5.xml"/><Relationship Id="rId4" Type="http://schemas.openxmlformats.org/officeDocument/2006/relationships/slide" Target="slides/slide4.xml"/><Relationship Id="rId5" Type="http://schemas.openxmlformats.org/officeDocument/2006/relationships/slide" Target="slides/slide3.xml"/><Relationship Id="rId6" Type="http://schemas.openxmlformats.org/officeDocument/2006/relationships/slide" Target="slides/slide2.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0A6180F-3EA1-4748-B4F4-956BB5176995}" type="datetimeFigureOut">
              <a:rPr lang="de-DE" smtClean="0"/>
              <a:t>16.06.2025</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13C3961-1900-1342-BF9B-82C3215CD312}" type="slidenum">
              <a:rPr lang="de-DE" smtClean="0"/>
              <a:t>‹Nr.›</a:t>
            </a:fld>
            <a:endParaRPr lang="de-DE"/>
          </a:p>
        </p:txBody>
      </p:sp>
    </p:spTree>
    <p:extLst>
      <p:ext uri="{BB962C8B-B14F-4D97-AF65-F5344CB8AC3E}">
        <p14:creationId xmlns:p14="http://schemas.microsoft.com/office/powerpoint/2010/main" val="8489311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presentation introduces VITA-FL, a prototype that connects verifiable decentralized federated learning to attested inference in an AI-agent system. It presents how the model, its production process, and its use during inference can be bound into one verifiable path.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Before turning to the research problem, I want to briefly introduce my background. I am a Computer Science master's thesis candidate at TU Berlin and hold a bachelor's degree in Business Informatics. At ISE, my focus in Gaia-X 4 PLC-AAD was blockchain and encryption. ZoKrates Plus brought together zero knowledge, trusted execution, remote attestation, and decentralized federated learning. ZODIAC focused on AI agents and MCP tools. These three strands led directly to VITA-FL: Verifiable Inference and Trust Architecture for Federated Learning.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Imagine a physician with a chest X-ray asking: Can't I just ask an AI? The AI can return a fluent and plausible result, but the response does not show whether it used the intended X-ray, the current model publication, or an attested inference path. The question is therefore not merely whether AI can answer, but whether the answer is backed by inspectable evidence.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computer scientist's response is that a plausible model output is not enough. Trust must be engineered across the complete path: signed medical data enters an attested decentralized training process, the current model state is resolved from an authoritative publication, inference runs in a measured environment, and the resulting tool evidence is recorded in a transparency log. This requirement motivates the research gap on the next page: the individual mechanisms exist, but the challenge is to compose them into one user-inspectable system.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main research question asks how DFL models can be integrated into AI agent-based system architectures while preserving trustworthiness across the complete training and inference pipeline. The first sub-question focuses on integrity and availability during verifiable DFL training. The second asks how inference and model predictions can be made verifiable, for example through cryptographic proofs of execution.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VITA-FL separates two responsibilities. The DFL block admits measured workers, consumes attributable medical inputs, coordinates rounds, and publishes an encrypted and signed model. The agent and inference block independently resolves that publication and performs inference in a measured receiver workload. The language-model agent can initiate the workflow, but it cannot choose a local model, override a failed check, or convert missing evidence into a successful result.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slide illustrates one decentralized training round across five independent hospitals. Each hospital keeps its raw X-rays local and runs an admitted training worker. The current encrypted global model is distributed to the workers, while their signed and round-bound model updates converge on the temporary aggregator, shown here as Hospital D. That aggregator publishes the next global model. The orange clockwise arrows denote rotation of the temporary aggregator role between rounds; they do not represent patient-data transfer between hospitals.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Two independent relations explain why VITA-FL does not use a zero-knowledge proof as its operational worker path. A complete training proof would cover much more than the neural network: it would need the exact parent and policy, signed-input checks, decryption and signature checks, the iterative optimizer transition, and the hashing, signing, encryption, key wrapping, and package formation performed after training. That proof is needed for every worker transition in every round. Separately, proving DCAP registration would require quote and certificate parsing, cryptographic signature and hash verification, collateral and TCB appraisal, and a complete ordered RTMR3 replay with REPORTDATA and enrollment bindings. VITA-FL instead executes these stateful relations natively inside measured TDX workloads and appraises remote-attestation evidence. This is a relation-scope argument, not an empirical claim that TEEs are universally faster than ZK. ZK remains suitable for narrow, precisely encoded claims. References: IETF RFC 9334; Intel TDX/DCAP documentation; and Chen et al., ZKML, EuroSys 2024, https://doi.org/10.1145/3627703.3650088.</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workload does not validate its own claim. The measured Phala CVM asks the Intel TDX Quoting Enclave to turn its TD report into Quote V4 evidence. A verifier validates the Intel-rooted PCK chain, certificate validity and revocation information, Quoting Enclave identity, platform TCB status, measurements, and REPORTDATA. In dstack, the separately attested KMS verifies quote and policy before deriving deterministic 32-byte material bound to the application identity and requested path. The application receives it through /var/run/dstack.sock. VITA-FL uses separate paths to derive the secp256k1 action authority, an AES-256-GCM wrapping key for a random RSA-3072 participant key, and the Ed25519 AIR key. The VITA-FL registry independently verifies the live quote on chain, including the pinned dstack base tuple, replayed RTMR3 event log, workload policy, REPORTDATA, and enrollment binding. Official references: https://github.com/Dstack-TEE/dstack, https://docs.phala.com/phala-cloud/key-management/get-a-key, and https://cc-enabling.trustedservices.intel.com/intel-tdx-enabling-guide/02/infrastructure_setup/.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Each authorized worker receives weight score plus one. In the example the weights sum to 14, so the displayed probabilities are one, two, four, and seven divided by 14. For the normal selection, the contract hashes prevrandao, the block timestamp, block number, round, and the current aggregator public address. The resulting 256-bit value is converted to an integer and reduced modulo the total weight. This produces one ticket from zero through 13. The ticket is then mapped into the cumulative intervals in the displayed worker order: A receives zero, B one through two, C three through six, and D seven through 13. A ticket of five therefore selects Worker C. The interval widths—not the hash itself—create the probabilities. prevrandao is the EVM-accessible beacon-chain RANDAO value specified by EIP-4399 and is pseudorandom rather than an unbiased randomness oracle. Source: https://eips.ethereum.org/EIPS/eip-4399.</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Recovery starts only after registered worker TEEs report the exact current round and aggregator. The first accepted report freezes the eligible non-aggregator reporter set and the required quorum; the default threshold is the ceiling of fifty percent. At quorum, the contract penalizes the failed aggregator, marks the attempt aborted, advances the raw round, and selects a replacement from the current authorized set while excluding the failed address. This is not a blockchain rollback: the last atomically finalized model remains authoritative. The quorum authenticates reports but does not objectively prove global unreachability.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weighted draw selects which authorized worker may act as aggregator; it does not select an aggregation method. Once the ledger closes the accepted worker-submission set as an ordered root and explicit count, the measured aggregator stages exactly those client models. It then executes one deterministic rule: for every tensor in the model state dictionary, equal-weight FedAvg computes the arithmetic mean of the corresponding tensors from all accepted client models. The active policy has no validation reference or loss gate, so validationDataHash and maxLossIncreaseBps are both zero. The signed aggregation statement binds the round, policy, closed root, input count, and output. One ledger transaction then atomically binds that statement, the encrypted model references, publisher authority, and the round transition. Equal-weight FedAvg is deterministic and auditable here, but it is not a robust aggregation or Byzantine-tolerance claim.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slide describes the original Hybrid-R approach from Yue and co-authors as related work. One central federated-learning server receives one collection of client updates and runs every defense function in its portfolio over that same collection. The functions include Balance, Centered Clipping, FreqFed, SignGuard, Krum and Multi-Krum, Divide-and-Conquer, Trimmed Mean, and coordinate-wise Median. Each function produces a complete aggregate model. The server evaluates all resulting models with the same empirical-risk measure on the same reference dataset and adopts the model with the lowest risk. Hybrid-R therefore selects among aggregate results; it does not assign a different metric to each client update and does not require several aggregator nodes. The rules could be executed in parallel, but that is only an implementation optimization. This related-work mechanism is not the active VITA-FL aggregation path; VITA-FL uses the single equal-weight FedAvg rule shown on the preceding slide.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agent triggers preparation but never chooses the model. It sends no local path, CID, round, or publisher identity. The measured receiver first resolves the latest finalized publication from the ledger, including the current round, publisher and key snapshot, and the model, signature, and recipient-key-bundle CIDs. IPFS is only untrusted storage for the referenced bytes; it is not an authority. The receiver fetches exactly those objects, unwraps Worker 0's recipient key, decrypts the model, and verifies content hashes, round, publisher signature, and key snapshot. Inference proceeds only when ledger identity, retrieved bytes, and publisher proof agree. A local path, stale CID, alternative publisher, or mismatching object is rejected.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Figuera's Sello proposal starts from a trust-boundary problem: a compromised agent or operator cannot be the sole source of truth about its own actions. The agent presents a signed JWS authorization token that binds the owner's HPKE public key and permitted log policy. The called service verifies that token, performs or denies the action, and hashes the exact input and output. It encrypts the receipt body to the owner with HPKE, signs the encrypted envelope with its own Ed25519 key in COSE_Sign1, and submits it to a witness-cosigned Merkle transparency log. The owner later discovers entries by the token-derived reference, verifies inclusion and the service key, and decrypts locally. VITA-FL selectively adopts the receiver-first pattern and additionally fails closed unless the receiver publishes its receipt before returning a successful tool result. It does not implement Sello's owner-discovery and witness-cosigned-log architecture: the evaluation used single-node CCF Virtual Mode without an independent witness, gossip, or a durable deployment. Sello does not prove that a call was never made and does not prevent collusion by a receiving service. Source: Juan Figuera, Notarized Agents: Receiver-Attested Confidential Receipts for AI Agent Actions, arXiv:2606.04193,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language-model agent can invoke only three bounded TEE operations. For each successful call, the deterministic inference receiver signs the exact input and output and publishes the receipt before returning the result. After inference, deterministic code in the agent service validates the complete AIR and TDX evidence bundle and publishes that bundle separately. The transparency log records inclusion and order; it does not itself decide whether the inference or attestation evidence is semantically valid.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An independent audit requires exported artifacts rather than only a transaction identifier or browser view. First, the auditor verifies the CCF receipt and Merkle inclusion path against a historical SCITT service key archived outside the log, recovering the exact signed statement and its log position. Second, anyone with the pinned receiver key can verify the signature over the encrypted Sello-style envelope, but its confidential action, status, and input/output hashes remain owner-scoped. Full content verification requires the original authorization JWS, issuer key, owner HPKE private key, and exact request and response. Third, the separate inference-evidence record contains the request, response, AIR-inspired receipt, quote, event log, measured Compose, model manifest, and REPORTDATA. The auditor can recheck signatures and hashes, reconstruct REPORTDATA, and replay RTMR3, but must supply a trusted policy snapshot. A full retrospective DCAP appraisal also needs the quote-time certificate chain, revocation material, QE identity, TCB information, and appraisal policy. The evaluated log was a single-node CCF Virtual-Mode service, so durable independent auditing additionally depends on exporting statements and pinning the contemporaneous service key.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chain begins with independent device and radiologist RSA signatures. Inside an admitted participant TEE, an application-bound secp256k1 action key authorizes protocol mutations and a random RSA-3072 participant key is sealed with dstack-derived material. Worker updates are encrypted for the current aggregator and signed over their round context. The global model is signed, encrypted with AES-GCM, and wrapped separately for every authorized recipient before IPFS publication and atomic ledger finalization. The native inference receiver inside the Worker 0 TEE verifies that tuple and emits AIR and receiver receipts; the agent verifies them before the full bundle is recorded in the transparency log. CBC confidentiality on worker updates relies on the surrounding signature and hash bindings for integrity.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is the sole evaluation run reported by the thesis, journal, and presentation. It executed the current deterministic equal-weight FedAvg path. Six Phala tdx.small confidential VMs used fresh measured worker profiles: Worker 0 combined training and native inference, while Workers 1 through 5 were training-only. After one bootstrap completion, the evaluated Tier-1 account permitted at most eight concurrently active TEEs. Six slots were therefore assigned to workers, while the other two ran the contract/control runtime and the Ollama service. The 78,468 ChestMNIST training samples were split evenly across the six workers, producing six shards of 13,078 samples. This is a run-specific capacity decision rather than a protocol limit or a scalability claim. All 24 requested federated rounds succeeded. Every round received all five expected client updates, giving 120 local training completions and 120 transfers, with no aborted round attempt. The run recorded no aborted attempt or selection-gap recovery. The 24 model evaluations span 689.22 seconds, or 29.97 seconds between evaluations on average. The final round-25 model was then consumed through the measured TEE inference path in 2.839 milliseconds; its evidence contains a 5,010-byte quote and ten RTMR3 events and was bound to receiver receipts and a transparency record. The verifier scope covered the AIR signature, REPORTDATA, RTMR3 replay, measured Compose, pinned image, contract endpoint, and trust-root policy; quote collateral was not independently marked as verified in this record. Receipt-level reconciliation in the observability export accounts for all six registrations. The 329 unique transactions and 616,141,147 gas quantify the simulated Anvil EVM protocol execution, including 472,240,960 gas for RTMR3 registration.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plots show every learned global model from the sole Phala run: federated rounds 1 through 24 produce global-model rounds 2 through 25. Binary cross-entropy is the mean probabilistic error over fourteen independent labels, so lower is better. It falls from 0.414148 to its minimum of 0.329733 at global round 24 and ends at 0.332544. Macro AUROC evaluates per-label ranking and weights every label equally; 0.5 is chance and 1 is ideal. It rises from 0.655573 to 0.720301 at round 13 and ends at 0.711352, providing non-random ranking evidence. Macro F1 is the per-label harmonic mean of precision and recall; it reaches 0.195377 at global round 8 and ends at 0.177471. Label-wise accuracy starts at 88.6936 percent and ends at 85.8592 percent. Exact match requires all fourteen binary labels of a sample to be correct simultaneously; it peaks at 32.7509 percent and ends at 26.0242 percent. Because only 5.2569 percent of label positions are positive, both accuracy curves are dominated by negatives and must be read with the all-negative baselines on the next slide. Every point belongs to the same current equal-weight FedAvg model lineage.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Only 16,510 of 314,062 label positions in the ChestMNIST test split are positive, a rate of 5.2569 percent. Therefore an all-negative classifier obtains 94.7431 percent label-wise accuracy and 53.1717 percent exact match, while its macro F1 is zero and its AUROC is 0.5. Those two raw accuracy measures are dominated by correct negatives and are not suitable headline success metrics. The final model has lower label accuracy, 85.8592 percent, and lower exact match, 26.0242 percent, because positive class weighting deliberately makes positive predictions instead of choosing the trivial all-negative shortcut. Its macro AUROC of 0.711352 demonstrates non-random per-label ranking. Its macro F1 of 0.177471 and micro F1 of 0.262582 are modest because rare labels are evaluated with one fixed 0.5 threshold after only two local epochs in a compact CNN. The next learning step is label-specific threshold calibration and repeated model-selection experiments. The current result supports the claim that the distributed and verifiable pipeline learned a measurable signal; it is not evidence of clinical validity or diagnostic utility.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conclusion is specific to the sole evaluated systems path: six admitted TDX workers completed all 24 requested FedAvg rounds, the final model reached macro AUROC 0.711 and macro F1 0.177, and Worker 0 consumed that model through the measured inference path. The modest F1 reflects rare ChestMNIST positives, one fixed 0.5 threshold, two local epochs, and the compact CNN. VITA-FL connects the ledger-authoritative model, encrypted and signed handoff, TDX/AIR inference evidence, three receiver-signed tool receipts, and SCITT recording without making the conversational model a root of trust. Exact identities, freshness values, artifacts, inputs, and outputs are checked across component boundaries and mismatches fail closed. The prioritized outlook follows Chapter 8. First, the image digest needs a complete signed source-to-build-to-deployment chain through reproducible or attestable builds, signed provenance, verified software bills of materials, image signatures, vulnerability gates, and digest-pinned automation. Second, transparency should move to independent operators with durable replication, witnessed or gossiped checkpoints, external anchoring, and split-view testing. Third, assurance should expand to robust aggregation and poisoning tests, native DICOM provenance, purpose-specific inference identities with attested key delegation, larger and batched inference, and repeated failure-injection runs. These are future-work items, not demonstrated properties. The result remains a reproducible proof of concept rather than a production-ready or clinically validated platform.</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All six live workers used the same digest-pinned dfl-worker OCI image, and that image packaged both the decentralized-training implementation and the native inference code. Role activation is separate from image contents. Worker 0 used the combined start profile and enabled the receiver; Workers 1 through 5 used the training-only profile and did not start that process. Each worker submitted its own canonical Compose preimage, ordered event log, fresh quote, and final RTMR3 value. The verifier replays each event log only against RTMR3 in its associated quote; it does not require one global final RTMR3. Replay establishes internal measurement consistency. A separate policy check authorizes the shared image digest and one of the two approved role-policy identities. Adding another image or an unapproved service changes the measured and policy-bound configuration and is rejected by the admitted profile. Phala user_config fields such as authorized SSH keys remain outside the measured app_compose and are therefore a separate deployment trust assumption.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summarizes the use and misuse case views for the DFL production path. The diagrams relate workload admission, replay protection, signed training inputs, artifact identity, model confidentiality, aggregator availability, and valid-but-malicious updates to their corresponding controls. The following backup slides show each diagram at full size.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summarizes the use and misuse case views for the agent, attested inference, transparency log, and infrastructure path. The diagrams distinguish forged or suppressed evidence from log equivocation, denial of service, root compromise, and collusion by otherwise valid participants. The following backup slides show each diagram at full size.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 Unauthorized workload admission or identity substitution.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T2: Replay or stale-context reuse.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T3: Training-input or signer-policy manipulation.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T4: Artifact substitution or stale publication.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T5: Unauthorized model or key disclosure.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T6: Aggregator omission or availability failure.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T7: Semantically malicious but valid data or updates.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T8: Inference substitution or forged evidence.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T9: Agent or tool manipulation.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T10: Evidence or result suppression.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T11: Transparency-log omission or equivocation.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T12: Infrastructure denial of service.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T13: Cryptographic, key, or platform-root compromise.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T14: Systemic collusion or economic manipulation.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el - Text und Bild">
    <p:spTree>
      <p:nvGrpSpPr>
        <p:cNvPr id="1" name=""/>
        <p:cNvGrpSpPr/>
        <p:nvPr/>
      </p:nvGrpSpPr>
      <p:grpSpPr>
        <a:xfrm>
          <a:off x="0" y="0"/>
          <a:ext cx="0" cy="0"/>
          <a:chOff x="0" y="0"/>
          <a:chExt cx="0" cy="0"/>
        </a:xfrm>
      </p:grpSpPr>
      <p:sp>
        <p:nvSpPr>
          <p:cNvPr id="3" name="Bildplatzhalter 23">
            <a:extLst>
              <a:ext uri="{FF2B5EF4-FFF2-40B4-BE49-F238E27FC236}">
                <a16:creationId xmlns:a16="http://schemas.microsoft.com/office/drawing/2014/main" id="{9A036687-F2BF-7B4C-A352-6E1D355D125D}"/>
              </a:ext>
            </a:extLst>
          </p:cNvPr>
          <p:cNvSpPr>
            <a:spLocks noGrp="1"/>
          </p:cNvSpPr>
          <p:nvPr>
            <p:ph type="pic" sz="quarter" idx="17" hasCustomPrompt="1"/>
          </p:nvPr>
        </p:nvSpPr>
        <p:spPr>
          <a:xfrm>
            <a:off x="-6479" y="1260572"/>
            <a:ext cx="8885359" cy="3273604"/>
          </a:xfrm>
          <a:custGeom>
            <a:avLst/>
            <a:gdLst>
              <a:gd name="connsiteX0" fmla="*/ 0 w 8328660"/>
              <a:gd name="connsiteY0" fmla="*/ 0 h 3143274"/>
              <a:gd name="connsiteX1" fmla="*/ 8328660 w 8328660"/>
              <a:gd name="connsiteY1" fmla="*/ 0 h 3143274"/>
              <a:gd name="connsiteX2" fmla="*/ 8328660 w 8328660"/>
              <a:gd name="connsiteY2" fmla="*/ 3143274 h 3143274"/>
              <a:gd name="connsiteX3" fmla="*/ 0 w 8328660"/>
              <a:gd name="connsiteY3" fmla="*/ 3143274 h 3143274"/>
              <a:gd name="connsiteX4" fmla="*/ 0 w 8328660"/>
              <a:gd name="connsiteY4" fmla="*/ 0 h 3143274"/>
              <a:gd name="connsiteX0" fmla="*/ 0 w 8336280"/>
              <a:gd name="connsiteY0" fmla="*/ 601980 h 3745254"/>
              <a:gd name="connsiteX1" fmla="*/ 8336280 w 8336280"/>
              <a:gd name="connsiteY1" fmla="*/ 0 h 3745254"/>
              <a:gd name="connsiteX2" fmla="*/ 8328660 w 8336280"/>
              <a:gd name="connsiteY2" fmla="*/ 3745254 h 3745254"/>
              <a:gd name="connsiteX3" fmla="*/ 0 w 8336280"/>
              <a:gd name="connsiteY3" fmla="*/ 3745254 h 3745254"/>
              <a:gd name="connsiteX4" fmla="*/ 0 w 8336280"/>
              <a:gd name="connsiteY4" fmla="*/ 601980 h 3745254"/>
              <a:gd name="connsiteX0" fmla="*/ 0 w 8336280"/>
              <a:gd name="connsiteY0" fmla="*/ 601980 h 3745254"/>
              <a:gd name="connsiteX1" fmla="*/ 8336280 w 8336280"/>
              <a:gd name="connsiteY1" fmla="*/ 0 h 3745254"/>
              <a:gd name="connsiteX2" fmla="*/ 8321040 w 8336280"/>
              <a:gd name="connsiteY2" fmla="*/ 3242334 h 3745254"/>
              <a:gd name="connsiteX3" fmla="*/ 0 w 8336280"/>
              <a:gd name="connsiteY3" fmla="*/ 3745254 h 3745254"/>
              <a:gd name="connsiteX4" fmla="*/ 0 w 8336280"/>
              <a:gd name="connsiteY4" fmla="*/ 601980 h 3745254"/>
              <a:gd name="connsiteX0" fmla="*/ 0 w 8336280"/>
              <a:gd name="connsiteY0" fmla="*/ 286029 h 3429303"/>
              <a:gd name="connsiteX1" fmla="*/ 8336280 w 8336280"/>
              <a:gd name="connsiteY1" fmla="*/ 0 h 3429303"/>
              <a:gd name="connsiteX2" fmla="*/ 8321040 w 8336280"/>
              <a:gd name="connsiteY2" fmla="*/ 2926383 h 3429303"/>
              <a:gd name="connsiteX3" fmla="*/ 0 w 8336280"/>
              <a:gd name="connsiteY3" fmla="*/ 3429303 h 3429303"/>
              <a:gd name="connsiteX4" fmla="*/ 0 w 8336280"/>
              <a:gd name="connsiteY4" fmla="*/ 286029 h 3429303"/>
              <a:gd name="connsiteX0" fmla="*/ 0 w 8339997"/>
              <a:gd name="connsiteY0" fmla="*/ 312049 h 3429303"/>
              <a:gd name="connsiteX1" fmla="*/ 8339997 w 8339997"/>
              <a:gd name="connsiteY1" fmla="*/ 0 h 3429303"/>
              <a:gd name="connsiteX2" fmla="*/ 8324757 w 8339997"/>
              <a:gd name="connsiteY2" fmla="*/ 2926383 h 3429303"/>
              <a:gd name="connsiteX3" fmla="*/ 3717 w 8339997"/>
              <a:gd name="connsiteY3" fmla="*/ 3429303 h 3429303"/>
              <a:gd name="connsiteX4" fmla="*/ 0 w 8339997"/>
              <a:gd name="connsiteY4" fmla="*/ 312049 h 3429303"/>
              <a:gd name="connsiteX0" fmla="*/ 0 w 8343172"/>
              <a:gd name="connsiteY0" fmla="*/ 305699 h 3429303"/>
              <a:gd name="connsiteX1" fmla="*/ 8343172 w 8343172"/>
              <a:gd name="connsiteY1" fmla="*/ 0 h 3429303"/>
              <a:gd name="connsiteX2" fmla="*/ 8327932 w 8343172"/>
              <a:gd name="connsiteY2" fmla="*/ 2926383 h 3429303"/>
              <a:gd name="connsiteX3" fmla="*/ 6892 w 8343172"/>
              <a:gd name="connsiteY3" fmla="*/ 3429303 h 3429303"/>
              <a:gd name="connsiteX4" fmla="*/ 0 w 8343172"/>
              <a:gd name="connsiteY4" fmla="*/ 305699 h 3429303"/>
              <a:gd name="connsiteX0" fmla="*/ 0 w 8349522"/>
              <a:gd name="connsiteY0" fmla="*/ 308874 h 3429303"/>
              <a:gd name="connsiteX1" fmla="*/ 8349522 w 8349522"/>
              <a:gd name="connsiteY1" fmla="*/ 0 h 3429303"/>
              <a:gd name="connsiteX2" fmla="*/ 8334282 w 8349522"/>
              <a:gd name="connsiteY2" fmla="*/ 2926383 h 3429303"/>
              <a:gd name="connsiteX3" fmla="*/ 13242 w 8349522"/>
              <a:gd name="connsiteY3" fmla="*/ 3429303 h 3429303"/>
              <a:gd name="connsiteX4" fmla="*/ 0 w 8349522"/>
              <a:gd name="connsiteY4" fmla="*/ 308874 h 3429303"/>
              <a:gd name="connsiteX0" fmla="*/ 0 w 8352697"/>
              <a:gd name="connsiteY0" fmla="*/ 312049 h 3429303"/>
              <a:gd name="connsiteX1" fmla="*/ 8352697 w 8352697"/>
              <a:gd name="connsiteY1" fmla="*/ 0 h 3429303"/>
              <a:gd name="connsiteX2" fmla="*/ 8337457 w 8352697"/>
              <a:gd name="connsiteY2" fmla="*/ 2926383 h 3429303"/>
              <a:gd name="connsiteX3" fmla="*/ 16417 w 8352697"/>
              <a:gd name="connsiteY3" fmla="*/ 3429303 h 3429303"/>
              <a:gd name="connsiteX4" fmla="*/ 0 w 8352697"/>
              <a:gd name="connsiteY4" fmla="*/ 312049 h 3429303"/>
              <a:gd name="connsiteX0" fmla="*/ 0 w 8349522"/>
              <a:gd name="connsiteY0" fmla="*/ 302524 h 3429303"/>
              <a:gd name="connsiteX1" fmla="*/ 8349522 w 8349522"/>
              <a:gd name="connsiteY1" fmla="*/ 0 h 3429303"/>
              <a:gd name="connsiteX2" fmla="*/ 8334282 w 8349522"/>
              <a:gd name="connsiteY2" fmla="*/ 2926383 h 3429303"/>
              <a:gd name="connsiteX3" fmla="*/ 13242 w 8349522"/>
              <a:gd name="connsiteY3" fmla="*/ 3429303 h 3429303"/>
              <a:gd name="connsiteX4" fmla="*/ 0 w 8349522"/>
              <a:gd name="connsiteY4" fmla="*/ 302524 h 3429303"/>
              <a:gd name="connsiteX0" fmla="*/ 0 w 8349522"/>
              <a:gd name="connsiteY0" fmla="*/ 302524 h 3226103"/>
              <a:gd name="connsiteX1" fmla="*/ 8349522 w 8349522"/>
              <a:gd name="connsiteY1" fmla="*/ 0 h 3226103"/>
              <a:gd name="connsiteX2" fmla="*/ 8334282 w 8349522"/>
              <a:gd name="connsiteY2" fmla="*/ 2926383 h 3226103"/>
              <a:gd name="connsiteX3" fmla="*/ 13242 w 8349522"/>
              <a:gd name="connsiteY3" fmla="*/ 3226103 h 3226103"/>
              <a:gd name="connsiteX4" fmla="*/ 0 w 8349522"/>
              <a:gd name="connsiteY4" fmla="*/ 302524 h 3226103"/>
              <a:gd name="connsiteX0" fmla="*/ 0 w 8883911"/>
              <a:gd name="connsiteY0" fmla="*/ 326274 h 3226103"/>
              <a:gd name="connsiteX1" fmla="*/ 8883911 w 8883911"/>
              <a:gd name="connsiteY1" fmla="*/ 0 h 3226103"/>
              <a:gd name="connsiteX2" fmla="*/ 8868671 w 8883911"/>
              <a:gd name="connsiteY2" fmla="*/ 2926383 h 3226103"/>
              <a:gd name="connsiteX3" fmla="*/ 547631 w 8883911"/>
              <a:gd name="connsiteY3" fmla="*/ 3226103 h 3226103"/>
              <a:gd name="connsiteX4" fmla="*/ 0 w 8883911"/>
              <a:gd name="connsiteY4" fmla="*/ 326274 h 3226103"/>
              <a:gd name="connsiteX0" fmla="*/ 0 w 8872036"/>
              <a:gd name="connsiteY0" fmla="*/ 326274 h 3226103"/>
              <a:gd name="connsiteX1" fmla="*/ 8872036 w 8872036"/>
              <a:gd name="connsiteY1" fmla="*/ 0 h 3226103"/>
              <a:gd name="connsiteX2" fmla="*/ 8856796 w 8872036"/>
              <a:gd name="connsiteY2" fmla="*/ 2926383 h 3226103"/>
              <a:gd name="connsiteX3" fmla="*/ 535756 w 8872036"/>
              <a:gd name="connsiteY3" fmla="*/ 3226103 h 3226103"/>
              <a:gd name="connsiteX4" fmla="*/ 0 w 8872036"/>
              <a:gd name="connsiteY4" fmla="*/ 326274 h 3226103"/>
              <a:gd name="connsiteX0" fmla="*/ 34357 w 8906393"/>
              <a:gd name="connsiteY0" fmla="*/ 326274 h 3273604"/>
              <a:gd name="connsiteX1" fmla="*/ 8906393 w 8906393"/>
              <a:gd name="connsiteY1" fmla="*/ 0 h 3273604"/>
              <a:gd name="connsiteX2" fmla="*/ 8891153 w 8906393"/>
              <a:gd name="connsiteY2" fmla="*/ 2926383 h 3273604"/>
              <a:gd name="connsiteX3" fmla="*/ 98 w 8906393"/>
              <a:gd name="connsiteY3" fmla="*/ 3273604 h 3273604"/>
              <a:gd name="connsiteX4" fmla="*/ 34357 w 8906393"/>
              <a:gd name="connsiteY4" fmla="*/ 326274 h 3273604"/>
              <a:gd name="connsiteX0" fmla="*/ 0 w 8907662"/>
              <a:gd name="connsiteY0" fmla="*/ 338149 h 3273604"/>
              <a:gd name="connsiteX1" fmla="*/ 8907662 w 8907662"/>
              <a:gd name="connsiteY1" fmla="*/ 0 h 3273604"/>
              <a:gd name="connsiteX2" fmla="*/ 8892422 w 8907662"/>
              <a:gd name="connsiteY2" fmla="*/ 2926383 h 3273604"/>
              <a:gd name="connsiteX3" fmla="*/ 1367 w 8907662"/>
              <a:gd name="connsiteY3" fmla="*/ 3273604 h 3273604"/>
              <a:gd name="connsiteX4" fmla="*/ 0 w 8907662"/>
              <a:gd name="connsiteY4" fmla="*/ 338149 h 3273604"/>
              <a:gd name="connsiteX0" fmla="*/ 0 w 8907662"/>
              <a:gd name="connsiteY0" fmla="*/ 338149 h 3273604"/>
              <a:gd name="connsiteX1" fmla="*/ 8907662 w 8907662"/>
              <a:gd name="connsiteY1" fmla="*/ 0 h 3273604"/>
              <a:gd name="connsiteX2" fmla="*/ 8892422 w 8907662"/>
              <a:gd name="connsiteY2" fmla="*/ 2926383 h 3273604"/>
              <a:gd name="connsiteX3" fmla="*/ 32591 w 8907662"/>
              <a:gd name="connsiteY3" fmla="*/ 3273604 h 3273604"/>
              <a:gd name="connsiteX4" fmla="*/ 0 w 8907662"/>
              <a:gd name="connsiteY4" fmla="*/ 338149 h 3273604"/>
              <a:gd name="connsiteX0" fmla="*/ 0 w 8885359"/>
              <a:gd name="connsiteY0" fmla="*/ 338149 h 3273604"/>
              <a:gd name="connsiteX1" fmla="*/ 8885359 w 8885359"/>
              <a:gd name="connsiteY1" fmla="*/ 0 h 3273604"/>
              <a:gd name="connsiteX2" fmla="*/ 8870119 w 8885359"/>
              <a:gd name="connsiteY2" fmla="*/ 2926383 h 3273604"/>
              <a:gd name="connsiteX3" fmla="*/ 10288 w 8885359"/>
              <a:gd name="connsiteY3" fmla="*/ 3273604 h 3273604"/>
              <a:gd name="connsiteX4" fmla="*/ 0 w 8885359"/>
              <a:gd name="connsiteY4" fmla="*/ 338149 h 32736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85359" h="3273604">
                <a:moveTo>
                  <a:pt x="0" y="338149"/>
                </a:moveTo>
                <a:lnTo>
                  <a:pt x="8885359" y="0"/>
                </a:lnTo>
                <a:lnTo>
                  <a:pt x="8870119" y="2926383"/>
                </a:lnTo>
                <a:lnTo>
                  <a:pt x="10288" y="3273604"/>
                </a:lnTo>
                <a:cubicBezTo>
                  <a:pt x="7991" y="2232403"/>
                  <a:pt x="2297" y="1379350"/>
                  <a:pt x="0" y="338149"/>
                </a:cubicBezTo>
                <a:close/>
              </a:path>
            </a:pathLst>
          </a:custGeom>
          <a:solidFill>
            <a:srgbClr val="434343"/>
          </a:solidFill>
        </p:spPr>
        <p:txBody>
          <a:bodyPr lIns="576000" anchor="ctr" anchorCtr="0"/>
          <a:lstStyle>
            <a:lvl1pPr marL="0" indent="0" algn="ctr">
              <a:buNone/>
              <a:defRPr>
                <a:solidFill>
                  <a:schemeClr val="bg1"/>
                </a:solidFill>
                <a:latin typeface="Arial" panose="020B0604020202020204" pitchFamily="34" charset="0"/>
                <a:cs typeface="Arial" panose="020B0604020202020204" pitchFamily="34" charset="0"/>
              </a:defRPr>
            </a:lvl1pPr>
          </a:lstStyle>
          <a:p>
            <a:r>
              <a:rPr lang="de-DE" dirty="0"/>
              <a:t>Platzhalter: Bild Titelfolie</a:t>
            </a:r>
          </a:p>
        </p:txBody>
      </p:sp>
      <p:sp>
        <p:nvSpPr>
          <p:cNvPr id="4" name="Textfeld 3">
            <a:extLst>
              <a:ext uri="{FF2B5EF4-FFF2-40B4-BE49-F238E27FC236}">
                <a16:creationId xmlns:a16="http://schemas.microsoft.com/office/drawing/2014/main" id="{F18C730E-B3F8-944F-8BC2-E236CE7245E4}"/>
              </a:ext>
            </a:extLst>
          </p:cNvPr>
          <p:cNvSpPr txBox="1"/>
          <p:nvPr userDrawn="1"/>
        </p:nvSpPr>
        <p:spPr>
          <a:xfrm>
            <a:off x="-2031023" y="2620375"/>
            <a:ext cx="2021305" cy="1785104"/>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Platzhalterbild ersetzen:</a:t>
            </a:r>
            <a:br>
              <a:rPr lang="de-DE" sz="1000" b="1"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Bild löschen und durch neues Bild ersetzen &gt; über Bildformat &gt; Zuschneiden im Rahmen ggf. nachpositionieren</a:t>
            </a:r>
            <a:br>
              <a:rPr lang="de-DE" sz="1000" dirty="0">
                <a:latin typeface="Arial" panose="020B0604020202020204" pitchFamily="34" charset="0"/>
                <a:cs typeface="Arial" panose="020B0604020202020204" pitchFamily="34" charset="0"/>
              </a:rPr>
            </a:br>
            <a:br>
              <a:rPr lang="de-DE" sz="1000" dirty="0">
                <a:latin typeface="Arial" panose="020B0604020202020204" pitchFamily="34" charset="0"/>
                <a:cs typeface="Arial" panose="020B0604020202020204" pitchFamily="34" charset="0"/>
              </a:rPr>
            </a:br>
            <a:r>
              <a:rPr lang="de-DE" sz="1000" b="1" dirty="0">
                <a:latin typeface="Arial" panose="020B0604020202020204" pitchFamily="34" charset="0"/>
                <a:cs typeface="Arial" panose="020B0604020202020204" pitchFamily="34" charset="0"/>
              </a:rPr>
              <a:t>Copyrightangabe: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Korrektes Copyright angeben (in der Regel Name des*der Fotograf*in), Textfarbe je nach Hintergrund weiß oder schwarz</a:t>
            </a:r>
          </a:p>
        </p:txBody>
      </p:sp>
      <p:sp>
        <p:nvSpPr>
          <p:cNvPr id="5" name="Textfeld 4">
            <a:extLst>
              <a:ext uri="{FF2B5EF4-FFF2-40B4-BE49-F238E27FC236}">
                <a16:creationId xmlns:a16="http://schemas.microsoft.com/office/drawing/2014/main" id="{A7B17960-7FEA-3C44-9F5C-B38F41DF0CD3}"/>
              </a:ext>
            </a:extLst>
          </p:cNvPr>
          <p:cNvSpPr txBox="1"/>
          <p:nvPr userDrawn="1"/>
        </p:nvSpPr>
        <p:spPr>
          <a:xfrm>
            <a:off x="9903" y="-313433"/>
            <a:ext cx="1703672" cy="246221"/>
          </a:xfrm>
          <a:prstGeom prst="rect">
            <a:avLst/>
          </a:prstGeom>
          <a:noFill/>
        </p:spPr>
        <p:txBody>
          <a:bodyPr wrap="square" rtlCol="0">
            <a:spAutoFit/>
          </a:bodyPr>
          <a:lstStyle/>
          <a:p>
            <a:r>
              <a:rPr lang="de-DE" sz="1000" dirty="0">
                <a:latin typeface="Arial" panose="020B0604020202020204" pitchFamily="34" charset="0"/>
                <a:cs typeface="Arial" panose="020B0604020202020204" pitchFamily="34" charset="0"/>
              </a:rPr>
              <a:t>V1: Titelfolie mit Bild</a:t>
            </a:r>
          </a:p>
        </p:txBody>
      </p:sp>
    </p:spTree>
    <p:extLst>
      <p:ext uri="{BB962C8B-B14F-4D97-AF65-F5344CB8AC3E}">
        <p14:creationId xmlns:p14="http://schemas.microsoft.com/office/powerpoint/2010/main" val="27569119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Titel - Text ">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740704DC-2971-A248-9827-94150E3D8746}"/>
              </a:ext>
            </a:extLst>
          </p:cNvPr>
          <p:cNvSpPr txBox="1"/>
          <p:nvPr userDrawn="1"/>
        </p:nvSpPr>
        <p:spPr>
          <a:xfrm>
            <a:off x="9903" y="-313433"/>
            <a:ext cx="1703672" cy="246221"/>
          </a:xfrm>
          <a:prstGeom prst="rect">
            <a:avLst/>
          </a:prstGeom>
          <a:noFill/>
        </p:spPr>
        <p:txBody>
          <a:bodyPr wrap="square" rtlCol="0">
            <a:spAutoFit/>
          </a:bodyPr>
          <a:lstStyle/>
          <a:p>
            <a:r>
              <a:rPr lang="de-DE" sz="1000" dirty="0">
                <a:latin typeface="Arial" panose="020B0604020202020204" pitchFamily="34" charset="0"/>
                <a:cs typeface="Arial" panose="020B0604020202020204" pitchFamily="34" charset="0"/>
              </a:rPr>
              <a:t>V2: Titelfolie ohne Bild</a:t>
            </a:r>
          </a:p>
        </p:txBody>
      </p:sp>
    </p:spTree>
    <p:extLst>
      <p:ext uri="{BB962C8B-B14F-4D97-AF65-F5344CB8AC3E}">
        <p14:creationId xmlns:p14="http://schemas.microsoft.com/office/powerpoint/2010/main" val="15057043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Inhalt - Text und Stichpunkte">
    <p:spTree>
      <p:nvGrpSpPr>
        <p:cNvPr id="1" name=""/>
        <p:cNvGrpSpPr/>
        <p:nvPr/>
      </p:nvGrpSpPr>
      <p:grpSpPr>
        <a:xfrm>
          <a:off x="0" y="0"/>
          <a:ext cx="0" cy="0"/>
          <a:chOff x="0" y="0"/>
          <a:chExt cx="0" cy="0"/>
        </a:xfrm>
      </p:grpSpPr>
      <p:sp>
        <p:nvSpPr>
          <p:cNvPr id="5" name="Textplatzhalter 5">
            <a:extLst>
              <a:ext uri="{FF2B5EF4-FFF2-40B4-BE49-F238E27FC236}">
                <a16:creationId xmlns:a16="http://schemas.microsoft.com/office/drawing/2014/main" id="{D7BD4116-72F8-7D4E-846E-4E9887F60C02}"/>
              </a:ext>
            </a:extLst>
          </p:cNvPr>
          <p:cNvSpPr>
            <a:spLocks noGrp="1"/>
          </p:cNvSpPr>
          <p:nvPr>
            <p:ph type="body" sz="quarter" idx="18" hasCustomPrompt="1"/>
          </p:nvPr>
        </p:nvSpPr>
        <p:spPr>
          <a:xfrm>
            <a:off x="550800" y="3175200"/>
            <a:ext cx="9721850" cy="2124075"/>
          </a:xfrm>
          <a:prstGeom prst="rect">
            <a:avLst/>
          </a:prstGeom>
        </p:spPr>
        <p:txBody>
          <a:bodyPr lIns="0" tIns="0"/>
          <a:lstStyle>
            <a:lvl1pPr marL="2286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1pPr>
            <a:lvl2pPr marL="6858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2pPr>
            <a:lvl3pPr marL="11430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3pPr>
            <a:lvl4pPr marL="16002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4pPr>
            <a:lvl5pPr marL="20574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5pPr>
          </a:lstStyle>
          <a:p>
            <a:pPr lvl="0"/>
            <a:r>
              <a:rPr lang="de-DE" dirty="0"/>
              <a:t>Aufzählung 1. Ebene Arial Regular 18 </a:t>
            </a:r>
            <a:r>
              <a:rPr lang="de-DE" dirty="0" err="1"/>
              <a:t>pt</a:t>
            </a:r>
            <a:r>
              <a:rPr lang="de-DE" dirty="0"/>
              <a:t>, ZA: 24 </a:t>
            </a:r>
            <a:r>
              <a:rPr lang="de-DE" dirty="0" err="1"/>
              <a:t>pt</a:t>
            </a:r>
            <a:endParaRPr lang="de-DE" dirty="0"/>
          </a:p>
          <a:p>
            <a:pPr lvl="1"/>
            <a:r>
              <a:rPr lang="de-DE" dirty="0"/>
              <a:t>2. Ebene</a:t>
            </a:r>
          </a:p>
          <a:p>
            <a:pPr lvl="2"/>
            <a:r>
              <a:rPr lang="de-DE" dirty="0"/>
              <a:t>3. Ebene</a:t>
            </a:r>
          </a:p>
          <a:p>
            <a:pPr lvl="3"/>
            <a:r>
              <a:rPr lang="de-DE" dirty="0"/>
              <a:t>4. Ebene</a:t>
            </a:r>
          </a:p>
          <a:p>
            <a:pPr lvl="4"/>
            <a:r>
              <a:rPr lang="de-DE" dirty="0"/>
              <a:t>5. Ebene</a:t>
            </a:r>
          </a:p>
        </p:txBody>
      </p:sp>
      <p:sp>
        <p:nvSpPr>
          <p:cNvPr id="6" name="Textplatzhalter 2">
            <a:extLst>
              <a:ext uri="{FF2B5EF4-FFF2-40B4-BE49-F238E27FC236}">
                <a16:creationId xmlns:a16="http://schemas.microsoft.com/office/drawing/2014/main" id="{9DAAF3EE-A5B2-F647-838D-0DFAACB4D556}"/>
              </a:ext>
            </a:extLst>
          </p:cNvPr>
          <p:cNvSpPr>
            <a:spLocks noGrp="1"/>
          </p:cNvSpPr>
          <p:nvPr>
            <p:ph type="body" sz="quarter" idx="17" hasCustomPrompt="1"/>
          </p:nvPr>
        </p:nvSpPr>
        <p:spPr>
          <a:xfrm>
            <a:off x="550800" y="1371600"/>
            <a:ext cx="9721850" cy="1526370"/>
          </a:xfrm>
          <a:prstGeom prst="rect">
            <a:avLst/>
          </a:prstGeom>
        </p:spPr>
        <p:txBody>
          <a:bodyPr lIns="0" tIns="0" rIns="0" bIns="0"/>
          <a:lstStyle>
            <a:lvl1pPr marL="0" indent="0">
              <a:lnSpc>
                <a:spcPts val="2400"/>
              </a:lnSpc>
              <a:spcBef>
                <a:spcPts val="0"/>
              </a:spcBef>
              <a:buNone/>
              <a:defRPr sz="1800">
                <a:solidFill>
                  <a:srgbClr val="434343"/>
                </a:solidFill>
                <a:latin typeface="Arial" panose="020B0604020202020204" pitchFamily="34" charset="0"/>
                <a:cs typeface="Arial" panose="020B0604020202020204" pitchFamily="34" charset="0"/>
              </a:defRPr>
            </a:lvl1pPr>
          </a:lstStyle>
          <a:p>
            <a:pPr lvl="0"/>
            <a:r>
              <a:rPr lang="de-DE" dirty="0"/>
              <a:t>Arial Regular 18pt, ZA: 24pt </a:t>
            </a: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consetetur</a:t>
            </a:r>
            <a:r>
              <a:rPr lang="de-DE" dirty="0"/>
              <a:t> </a:t>
            </a:r>
            <a:r>
              <a:rPr lang="de-DE" dirty="0" err="1"/>
              <a:t>sadipscing</a:t>
            </a:r>
            <a:r>
              <a:rPr lang="de-DE" dirty="0"/>
              <a:t> </a:t>
            </a:r>
            <a:r>
              <a:rPr lang="de-DE" dirty="0" err="1"/>
              <a:t>elitr</a:t>
            </a:r>
            <a:r>
              <a:rPr lang="de-DE" dirty="0"/>
              <a:t>, sed </a:t>
            </a:r>
            <a:r>
              <a:rPr lang="de-DE" dirty="0" err="1"/>
              <a:t>diam</a:t>
            </a:r>
            <a:r>
              <a:rPr lang="de-DE" dirty="0"/>
              <a:t> </a:t>
            </a:r>
            <a:r>
              <a:rPr lang="de-DE" dirty="0" err="1"/>
              <a:t>nonumy</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erat, sed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a:t>
            </a:r>
            <a:r>
              <a:rPr lang="de-DE" dirty="0" err="1"/>
              <a:t>erat</a:t>
            </a:r>
            <a:r>
              <a:rPr lang="de-DE" dirty="0"/>
              <a:t>, </a:t>
            </a:r>
            <a:r>
              <a:rPr lang="de-DE" dirty="0" err="1"/>
              <a:t>sed</a:t>
            </a:r>
            <a:r>
              <a:rPr lang="de-DE" dirty="0"/>
              <a:t>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et </a:t>
            </a:r>
            <a:r>
              <a:rPr lang="de-DE" dirty="0" err="1"/>
              <a:t>accusam</a:t>
            </a:r>
            <a:r>
              <a:rPr lang="de-DE" dirty="0"/>
              <a:t> et </a:t>
            </a:r>
            <a:r>
              <a:rPr lang="de-DE" dirty="0" err="1"/>
              <a:t>justo</a:t>
            </a:r>
            <a:r>
              <a:rPr lang="de-DE" dirty="0"/>
              <a:t> </a:t>
            </a:r>
            <a:r>
              <a:rPr lang="de-DE" dirty="0" err="1"/>
              <a:t>duo</a:t>
            </a:r>
            <a:r>
              <a:rPr lang="de-DE" dirty="0"/>
              <a:t> </a:t>
            </a:r>
            <a:r>
              <a:rPr lang="de-DE" dirty="0" err="1"/>
              <a:t>dolores</a:t>
            </a:r>
            <a:r>
              <a:rPr lang="de-DE" dirty="0"/>
              <a:t> et </a:t>
            </a:r>
            <a:r>
              <a:rPr lang="de-DE" dirty="0" err="1"/>
              <a:t>ea</a:t>
            </a:r>
            <a:r>
              <a:rPr lang="de-DE" dirty="0"/>
              <a:t> </a:t>
            </a:r>
            <a:r>
              <a:rPr lang="de-DE" dirty="0" err="1"/>
              <a:t>rebum</a:t>
            </a:r>
            <a:r>
              <a:rPr lang="de-DE" dirty="0"/>
              <a:t>. Stet </a:t>
            </a:r>
            <a:r>
              <a:rPr lang="de-DE" dirty="0" err="1"/>
              <a:t>clita</a:t>
            </a:r>
            <a:r>
              <a:rPr lang="de-DE" dirty="0"/>
              <a:t> </a:t>
            </a:r>
            <a:r>
              <a:rPr lang="de-DE" dirty="0" err="1"/>
              <a:t>kasd</a:t>
            </a:r>
            <a:r>
              <a:rPr lang="de-DE" dirty="0"/>
              <a:t> </a:t>
            </a:r>
            <a:r>
              <a:rPr lang="de-DE" dirty="0" err="1"/>
              <a:t>gubergren</a:t>
            </a:r>
            <a:r>
              <a:rPr lang="de-DE" dirty="0"/>
              <a:t>, </a:t>
            </a:r>
            <a:r>
              <a:rPr lang="de-DE" dirty="0" err="1"/>
              <a:t>no</a:t>
            </a:r>
            <a:r>
              <a:rPr lang="de-DE" dirty="0"/>
              <a:t> </a:t>
            </a:r>
            <a:r>
              <a:rPr lang="de-DE" dirty="0" err="1"/>
              <a:t>sea</a:t>
            </a:r>
            <a:r>
              <a:rPr lang="de-DE" dirty="0"/>
              <a:t> </a:t>
            </a:r>
            <a:r>
              <a:rPr lang="de-DE" dirty="0" err="1"/>
              <a:t>takimata</a:t>
            </a:r>
            <a:endParaRPr lang="de-DE" dirty="0"/>
          </a:p>
        </p:txBody>
      </p:sp>
      <p:sp>
        <p:nvSpPr>
          <p:cNvPr id="7" name="Textplatzhalter 17">
            <a:extLst>
              <a:ext uri="{FF2B5EF4-FFF2-40B4-BE49-F238E27FC236}">
                <a16:creationId xmlns:a16="http://schemas.microsoft.com/office/drawing/2014/main" id="{5B12DAD6-93EF-5042-858F-4BB3334F107E}"/>
              </a:ext>
            </a:extLst>
          </p:cNvPr>
          <p:cNvSpPr>
            <a:spLocks noGrp="1"/>
          </p:cNvSpPr>
          <p:nvPr>
            <p:ph type="body" sz="quarter" idx="14" hasCustomPrompt="1"/>
          </p:nvPr>
        </p:nvSpPr>
        <p:spPr>
          <a:xfrm>
            <a:off x="555867" y="396545"/>
            <a:ext cx="8311908" cy="717437"/>
          </a:xfrm>
          <a:prstGeom prst="rect">
            <a:avLst/>
          </a:prstGeom>
        </p:spPr>
        <p:txBody>
          <a:bodyPr lIns="0" tIns="0" rIns="0" bIns="0" anchor="b" anchorCtr="0"/>
          <a:lstStyle>
            <a:lvl1pPr marL="0" indent="0">
              <a:lnSpc>
                <a:spcPts val="2800"/>
              </a:lnSpc>
              <a:spcBef>
                <a:spcPts val="0"/>
              </a:spcBef>
              <a:buNone/>
              <a:defRPr sz="2400">
                <a:solidFill>
                  <a:srgbClr val="C40D1E"/>
                </a:solidFill>
                <a:latin typeface="Arial" panose="020B0604020202020204" pitchFamily="34" charset="0"/>
                <a:cs typeface="Arial" panose="020B0604020202020204" pitchFamily="34" charset="0"/>
              </a:defRPr>
            </a:lvl1pPr>
          </a:lstStyle>
          <a:p>
            <a:r>
              <a:rPr lang="de-DE" dirty="0"/>
              <a:t>Headline Arial Regular 24pt, ZA: 28pt</a:t>
            </a:r>
            <a:br>
              <a:rPr lang="de-DE" dirty="0"/>
            </a:br>
            <a:r>
              <a:rPr lang="de-DE" dirty="0"/>
              <a:t>optional 2-zeilig</a:t>
            </a:r>
          </a:p>
        </p:txBody>
      </p:sp>
    </p:spTree>
    <p:extLst>
      <p:ext uri="{BB962C8B-B14F-4D97-AF65-F5344CB8AC3E}">
        <p14:creationId xmlns:p14="http://schemas.microsoft.com/office/powerpoint/2010/main" val="14314736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_Inhalt - Bild und Text">
    <p:spTree>
      <p:nvGrpSpPr>
        <p:cNvPr id="1" name=""/>
        <p:cNvGrpSpPr/>
        <p:nvPr/>
      </p:nvGrpSpPr>
      <p:grpSpPr>
        <a:xfrm>
          <a:off x="0" y="0"/>
          <a:ext cx="0" cy="0"/>
          <a:chOff x="0" y="0"/>
          <a:chExt cx="0" cy="0"/>
        </a:xfrm>
      </p:grpSpPr>
      <p:sp>
        <p:nvSpPr>
          <p:cNvPr id="5" name="Textplatzhalter 2">
            <a:extLst>
              <a:ext uri="{FF2B5EF4-FFF2-40B4-BE49-F238E27FC236}">
                <a16:creationId xmlns:a16="http://schemas.microsoft.com/office/drawing/2014/main" id="{55FA8C39-046E-E34F-8E80-7B9D099D728B}"/>
              </a:ext>
            </a:extLst>
          </p:cNvPr>
          <p:cNvSpPr>
            <a:spLocks noGrp="1"/>
          </p:cNvSpPr>
          <p:nvPr>
            <p:ph type="body" sz="quarter" idx="18" hasCustomPrompt="1"/>
          </p:nvPr>
        </p:nvSpPr>
        <p:spPr>
          <a:xfrm>
            <a:off x="6519600" y="1382400"/>
            <a:ext cx="3982945" cy="4093588"/>
          </a:xfrm>
          <a:prstGeom prst="rect">
            <a:avLst/>
          </a:prstGeom>
        </p:spPr>
        <p:txBody>
          <a:bodyPr lIns="0" tIns="0" rIns="0" bIns="0"/>
          <a:lstStyle>
            <a:lvl1pPr marL="0" indent="0">
              <a:lnSpc>
                <a:spcPts val="2400"/>
              </a:lnSpc>
              <a:spcBef>
                <a:spcPts val="0"/>
              </a:spcBef>
              <a:buNone/>
              <a:defRPr sz="1800">
                <a:solidFill>
                  <a:srgbClr val="434343"/>
                </a:solidFill>
                <a:latin typeface="Arial" panose="020B0604020202020204" pitchFamily="34" charset="0"/>
                <a:cs typeface="Arial" panose="020B0604020202020204" pitchFamily="34" charset="0"/>
              </a:defRPr>
            </a:lvl1pPr>
          </a:lstStyle>
          <a:p>
            <a:pPr lvl="0"/>
            <a:r>
              <a:rPr lang="de-DE" dirty="0"/>
              <a:t>Arial Regular 18pt, ZA: 24pt </a:t>
            </a:r>
            <a:br>
              <a:rPr lang="de-DE" dirty="0"/>
            </a:b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consetetur</a:t>
            </a:r>
            <a:r>
              <a:rPr lang="de-DE" dirty="0"/>
              <a:t> </a:t>
            </a:r>
            <a:r>
              <a:rPr lang="de-DE" dirty="0" err="1"/>
              <a:t>sadipscing</a:t>
            </a:r>
            <a:r>
              <a:rPr lang="de-DE" dirty="0"/>
              <a:t> </a:t>
            </a:r>
            <a:r>
              <a:rPr lang="de-DE" dirty="0" err="1"/>
              <a:t>elitr</a:t>
            </a:r>
            <a:r>
              <a:rPr lang="de-DE" dirty="0"/>
              <a:t>, sed </a:t>
            </a:r>
            <a:r>
              <a:rPr lang="de-DE" dirty="0" err="1"/>
              <a:t>diam</a:t>
            </a:r>
            <a:r>
              <a:rPr lang="de-DE" dirty="0"/>
              <a:t> </a:t>
            </a:r>
            <a:r>
              <a:rPr lang="de-DE" dirty="0" err="1"/>
              <a:t>nonumy</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erat, sed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a:t>
            </a:r>
            <a:r>
              <a:rPr lang="de-DE" dirty="0" err="1"/>
              <a:t>erat</a:t>
            </a:r>
            <a:r>
              <a:rPr lang="de-DE" dirty="0"/>
              <a:t>, </a:t>
            </a:r>
            <a:r>
              <a:rPr lang="de-DE" dirty="0" err="1"/>
              <a:t>sed</a:t>
            </a:r>
            <a:r>
              <a:rPr lang="de-DE" dirty="0"/>
              <a:t>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et </a:t>
            </a:r>
            <a:r>
              <a:rPr lang="de-DE" dirty="0" err="1"/>
              <a:t>accusam</a:t>
            </a:r>
            <a:r>
              <a:rPr lang="de-DE" dirty="0"/>
              <a:t> et </a:t>
            </a:r>
            <a:r>
              <a:rPr lang="de-DE" dirty="0" err="1"/>
              <a:t>justo</a:t>
            </a:r>
            <a:r>
              <a:rPr lang="de-DE" dirty="0"/>
              <a:t> </a:t>
            </a:r>
            <a:r>
              <a:rPr lang="de-DE" dirty="0" err="1"/>
              <a:t>duo</a:t>
            </a:r>
            <a:r>
              <a:rPr lang="de-DE" dirty="0"/>
              <a:t> </a:t>
            </a:r>
            <a:r>
              <a:rPr lang="de-DE" dirty="0" err="1"/>
              <a:t>dolores</a:t>
            </a:r>
            <a:r>
              <a:rPr lang="de-DE" dirty="0"/>
              <a:t> et </a:t>
            </a:r>
            <a:r>
              <a:rPr lang="de-DE" dirty="0" err="1"/>
              <a:t>ea</a:t>
            </a:r>
            <a:r>
              <a:rPr lang="de-DE" dirty="0"/>
              <a:t> </a:t>
            </a:r>
            <a:r>
              <a:rPr lang="de-DE" dirty="0" err="1"/>
              <a:t>rebum</a:t>
            </a:r>
            <a:r>
              <a:rPr lang="de-DE" dirty="0"/>
              <a:t>. Stet </a:t>
            </a:r>
            <a:r>
              <a:rPr lang="de-DE" dirty="0" err="1"/>
              <a:t>clita</a:t>
            </a:r>
            <a:r>
              <a:rPr lang="de-DE" dirty="0"/>
              <a:t> </a:t>
            </a:r>
            <a:r>
              <a:rPr lang="de-DE" dirty="0" err="1"/>
              <a:t>kasd</a:t>
            </a:r>
            <a:r>
              <a:rPr lang="de-DE" dirty="0"/>
              <a:t> </a:t>
            </a:r>
            <a:r>
              <a:rPr lang="de-DE" dirty="0" err="1"/>
              <a:t>gubergren</a:t>
            </a:r>
            <a:r>
              <a:rPr lang="de-DE" dirty="0"/>
              <a:t>, </a:t>
            </a:r>
            <a:r>
              <a:rPr lang="de-DE" dirty="0" err="1"/>
              <a:t>no</a:t>
            </a:r>
            <a:r>
              <a:rPr lang="de-DE" dirty="0"/>
              <a:t> </a:t>
            </a:r>
            <a:r>
              <a:rPr lang="de-DE" dirty="0" err="1"/>
              <a:t>sea</a:t>
            </a:r>
            <a:r>
              <a:rPr lang="de-DE" dirty="0"/>
              <a:t> </a:t>
            </a:r>
            <a:r>
              <a:rPr lang="de-DE" dirty="0" err="1"/>
              <a:t>takimata</a:t>
            </a:r>
            <a:br>
              <a:rPr lang="de-DE" dirty="0"/>
            </a:br>
            <a:r>
              <a:rPr lang="de-DE" dirty="0"/>
              <a:t>sanctus </a:t>
            </a:r>
            <a:r>
              <a:rPr lang="de-DE" dirty="0" err="1"/>
              <a:t>est</a:t>
            </a:r>
            <a:r>
              <a:rPr lang="de-DE" dirty="0"/>
              <a:t> </a:t>
            </a: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Lorem</a:t>
            </a:r>
            <a:r>
              <a:rPr lang="de-DE" dirty="0"/>
              <a:t> </a:t>
            </a:r>
            <a:r>
              <a:rPr lang="de-DE" dirty="0" err="1"/>
              <a:t>ipsum</a:t>
            </a:r>
            <a:endParaRPr lang="de-DE" dirty="0"/>
          </a:p>
        </p:txBody>
      </p:sp>
      <p:sp>
        <p:nvSpPr>
          <p:cNvPr id="6" name="Bildplatzhalter 2">
            <a:extLst>
              <a:ext uri="{FF2B5EF4-FFF2-40B4-BE49-F238E27FC236}">
                <a16:creationId xmlns:a16="http://schemas.microsoft.com/office/drawing/2014/main" id="{8BAC5633-896E-0F44-8840-CC87B5BE7045}"/>
              </a:ext>
            </a:extLst>
          </p:cNvPr>
          <p:cNvSpPr>
            <a:spLocks noGrp="1"/>
          </p:cNvSpPr>
          <p:nvPr>
            <p:ph type="pic" sz="quarter" idx="17" hasCustomPrompt="1"/>
          </p:nvPr>
        </p:nvSpPr>
        <p:spPr>
          <a:xfrm>
            <a:off x="550861" y="1381405"/>
            <a:ext cx="5545139" cy="4093589"/>
          </a:xfrm>
          <a:prstGeom prst="rect">
            <a:avLst/>
          </a:prstGeom>
          <a:solidFill>
            <a:srgbClr val="434343"/>
          </a:solidFill>
        </p:spPr>
        <p:txBody>
          <a:bodyPr anchor="ctr" anchorCtr="0"/>
          <a:lstStyle>
            <a:lvl1pPr marL="0" indent="0" algn="ctr">
              <a:buFontTx/>
              <a:buNone/>
              <a:defRPr>
                <a:solidFill>
                  <a:schemeClr val="bg1"/>
                </a:solidFill>
              </a:defRPr>
            </a:lvl1pPr>
          </a:lstStyle>
          <a:p>
            <a:r>
              <a:rPr lang="de-DE" dirty="0"/>
              <a:t>Platzhalter: Bild</a:t>
            </a:r>
          </a:p>
        </p:txBody>
      </p:sp>
      <p:sp>
        <p:nvSpPr>
          <p:cNvPr id="7" name="Textplatzhalter 17">
            <a:extLst>
              <a:ext uri="{FF2B5EF4-FFF2-40B4-BE49-F238E27FC236}">
                <a16:creationId xmlns:a16="http://schemas.microsoft.com/office/drawing/2014/main" id="{8B97D328-84F0-2C4A-BBAB-1E79CDFE9BBF}"/>
              </a:ext>
            </a:extLst>
          </p:cNvPr>
          <p:cNvSpPr>
            <a:spLocks noGrp="1"/>
          </p:cNvSpPr>
          <p:nvPr>
            <p:ph type="body" sz="quarter" idx="14" hasCustomPrompt="1"/>
          </p:nvPr>
        </p:nvSpPr>
        <p:spPr>
          <a:xfrm>
            <a:off x="555867" y="396545"/>
            <a:ext cx="8311908" cy="717437"/>
          </a:xfrm>
          <a:prstGeom prst="rect">
            <a:avLst/>
          </a:prstGeom>
        </p:spPr>
        <p:txBody>
          <a:bodyPr lIns="0" tIns="0" rIns="0" bIns="0" anchor="b" anchorCtr="0"/>
          <a:lstStyle>
            <a:lvl1pPr marL="0" indent="0">
              <a:lnSpc>
                <a:spcPts val="2800"/>
              </a:lnSpc>
              <a:spcBef>
                <a:spcPts val="0"/>
              </a:spcBef>
              <a:buNone/>
              <a:defRPr sz="2400">
                <a:solidFill>
                  <a:srgbClr val="C40D1E"/>
                </a:solidFill>
                <a:latin typeface="Arial" panose="020B0604020202020204" pitchFamily="34" charset="0"/>
                <a:cs typeface="Arial" panose="020B0604020202020204" pitchFamily="34" charset="0"/>
              </a:defRPr>
            </a:lvl1pPr>
          </a:lstStyle>
          <a:p>
            <a:r>
              <a:rPr lang="de-DE" dirty="0"/>
              <a:t>Headline Arial Regular 24pt, ZA: 28pt</a:t>
            </a:r>
            <a:br>
              <a:rPr lang="de-DE" dirty="0"/>
            </a:br>
            <a:r>
              <a:rPr lang="de-DE" dirty="0"/>
              <a:t>optional 2-zeilig</a:t>
            </a:r>
          </a:p>
        </p:txBody>
      </p:sp>
    </p:spTree>
    <p:extLst>
      <p:ext uri="{BB962C8B-B14F-4D97-AF65-F5344CB8AC3E}">
        <p14:creationId xmlns:p14="http://schemas.microsoft.com/office/powerpoint/2010/main" val="6643881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Inhalt - Bild und Stichpunkte">
    <p:spTree>
      <p:nvGrpSpPr>
        <p:cNvPr id="1" name=""/>
        <p:cNvGrpSpPr/>
        <p:nvPr/>
      </p:nvGrpSpPr>
      <p:grpSpPr>
        <a:xfrm>
          <a:off x="0" y="0"/>
          <a:ext cx="0" cy="0"/>
          <a:chOff x="0" y="0"/>
          <a:chExt cx="0" cy="0"/>
        </a:xfrm>
      </p:grpSpPr>
      <p:sp>
        <p:nvSpPr>
          <p:cNvPr id="5" name="Textplatzhalter 5">
            <a:extLst>
              <a:ext uri="{FF2B5EF4-FFF2-40B4-BE49-F238E27FC236}">
                <a16:creationId xmlns:a16="http://schemas.microsoft.com/office/drawing/2014/main" id="{9278302A-602E-374F-9D64-8FCFB4DC60C0}"/>
              </a:ext>
            </a:extLst>
          </p:cNvPr>
          <p:cNvSpPr>
            <a:spLocks noGrp="1"/>
          </p:cNvSpPr>
          <p:nvPr>
            <p:ph type="body" sz="quarter" idx="18" hasCustomPrompt="1"/>
          </p:nvPr>
        </p:nvSpPr>
        <p:spPr>
          <a:xfrm>
            <a:off x="6519600" y="1364399"/>
            <a:ext cx="3981600" cy="4111200"/>
          </a:xfrm>
          <a:prstGeom prst="rect">
            <a:avLst/>
          </a:prstGeom>
        </p:spPr>
        <p:txBody>
          <a:bodyPr lIns="0" tIns="0" rIns="0" bIns="0"/>
          <a:lstStyle>
            <a:lvl1pPr marL="2286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1pPr>
            <a:lvl2pPr marL="6858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2pPr>
            <a:lvl3pPr marL="11430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3pPr>
            <a:lvl4pPr marL="16002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4pPr>
            <a:lvl5pPr marL="20574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5pPr>
          </a:lstStyle>
          <a:p>
            <a:pPr lvl="0"/>
            <a:r>
              <a:rPr lang="de-DE" dirty="0"/>
              <a:t>Aufzählung 1. Ebene Arial Regular 18 </a:t>
            </a:r>
            <a:r>
              <a:rPr lang="de-DE" dirty="0" err="1"/>
              <a:t>pt</a:t>
            </a:r>
            <a:r>
              <a:rPr lang="de-DE" dirty="0"/>
              <a:t>, ZA: 24 </a:t>
            </a:r>
            <a:r>
              <a:rPr lang="de-DE" dirty="0" err="1"/>
              <a:t>pt</a:t>
            </a:r>
            <a:endParaRPr lang="de-DE" dirty="0"/>
          </a:p>
          <a:p>
            <a:pPr lvl="1"/>
            <a:r>
              <a:rPr lang="de-DE" dirty="0"/>
              <a:t>2. Ebene</a:t>
            </a:r>
          </a:p>
          <a:p>
            <a:pPr lvl="2"/>
            <a:r>
              <a:rPr lang="de-DE" dirty="0"/>
              <a:t>3. Ebene</a:t>
            </a:r>
          </a:p>
          <a:p>
            <a:pPr lvl="3"/>
            <a:r>
              <a:rPr lang="de-DE" dirty="0"/>
              <a:t>4. Ebene</a:t>
            </a:r>
          </a:p>
          <a:p>
            <a:pPr lvl="4"/>
            <a:r>
              <a:rPr lang="de-DE" dirty="0"/>
              <a:t>5. Ebene</a:t>
            </a:r>
          </a:p>
        </p:txBody>
      </p:sp>
      <p:sp>
        <p:nvSpPr>
          <p:cNvPr id="6" name="Bildplatzhalter 2">
            <a:extLst>
              <a:ext uri="{FF2B5EF4-FFF2-40B4-BE49-F238E27FC236}">
                <a16:creationId xmlns:a16="http://schemas.microsoft.com/office/drawing/2014/main" id="{07DD2921-214D-B547-93DD-EB9D2A99CCEE}"/>
              </a:ext>
            </a:extLst>
          </p:cNvPr>
          <p:cNvSpPr>
            <a:spLocks noGrp="1"/>
          </p:cNvSpPr>
          <p:nvPr>
            <p:ph type="pic" sz="quarter" idx="17" hasCustomPrompt="1"/>
          </p:nvPr>
        </p:nvSpPr>
        <p:spPr>
          <a:xfrm>
            <a:off x="550861" y="1381405"/>
            <a:ext cx="5545139" cy="4093589"/>
          </a:xfrm>
          <a:prstGeom prst="rect">
            <a:avLst/>
          </a:prstGeom>
          <a:solidFill>
            <a:srgbClr val="434343"/>
          </a:solidFill>
        </p:spPr>
        <p:txBody>
          <a:bodyPr anchor="ctr" anchorCtr="0"/>
          <a:lstStyle>
            <a:lvl1pPr marL="0" indent="0" algn="ctr">
              <a:buFontTx/>
              <a:buNone/>
              <a:defRPr>
                <a:solidFill>
                  <a:schemeClr val="bg1"/>
                </a:solidFill>
              </a:defRPr>
            </a:lvl1pPr>
          </a:lstStyle>
          <a:p>
            <a:r>
              <a:rPr lang="de-DE" dirty="0"/>
              <a:t>Platzhalter: Bild</a:t>
            </a:r>
          </a:p>
        </p:txBody>
      </p:sp>
      <p:sp>
        <p:nvSpPr>
          <p:cNvPr id="7" name="Textplatzhalter 17">
            <a:extLst>
              <a:ext uri="{FF2B5EF4-FFF2-40B4-BE49-F238E27FC236}">
                <a16:creationId xmlns:a16="http://schemas.microsoft.com/office/drawing/2014/main" id="{86E90AC2-BC99-614A-AF4F-584EF9915C55}"/>
              </a:ext>
            </a:extLst>
          </p:cNvPr>
          <p:cNvSpPr>
            <a:spLocks noGrp="1"/>
          </p:cNvSpPr>
          <p:nvPr>
            <p:ph type="body" sz="quarter" idx="14" hasCustomPrompt="1"/>
          </p:nvPr>
        </p:nvSpPr>
        <p:spPr>
          <a:xfrm>
            <a:off x="555867" y="396545"/>
            <a:ext cx="8311908" cy="717437"/>
          </a:xfrm>
          <a:prstGeom prst="rect">
            <a:avLst/>
          </a:prstGeom>
        </p:spPr>
        <p:txBody>
          <a:bodyPr lIns="0" tIns="0" rIns="0" bIns="0" anchor="b" anchorCtr="0"/>
          <a:lstStyle>
            <a:lvl1pPr marL="0" indent="0">
              <a:lnSpc>
                <a:spcPts val="2800"/>
              </a:lnSpc>
              <a:spcBef>
                <a:spcPts val="0"/>
              </a:spcBef>
              <a:buNone/>
              <a:defRPr sz="2400">
                <a:solidFill>
                  <a:srgbClr val="C40D1E"/>
                </a:solidFill>
                <a:latin typeface="Arial" panose="020B0604020202020204" pitchFamily="34" charset="0"/>
                <a:cs typeface="Arial" panose="020B0604020202020204" pitchFamily="34" charset="0"/>
              </a:defRPr>
            </a:lvl1pPr>
          </a:lstStyle>
          <a:p>
            <a:r>
              <a:rPr lang="de-DE" dirty="0"/>
              <a:t>Headline Arial Regular 24pt, ZA: 28pt</a:t>
            </a:r>
            <a:br>
              <a:rPr lang="de-DE" dirty="0"/>
            </a:br>
            <a:r>
              <a:rPr lang="de-DE" dirty="0"/>
              <a:t>optional 2-zeilig</a:t>
            </a:r>
          </a:p>
        </p:txBody>
      </p:sp>
    </p:spTree>
    <p:extLst>
      <p:ext uri="{BB962C8B-B14F-4D97-AF65-F5344CB8AC3E}">
        <p14:creationId xmlns:p14="http://schemas.microsoft.com/office/powerpoint/2010/main" val="327643400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slideLayout" Target="../slideLayouts/slideLayout4.xml"/><Relationship Id="rId3" Type="http://schemas.openxmlformats.org/officeDocument/2006/relationships/slideLayout" Target="../slideLayouts/slideLayout5.xml"/><Relationship Id="rId4" Type="http://schemas.openxmlformats.org/officeDocument/2006/relationships/theme" Target="../theme/theme2.xml"/><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image" Target="../media/image4.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Rechteck 4">
            <a:extLst>
              <a:ext uri="{FF2B5EF4-FFF2-40B4-BE49-F238E27FC236}">
                <a16:creationId xmlns:a16="http://schemas.microsoft.com/office/drawing/2014/main" id="{B97C5655-F240-634C-9B7B-B6181A1B3AF5}"/>
              </a:ext>
            </a:extLst>
          </p:cNvPr>
          <p:cNvSpPr/>
          <p:nvPr userDrawn="1"/>
        </p:nvSpPr>
        <p:spPr>
          <a:xfrm>
            <a:off x="0" y="1668462"/>
            <a:ext cx="12192000" cy="5189537"/>
          </a:xfrm>
          <a:custGeom>
            <a:avLst/>
            <a:gdLst>
              <a:gd name="connsiteX0" fmla="*/ 0 w 12192000"/>
              <a:gd name="connsiteY0" fmla="*/ 0 h 4760912"/>
              <a:gd name="connsiteX1" fmla="*/ 12192000 w 12192000"/>
              <a:gd name="connsiteY1" fmla="*/ 0 h 4760912"/>
              <a:gd name="connsiteX2" fmla="*/ 12192000 w 12192000"/>
              <a:gd name="connsiteY2" fmla="*/ 4760912 h 4760912"/>
              <a:gd name="connsiteX3" fmla="*/ 0 w 12192000"/>
              <a:gd name="connsiteY3" fmla="*/ 4760912 h 4760912"/>
              <a:gd name="connsiteX4" fmla="*/ 0 w 12192000"/>
              <a:gd name="connsiteY4" fmla="*/ 0 h 4760912"/>
              <a:gd name="connsiteX0" fmla="*/ 0 w 12192000"/>
              <a:gd name="connsiteY0" fmla="*/ 212725 h 4973637"/>
              <a:gd name="connsiteX1" fmla="*/ 12192000 w 12192000"/>
              <a:gd name="connsiteY1" fmla="*/ 0 h 4973637"/>
              <a:gd name="connsiteX2" fmla="*/ 12192000 w 12192000"/>
              <a:gd name="connsiteY2" fmla="*/ 4973637 h 4973637"/>
              <a:gd name="connsiteX3" fmla="*/ 0 w 12192000"/>
              <a:gd name="connsiteY3" fmla="*/ 4973637 h 4973637"/>
              <a:gd name="connsiteX4" fmla="*/ 0 w 12192000"/>
              <a:gd name="connsiteY4" fmla="*/ 212725 h 4973637"/>
              <a:gd name="connsiteX0" fmla="*/ 0 w 12192000"/>
              <a:gd name="connsiteY0" fmla="*/ 428625 h 5189537"/>
              <a:gd name="connsiteX1" fmla="*/ 12192000 w 12192000"/>
              <a:gd name="connsiteY1" fmla="*/ 0 h 5189537"/>
              <a:gd name="connsiteX2" fmla="*/ 12192000 w 12192000"/>
              <a:gd name="connsiteY2" fmla="*/ 5189537 h 5189537"/>
              <a:gd name="connsiteX3" fmla="*/ 0 w 12192000"/>
              <a:gd name="connsiteY3" fmla="*/ 5189537 h 5189537"/>
              <a:gd name="connsiteX4" fmla="*/ 0 w 12192000"/>
              <a:gd name="connsiteY4" fmla="*/ 428625 h 5189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5189537">
                <a:moveTo>
                  <a:pt x="0" y="428625"/>
                </a:moveTo>
                <a:lnTo>
                  <a:pt x="12192000" y="0"/>
                </a:lnTo>
                <a:lnTo>
                  <a:pt x="12192000" y="5189537"/>
                </a:lnTo>
                <a:lnTo>
                  <a:pt x="0" y="5189537"/>
                </a:lnTo>
                <a:lnTo>
                  <a:pt x="0" y="428625"/>
                </a:lnTo>
                <a:close/>
              </a:path>
            </a:pathLst>
          </a:custGeom>
          <a:solidFill>
            <a:srgbClr val="C40D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7" name="Grafik 6">
            <a:extLst>
              <a:ext uri="{FF2B5EF4-FFF2-40B4-BE49-F238E27FC236}">
                <a16:creationId xmlns:a16="http://schemas.microsoft.com/office/drawing/2014/main" id="{F8DDEEBD-D00D-1249-9E02-EDC0548BFCAC}"/>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9388168" y="378741"/>
            <a:ext cx="2250000" cy="774000"/>
          </a:xfrm>
          <a:prstGeom prst="rect">
            <a:avLst/>
          </a:prstGeom>
        </p:spPr>
      </p:pic>
      <p:sp>
        <p:nvSpPr>
          <p:cNvPr id="4" name="Textfeld 3">
            <a:extLst>
              <a:ext uri="{FF2B5EF4-FFF2-40B4-BE49-F238E27FC236}">
                <a16:creationId xmlns:a16="http://schemas.microsoft.com/office/drawing/2014/main" id="{0D20A730-187A-274D-A0E6-8412686F8775}"/>
              </a:ext>
            </a:extLst>
          </p:cNvPr>
          <p:cNvSpPr txBox="1"/>
          <p:nvPr userDrawn="1"/>
        </p:nvSpPr>
        <p:spPr>
          <a:xfrm>
            <a:off x="12292755" y="5534561"/>
            <a:ext cx="3102416" cy="1323439"/>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Titelseiten – Platzhalter für </a:t>
            </a:r>
            <a:r>
              <a:rPr lang="de-DE" sz="1000" b="1" dirty="0" err="1">
                <a:latin typeface="Arial" panose="020B0604020202020204" pitchFamily="34" charset="0"/>
                <a:cs typeface="Arial" panose="020B0604020202020204" pitchFamily="34" charset="0"/>
              </a:rPr>
              <a:t>Sublogo</a:t>
            </a:r>
            <a:r>
              <a:rPr lang="de-DE" sz="1000" b="1" dirty="0">
                <a:latin typeface="Arial" panose="020B0604020202020204" pitchFamily="34" charset="0"/>
                <a:cs typeface="Arial" panose="020B0604020202020204" pitchFamily="34" charset="0"/>
              </a:rPr>
              <a:t> ändern: </a:t>
            </a:r>
            <a:r>
              <a:rPr lang="de-DE" sz="1000" dirty="0">
                <a:latin typeface="Arial" panose="020B0604020202020204" pitchFamily="34" charset="0"/>
                <a:cs typeface="Arial" panose="020B0604020202020204" pitchFamily="34" charset="0"/>
              </a:rPr>
              <a:t>Direkt auf dieser Folie &gt; Bild anklicken &gt; Rechtsklick &gt; Bild einfügen</a:t>
            </a:r>
            <a:br>
              <a:rPr lang="de-DE" sz="1000" dirty="0">
                <a:latin typeface="Arial" panose="020B0604020202020204" pitchFamily="34" charset="0"/>
                <a:cs typeface="Arial" panose="020B0604020202020204" pitchFamily="34" charset="0"/>
              </a:rPr>
            </a:br>
            <a:br>
              <a:rPr lang="de-DE" sz="1000" dirty="0">
                <a:latin typeface="Arial" panose="020B0604020202020204" pitchFamily="34" charset="0"/>
                <a:cs typeface="Arial" panose="020B0604020202020204" pitchFamily="34" charset="0"/>
              </a:rPr>
            </a:br>
            <a:r>
              <a:rPr lang="de-DE" sz="1000" b="1" dirty="0">
                <a:latin typeface="Arial" panose="020B0604020202020204" pitchFamily="34" charset="0"/>
                <a:cs typeface="Arial" panose="020B0604020202020204" pitchFamily="34" charset="0"/>
              </a:rPr>
              <a:t>Bild an Rahmen anpassen</a:t>
            </a:r>
            <a:r>
              <a:rPr lang="de-DE" sz="1000" dirty="0">
                <a:latin typeface="Arial" panose="020B0604020202020204" pitchFamily="34" charset="0"/>
                <a:cs typeface="Arial" panose="020B0604020202020204" pitchFamily="34" charset="0"/>
              </a:rPr>
              <a: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Bild anklicken &gt; Bildformat &gt; Zuschneiden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im Dropdown „Einpassen“ wählen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ggf. Bild nochmals neu positionieren </a:t>
            </a:r>
          </a:p>
        </p:txBody>
      </p:sp>
    </p:spTree>
    <p:extLst>
      <p:ext uri="{BB962C8B-B14F-4D97-AF65-F5344CB8AC3E}">
        <p14:creationId xmlns:p14="http://schemas.microsoft.com/office/powerpoint/2010/main" val="3079698843"/>
      </p:ext>
    </p:extLst>
  </p:cSld>
  <p:clrMap bg1="lt1" tx1="dk1" bg2="lt2" tx2="dk2" accent1="accent1" accent2="accent2" accent3="accent3" accent4="accent4" accent5="accent5" accent6="accent6" hlink="hlink" folHlink="folHlink"/>
  <p:sldLayoutIdLst>
    <p:sldLayoutId id="2147483714" r:id="rId1"/>
    <p:sldLayoutId id="2147483713" r:id="rId2"/>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pos="347" userDrawn="1">
          <p15:clr>
            <a:srgbClr val="F26B43"/>
          </p15:clr>
        </p15:guide>
        <p15:guide id="2" pos="7333" userDrawn="1">
          <p15:clr>
            <a:srgbClr val="F26B43"/>
          </p15:clr>
        </p15:guide>
        <p15:guide id="3" orient="horz" pos="346" userDrawn="1">
          <p15:clr>
            <a:srgbClr val="F26B43"/>
          </p15:clr>
        </p15:guide>
        <p15:guide id="4" pos="1232" userDrawn="1">
          <p15:clr>
            <a:srgbClr val="F26B43"/>
          </p15:clr>
        </p15:guide>
        <p15:guide id="5" orient="horz" pos="3974" userDrawn="1">
          <p15:clr>
            <a:srgbClr val="F26B43"/>
          </p15:clr>
        </p15:guide>
        <p15:guide id="6" orient="horz" pos="663" userDrawn="1">
          <p15:clr>
            <a:srgbClr val="F26B43"/>
          </p15:clr>
        </p15:guide>
        <p15:guide id="7" orient="horz" pos="1003" userDrawn="1">
          <p15:clr>
            <a:srgbClr val="F26B43"/>
          </p15:clr>
        </p15:guide>
        <p15:guide id="8" orient="horz" pos="1321" userDrawn="1">
          <p15:clr>
            <a:srgbClr val="F26B43"/>
          </p15:clr>
        </p15:guide>
        <p15:guide id="9" orient="horz" pos="1661" userDrawn="1">
          <p15:clr>
            <a:srgbClr val="F26B43"/>
          </p15:clr>
        </p15:guide>
        <p15:guide id="10" orient="horz" pos="2001" userDrawn="1">
          <p15:clr>
            <a:srgbClr val="F26B43"/>
          </p15:clr>
        </p15:guide>
        <p15:guide id="11" orient="horz" pos="3339" userDrawn="1">
          <p15:clr>
            <a:srgbClr val="F26B43"/>
          </p15:clr>
        </p15:guide>
        <p15:guide id="12" orient="horz" pos="2319" userDrawn="1">
          <p15:clr>
            <a:srgbClr val="F26B43"/>
          </p15:clr>
        </p15:guide>
        <p15:guide id="13" orient="horz" pos="2999" userDrawn="1">
          <p15:clr>
            <a:srgbClr val="F26B43"/>
          </p15:clr>
        </p15:guide>
        <p15:guide id="14" orient="horz" pos="3657" userDrawn="1">
          <p15:clr>
            <a:srgbClr val="F26B43"/>
          </p15:clr>
        </p15:guide>
        <p15:guide id="15" orient="horz" pos="2659" userDrawn="1">
          <p15:clr>
            <a:srgbClr val="F26B43"/>
          </p15:clr>
        </p15:guide>
        <p15:guide id="16" pos="2094" userDrawn="1">
          <p15:clr>
            <a:srgbClr val="F26B43"/>
          </p15:clr>
        </p15:guide>
        <p15:guide id="17" pos="2978" userDrawn="1">
          <p15:clr>
            <a:srgbClr val="F26B43"/>
          </p15:clr>
        </p15:guide>
        <p15:guide id="18" pos="3840" userDrawn="1">
          <p15:clr>
            <a:srgbClr val="F26B43"/>
          </p15:clr>
        </p15:guide>
        <p15:guide id="19" pos="4725" userDrawn="1">
          <p15:clr>
            <a:srgbClr val="F26B43"/>
          </p15:clr>
        </p15:guide>
        <p15:guide id="20" pos="5586" userDrawn="1">
          <p15:clr>
            <a:srgbClr val="F26B43"/>
          </p15:clr>
        </p15:guide>
        <p15:guide id="21" pos="6471"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hteck 1">
            <a:extLst>
              <a:ext uri="{FF2B5EF4-FFF2-40B4-BE49-F238E27FC236}">
                <a16:creationId xmlns:a16="http://schemas.microsoft.com/office/drawing/2014/main" id="{48266648-C51B-EA45-AE41-AF74B0A4657C}"/>
              </a:ext>
            </a:extLst>
          </p:cNvPr>
          <p:cNvSpPr/>
          <p:nvPr userDrawn="1"/>
        </p:nvSpPr>
        <p:spPr>
          <a:xfrm>
            <a:off x="0" y="5748124"/>
            <a:ext cx="12195175" cy="1109875"/>
          </a:xfrm>
          <a:custGeom>
            <a:avLst/>
            <a:gdLst>
              <a:gd name="connsiteX0" fmla="*/ 0 w 12192000"/>
              <a:gd name="connsiteY0" fmla="*/ 0 h 687600"/>
              <a:gd name="connsiteX1" fmla="*/ 12192000 w 12192000"/>
              <a:gd name="connsiteY1" fmla="*/ 0 h 687600"/>
              <a:gd name="connsiteX2" fmla="*/ 12192000 w 12192000"/>
              <a:gd name="connsiteY2" fmla="*/ 687600 h 687600"/>
              <a:gd name="connsiteX3" fmla="*/ 0 w 12192000"/>
              <a:gd name="connsiteY3" fmla="*/ 687600 h 687600"/>
              <a:gd name="connsiteX4" fmla="*/ 0 w 12192000"/>
              <a:gd name="connsiteY4" fmla="*/ 0 h 687600"/>
              <a:gd name="connsiteX0" fmla="*/ 0 w 12195175"/>
              <a:gd name="connsiteY0" fmla="*/ 422275 h 1109875"/>
              <a:gd name="connsiteX1" fmla="*/ 12195175 w 12195175"/>
              <a:gd name="connsiteY1" fmla="*/ 0 h 1109875"/>
              <a:gd name="connsiteX2" fmla="*/ 12192000 w 12195175"/>
              <a:gd name="connsiteY2" fmla="*/ 1109875 h 1109875"/>
              <a:gd name="connsiteX3" fmla="*/ 0 w 12195175"/>
              <a:gd name="connsiteY3" fmla="*/ 1109875 h 1109875"/>
              <a:gd name="connsiteX4" fmla="*/ 0 w 12195175"/>
              <a:gd name="connsiteY4" fmla="*/ 422275 h 11098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5175" h="1109875">
                <a:moveTo>
                  <a:pt x="0" y="422275"/>
                </a:moveTo>
                <a:lnTo>
                  <a:pt x="12195175" y="0"/>
                </a:lnTo>
                <a:cubicBezTo>
                  <a:pt x="12194117" y="369958"/>
                  <a:pt x="12193058" y="739917"/>
                  <a:pt x="12192000" y="1109875"/>
                </a:cubicBezTo>
                <a:lnTo>
                  <a:pt x="0" y="1109875"/>
                </a:lnTo>
                <a:lnTo>
                  <a:pt x="0" y="422275"/>
                </a:lnTo>
                <a:close/>
              </a:path>
            </a:pathLst>
          </a:custGeom>
          <a:solidFill>
            <a:srgbClr val="C40D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8" name="Grafik 7">
            <a:extLst>
              <a:ext uri="{FF2B5EF4-FFF2-40B4-BE49-F238E27FC236}">
                <a16:creationId xmlns:a16="http://schemas.microsoft.com/office/drawing/2014/main" id="{90A395C2-361B-A14B-9312-A16F3F6780AF}"/>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0614598" y="378000"/>
            <a:ext cx="1004400" cy="766068"/>
          </a:xfrm>
          <a:prstGeom prst="rect">
            <a:avLst/>
          </a:prstGeom>
        </p:spPr>
      </p:pic>
      <p:sp>
        <p:nvSpPr>
          <p:cNvPr id="12" name="Textfeld 11">
            <a:extLst>
              <a:ext uri="{FF2B5EF4-FFF2-40B4-BE49-F238E27FC236}">
                <a16:creationId xmlns:a16="http://schemas.microsoft.com/office/drawing/2014/main" id="{427D4F0D-9351-B349-8187-43002862F183}"/>
              </a:ext>
            </a:extLst>
          </p:cNvPr>
          <p:cNvSpPr txBox="1"/>
          <p:nvPr userDrawn="1"/>
        </p:nvSpPr>
        <p:spPr>
          <a:xfrm>
            <a:off x="12292755" y="5612990"/>
            <a:ext cx="3102416" cy="1323439"/>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Folgeseiten – Platzhalter für </a:t>
            </a:r>
            <a:r>
              <a:rPr lang="de-DE" sz="1000" b="1" dirty="0" err="1">
                <a:latin typeface="Arial" panose="020B0604020202020204" pitchFamily="34" charset="0"/>
                <a:cs typeface="Arial" panose="020B0604020202020204" pitchFamily="34" charset="0"/>
              </a:rPr>
              <a:t>Sublogo</a:t>
            </a:r>
            <a:r>
              <a:rPr lang="de-DE" sz="1000" b="1" dirty="0">
                <a:latin typeface="Arial" panose="020B0604020202020204" pitchFamily="34" charset="0"/>
                <a:cs typeface="Arial" panose="020B0604020202020204" pitchFamily="34" charset="0"/>
              </a:rPr>
              <a:t> ändern: </a:t>
            </a:r>
            <a:r>
              <a:rPr lang="de-DE" sz="1000" dirty="0">
                <a:latin typeface="Arial" panose="020B0604020202020204" pitchFamily="34" charset="0"/>
                <a:cs typeface="Arial" panose="020B0604020202020204" pitchFamily="34" charset="0"/>
              </a:rPr>
              <a:t>Folienmaster &gt; Nr. 2 bearbeiten &gt; Bild anklicken &gt; Rechtsklick &gt; Bild einfügen</a:t>
            </a:r>
            <a:br>
              <a:rPr lang="de-DE" sz="1000" dirty="0">
                <a:latin typeface="Arial" panose="020B0604020202020204" pitchFamily="34" charset="0"/>
                <a:cs typeface="Arial" panose="020B0604020202020204" pitchFamily="34" charset="0"/>
              </a:rPr>
            </a:br>
            <a:br>
              <a:rPr lang="de-DE" sz="1000" dirty="0">
                <a:latin typeface="Arial" panose="020B0604020202020204" pitchFamily="34" charset="0"/>
                <a:cs typeface="Arial" panose="020B0604020202020204" pitchFamily="34" charset="0"/>
              </a:rPr>
            </a:br>
            <a:r>
              <a:rPr lang="de-DE" sz="1000" b="1" dirty="0">
                <a:latin typeface="Arial" panose="020B0604020202020204" pitchFamily="34" charset="0"/>
                <a:cs typeface="Arial" panose="020B0604020202020204" pitchFamily="34" charset="0"/>
              </a:rPr>
              <a:t>Bild an Rahmen anpassen</a:t>
            </a:r>
            <a:r>
              <a:rPr lang="de-DE" sz="1000" dirty="0">
                <a:latin typeface="Arial" panose="020B0604020202020204" pitchFamily="34" charset="0"/>
                <a:cs typeface="Arial" panose="020B0604020202020204" pitchFamily="34" charset="0"/>
              </a:rPr>
              <a: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Bild anklicken &gt; Bildformat &gt; Zuschneiden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im Dropdown „Einpassen“ wählen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ggf. Bild nochmals neu positionieren </a:t>
            </a:r>
          </a:p>
        </p:txBody>
      </p:sp>
      <p:sp>
        <p:nvSpPr>
          <p:cNvPr id="13" name="Textfeld 12">
            <a:extLst>
              <a:ext uri="{FF2B5EF4-FFF2-40B4-BE49-F238E27FC236}">
                <a16:creationId xmlns:a16="http://schemas.microsoft.com/office/drawing/2014/main" id="{B91FA75A-4E02-534F-A661-8216932850DD}"/>
              </a:ext>
            </a:extLst>
          </p:cNvPr>
          <p:cNvSpPr txBox="1"/>
          <p:nvPr userDrawn="1"/>
        </p:nvSpPr>
        <p:spPr>
          <a:xfrm>
            <a:off x="-2243920" y="6474756"/>
            <a:ext cx="2223344" cy="400110"/>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Informationen in Fußzeile ändern:</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Folienmaster &gt; Nr. 2 bearbeiten</a:t>
            </a:r>
          </a:p>
        </p:txBody>
      </p:sp>
    </p:spTree>
    <p:extLst>
      <p:ext uri="{BB962C8B-B14F-4D97-AF65-F5344CB8AC3E}">
        <p14:creationId xmlns:p14="http://schemas.microsoft.com/office/powerpoint/2010/main" val="3907247464"/>
      </p:ext>
    </p:extLst>
  </p:cSld>
  <p:clrMap bg1="lt1" tx1="dk1" bg2="lt2" tx2="dk2" accent1="accent1" accent2="accent2" accent3="accent3" accent4="accent4" accent5="accent5" accent6="accent6" hlink="hlink" folHlink="folHlink"/>
  <p:sldLayoutIdLst>
    <p:sldLayoutId id="2147483707" r:id="rId1"/>
    <p:sldLayoutId id="2147483711" r:id="rId2"/>
    <p:sldLayoutId id="2147483712"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eips.ethereum.org/EIPS/eip-4399" TargetMode="Externa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image" Target="../media/image23.png"/><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age 1 TU Berlin students photograph" descr="image.jpg"/>
          <p:cNvPicPr>
            <a:picLocks noChangeAspect="1"/>
          </p:cNvPicPr>
          <p:nvPr/>
        </p:nvPicPr>
        <p:blipFill>
          <a:blip r:embed="rId2"/>
          <a:srcRect t="38334" b="6404"/>
          <a:stretch>
            <a:fillRect/>
          </a:stretch>
        </p:blipFill>
        <p:spPr>
          <a:xfrm>
            <a:off x="-6492" y="1260591"/>
            <a:ext cx="8885316" cy="3273643"/>
          </a:xfrm>
          <a:prstGeom prst="rect">
            <a:avLst/>
          </a:prstGeom>
        </p:spPr>
      </p:pic>
      <p:sp>
        <p:nvSpPr>
          <p:cNvPr id="3" name="TextBox 2"/>
          <p:cNvSpPr txBox="1"/>
          <p:nvPr/>
        </p:nvSpPr>
        <p:spPr>
          <a:xfrm>
            <a:off x="7772400" y="4315968"/>
            <a:ext cx="932688" cy="128016"/>
          </a:xfrm>
          <a:prstGeom prst="rect">
            <a:avLst/>
          </a:prstGeom>
          <a:noFill/>
        </p:spPr>
        <p:txBody>
          <a:bodyPr wrap="square" lIns="0" rIns="0" tIns="0" bIns="0" anchor="ctr">
            <a:spAutoFit/>
          </a:bodyPr>
          <a:lstStyle/>
          <a:p>
            <a:pPr algn="r"/>
            <a:r>
              <a:rPr sz="630" b="0" lang="en-US">
                <a:solidFill>
                  <a:srgbClr val="FFFFFF"/>
                </a:solidFill>
                <a:latin typeface="Arial"/>
              </a:rPr>
              <a:t>© Philipp Arnoldt</a:t>
            </a:r>
          </a:p>
        </p:txBody>
      </p:sp>
      <p:sp>
        <p:nvSpPr>
          <p:cNvPr id="4" name="TextBox 3"/>
          <p:cNvSpPr txBox="1"/>
          <p:nvPr/>
        </p:nvSpPr>
        <p:spPr>
          <a:xfrm>
            <a:off x="548640" y="4846320"/>
            <a:ext cx="8330183" cy="1078992"/>
          </a:xfrm>
          <a:prstGeom prst="rect">
            <a:avLst/>
          </a:prstGeom>
          <a:noFill/>
        </p:spPr>
        <p:txBody>
          <a:bodyPr wrap="square" lIns="18288" rIns="18288" tIns="18288" bIns="18288" anchor="ctr">
            <a:spAutoFit/>
          </a:bodyPr>
          <a:lstStyle/>
          <a:p>
            <a:pPr algn="l"/>
            <a:r>
              <a:rPr sz="2400" b="0" lang="en-US">
                <a:solidFill>
                  <a:srgbClr val="FFFFFF"/>
                </a:solidFill>
                <a:latin typeface="Arial"/>
              </a:rPr>
              <a:t>Verifiable Decentralized Federated Machine Learning
and Inference for AI Agent Systems</a:t>
            </a:r>
          </a:p>
        </p:txBody>
      </p:sp>
      <p:sp>
        <p:nvSpPr>
          <p:cNvPr id="5" name="TextBox 4"/>
          <p:cNvSpPr txBox="1"/>
          <p:nvPr/>
        </p:nvSpPr>
        <p:spPr>
          <a:xfrm>
            <a:off x="557784" y="5989320"/>
            <a:ext cx="2971800" cy="228600"/>
          </a:xfrm>
          <a:prstGeom prst="rect">
            <a:avLst/>
          </a:prstGeom>
          <a:noFill/>
        </p:spPr>
        <p:txBody>
          <a:bodyPr wrap="square" lIns="18288" rIns="18288" tIns="18288" bIns="18288" anchor="t">
            <a:spAutoFit/>
          </a:bodyPr>
          <a:lstStyle/>
          <a:p>
            <a:pPr algn="l"/>
            <a:r>
              <a:rPr sz="1400" b="1" lang="en-US">
                <a:solidFill>
                  <a:srgbClr val="FFFFFF"/>
                </a:solidFill>
                <a:latin typeface="Arial"/>
              </a:rPr>
              <a:t>Ramon Mehrpoya</a:t>
            </a:r>
          </a:p>
        </p:txBody>
      </p:sp>
      <p:sp>
        <p:nvSpPr>
          <p:cNvPr id="6" name="TextBox 5"/>
          <p:cNvSpPr txBox="1"/>
          <p:nvPr/>
        </p:nvSpPr>
        <p:spPr>
          <a:xfrm>
            <a:off x="557784" y="6272784"/>
            <a:ext cx="2971800" cy="201168"/>
          </a:xfrm>
          <a:prstGeom prst="rect">
            <a:avLst/>
          </a:prstGeom>
          <a:noFill/>
        </p:spPr>
        <p:txBody>
          <a:bodyPr wrap="square" lIns="18288" rIns="18288" tIns="18288" bIns="18288" anchor="t">
            <a:spAutoFit/>
          </a:bodyPr>
          <a:lstStyle/>
          <a:p>
            <a:pPr algn="l"/>
            <a:r>
              <a:rPr sz="1050" b="0" lang="en-US">
                <a:solidFill>
                  <a:srgbClr val="FFFFFF"/>
                </a:solidFill>
                <a:latin typeface="Arial"/>
              </a:rPr>
              <a:t>Master's Thesis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About me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ACADEMIC BACKGROUND · PROJECT EXPERIENCE · MASTER'S THESIS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age 2 Ramon Mehrpoya portrait cutout" descr="ramon-mehrpoya-portrait-cutout.png"/>
          <p:cNvPicPr>
            <a:picLocks noChangeAspect="1"/>
          </p:cNvPicPr>
          <p:nvPr/>
        </p:nvPicPr>
        <p:blipFill>
          <a:blip r:embed="rId2"/>
          <a:stretch>
            <a:fillRect/>
          </a:stretch>
        </p:blipFill>
        <p:spPr>
          <a:xfrm>
            <a:off x="863250" y="1380744"/>
            <a:ext cx="3174682" cy="4023360"/>
          </a:xfrm>
          <a:prstGeom prst="rect">
            <a:avLst/>
          </a:prstGeom>
        </p:spPr>
      </p:pic>
      <p:sp>
        <p:nvSpPr>
          <p:cNvPr id="9" name="Page 2 gray portrait frame"/>
          <p:cNvSpPr/>
          <p:nvPr/>
        </p:nvSpPr>
        <p:spPr>
          <a:xfrm>
            <a:off x="612648" y="1362456"/>
            <a:ext cx="3730752" cy="4059936"/>
          </a:xfrm>
          <a:prstGeom prst="roundRect">
            <a:avLst/>
          </a:prstGeom>
          <a:noFill/>
          <a:ln w="17145">
            <a:solidFill>
              <a:srgbClr val="9A9A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56048" y="1499616"/>
            <a:ext cx="5989320" cy="438912"/>
          </a:xfrm>
          <a:prstGeom prst="rect">
            <a:avLst/>
          </a:prstGeom>
          <a:noFill/>
        </p:spPr>
        <p:txBody>
          <a:bodyPr wrap="square" lIns="18288" rIns="18288" tIns="18288" bIns="18288" anchor="ctr">
            <a:spAutoFit/>
          </a:bodyPr>
          <a:lstStyle/>
          <a:p>
            <a:pPr algn="l"/>
            <a:r>
              <a:rPr sz="2600" b="1" lang="en-US">
                <a:solidFill>
                  <a:srgbClr val="434343"/>
                </a:solidFill>
                <a:latin typeface="Arial"/>
              </a:rPr>
              <a:t>Ramon Mehrpoya</a:t>
            </a:r>
          </a:p>
        </p:txBody>
      </p:sp>
      <p:sp>
        <p:nvSpPr>
          <p:cNvPr id="11" name="TextBox 10"/>
          <p:cNvSpPr txBox="1"/>
          <p:nvPr/>
        </p:nvSpPr>
        <p:spPr>
          <a:xfrm>
            <a:off x="4965192" y="2359152"/>
            <a:ext cx="2423160" cy="182880"/>
          </a:xfrm>
          <a:prstGeom prst="rect">
            <a:avLst/>
          </a:prstGeom>
          <a:noFill/>
        </p:spPr>
        <p:txBody>
          <a:bodyPr wrap="square" lIns="18288" rIns="18288" tIns="18288" bIns="18288" anchor="ctr">
            <a:spAutoFit/>
          </a:bodyPr>
          <a:lstStyle/>
          <a:p>
            <a:pPr algn="l"/>
            <a:r>
              <a:rPr sz="840" b="1" lang="en-US">
                <a:solidFill>
                  <a:srgbClr val="C40D1E"/>
                </a:solidFill>
                <a:latin typeface="Arial"/>
              </a:rPr>
              <a:t>ACADEMIC BACKGROUND</a:t>
            </a:r>
          </a:p>
        </p:txBody>
      </p:sp>
      <p:sp>
        <p:nvSpPr>
          <p:cNvPr id="12" name="TextBox 11"/>
          <p:cNvSpPr txBox="1"/>
          <p:nvPr/>
        </p:nvSpPr>
        <p:spPr>
          <a:xfrm>
            <a:off x="4965192" y="2615184"/>
            <a:ext cx="5897880" cy="283464"/>
          </a:xfrm>
          <a:prstGeom prst="rect">
            <a:avLst/>
          </a:prstGeom>
          <a:noFill/>
        </p:spPr>
        <p:txBody>
          <a:bodyPr wrap="square" lIns="18288" rIns="18288" tIns="18288" bIns="18288" anchor="ctr">
            <a:spAutoFit/>
          </a:bodyPr>
          <a:lstStyle/>
          <a:p>
            <a:pPr algn="l"/>
            <a:r>
              <a:rPr sz="1260" b="1" lang="en-US">
                <a:solidFill>
                  <a:srgbClr val="434343"/>
                </a:solidFill>
                <a:latin typeface="Arial"/>
              </a:rPr>
              <a:t>Bachelor's degree in Business Informatics · TU Berlin</a:t>
            </a:r>
          </a:p>
        </p:txBody>
      </p:sp>
      <p:sp>
        <p:nvSpPr>
          <p:cNvPr id="13" name="TextBox 12"/>
          <p:cNvSpPr txBox="1"/>
          <p:nvPr/>
        </p:nvSpPr>
        <p:spPr>
          <a:xfrm>
            <a:off x="4965192" y="2898648"/>
            <a:ext cx="5897880" cy="283464"/>
          </a:xfrm>
          <a:prstGeom prst="rect">
            <a:avLst/>
          </a:prstGeom>
          <a:noFill/>
        </p:spPr>
        <p:txBody>
          <a:bodyPr wrap="square" lIns="18288" rIns="18288" tIns="18288" bIns="18288" anchor="ctr">
            <a:spAutoFit/>
          </a:bodyPr>
          <a:lstStyle/>
          <a:p>
            <a:pPr algn="l"/>
            <a:r>
              <a:rPr sz="1260" b="1" lang="en-US">
                <a:solidFill>
                  <a:srgbClr val="434343"/>
                </a:solidFill>
                <a:latin typeface="Arial"/>
              </a:rPr>
              <a:t>Master's thesis candidate · Computer Science · TU Berlin</a:t>
            </a:r>
          </a:p>
        </p:txBody>
      </p:sp>
      <p:sp>
        <p:nvSpPr>
          <p:cNvPr id="14" name="TextBox 13"/>
          <p:cNvSpPr txBox="1"/>
          <p:nvPr/>
        </p:nvSpPr>
        <p:spPr>
          <a:xfrm>
            <a:off x="4965192" y="3209544"/>
            <a:ext cx="3154680" cy="182880"/>
          </a:xfrm>
          <a:prstGeom prst="rect">
            <a:avLst/>
          </a:prstGeom>
          <a:noFill/>
        </p:spPr>
        <p:txBody>
          <a:bodyPr wrap="square" lIns="18288" rIns="18288" tIns="18288" bIns="18288" anchor="ctr">
            <a:spAutoFit/>
          </a:bodyPr>
          <a:lstStyle/>
          <a:p>
            <a:pPr algn="l"/>
            <a:r>
              <a:rPr sz="840" b="1" lang="en-US">
                <a:solidFill>
                  <a:srgbClr val="C40D1E"/>
                </a:solidFill>
                <a:latin typeface="Arial"/>
              </a:rPr>
              <a:t>PROJECT EXPERIENCE AT ISE, TU BERLIN</a:t>
            </a:r>
          </a:p>
        </p:txBody>
      </p:sp>
      <p:sp>
        <p:nvSpPr>
          <p:cNvPr id="15" name="Rounded Rectangle 14"/>
          <p:cNvSpPr/>
          <p:nvPr/>
        </p:nvSpPr>
        <p:spPr>
          <a:xfrm>
            <a:off x="4956048" y="3429000"/>
            <a:ext cx="1947672" cy="813816"/>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0" y="3575304"/>
            <a:ext cx="1801368" cy="164592"/>
          </a:xfrm>
          <a:prstGeom prst="rect">
            <a:avLst/>
          </a:prstGeom>
          <a:noFill/>
        </p:spPr>
        <p:txBody>
          <a:bodyPr wrap="square" lIns="18288" rIns="18288" tIns="18288" bIns="18288" anchor="ctr">
            <a:spAutoFit/>
          </a:bodyPr>
          <a:lstStyle/>
          <a:p>
            <a:pPr algn="ctr"/>
            <a:r>
              <a:rPr sz="780" b="1" lang="en-US">
                <a:solidFill>
                  <a:srgbClr val="2F8F46"/>
                </a:solidFill>
                <a:latin typeface="Arial"/>
              </a:rPr>
              <a:t>GAIA-X 4 PLC-AAD</a:t>
            </a:r>
          </a:p>
        </p:txBody>
      </p:sp>
      <p:sp>
        <p:nvSpPr>
          <p:cNvPr id="17" name="TextBox 16"/>
          <p:cNvSpPr txBox="1"/>
          <p:nvPr/>
        </p:nvSpPr>
        <p:spPr>
          <a:xfrm>
            <a:off x="5047488" y="3858768"/>
            <a:ext cx="1764792" cy="320040"/>
          </a:xfrm>
          <a:prstGeom prst="rect">
            <a:avLst/>
          </a:prstGeom>
          <a:noFill/>
        </p:spPr>
        <p:txBody>
          <a:bodyPr wrap="square" lIns="18288" rIns="18288" tIns="18288" bIns="18288" anchor="ctr">
            <a:spAutoFit/>
          </a:bodyPr>
          <a:lstStyle/>
          <a:p>
            <a:pPr algn="ctr"/>
            <a:r>
              <a:rPr sz="840" b="1" lang="en-US">
                <a:solidFill>
                  <a:srgbClr val="434343"/>
                </a:solidFill>
                <a:latin typeface="Arial"/>
              </a:rPr>
              <a:t>Blockchain &amp;
encryption</a:t>
            </a:r>
          </a:p>
        </p:txBody>
      </p:sp>
      <p:cxnSp>
        <p:nvCxnSpPr>
          <p:cNvPr id="18" name="Connector 17"/>
          <p:cNvCxnSpPr/>
          <p:nvPr/>
        </p:nvCxnSpPr>
        <p:spPr>
          <a:xfrm>
            <a:off x="5929883" y="4251960"/>
            <a:ext cx="0" cy="32004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976872" y="3429000"/>
            <a:ext cx="1947672" cy="813816"/>
          </a:xfrm>
          <a:prstGeom prst="roundRect">
            <a:avLst/>
          </a:prstGeom>
          <a:solidFill>
            <a:srgbClr val="EAF5FA"/>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50024" y="3575304"/>
            <a:ext cx="1801368" cy="164592"/>
          </a:xfrm>
          <a:prstGeom prst="rect">
            <a:avLst/>
          </a:prstGeom>
          <a:noFill/>
        </p:spPr>
        <p:txBody>
          <a:bodyPr wrap="square" lIns="18288" rIns="18288" tIns="18288" bIns="18288" anchor="ctr">
            <a:spAutoFit/>
          </a:bodyPr>
          <a:lstStyle/>
          <a:p>
            <a:pPr algn="ctr"/>
            <a:r>
              <a:rPr sz="780" b="1" lang="en-US">
                <a:solidFill>
                  <a:srgbClr val="1F90CC"/>
                </a:solidFill>
                <a:latin typeface="Arial"/>
              </a:rPr>
              <a:t>ZOKRATES PLUS</a:t>
            </a:r>
          </a:p>
        </p:txBody>
      </p:sp>
      <p:sp>
        <p:nvSpPr>
          <p:cNvPr id="21" name="TextBox 20"/>
          <p:cNvSpPr txBox="1"/>
          <p:nvPr/>
        </p:nvSpPr>
        <p:spPr>
          <a:xfrm>
            <a:off x="7068312" y="3858768"/>
            <a:ext cx="1764792" cy="320040"/>
          </a:xfrm>
          <a:prstGeom prst="rect">
            <a:avLst/>
          </a:prstGeom>
          <a:noFill/>
        </p:spPr>
        <p:txBody>
          <a:bodyPr wrap="square" lIns="18288" rIns="18288" tIns="18288" bIns="18288" anchor="ctr">
            <a:spAutoFit/>
          </a:bodyPr>
          <a:lstStyle/>
          <a:p>
            <a:pPr algn="ctr"/>
            <a:r>
              <a:rPr sz="840" b="1" lang="en-US">
                <a:solidFill>
                  <a:srgbClr val="434343"/>
                </a:solidFill>
                <a:latin typeface="Arial"/>
              </a:rPr>
              <a:t>ZK · TEE · remote
attestation · DFL</a:t>
            </a:r>
          </a:p>
        </p:txBody>
      </p:sp>
      <p:cxnSp>
        <p:nvCxnSpPr>
          <p:cNvPr id="22" name="Connector 21"/>
          <p:cNvCxnSpPr/>
          <p:nvPr/>
        </p:nvCxnSpPr>
        <p:spPr>
          <a:xfrm>
            <a:off x="7950708" y="4251960"/>
            <a:ext cx="0" cy="32004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988552" y="3429000"/>
            <a:ext cx="1947672" cy="813816"/>
          </a:xfrm>
          <a:prstGeom prst="roundRect">
            <a:avLst/>
          </a:prstGeom>
          <a:solidFill>
            <a:srgbClr val="FFF1E7"/>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61704" y="3575304"/>
            <a:ext cx="1801368" cy="164592"/>
          </a:xfrm>
          <a:prstGeom prst="rect">
            <a:avLst/>
          </a:prstGeom>
          <a:noFill/>
        </p:spPr>
        <p:txBody>
          <a:bodyPr wrap="square" lIns="18288" rIns="18288" tIns="18288" bIns="18288" anchor="ctr">
            <a:spAutoFit/>
          </a:bodyPr>
          <a:lstStyle/>
          <a:p>
            <a:pPr algn="ctr"/>
            <a:r>
              <a:rPr sz="780" b="1" lang="en-US">
                <a:solidFill>
                  <a:srgbClr val="FF6C00"/>
                </a:solidFill>
                <a:latin typeface="Arial"/>
              </a:rPr>
              <a:t>ZODIAC</a:t>
            </a:r>
          </a:p>
        </p:txBody>
      </p:sp>
      <p:sp>
        <p:nvSpPr>
          <p:cNvPr id="25" name="TextBox 24"/>
          <p:cNvSpPr txBox="1"/>
          <p:nvPr/>
        </p:nvSpPr>
        <p:spPr>
          <a:xfrm>
            <a:off x="9079992" y="3858768"/>
            <a:ext cx="1764792" cy="320040"/>
          </a:xfrm>
          <a:prstGeom prst="rect">
            <a:avLst/>
          </a:prstGeom>
          <a:noFill/>
        </p:spPr>
        <p:txBody>
          <a:bodyPr wrap="square" lIns="18288" rIns="18288" tIns="18288" bIns="18288" anchor="ctr">
            <a:spAutoFit/>
          </a:bodyPr>
          <a:lstStyle/>
          <a:p>
            <a:pPr algn="ctr"/>
            <a:r>
              <a:rPr sz="840" b="1" lang="en-US">
                <a:solidFill>
                  <a:srgbClr val="434343"/>
                </a:solidFill>
                <a:latin typeface="Arial"/>
              </a:rPr>
              <a:t>AI agents &amp;
MCP tools</a:t>
            </a:r>
          </a:p>
        </p:txBody>
      </p:sp>
      <p:cxnSp>
        <p:nvCxnSpPr>
          <p:cNvPr id="26" name="Connector 25"/>
          <p:cNvCxnSpPr/>
          <p:nvPr/>
        </p:nvCxnSpPr>
        <p:spPr>
          <a:xfrm>
            <a:off x="9962388" y="4251960"/>
            <a:ext cx="0" cy="32004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4956048" y="4590288"/>
            <a:ext cx="5980176" cy="786384"/>
          </a:xfrm>
          <a:prstGeom prst="roundRect">
            <a:avLst/>
          </a:prstGeom>
          <a:solidFill>
            <a:srgbClr val="FBEAEC"/>
          </a:solidFill>
          <a:ln w="1778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93792" y="4718304"/>
            <a:ext cx="1572768" cy="164592"/>
          </a:xfrm>
          <a:prstGeom prst="rect">
            <a:avLst/>
          </a:prstGeom>
          <a:noFill/>
        </p:spPr>
        <p:txBody>
          <a:bodyPr wrap="square" lIns="18288" rIns="18288" tIns="18288" bIns="18288" anchor="ctr">
            <a:spAutoFit/>
          </a:bodyPr>
          <a:lstStyle/>
          <a:p>
            <a:pPr algn="l"/>
            <a:r>
              <a:rPr sz="780" b="1" lang="en-US">
                <a:solidFill>
                  <a:srgbClr val="C40D1E"/>
                </a:solidFill>
                <a:latin typeface="Arial"/>
              </a:rPr>
              <a:t>THESIS PROTOTYPE</a:t>
            </a:r>
          </a:p>
        </p:txBody>
      </p:sp>
      <p:sp>
        <p:nvSpPr>
          <p:cNvPr id="29" name="TextBox 28"/>
          <p:cNvSpPr txBox="1"/>
          <p:nvPr/>
        </p:nvSpPr>
        <p:spPr>
          <a:xfrm>
            <a:off x="5193792" y="4937760"/>
            <a:ext cx="1234440" cy="265176"/>
          </a:xfrm>
          <a:prstGeom prst="rect">
            <a:avLst/>
          </a:prstGeom>
          <a:noFill/>
        </p:spPr>
        <p:txBody>
          <a:bodyPr wrap="square" lIns="18288" rIns="18288" tIns="18288" bIns="18288" anchor="ctr">
            <a:spAutoFit/>
          </a:bodyPr>
          <a:lstStyle/>
          <a:p>
            <a:pPr algn="l"/>
            <a:r>
              <a:rPr sz="1620" b="1" lang="en-US">
                <a:solidFill>
                  <a:srgbClr val="434343"/>
                </a:solidFill>
                <a:latin typeface="Arial"/>
              </a:rPr>
              <a:t>VITA-FL</a:t>
            </a:r>
          </a:p>
        </p:txBody>
      </p:sp>
      <p:sp>
        <p:nvSpPr>
          <p:cNvPr id="30" name="TextBox 29"/>
          <p:cNvSpPr txBox="1"/>
          <p:nvPr/>
        </p:nvSpPr>
        <p:spPr>
          <a:xfrm>
            <a:off x="6519672" y="4919472"/>
            <a:ext cx="4041648" cy="347472"/>
          </a:xfrm>
          <a:prstGeom prst="rect">
            <a:avLst/>
          </a:prstGeom>
          <a:noFill/>
        </p:spPr>
        <p:txBody>
          <a:bodyPr wrap="square" lIns="18288" rIns="18288" tIns="18288" bIns="18288" anchor="ctr">
            <a:spAutoFit/>
          </a:bodyPr>
          <a:lstStyle/>
          <a:p>
            <a:pPr algn="l"/>
            <a:r>
              <a:rPr sz="960" b="1" lang="en-US">
                <a:solidFill>
                  <a:srgbClr val="434343"/>
                </a:solidFill>
                <a:latin typeface="Arial"/>
              </a:rPr>
              <a:t>Verifiable Inference and Trust Architecture
for Federated Learning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A plausible result is not evidence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STARTING POINT: THE PHYSICIAN'S REQUEST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612648" y="1417320"/>
            <a:ext cx="2816352" cy="3931920"/>
          </a:xfrm>
          <a:prstGeom prst="roundRect">
            <a:avLst/>
          </a:prstGeom>
          <a:solidFill>
            <a:srgbClr val="434343"/>
          </a:solidFill>
          <a:ln w="1270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xray_concept.png"/>
          <p:cNvPicPr>
            <a:picLocks noChangeAspect="1"/>
          </p:cNvPicPr>
          <p:nvPr/>
        </p:nvPicPr>
        <p:blipFill>
          <a:blip r:embed="rId2"/>
          <a:stretch>
            <a:fillRect/>
          </a:stretch>
        </p:blipFill>
        <p:spPr>
          <a:xfrm>
            <a:off x="859536" y="1645920"/>
            <a:ext cx="2322576" cy="2322576"/>
          </a:xfrm>
          <a:prstGeom prst="rect">
            <a:avLst/>
          </a:prstGeom>
        </p:spPr>
      </p:pic>
      <p:sp>
        <p:nvSpPr>
          <p:cNvPr id="10" name="TextBox 9"/>
          <p:cNvSpPr txBox="1"/>
          <p:nvPr/>
        </p:nvSpPr>
        <p:spPr>
          <a:xfrm>
            <a:off x="877824" y="4078224"/>
            <a:ext cx="2267712" cy="594360"/>
          </a:xfrm>
          <a:prstGeom prst="rect">
            <a:avLst/>
          </a:prstGeom>
          <a:noFill/>
        </p:spPr>
        <p:txBody>
          <a:bodyPr wrap="square" lIns="18288" rIns="18288" tIns="18288" bIns="18288" anchor="t">
            <a:spAutoFit/>
          </a:bodyPr>
          <a:lstStyle/>
          <a:p>
            <a:pPr algn="ctr"/>
            <a:r>
              <a:rPr sz="2000" b="1" lang="en-US">
                <a:solidFill>
                  <a:srgbClr val="FFFFFF"/>
                </a:solidFill>
                <a:latin typeface="Arial"/>
              </a:rPr>
              <a:t>“Analyze this
chest X-ray.”</a:t>
            </a:r>
          </a:p>
        </p:txBody>
      </p:sp>
      <p:pic>
        <p:nvPicPr>
          <p:cNvPr id="11" name="Page 3 physician illustration with tablet" descr="image.png"/>
          <p:cNvPicPr>
            <a:picLocks noChangeAspect="1"/>
          </p:cNvPicPr>
          <p:nvPr/>
        </p:nvPicPr>
        <p:blipFill>
          <a:blip r:embed="rId3"/>
          <a:stretch>
            <a:fillRect/>
          </a:stretch>
        </p:blipFill>
        <p:spPr>
          <a:xfrm>
            <a:off x="3822191" y="1417320"/>
            <a:ext cx="7479792" cy="4169663"/>
          </a:xfrm>
          <a:prstGeom prst="rect">
            <a:avLst/>
          </a:prstGeom>
        </p:spPr>
      </p:pic>
      <p:sp>
        <p:nvSpPr>
          <p:cNvPr id="12" name="Rounded Rectangle 11"/>
          <p:cNvSpPr/>
          <p:nvPr/>
        </p:nvSpPr>
        <p:spPr>
          <a:xfrm>
            <a:off x="4087368" y="1719072"/>
            <a:ext cx="3218688" cy="2295144"/>
          </a:xfrm>
          <a:prstGeom prst="roundRect">
            <a:avLst/>
          </a:prstGeom>
          <a:solidFill>
            <a:srgbClr val="FFFFFF"/>
          </a:solidFill>
          <a:ln w="190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087368" y="1719072"/>
            <a:ext cx="91440" cy="2295144"/>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8" y="2029968"/>
            <a:ext cx="2487168" cy="182880"/>
          </a:xfrm>
          <a:prstGeom prst="rect">
            <a:avLst/>
          </a:prstGeom>
          <a:noFill/>
        </p:spPr>
        <p:txBody>
          <a:bodyPr wrap="square" lIns="18288" rIns="18288" tIns="18288" bIns="18288" anchor="t">
            <a:spAutoFit/>
          </a:bodyPr>
          <a:lstStyle/>
          <a:p>
            <a:pPr algn="l"/>
            <a:r>
              <a:rPr sz="950" b="1" lang="en-US">
                <a:solidFill>
                  <a:srgbClr val="C40D1E"/>
                </a:solidFill>
                <a:latin typeface="Arial"/>
              </a:rPr>
              <a:t>THE TEMPTING SHORTCUT</a:t>
            </a:r>
          </a:p>
        </p:txBody>
      </p:sp>
      <p:sp>
        <p:nvSpPr>
          <p:cNvPr id="15" name="TextBox 14"/>
          <p:cNvSpPr txBox="1"/>
          <p:nvPr/>
        </p:nvSpPr>
        <p:spPr>
          <a:xfrm>
            <a:off x="4453128" y="2523744"/>
            <a:ext cx="2596896" cy="832104"/>
          </a:xfrm>
          <a:prstGeom prst="rect">
            <a:avLst/>
          </a:prstGeom>
          <a:noFill/>
        </p:spPr>
        <p:txBody>
          <a:bodyPr wrap="square" lIns="18288" rIns="18288" tIns="18288" bIns="18288" anchor="ctr">
            <a:spAutoFit/>
          </a:bodyPr>
          <a:lstStyle/>
          <a:p>
            <a:pPr algn="l"/>
            <a:r>
              <a:rPr sz="2500" b="1" lang="en-US">
                <a:solidFill>
                  <a:srgbClr val="434343"/>
                </a:solidFill>
                <a:latin typeface="Arial"/>
              </a:rPr>
              <a:t>“Can’t I just
ask an AI?”</a:t>
            </a:r>
          </a:p>
        </p:txBody>
      </p:sp>
      <p:sp>
        <p:nvSpPr>
          <p:cNvPr id="16" name="TextBox 15"/>
          <p:cNvSpPr txBox="1"/>
          <p:nvPr/>
        </p:nvSpPr>
        <p:spPr>
          <a:xfrm>
            <a:off x="4453128" y="3593592"/>
            <a:ext cx="2542032" cy="393192"/>
          </a:xfrm>
          <a:prstGeom prst="rect">
            <a:avLst/>
          </a:prstGeom>
          <a:noFill/>
        </p:spPr>
        <p:txBody>
          <a:bodyPr wrap="square" lIns="18288" rIns="18288" tIns="18288" bIns="18288" anchor="ctr">
            <a:spAutoFit/>
          </a:bodyPr>
          <a:lstStyle/>
          <a:p>
            <a:pPr algn="l"/>
            <a:r>
              <a:rPr sz="1050" b="1" lang="en-US">
                <a:solidFill>
                  <a:srgbClr val="686868"/>
                </a:solidFill>
                <a:latin typeface="Arial"/>
              </a:rPr>
              <a:t>But is it suitable
for clinical use?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A trustworthy answer needs verifiable infrastructure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THE COMPUTER SCIENTIST'S RESPONSE</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age 4 computer scientist illustration with tablet" descr="image.png"/>
          <p:cNvPicPr>
            <a:picLocks noChangeAspect="1"/>
          </p:cNvPicPr>
          <p:nvPr/>
        </p:nvPicPr>
        <p:blipFill>
          <a:blip r:embed="rId2"/>
          <a:stretch>
            <a:fillRect/>
          </a:stretch>
        </p:blipFill>
        <p:spPr>
          <a:xfrm>
            <a:off x="886968" y="1417320"/>
            <a:ext cx="7479792" cy="4169663"/>
          </a:xfrm>
          <a:prstGeom prst="rect">
            <a:avLst/>
          </a:prstGeom>
        </p:spPr>
      </p:pic>
      <p:sp>
        <p:nvSpPr>
          <p:cNvPr id="9" name="Rounded Rectangle 8"/>
          <p:cNvSpPr/>
          <p:nvPr/>
        </p:nvSpPr>
        <p:spPr>
          <a:xfrm>
            <a:off x="4892040" y="1719072"/>
            <a:ext cx="3218688" cy="2295144"/>
          </a:xfrm>
          <a:prstGeom prst="roundRect">
            <a:avLst/>
          </a:prstGeom>
          <a:solidFill>
            <a:srgbClr val="FFFFFF"/>
          </a:solidFill>
          <a:ln w="190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019288" y="1719072"/>
            <a:ext cx="91440" cy="2295144"/>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93792" y="2029968"/>
            <a:ext cx="2542032" cy="182880"/>
          </a:xfrm>
          <a:prstGeom prst="rect">
            <a:avLst/>
          </a:prstGeom>
          <a:noFill/>
        </p:spPr>
        <p:txBody>
          <a:bodyPr wrap="square" lIns="18288" rIns="18288" tIns="18288" bIns="18288" anchor="t">
            <a:spAutoFit/>
          </a:bodyPr>
          <a:lstStyle/>
          <a:p>
            <a:pPr algn="l"/>
            <a:r>
              <a:rPr sz="950" b="1" lang="en-US">
                <a:solidFill>
                  <a:srgbClr val="C40D1E"/>
                </a:solidFill>
                <a:latin typeface="Arial"/>
              </a:rPr>
              <a:t>THE ENGINEERING RESPONSE</a:t>
            </a:r>
          </a:p>
        </p:txBody>
      </p:sp>
      <p:sp>
        <p:nvSpPr>
          <p:cNvPr id="12" name="TextBox 11"/>
          <p:cNvSpPr txBox="1"/>
          <p:nvPr/>
        </p:nvSpPr>
        <p:spPr>
          <a:xfrm>
            <a:off x="5074920" y="2468880"/>
            <a:ext cx="2889504" cy="786384"/>
          </a:xfrm>
          <a:prstGeom prst="rect">
            <a:avLst/>
          </a:prstGeom>
          <a:noFill/>
        </p:spPr>
        <p:txBody>
          <a:bodyPr wrap="square" lIns="18288" rIns="18288" tIns="18288" bIns="18288" anchor="ctr">
            <a:spAutoFit/>
          </a:bodyPr>
          <a:lstStyle/>
          <a:p>
            <a:pPr algn="l"/>
            <a:r>
              <a:rPr sz="1850" b="1" lang="en-US">
                <a:solidFill>
                  <a:srgbClr val="434343"/>
                </a:solidFill>
                <a:latin typeface="Arial"/>
              </a:rPr>
              <a:t>“Then we need more
than an AI model.”</a:t>
            </a:r>
          </a:p>
        </p:txBody>
      </p:sp>
      <p:sp>
        <p:nvSpPr>
          <p:cNvPr id="13" name="TextBox 12"/>
          <p:cNvSpPr txBox="1"/>
          <p:nvPr/>
        </p:nvSpPr>
        <p:spPr>
          <a:xfrm>
            <a:off x="5074920" y="3474720"/>
            <a:ext cx="2761488" cy="393192"/>
          </a:xfrm>
          <a:prstGeom prst="rect">
            <a:avLst/>
          </a:prstGeom>
          <a:noFill/>
        </p:spPr>
        <p:txBody>
          <a:bodyPr wrap="square" lIns="18288" rIns="18288" tIns="18288" bIns="18288" anchor="t">
            <a:spAutoFit/>
          </a:bodyPr>
          <a:lstStyle/>
          <a:p>
            <a:pPr algn="l"/>
            <a:r>
              <a:rPr sz="969" b="1" lang="en-US">
                <a:solidFill>
                  <a:srgbClr val="686868"/>
                </a:solidFill>
                <a:latin typeface="Arial"/>
              </a:rPr>
              <a:t>Training, execution, and publication
must form one inspectable path.</a:t>
            </a:r>
          </a:p>
        </p:txBody>
      </p:sp>
      <p:sp>
        <p:nvSpPr>
          <p:cNvPr id="14" name="Rounded Rectangle 13"/>
          <p:cNvSpPr/>
          <p:nvPr/>
        </p:nvSpPr>
        <p:spPr>
          <a:xfrm>
            <a:off x="8759952" y="1417320"/>
            <a:ext cx="2825496" cy="3941063"/>
          </a:xfrm>
          <a:prstGeom prst="roundRect">
            <a:avLst/>
          </a:prstGeom>
          <a:solidFill>
            <a:srgbClr val="434343"/>
          </a:solidFill>
          <a:ln w="1270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0" y="1627632"/>
            <a:ext cx="2423160" cy="182880"/>
          </a:xfrm>
          <a:prstGeom prst="rect">
            <a:avLst/>
          </a:prstGeom>
          <a:noFill/>
        </p:spPr>
        <p:txBody>
          <a:bodyPr wrap="square" lIns="18288" rIns="18288" tIns="18288" bIns="18288" anchor="t">
            <a:spAutoFit/>
          </a:bodyPr>
          <a:lstStyle/>
          <a:p>
            <a:pPr algn="ctr"/>
            <a:r>
              <a:rPr sz="819" b="1" lang="en-US">
                <a:solidFill>
                  <a:srgbClr val="FFFFFF"/>
                </a:solidFill>
                <a:latin typeface="Arial"/>
              </a:rPr>
              <a:t>REQUIRED SYSTEM ARCHITECTURE</a:t>
            </a:r>
          </a:p>
        </p:txBody>
      </p:sp>
      <p:sp>
        <p:nvSpPr>
          <p:cNvPr id="16" name="Rounded Rectangle 15"/>
          <p:cNvSpPr/>
          <p:nvPr/>
        </p:nvSpPr>
        <p:spPr>
          <a:xfrm>
            <a:off x="8979408" y="1920240"/>
            <a:ext cx="2386584" cy="365760"/>
          </a:xfrm>
          <a:prstGeom prst="roundRect">
            <a:avLst/>
          </a:prstGeom>
          <a:solidFill>
            <a:srgbClr val="505050"/>
          </a:solidFill>
          <a:ln w="10160">
            <a:solidFill>
              <a:srgbClr val="71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079992" y="1993392"/>
            <a:ext cx="219456" cy="219456"/>
          </a:xfrm>
          <a:prstGeom prst="ellipse">
            <a:avLst/>
          </a:prstGeom>
          <a:solidFill>
            <a:srgbClr val="2F8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07424" y="2020824"/>
            <a:ext cx="164592" cy="146304"/>
          </a:xfrm>
          <a:prstGeom prst="rect">
            <a:avLst/>
          </a:prstGeom>
          <a:noFill/>
        </p:spPr>
        <p:txBody>
          <a:bodyPr wrap="square" lIns="0" rIns="0" tIns="0" bIns="0" anchor="ctr">
            <a:spAutoFit/>
          </a:bodyPr>
          <a:lstStyle/>
          <a:p>
            <a:pPr algn="ctr"/>
            <a:r>
              <a:rPr sz="700" b="1" lang="en-US">
                <a:solidFill>
                  <a:srgbClr val="FFFFFF"/>
                </a:solidFill>
                <a:latin typeface="Arial"/>
              </a:rPr>
              <a:t>1</a:t>
            </a:r>
          </a:p>
        </p:txBody>
      </p:sp>
      <p:sp>
        <p:nvSpPr>
          <p:cNvPr id="19" name="TextBox 18"/>
          <p:cNvSpPr txBox="1"/>
          <p:nvPr/>
        </p:nvSpPr>
        <p:spPr>
          <a:xfrm>
            <a:off x="9390888" y="2029968"/>
            <a:ext cx="1847088" cy="155448"/>
          </a:xfrm>
          <a:prstGeom prst="rect">
            <a:avLst/>
          </a:prstGeom>
          <a:noFill/>
        </p:spPr>
        <p:txBody>
          <a:bodyPr wrap="square" lIns="0" rIns="0" tIns="0" bIns="0" anchor="ctr">
            <a:spAutoFit/>
          </a:bodyPr>
          <a:lstStyle/>
          <a:p>
            <a:pPr algn="l"/>
            <a:r>
              <a:rPr sz="750" b="1" lang="en-US">
                <a:solidFill>
                  <a:srgbClr val="FFFFFF"/>
                </a:solidFill>
                <a:latin typeface="Arial"/>
              </a:rPr>
              <a:t>SIGNED MEDICAL DATA</a:t>
            </a:r>
          </a:p>
        </p:txBody>
      </p:sp>
      <p:cxnSp>
        <p:nvCxnSpPr>
          <p:cNvPr id="20" name="Connector 19"/>
          <p:cNvCxnSpPr/>
          <p:nvPr/>
        </p:nvCxnSpPr>
        <p:spPr>
          <a:xfrm>
            <a:off x="10168128" y="2304288"/>
            <a:ext cx="0" cy="155448"/>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979408" y="2487168"/>
            <a:ext cx="2386584" cy="365760"/>
          </a:xfrm>
          <a:prstGeom prst="roundRect">
            <a:avLst/>
          </a:prstGeom>
          <a:solidFill>
            <a:srgbClr val="505050"/>
          </a:solidFill>
          <a:ln w="10160">
            <a:solidFill>
              <a:srgbClr val="71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079992" y="2560320"/>
            <a:ext cx="219456" cy="219456"/>
          </a:xfrm>
          <a:prstGeom prst="ellipse">
            <a:avLst/>
          </a:prstGeom>
          <a:solidFill>
            <a:srgbClr val="1F90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07424" y="2587752"/>
            <a:ext cx="164592" cy="146304"/>
          </a:xfrm>
          <a:prstGeom prst="rect">
            <a:avLst/>
          </a:prstGeom>
          <a:noFill/>
        </p:spPr>
        <p:txBody>
          <a:bodyPr wrap="square" lIns="0" rIns="0" tIns="0" bIns="0" anchor="ctr">
            <a:spAutoFit/>
          </a:bodyPr>
          <a:lstStyle/>
          <a:p>
            <a:pPr algn="ctr"/>
            <a:r>
              <a:rPr sz="700" b="1" lang="en-US">
                <a:solidFill>
                  <a:srgbClr val="FFFFFF"/>
                </a:solidFill>
                <a:latin typeface="Arial"/>
              </a:rPr>
              <a:t>2</a:t>
            </a:r>
          </a:p>
        </p:txBody>
      </p:sp>
      <p:sp>
        <p:nvSpPr>
          <p:cNvPr id="24" name="TextBox 23"/>
          <p:cNvSpPr txBox="1"/>
          <p:nvPr/>
        </p:nvSpPr>
        <p:spPr>
          <a:xfrm>
            <a:off x="9390888" y="2596896"/>
            <a:ext cx="1847088" cy="155448"/>
          </a:xfrm>
          <a:prstGeom prst="rect">
            <a:avLst/>
          </a:prstGeom>
          <a:noFill/>
        </p:spPr>
        <p:txBody>
          <a:bodyPr wrap="square" lIns="0" rIns="0" tIns="0" bIns="0" anchor="ctr">
            <a:spAutoFit/>
          </a:bodyPr>
          <a:lstStyle/>
          <a:p>
            <a:pPr algn="l"/>
            <a:r>
              <a:rPr sz="750" b="1" lang="en-US">
                <a:solidFill>
                  <a:srgbClr val="FFFFFF"/>
                </a:solidFill>
                <a:latin typeface="Arial"/>
              </a:rPr>
              <a:t>ATTESTED DFL</a:t>
            </a:r>
          </a:p>
        </p:txBody>
      </p:sp>
      <p:cxnSp>
        <p:nvCxnSpPr>
          <p:cNvPr id="25" name="Connector 24"/>
          <p:cNvCxnSpPr/>
          <p:nvPr/>
        </p:nvCxnSpPr>
        <p:spPr>
          <a:xfrm>
            <a:off x="10168128" y="2871216"/>
            <a:ext cx="0" cy="146304"/>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979408" y="3044952"/>
            <a:ext cx="2386584" cy="365760"/>
          </a:xfrm>
          <a:prstGeom prst="roundRect">
            <a:avLst/>
          </a:prstGeom>
          <a:solidFill>
            <a:srgbClr val="505050"/>
          </a:solidFill>
          <a:ln w="10160">
            <a:solidFill>
              <a:srgbClr val="71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079992" y="3118104"/>
            <a:ext cx="219456" cy="219456"/>
          </a:xfrm>
          <a:prstGeom prst="ellipse">
            <a:avLst/>
          </a:prstGeom>
          <a:solidFill>
            <a:srgbClr val="7A35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3145536"/>
            <a:ext cx="164592" cy="146304"/>
          </a:xfrm>
          <a:prstGeom prst="rect">
            <a:avLst/>
          </a:prstGeom>
          <a:noFill/>
        </p:spPr>
        <p:txBody>
          <a:bodyPr wrap="square" lIns="0" rIns="0" tIns="0" bIns="0" anchor="ctr">
            <a:spAutoFit/>
          </a:bodyPr>
          <a:lstStyle/>
          <a:p>
            <a:pPr algn="ctr"/>
            <a:r>
              <a:rPr sz="700" b="1" lang="en-US">
                <a:solidFill>
                  <a:srgbClr val="FFFFFF"/>
                </a:solidFill>
                <a:latin typeface="Arial"/>
              </a:rPr>
              <a:t>3</a:t>
            </a:r>
          </a:p>
        </p:txBody>
      </p:sp>
      <p:sp>
        <p:nvSpPr>
          <p:cNvPr id="29" name="TextBox 28"/>
          <p:cNvSpPr txBox="1"/>
          <p:nvPr/>
        </p:nvSpPr>
        <p:spPr>
          <a:xfrm>
            <a:off x="9390888" y="3154680"/>
            <a:ext cx="1847088" cy="155448"/>
          </a:xfrm>
          <a:prstGeom prst="rect">
            <a:avLst/>
          </a:prstGeom>
          <a:noFill/>
        </p:spPr>
        <p:txBody>
          <a:bodyPr wrap="square" lIns="0" rIns="0" tIns="0" bIns="0" anchor="ctr">
            <a:spAutoFit/>
          </a:bodyPr>
          <a:lstStyle/>
          <a:p>
            <a:pPr algn="l"/>
            <a:r>
              <a:rPr sz="750" b="1" lang="en-US">
                <a:solidFill>
                  <a:srgbClr val="FFFFFF"/>
                </a:solidFill>
                <a:latin typeface="Arial"/>
              </a:rPr>
              <a:t>VERIFIED MODEL STATE</a:t>
            </a:r>
          </a:p>
        </p:txBody>
      </p:sp>
      <p:cxnSp>
        <p:nvCxnSpPr>
          <p:cNvPr id="30" name="Connector 29"/>
          <p:cNvCxnSpPr/>
          <p:nvPr/>
        </p:nvCxnSpPr>
        <p:spPr>
          <a:xfrm>
            <a:off x="10168128" y="3429000"/>
            <a:ext cx="0" cy="155448"/>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8979408" y="3611880"/>
            <a:ext cx="2386584" cy="365760"/>
          </a:xfrm>
          <a:prstGeom prst="roundRect">
            <a:avLst/>
          </a:prstGeom>
          <a:solidFill>
            <a:srgbClr val="505050"/>
          </a:solidFill>
          <a:ln w="10160">
            <a:solidFill>
              <a:srgbClr val="71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9079992" y="3685032"/>
            <a:ext cx="219456" cy="219456"/>
          </a:xfrm>
          <a:prstGeom prst="ellipse">
            <a:avLst/>
          </a:prstGeom>
          <a:solidFill>
            <a:srgbClr val="FF6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107424" y="3712464"/>
            <a:ext cx="164592" cy="146304"/>
          </a:xfrm>
          <a:prstGeom prst="rect">
            <a:avLst/>
          </a:prstGeom>
          <a:noFill/>
        </p:spPr>
        <p:txBody>
          <a:bodyPr wrap="square" lIns="0" rIns="0" tIns="0" bIns="0" anchor="ctr">
            <a:spAutoFit/>
          </a:bodyPr>
          <a:lstStyle/>
          <a:p>
            <a:pPr algn="ctr"/>
            <a:r>
              <a:rPr sz="700" b="1" lang="en-US">
                <a:solidFill>
                  <a:srgbClr val="FFFFFF"/>
                </a:solidFill>
                <a:latin typeface="Arial"/>
              </a:rPr>
              <a:t>4</a:t>
            </a:r>
          </a:p>
        </p:txBody>
      </p:sp>
      <p:sp>
        <p:nvSpPr>
          <p:cNvPr id="34" name="TextBox 33"/>
          <p:cNvSpPr txBox="1"/>
          <p:nvPr/>
        </p:nvSpPr>
        <p:spPr>
          <a:xfrm>
            <a:off x="9390888" y="3721608"/>
            <a:ext cx="1847088" cy="155448"/>
          </a:xfrm>
          <a:prstGeom prst="rect">
            <a:avLst/>
          </a:prstGeom>
          <a:noFill/>
        </p:spPr>
        <p:txBody>
          <a:bodyPr wrap="square" lIns="0" rIns="0" tIns="0" bIns="0" anchor="ctr">
            <a:spAutoFit/>
          </a:bodyPr>
          <a:lstStyle/>
          <a:p>
            <a:pPr algn="l"/>
            <a:r>
              <a:rPr sz="750" b="1" lang="en-US">
                <a:solidFill>
                  <a:srgbClr val="FFFFFF"/>
                </a:solidFill>
                <a:latin typeface="Arial"/>
              </a:rPr>
              <a:t>AGENT + INFERENCE TEE</a:t>
            </a:r>
          </a:p>
        </p:txBody>
      </p:sp>
      <p:cxnSp>
        <p:nvCxnSpPr>
          <p:cNvPr id="35" name="Connector 34"/>
          <p:cNvCxnSpPr/>
          <p:nvPr/>
        </p:nvCxnSpPr>
        <p:spPr>
          <a:xfrm>
            <a:off x="10168128" y="3995928"/>
            <a:ext cx="0" cy="155448"/>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8979408" y="4178808"/>
            <a:ext cx="2386584" cy="365760"/>
          </a:xfrm>
          <a:prstGeom prst="roundRect">
            <a:avLst/>
          </a:prstGeom>
          <a:solidFill>
            <a:srgbClr val="505050"/>
          </a:solidFill>
          <a:ln w="10160">
            <a:solidFill>
              <a:srgbClr val="71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9079992" y="4251960"/>
            <a:ext cx="219456" cy="219456"/>
          </a:xfrm>
          <a:prstGeom prst="ellipse">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07424" y="4279392"/>
            <a:ext cx="164592" cy="146304"/>
          </a:xfrm>
          <a:prstGeom prst="rect">
            <a:avLst/>
          </a:prstGeom>
          <a:noFill/>
        </p:spPr>
        <p:txBody>
          <a:bodyPr wrap="square" lIns="0" rIns="0" tIns="0" bIns="0" anchor="ctr">
            <a:spAutoFit/>
          </a:bodyPr>
          <a:lstStyle/>
          <a:p>
            <a:pPr algn="ctr"/>
            <a:r>
              <a:rPr sz="700" b="1" lang="en-US">
                <a:solidFill>
                  <a:srgbClr val="FFFFFF"/>
                </a:solidFill>
                <a:latin typeface="Arial"/>
              </a:rPr>
              <a:t>5</a:t>
            </a:r>
          </a:p>
        </p:txBody>
      </p:sp>
      <p:sp>
        <p:nvSpPr>
          <p:cNvPr id="39" name="TextBox 38"/>
          <p:cNvSpPr txBox="1"/>
          <p:nvPr/>
        </p:nvSpPr>
        <p:spPr>
          <a:xfrm>
            <a:off x="9390888" y="4288536"/>
            <a:ext cx="1847088" cy="155448"/>
          </a:xfrm>
          <a:prstGeom prst="rect">
            <a:avLst/>
          </a:prstGeom>
          <a:noFill/>
        </p:spPr>
        <p:txBody>
          <a:bodyPr wrap="square" lIns="0" rIns="0" tIns="0" bIns="0" anchor="ctr">
            <a:spAutoFit/>
          </a:bodyPr>
          <a:lstStyle/>
          <a:p>
            <a:pPr algn="l"/>
            <a:r>
              <a:rPr sz="750" b="1" lang="en-US">
                <a:solidFill>
                  <a:srgbClr val="FFFFFF"/>
                </a:solidFill>
                <a:latin typeface="Arial"/>
              </a:rPr>
              <a:t>TRANSPARENCY LOG</a:t>
            </a:r>
          </a:p>
        </p:txBody>
      </p:sp>
      <p:sp>
        <p:nvSpPr>
          <p:cNvPr id="40" name="TextBox 39"/>
          <p:cNvSpPr txBox="1"/>
          <p:nvPr/>
        </p:nvSpPr>
        <p:spPr>
          <a:xfrm>
            <a:off x="9015984" y="5010912"/>
            <a:ext cx="2313432" cy="182880"/>
          </a:xfrm>
          <a:prstGeom prst="rect">
            <a:avLst/>
          </a:prstGeom>
          <a:noFill/>
        </p:spPr>
        <p:txBody>
          <a:bodyPr wrap="square" lIns="18288" rIns="18288" tIns="18288" bIns="18288" anchor="t">
            <a:spAutoFit/>
          </a:bodyPr>
          <a:lstStyle/>
          <a:p>
            <a:pPr algn="ctr"/>
            <a:r>
              <a:rPr sz="780" b="1" lang="en-US">
                <a:solidFill>
                  <a:srgbClr val="FFFFFF"/>
                </a:solidFill>
                <a:latin typeface="Arial"/>
              </a:rPr>
              <a:t>Evidence follows every result.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Research gap and research questions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THE MISSING COMPOSITION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5</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749808" y="1399032"/>
            <a:ext cx="3246120" cy="987552"/>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1572768"/>
            <a:ext cx="2971800" cy="292608"/>
          </a:xfrm>
          <a:prstGeom prst="rect">
            <a:avLst/>
          </a:prstGeom>
          <a:noFill/>
        </p:spPr>
        <p:txBody>
          <a:bodyPr wrap="square" lIns="18288" rIns="18288" tIns="18288" bIns="18288" anchor="ctr">
            <a:spAutoFit/>
          </a:bodyPr>
          <a:lstStyle/>
          <a:p>
            <a:pPr algn="ctr"/>
            <a:r>
              <a:rPr sz="1700" b="1" lang="en-US">
                <a:solidFill>
                  <a:srgbClr val="2F8F46"/>
                </a:solidFill>
                <a:latin typeface="Arial"/>
              </a:rPr>
              <a:t>DFL</a:t>
            </a:r>
          </a:p>
        </p:txBody>
      </p:sp>
      <p:sp>
        <p:nvSpPr>
          <p:cNvPr id="10" name="TextBox 9"/>
          <p:cNvSpPr txBox="1"/>
          <p:nvPr/>
        </p:nvSpPr>
        <p:spPr>
          <a:xfrm>
            <a:off x="886968" y="1956816"/>
            <a:ext cx="2971800" cy="246888"/>
          </a:xfrm>
          <a:prstGeom prst="rect">
            <a:avLst/>
          </a:prstGeom>
          <a:noFill/>
        </p:spPr>
        <p:txBody>
          <a:bodyPr wrap="square" lIns="18288" rIns="18288" tIns="18288" bIns="18288" anchor="ctr">
            <a:spAutoFit/>
          </a:bodyPr>
          <a:lstStyle/>
          <a:p>
            <a:pPr algn="ctr"/>
            <a:r>
              <a:rPr sz="1050" b="0" lang="en-US">
                <a:solidFill>
                  <a:srgbClr val="434343"/>
                </a:solidFill>
                <a:latin typeface="Arial"/>
              </a:rPr>
              <a:t>Model production</a:t>
            </a:r>
          </a:p>
        </p:txBody>
      </p:sp>
      <p:sp>
        <p:nvSpPr>
          <p:cNvPr id="11" name="TextBox 10"/>
          <p:cNvSpPr txBox="1"/>
          <p:nvPr/>
        </p:nvSpPr>
        <p:spPr>
          <a:xfrm>
            <a:off x="4087368" y="1664208"/>
            <a:ext cx="338328" cy="365760"/>
          </a:xfrm>
          <a:prstGeom prst="rect">
            <a:avLst/>
          </a:prstGeom>
          <a:noFill/>
        </p:spPr>
        <p:txBody>
          <a:bodyPr wrap="square" lIns="18288" rIns="18288" tIns="18288" bIns="18288" anchor="ctr">
            <a:spAutoFit/>
          </a:bodyPr>
          <a:lstStyle/>
          <a:p>
            <a:pPr algn="ctr"/>
            <a:r>
              <a:rPr sz="2200" b="1" lang="en-US">
                <a:solidFill>
                  <a:srgbClr val="B2B2B2"/>
                </a:solidFill>
                <a:latin typeface="Arial"/>
              </a:rPr>
              <a:t>?</a:t>
            </a:r>
          </a:p>
        </p:txBody>
      </p:sp>
      <p:sp>
        <p:nvSpPr>
          <p:cNvPr id="12" name="Rounded Rectangle 11"/>
          <p:cNvSpPr/>
          <p:nvPr/>
        </p:nvSpPr>
        <p:spPr>
          <a:xfrm>
            <a:off x="4517136" y="1399032"/>
            <a:ext cx="3246120" cy="987552"/>
          </a:xfrm>
          <a:prstGeom prst="roundRect">
            <a:avLst/>
          </a:prstGeom>
          <a:solidFill>
            <a:srgbClr val="FFF1E7"/>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54296" y="1572768"/>
            <a:ext cx="2971800" cy="292608"/>
          </a:xfrm>
          <a:prstGeom prst="rect">
            <a:avLst/>
          </a:prstGeom>
          <a:noFill/>
        </p:spPr>
        <p:txBody>
          <a:bodyPr wrap="square" lIns="18288" rIns="18288" tIns="18288" bIns="18288" anchor="ctr">
            <a:spAutoFit/>
          </a:bodyPr>
          <a:lstStyle/>
          <a:p>
            <a:pPr algn="ctr"/>
            <a:r>
              <a:rPr sz="1700" b="1" lang="en-US">
                <a:solidFill>
                  <a:srgbClr val="FF6C00"/>
                </a:solidFill>
                <a:latin typeface="Arial"/>
              </a:rPr>
              <a:t>AGENT</a:t>
            </a:r>
          </a:p>
        </p:txBody>
      </p:sp>
      <p:sp>
        <p:nvSpPr>
          <p:cNvPr id="14" name="TextBox 13"/>
          <p:cNvSpPr txBox="1"/>
          <p:nvPr/>
        </p:nvSpPr>
        <p:spPr>
          <a:xfrm>
            <a:off x="4654296" y="1956816"/>
            <a:ext cx="2971800" cy="246888"/>
          </a:xfrm>
          <a:prstGeom prst="rect">
            <a:avLst/>
          </a:prstGeom>
          <a:noFill/>
        </p:spPr>
        <p:txBody>
          <a:bodyPr wrap="square" lIns="18288" rIns="18288" tIns="18288" bIns="18288" anchor="ctr">
            <a:spAutoFit/>
          </a:bodyPr>
          <a:lstStyle/>
          <a:p>
            <a:pPr algn="ctr"/>
            <a:r>
              <a:rPr sz="1050" b="0" lang="en-US">
                <a:solidFill>
                  <a:srgbClr val="434343"/>
                </a:solidFill>
                <a:latin typeface="Arial"/>
              </a:rPr>
              <a:t>Tool orchestration</a:t>
            </a:r>
          </a:p>
        </p:txBody>
      </p:sp>
      <p:sp>
        <p:nvSpPr>
          <p:cNvPr id="15" name="TextBox 14"/>
          <p:cNvSpPr txBox="1"/>
          <p:nvPr/>
        </p:nvSpPr>
        <p:spPr>
          <a:xfrm>
            <a:off x="7854696" y="1664208"/>
            <a:ext cx="338328" cy="365760"/>
          </a:xfrm>
          <a:prstGeom prst="rect">
            <a:avLst/>
          </a:prstGeom>
          <a:noFill/>
        </p:spPr>
        <p:txBody>
          <a:bodyPr wrap="square" lIns="18288" rIns="18288" tIns="18288" bIns="18288" anchor="ctr">
            <a:spAutoFit/>
          </a:bodyPr>
          <a:lstStyle/>
          <a:p>
            <a:pPr algn="ctr"/>
            <a:r>
              <a:rPr sz="2200" b="1" lang="en-US">
                <a:solidFill>
                  <a:srgbClr val="B2B2B2"/>
                </a:solidFill>
                <a:latin typeface="Arial"/>
              </a:rPr>
              <a:t>?</a:t>
            </a:r>
          </a:p>
        </p:txBody>
      </p:sp>
      <p:sp>
        <p:nvSpPr>
          <p:cNvPr id="16" name="Rounded Rectangle 15"/>
          <p:cNvSpPr/>
          <p:nvPr/>
        </p:nvSpPr>
        <p:spPr>
          <a:xfrm>
            <a:off x="8284464" y="1399032"/>
            <a:ext cx="3246120" cy="987552"/>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21624" y="1572768"/>
            <a:ext cx="2971800" cy="292608"/>
          </a:xfrm>
          <a:prstGeom prst="rect">
            <a:avLst/>
          </a:prstGeom>
          <a:noFill/>
        </p:spPr>
        <p:txBody>
          <a:bodyPr wrap="square" lIns="18288" rIns="18288" tIns="18288" bIns="18288" anchor="ctr">
            <a:spAutoFit/>
          </a:bodyPr>
          <a:lstStyle/>
          <a:p>
            <a:pPr algn="ctr"/>
            <a:r>
              <a:rPr sz="1700" b="1" lang="en-US">
                <a:solidFill>
                  <a:srgbClr val="1F90CC"/>
                </a:solidFill>
                <a:latin typeface="Arial"/>
              </a:rPr>
              <a:t>INFERENCE</a:t>
            </a:r>
          </a:p>
        </p:txBody>
      </p:sp>
      <p:sp>
        <p:nvSpPr>
          <p:cNvPr id="18" name="TextBox 17"/>
          <p:cNvSpPr txBox="1"/>
          <p:nvPr/>
        </p:nvSpPr>
        <p:spPr>
          <a:xfrm>
            <a:off x="8421624" y="1956816"/>
            <a:ext cx="2971800" cy="246888"/>
          </a:xfrm>
          <a:prstGeom prst="rect">
            <a:avLst/>
          </a:prstGeom>
          <a:noFill/>
        </p:spPr>
        <p:txBody>
          <a:bodyPr wrap="square" lIns="18288" rIns="18288" tIns="18288" bIns="18288" anchor="ctr">
            <a:spAutoFit/>
          </a:bodyPr>
          <a:lstStyle/>
          <a:p>
            <a:pPr algn="ctr"/>
            <a:r>
              <a:rPr sz="1050" b="0" lang="en-US">
                <a:solidFill>
                  <a:srgbClr val="434343"/>
                </a:solidFill>
                <a:latin typeface="Arial"/>
              </a:rPr>
              <a:t>Attested execution</a:t>
            </a:r>
          </a:p>
        </p:txBody>
      </p:sp>
      <p:sp>
        <p:nvSpPr>
          <p:cNvPr id="19" name="Rectangle 18"/>
          <p:cNvSpPr/>
          <p:nvPr/>
        </p:nvSpPr>
        <p:spPr>
          <a:xfrm>
            <a:off x="658368" y="2633472"/>
            <a:ext cx="10872216" cy="585216"/>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761488"/>
            <a:ext cx="10451592" cy="329184"/>
          </a:xfrm>
          <a:prstGeom prst="rect">
            <a:avLst/>
          </a:prstGeom>
          <a:noFill/>
        </p:spPr>
        <p:txBody>
          <a:bodyPr wrap="square" lIns="18288" rIns="18288" tIns="18288" bIns="18288" anchor="ctr">
            <a:spAutoFit/>
          </a:bodyPr>
          <a:lstStyle/>
          <a:p>
            <a:pPr algn="ctr"/>
            <a:r>
              <a:rPr sz="1500" b="1" lang="en-US">
                <a:solidFill>
                  <a:srgbClr val="FFFFFF"/>
                </a:solidFill>
                <a:latin typeface="Arial"/>
              </a:rPr>
              <a:t>Gap: no inspectable path from decentralized training to verified inference.</a:t>
            </a:r>
          </a:p>
        </p:txBody>
      </p:sp>
      <p:sp>
        <p:nvSpPr>
          <p:cNvPr id="21" name="Rounded Rectangle 20"/>
          <p:cNvSpPr/>
          <p:nvPr/>
        </p:nvSpPr>
        <p:spPr>
          <a:xfrm>
            <a:off x="621792" y="3383280"/>
            <a:ext cx="3502152" cy="2048256"/>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248" y="3611880"/>
            <a:ext cx="1051560" cy="310896"/>
          </a:xfrm>
          <a:prstGeom prst="rect">
            <a:avLst/>
          </a:prstGeom>
          <a:noFill/>
        </p:spPr>
        <p:txBody>
          <a:bodyPr wrap="square" lIns="18288" rIns="18288" tIns="18288" bIns="18288" anchor="ctr">
            <a:spAutoFit/>
          </a:bodyPr>
          <a:lstStyle/>
          <a:p>
            <a:pPr algn="l"/>
            <a:r>
              <a:rPr sz="1500" b="1" lang="en-US">
                <a:solidFill>
                  <a:srgbClr val="2F8F46"/>
                </a:solidFill>
                <a:latin typeface="Arial"/>
              </a:rPr>
              <a:t>RQ 1:</a:t>
            </a:r>
          </a:p>
        </p:txBody>
      </p:sp>
      <p:sp>
        <p:nvSpPr>
          <p:cNvPr id="23" name="TextBox 22"/>
          <p:cNvSpPr txBox="1"/>
          <p:nvPr/>
        </p:nvSpPr>
        <p:spPr>
          <a:xfrm>
            <a:off x="841248" y="4005072"/>
            <a:ext cx="3063240" cy="1307592"/>
          </a:xfrm>
          <a:prstGeom prst="rect">
            <a:avLst/>
          </a:prstGeom>
          <a:noFill/>
        </p:spPr>
        <p:txBody>
          <a:bodyPr wrap="square" lIns="18288" rIns="18288" tIns="18288" bIns="18288" anchor="ctr">
            <a:spAutoFit/>
          </a:bodyPr>
          <a:lstStyle/>
          <a:p>
            <a:pPr algn="l"/>
            <a:r>
              <a:rPr sz="1180" b="0" lang="en-US">
                <a:solidFill>
                  <a:srgbClr val="434343"/>
                </a:solidFill>
                <a:latin typeface="Arial"/>
              </a:rPr>
              <a:t>How can DFL models be integrated into AI agent-based system architectures while ensuring trustworthiness across the entire training and inference pipeline?</a:t>
            </a:r>
          </a:p>
        </p:txBody>
      </p:sp>
      <p:sp>
        <p:nvSpPr>
          <p:cNvPr id="24" name="Rounded Rectangle 23"/>
          <p:cNvSpPr/>
          <p:nvPr/>
        </p:nvSpPr>
        <p:spPr>
          <a:xfrm>
            <a:off x="4343400" y="3383280"/>
            <a:ext cx="3502152" cy="2048256"/>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62856" y="3611880"/>
            <a:ext cx="1051560" cy="310896"/>
          </a:xfrm>
          <a:prstGeom prst="rect">
            <a:avLst/>
          </a:prstGeom>
          <a:noFill/>
        </p:spPr>
        <p:txBody>
          <a:bodyPr wrap="square" lIns="18288" rIns="18288" tIns="18288" bIns="18288" anchor="ctr">
            <a:spAutoFit/>
          </a:bodyPr>
          <a:lstStyle/>
          <a:p>
            <a:pPr algn="l"/>
            <a:r>
              <a:rPr sz="1500" b="1" lang="en-US">
                <a:solidFill>
                  <a:srgbClr val="1F90CC"/>
                </a:solidFill>
                <a:latin typeface="Arial"/>
              </a:rPr>
              <a:t>RQ 1.1:</a:t>
            </a:r>
          </a:p>
        </p:txBody>
      </p:sp>
      <p:sp>
        <p:nvSpPr>
          <p:cNvPr id="26" name="TextBox 25"/>
          <p:cNvSpPr txBox="1"/>
          <p:nvPr/>
        </p:nvSpPr>
        <p:spPr>
          <a:xfrm>
            <a:off x="4562856" y="4005072"/>
            <a:ext cx="3063240" cy="1307592"/>
          </a:xfrm>
          <a:prstGeom prst="rect">
            <a:avLst/>
          </a:prstGeom>
          <a:noFill/>
        </p:spPr>
        <p:txBody>
          <a:bodyPr wrap="square" lIns="18288" rIns="18288" tIns="18288" bIns="18288" anchor="ctr">
            <a:spAutoFit/>
          </a:bodyPr>
          <a:lstStyle/>
          <a:p>
            <a:pPr algn="l"/>
            <a:r>
              <a:rPr sz="1180" b="0" lang="en-US">
                <a:solidFill>
                  <a:srgbClr val="434343"/>
                </a:solidFill>
                <a:latin typeface="Arial"/>
              </a:rPr>
              <a:t>How can verifiable DFL guarantee integrity and availability during model training?</a:t>
            </a:r>
          </a:p>
        </p:txBody>
      </p:sp>
      <p:sp>
        <p:nvSpPr>
          <p:cNvPr id="27" name="Rounded Rectangle 26"/>
          <p:cNvSpPr/>
          <p:nvPr/>
        </p:nvSpPr>
        <p:spPr>
          <a:xfrm>
            <a:off x="8065008" y="3383280"/>
            <a:ext cx="3502152" cy="2048256"/>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84464" y="3611880"/>
            <a:ext cx="1051560" cy="310896"/>
          </a:xfrm>
          <a:prstGeom prst="rect">
            <a:avLst/>
          </a:prstGeom>
          <a:noFill/>
        </p:spPr>
        <p:txBody>
          <a:bodyPr wrap="square" lIns="18288" rIns="18288" tIns="18288" bIns="18288" anchor="ctr">
            <a:spAutoFit/>
          </a:bodyPr>
          <a:lstStyle/>
          <a:p>
            <a:pPr algn="l"/>
            <a:r>
              <a:rPr sz="1500" b="1" lang="en-US">
                <a:solidFill>
                  <a:srgbClr val="7A35B5"/>
                </a:solidFill>
                <a:latin typeface="Arial"/>
              </a:rPr>
              <a:t>RQ 1.2:</a:t>
            </a:r>
          </a:p>
        </p:txBody>
      </p:sp>
      <p:sp>
        <p:nvSpPr>
          <p:cNvPr id="29" name="TextBox 28"/>
          <p:cNvSpPr txBox="1"/>
          <p:nvPr/>
        </p:nvSpPr>
        <p:spPr>
          <a:xfrm>
            <a:off x="8284464" y="4005072"/>
            <a:ext cx="3063240" cy="1307592"/>
          </a:xfrm>
          <a:prstGeom prst="rect">
            <a:avLst/>
          </a:prstGeom>
          <a:noFill/>
        </p:spPr>
        <p:txBody>
          <a:bodyPr wrap="square" lIns="18288" rIns="18288" tIns="18288" bIns="18288" anchor="ctr">
            <a:spAutoFit/>
          </a:bodyPr>
          <a:lstStyle/>
          <a:p>
            <a:pPr algn="l"/>
            <a:r>
              <a:rPr sz="1180" b="0" lang="en-US">
                <a:solidFill>
                  <a:srgbClr val="434343"/>
                </a:solidFill>
                <a:latin typeface="Arial"/>
              </a:rPr>
              <a:t>How can ML inference be made verifiable, such that the integrity of model predictions can be guaranteed, for example through cryptographic proofs of execution?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VITA-FL: two responsibility blocks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6</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576072" y="1380744"/>
            <a:ext cx="5468112" cy="4032504"/>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53912" y="1380744"/>
            <a:ext cx="5458968" cy="4032504"/>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1581912"/>
            <a:ext cx="1645920" cy="274320"/>
          </a:xfrm>
          <a:prstGeom prst="rect">
            <a:avLst/>
          </a:prstGeom>
          <a:noFill/>
        </p:spPr>
        <p:txBody>
          <a:bodyPr wrap="square" lIns="18288" rIns="18288" tIns="18288" bIns="18288" anchor="t">
            <a:spAutoFit/>
          </a:bodyPr>
          <a:lstStyle/>
          <a:p>
            <a:pPr algn="l"/>
            <a:r>
              <a:rPr sz="1400" b="1" lang="en-US">
                <a:solidFill>
                  <a:srgbClr val="2F8F46"/>
                </a:solidFill>
                <a:latin typeface="Arial"/>
              </a:rPr>
              <a:t>DFL BLOCK</a:t>
            </a:r>
          </a:p>
        </p:txBody>
      </p:sp>
      <p:sp>
        <p:nvSpPr>
          <p:cNvPr id="11" name="TextBox 10"/>
          <p:cNvSpPr txBox="1"/>
          <p:nvPr/>
        </p:nvSpPr>
        <p:spPr>
          <a:xfrm>
            <a:off x="6382512" y="1581912"/>
            <a:ext cx="3108960" cy="274320"/>
          </a:xfrm>
          <a:prstGeom prst="rect">
            <a:avLst/>
          </a:prstGeom>
          <a:noFill/>
        </p:spPr>
        <p:txBody>
          <a:bodyPr wrap="square" lIns="18288" rIns="18288" tIns="18288" bIns="18288" anchor="t">
            <a:spAutoFit/>
          </a:bodyPr>
          <a:lstStyle/>
          <a:p>
            <a:pPr algn="l"/>
            <a:r>
              <a:rPr sz="1400" b="1" lang="en-US">
                <a:solidFill>
                  <a:srgbClr val="1F90CC"/>
                </a:solidFill>
                <a:latin typeface="Arial"/>
              </a:rPr>
              <a:t>AGENT AND INFERENCE BLOCK</a:t>
            </a:r>
          </a:p>
        </p:txBody>
      </p:sp>
      <p:sp>
        <p:nvSpPr>
          <p:cNvPr id="12" name="Rounded Rectangle 11"/>
          <p:cNvSpPr/>
          <p:nvPr/>
        </p:nvSpPr>
        <p:spPr>
          <a:xfrm>
            <a:off x="841248" y="2121408"/>
            <a:ext cx="1298448" cy="1243584"/>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276856"/>
            <a:ext cx="1188719" cy="292608"/>
          </a:xfrm>
          <a:prstGeom prst="rect">
            <a:avLst/>
          </a:prstGeom>
          <a:noFill/>
        </p:spPr>
        <p:txBody>
          <a:bodyPr wrap="square" lIns="18288" rIns="18288" tIns="18288" bIns="18288" anchor="ctr">
            <a:spAutoFit/>
          </a:bodyPr>
          <a:lstStyle/>
          <a:p>
            <a:pPr algn="ctr"/>
            <a:r>
              <a:rPr sz="1150" b="1" lang="en-US">
                <a:solidFill>
                  <a:srgbClr val="2F8F46"/>
                </a:solidFill>
                <a:latin typeface="Arial"/>
              </a:rPr>
              <a:t>DATA</a:t>
            </a:r>
          </a:p>
        </p:txBody>
      </p:sp>
      <p:sp>
        <p:nvSpPr>
          <p:cNvPr id="14" name="TextBox 13"/>
          <p:cNvSpPr txBox="1"/>
          <p:nvPr/>
        </p:nvSpPr>
        <p:spPr>
          <a:xfrm>
            <a:off x="896112" y="2642616"/>
            <a:ext cx="1188719" cy="566928"/>
          </a:xfrm>
          <a:prstGeom prst="rect">
            <a:avLst/>
          </a:prstGeom>
          <a:noFill/>
        </p:spPr>
        <p:txBody>
          <a:bodyPr wrap="square" lIns="18288" rIns="18288" tIns="18288" bIns="18288" anchor="ctr">
            <a:spAutoFit/>
          </a:bodyPr>
          <a:lstStyle/>
          <a:p>
            <a:pPr algn="ctr"/>
            <a:r>
              <a:rPr sz="1000" b="1" lang="en-US">
                <a:solidFill>
                  <a:srgbClr val="434343"/>
                </a:solidFill>
                <a:latin typeface="Arial"/>
              </a:rPr>
              <a:t>Signed medical
input</a:t>
            </a:r>
          </a:p>
        </p:txBody>
      </p:sp>
      <p:sp>
        <p:nvSpPr>
          <p:cNvPr id="15" name="Rounded Rectangle 14"/>
          <p:cNvSpPr/>
          <p:nvPr/>
        </p:nvSpPr>
        <p:spPr>
          <a:xfrm>
            <a:off x="2331720" y="2121408"/>
            <a:ext cx="1298448" cy="1243584"/>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386584" y="2276856"/>
            <a:ext cx="1188719" cy="292608"/>
          </a:xfrm>
          <a:prstGeom prst="rect">
            <a:avLst/>
          </a:prstGeom>
          <a:noFill/>
        </p:spPr>
        <p:txBody>
          <a:bodyPr wrap="square" lIns="18288" rIns="18288" tIns="18288" bIns="18288" anchor="ctr">
            <a:spAutoFit/>
          </a:bodyPr>
          <a:lstStyle/>
          <a:p>
            <a:pPr algn="ctr"/>
            <a:r>
              <a:rPr sz="1150" b="1" lang="en-US">
                <a:solidFill>
                  <a:srgbClr val="2F8F46"/>
                </a:solidFill>
                <a:latin typeface="Arial"/>
              </a:rPr>
              <a:t>WORKER TEE</a:t>
            </a:r>
          </a:p>
        </p:txBody>
      </p:sp>
      <p:sp>
        <p:nvSpPr>
          <p:cNvPr id="17" name="TextBox 16"/>
          <p:cNvSpPr txBox="1"/>
          <p:nvPr/>
        </p:nvSpPr>
        <p:spPr>
          <a:xfrm>
            <a:off x="2386584" y="2642616"/>
            <a:ext cx="1188719" cy="566928"/>
          </a:xfrm>
          <a:prstGeom prst="rect">
            <a:avLst/>
          </a:prstGeom>
          <a:noFill/>
        </p:spPr>
        <p:txBody>
          <a:bodyPr wrap="square" lIns="18288" rIns="18288" tIns="18288" bIns="18288" anchor="ctr">
            <a:spAutoFit/>
          </a:bodyPr>
          <a:lstStyle/>
          <a:p>
            <a:pPr algn="ctr"/>
            <a:r>
              <a:rPr sz="1000" b="1" lang="en-US">
                <a:solidFill>
                  <a:srgbClr val="434343"/>
                </a:solidFill>
                <a:latin typeface="Arial"/>
              </a:rPr>
              <a:t>Attested
training</a:t>
            </a:r>
          </a:p>
        </p:txBody>
      </p:sp>
      <p:sp>
        <p:nvSpPr>
          <p:cNvPr id="18" name="Rounded Rectangle 17"/>
          <p:cNvSpPr/>
          <p:nvPr/>
        </p:nvSpPr>
        <p:spPr>
          <a:xfrm>
            <a:off x="3913632" y="2121408"/>
            <a:ext cx="1298448" cy="1243584"/>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68496" y="2276856"/>
            <a:ext cx="1188719" cy="292608"/>
          </a:xfrm>
          <a:prstGeom prst="rect">
            <a:avLst/>
          </a:prstGeom>
          <a:noFill/>
        </p:spPr>
        <p:txBody>
          <a:bodyPr wrap="square" lIns="18288" rIns="18288" tIns="18288" bIns="18288" anchor="ctr">
            <a:spAutoFit/>
          </a:bodyPr>
          <a:lstStyle/>
          <a:p>
            <a:pPr algn="ctr"/>
            <a:r>
              <a:rPr sz="1150" b="1" lang="en-US">
                <a:solidFill>
                  <a:srgbClr val="2F8F46"/>
                </a:solidFill>
                <a:latin typeface="Arial"/>
              </a:rPr>
              <a:t>LEDGER</a:t>
            </a:r>
          </a:p>
        </p:txBody>
      </p:sp>
      <p:sp>
        <p:nvSpPr>
          <p:cNvPr id="20" name="TextBox 19"/>
          <p:cNvSpPr txBox="1"/>
          <p:nvPr/>
        </p:nvSpPr>
        <p:spPr>
          <a:xfrm>
            <a:off x="3968496" y="2642616"/>
            <a:ext cx="1188719" cy="566928"/>
          </a:xfrm>
          <a:prstGeom prst="rect">
            <a:avLst/>
          </a:prstGeom>
          <a:noFill/>
        </p:spPr>
        <p:txBody>
          <a:bodyPr wrap="square" lIns="18288" rIns="18288" tIns="18288" bIns="18288" anchor="ctr">
            <a:spAutoFit/>
          </a:bodyPr>
          <a:lstStyle/>
          <a:p>
            <a:pPr algn="ctr"/>
            <a:r>
              <a:rPr sz="1000" b="1" lang="en-US">
                <a:solidFill>
                  <a:srgbClr val="434343"/>
                </a:solidFill>
                <a:latin typeface="Arial"/>
              </a:rPr>
              <a:t>Coordination
and publication</a:t>
            </a:r>
          </a:p>
        </p:txBody>
      </p:sp>
      <p:sp>
        <p:nvSpPr>
          <p:cNvPr id="21" name="Rounded Rectangle 20"/>
          <p:cNvSpPr/>
          <p:nvPr/>
        </p:nvSpPr>
        <p:spPr>
          <a:xfrm>
            <a:off x="6656832" y="2121408"/>
            <a:ext cx="1627632" cy="1243584"/>
          </a:xfrm>
          <a:prstGeom prst="roundRect">
            <a:avLst/>
          </a:prstGeom>
          <a:solidFill>
            <a:srgbClr val="FFFFFF"/>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11696" y="2276856"/>
            <a:ext cx="1517904" cy="292608"/>
          </a:xfrm>
          <a:prstGeom prst="rect">
            <a:avLst/>
          </a:prstGeom>
          <a:noFill/>
        </p:spPr>
        <p:txBody>
          <a:bodyPr wrap="square" lIns="18288" rIns="18288" tIns="18288" bIns="18288" anchor="ctr">
            <a:spAutoFit/>
          </a:bodyPr>
          <a:lstStyle/>
          <a:p>
            <a:pPr algn="ctr"/>
            <a:r>
              <a:rPr sz="1150" b="1" lang="en-US">
                <a:solidFill>
                  <a:srgbClr val="1F90CC"/>
                </a:solidFill>
                <a:latin typeface="Arial"/>
              </a:rPr>
              <a:t>RECEIVER TEE</a:t>
            </a:r>
          </a:p>
        </p:txBody>
      </p:sp>
      <p:sp>
        <p:nvSpPr>
          <p:cNvPr id="23" name="TextBox 22"/>
          <p:cNvSpPr txBox="1"/>
          <p:nvPr/>
        </p:nvSpPr>
        <p:spPr>
          <a:xfrm>
            <a:off x="6711696" y="2642616"/>
            <a:ext cx="1517904" cy="566928"/>
          </a:xfrm>
          <a:prstGeom prst="rect">
            <a:avLst/>
          </a:prstGeom>
          <a:noFill/>
        </p:spPr>
        <p:txBody>
          <a:bodyPr wrap="square" lIns="18288" rIns="18288" tIns="18288" bIns="18288" anchor="ctr">
            <a:spAutoFit/>
          </a:bodyPr>
          <a:lstStyle/>
          <a:p>
            <a:pPr algn="ctr"/>
            <a:r>
              <a:rPr sz="1000" b="1" lang="en-US">
                <a:solidFill>
                  <a:srgbClr val="434343"/>
                </a:solidFill>
                <a:latin typeface="Arial"/>
              </a:rPr>
              <a:t>Independent resolution
and inference</a:t>
            </a:r>
          </a:p>
        </p:txBody>
      </p:sp>
      <p:sp>
        <p:nvSpPr>
          <p:cNvPr id="24" name="Rounded Rectangle 23"/>
          <p:cNvSpPr/>
          <p:nvPr/>
        </p:nvSpPr>
        <p:spPr>
          <a:xfrm>
            <a:off x="8668512" y="2121408"/>
            <a:ext cx="1170432" cy="1243584"/>
          </a:xfrm>
          <a:prstGeom prst="roundRect">
            <a:avLst/>
          </a:prstGeom>
          <a:solidFill>
            <a:srgbClr val="FFFFFF"/>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23376" y="2276856"/>
            <a:ext cx="1060704" cy="292608"/>
          </a:xfrm>
          <a:prstGeom prst="rect">
            <a:avLst/>
          </a:prstGeom>
          <a:noFill/>
        </p:spPr>
        <p:txBody>
          <a:bodyPr wrap="square" lIns="18288" rIns="18288" tIns="18288" bIns="18288" anchor="ctr">
            <a:spAutoFit/>
          </a:bodyPr>
          <a:lstStyle/>
          <a:p>
            <a:pPr algn="ctr"/>
            <a:r>
              <a:rPr sz="1150" b="1" lang="en-US">
                <a:solidFill>
                  <a:srgbClr val="1F90CC"/>
                </a:solidFill>
                <a:latin typeface="Arial"/>
              </a:rPr>
              <a:t>MCP</a:t>
            </a:r>
          </a:p>
        </p:txBody>
      </p:sp>
      <p:sp>
        <p:nvSpPr>
          <p:cNvPr id="26" name="TextBox 25"/>
          <p:cNvSpPr txBox="1"/>
          <p:nvPr/>
        </p:nvSpPr>
        <p:spPr>
          <a:xfrm>
            <a:off x="8723376" y="2642616"/>
            <a:ext cx="1060704" cy="566928"/>
          </a:xfrm>
          <a:prstGeom prst="rect">
            <a:avLst/>
          </a:prstGeom>
          <a:noFill/>
        </p:spPr>
        <p:txBody>
          <a:bodyPr wrap="square" lIns="18288" rIns="18288" tIns="18288" bIns="18288" anchor="ctr">
            <a:spAutoFit/>
          </a:bodyPr>
          <a:lstStyle/>
          <a:p>
            <a:pPr algn="ctr"/>
            <a:r>
              <a:rPr sz="1000" b="1" lang="en-US">
                <a:solidFill>
                  <a:srgbClr val="434343"/>
                </a:solidFill>
                <a:latin typeface="Arial"/>
              </a:rPr>
              <a:t>Three bounded
tools</a:t>
            </a:r>
          </a:p>
        </p:txBody>
      </p:sp>
      <p:sp>
        <p:nvSpPr>
          <p:cNvPr id="27" name="Rounded Rectangle 26"/>
          <p:cNvSpPr/>
          <p:nvPr/>
        </p:nvSpPr>
        <p:spPr>
          <a:xfrm>
            <a:off x="10094976" y="2121408"/>
            <a:ext cx="1170432" cy="1243584"/>
          </a:xfrm>
          <a:prstGeom prst="roundRect">
            <a:avLst/>
          </a:prstGeom>
          <a:solidFill>
            <a:srgbClr val="FFFFFF"/>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149840" y="2276856"/>
            <a:ext cx="1060704" cy="292608"/>
          </a:xfrm>
          <a:prstGeom prst="rect">
            <a:avLst/>
          </a:prstGeom>
          <a:noFill/>
        </p:spPr>
        <p:txBody>
          <a:bodyPr wrap="square" lIns="18288" rIns="18288" tIns="18288" bIns="18288" anchor="ctr">
            <a:spAutoFit/>
          </a:bodyPr>
          <a:lstStyle/>
          <a:p>
            <a:pPr algn="ctr"/>
            <a:r>
              <a:rPr sz="1150" b="1" lang="en-US">
                <a:solidFill>
                  <a:srgbClr val="7A35B5"/>
                </a:solidFill>
                <a:latin typeface="Arial"/>
              </a:rPr>
              <a:t>LOG</a:t>
            </a:r>
          </a:p>
        </p:txBody>
      </p:sp>
      <p:sp>
        <p:nvSpPr>
          <p:cNvPr id="29" name="TextBox 28"/>
          <p:cNvSpPr txBox="1"/>
          <p:nvPr/>
        </p:nvSpPr>
        <p:spPr>
          <a:xfrm>
            <a:off x="10149840" y="2642616"/>
            <a:ext cx="1060704" cy="566928"/>
          </a:xfrm>
          <a:prstGeom prst="rect">
            <a:avLst/>
          </a:prstGeom>
          <a:noFill/>
        </p:spPr>
        <p:txBody>
          <a:bodyPr wrap="square" lIns="18288" rIns="18288" tIns="18288" bIns="18288" anchor="ctr">
            <a:spAutoFit/>
          </a:bodyPr>
          <a:lstStyle/>
          <a:p>
            <a:pPr algn="ctr"/>
            <a:r>
              <a:rPr sz="1000" b="1" lang="en-US">
                <a:solidFill>
                  <a:srgbClr val="434343"/>
                </a:solidFill>
                <a:latin typeface="Arial"/>
              </a:rPr>
              <a:t>Receipts and
evidence</a:t>
            </a:r>
          </a:p>
        </p:txBody>
      </p:sp>
      <p:cxnSp>
        <p:nvCxnSpPr>
          <p:cNvPr id="30" name="Connector 29"/>
          <p:cNvCxnSpPr/>
          <p:nvPr/>
        </p:nvCxnSpPr>
        <p:spPr>
          <a:xfrm>
            <a:off x="2139696" y="2752344"/>
            <a:ext cx="155448" cy="0"/>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630168" y="2752344"/>
            <a:ext cx="246888" cy="0"/>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8284464" y="2752344"/>
            <a:ext cx="347472" cy="0"/>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838944" y="2752344"/>
            <a:ext cx="219456" cy="0"/>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5084064" y="3602736"/>
            <a:ext cx="2084831" cy="886968"/>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212080" y="3758184"/>
            <a:ext cx="1828800" cy="237744"/>
          </a:xfrm>
          <a:prstGeom prst="rect">
            <a:avLst/>
          </a:prstGeom>
          <a:noFill/>
        </p:spPr>
        <p:txBody>
          <a:bodyPr wrap="square" lIns="18288" rIns="18288" tIns="18288" bIns="18288" anchor="t">
            <a:spAutoFit/>
          </a:bodyPr>
          <a:lstStyle/>
          <a:p>
            <a:pPr algn="ctr"/>
            <a:r>
              <a:rPr sz="1400" b="1" lang="en-US">
                <a:solidFill>
                  <a:srgbClr val="7A35B5"/>
                </a:solidFill>
                <a:latin typeface="Arial"/>
              </a:rPr>
              <a:t>IPFS</a:t>
            </a:r>
          </a:p>
        </p:txBody>
      </p:sp>
      <p:sp>
        <p:nvSpPr>
          <p:cNvPr id="36" name="TextBox 35"/>
          <p:cNvSpPr txBox="1"/>
          <p:nvPr/>
        </p:nvSpPr>
        <p:spPr>
          <a:xfrm>
            <a:off x="5230368" y="4105656"/>
            <a:ext cx="1792224" cy="219456"/>
          </a:xfrm>
          <a:prstGeom prst="rect">
            <a:avLst/>
          </a:prstGeom>
          <a:noFill/>
        </p:spPr>
        <p:txBody>
          <a:bodyPr wrap="square" lIns="18288" rIns="18288" tIns="18288" bIns="18288" anchor="t">
            <a:spAutoFit/>
          </a:bodyPr>
          <a:lstStyle/>
          <a:p>
            <a:pPr algn="ctr"/>
            <a:r>
              <a:rPr sz="1050" b="1" lang="en-US">
                <a:solidFill>
                  <a:srgbClr val="434343"/>
                </a:solidFill>
                <a:latin typeface="Arial"/>
              </a:rPr>
              <a:t>Signed, encrypted model</a:t>
            </a:r>
          </a:p>
        </p:txBody>
      </p:sp>
      <p:cxnSp>
        <p:nvCxnSpPr>
          <p:cNvPr id="37" name="Connector 36"/>
          <p:cNvCxnSpPr/>
          <p:nvPr/>
        </p:nvCxnSpPr>
        <p:spPr>
          <a:xfrm>
            <a:off x="5212080" y="3291840"/>
            <a:ext cx="420624" cy="301752"/>
          </a:xfrm>
          <a:prstGeom prst="line">
            <a:avLst/>
          </a:prstGeom>
          <a:ln w="2159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6583680" y="3291840"/>
            <a:ext cx="457200" cy="301752"/>
          </a:xfrm>
          <a:prstGeom prst="line">
            <a:avLst/>
          </a:prstGeom>
          <a:ln w="2159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932688" y="3922776"/>
            <a:ext cx="3931920" cy="566928"/>
          </a:xfrm>
          <a:prstGeom prst="rect">
            <a:avLst/>
          </a:prstGeom>
          <a:noFill/>
        </p:spPr>
        <p:txBody>
          <a:bodyPr wrap="square" lIns="18288" rIns="18288" tIns="18288" bIns="18288" anchor="ctr">
            <a:spAutoFit/>
          </a:bodyPr>
          <a:lstStyle/>
          <a:p>
            <a:pPr algn="ctr"/>
            <a:r>
              <a:rPr sz="1650" b="1" lang="en-US">
                <a:solidFill>
                  <a:srgbClr val="434343"/>
                </a:solidFill>
                <a:latin typeface="Arial"/>
              </a:rPr>
              <a:t>The DFL block produces the authoritative model state.</a:t>
            </a:r>
          </a:p>
        </p:txBody>
      </p:sp>
      <p:sp>
        <p:nvSpPr>
          <p:cNvPr id="40" name="TextBox 39"/>
          <p:cNvSpPr txBox="1"/>
          <p:nvPr/>
        </p:nvSpPr>
        <p:spPr>
          <a:xfrm>
            <a:off x="7150608" y="3922776"/>
            <a:ext cx="4005072" cy="566928"/>
          </a:xfrm>
          <a:prstGeom prst="rect">
            <a:avLst/>
          </a:prstGeom>
          <a:noFill/>
        </p:spPr>
        <p:txBody>
          <a:bodyPr wrap="square" lIns="18288" rIns="18288" tIns="18288" bIns="18288" anchor="ctr">
            <a:spAutoFit/>
          </a:bodyPr>
          <a:lstStyle/>
          <a:p>
            <a:pPr algn="ctr"/>
            <a:r>
              <a:rPr sz="1650" b="1" lang="en-US">
                <a:solidFill>
                  <a:srgbClr val="434343"/>
                </a:solidFill>
                <a:latin typeface="Arial"/>
              </a:rPr>
              <a:t>The agent orchestrates the deterministic components.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Decentralized training across hospitals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LOCAL DATA · SHARED MODEL · VERIFIABLE COORDINATION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7</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cxnSp>
        <p:nvCxnSpPr>
          <p:cNvPr id="8" name="Connector 7"/>
          <p:cNvCxnSpPr/>
          <p:nvPr/>
        </p:nvCxnSpPr>
        <p:spPr>
          <a:xfrm flipV="1">
            <a:off x="4178808" y="1530999"/>
            <a:ext cx="213359" cy="3262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4392167" y="1502212"/>
            <a:ext cx="213361" cy="287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4605528" y="1477264"/>
            <a:ext cx="213360" cy="249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4818888" y="1456153"/>
            <a:ext cx="213360" cy="2111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5032248" y="1438881"/>
            <a:ext cx="213360" cy="1727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5245608" y="1425448"/>
            <a:ext cx="213360" cy="1343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5458968" y="1415852"/>
            <a:ext cx="213360" cy="959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5672328" y="1410095"/>
            <a:ext cx="213360" cy="575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5885688" y="1408176"/>
            <a:ext cx="213360" cy="191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099048" y="1408176"/>
            <a:ext cx="213360" cy="191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312408" y="1410095"/>
            <a:ext cx="213360" cy="575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525768" y="1415852"/>
            <a:ext cx="213359" cy="959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739127" y="1425448"/>
            <a:ext cx="213360" cy="1343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952487" y="1438881"/>
            <a:ext cx="213360" cy="1727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165847" y="1456153"/>
            <a:ext cx="213361" cy="2111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379208" y="1477264"/>
            <a:ext cx="213359" cy="249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592567" y="1502212"/>
            <a:ext cx="213361" cy="287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805928" y="1530999"/>
            <a:ext cx="213360" cy="32625"/>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582912" y="1984248"/>
            <a:ext cx="144836" cy="5616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727748" y="2040410"/>
            <a:ext cx="133773" cy="5875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861521" y="2099168"/>
            <a:ext cx="122711" cy="6135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984232" y="2160524"/>
            <a:ext cx="111647" cy="6395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0095879" y="2224475"/>
            <a:ext cx="100584" cy="665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196463" y="2291023"/>
            <a:ext cx="89521" cy="691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285984" y="2360168"/>
            <a:ext cx="78457" cy="7174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364441" y="2431908"/>
            <a:ext cx="67395" cy="7433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431836" y="2506246"/>
            <a:ext cx="56332" cy="7693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488168" y="2583180"/>
            <a:ext cx="45268" cy="7953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533436" y="2662710"/>
            <a:ext cx="34205" cy="8212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567641" y="2744836"/>
            <a:ext cx="23143" cy="8472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590784" y="2829559"/>
            <a:ext cx="12079" cy="8732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602863" y="2916879"/>
            <a:ext cx="1016" cy="8991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10593832" y="3006795"/>
            <a:ext cx="10047" cy="9251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10572721" y="3099308"/>
            <a:ext cx="21111" cy="9510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10540548" y="3194416"/>
            <a:ext cx="32173" cy="9770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10497312" y="3292122"/>
            <a:ext cx="43236" cy="100302"/>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9520766" y="4023360"/>
            <a:ext cx="80434" cy="14032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a:off x="9431866" y="4163680"/>
            <a:ext cx="88900" cy="1303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a:off x="9334500" y="4294067"/>
            <a:ext cx="97366" cy="12045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9228666" y="4414520"/>
            <a:ext cx="105834" cy="11051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9114366" y="4525038"/>
            <a:ext cx="114300" cy="10058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a:off x="8991600" y="4625622"/>
            <a:ext cx="122766" cy="9065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a:off x="8860366" y="4716272"/>
            <a:ext cx="131234" cy="8071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a:off x="8720666" y="4796987"/>
            <a:ext cx="139700" cy="7078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a:off x="8572500" y="4867768"/>
            <a:ext cx="148166" cy="608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a:off x="8415866" y="4928616"/>
            <a:ext cx="156634" cy="5091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a:off x="8250766" y="4979528"/>
            <a:ext cx="165100" cy="4097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a:off x="8077200" y="5020507"/>
            <a:ext cx="173566" cy="310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a:off x="7895166" y="5051552"/>
            <a:ext cx="182034" cy="2111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a:off x="7704666" y="5072662"/>
            <a:ext cx="190500" cy="1117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a:off x="7505700" y="5083838"/>
            <a:ext cx="198966" cy="124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7298266" y="5076387"/>
            <a:ext cx="207434" cy="869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7082366" y="5057760"/>
            <a:ext cx="215900" cy="1862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6858000" y="5029200"/>
            <a:ext cx="224366" cy="28560"/>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a:off x="5106585" y="5029200"/>
            <a:ext cx="224367" cy="2856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a:off x="4890685" y="5057760"/>
            <a:ext cx="215900" cy="1862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a:off x="4683252" y="5076387"/>
            <a:ext cx="207433" cy="869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4484285" y="5083838"/>
            <a:ext cx="198967" cy="124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4293785" y="5072662"/>
            <a:ext cx="190500" cy="1117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4111752" y="5051552"/>
            <a:ext cx="182033" cy="2111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3938185" y="5020507"/>
            <a:ext cx="173567" cy="310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3773085" y="4979528"/>
            <a:ext cx="165100" cy="4097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3616452" y="4928616"/>
            <a:ext cx="156633" cy="5091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3468285" y="4867768"/>
            <a:ext cx="148167" cy="608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3328585" y="4796987"/>
            <a:ext cx="139700" cy="7078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3197352" y="4716272"/>
            <a:ext cx="131233" cy="8071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3074585" y="4625622"/>
            <a:ext cx="122767" cy="9065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H="1" flipV="1">
            <a:off x="2960285" y="4525038"/>
            <a:ext cx="114300" cy="10058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H="1" flipV="1">
            <a:off x="2854452" y="4414520"/>
            <a:ext cx="105833" cy="11051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H="1" flipV="1">
            <a:off x="2757085" y="4294067"/>
            <a:ext cx="97367" cy="12045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H="1" flipV="1">
            <a:off x="2668185" y="4163680"/>
            <a:ext cx="88900" cy="1303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H="1" flipV="1">
            <a:off x="2587752" y="4023360"/>
            <a:ext cx="80433" cy="140320"/>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1691640" y="3295960"/>
            <a:ext cx="53678" cy="9646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1745318" y="3201641"/>
            <a:ext cx="53340" cy="9431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1798658" y="3109468"/>
            <a:ext cx="53002" cy="9217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1851660" y="3019439"/>
            <a:ext cx="52662" cy="9002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1904322" y="2931555"/>
            <a:ext cx="52324" cy="8788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1956646" y="2845816"/>
            <a:ext cx="51986" cy="8573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2008632" y="2762221"/>
            <a:ext cx="51646" cy="8359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2060278" y="2680772"/>
            <a:ext cx="51308" cy="8144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2111586" y="2601468"/>
            <a:ext cx="50970" cy="7930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2162556" y="2524308"/>
            <a:ext cx="50630" cy="7716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2213186" y="2449293"/>
            <a:ext cx="50292" cy="7501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2263478" y="2376424"/>
            <a:ext cx="49954" cy="7286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2313432" y="2305699"/>
            <a:ext cx="49614" cy="7072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2363046" y="2237119"/>
            <a:ext cx="49276" cy="6858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2412322" y="2170684"/>
            <a:ext cx="48938" cy="6643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2461260" y="2106393"/>
            <a:ext cx="48598" cy="6429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2509858" y="2044248"/>
            <a:ext cx="48260" cy="621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2558118" y="1984248"/>
            <a:ext cx="47922" cy="60000"/>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H="1" flipV="1">
            <a:off x="5191327" y="2159377"/>
            <a:ext cx="66473" cy="8090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H="1" flipV="1">
            <a:off x="5124497" y="2085832"/>
            <a:ext cx="66830" cy="7354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H="1" flipV="1">
            <a:off x="5057310" y="2019645"/>
            <a:ext cx="67187" cy="6618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H="1" flipV="1">
            <a:off x="4989766" y="1960816"/>
            <a:ext cx="67544" cy="5882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H="1" flipV="1">
            <a:off x="4921865" y="1909345"/>
            <a:ext cx="67901" cy="514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H="1" flipV="1">
            <a:off x="4853606" y="1865233"/>
            <a:ext cx="68259" cy="4411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H="1" flipV="1">
            <a:off x="4784990" y="1828478"/>
            <a:ext cx="68616" cy="3675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H="1" flipV="1">
            <a:off x="4716018" y="1799082"/>
            <a:ext cx="68972" cy="2939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H="1" flipV="1">
            <a:off x="4646687" y="1777043"/>
            <a:ext cx="69331" cy="2203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H="1" flipV="1">
            <a:off x="4577000" y="1762363"/>
            <a:ext cx="69687" cy="1468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H="1" flipV="1">
            <a:off x="4506956" y="1755040"/>
            <a:ext cx="70044" cy="732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H="1">
            <a:off x="4436554" y="1755040"/>
            <a:ext cx="70402" cy="3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H="1">
            <a:off x="4365795" y="1755076"/>
            <a:ext cx="70759" cy="7394"/>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H="1">
            <a:off x="4294679" y="1762470"/>
            <a:ext cx="71116" cy="1475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H="1">
            <a:off x="4223206" y="1777222"/>
            <a:ext cx="71473" cy="2211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H="1">
            <a:off x="4151376" y="1799332"/>
            <a:ext cx="71830" cy="29468"/>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6931152" y="2159377"/>
            <a:ext cx="67544" cy="8090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6998696" y="2085832"/>
            <a:ext cx="67758" cy="7354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7066454" y="2019645"/>
            <a:ext cx="67973" cy="6618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7134427" y="1960816"/>
            <a:ext cx="68187" cy="5882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7202614" y="1909345"/>
            <a:ext cx="68401" cy="514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7271015" y="1865233"/>
            <a:ext cx="68616" cy="4411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7339631" y="1828478"/>
            <a:ext cx="68830" cy="3675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7408461" y="1799082"/>
            <a:ext cx="69045" cy="2939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7477506" y="1777043"/>
            <a:ext cx="69258" cy="2203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7546764" y="1762363"/>
            <a:ext cx="69473" cy="1468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7616237" y="1755040"/>
            <a:ext cx="69687" cy="732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a:off x="7685924" y="1755040"/>
            <a:ext cx="69902" cy="3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7755826" y="1755076"/>
            <a:ext cx="70116" cy="7394"/>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a:off x="7825942" y="1762470"/>
            <a:ext cx="70330" cy="1475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a:off x="7896272" y="1777222"/>
            <a:ext cx="70545" cy="2211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a:off x="7966817" y="1799332"/>
            <a:ext cx="70758" cy="29468"/>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H="1">
            <a:off x="4515278" y="3044952"/>
            <a:ext cx="129874" cy="74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H="1">
            <a:off x="4390834" y="3052417"/>
            <a:ext cx="124444" cy="109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H="1">
            <a:off x="4271819" y="3063382"/>
            <a:ext cx="119015" cy="1446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H="1">
            <a:off x="4158233" y="3077848"/>
            <a:ext cx="113586" cy="17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H="1">
            <a:off x="4050077" y="3095815"/>
            <a:ext cx="108156" cy="214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H="1">
            <a:off x="3947350" y="3117282"/>
            <a:ext cx="102727" cy="24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H="1">
            <a:off x="3850052" y="3142249"/>
            <a:ext cx="97298" cy="28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H="1">
            <a:off x="3758184" y="3170717"/>
            <a:ext cx="91868" cy="31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H="1">
            <a:off x="3671744" y="3202686"/>
            <a:ext cx="86440" cy="35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H="1">
            <a:off x="3590734" y="3238154"/>
            <a:ext cx="81010" cy="38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H="1">
            <a:off x="3515153" y="3277123"/>
            <a:ext cx="75581" cy="42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H="1">
            <a:off x="3445002" y="3319593"/>
            <a:ext cx="70151" cy="459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H="1">
            <a:off x="3380279" y="3365563"/>
            <a:ext cx="64723" cy="49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H="1">
            <a:off x="3320986" y="3415033"/>
            <a:ext cx="59293" cy="529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H="1">
            <a:off x="3267122" y="3468004"/>
            <a:ext cx="53864" cy="5647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H="1">
            <a:off x="3218688" y="3524476"/>
            <a:ext cx="48434" cy="59972"/>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a:off x="7543800" y="3044952"/>
            <a:ext cx="130980" cy="74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a:off x="7674780" y="3052417"/>
            <a:ext cx="125480" cy="109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a:off x="7800260" y="3063382"/>
            <a:ext cx="119979" cy="1446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a:off x="7920239" y="3077848"/>
            <a:ext cx="114479" cy="17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a:off x="8034718" y="3095815"/>
            <a:ext cx="108978" cy="214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a:off x="8143696" y="3117282"/>
            <a:ext cx="103477" cy="24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a:off x="8247173" y="3142249"/>
            <a:ext cx="97977" cy="28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a:off x="8345150" y="3170717"/>
            <a:ext cx="92476" cy="31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a:off x="8437626" y="3202686"/>
            <a:ext cx="86975" cy="35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a:off x="8524601" y="3238154"/>
            <a:ext cx="81474" cy="38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a:off x="8606075" y="3277123"/>
            <a:ext cx="75974" cy="42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a:off x="8682049" y="3319593"/>
            <a:ext cx="70473" cy="459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a:off x="8752522" y="3365563"/>
            <a:ext cx="64972" cy="49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8817494" y="3415033"/>
            <a:ext cx="59472" cy="529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8876966" y="3468004"/>
            <a:ext cx="53971" cy="5647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a:off x="8930937" y="3524476"/>
            <a:ext cx="48471" cy="59972"/>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a:off x="3392424" y="2157984"/>
            <a:ext cx="12954" cy="2283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a:off x="3405378" y="2386330"/>
            <a:ext cx="22606" cy="2156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a:off x="3427984" y="2601976"/>
            <a:ext cx="32258" cy="2029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a:off x="3553714" y="3172713"/>
            <a:ext cx="61214" cy="164847"/>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a:off x="3614928" y="3337560"/>
            <a:ext cx="70866" cy="1521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a:off x="3685794" y="3489706"/>
            <a:ext cx="80518" cy="1394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a:off x="3956304" y="3869944"/>
            <a:ext cx="109473" cy="1013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a:off x="4065777" y="3971290"/>
            <a:ext cx="119127" cy="886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a:off x="4184904" y="4059936"/>
            <a:ext cx="128777" cy="759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a:off x="4600194" y="4249674"/>
            <a:ext cx="157734" cy="378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a:off x="4757928" y="4287520"/>
            <a:ext cx="167386" cy="251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a:off x="4925314" y="4312666"/>
            <a:ext cx="177038" cy="12446"/>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H="1">
            <a:off x="8791758" y="2157984"/>
            <a:ext cx="13914" cy="2283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H="1">
            <a:off x="8768305" y="2386330"/>
            <a:ext cx="23453" cy="2156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H="1">
            <a:off x="8735314" y="2601976"/>
            <a:ext cx="32991" cy="2029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H="1">
            <a:off x="8579104" y="3172713"/>
            <a:ext cx="61609" cy="164847"/>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H="1">
            <a:off x="8507955" y="3337560"/>
            <a:ext cx="71149" cy="1521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H="1">
            <a:off x="8427268" y="3489706"/>
            <a:ext cx="80687" cy="1394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H="1">
            <a:off x="8127971" y="3869944"/>
            <a:ext cx="109305" cy="1013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H="1">
            <a:off x="8009128" y="3971290"/>
            <a:ext cx="118843" cy="886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H="1">
            <a:off x="7880745" y="4059936"/>
            <a:ext cx="128383" cy="759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H="1">
            <a:off x="7438361" y="4249674"/>
            <a:ext cx="157001" cy="378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H="1">
            <a:off x="7271822" y="4287520"/>
            <a:ext cx="166539" cy="251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H="1">
            <a:off x="7095744" y="4312666"/>
            <a:ext cx="176078" cy="12446"/>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H="1">
            <a:off x="8915597" y="3922776"/>
            <a:ext cx="72955" cy="118759"/>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H="1">
            <a:off x="8838974" y="4041535"/>
            <a:ext cx="76623" cy="110405"/>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H="1">
            <a:off x="8758682" y="4151940"/>
            <a:ext cx="80292" cy="102052"/>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H="1">
            <a:off x="8495792" y="4433033"/>
            <a:ext cx="91298" cy="7699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H="1">
            <a:off x="8400824" y="4510024"/>
            <a:ext cx="94968" cy="6863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H="1">
            <a:off x="8302187" y="4578660"/>
            <a:ext cx="98637" cy="6028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H="1">
            <a:off x="7984264" y="4734447"/>
            <a:ext cx="109643" cy="3522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H="1">
            <a:off x="7870952" y="4769668"/>
            <a:ext cx="113312" cy="2686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H="1">
            <a:off x="7753970" y="4796536"/>
            <a:ext cx="116982" cy="1851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H="1" flipV="1">
            <a:off x="7381014" y="4820468"/>
            <a:ext cx="127988" cy="654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H="1" flipV="1">
            <a:off x="7249357" y="4805567"/>
            <a:ext cx="131657" cy="1490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H="1" flipV="1">
            <a:off x="7114032" y="4782312"/>
            <a:ext cx="135325" cy="23255"/>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a:off x="3200400" y="3922776"/>
            <a:ext cx="73942" cy="118759"/>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a:off x="3274342" y="4041535"/>
            <a:ext cx="77554" cy="110405"/>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a:off x="3351896" y="4151940"/>
            <a:ext cx="81168" cy="102052"/>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a:off x="3606235" y="4433033"/>
            <a:ext cx="92005" cy="7699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a:off x="3698240" y="4510024"/>
            <a:ext cx="95616" cy="6863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a:off x="3793856" y="4578660"/>
            <a:ext cx="99230" cy="6028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a:off x="4102382" y="4734447"/>
            <a:ext cx="110066" cy="3522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a:off x="4212448" y="4769668"/>
            <a:ext cx="113680" cy="2686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a:off x="4326128" y="4796536"/>
            <a:ext cx="117291" cy="1851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4688840" y="4820468"/>
            <a:ext cx="128128" cy="654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4816968" y="4805567"/>
            <a:ext cx="131742" cy="1490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4948710" y="4782312"/>
            <a:ext cx="135354" cy="23255"/>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6099048" y="4352635"/>
            <a:ext cx="0" cy="54773"/>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6099048" y="4298045"/>
            <a:ext cx="0" cy="54590"/>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H="1" flipV="1">
            <a:off x="6099047" y="4243638"/>
            <a:ext cx="1" cy="54407"/>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6099047" y="4189415"/>
            <a:ext cx="1" cy="54223"/>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6099048" y="4135374"/>
            <a:ext cx="0" cy="54041"/>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flipV="1">
            <a:off x="6099048" y="4081515"/>
            <a:ext cx="0" cy="53859"/>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flipV="1">
            <a:off x="6099048" y="4027840"/>
            <a:ext cx="0" cy="53675"/>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flipV="1">
            <a:off x="6099048" y="3974348"/>
            <a:ext cx="0" cy="53492"/>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flipV="1">
            <a:off x="6099048" y="3921038"/>
            <a:ext cx="0" cy="53310"/>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flipV="1">
            <a:off x="6099048" y="3867912"/>
            <a:ext cx="0" cy="53126"/>
          </a:xfrm>
          <a:prstGeom prst="line">
            <a:avLst/>
          </a:prstGeom>
          <a:ln w="3429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0" name="TextBox 219"/>
          <p:cNvSpPr txBox="1"/>
          <p:nvPr/>
        </p:nvSpPr>
        <p:spPr>
          <a:xfrm>
            <a:off x="6217920" y="4096512"/>
            <a:ext cx="1325880" cy="164592"/>
          </a:xfrm>
          <a:prstGeom prst="rect">
            <a:avLst/>
          </a:prstGeom>
          <a:noFill/>
        </p:spPr>
        <p:txBody>
          <a:bodyPr wrap="square" lIns="18288" rIns="18288" tIns="18288" bIns="18288" anchor="t">
            <a:spAutoFit/>
          </a:bodyPr>
          <a:lstStyle/>
          <a:p>
            <a:pPr algn="l"/>
            <a:r>
              <a:rPr sz="780" b="1" lang="en-US">
                <a:solidFill>
                  <a:srgbClr val="1F90CC"/>
                </a:solidFill>
                <a:latin typeface="Arial"/>
              </a:rPr>
              <a:t>Aggregated publication</a:t>
            </a:r>
          </a:p>
        </p:txBody>
      </p:sp>
      <p:sp>
        <p:nvSpPr>
          <p:cNvPr id="221" name="Rounded Rectangle 220"/>
          <p:cNvSpPr/>
          <p:nvPr/>
        </p:nvSpPr>
        <p:spPr>
          <a:xfrm>
            <a:off x="2606040" y="1444752"/>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Rectangle 221"/>
          <p:cNvSpPr/>
          <p:nvPr/>
        </p:nvSpPr>
        <p:spPr>
          <a:xfrm>
            <a:off x="2775204" y="1784725"/>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Rectangle 222"/>
          <p:cNvSpPr/>
          <p:nvPr/>
        </p:nvSpPr>
        <p:spPr>
          <a:xfrm>
            <a:off x="2857682" y="1589775"/>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Rounded Rectangle 223"/>
          <p:cNvSpPr/>
          <p:nvPr/>
        </p:nvSpPr>
        <p:spPr>
          <a:xfrm>
            <a:off x="2887675" y="1627266"/>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TextBox 224"/>
          <p:cNvSpPr txBox="1"/>
          <p:nvPr/>
        </p:nvSpPr>
        <p:spPr>
          <a:xfrm>
            <a:off x="2902671" y="1631015"/>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26" name="Rectangle 225"/>
          <p:cNvSpPr/>
          <p:nvPr/>
        </p:nvSpPr>
        <p:spPr>
          <a:xfrm>
            <a:off x="2921416" y="1837212"/>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Rectangle 226"/>
          <p:cNvSpPr/>
          <p:nvPr/>
        </p:nvSpPr>
        <p:spPr>
          <a:xfrm>
            <a:off x="2801447"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Rectangle 227"/>
          <p:cNvSpPr/>
          <p:nvPr/>
        </p:nvSpPr>
        <p:spPr>
          <a:xfrm>
            <a:off x="3071378"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TextBox 228"/>
          <p:cNvSpPr txBox="1"/>
          <p:nvPr/>
        </p:nvSpPr>
        <p:spPr>
          <a:xfrm>
            <a:off x="3246120" y="1591056"/>
            <a:ext cx="841247"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A</a:t>
            </a:r>
          </a:p>
        </p:txBody>
      </p:sp>
      <p:sp>
        <p:nvSpPr>
          <p:cNvPr id="230" name="TextBox 229"/>
          <p:cNvSpPr txBox="1"/>
          <p:nvPr/>
        </p:nvSpPr>
        <p:spPr>
          <a:xfrm>
            <a:off x="3246120" y="1828800"/>
            <a:ext cx="841247"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31" name="Rounded Rectangle 230"/>
          <p:cNvSpPr/>
          <p:nvPr/>
        </p:nvSpPr>
        <p:spPr>
          <a:xfrm>
            <a:off x="8019288" y="1444752"/>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Rectangle 231"/>
          <p:cNvSpPr/>
          <p:nvPr/>
        </p:nvSpPr>
        <p:spPr>
          <a:xfrm>
            <a:off x="8188452" y="1784725"/>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Rectangle 232"/>
          <p:cNvSpPr/>
          <p:nvPr/>
        </p:nvSpPr>
        <p:spPr>
          <a:xfrm>
            <a:off x="8270930" y="1589775"/>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Rounded Rectangle 233"/>
          <p:cNvSpPr/>
          <p:nvPr/>
        </p:nvSpPr>
        <p:spPr>
          <a:xfrm>
            <a:off x="8300923" y="1627266"/>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TextBox 234"/>
          <p:cNvSpPr txBox="1"/>
          <p:nvPr/>
        </p:nvSpPr>
        <p:spPr>
          <a:xfrm>
            <a:off x="8315919" y="1631015"/>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36" name="Rectangle 235"/>
          <p:cNvSpPr/>
          <p:nvPr/>
        </p:nvSpPr>
        <p:spPr>
          <a:xfrm>
            <a:off x="8334664" y="1837212"/>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Rectangle 236"/>
          <p:cNvSpPr/>
          <p:nvPr/>
        </p:nvSpPr>
        <p:spPr>
          <a:xfrm>
            <a:off x="8214695"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Rectangle 237"/>
          <p:cNvSpPr/>
          <p:nvPr/>
        </p:nvSpPr>
        <p:spPr>
          <a:xfrm>
            <a:off x="8484626"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TextBox 238"/>
          <p:cNvSpPr txBox="1"/>
          <p:nvPr/>
        </p:nvSpPr>
        <p:spPr>
          <a:xfrm>
            <a:off x="8659368" y="1591056"/>
            <a:ext cx="841247"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B</a:t>
            </a:r>
          </a:p>
        </p:txBody>
      </p:sp>
      <p:sp>
        <p:nvSpPr>
          <p:cNvPr id="240" name="TextBox 239"/>
          <p:cNvSpPr txBox="1"/>
          <p:nvPr/>
        </p:nvSpPr>
        <p:spPr>
          <a:xfrm>
            <a:off x="8659368" y="1828800"/>
            <a:ext cx="841247"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41" name="Rounded Rectangle 240"/>
          <p:cNvSpPr/>
          <p:nvPr/>
        </p:nvSpPr>
        <p:spPr>
          <a:xfrm>
            <a:off x="8970264" y="3346704"/>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Rectangle 241"/>
          <p:cNvSpPr/>
          <p:nvPr/>
        </p:nvSpPr>
        <p:spPr>
          <a:xfrm>
            <a:off x="9139428" y="3686677"/>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Rectangle 242"/>
          <p:cNvSpPr/>
          <p:nvPr/>
        </p:nvSpPr>
        <p:spPr>
          <a:xfrm>
            <a:off x="9221906" y="3491727"/>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Rounded Rectangle 243"/>
          <p:cNvSpPr/>
          <p:nvPr/>
        </p:nvSpPr>
        <p:spPr>
          <a:xfrm>
            <a:off x="9251899" y="3529218"/>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TextBox 244"/>
          <p:cNvSpPr txBox="1"/>
          <p:nvPr/>
        </p:nvSpPr>
        <p:spPr>
          <a:xfrm>
            <a:off x="9266895" y="3532967"/>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46" name="Rectangle 245"/>
          <p:cNvSpPr/>
          <p:nvPr/>
        </p:nvSpPr>
        <p:spPr>
          <a:xfrm>
            <a:off x="9285640" y="3739164"/>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Rectangle 246"/>
          <p:cNvSpPr/>
          <p:nvPr/>
        </p:nvSpPr>
        <p:spPr>
          <a:xfrm>
            <a:off x="9165671"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Rectangle 247"/>
          <p:cNvSpPr/>
          <p:nvPr/>
        </p:nvSpPr>
        <p:spPr>
          <a:xfrm>
            <a:off x="9435602"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TextBox 248"/>
          <p:cNvSpPr txBox="1"/>
          <p:nvPr/>
        </p:nvSpPr>
        <p:spPr>
          <a:xfrm>
            <a:off x="9610344" y="3493008"/>
            <a:ext cx="841247"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C</a:t>
            </a:r>
          </a:p>
        </p:txBody>
      </p:sp>
      <p:sp>
        <p:nvSpPr>
          <p:cNvPr id="250" name="TextBox 249"/>
          <p:cNvSpPr txBox="1"/>
          <p:nvPr/>
        </p:nvSpPr>
        <p:spPr>
          <a:xfrm>
            <a:off x="9610344" y="3730752"/>
            <a:ext cx="841247"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51" name="Rounded Rectangle 250"/>
          <p:cNvSpPr/>
          <p:nvPr/>
        </p:nvSpPr>
        <p:spPr>
          <a:xfrm>
            <a:off x="5202936" y="4416552"/>
            <a:ext cx="1792224" cy="694944"/>
          </a:xfrm>
          <a:prstGeom prst="roundRect">
            <a:avLst/>
          </a:prstGeom>
          <a:solidFill>
            <a:srgbClr val="FBEAEC"/>
          </a:solidFill>
          <a:ln w="254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Rectangle 251"/>
          <p:cNvSpPr/>
          <p:nvPr/>
        </p:nvSpPr>
        <p:spPr>
          <a:xfrm>
            <a:off x="5372099" y="4756525"/>
            <a:ext cx="374904" cy="172455"/>
          </a:xfrm>
          <a:prstGeom prst="rect">
            <a:avLst/>
          </a:prstGeom>
          <a:solidFill>
            <a:srgbClr val="FFFFFF"/>
          </a:solidFill>
          <a:ln w="152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Rectangle 252"/>
          <p:cNvSpPr/>
          <p:nvPr/>
        </p:nvSpPr>
        <p:spPr>
          <a:xfrm>
            <a:off x="5454578" y="4561575"/>
            <a:ext cx="209946" cy="367405"/>
          </a:xfrm>
          <a:prstGeom prst="rect">
            <a:avLst/>
          </a:prstGeom>
          <a:solidFill>
            <a:srgbClr val="FFFFFF"/>
          </a:solidFill>
          <a:ln w="152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Rounded Rectangle 253"/>
          <p:cNvSpPr/>
          <p:nvPr/>
        </p:nvSpPr>
        <p:spPr>
          <a:xfrm>
            <a:off x="5484571" y="4599066"/>
            <a:ext cx="149961" cy="112471"/>
          </a:xfrm>
          <a:prstGeom prst="round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TextBox 254"/>
          <p:cNvSpPr txBox="1"/>
          <p:nvPr/>
        </p:nvSpPr>
        <p:spPr>
          <a:xfrm>
            <a:off x="5499567" y="4602815"/>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56" name="Rectangle 255"/>
          <p:cNvSpPr/>
          <p:nvPr/>
        </p:nvSpPr>
        <p:spPr>
          <a:xfrm>
            <a:off x="5518312" y="4809012"/>
            <a:ext cx="82478" cy="119969"/>
          </a:xfrm>
          <a:prstGeom prst="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Rectangle 256"/>
          <p:cNvSpPr/>
          <p:nvPr/>
        </p:nvSpPr>
        <p:spPr>
          <a:xfrm>
            <a:off x="5398343" y="4809012"/>
            <a:ext cx="52486" cy="52486"/>
          </a:xfrm>
          <a:prstGeom prst="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Rectangle 257"/>
          <p:cNvSpPr/>
          <p:nvPr/>
        </p:nvSpPr>
        <p:spPr>
          <a:xfrm>
            <a:off x="5668274" y="4809012"/>
            <a:ext cx="52486" cy="52486"/>
          </a:xfrm>
          <a:prstGeom prst="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TextBox 258"/>
          <p:cNvSpPr txBox="1"/>
          <p:nvPr/>
        </p:nvSpPr>
        <p:spPr>
          <a:xfrm>
            <a:off x="5843016" y="4562856"/>
            <a:ext cx="1060704"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D</a:t>
            </a:r>
          </a:p>
        </p:txBody>
      </p:sp>
      <p:sp>
        <p:nvSpPr>
          <p:cNvPr id="260" name="TextBox 259"/>
          <p:cNvSpPr txBox="1"/>
          <p:nvPr/>
        </p:nvSpPr>
        <p:spPr>
          <a:xfrm>
            <a:off x="5843016" y="4800600"/>
            <a:ext cx="1060704"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61" name="TextBox 260"/>
          <p:cNvSpPr txBox="1"/>
          <p:nvPr/>
        </p:nvSpPr>
        <p:spPr>
          <a:xfrm>
            <a:off x="5824727" y="4974336"/>
            <a:ext cx="1133856" cy="118872"/>
          </a:xfrm>
          <a:prstGeom prst="rect">
            <a:avLst/>
          </a:prstGeom>
          <a:noFill/>
        </p:spPr>
        <p:txBody>
          <a:bodyPr wrap="square" lIns="18288" rIns="18288" tIns="18288" bIns="18288" anchor="t">
            <a:spAutoFit/>
          </a:bodyPr>
          <a:lstStyle/>
          <a:p>
            <a:pPr algn="l"/>
            <a:r>
              <a:rPr sz="600" b="1" lang="en-US">
                <a:solidFill>
                  <a:srgbClr val="C40D1E"/>
                </a:solidFill>
                <a:latin typeface="Arial"/>
              </a:rPr>
              <a:t>Temporary aggregator</a:t>
            </a:r>
          </a:p>
        </p:txBody>
      </p:sp>
      <p:sp>
        <p:nvSpPr>
          <p:cNvPr id="262" name="Rounded Rectangle 261"/>
          <p:cNvSpPr/>
          <p:nvPr/>
        </p:nvSpPr>
        <p:spPr>
          <a:xfrm>
            <a:off x="1655064" y="3346704"/>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Rectangle 262"/>
          <p:cNvSpPr/>
          <p:nvPr/>
        </p:nvSpPr>
        <p:spPr>
          <a:xfrm>
            <a:off x="1824228" y="3686677"/>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Rectangle 263"/>
          <p:cNvSpPr/>
          <p:nvPr/>
        </p:nvSpPr>
        <p:spPr>
          <a:xfrm>
            <a:off x="1906706" y="3491727"/>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Rounded Rectangle 264"/>
          <p:cNvSpPr/>
          <p:nvPr/>
        </p:nvSpPr>
        <p:spPr>
          <a:xfrm>
            <a:off x="1936699" y="3529218"/>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TextBox 265"/>
          <p:cNvSpPr txBox="1"/>
          <p:nvPr/>
        </p:nvSpPr>
        <p:spPr>
          <a:xfrm>
            <a:off x="1951695" y="3532967"/>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67" name="Rectangle 266"/>
          <p:cNvSpPr/>
          <p:nvPr/>
        </p:nvSpPr>
        <p:spPr>
          <a:xfrm>
            <a:off x="1970440" y="3739164"/>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Rectangle 267"/>
          <p:cNvSpPr/>
          <p:nvPr/>
        </p:nvSpPr>
        <p:spPr>
          <a:xfrm>
            <a:off x="1850471"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Rectangle 268"/>
          <p:cNvSpPr/>
          <p:nvPr/>
        </p:nvSpPr>
        <p:spPr>
          <a:xfrm>
            <a:off x="2120402"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TextBox 269"/>
          <p:cNvSpPr txBox="1"/>
          <p:nvPr/>
        </p:nvSpPr>
        <p:spPr>
          <a:xfrm>
            <a:off x="2295144" y="3493008"/>
            <a:ext cx="841247"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E</a:t>
            </a:r>
          </a:p>
        </p:txBody>
      </p:sp>
      <p:sp>
        <p:nvSpPr>
          <p:cNvPr id="271" name="TextBox 270"/>
          <p:cNvSpPr txBox="1"/>
          <p:nvPr/>
        </p:nvSpPr>
        <p:spPr>
          <a:xfrm>
            <a:off x="2295144" y="3730752"/>
            <a:ext cx="841247"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72" name="Rounded Rectangle 271"/>
          <p:cNvSpPr/>
          <p:nvPr/>
        </p:nvSpPr>
        <p:spPr>
          <a:xfrm>
            <a:off x="4645152" y="2221992"/>
            <a:ext cx="2898648" cy="1627632"/>
          </a:xfrm>
          <a:prstGeom prst="roundRect">
            <a:avLst/>
          </a:prstGeom>
          <a:solidFill>
            <a:srgbClr val="FBEAEC"/>
          </a:solidFill>
          <a:ln w="279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TextBox 272"/>
          <p:cNvSpPr txBox="1"/>
          <p:nvPr/>
        </p:nvSpPr>
        <p:spPr>
          <a:xfrm>
            <a:off x="5084064" y="2441448"/>
            <a:ext cx="2020824" cy="201168"/>
          </a:xfrm>
          <a:prstGeom prst="rect">
            <a:avLst/>
          </a:prstGeom>
          <a:noFill/>
        </p:spPr>
        <p:txBody>
          <a:bodyPr wrap="square" lIns="18288" rIns="18288" tIns="18288" bIns="18288" anchor="t">
            <a:spAutoFit/>
          </a:bodyPr>
          <a:lstStyle/>
          <a:p>
            <a:pPr algn="ctr"/>
            <a:r>
              <a:rPr sz="1050" b="1" lang="en-US">
                <a:solidFill>
                  <a:srgbClr val="C40D1E"/>
                </a:solidFill>
                <a:latin typeface="Arial"/>
              </a:rPr>
              <a:t>CURRENT ENCRYPTED</a:t>
            </a:r>
          </a:p>
        </p:txBody>
      </p:sp>
      <p:sp>
        <p:nvSpPr>
          <p:cNvPr id="274" name="TextBox 273"/>
          <p:cNvSpPr txBox="1"/>
          <p:nvPr/>
        </p:nvSpPr>
        <p:spPr>
          <a:xfrm>
            <a:off x="4846320" y="2807208"/>
            <a:ext cx="2496312" cy="310896"/>
          </a:xfrm>
          <a:prstGeom prst="rect">
            <a:avLst/>
          </a:prstGeom>
          <a:noFill/>
        </p:spPr>
        <p:txBody>
          <a:bodyPr wrap="square" lIns="18288" rIns="18288" tIns="18288" bIns="18288" anchor="t">
            <a:spAutoFit/>
          </a:bodyPr>
          <a:lstStyle/>
          <a:p>
            <a:pPr algn="ctr"/>
            <a:r>
              <a:rPr sz="1950" b="1" lang="en-US">
                <a:solidFill>
                  <a:srgbClr val="434343"/>
                </a:solidFill>
                <a:latin typeface="Arial"/>
              </a:rPr>
              <a:t>GLOBAL MODEL</a:t>
            </a:r>
          </a:p>
        </p:txBody>
      </p:sp>
      <p:cxnSp>
        <p:nvCxnSpPr>
          <p:cNvPr id="275" name="Connector 274"/>
          <p:cNvCxnSpPr/>
          <p:nvPr/>
        </p:nvCxnSpPr>
        <p:spPr>
          <a:xfrm flipV="1">
            <a:off x="5998464" y="3230403"/>
            <a:ext cx="25145" cy="34005"/>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6023609" y="3206114"/>
            <a:ext cx="25147" cy="24289"/>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6048756" y="3191541"/>
            <a:ext cx="25146" cy="14573"/>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6073902" y="3186684"/>
            <a:ext cx="25146" cy="4857"/>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a:off x="6099048" y="3186684"/>
            <a:ext cx="25146" cy="4857"/>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a:off x="6124194" y="3191541"/>
            <a:ext cx="25146" cy="14573"/>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a:off x="6149340" y="3206114"/>
            <a:ext cx="25146" cy="24289"/>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a:off x="6174486" y="3230403"/>
            <a:ext cx="25146" cy="34005"/>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sp>
        <p:nvSpPr>
          <p:cNvPr id="283" name="Rounded Rectangle 282"/>
          <p:cNvSpPr/>
          <p:nvPr/>
        </p:nvSpPr>
        <p:spPr>
          <a:xfrm>
            <a:off x="5952744" y="3246120"/>
            <a:ext cx="292608" cy="246888"/>
          </a:xfrm>
          <a:prstGeom prst="round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TextBox 283"/>
          <p:cNvSpPr txBox="1"/>
          <p:nvPr/>
        </p:nvSpPr>
        <p:spPr>
          <a:xfrm>
            <a:off x="6025896" y="3282696"/>
            <a:ext cx="146304" cy="109728"/>
          </a:xfrm>
          <a:prstGeom prst="rect">
            <a:avLst/>
          </a:prstGeom>
          <a:noFill/>
        </p:spPr>
        <p:txBody>
          <a:bodyPr wrap="square" lIns="0" rIns="0" tIns="0" bIns="0" anchor="t">
            <a:spAutoFit/>
          </a:bodyPr>
          <a:lstStyle/>
          <a:p>
            <a:pPr algn="ctr"/>
            <a:r>
              <a:rPr sz="800" b="1" lang="en-US">
                <a:solidFill>
                  <a:srgbClr val="FFFFFF"/>
                </a:solidFill>
                <a:latin typeface="Arial"/>
              </a:rPr>
              <a:t>•</a:t>
            </a:r>
          </a:p>
        </p:txBody>
      </p:sp>
      <p:sp>
        <p:nvSpPr>
          <p:cNvPr id="285" name="Rounded Rectangle 284"/>
          <p:cNvSpPr/>
          <p:nvPr/>
        </p:nvSpPr>
        <p:spPr>
          <a:xfrm>
            <a:off x="5120640" y="3566160"/>
            <a:ext cx="1956816" cy="219456"/>
          </a:xfrm>
          <a:prstGeom prst="roundRect">
            <a:avLst/>
          </a:prstGeom>
          <a:solidFill>
            <a:srgbClr val="FFFFFF"/>
          </a:solidFill>
          <a:ln w="762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TextBox 285"/>
          <p:cNvSpPr txBox="1"/>
          <p:nvPr/>
        </p:nvSpPr>
        <p:spPr>
          <a:xfrm>
            <a:off x="5202936" y="3616452"/>
            <a:ext cx="1792224" cy="109728"/>
          </a:xfrm>
          <a:prstGeom prst="rect">
            <a:avLst/>
          </a:prstGeom>
          <a:noFill/>
        </p:spPr>
        <p:txBody>
          <a:bodyPr wrap="square" lIns="0" rIns="0" tIns="0" bIns="0" anchor="t">
            <a:spAutoFit/>
          </a:bodyPr>
          <a:lstStyle/>
          <a:p>
            <a:pPr algn="ctr"/>
            <a:r>
              <a:rPr sz="770" b="0" lang="en-US">
                <a:solidFill>
                  <a:srgbClr val="434343"/>
                </a:solidFill>
                <a:latin typeface="Arial"/>
              </a:rPr>
              <a:t>Resolved from the ledger</a:t>
            </a:r>
          </a:p>
        </p:txBody>
      </p:sp>
      <p:sp>
        <p:nvSpPr>
          <p:cNvPr id="287" name="Rounded Rectangle 286"/>
          <p:cNvSpPr/>
          <p:nvPr/>
        </p:nvSpPr>
        <p:spPr>
          <a:xfrm>
            <a:off x="475488" y="1627632"/>
            <a:ext cx="1773936" cy="1572768"/>
          </a:xfrm>
          <a:prstGeom prst="round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TextBox 287"/>
          <p:cNvSpPr txBox="1"/>
          <p:nvPr/>
        </p:nvSpPr>
        <p:spPr>
          <a:xfrm>
            <a:off x="731520" y="1810512"/>
            <a:ext cx="1271016" cy="164592"/>
          </a:xfrm>
          <a:prstGeom prst="rect">
            <a:avLst/>
          </a:prstGeom>
          <a:noFill/>
        </p:spPr>
        <p:txBody>
          <a:bodyPr wrap="square" lIns="18288" rIns="18288" tIns="18288" bIns="18288" anchor="t">
            <a:spAutoFit/>
          </a:bodyPr>
          <a:lstStyle/>
          <a:p>
            <a:pPr algn="ctr"/>
            <a:r>
              <a:rPr sz="1000" b="1" lang="en-US">
                <a:solidFill>
                  <a:srgbClr val="C40D1E"/>
                </a:solidFill>
                <a:latin typeface="Arial"/>
              </a:rPr>
              <a:t>DATA FLOW</a:t>
            </a:r>
          </a:p>
        </p:txBody>
      </p:sp>
      <p:cxnSp>
        <p:nvCxnSpPr>
          <p:cNvPr id="289" name="Connector 288"/>
          <p:cNvCxnSpPr/>
          <p:nvPr/>
        </p:nvCxnSpPr>
        <p:spPr>
          <a:xfrm>
            <a:off x="694944" y="2176272"/>
            <a:ext cx="484632" cy="0"/>
          </a:xfrm>
          <a:prstGeom prst="line">
            <a:avLst/>
          </a:prstGeom>
          <a:ln w="2413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0" name="TextBox 289"/>
          <p:cNvSpPr txBox="1"/>
          <p:nvPr/>
        </p:nvSpPr>
        <p:spPr>
          <a:xfrm>
            <a:off x="1298448" y="2093976"/>
            <a:ext cx="832104" cy="146304"/>
          </a:xfrm>
          <a:prstGeom prst="rect">
            <a:avLst/>
          </a:prstGeom>
          <a:noFill/>
        </p:spPr>
        <p:txBody>
          <a:bodyPr wrap="square" lIns="18288" rIns="18288" tIns="18288" bIns="18288" anchor="t">
            <a:spAutoFit/>
          </a:bodyPr>
          <a:lstStyle/>
          <a:p>
            <a:pPr algn="l"/>
            <a:r>
              <a:rPr sz="740" b="0" lang="en-US">
                <a:solidFill>
                  <a:srgbClr val="434343"/>
                </a:solidFill>
                <a:latin typeface="Arial"/>
              </a:rPr>
              <a:t>Encrypted model</a:t>
            </a:r>
          </a:p>
        </p:txBody>
      </p:sp>
      <p:cxnSp>
        <p:nvCxnSpPr>
          <p:cNvPr id="291" name="Connector 290"/>
          <p:cNvCxnSpPr/>
          <p:nvPr/>
        </p:nvCxnSpPr>
        <p:spPr>
          <a:xfrm>
            <a:off x="694944" y="2496312"/>
            <a:ext cx="484632" cy="0"/>
          </a:xfrm>
          <a:prstGeom prst="line">
            <a:avLst/>
          </a:prstGeom>
          <a:ln w="24130">
            <a:solidFill>
              <a:srgbClr val="1F90C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92" name="TextBox 291"/>
          <p:cNvSpPr txBox="1"/>
          <p:nvPr/>
        </p:nvSpPr>
        <p:spPr>
          <a:xfrm>
            <a:off x="1298448" y="2414016"/>
            <a:ext cx="832104" cy="146304"/>
          </a:xfrm>
          <a:prstGeom prst="rect">
            <a:avLst/>
          </a:prstGeom>
          <a:noFill/>
        </p:spPr>
        <p:txBody>
          <a:bodyPr wrap="square" lIns="18288" rIns="18288" tIns="18288" bIns="18288" anchor="t">
            <a:spAutoFit/>
          </a:bodyPr>
          <a:lstStyle/>
          <a:p>
            <a:pPr algn="l"/>
            <a:r>
              <a:rPr sz="740" b="0" lang="en-US">
                <a:solidFill>
                  <a:srgbClr val="434343"/>
                </a:solidFill>
                <a:latin typeface="Arial"/>
              </a:rPr>
              <a:t>Signed update</a:t>
            </a:r>
          </a:p>
        </p:txBody>
      </p:sp>
      <p:cxnSp>
        <p:nvCxnSpPr>
          <p:cNvPr id="293" name="Connector 292"/>
          <p:cNvCxnSpPr/>
          <p:nvPr/>
        </p:nvCxnSpPr>
        <p:spPr>
          <a:xfrm>
            <a:off x="694944" y="2816352"/>
            <a:ext cx="484632" cy="0"/>
          </a:xfrm>
          <a:prstGeom prst="line">
            <a:avLst/>
          </a:prstGeom>
          <a:ln w="2413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4" name="TextBox 293"/>
          <p:cNvSpPr txBox="1"/>
          <p:nvPr/>
        </p:nvSpPr>
        <p:spPr>
          <a:xfrm>
            <a:off x="1298448" y="2734056"/>
            <a:ext cx="832104" cy="146304"/>
          </a:xfrm>
          <a:prstGeom prst="rect">
            <a:avLst/>
          </a:prstGeom>
          <a:noFill/>
        </p:spPr>
        <p:txBody>
          <a:bodyPr wrap="square" lIns="18288" rIns="18288" tIns="18288" bIns="18288" anchor="t">
            <a:spAutoFit/>
          </a:bodyPr>
          <a:lstStyle/>
          <a:p>
            <a:pPr algn="l"/>
            <a:r>
              <a:rPr sz="740" b="0" lang="en-US">
                <a:solidFill>
                  <a:srgbClr val="434343"/>
                </a:solidFill>
                <a:latin typeface="Arial"/>
              </a:rPr>
              <a:t>Publication</a:t>
            </a:r>
          </a:p>
        </p:txBody>
      </p:sp>
      <p:cxnSp>
        <p:nvCxnSpPr>
          <p:cNvPr id="295" name="Connector 294"/>
          <p:cNvCxnSpPr/>
          <p:nvPr/>
        </p:nvCxnSpPr>
        <p:spPr>
          <a:xfrm>
            <a:off x="694944" y="3108960"/>
            <a:ext cx="484632" cy="0"/>
          </a:xfrm>
          <a:prstGeom prst="line">
            <a:avLst/>
          </a:prstGeom>
          <a:ln w="2413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6" name="TextBox 295"/>
          <p:cNvSpPr txBox="1"/>
          <p:nvPr/>
        </p:nvSpPr>
        <p:spPr>
          <a:xfrm>
            <a:off x="1298448" y="3026664"/>
            <a:ext cx="832104" cy="146304"/>
          </a:xfrm>
          <a:prstGeom prst="rect">
            <a:avLst/>
          </a:prstGeom>
          <a:noFill/>
        </p:spPr>
        <p:txBody>
          <a:bodyPr wrap="square" lIns="18288" rIns="18288" tIns="18288" bIns="18288" anchor="t">
            <a:spAutoFit/>
          </a:bodyPr>
          <a:lstStyle/>
          <a:p>
            <a:pPr algn="l"/>
            <a:r>
              <a:rPr sz="600" b="0" lang="en-US">
                <a:solidFill>
                  <a:srgbClr val="434343"/>
                </a:solidFill>
                <a:latin typeface="Arial"/>
              </a:rPr>
              <a:t>Aggregator rotation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Why TEE/RA for the operational path?</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TWO INDEPENDENT ZK RELATIONS—NOT ONE NEURAL-NETWORK CIRCUIT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8</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ectangle 7"/>
          <p:cNvSpPr/>
          <p:nvPr/>
        </p:nvSpPr>
        <p:spPr>
          <a:xfrm>
            <a:off x="603504" y="1344168"/>
            <a:ext cx="10972800" cy="466344"/>
          </a:xfrm>
          <a:prstGeom prst="rect">
            <a:avLst/>
          </a:prstGeom>
          <a:solidFill>
            <a:srgbClr val="F3F3F3"/>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1463040"/>
            <a:ext cx="10570464" cy="219456"/>
          </a:xfrm>
          <a:prstGeom prst="rect">
            <a:avLst/>
          </a:prstGeom>
          <a:noFill/>
        </p:spPr>
        <p:txBody>
          <a:bodyPr wrap="square" lIns="18288" rIns="18288" tIns="18288" bIns="18288" anchor="ctr">
            <a:spAutoFit/>
          </a:bodyPr>
          <a:lstStyle/>
          <a:p>
            <a:pPr algn="ctr"/>
            <a:r>
              <a:rPr sz="1050" b="1" lang="en-US">
                <a:solidFill>
                  <a:srgbClr val="C40D1E"/>
                </a:solidFill>
                <a:latin typeface="Arial"/>
              </a:rPr>
              <a:t>RELATION SCOPE   </a:t>
            </a:r>
            <a:r>
              <a:rPr sz="1200" b="1" lang="en-US">
                <a:solidFill>
                  <a:srgbClr val="434343"/>
                </a:solidFill>
                <a:latin typeface="Arial"/>
              </a:rPr>
              <a:t>The proof would need to cover the surrounding cryptographic workflow as well as the tensors.</a:t>
            </a:r>
          </a:p>
        </p:txBody>
      </p:sp>
      <p:sp>
        <p:nvSpPr>
          <p:cNvPr id="10" name="Rounded Rectangle 9"/>
          <p:cNvSpPr/>
          <p:nvPr/>
        </p:nvSpPr>
        <p:spPr>
          <a:xfrm>
            <a:off x="566928" y="1984248"/>
            <a:ext cx="5376672" cy="2688336"/>
          </a:xfrm>
          <a:prstGeom prst="roundRect">
            <a:avLst/>
          </a:prstGeom>
          <a:solidFill>
            <a:srgbClr val="F3EBF9"/>
          </a:solidFill>
          <a:ln w="1524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2185416"/>
            <a:ext cx="3657600" cy="320040"/>
          </a:xfrm>
          <a:prstGeom prst="rect">
            <a:avLst/>
          </a:prstGeom>
          <a:noFill/>
        </p:spPr>
        <p:txBody>
          <a:bodyPr wrap="square" lIns="18288" rIns="18288" tIns="18288" bIns="18288" anchor="t">
            <a:spAutoFit/>
          </a:bodyPr>
          <a:lstStyle/>
          <a:p>
            <a:pPr algn="l"/>
            <a:r>
              <a:rPr sz="1270" b="1" lang="en-US">
                <a:solidFill>
                  <a:srgbClr val="7A35B5"/>
                </a:solidFill>
                <a:latin typeface="Arial"/>
              </a:rPr>
              <a:t>WORKER TRAINING AS A ZK RELATION</a:t>
            </a:r>
          </a:p>
        </p:txBody>
      </p:sp>
      <p:sp>
        <p:nvSpPr>
          <p:cNvPr id="12" name="Rectangle 11"/>
          <p:cNvSpPr/>
          <p:nvPr/>
        </p:nvSpPr>
        <p:spPr>
          <a:xfrm>
            <a:off x="4507992" y="2148840"/>
            <a:ext cx="1143000" cy="320040"/>
          </a:xfrm>
          <a:prstGeom prst="rect">
            <a:avLst/>
          </a:prstGeom>
          <a:solidFill>
            <a:srgbClr val="FF6C00"/>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2231136"/>
            <a:ext cx="1014984" cy="164592"/>
          </a:xfrm>
          <a:prstGeom prst="rect">
            <a:avLst/>
          </a:prstGeom>
          <a:noFill/>
        </p:spPr>
        <p:txBody>
          <a:bodyPr wrap="square" lIns="18288" rIns="18288" tIns="18288" bIns="18288" anchor="ctr">
            <a:spAutoFit/>
          </a:bodyPr>
          <a:lstStyle/>
          <a:p>
            <a:pPr algn="ctr"/>
            <a:r>
              <a:rPr sz="840" b="1" lang="en-US">
                <a:solidFill>
                  <a:srgbClr val="FFFFFF"/>
                </a:solidFill>
                <a:latin typeface="Arial"/>
              </a:rPr>
              <a:t>EVERY ROUND</a:t>
            </a:r>
          </a:p>
        </p:txBody>
      </p:sp>
      <p:sp>
        <p:nvSpPr>
          <p:cNvPr id="14" name="TextBox 13"/>
          <p:cNvSpPr txBox="1"/>
          <p:nvPr/>
        </p:nvSpPr>
        <p:spPr>
          <a:xfrm>
            <a:off x="813816" y="2615184"/>
            <a:ext cx="4846320" cy="201168"/>
          </a:xfrm>
          <a:prstGeom prst="rect">
            <a:avLst/>
          </a:prstGeom>
          <a:noFill/>
        </p:spPr>
        <p:txBody>
          <a:bodyPr wrap="square" lIns="18288" rIns="18288" tIns="18288" bIns="18288" anchor="t">
            <a:spAutoFit/>
          </a:bodyPr>
          <a:lstStyle/>
          <a:p>
            <a:pPr algn="l"/>
            <a:r>
              <a:rPr sz="950" b="1" lang="en-US">
                <a:solidFill>
                  <a:srgbClr val="7A35B5"/>
                </a:solidFill>
                <a:latin typeface="Arial"/>
              </a:rPr>
              <a:t>STATEFUL TRAINING TRANSITION</a:t>
            </a:r>
          </a:p>
        </p:txBody>
      </p:sp>
      <p:sp>
        <p:nvSpPr>
          <p:cNvPr id="15" name="TextBox 14"/>
          <p:cNvSpPr txBox="1"/>
          <p:nvPr/>
        </p:nvSpPr>
        <p:spPr>
          <a:xfrm>
            <a:off x="804672" y="2871216"/>
            <a:ext cx="4882896" cy="1572768"/>
          </a:xfrm>
          <a:prstGeom prst="rect">
            <a:avLst/>
          </a:prstGeom>
          <a:noFill/>
        </p:spPr>
        <p:txBody>
          <a:bodyPr wrap="square" lIns="27432" rIns="27432" tIns="18288" bIns="18288">
            <a:spAutoFit/>
          </a:bodyPr>
          <a:lstStyle/>
          <a:p>
            <a:pPr>
              <a:lnSpc>
                <a:spcPct val="100000"/>
              </a:lnSpc>
              <a:spcAft>
                <a:spcPts val="300"/>
              </a:spcAft>
            </a:pPr>
            <a:r>
              <a:rPr sz="1000" lang="en-US">
                <a:solidFill>
                  <a:srgbClr val="7A35B5"/>
                </a:solidFill>
                <a:latin typeface="Arial"/>
              </a:rPr>
              <a:t>●  </a:t>
            </a:r>
            <a:r>
              <a:rPr sz="990" lang="en-US">
                <a:solidFill>
                  <a:srgbClr val="434343"/>
                </a:solidFill>
                <a:latin typeface="Arial"/>
              </a:rPr>
              <a:t>Resolve the exact parent model, round policy, and signed training inputs</a:t>
            </a:r>
          </a:p>
          <a:p>
            <a:pPr>
              <a:lnSpc>
                <a:spcPct val="100000"/>
              </a:lnSpc>
              <a:spcAft>
                <a:spcPts val="300"/>
              </a:spcAft>
            </a:pPr>
            <a:r>
              <a:rPr sz="1000" lang="en-US">
                <a:solidFill>
                  <a:srgbClr val="7A35B5"/>
                </a:solidFill>
                <a:latin typeface="Arial"/>
              </a:rPr>
              <a:t>●  </a:t>
            </a:r>
            <a:r>
              <a:rPr sz="990" lang="en-US">
                <a:solidFill>
                  <a:srgbClr val="434343"/>
                </a:solidFill>
                <a:latin typeface="Arial"/>
              </a:rPr>
              <a:t>Decrypt model material and verify signatures, commitments, hashes, and nonces</a:t>
            </a:r>
          </a:p>
          <a:p>
            <a:pPr>
              <a:lnSpc>
                <a:spcPct val="100000"/>
              </a:lnSpc>
              <a:spcAft>
                <a:spcPts val="300"/>
              </a:spcAft>
            </a:pPr>
            <a:r>
              <a:rPr sz="1000" lang="en-US">
                <a:solidFill>
                  <a:srgbClr val="7A35B5"/>
                </a:solidFill>
                <a:latin typeface="Arial"/>
              </a:rPr>
              <a:t>●  </a:t>
            </a:r>
            <a:r>
              <a:rPr sz="990" lang="en-US">
                <a:solidFill>
                  <a:srgbClr val="434343"/>
                </a:solidFill>
                <a:latin typeface="Arial"/>
              </a:rPr>
              <a:t>Encode forward/backward passes, optimizer state, and tensor updates</a:t>
            </a:r>
          </a:p>
          <a:p>
            <a:pPr>
              <a:lnSpc>
                <a:spcPct val="100000"/>
              </a:lnSpc>
              <a:spcAft>
                <a:spcPts val="300"/>
              </a:spcAft>
            </a:pPr>
            <a:r>
              <a:rPr sz="1000" lang="en-US">
                <a:solidFill>
                  <a:srgbClr val="7A35B5"/>
                </a:solidFill>
                <a:latin typeface="Arial"/>
              </a:rPr>
              <a:t>●  </a:t>
            </a:r>
            <a:r>
              <a:rPr sz="990" lang="en-US">
                <a:solidFill>
                  <a:srgbClr val="434343"/>
                </a:solidFill>
                <a:latin typeface="Arial"/>
              </a:rPr>
              <a:t>Hash, sign, encrypt, wrap, and package the resulting update for the aggregator</a:t>
            </a:r>
          </a:p>
        </p:txBody>
      </p:sp>
      <p:sp>
        <p:nvSpPr>
          <p:cNvPr id="16" name="Rounded Rectangle 15"/>
          <p:cNvSpPr/>
          <p:nvPr/>
        </p:nvSpPr>
        <p:spPr>
          <a:xfrm>
            <a:off x="6236208" y="1984248"/>
            <a:ext cx="5376672" cy="2688336"/>
          </a:xfrm>
          <a:prstGeom prst="roundRect">
            <a:avLst/>
          </a:prstGeom>
          <a:solidFill>
            <a:srgbClr val="EAF5FA"/>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64808" y="2185416"/>
            <a:ext cx="3657600" cy="320040"/>
          </a:xfrm>
          <a:prstGeom prst="rect">
            <a:avLst/>
          </a:prstGeom>
          <a:noFill/>
        </p:spPr>
        <p:txBody>
          <a:bodyPr wrap="square" lIns="18288" rIns="18288" tIns="18288" bIns="18288" anchor="t">
            <a:spAutoFit/>
          </a:bodyPr>
          <a:lstStyle/>
          <a:p>
            <a:pPr algn="l"/>
            <a:r>
              <a:rPr sz="1270" b="1" lang="en-US">
                <a:solidFill>
                  <a:srgbClr val="1F90CC"/>
                </a:solidFill>
                <a:latin typeface="Arial"/>
              </a:rPr>
              <a:t>DCAP ADMISSION AS A ZK RELATION</a:t>
            </a:r>
          </a:p>
        </p:txBody>
      </p:sp>
      <p:sp>
        <p:nvSpPr>
          <p:cNvPr id="18" name="Rectangle 17"/>
          <p:cNvSpPr/>
          <p:nvPr/>
        </p:nvSpPr>
        <p:spPr>
          <a:xfrm>
            <a:off x="10177272" y="2148840"/>
            <a:ext cx="1143000" cy="320040"/>
          </a:xfrm>
          <a:prstGeom prst="rect">
            <a:avLst/>
          </a:prstGeom>
          <a:solidFill>
            <a:srgbClr val="2F8F46"/>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41280" y="2231136"/>
            <a:ext cx="1014984" cy="164592"/>
          </a:xfrm>
          <a:prstGeom prst="rect">
            <a:avLst/>
          </a:prstGeom>
          <a:noFill/>
        </p:spPr>
        <p:txBody>
          <a:bodyPr wrap="square" lIns="18288" rIns="18288" tIns="18288" bIns="18288" anchor="ctr">
            <a:spAutoFit/>
          </a:bodyPr>
          <a:lstStyle/>
          <a:p>
            <a:pPr algn="ctr"/>
            <a:r>
              <a:rPr sz="840" b="1" lang="en-US">
                <a:solidFill>
                  <a:srgbClr val="FFFFFF"/>
                </a:solidFill>
                <a:latin typeface="Arial"/>
              </a:rPr>
              <a:t>PER ADMISSION</a:t>
            </a:r>
          </a:p>
        </p:txBody>
      </p:sp>
      <p:sp>
        <p:nvSpPr>
          <p:cNvPr id="20" name="TextBox 19"/>
          <p:cNvSpPr txBox="1"/>
          <p:nvPr/>
        </p:nvSpPr>
        <p:spPr>
          <a:xfrm>
            <a:off x="6483096" y="2615184"/>
            <a:ext cx="4846320" cy="201168"/>
          </a:xfrm>
          <a:prstGeom prst="rect">
            <a:avLst/>
          </a:prstGeom>
          <a:noFill/>
        </p:spPr>
        <p:txBody>
          <a:bodyPr wrap="square" lIns="18288" rIns="18288" tIns="18288" bIns="18288" anchor="t">
            <a:spAutoFit/>
          </a:bodyPr>
          <a:lstStyle/>
          <a:p>
            <a:pPr algn="l"/>
            <a:r>
              <a:rPr sz="950" b="1" lang="en-US">
                <a:solidFill>
                  <a:srgbClr val="1F90CC"/>
                </a:solidFill>
                <a:latin typeface="Arial"/>
              </a:rPr>
              <a:t>QUOTE AND MEASUREMENT APPRAISAL</a:t>
            </a:r>
          </a:p>
        </p:txBody>
      </p:sp>
      <p:sp>
        <p:nvSpPr>
          <p:cNvPr id="21" name="TextBox 20"/>
          <p:cNvSpPr txBox="1"/>
          <p:nvPr/>
        </p:nvSpPr>
        <p:spPr>
          <a:xfrm>
            <a:off x="6473952" y="2871216"/>
            <a:ext cx="4882896" cy="1572768"/>
          </a:xfrm>
          <a:prstGeom prst="rect">
            <a:avLst/>
          </a:prstGeom>
          <a:noFill/>
        </p:spPr>
        <p:txBody>
          <a:bodyPr wrap="square" lIns="27432" rIns="27432" tIns="18288" bIns="18288">
            <a:spAutoFit/>
          </a:bodyPr>
          <a:lstStyle/>
          <a:p>
            <a:pPr>
              <a:lnSpc>
                <a:spcPct val="100000"/>
              </a:lnSpc>
              <a:spcAft>
                <a:spcPts val="300"/>
              </a:spcAft>
            </a:pPr>
            <a:r>
              <a:rPr sz="1000" lang="en-US">
                <a:solidFill>
                  <a:srgbClr val="1F90CC"/>
                </a:solidFill>
                <a:latin typeface="Arial"/>
              </a:rPr>
              <a:t>●  </a:t>
            </a:r>
            <a:r>
              <a:rPr sz="990" lang="en-US">
                <a:solidFill>
                  <a:srgbClr val="434343"/>
                </a:solidFill>
                <a:latin typeface="Arial"/>
              </a:rPr>
              <a:t>Parse Quote V4, TD report, certificate chain, QE identity, and TCB information</a:t>
            </a:r>
          </a:p>
          <a:p>
            <a:pPr>
              <a:lnSpc>
                <a:spcPct val="100000"/>
              </a:lnSpc>
              <a:spcAft>
                <a:spcPts val="300"/>
              </a:spcAft>
            </a:pPr>
            <a:r>
              <a:rPr sz="1000" lang="en-US">
                <a:solidFill>
                  <a:srgbClr val="1F90CC"/>
                </a:solidFill>
                <a:latin typeface="Arial"/>
              </a:rPr>
              <a:t>●  </a:t>
            </a:r>
            <a:r>
              <a:rPr sz="990" lang="en-US">
                <a:solidFill>
                  <a:srgbClr val="434343"/>
                </a:solidFill>
                <a:latin typeface="Arial"/>
              </a:rPr>
              <a:t>Verify P-256 signatures, hashes, revocation material, freshness, and appraisal policy</a:t>
            </a:r>
          </a:p>
          <a:p>
            <a:pPr>
              <a:lnSpc>
                <a:spcPct val="100000"/>
              </a:lnSpc>
              <a:spcAft>
                <a:spcPts val="300"/>
              </a:spcAft>
            </a:pPr>
            <a:r>
              <a:rPr sz="1000" lang="en-US">
                <a:solidFill>
                  <a:srgbClr val="1F90CC"/>
                </a:solidFill>
                <a:latin typeface="Arial"/>
              </a:rPr>
              <a:t>●  </a:t>
            </a:r>
            <a:r>
              <a:rPr sz="990" lang="en-US">
                <a:solidFill>
                  <a:srgbClr val="434343"/>
                </a:solidFill>
                <a:latin typeface="Arial"/>
              </a:rPr>
              <a:t>Replay every ordered application event into RTMR3 and match the quoted value</a:t>
            </a:r>
          </a:p>
          <a:p>
            <a:pPr>
              <a:lnSpc>
                <a:spcPct val="100000"/>
              </a:lnSpc>
              <a:spcAft>
                <a:spcPts val="300"/>
              </a:spcAft>
            </a:pPr>
            <a:r>
              <a:rPr sz="1000" lang="en-US">
                <a:solidFill>
                  <a:srgbClr val="1F90CC"/>
                </a:solidFill>
                <a:latin typeface="Arial"/>
              </a:rPr>
              <a:t>●  </a:t>
            </a:r>
            <a:r>
              <a:rPr sz="990" lang="en-US">
                <a:solidFill>
                  <a:srgbClr val="434343"/>
                </a:solidFill>
                <a:latin typeface="Arial"/>
              </a:rPr>
              <a:t>Bind REPORTDATA, Compose, image, registry, caller, role policy, and one-time nonce</a:t>
            </a:r>
          </a:p>
        </p:txBody>
      </p:sp>
      <p:sp>
        <p:nvSpPr>
          <p:cNvPr id="22" name="Rectangle 21"/>
          <p:cNvSpPr/>
          <p:nvPr/>
        </p:nvSpPr>
        <p:spPr>
          <a:xfrm>
            <a:off x="841248" y="4919472"/>
            <a:ext cx="10515600" cy="493776"/>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056632"/>
            <a:ext cx="10094976" cy="228600"/>
          </a:xfrm>
          <a:prstGeom prst="rect">
            <a:avLst/>
          </a:prstGeom>
          <a:noFill/>
        </p:spPr>
        <p:txBody>
          <a:bodyPr wrap="square" lIns="18288" rIns="18288" tIns="18288" bIns="18288" anchor="ctr">
            <a:spAutoFit/>
          </a:bodyPr>
          <a:lstStyle/>
          <a:p>
            <a:pPr algn="ctr"/>
            <a:r>
              <a:rPr sz="1019" b="1" lang="en-US">
                <a:solidFill>
                  <a:srgbClr val="FFFFFF"/>
                </a:solidFill>
                <a:latin typeface="Arial"/>
              </a:rPr>
              <a:t>VITA-FL DECISION   </a:t>
            </a:r>
            <a:r>
              <a:rPr sz="1100" b="1" lang="en-US">
                <a:solidFill>
                  <a:srgbClr val="FFFFFF"/>
                </a:solidFill>
                <a:latin typeface="Arial"/>
              </a:rPr>
              <a:t>TEE/RA keeps both relations native and stateful; ZK remains useful for narrow encoded claims.</a:t>
            </a:r>
          </a:p>
        </p:txBody>
      </p:sp>
      <p:sp>
        <p:nvSpPr>
          <p:cNvPr id="24" name="TextBox 23"/>
          <p:cNvSpPr txBox="1"/>
          <p:nvPr/>
        </p:nvSpPr>
        <p:spPr>
          <a:xfrm>
            <a:off x="704088" y="5504688"/>
            <a:ext cx="10771632" cy="146304"/>
          </a:xfrm>
          <a:prstGeom prst="rect">
            <a:avLst/>
          </a:prstGeom>
          <a:noFill/>
        </p:spPr>
        <p:txBody>
          <a:bodyPr wrap="square" lIns="0" rIns="0" tIns="0" bIns="0" anchor="t">
            <a:spAutoFit/>
          </a:bodyPr>
          <a:lstStyle/>
          <a:p>
            <a:pPr algn="ctr"/>
            <a:r>
              <a:rPr sz="710" b="0" lang="en-US">
                <a:solidFill>
                  <a:srgbClr val="434343"/>
                </a:solidFill>
                <a:latin typeface="Arial"/>
              </a:rPr>
              <a:t>Scope statement—not a measured TEE-over-ZK speedup. Sources: RFC 9334 · Intel TDX/DCAP · Chen et al., EuroSys ’24.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From Intel-backed evidence to app-bound secrets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LIVE PHALA PATH · INDEPENDENT QUOTE VERIFICATION · PATH-SEPARATED DSTACK KEYS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9</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438912" y="1353312"/>
            <a:ext cx="6547104" cy="3986784"/>
          </a:xfrm>
          <a:prstGeom prst="roundRect">
            <a:avLst/>
          </a:prstGeom>
          <a:solidFill>
            <a:srgbClr val="FFF1E7"/>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1536192"/>
            <a:ext cx="2331720" cy="228600"/>
          </a:xfrm>
          <a:prstGeom prst="rect">
            <a:avLst/>
          </a:prstGeom>
          <a:noFill/>
        </p:spPr>
        <p:txBody>
          <a:bodyPr wrap="square" lIns="18288" rIns="18288" tIns="18288" bIns="18288" anchor="t">
            <a:spAutoFit/>
          </a:bodyPr>
          <a:lstStyle/>
          <a:p>
            <a:pPr algn="l"/>
            <a:r>
              <a:rPr sz="1250" b="1" lang="en-US">
                <a:solidFill>
                  <a:srgbClr val="FF6C00"/>
                </a:solidFill>
                <a:latin typeface="Arial"/>
              </a:rPr>
              <a:t>A · VERIFY THE TDX EVIDENCE</a:t>
            </a:r>
          </a:p>
        </p:txBody>
      </p:sp>
      <p:sp>
        <p:nvSpPr>
          <p:cNvPr id="10" name="Rounded Rectangle 9"/>
          <p:cNvSpPr/>
          <p:nvPr/>
        </p:nvSpPr>
        <p:spPr>
          <a:xfrm>
            <a:off x="2761488" y="1481328"/>
            <a:ext cx="3858768" cy="548640"/>
          </a:xfrm>
          <a:prstGeom prst="roundRect">
            <a:avLst/>
          </a:prstGeom>
          <a:solidFill>
            <a:srgbClr val="FFFFFF"/>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07792" y="1572768"/>
            <a:ext cx="3566160" cy="164592"/>
          </a:xfrm>
          <a:prstGeom prst="rect">
            <a:avLst/>
          </a:prstGeom>
          <a:noFill/>
        </p:spPr>
        <p:txBody>
          <a:bodyPr wrap="square" lIns="18288" rIns="18288" tIns="18288" bIns="18288" anchor="ctr">
            <a:spAutoFit/>
          </a:bodyPr>
          <a:lstStyle/>
          <a:p>
            <a:pPr algn="ctr"/>
            <a:r>
              <a:rPr sz="950" b="1" lang="en-US">
                <a:solidFill>
                  <a:srgbClr val="FF6C00"/>
                </a:solidFill>
                <a:latin typeface="Arial"/>
              </a:rPr>
              <a:t>INTEL PCS / PCCS COLLATERAL</a:t>
            </a:r>
          </a:p>
        </p:txBody>
      </p:sp>
      <p:sp>
        <p:nvSpPr>
          <p:cNvPr id="12" name="TextBox 11"/>
          <p:cNvSpPr txBox="1"/>
          <p:nvPr/>
        </p:nvSpPr>
        <p:spPr>
          <a:xfrm>
            <a:off x="2907792" y="1783080"/>
            <a:ext cx="3566160" cy="137160"/>
          </a:xfrm>
          <a:prstGeom prst="rect">
            <a:avLst/>
          </a:prstGeom>
          <a:noFill/>
        </p:spPr>
        <p:txBody>
          <a:bodyPr wrap="square" lIns="18288" rIns="18288" tIns="18288" bIns="18288" anchor="ctr">
            <a:spAutoFit/>
          </a:bodyPr>
          <a:lstStyle/>
          <a:p>
            <a:pPr algn="ctr"/>
            <a:r>
              <a:rPr sz="800" b="0" lang="en-US">
                <a:solidFill>
                  <a:srgbClr val="434343"/>
                </a:solidFill>
                <a:latin typeface="Arial"/>
              </a:rPr>
              <a:t>PCK chain + validity · CRLs · QE identity · TCB info</a:t>
            </a:r>
          </a:p>
        </p:txBody>
      </p:sp>
      <p:sp>
        <p:nvSpPr>
          <p:cNvPr id="13" name="Rounded Rectangle 12"/>
          <p:cNvSpPr/>
          <p:nvPr/>
        </p:nvSpPr>
        <p:spPr>
          <a:xfrm>
            <a:off x="694944" y="2267712"/>
            <a:ext cx="1627632" cy="1298448"/>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 y="2459736"/>
            <a:ext cx="1353312" cy="228600"/>
          </a:xfrm>
          <a:prstGeom prst="rect">
            <a:avLst/>
          </a:prstGeom>
          <a:noFill/>
        </p:spPr>
        <p:txBody>
          <a:bodyPr wrap="square" lIns="18288" rIns="18288" tIns="18288" bIns="18288" anchor="t">
            <a:spAutoFit/>
          </a:bodyPr>
          <a:lstStyle/>
          <a:p>
            <a:pPr algn="ctr"/>
            <a:r>
              <a:rPr sz="1150" b="1" lang="en-US">
                <a:solidFill>
                  <a:srgbClr val="1F90CC"/>
                </a:solidFill>
                <a:latin typeface="Arial"/>
              </a:rPr>
              <a:t>MEASURED CVM</a:t>
            </a:r>
          </a:p>
        </p:txBody>
      </p:sp>
      <p:sp>
        <p:nvSpPr>
          <p:cNvPr id="15" name="TextBox 14"/>
          <p:cNvSpPr txBox="1"/>
          <p:nvPr/>
        </p:nvSpPr>
        <p:spPr>
          <a:xfrm>
            <a:off x="832104" y="2779776"/>
            <a:ext cx="1353312" cy="603504"/>
          </a:xfrm>
          <a:prstGeom prst="rect">
            <a:avLst/>
          </a:prstGeom>
          <a:noFill/>
        </p:spPr>
        <p:txBody>
          <a:bodyPr wrap="square" lIns="18288" rIns="18288" tIns="18288" bIns="18288" anchor="ctr">
            <a:spAutoFit/>
          </a:bodyPr>
          <a:lstStyle/>
          <a:p>
            <a:pPr algn="ctr"/>
            <a:r>
              <a:rPr sz="960" b="1" lang="en-US">
                <a:solidFill>
                  <a:srgbClr val="434343"/>
                </a:solidFill>
                <a:latin typeface="Arial"/>
              </a:rPr>
              <a:t>MRTD + RTMR0–2
RTMR3 event log
REPORTDATA</a:t>
            </a:r>
          </a:p>
        </p:txBody>
      </p:sp>
      <p:sp>
        <p:nvSpPr>
          <p:cNvPr id="16" name="Rounded Rectangle 15"/>
          <p:cNvSpPr/>
          <p:nvPr/>
        </p:nvSpPr>
        <p:spPr>
          <a:xfrm>
            <a:off x="2596896" y="2267712"/>
            <a:ext cx="1517904" cy="1298448"/>
          </a:xfrm>
          <a:prstGeom prst="roundRect">
            <a:avLst/>
          </a:prstGeom>
          <a:solidFill>
            <a:srgbClr val="FBEAEC"/>
          </a:solidFill>
          <a:ln w="1397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24912" y="2459736"/>
            <a:ext cx="1261872" cy="228600"/>
          </a:xfrm>
          <a:prstGeom prst="rect">
            <a:avLst/>
          </a:prstGeom>
          <a:noFill/>
        </p:spPr>
        <p:txBody>
          <a:bodyPr wrap="square" lIns="18288" rIns="18288" tIns="18288" bIns="18288" anchor="t">
            <a:spAutoFit/>
          </a:bodyPr>
          <a:lstStyle/>
          <a:p>
            <a:pPr algn="ctr"/>
            <a:r>
              <a:rPr sz="1150" b="1" lang="en-US">
                <a:solidFill>
                  <a:srgbClr val="C40D1E"/>
                </a:solidFill>
                <a:latin typeface="Arial"/>
              </a:rPr>
              <a:t>TDX QUOTE V4</a:t>
            </a:r>
          </a:p>
        </p:txBody>
      </p:sp>
      <p:sp>
        <p:nvSpPr>
          <p:cNvPr id="18" name="TextBox 17"/>
          <p:cNvSpPr txBox="1"/>
          <p:nvPr/>
        </p:nvSpPr>
        <p:spPr>
          <a:xfrm>
            <a:off x="2724912" y="2852928"/>
            <a:ext cx="1261872" cy="420624"/>
          </a:xfrm>
          <a:prstGeom prst="rect">
            <a:avLst/>
          </a:prstGeom>
          <a:noFill/>
        </p:spPr>
        <p:txBody>
          <a:bodyPr wrap="square" lIns="18288" rIns="18288" tIns="18288" bIns="18288" anchor="ctr">
            <a:spAutoFit/>
          </a:bodyPr>
          <a:lstStyle/>
          <a:p>
            <a:pPr algn="ctr"/>
            <a:r>
              <a:rPr sz="919" b="1" lang="en-US">
                <a:solidFill>
                  <a:srgbClr val="434343"/>
                </a:solidFill>
                <a:latin typeface="Arial"/>
              </a:rPr>
              <a:t>Quoting Enclave signature
PCK certificate</a:t>
            </a:r>
          </a:p>
        </p:txBody>
      </p:sp>
      <p:sp>
        <p:nvSpPr>
          <p:cNvPr id="19" name="Rounded Rectangle 18"/>
          <p:cNvSpPr/>
          <p:nvPr/>
        </p:nvSpPr>
        <p:spPr>
          <a:xfrm>
            <a:off x="4407408" y="2157984"/>
            <a:ext cx="2194560" cy="1536192"/>
          </a:xfrm>
          <a:prstGeom prst="roundRect">
            <a:avLst/>
          </a:prstGeom>
          <a:solidFill>
            <a:srgbClr val="FFFFFF"/>
          </a:solidFill>
          <a:ln w="1778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08576" y="2350008"/>
            <a:ext cx="1792224" cy="228600"/>
          </a:xfrm>
          <a:prstGeom prst="rect">
            <a:avLst/>
          </a:prstGeom>
          <a:noFill/>
        </p:spPr>
        <p:txBody>
          <a:bodyPr wrap="square" lIns="18288" rIns="18288" tIns="18288" bIns="18288" anchor="t">
            <a:spAutoFit/>
          </a:bodyPr>
          <a:lstStyle/>
          <a:p>
            <a:pPr algn="ctr"/>
            <a:r>
              <a:rPr sz="1200" b="1" lang="en-US">
                <a:solidFill>
                  <a:srgbClr val="FF6C00"/>
                </a:solidFill>
                <a:latin typeface="Arial"/>
              </a:rPr>
              <a:t>DCAP VERIFIER</a:t>
            </a:r>
          </a:p>
        </p:txBody>
      </p:sp>
      <p:sp>
        <p:nvSpPr>
          <p:cNvPr id="21" name="TextBox 20"/>
          <p:cNvSpPr txBox="1"/>
          <p:nvPr/>
        </p:nvSpPr>
        <p:spPr>
          <a:xfrm>
            <a:off x="4608576" y="2724912"/>
            <a:ext cx="1792224" cy="685800"/>
          </a:xfrm>
          <a:prstGeom prst="rect">
            <a:avLst/>
          </a:prstGeom>
          <a:noFill/>
        </p:spPr>
        <p:txBody>
          <a:bodyPr wrap="square" lIns="18288" rIns="18288" tIns="18288" bIns="18288" anchor="ctr">
            <a:spAutoFit/>
          </a:bodyPr>
          <a:lstStyle/>
          <a:p>
            <a:pPr algn="ctr"/>
            <a:r>
              <a:rPr sz="960" b="1" lang="en-US">
                <a:solidFill>
                  <a:srgbClr val="434343"/>
                </a:solidFill>
                <a:latin typeface="Arial"/>
              </a:rPr>
              <a:t>Intel-rooted signatures
Revocation + TCB status
Measurements + challenge</a:t>
            </a:r>
          </a:p>
        </p:txBody>
      </p:sp>
      <p:cxnSp>
        <p:nvCxnSpPr>
          <p:cNvPr id="22" name="Connector 21"/>
          <p:cNvCxnSpPr/>
          <p:nvPr/>
        </p:nvCxnSpPr>
        <p:spPr>
          <a:xfrm>
            <a:off x="2331720" y="2916936"/>
            <a:ext cx="219456" cy="0"/>
          </a:xfrm>
          <a:prstGeom prst="line">
            <a:avLst/>
          </a:prstGeom>
          <a:ln w="2032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123944" y="2916936"/>
            <a:ext cx="228600" cy="0"/>
          </a:xfrm>
          <a:prstGeom prst="line">
            <a:avLst/>
          </a:prstGeom>
          <a:ln w="2032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468112" y="2039112"/>
            <a:ext cx="0" cy="91440"/>
          </a:xfrm>
          <a:prstGeom prst="line">
            <a:avLst/>
          </a:prstGeom>
          <a:ln w="1778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4562856" y="3895344"/>
            <a:ext cx="1883664" cy="502920"/>
          </a:xfrm>
          <a:prstGeom prst="roundRect">
            <a:avLst/>
          </a:prstGeom>
          <a:solidFill>
            <a:srgbClr val="EAF6ED"/>
          </a:solidFill>
          <a:ln w="1397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81728" y="4041648"/>
            <a:ext cx="1645920" cy="201168"/>
          </a:xfrm>
          <a:prstGeom prst="rect">
            <a:avLst/>
          </a:prstGeom>
          <a:noFill/>
        </p:spPr>
        <p:txBody>
          <a:bodyPr wrap="square" lIns="18288" rIns="18288" tIns="18288" bIns="18288" anchor="ctr">
            <a:spAutoFit/>
          </a:bodyPr>
          <a:lstStyle/>
          <a:p>
            <a:pPr algn="ctr"/>
            <a:r>
              <a:rPr sz="1040" b="1" lang="en-US">
                <a:solidFill>
                  <a:srgbClr val="2F8F46"/>
                </a:solidFill>
                <a:latin typeface="Arial"/>
              </a:rPr>
              <a:t>VERIFIED APP IDENTITY</a:t>
            </a:r>
          </a:p>
        </p:txBody>
      </p:sp>
      <p:cxnSp>
        <p:nvCxnSpPr>
          <p:cNvPr id="27" name="Connector 26"/>
          <p:cNvCxnSpPr/>
          <p:nvPr/>
        </p:nvCxnSpPr>
        <p:spPr>
          <a:xfrm>
            <a:off x="5504688" y="3703320"/>
            <a:ext cx="0" cy="164592"/>
          </a:xfrm>
          <a:prstGeom prst="line">
            <a:avLst/>
          </a:prstGeom>
          <a:ln w="1905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13232" y="3931920"/>
            <a:ext cx="3401568" cy="1005840"/>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4400" y="4114800"/>
            <a:ext cx="2999232" cy="201168"/>
          </a:xfrm>
          <a:prstGeom prst="rect">
            <a:avLst/>
          </a:prstGeom>
          <a:noFill/>
        </p:spPr>
        <p:txBody>
          <a:bodyPr wrap="square" lIns="18288" rIns="18288" tIns="18288" bIns="18288" anchor="t">
            <a:spAutoFit/>
          </a:bodyPr>
          <a:lstStyle/>
          <a:p>
            <a:pPr algn="l"/>
            <a:r>
              <a:rPr sz="1060" b="1" lang="en-US">
                <a:solidFill>
                  <a:srgbClr val="7A35B5"/>
                </a:solidFill>
                <a:latin typeface="Arial"/>
              </a:rPr>
              <a:t>VITA-FL ON-CHAIN ADMISSION</a:t>
            </a:r>
          </a:p>
        </p:txBody>
      </p:sp>
      <p:sp>
        <p:nvSpPr>
          <p:cNvPr id="30" name="TextBox 29"/>
          <p:cNvSpPr txBox="1"/>
          <p:nvPr/>
        </p:nvSpPr>
        <p:spPr>
          <a:xfrm>
            <a:off x="914400" y="4407408"/>
            <a:ext cx="2999232" cy="393192"/>
          </a:xfrm>
          <a:prstGeom prst="rect">
            <a:avLst/>
          </a:prstGeom>
          <a:noFill/>
        </p:spPr>
        <p:txBody>
          <a:bodyPr wrap="square" lIns="18288" rIns="18288" tIns="18288" bIns="18288" anchor="ctr">
            <a:spAutoFit/>
          </a:bodyPr>
          <a:lstStyle/>
          <a:p>
            <a:pPr algn="l"/>
            <a:r>
              <a:rPr sz="869" b="1" lang="en-US">
                <a:solidFill>
                  <a:srgbClr val="434343"/>
                </a:solidFill>
                <a:latin typeface="Arial"/>
              </a:rPr>
              <a:t>Independently checks the pinned base tuple, replays RTMR3, and binds workload, participant, action key, and nonce.</a:t>
            </a:r>
          </a:p>
        </p:txBody>
      </p:sp>
      <p:cxnSp>
        <p:nvCxnSpPr>
          <p:cNvPr id="31" name="Connector 30"/>
          <p:cNvCxnSpPr/>
          <p:nvPr/>
        </p:nvCxnSpPr>
        <p:spPr>
          <a:xfrm>
            <a:off x="3355848" y="3584448"/>
            <a:ext cx="0" cy="320039"/>
          </a:xfrm>
          <a:prstGeom prst="line">
            <a:avLst/>
          </a:prstGeom>
          <a:ln w="17780">
            <a:solidFill>
              <a:srgbClr val="7A35B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7150608" y="1353312"/>
            <a:ext cx="4590288" cy="3986784"/>
          </a:xfrm>
          <a:prstGeom prst="roundRect">
            <a:avLst/>
          </a:prstGeom>
          <a:solidFill>
            <a:srgbClr val="EAF5FA"/>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88352" y="1536192"/>
            <a:ext cx="4041648" cy="228600"/>
          </a:xfrm>
          <a:prstGeom prst="rect">
            <a:avLst/>
          </a:prstGeom>
          <a:noFill/>
        </p:spPr>
        <p:txBody>
          <a:bodyPr wrap="square" lIns="18288" rIns="18288" tIns="18288" bIns="18288" anchor="t">
            <a:spAutoFit/>
          </a:bodyPr>
          <a:lstStyle/>
          <a:p>
            <a:pPr algn="l"/>
            <a:r>
              <a:rPr sz="1180" b="1" lang="en-US">
                <a:solidFill>
                  <a:srgbClr val="1F90CC"/>
                </a:solidFill>
                <a:latin typeface="Arial"/>
              </a:rPr>
              <a:t>B · DERIVE APP-BOUND SECRETS</a:t>
            </a:r>
          </a:p>
        </p:txBody>
      </p:sp>
      <p:sp>
        <p:nvSpPr>
          <p:cNvPr id="34" name="Rounded Rectangle 33"/>
          <p:cNvSpPr/>
          <p:nvPr/>
        </p:nvSpPr>
        <p:spPr>
          <a:xfrm>
            <a:off x="7406640" y="1901952"/>
            <a:ext cx="4087368" cy="932688"/>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35240" y="2185416"/>
            <a:ext cx="310896" cy="310896"/>
          </a:xfrm>
          <a:prstGeom prst="ellipse">
            <a:avLst/>
          </a:prstGeom>
          <a:solidFill>
            <a:srgbClr val="FFFFFF"/>
          </a:solidFill>
          <a:ln w="1778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7927848" y="2340864"/>
            <a:ext cx="329183" cy="0"/>
          </a:xfrm>
          <a:prstGeom prst="line">
            <a:avLst/>
          </a:prstGeom>
          <a:ln w="2540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147304" y="2340864"/>
            <a:ext cx="0" cy="146304"/>
          </a:xfrm>
          <a:prstGeom prst="line">
            <a:avLst/>
          </a:prstGeom>
          <a:ln w="2540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247888" y="2340864"/>
            <a:ext cx="0" cy="100584"/>
          </a:xfrm>
          <a:prstGeom prst="line">
            <a:avLst/>
          </a:prstGeom>
          <a:ln w="25400">
            <a:solidFill>
              <a:srgbClr val="2F8F46"/>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8394192" y="2093976"/>
            <a:ext cx="2816352" cy="219456"/>
          </a:xfrm>
          <a:prstGeom prst="rect">
            <a:avLst/>
          </a:prstGeom>
          <a:noFill/>
        </p:spPr>
        <p:txBody>
          <a:bodyPr wrap="square" lIns="18288" rIns="18288" tIns="18288" bIns="18288" anchor="t">
            <a:spAutoFit/>
          </a:bodyPr>
          <a:lstStyle/>
          <a:p>
            <a:pPr algn="ctr"/>
            <a:r>
              <a:rPr sz="1220" b="1" lang="en-US">
                <a:solidFill>
                  <a:srgbClr val="2F8F46"/>
                </a:solidFill>
                <a:latin typeface="Arial"/>
              </a:rPr>
              <a:t>ATTESTED DSTACK KMS</a:t>
            </a:r>
          </a:p>
        </p:txBody>
      </p:sp>
      <p:sp>
        <p:nvSpPr>
          <p:cNvPr id="40" name="TextBox 39"/>
          <p:cNvSpPr txBox="1"/>
          <p:nvPr/>
        </p:nvSpPr>
        <p:spPr>
          <a:xfrm>
            <a:off x="8394192" y="2404872"/>
            <a:ext cx="2816352" cy="210312"/>
          </a:xfrm>
          <a:prstGeom prst="rect">
            <a:avLst/>
          </a:prstGeom>
          <a:noFill/>
        </p:spPr>
        <p:txBody>
          <a:bodyPr wrap="square" lIns="18288" rIns="18288" tIns="18288" bIns="18288" anchor="t">
            <a:spAutoFit/>
          </a:bodyPr>
          <a:lstStyle/>
          <a:p>
            <a:pPr algn="ctr"/>
            <a:r>
              <a:rPr sz="919" b="1" lang="en-US">
                <a:solidFill>
                  <a:srgbClr val="434343"/>
                </a:solidFill>
                <a:latin typeface="Arial"/>
              </a:rPr>
              <a:t>Verifies quote + policy · protects the KMS root secret</a:t>
            </a:r>
          </a:p>
        </p:txBody>
      </p:sp>
      <p:cxnSp>
        <p:nvCxnSpPr>
          <p:cNvPr id="41" name="Connector 40"/>
          <p:cNvCxnSpPr/>
          <p:nvPr/>
        </p:nvCxnSpPr>
        <p:spPr>
          <a:xfrm flipV="1">
            <a:off x="6473952" y="2487168"/>
            <a:ext cx="877823" cy="1655064"/>
          </a:xfrm>
          <a:prstGeom prst="line">
            <a:avLst/>
          </a:prstGeom>
          <a:ln w="20320">
            <a:solidFill>
              <a:srgbClr val="2F8F4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7845552" y="3054096"/>
            <a:ext cx="3127248" cy="429768"/>
          </a:xfrm>
          <a:prstGeom prst="roundRect">
            <a:avLst/>
          </a:prstGeom>
          <a:solidFill>
            <a:srgbClr val="FFFFFF"/>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973568" y="3163824"/>
            <a:ext cx="2871216" cy="201168"/>
          </a:xfrm>
          <a:prstGeom prst="rect">
            <a:avLst/>
          </a:prstGeom>
          <a:noFill/>
        </p:spPr>
        <p:txBody>
          <a:bodyPr wrap="square" lIns="18288" rIns="18288" tIns="18288" bIns="18288" anchor="ctr">
            <a:spAutoFit/>
          </a:bodyPr>
          <a:lstStyle/>
          <a:p>
            <a:pPr algn="ctr"/>
            <a:r>
              <a:rPr sz="1010" b="1" lang="en-US">
                <a:solidFill>
                  <a:srgbClr val="1F90CC"/>
                </a:solidFill>
                <a:latin typeface="Arial"/>
              </a:rPr>
              <a:t>GetKey(app ID, path) via dstack.sock</a:t>
            </a:r>
          </a:p>
        </p:txBody>
      </p:sp>
      <p:cxnSp>
        <p:nvCxnSpPr>
          <p:cNvPr id="44" name="Connector 43"/>
          <p:cNvCxnSpPr/>
          <p:nvPr/>
        </p:nvCxnSpPr>
        <p:spPr>
          <a:xfrm>
            <a:off x="9409176" y="2843784"/>
            <a:ext cx="0" cy="182880"/>
          </a:xfrm>
          <a:prstGeom prst="line">
            <a:avLst/>
          </a:prstGeom>
          <a:ln w="1778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7370064" y="3730752"/>
            <a:ext cx="1280160" cy="987552"/>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443216" y="3886200"/>
            <a:ext cx="1133856" cy="182880"/>
          </a:xfrm>
          <a:prstGeom prst="rect">
            <a:avLst/>
          </a:prstGeom>
          <a:noFill/>
        </p:spPr>
        <p:txBody>
          <a:bodyPr wrap="square" lIns="18288" rIns="18288" tIns="18288" bIns="18288" anchor="t">
            <a:spAutoFit/>
          </a:bodyPr>
          <a:lstStyle/>
          <a:p>
            <a:pPr algn="ctr"/>
            <a:r>
              <a:rPr sz="860" b="1" lang="en-US">
                <a:solidFill>
                  <a:srgbClr val="1F90CC"/>
                </a:solidFill>
                <a:latin typeface="Arial"/>
              </a:rPr>
              <a:t>ACTION</a:t>
            </a:r>
          </a:p>
        </p:txBody>
      </p:sp>
      <p:sp>
        <p:nvSpPr>
          <p:cNvPr id="47" name="TextBox 46"/>
          <p:cNvSpPr txBox="1"/>
          <p:nvPr/>
        </p:nvSpPr>
        <p:spPr>
          <a:xfrm>
            <a:off x="7443216" y="4178808"/>
            <a:ext cx="1133856" cy="347472"/>
          </a:xfrm>
          <a:prstGeom prst="rect">
            <a:avLst/>
          </a:prstGeom>
          <a:noFill/>
        </p:spPr>
        <p:txBody>
          <a:bodyPr wrap="square" lIns="18288" rIns="18288" tIns="18288" bIns="18288" anchor="ctr">
            <a:spAutoFit/>
          </a:bodyPr>
          <a:lstStyle/>
          <a:p>
            <a:pPr algn="ctr"/>
            <a:r>
              <a:rPr sz="869" b="1" lang="en-US">
                <a:solidFill>
                  <a:srgbClr val="434343"/>
                </a:solidFill>
                <a:latin typeface="Arial"/>
              </a:rPr>
              <a:t>HMAC →
secp256k1</a:t>
            </a:r>
          </a:p>
        </p:txBody>
      </p:sp>
      <p:sp>
        <p:nvSpPr>
          <p:cNvPr id="48" name="Rounded Rectangle 47"/>
          <p:cNvSpPr/>
          <p:nvPr/>
        </p:nvSpPr>
        <p:spPr>
          <a:xfrm>
            <a:off x="8796528" y="3730752"/>
            <a:ext cx="1280160" cy="987552"/>
          </a:xfrm>
          <a:prstGeom prst="roundRect">
            <a:avLst/>
          </a:prstGeom>
          <a:solidFill>
            <a:srgbClr val="FFF1E7"/>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869680" y="3886200"/>
            <a:ext cx="1133856" cy="182880"/>
          </a:xfrm>
          <a:prstGeom prst="rect">
            <a:avLst/>
          </a:prstGeom>
          <a:noFill/>
        </p:spPr>
        <p:txBody>
          <a:bodyPr wrap="square" lIns="18288" rIns="18288" tIns="18288" bIns="18288" anchor="t">
            <a:spAutoFit/>
          </a:bodyPr>
          <a:lstStyle/>
          <a:p>
            <a:pPr algn="ctr"/>
            <a:r>
              <a:rPr sz="860" b="1" lang="en-US">
                <a:solidFill>
                  <a:srgbClr val="FF6C00"/>
                </a:solidFill>
                <a:latin typeface="Arial"/>
              </a:rPr>
              <a:t>RSA CUSTODY</a:t>
            </a:r>
          </a:p>
        </p:txBody>
      </p:sp>
      <p:sp>
        <p:nvSpPr>
          <p:cNvPr id="50" name="TextBox 49"/>
          <p:cNvSpPr txBox="1"/>
          <p:nvPr/>
        </p:nvSpPr>
        <p:spPr>
          <a:xfrm>
            <a:off x="8869680" y="4178808"/>
            <a:ext cx="1133856" cy="347472"/>
          </a:xfrm>
          <a:prstGeom prst="rect">
            <a:avLst/>
          </a:prstGeom>
          <a:noFill/>
        </p:spPr>
        <p:txBody>
          <a:bodyPr wrap="square" lIns="18288" rIns="18288" tIns="18288" bIns="18288" anchor="ctr">
            <a:spAutoFit/>
          </a:bodyPr>
          <a:lstStyle/>
          <a:p>
            <a:pPr algn="ctr"/>
            <a:r>
              <a:rPr sz="869" b="1" lang="en-US">
                <a:solidFill>
                  <a:srgbClr val="434343"/>
                </a:solidFill>
                <a:latin typeface="Arial"/>
              </a:rPr>
              <a:t>HKDF →
AES-GCM wrap</a:t>
            </a:r>
          </a:p>
        </p:txBody>
      </p:sp>
      <p:sp>
        <p:nvSpPr>
          <p:cNvPr id="51" name="Rounded Rectangle 50"/>
          <p:cNvSpPr/>
          <p:nvPr/>
        </p:nvSpPr>
        <p:spPr>
          <a:xfrm>
            <a:off x="10222992" y="3730752"/>
            <a:ext cx="1280160" cy="987552"/>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296144" y="3886200"/>
            <a:ext cx="1133856" cy="182880"/>
          </a:xfrm>
          <a:prstGeom prst="rect">
            <a:avLst/>
          </a:prstGeom>
          <a:noFill/>
        </p:spPr>
        <p:txBody>
          <a:bodyPr wrap="square" lIns="18288" rIns="18288" tIns="18288" bIns="18288" anchor="t">
            <a:spAutoFit/>
          </a:bodyPr>
          <a:lstStyle/>
          <a:p>
            <a:pPr algn="ctr"/>
            <a:r>
              <a:rPr sz="860" b="1" lang="en-US">
                <a:solidFill>
                  <a:srgbClr val="7A35B5"/>
                </a:solidFill>
                <a:latin typeface="Arial"/>
              </a:rPr>
              <a:t>AIR RECEIPT</a:t>
            </a:r>
          </a:p>
        </p:txBody>
      </p:sp>
      <p:sp>
        <p:nvSpPr>
          <p:cNvPr id="53" name="TextBox 52"/>
          <p:cNvSpPr txBox="1"/>
          <p:nvPr/>
        </p:nvSpPr>
        <p:spPr>
          <a:xfrm>
            <a:off x="10296144" y="4178808"/>
            <a:ext cx="1133856" cy="347472"/>
          </a:xfrm>
          <a:prstGeom prst="rect">
            <a:avLst/>
          </a:prstGeom>
          <a:noFill/>
        </p:spPr>
        <p:txBody>
          <a:bodyPr wrap="square" lIns="18288" rIns="18288" tIns="18288" bIns="18288" anchor="ctr">
            <a:spAutoFit/>
          </a:bodyPr>
          <a:lstStyle/>
          <a:p>
            <a:pPr algn="ctr"/>
            <a:r>
              <a:rPr sz="869" b="1" lang="en-US">
                <a:solidFill>
                  <a:srgbClr val="434343"/>
                </a:solidFill>
                <a:latin typeface="Arial"/>
              </a:rPr>
              <a:t>Ed25519
signing key</a:t>
            </a:r>
          </a:p>
        </p:txBody>
      </p:sp>
      <p:cxnSp>
        <p:nvCxnSpPr>
          <p:cNvPr id="54" name="Connector 53"/>
          <p:cNvCxnSpPr/>
          <p:nvPr/>
        </p:nvCxnSpPr>
        <p:spPr>
          <a:xfrm>
            <a:off x="9409176" y="3493008"/>
            <a:ext cx="0" cy="182879"/>
          </a:xfrm>
          <a:prstGeom prst="line">
            <a:avLst/>
          </a:prstGeom>
          <a:ln w="1778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7388352" y="4809744"/>
            <a:ext cx="4114800" cy="292608"/>
          </a:xfrm>
          <a:prstGeom prst="rect">
            <a:avLst/>
          </a:prstGeom>
          <a:noFill/>
        </p:spPr>
        <p:txBody>
          <a:bodyPr wrap="square" lIns="18288" rIns="18288" tIns="18288" bIns="18288" anchor="ctr">
            <a:spAutoFit/>
          </a:bodyPr>
          <a:lstStyle/>
          <a:p>
            <a:pPr algn="ctr"/>
            <a:r>
              <a:rPr sz="810" b="1" lang="en-US">
                <a:solidFill>
                  <a:srgbClr val="434343"/>
                </a:solidFill>
                <a:latin typeface="Arial"/>
              </a:rPr>
              <a:t>Same app + path ⇒ same key
Different app or path ⇒ different key</a:t>
            </a:r>
          </a:p>
        </p:txBody>
      </p:sp>
      <p:sp>
        <p:nvSpPr>
          <p:cNvPr id="56" name="TextBox 55"/>
          <p:cNvSpPr txBox="1"/>
          <p:nvPr/>
        </p:nvSpPr>
        <p:spPr>
          <a:xfrm>
            <a:off x="7388352" y="5138928"/>
            <a:ext cx="4114800" cy="128016"/>
          </a:xfrm>
          <a:prstGeom prst="rect">
            <a:avLst/>
          </a:prstGeom>
          <a:noFill/>
        </p:spPr>
        <p:txBody>
          <a:bodyPr wrap="square" lIns="0" rIns="0" tIns="0" bIns="0" anchor="ctr">
            <a:spAutoFit/>
          </a:bodyPr>
          <a:lstStyle/>
          <a:p>
            <a:pPr algn="ctr"/>
            <a:r>
              <a:rPr sz="740" b="1" lang="en-US">
                <a:solidFill>
                  <a:srgbClr val="C40D1E"/>
                </a:solidFill>
                <a:latin typeface="Arial"/>
              </a:rPr>
              <a:t>App-bound ≠ non-exportable: protect returned material.</a:t>
            </a:r>
          </a:p>
        </p:txBody>
      </p:sp>
      <p:sp>
        <p:nvSpPr>
          <p:cNvPr id="57" name="Rectangle 56"/>
          <p:cNvSpPr/>
          <p:nvPr/>
        </p:nvSpPr>
        <p:spPr>
          <a:xfrm>
            <a:off x="658368" y="5431536"/>
            <a:ext cx="10890504" cy="274320"/>
          </a:xfrm>
          <a:prstGeom prst="rect">
            <a:avLst/>
          </a:prstGeom>
          <a:solidFill>
            <a:srgbClr val="FBEAEC"/>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41248" y="5495544"/>
            <a:ext cx="10524744" cy="146304"/>
          </a:xfrm>
          <a:prstGeom prst="rect">
            <a:avLst/>
          </a:prstGeom>
          <a:noFill/>
        </p:spPr>
        <p:txBody>
          <a:bodyPr wrap="square" lIns="0" rIns="0" tIns="0" bIns="0" anchor="ctr">
            <a:spAutoFit/>
          </a:bodyPr>
          <a:lstStyle/>
          <a:p>
            <a:pPr algn="ctr"/>
            <a:r>
              <a:rPr sz="960" b="1" lang="en-US">
                <a:solidFill>
                  <a:srgbClr val="C40D1E"/>
                </a:solidFill>
                <a:latin typeface="Arial"/>
              </a:rPr>
              <a:t>Attestation authenticates measured identity—not bug-free code; Intel TDX and the KMS TEE remain trust anchors.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Weighted aggregator selection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PARTICIPATION RAISES PROBABILITY WITHOUT EXCLUDING NEWCOMERS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10</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ectangle 7"/>
          <p:cNvSpPr/>
          <p:nvPr/>
        </p:nvSpPr>
        <p:spPr>
          <a:xfrm>
            <a:off x="713232" y="1362456"/>
            <a:ext cx="10771632" cy="502920"/>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1481328"/>
            <a:ext cx="10332720" cy="256032"/>
          </a:xfrm>
          <a:prstGeom prst="rect">
            <a:avLst/>
          </a:prstGeom>
          <a:noFill/>
        </p:spPr>
        <p:txBody>
          <a:bodyPr wrap="square" lIns="18288" rIns="18288" tIns="18288" bIns="18288" anchor="ctr">
            <a:spAutoFit/>
          </a:bodyPr>
          <a:lstStyle/>
          <a:p>
            <a:pPr algn="ctr"/>
            <a:r>
              <a:rPr sz="1700" b="1" lang="en-US">
                <a:solidFill>
                  <a:srgbClr val="434343"/>
                </a:solidFill>
                <a:latin typeface="Arial"/>
              </a:rPr>
              <a:t>P(worker i) = (score_i + 1) / Σ(score_j + 1)</a:t>
            </a:r>
          </a:p>
        </p:txBody>
      </p:sp>
      <p:sp>
        <p:nvSpPr>
          <p:cNvPr id="10" name="Rounded Rectangle 9"/>
          <p:cNvSpPr/>
          <p:nvPr/>
        </p:nvSpPr>
        <p:spPr>
          <a:xfrm>
            <a:off x="786384" y="2039112"/>
            <a:ext cx="2468880" cy="841248"/>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176272"/>
            <a:ext cx="2249424" cy="182880"/>
          </a:xfrm>
          <a:prstGeom prst="rect">
            <a:avLst/>
          </a:prstGeom>
          <a:noFill/>
        </p:spPr>
        <p:txBody>
          <a:bodyPr wrap="square" lIns="18288" rIns="18288" tIns="18288" bIns="18288" anchor="t">
            <a:spAutoFit/>
          </a:bodyPr>
          <a:lstStyle/>
          <a:p>
            <a:pPr algn="ctr"/>
            <a:r>
              <a:rPr sz="1050" b="1" lang="en-US">
                <a:solidFill>
                  <a:srgbClr val="1F90CC"/>
                </a:solidFill>
                <a:latin typeface="Arial"/>
              </a:rPr>
              <a:t>WORKER A</a:t>
            </a:r>
          </a:p>
        </p:txBody>
      </p:sp>
      <p:sp>
        <p:nvSpPr>
          <p:cNvPr id="12" name="TextBox 11"/>
          <p:cNvSpPr txBox="1"/>
          <p:nvPr/>
        </p:nvSpPr>
        <p:spPr>
          <a:xfrm>
            <a:off x="896112" y="2487168"/>
            <a:ext cx="2249424" cy="210312"/>
          </a:xfrm>
          <a:prstGeom prst="rect">
            <a:avLst/>
          </a:prstGeom>
          <a:noFill/>
        </p:spPr>
        <p:txBody>
          <a:bodyPr wrap="square" lIns="18288" rIns="18288" tIns="18288" bIns="18288" anchor="ctr">
            <a:spAutoFit/>
          </a:bodyPr>
          <a:lstStyle/>
          <a:p>
            <a:pPr algn="ctr"/>
            <a:r>
              <a:rPr sz="1200" b="1" lang="en-US">
                <a:solidFill>
                  <a:srgbClr val="434343"/>
                </a:solidFill>
                <a:latin typeface="Arial"/>
              </a:rPr>
              <a:t>score 0  →  weight 1</a:t>
            </a:r>
          </a:p>
        </p:txBody>
      </p:sp>
      <p:sp>
        <p:nvSpPr>
          <p:cNvPr id="13" name="Rounded Rectangle 12"/>
          <p:cNvSpPr/>
          <p:nvPr/>
        </p:nvSpPr>
        <p:spPr>
          <a:xfrm>
            <a:off x="3584448" y="2039112"/>
            <a:ext cx="2468880" cy="841248"/>
          </a:xfrm>
          <a:prstGeom prst="roundRect">
            <a:avLst/>
          </a:prstGeom>
          <a:solidFill>
            <a:srgbClr val="FBEAEC"/>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94176" y="2176272"/>
            <a:ext cx="2249424" cy="182880"/>
          </a:xfrm>
          <a:prstGeom prst="rect">
            <a:avLst/>
          </a:prstGeom>
          <a:noFill/>
        </p:spPr>
        <p:txBody>
          <a:bodyPr wrap="square" lIns="18288" rIns="18288" tIns="18288" bIns="18288" anchor="t">
            <a:spAutoFit/>
          </a:bodyPr>
          <a:lstStyle/>
          <a:p>
            <a:pPr algn="ctr"/>
            <a:r>
              <a:rPr sz="1050" b="1" lang="en-US">
                <a:solidFill>
                  <a:srgbClr val="C40D1E"/>
                </a:solidFill>
                <a:latin typeface="Arial"/>
              </a:rPr>
              <a:t>WORKER B</a:t>
            </a:r>
          </a:p>
        </p:txBody>
      </p:sp>
      <p:sp>
        <p:nvSpPr>
          <p:cNvPr id="15" name="TextBox 14"/>
          <p:cNvSpPr txBox="1"/>
          <p:nvPr/>
        </p:nvSpPr>
        <p:spPr>
          <a:xfrm>
            <a:off x="3694176" y="2487168"/>
            <a:ext cx="2249424" cy="210312"/>
          </a:xfrm>
          <a:prstGeom prst="rect">
            <a:avLst/>
          </a:prstGeom>
          <a:noFill/>
        </p:spPr>
        <p:txBody>
          <a:bodyPr wrap="square" lIns="18288" rIns="18288" tIns="18288" bIns="18288" anchor="ctr">
            <a:spAutoFit/>
          </a:bodyPr>
          <a:lstStyle/>
          <a:p>
            <a:pPr algn="ctr"/>
            <a:r>
              <a:rPr sz="1200" b="1" lang="en-US">
                <a:solidFill>
                  <a:srgbClr val="434343"/>
                </a:solidFill>
                <a:latin typeface="Arial"/>
              </a:rPr>
              <a:t>score 1  →  weight 2</a:t>
            </a:r>
          </a:p>
        </p:txBody>
      </p:sp>
      <p:sp>
        <p:nvSpPr>
          <p:cNvPr id="16" name="Rounded Rectangle 15"/>
          <p:cNvSpPr/>
          <p:nvPr/>
        </p:nvSpPr>
        <p:spPr>
          <a:xfrm>
            <a:off x="6382512" y="2039112"/>
            <a:ext cx="2468880" cy="841248"/>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2176272"/>
            <a:ext cx="2249424" cy="182880"/>
          </a:xfrm>
          <a:prstGeom prst="rect">
            <a:avLst/>
          </a:prstGeom>
          <a:noFill/>
        </p:spPr>
        <p:txBody>
          <a:bodyPr wrap="square" lIns="18288" rIns="18288" tIns="18288" bIns="18288" anchor="t">
            <a:spAutoFit/>
          </a:bodyPr>
          <a:lstStyle/>
          <a:p>
            <a:pPr algn="ctr"/>
            <a:r>
              <a:rPr sz="1050" b="1" lang="en-US">
                <a:solidFill>
                  <a:srgbClr val="2F8F46"/>
                </a:solidFill>
                <a:latin typeface="Arial"/>
              </a:rPr>
              <a:t>WORKER C</a:t>
            </a:r>
          </a:p>
        </p:txBody>
      </p:sp>
      <p:sp>
        <p:nvSpPr>
          <p:cNvPr id="18" name="TextBox 17"/>
          <p:cNvSpPr txBox="1"/>
          <p:nvPr/>
        </p:nvSpPr>
        <p:spPr>
          <a:xfrm>
            <a:off x="6492240" y="2487168"/>
            <a:ext cx="2249424" cy="210312"/>
          </a:xfrm>
          <a:prstGeom prst="rect">
            <a:avLst/>
          </a:prstGeom>
          <a:noFill/>
        </p:spPr>
        <p:txBody>
          <a:bodyPr wrap="square" lIns="18288" rIns="18288" tIns="18288" bIns="18288" anchor="ctr">
            <a:spAutoFit/>
          </a:bodyPr>
          <a:lstStyle/>
          <a:p>
            <a:pPr algn="ctr"/>
            <a:r>
              <a:rPr sz="1200" b="1" lang="en-US">
                <a:solidFill>
                  <a:srgbClr val="434343"/>
                </a:solidFill>
                <a:latin typeface="Arial"/>
              </a:rPr>
              <a:t>score 3  →  weight 4</a:t>
            </a:r>
          </a:p>
        </p:txBody>
      </p:sp>
      <p:sp>
        <p:nvSpPr>
          <p:cNvPr id="19" name="Rounded Rectangle 18"/>
          <p:cNvSpPr/>
          <p:nvPr/>
        </p:nvSpPr>
        <p:spPr>
          <a:xfrm>
            <a:off x="9180576" y="2039112"/>
            <a:ext cx="2468880" cy="841248"/>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90303" y="2176272"/>
            <a:ext cx="2249424" cy="182880"/>
          </a:xfrm>
          <a:prstGeom prst="rect">
            <a:avLst/>
          </a:prstGeom>
          <a:noFill/>
        </p:spPr>
        <p:txBody>
          <a:bodyPr wrap="square" lIns="18288" rIns="18288" tIns="18288" bIns="18288" anchor="t">
            <a:spAutoFit/>
          </a:bodyPr>
          <a:lstStyle/>
          <a:p>
            <a:pPr algn="ctr"/>
            <a:r>
              <a:rPr sz="1050" b="1" lang="en-US">
                <a:solidFill>
                  <a:srgbClr val="7A35B5"/>
                </a:solidFill>
                <a:latin typeface="Arial"/>
              </a:rPr>
              <a:t>WORKER D</a:t>
            </a:r>
          </a:p>
        </p:txBody>
      </p:sp>
      <p:sp>
        <p:nvSpPr>
          <p:cNvPr id="21" name="TextBox 20"/>
          <p:cNvSpPr txBox="1"/>
          <p:nvPr/>
        </p:nvSpPr>
        <p:spPr>
          <a:xfrm>
            <a:off x="9290303" y="2487168"/>
            <a:ext cx="2249424" cy="210312"/>
          </a:xfrm>
          <a:prstGeom prst="rect">
            <a:avLst/>
          </a:prstGeom>
          <a:noFill/>
        </p:spPr>
        <p:txBody>
          <a:bodyPr wrap="square" lIns="18288" rIns="18288" tIns="18288" bIns="18288" anchor="ctr">
            <a:spAutoFit/>
          </a:bodyPr>
          <a:lstStyle/>
          <a:p>
            <a:pPr algn="ctr"/>
            <a:r>
              <a:rPr sz="1200" b="1" lang="en-US">
                <a:solidFill>
                  <a:srgbClr val="434343"/>
                </a:solidFill>
                <a:latin typeface="Arial"/>
              </a:rPr>
              <a:t>score 6  →  weight 7</a:t>
            </a:r>
          </a:p>
        </p:txBody>
      </p:sp>
      <p:sp>
        <p:nvSpPr>
          <p:cNvPr id="22" name="Rectangle 21"/>
          <p:cNvSpPr/>
          <p:nvPr/>
        </p:nvSpPr>
        <p:spPr>
          <a:xfrm>
            <a:off x="914400" y="3200400"/>
            <a:ext cx="739357" cy="640080"/>
          </a:xfrm>
          <a:prstGeom prst="rect">
            <a:avLst/>
          </a:prstGeom>
          <a:solidFill>
            <a:srgbClr val="1F90CC"/>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3383280"/>
            <a:ext cx="702781" cy="237744"/>
          </a:xfrm>
          <a:prstGeom prst="rect">
            <a:avLst/>
          </a:prstGeom>
          <a:noFill/>
        </p:spPr>
        <p:txBody>
          <a:bodyPr wrap="square" lIns="0" rIns="0" tIns="0" bIns="0" anchor="ctr">
            <a:spAutoFit/>
          </a:bodyPr>
          <a:lstStyle/>
          <a:p>
            <a:pPr algn="ctr"/>
            <a:r>
              <a:rPr sz="819" b="1" lang="en-US">
                <a:solidFill>
                  <a:srgbClr val="FFFFFF"/>
                </a:solidFill>
                <a:latin typeface="Arial"/>
              </a:rPr>
              <a:t>7.1%</a:t>
            </a:r>
          </a:p>
        </p:txBody>
      </p:sp>
      <p:sp>
        <p:nvSpPr>
          <p:cNvPr id="24" name="Rectangle 23"/>
          <p:cNvSpPr/>
          <p:nvPr/>
        </p:nvSpPr>
        <p:spPr>
          <a:xfrm>
            <a:off x="1653757" y="3200400"/>
            <a:ext cx="1478715" cy="640080"/>
          </a:xfrm>
          <a:prstGeom prst="rect">
            <a:avLst/>
          </a:prstGeom>
          <a:solidFill>
            <a:srgbClr val="C40D1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72045" y="3383280"/>
            <a:ext cx="1442139" cy="237744"/>
          </a:xfrm>
          <a:prstGeom prst="rect">
            <a:avLst/>
          </a:prstGeom>
          <a:noFill/>
        </p:spPr>
        <p:txBody>
          <a:bodyPr wrap="square" lIns="0" rIns="0" tIns="0" bIns="0" anchor="ctr">
            <a:spAutoFit/>
          </a:bodyPr>
          <a:lstStyle/>
          <a:p>
            <a:pPr algn="ctr"/>
            <a:r>
              <a:rPr sz="1000" b="1" lang="en-US">
                <a:solidFill>
                  <a:srgbClr val="FFFFFF"/>
                </a:solidFill>
                <a:latin typeface="Arial"/>
              </a:rPr>
              <a:t>14.3%</a:t>
            </a:r>
          </a:p>
        </p:txBody>
      </p:sp>
      <p:sp>
        <p:nvSpPr>
          <p:cNvPr id="26" name="Rectangle 25"/>
          <p:cNvSpPr/>
          <p:nvPr/>
        </p:nvSpPr>
        <p:spPr>
          <a:xfrm>
            <a:off x="3132473" y="3200400"/>
            <a:ext cx="2957430" cy="640080"/>
          </a:xfrm>
          <a:prstGeom prst="rect">
            <a:avLst/>
          </a:prstGeom>
          <a:solidFill>
            <a:srgbClr val="2F8F46"/>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150761" y="3383280"/>
            <a:ext cx="2920854" cy="237744"/>
          </a:xfrm>
          <a:prstGeom prst="rect">
            <a:avLst/>
          </a:prstGeom>
          <a:noFill/>
        </p:spPr>
        <p:txBody>
          <a:bodyPr wrap="square" lIns="0" rIns="0" tIns="0" bIns="0" anchor="ctr">
            <a:spAutoFit/>
          </a:bodyPr>
          <a:lstStyle/>
          <a:p>
            <a:pPr algn="ctr"/>
            <a:r>
              <a:rPr sz="1000" b="1" lang="en-US">
                <a:solidFill>
                  <a:srgbClr val="FFFFFF"/>
                </a:solidFill>
                <a:latin typeface="Arial"/>
              </a:rPr>
              <a:t>28.6%</a:t>
            </a:r>
          </a:p>
        </p:txBody>
      </p:sp>
      <p:sp>
        <p:nvSpPr>
          <p:cNvPr id="28" name="Rectangle 27"/>
          <p:cNvSpPr/>
          <p:nvPr/>
        </p:nvSpPr>
        <p:spPr>
          <a:xfrm>
            <a:off x="6089904" y="3200400"/>
            <a:ext cx="5175504" cy="640080"/>
          </a:xfrm>
          <a:prstGeom prst="rect">
            <a:avLst/>
          </a:prstGeom>
          <a:solidFill>
            <a:srgbClr val="7A35B5"/>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08192" y="3383280"/>
            <a:ext cx="5138928" cy="237744"/>
          </a:xfrm>
          <a:prstGeom prst="rect">
            <a:avLst/>
          </a:prstGeom>
          <a:noFill/>
        </p:spPr>
        <p:txBody>
          <a:bodyPr wrap="square" lIns="0" rIns="0" tIns="0" bIns="0" anchor="ctr">
            <a:spAutoFit/>
          </a:bodyPr>
          <a:lstStyle/>
          <a:p>
            <a:pPr algn="ctr"/>
            <a:r>
              <a:rPr sz="1000" b="1" lang="en-US">
                <a:solidFill>
                  <a:srgbClr val="FFFFFF"/>
                </a:solidFill>
                <a:latin typeface="Arial"/>
              </a:rPr>
              <a:t>50.0%</a:t>
            </a:r>
          </a:p>
        </p:txBody>
      </p:sp>
      <p:sp>
        <p:nvSpPr>
          <p:cNvPr id="30" name="Rectangle 29"/>
          <p:cNvSpPr/>
          <p:nvPr/>
        </p:nvSpPr>
        <p:spPr>
          <a:xfrm>
            <a:off x="749808" y="4005072"/>
            <a:ext cx="10698480" cy="585216"/>
          </a:xfrm>
          <a:prstGeom prst="rect">
            <a:avLst/>
          </a:prstGeom>
          <a:solidFill>
            <a:srgbClr val="F3F3F3"/>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32688" y="4178808"/>
            <a:ext cx="10332720" cy="201168"/>
          </a:xfrm>
          <a:prstGeom prst="rect">
            <a:avLst/>
          </a:prstGeom>
          <a:noFill/>
        </p:spPr>
        <p:txBody>
          <a:bodyPr wrap="square" lIns="18288" rIns="18288" tIns="18288" bIns="18288" anchor="ctr">
            <a:spAutoFit/>
          </a:bodyPr>
          <a:lstStyle/>
          <a:p>
            <a:pPr algn="ctr"/>
            <a:r>
              <a:rPr sz="1000" b="1" lang="en-US">
                <a:solidFill>
                  <a:srgbClr val="C40D1E"/>
                </a:solidFill>
                <a:latin typeface="Arial"/>
              </a:rPr>
              <a:t>1 · HASH DRAW CONTEXT   </a:t>
            </a:r>
            <a:r>
              <a:rPr sz="1019" b="1" lang="en-US">
                <a:solidFill>
                  <a:srgbClr val="434343"/>
                </a:solidFill>
                <a:latin typeface="Arial"/>
              </a:rPr>
              <a:t>r = uint256(keccak256(prevrandao, timestamp, block number, round, current aggregator public address))</a:t>
            </a:r>
          </a:p>
        </p:txBody>
      </p:sp>
      <p:sp>
        <p:nvSpPr>
          <p:cNvPr id="32" name="Rounded Rectangle 31"/>
          <p:cNvSpPr/>
          <p:nvPr/>
        </p:nvSpPr>
        <p:spPr>
          <a:xfrm>
            <a:off x="749808" y="4718304"/>
            <a:ext cx="5285232" cy="713232"/>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7552" y="4855464"/>
            <a:ext cx="1993392" cy="182880"/>
          </a:xfrm>
          <a:prstGeom prst="rect">
            <a:avLst/>
          </a:prstGeom>
          <a:noFill/>
        </p:spPr>
        <p:txBody>
          <a:bodyPr wrap="square" lIns="18288" rIns="18288" tIns="18288" bIns="18288" anchor="t">
            <a:spAutoFit/>
          </a:bodyPr>
          <a:lstStyle/>
          <a:p>
            <a:pPr algn="l"/>
            <a:r>
              <a:rPr sz="1050" b="1" lang="en-US">
                <a:solidFill>
                  <a:srgbClr val="1F90CC"/>
                </a:solidFill>
                <a:latin typeface="Arial"/>
              </a:rPr>
              <a:t>2 · DRAW ONE TICKET</a:t>
            </a:r>
          </a:p>
        </p:txBody>
      </p:sp>
      <p:sp>
        <p:nvSpPr>
          <p:cNvPr id="34" name="TextBox 33"/>
          <p:cNvSpPr txBox="1"/>
          <p:nvPr/>
        </p:nvSpPr>
        <p:spPr>
          <a:xfrm>
            <a:off x="987552" y="5093208"/>
            <a:ext cx="4754880" cy="201168"/>
          </a:xfrm>
          <a:prstGeom prst="rect">
            <a:avLst/>
          </a:prstGeom>
          <a:noFill/>
        </p:spPr>
        <p:txBody>
          <a:bodyPr wrap="square" lIns="18288" rIns="18288" tIns="18288" bIns="18288" anchor="ctr">
            <a:spAutoFit/>
          </a:bodyPr>
          <a:lstStyle/>
          <a:p>
            <a:pPr algn="ctr"/>
            <a:r>
              <a:rPr sz="1220" b="1" lang="en-US">
                <a:solidFill>
                  <a:srgbClr val="434343"/>
                </a:solidFill>
                <a:latin typeface="Arial"/>
              </a:rPr>
              <a:t>ticket = r mod W = r mod 14  ∈  {0, …, 13}</a:t>
            </a:r>
          </a:p>
        </p:txBody>
      </p:sp>
      <p:sp>
        <p:nvSpPr>
          <p:cNvPr id="35" name="Rounded Rectangle 34"/>
          <p:cNvSpPr/>
          <p:nvPr/>
        </p:nvSpPr>
        <p:spPr>
          <a:xfrm>
            <a:off x="6199632" y="4718304"/>
            <a:ext cx="5248656" cy="713232"/>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37376" y="4855464"/>
            <a:ext cx="2926080" cy="182880"/>
          </a:xfrm>
          <a:prstGeom prst="rect">
            <a:avLst/>
          </a:prstGeom>
          <a:noFill/>
        </p:spPr>
        <p:txBody>
          <a:bodyPr wrap="square" lIns="18288" rIns="18288" tIns="18288" bIns="18288" anchor="t">
            <a:spAutoFit/>
          </a:bodyPr>
          <a:lstStyle/>
          <a:p>
            <a:pPr algn="l"/>
            <a:r>
              <a:rPr sz="1050" b="1" lang="en-US">
                <a:solidFill>
                  <a:srgbClr val="2F8F46"/>
                </a:solidFill>
                <a:latin typeface="Arial"/>
              </a:rPr>
              <a:t>3 · MAP TO CUMULATIVE INTERVAL</a:t>
            </a:r>
          </a:p>
        </p:txBody>
      </p:sp>
      <p:sp>
        <p:nvSpPr>
          <p:cNvPr id="37" name="TextBox 36"/>
          <p:cNvSpPr txBox="1"/>
          <p:nvPr/>
        </p:nvSpPr>
        <p:spPr>
          <a:xfrm>
            <a:off x="6437376" y="5093208"/>
            <a:ext cx="4736592" cy="201168"/>
          </a:xfrm>
          <a:prstGeom prst="rect">
            <a:avLst/>
          </a:prstGeom>
          <a:noFill/>
        </p:spPr>
        <p:txBody>
          <a:bodyPr wrap="square" lIns="18288" rIns="18288" tIns="18288" bIns="18288" anchor="ctr">
            <a:spAutoFit/>
          </a:bodyPr>
          <a:lstStyle/>
          <a:p>
            <a:pPr algn="ctr"/>
            <a:r>
              <a:rPr sz="1040" b="1" lang="en-US">
                <a:solidFill>
                  <a:srgbClr val="434343"/>
                </a:solidFill>
                <a:latin typeface="Arial"/>
              </a:rPr>
              <a:t>A: 0   ·   B: 1–2   ·   C: 3–6   ·   D: 7–13   |   Example: 5 → C</a:t>
            </a:r>
          </a:p>
        </p:txBody>
      </p:sp>
      <p:sp>
        <p:nvSpPr>
          <p:cNvPr id="38" name="TextBox 37"/>
          <p:cNvSpPr txBox="1"/>
          <p:nvPr/>
        </p:nvSpPr>
        <p:spPr>
          <a:xfrm>
            <a:off x="822960" y="5577840"/>
            <a:ext cx="10552176" cy="146304"/>
          </a:xfrm>
          <a:prstGeom prst="rect">
            <a:avLst/>
          </a:prstGeom>
          <a:noFill/>
        </p:spPr>
        <p:txBody>
          <a:bodyPr wrap="square" lIns="18288" rIns="18288" tIns="18288" bIns="18288" anchor="ctr">
            <a:spAutoFit/>
          </a:bodyPr>
          <a:lstStyle/>
          <a:p>
            <a:pPr algn="ctr"/>
            <a:r>
              <a:rPr sz="750" b="0" lang="en-US">
                <a:solidFill>
                  <a:srgbClr val="434343"/>
                </a:solidFill>
                <a:latin typeface="Arial"/>
              </a:rPr>
              <a:t>prevrandao pseudorandom value: </a:t>
            </a:r>
            <a:r>
              <a:rPr sz="750" b="0" lang="en-US">
                <a:solidFill>
                  <a:srgbClr val="C40D1E"/>
                </a:solidFill>
                <a:latin typeface="Arial"/>
                <a:hlinkClick r:id="rId2"/>
              </a:rPr>
              <a:t>https://eips.ethereum.org/EIPS/eip-4399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Quorum recovery when an aggregator stalls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ABORT THE ATTEMPT · PRESERVE THE LAST FINALIZED MODEL · SELECT A SUCCESSOR</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11</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cxnSp>
        <p:nvCxnSpPr>
          <p:cNvPr id="8" name="Connector 7"/>
          <p:cNvCxnSpPr/>
          <p:nvPr/>
        </p:nvCxnSpPr>
        <p:spPr>
          <a:xfrm>
            <a:off x="1746504" y="2505456"/>
            <a:ext cx="301752" cy="0"/>
          </a:xfrm>
          <a:prstGeom prst="line">
            <a:avLst/>
          </a:prstGeom>
          <a:ln w="2159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798064" y="2093976"/>
            <a:ext cx="89439" cy="6429"/>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887503" y="2100405"/>
            <a:ext cx="85440" cy="19288"/>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972943" y="2119693"/>
            <a:ext cx="81438" cy="32147"/>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054381" y="2151840"/>
            <a:ext cx="77439" cy="45006"/>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131820" y="2196846"/>
            <a:ext cx="73437" cy="57864"/>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205257" y="2254710"/>
            <a:ext cx="69438" cy="70723"/>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274695" y="2325433"/>
            <a:ext cx="65436" cy="83582"/>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340131" y="2409015"/>
            <a:ext cx="61437" cy="96441"/>
          </a:xfrm>
          <a:prstGeom prst="line">
            <a:avLst/>
          </a:prstGeom>
          <a:ln w="1524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798064" y="2505456"/>
            <a:ext cx="89439"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887503" y="2505456"/>
            <a:ext cx="85440"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972943" y="2505456"/>
            <a:ext cx="81438"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054381" y="2505456"/>
            <a:ext cx="77439"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131820" y="2505456"/>
            <a:ext cx="73437"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205257" y="2505456"/>
            <a:ext cx="69438"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274695" y="2505456"/>
            <a:ext cx="65436"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340131" y="2505456"/>
            <a:ext cx="61437" cy="0"/>
          </a:xfrm>
          <a:prstGeom prst="line">
            <a:avLst/>
          </a:prstGeom>
          <a:ln w="1524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2798064" y="2910506"/>
            <a:ext cx="89439" cy="643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887503" y="2891218"/>
            <a:ext cx="85440" cy="19288"/>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2972943" y="2859071"/>
            <a:ext cx="81438" cy="32147"/>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054381" y="2814066"/>
            <a:ext cx="77439" cy="45005"/>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131820" y="2756201"/>
            <a:ext cx="73437" cy="57865"/>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205257" y="2685478"/>
            <a:ext cx="69438" cy="70723"/>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274695" y="2601896"/>
            <a:ext cx="65436" cy="83582"/>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340131" y="2505456"/>
            <a:ext cx="61437" cy="96440"/>
          </a:xfrm>
          <a:prstGeom prst="line">
            <a:avLst/>
          </a:prstGeom>
          <a:ln w="1524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358384" y="2505456"/>
            <a:ext cx="566928" cy="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278624" y="2505456"/>
            <a:ext cx="548640" cy="0"/>
          </a:xfrm>
          <a:prstGeom prst="line">
            <a:avLst/>
          </a:prstGeom>
          <a:ln w="2286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180576" y="2505456"/>
            <a:ext cx="621792" cy="0"/>
          </a:xfrm>
          <a:prstGeom prst="line">
            <a:avLst/>
          </a:prstGeom>
          <a:ln w="2286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488168" y="3182112"/>
            <a:ext cx="0" cy="1133856"/>
          </a:xfrm>
          <a:prstGeom prst="line">
            <a:avLst/>
          </a:prstGeom>
          <a:ln w="1905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457200" y="1828800"/>
            <a:ext cx="1335024" cy="1335024"/>
          </a:xfrm>
          <a:prstGeom prst="ellipse">
            <a:avLst/>
          </a:prstGeom>
          <a:solidFill>
            <a:srgbClr val="EAF5FA"/>
          </a:solidFill>
          <a:ln w="2286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2112264"/>
            <a:ext cx="932688" cy="228600"/>
          </a:xfrm>
          <a:prstGeom prst="rect">
            <a:avLst/>
          </a:prstGeom>
          <a:noFill/>
        </p:spPr>
        <p:txBody>
          <a:bodyPr wrap="square" lIns="18288" rIns="18288" tIns="18288" bIns="18288" anchor="t">
            <a:spAutoFit/>
          </a:bodyPr>
          <a:lstStyle/>
          <a:p>
            <a:pPr algn="ctr"/>
            <a:r>
              <a:rPr sz="1250" b="1" lang="en-US">
                <a:solidFill>
                  <a:srgbClr val="1F90CC"/>
                </a:solidFill>
                <a:latin typeface="Arial"/>
              </a:rPr>
              <a:t>ROUND r</a:t>
            </a:r>
          </a:p>
        </p:txBody>
      </p:sp>
      <p:sp>
        <p:nvSpPr>
          <p:cNvPr id="39" name="TextBox 38"/>
          <p:cNvSpPr txBox="1"/>
          <p:nvPr/>
        </p:nvSpPr>
        <p:spPr>
          <a:xfrm>
            <a:off x="603504" y="2468880"/>
            <a:ext cx="1042415" cy="420624"/>
          </a:xfrm>
          <a:prstGeom prst="rect">
            <a:avLst/>
          </a:prstGeom>
          <a:noFill/>
        </p:spPr>
        <p:txBody>
          <a:bodyPr wrap="square" lIns="18288" rIns="18288" tIns="18288" bIns="18288" anchor="t">
            <a:spAutoFit/>
          </a:bodyPr>
          <a:lstStyle/>
          <a:p>
            <a:pPr algn="ctr"/>
            <a:r>
              <a:rPr sz="960" b="1" lang="en-US">
                <a:solidFill>
                  <a:srgbClr val="434343"/>
                </a:solidFill>
                <a:latin typeface="Arial"/>
              </a:rPr>
              <a:t>AGGREGATOR
STALLED</a:t>
            </a:r>
          </a:p>
        </p:txBody>
      </p:sp>
      <p:sp>
        <p:nvSpPr>
          <p:cNvPr id="40" name="TextBox 39"/>
          <p:cNvSpPr txBox="1"/>
          <p:nvPr/>
        </p:nvSpPr>
        <p:spPr>
          <a:xfrm>
            <a:off x="329184" y="3227832"/>
            <a:ext cx="1609344" cy="201168"/>
          </a:xfrm>
          <a:prstGeom prst="rect">
            <a:avLst/>
          </a:prstGeom>
          <a:noFill/>
        </p:spPr>
        <p:txBody>
          <a:bodyPr wrap="square" lIns="18288" rIns="18288" tIns="18288" bIns="18288" anchor="t">
            <a:spAutoFit/>
          </a:bodyPr>
          <a:lstStyle/>
          <a:p>
            <a:pPr algn="ctr"/>
            <a:r>
              <a:rPr sz="800" b="0" lang="en-US">
                <a:solidFill>
                  <a:srgbClr val="434343"/>
                </a:solidFill>
                <a:latin typeface="Arial"/>
              </a:rPr>
              <a:t>repeated lack of progress</a:t>
            </a:r>
          </a:p>
        </p:txBody>
      </p:sp>
      <p:sp>
        <p:nvSpPr>
          <p:cNvPr id="41" name="TextBox 40"/>
          <p:cNvSpPr txBox="1"/>
          <p:nvPr/>
        </p:nvSpPr>
        <p:spPr>
          <a:xfrm>
            <a:off x="1856231" y="1435608"/>
            <a:ext cx="1307592" cy="329184"/>
          </a:xfrm>
          <a:prstGeom prst="rect">
            <a:avLst/>
          </a:prstGeom>
          <a:noFill/>
        </p:spPr>
        <p:txBody>
          <a:bodyPr wrap="square" lIns="18288" rIns="18288" tIns="18288" bIns="18288" anchor="t">
            <a:spAutoFit/>
          </a:bodyPr>
          <a:lstStyle/>
          <a:p>
            <a:pPr algn="ctr"/>
            <a:r>
              <a:rPr sz="890" b="1" lang="en-US">
                <a:solidFill>
                  <a:srgbClr val="7A35B5"/>
                </a:solidFill>
                <a:latin typeface="Arial"/>
              </a:rPr>
              <a:t>SIGNED TIMEOUT REPORTS</a:t>
            </a:r>
          </a:p>
        </p:txBody>
      </p:sp>
      <p:sp>
        <p:nvSpPr>
          <p:cNvPr id="42" name="Oval 41"/>
          <p:cNvSpPr/>
          <p:nvPr/>
        </p:nvSpPr>
        <p:spPr>
          <a:xfrm>
            <a:off x="2185416" y="1938528"/>
            <a:ext cx="347472" cy="347472"/>
          </a:xfrm>
          <a:prstGeom prst="ellipse">
            <a:avLst/>
          </a:prstGeom>
          <a:solidFill>
            <a:srgbClr val="F3EBF9"/>
          </a:solidFill>
          <a:ln w="1397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240280" y="2029968"/>
            <a:ext cx="237744" cy="146304"/>
          </a:xfrm>
          <a:prstGeom prst="rect">
            <a:avLst/>
          </a:prstGeom>
          <a:noFill/>
        </p:spPr>
        <p:txBody>
          <a:bodyPr wrap="square" lIns="0" rIns="0" tIns="0" bIns="0" anchor="t">
            <a:spAutoFit/>
          </a:bodyPr>
          <a:lstStyle/>
          <a:p>
            <a:pPr algn="ctr"/>
            <a:r>
              <a:rPr sz="700" b="1" lang="en-US">
                <a:solidFill>
                  <a:srgbClr val="7A35B5"/>
                </a:solidFill>
                <a:latin typeface="Arial"/>
              </a:rPr>
              <a:t>W1</a:t>
            </a:r>
          </a:p>
        </p:txBody>
      </p:sp>
      <p:sp>
        <p:nvSpPr>
          <p:cNvPr id="44" name="Oval 43"/>
          <p:cNvSpPr/>
          <p:nvPr/>
        </p:nvSpPr>
        <p:spPr>
          <a:xfrm>
            <a:off x="2185416" y="2350008"/>
            <a:ext cx="347472" cy="347472"/>
          </a:xfrm>
          <a:prstGeom prst="ellipse">
            <a:avLst/>
          </a:prstGeom>
          <a:solidFill>
            <a:srgbClr val="F3EBF9"/>
          </a:solidFill>
          <a:ln w="1397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240280" y="2441448"/>
            <a:ext cx="237744" cy="146304"/>
          </a:xfrm>
          <a:prstGeom prst="rect">
            <a:avLst/>
          </a:prstGeom>
          <a:noFill/>
        </p:spPr>
        <p:txBody>
          <a:bodyPr wrap="square" lIns="0" rIns="0" tIns="0" bIns="0" anchor="t">
            <a:spAutoFit/>
          </a:bodyPr>
          <a:lstStyle/>
          <a:p>
            <a:pPr algn="ctr"/>
            <a:r>
              <a:rPr sz="700" b="1" lang="en-US">
                <a:solidFill>
                  <a:srgbClr val="7A35B5"/>
                </a:solidFill>
                <a:latin typeface="Arial"/>
              </a:rPr>
              <a:t>W2</a:t>
            </a:r>
          </a:p>
        </p:txBody>
      </p:sp>
      <p:sp>
        <p:nvSpPr>
          <p:cNvPr id="46" name="Oval 45"/>
          <p:cNvSpPr/>
          <p:nvPr/>
        </p:nvSpPr>
        <p:spPr>
          <a:xfrm>
            <a:off x="2185416" y="2761488"/>
            <a:ext cx="347472" cy="347472"/>
          </a:xfrm>
          <a:prstGeom prst="ellipse">
            <a:avLst/>
          </a:prstGeom>
          <a:solidFill>
            <a:srgbClr val="F3EBF9"/>
          </a:solidFill>
          <a:ln w="1397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240280" y="2852928"/>
            <a:ext cx="237744" cy="146304"/>
          </a:xfrm>
          <a:prstGeom prst="rect">
            <a:avLst/>
          </a:prstGeom>
          <a:noFill/>
        </p:spPr>
        <p:txBody>
          <a:bodyPr wrap="square" lIns="0" rIns="0" tIns="0" bIns="0" anchor="t">
            <a:spAutoFit/>
          </a:bodyPr>
          <a:lstStyle/>
          <a:p>
            <a:pPr algn="ctr"/>
            <a:r>
              <a:rPr sz="700" b="1" lang="en-US">
                <a:solidFill>
                  <a:srgbClr val="7A35B5"/>
                </a:solidFill>
                <a:latin typeface="Arial"/>
              </a:rPr>
              <a:t>W3</a:t>
            </a:r>
          </a:p>
        </p:txBody>
      </p:sp>
      <p:sp>
        <p:nvSpPr>
          <p:cNvPr id="48" name="TextBox 47"/>
          <p:cNvSpPr txBox="1"/>
          <p:nvPr/>
        </p:nvSpPr>
        <p:spPr>
          <a:xfrm>
            <a:off x="1764792" y="3209544"/>
            <a:ext cx="1408176" cy="566928"/>
          </a:xfrm>
          <a:prstGeom prst="rect">
            <a:avLst/>
          </a:prstGeom>
          <a:noFill/>
        </p:spPr>
        <p:txBody>
          <a:bodyPr wrap="square" lIns="18288" rIns="18288" tIns="18288" bIns="18288" anchor="t">
            <a:spAutoFit/>
          </a:bodyPr>
          <a:lstStyle/>
          <a:p>
            <a:pPr algn="ctr"/>
            <a:r>
              <a:rPr sz="780" b="0" lang="en-US">
                <a:solidFill>
                  <a:srgbClr val="434343"/>
                </a:solidFill>
                <a:latin typeface="Arial"/>
              </a:rPr>
              <a:t>action key binds exact
round + aggregator
duplicates reject</a:t>
            </a:r>
          </a:p>
        </p:txBody>
      </p:sp>
      <p:sp>
        <p:nvSpPr>
          <p:cNvPr id="49" name="Oval 48"/>
          <p:cNvSpPr/>
          <p:nvPr/>
        </p:nvSpPr>
        <p:spPr>
          <a:xfrm>
            <a:off x="3401568" y="1517904"/>
            <a:ext cx="1956816" cy="1956816"/>
          </a:xfrm>
          <a:prstGeom prst="ellipse">
            <a:avLst/>
          </a:prstGeom>
          <a:solidFill>
            <a:srgbClr val="F3EBF9"/>
          </a:solidFill>
          <a:ln w="2794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0" name="Connector 49"/>
          <p:cNvCxnSpPr/>
          <p:nvPr/>
        </p:nvCxnSpPr>
        <p:spPr>
          <a:xfrm>
            <a:off x="3611880" y="2487168"/>
            <a:ext cx="1536192" cy="0"/>
          </a:xfrm>
          <a:prstGeom prst="line">
            <a:avLst/>
          </a:prstGeom>
          <a:ln w="25400">
            <a:solidFill>
              <a:srgbClr val="7A35B5"/>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3730752" y="1819656"/>
            <a:ext cx="1298448" cy="393192"/>
          </a:xfrm>
          <a:prstGeom prst="rect">
            <a:avLst/>
          </a:prstGeom>
          <a:noFill/>
        </p:spPr>
        <p:txBody>
          <a:bodyPr wrap="square" lIns="18288" rIns="18288" tIns="18288" bIns="18288" anchor="t">
            <a:spAutoFit/>
          </a:bodyPr>
          <a:lstStyle/>
          <a:p>
            <a:pPr algn="ctr"/>
            <a:r>
              <a:rPr sz="900" b="1" lang="en-US">
                <a:solidFill>
                  <a:srgbClr val="7A35B5"/>
                </a:solidFill>
                <a:latin typeface="Arial"/>
              </a:rPr>
              <a:t>FIRST REPORT
FREEZES E</a:t>
            </a:r>
          </a:p>
        </p:txBody>
      </p:sp>
      <p:sp>
        <p:nvSpPr>
          <p:cNvPr id="52" name="TextBox 51"/>
          <p:cNvSpPr txBox="1"/>
          <p:nvPr/>
        </p:nvSpPr>
        <p:spPr>
          <a:xfrm>
            <a:off x="3648456" y="2295144"/>
            <a:ext cx="1463040" cy="274320"/>
          </a:xfrm>
          <a:prstGeom prst="rect">
            <a:avLst/>
          </a:prstGeom>
          <a:noFill/>
        </p:spPr>
        <p:txBody>
          <a:bodyPr wrap="square" lIns="18288" rIns="18288" tIns="18288" bIns="18288" anchor="t">
            <a:spAutoFit/>
          </a:bodyPr>
          <a:lstStyle/>
          <a:p>
            <a:pPr algn="ctr"/>
            <a:r>
              <a:rPr sz="1000" b="1" lang="en-US">
                <a:solidFill>
                  <a:srgbClr val="434343"/>
                </a:solidFill>
                <a:latin typeface="Arial"/>
              </a:rPr>
              <a:t>q = ceil(E × 50 / 100)</a:t>
            </a:r>
          </a:p>
        </p:txBody>
      </p:sp>
      <p:sp>
        <p:nvSpPr>
          <p:cNvPr id="53" name="TextBox 52"/>
          <p:cNvSpPr txBox="1"/>
          <p:nvPr/>
        </p:nvSpPr>
        <p:spPr>
          <a:xfrm>
            <a:off x="3730752" y="2724912"/>
            <a:ext cx="1298448" cy="365760"/>
          </a:xfrm>
          <a:prstGeom prst="rect">
            <a:avLst/>
          </a:prstGeom>
          <a:noFill/>
        </p:spPr>
        <p:txBody>
          <a:bodyPr wrap="square" lIns="18288" rIns="18288" tIns="18288" bIns="18288" anchor="t">
            <a:spAutoFit/>
          </a:bodyPr>
          <a:lstStyle/>
          <a:p>
            <a:pPr algn="ctr"/>
            <a:r>
              <a:rPr sz="810" b="0" lang="en-US">
                <a:solidFill>
                  <a:srgbClr val="434343"/>
                </a:solidFill>
                <a:latin typeface="Arial"/>
              </a:rPr>
              <a:t>50% quorum
of eligible reporters</a:t>
            </a:r>
          </a:p>
        </p:txBody>
      </p:sp>
      <p:sp>
        <p:nvSpPr>
          <p:cNvPr id="54" name="TextBox 53"/>
          <p:cNvSpPr txBox="1"/>
          <p:nvPr/>
        </p:nvSpPr>
        <p:spPr>
          <a:xfrm>
            <a:off x="5394960" y="2240280"/>
            <a:ext cx="502920" cy="182880"/>
          </a:xfrm>
          <a:prstGeom prst="rect">
            <a:avLst/>
          </a:prstGeom>
          <a:noFill/>
        </p:spPr>
        <p:txBody>
          <a:bodyPr wrap="square" lIns="18288" rIns="18288" tIns="18288" bIns="18288" anchor="t">
            <a:spAutoFit/>
          </a:bodyPr>
          <a:lstStyle/>
          <a:p>
            <a:pPr algn="ctr"/>
            <a:r>
              <a:rPr sz="750" b="1" lang="en-US">
                <a:solidFill>
                  <a:srgbClr val="C40D1E"/>
                </a:solidFill>
                <a:latin typeface="Arial"/>
              </a:rPr>
              <a:t>q reached</a:t>
            </a:r>
          </a:p>
        </p:txBody>
      </p:sp>
      <p:sp>
        <p:nvSpPr>
          <p:cNvPr id="55" name="Oval 54"/>
          <p:cNvSpPr/>
          <p:nvPr/>
        </p:nvSpPr>
        <p:spPr>
          <a:xfrm>
            <a:off x="5943600" y="1828800"/>
            <a:ext cx="1335024" cy="1335024"/>
          </a:xfrm>
          <a:prstGeom prst="ellipse">
            <a:avLst/>
          </a:prstGeom>
          <a:solidFill>
            <a:srgbClr val="FBEAEC"/>
          </a:solidFill>
          <a:ln w="254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135624" y="2103120"/>
            <a:ext cx="950976" cy="228600"/>
          </a:xfrm>
          <a:prstGeom prst="rect">
            <a:avLst/>
          </a:prstGeom>
          <a:noFill/>
        </p:spPr>
        <p:txBody>
          <a:bodyPr wrap="square" lIns="18288" rIns="18288" tIns="18288" bIns="18288" anchor="t">
            <a:spAutoFit/>
          </a:bodyPr>
          <a:lstStyle/>
          <a:p>
            <a:pPr algn="ctr"/>
            <a:r>
              <a:rPr sz="1200" b="1" lang="en-US">
                <a:solidFill>
                  <a:srgbClr val="C40D1E"/>
                </a:solidFill>
                <a:latin typeface="Arial"/>
              </a:rPr>
              <a:t>ABORT r</a:t>
            </a:r>
          </a:p>
        </p:txBody>
      </p:sp>
      <p:sp>
        <p:nvSpPr>
          <p:cNvPr id="57" name="TextBox 56"/>
          <p:cNvSpPr txBox="1"/>
          <p:nvPr/>
        </p:nvSpPr>
        <p:spPr>
          <a:xfrm>
            <a:off x="6089904" y="2459736"/>
            <a:ext cx="1042415" cy="420624"/>
          </a:xfrm>
          <a:prstGeom prst="rect">
            <a:avLst/>
          </a:prstGeom>
          <a:noFill/>
        </p:spPr>
        <p:txBody>
          <a:bodyPr wrap="square" lIns="18288" rIns="18288" tIns="18288" bIns="18288" anchor="t">
            <a:spAutoFit/>
          </a:bodyPr>
          <a:lstStyle/>
          <a:p>
            <a:pPr algn="ctr"/>
            <a:r>
              <a:rPr sz="860" b="1" lang="en-US">
                <a:solidFill>
                  <a:srgbClr val="434343"/>
                </a:solidFill>
                <a:latin typeface="Arial"/>
              </a:rPr>
              <a:t>penalize · record
advance to r+1</a:t>
            </a:r>
          </a:p>
        </p:txBody>
      </p:sp>
      <p:sp>
        <p:nvSpPr>
          <p:cNvPr id="58" name="TextBox 57"/>
          <p:cNvSpPr txBox="1"/>
          <p:nvPr/>
        </p:nvSpPr>
        <p:spPr>
          <a:xfrm>
            <a:off x="6135624" y="3255264"/>
            <a:ext cx="950976" cy="182880"/>
          </a:xfrm>
          <a:prstGeom prst="rect">
            <a:avLst/>
          </a:prstGeom>
          <a:noFill/>
        </p:spPr>
        <p:txBody>
          <a:bodyPr wrap="square" lIns="18288" rIns="18288" tIns="18288" bIns="18288" anchor="t">
            <a:spAutoFit/>
          </a:bodyPr>
          <a:lstStyle/>
          <a:p>
            <a:pPr algn="ctr"/>
            <a:r>
              <a:rPr sz="840" b="1" lang="en-US">
                <a:solidFill>
                  <a:srgbClr val="C40D1E"/>
                </a:solidFill>
                <a:latin typeface="Arial"/>
              </a:rPr>
              <a:t>NO M(r)</a:t>
            </a:r>
          </a:p>
        </p:txBody>
      </p:sp>
      <p:sp>
        <p:nvSpPr>
          <p:cNvPr id="59" name="Oval 58"/>
          <p:cNvSpPr/>
          <p:nvPr/>
        </p:nvSpPr>
        <p:spPr>
          <a:xfrm>
            <a:off x="7845552" y="1828800"/>
            <a:ext cx="1335024" cy="1335024"/>
          </a:xfrm>
          <a:prstGeom prst="ellipse">
            <a:avLst/>
          </a:prstGeom>
          <a:solidFill>
            <a:srgbClr val="FFF1E7"/>
          </a:solidFill>
          <a:ln w="2286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019288" y="2066543"/>
            <a:ext cx="987552" cy="201168"/>
          </a:xfrm>
          <a:prstGeom prst="rect">
            <a:avLst/>
          </a:prstGeom>
          <a:noFill/>
        </p:spPr>
        <p:txBody>
          <a:bodyPr wrap="square" lIns="18288" rIns="18288" tIns="18288" bIns="18288" anchor="t">
            <a:spAutoFit/>
          </a:bodyPr>
          <a:lstStyle/>
          <a:p>
            <a:pPr algn="ctr"/>
            <a:r>
              <a:rPr sz="900" b="1" lang="en-US">
                <a:solidFill>
                  <a:srgbClr val="FF6C00"/>
                </a:solidFill>
                <a:latin typeface="Arial"/>
              </a:rPr>
              <a:t>WEIGHTED</a:t>
            </a:r>
          </a:p>
        </p:txBody>
      </p:sp>
      <p:sp>
        <p:nvSpPr>
          <p:cNvPr id="61" name="TextBox 60"/>
          <p:cNvSpPr txBox="1"/>
          <p:nvPr/>
        </p:nvSpPr>
        <p:spPr>
          <a:xfrm>
            <a:off x="7973568" y="2350008"/>
            <a:ext cx="1078992" cy="420624"/>
          </a:xfrm>
          <a:prstGeom prst="rect">
            <a:avLst/>
          </a:prstGeom>
          <a:noFill/>
        </p:spPr>
        <p:txBody>
          <a:bodyPr wrap="square" lIns="18288" rIns="18288" tIns="18288" bIns="18288" anchor="t">
            <a:spAutoFit/>
          </a:bodyPr>
          <a:lstStyle/>
          <a:p>
            <a:pPr algn="ctr"/>
            <a:r>
              <a:rPr sz="980" b="1" lang="en-US">
                <a:solidFill>
                  <a:srgbClr val="434343"/>
                </a:solidFill>
                <a:latin typeface="Arial"/>
              </a:rPr>
              <a:t>SUCCESSOR
DRAW</a:t>
            </a:r>
          </a:p>
        </p:txBody>
      </p:sp>
      <p:sp>
        <p:nvSpPr>
          <p:cNvPr id="62" name="TextBox 61"/>
          <p:cNvSpPr txBox="1"/>
          <p:nvPr/>
        </p:nvSpPr>
        <p:spPr>
          <a:xfrm>
            <a:off x="7717536" y="3236976"/>
            <a:ext cx="1591056" cy="201168"/>
          </a:xfrm>
          <a:prstGeom prst="rect">
            <a:avLst/>
          </a:prstGeom>
          <a:noFill/>
        </p:spPr>
        <p:txBody>
          <a:bodyPr wrap="square" lIns="18288" rIns="18288" tIns="18288" bIns="18288" anchor="t">
            <a:spAutoFit/>
          </a:bodyPr>
          <a:lstStyle/>
          <a:p>
            <a:pPr algn="ctr"/>
            <a:r>
              <a:rPr sz="780" b="0" lang="en-US">
                <a:solidFill>
                  <a:srgbClr val="434343"/>
                </a:solidFill>
                <a:latin typeface="Arial"/>
              </a:rPr>
              <a:t>failed address excluded</a:t>
            </a:r>
          </a:p>
        </p:txBody>
      </p:sp>
      <p:sp>
        <p:nvSpPr>
          <p:cNvPr id="63" name="Oval 62"/>
          <p:cNvSpPr/>
          <p:nvPr/>
        </p:nvSpPr>
        <p:spPr>
          <a:xfrm>
            <a:off x="9820656" y="1828800"/>
            <a:ext cx="1335024" cy="1335024"/>
          </a:xfrm>
          <a:prstGeom prst="ellipse">
            <a:avLst/>
          </a:prstGeom>
          <a:solidFill>
            <a:srgbClr val="EAF5FA"/>
          </a:solidFill>
          <a:ln w="2286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985248" y="2075688"/>
            <a:ext cx="1005840" cy="201168"/>
          </a:xfrm>
          <a:prstGeom prst="rect">
            <a:avLst/>
          </a:prstGeom>
          <a:noFill/>
        </p:spPr>
        <p:txBody>
          <a:bodyPr wrap="square" lIns="18288" rIns="18288" tIns="18288" bIns="18288" anchor="t">
            <a:spAutoFit/>
          </a:bodyPr>
          <a:lstStyle/>
          <a:p>
            <a:pPr algn="ctr"/>
            <a:r>
              <a:rPr sz="1000" b="1" lang="en-US">
                <a:solidFill>
                  <a:srgbClr val="1F90CC"/>
                </a:solidFill>
                <a:latin typeface="Arial"/>
              </a:rPr>
              <a:t>TRAINING</a:t>
            </a:r>
          </a:p>
        </p:txBody>
      </p:sp>
      <p:sp>
        <p:nvSpPr>
          <p:cNvPr id="65" name="TextBox 64"/>
          <p:cNvSpPr txBox="1"/>
          <p:nvPr/>
        </p:nvSpPr>
        <p:spPr>
          <a:xfrm>
            <a:off x="9948672" y="2404872"/>
            <a:ext cx="1078992" cy="246888"/>
          </a:xfrm>
          <a:prstGeom prst="rect">
            <a:avLst/>
          </a:prstGeom>
          <a:noFill/>
        </p:spPr>
        <p:txBody>
          <a:bodyPr wrap="square" lIns="18288" rIns="18288" tIns="18288" bIns="18288" anchor="t">
            <a:spAutoFit/>
          </a:bodyPr>
          <a:lstStyle/>
          <a:p>
            <a:pPr algn="ctr"/>
            <a:r>
              <a:rPr sz="1120" b="1" lang="en-US">
                <a:solidFill>
                  <a:srgbClr val="434343"/>
                </a:solidFill>
                <a:latin typeface="Arial"/>
              </a:rPr>
              <a:t>ROUND r+1</a:t>
            </a:r>
          </a:p>
        </p:txBody>
      </p:sp>
      <p:sp>
        <p:nvSpPr>
          <p:cNvPr id="66" name="TextBox 65"/>
          <p:cNvSpPr txBox="1"/>
          <p:nvPr/>
        </p:nvSpPr>
        <p:spPr>
          <a:xfrm>
            <a:off x="9921240" y="2816352"/>
            <a:ext cx="1133856" cy="182880"/>
          </a:xfrm>
          <a:prstGeom prst="rect">
            <a:avLst/>
          </a:prstGeom>
          <a:noFill/>
        </p:spPr>
        <p:txBody>
          <a:bodyPr wrap="square" lIns="18288" rIns="18288" tIns="18288" bIns="18288" anchor="t">
            <a:spAutoFit/>
          </a:bodyPr>
          <a:lstStyle/>
          <a:p>
            <a:pPr algn="ctr"/>
            <a:r>
              <a:rPr sz="800" b="0" lang="en-US">
                <a:solidFill>
                  <a:srgbClr val="434343"/>
                </a:solidFill>
                <a:latin typeface="Arial"/>
              </a:rPr>
              <a:t>new aggregator</a:t>
            </a:r>
          </a:p>
        </p:txBody>
      </p:sp>
      <p:sp>
        <p:nvSpPr>
          <p:cNvPr id="67" name="TextBox 66"/>
          <p:cNvSpPr txBox="1"/>
          <p:nvPr/>
        </p:nvSpPr>
        <p:spPr>
          <a:xfrm>
            <a:off x="1847088" y="4041648"/>
            <a:ext cx="2395728" cy="219456"/>
          </a:xfrm>
          <a:prstGeom prst="rect">
            <a:avLst/>
          </a:prstGeom>
          <a:noFill/>
        </p:spPr>
        <p:txBody>
          <a:bodyPr wrap="square" lIns="18288" rIns="18288" tIns="18288" bIns="18288" anchor="t">
            <a:spAutoFit/>
          </a:bodyPr>
          <a:lstStyle/>
          <a:p>
            <a:pPr algn="l"/>
            <a:r>
              <a:rPr sz="1019" b="1" lang="en-US">
                <a:solidFill>
                  <a:srgbClr val="2F8F46"/>
                </a:solidFill>
                <a:latin typeface="Arial"/>
              </a:rPr>
              <a:t>PRESERVED MODEL STATE</a:t>
            </a:r>
          </a:p>
        </p:txBody>
      </p:sp>
      <p:cxnSp>
        <p:nvCxnSpPr>
          <p:cNvPr id="68" name="Connector 67"/>
          <p:cNvCxnSpPr/>
          <p:nvPr/>
        </p:nvCxnSpPr>
        <p:spPr>
          <a:xfrm>
            <a:off x="1627632" y="4599432"/>
            <a:ext cx="9162288" cy="0"/>
          </a:xfrm>
          <a:prstGeom prst="line">
            <a:avLst/>
          </a:prstGeom>
          <a:ln w="5080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69" name="Oval 68"/>
          <p:cNvSpPr/>
          <p:nvPr/>
        </p:nvSpPr>
        <p:spPr>
          <a:xfrm>
            <a:off x="603504" y="4169663"/>
            <a:ext cx="1042415" cy="1042415"/>
          </a:xfrm>
          <a:prstGeom prst="ellipse">
            <a:avLst/>
          </a:prstGeom>
          <a:solidFill>
            <a:srgbClr val="EAF6ED"/>
          </a:solidFill>
          <a:ln w="254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58952" y="4462272"/>
            <a:ext cx="731520" cy="219456"/>
          </a:xfrm>
          <a:prstGeom prst="rect">
            <a:avLst/>
          </a:prstGeom>
          <a:noFill/>
        </p:spPr>
        <p:txBody>
          <a:bodyPr wrap="square" lIns="18288" rIns="18288" tIns="18288" bIns="18288" anchor="t">
            <a:spAutoFit/>
          </a:bodyPr>
          <a:lstStyle/>
          <a:p>
            <a:pPr algn="ctr"/>
            <a:r>
              <a:rPr sz="1200" b="1" lang="en-US">
                <a:solidFill>
                  <a:srgbClr val="2F8F46"/>
                </a:solidFill>
                <a:latin typeface="Arial"/>
              </a:rPr>
              <a:t>M(r−1)</a:t>
            </a:r>
          </a:p>
        </p:txBody>
      </p:sp>
      <p:sp>
        <p:nvSpPr>
          <p:cNvPr id="71" name="TextBox 70"/>
          <p:cNvSpPr txBox="1"/>
          <p:nvPr/>
        </p:nvSpPr>
        <p:spPr>
          <a:xfrm>
            <a:off x="1847088" y="4352544"/>
            <a:ext cx="3529584" cy="228600"/>
          </a:xfrm>
          <a:prstGeom prst="rect">
            <a:avLst/>
          </a:prstGeom>
          <a:noFill/>
        </p:spPr>
        <p:txBody>
          <a:bodyPr wrap="square" lIns="18288" rIns="18288" tIns="18288" bIns="18288" anchor="t">
            <a:spAutoFit/>
          </a:bodyPr>
          <a:lstStyle/>
          <a:p>
            <a:pPr algn="l"/>
            <a:r>
              <a:rPr sz="919" b="1" lang="en-US">
                <a:solidFill>
                  <a:srgbClr val="434343"/>
                </a:solidFill>
                <a:latin typeface="Arial"/>
              </a:rPr>
              <a:t>M(r−1) remains authoritative throughout recovery</a:t>
            </a:r>
          </a:p>
        </p:txBody>
      </p:sp>
      <p:sp>
        <p:nvSpPr>
          <p:cNvPr id="72" name="TextBox 71"/>
          <p:cNvSpPr txBox="1"/>
          <p:nvPr/>
        </p:nvSpPr>
        <p:spPr>
          <a:xfrm>
            <a:off x="5596128" y="4242816"/>
            <a:ext cx="1938528" cy="219456"/>
          </a:xfrm>
          <a:prstGeom prst="rect">
            <a:avLst/>
          </a:prstGeom>
          <a:noFill/>
        </p:spPr>
        <p:txBody>
          <a:bodyPr wrap="square" lIns="18288" rIns="18288" tIns="18288" bIns="18288" anchor="t">
            <a:spAutoFit/>
          </a:bodyPr>
          <a:lstStyle/>
          <a:p>
            <a:pPr algn="ctr"/>
            <a:r>
              <a:rPr sz="900" b="1" lang="en-US">
                <a:solidFill>
                  <a:srgbClr val="C40D1E"/>
                </a:solidFill>
                <a:latin typeface="Arial"/>
              </a:rPr>
              <a:t>×  M(r) was never finalized</a:t>
            </a:r>
          </a:p>
        </p:txBody>
      </p:sp>
      <p:sp>
        <p:nvSpPr>
          <p:cNvPr id="73" name="TextBox 72"/>
          <p:cNvSpPr txBox="1"/>
          <p:nvPr/>
        </p:nvSpPr>
        <p:spPr>
          <a:xfrm>
            <a:off x="9491472" y="4764024"/>
            <a:ext cx="1609344" cy="201168"/>
          </a:xfrm>
          <a:prstGeom prst="rect">
            <a:avLst/>
          </a:prstGeom>
          <a:noFill/>
        </p:spPr>
        <p:txBody>
          <a:bodyPr wrap="square" lIns="18288" rIns="18288" tIns="18288" bIns="18288" anchor="t">
            <a:spAutoFit/>
          </a:bodyPr>
          <a:lstStyle/>
          <a:p>
            <a:pPr algn="ctr"/>
            <a:r>
              <a:rPr sz="840" b="1" lang="en-US">
                <a:solidFill>
                  <a:srgbClr val="2F8F46"/>
                </a:solidFill>
                <a:latin typeface="Arial"/>
              </a:rPr>
              <a:t>parent of round r+1</a:t>
            </a:r>
          </a:p>
        </p:txBody>
      </p:sp>
      <p:sp>
        <p:nvSpPr>
          <p:cNvPr id="74" name="Rectangle 73"/>
          <p:cNvSpPr/>
          <p:nvPr/>
        </p:nvSpPr>
        <p:spPr>
          <a:xfrm>
            <a:off x="1243584" y="5193792"/>
            <a:ext cx="9710928" cy="393192"/>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499616" y="5276088"/>
            <a:ext cx="9198864" cy="210312"/>
          </a:xfrm>
          <a:prstGeom prst="rect">
            <a:avLst/>
          </a:prstGeom>
          <a:noFill/>
        </p:spPr>
        <p:txBody>
          <a:bodyPr wrap="square" lIns="18288" rIns="18288" tIns="18288" bIns="18288" anchor="ctr">
            <a:spAutoFit/>
          </a:bodyPr>
          <a:lstStyle/>
          <a:p>
            <a:pPr algn="ctr"/>
            <a:r>
              <a:rPr sz="1150" b="1" lang="en-US">
                <a:solidFill>
                  <a:srgbClr val="FFFFFF"/>
                </a:solidFill>
                <a:latin typeface="Arial"/>
              </a:rPr>
              <a:t>No blockchain rewind: the failed attempt is abandoned and the previous finalized model is preserved.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Freeze → FedAvg → Finalize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ONE FROZEN SUBMISSION SET · ONE DETERMINISTIC MEAN · ONE FINALIZED ROUND</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cxnSp>
        <p:nvCxnSpPr>
          <p:cNvPr id="8" name="Connector 7"/>
          <p:cNvCxnSpPr/>
          <p:nvPr/>
        </p:nvCxnSpPr>
        <p:spPr>
          <a:xfrm>
            <a:off x="2779776" y="3026664"/>
            <a:ext cx="301752" cy="0"/>
          </a:xfrm>
          <a:prstGeom prst="line">
            <a:avLst/>
          </a:prstGeom>
          <a:ln w="2286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355080" y="3026664"/>
            <a:ext cx="301752" cy="0"/>
          </a:xfrm>
          <a:prstGeom prst="line">
            <a:avLst/>
          </a:prstGeom>
          <a:ln w="2286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942832" y="3026664"/>
            <a:ext cx="292608" cy="0"/>
          </a:xfrm>
          <a:prstGeom prst="line">
            <a:avLst/>
          </a:prstGeom>
          <a:ln w="2286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66928" y="1920240"/>
            <a:ext cx="2139696" cy="2212848"/>
          </a:xfrm>
          <a:prstGeom prst="roundRect">
            <a:avLst/>
          </a:prstGeom>
          <a:solidFill>
            <a:srgbClr val="EAF5FA"/>
          </a:solidFill>
          <a:ln w="190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121408"/>
            <a:ext cx="1847088" cy="201168"/>
          </a:xfrm>
          <a:prstGeom prst="rect">
            <a:avLst/>
          </a:prstGeom>
          <a:noFill/>
        </p:spPr>
        <p:txBody>
          <a:bodyPr wrap="square" lIns="18288" rIns="18288" tIns="18288" bIns="18288" anchor="t">
            <a:spAutoFit/>
          </a:bodyPr>
          <a:lstStyle/>
          <a:p>
            <a:pPr algn="ctr"/>
            <a:r>
              <a:rPr sz="940" b="1" lang="en-US">
                <a:solidFill>
                  <a:srgbClr val="1F90CC"/>
                </a:solidFill>
                <a:latin typeface="Arial"/>
              </a:rPr>
              <a:t>1 · FREEZE</a:t>
            </a:r>
          </a:p>
        </p:txBody>
      </p:sp>
      <p:sp>
        <p:nvSpPr>
          <p:cNvPr id="13" name="TextBox 12"/>
          <p:cNvSpPr txBox="1"/>
          <p:nvPr/>
        </p:nvSpPr>
        <p:spPr>
          <a:xfrm>
            <a:off x="713232" y="2551176"/>
            <a:ext cx="1847088" cy="292608"/>
          </a:xfrm>
          <a:prstGeom prst="rect">
            <a:avLst/>
          </a:prstGeom>
          <a:noFill/>
        </p:spPr>
        <p:txBody>
          <a:bodyPr wrap="square" lIns="18288" rIns="18288" tIns="18288" bIns="18288" anchor="t">
            <a:spAutoFit/>
          </a:bodyPr>
          <a:lstStyle/>
          <a:p>
            <a:pPr algn="ctr"/>
            <a:r>
              <a:rPr sz="1200" b="1" lang="en-US">
                <a:solidFill>
                  <a:srgbClr val="434343"/>
                </a:solidFill>
                <a:latin typeface="Arial"/>
              </a:rPr>
              <a:t>accepted updates</a:t>
            </a:r>
          </a:p>
        </p:txBody>
      </p:sp>
      <p:sp>
        <p:nvSpPr>
          <p:cNvPr id="14" name="TextBox 13"/>
          <p:cNvSpPr txBox="1"/>
          <p:nvPr/>
        </p:nvSpPr>
        <p:spPr>
          <a:xfrm>
            <a:off x="713232" y="3108960"/>
            <a:ext cx="1847088" cy="676656"/>
          </a:xfrm>
          <a:prstGeom prst="rect">
            <a:avLst/>
          </a:prstGeom>
          <a:noFill/>
        </p:spPr>
        <p:txBody>
          <a:bodyPr wrap="square" lIns="18288" rIns="18288" tIns="18288" bIns="18288" anchor="ctr">
            <a:spAutoFit/>
          </a:bodyPr>
          <a:lstStyle/>
          <a:p>
            <a:pPr algn="ctr"/>
            <a:r>
              <a:rPr sz="900" b="0" lang="en-US">
                <a:solidFill>
                  <a:srgbClr val="434343"/>
                </a:solidFill>
                <a:latin typeface="Arial"/>
              </a:rPr>
              <a:t>ordered commitments
closed root + count</a:t>
            </a:r>
          </a:p>
        </p:txBody>
      </p:sp>
      <p:sp>
        <p:nvSpPr>
          <p:cNvPr id="15" name="Rounded Rectangle 14"/>
          <p:cNvSpPr/>
          <p:nvPr/>
        </p:nvSpPr>
        <p:spPr>
          <a:xfrm>
            <a:off x="3154680" y="1572768"/>
            <a:ext cx="3127248" cy="2907792"/>
          </a:xfrm>
          <a:prstGeom prst="roundRect">
            <a:avLst/>
          </a:prstGeom>
          <a:solidFill>
            <a:srgbClr val="EAF6ED"/>
          </a:solidFill>
          <a:ln w="190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00984" y="1773936"/>
            <a:ext cx="2834640" cy="201168"/>
          </a:xfrm>
          <a:prstGeom prst="rect">
            <a:avLst/>
          </a:prstGeom>
          <a:noFill/>
        </p:spPr>
        <p:txBody>
          <a:bodyPr wrap="square" lIns="18288" rIns="18288" tIns="18288" bIns="18288" anchor="t">
            <a:spAutoFit/>
          </a:bodyPr>
          <a:lstStyle/>
          <a:p>
            <a:pPr algn="ctr"/>
            <a:r>
              <a:rPr sz="940" b="1" lang="en-US">
                <a:solidFill>
                  <a:srgbClr val="2F8F46"/>
                </a:solidFill>
                <a:latin typeface="Arial"/>
              </a:rPr>
              <a:t>2 · AGGREGATE</a:t>
            </a:r>
          </a:p>
        </p:txBody>
      </p:sp>
      <p:sp>
        <p:nvSpPr>
          <p:cNvPr id="17" name="TextBox 16"/>
          <p:cNvSpPr txBox="1"/>
          <p:nvPr/>
        </p:nvSpPr>
        <p:spPr>
          <a:xfrm>
            <a:off x="3300984" y="2203704"/>
            <a:ext cx="2834640" cy="292608"/>
          </a:xfrm>
          <a:prstGeom prst="rect">
            <a:avLst/>
          </a:prstGeom>
          <a:noFill/>
        </p:spPr>
        <p:txBody>
          <a:bodyPr wrap="square" lIns="18288" rIns="18288" tIns="18288" bIns="18288" anchor="t">
            <a:spAutoFit/>
          </a:bodyPr>
          <a:lstStyle/>
          <a:p>
            <a:pPr algn="ctr"/>
            <a:r>
              <a:rPr sz="1200" b="1" lang="en-US">
                <a:solidFill>
                  <a:srgbClr val="434343"/>
                </a:solidFill>
                <a:latin typeface="Arial"/>
              </a:rPr>
              <a:t>EQUAL-WEIGHT FEDAVG</a:t>
            </a:r>
          </a:p>
        </p:txBody>
      </p:sp>
      <p:sp>
        <p:nvSpPr>
          <p:cNvPr id="18" name="TextBox 17"/>
          <p:cNvSpPr txBox="1"/>
          <p:nvPr/>
        </p:nvSpPr>
        <p:spPr>
          <a:xfrm>
            <a:off x="3300984" y="2761488"/>
            <a:ext cx="2834640" cy="676656"/>
          </a:xfrm>
          <a:prstGeom prst="rect">
            <a:avLst/>
          </a:prstGeom>
          <a:noFill/>
        </p:spPr>
        <p:txBody>
          <a:bodyPr wrap="square" lIns="18288" rIns="18288" tIns="18288" bIns="18288" anchor="ctr">
            <a:spAutoFit/>
          </a:bodyPr>
          <a:lstStyle/>
          <a:p>
            <a:pPr algn="ctr"/>
            <a:r>
              <a:rPr sz="900" b="0" lang="en-US">
                <a:solidFill>
                  <a:srgbClr val="434343"/>
                </a:solidFill>
                <a:latin typeface="Arial"/>
              </a:rPr>
              <a:t>for every state-dict tensor:
arithmetic mean across all
accepted client models</a:t>
            </a:r>
          </a:p>
        </p:txBody>
      </p:sp>
      <p:sp>
        <p:nvSpPr>
          <p:cNvPr id="19" name="Rounded Rectangle 18"/>
          <p:cNvSpPr/>
          <p:nvPr/>
        </p:nvSpPr>
        <p:spPr>
          <a:xfrm>
            <a:off x="6729984" y="1920240"/>
            <a:ext cx="2139696" cy="2212848"/>
          </a:xfrm>
          <a:prstGeom prst="roundRect">
            <a:avLst/>
          </a:prstGeom>
          <a:solidFill>
            <a:srgbClr val="F3EBF9"/>
          </a:solidFill>
          <a:ln w="1905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76288" y="2121408"/>
            <a:ext cx="1847088" cy="201168"/>
          </a:xfrm>
          <a:prstGeom prst="rect">
            <a:avLst/>
          </a:prstGeom>
          <a:noFill/>
        </p:spPr>
        <p:txBody>
          <a:bodyPr wrap="square" lIns="18288" rIns="18288" tIns="18288" bIns="18288" anchor="t">
            <a:spAutoFit/>
          </a:bodyPr>
          <a:lstStyle/>
          <a:p>
            <a:pPr algn="ctr"/>
            <a:r>
              <a:rPr sz="940" b="1" lang="en-US">
                <a:solidFill>
                  <a:srgbClr val="7A35B5"/>
                </a:solidFill>
                <a:latin typeface="Arial"/>
              </a:rPr>
              <a:t>3 · BIND</a:t>
            </a:r>
          </a:p>
        </p:txBody>
      </p:sp>
      <p:sp>
        <p:nvSpPr>
          <p:cNvPr id="21" name="TextBox 20"/>
          <p:cNvSpPr txBox="1"/>
          <p:nvPr/>
        </p:nvSpPr>
        <p:spPr>
          <a:xfrm>
            <a:off x="6876288" y="2551176"/>
            <a:ext cx="1847088" cy="292608"/>
          </a:xfrm>
          <a:prstGeom prst="rect">
            <a:avLst/>
          </a:prstGeom>
          <a:noFill/>
        </p:spPr>
        <p:txBody>
          <a:bodyPr wrap="square" lIns="18288" rIns="18288" tIns="18288" bIns="18288" anchor="t">
            <a:spAutoFit/>
          </a:bodyPr>
          <a:lstStyle/>
          <a:p>
            <a:pPr algn="ctr"/>
            <a:r>
              <a:rPr sz="1200" b="1" lang="en-US">
                <a:solidFill>
                  <a:srgbClr val="434343"/>
                </a:solidFill>
                <a:latin typeface="Arial"/>
              </a:rPr>
              <a:t>signed statement</a:t>
            </a:r>
          </a:p>
        </p:txBody>
      </p:sp>
      <p:sp>
        <p:nvSpPr>
          <p:cNvPr id="22" name="TextBox 21"/>
          <p:cNvSpPr txBox="1"/>
          <p:nvPr/>
        </p:nvSpPr>
        <p:spPr>
          <a:xfrm>
            <a:off x="6876288" y="3108960"/>
            <a:ext cx="1847088" cy="676656"/>
          </a:xfrm>
          <a:prstGeom prst="rect">
            <a:avLst/>
          </a:prstGeom>
          <a:noFill/>
        </p:spPr>
        <p:txBody>
          <a:bodyPr wrap="square" lIns="18288" rIns="18288" tIns="18288" bIns="18288" anchor="ctr">
            <a:spAutoFit/>
          </a:bodyPr>
          <a:lstStyle/>
          <a:p>
            <a:pPr algn="ctr"/>
            <a:r>
              <a:rPr sz="900" b="0" lang="en-US">
                <a:solidFill>
                  <a:srgbClr val="434343"/>
                </a:solidFill>
                <a:latin typeface="Arial"/>
              </a:rPr>
              <a:t>round + policy
root + count + output</a:t>
            </a:r>
          </a:p>
        </p:txBody>
      </p:sp>
      <p:sp>
        <p:nvSpPr>
          <p:cNvPr id="23" name="Rounded Rectangle 22"/>
          <p:cNvSpPr/>
          <p:nvPr/>
        </p:nvSpPr>
        <p:spPr>
          <a:xfrm>
            <a:off x="9308592" y="1920240"/>
            <a:ext cx="2304288" cy="2212848"/>
          </a:xfrm>
          <a:prstGeom prst="roundRect">
            <a:avLst/>
          </a:prstGeom>
          <a:solidFill>
            <a:srgbClr val="FBEAEC"/>
          </a:solidFill>
          <a:ln w="190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454896" y="2121408"/>
            <a:ext cx="2011680" cy="201168"/>
          </a:xfrm>
          <a:prstGeom prst="rect">
            <a:avLst/>
          </a:prstGeom>
          <a:noFill/>
        </p:spPr>
        <p:txBody>
          <a:bodyPr wrap="square" lIns="18288" rIns="18288" tIns="18288" bIns="18288" anchor="t">
            <a:spAutoFit/>
          </a:bodyPr>
          <a:lstStyle/>
          <a:p>
            <a:pPr algn="ctr"/>
            <a:r>
              <a:rPr sz="940" b="1" lang="en-US">
                <a:solidFill>
                  <a:srgbClr val="C40D1E"/>
                </a:solidFill>
                <a:latin typeface="Arial"/>
              </a:rPr>
              <a:t>4 · FINALIZE</a:t>
            </a:r>
          </a:p>
        </p:txBody>
      </p:sp>
      <p:sp>
        <p:nvSpPr>
          <p:cNvPr id="25" name="TextBox 24"/>
          <p:cNvSpPr txBox="1"/>
          <p:nvPr/>
        </p:nvSpPr>
        <p:spPr>
          <a:xfrm>
            <a:off x="9454896" y="2551176"/>
            <a:ext cx="2011680" cy="292608"/>
          </a:xfrm>
          <a:prstGeom prst="rect">
            <a:avLst/>
          </a:prstGeom>
          <a:noFill/>
        </p:spPr>
        <p:txBody>
          <a:bodyPr wrap="square" lIns="18288" rIns="18288" tIns="18288" bIns="18288" anchor="t">
            <a:spAutoFit/>
          </a:bodyPr>
          <a:lstStyle/>
          <a:p>
            <a:pPr algn="ctr"/>
            <a:r>
              <a:rPr sz="1200" b="1" lang="en-US">
                <a:solidFill>
                  <a:srgbClr val="434343"/>
                </a:solidFill>
                <a:latin typeface="Arial"/>
              </a:rPr>
              <a:t>authoritative model</a:t>
            </a:r>
          </a:p>
        </p:txBody>
      </p:sp>
      <p:sp>
        <p:nvSpPr>
          <p:cNvPr id="26" name="TextBox 25"/>
          <p:cNvSpPr txBox="1"/>
          <p:nvPr/>
        </p:nvSpPr>
        <p:spPr>
          <a:xfrm>
            <a:off x="9454896" y="3108960"/>
            <a:ext cx="2011680" cy="676656"/>
          </a:xfrm>
          <a:prstGeom prst="rect">
            <a:avLst/>
          </a:prstGeom>
          <a:noFill/>
        </p:spPr>
        <p:txBody>
          <a:bodyPr wrap="square" lIns="18288" rIns="18288" tIns="18288" bIns="18288" anchor="ctr">
            <a:spAutoFit/>
          </a:bodyPr>
          <a:lstStyle/>
          <a:p>
            <a:pPr algn="ctr"/>
            <a:r>
              <a:rPr sz="900" b="0" lang="en-US">
                <a:solidFill>
                  <a:srgbClr val="434343"/>
                </a:solidFill>
                <a:latin typeface="Arial"/>
              </a:rPr>
              <a:t>atomic publication
+ round transition</a:t>
            </a:r>
          </a:p>
        </p:txBody>
      </p:sp>
      <p:sp>
        <p:nvSpPr>
          <p:cNvPr id="27" name="Rounded Rectangle 26"/>
          <p:cNvSpPr/>
          <p:nvPr/>
        </p:nvSpPr>
        <p:spPr>
          <a:xfrm>
            <a:off x="1874519" y="4754880"/>
            <a:ext cx="8449056" cy="576072"/>
          </a:xfrm>
          <a:prstGeom prst="round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066543" y="4928616"/>
            <a:ext cx="8065008" cy="219456"/>
          </a:xfrm>
          <a:prstGeom prst="rect">
            <a:avLst/>
          </a:prstGeom>
          <a:noFill/>
        </p:spPr>
        <p:txBody>
          <a:bodyPr wrap="square" lIns="0" rIns="0" tIns="0" bIns="0" anchor="t">
            <a:spAutoFit/>
          </a:bodyPr>
          <a:lstStyle/>
          <a:p>
            <a:pPr algn="ctr"/>
            <a:r>
              <a:rPr sz="1040" b="1" lang="en-US">
                <a:solidFill>
                  <a:srgbClr val="434343"/>
                </a:solidFill>
                <a:latin typeface="Arial"/>
              </a:rPr>
              <a:t>Policy: equal-weight FedAvg · validationDataHash = 0 · maxLossIncreaseBps = 0</a:t>
            </a:r>
          </a:p>
        </p:txBody>
      </p:sp>
      <p:sp>
        <p:nvSpPr>
          <p:cNvPr id="29" name="TextBox 28"/>
          <p:cNvSpPr txBox="1"/>
          <p:nvPr/>
        </p:nvSpPr>
        <p:spPr>
          <a:xfrm>
            <a:off x="1051560" y="5486400"/>
            <a:ext cx="10085832" cy="228600"/>
          </a:xfrm>
          <a:prstGeom prst="rect">
            <a:avLst/>
          </a:prstGeom>
          <a:noFill/>
        </p:spPr>
        <p:txBody>
          <a:bodyPr wrap="square" lIns="18288" rIns="18288" tIns="18288" bIns="18288" anchor="t">
            <a:spAutoFit/>
          </a:bodyPr>
          <a:lstStyle/>
          <a:p>
            <a:pPr algn="ctr"/>
            <a:r>
              <a:rPr sz="1040" b="1" lang="en-US">
                <a:solidFill>
                  <a:srgbClr val="C40D1E"/>
                </a:solidFill>
                <a:latin typeface="Arial"/>
              </a:rPr>
              <a:t>One selected aggregator executes one deterministic aggregation rule over the complete closed set.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Original Hybrid-R: several rules, one aggregate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RELATED WORK BY YUE ET AL. · ONE CENTRAL SERVER, NOT SEVERAL AGGREGATOR NODES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502920" y="1874519"/>
            <a:ext cx="1993392" cy="2542032"/>
          </a:xfrm>
          <a:prstGeom prst="roundRect">
            <a:avLst/>
          </a:prstGeom>
          <a:solidFill>
            <a:srgbClr val="EAF5FA"/>
          </a:solidFill>
          <a:ln w="1778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2130552"/>
            <a:ext cx="1609344" cy="228600"/>
          </a:xfrm>
          <a:prstGeom prst="rect">
            <a:avLst/>
          </a:prstGeom>
          <a:noFill/>
        </p:spPr>
        <p:txBody>
          <a:bodyPr wrap="square" lIns="18288" rIns="18288" tIns="18288" bIns="18288" anchor="t">
            <a:spAutoFit/>
          </a:bodyPr>
          <a:lstStyle/>
          <a:p>
            <a:pPr algn="ctr"/>
            <a:r>
              <a:rPr sz="1000" b="1" lang="en-US">
                <a:solidFill>
                  <a:srgbClr val="1F90CC"/>
                </a:solidFill>
                <a:latin typeface="Arial"/>
              </a:rPr>
              <a:t>ONE CENTRAL SERVER</a:t>
            </a:r>
          </a:p>
        </p:txBody>
      </p:sp>
      <p:sp>
        <p:nvSpPr>
          <p:cNvPr id="10" name="TextBox 9"/>
          <p:cNvSpPr txBox="1"/>
          <p:nvPr/>
        </p:nvSpPr>
        <p:spPr>
          <a:xfrm>
            <a:off x="694944" y="2761488"/>
            <a:ext cx="1609344" cy="530352"/>
          </a:xfrm>
          <a:prstGeom prst="rect">
            <a:avLst/>
          </a:prstGeom>
          <a:noFill/>
        </p:spPr>
        <p:txBody>
          <a:bodyPr wrap="square" lIns="18288" rIns="18288" tIns="18288" bIns="18288" anchor="ctr">
            <a:spAutoFit/>
          </a:bodyPr>
          <a:lstStyle/>
          <a:p>
            <a:pPr algn="ctr"/>
            <a:r>
              <a:rPr sz="1300" b="1" lang="en-US">
                <a:solidFill>
                  <a:srgbClr val="434343"/>
                </a:solidFill>
                <a:latin typeface="Arial"/>
              </a:rPr>
              <a:t>same client-update
collection</a:t>
            </a:r>
          </a:p>
        </p:txBody>
      </p:sp>
      <p:sp>
        <p:nvSpPr>
          <p:cNvPr id="11" name="TextBox 10"/>
          <p:cNvSpPr txBox="1"/>
          <p:nvPr/>
        </p:nvSpPr>
        <p:spPr>
          <a:xfrm>
            <a:off x="694944" y="3730752"/>
            <a:ext cx="1609344" cy="384048"/>
          </a:xfrm>
          <a:prstGeom prst="rect">
            <a:avLst/>
          </a:prstGeom>
          <a:noFill/>
        </p:spPr>
        <p:txBody>
          <a:bodyPr wrap="square" lIns="18288" rIns="18288" tIns="18288" bIns="18288" anchor="t">
            <a:spAutoFit/>
          </a:bodyPr>
          <a:lstStyle/>
          <a:p>
            <a:pPr algn="ctr"/>
            <a:r>
              <a:rPr sz="880" b="0" lang="en-US">
                <a:solidFill>
                  <a:srgbClr val="434343"/>
                </a:solidFill>
                <a:latin typeface="Arial"/>
              </a:rPr>
              <a:t>every rule receives
the same inputs</a:t>
            </a:r>
          </a:p>
        </p:txBody>
      </p:sp>
      <p:cxnSp>
        <p:nvCxnSpPr>
          <p:cNvPr id="12" name="Connector 11"/>
          <p:cNvCxnSpPr/>
          <p:nvPr/>
        </p:nvCxnSpPr>
        <p:spPr>
          <a:xfrm>
            <a:off x="2596896" y="3136392"/>
            <a:ext cx="365760" cy="0"/>
          </a:xfrm>
          <a:prstGeom prst="line">
            <a:avLst/>
          </a:prstGeom>
          <a:ln w="2286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635240" y="3136392"/>
            <a:ext cx="374904" cy="0"/>
          </a:xfrm>
          <a:prstGeom prst="line">
            <a:avLst/>
          </a:prstGeom>
          <a:ln w="2286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71800" y="1298448"/>
            <a:ext cx="4645152" cy="4069080"/>
          </a:xfrm>
          <a:prstGeom prst="roundRect">
            <a:avLst/>
          </a:prstGeom>
          <a:solidFill>
            <a:srgbClr val="F3F3F3"/>
          </a:solidFill>
          <a:ln w="15240">
            <a:solidFill>
              <a:srgbClr val="B2B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18688" y="1545336"/>
            <a:ext cx="4151376" cy="228600"/>
          </a:xfrm>
          <a:prstGeom prst="rect">
            <a:avLst/>
          </a:prstGeom>
          <a:noFill/>
        </p:spPr>
        <p:txBody>
          <a:bodyPr wrap="square" lIns="18288" rIns="18288" tIns="18288" bIns="18288" anchor="t">
            <a:spAutoFit/>
          </a:bodyPr>
          <a:lstStyle/>
          <a:p>
            <a:pPr algn="ctr"/>
            <a:r>
              <a:rPr sz="950" b="1" lang="en-US">
                <a:solidFill>
                  <a:srgbClr val="434343"/>
                </a:solidFill>
                <a:latin typeface="Arial"/>
              </a:rPr>
              <a:t>PORTFOLIO OF SERVER-SIDE DEFENSE FUNCTIONS</a:t>
            </a:r>
          </a:p>
        </p:txBody>
      </p:sp>
      <p:sp>
        <p:nvSpPr>
          <p:cNvPr id="16" name="Rounded Rectangle 15"/>
          <p:cNvSpPr/>
          <p:nvPr/>
        </p:nvSpPr>
        <p:spPr>
          <a:xfrm>
            <a:off x="3246120" y="1993392"/>
            <a:ext cx="1975104" cy="493776"/>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37560" y="2139696"/>
            <a:ext cx="1792224" cy="182880"/>
          </a:xfrm>
          <a:prstGeom prst="rect">
            <a:avLst/>
          </a:prstGeom>
          <a:noFill/>
        </p:spPr>
        <p:txBody>
          <a:bodyPr wrap="square" lIns="0" rIns="0" tIns="0" bIns="0" anchor="t">
            <a:spAutoFit/>
          </a:bodyPr>
          <a:lstStyle/>
          <a:p>
            <a:pPr algn="ctr"/>
            <a:r>
              <a:rPr sz="800" b="1" lang="en-US">
                <a:solidFill>
                  <a:srgbClr val="1F90CC"/>
                </a:solidFill>
                <a:latin typeface="Arial"/>
              </a:rPr>
              <a:t>BALANCE</a:t>
            </a:r>
          </a:p>
        </p:txBody>
      </p:sp>
      <p:sp>
        <p:nvSpPr>
          <p:cNvPr id="18" name="Rounded Rectangle 17"/>
          <p:cNvSpPr/>
          <p:nvPr/>
        </p:nvSpPr>
        <p:spPr>
          <a:xfrm>
            <a:off x="5312664" y="1993392"/>
            <a:ext cx="1975104" cy="493776"/>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04103" y="2139696"/>
            <a:ext cx="1792224" cy="182880"/>
          </a:xfrm>
          <a:prstGeom prst="rect">
            <a:avLst/>
          </a:prstGeom>
          <a:noFill/>
        </p:spPr>
        <p:txBody>
          <a:bodyPr wrap="square" lIns="0" rIns="0" tIns="0" bIns="0" anchor="t">
            <a:spAutoFit/>
          </a:bodyPr>
          <a:lstStyle/>
          <a:p>
            <a:pPr algn="ctr"/>
            <a:r>
              <a:rPr sz="800" b="1" lang="en-US">
                <a:solidFill>
                  <a:srgbClr val="1F90CC"/>
                </a:solidFill>
                <a:latin typeface="Arial"/>
              </a:rPr>
              <a:t>CENTERED CLIPPING</a:t>
            </a:r>
          </a:p>
        </p:txBody>
      </p:sp>
      <p:sp>
        <p:nvSpPr>
          <p:cNvPr id="20" name="Rounded Rectangle 19"/>
          <p:cNvSpPr/>
          <p:nvPr/>
        </p:nvSpPr>
        <p:spPr>
          <a:xfrm>
            <a:off x="3246120" y="2660904"/>
            <a:ext cx="1975104" cy="493776"/>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37560" y="2807208"/>
            <a:ext cx="1792224" cy="182880"/>
          </a:xfrm>
          <a:prstGeom prst="rect">
            <a:avLst/>
          </a:prstGeom>
          <a:noFill/>
        </p:spPr>
        <p:txBody>
          <a:bodyPr wrap="square" lIns="0" rIns="0" tIns="0" bIns="0" anchor="t">
            <a:spAutoFit/>
          </a:bodyPr>
          <a:lstStyle/>
          <a:p>
            <a:pPr algn="ctr"/>
            <a:r>
              <a:rPr sz="800" b="1" lang="en-US">
                <a:solidFill>
                  <a:srgbClr val="7A35B5"/>
                </a:solidFill>
                <a:latin typeface="Arial"/>
              </a:rPr>
              <a:t>FREQFED</a:t>
            </a:r>
          </a:p>
        </p:txBody>
      </p:sp>
      <p:sp>
        <p:nvSpPr>
          <p:cNvPr id="22" name="Rounded Rectangle 21"/>
          <p:cNvSpPr/>
          <p:nvPr/>
        </p:nvSpPr>
        <p:spPr>
          <a:xfrm>
            <a:off x="5312664" y="2660904"/>
            <a:ext cx="1975104" cy="493776"/>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04103" y="2807208"/>
            <a:ext cx="1792224" cy="182880"/>
          </a:xfrm>
          <a:prstGeom prst="rect">
            <a:avLst/>
          </a:prstGeom>
          <a:noFill/>
        </p:spPr>
        <p:txBody>
          <a:bodyPr wrap="square" lIns="0" rIns="0" tIns="0" bIns="0" anchor="t">
            <a:spAutoFit/>
          </a:bodyPr>
          <a:lstStyle/>
          <a:p>
            <a:pPr algn="ctr"/>
            <a:r>
              <a:rPr sz="800" b="1" lang="en-US">
                <a:solidFill>
                  <a:srgbClr val="7A35B5"/>
                </a:solidFill>
                <a:latin typeface="Arial"/>
              </a:rPr>
              <a:t>SIGNGUARD</a:t>
            </a:r>
          </a:p>
        </p:txBody>
      </p:sp>
      <p:sp>
        <p:nvSpPr>
          <p:cNvPr id="24" name="Rounded Rectangle 23"/>
          <p:cNvSpPr/>
          <p:nvPr/>
        </p:nvSpPr>
        <p:spPr>
          <a:xfrm>
            <a:off x="3246120" y="3328416"/>
            <a:ext cx="1975104" cy="493776"/>
          </a:xfrm>
          <a:prstGeom prst="roundRect">
            <a:avLst/>
          </a:prstGeom>
          <a:solidFill>
            <a:srgbClr val="FFF1E7"/>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37560" y="3474720"/>
            <a:ext cx="1792224" cy="182880"/>
          </a:xfrm>
          <a:prstGeom prst="rect">
            <a:avLst/>
          </a:prstGeom>
          <a:noFill/>
        </p:spPr>
        <p:txBody>
          <a:bodyPr wrap="square" lIns="0" rIns="0" tIns="0" bIns="0" anchor="t">
            <a:spAutoFit/>
          </a:bodyPr>
          <a:lstStyle/>
          <a:p>
            <a:pPr algn="ctr"/>
            <a:r>
              <a:rPr sz="800" b="1" lang="en-US">
                <a:solidFill>
                  <a:srgbClr val="FF6C00"/>
                </a:solidFill>
                <a:latin typeface="Arial"/>
              </a:rPr>
              <a:t>KRUM / MULTI-KRUM</a:t>
            </a:r>
          </a:p>
        </p:txBody>
      </p:sp>
      <p:sp>
        <p:nvSpPr>
          <p:cNvPr id="26" name="Rounded Rectangle 25"/>
          <p:cNvSpPr/>
          <p:nvPr/>
        </p:nvSpPr>
        <p:spPr>
          <a:xfrm>
            <a:off x="5312664" y="3328416"/>
            <a:ext cx="1975104" cy="493776"/>
          </a:xfrm>
          <a:prstGeom prst="roundRect">
            <a:avLst/>
          </a:prstGeom>
          <a:solidFill>
            <a:srgbClr val="FFF1E7"/>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04103" y="3474720"/>
            <a:ext cx="1792224" cy="182880"/>
          </a:xfrm>
          <a:prstGeom prst="rect">
            <a:avLst/>
          </a:prstGeom>
          <a:noFill/>
        </p:spPr>
        <p:txBody>
          <a:bodyPr wrap="square" lIns="0" rIns="0" tIns="0" bIns="0" anchor="t">
            <a:spAutoFit/>
          </a:bodyPr>
          <a:lstStyle/>
          <a:p>
            <a:pPr algn="ctr"/>
            <a:r>
              <a:rPr sz="800" b="1" lang="en-US">
                <a:solidFill>
                  <a:srgbClr val="FF6C00"/>
                </a:solidFill>
                <a:latin typeface="Arial"/>
              </a:rPr>
              <a:t>DIVIDE-AND-CONQUER</a:t>
            </a:r>
          </a:p>
        </p:txBody>
      </p:sp>
      <p:sp>
        <p:nvSpPr>
          <p:cNvPr id="28" name="Rounded Rectangle 27"/>
          <p:cNvSpPr/>
          <p:nvPr/>
        </p:nvSpPr>
        <p:spPr>
          <a:xfrm>
            <a:off x="3246120" y="3995928"/>
            <a:ext cx="1975104" cy="493776"/>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337560" y="4142232"/>
            <a:ext cx="1792224" cy="182880"/>
          </a:xfrm>
          <a:prstGeom prst="rect">
            <a:avLst/>
          </a:prstGeom>
          <a:noFill/>
        </p:spPr>
        <p:txBody>
          <a:bodyPr wrap="square" lIns="0" rIns="0" tIns="0" bIns="0" anchor="t">
            <a:spAutoFit/>
          </a:bodyPr>
          <a:lstStyle/>
          <a:p>
            <a:pPr algn="ctr"/>
            <a:r>
              <a:rPr sz="800" b="1" lang="en-US">
                <a:solidFill>
                  <a:srgbClr val="2F8F46"/>
                </a:solidFill>
                <a:latin typeface="Arial"/>
              </a:rPr>
              <a:t>TRIMMED MEAN</a:t>
            </a:r>
          </a:p>
        </p:txBody>
      </p:sp>
      <p:sp>
        <p:nvSpPr>
          <p:cNvPr id="30" name="Rounded Rectangle 29"/>
          <p:cNvSpPr/>
          <p:nvPr/>
        </p:nvSpPr>
        <p:spPr>
          <a:xfrm>
            <a:off x="5312664" y="3995928"/>
            <a:ext cx="1975104" cy="493776"/>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04103" y="4142232"/>
            <a:ext cx="1792224" cy="182880"/>
          </a:xfrm>
          <a:prstGeom prst="rect">
            <a:avLst/>
          </a:prstGeom>
          <a:noFill/>
        </p:spPr>
        <p:txBody>
          <a:bodyPr wrap="square" lIns="0" rIns="0" tIns="0" bIns="0" anchor="t">
            <a:spAutoFit/>
          </a:bodyPr>
          <a:lstStyle/>
          <a:p>
            <a:pPr algn="ctr"/>
            <a:r>
              <a:rPr sz="800" b="1" lang="en-US">
                <a:solidFill>
                  <a:srgbClr val="2F8F46"/>
                </a:solidFill>
                <a:latin typeface="Arial"/>
              </a:rPr>
              <a:t>COORDINATE MEDIAN</a:t>
            </a:r>
          </a:p>
        </p:txBody>
      </p:sp>
      <p:sp>
        <p:nvSpPr>
          <p:cNvPr id="32" name="TextBox 31"/>
          <p:cNvSpPr txBox="1"/>
          <p:nvPr/>
        </p:nvSpPr>
        <p:spPr>
          <a:xfrm>
            <a:off x="3310128" y="4828032"/>
            <a:ext cx="3968496" cy="210312"/>
          </a:xfrm>
          <a:prstGeom prst="rect">
            <a:avLst/>
          </a:prstGeom>
          <a:noFill/>
        </p:spPr>
        <p:txBody>
          <a:bodyPr wrap="square" lIns="18288" rIns="18288" tIns="18288" bIns="18288" anchor="t">
            <a:spAutoFit/>
          </a:bodyPr>
          <a:lstStyle/>
          <a:p>
            <a:pPr algn="ctr"/>
            <a:r>
              <a:rPr sz="919" b="1" lang="en-US">
                <a:solidFill>
                  <a:srgbClr val="434343"/>
                </a:solidFill>
                <a:latin typeface="Arial"/>
              </a:rPr>
              <a:t>each function produces one aggregate model</a:t>
            </a:r>
          </a:p>
        </p:txBody>
      </p:sp>
      <p:sp>
        <p:nvSpPr>
          <p:cNvPr id="33" name="Rounded Rectangle 32"/>
          <p:cNvSpPr/>
          <p:nvPr/>
        </p:nvSpPr>
        <p:spPr>
          <a:xfrm>
            <a:off x="8028431" y="1298448"/>
            <a:ext cx="3685032" cy="4069080"/>
          </a:xfrm>
          <a:prstGeom prst="roundRect">
            <a:avLst/>
          </a:prstGeom>
          <a:solidFill>
            <a:srgbClr val="F3EBF9"/>
          </a:solidFill>
          <a:ln w="1651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57031" y="1609344"/>
            <a:ext cx="3227832" cy="219456"/>
          </a:xfrm>
          <a:prstGeom prst="rect">
            <a:avLst/>
          </a:prstGeom>
          <a:noFill/>
        </p:spPr>
        <p:txBody>
          <a:bodyPr wrap="square" lIns="18288" rIns="18288" tIns="18288" bIns="18288" anchor="t">
            <a:spAutoFit/>
          </a:bodyPr>
          <a:lstStyle/>
          <a:p>
            <a:pPr algn="ctr"/>
            <a:r>
              <a:rPr sz="1000" b="1" lang="en-US">
                <a:solidFill>
                  <a:srgbClr val="7A35B5"/>
                </a:solidFill>
                <a:latin typeface="Arial"/>
              </a:rPr>
              <a:t>ONE CANDIDATE PER RULE</a:t>
            </a:r>
          </a:p>
        </p:txBody>
      </p:sp>
      <p:sp>
        <p:nvSpPr>
          <p:cNvPr id="35" name="Rounded Rectangle 34"/>
          <p:cNvSpPr/>
          <p:nvPr/>
        </p:nvSpPr>
        <p:spPr>
          <a:xfrm>
            <a:off x="8357616" y="2139696"/>
            <a:ext cx="3026664" cy="676656"/>
          </a:xfrm>
          <a:prstGeom prst="roundRect">
            <a:avLst/>
          </a:prstGeom>
          <a:solidFill>
            <a:srgbClr val="FFFFFF"/>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558784" y="2286000"/>
            <a:ext cx="2624328" cy="384048"/>
          </a:xfrm>
          <a:prstGeom prst="rect">
            <a:avLst/>
          </a:prstGeom>
          <a:noFill/>
        </p:spPr>
        <p:txBody>
          <a:bodyPr wrap="square" lIns="18288" rIns="18288" tIns="18288" bIns="18288" anchor="t">
            <a:spAutoFit/>
          </a:bodyPr>
          <a:lstStyle/>
          <a:p>
            <a:pPr algn="ctr"/>
            <a:r>
              <a:rPr sz="950" b="1" lang="en-US">
                <a:solidFill>
                  <a:srgbClr val="434343"/>
                </a:solidFill>
                <a:latin typeface="Arial"/>
              </a:rPr>
              <a:t>evaluate every model on the
same reference dataset</a:t>
            </a:r>
          </a:p>
        </p:txBody>
      </p:sp>
      <p:cxnSp>
        <p:nvCxnSpPr>
          <p:cNvPr id="37" name="Connector 36"/>
          <p:cNvCxnSpPr/>
          <p:nvPr/>
        </p:nvCxnSpPr>
        <p:spPr>
          <a:xfrm>
            <a:off x="9875520" y="2889504"/>
            <a:ext cx="0" cy="329184"/>
          </a:xfrm>
          <a:prstGeom prst="line">
            <a:avLst/>
          </a:prstGeom>
          <a:ln w="2032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8357616" y="3273552"/>
            <a:ext cx="3026664" cy="676656"/>
          </a:xfrm>
          <a:prstGeom prst="roundRect">
            <a:avLst/>
          </a:prstGeom>
          <a:solidFill>
            <a:srgbClr val="FFFFFF"/>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558784" y="3419856"/>
            <a:ext cx="2624328" cy="384048"/>
          </a:xfrm>
          <a:prstGeom prst="rect">
            <a:avLst/>
          </a:prstGeom>
          <a:noFill/>
        </p:spPr>
        <p:txBody>
          <a:bodyPr wrap="square" lIns="18288" rIns="18288" tIns="18288" bIns="18288" anchor="t">
            <a:spAutoFit/>
          </a:bodyPr>
          <a:lstStyle/>
          <a:p>
            <a:pPr algn="ctr"/>
            <a:r>
              <a:rPr sz="919" b="1" lang="en-US">
                <a:solidFill>
                  <a:srgbClr val="434343"/>
                </a:solidFill>
                <a:latin typeface="Arial"/>
              </a:rPr>
              <a:t>compare one empirical-risk
measure across all candidates</a:t>
            </a:r>
          </a:p>
        </p:txBody>
      </p:sp>
      <p:cxnSp>
        <p:nvCxnSpPr>
          <p:cNvPr id="40" name="Connector 39"/>
          <p:cNvCxnSpPr/>
          <p:nvPr/>
        </p:nvCxnSpPr>
        <p:spPr>
          <a:xfrm>
            <a:off x="9875520" y="4023360"/>
            <a:ext cx="0" cy="329184"/>
          </a:xfrm>
          <a:prstGeom prst="line">
            <a:avLst/>
          </a:prstGeom>
          <a:ln w="2032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8357616" y="4407408"/>
            <a:ext cx="3026664" cy="603504"/>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558784" y="4599432"/>
            <a:ext cx="2624328" cy="201168"/>
          </a:xfrm>
          <a:prstGeom prst="rect">
            <a:avLst/>
          </a:prstGeom>
          <a:noFill/>
        </p:spPr>
        <p:txBody>
          <a:bodyPr wrap="square" lIns="18288" rIns="18288" tIns="18288" bIns="18288" anchor="t">
            <a:spAutoFit/>
          </a:bodyPr>
          <a:lstStyle/>
          <a:p>
            <a:pPr algn="ctr"/>
            <a:r>
              <a:rPr sz="930" b="1" lang="en-US">
                <a:solidFill>
                  <a:srgbClr val="2F8F46"/>
                </a:solidFill>
                <a:latin typeface="Arial"/>
              </a:rPr>
              <a:t>ADOPT LOWEST-RISK MODEL</a:t>
            </a:r>
          </a:p>
        </p:txBody>
      </p:sp>
      <p:sp>
        <p:nvSpPr>
          <p:cNvPr id="43" name="TextBox 42"/>
          <p:cNvSpPr txBox="1"/>
          <p:nvPr/>
        </p:nvSpPr>
        <p:spPr>
          <a:xfrm>
            <a:off x="960120" y="5522976"/>
            <a:ext cx="10268712" cy="228600"/>
          </a:xfrm>
          <a:prstGeom prst="rect">
            <a:avLst/>
          </a:prstGeom>
          <a:noFill/>
        </p:spPr>
        <p:txBody>
          <a:bodyPr wrap="square" lIns="18288" rIns="18288" tIns="18288" bIns="18288" anchor="t">
            <a:spAutoFit/>
          </a:bodyPr>
          <a:lstStyle/>
          <a:p>
            <a:pPr algn="ctr"/>
            <a:r>
              <a:rPr sz="1030" b="1" lang="en-US">
                <a:solidFill>
                  <a:srgbClr val="C40D1E"/>
                </a:solidFill>
                <a:latin typeface="Arial"/>
              </a:rPr>
              <a:t>“Hybrid” = several aggregation rules · “R” = reference data · not a multi-aggregator topology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The agent cannot choose the model</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LEDGER = AUTHORITY · IPFS = UNTRUSTED BYTES · RECEIVER = VERIFICATION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cxnSp>
        <p:nvCxnSpPr>
          <p:cNvPr id="8" name="Connector 7"/>
          <p:cNvCxnSpPr/>
          <p:nvPr/>
        </p:nvCxnSpPr>
        <p:spPr>
          <a:xfrm>
            <a:off x="6099048" y="1856231"/>
            <a:ext cx="0" cy="192025"/>
          </a:xfrm>
          <a:prstGeom prst="line">
            <a:avLst/>
          </a:prstGeom>
          <a:ln w="2286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907792" y="3273552"/>
            <a:ext cx="320040" cy="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8961120" y="3273552"/>
            <a:ext cx="310896" cy="0"/>
          </a:xfrm>
          <a:prstGeom prst="line">
            <a:avLst/>
          </a:prstGeom>
          <a:ln w="2286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370832" y="1316736"/>
            <a:ext cx="3456432" cy="539496"/>
          </a:xfrm>
          <a:prstGeom prst="roundRect">
            <a:avLst/>
          </a:prstGeom>
          <a:solidFill>
            <a:srgbClr val="F3F3F3"/>
          </a:solidFill>
          <a:ln w="12700">
            <a:solidFill>
              <a:srgbClr val="B2B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17720" y="1408176"/>
            <a:ext cx="1197864" cy="164592"/>
          </a:xfrm>
          <a:prstGeom prst="rect">
            <a:avLst/>
          </a:prstGeom>
          <a:noFill/>
        </p:spPr>
        <p:txBody>
          <a:bodyPr wrap="square" lIns="18288" rIns="18288" tIns="18288" bIns="18288" anchor="t">
            <a:spAutoFit/>
          </a:bodyPr>
          <a:lstStyle/>
          <a:p>
            <a:pPr algn="ctr"/>
            <a:r>
              <a:rPr sz="860" b="1" lang="en-US">
                <a:solidFill>
                  <a:srgbClr val="434343"/>
                </a:solidFill>
                <a:latin typeface="Arial"/>
              </a:rPr>
              <a:t>AGENT REQUEST</a:t>
            </a:r>
          </a:p>
        </p:txBody>
      </p:sp>
      <p:sp>
        <p:nvSpPr>
          <p:cNvPr id="13" name="TextBox 12"/>
          <p:cNvSpPr txBox="1"/>
          <p:nvPr/>
        </p:nvSpPr>
        <p:spPr>
          <a:xfrm>
            <a:off x="5733288" y="1408176"/>
            <a:ext cx="1847088" cy="164592"/>
          </a:xfrm>
          <a:prstGeom prst="rect">
            <a:avLst/>
          </a:prstGeom>
          <a:noFill/>
        </p:spPr>
        <p:txBody>
          <a:bodyPr wrap="square" lIns="18288" rIns="18288" tIns="18288" bIns="18288" anchor="t">
            <a:spAutoFit/>
          </a:bodyPr>
          <a:lstStyle/>
          <a:p>
            <a:pPr algn="ctr"/>
            <a:r>
              <a:rPr sz="860" b="1" lang="en-US">
                <a:solidFill>
                  <a:srgbClr val="434343"/>
                </a:solidFill>
                <a:latin typeface="Arial"/>
              </a:rPr>
              <a:t>PREPARE CURRENT MODEL</a:t>
            </a:r>
          </a:p>
        </p:txBody>
      </p:sp>
      <p:sp>
        <p:nvSpPr>
          <p:cNvPr id="14" name="TextBox 13"/>
          <p:cNvSpPr txBox="1"/>
          <p:nvPr/>
        </p:nvSpPr>
        <p:spPr>
          <a:xfrm>
            <a:off x="4645152" y="1645920"/>
            <a:ext cx="2907792" cy="146304"/>
          </a:xfrm>
          <a:prstGeom prst="rect">
            <a:avLst/>
          </a:prstGeom>
          <a:noFill/>
        </p:spPr>
        <p:txBody>
          <a:bodyPr wrap="square" lIns="18288" rIns="18288" tIns="18288" bIns="18288" anchor="t">
            <a:spAutoFit/>
          </a:bodyPr>
          <a:lstStyle/>
          <a:p>
            <a:pPr algn="ctr"/>
            <a:r>
              <a:rPr sz="750" b="1" lang="en-US">
                <a:solidFill>
                  <a:srgbClr val="C40D1E"/>
                </a:solidFill>
                <a:latin typeface="Arial"/>
              </a:rPr>
              <a:t>no path · no CID · no round · no publisher</a:t>
            </a:r>
          </a:p>
        </p:txBody>
      </p:sp>
      <p:sp>
        <p:nvSpPr>
          <p:cNvPr id="15" name="Rounded Rectangle 14"/>
          <p:cNvSpPr/>
          <p:nvPr/>
        </p:nvSpPr>
        <p:spPr>
          <a:xfrm>
            <a:off x="566928" y="2057400"/>
            <a:ext cx="2340864" cy="2560320"/>
          </a:xfrm>
          <a:prstGeom prst="roundRect">
            <a:avLst/>
          </a:prstGeom>
          <a:solidFill>
            <a:srgbClr val="FBEAEC"/>
          </a:solidFill>
          <a:ln w="2032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 y="2304288"/>
            <a:ext cx="1627632" cy="274320"/>
          </a:xfrm>
          <a:prstGeom prst="rect">
            <a:avLst/>
          </a:prstGeom>
          <a:noFill/>
        </p:spPr>
        <p:txBody>
          <a:bodyPr wrap="square" lIns="18288" rIns="18288" tIns="18288" bIns="18288" anchor="t">
            <a:spAutoFit/>
          </a:bodyPr>
          <a:lstStyle/>
          <a:p>
            <a:pPr algn="ctr"/>
            <a:r>
              <a:rPr sz="1500" b="1" lang="en-US">
                <a:solidFill>
                  <a:srgbClr val="C40D1E"/>
                </a:solidFill>
                <a:latin typeface="Arial"/>
              </a:rPr>
              <a:t>LEDGER</a:t>
            </a:r>
          </a:p>
        </p:txBody>
      </p:sp>
      <p:sp>
        <p:nvSpPr>
          <p:cNvPr id="17" name="TextBox 16"/>
          <p:cNvSpPr txBox="1"/>
          <p:nvPr/>
        </p:nvSpPr>
        <p:spPr>
          <a:xfrm>
            <a:off x="868680" y="2688336"/>
            <a:ext cx="1737360" cy="201168"/>
          </a:xfrm>
          <a:prstGeom prst="rect">
            <a:avLst/>
          </a:prstGeom>
          <a:noFill/>
        </p:spPr>
        <p:txBody>
          <a:bodyPr wrap="square" lIns="18288" rIns="18288" tIns="18288" bIns="18288" anchor="t">
            <a:spAutoFit/>
          </a:bodyPr>
          <a:lstStyle/>
          <a:p>
            <a:pPr algn="ctr"/>
            <a:r>
              <a:rPr sz="900" b="1" lang="en-US">
                <a:solidFill>
                  <a:srgbClr val="434343"/>
                </a:solidFill>
                <a:latin typeface="Arial"/>
              </a:rPr>
              <a:t>FINALIZED STATE</a:t>
            </a:r>
          </a:p>
        </p:txBody>
      </p:sp>
      <p:sp>
        <p:nvSpPr>
          <p:cNvPr id="18" name="TextBox 17"/>
          <p:cNvSpPr txBox="1"/>
          <p:nvPr/>
        </p:nvSpPr>
        <p:spPr>
          <a:xfrm>
            <a:off x="841248" y="3081528"/>
            <a:ext cx="1792224" cy="1005840"/>
          </a:xfrm>
          <a:prstGeom prst="rect">
            <a:avLst/>
          </a:prstGeom>
          <a:noFill/>
        </p:spPr>
        <p:txBody>
          <a:bodyPr wrap="square" lIns="18288" rIns="18288" tIns="18288" bIns="18288" anchor="t">
            <a:spAutoFit/>
          </a:bodyPr>
          <a:lstStyle/>
          <a:p>
            <a:pPr algn="ctr"/>
            <a:r>
              <a:rPr sz="910" b="0" lang="en-US">
                <a:solidFill>
                  <a:srgbClr val="434343"/>
                </a:solidFill>
                <a:latin typeface="Arial"/>
              </a:rPr>
              <a:t>round + publisher
key snapshot
model CID
signature CID
key-bundle CID</a:t>
            </a:r>
          </a:p>
        </p:txBody>
      </p:sp>
      <p:sp>
        <p:nvSpPr>
          <p:cNvPr id="19" name="TextBox 18"/>
          <p:cNvSpPr txBox="1"/>
          <p:nvPr/>
        </p:nvSpPr>
        <p:spPr>
          <a:xfrm>
            <a:off x="841248" y="4279392"/>
            <a:ext cx="1792224" cy="182880"/>
          </a:xfrm>
          <a:prstGeom prst="rect">
            <a:avLst/>
          </a:prstGeom>
          <a:noFill/>
        </p:spPr>
        <p:txBody>
          <a:bodyPr wrap="square" lIns="18288" rIns="18288" tIns="18288" bIns="18288" anchor="t">
            <a:spAutoFit/>
          </a:bodyPr>
          <a:lstStyle/>
          <a:p>
            <a:pPr algn="ctr"/>
            <a:r>
              <a:rPr sz="800" b="1" lang="en-US">
                <a:solidFill>
                  <a:srgbClr val="C40D1E"/>
                </a:solidFill>
                <a:latin typeface="Arial"/>
              </a:rPr>
              <a:t>defines what is current</a:t>
            </a:r>
          </a:p>
        </p:txBody>
      </p:sp>
      <p:sp>
        <p:nvSpPr>
          <p:cNvPr id="20" name="Rounded Rectangle 19"/>
          <p:cNvSpPr/>
          <p:nvPr/>
        </p:nvSpPr>
        <p:spPr>
          <a:xfrm>
            <a:off x="3236976" y="1993392"/>
            <a:ext cx="5724144" cy="2788920"/>
          </a:xfrm>
          <a:prstGeom prst="roundRect">
            <a:avLst/>
          </a:prstGeom>
          <a:solidFill>
            <a:srgbClr val="EAF6ED"/>
          </a:solidFill>
          <a:ln w="2286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15968" y="2249424"/>
            <a:ext cx="3566160" cy="283464"/>
          </a:xfrm>
          <a:prstGeom prst="rect">
            <a:avLst/>
          </a:prstGeom>
          <a:noFill/>
        </p:spPr>
        <p:txBody>
          <a:bodyPr wrap="square" lIns="18288" rIns="18288" tIns="18288" bIns="18288" anchor="t">
            <a:spAutoFit/>
          </a:bodyPr>
          <a:lstStyle/>
          <a:p>
            <a:pPr algn="ctr"/>
            <a:r>
              <a:rPr sz="1500" b="1" lang="en-US">
                <a:solidFill>
                  <a:srgbClr val="2F8F46"/>
                </a:solidFill>
                <a:latin typeface="Arial"/>
              </a:rPr>
              <a:t>MEASURED RECEIVER</a:t>
            </a:r>
          </a:p>
        </p:txBody>
      </p:sp>
      <p:sp>
        <p:nvSpPr>
          <p:cNvPr id="22" name="Rounded Rectangle 21"/>
          <p:cNvSpPr/>
          <p:nvPr/>
        </p:nvSpPr>
        <p:spPr>
          <a:xfrm>
            <a:off x="3547872" y="2706624"/>
            <a:ext cx="1517904" cy="1078992"/>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39312" y="2843784"/>
            <a:ext cx="1335024" cy="182880"/>
          </a:xfrm>
          <a:prstGeom prst="rect">
            <a:avLst/>
          </a:prstGeom>
          <a:noFill/>
        </p:spPr>
        <p:txBody>
          <a:bodyPr wrap="square" lIns="18288" rIns="18288" tIns="18288" bIns="18288" anchor="t">
            <a:spAutoFit/>
          </a:bodyPr>
          <a:lstStyle/>
          <a:p>
            <a:pPr algn="ctr"/>
            <a:r>
              <a:rPr sz="919" b="1" lang="en-US">
                <a:solidFill>
                  <a:srgbClr val="2F8F46"/>
                </a:solidFill>
                <a:latin typeface="Arial"/>
              </a:rPr>
              <a:t>1  RESOLVE</a:t>
            </a:r>
          </a:p>
        </p:txBody>
      </p:sp>
      <p:sp>
        <p:nvSpPr>
          <p:cNvPr id="24" name="TextBox 23"/>
          <p:cNvSpPr txBox="1"/>
          <p:nvPr/>
        </p:nvSpPr>
        <p:spPr>
          <a:xfrm>
            <a:off x="3639312" y="3191256"/>
            <a:ext cx="1335024" cy="365760"/>
          </a:xfrm>
          <a:prstGeom prst="rect">
            <a:avLst/>
          </a:prstGeom>
          <a:noFill/>
        </p:spPr>
        <p:txBody>
          <a:bodyPr wrap="square" lIns="18288" rIns="18288" tIns="18288" bIns="18288" anchor="t">
            <a:spAutoFit/>
          </a:bodyPr>
          <a:lstStyle/>
          <a:p>
            <a:pPr algn="ctr"/>
            <a:r>
              <a:rPr sz="880" b="0" lang="en-US">
                <a:solidFill>
                  <a:srgbClr val="434343"/>
                </a:solidFill>
                <a:latin typeface="Arial"/>
              </a:rPr>
              <a:t>latest finalized
ledger tuple</a:t>
            </a:r>
          </a:p>
        </p:txBody>
      </p:sp>
      <p:sp>
        <p:nvSpPr>
          <p:cNvPr id="25" name="Rounded Rectangle 24"/>
          <p:cNvSpPr/>
          <p:nvPr/>
        </p:nvSpPr>
        <p:spPr>
          <a:xfrm>
            <a:off x="5248656" y="2706624"/>
            <a:ext cx="1517904" cy="1078992"/>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40096" y="2843784"/>
            <a:ext cx="1335024" cy="182880"/>
          </a:xfrm>
          <a:prstGeom prst="rect">
            <a:avLst/>
          </a:prstGeom>
          <a:noFill/>
        </p:spPr>
        <p:txBody>
          <a:bodyPr wrap="square" lIns="18288" rIns="18288" tIns="18288" bIns="18288" anchor="t">
            <a:spAutoFit/>
          </a:bodyPr>
          <a:lstStyle/>
          <a:p>
            <a:pPr algn="ctr"/>
            <a:r>
              <a:rPr sz="919" b="1" lang="en-US">
                <a:solidFill>
                  <a:srgbClr val="2F8F46"/>
                </a:solidFill>
                <a:latin typeface="Arial"/>
              </a:rPr>
              <a:t>2  RETRIEVE</a:t>
            </a:r>
          </a:p>
        </p:txBody>
      </p:sp>
      <p:sp>
        <p:nvSpPr>
          <p:cNvPr id="27" name="TextBox 26"/>
          <p:cNvSpPr txBox="1"/>
          <p:nvPr/>
        </p:nvSpPr>
        <p:spPr>
          <a:xfrm>
            <a:off x="5340096" y="3191256"/>
            <a:ext cx="1335024" cy="365760"/>
          </a:xfrm>
          <a:prstGeom prst="rect">
            <a:avLst/>
          </a:prstGeom>
          <a:noFill/>
        </p:spPr>
        <p:txBody>
          <a:bodyPr wrap="square" lIns="18288" rIns="18288" tIns="18288" bIns="18288" anchor="t">
            <a:spAutoFit/>
          </a:bodyPr>
          <a:lstStyle/>
          <a:p>
            <a:pPr algn="ctr"/>
            <a:r>
              <a:rPr sz="880" b="0" lang="en-US">
                <a:solidFill>
                  <a:srgbClr val="434343"/>
                </a:solidFill>
                <a:latin typeface="Arial"/>
              </a:rPr>
              <a:t>named CIDs
unwrap + decrypt</a:t>
            </a:r>
          </a:p>
        </p:txBody>
      </p:sp>
      <p:sp>
        <p:nvSpPr>
          <p:cNvPr id="28" name="Rounded Rectangle 27"/>
          <p:cNvSpPr/>
          <p:nvPr/>
        </p:nvSpPr>
        <p:spPr>
          <a:xfrm>
            <a:off x="6949440" y="2706624"/>
            <a:ext cx="1517904" cy="1078992"/>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40879" y="2843784"/>
            <a:ext cx="1335024" cy="182880"/>
          </a:xfrm>
          <a:prstGeom prst="rect">
            <a:avLst/>
          </a:prstGeom>
          <a:noFill/>
        </p:spPr>
        <p:txBody>
          <a:bodyPr wrap="square" lIns="18288" rIns="18288" tIns="18288" bIns="18288" anchor="t">
            <a:spAutoFit/>
          </a:bodyPr>
          <a:lstStyle/>
          <a:p>
            <a:pPr algn="ctr"/>
            <a:r>
              <a:rPr sz="919" b="1" lang="en-US">
                <a:solidFill>
                  <a:srgbClr val="2F8F46"/>
                </a:solidFill>
                <a:latin typeface="Arial"/>
              </a:rPr>
              <a:t>3  VERIFY</a:t>
            </a:r>
          </a:p>
        </p:txBody>
      </p:sp>
      <p:sp>
        <p:nvSpPr>
          <p:cNvPr id="30" name="TextBox 29"/>
          <p:cNvSpPr txBox="1"/>
          <p:nvPr/>
        </p:nvSpPr>
        <p:spPr>
          <a:xfrm>
            <a:off x="7040879" y="3191256"/>
            <a:ext cx="1335024" cy="365760"/>
          </a:xfrm>
          <a:prstGeom prst="rect">
            <a:avLst/>
          </a:prstGeom>
          <a:noFill/>
        </p:spPr>
        <p:txBody>
          <a:bodyPr wrap="square" lIns="18288" rIns="18288" tIns="18288" bIns="18288" anchor="t">
            <a:spAutoFit/>
          </a:bodyPr>
          <a:lstStyle/>
          <a:p>
            <a:pPr algn="ctr"/>
            <a:r>
              <a:rPr sz="880" b="0" lang="en-US">
                <a:solidFill>
                  <a:srgbClr val="434343"/>
                </a:solidFill>
                <a:latin typeface="Arial"/>
              </a:rPr>
              <a:t>hashes · round
publisher · key snapshot</a:t>
            </a:r>
          </a:p>
        </p:txBody>
      </p:sp>
      <p:sp>
        <p:nvSpPr>
          <p:cNvPr id="31" name="Rectangle 30"/>
          <p:cNvSpPr/>
          <p:nvPr/>
        </p:nvSpPr>
        <p:spPr>
          <a:xfrm>
            <a:off x="3547872" y="4087368"/>
            <a:ext cx="4919472" cy="429768"/>
          </a:xfrm>
          <a:prstGeom prst="rect">
            <a:avLst/>
          </a:prstGeom>
          <a:solidFill>
            <a:srgbClr val="2F8F46"/>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803904" y="4197096"/>
            <a:ext cx="4407408" cy="182880"/>
          </a:xfrm>
          <a:prstGeom prst="rect">
            <a:avLst/>
          </a:prstGeom>
          <a:noFill/>
        </p:spPr>
        <p:txBody>
          <a:bodyPr wrap="square" lIns="18288" rIns="18288" tIns="18288" bIns="18288" anchor="t">
            <a:spAutoFit/>
          </a:bodyPr>
          <a:lstStyle/>
          <a:p>
            <a:pPr algn="ctr"/>
            <a:r>
              <a:rPr sz="1070" b="1" lang="en-US">
                <a:solidFill>
                  <a:srgbClr val="FFFFFF"/>
                </a:solidFill>
                <a:latin typeface="Arial"/>
              </a:rPr>
              <a:t>INSTALL THE EXACT MODEL—OR REJECT</a:t>
            </a:r>
          </a:p>
        </p:txBody>
      </p:sp>
      <p:sp>
        <p:nvSpPr>
          <p:cNvPr id="33" name="Rounded Rectangle 32"/>
          <p:cNvSpPr/>
          <p:nvPr/>
        </p:nvSpPr>
        <p:spPr>
          <a:xfrm>
            <a:off x="9272016" y="2057400"/>
            <a:ext cx="2340864" cy="2560320"/>
          </a:xfrm>
          <a:prstGeom prst="roundRect">
            <a:avLst/>
          </a:prstGeom>
          <a:solidFill>
            <a:srgbClr val="F3EBF9"/>
          </a:solidFill>
          <a:ln w="2032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37776" y="2304288"/>
            <a:ext cx="1609344" cy="274320"/>
          </a:xfrm>
          <a:prstGeom prst="rect">
            <a:avLst/>
          </a:prstGeom>
          <a:noFill/>
        </p:spPr>
        <p:txBody>
          <a:bodyPr wrap="square" lIns="18288" rIns="18288" tIns="18288" bIns="18288" anchor="t">
            <a:spAutoFit/>
          </a:bodyPr>
          <a:lstStyle/>
          <a:p>
            <a:pPr algn="ctr"/>
            <a:r>
              <a:rPr sz="1500" b="1" lang="en-US">
                <a:solidFill>
                  <a:srgbClr val="7A35B5"/>
                </a:solidFill>
                <a:latin typeface="Arial"/>
              </a:rPr>
              <a:t>IPFS</a:t>
            </a:r>
          </a:p>
        </p:txBody>
      </p:sp>
      <p:sp>
        <p:nvSpPr>
          <p:cNvPr id="35" name="TextBox 34"/>
          <p:cNvSpPr txBox="1"/>
          <p:nvPr/>
        </p:nvSpPr>
        <p:spPr>
          <a:xfrm>
            <a:off x="9482328" y="2688336"/>
            <a:ext cx="1920240" cy="201168"/>
          </a:xfrm>
          <a:prstGeom prst="rect">
            <a:avLst/>
          </a:prstGeom>
          <a:noFill/>
        </p:spPr>
        <p:txBody>
          <a:bodyPr wrap="square" lIns="18288" rIns="18288" tIns="18288" bIns="18288" anchor="t">
            <a:spAutoFit/>
          </a:bodyPr>
          <a:lstStyle/>
          <a:p>
            <a:pPr algn="ctr"/>
            <a:r>
              <a:rPr sz="900" b="1" lang="en-US">
                <a:solidFill>
                  <a:srgbClr val="434343"/>
                </a:solidFill>
                <a:latin typeface="Arial"/>
              </a:rPr>
              <a:t>UNTRUSTED STORAGE</a:t>
            </a:r>
          </a:p>
        </p:txBody>
      </p:sp>
      <p:sp>
        <p:nvSpPr>
          <p:cNvPr id="36" name="TextBox 35"/>
          <p:cNvSpPr txBox="1"/>
          <p:nvPr/>
        </p:nvSpPr>
        <p:spPr>
          <a:xfrm>
            <a:off x="9546336" y="3145536"/>
            <a:ext cx="1792224" cy="658368"/>
          </a:xfrm>
          <a:prstGeom prst="rect">
            <a:avLst/>
          </a:prstGeom>
          <a:noFill/>
        </p:spPr>
        <p:txBody>
          <a:bodyPr wrap="square" lIns="18288" rIns="18288" tIns="18288" bIns="18288" anchor="t">
            <a:spAutoFit/>
          </a:bodyPr>
          <a:lstStyle/>
          <a:p>
            <a:pPr algn="ctr"/>
            <a:r>
              <a:rPr sz="919" b="0" lang="en-US">
                <a:solidFill>
                  <a:srgbClr val="434343"/>
                </a:solidFill>
                <a:latin typeface="Arial"/>
              </a:rPr>
              <a:t>encrypted model
publisher signature
recipient key envelope</a:t>
            </a:r>
          </a:p>
        </p:txBody>
      </p:sp>
      <p:sp>
        <p:nvSpPr>
          <p:cNvPr id="37" name="TextBox 36"/>
          <p:cNvSpPr txBox="1"/>
          <p:nvPr/>
        </p:nvSpPr>
        <p:spPr>
          <a:xfrm>
            <a:off x="9473184" y="4187952"/>
            <a:ext cx="1938528" cy="347472"/>
          </a:xfrm>
          <a:prstGeom prst="rect">
            <a:avLst/>
          </a:prstGeom>
          <a:noFill/>
        </p:spPr>
        <p:txBody>
          <a:bodyPr wrap="square" lIns="18288" rIns="18288" tIns="18288" bIns="18288" anchor="t">
            <a:spAutoFit/>
          </a:bodyPr>
          <a:lstStyle/>
          <a:p>
            <a:pPr algn="ctr"/>
            <a:r>
              <a:rPr sz="780" b="1" lang="en-US">
                <a:solidFill>
                  <a:srgbClr val="7A35B5"/>
                </a:solidFill>
                <a:latin typeface="Arial"/>
              </a:rPr>
              <a:t>may be stale, unavailable, or hostile</a:t>
            </a:r>
          </a:p>
        </p:txBody>
      </p:sp>
      <p:sp>
        <p:nvSpPr>
          <p:cNvPr id="38" name="Rectangle 37"/>
          <p:cNvSpPr/>
          <p:nvPr/>
        </p:nvSpPr>
        <p:spPr>
          <a:xfrm>
            <a:off x="877824" y="5056632"/>
            <a:ext cx="10442448" cy="484632"/>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133856" y="5184648"/>
            <a:ext cx="9930384" cy="219456"/>
          </a:xfrm>
          <a:prstGeom prst="rect">
            <a:avLst/>
          </a:prstGeom>
          <a:noFill/>
        </p:spPr>
        <p:txBody>
          <a:bodyPr wrap="square" lIns="18288" rIns="18288" tIns="18288" bIns="18288" anchor="ctr">
            <a:spAutoFit/>
          </a:bodyPr>
          <a:lstStyle/>
          <a:p>
            <a:pPr algn="ctr"/>
            <a:r>
              <a:rPr sz="1200" b="1" lang="en-US">
                <a:solidFill>
                  <a:srgbClr val="FFFFFF"/>
                </a:solidFill>
                <a:latin typeface="Arial"/>
              </a:rPr>
              <a:t>Reject local paths, stale CIDs, alternative publishers, and hash mismatches.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Sello: evidence from the receiving service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FIGUERA PROPOSAL (2026) · RECEIVER-CREATED · OWNER-ENCRYPTED · TRANSPARENCY-RECORDED</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15</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TextBox 7"/>
          <p:cNvSpPr txBox="1"/>
          <p:nvPr/>
        </p:nvSpPr>
        <p:spPr>
          <a:xfrm>
            <a:off x="713232" y="1472184"/>
            <a:ext cx="10771632" cy="274320"/>
          </a:xfrm>
          <a:prstGeom prst="rect">
            <a:avLst/>
          </a:prstGeom>
          <a:noFill/>
        </p:spPr>
        <p:txBody>
          <a:bodyPr wrap="square" lIns="18288" rIns="18288" tIns="18288" bIns="18288" anchor="ctr">
            <a:spAutoFit/>
          </a:bodyPr>
          <a:lstStyle/>
          <a:p>
            <a:pPr algn="ctr"/>
            <a:r>
              <a:rPr sz="1100" b="1" lang="en-US">
                <a:solidFill>
                  <a:srgbClr val="C40D1E"/>
                </a:solidFill>
                <a:latin typeface="Arial"/>
              </a:rPr>
              <a:t>CORE IDEA   </a:t>
            </a:r>
            <a:r>
              <a:rPr sz="1300" b="1" lang="en-US">
                <a:solidFill>
                  <a:srgbClr val="434343"/>
                </a:solidFill>
                <a:latin typeface="Arial"/>
              </a:rPr>
              <a:t>The service that performs the action creates the evidence—not the agent.</a:t>
            </a:r>
          </a:p>
        </p:txBody>
      </p:sp>
      <p:sp>
        <p:nvSpPr>
          <p:cNvPr id="9" name="Rounded Rectangle 8"/>
          <p:cNvSpPr/>
          <p:nvPr/>
        </p:nvSpPr>
        <p:spPr>
          <a:xfrm>
            <a:off x="658368" y="2148840"/>
            <a:ext cx="2880360" cy="1444752"/>
          </a:xfrm>
          <a:prstGeom prst="roundRect">
            <a:avLst/>
          </a:prstGeom>
          <a:solidFill>
            <a:srgbClr val="EAF5FA"/>
          </a:solidFill>
          <a:ln w="1778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95728"/>
            <a:ext cx="2551176" cy="246888"/>
          </a:xfrm>
          <a:prstGeom prst="rect">
            <a:avLst/>
          </a:prstGeom>
          <a:noFill/>
        </p:spPr>
        <p:txBody>
          <a:bodyPr wrap="square" lIns="18288" rIns="18288" tIns="18288" bIns="18288" anchor="t">
            <a:spAutoFit/>
          </a:bodyPr>
          <a:lstStyle/>
          <a:p>
            <a:pPr algn="ctr"/>
            <a:r>
              <a:rPr sz="1150" b="1" lang="en-US">
                <a:solidFill>
                  <a:srgbClr val="1F90CC"/>
                </a:solidFill>
                <a:latin typeface="Arial"/>
              </a:rPr>
              <a:t>1  AUTHORIZED REQUEST</a:t>
            </a:r>
          </a:p>
        </p:txBody>
      </p:sp>
      <p:sp>
        <p:nvSpPr>
          <p:cNvPr id="11" name="TextBox 10"/>
          <p:cNvSpPr txBox="1"/>
          <p:nvPr/>
        </p:nvSpPr>
        <p:spPr>
          <a:xfrm>
            <a:off x="932688" y="2834640"/>
            <a:ext cx="2331720" cy="438912"/>
          </a:xfrm>
          <a:prstGeom prst="rect">
            <a:avLst/>
          </a:prstGeom>
          <a:noFill/>
        </p:spPr>
        <p:txBody>
          <a:bodyPr wrap="square" lIns="18288" rIns="18288" tIns="18288" bIns="18288" anchor="ctr">
            <a:spAutoFit/>
          </a:bodyPr>
          <a:lstStyle/>
          <a:p>
            <a:pPr algn="ctr"/>
            <a:r>
              <a:rPr sz="1019" b="0" lang="en-US">
                <a:solidFill>
                  <a:srgbClr val="434343"/>
                </a:solidFill>
                <a:latin typeface="Arial"/>
              </a:rPr>
              <a:t>The agent presents the owner's permission for one action.</a:t>
            </a:r>
          </a:p>
        </p:txBody>
      </p:sp>
      <p:sp>
        <p:nvSpPr>
          <p:cNvPr id="12" name="Rounded Rectangle 11"/>
          <p:cNvSpPr/>
          <p:nvPr/>
        </p:nvSpPr>
        <p:spPr>
          <a:xfrm>
            <a:off x="4407408" y="2148840"/>
            <a:ext cx="2880360" cy="1444752"/>
          </a:xfrm>
          <a:prstGeom prst="roundRect">
            <a:avLst/>
          </a:prstGeom>
          <a:solidFill>
            <a:srgbClr val="EAF6ED"/>
          </a:solidFill>
          <a:ln w="1778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2395728"/>
            <a:ext cx="2551176" cy="246888"/>
          </a:xfrm>
          <a:prstGeom prst="rect">
            <a:avLst/>
          </a:prstGeom>
          <a:noFill/>
        </p:spPr>
        <p:txBody>
          <a:bodyPr wrap="square" lIns="18288" rIns="18288" tIns="18288" bIns="18288" anchor="t">
            <a:spAutoFit/>
          </a:bodyPr>
          <a:lstStyle/>
          <a:p>
            <a:pPr algn="ctr"/>
            <a:r>
              <a:rPr sz="1150" b="1" lang="en-US">
                <a:solidFill>
                  <a:srgbClr val="2F8F46"/>
                </a:solidFill>
                <a:latin typeface="Arial"/>
              </a:rPr>
              <a:t>2  RECEIVING SERVICE</a:t>
            </a:r>
          </a:p>
        </p:txBody>
      </p:sp>
      <p:sp>
        <p:nvSpPr>
          <p:cNvPr id="14" name="TextBox 13"/>
          <p:cNvSpPr txBox="1"/>
          <p:nvPr/>
        </p:nvSpPr>
        <p:spPr>
          <a:xfrm>
            <a:off x="4681728" y="2834640"/>
            <a:ext cx="2331720" cy="438912"/>
          </a:xfrm>
          <a:prstGeom prst="rect">
            <a:avLst/>
          </a:prstGeom>
          <a:noFill/>
        </p:spPr>
        <p:txBody>
          <a:bodyPr wrap="square" lIns="18288" rIns="18288" tIns="18288" bIns="18288" anchor="ctr">
            <a:spAutoFit/>
          </a:bodyPr>
          <a:lstStyle/>
          <a:p>
            <a:pPr algn="ctr"/>
            <a:r>
              <a:rPr sz="1019" b="0" lang="en-US">
                <a:solidFill>
                  <a:srgbClr val="434343"/>
                </a:solidFill>
                <a:latin typeface="Arial"/>
              </a:rPr>
              <a:t>The service executes the action and signs an encrypted receipt.</a:t>
            </a:r>
          </a:p>
        </p:txBody>
      </p:sp>
      <p:sp>
        <p:nvSpPr>
          <p:cNvPr id="15" name="Rounded Rectangle 14"/>
          <p:cNvSpPr/>
          <p:nvPr/>
        </p:nvSpPr>
        <p:spPr>
          <a:xfrm>
            <a:off x="8156448" y="2148840"/>
            <a:ext cx="2880360" cy="1444752"/>
          </a:xfrm>
          <a:prstGeom prst="roundRect">
            <a:avLst/>
          </a:prstGeom>
          <a:solidFill>
            <a:srgbClr val="F3EBF9"/>
          </a:solidFill>
          <a:ln w="1778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21040" y="2395728"/>
            <a:ext cx="2551176" cy="246888"/>
          </a:xfrm>
          <a:prstGeom prst="rect">
            <a:avLst/>
          </a:prstGeom>
          <a:noFill/>
        </p:spPr>
        <p:txBody>
          <a:bodyPr wrap="square" lIns="18288" rIns="18288" tIns="18288" bIns="18288" anchor="t">
            <a:spAutoFit/>
          </a:bodyPr>
          <a:lstStyle/>
          <a:p>
            <a:pPr algn="ctr"/>
            <a:r>
              <a:rPr sz="1150" b="1" lang="en-US">
                <a:solidFill>
                  <a:srgbClr val="7A35B5"/>
                </a:solidFill>
                <a:latin typeface="Arial"/>
              </a:rPr>
              <a:t>3  TRANSPARENCY LOG</a:t>
            </a:r>
          </a:p>
        </p:txBody>
      </p:sp>
      <p:sp>
        <p:nvSpPr>
          <p:cNvPr id="17" name="TextBox 16"/>
          <p:cNvSpPr txBox="1"/>
          <p:nvPr/>
        </p:nvSpPr>
        <p:spPr>
          <a:xfrm>
            <a:off x="8430768" y="2834640"/>
            <a:ext cx="2331720" cy="438912"/>
          </a:xfrm>
          <a:prstGeom prst="rect">
            <a:avLst/>
          </a:prstGeom>
          <a:noFill/>
        </p:spPr>
        <p:txBody>
          <a:bodyPr wrap="square" lIns="18288" rIns="18288" tIns="18288" bIns="18288" anchor="ctr">
            <a:spAutoFit/>
          </a:bodyPr>
          <a:lstStyle/>
          <a:p>
            <a:pPr algn="ctr"/>
            <a:r>
              <a:rPr sz="1019" b="0" lang="en-US">
                <a:solidFill>
                  <a:srgbClr val="434343"/>
                </a:solidFill>
                <a:latin typeface="Arial"/>
              </a:rPr>
              <a:t>The log records the receipt and returns inclusion evidence.</a:t>
            </a:r>
          </a:p>
        </p:txBody>
      </p:sp>
      <p:cxnSp>
        <p:nvCxnSpPr>
          <p:cNvPr id="18" name="Connector 17"/>
          <p:cNvCxnSpPr/>
          <p:nvPr/>
        </p:nvCxnSpPr>
        <p:spPr>
          <a:xfrm>
            <a:off x="3557016" y="2871216"/>
            <a:ext cx="795528" cy="0"/>
          </a:xfrm>
          <a:prstGeom prst="line">
            <a:avLst/>
          </a:prstGeom>
          <a:ln w="2159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306056" y="2871216"/>
            <a:ext cx="795527" cy="0"/>
          </a:xfrm>
          <a:prstGeom prst="line">
            <a:avLst/>
          </a:prstGeom>
          <a:ln w="2159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1078992" y="3968496"/>
            <a:ext cx="10030968" cy="694944"/>
          </a:xfrm>
          <a:prstGeom prst="roundRect">
            <a:avLst/>
          </a:prstGeom>
          <a:solidFill>
            <a:srgbClr val="F3F3F3"/>
          </a:solidFill>
          <a:ln w="152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53312" y="4169663"/>
            <a:ext cx="2258568" cy="219456"/>
          </a:xfrm>
          <a:prstGeom prst="rect">
            <a:avLst/>
          </a:prstGeom>
          <a:noFill/>
        </p:spPr>
        <p:txBody>
          <a:bodyPr wrap="square" lIns="18288" rIns="18288" tIns="18288" bIns="18288" anchor="t">
            <a:spAutoFit/>
          </a:bodyPr>
          <a:lstStyle/>
          <a:p>
            <a:pPr algn="l"/>
            <a:r>
              <a:rPr sz="1100" b="1" lang="en-US">
                <a:solidFill>
                  <a:srgbClr val="C40D1E"/>
                </a:solidFill>
                <a:latin typeface="Arial"/>
              </a:rPr>
              <a:t>OWNER VERIFIES LATER</a:t>
            </a:r>
          </a:p>
        </p:txBody>
      </p:sp>
      <p:sp>
        <p:nvSpPr>
          <p:cNvPr id="22" name="TextBox 21"/>
          <p:cNvSpPr txBox="1"/>
          <p:nvPr/>
        </p:nvSpPr>
        <p:spPr>
          <a:xfrm>
            <a:off x="3712463" y="4151376"/>
            <a:ext cx="7040880" cy="246888"/>
          </a:xfrm>
          <a:prstGeom prst="rect">
            <a:avLst/>
          </a:prstGeom>
          <a:noFill/>
        </p:spPr>
        <p:txBody>
          <a:bodyPr wrap="square" lIns="18288" rIns="18288" tIns="18288" bIns="18288" anchor="ctr">
            <a:spAutoFit/>
          </a:bodyPr>
          <a:lstStyle/>
          <a:p>
            <a:pPr algn="ctr"/>
            <a:r>
              <a:rPr sz="1100" b="1" lang="en-US">
                <a:solidFill>
                  <a:srgbClr val="434343"/>
                </a:solidFill>
                <a:latin typeface="Arial"/>
              </a:rPr>
              <a:t>Check log inclusion + service signature  →  decrypt the receipt</a:t>
            </a:r>
          </a:p>
        </p:txBody>
      </p:sp>
      <p:sp>
        <p:nvSpPr>
          <p:cNvPr id="23" name="Rectangle 22"/>
          <p:cNvSpPr/>
          <p:nvPr/>
        </p:nvSpPr>
        <p:spPr>
          <a:xfrm>
            <a:off x="1078992" y="4892040"/>
            <a:ext cx="10030968" cy="457200"/>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25880" y="5010912"/>
            <a:ext cx="9537192" cy="210312"/>
          </a:xfrm>
          <a:prstGeom prst="rect">
            <a:avLst/>
          </a:prstGeom>
          <a:noFill/>
        </p:spPr>
        <p:txBody>
          <a:bodyPr wrap="square" lIns="18288" rIns="18288" tIns="18288" bIns="18288" anchor="t">
            <a:spAutoFit/>
          </a:bodyPr>
          <a:lstStyle/>
          <a:p>
            <a:pPr algn="ctr"/>
            <a:r>
              <a:rPr sz="1120" b="1" lang="en-US">
                <a:solidFill>
                  <a:srgbClr val="FFFFFF"/>
                </a:solidFill>
                <a:latin typeface="Arial"/>
              </a:rPr>
              <a:t>VITA-FL adopts the receiver-first pattern: publish the receipt before returning success.</a:t>
            </a:r>
          </a:p>
        </p:txBody>
      </p:sp>
      <p:sp>
        <p:nvSpPr>
          <p:cNvPr id="25" name="TextBox 24"/>
          <p:cNvSpPr txBox="1"/>
          <p:nvPr/>
        </p:nvSpPr>
        <p:spPr>
          <a:xfrm>
            <a:off x="731520" y="5504688"/>
            <a:ext cx="10716768" cy="164592"/>
          </a:xfrm>
          <a:prstGeom prst="rect">
            <a:avLst/>
          </a:prstGeom>
          <a:noFill/>
        </p:spPr>
        <p:txBody>
          <a:bodyPr wrap="square" lIns="18288" rIns="18288" tIns="18288" bIns="18288" anchor="t">
            <a:spAutoFit/>
          </a:bodyPr>
          <a:lstStyle/>
          <a:p>
            <a:pPr algn="ctr"/>
            <a:r>
              <a:rPr sz="819" b="0" lang="en-US">
                <a:solidFill>
                  <a:srgbClr val="434343"/>
                </a:solidFill>
                <a:latin typeface="Arial"/>
              </a:rPr>
              <a:t>Source: J. Figuera, Notarized Agents, arXiv:2606.04193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Block 2: agent-mediated attested inference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THREE BOUNDED MCP OPERATIONS, FOUR LOG RECORDS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16</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434340" y="1344168"/>
            <a:ext cx="1965960" cy="502920"/>
          </a:xfrm>
          <a:prstGeom prst="roundRect">
            <a:avLst/>
          </a:prstGeom>
          <a:solidFill>
            <a:srgbClr val="FFFFFF"/>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9204" y="1499616"/>
            <a:ext cx="1856231" cy="201168"/>
          </a:xfrm>
          <a:prstGeom prst="rect">
            <a:avLst/>
          </a:prstGeom>
          <a:noFill/>
        </p:spPr>
        <p:txBody>
          <a:bodyPr wrap="square" lIns="18288" rIns="18288" tIns="18288" bIns="18288" anchor="t">
            <a:spAutoFit/>
          </a:bodyPr>
          <a:lstStyle/>
          <a:p>
            <a:pPr algn="ctr"/>
            <a:r>
              <a:rPr sz="1150" b="1" lang="en-US">
                <a:solidFill>
                  <a:srgbClr val="1F90CC"/>
                </a:solidFill>
                <a:latin typeface="Arial"/>
              </a:rPr>
              <a:t>AGENT SERVICE</a:t>
            </a:r>
          </a:p>
        </p:txBody>
      </p:sp>
      <p:cxnSp>
        <p:nvCxnSpPr>
          <p:cNvPr id="10" name="Connector 9"/>
          <p:cNvCxnSpPr/>
          <p:nvPr/>
        </p:nvCxnSpPr>
        <p:spPr>
          <a:xfrm>
            <a:off x="1417320" y="1865376"/>
            <a:ext cx="0" cy="2761488"/>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732020" y="1344168"/>
            <a:ext cx="1965960" cy="502920"/>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86883" y="1499616"/>
            <a:ext cx="1856231" cy="201168"/>
          </a:xfrm>
          <a:prstGeom prst="rect">
            <a:avLst/>
          </a:prstGeom>
          <a:noFill/>
        </p:spPr>
        <p:txBody>
          <a:bodyPr wrap="square" lIns="18288" rIns="18288" tIns="18288" bIns="18288" anchor="t">
            <a:spAutoFit/>
          </a:bodyPr>
          <a:lstStyle/>
          <a:p>
            <a:pPr algn="ctr"/>
            <a:r>
              <a:rPr sz="1150" b="1" lang="en-US">
                <a:solidFill>
                  <a:srgbClr val="2F8F46"/>
                </a:solidFill>
                <a:latin typeface="Arial"/>
              </a:rPr>
              <a:t>INFERENCE TEE</a:t>
            </a:r>
          </a:p>
        </p:txBody>
      </p:sp>
      <p:cxnSp>
        <p:nvCxnSpPr>
          <p:cNvPr id="13" name="Connector 12"/>
          <p:cNvCxnSpPr/>
          <p:nvPr/>
        </p:nvCxnSpPr>
        <p:spPr>
          <a:xfrm>
            <a:off x="5715000" y="1865376"/>
            <a:ext cx="0" cy="2761488"/>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828532" y="1344168"/>
            <a:ext cx="2057400" cy="502920"/>
          </a:xfrm>
          <a:prstGeom prst="roundRect">
            <a:avLst/>
          </a:prstGeom>
          <a:solidFill>
            <a:srgbClr val="FFFFFF"/>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83396" y="1499616"/>
            <a:ext cx="1947672" cy="201168"/>
          </a:xfrm>
          <a:prstGeom prst="rect">
            <a:avLst/>
          </a:prstGeom>
          <a:noFill/>
        </p:spPr>
        <p:txBody>
          <a:bodyPr wrap="square" lIns="18288" rIns="18288" tIns="18288" bIns="18288" anchor="t">
            <a:spAutoFit/>
          </a:bodyPr>
          <a:lstStyle/>
          <a:p>
            <a:pPr algn="ctr"/>
            <a:r>
              <a:rPr sz="1150" b="1" lang="en-US">
                <a:solidFill>
                  <a:srgbClr val="7A35B5"/>
                </a:solidFill>
                <a:latin typeface="Arial"/>
              </a:rPr>
              <a:t>TRANSPARENCY LOG</a:t>
            </a:r>
          </a:p>
        </p:txBody>
      </p:sp>
      <p:cxnSp>
        <p:nvCxnSpPr>
          <p:cNvPr id="16" name="Connector 15"/>
          <p:cNvCxnSpPr/>
          <p:nvPr/>
        </p:nvCxnSpPr>
        <p:spPr>
          <a:xfrm>
            <a:off x="9857232" y="1865376"/>
            <a:ext cx="0" cy="2761488"/>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527048" y="2148840"/>
            <a:ext cx="4069080" cy="0"/>
          </a:xfrm>
          <a:prstGeom prst="line">
            <a:avLst/>
          </a:prstGeom>
          <a:ln w="2159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627632" y="1828800"/>
            <a:ext cx="2057400" cy="219456"/>
          </a:xfrm>
          <a:prstGeom prst="rect">
            <a:avLst/>
          </a:prstGeom>
          <a:noFill/>
        </p:spPr>
        <p:txBody>
          <a:bodyPr wrap="square" lIns="18288" rIns="18288" tIns="18288" bIns="18288" anchor="t">
            <a:spAutoFit/>
          </a:bodyPr>
          <a:lstStyle/>
          <a:p>
            <a:pPr algn="l"/>
            <a:r>
              <a:rPr sz="1120" b="1" lang="en-US">
                <a:solidFill>
                  <a:srgbClr val="1F90CC"/>
                </a:solidFill>
                <a:latin typeface="Arial"/>
              </a:rPr>
              <a:t>1  TEE BUNDLE FETCH</a:t>
            </a:r>
          </a:p>
        </p:txBody>
      </p:sp>
      <p:sp>
        <p:nvSpPr>
          <p:cNvPr id="19" name="TextBox 18"/>
          <p:cNvSpPr txBox="1"/>
          <p:nvPr/>
        </p:nvSpPr>
        <p:spPr>
          <a:xfrm>
            <a:off x="3730752" y="1828800"/>
            <a:ext cx="1737360" cy="256032"/>
          </a:xfrm>
          <a:prstGeom prst="rect">
            <a:avLst/>
          </a:prstGeom>
          <a:noFill/>
        </p:spPr>
        <p:txBody>
          <a:bodyPr wrap="square" lIns="18288" rIns="18288" tIns="18288" bIns="18288" anchor="t">
            <a:spAutoFit/>
          </a:bodyPr>
          <a:lstStyle/>
          <a:p>
            <a:pPr algn="r"/>
            <a:r>
              <a:rPr sz="940" b="1" lang="en-US">
                <a:solidFill>
                  <a:srgbClr val="434343"/>
                </a:solidFill>
                <a:latin typeface="Arial"/>
              </a:rPr>
              <a:t>Resolve and verify the current model bundle</a:t>
            </a:r>
          </a:p>
        </p:txBody>
      </p:sp>
      <p:cxnSp>
        <p:nvCxnSpPr>
          <p:cNvPr id="20" name="Connector 19"/>
          <p:cNvCxnSpPr/>
          <p:nvPr/>
        </p:nvCxnSpPr>
        <p:spPr>
          <a:xfrm>
            <a:off x="5833872" y="2377440"/>
            <a:ext cx="3904488" cy="0"/>
          </a:xfrm>
          <a:prstGeom prst="line">
            <a:avLst/>
          </a:prstGeom>
          <a:ln w="2032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455664" y="2185416"/>
            <a:ext cx="2724912" cy="182880"/>
          </a:xfrm>
          <a:prstGeom prst="rect">
            <a:avLst/>
          </a:prstGeom>
          <a:noFill/>
        </p:spPr>
        <p:txBody>
          <a:bodyPr wrap="square" lIns="18288" rIns="18288" tIns="18288" bIns="18288" anchor="t">
            <a:spAutoFit/>
          </a:bodyPr>
          <a:lstStyle/>
          <a:p>
            <a:pPr algn="ctr"/>
            <a:r>
              <a:rPr sz="950" b="1" lang="en-US">
                <a:solidFill>
                  <a:srgbClr val="7A35B5"/>
                </a:solidFill>
                <a:latin typeface="Arial"/>
              </a:rPr>
              <a:t>Publish receiver receipt before output</a:t>
            </a:r>
          </a:p>
        </p:txBody>
      </p:sp>
      <p:cxnSp>
        <p:nvCxnSpPr>
          <p:cNvPr id="22" name="Connector 21"/>
          <p:cNvCxnSpPr/>
          <p:nvPr/>
        </p:nvCxnSpPr>
        <p:spPr>
          <a:xfrm>
            <a:off x="1527048" y="2880360"/>
            <a:ext cx="4069080" cy="0"/>
          </a:xfrm>
          <a:prstGeom prst="line">
            <a:avLst/>
          </a:prstGeom>
          <a:ln w="2159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627632" y="2560320"/>
            <a:ext cx="2057400" cy="219456"/>
          </a:xfrm>
          <a:prstGeom prst="rect">
            <a:avLst/>
          </a:prstGeom>
          <a:noFill/>
        </p:spPr>
        <p:txBody>
          <a:bodyPr wrap="square" lIns="18288" rIns="18288" tIns="18288" bIns="18288" anchor="t">
            <a:spAutoFit/>
          </a:bodyPr>
          <a:lstStyle/>
          <a:p>
            <a:pPr algn="l"/>
            <a:r>
              <a:rPr sz="1120" b="1" lang="en-US">
                <a:solidFill>
                  <a:srgbClr val="2F8F46"/>
                </a:solidFill>
                <a:latin typeface="Arial"/>
              </a:rPr>
              <a:t>2  TEE IMAGE PICK</a:t>
            </a:r>
          </a:p>
        </p:txBody>
      </p:sp>
      <p:sp>
        <p:nvSpPr>
          <p:cNvPr id="24" name="TextBox 23"/>
          <p:cNvSpPr txBox="1"/>
          <p:nvPr/>
        </p:nvSpPr>
        <p:spPr>
          <a:xfrm>
            <a:off x="3730752" y="2560320"/>
            <a:ext cx="1737360" cy="256032"/>
          </a:xfrm>
          <a:prstGeom prst="rect">
            <a:avLst/>
          </a:prstGeom>
          <a:noFill/>
        </p:spPr>
        <p:txBody>
          <a:bodyPr wrap="square" lIns="18288" rIns="18288" tIns="18288" bIns="18288" anchor="t">
            <a:spAutoFit/>
          </a:bodyPr>
          <a:lstStyle/>
          <a:p>
            <a:pPr algn="r"/>
            <a:r>
              <a:rPr sz="940" b="1" lang="en-US">
                <a:solidFill>
                  <a:srgbClr val="434343"/>
                </a:solidFill>
                <a:latin typeface="Arial"/>
              </a:rPr>
              <a:t>Create receiver-owned image state</a:t>
            </a:r>
          </a:p>
        </p:txBody>
      </p:sp>
      <p:cxnSp>
        <p:nvCxnSpPr>
          <p:cNvPr id="25" name="Connector 24"/>
          <p:cNvCxnSpPr/>
          <p:nvPr/>
        </p:nvCxnSpPr>
        <p:spPr>
          <a:xfrm>
            <a:off x="5833872" y="3108960"/>
            <a:ext cx="3904488" cy="0"/>
          </a:xfrm>
          <a:prstGeom prst="line">
            <a:avLst/>
          </a:prstGeom>
          <a:ln w="2032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455664" y="2916936"/>
            <a:ext cx="2724912" cy="182880"/>
          </a:xfrm>
          <a:prstGeom prst="rect">
            <a:avLst/>
          </a:prstGeom>
          <a:noFill/>
        </p:spPr>
        <p:txBody>
          <a:bodyPr wrap="square" lIns="18288" rIns="18288" tIns="18288" bIns="18288" anchor="t">
            <a:spAutoFit/>
          </a:bodyPr>
          <a:lstStyle/>
          <a:p>
            <a:pPr algn="ctr"/>
            <a:r>
              <a:rPr sz="950" b="1" lang="en-US">
                <a:solidFill>
                  <a:srgbClr val="7A35B5"/>
                </a:solidFill>
                <a:latin typeface="Arial"/>
              </a:rPr>
              <a:t>Publish receiver receipt before output</a:t>
            </a:r>
          </a:p>
        </p:txBody>
      </p:sp>
      <p:cxnSp>
        <p:nvCxnSpPr>
          <p:cNvPr id="27" name="Connector 26"/>
          <p:cNvCxnSpPr/>
          <p:nvPr/>
        </p:nvCxnSpPr>
        <p:spPr>
          <a:xfrm>
            <a:off x="1527048" y="3611880"/>
            <a:ext cx="4069080" cy="0"/>
          </a:xfrm>
          <a:prstGeom prst="line">
            <a:avLst/>
          </a:prstGeom>
          <a:ln w="2159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627632" y="3291840"/>
            <a:ext cx="2057400" cy="219456"/>
          </a:xfrm>
          <a:prstGeom prst="rect">
            <a:avLst/>
          </a:prstGeom>
          <a:noFill/>
        </p:spPr>
        <p:txBody>
          <a:bodyPr wrap="square" lIns="18288" rIns="18288" tIns="18288" bIns="18288" anchor="t">
            <a:spAutoFit/>
          </a:bodyPr>
          <a:lstStyle/>
          <a:p>
            <a:pPr algn="l"/>
            <a:r>
              <a:rPr sz="1120" b="1" lang="en-US">
                <a:solidFill>
                  <a:srgbClr val="FF6C00"/>
                </a:solidFill>
                <a:latin typeface="Arial"/>
              </a:rPr>
              <a:t>3  TEE INFERENCE</a:t>
            </a:r>
          </a:p>
        </p:txBody>
      </p:sp>
      <p:sp>
        <p:nvSpPr>
          <p:cNvPr id="29" name="TextBox 28"/>
          <p:cNvSpPr txBox="1"/>
          <p:nvPr/>
        </p:nvSpPr>
        <p:spPr>
          <a:xfrm>
            <a:off x="3730752" y="3291840"/>
            <a:ext cx="1737360" cy="256032"/>
          </a:xfrm>
          <a:prstGeom prst="rect">
            <a:avLst/>
          </a:prstGeom>
          <a:noFill/>
        </p:spPr>
        <p:txBody>
          <a:bodyPr wrap="square" lIns="18288" rIns="18288" tIns="18288" bIns="18288" anchor="t">
            <a:spAutoFit/>
          </a:bodyPr>
          <a:lstStyle/>
          <a:p>
            <a:pPr algn="r"/>
            <a:r>
              <a:rPr sz="940" b="1" lang="en-US">
                <a:solidFill>
                  <a:srgbClr val="434343"/>
                </a:solidFill>
                <a:latin typeface="Arial"/>
              </a:rPr>
              <a:t>Run native inference and emit AIR/TDX evidence</a:t>
            </a:r>
          </a:p>
        </p:txBody>
      </p:sp>
      <p:cxnSp>
        <p:nvCxnSpPr>
          <p:cNvPr id="30" name="Connector 29"/>
          <p:cNvCxnSpPr/>
          <p:nvPr/>
        </p:nvCxnSpPr>
        <p:spPr>
          <a:xfrm>
            <a:off x="5833872" y="3840480"/>
            <a:ext cx="3904488" cy="0"/>
          </a:xfrm>
          <a:prstGeom prst="line">
            <a:avLst/>
          </a:prstGeom>
          <a:ln w="2032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455664" y="3648456"/>
            <a:ext cx="2724912" cy="182880"/>
          </a:xfrm>
          <a:prstGeom prst="rect">
            <a:avLst/>
          </a:prstGeom>
          <a:noFill/>
        </p:spPr>
        <p:txBody>
          <a:bodyPr wrap="square" lIns="18288" rIns="18288" tIns="18288" bIns="18288" anchor="t">
            <a:spAutoFit/>
          </a:bodyPr>
          <a:lstStyle/>
          <a:p>
            <a:pPr algn="ctr"/>
            <a:r>
              <a:rPr sz="950" b="1" lang="en-US">
                <a:solidFill>
                  <a:srgbClr val="7A35B5"/>
                </a:solidFill>
                <a:latin typeface="Arial"/>
              </a:rPr>
              <a:t>Publish receiver receipt before output</a:t>
            </a:r>
          </a:p>
        </p:txBody>
      </p:sp>
      <p:cxnSp>
        <p:nvCxnSpPr>
          <p:cNvPr id="32" name="Connector 31"/>
          <p:cNvCxnSpPr/>
          <p:nvPr/>
        </p:nvCxnSpPr>
        <p:spPr>
          <a:xfrm>
            <a:off x="1527048" y="4297680"/>
            <a:ext cx="8211312" cy="0"/>
          </a:xfrm>
          <a:prstGeom prst="line">
            <a:avLst/>
          </a:prstGeom>
          <a:ln w="2413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2788920" y="3886200"/>
            <a:ext cx="5705856" cy="347472"/>
          </a:xfrm>
          <a:prstGeom prst="rect">
            <a:avLst/>
          </a:prstGeom>
          <a:noFill/>
        </p:spPr>
        <p:txBody>
          <a:bodyPr wrap="square" lIns="18288" rIns="18288" tIns="18288" bIns="18288" anchor="t">
            <a:spAutoFit/>
          </a:bodyPr>
          <a:lstStyle/>
          <a:p>
            <a:pPr algn="ctr"/>
            <a:r>
              <a:rPr sz="1080" b="1" lang="en-US">
                <a:solidFill>
                  <a:srgbClr val="C40D1E"/>
                </a:solidFill>
                <a:latin typeface="Arial"/>
              </a:rPr>
              <a:t>The agent service validates and publishes the complete inference bundle</a:t>
            </a:r>
          </a:p>
        </p:txBody>
      </p:sp>
      <p:sp>
        <p:nvSpPr>
          <p:cNvPr id="34" name="Rectangle 33"/>
          <p:cNvSpPr/>
          <p:nvPr/>
        </p:nvSpPr>
        <p:spPr>
          <a:xfrm>
            <a:off x="795528" y="4800600"/>
            <a:ext cx="10552176" cy="548640"/>
          </a:xfrm>
          <a:prstGeom prst="rect">
            <a:avLst/>
          </a:prstGeom>
          <a:solidFill>
            <a:srgbClr val="F3F3F3"/>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7552" y="4965192"/>
            <a:ext cx="10168128" cy="246888"/>
          </a:xfrm>
          <a:prstGeom prst="rect">
            <a:avLst/>
          </a:prstGeom>
          <a:noFill/>
        </p:spPr>
        <p:txBody>
          <a:bodyPr wrap="square" lIns="18288" rIns="18288" tIns="18288" bIns="18288" anchor="ctr">
            <a:spAutoFit/>
          </a:bodyPr>
          <a:lstStyle/>
          <a:p>
            <a:pPr algn="ctr"/>
            <a:r>
              <a:rPr sz="1500" b="1" lang="en-US">
                <a:solidFill>
                  <a:srgbClr val="7A35B5"/>
                </a:solidFill>
                <a:latin typeface="Arial"/>
              </a:rPr>
              <a:t>3 × receiver-signed tool receipts</a:t>
            </a:r>
            <a:r>
              <a:rPr sz="1600" b="0" lang="en-US">
                <a:solidFill>
                  <a:srgbClr val="434343"/>
                </a:solidFill>
                <a:latin typeface="Arial"/>
              </a:rPr>
              <a:t>   +   </a:t>
            </a:r>
            <a:r>
              <a:rPr sz="1500" b="1" lang="en-US">
                <a:solidFill>
                  <a:srgbClr val="1F90CC"/>
                </a:solidFill>
                <a:latin typeface="Arial"/>
              </a:rPr>
              <a:t>1 × complete inference bundle</a:t>
            </a:r>
            <a:r>
              <a:rPr sz="1500" b="1" lang="en-US">
                <a:solidFill>
                  <a:srgbClr val="2F8F46"/>
                </a:solidFill>
                <a:latin typeface="Arial"/>
              </a:rPr>
              <a:t>   = 4 log records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Independent audit: verify the evidence—not the UI</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RECORDED? → AUTHENTIC? → ACCEPTABLE UNDER POLICY?</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17</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cxnSp>
        <p:nvCxnSpPr>
          <p:cNvPr id="8" name="Connector 7"/>
          <p:cNvCxnSpPr/>
          <p:nvPr/>
        </p:nvCxnSpPr>
        <p:spPr>
          <a:xfrm flipV="1">
            <a:off x="786384" y="1764792"/>
            <a:ext cx="0" cy="2935224"/>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rot="16200000">
            <a:off x="210312" y="2423160"/>
            <a:ext cx="310896" cy="1627632"/>
          </a:xfrm>
          <a:prstGeom prst="rect">
            <a:avLst/>
          </a:prstGeom>
          <a:noFill/>
        </p:spPr>
        <p:txBody>
          <a:bodyPr wrap="square" lIns="18288" rIns="18288" tIns="18288" bIns="18288" anchor="t">
            <a:spAutoFit/>
          </a:bodyPr>
          <a:lstStyle/>
          <a:p>
            <a:pPr algn="ctr"/>
            <a:r>
              <a:rPr sz="900" b="1" lang="en-US">
                <a:solidFill>
                  <a:srgbClr val="C40D1E"/>
                </a:solidFill>
                <a:latin typeface="Arial"/>
              </a:rPr>
              <a:t>AUDIT DEPTH</a:t>
            </a:r>
          </a:p>
        </p:txBody>
      </p:sp>
      <p:sp>
        <p:nvSpPr>
          <p:cNvPr id="10" name="Rounded Rectangle 9"/>
          <p:cNvSpPr/>
          <p:nvPr/>
        </p:nvSpPr>
        <p:spPr>
          <a:xfrm>
            <a:off x="1417320" y="4005072"/>
            <a:ext cx="9400032" cy="749808"/>
          </a:xfrm>
          <a:prstGeom prst="roundRect">
            <a:avLst/>
          </a:prstGeom>
          <a:solidFill>
            <a:srgbClr val="F3EBF9"/>
          </a:solidFill>
          <a:ln w="1651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91640" y="4206240"/>
            <a:ext cx="2468880" cy="237744"/>
          </a:xfrm>
          <a:prstGeom prst="rect">
            <a:avLst/>
          </a:prstGeom>
          <a:noFill/>
        </p:spPr>
        <p:txBody>
          <a:bodyPr wrap="square" lIns="18288" rIns="18288" tIns="18288" bIns="18288" anchor="ctr">
            <a:spAutoFit/>
          </a:bodyPr>
          <a:lstStyle/>
          <a:p>
            <a:pPr algn="l"/>
            <a:r>
              <a:rPr sz="1120" b="1" lang="en-US">
                <a:solidFill>
                  <a:srgbClr val="7A35B5"/>
                </a:solidFill>
                <a:latin typeface="Arial"/>
              </a:rPr>
              <a:t>LOG PROOF</a:t>
            </a:r>
          </a:p>
        </p:txBody>
      </p:sp>
      <p:sp>
        <p:nvSpPr>
          <p:cNvPr id="12" name="TextBox 11"/>
          <p:cNvSpPr txBox="1"/>
          <p:nvPr/>
        </p:nvSpPr>
        <p:spPr>
          <a:xfrm>
            <a:off x="4160520" y="4160520"/>
            <a:ext cx="5212079" cy="502919"/>
          </a:xfrm>
          <a:prstGeom prst="rect">
            <a:avLst/>
          </a:prstGeom>
          <a:noFill/>
        </p:spPr>
        <p:txBody>
          <a:bodyPr wrap="square" lIns="18288" rIns="18288" tIns="18288" bIns="18288" anchor="ctr">
            <a:spAutoFit/>
          </a:bodyPr>
          <a:lstStyle/>
          <a:p>
            <a:pPr algn="ctr"/>
            <a:r>
              <a:rPr sz="1000" b="1" lang="en-US">
                <a:solidFill>
                  <a:srgbClr val="434343"/>
                </a:solidFill>
                <a:latin typeface="Arial"/>
              </a:rPr>
              <a:t>Was this exact signed statement recorded?</a:t>
            </a:r>
          </a:p>
        </p:txBody>
      </p:sp>
      <p:sp>
        <p:nvSpPr>
          <p:cNvPr id="13" name="Rectangle 12"/>
          <p:cNvSpPr/>
          <p:nvPr/>
        </p:nvSpPr>
        <p:spPr>
          <a:xfrm>
            <a:off x="9464040" y="4206240"/>
            <a:ext cx="1078992" cy="310896"/>
          </a:xfrm>
          <a:prstGeom prst="rect">
            <a:avLst/>
          </a:prstGeom>
          <a:solidFill>
            <a:srgbClr val="7A35B5"/>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37192" y="4279392"/>
            <a:ext cx="932688" cy="155448"/>
          </a:xfrm>
          <a:prstGeom prst="rect">
            <a:avLst/>
          </a:prstGeom>
          <a:noFill/>
        </p:spPr>
        <p:txBody>
          <a:bodyPr wrap="square" lIns="0" rIns="0" tIns="0" bIns="0" anchor="ctr">
            <a:spAutoFit/>
          </a:bodyPr>
          <a:lstStyle/>
          <a:p>
            <a:pPr algn="ctr"/>
            <a:r>
              <a:rPr sz="770" b="1" lang="en-US">
                <a:solidFill>
                  <a:srgbClr val="FFFFFF"/>
                </a:solidFill>
                <a:latin typeface="Arial"/>
              </a:rPr>
              <a:t>PUBLIC</a:t>
            </a:r>
          </a:p>
        </p:txBody>
      </p:sp>
      <p:sp>
        <p:nvSpPr>
          <p:cNvPr id="15" name="Rounded Rectangle 14"/>
          <p:cNvSpPr/>
          <p:nvPr/>
        </p:nvSpPr>
        <p:spPr>
          <a:xfrm>
            <a:off x="1417320" y="2907792"/>
            <a:ext cx="9400032" cy="749808"/>
          </a:xfrm>
          <a:prstGeom prst="roundRect">
            <a:avLst/>
          </a:prstGeom>
          <a:solidFill>
            <a:srgbClr val="EAF5FA"/>
          </a:solidFill>
          <a:ln w="1651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691640" y="3108960"/>
            <a:ext cx="2468880" cy="237744"/>
          </a:xfrm>
          <a:prstGeom prst="rect">
            <a:avLst/>
          </a:prstGeom>
          <a:noFill/>
        </p:spPr>
        <p:txBody>
          <a:bodyPr wrap="square" lIns="18288" rIns="18288" tIns="18288" bIns="18288" anchor="ctr">
            <a:spAutoFit/>
          </a:bodyPr>
          <a:lstStyle/>
          <a:p>
            <a:pPr algn="l"/>
            <a:r>
              <a:rPr sz="1120" b="1" lang="en-US">
                <a:solidFill>
                  <a:srgbClr val="1F90CC"/>
                </a:solidFill>
                <a:latin typeface="Arial"/>
              </a:rPr>
              <a:t>RECEIPT AUTHENTICITY</a:t>
            </a:r>
          </a:p>
        </p:txBody>
      </p:sp>
      <p:sp>
        <p:nvSpPr>
          <p:cNvPr id="17" name="TextBox 16"/>
          <p:cNvSpPr txBox="1"/>
          <p:nvPr/>
        </p:nvSpPr>
        <p:spPr>
          <a:xfrm>
            <a:off x="4160520" y="3063240"/>
            <a:ext cx="5212079" cy="502919"/>
          </a:xfrm>
          <a:prstGeom prst="rect">
            <a:avLst/>
          </a:prstGeom>
          <a:noFill/>
        </p:spPr>
        <p:txBody>
          <a:bodyPr wrap="square" lIns="18288" rIns="18288" tIns="18288" bIns="18288" anchor="ctr">
            <a:spAutoFit/>
          </a:bodyPr>
          <a:lstStyle/>
          <a:p>
            <a:pPr algn="ctr"/>
            <a:r>
              <a:rPr sz="1000" b="1" lang="en-US">
                <a:solidFill>
                  <a:srgbClr val="434343"/>
                </a:solidFill>
                <a:latin typeface="Arial"/>
              </a:rPr>
              <a:t>Did the receiver sign this request and response?</a:t>
            </a:r>
          </a:p>
        </p:txBody>
      </p:sp>
      <p:sp>
        <p:nvSpPr>
          <p:cNvPr id="18" name="Rectangle 17"/>
          <p:cNvSpPr/>
          <p:nvPr/>
        </p:nvSpPr>
        <p:spPr>
          <a:xfrm>
            <a:off x="9464040" y="3108960"/>
            <a:ext cx="1078992" cy="310896"/>
          </a:xfrm>
          <a:prstGeom prst="rect">
            <a:avLst/>
          </a:prstGeom>
          <a:solidFill>
            <a:srgbClr val="1F90CC"/>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37192" y="3182112"/>
            <a:ext cx="932688" cy="155448"/>
          </a:xfrm>
          <a:prstGeom prst="rect">
            <a:avLst/>
          </a:prstGeom>
          <a:noFill/>
        </p:spPr>
        <p:txBody>
          <a:bodyPr wrap="square" lIns="0" rIns="0" tIns="0" bIns="0" anchor="ctr">
            <a:spAutoFit/>
          </a:bodyPr>
          <a:lstStyle/>
          <a:p>
            <a:pPr algn="ctr"/>
            <a:r>
              <a:rPr sz="770" b="1" lang="en-US">
                <a:solidFill>
                  <a:srgbClr val="FFFFFF"/>
                </a:solidFill>
                <a:latin typeface="Arial"/>
              </a:rPr>
              <a:t>OWNER DATA</a:t>
            </a:r>
          </a:p>
        </p:txBody>
      </p:sp>
      <p:sp>
        <p:nvSpPr>
          <p:cNvPr id="20" name="Rounded Rectangle 19"/>
          <p:cNvSpPr/>
          <p:nvPr/>
        </p:nvSpPr>
        <p:spPr>
          <a:xfrm>
            <a:off x="1417320" y="1792224"/>
            <a:ext cx="9400032" cy="749808"/>
          </a:xfrm>
          <a:prstGeom prst="roundRect">
            <a:avLst/>
          </a:prstGeom>
          <a:solidFill>
            <a:srgbClr val="EAF6ED"/>
          </a:solidFill>
          <a:ln w="1651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691640" y="1993392"/>
            <a:ext cx="2468880" cy="237744"/>
          </a:xfrm>
          <a:prstGeom prst="rect">
            <a:avLst/>
          </a:prstGeom>
          <a:noFill/>
        </p:spPr>
        <p:txBody>
          <a:bodyPr wrap="square" lIns="18288" rIns="18288" tIns="18288" bIns="18288" anchor="ctr">
            <a:spAutoFit/>
          </a:bodyPr>
          <a:lstStyle/>
          <a:p>
            <a:pPr algn="l"/>
            <a:r>
              <a:rPr sz="1120" b="1" lang="en-US">
                <a:solidFill>
                  <a:srgbClr val="2F8F46"/>
                </a:solidFill>
                <a:latin typeface="Arial"/>
              </a:rPr>
              <a:t>INFERENCE APPRAISAL</a:t>
            </a:r>
          </a:p>
        </p:txBody>
      </p:sp>
      <p:sp>
        <p:nvSpPr>
          <p:cNvPr id="22" name="TextBox 21"/>
          <p:cNvSpPr txBox="1"/>
          <p:nvPr/>
        </p:nvSpPr>
        <p:spPr>
          <a:xfrm>
            <a:off x="4160520" y="1947672"/>
            <a:ext cx="5212079" cy="502919"/>
          </a:xfrm>
          <a:prstGeom prst="rect">
            <a:avLst/>
          </a:prstGeom>
          <a:noFill/>
        </p:spPr>
        <p:txBody>
          <a:bodyPr wrap="square" lIns="18288" rIns="18288" tIns="18288" bIns="18288" anchor="ctr">
            <a:spAutoFit/>
          </a:bodyPr>
          <a:lstStyle/>
          <a:p>
            <a:pPr algn="ctr"/>
            <a:r>
              <a:rPr sz="1000" b="1" lang="en-US">
                <a:solidFill>
                  <a:srgbClr val="434343"/>
                </a:solidFill>
                <a:latin typeface="Arial"/>
              </a:rPr>
              <a:t>Does the attested workload satisfy trusted policy?</a:t>
            </a:r>
          </a:p>
        </p:txBody>
      </p:sp>
      <p:sp>
        <p:nvSpPr>
          <p:cNvPr id="23" name="Rectangle 22"/>
          <p:cNvSpPr/>
          <p:nvPr/>
        </p:nvSpPr>
        <p:spPr>
          <a:xfrm>
            <a:off x="9464040" y="1993392"/>
            <a:ext cx="1078992" cy="310896"/>
          </a:xfrm>
          <a:prstGeom prst="rect">
            <a:avLst/>
          </a:prstGeom>
          <a:solidFill>
            <a:srgbClr val="2F8F46"/>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37192" y="2066543"/>
            <a:ext cx="932688" cy="155448"/>
          </a:xfrm>
          <a:prstGeom prst="rect">
            <a:avLst/>
          </a:prstGeom>
          <a:noFill/>
        </p:spPr>
        <p:txBody>
          <a:bodyPr wrap="square" lIns="0" rIns="0" tIns="0" bIns="0" anchor="ctr">
            <a:spAutoFit/>
          </a:bodyPr>
          <a:lstStyle/>
          <a:p>
            <a:pPr algn="ctr"/>
            <a:r>
              <a:rPr sz="770" b="1" lang="en-US">
                <a:solidFill>
                  <a:srgbClr val="FFFFFF"/>
                </a:solidFill>
                <a:latin typeface="Arial"/>
              </a:rPr>
              <a:t>POLICY</a:t>
            </a:r>
          </a:p>
        </p:txBody>
      </p:sp>
      <p:sp>
        <p:nvSpPr>
          <p:cNvPr id="25" name="Rectangle 24"/>
          <p:cNvSpPr/>
          <p:nvPr/>
        </p:nvSpPr>
        <p:spPr>
          <a:xfrm>
            <a:off x="1417320" y="5010912"/>
            <a:ext cx="9400032" cy="384048"/>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636776" y="5111496"/>
            <a:ext cx="8961120" cy="182880"/>
          </a:xfrm>
          <a:prstGeom prst="rect">
            <a:avLst/>
          </a:prstGeom>
          <a:noFill/>
        </p:spPr>
        <p:txBody>
          <a:bodyPr wrap="square" lIns="18288" rIns="18288" tIns="18288" bIns="18288" anchor="t">
            <a:spAutoFit/>
          </a:bodyPr>
          <a:lstStyle/>
          <a:p>
            <a:pPr algn="ctr"/>
            <a:r>
              <a:rPr sz="930" b="1" lang="en-US">
                <a:solidFill>
                  <a:srgbClr val="434343"/>
                </a:solidFill>
                <a:latin typeface="Arial"/>
              </a:rPr>
              <a:t>AUDITOR NEEDS   exported statements · pinned historical keys · appraisal policy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Cryptographic chain of custody</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WHO PRODUCED IT · WHO MAY READ IT · WHICH EXACT BYTES ARE BOUND</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18</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cxnSp>
        <p:nvCxnSpPr>
          <p:cNvPr id="8" name="Connector 7"/>
          <p:cNvCxnSpPr/>
          <p:nvPr/>
        </p:nvCxnSpPr>
        <p:spPr>
          <a:xfrm>
            <a:off x="2066543" y="2852928"/>
            <a:ext cx="694945" cy="0"/>
          </a:xfrm>
          <a:prstGeom prst="line">
            <a:avLst/>
          </a:prstGeom>
          <a:ln w="2159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398264" y="2852928"/>
            <a:ext cx="694944" cy="0"/>
          </a:xfrm>
          <a:prstGeom prst="line">
            <a:avLst/>
          </a:prstGeom>
          <a:ln w="2159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729984" y="2852928"/>
            <a:ext cx="694943" cy="0"/>
          </a:xfrm>
          <a:prstGeom prst="line">
            <a:avLst/>
          </a:prstGeom>
          <a:ln w="2159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061704" y="2852928"/>
            <a:ext cx="694944" cy="0"/>
          </a:xfrm>
          <a:prstGeom prst="line">
            <a:avLst/>
          </a:prstGeom>
          <a:ln w="2159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20040" y="1508760"/>
            <a:ext cx="1874519" cy="310896"/>
          </a:xfrm>
          <a:prstGeom prst="rect">
            <a:avLst/>
          </a:prstGeom>
          <a:noFill/>
        </p:spPr>
        <p:txBody>
          <a:bodyPr wrap="square" lIns="18288" rIns="18288" tIns="18288" bIns="18288" anchor="t">
            <a:spAutoFit/>
          </a:bodyPr>
          <a:lstStyle/>
          <a:p>
            <a:pPr algn="ctr"/>
            <a:r>
              <a:rPr sz="1000" b="1" lang="en-US">
                <a:solidFill>
                  <a:srgbClr val="2F8F46"/>
                </a:solidFill>
                <a:latin typeface="Arial"/>
              </a:rPr>
              <a:t>01  MEDICAL INPUT</a:t>
            </a:r>
          </a:p>
        </p:txBody>
      </p:sp>
      <p:sp>
        <p:nvSpPr>
          <p:cNvPr id="13" name="Oval 12"/>
          <p:cNvSpPr/>
          <p:nvPr/>
        </p:nvSpPr>
        <p:spPr>
          <a:xfrm>
            <a:off x="502920" y="2103120"/>
            <a:ext cx="1508760" cy="1508760"/>
          </a:xfrm>
          <a:prstGeom prst="ellipse">
            <a:avLst/>
          </a:prstGeom>
          <a:solidFill>
            <a:srgbClr val="EAF6ED"/>
          </a:solidFill>
          <a:ln w="2159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6656" y="2578608"/>
            <a:ext cx="1161288" cy="566928"/>
          </a:xfrm>
          <a:prstGeom prst="rect">
            <a:avLst/>
          </a:prstGeom>
          <a:noFill/>
        </p:spPr>
        <p:txBody>
          <a:bodyPr wrap="square" lIns="0" rIns="0" tIns="0" bIns="0" anchor="ctr">
            <a:spAutoFit/>
          </a:bodyPr>
          <a:lstStyle/>
          <a:p>
            <a:pPr algn="ctr"/>
            <a:r>
              <a:rPr sz="1300" b="1" lang="en-US">
                <a:solidFill>
                  <a:srgbClr val="2F8F46"/>
                </a:solidFill>
                <a:latin typeface="Arial"/>
              </a:rPr>
              <a:t>SIGN</a:t>
            </a:r>
          </a:p>
        </p:txBody>
      </p:sp>
      <p:sp>
        <p:nvSpPr>
          <p:cNvPr id="15" name="TextBox 14"/>
          <p:cNvSpPr txBox="1"/>
          <p:nvPr/>
        </p:nvSpPr>
        <p:spPr>
          <a:xfrm>
            <a:off x="292608" y="3886200"/>
            <a:ext cx="1929384" cy="603504"/>
          </a:xfrm>
          <a:prstGeom prst="rect">
            <a:avLst/>
          </a:prstGeom>
          <a:noFill/>
        </p:spPr>
        <p:txBody>
          <a:bodyPr wrap="square" lIns="18288" rIns="18288" tIns="18288" bIns="18288" anchor="t">
            <a:spAutoFit/>
          </a:bodyPr>
          <a:lstStyle/>
          <a:p>
            <a:pPr algn="ctr"/>
            <a:r>
              <a:rPr sz="850" b="1" lang="en-US">
                <a:solidFill>
                  <a:srgbClr val="434343"/>
                </a:solidFill>
                <a:latin typeface="Arial"/>
              </a:rPr>
              <a:t>Device + radiologist
RSA-2048 / SHA-256</a:t>
            </a:r>
          </a:p>
        </p:txBody>
      </p:sp>
      <p:sp>
        <p:nvSpPr>
          <p:cNvPr id="16" name="TextBox 15"/>
          <p:cNvSpPr txBox="1"/>
          <p:nvPr/>
        </p:nvSpPr>
        <p:spPr>
          <a:xfrm>
            <a:off x="2651760" y="1508760"/>
            <a:ext cx="1874519" cy="310896"/>
          </a:xfrm>
          <a:prstGeom prst="rect">
            <a:avLst/>
          </a:prstGeom>
          <a:noFill/>
        </p:spPr>
        <p:txBody>
          <a:bodyPr wrap="square" lIns="18288" rIns="18288" tIns="18288" bIns="18288" anchor="t">
            <a:spAutoFit/>
          </a:bodyPr>
          <a:lstStyle/>
          <a:p>
            <a:pPr algn="ctr"/>
            <a:r>
              <a:rPr sz="1000" b="1" lang="en-US">
                <a:solidFill>
                  <a:srgbClr val="1F90CC"/>
                </a:solidFill>
                <a:latin typeface="Arial"/>
              </a:rPr>
              <a:t>02  PARTICIPANT TEE</a:t>
            </a:r>
          </a:p>
        </p:txBody>
      </p:sp>
      <p:sp>
        <p:nvSpPr>
          <p:cNvPr id="17" name="Oval 16"/>
          <p:cNvSpPr/>
          <p:nvPr/>
        </p:nvSpPr>
        <p:spPr>
          <a:xfrm>
            <a:off x="2834640" y="2103120"/>
            <a:ext cx="1508760" cy="1508760"/>
          </a:xfrm>
          <a:prstGeom prst="ellipse">
            <a:avLst/>
          </a:prstGeom>
          <a:solidFill>
            <a:srgbClr val="EAF5FA"/>
          </a:solidFill>
          <a:ln w="2159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008376" y="2459736"/>
            <a:ext cx="1161288" cy="566928"/>
          </a:xfrm>
          <a:prstGeom prst="rect">
            <a:avLst/>
          </a:prstGeom>
          <a:noFill/>
        </p:spPr>
        <p:txBody>
          <a:bodyPr wrap="square" lIns="0" rIns="0" tIns="0" bIns="0" anchor="ctr">
            <a:spAutoFit/>
          </a:bodyPr>
          <a:lstStyle/>
          <a:p>
            <a:pPr algn="ctr"/>
            <a:r>
              <a:rPr sz="1140" b="1" lang="en-US">
                <a:solidFill>
                  <a:srgbClr val="1F90CC"/>
                </a:solidFill>
                <a:latin typeface="Arial"/>
              </a:rPr>
              <a:t>BIND
+ SEAL</a:t>
            </a:r>
          </a:p>
        </p:txBody>
      </p:sp>
      <p:sp>
        <p:nvSpPr>
          <p:cNvPr id="19" name="TextBox 18"/>
          <p:cNvSpPr txBox="1"/>
          <p:nvPr/>
        </p:nvSpPr>
        <p:spPr>
          <a:xfrm>
            <a:off x="2624328" y="3886200"/>
            <a:ext cx="1929384" cy="603504"/>
          </a:xfrm>
          <a:prstGeom prst="rect">
            <a:avLst/>
          </a:prstGeom>
          <a:noFill/>
        </p:spPr>
        <p:txBody>
          <a:bodyPr wrap="square" lIns="18288" rIns="18288" tIns="18288" bIns="18288" anchor="t">
            <a:spAutoFit/>
          </a:bodyPr>
          <a:lstStyle/>
          <a:p>
            <a:pPr algn="ctr"/>
            <a:r>
              <a:rPr sz="850" b="1" lang="en-US">
                <a:solidFill>
                  <a:srgbClr val="434343"/>
                </a:solidFill>
                <a:latin typeface="Arial"/>
              </a:rPr>
              <a:t>secp256k1 action key · RSA-3072 custody
REPORTDATA + RTMR3</a:t>
            </a:r>
          </a:p>
        </p:txBody>
      </p:sp>
      <p:sp>
        <p:nvSpPr>
          <p:cNvPr id="20" name="TextBox 19"/>
          <p:cNvSpPr txBox="1"/>
          <p:nvPr/>
        </p:nvSpPr>
        <p:spPr>
          <a:xfrm>
            <a:off x="4983480" y="1508760"/>
            <a:ext cx="1874519" cy="310896"/>
          </a:xfrm>
          <a:prstGeom prst="rect">
            <a:avLst/>
          </a:prstGeom>
          <a:noFill/>
        </p:spPr>
        <p:txBody>
          <a:bodyPr wrap="square" lIns="18288" rIns="18288" tIns="18288" bIns="18288" anchor="t">
            <a:spAutoFit/>
          </a:bodyPr>
          <a:lstStyle/>
          <a:p>
            <a:pPr algn="ctr"/>
            <a:r>
              <a:rPr sz="1000" b="1" lang="en-US">
                <a:solidFill>
                  <a:srgbClr val="FF6C00"/>
                </a:solidFill>
                <a:latin typeface="Arial"/>
              </a:rPr>
              <a:t>03  WORKER UPDATE</a:t>
            </a:r>
          </a:p>
        </p:txBody>
      </p:sp>
      <p:sp>
        <p:nvSpPr>
          <p:cNvPr id="21" name="Oval 20"/>
          <p:cNvSpPr/>
          <p:nvPr/>
        </p:nvSpPr>
        <p:spPr>
          <a:xfrm>
            <a:off x="5166360" y="2103120"/>
            <a:ext cx="1508760" cy="1508760"/>
          </a:xfrm>
          <a:prstGeom prst="ellipse">
            <a:avLst/>
          </a:prstGeom>
          <a:solidFill>
            <a:srgbClr val="FFF1E7"/>
          </a:solidFill>
          <a:ln w="2159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40096" y="2459736"/>
            <a:ext cx="1161288" cy="566928"/>
          </a:xfrm>
          <a:prstGeom prst="rect">
            <a:avLst/>
          </a:prstGeom>
          <a:noFill/>
        </p:spPr>
        <p:txBody>
          <a:bodyPr wrap="square" lIns="0" rIns="0" tIns="0" bIns="0" anchor="ctr">
            <a:spAutoFit/>
          </a:bodyPr>
          <a:lstStyle/>
          <a:p>
            <a:pPr algn="ctr"/>
            <a:r>
              <a:rPr sz="1140" b="1" lang="en-US">
                <a:solidFill>
                  <a:srgbClr val="FF6C00"/>
                </a:solidFill>
                <a:latin typeface="Arial"/>
              </a:rPr>
              <a:t>ENCRYPT
+ SIGN</a:t>
            </a:r>
          </a:p>
        </p:txBody>
      </p:sp>
      <p:sp>
        <p:nvSpPr>
          <p:cNvPr id="23" name="TextBox 22"/>
          <p:cNvSpPr txBox="1"/>
          <p:nvPr/>
        </p:nvSpPr>
        <p:spPr>
          <a:xfrm>
            <a:off x="4956048" y="3886200"/>
            <a:ext cx="1929384" cy="603504"/>
          </a:xfrm>
          <a:prstGeom prst="rect">
            <a:avLst/>
          </a:prstGeom>
          <a:noFill/>
        </p:spPr>
        <p:txBody>
          <a:bodyPr wrap="square" lIns="18288" rIns="18288" tIns="18288" bIns="18288" anchor="t">
            <a:spAutoFit/>
          </a:bodyPr>
          <a:lstStyle/>
          <a:p>
            <a:pPr algn="ctr"/>
            <a:r>
              <a:rPr sz="850" b="1" lang="en-US">
                <a:solidFill>
                  <a:srgbClr val="434343"/>
                </a:solidFill>
                <a:latin typeface="Arial"/>
              </a:rPr>
              <a:t>AES-CBC · RSA-OAEP
package signature · EIP-712</a:t>
            </a:r>
          </a:p>
        </p:txBody>
      </p:sp>
      <p:sp>
        <p:nvSpPr>
          <p:cNvPr id="24" name="TextBox 23"/>
          <p:cNvSpPr txBox="1"/>
          <p:nvPr/>
        </p:nvSpPr>
        <p:spPr>
          <a:xfrm>
            <a:off x="7315199" y="1508760"/>
            <a:ext cx="1874519" cy="310896"/>
          </a:xfrm>
          <a:prstGeom prst="rect">
            <a:avLst/>
          </a:prstGeom>
          <a:noFill/>
        </p:spPr>
        <p:txBody>
          <a:bodyPr wrap="square" lIns="18288" rIns="18288" tIns="18288" bIns="18288" anchor="t">
            <a:spAutoFit/>
          </a:bodyPr>
          <a:lstStyle/>
          <a:p>
            <a:pPr algn="ctr"/>
            <a:r>
              <a:rPr sz="1000" b="1" lang="en-US">
                <a:solidFill>
                  <a:srgbClr val="7A35B5"/>
                </a:solidFill>
                <a:latin typeface="Arial"/>
              </a:rPr>
              <a:t>04  GLOBAL MODEL</a:t>
            </a:r>
          </a:p>
        </p:txBody>
      </p:sp>
      <p:sp>
        <p:nvSpPr>
          <p:cNvPr id="25" name="Oval 24"/>
          <p:cNvSpPr/>
          <p:nvPr/>
        </p:nvSpPr>
        <p:spPr>
          <a:xfrm>
            <a:off x="7498079" y="2103120"/>
            <a:ext cx="1508760" cy="1508760"/>
          </a:xfrm>
          <a:prstGeom prst="ellipse">
            <a:avLst/>
          </a:prstGeom>
          <a:solidFill>
            <a:srgbClr val="F3EBF9"/>
          </a:solidFill>
          <a:ln w="2159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71815" y="2459736"/>
            <a:ext cx="1161288" cy="566928"/>
          </a:xfrm>
          <a:prstGeom prst="rect">
            <a:avLst/>
          </a:prstGeom>
          <a:noFill/>
        </p:spPr>
        <p:txBody>
          <a:bodyPr wrap="square" lIns="0" rIns="0" tIns="0" bIns="0" anchor="ctr">
            <a:spAutoFit/>
          </a:bodyPr>
          <a:lstStyle/>
          <a:p>
            <a:pPr algn="ctr"/>
            <a:r>
              <a:rPr sz="1140" b="1" lang="en-US">
                <a:solidFill>
                  <a:srgbClr val="7A35B5"/>
                </a:solidFill>
                <a:latin typeface="Arial"/>
              </a:rPr>
              <a:t>WRAP
+ FINALIZE</a:t>
            </a:r>
          </a:p>
        </p:txBody>
      </p:sp>
      <p:sp>
        <p:nvSpPr>
          <p:cNvPr id="27" name="TextBox 26"/>
          <p:cNvSpPr txBox="1"/>
          <p:nvPr/>
        </p:nvSpPr>
        <p:spPr>
          <a:xfrm>
            <a:off x="7287767" y="3886200"/>
            <a:ext cx="1929384" cy="603504"/>
          </a:xfrm>
          <a:prstGeom prst="rect">
            <a:avLst/>
          </a:prstGeom>
          <a:noFill/>
        </p:spPr>
        <p:txBody>
          <a:bodyPr wrap="square" lIns="18288" rIns="18288" tIns="18288" bIns="18288" anchor="t">
            <a:spAutoFit/>
          </a:bodyPr>
          <a:lstStyle/>
          <a:p>
            <a:pPr algn="ctr"/>
            <a:r>
              <a:rPr sz="850" b="1" lang="en-US">
                <a:solidFill>
                  <a:srgbClr val="434343"/>
                </a:solidFill>
                <a:latin typeface="Arial"/>
              </a:rPr>
              <a:t>AES-GCM · per-recipient OAEP
aggregator signature · IPFS CID</a:t>
            </a:r>
          </a:p>
        </p:txBody>
      </p:sp>
      <p:sp>
        <p:nvSpPr>
          <p:cNvPr id="28" name="TextBox 27"/>
          <p:cNvSpPr txBox="1"/>
          <p:nvPr/>
        </p:nvSpPr>
        <p:spPr>
          <a:xfrm>
            <a:off x="9646920" y="1508760"/>
            <a:ext cx="1874519" cy="310896"/>
          </a:xfrm>
          <a:prstGeom prst="rect">
            <a:avLst/>
          </a:prstGeom>
          <a:noFill/>
        </p:spPr>
        <p:txBody>
          <a:bodyPr wrap="square" lIns="18288" rIns="18288" tIns="18288" bIns="18288" anchor="t">
            <a:spAutoFit/>
          </a:bodyPr>
          <a:lstStyle/>
          <a:p>
            <a:pPr algn="ctr"/>
            <a:r>
              <a:rPr sz="1000" b="1" lang="en-US">
                <a:solidFill>
                  <a:srgbClr val="C40D1E"/>
                </a:solidFill>
                <a:latin typeface="Arial"/>
              </a:rPr>
              <a:t>05  INFERENCE + LOG</a:t>
            </a:r>
          </a:p>
        </p:txBody>
      </p:sp>
      <p:sp>
        <p:nvSpPr>
          <p:cNvPr id="29" name="Oval 28"/>
          <p:cNvSpPr/>
          <p:nvPr/>
        </p:nvSpPr>
        <p:spPr>
          <a:xfrm>
            <a:off x="9829800" y="2103120"/>
            <a:ext cx="1508760" cy="1508760"/>
          </a:xfrm>
          <a:prstGeom prst="ellipse">
            <a:avLst/>
          </a:prstGeom>
          <a:solidFill>
            <a:srgbClr val="FBEAEC"/>
          </a:solidFill>
          <a:ln w="2159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03536" y="2459736"/>
            <a:ext cx="1161288" cy="566928"/>
          </a:xfrm>
          <a:prstGeom prst="rect">
            <a:avLst/>
          </a:prstGeom>
          <a:noFill/>
        </p:spPr>
        <p:txBody>
          <a:bodyPr wrap="square" lIns="0" rIns="0" tIns="0" bIns="0" anchor="ctr">
            <a:spAutoFit/>
          </a:bodyPr>
          <a:lstStyle/>
          <a:p>
            <a:pPr algn="ctr"/>
            <a:r>
              <a:rPr sz="1140" b="1" lang="en-US">
                <a:solidFill>
                  <a:srgbClr val="C40D1E"/>
                </a:solidFill>
                <a:latin typeface="Arial"/>
              </a:rPr>
              <a:t>VERIFY
+ RECORD</a:t>
            </a:r>
          </a:p>
        </p:txBody>
      </p:sp>
      <p:sp>
        <p:nvSpPr>
          <p:cNvPr id="31" name="TextBox 30"/>
          <p:cNvSpPr txBox="1"/>
          <p:nvPr/>
        </p:nvSpPr>
        <p:spPr>
          <a:xfrm>
            <a:off x="9619488" y="3886200"/>
            <a:ext cx="1929384" cy="603504"/>
          </a:xfrm>
          <a:prstGeom prst="rect">
            <a:avLst/>
          </a:prstGeom>
          <a:noFill/>
        </p:spPr>
        <p:txBody>
          <a:bodyPr wrap="square" lIns="18288" rIns="18288" tIns="18288" bIns="18288" anchor="t">
            <a:spAutoFit/>
          </a:bodyPr>
          <a:lstStyle/>
          <a:p>
            <a:pPr algn="ctr"/>
            <a:r>
              <a:rPr sz="850" b="1" lang="en-US">
                <a:solidFill>
                  <a:srgbClr val="434343"/>
                </a:solidFill>
                <a:latin typeface="Arial"/>
              </a:rPr>
              <a:t>AIR/TDX · HPKE receipt
ES256 statement · CCF receipt</a:t>
            </a:r>
          </a:p>
        </p:txBody>
      </p:sp>
      <p:sp>
        <p:nvSpPr>
          <p:cNvPr id="32" name="TextBox 31"/>
          <p:cNvSpPr txBox="1"/>
          <p:nvPr/>
        </p:nvSpPr>
        <p:spPr>
          <a:xfrm>
            <a:off x="987552" y="4791456"/>
            <a:ext cx="10222992" cy="219456"/>
          </a:xfrm>
          <a:prstGeom prst="rect">
            <a:avLst/>
          </a:prstGeom>
          <a:noFill/>
        </p:spPr>
        <p:txBody>
          <a:bodyPr wrap="square" lIns="18288" rIns="18288" tIns="18288" bIns="18288" anchor="ctr">
            <a:spAutoFit/>
          </a:bodyPr>
          <a:lstStyle/>
          <a:p>
            <a:pPr algn="ctr"/>
            <a:r>
              <a:rPr sz="960" b="1" lang="en-US">
                <a:solidFill>
                  <a:srgbClr val="C40D1E"/>
                </a:solidFill>
                <a:latin typeface="Arial"/>
              </a:rPr>
              <a:t>Each transition preserves exact-byte binding; </a:t>
            </a:r>
            <a:r>
              <a:rPr sz="960" b="1" lang="en-US">
                <a:solidFill>
                  <a:srgbClr val="434343"/>
                </a:solidFill>
                <a:latin typeface="Arial"/>
              </a:rPr>
              <a:t>confidentiality and authorization change with the object and recipient.</a:t>
            </a:r>
          </a:p>
        </p:txBody>
      </p:sp>
      <p:sp>
        <p:nvSpPr>
          <p:cNvPr id="33" name="Rectangle 32"/>
          <p:cNvSpPr/>
          <p:nvPr/>
        </p:nvSpPr>
        <p:spPr>
          <a:xfrm>
            <a:off x="896112" y="5230368"/>
            <a:ext cx="10405872" cy="347472"/>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78992" y="5321808"/>
            <a:ext cx="10040112" cy="173736"/>
          </a:xfrm>
          <a:prstGeom prst="rect">
            <a:avLst/>
          </a:prstGeom>
          <a:noFill/>
        </p:spPr>
        <p:txBody>
          <a:bodyPr wrap="square" lIns="18288" rIns="18288" tIns="18288" bIns="18288" anchor="ctr">
            <a:spAutoFit/>
          </a:bodyPr>
          <a:lstStyle/>
          <a:p>
            <a:pPr algn="ctr"/>
            <a:r>
              <a:rPr sz="1019" b="1" lang="en-US">
                <a:solidFill>
                  <a:srgbClr val="434343"/>
                </a:solidFill>
                <a:latin typeface="Arial"/>
              </a:rPr>
              <a:t>TLS protects transport hops; application signatures, recipient encryption, and ledger/log bindings survive intermediary storage.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One end-to-end Phala FedAvg run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CURRENT EQUAL-WEIGHT FEDAVG PATH · SIX WORKER TEES · TWO INFRASTRUCTURE TEES · 24 FEDERATED ROUNDS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19</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cxnSp>
        <p:nvCxnSpPr>
          <p:cNvPr id="8" name="Connector 7"/>
          <p:cNvCxnSpPr/>
          <p:nvPr/>
        </p:nvCxnSpPr>
        <p:spPr>
          <a:xfrm>
            <a:off x="1664207" y="2148840"/>
            <a:ext cx="877825" cy="0"/>
          </a:xfrm>
          <a:prstGeom prst="line">
            <a:avLst/>
          </a:prstGeom>
          <a:ln w="1905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675887" y="2148840"/>
            <a:ext cx="877825" cy="0"/>
          </a:xfrm>
          <a:prstGeom prst="line">
            <a:avLst/>
          </a:prstGeom>
          <a:ln w="1905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87568" y="2148840"/>
            <a:ext cx="877824" cy="0"/>
          </a:xfrm>
          <a:prstGeom prst="line">
            <a:avLst/>
          </a:prstGeom>
          <a:ln w="1905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99248" y="2148840"/>
            <a:ext cx="877824" cy="0"/>
          </a:xfrm>
          <a:prstGeom prst="line">
            <a:avLst/>
          </a:prstGeom>
          <a:ln w="1905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710928" y="2148840"/>
            <a:ext cx="740664" cy="0"/>
          </a:xfrm>
          <a:prstGeom prst="line">
            <a:avLst/>
          </a:prstGeom>
          <a:ln w="1905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585215" y="1627632"/>
            <a:ext cx="1024128" cy="1024128"/>
          </a:xfrm>
          <a:prstGeom prst="ellipse">
            <a:avLst/>
          </a:prstGeom>
          <a:solidFill>
            <a:srgbClr val="EAF5FA"/>
          </a:solidFill>
          <a:ln w="2286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1901952"/>
            <a:ext cx="859536" cy="320040"/>
          </a:xfrm>
          <a:prstGeom prst="rect">
            <a:avLst/>
          </a:prstGeom>
          <a:noFill/>
        </p:spPr>
        <p:txBody>
          <a:bodyPr wrap="square" lIns="0" rIns="0" tIns="0" bIns="0" anchor="t">
            <a:spAutoFit/>
          </a:bodyPr>
          <a:lstStyle/>
          <a:p>
            <a:pPr algn="ctr"/>
            <a:r>
              <a:rPr sz="1650" b="1" lang="en-US">
                <a:solidFill>
                  <a:srgbClr val="1F90CC"/>
                </a:solidFill>
                <a:latin typeface="Arial"/>
              </a:rPr>
              <a:t>6</a:t>
            </a:r>
          </a:p>
        </p:txBody>
      </p:sp>
      <p:sp>
        <p:nvSpPr>
          <p:cNvPr id="15" name="TextBox 14"/>
          <p:cNvSpPr txBox="1"/>
          <p:nvPr/>
        </p:nvSpPr>
        <p:spPr>
          <a:xfrm>
            <a:off x="384047" y="2761488"/>
            <a:ext cx="1426464" cy="310896"/>
          </a:xfrm>
          <a:prstGeom prst="rect">
            <a:avLst/>
          </a:prstGeom>
          <a:noFill/>
        </p:spPr>
        <p:txBody>
          <a:bodyPr wrap="square" lIns="18288" rIns="18288" tIns="18288" bIns="18288" anchor="t">
            <a:spAutoFit/>
          </a:bodyPr>
          <a:lstStyle/>
          <a:p>
            <a:pPr algn="ctr"/>
            <a:r>
              <a:rPr sz="800" b="1" lang="en-US">
                <a:solidFill>
                  <a:srgbClr val="434343"/>
                </a:solidFill>
                <a:latin typeface="Arial"/>
              </a:rPr>
              <a:t>TEE WORKERS</a:t>
            </a:r>
          </a:p>
        </p:txBody>
      </p:sp>
      <p:sp>
        <p:nvSpPr>
          <p:cNvPr id="16" name="Oval 15"/>
          <p:cNvSpPr/>
          <p:nvPr/>
        </p:nvSpPr>
        <p:spPr>
          <a:xfrm>
            <a:off x="2596896" y="1627632"/>
            <a:ext cx="1024128" cy="1024128"/>
          </a:xfrm>
          <a:prstGeom prst="ellipse">
            <a:avLst/>
          </a:prstGeom>
          <a:solidFill>
            <a:srgbClr val="EAF6ED"/>
          </a:solidFill>
          <a:ln w="2286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679191" y="1901952"/>
            <a:ext cx="859536" cy="320040"/>
          </a:xfrm>
          <a:prstGeom prst="rect">
            <a:avLst/>
          </a:prstGeom>
          <a:noFill/>
        </p:spPr>
        <p:txBody>
          <a:bodyPr wrap="square" lIns="0" rIns="0" tIns="0" bIns="0" anchor="t">
            <a:spAutoFit/>
          </a:bodyPr>
          <a:lstStyle/>
          <a:p>
            <a:pPr algn="ctr"/>
            <a:r>
              <a:rPr sz="1200" b="1" lang="en-US">
                <a:solidFill>
                  <a:srgbClr val="2F8F46"/>
                </a:solidFill>
                <a:latin typeface="Arial"/>
              </a:rPr>
              <a:t>24/24</a:t>
            </a:r>
          </a:p>
        </p:txBody>
      </p:sp>
      <p:sp>
        <p:nvSpPr>
          <p:cNvPr id="18" name="TextBox 17"/>
          <p:cNvSpPr txBox="1"/>
          <p:nvPr/>
        </p:nvSpPr>
        <p:spPr>
          <a:xfrm>
            <a:off x="2395728" y="2761488"/>
            <a:ext cx="1426464" cy="310896"/>
          </a:xfrm>
          <a:prstGeom prst="rect">
            <a:avLst/>
          </a:prstGeom>
          <a:noFill/>
        </p:spPr>
        <p:txBody>
          <a:bodyPr wrap="square" lIns="18288" rIns="18288" tIns="18288" bIns="18288" anchor="t">
            <a:spAutoFit/>
          </a:bodyPr>
          <a:lstStyle/>
          <a:p>
            <a:pPr algn="ctr"/>
            <a:r>
              <a:rPr sz="800" b="1" lang="en-US">
                <a:solidFill>
                  <a:srgbClr val="434343"/>
                </a:solidFill>
                <a:latin typeface="Arial"/>
              </a:rPr>
              <a:t>ROUNDS</a:t>
            </a:r>
          </a:p>
        </p:txBody>
      </p:sp>
      <p:sp>
        <p:nvSpPr>
          <p:cNvPr id="19" name="Oval 18"/>
          <p:cNvSpPr/>
          <p:nvPr/>
        </p:nvSpPr>
        <p:spPr>
          <a:xfrm>
            <a:off x="4608575" y="1627632"/>
            <a:ext cx="1024128" cy="1024128"/>
          </a:xfrm>
          <a:prstGeom prst="ellipse">
            <a:avLst/>
          </a:prstGeom>
          <a:solidFill>
            <a:srgbClr val="FFF1E7"/>
          </a:solidFill>
          <a:ln w="2286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90872" y="1901952"/>
            <a:ext cx="859536" cy="320040"/>
          </a:xfrm>
          <a:prstGeom prst="rect">
            <a:avLst/>
          </a:prstGeom>
          <a:noFill/>
        </p:spPr>
        <p:txBody>
          <a:bodyPr wrap="square" lIns="0" rIns="0" tIns="0" bIns="0" anchor="t">
            <a:spAutoFit/>
          </a:bodyPr>
          <a:lstStyle/>
          <a:p>
            <a:pPr algn="ctr"/>
            <a:r>
              <a:rPr sz="1650" b="1" lang="en-US">
                <a:solidFill>
                  <a:srgbClr val="FF6C00"/>
                </a:solidFill>
                <a:latin typeface="Arial"/>
              </a:rPr>
              <a:t>5</a:t>
            </a:r>
          </a:p>
        </p:txBody>
      </p:sp>
      <p:sp>
        <p:nvSpPr>
          <p:cNvPr id="21" name="TextBox 20"/>
          <p:cNvSpPr txBox="1"/>
          <p:nvPr/>
        </p:nvSpPr>
        <p:spPr>
          <a:xfrm>
            <a:off x="4407407" y="2761488"/>
            <a:ext cx="1426464" cy="310896"/>
          </a:xfrm>
          <a:prstGeom prst="rect">
            <a:avLst/>
          </a:prstGeom>
          <a:noFill/>
        </p:spPr>
        <p:txBody>
          <a:bodyPr wrap="square" lIns="18288" rIns="18288" tIns="18288" bIns="18288" anchor="t">
            <a:spAutoFit/>
          </a:bodyPr>
          <a:lstStyle/>
          <a:p>
            <a:pPr algn="ctr"/>
            <a:r>
              <a:rPr sz="800" b="1" lang="en-US">
                <a:solidFill>
                  <a:srgbClr val="434343"/>
                </a:solidFill>
                <a:latin typeface="Arial"/>
              </a:rPr>
              <a:t>UPDATES / ROUND</a:t>
            </a:r>
          </a:p>
        </p:txBody>
      </p:sp>
      <p:sp>
        <p:nvSpPr>
          <p:cNvPr id="22" name="Oval 21"/>
          <p:cNvSpPr/>
          <p:nvPr/>
        </p:nvSpPr>
        <p:spPr>
          <a:xfrm>
            <a:off x="6620256" y="1627632"/>
            <a:ext cx="1024128" cy="1024128"/>
          </a:xfrm>
          <a:prstGeom prst="ellipse">
            <a:avLst/>
          </a:prstGeom>
          <a:solidFill>
            <a:srgbClr val="F3EBF9"/>
          </a:solidFill>
          <a:ln w="2286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02552" y="1901952"/>
            <a:ext cx="859536" cy="320040"/>
          </a:xfrm>
          <a:prstGeom prst="rect">
            <a:avLst/>
          </a:prstGeom>
          <a:noFill/>
        </p:spPr>
        <p:txBody>
          <a:bodyPr wrap="square" lIns="0" rIns="0" tIns="0" bIns="0" anchor="t">
            <a:spAutoFit/>
          </a:bodyPr>
          <a:lstStyle/>
          <a:p>
            <a:pPr algn="ctr"/>
            <a:r>
              <a:rPr sz="1650" b="1" lang="en-US">
                <a:solidFill>
                  <a:srgbClr val="7A35B5"/>
                </a:solidFill>
                <a:latin typeface="Arial"/>
              </a:rPr>
              <a:t>120</a:t>
            </a:r>
          </a:p>
        </p:txBody>
      </p:sp>
      <p:sp>
        <p:nvSpPr>
          <p:cNvPr id="24" name="TextBox 23"/>
          <p:cNvSpPr txBox="1"/>
          <p:nvPr/>
        </p:nvSpPr>
        <p:spPr>
          <a:xfrm>
            <a:off x="6419088" y="2761488"/>
            <a:ext cx="1426464" cy="310896"/>
          </a:xfrm>
          <a:prstGeom prst="rect">
            <a:avLst/>
          </a:prstGeom>
          <a:noFill/>
        </p:spPr>
        <p:txBody>
          <a:bodyPr wrap="square" lIns="18288" rIns="18288" tIns="18288" bIns="18288" anchor="t">
            <a:spAutoFit/>
          </a:bodyPr>
          <a:lstStyle/>
          <a:p>
            <a:pPr algn="ctr"/>
            <a:r>
              <a:rPr sz="800" b="1" lang="en-US">
                <a:solidFill>
                  <a:srgbClr val="434343"/>
                </a:solidFill>
                <a:latin typeface="Arial"/>
              </a:rPr>
              <a:t>TRAINS + TRANSFERS</a:t>
            </a:r>
          </a:p>
        </p:txBody>
      </p:sp>
      <p:sp>
        <p:nvSpPr>
          <p:cNvPr id="25" name="Oval 24"/>
          <p:cNvSpPr/>
          <p:nvPr/>
        </p:nvSpPr>
        <p:spPr>
          <a:xfrm>
            <a:off x="8631936" y="1627632"/>
            <a:ext cx="1024128" cy="1024128"/>
          </a:xfrm>
          <a:prstGeom prst="ellipse">
            <a:avLst/>
          </a:prstGeom>
          <a:solidFill>
            <a:srgbClr val="FBEAEC"/>
          </a:solidFill>
          <a:ln w="228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14232" y="1901952"/>
            <a:ext cx="859536" cy="320040"/>
          </a:xfrm>
          <a:prstGeom prst="rect">
            <a:avLst/>
          </a:prstGeom>
          <a:noFill/>
        </p:spPr>
        <p:txBody>
          <a:bodyPr wrap="square" lIns="0" rIns="0" tIns="0" bIns="0" anchor="t">
            <a:spAutoFit/>
          </a:bodyPr>
          <a:lstStyle/>
          <a:p>
            <a:pPr algn="ctr"/>
            <a:r>
              <a:rPr sz="1650" b="1" lang="en-US">
                <a:solidFill>
                  <a:srgbClr val="C40D1E"/>
                </a:solidFill>
                <a:latin typeface="Arial"/>
              </a:rPr>
              <a:t>0</a:t>
            </a:r>
          </a:p>
        </p:txBody>
      </p:sp>
      <p:sp>
        <p:nvSpPr>
          <p:cNvPr id="27" name="TextBox 26"/>
          <p:cNvSpPr txBox="1"/>
          <p:nvPr/>
        </p:nvSpPr>
        <p:spPr>
          <a:xfrm>
            <a:off x="8430768" y="2761488"/>
            <a:ext cx="1426464" cy="310896"/>
          </a:xfrm>
          <a:prstGeom prst="rect">
            <a:avLst/>
          </a:prstGeom>
          <a:noFill/>
        </p:spPr>
        <p:txBody>
          <a:bodyPr wrap="square" lIns="18288" rIns="18288" tIns="18288" bIns="18288" anchor="t">
            <a:spAutoFit/>
          </a:bodyPr>
          <a:lstStyle/>
          <a:p>
            <a:pPr algn="ctr"/>
            <a:r>
              <a:rPr sz="800" b="1" lang="en-US">
                <a:solidFill>
                  <a:srgbClr val="434343"/>
                </a:solidFill>
                <a:latin typeface="Arial"/>
              </a:rPr>
              <a:t>ABORTED ATTEMPTS</a:t>
            </a:r>
          </a:p>
        </p:txBody>
      </p:sp>
      <p:sp>
        <p:nvSpPr>
          <p:cNvPr id="28" name="Oval 27"/>
          <p:cNvSpPr/>
          <p:nvPr/>
        </p:nvSpPr>
        <p:spPr>
          <a:xfrm>
            <a:off x="10506456" y="1627632"/>
            <a:ext cx="1024128" cy="1024128"/>
          </a:xfrm>
          <a:prstGeom prst="ellipse">
            <a:avLst/>
          </a:prstGeom>
          <a:solidFill>
            <a:srgbClr val="F3F3F3"/>
          </a:solidFill>
          <a:ln w="2286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88752" y="1901952"/>
            <a:ext cx="859536" cy="320040"/>
          </a:xfrm>
          <a:prstGeom prst="rect">
            <a:avLst/>
          </a:prstGeom>
          <a:noFill/>
        </p:spPr>
        <p:txBody>
          <a:bodyPr wrap="square" lIns="0" rIns="0" tIns="0" bIns="0" anchor="t">
            <a:spAutoFit/>
          </a:bodyPr>
          <a:lstStyle/>
          <a:p>
            <a:pPr algn="ctr"/>
            <a:r>
              <a:rPr sz="1650" b="1" lang="en-US">
                <a:solidFill>
                  <a:srgbClr val="434343"/>
                </a:solidFill>
                <a:latin typeface="Arial"/>
              </a:rPr>
              <a:t>0</a:t>
            </a:r>
          </a:p>
        </p:txBody>
      </p:sp>
      <p:sp>
        <p:nvSpPr>
          <p:cNvPr id="30" name="TextBox 29"/>
          <p:cNvSpPr txBox="1"/>
          <p:nvPr/>
        </p:nvSpPr>
        <p:spPr>
          <a:xfrm>
            <a:off x="10305288" y="2761488"/>
            <a:ext cx="1426464" cy="310896"/>
          </a:xfrm>
          <a:prstGeom prst="rect">
            <a:avLst/>
          </a:prstGeom>
          <a:noFill/>
        </p:spPr>
        <p:txBody>
          <a:bodyPr wrap="square" lIns="18288" rIns="18288" tIns="18288" bIns="18288" anchor="t">
            <a:spAutoFit/>
          </a:bodyPr>
          <a:lstStyle/>
          <a:p>
            <a:pPr algn="ctr"/>
            <a:r>
              <a:rPr sz="800" b="1" lang="en-US">
                <a:solidFill>
                  <a:srgbClr val="434343"/>
                </a:solidFill>
                <a:latin typeface="Arial"/>
              </a:rPr>
              <a:t>GAP RECOVERIES</a:t>
            </a:r>
          </a:p>
        </p:txBody>
      </p:sp>
      <p:sp>
        <p:nvSpPr>
          <p:cNvPr id="31" name="Rounded Rectangle 30"/>
          <p:cNvSpPr/>
          <p:nvPr/>
        </p:nvSpPr>
        <p:spPr>
          <a:xfrm>
            <a:off x="621792" y="3310128"/>
            <a:ext cx="3456432" cy="1353312"/>
          </a:xfrm>
          <a:prstGeom prst="roundRect">
            <a:avLst/>
          </a:prstGeom>
          <a:solidFill>
            <a:srgbClr val="EAF5FA"/>
          </a:solidFill>
          <a:ln w="1651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3529584"/>
            <a:ext cx="1060704" cy="201168"/>
          </a:xfrm>
          <a:prstGeom prst="rect">
            <a:avLst/>
          </a:prstGeom>
          <a:noFill/>
        </p:spPr>
        <p:txBody>
          <a:bodyPr wrap="square" lIns="18288" rIns="18288" tIns="18288" bIns="18288" anchor="t">
            <a:spAutoFit/>
          </a:bodyPr>
          <a:lstStyle/>
          <a:p>
            <a:pPr algn="l"/>
            <a:r>
              <a:rPr sz="1000" b="1" lang="en-US">
                <a:solidFill>
                  <a:srgbClr val="1F90CC"/>
                </a:solidFill>
                <a:latin typeface="Arial"/>
              </a:rPr>
              <a:t>RUN CLOCK</a:t>
            </a:r>
          </a:p>
        </p:txBody>
      </p:sp>
      <p:sp>
        <p:nvSpPr>
          <p:cNvPr id="33" name="TextBox 32"/>
          <p:cNvSpPr txBox="1"/>
          <p:nvPr/>
        </p:nvSpPr>
        <p:spPr>
          <a:xfrm>
            <a:off x="859536" y="3849624"/>
            <a:ext cx="2724912" cy="274320"/>
          </a:xfrm>
          <a:prstGeom prst="rect">
            <a:avLst/>
          </a:prstGeom>
          <a:noFill/>
        </p:spPr>
        <p:txBody>
          <a:bodyPr wrap="square" lIns="18288" rIns="18288" tIns="18288" bIns="18288" anchor="t">
            <a:spAutoFit/>
          </a:bodyPr>
          <a:lstStyle/>
          <a:p>
            <a:pPr algn="l"/>
            <a:r>
              <a:rPr sz="1800" b="1" lang="en-US">
                <a:solidFill>
                  <a:srgbClr val="434343"/>
                </a:solidFill>
                <a:latin typeface="Arial"/>
              </a:rPr>
              <a:t>11.49 min</a:t>
            </a:r>
          </a:p>
        </p:txBody>
      </p:sp>
      <p:sp>
        <p:nvSpPr>
          <p:cNvPr id="34" name="TextBox 33"/>
          <p:cNvSpPr txBox="1"/>
          <p:nvPr/>
        </p:nvSpPr>
        <p:spPr>
          <a:xfrm>
            <a:off x="859536" y="4251960"/>
            <a:ext cx="2834640" cy="201168"/>
          </a:xfrm>
          <a:prstGeom prst="rect">
            <a:avLst/>
          </a:prstGeom>
          <a:noFill/>
        </p:spPr>
        <p:txBody>
          <a:bodyPr wrap="square" lIns="18288" rIns="18288" tIns="18288" bIns="18288" anchor="t">
            <a:spAutoFit/>
          </a:bodyPr>
          <a:lstStyle/>
          <a:p>
            <a:pPr algn="l"/>
            <a:r>
              <a:rPr sz="919" b="0" lang="en-US">
                <a:solidFill>
                  <a:srgbClr val="434343"/>
                </a:solidFill>
                <a:latin typeface="Arial"/>
              </a:rPr>
              <a:t>29.97 s mean evaluation interval</a:t>
            </a:r>
          </a:p>
        </p:txBody>
      </p:sp>
      <p:sp>
        <p:nvSpPr>
          <p:cNvPr id="35" name="Rounded Rectangle 34"/>
          <p:cNvSpPr/>
          <p:nvPr/>
        </p:nvSpPr>
        <p:spPr>
          <a:xfrm>
            <a:off x="4370832" y="3310128"/>
            <a:ext cx="3456432" cy="1353312"/>
          </a:xfrm>
          <a:prstGeom prst="roundRect">
            <a:avLst/>
          </a:prstGeom>
          <a:solidFill>
            <a:srgbClr val="F3EBF9"/>
          </a:solidFill>
          <a:ln w="1651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608576" y="3529584"/>
            <a:ext cx="2633472" cy="201168"/>
          </a:xfrm>
          <a:prstGeom prst="rect">
            <a:avLst/>
          </a:prstGeom>
          <a:noFill/>
        </p:spPr>
        <p:txBody>
          <a:bodyPr wrap="square" lIns="18288" rIns="18288" tIns="18288" bIns="18288" anchor="t">
            <a:spAutoFit/>
          </a:bodyPr>
          <a:lstStyle/>
          <a:p>
            <a:pPr algn="l"/>
            <a:r>
              <a:rPr sz="1000" b="1" lang="en-US">
                <a:solidFill>
                  <a:srgbClr val="7A35B5"/>
                </a:solidFill>
                <a:latin typeface="Arial"/>
              </a:rPr>
              <a:t>ROUND-25 TEE INFERENCE</a:t>
            </a:r>
          </a:p>
        </p:txBody>
      </p:sp>
      <p:sp>
        <p:nvSpPr>
          <p:cNvPr id="37" name="TextBox 36"/>
          <p:cNvSpPr txBox="1"/>
          <p:nvPr/>
        </p:nvSpPr>
        <p:spPr>
          <a:xfrm>
            <a:off x="4608576" y="3849624"/>
            <a:ext cx="1408176" cy="274320"/>
          </a:xfrm>
          <a:prstGeom prst="rect">
            <a:avLst/>
          </a:prstGeom>
          <a:noFill/>
        </p:spPr>
        <p:txBody>
          <a:bodyPr wrap="square" lIns="18288" rIns="18288" tIns="18288" bIns="18288" anchor="t">
            <a:spAutoFit/>
          </a:bodyPr>
          <a:lstStyle/>
          <a:p>
            <a:pPr algn="l"/>
            <a:r>
              <a:rPr sz="1800" b="1" lang="en-US">
                <a:solidFill>
                  <a:srgbClr val="434343"/>
                </a:solidFill>
                <a:latin typeface="Arial"/>
              </a:rPr>
              <a:t>2.839 ms</a:t>
            </a:r>
          </a:p>
        </p:txBody>
      </p:sp>
      <p:sp>
        <p:nvSpPr>
          <p:cNvPr id="38" name="TextBox 37"/>
          <p:cNvSpPr txBox="1"/>
          <p:nvPr/>
        </p:nvSpPr>
        <p:spPr>
          <a:xfrm>
            <a:off x="4608576" y="4251960"/>
            <a:ext cx="2871216" cy="201168"/>
          </a:xfrm>
          <a:prstGeom prst="rect">
            <a:avLst/>
          </a:prstGeom>
          <a:noFill/>
        </p:spPr>
        <p:txBody>
          <a:bodyPr wrap="square" lIns="18288" rIns="18288" tIns="18288" bIns="18288" anchor="t">
            <a:spAutoFit/>
          </a:bodyPr>
          <a:lstStyle/>
          <a:p>
            <a:pPr algn="l"/>
            <a:r>
              <a:rPr sz="919" b="0" lang="en-US">
                <a:solidFill>
                  <a:srgbClr val="434343"/>
                </a:solidFill>
                <a:latin typeface="Arial"/>
              </a:rPr>
              <a:t>5,010 B quote · 10 RTMR3 events</a:t>
            </a:r>
          </a:p>
        </p:txBody>
      </p:sp>
      <p:sp>
        <p:nvSpPr>
          <p:cNvPr id="39" name="Rounded Rectangle 38"/>
          <p:cNvSpPr/>
          <p:nvPr/>
        </p:nvSpPr>
        <p:spPr>
          <a:xfrm>
            <a:off x="8119872" y="3310128"/>
            <a:ext cx="3456432" cy="1353312"/>
          </a:xfrm>
          <a:prstGeom prst="roundRect">
            <a:avLst/>
          </a:prstGeom>
          <a:solidFill>
            <a:srgbClr val="FFF1E7"/>
          </a:solidFill>
          <a:ln w="1651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357616" y="3529584"/>
            <a:ext cx="2779776" cy="201168"/>
          </a:xfrm>
          <a:prstGeom prst="rect">
            <a:avLst/>
          </a:prstGeom>
          <a:noFill/>
        </p:spPr>
        <p:txBody>
          <a:bodyPr wrap="square" lIns="18288" rIns="18288" tIns="18288" bIns="18288" anchor="t">
            <a:spAutoFit/>
          </a:bodyPr>
          <a:lstStyle/>
          <a:p>
            <a:pPr algn="l"/>
            <a:r>
              <a:rPr sz="960" b="1" lang="en-US">
                <a:solidFill>
                  <a:srgbClr val="FF6C00"/>
                </a:solidFill>
                <a:latin typeface="Arial"/>
              </a:rPr>
              <a:t>ANVIL GAS ACCOUNTING</a:t>
            </a:r>
          </a:p>
        </p:txBody>
      </p:sp>
      <p:sp>
        <p:nvSpPr>
          <p:cNvPr id="41" name="TextBox 40"/>
          <p:cNvSpPr txBox="1"/>
          <p:nvPr/>
        </p:nvSpPr>
        <p:spPr>
          <a:xfrm>
            <a:off x="8357616" y="3822191"/>
            <a:ext cx="2834640" cy="292608"/>
          </a:xfrm>
          <a:prstGeom prst="rect">
            <a:avLst/>
          </a:prstGeom>
          <a:noFill/>
        </p:spPr>
        <p:txBody>
          <a:bodyPr wrap="square" lIns="18288" rIns="18288" tIns="18288" bIns="18288" anchor="t">
            <a:spAutoFit/>
          </a:bodyPr>
          <a:lstStyle/>
          <a:p>
            <a:pPr algn="l"/>
            <a:r>
              <a:rPr sz="1700" b="1" lang="en-US">
                <a:solidFill>
                  <a:srgbClr val="434343"/>
                </a:solidFill>
                <a:latin typeface="Arial"/>
              </a:rPr>
              <a:t>616,141,147 gas</a:t>
            </a:r>
          </a:p>
        </p:txBody>
      </p:sp>
      <p:sp>
        <p:nvSpPr>
          <p:cNvPr id="42" name="TextBox 41"/>
          <p:cNvSpPr txBox="1"/>
          <p:nvPr/>
        </p:nvSpPr>
        <p:spPr>
          <a:xfrm>
            <a:off x="8357616" y="4251960"/>
            <a:ext cx="2871216" cy="201168"/>
          </a:xfrm>
          <a:prstGeom prst="rect">
            <a:avLst/>
          </a:prstGeom>
          <a:noFill/>
        </p:spPr>
        <p:txBody>
          <a:bodyPr wrap="square" lIns="18288" rIns="18288" tIns="18288" bIns="18288" anchor="t">
            <a:spAutoFit/>
          </a:bodyPr>
          <a:lstStyle/>
          <a:p>
            <a:pPr algn="l"/>
            <a:r>
              <a:rPr sz="880" b="0" lang="en-US">
                <a:solidFill>
                  <a:srgbClr val="434343"/>
                </a:solidFill>
                <a:latin typeface="Arial"/>
              </a:rPr>
              <a:t>6/6 registrations · 472,240,960 gas</a:t>
            </a:r>
          </a:p>
        </p:txBody>
      </p:sp>
      <p:sp>
        <p:nvSpPr>
          <p:cNvPr id="43" name="Rounded Rectangle 42"/>
          <p:cNvSpPr/>
          <p:nvPr/>
        </p:nvSpPr>
        <p:spPr>
          <a:xfrm>
            <a:off x="621792" y="4882896"/>
            <a:ext cx="3310128" cy="658368"/>
          </a:xfrm>
          <a:prstGeom prst="roundRect">
            <a:avLst/>
          </a:prstGeom>
          <a:solidFill>
            <a:srgbClr val="FBEAEC"/>
          </a:solidFill>
          <a:ln w="152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68096" y="5001768"/>
            <a:ext cx="3017520" cy="164592"/>
          </a:xfrm>
          <a:prstGeom prst="rect">
            <a:avLst/>
          </a:prstGeom>
          <a:noFill/>
        </p:spPr>
        <p:txBody>
          <a:bodyPr wrap="square" lIns="18288" rIns="18288" tIns="18288" bIns="18288" anchor="t">
            <a:spAutoFit/>
          </a:bodyPr>
          <a:lstStyle/>
          <a:p>
            <a:pPr algn="ctr"/>
            <a:r>
              <a:rPr sz="850" b="1" lang="en-US">
                <a:solidFill>
                  <a:srgbClr val="C40D1E"/>
                </a:solidFill>
                <a:latin typeface="Arial"/>
              </a:rPr>
              <a:t>RUN CAPACITY</a:t>
            </a:r>
          </a:p>
        </p:txBody>
      </p:sp>
      <p:sp>
        <p:nvSpPr>
          <p:cNvPr id="45" name="TextBox 44"/>
          <p:cNvSpPr txBox="1"/>
          <p:nvPr/>
        </p:nvSpPr>
        <p:spPr>
          <a:xfrm>
            <a:off x="768096" y="5230368"/>
            <a:ext cx="3017520" cy="182880"/>
          </a:xfrm>
          <a:prstGeom prst="rect">
            <a:avLst/>
          </a:prstGeom>
          <a:noFill/>
        </p:spPr>
        <p:txBody>
          <a:bodyPr wrap="square" lIns="18288" rIns="18288" tIns="18288" bIns="18288" anchor="t">
            <a:spAutoFit/>
          </a:bodyPr>
          <a:lstStyle/>
          <a:p>
            <a:pPr algn="ctr"/>
            <a:r>
              <a:rPr sz="850" b="1" lang="en-US">
                <a:solidFill>
                  <a:srgbClr val="434343"/>
                </a:solidFill>
                <a:latin typeface="Arial"/>
              </a:rPr>
              <a:t>Tier 1: at most 8 active TEEs</a:t>
            </a:r>
          </a:p>
        </p:txBody>
      </p:sp>
      <p:sp>
        <p:nvSpPr>
          <p:cNvPr id="46" name="Rounded Rectangle 45"/>
          <p:cNvSpPr/>
          <p:nvPr/>
        </p:nvSpPr>
        <p:spPr>
          <a:xfrm>
            <a:off x="4151376" y="4882896"/>
            <a:ext cx="3310128" cy="658368"/>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297680" y="5001768"/>
            <a:ext cx="3017520" cy="164592"/>
          </a:xfrm>
          <a:prstGeom prst="rect">
            <a:avLst/>
          </a:prstGeom>
          <a:noFill/>
        </p:spPr>
        <p:txBody>
          <a:bodyPr wrap="square" lIns="18288" rIns="18288" tIns="18288" bIns="18288" anchor="t">
            <a:spAutoFit/>
          </a:bodyPr>
          <a:lstStyle/>
          <a:p>
            <a:pPr algn="ctr"/>
            <a:r>
              <a:rPr sz="850" b="1" lang="en-US">
                <a:solidFill>
                  <a:srgbClr val="2F8F46"/>
                </a:solidFill>
                <a:latin typeface="Arial"/>
              </a:rPr>
              <a:t>TRAINING</a:t>
            </a:r>
          </a:p>
        </p:txBody>
      </p:sp>
      <p:sp>
        <p:nvSpPr>
          <p:cNvPr id="48" name="TextBox 47"/>
          <p:cNvSpPr txBox="1"/>
          <p:nvPr/>
        </p:nvSpPr>
        <p:spPr>
          <a:xfrm>
            <a:off x="4297680" y="5230368"/>
            <a:ext cx="3017520" cy="182880"/>
          </a:xfrm>
          <a:prstGeom prst="rect">
            <a:avLst/>
          </a:prstGeom>
          <a:noFill/>
        </p:spPr>
        <p:txBody>
          <a:bodyPr wrap="square" lIns="18288" rIns="18288" tIns="18288" bIns="18288" anchor="t">
            <a:spAutoFit/>
          </a:bodyPr>
          <a:lstStyle/>
          <a:p>
            <a:pPr algn="ctr"/>
            <a:r>
              <a:rPr sz="850" b="1" lang="en-US">
                <a:solidFill>
                  <a:srgbClr val="434343"/>
                </a:solidFill>
                <a:latin typeface="Arial"/>
              </a:rPr>
              <a:t>6 workers · 6 × 13,078 = 78,468 samples</a:t>
            </a:r>
          </a:p>
        </p:txBody>
      </p:sp>
      <p:sp>
        <p:nvSpPr>
          <p:cNvPr id="49" name="Rounded Rectangle 48"/>
          <p:cNvSpPr/>
          <p:nvPr/>
        </p:nvSpPr>
        <p:spPr>
          <a:xfrm>
            <a:off x="7680960" y="4882896"/>
            <a:ext cx="3310128" cy="658368"/>
          </a:xfrm>
          <a:prstGeom prst="roundRect">
            <a:avLst/>
          </a:prstGeom>
          <a:solidFill>
            <a:srgbClr val="F3EBF9"/>
          </a:solidFill>
          <a:ln w="1524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827264" y="5001768"/>
            <a:ext cx="3017520" cy="164592"/>
          </a:xfrm>
          <a:prstGeom prst="rect">
            <a:avLst/>
          </a:prstGeom>
          <a:noFill/>
        </p:spPr>
        <p:txBody>
          <a:bodyPr wrap="square" lIns="18288" rIns="18288" tIns="18288" bIns="18288" anchor="t">
            <a:spAutoFit/>
          </a:bodyPr>
          <a:lstStyle/>
          <a:p>
            <a:pPr algn="ctr"/>
            <a:r>
              <a:rPr sz="850" b="1" lang="en-US">
                <a:solidFill>
                  <a:srgbClr val="7A35B5"/>
                </a:solidFill>
                <a:latin typeface="Arial"/>
              </a:rPr>
              <a:t>INFRASTRUCTURE</a:t>
            </a:r>
          </a:p>
        </p:txBody>
      </p:sp>
      <p:sp>
        <p:nvSpPr>
          <p:cNvPr id="51" name="TextBox 50"/>
          <p:cNvSpPr txBox="1"/>
          <p:nvPr/>
        </p:nvSpPr>
        <p:spPr>
          <a:xfrm>
            <a:off x="7827264" y="5230368"/>
            <a:ext cx="3017520" cy="182880"/>
          </a:xfrm>
          <a:prstGeom prst="rect">
            <a:avLst/>
          </a:prstGeom>
          <a:noFill/>
        </p:spPr>
        <p:txBody>
          <a:bodyPr wrap="square" lIns="18288" rIns="18288" tIns="18288" bIns="18288" anchor="t">
            <a:spAutoFit/>
          </a:bodyPr>
          <a:lstStyle/>
          <a:p>
            <a:pPr algn="ctr"/>
            <a:r>
              <a:rPr sz="850" b="1" lang="en-US">
                <a:solidFill>
                  <a:srgbClr val="434343"/>
                </a:solidFill>
                <a:latin typeface="Arial"/>
              </a:rPr>
              <a:t>2 CVMs · contract/control runtime + Ollama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What changed over the 24 federated rounds?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EQUAL-WEIGHT FEDAVG · FIVE COMPLEMENTARY VIEWS OF MODEL BEHAVIOR</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20</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411480" y="1307592"/>
            <a:ext cx="3703320" cy="1920240"/>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21208" y="1399032"/>
            <a:ext cx="3483863"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Unweighted test BCE</a:t>
            </a:r>
          </a:p>
        </p:txBody>
      </p:sp>
      <p:sp>
        <p:nvSpPr>
          <p:cNvPr id="10" name="TextBox 9"/>
          <p:cNvSpPr txBox="1"/>
          <p:nvPr/>
        </p:nvSpPr>
        <p:spPr>
          <a:xfrm>
            <a:off x="557784" y="1627631"/>
            <a:ext cx="3410712" cy="246888"/>
          </a:xfrm>
          <a:prstGeom prst="rect">
            <a:avLst/>
          </a:prstGeom>
          <a:noFill/>
        </p:spPr>
        <p:txBody>
          <a:bodyPr wrap="square" lIns="0" rIns="0" tIns="0" bIns="0" anchor="ctr">
            <a:spAutoFit/>
          </a:bodyPr>
          <a:lstStyle/>
          <a:p>
            <a:pPr algn="ctr"/>
            <a:r>
              <a:rPr sz="720" b="1" lang="en-US">
                <a:solidFill>
                  <a:srgbClr val="686868"/>
                </a:solidFill>
                <a:latin typeface="Arial"/>
              </a:rPr>
              <a:t>Lower is better · best 0.330 at global round 24</a:t>
            </a:r>
          </a:p>
        </p:txBody>
      </p:sp>
      <p:cxnSp>
        <p:nvCxnSpPr>
          <p:cNvPr id="11" name="Connector 10"/>
          <p:cNvCxnSpPr/>
          <p:nvPr/>
        </p:nvCxnSpPr>
        <p:spPr>
          <a:xfrm>
            <a:off x="886968" y="2734056"/>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48056" y="2660904"/>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0.30</a:t>
            </a:r>
          </a:p>
        </p:txBody>
      </p:sp>
      <p:cxnSp>
        <p:nvCxnSpPr>
          <p:cNvPr id="13" name="Connector 12"/>
          <p:cNvCxnSpPr/>
          <p:nvPr/>
        </p:nvCxnSpPr>
        <p:spPr>
          <a:xfrm>
            <a:off x="886968" y="2553462"/>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48056" y="2480310"/>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0.33</a:t>
            </a:r>
          </a:p>
        </p:txBody>
      </p:sp>
      <p:cxnSp>
        <p:nvCxnSpPr>
          <p:cNvPr id="15" name="Connector 14"/>
          <p:cNvCxnSpPr/>
          <p:nvPr/>
        </p:nvCxnSpPr>
        <p:spPr>
          <a:xfrm>
            <a:off x="886968" y="2372868"/>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48056" y="2299716"/>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0.36</a:t>
            </a:r>
          </a:p>
        </p:txBody>
      </p:sp>
      <p:cxnSp>
        <p:nvCxnSpPr>
          <p:cNvPr id="17" name="Connector 16"/>
          <p:cNvCxnSpPr/>
          <p:nvPr/>
        </p:nvCxnSpPr>
        <p:spPr>
          <a:xfrm>
            <a:off x="886968" y="2192274"/>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48056" y="2119122"/>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0.39</a:t>
            </a:r>
          </a:p>
        </p:txBody>
      </p:sp>
      <p:cxnSp>
        <p:nvCxnSpPr>
          <p:cNvPr id="19" name="Connector 18"/>
          <p:cNvCxnSpPr/>
          <p:nvPr/>
        </p:nvCxnSpPr>
        <p:spPr>
          <a:xfrm>
            <a:off x="886968" y="2011680"/>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48056" y="1938528"/>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0.42</a:t>
            </a:r>
          </a:p>
        </p:txBody>
      </p:sp>
      <p:sp>
        <p:nvSpPr>
          <p:cNvPr id="21" name="TextBox 20"/>
          <p:cNvSpPr txBox="1"/>
          <p:nvPr/>
        </p:nvSpPr>
        <p:spPr>
          <a:xfrm>
            <a:off x="886968" y="2944368"/>
            <a:ext cx="3044952" cy="137160"/>
          </a:xfrm>
          <a:prstGeom prst="rect">
            <a:avLst/>
          </a:prstGeom>
          <a:noFill/>
        </p:spPr>
        <p:txBody>
          <a:bodyPr wrap="square" lIns="0" rIns="0" tIns="0" bIns="0" anchor="ctr">
            <a:spAutoFit/>
          </a:bodyPr>
          <a:lstStyle/>
          <a:p>
            <a:pPr algn="ctr"/>
            <a:r>
              <a:rPr sz="720" b="0" lang="en-US">
                <a:solidFill>
                  <a:srgbClr val="686868"/>
                </a:solidFill>
                <a:latin typeface="Arial"/>
              </a:rPr>
              <a:t>Global model round</a:t>
            </a:r>
          </a:p>
        </p:txBody>
      </p:sp>
      <p:cxnSp>
        <p:nvCxnSpPr>
          <p:cNvPr id="22" name="Connector 21"/>
          <p:cNvCxnSpPr/>
          <p:nvPr/>
        </p:nvCxnSpPr>
        <p:spPr>
          <a:xfrm>
            <a:off x="886968"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22376"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24" name="Connector 23"/>
          <p:cNvCxnSpPr/>
          <p:nvPr/>
        </p:nvCxnSpPr>
        <p:spPr>
          <a:xfrm>
            <a:off x="1416524"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251932"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6</a:t>
            </a:r>
          </a:p>
        </p:txBody>
      </p:sp>
      <p:cxnSp>
        <p:nvCxnSpPr>
          <p:cNvPr id="26" name="Connector 25"/>
          <p:cNvCxnSpPr/>
          <p:nvPr/>
        </p:nvCxnSpPr>
        <p:spPr>
          <a:xfrm>
            <a:off x="2078470"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913878"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11</a:t>
            </a:r>
          </a:p>
        </p:txBody>
      </p:sp>
      <p:cxnSp>
        <p:nvCxnSpPr>
          <p:cNvPr id="28" name="Connector 27"/>
          <p:cNvCxnSpPr/>
          <p:nvPr/>
        </p:nvCxnSpPr>
        <p:spPr>
          <a:xfrm>
            <a:off x="3005195"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840603"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18</a:t>
            </a:r>
          </a:p>
        </p:txBody>
      </p:sp>
      <p:cxnSp>
        <p:nvCxnSpPr>
          <p:cNvPr id="30" name="Connector 29"/>
          <p:cNvCxnSpPr/>
          <p:nvPr/>
        </p:nvCxnSpPr>
        <p:spPr>
          <a:xfrm>
            <a:off x="3931920"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3767328"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25</a:t>
            </a:r>
          </a:p>
        </p:txBody>
      </p:sp>
      <p:cxnSp>
        <p:nvCxnSpPr>
          <p:cNvPr id="32" name="Connector 31"/>
          <p:cNvCxnSpPr/>
          <p:nvPr/>
        </p:nvCxnSpPr>
        <p:spPr>
          <a:xfrm>
            <a:off x="886968" y="2011680"/>
            <a:ext cx="0" cy="722376"/>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86968" y="2734056"/>
            <a:ext cx="3044952"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86968" y="2046906"/>
            <a:ext cx="132389" cy="303210"/>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19357" y="2350116"/>
            <a:ext cx="132389" cy="45148"/>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151746" y="2395264"/>
            <a:ext cx="132389" cy="63430"/>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284135" y="2437215"/>
            <a:ext cx="132389" cy="21479"/>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416524" y="2437215"/>
            <a:ext cx="132390" cy="51687"/>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548914" y="2488902"/>
            <a:ext cx="132389" cy="16566"/>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681303" y="2505468"/>
            <a:ext cx="132389" cy="49345"/>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813692" y="2471035"/>
            <a:ext cx="132389" cy="83778"/>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946081" y="2471035"/>
            <a:ext cx="132389" cy="1420"/>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2078470" y="2471661"/>
            <a:ext cx="132390" cy="794"/>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2210860" y="2464425"/>
            <a:ext cx="132389" cy="7236"/>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2343249" y="2464425"/>
            <a:ext cx="132389" cy="24541"/>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2475638" y="2488966"/>
            <a:ext cx="132389" cy="56682"/>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2608027" y="2490208"/>
            <a:ext cx="132390" cy="55440"/>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2740417" y="2490208"/>
            <a:ext cx="132389" cy="25124"/>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2872806" y="2515332"/>
            <a:ext cx="132389" cy="15418"/>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3005195" y="2530750"/>
            <a:ext cx="132389" cy="11761"/>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3137584" y="2523027"/>
            <a:ext cx="132389" cy="19484"/>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3269973" y="2523027"/>
            <a:ext cx="132390" cy="16087"/>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3402363" y="2518557"/>
            <a:ext cx="132389" cy="20557"/>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3534752" y="2518557"/>
            <a:ext cx="132389" cy="22683"/>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3667141" y="2541240"/>
            <a:ext cx="132389" cy="13828"/>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3799530" y="2538148"/>
            <a:ext cx="132390" cy="16920"/>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sp>
        <p:nvSpPr>
          <p:cNvPr id="57" name="Oval 56"/>
          <p:cNvSpPr/>
          <p:nvPr/>
        </p:nvSpPr>
        <p:spPr>
          <a:xfrm>
            <a:off x="845819" y="2005758"/>
            <a:ext cx="82296" cy="82296"/>
          </a:xfrm>
          <a:prstGeom prst="ellipse">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3890772" y="2497000"/>
            <a:ext cx="82296" cy="82296"/>
          </a:xfrm>
          <a:prstGeom prst="ellipse">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4242816" y="1307592"/>
            <a:ext cx="3703320" cy="1920240"/>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352544" y="1399032"/>
            <a:ext cx="3483863"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Macro AUROC</a:t>
            </a:r>
          </a:p>
        </p:txBody>
      </p:sp>
      <p:sp>
        <p:nvSpPr>
          <p:cNvPr id="61" name="TextBox 60"/>
          <p:cNvSpPr txBox="1"/>
          <p:nvPr/>
        </p:nvSpPr>
        <p:spPr>
          <a:xfrm>
            <a:off x="4389120" y="1627631"/>
            <a:ext cx="3410712" cy="246888"/>
          </a:xfrm>
          <a:prstGeom prst="rect">
            <a:avLst/>
          </a:prstGeom>
          <a:noFill/>
        </p:spPr>
        <p:txBody>
          <a:bodyPr wrap="square" lIns="0" rIns="0" tIns="0" bIns="0" anchor="ctr">
            <a:spAutoFit/>
          </a:bodyPr>
          <a:lstStyle/>
          <a:p>
            <a:pPr algn="ctr"/>
            <a:r>
              <a:rPr sz="720" b="1" lang="en-US">
                <a:solidFill>
                  <a:srgbClr val="686868"/>
                </a:solidFill>
                <a:latin typeface="Arial"/>
              </a:rPr>
              <a:t>Higher is better · best 0.720 at global round 13</a:t>
            </a:r>
          </a:p>
        </p:txBody>
      </p:sp>
      <p:cxnSp>
        <p:nvCxnSpPr>
          <p:cNvPr id="62" name="Connector 61"/>
          <p:cNvCxnSpPr/>
          <p:nvPr/>
        </p:nvCxnSpPr>
        <p:spPr>
          <a:xfrm>
            <a:off x="4718304" y="2676265"/>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4279392" y="2603113"/>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0.50</a:t>
            </a:r>
          </a:p>
        </p:txBody>
      </p:sp>
      <p:cxnSp>
        <p:nvCxnSpPr>
          <p:cNvPr id="64" name="Connector 63"/>
          <p:cNvCxnSpPr/>
          <p:nvPr/>
        </p:nvCxnSpPr>
        <p:spPr>
          <a:xfrm>
            <a:off x="4718304" y="2387315"/>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4279392" y="2314163"/>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0.60</a:t>
            </a:r>
          </a:p>
        </p:txBody>
      </p:sp>
      <p:cxnSp>
        <p:nvCxnSpPr>
          <p:cNvPr id="66" name="Connector 65"/>
          <p:cNvCxnSpPr/>
          <p:nvPr/>
        </p:nvCxnSpPr>
        <p:spPr>
          <a:xfrm>
            <a:off x="4718304" y="2242840"/>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279392" y="2169688"/>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0.65</a:t>
            </a:r>
          </a:p>
        </p:txBody>
      </p:sp>
      <p:cxnSp>
        <p:nvCxnSpPr>
          <p:cNvPr id="68" name="Connector 67"/>
          <p:cNvCxnSpPr/>
          <p:nvPr/>
        </p:nvCxnSpPr>
        <p:spPr>
          <a:xfrm>
            <a:off x="4718304" y="2098365"/>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4279392" y="2025213"/>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0.70</a:t>
            </a:r>
          </a:p>
        </p:txBody>
      </p:sp>
      <p:sp>
        <p:nvSpPr>
          <p:cNvPr id="70" name="TextBox 69"/>
          <p:cNvSpPr txBox="1"/>
          <p:nvPr/>
        </p:nvSpPr>
        <p:spPr>
          <a:xfrm>
            <a:off x="4718304" y="2944368"/>
            <a:ext cx="3044952" cy="137160"/>
          </a:xfrm>
          <a:prstGeom prst="rect">
            <a:avLst/>
          </a:prstGeom>
          <a:noFill/>
        </p:spPr>
        <p:txBody>
          <a:bodyPr wrap="square" lIns="0" rIns="0" tIns="0" bIns="0" anchor="ctr">
            <a:spAutoFit/>
          </a:bodyPr>
          <a:lstStyle/>
          <a:p>
            <a:pPr algn="ctr"/>
            <a:r>
              <a:rPr sz="720" b="0" lang="en-US">
                <a:solidFill>
                  <a:srgbClr val="686868"/>
                </a:solidFill>
                <a:latin typeface="Arial"/>
              </a:rPr>
              <a:t>Global model round</a:t>
            </a:r>
          </a:p>
        </p:txBody>
      </p:sp>
      <p:cxnSp>
        <p:nvCxnSpPr>
          <p:cNvPr id="71" name="Connector 70"/>
          <p:cNvCxnSpPr/>
          <p:nvPr/>
        </p:nvCxnSpPr>
        <p:spPr>
          <a:xfrm>
            <a:off x="4718304"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4553712"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73" name="Connector 72"/>
          <p:cNvCxnSpPr/>
          <p:nvPr/>
        </p:nvCxnSpPr>
        <p:spPr>
          <a:xfrm>
            <a:off x="5247860"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5083268"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6</a:t>
            </a:r>
          </a:p>
        </p:txBody>
      </p:sp>
      <p:cxnSp>
        <p:nvCxnSpPr>
          <p:cNvPr id="75" name="Connector 74"/>
          <p:cNvCxnSpPr/>
          <p:nvPr/>
        </p:nvCxnSpPr>
        <p:spPr>
          <a:xfrm>
            <a:off x="5909806"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5745214"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11</a:t>
            </a:r>
          </a:p>
        </p:txBody>
      </p:sp>
      <p:cxnSp>
        <p:nvCxnSpPr>
          <p:cNvPr id="77" name="Connector 76"/>
          <p:cNvCxnSpPr/>
          <p:nvPr/>
        </p:nvCxnSpPr>
        <p:spPr>
          <a:xfrm>
            <a:off x="6836531"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6671939"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18</a:t>
            </a:r>
          </a:p>
        </p:txBody>
      </p:sp>
      <p:cxnSp>
        <p:nvCxnSpPr>
          <p:cNvPr id="79" name="Connector 78"/>
          <p:cNvCxnSpPr/>
          <p:nvPr/>
        </p:nvCxnSpPr>
        <p:spPr>
          <a:xfrm>
            <a:off x="7763256"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7598664"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25</a:t>
            </a:r>
          </a:p>
        </p:txBody>
      </p:sp>
      <p:cxnSp>
        <p:nvCxnSpPr>
          <p:cNvPr id="81" name="Connector 80"/>
          <p:cNvCxnSpPr/>
          <p:nvPr/>
        </p:nvCxnSpPr>
        <p:spPr>
          <a:xfrm>
            <a:off x="4718304" y="2011680"/>
            <a:ext cx="0" cy="722376"/>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4718304" y="2734056"/>
            <a:ext cx="3044952"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4718304" y="2676265"/>
            <a:ext cx="3044952" cy="0"/>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sp>
        <p:nvSpPr>
          <p:cNvPr id="84" name="TextBox 83"/>
          <p:cNvSpPr txBox="1"/>
          <p:nvPr/>
        </p:nvSpPr>
        <p:spPr>
          <a:xfrm>
            <a:off x="7269480" y="2511673"/>
            <a:ext cx="457200" cy="128016"/>
          </a:xfrm>
          <a:prstGeom prst="rect">
            <a:avLst/>
          </a:prstGeom>
          <a:noFill/>
        </p:spPr>
        <p:txBody>
          <a:bodyPr wrap="square" lIns="0" rIns="0" tIns="0" bIns="0" anchor="t">
            <a:spAutoFit/>
          </a:bodyPr>
          <a:lstStyle/>
          <a:p>
            <a:pPr algn="r"/>
            <a:r>
              <a:rPr sz="700" b="0" lang="en-US">
                <a:solidFill>
                  <a:srgbClr val="686868"/>
                </a:solidFill>
                <a:latin typeface="Arial"/>
              </a:rPr>
              <a:t>chance</a:t>
            </a:r>
          </a:p>
        </p:txBody>
      </p:sp>
      <p:cxnSp>
        <p:nvCxnSpPr>
          <p:cNvPr id="85" name="Connector 84"/>
          <p:cNvCxnSpPr/>
          <p:nvPr/>
        </p:nvCxnSpPr>
        <p:spPr>
          <a:xfrm flipV="1">
            <a:off x="4718304" y="2152446"/>
            <a:ext cx="132389" cy="74290"/>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4850693" y="2121395"/>
            <a:ext cx="132389" cy="31051"/>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4983082" y="2096367"/>
            <a:ext cx="132389" cy="25028"/>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5115471" y="2079304"/>
            <a:ext cx="132389" cy="17063"/>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5247860" y="2068459"/>
            <a:ext cx="132390" cy="10845"/>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5380250" y="2061104"/>
            <a:ext cx="132389" cy="7355"/>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5512639" y="2048415"/>
            <a:ext cx="132389" cy="12689"/>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5645028" y="2048415"/>
            <a:ext cx="132389" cy="1826"/>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5777417" y="2043300"/>
            <a:ext cx="132389" cy="6941"/>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5909806" y="2043300"/>
            <a:ext cx="132390" cy="4884"/>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6042196" y="2039705"/>
            <a:ext cx="132389" cy="8479"/>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6174585" y="2039705"/>
            <a:ext cx="132389" cy="2808"/>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6306974" y="2042513"/>
            <a:ext cx="132389" cy="3716"/>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6439363" y="2041984"/>
            <a:ext cx="132390" cy="4245"/>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a:off x="6571753" y="2041984"/>
            <a:ext cx="132389" cy="9553"/>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6704142" y="2045431"/>
            <a:ext cx="132389" cy="6106"/>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a:off x="6836531" y="2045431"/>
            <a:ext cx="132389" cy="6117"/>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6968920" y="2051548"/>
            <a:ext cx="132389" cy="2556"/>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7101309" y="2054104"/>
            <a:ext cx="132390" cy="9115"/>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7233699" y="2063219"/>
            <a:ext cx="132389" cy="70"/>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a:off x="7366088" y="2063289"/>
            <a:ext cx="132389" cy="3445"/>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7498477" y="2058990"/>
            <a:ext cx="132389" cy="7744"/>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a:off x="7630866" y="2058990"/>
            <a:ext cx="132390" cy="6572"/>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sp>
        <p:nvSpPr>
          <p:cNvPr id="108" name="Oval 107"/>
          <p:cNvSpPr/>
          <p:nvPr/>
        </p:nvSpPr>
        <p:spPr>
          <a:xfrm>
            <a:off x="4677156" y="2185588"/>
            <a:ext cx="82296" cy="82296"/>
          </a:xfrm>
          <a:prstGeom prst="ellipse">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7722108" y="2024414"/>
            <a:ext cx="82296" cy="82296"/>
          </a:xfrm>
          <a:prstGeom prst="ellipse">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ounded Rectangle 109"/>
          <p:cNvSpPr/>
          <p:nvPr/>
        </p:nvSpPr>
        <p:spPr>
          <a:xfrm>
            <a:off x="8074152" y="1307592"/>
            <a:ext cx="3703320" cy="1920240"/>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8183879" y="1399032"/>
            <a:ext cx="3483863"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Macro F1</a:t>
            </a:r>
          </a:p>
        </p:txBody>
      </p:sp>
      <p:sp>
        <p:nvSpPr>
          <p:cNvPr id="112" name="TextBox 111"/>
          <p:cNvSpPr txBox="1"/>
          <p:nvPr/>
        </p:nvSpPr>
        <p:spPr>
          <a:xfrm>
            <a:off x="8220456" y="1627631"/>
            <a:ext cx="3410712" cy="246888"/>
          </a:xfrm>
          <a:prstGeom prst="rect">
            <a:avLst/>
          </a:prstGeom>
          <a:noFill/>
        </p:spPr>
        <p:txBody>
          <a:bodyPr wrap="square" lIns="0" rIns="0" tIns="0" bIns="0" anchor="ctr">
            <a:spAutoFit/>
          </a:bodyPr>
          <a:lstStyle/>
          <a:p>
            <a:pPr algn="ctr"/>
            <a:r>
              <a:rPr sz="720" b="1" lang="en-US">
                <a:solidFill>
                  <a:srgbClr val="686868"/>
                </a:solidFill>
                <a:latin typeface="Arial"/>
              </a:rPr>
              <a:t>Higher is better · best 0.195 at global round 8</a:t>
            </a:r>
          </a:p>
        </p:txBody>
      </p:sp>
      <p:cxnSp>
        <p:nvCxnSpPr>
          <p:cNvPr id="113" name="Connector 112"/>
          <p:cNvCxnSpPr/>
          <p:nvPr/>
        </p:nvCxnSpPr>
        <p:spPr>
          <a:xfrm>
            <a:off x="8549640" y="2613660"/>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14" name="TextBox 113"/>
          <p:cNvSpPr txBox="1"/>
          <p:nvPr/>
        </p:nvSpPr>
        <p:spPr>
          <a:xfrm>
            <a:off x="8110727" y="2540508"/>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0.15</a:t>
            </a:r>
          </a:p>
        </p:txBody>
      </p:sp>
      <p:cxnSp>
        <p:nvCxnSpPr>
          <p:cNvPr id="115" name="Connector 114"/>
          <p:cNvCxnSpPr/>
          <p:nvPr/>
        </p:nvCxnSpPr>
        <p:spPr>
          <a:xfrm>
            <a:off x="8549640" y="2372868"/>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16" name="TextBox 115"/>
          <p:cNvSpPr txBox="1"/>
          <p:nvPr/>
        </p:nvSpPr>
        <p:spPr>
          <a:xfrm>
            <a:off x="8110727" y="2299716"/>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0.17</a:t>
            </a:r>
          </a:p>
        </p:txBody>
      </p:sp>
      <p:cxnSp>
        <p:nvCxnSpPr>
          <p:cNvPr id="117" name="Connector 116"/>
          <p:cNvCxnSpPr/>
          <p:nvPr/>
        </p:nvCxnSpPr>
        <p:spPr>
          <a:xfrm>
            <a:off x="8549640" y="2132076"/>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18" name="TextBox 117"/>
          <p:cNvSpPr txBox="1"/>
          <p:nvPr/>
        </p:nvSpPr>
        <p:spPr>
          <a:xfrm>
            <a:off x="8110727" y="2058924"/>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0.19</a:t>
            </a:r>
          </a:p>
        </p:txBody>
      </p:sp>
      <p:sp>
        <p:nvSpPr>
          <p:cNvPr id="119" name="TextBox 118"/>
          <p:cNvSpPr txBox="1"/>
          <p:nvPr/>
        </p:nvSpPr>
        <p:spPr>
          <a:xfrm>
            <a:off x="8549640" y="2944368"/>
            <a:ext cx="3044952" cy="137160"/>
          </a:xfrm>
          <a:prstGeom prst="rect">
            <a:avLst/>
          </a:prstGeom>
          <a:noFill/>
        </p:spPr>
        <p:txBody>
          <a:bodyPr wrap="square" lIns="0" rIns="0" tIns="0" bIns="0" anchor="ctr">
            <a:spAutoFit/>
          </a:bodyPr>
          <a:lstStyle/>
          <a:p>
            <a:pPr algn="ctr"/>
            <a:r>
              <a:rPr sz="720" b="0" lang="en-US">
                <a:solidFill>
                  <a:srgbClr val="686868"/>
                </a:solidFill>
                <a:latin typeface="Arial"/>
              </a:rPr>
              <a:t>Global model round</a:t>
            </a:r>
          </a:p>
        </p:txBody>
      </p:sp>
      <p:cxnSp>
        <p:nvCxnSpPr>
          <p:cNvPr id="120" name="Connector 119"/>
          <p:cNvCxnSpPr/>
          <p:nvPr/>
        </p:nvCxnSpPr>
        <p:spPr>
          <a:xfrm>
            <a:off x="8549640"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21" name="TextBox 120"/>
          <p:cNvSpPr txBox="1"/>
          <p:nvPr/>
        </p:nvSpPr>
        <p:spPr>
          <a:xfrm>
            <a:off x="8385048"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122" name="Connector 121"/>
          <p:cNvCxnSpPr/>
          <p:nvPr/>
        </p:nvCxnSpPr>
        <p:spPr>
          <a:xfrm>
            <a:off x="9079196"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23" name="TextBox 122"/>
          <p:cNvSpPr txBox="1"/>
          <p:nvPr/>
        </p:nvSpPr>
        <p:spPr>
          <a:xfrm>
            <a:off x="8914604"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6</a:t>
            </a:r>
          </a:p>
        </p:txBody>
      </p:sp>
      <p:cxnSp>
        <p:nvCxnSpPr>
          <p:cNvPr id="124" name="Connector 123"/>
          <p:cNvCxnSpPr/>
          <p:nvPr/>
        </p:nvCxnSpPr>
        <p:spPr>
          <a:xfrm>
            <a:off x="9741142"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25" name="TextBox 124"/>
          <p:cNvSpPr txBox="1"/>
          <p:nvPr/>
        </p:nvSpPr>
        <p:spPr>
          <a:xfrm>
            <a:off x="9576550"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11</a:t>
            </a:r>
          </a:p>
        </p:txBody>
      </p:sp>
      <p:cxnSp>
        <p:nvCxnSpPr>
          <p:cNvPr id="126" name="Connector 125"/>
          <p:cNvCxnSpPr/>
          <p:nvPr/>
        </p:nvCxnSpPr>
        <p:spPr>
          <a:xfrm>
            <a:off x="10667867"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27" name="TextBox 126"/>
          <p:cNvSpPr txBox="1"/>
          <p:nvPr/>
        </p:nvSpPr>
        <p:spPr>
          <a:xfrm>
            <a:off x="10503275"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18</a:t>
            </a:r>
          </a:p>
        </p:txBody>
      </p:sp>
      <p:cxnSp>
        <p:nvCxnSpPr>
          <p:cNvPr id="128" name="Connector 127"/>
          <p:cNvCxnSpPr/>
          <p:nvPr/>
        </p:nvCxnSpPr>
        <p:spPr>
          <a:xfrm>
            <a:off x="11594592"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29" name="TextBox 128"/>
          <p:cNvSpPr txBox="1"/>
          <p:nvPr/>
        </p:nvSpPr>
        <p:spPr>
          <a:xfrm>
            <a:off x="11430000"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25</a:t>
            </a:r>
          </a:p>
        </p:txBody>
      </p:sp>
      <p:cxnSp>
        <p:nvCxnSpPr>
          <p:cNvPr id="130" name="Connector 129"/>
          <p:cNvCxnSpPr/>
          <p:nvPr/>
        </p:nvCxnSpPr>
        <p:spPr>
          <a:xfrm>
            <a:off x="8549640" y="2011680"/>
            <a:ext cx="0" cy="722376"/>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a:off x="8549640" y="2734056"/>
            <a:ext cx="3044952"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8549640" y="2446184"/>
            <a:ext cx="132389" cy="276022"/>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a:off x="8682029" y="2446184"/>
            <a:ext cx="132389" cy="7247"/>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8814418" y="2412876"/>
            <a:ext cx="132389" cy="40555"/>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8946807" y="2176417"/>
            <a:ext cx="132389" cy="236459"/>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9079196" y="2102367"/>
            <a:ext cx="132390" cy="74050"/>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9211586" y="2067342"/>
            <a:ext cx="132389" cy="35025"/>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a:off x="9343975" y="2067342"/>
            <a:ext cx="132389" cy="95002"/>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a:off x="9476364" y="2162344"/>
            <a:ext cx="132389" cy="10875"/>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9608753" y="2162454"/>
            <a:ext cx="132389" cy="10765"/>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9741142" y="2110462"/>
            <a:ext cx="132390" cy="51992"/>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a:off x="9873532" y="2110462"/>
            <a:ext cx="132389" cy="180623"/>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10005921" y="2259989"/>
            <a:ext cx="132389" cy="31096"/>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a:off x="10138310" y="2259989"/>
            <a:ext cx="132389" cy="8655"/>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a:off x="10270699" y="2268644"/>
            <a:ext cx="132390" cy="92"/>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a:off x="10403089" y="2268736"/>
            <a:ext cx="132389" cy="10314"/>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10535478" y="2238872"/>
            <a:ext cx="132389" cy="40178"/>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a:off x="10667867" y="2238872"/>
            <a:ext cx="132389" cy="28631"/>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a:off x="10800256" y="2267503"/>
            <a:ext cx="132389" cy="5732"/>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a:off x="10932645" y="2273235"/>
            <a:ext cx="132390" cy="6322"/>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11065035" y="2266252"/>
            <a:ext cx="132389" cy="13305"/>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a:off x="11197424" y="2266252"/>
            <a:ext cx="132389" cy="19003"/>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V="1">
            <a:off x="11329813" y="2274121"/>
            <a:ext cx="132389" cy="11134"/>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a:off x="11462202" y="2274121"/>
            <a:ext cx="132390" cy="8802"/>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sp>
        <p:nvSpPr>
          <p:cNvPr id="155" name="Oval 154"/>
          <p:cNvSpPr/>
          <p:nvPr/>
        </p:nvSpPr>
        <p:spPr>
          <a:xfrm>
            <a:off x="8508492" y="2681058"/>
            <a:ext cx="82296" cy="82296"/>
          </a:xfrm>
          <a:prstGeom prst="ellipse">
            <a:avLst/>
          </a:prstGeom>
          <a:solidFill>
            <a:srgbClr val="FF6C00"/>
          </a:solidFill>
          <a:ln w="635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Oval 155"/>
          <p:cNvSpPr/>
          <p:nvPr/>
        </p:nvSpPr>
        <p:spPr>
          <a:xfrm>
            <a:off x="11553444" y="2241775"/>
            <a:ext cx="82296" cy="82296"/>
          </a:xfrm>
          <a:prstGeom prst="ellipse">
            <a:avLst/>
          </a:prstGeom>
          <a:solidFill>
            <a:srgbClr val="FF6C00"/>
          </a:solidFill>
          <a:ln w="635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ounded Rectangle 156"/>
          <p:cNvSpPr/>
          <p:nvPr/>
        </p:nvSpPr>
        <p:spPr>
          <a:xfrm>
            <a:off x="1417320" y="3447288"/>
            <a:ext cx="4663440" cy="1956816"/>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1527048" y="3538728"/>
            <a:ext cx="4443983"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Label-wise accuracy</a:t>
            </a:r>
          </a:p>
        </p:txBody>
      </p:sp>
      <p:sp>
        <p:nvSpPr>
          <p:cNvPr id="159" name="TextBox 158"/>
          <p:cNvSpPr txBox="1"/>
          <p:nvPr/>
        </p:nvSpPr>
        <p:spPr>
          <a:xfrm>
            <a:off x="1563624" y="3767328"/>
            <a:ext cx="4370831" cy="246888"/>
          </a:xfrm>
          <a:prstGeom prst="rect">
            <a:avLst/>
          </a:prstGeom>
          <a:noFill/>
        </p:spPr>
        <p:txBody>
          <a:bodyPr wrap="square" lIns="0" rIns="0" tIns="0" bIns="0" anchor="ctr">
            <a:spAutoFit/>
          </a:bodyPr>
          <a:lstStyle/>
          <a:p>
            <a:pPr algn="ctr"/>
            <a:r>
              <a:rPr sz="720" b="1" lang="en-US">
                <a:solidFill>
                  <a:srgbClr val="686868"/>
                </a:solidFill>
                <a:latin typeface="Arial"/>
              </a:rPr>
              <a:t>Negative-dominated · final 85.86% · interpret with the baseline</a:t>
            </a:r>
          </a:p>
        </p:txBody>
      </p:sp>
      <p:cxnSp>
        <p:nvCxnSpPr>
          <p:cNvPr id="160" name="Connector 159"/>
          <p:cNvCxnSpPr/>
          <p:nvPr/>
        </p:nvCxnSpPr>
        <p:spPr>
          <a:xfrm>
            <a:off x="1892808" y="4826000"/>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61" name="TextBox 160"/>
          <p:cNvSpPr txBox="1"/>
          <p:nvPr/>
        </p:nvSpPr>
        <p:spPr>
          <a:xfrm>
            <a:off x="1453896" y="4752848"/>
            <a:ext cx="393192" cy="146304"/>
          </a:xfrm>
          <a:prstGeom prst="rect">
            <a:avLst/>
          </a:prstGeom>
          <a:noFill/>
        </p:spPr>
        <p:txBody>
          <a:bodyPr wrap="square" lIns="0" rIns="0" tIns="0" bIns="0" anchor="ctr">
            <a:spAutoFit/>
          </a:bodyPr>
          <a:lstStyle/>
          <a:p>
            <a:pPr algn="r"/>
            <a:r>
              <a:rPr sz="720" b="0" lang="en-US">
                <a:solidFill>
                  <a:srgbClr val="686868"/>
                </a:solidFill>
                <a:latin typeface="Arial"/>
              </a:rPr>
              <a:t>86%</a:t>
            </a:r>
          </a:p>
        </p:txBody>
      </p:sp>
      <p:cxnSp>
        <p:nvCxnSpPr>
          <p:cNvPr id="162" name="Connector 161"/>
          <p:cNvCxnSpPr/>
          <p:nvPr/>
        </p:nvCxnSpPr>
        <p:spPr>
          <a:xfrm>
            <a:off x="1892808" y="4657344"/>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63" name="TextBox 162"/>
          <p:cNvSpPr txBox="1"/>
          <p:nvPr/>
        </p:nvSpPr>
        <p:spPr>
          <a:xfrm>
            <a:off x="1453896" y="4584192"/>
            <a:ext cx="393192" cy="146304"/>
          </a:xfrm>
          <a:prstGeom prst="rect">
            <a:avLst/>
          </a:prstGeom>
          <a:noFill/>
        </p:spPr>
        <p:txBody>
          <a:bodyPr wrap="square" lIns="0" rIns="0" tIns="0" bIns="0" anchor="ctr">
            <a:spAutoFit/>
          </a:bodyPr>
          <a:lstStyle/>
          <a:p>
            <a:pPr algn="r"/>
            <a:r>
              <a:rPr sz="720" b="0" lang="en-US">
                <a:solidFill>
                  <a:srgbClr val="686868"/>
                </a:solidFill>
                <a:latin typeface="Arial"/>
              </a:rPr>
              <a:t>87%</a:t>
            </a:r>
          </a:p>
        </p:txBody>
      </p:sp>
      <p:cxnSp>
        <p:nvCxnSpPr>
          <p:cNvPr id="164" name="Connector 163"/>
          <p:cNvCxnSpPr/>
          <p:nvPr/>
        </p:nvCxnSpPr>
        <p:spPr>
          <a:xfrm>
            <a:off x="1892808" y="4488688"/>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65" name="TextBox 164"/>
          <p:cNvSpPr txBox="1"/>
          <p:nvPr/>
        </p:nvSpPr>
        <p:spPr>
          <a:xfrm>
            <a:off x="1453896" y="4415536"/>
            <a:ext cx="393192" cy="146304"/>
          </a:xfrm>
          <a:prstGeom prst="rect">
            <a:avLst/>
          </a:prstGeom>
          <a:noFill/>
        </p:spPr>
        <p:txBody>
          <a:bodyPr wrap="square" lIns="0" rIns="0" tIns="0" bIns="0" anchor="ctr">
            <a:spAutoFit/>
          </a:bodyPr>
          <a:lstStyle/>
          <a:p>
            <a:pPr algn="r"/>
            <a:r>
              <a:rPr sz="720" b="0" lang="en-US">
                <a:solidFill>
                  <a:srgbClr val="686868"/>
                </a:solidFill>
                <a:latin typeface="Arial"/>
              </a:rPr>
              <a:t>88%</a:t>
            </a:r>
          </a:p>
        </p:txBody>
      </p:sp>
      <p:cxnSp>
        <p:nvCxnSpPr>
          <p:cNvPr id="166" name="Connector 165"/>
          <p:cNvCxnSpPr/>
          <p:nvPr/>
        </p:nvCxnSpPr>
        <p:spPr>
          <a:xfrm>
            <a:off x="1892808" y="4320032"/>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67" name="TextBox 166"/>
          <p:cNvSpPr txBox="1"/>
          <p:nvPr/>
        </p:nvSpPr>
        <p:spPr>
          <a:xfrm>
            <a:off x="1453896" y="4246879"/>
            <a:ext cx="393192" cy="146304"/>
          </a:xfrm>
          <a:prstGeom prst="rect">
            <a:avLst/>
          </a:prstGeom>
          <a:noFill/>
        </p:spPr>
        <p:txBody>
          <a:bodyPr wrap="square" lIns="0" rIns="0" tIns="0" bIns="0" anchor="ctr">
            <a:spAutoFit/>
          </a:bodyPr>
          <a:lstStyle/>
          <a:p>
            <a:pPr algn="r"/>
            <a:r>
              <a:rPr sz="720" b="0" lang="en-US">
                <a:solidFill>
                  <a:srgbClr val="686868"/>
                </a:solidFill>
                <a:latin typeface="Arial"/>
              </a:rPr>
              <a:t>89%</a:t>
            </a:r>
          </a:p>
        </p:txBody>
      </p:sp>
      <p:sp>
        <p:nvSpPr>
          <p:cNvPr id="168" name="TextBox 167"/>
          <p:cNvSpPr txBox="1"/>
          <p:nvPr/>
        </p:nvSpPr>
        <p:spPr>
          <a:xfrm>
            <a:off x="1892808" y="5120640"/>
            <a:ext cx="4005072" cy="137160"/>
          </a:xfrm>
          <a:prstGeom prst="rect">
            <a:avLst/>
          </a:prstGeom>
          <a:noFill/>
        </p:spPr>
        <p:txBody>
          <a:bodyPr wrap="square" lIns="0" rIns="0" tIns="0" bIns="0" anchor="ctr">
            <a:spAutoFit/>
          </a:bodyPr>
          <a:lstStyle/>
          <a:p>
            <a:pPr algn="ctr"/>
            <a:r>
              <a:rPr sz="720" b="0" lang="en-US">
                <a:solidFill>
                  <a:srgbClr val="686868"/>
                </a:solidFill>
                <a:latin typeface="Arial"/>
              </a:rPr>
              <a:t>Global model round</a:t>
            </a:r>
          </a:p>
        </p:txBody>
      </p:sp>
      <p:cxnSp>
        <p:nvCxnSpPr>
          <p:cNvPr id="169" name="Connector 168"/>
          <p:cNvCxnSpPr/>
          <p:nvPr/>
        </p:nvCxnSpPr>
        <p:spPr>
          <a:xfrm>
            <a:off x="1892808"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70" name="TextBox 169"/>
          <p:cNvSpPr txBox="1"/>
          <p:nvPr/>
        </p:nvSpPr>
        <p:spPr>
          <a:xfrm>
            <a:off x="1728216"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171" name="Connector 170"/>
          <p:cNvCxnSpPr/>
          <p:nvPr/>
        </p:nvCxnSpPr>
        <p:spPr>
          <a:xfrm>
            <a:off x="2589342"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72" name="TextBox 171"/>
          <p:cNvSpPr txBox="1"/>
          <p:nvPr/>
        </p:nvSpPr>
        <p:spPr>
          <a:xfrm>
            <a:off x="2424750"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6</a:t>
            </a:r>
          </a:p>
        </p:txBody>
      </p:sp>
      <p:cxnSp>
        <p:nvCxnSpPr>
          <p:cNvPr id="173" name="Connector 172"/>
          <p:cNvCxnSpPr/>
          <p:nvPr/>
        </p:nvCxnSpPr>
        <p:spPr>
          <a:xfrm>
            <a:off x="3460010"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74" name="TextBox 173"/>
          <p:cNvSpPr txBox="1"/>
          <p:nvPr/>
        </p:nvSpPr>
        <p:spPr>
          <a:xfrm>
            <a:off x="3295418"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11</a:t>
            </a:r>
          </a:p>
        </p:txBody>
      </p:sp>
      <p:cxnSp>
        <p:nvCxnSpPr>
          <p:cNvPr id="175" name="Connector 174"/>
          <p:cNvCxnSpPr/>
          <p:nvPr/>
        </p:nvCxnSpPr>
        <p:spPr>
          <a:xfrm>
            <a:off x="4678945"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76" name="TextBox 175"/>
          <p:cNvSpPr txBox="1"/>
          <p:nvPr/>
        </p:nvSpPr>
        <p:spPr>
          <a:xfrm>
            <a:off x="4514353"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18</a:t>
            </a:r>
          </a:p>
        </p:txBody>
      </p:sp>
      <p:cxnSp>
        <p:nvCxnSpPr>
          <p:cNvPr id="177" name="Connector 176"/>
          <p:cNvCxnSpPr/>
          <p:nvPr/>
        </p:nvCxnSpPr>
        <p:spPr>
          <a:xfrm>
            <a:off x="5897880"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78" name="TextBox 177"/>
          <p:cNvSpPr txBox="1"/>
          <p:nvPr/>
        </p:nvSpPr>
        <p:spPr>
          <a:xfrm>
            <a:off x="5733288"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25</a:t>
            </a:r>
          </a:p>
        </p:txBody>
      </p:sp>
      <p:cxnSp>
        <p:nvCxnSpPr>
          <p:cNvPr id="179" name="Connector 178"/>
          <p:cNvCxnSpPr/>
          <p:nvPr/>
        </p:nvCxnSpPr>
        <p:spPr>
          <a:xfrm>
            <a:off x="1892808" y="4151376"/>
            <a:ext cx="0" cy="758952"/>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a:off x="1892808" y="4910328"/>
            <a:ext cx="4005072"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a:off x="1892808" y="4371702"/>
            <a:ext cx="174133" cy="233494"/>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V="1">
            <a:off x="2066941" y="4577379"/>
            <a:ext cx="174134" cy="27817"/>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V="1">
            <a:off x="2241075" y="4428733"/>
            <a:ext cx="174133" cy="148646"/>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a:off x="2415208" y="4428733"/>
            <a:ext cx="174134" cy="166689"/>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V="1">
            <a:off x="2589342" y="4545319"/>
            <a:ext cx="174133" cy="50103"/>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a:off x="2763475" y="4545319"/>
            <a:ext cx="174134" cy="58857"/>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2937609" y="4583286"/>
            <a:ext cx="174133" cy="20890"/>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a:off x="3111742" y="4583286"/>
            <a:ext cx="174134" cy="144672"/>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a:off x="3285876" y="4727958"/>
            <a:ext cx="174134" cy="61971"/>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3460010" y="4785687"/>
            <a:ext cx="174133" cy="4242"/>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V="1">
            <a:off x="3634143" y="4782304"/>
            <a:ext cx="174134" cy="3383"/>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a:off x="3808277" y="4782304"/>
            <a:ext cx="174133" cy="64173"/>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V="1">
            <a:off x="3982410" y="4753896"/>
            <a:ext cx="174134" cy="92581"/>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a:off x="4156544" y="4753896"/>
            <a:ext cx="174133" cy="49835"/>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4330677" y="4771349"/>
            <a:ext cx="174134" cy="32382"/>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a:off x="4504811" y="4771349"/>
            <a:ext cx="174134" cy="17614"/>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a:off x="4678945" y="4788963"/>
            <a:ext cx="174133" cy="8109"/>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a:off x="4853078" y="4797072"/>
            <a:ext cx="174134" cy="41618"/>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V="1">
            <a:off x="5027212" y="4811947"/>
            <a:ext cx="174133" cy="26743"/>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a:off x="5201345" y="4811947"/>
            <a:ext cx="174134" cy="60575"/>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V="1">
            <a:off x="5375479" y="4819197"/>
            <a:ext cx="174133" cy="53325"/>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a:off x="5549612" y="4819197"/>
            <a:ext cx="174134" cy="22286"/>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a:off x="5723746" y="4841483"/>
            <a:ext cx="174134" cy="8270"/>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sp>
        <p:nvSpPr>
          <p:cNvPr id="204" name="Oval 203"/>
          <p:cNvSpPr/>
          <p:nvPr/>
        </p:nvSpPr>
        <p:spPr>
          <a:xfrm>
            <a:off x="1851660" y="4330554"/>
            <a:ext cx="82296" cy="82296"/>
          </a:xfrm>
          <a:prstGeom prst="ellipse">
            <a:avLst/>
          </a:prstGeom>
          <a:solidFill>
            <a:srgbClr val="7A35B5"/>
          </a:solidFill>
          <a:ln w="635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Oval 204"/>
          <p:cNvSpPr/>
          <p:nvPr/>
        </p:nvSpPr>
        <p:spPr>
          <a:xfrm>
            <a:off x="5856732" y="4808605"/>
            <a:ext cx="82296" cy="82296"/>
          </a:xfrm>
          <a:prstGeom prst="ellipse">
            <a:avLst/>
          </a:prstGeom>
          <a:solidFill>
            <a:srgbClr val="7A35B5"/>
          </a:solidFill>
          <a:ln w="635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Rounded Rectangle 205"/>
          <p:cNvSpPr/>
          <p:nvPr/>
        </p:nvSpPr>
        <p:spPr>
          <a:xfrm>
            <a:off x="6199632" y="3447288"/>
            <a:ext cx="4663440" cy="1956816"/>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TextBox 206"/>
          <p:cNvSpPr txBox="1"/>
          <p:nvPr/>
        </p:nvSpPr>
        <p:spPr>
          <a:xfrm>
            <a:off x="6309360" y="3538728"/>
            <a:ext cx="4443983"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Exact match</a:t>
            </a:r>
          </a:p>
        </p:txBody>
      </p:sp>
      <p:sp>
        <p:nvSpPr>
          <p:cNvPr id="208" name="TextBox 207"/>
          <p:cNvSpPr txBox="1"/>
          <p:nvPr/>
        </p:nvSpPr>
        <p:spPr>
          <a:xfrm>
            <a:off x="6345936" y="3767328"/>
            <a:ext cx="4370831" cy="246888"/>
          </a:xfrm>
          <a:prstGeom prst="rect">
            <a:avLst/>
          </a:prstGeom>
          <a:noFill/>
        </p:spPr>
        <p:txBody>
          <a:bodyPr wrap="square" lIns="0" rIns="0" tIns="0" bIns="0" anchor="ctr">
            <a:spAutoFit/>
          </a:bodyPr>
          <a:lstStyle/>
          <a:p>
            <a:pPr algn="ctr"/>
            <a:r>
              <a:rPr sz="720" b="1" lang="en-US">
                <a:solidFill>
                  <a:srgbClr val="686868"/>
                </a:solidFill>
                <a:latin typeface="Arial"/>
              </a:rPr>
              <a:t>All 14 labels must match · best 32.75% · final 26.02%</a:t>
            </a:r>
          </a:p>
        </p:txBody>
      </p:sp>
      <p:cxnSp>
        <p:nvCxnSpPr>
          <p:cNvPr id="209" name="Connector 208"/>
          <p:cNvCxnSpPr/>
          <p:nvPr/>
        </p:nvCxnSpPr>
        <p:spPr>
          <a:xfrm>
            <a:off x="6675120" y="4834432"/>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10" name="TextBox 209"/>
          <p:cNvSpPr txBox="1"/>
          <p:nvPr/>
        </p:nvSpPr>
        <p:spPr>
          <a:xfrm>
            <a:off x="6236208" y="4761280"/>
            <a:ext cx="393192" cy="146304"/>
          </a:xfrm>
          <a:prstGeom prst="rect">
            <a:avLst/>
          </a:prstGeom>
          <a:noFill/>
        </p:spPr>
        <p:txBody>
          <a:bodyPr wrap="square" lIns="0" rIns="0" tIns="0" bIns="0" anchor="ctr">
            <a:spAutoFit/>
          </a:bodyPr>
          <a:lstStyle/>
          <a:p>
            <a:pPr algn="r"/>
            <a:r>
              <a:rPr sz="720" b="0" lang="en-US">
                <a:solidFill>
                  <a:srgbClr val="686868"/>
                </a:solidFill>
                <a:latin typeface="Arial"/>
              </a:rPr>
              <a:t>25%</a:t>
            </a:r>
          </a:p>
        </p:txBody>
      </p:sp>
      <p:cxnSp>
        <p:nvCxnSpPr>
          <p:cNvPr id="211" name="Connector 210"/>
          <p:cNvCxnSpPr/>
          <p:nvPr/>
        </p:nvCxnSpPr>
        <p:spPr>
          <a:xfrm>
            <a:off x="6675120" y="4682642"/>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12" name="TextBox 211"/>
          <p:cNvSpPr txBox="1"/>
          <p:nvPr/>
        </p:nvSpPr>
        <p:spPr>
          <a:xfrm>
            <a:off x="6236208" y="4609490"/>
            <a:ext cx="393192" cy="146304"/>
          </a:xfrm>
          <a:prstGeom prst="rect">
            <a:avLst/>
          </a:prstGeom>
          <a:noFill/>
        </p:spPr>
        <p:txBody>
          <a:bodyPr wrap="square" lIns="0" rIns="0" tIns="0" bIns="0" anchor="ctr">
            <a:spAutoFit/>
          </a:bodyPr>
          <a:lstStyle/>
          <a:p>
            <a:pPr algn="r"/>
            <a:r>
              <a:rPr sz="720" b="0" lang="en-US">
                <a:solidFill>
                  <a:srgbClr val="686868"/>
                </a:solidFill>
                <a:latin typeface="Arial"/>
              </a:rPr>
              <a:t>27%</a:t>
            </a:r>
          </a:p>
        </p:txBody>
      </p:sp>
      <p:cxnSp>
        <p:nvCxnSpPr>
          <p:cNvPr id="213" name="Connector 212"/>
          <p:cNvCxnSpPr/>
          <p:nvPr/>
        </p:nvCxnSpPr>
        <p:spPr>
          <a:xfrm>
            <a:off x="6675120" y="4454956"/>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14" name="TextBox 213"/>
          <p:cNvSpPr txBox="1"/>
          <p:nvPr/>
        </p:nvSpPr>
        <p:spPr>
          <a:xfrm>
            <a:off x="6236208" y="4381804"/>
            <a:ext cx="393192" cy="146304"/>
          </a:xfrm>
          <a:prstGeom prst="rect">
            <a:avLst/>
          </a:prstGeom>
          <a:noFill/>
        </p:spPr>
        <p:txBody>
          <a:bodyPr wrap="square" lIns="0" rIns="0" tIns="0" bIns="0" anchor="ctr">
            <a:spAutoFit/>
          </a:bodyPr>
          <a:lstStyle/>
          <a:p>
            <a:pPr algn="r"/>
            <a:r>
              <a:rPr sz="720" b="0" lang="en-US">
                <a:solidFill>
                  <a:srgbClr val="686868"/>
                </a:solidFill>
                <a:latin typeface="Arial"/>
              </a:rPr>
              <a:t>30%</a:t>
            </a:r>
          </a:p>
        </p:txBody>
      </p:sp>
      <p:cxnSp>
        <p:nvCxnSpPr>
          <p:cNvPr id="215" name="Connector 214"/>
          <p:cNvCxnSpPr/>
          <p:nvPr/>
        </p:nvCxnSpPr>
        <p:spPr>
          <a:xfrm>
            <a:off x="6675120" y="4303166"/>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16" name="TextBox 215"/>
          <p:cNvSpPr txBox="1"/>
          <p:nvPr/>
        </p:nvSpPr>
        <p:spPr>
          <a:xfrm>
            <a:off x="6236208" y="4230014"/>
            <a:ext cx="393192" cy="146304"/>
          </a:xfrm>
          <a:prstGeom prst="rect">
            <a:avLst/>
          </a:prstGeom>
          <a:noFill/>
        </p:spPr>
        <p:txBody>
          <a:bodyPr wrap="square" lIns="0" rIns="0" tIns="0" bIns="0" anchor="ctr">
            <a:spAutoFit/>
          </a:bodyPr>
          <a:lstStyle/>
          <a:p>
            <a:pPr algn="r"/>
            <a:r>
              <a:rPr sz="720" b="0" lang="en-US">
                <a:solidFill>
                  <a:srgbClr val="686868"/>
                </a:solidFill>
                <a:latin typeface="Arial"/>
              </a:rPr>
              <a:t>32%</a:t>
            </a:r>
          </a:p>
        </p:txBody>
      </p:sp>
      <p:sp>
        <p:nvSpPr>
          <p:cNvPr id="217" name="TextBox 216"/>
          <p:cNvSpPr txBox="1"/>
          <p:nvPr/>
        </p:nvSpPr>
        <p:spPr>
          <a:xfrm>
            <a:off x="6675120" y="5120640"/>
            <a:ext cx="4005072" cy="137160"/>
          </a:xfrm>
          <a:prstGeom prst="rect">
            <a:avLst/>
          </a:prstGeom>
          <a:noFill/>
        </p:spPr>
        <p:txBody>
          <a:bodyPr wrap="square" lIns="0" rIns="0" tIns="0" bIns="0" anchor="ctr">
            <a:spAutoFit/>
          </a:bodyPr>
          <a:lstStyle/>
          <a:p>
            <a:pPr algn="ctr"/>
            <a:r>
              <a:rPr sz="720" b="0" lang="en-US">
                <a:solidFill>
                  <a:srgbClr val="686868"/>
                </a:solidFill>
                <a:latin typeface="Arial"/>
              </a:rPr>
              <a:t>Global model round</a:t>
            </a:r>
          </a:p>
        </p:txBody>
      </p:sp>
      <p:cxnSp>
        <p:nvCxnSpPr>
          <p:cNvPr id="218" name="Connector 217"/>
          <p:cNvCxnSpPr/>
          <p:nvPr/>
        </p:nvCxnSpPr>
        <p:spPr>
          <a:xfrm>
            <a:off x="6675120"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19" name="TextBox 218"/>
          <p:cNvSpPr txBox="1"/>
          <p:nvPr/>
        </p:nvSpPr>
        <p:spPr>
          <a:xfrm>
            <a:off x="6510528"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220" name="Connector 219"/>
          <p:cNvCxnSpPr/>
          <p:nvPr/>
        </p:nvCxnSpPr>
        <p:spPr>
          <a:xfrm>
            <a:off x="7371654"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21" name="TextBox 220"/>
          <p:cNvSpPr txBox="1"/>
          <p:nvPr/>
        </p:nvSpPr>
        <p:spPr>
          <a:xfrm>
            <a:off x="7207062"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6</a:t>
            </a:r>
          </a:p>
        </p:txBody>
      </p:sp>
      <p:cxnSp>
        <p:nvCxnSpPr>
          <p:cNvPr id="222" name="Connector 221"/>
          <p:cNvCxnSpPr/>
          <p:nvPr/>
        </p:nvCxnSpPr>
        <p:spPr>
          <a:xfrm>
            <a:off x="8242322"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23" name="TextBox 222"/>
          <p:cNvSpPr txBox="1"/>
          <p:nvPr/>
        </p:nvSpPr>
        <p:spPr>
          <a:xfrm>
            <a:off x="8077730"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11</a:t>
            </a:r>
          </a:p>
        </p:txBody>
      </p:sp>
      <p:cxnSp>
        <p:nvCxnSpPr>
          <p:cNvPr id="224" name="Connector 223"/>
          <p:cNvCxnSpPr/>
          <p:nvPr/>
        </p:nvCxnSpPr>
        <p:spPr>
          <a:xfrm>
            <a:off x="9461257"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25" name="TextBox 224"/>
          <p:cNvSpPr txBox="1"/>
          <p:nvPr/>
        </p:nvSpPr>
        <p:spPr>
          <a:xfrm>
            <a:off x="9296665"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18</a:t>
            </a:r>
          </a:p>
        </p:txBody>
      </p:sp>
      <p:cxnSp>
        <p:nvCxnSpPr>
          <p:cNvPr id="226" name="Connector 225"/>
          <p:cNvCxnSpPr/>
          <p:nvPr/>
        </p:nvCxnSpPr>
        <p:spPr>
          <a:xfrm>
            <a:off x="10680192"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27" name="TextBox 226"/>
          <p:cNvSpPr txBox="1"/>
          <p:nvPr/>
        </p:nvSpPr>
        <p:spPr>
          <a:xfrm>
            <a:off x="10515600"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25</a:t>
            </a:r>
          </a:p>
        </p:txBody>
      </p:sp>
      <p:cxnSp>
        <p:nvCxnSpPr>
          <p:cNvPr id="228" name="Connector 227"/>
          <p:cNvCxnSpPr/>
          <p:nvPr/>
        </p:nvCxnSpPr>
        <p:spPr>
          <a:xfrm>
            <a:off x="6675120" y="4151376"/>
            <a:ext cx="0" cy="758952"/>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6675120" y="4910328"/>
            <a:ext cx="4005072"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flipV="1">
            <a:off x="6675120" y="4589912"/>
            <a:ext cx="174133" cy="222952"/>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flipV="1">
            <a:off x="6849253" y="4560140"/>
            <a:ext cx="174134" cy="29772"/>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flipV="1">
            <a:off x="7023387" y="4246179"/>
            <a:ext cx="174133" cy="313961"/>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7197520" y="4246179"/>
            <a:ext cx="174134" cy="151906"/>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flipV="1">
            <a:off x="7371654" y="4299634"/>
            <a:ext cx="174133" cy="98451"/>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7545787" y="4299634"/>
            <a:ext cx="174134" cy="114690"/>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flipV="1">
            <a:off x="7719921" y="4298281"/>
            <a:ext cx="174133" cy="116043"/>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7894054" y="4298281"/>
            <a:ext cx="174134" cy="261859"/>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8068188" y="4560140"/>
            <a:ext cx="174134" cy="80182"/>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8242322" y="4640322"/>
            <a:ext cx="174133" cy="6089"/>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8416455" y="4646411"/>
            <a:ext cx="174134" cy="22329"/>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8590589" y="4668740"/>
            <a:ext cx="174133" cy="53455"/>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flipV="1">
            <a:off x="8764722" y="4617316"/>
            <a:ext cx="174134" cy="104879"/>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flipV="1">
            <a:off x="8938856" y="4613594"/>
            <a:ext cx="174133" cy="3722"/>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9112989" y="4613594"/>
            <a:ext cx="174134" cy="20299"/>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flipV="1">
            <a:off x="9287123" y="4613256"/>
            <a:ext cx="174134" cy="20637"/>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9461257" y="4613256"/>
            <a:ext cx="174133" cy="79843"/>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flipV="1">
            <a:off x="9635390" y="4680243"/>
            <a:ext cx="174134" cy="12856"/>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9809524" y="4680243"/>
            <a:ext cx="174133" cy="91008"/>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flipV="1">
            <a:off x="9983657" y="4720842"/>
            <a:ext cx="174134" cy="50409"/>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10157791" y="4712722"/>
            <a:ext cx="174133" cy="8120"/>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flipV="1">
            <a:off x="10331924" y="4647426"/>
            <a:ext cx="174134" cy="65296"/>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a:off x="10506058" y="4647426"/>
            <a:ext cx="174134" cy="109277"/>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sp>
        <p:nvSpPr>
          <p:cNvPr id="253" name="Oval 252"/>
          <p:cNvSpPr/>
          <p:nvPr/>
        </p:nvSpPr>
        <p:spPr>
          <a:xfrm>
            <a:off x="6633972" y="4771716"/>
            <a:ext cx="82296" cy="82296"/>
          </a:xfrm>
          <a:prstGeom prst="ellipse">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Oval 253"/>
          <p:cNvSpPr/>
          <p:nvPr/>
        </p:nvSpPr>
        <p:spPr>
          <a:xfrm>
            <a:off x="10639044" y="4715555"/>
            <a:ext cx="82296" cy="82296"/>
          </a:xfrm>
          <a:prstGeom prst="ellipse">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Why do the headline scores look modest?</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CURRENT FEDAVG RUN · IMBALANCE MAKES AUROC AND F1 MORE INFORMATIVE THAN ACCURACY</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21</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TextBox 7"/>
          <p:cNvSpPr txBox="1"/>
          <p:nvPr/>
        </p:nvSpPr>
        <p:spPr>
          <a:xfrm>
            <a:off x="658368" y="1380744"/>
            <a:ext cx="2999232" cy="201168"/>
          </a:xfrm>
          <a:prstGeom prst="rect">
            <a:avLst/>
          </a:prstGeom>
          <a:noFill/>
        </p:spPr>
        <p:txBody>
          <a:bodyPr wrap="square" lIns="18288" rIns="18288" tIns="18288" bIns="18288" anchor="t">
            <a:spAutoFit/>
          </a:bodyPr>
          <a:lstStyle/>
          <a:p>
            <a:pPr algn="l"/>
            <a:r>
              <a:rPr sz="1000" b="1" lang="en-US">
                <a:solidFill>
                  <a:srgbClr val="C40D1E"/>
                </a:solidFill>
                <a:latin typeface="Arial"/>
              </a:rPr>
              <a:t>TEST LABEL POSITIONS</a:t>
            </a:r>
          </a:p>
        </p:txBody>
      </p:sp>
      <p:sp>
        <p:nvSpPr>
          <p:cNvPr id="9" name="Rectangle 8"/>
          <p:cNvSpPr/>
          <p:nvPr/>
        </p:nvSpPr>
        <p:spPr>
          <a:xfrm>
            <a:off x="658368" y="1755648"/>
            <a:ext cx="2999232" cy="493776"/>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755648"/>
            <a:ext cx="157667" cy="493776"/>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2395728"/>
            <a:ext cx="1417320" cy="201168"/>
          </a:xfrm>
          <a:prstGeom prst="rect">
            <a:avLst/>
          </a:prstGeom>
          <a:noFill/>
        </p:spPr>
        <p:txBody>
          <a:bodyPr wrap="square" lIns="18288" rIns="18288" tIns="18288" bIns="18288" anchor="t">
            <a:spAutoFit/>
          </a:bodyPr>
          <a:lstStyle/>
          <a:p>
            <a:pPr algn="l"/>
            <a:r>
              <a:rPr sz="1120" b="1" lang="en-US">
                <a:solidFill>
                  <a:srgbClr val="C40D1E"/>
                </a:solidFill>
                <a:latin typeface="Arial"/>
              </a:rPr>
              <a:t>5.26% positive</a:t>
            </a:r>
          </a:p>
        </p:txBody>
      </p:sp>
      <p:sp>
        <p:nvSpPr>
          <p:cNvPr id="12" name="TextBox 11"/>
          <p:cNvSpPr txBox="1"/>
          <p:nvPr/>
        </p:nvSpPr>
        <p:spPr>
          <a:xfrm>
            <a:off x="2011680" y="2395728"/>
            <a:ext cx="1645920" cy="201168"/>
          </a:xfrm>
          <a:prstGeom prst="rect">
            <a:avLst/>
          </a:prstGeom>
          <a:noFill/>
        </p:spPr>
        <p:txBody>
          <a:bodyPr wrap="square" lIns="18288" rIns="18288" tIns="18288" bIns="18288" anchor="t">
            <a:spAutoFit/>
          </a:bodyPr>
          <a:lstStyle/>
          <a:p>
            <a:pPr algn="r"/>
            <a:r>
              <a:rPr sz="1120" b="1" lang="en-US">
                <a:solidFill>
                  <a:srgbClr val="434343"/>
                </a:solidFill>
                <a:latin typeface="Arial"/>
              </a:rPr>
              <a:t>94.74% negative</a:t>
            </a:r>
          </a:p>
        </p:txBody>
      </p:sp>
      <p:sp>
        <p:nvSpPr>
          <p:cNvPr id="13" name="TextBox 12"/>
          <p:cNvSpPr txBox="1"/>
          <p:nvPr/>
        </p:nvSpPr>
        <p:spPr>
          <a:xfrm>
            <a:off x="658368" y="2816352"/>
            <a:ext cx="2999232" cy="713232"/>
          </a:xfrm>
          <a:prstGeom prst="rect">
            <a:avLst/>
          </a:prstGeom>
          <a:noFill/>
        </p:spPr>
        <p:txBody>
          <a:bodyPr wrap="square" lIns="18288" rIns="18288" tIns="18288" bIns="18288" anchor="ctr">
            <a:spAutoFit/>
          </a:bodyPr>
          <a:lstStyle/>
          <a:p>
            <a:pPr algn="ctr"/>
            <a:r>
              <a:rPr sz="1220" b="1" lang="en-US">
                <a:solidFill>
                  <a:srgbClr val="434343"/>
                </a:solidFill>
                <a:latin typeface="Arial"/>
              </a:rPr>
              <a:t>A classifier that always predicts 'negative' already scores 94.74% label accuracy.</a:t>
            </a:r>
          </a:p>
        </p:txBody>
      </p:sp>
      <p:sp>
        <p:nvSpPr>
          <p:cNvPr id="14" name="TextBox 13"/>
          <p:cNvSpPr txBox="1"/>
          <p:nvPr/>
        </p:nvSpPr>
        <p:spPr>
          <a:xfrm>
            <a:off x="4041648" y="1380744"/>
            <a:ext cx="4069080" cy="201168"/>
          </a:xfrm>
          <a:prstGeom prst="rect">
            <a:avLst/>
          </a:prstGeom>
          <a:noFill/>
        </p:spPr>
        <p:txBody>
          <a:bodyPr wrap="square" lIns="18288" rIns="18288" tIns="18288" bIns="18288" anchor="t">
            <a:spAutoFit/>
          </a:bodyPr>
          <a:lstStyle/>
          <a:p>
            <a:pPr algn="ctr"/>
            <a:r>
              <a:rPr sz="1000" b="1" lang="en-US">
                <a:solidFill>
                  <a:srgbClr val="C40D1E"/>
                </a:solidFill>
                <a:latin typeface="Arial"/>
              </a:rPr>
              <a:t>BASELINE VS FINAL MODEL</a:t>
            </a:r>
          </a:p>
        </p:txBody>
      </p:sp>
      <p:sp>
        <p:nvSpPr>
          <p:cNvPr id="15" name="TextBox 14"/>
          <p:cNvSpPr txBox="1"/>
          <p:nvPr/>
        </p:nvSpPr>
        <p:spPr>
          <a:xfrm>
            <a:off x="4041648" y="1746504"/>
            <a:ext cx="1298448" cy="256032"/>
          </a:xfrm>
          <a:prstGeom prst="rect">
            <a:avLst/>
          </a:prstGeom>
          <a:noFill/>
        </p:spPr>
        <p:txBody>
          <a:bodyPr wrap="square" lIns="18288" rIns="18288" tIns="18288" bIns="18288" anchor="t">
            <a:spAutoFit/>
          </a:bodyPr>
          <a:lstStyle/>
          <a:p>
            <a:pPr algn="ctr"/>
            <a:r>
              <a:rPr sz="840" b="1" lang="en-US">
                <a:solidFill>
                  <a:srgbClr val="434343"/>
                </a:solidFill>
                <a:latin typeface="Arial"/>
              </a:rPr>
              <a:t/>
            </a:r>
          </a:p>
        </p:txBody>
      </p:sp>
      <p:sp>
        <p:nvSpPr>
          <p:cNvPr id="16" name="TextBox 15"/>
          <p:cNvSpPr txBox="1"/>
          <p:nvPr/>
        </p:nvSpPr>
        <p:spPr>
          <a:xfrm>
            <a:off x="5394960" y="1746504"/>
            <a:ext cx="1298448" cy="256032"/>
          </a:xfrm>
          <a:prstGeom prst="rect">
            <a:avLst/>
          </a:prstGeom>
          <a:noFill/>
        </p:spPr>
        <p:txBody>
          <a:bodyPr wrap="square" lIns="18288" rIns="18288" tIns="18288" bIns="18288" anchor="t">
            <a:spAutoFit/>
          </a:bodyPr>
          <a:lstStyle/>
          <a:p>
            <a:pPr algn="ctr"/>
            <a:r>
              <a:rPr sz="840" b="1" lang="en-US">
                <a:solidFill>
                  <a:srgbClr val="434343"/>
                </a:solidFill>
                <a:latin typeface="Arial"/>
              </a:rPr>
              <a:t>ALL-NEGATIVE</a:t>
            </a:r>
          </a:p>
        </p:txBody>
      </p:sp>
      <p:sp>
        <p:nvSpPr>
          <p:cNvPr id="17" name="TextBox 16"/>
          <p:cNvSpPr txBox="1"/>
          <p:nvPr/>
        </p:nvSpPr>
        <p:spPr>
          <a:xfrm>
            <a:off x="6748272" y="1746504"/>
            <a:ext cx="1298448" cy="256032"/>
          </a:xfrm>
          <a:prstGeom prst="rect">
            <a:avLst/>
          </a:prstGeom>
          <a:noFill/>
        </p:spPr>
        <p:txBody>
          <a:bodyPr wrap="square" lIns="18288" rIns="18288" tIns="18288" bIns="18288" anchor="t">
            <a:spAutoFit/>
          </a:bodyPr>
          <a:lstStyle/>
          <a:p>
            <a:pPr algn="ctr"/>
            <a:r>
              <a:rPr sz="840" b="1" lang="en-US">
                <a:solidFill>
                  <a:srgbClr val="C40D1E"/>
                </a:solidFill>
                <a:latin typeface="Arial"/>
              </a:rPr>
              <a:t>VITA-FL r25</a:t>
            </a:r>
          </a:p>
        </p:txBody>
      </p:sp>
      <p:sp>
        <p:nvSpPr>
          <p:cNvPr id="18" name="Rectangle 17"/>
          <p:cNvSpPr/>
          <p:nvPr/>
        </p:nvSpPr>
        <p:spPr>
          <a:xfrm>
            <a:off x="4041648" y="2112264"/>
            <a:ext cx="4069080" cy="429768"/>
          </a:xfrm>
          <a:prstGeom prst="rect">
            <a:avLst/>
          </a:prstGeom>
          <a:solidFill>
            <a:srgbClr val="F3F3F3"/>
          </a:solidFill>
          <a:ln w="635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42232" y="2221992"/>
            <a:ext cx="1152144"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LABEL ACC.</a:t>
            </a:r>
          </a:p>
        </p:txBody>
      </p:sp>
      <p:sp>
        <p:nvSpPr>
          <p:cNvPr id="20" name="TextBox 19"/>
          <p:cNvSpPr txBox="1"/>
          <p:nvPr/>
        </p:nvSpPr>
        <p:spPr>
          <a:xfrm>
            <a:off x="5458968" y="2221992"/>
            <a:ext cx="1152144" cy="173736"/>
          </a:xfrm>
          <a:prstGeom prst="rect">
            <a:avLst/>
          </a:prstGeom>
          <a:noFill/>
        </p:spPr>
        <p:txBody>
          <a:bodyPr wrap="square" lIns="18288" rIns="18288" tIns="18288" bIns="18288" anchor="t">
            <a:spAutoFit/>
          </a:bodyPr>
          <a:lstStyle/>
          <a:p>
            <a:pPr algn="ctr"/>
            <a:r>
              <a:rPr sz="900" b="0" lang="en-US">
                <a:solidFill>
                  <a:srgbClr val="434343"/>
                </a:solidFill>
                <a:latin typeface="Arial"/>
              </a:rPr>
              <a:t>94.74%</a:t>
            </a:r>
          </a:p>
        </p:txBody>
      </p:sp>
      <p:sp>
        <p:nvSpPr>
          <p:cNvPr id="21" name="TextBox 20"/>
          <p:cNvSpPr txBox="1"/>
          <p:nvPr/>
        </p:nvSpPr>
        <p:spPr>
          <a:xfrm>
            <a:off x="6775704" y="2221992"/>
            <a:ext cx="1152144"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85.86%</a:t>
            </a:r>
          </a:p>
        </p:txBody>
      </p:sp>
      <p:sp>
        <p:nvSpPr>
          <p:cNvPr id="22" name="Rectangle 21"/>
          <p:cNvSpPr/>
          <p:nvPr/>
        </p:nvSpPr>
        <p:spPr>
          <a:xfrm>
            <a:off x="4041648" y="2596896"/>
            <a:ext cx="4069080" cy="429768"/>
          </a:xfrm>
          <a:prstGeom prst="rect">
            <a:avLst/>
          </a:prstGeom>
          <a:solidFill>
            <a:srgbClr val="FFFFFF"/>
          </a:solidFill>
          <a:ln w="635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42232" y="2706624"/>
            <a:ext cx="1152144"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EXACT MATCH</a:t>
            </a:r>
          </a:p>
        </p:txBody>
      </p:sp>
      <p:sp>
        <p:nvSpPr>
          <p:cNvPr id="24" name="TextBox 23"/>
          <p:cNvSpPr txBox="1"/>
          <p:nvPr/>
        </p:nvSpPr>
        <p:spPr>
          <a:xfrm>
            <a:off x="5458968" y="2706624"/>
            <a:ext cx="1152144" cy="173736"/>
          </a:xfrm>
          <a:prstGeom prst="rect">
            <a:avLst/>
          </a:prstGeom>
          <a:noFill/>
        </p:spPr>
        <p:txBody>
          <a:bodyPr wrap="square" lIns="18288" rIns="18288" tIns="18288" bIns="18288" anchor="t">
            <a:spAutoFit/>
          </a:bodyPr>
          <a:lstStyle/>
          <a:p>
            <a:pPr algn="ctr"/>
            <a:r>
              <a:rPr sz="900" b="0" lang="en-US">
                <a:solidFill>
                  <a:srgbClr val="434343"/>
                </a:solidFill>
                <a:latin typeface="Arial"/>
              </a:rPr>
              <a:t>53.17%</a:t>
            </a:r>
          </a:p>
        </p:txBody>
      </p:sp>
      <p:sp>
        <p:nvSpPr>
          <p:cNvPr id="25" name="TextBox 24"/>
          <p:cNvSpPr txBox="1"/>
          <p:nvPr/>
        </p:nvSpPr>
        <p:spPr>
          <a:xfrm>
            <a:off x="6775704" y="2706624"/>
            <a:ext cx="1152144"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26.02%</a:t>
            </a:r>
          </a:p>
        </p:txBody>
      </p:sp>
      <p:sp>
        <p:nvSpPr>
          <p:cNvPr id="26" name="Rectangle 25"/>
          <p:cNvSpPr/>
          <p:nvPr/>
        </p:nvSpPr>
        <p:spPr>
          <a:xfrm>
            <a:off x="4041648" y="3081528"/>
            <a:ext cx="4069080" cy="429768"/>
          </a:xfrm>
          <a:prstGeom prst="rect">
            <a:avLst/>
          </a:prstGeom>
          <a:solidFill>
            <a:srgbClr val="F3F3F3"/>
          </a:solidFill>
          <a:ln w="635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42232" y="3191256"/>
            <a:ext cx="1152144"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MACRO F1</a:t>
            </a:r>
          </a:p>
        </p:txBody>
      </p:sp>
      <p:sp>
        <p:nvSpPr>
          <p:cNvPr id="28" name="TextBox 27"/>
          <p:cNvSpPr txBox="1"/>
          <p:nvPr/>
        </p:nvSpPr>
        <p:spPr>
          <a:xfrm>
            <a:off x="5458968" y="3191256"/>
            <a:ext cx="1152144" cy="173736"/>
          </a:xfrm>
          <a:prstGeom prst="rect">
            <a:avLst/>
          </a:prstGeom>
          <a:noFill/>
        </p:spPr>
        <p:txBody>
          <a:bodyPr wrap="square" lIns="18288" rIns="18288" tIns="18288" bIns="18288" anchor="t">
            <a:spAutoFit/>
          </a:bodyPr>
          <a:lstStyle/>
          <a:p>
            <a:pPr algn="ctr"/>
            <a:r>
              <a:rPr sz="900" b="0" lang="en-US">
                <a:solidFill>
                  <a:srgbClr val="434343"/>
                </a:solidFill>
                <a:latin typeface="Arial"/>
              </a:rPr>
              <a:t>0.000</a:t>
            </a:r>
          </a:p>
        </p:txBody>
      </p:sp>
      <p:sp>
        <p:nvSpPr>
          <p:cNvPr id="29" name="TextBox 28"/>
          <p:cNvSpPr txBox="1"/>
          <p:nvPr/>
        </p:nvSpPr>
        <p:spPr>
          <a:xfrm>
            <a:off x="6775704" y="3191256"/>
            <a:ext cx="1152144" cy="173736"/>
          </a:xfrm>
          <a:prstGeom prst="rect">
            <a:avLst/>
          </a:prstGeom>
          <a:noFill/>
        </p:spPr>
        <p:txBody>
          <a:bodyPr wrap="square" lIns="18288" rIns="18288" tIns="18288" bIns="18288" anchor="t">
            <a:spAutoFit/>
          </a:bodyPr>
          <a:lstStyle/>
          <a:p>
            <a:pPr algn="ctr"/>
            <a:r>
              <a:rPr sz="900" b="1" lang="en-US">
                <a:solidFill>
                  <a:srgbClr val="2F8F46"/>
                </a:solidFill>
                <a:latin typeface="Arial"/>
              </a:rPr>
              <a:t>0.177</a:t>
            </a:r>
          </a:p>
        </p:txBody>
      </p:sp>
      <p:sp>
        <p:nvSpPr>
          <p:cNvPr id="30" name="Rectangle 29"/>
          <p:cNvSpPr/>
          <p:nvPr/>
        </p:nvSpPr>
        <p:spPr>
          <a:xfrm>
            <a:off x="4041648" y="3566160"/>
            <a:ext cx="4069080" cy="429768"/>
          </a:xfrm>
          <a:prstGeom prst="rect">
            <a:avLst/>
          </a:prstGeom>
          <a:solidFill>
            <a:srgbClr val="FFFFFF"/>
          </a:solidFill>
          <a:ln w="635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142232" y="3675888"/>
            <a:ext cx="1152144"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MACRO AUROC</a:t>
            </a:r>
          </a:p>
        </p:txBody>
      </p:sp>
      <p:sp>
        <p:nvSpPr>
          <p:cNvPr id="32" name="TextBox 31"/>
          <p:cNvSpPr txBox="1"/>
          <p:nvPr/>
        </p:nvSpPr>
        <p:spPr>
          <a:xfrm>
            <a:off x="5458968" y="3675888"/>
            <a:ext cx="1152144" cy="173736"/>
          </a:xfrm>
          <a:prstGeom prst="rect">
            <a:avLst/>
          </a:prstGeom>
          <a:noFill/>
        </p:spPr>
        <p:txBody>
          <a:bodyPr wrap="square" lIns="18288" rIns="18288" tIns="18288" bIns="18288" anchor="t">
            <a:spAutoFit/>
          </a:bodyPr>
          <a:lstStyle/>
          <a:p>
            <a:pPr algn="ctr"/>
            <a:r>
              <a:rPr sz="900" b="0" lang="en-US">
                <a:solidFill>
                  <a:srgbClr val="434343"/>
                </a:solidFill>
                <a:latin typeface="Arial"/>
              </a:rPr>
              <a:t>0.500</a:t>
            </a:r>
          </a:p>
        </p:txBody>
      </p:sp>
      <p:sp>
        <p:nvSpPr>
          <p:cNvPr id="33" name="TextBox 32"/>
          <p:cNvSpPr txBox="1"/>
          <p:nvPr/>
        </p:nvSpPr>
        <p:spPr>
          <a:xfrm>
            <a:off x="6775704" y="3675888"/>
            <a:ext cx="1152144" cy="173736"/>
          </a:xfrm>
          <a:prstGeom prst="rect">
            <a:avLst/>
          </a:prstGeom>
          <a:noFill/>
        </p:spPr>
        <p:txBody>
          <a:bodyPr wrap="square" lIns="18288" rIns="18288" tIns="18288" bIns="18288" anchor="t">
            <a:spAutoFit/>
          </a:bodyPr>
          <a:lstStyle/>
          <a:p>
            <a:pPr algn="ctr"/>
            <a:r>
              <a:rPr sz="900" b="1" lang="en-US">
                <a:solidFill>
                  <a:srgbClr val="2F8F46"/>
                </a:solidFill>
                <a:latin typeface="Arial"/>
              </a:rPr>
              <a:t>0.711</a:t>
            </a:r>
          </a:p>
        </p:txBody>
      </p:sp>
      <p:sp>
        <p:nvSpPr>
          <p:cNvPr id="34" name="Rounded Rectangle 33"/>
          <p:cNvSpPr/>
          <p:nvPr/>
        </p:nvSpPr>
        <p:spPr>
          <a:xfrm>
            <a:off x="8458200" y="1380744"/>
            <a:ext cx="3072384" cy="2651760"/>
          </a:xfrm>
          <a:prstGeom prst="roundRect">
            <a:avLst/>
          </a:prstGeom>
          <a:solidFill>
            <a:srgbClr val="FFF1E7"/>
          </a:solidFill>
          <a:ln w="1651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705088" y="1618488"/>
            <a:ext cx="2578608" cy="201168"/>
          </a:xfrm>
          <a:prstGeom prst="rect">
            <a:avLst/>
          </a:prstGeom>
          <a:noFill/>
        </p:spPr>
        <p:txBody>
          <a:bodyPr wrap="square" lIns="18288" rIns="18288" tIns="18288" bIns="18288" anchor="t">
            <a:spAutoFit/>
          </a:bodyPr>
          <a:lstStyle/>
          <a:p>
            <a:pPr algn="ctr"/>
            <a:r>
              <a:rPr sz="1019" b="1" lang="en-US">
                <a:solidFill>
                  <a:srgbClr val="FF6C00"/>
                </a:solidFill>
                <a:latin typeface="Arial"/>
              </a:rPr>
              <a:t>WHY F1 REMAINS LOW</a:t>
            </a:r>
          </a:p>
        </p:txBody>
      </p:sp>
      <p:sp>
        <p:nvSpPr>
          <p:cNvPr id="36" name="Oval 35"/>
          <p:cNvSpPr/>
          <p:nvPr/>
        </p:nvSpPr>
        <p:spPr>
          <a:xfrm>
            <a:off x="8723376" y="2075688"/>
            <a:ext cx="228600" cy="228600"/>
          </a:xfrm>
          <a:prstGeom prst="ellipse">
            <a:avLst/>
          </a:prstGeom>
          <a:solidFill>
            <a:srgbClr val="FFFFFF"/>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778240" y="2098548"/>
            <a:ext cx="118872" cy="109728"/>
          </a:xfrm>
          <a:prstGeom prst="rect">
            <a:avLst/>
          </a:prstGeom>
          <a:noFill/>
        </p:spPr>
        <p:txBody>
          <a:bodyPr wrap="square" lIns="0" rIns="0" tIns="0" bIns="0" anchor="t">
            <a:spAutoFit/>
          </a:bodyPr>
          <a:lstStyle/>
          <a:p>
            <a:pPr algn="ctr"/>
            <a:r>
              <a:rPr sz="850" b="1" lang="en-US">
                <a:solidFill>
                  <a:srgbClr val="FF6C00"/>
                </a:solidFill>
                <a:latin typeface="Arial"/>
              </a:rPr>
              <a:t>•</a:t>
            </a:r>
          </a:p>
        </p:txBody>
      </p:sp>
      <p:sp>
        <p:nvSpPr>
          <p:cNvPr id="38" name="TextBox 37"/>
          <p:cNvSpPr txBox="1"/>
          <p:nvPr/>
        </p:nvSpPr>
        <p:spPr>
          <a:xfrm>
            <a:off x="9079992" y="2066544"/>
            <a:ext cx="2057400" cy="228600"/>
          </a:xfrm>
          <a:prstGeom prst="rect">
            <a:avLst/>
          </a:prstGeom>
          <a:noFill/>
        </p:spPr>
        <p:txBody>
          <a:bodyPr wrap="square" lIns="18288" rIns="18288" tIns="18288" bIns="18288" anchor="t">
            <a:spAutoFit/>
          </a:bodyPr>
          <a:lstStyle/>
          <a:p>
            <a:pPr algn="l"/>
            <a:r>
              <a:rPr sz="969" b="1" lang="en-US">
                <a:solidFill>
                  <a:srgbClr val="434343"/>
                </a:solidFill>
                <a:latin typeface="Arial"/>
              </a:rPr>
              <a:t>rare positive labels</a:t>
            </a:r>
          </a:p>
        </p:txBody>
      </p:sp>
      <p:sp>
        <p:nvSpPr>
          <p:cNvPr id="39" name="Oval 38"/>
          <p:cNvSpPr/>
          <p:nvPr/>
        </p:nvSpPr>
        <p:spPr>
          <a:xfrm>
            <a:off x="8723376" y="2514600"/>
            <a:ext cx="228600" cy="228600"/>
          </a:xfrm>
          <a:prstGeom prst="ellipse">
            <a:avLst/>
          </a:prstGeom>
          <a:solidFill>
            <a:srgbClr val="FFFFFF"/>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778240" y="2537460"/>
            <a:ext cx="118872" cy="109728"/>
          </a:xfrm>
          <a:prstGeom prst="rect">
            <a:avLst/>
          </a:prstGeom>
          <a:noFill/>
        </p:spPr>
        <p:txBody>
          <a:bodyPr wrap="square" lIns="0" rIns="0" tIns="0" bIns="0" anchor="t">
            <a:spAutoFit/>
          </a:bodyPr>
          <a:lstStyle/>
          <a:p>
            <a:pPr algn="ctr"/>
            <a:r>
              <a:rPr sz="850" b="1" lang="en-US">
                <a:solidFill>
                  <a:srgbClr val="FF6C00"/>
                </a:solidFill>
                <a:latin typeface="Arial"/>
              </a:rPr>
              <a:t>•</a:t>
            </a:r>
          </a:p>
        </p:txBody>
      </p:sp>
      <p:sp>
        <p:nvSpPr>
          <p:cNvPr id="41" name="TextBox 40"/>
          <p:cNvSpPr txBox="1"/>
          <p:nvPr/>
        </p:nvSpPr>
        <p:spPr>
          <a:xfrm>
            <a:off x="9079992" y="2505456"/>
            <a:ext cx="2057400" cy="228600"/>
          </a:xfrm>
          <a:prstGeom prst="rect">
            <a:avLst/>
          </a:prstGeom>
          <a:noFill/>
        </p:spPr>
        <p:txBody>
          <a:bodyPr wrap="square" lIns="18288" rIns="18288" tIns="18288" bIns="18288" anchor="t">
            <a:spAutoFit/>
          </a:bodyPr>
          <a:lstStyle/>
          <a:p>
            <a:pPr algn="l"/>
            <a:r>
              <a:rPr sz="969" b="1" lang="en-US">
                <a:solidFill>
                  <a:srgbClr val="434343"/>
                </a:solidFill>
                <a:latin typeface="Arial"/>
              </a:rPr>
              <a:t>one fixed 0.5 threshold</a:t>
            </a:r>
          </a:p>
        </p:txBody>
      </p:sp>
      <p:sp>
        <p:nvSpPr>
          <p:cNvPr id="42" name="Oval 41"/>
          <p:cNvSpPr/>
          <p:nvPr/>
        </p:nvSpPr>
        <p:spPr>
          <a:xfrm>
            <a:off x="8723376" y="2953512"/>
            <a:ext cx="228600" cy="228600"/>
          </a:xfrm>
          <a:prstGeom prst="ellipse">
            <a:avLst/>
          </a:prstGeom>
          <a:solidFill>
            <a:srgbClr val="FFFFFF"/>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778240" y="2976372"/>
            <a:ext cx="118872" cy="109728"/>
          </a:xfrm>
          <a:prstGeom prst="rect">
            <a:avLst/>
          </a:prstGeom>
          <a:noFill/>
        </p:spPr>
        <p:txBody>
          <a:bodyPr wrap="square" lIns="0" rIns="0" tIns="0" bIns="0" anchor="t">
            <a:spAutoFit/>
          </a:bodyPr>
          <a:lstStyle/>
          <a:p>
            <a:pPr algn="ctr"/>
            <a:r>
              <a:rPr sz="850" b="1" lang="en-US">
                <a:solidFill>
                  <a:srgbClr val="FF6C00"/>
                </a:solidFill>
                <a:latin typeface="Arial"/>
              </a:rPr>
              <a:t>•</a:t>
            </a:r>
          </a:p>
        </p:txBody>
      </p:sp>
      <p:sp>
        <p:nvSpPr>
          <p:cNvPr id="44" name="TextBox 43"/>
          <p:cNvSpPr txBox="1"/>
          <p:nvPr/>
        </p:nvSpPr>
        <p:spPr>
          <a:xfrm>
            <a:off x="9079992" y="2944368"/>
            <a:ext cx="2057400" cy="228600"/>
          </a:xfrm>
          <a:prstGeom prst="rect">
            <a:avLst/>
          </a:prstGeom>
          <a:noFill/>
        </p:spPr>
        <p:txBody>
          <a:bodyPr wrap="square" lIns="18288" rIns="18288" tIns="18288" bIns="18288" anchor="t">
            <a:spAutoFit/>
          </a:bodyPr>
          <a:lstStyle/>
          <a:p>
            <a:pPr algn="l"/>
            <a:r>
              <a:rPr sz="969" b="1" lang="en-US">
                <a:solidFill>
                  <a:srgbClr val="434343"/>
                </a:solidFill>
                <a:latin typeface="Arial"/>
              </a:rPr>
              <a:t>two local epochs</a:t>
            </a:r>
          </a:p>
        </p:txBody>
      </p:sp>
      <p:sp>
        <p:nvSpPr>
          <p:cNvPr id="45" name="Oval 44"/>
          <p:cNvSpPr/>
          <p:nvPr/>
        </p:nvSpPr>
        <p:spPr>
          <a:xfrm>
            <a:off x="8723376" y="3392424"/>
            <a:ext cx="228600" cy="228600"/>
          </a:xfrm>
          <a:prstGeom prst="ellipse">
            <a:avLst/>
          </a:prstGeom>
          <a:solidFill>
            <a:srgbClr val="FFFFFF"/>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778240" y="3415284"/>
            <a:ext cx="118872" cy="109728"/>
          </a:xfrm>
          <a:prstGeom prst="rect">
            <a:avLst/>
          </a:prstGeom>
          <a:noFill/>
        </p:spPr>
        <p:txBody>
          <a:bodyPr wrap="square" lIns="0" rIns="0" tIns="0" bIns="0" anchor="t">
            <a:spAutoFit/>
          </a:bodyPr>
          <a:lstStyle/>
          <a:p>
            <a:pPr algn="ctr"/>
            <a:r>
              <a:rPr sz="850" b="1" lang="en-US">
                <a:solidFill>
                  <a:srgbClr val="FF6C00"/>
                </a:solidFill>
                <a:latin typeface="Arial"/>
              </a:rPr>
              <a:t>•</a:t>
            </a:r>
          </a:p>
        </p:txBody>
      </p:sp>
      <p:sp>
        <p:nvSpPr>
          <p:cNvPr id="47" name="TextBox 46"/>
          <p:cNvSpPr txBox="1"/>
          <p:nvPr/>
        </p:nvSpPr>
        <p:spPr>
          <a:xfrm>
            <a:off x="9079992" y="3383280"/>
            <a:ext cx="2057400" cy="228600"/>
          </a:xfrm>
          <a:prstGeom prst="rect">
            <a:avLst/>
          </a:prstGeom>
          <a:noFill/>
        </p:spPr>
        <p:txBody>
          <a:bodyPr wrap="square" lIns="18288" rIns="18288" tIns="18288" bIns="18288" anchor="t">
            <a:spAutoFit/>
          </a:bodyPr>
          <a:lstStyle/>
          <a:p>
            <a:pPr algn="l"/>
            <a:r>
              <a:rPr sz="969" b="1" lang="en-US">
                <a:solidFill>
                  <a:srgbClr val="434343"/>
                </a:solidFill>
                <a:latin typeface="Arial"/>
              </a:rPr>
              <a:t>compact two-convolution CNN</a:t>
            </a:r>
          </a:p>
        </p:txBody>
      </p:sp>
      <p:sp>
        <p:nvSpPr>
          <p:cNvPr id="48" name="Rounded Rectangle 47"/>
          <p:cNvSpPr/>
          <p:nvPr/>
        </p:nvSpPr>
        <p:spPr>
          <a:xfrm>
            <a:off x="713232" y="4343400"/>
            <a:ext cx="10771632" cy="530352"/>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60120" y="4480560"/>
            <a:ext cx="10277856" cy="265176"/>
          </a:xfrm>
          <a:prstGeom prst="rect">
            <a:avLst/>
          </a:prstGeom>
          <a:noFill/>
        </p:spPr>
        <p:txBody>
          <a:bodyPr wrap="square" lIns="18288" rIns="18288" tIns="18288" bIns="18288" anchor="ctr">
            <a:spAutoFit/>
          </a:bodyPr>
          <a:lstStyle/>
          <a:p>
            <a:pPr algn="ctr"/>
            <a:r>
              <a:rPr sz="1080" b="1" lang="en-US">
                <a:solidFill>
                  <a:srgbClr val="434343"/>
                </a:solidFill>
                <a:latin typeface="Arial"/>
              </a:rPr>
              <a:t>Interpretation: lower raw accuracy is compatible with learning positives; AUROC 0.711 shows ranking signal, while F1 0.177 calls for label-specific threshold calibration.</a:t>
            </a:r>
          </a:p>
        </p:txBody>
      </p:sp>
      <p:sp>
        <p:nvSpPr>
          <p:cNvPr id="50" name="Rectangle 49"/>
          <p:cNvSpPr/>
          <p:nvPr/>
        </p:nvSpPr>
        <p:spPr>
          <a:xfrm>
            <a:off x="1243584" y="5157216"/>
            <a:ext cx="9710928" cy="393192"/>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481328" y="5266944"/>
            <a:ext cx="9235440" cy="182880"/>
          </a:xfrm>
          <a:prstGeom prst="rect">
            <a:avLst/>
          </a:prstGeom>
          <a:noFill/>
        </p:spPr>
        <p:txBody>
          <a:bodyPr wrap="square" lIns="18288" rIns="18288" tIns="18288" bIns="18288" anchor="t">
            <a:spAutoFit/>
          </a:bodyPr>
          <a:lstStyle/>
          <a:p>
            <a:pPr algn="ctr"/>
            <a:r>
              <a:rPr sz="1140" b="1" lang="en-US">
                <a:solidFill>
                  <a:srgbClr val="FFFFFF"/>
                </a:solidFill>
                <a:latin typeface="Arial"/>
              </a:rPr>
              <a:t>Functional distributed-learning evidence — not a clinical validation.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Conclusion and outlook</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COMPOSED EVIDENCE WORKS · NEXT: STRENGTHEN SOURCE-TO-DEPLOYMENT TRUST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TextBox 7"/>
          <p:cNvSpPr txBox="1"/>
          <p:nvPr/>
        </p:nvSpPr>
        <p:spPr>
          <a:xfrm>
            <a:off x="713232" y="1353312"/>
            <a:ext cx="1920240" cy="219456"/>
          </a:xfrm>
          <a:prstGeom prst="rect">
            <a:avLst/>
          </a:prstGeom>
          <a:noFill/>
        </p:spPr>
        <p:txBody>
          <a:bodyPr wrap="square" lIns="18288" rIns="18288" tIns="18288" bIns="18288" anchor="t">
            <a:spAutoFit/>
          </a:bodyPr>
          <a:lstStyle/>
          <a:p>
            <a:pPr algn="l"/>
            <a:r>
              <a:rPr sz="1030" b="1" lang="en-US">
                <a:solidFill>
                  <a:srgbClr val="C40D1E"/>
                </a:solidFill>
                <a:latin typeface="Arial"/>
              </a:rPr>
              <a:t>CORE CONCLUSION</a:t>
            </a:r>
          </a:p>
        </p:txBody>
      </p:sp>
      <p:sp>
        <p:nvSpPr>
          <p:cNvPr id="9" name="TextBox 8"/>
          <p:cNvSpPr txBox="1"/>
          <p:nvPr/>
        </p:nvSpPr>
        <p:spPr>
          <a:xfrm>
            <a:off x="713232" y="1609344"/>
            <a:ext cx="10789920" cy="713232"/>
          </a:xfrm>
          <a:prstGeom prst="rect">
            <a:avLst/>
          </a:prstGeom>
          <a:noFill/>
        </p:spPr>
        <p:txBody>
          <a:bodyPr wrap="square" lIns="18288" rIns="18288" tIns="18288" bIns="18288" anchor="ctr">
            <a:spAutoFit/>
          </a:bodyPr>
          <a:lstStyle/>
          <a:p>
            <a:pPr algn="ctr"/>
            <a:r>
              <a:rPr sz="1950" b="1" lang="en-US">
                <a:solidFill>
                  <a:srgbClr val="434343"/>
                </a:solidFill>
                <a:latin typeface="Arial"/>
              </a:rPr>
              <a:t>VITA-FL composes scoped evidence from decentralized model production
to agent consumption.</a:t>
            </a:r>
          </a:p>
        </p:txBody>
      </p:sp>
      <p:sp>
        <p:nvSpPr>
          <p:cNvPr id="10" name="TextBox 9"/>
          <p:cNvSpPr txBox="1"/>
          <p:nvPr/>
        </p:nvSpPr>
        <p:spPr>
          <a:xfrm>
            <a:off x="1207008" y="2331720"/>
            <a:ext cx="9802368" cy="256032"/>
          </a:xfrm>
          <a:prstGeom prst="rect">
            <a:avLst/>
          </a:prstGeom>
          <a:noFill/>
        </p:spPr>
        <p:txBody>
          <a:bodyPr wrap="square" lIns="18288" rIns="18288" tIns="18288" bIns="18288" anchor="t">
            <a:spAutoFit/>
          </a:bodyPr>
          <a:lstStyle/>
          <a:p>
            <a:pPr algn="ctr"/>
            <a:r>
              <a:rPr sz="1120" b="1" lang="en-US">
                <a:solidFill>
                  <a:srgbClr val="C40D1E"/>
                </a:solidFill>
                <a:latin typeface="Arial"/>
              </a:rPr>
              <a:t>Reproducible proof of concept—not a trustless or clinically validated platform.</a:t>
            </a:r>
          </a:p>
        </p:txBody>
      </p:sp>
      <p:sp>
        <p:nvSpPr>
          <p:cNvPr id="11" name="TextBox 10"/>
          <p:cNvSpPr txBox="1"/>
          <p:nvPr/>
        </p:nvSpPr>
        <p:spPr>
          <a:xfrm>
            <a:off x="786384" y="2660904"/>
            <a:ext cx="1938528" cy="219456"/>
          </a:xfrm>
          <a:prstGeom prst="rect">
            <a:avLst/>
          </a:prstGeom>
          <a:noFill/>
        </p:spPr>
        <p:txBody>
          <a:bodyPr wrap="square" lIns="18288" rIns="18288" tIns="18288" bIns="18288" anchor="t">
            <a:spAutoFit/>
          </a:bodyPr>
          <a:lstStyle/>
          <a:p>
            <a:pPr algn="l"/>
            <a:r>
              <a:rPr sz="1050" b="1" lang="en-US">
                <a:solidFill>
                  <a:srgbClr val="2F8F46"/>
                </a:solidFill>
                <a:latin typeface="Arial"/>
              </a:rPr>
              <a:t>DEMONSTRATED</a:t>
            </a:r>
          </a:p>
        </p:txBody>
      </p:sp>
      <p:sp>
        <p:nvSpPr>
          <p:cNvPr id="12" name="TextBox 11"/>
          <p:cNvSpPr txBox="1"/>
          <p:nvPr/>
        </p:nvSpPr>
        <p:spPr>
          <a:xfrm>
            <a:off x="7406640" y="2660904"/>
            <a:ext cx="1115568" cy="219456"/>
          </a:xfrm>
          <a:prstGeom prst="rect">
            <a:avLst/>
          </a:prstGeom>
          <a:noFill/>
        </p:spPr>
        <p:txBody>
          <a:bodyPr wrap="square" lIns="18288" rIns="18288" tIns="18288" bIns="18288" anchor="t">
            <a:spAutoFit/>
          </a:bodyPr>
          <a:lstStyle/>
          <a:p>
            <a:pPr algn="l"/>
            <a:r>
              <a:rPr sz="1050" b="1" lang="en-US">
                <a:solidFill>
                  <a:srgbClr val="FF6C00"/>
                </a:solidFill>
                <a:latin typeface="Arial"/>
              </a:rPr>
              <a:t>NEXT</a:t>
            </a:r>
          </a:p>
        </p:txBody>
      </p:sp>
      <p:cxnSp>
        <p:nvCxnSpPr>
          <p:cNvPr id="13" name="Connector 12"/>
          <p:cNvCxnSpPr/>
          <p:nvPr/>
        </p:nvCxnSpPr>
        <p:spPr>
          <a:xfrm>
            <a:off x="1115568" y="3319272"/>
            <a:ext cx="4416552" cy="0"/>
          </a:xfrm>
          <a:prstGeom prst="line">
            <a:avLst/>
          </a:prstGeom>
          <a:ln w="3810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647688" y="3319272"/>
            <a:ext cx="4370832" cy="0"/>
          </a:xfrm>
          <a:prstGeom prst="line">
            <a:avLst/>
          </a:prstGeom>
          <a:ln w="381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14983" y="3008376"/>
            <a:ext cx="621792" cy="621792"/>
          </a:xfrm>
          <a:prstGeom prst="ellipse">
            <a:avLst/>
          </a:prstGeom>
          <a:solidFill>
            <a:srgbClr val="FFFFFF"/>
          </a:solidFill>
          <a:ln w="279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24712" y="3145536"/>
            <a:ext cx="402336" cy="274320"/>
          </a:xfrm>
          <a:prstGeom prst="rect">
            <a:avLst/>
          </a:prstGeom>
          <a:noFill/>
        </p:spPr>
        <p:txBody>
          <a:bodyPr wrap="square" lIns="0" rIns="0" tIns="0" bIns="0" anchor="t">
            <a:spAutoFit/>
          </a:bodyPr>
          <a:lstStyle/>
          <a:p>
            <a:pPr algn="ctr"/>
            <a:r>
              <a:rPr sz="1600" b="1" lang="en-US">
                <a:solidFill>
                  <a:srgbClr val="2F8F46"/>
                </a:solidFill>
                <a:latin typeface="Arial"/>
              </a:rPr>
              <a:t>✓</a:t>
            </a:r>
          </a:p>
        </p:txBody>
      </p:sp>
      <p:sp>
        <p:nvSpPr>
          <p:cNvPr id="17" name="TextBox 16"/>
          <p:cNvSpPr txBox="1"/>
          <p:nvPr/>
        </p:nvSpPr>
        <p:spPr>
          <a:xfrm>
            <a:off x="685800" y="3840480"/>
            <a:ext cx="1280160" cy="228600"/>
          </a:xfrm>
          <a:prstGeom prst="rect">
            <a:avLst/>
          </a:prstGeom>
          <a:noFill/>
        </p:spPr>
        <p:txBody>
          <a:bodyPr wrap="square" lIns="18288" rIns="18288" tIns="18288" bIns="18288" anchor="t">
            <a:spAutoFit/>
          </a:bodyPr>
          <a:lstStyle/>
          <a:p>
            <a:pPr algn="ctr"/>
            <a:r>
              <a:rPr sz="919" b="1" lang="en-US">
                <a:solidFill>
                  <a:srgbClr val="2F8F46"/>
                </a:solidFill>
                <a:latin typeface="Arial"/>
              </a:rPr>
              <a:t>SIGNED INPUT</a:t>
            </a:r>
          </a:p>
        </p:txBody>
      </p:sp>
      <p:sp>
        <p:nvSpPr>
          <p:cNvPr id="18" name="TextBox 17"/>
          <p:cNvSpPr txBox="1"/>
          <p:nvPr/>
        </p:nvSpPr>
        <p:spPr>
          <a:xfrm>
            <a:off x="667512" y="4142232"/>
            <a:ext cx="1316736" cy="438912"/>
          </a:xfrm>
          <a:prstGeom prst="rect">
            <a:avLst/>
          </a:prstGeom>
          <a:noFill/>
        </p:spPr>
        <p:txBody>
          <a:bodyPr wrap="square" lIns="18288" rIns="18288" tIns="18288" bIns="18288" anchor="t">
            <a:spAutoFit/>
          </a:bodyPr>
          <a:lstStyle/>
          <a:p>
            <a:pPr algn="ctr"/>
            <a:r>
              <a:rPr sz="800" b="0" lang="en-US">
                <a:solidFill>
                  <a:srgbClr val="434343"/>
                </a:solidFill>
                <a:latin typeface="Arial"/>
              </a:rPr>
              <a:t>independent provenance</a:t>
            </a:r>
          </a:p>
        </p:txBody>
      </p:sp>
      <p:sp>
        <p:nvSpPr>
          <p:cNvPr id="19" name="Oval 18"/>
          <p:cNvSpPr/>
          <p:nvPr/>
        </p:nvSpPr>
        <p:spPr>
          <a:xfrm>
            <a:off x="2660904" y="3008376"/>
            <a:ext cx="621792" cy="621792"/>
          </a:xfrm>
          <a:prstGeom prst="ellipse">
            <a:avLst/>
          </a:prstGeom>
          <a:solidFill>
            <a:srgbClr val="FFFFFF"/>
          </a:solidFill>
          <a:ln w="279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70632" y="3145536"/>
            <a:ext cx="402336" cy="274320"/>
          </a:xfrm>
          <a:prstGeom prst="rect">
            <a:avLst/>
          </a:prstGeom>
          <a:noFill/>
        </p:spPr>
        <p:txBody>
          <a:bodyPr wrap="square" lIns="0" rIns="0" tIns="0" bIns="0" anchor="t">
            <a:spAutoFit/>
          </a:bodyPr>
          <a:lstStyle/>
          <a:p>
            <a:pPr algn="ctr"/>
            <a:r>
              <a:rPr sz="1600" b="1" lang="en-US">
                <a:solidFill>
                  <a:srgbClr val="2F8F46"/>
                </a:solidFill>
                <a:latin typeface="Arial"/>
              </a:rPr>
              <a:t>✓</a:t>
            </a:r>
          </a:p>
        </p:txBody>
      </p:sp>
      <p:sp>
        <p:nvSpPr>
          <p:cNvPr id="21" name="TextBox 20"/>
          <p:cNvSpPr txBox="1"/>
          <p:nvPr/>
        </p:nvSpPr>
        <p:spPr>
          <a:xfrm>
            <a:off x="2331720" y="3840480"/>
            <a:ext cx="1280160" cy="228600"/>
          </a:xfrm>
          <a:prstGeom prst="rect">
            <a:avLst/>
          </a:prstGeom>
          <a:noFill/>
        </p:spPr>
        <p:txBody>
          <a:bodyPr wrap="square" lIns="18288" rIns="18288" tIns="18288" bIns="18288" anchor="t">
            <a:spAutoFit/>
          </a:bodyPr>
          <a:lstStyle/>
          <a:p>
            <a:pPr algn="ctr"/>
            <a:r>
              <a:rPr sz="919" b="1" lang="en-US">
                <a:solidFill>
                  <a:srgbClr val="2F8F46"/>
                </a:solidFill>
                <a:latin typeface="Arial"/>
              </a:rPr>
              <a:t>DFL MODEL</a:t>
            </a:r>
          </a:p>
        </p:txBody>
      </p:sp>
      <p:sp>
        <p:nvSpPr>
          <p:cNvPr id="22" name="TextBox 21"/>
          <p:cNvSpPr txBox="1"/>
          <p:nvPr/>
        </p:nvSpPr>
        <p:spPr>
          <a:xfrm>
            <a:off x="2313432" y="4142232"/>
            <a:ext cx="1316736" cy="438912"/>
          </a:xfrm>
          <a:prstGeom prst="rect">
            <a:avLst/>
          </a:prstGeom>
          <a:noFill/>
        </p:spPr>
        <p:txBody>
          <a:bodyPr wrap="square" lIns="18288" rIns="18288" tIns="18288" bIns="18288" anchor="t">
            <a:spAutoFit/>
          </a:bodyPr>
          <a:lstStyle/>
          <a:p>
            <a:pPr algn="ctr"/>
            <a:r>
              <a:rPr sz="800" b="0" lang="en-US">
                <a:solidFill>
                  <a:srgbClr val="434343"/>
                </a:solidFill>
                <a:latin typeface="Arial"/>
              </a:rPr>
              <a:t>closed set + atomic handoff</a:t>
            </a:r>
          </a:p>
        </p:txBody>
      </p:sp>
      <p:sp>
        <p:nvSpPr>
          <p:cNvPr id="23" name="Oval 22"/>
          <p:cNvSpPr/>
          <p:nvPr/>
        </p:nvSpPr>
        <p:spPr>
          <a:xfrm>
            <a:off x="4306824" y="3008376"/>
            <a:ext cx="621792" cy="621792"/>
          </a:xfrm>
          <a:prstGeom prst="ellipse">
            <a:avLst/>
          </a:prstGeom>
          <a:solidFill>
            <a:srgbClr val="FFFFFF"/>
          </a:solidFill>
          <a:ln w="279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16552" y="3145536"/>
            <a:ext cx="402336" cy="274320"/>
          </a:xfrm>
          <a:prstGeom prst="rect">
            <a:avLst/>
          </a:prstGeom>
          <a:noFill/>
        </p:spPr>
        <p:txBody>
          <a:bodyPr wrap="square" lIns="0" rIns="0" tIns="0" bIns="0" anchor="t">
            <a:spAutoFit/>
          </a:bodyPr>
          <a:lstStyle/>
          <a:p>
            <a:pPr algn="ctr"/>
            <a:r>
              <a:rPr sz="1600" b="1" lang="en-US">
                <a:solidFill>
                  <a:srgbClr val="2F8F46"/>
                </a:solidFill>
                <a:latin typeface="Arial"/>
              </a:rPr>
              <a:t>✓</a:t>
            </a:r>
          </a:p>
        </p:txBody>
      </p:sp>
      <p:sp>
        <p:nvSpPr>
          <p:cNvPr id="25" name="TextBox 24"/>
          <p:cNvSpPr txBox="1"/>
          <p:nvPr/>
        </p:nvSpPr>
        <p:spPr>
          <a:xfrm>
            <a:off x="3977639" y="3840480"/>
            <a:ext cx="1280160" cy="228600"/>
          </a:xfrm>
          <a:prstGeom prst="rect">
            <a:avLst/>
          </a:prstGeom>
          <a:noFill/>
        </p:spPr>
        <p:txBody>
          <a:bodyPr wrap="square" lIns="18288" rIns="18288" tIns="18288" bIns="18288" anchor="t">
            <a:spAutoFit/>
          </a:bodyPr>
          <a:lstStyle/>
          <a:p>
            <a:pPr algn="ctr"/>
            <a:r>
              <a:rPr sz="919" b="1" lang="en-US">
                <a:solidFill>
                  <a:srgbClr val="2F8F46"/>
                </a:solidFill>
                <a:latin typeface="Arial"/>
              </a:rPr>
              <a:t>ATTESTED USE</a:t>
            </a:r>
          </a:p>
        </p:txBody>
      </p:sp>
      <p:sp>
        <p:nvSpPr>
          <p:cNvPr id="26" name="TextBox 25"/>
          <p:cNvSpPr txBox="1"/>
          <p:nvPr/>
        </p:nvSpPr>
        <p:spPr>
          <a:xfrm>
            <a:off x="3959352" y="4142232"/>
            <a:ext cx="1316736" cy="438912"/>
          </a:xfrm>
          <a:prstGeom prst="rect">
            <a:avLst/>
          </a:prstGeom>
          <a:noFill/>
        </p:spPr>
        <p:txBody>
          <a:bodyPr wrap="square" lIns="18288" rIns="18288" tIns="18288" bIns="18288" anchor="t">
            <a:spAutoFit/>
          </a:bodyPr>
          <a:lstStyle/>
          <a:p>
            <a:pPr algn="ctr"/>
            <a:r>
              <a:rPr sz="800" b="0" lang="en-US">
                <a:solidFill>
                  <a:srgbClr val="434343"/>
                </a:solidFill>
                <a:latin typeface="Arial"/>
              </a:rPr>
              <a:t>TDX/AIR + receipts + SCITT</a:t>
            </a:r>
          </a:p>
        </p:txBody>
      </p:sp>
      <p:sp>
        <p:nvSpPr>
          <p:cNvPr id="27" name="Oval 26"/>
          <p:cNvSpPr/>
          <p:nvPr/>
        </p:nvSpPr>
        <p:spPr>
          <a:xfrm>
            <a:off x="5513832" y="2743200"/>
            <a:ext cx="1143000" cy="1143000"/>
          </a:xfrm>
          <a:prstGeom prst="ellipse">
            <a:avLst/>
          </a:prstGeom>
          <a:solidFill>
            <a:srgbClr val="FBEAEC"/>
          </a:solidFill>
          <a:ln w="228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50992" y="3054096"/>
            <a:ext cx="868680" cy="201168"/>
          </a:xfrm>
          <a:prstGeom prst="rect">
            <a:avLst/>
          </a:prstGeom>
          <a:noFill/>
        </p:spPr>
        <p:txBody>
          <a:bodyPr wrap="square" lIns="18288" rIns="18288" tIns="18288" bIns="18288" anchor="t">
            <a:spAutoFit/>
          </a:bodyPr>
          <a:lstStyle/>
          <a:p>
            <a:pPr algn="ctr"/>
            <a:r>
              <a:rPr sz="1019" b="1" lang="en-US">
                <a:solidFill>
                  <a:srgbClr val="C40D1E"/>
                </a:solidFill>
                <a:latin typeface="Arial"/>
              </a:rPr>
              <a:t>VITA-FL</a:t>
            </a:r>
          </a:p>
        </p:txBody>
      </p:sp>
      <p:sp>
        <p:nvSpPr>
          <p:cNvPr id="29" name="TextBox 28"/>
          <p:cNvSpPr txBox="1"/>
          <p:nvPr/>
        </p:nvSpPr>
        <p:spPr>
          <a:xfrm>
            <a:off x="5751576" y="3319272"/>
            <a:ext cx="667512" cy="182880"/>
          </a:xfrm>
          <a:prstGeom prst="rect">
            <a:avLst/>
          </a:prstGeom>
          <a:noFill/>
        </p:spPr>
        <p:txBody>
          <a:bodyPr wrap="square" lIns="18288" rIns="18288" tIns="18288" bIns="18288" anchor="t">
            <a:spAutoFit/>
          </a:bodyPr>
          <a:lstStyle/>
          <a:p>
            <a:pPr algn="ctr"/>
            <a:r>
              <a:rPr sz="900" b="1" lang="en-US">
                <a:solidFill>
                  <a:srgbClr val="434343"/>
                </a:solidFill>
                <a:latin typeface="Arial"/>
              </a:rPr>
              <a:t>PoC</a:t>
            </a:r>
          </a:p>
        </p:txBody>
      </p:sp>
      <p:sp>
        <p:nvSpPr>
          <p:cNvPr id="30" name="Oval 29"/>
          <p:cNvSpPr/>
          <p:nvPr/>
        </p:nvSpPr>
        <p:spPr>
          <a:xfrm>
            <a:off x="7168896" y="3008376"/>
            <a:ext cx="621792" cy="621792"/>
          </a:xfrm>
          <a:prstGeom prst="ellipse">
            <a:avLst/>
          </a:prstGeom>
          <a:solidFill>
            <a:srgbClr val="FFFFFF"/>
          </a:solidFill>
          <a:ln w="279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78624" y="3145536"/>
            <a:ext cx="402336" cy="274320"/>
          </a:xfrm>
          <a:prstGeom prst="rect">
            <a:avLst/>
          </a:prstGeom>
          <a:noFill/>
        </p:spPr>
        <p:txBody>
          <a:bodyPr wrap="square" lIns="0" rIns="0" tIns="0" bIns="0" anchor="t">
            <a:spAutoFit/>
          </a:bodyPr>
          <a:lstStyle/>
          <a:p>
            <a:pPr algn="ctr"/>
            <a:r>
              <a:rPr sz="1500" b="1" lang="en-US">
                <a:solidFill>
                  <a:srgbClr val="FF6C00"/>
                </a:solidFill>
                <a:latin typeface="Arial"/>
              </a:rPr>
              <a:t>→</a:t>
            </a:r>
          </a:p>
        </p:txBody>
      </p:sp>
      <p:sp>
        <p:nvSpPr>
          <p:cNvPr id="32" name="TextBox 31"/>
          <p:cNvSpPr txBox="1"/>
          <p:nvPr/>
        </p:nvSpPr>
        <p:spPr>
          <a:xfrm>
            <a:off x="6784848" y="3813048"/>
            <a:ext cx="1389888" cy="365760"/>
          </a:xfrm>
          <a:prstGeom prst="rect">
            <a:avLst/>
          </a:prstGeom>
          <a:noFill/>
        </p:spPr>
        <p:txBody>
          <a:bodyPr wrap="square" lIns="18288" rIns="18288" tIns="18288" bIns="18288" anchor="t">
            <a:spAutoFit/>
          </a:bodyPr>
          <a:lstStyle/>
          <a:p>
            <a:pPr algn="ctr"/>
            <a:r>
              <a:rPr sz="830" b="1" lang="en-US">
                <a:solidFill>
                  <a:srgbClr val="FF6C00"/>
                </a:solidFill>
                <a:latin typeface="Arial"/>
              </a:rPr>
              <a:t>SUPPLY CHAIN</a:t>
            </a:r>
          </a:p>
        </p:txBody>
      </p:sp>
      <p:sp>
        <p:nvSpPr>
          <p:cNvPr id="33" name="TextBox 32"/>
          <p:cNvSpPr txBox="1"/>
          <p:nvPr/>
        </p:nvSpPr>
        <p:spPr>
          <a:xfrm>
            <a:off x="6775704" y="4215384"/>
            <a:ext cx="1408176" cy="475488"/>
          </a:xfrm>
          <a:prstGeom prst="rect">
            <a:avLst/>
          </a:prstGeom>
          <a:noFill/>
        </p:spPr>
        <p:txBody>
          <a:bodyPr wrap="square" lIns="18288" rIns="18288" tIns="18288" bIns="18288" anchor="t">
            <a:spAutoFit/>
          </a:bodyPr>
          <a:lstStyle/>
          <a:p>
            <a:pPr algn="ctr"/>
            <a:r>
              <a:rPr sz="800" b="0" lang="en-US">
                <a:solidFill>
                  <a:srgbClr val="434343"/>
                </a:solidFill>
                <a:latin typeface="Arial"/>
              </a:rPr>
              <a:t>source→build · SBOM · signatures</a:t>
            </a:r>
          </a:p>
        </p:txBody>
      </p:sp>
      <p:sp>
        <p:nvSpPr>
          <p:cNvPr id="34" name="Oval 33"/>
          <p:cNvSpPr/>
          <p:nvPr/>
        </p:nvSpPr>
        <p:spPr>
          <a:xfrm>
            <a:off x="8833104" y="3008376"/>
            <a:ext cx="621792" cy="621792"/>
          </a:xfrm>
          <a:prstGeom prst="ellipse">
            <a:avLst/>
          </a:prstGeom>
          <a:solidFill>
            <a:srgbClr val="FFFFFF"/>
          </a:solidFill>
          <a:ln w="279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942832" y="3145536"/>
            <a:ext cx="402336" cy="274320"/>
          </a:xfrm>
          <a:prstGeom prst="rect">
            <a:avLst/>
          </a:prstGeom>
          <a:noFill/>
        </p:spPr>
        <p:txBody>
          <a:bodyPr wrap="square" lIns="0" rIns="0" tIns="0" bIns="0" anchor="t">
            <a:spAutoFit/>
          </a:bodyPr>
          <a:lstStyle/>
          <a:p>
            <a:pPr algn="ctr"/>
            <a:r>
              <a:rPr sz="1500" b="1" lang="en-US">
                <a:solidFill>
                  <a:srgbClr val="FF6C00"/>
                </a:solidFill>
                <a:latin typeface="Arial"/>
              </a:rPr>
              <a:t>→</a:t>
            </a:r>
          </a:p>
        </p:txBody>
      </p:sp>
      <p:sp>
        <p:nvSpPr>
          <p:cNvPr id="36" name="TextBox 35"/>
          <p:cNvSpPr txBox="1"/>
          <p:nvPr/>
        </p:nvSpPr>
        <p:spPr>
          <a:xfrm>
            <a:off x="8449056" y="3813048"/>
            <a:ext cx="1389888" cy="365760"/>
          </a:xfrm>
          <a:prstGeom prst="rect">
            <a:avLst/>
          </a:prstGeom>
          <a:noFill/>
        </p:spPr>
        <p:txBody>
          <a:bodyPr wrap="square" lIns="18288" rIns="18288" tIns="18288" bIns="18288" anchor="t">
            <a:spAutoFit/>
          </a:bodyPr>
          <a:lstStyle/>
          <a:p>
            <a:pPr algn="ctr"/>
            <a:r>
              <a:rPr sz="830" b="1" lang="en-US">
                <a:solidFill>
                  <a:srgbClr val="FF6C00"/>
                </a:solidFill>
                <a:latin typeface="Arial"/>
              </a:rPr>
              <a:t>INDEPENDENT LOGS</a:t>
            </a:r>
          </a:p>
        </p:txBody>
      </p:sp>
      <p:sp>
        <p:nvSpPr>
          <p:cNvPr id="37" name="TextBox 36"/>
          <p:cNvSpPr txBox="1"/>
          <p:nvPr/>
        </p:nvSpPr>
        <p:spPr>
          <a:xfrm>
            <a:off x="8439912" y="4215384"/>
            <a:ext cx="1408176" cy="475488"/>
          </a:xfrm>
          <a:prstGeom prst="rect">
            <a:avLst/>
          </a:prstGeom>
          <a:noFill/>
        </p:spPr>
        <p:txBody>
          <a:bodyPr wrap="square" lIns="18288" rIns="18288" tIns="18288" bIns="18288" anchor="t">
            <a:spAutoFit/>
          </a:bodyPr>
          <a:lstStyle/>
          <a:p>
            <a:pPr algn="ctr"/>
            <a:r>
              <a:rPr sz="800" b="0" lang="en-US">
                <a:solidFill>
                  <a:srgbClr val="434343"/>
                </a:solidFill>
                <a:latin typeface="Arial"/>
              </a:rPr>
              <a:t>witness · gossip · anchoring</a:t>
            </a:r>
          </a:p>
        </p:txBody>
      </p:sp>
      <p:sp>
        <p:nvSpPr>
          <p:cNvPr id="38" name="Oval 37"/>
          <p:cNvSpPr/>
          <p:nvPr/>
        </p:nvSpPr>
        <p:spPr>
          <a:xfrm>
            <a:off x="10497312" y="3008376"/>
            <a:ext cx="621792" cy="621792"/>
          </a:xfrm>
          <a:prstGeom prst="ellipse">
            <a:avLst/>
          </a:prstGeom>
          <a:solidFill>
            <a:srgbClr val="FFFFFF"/>
          </a:solidFill>
          <a:ln w="279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607040" y="3145536"/>
            <a:ext cx="402336" cy="274320"/>
          </a:xfrm>
          <a:prstGeom prst="rect">
            <a:avLst/>
          </a:prstGeom>
          <a:noFill/>
        </p:spPr>
        <p:txBody>
          <a:bodyPr wrap="square" lIns="0" rIns="0" tIns="0" bIns="0" anchor="t">
            <a:spAutoFit/>
          </a:bodyPr>
          <a:lstStyle/>
          <a:p>
            <a:pPr algn="ctr"/>
            <a:r>
              <a:rPr sz="1500" b="1" lang="en-US">
                <a:solidFill>
                  <a:srgbClr val="FF6C00"/>
                </a:solidFill>
                <a:latin typeface="Arial"/>
              </a:rPr>
              <a:t>→</a:t>
            </a:r>
          </a:p>
        </p:txBody>
      </p:sp>
      <p:sp>
        <p:nvSpPr>
          <p:cNvPr id="40" name="TextBox 39"/>
          <p:cNvSpPr txBox="1"/>
          <p:nvPr/>
        </p:nvSpPr>
        <p:spPr>
          <a:xfrm>
            <a:off x="10113264" y="3813048"/>
            <a:ext cx="1389888" cy="365760"/>
          </a:xfrm>
          <a:prstGeom prst="rect">
            <a:avLst/>
          </a:prstGeom>
          <a:noFill/>
        </p:spPr>
        <p:txBody>
          <a:bodyPr wrap="square" lIns="18288" rIns="18288" tIns="18288" bIns="18288" anchor="t">
            <a:spAutoFit/>
          </a:bodyPr>
          <a:lstStyle/>
          <a:p>
            <a:pPr algn="ctr"/>
            <a:r>
              <a:rPr sz="800" b="1" lang="en-US">
                <a:solidFill>
                  <a:srgbClr val="FF6C00"/>
                </a:solidFill>
                <a:latin typeface="Arial"/>
              </a:rPr>
              <a:t>ASSURANCE AT SCALE</a:t>
            </a:r>
          </a:p>
        </p:txBody>
      </p:sp>
      <p:sp>
        <p:nvSpPr>
          <p:cNvPr id="41" name="TextBox 40"/>
          <p:cNvSpPr txBox="1"/>
          <p:nvPr/>
        </p:nvSpPr>
        <p:spPr>
          <a:xfrm>
            <a:off x="10104120" y="4215384"/>
            <a:ext cx="1408176" cy="475488"/>
          </a:xfrm>
          <a:prstGeom prst="rect">
            <a:avLst/>
          </a:prstGeom>
          <a:noFill/>
        </p:spPr>
        <p:txBody>
          <a:bodyPr wrap="square" lIns="18288" rIns="18288" tIns="18288" bIns="18288" anchor="t">
            <a:spAutoFit/>
          </a:bodyPr>
          <a:lstStyle/>
          <a:p>
            <a:pPr algn="ctr"/>
            <a:r>
              <a:rPr sz="800" b="0" lang="en-US">
                <a:solidFill>
                  <a:srgbClr val="434343"/>
                </a:solidFill>
                <a:latin typeface="Arial"/>
              </a:rPr>
              <a:t>poisoning · native DICOM · repeated runs</a:t>
            </a:r>
          </a:p>
        </p:txBody>
      </p:sp>
      <p:sp>
        <p:nvSpPr>
          <p:cNvPr id="42" name="TextBox 41"/>
          <p:cNvSpPr txBox="1"/>
          <p:nvPr/>
        </p:nvSpPr>
        <p:spPr>
          <a:xfrm>
            <a:off x="1005840" y="4910328"/>
            <a:ext cx="10168128" cy="219456"/>
          </a:xfrm>
          <a:prstGeom prst="rect">
            <a:avLst/>
          </a:prstGeom>
          <a:noFill/>
        </p:spPr>
        <p:txBody>
          <a:bodyPr wrap="square" lIns="18288" rIns="18288" tIns="18288" bIns="18288" anchor="t">
            <a:spAutoFit/>
          </a:bodyPr>
          <a:lstStyle/>
          <a:p>
            <a:pPr algn="ctr"/>
            <a:r>
              <a:rPr sz="930" b="1" lang="en-US">
                <a:solidFill>
                  <a:srgbClr val="FF6C00"/>
                </a:solidFill>
                <a:latin typeface="Arial"/>
              </a:rPr>
              <a:t>Future-work milestones strengthen the chain; they are not demonstrated properties of the prototype.</a:t>
            </a:r>
          </a:p>
        </p:txBody>
      </p:sp>
      <p:sp>
        <p:nvSpPr>
          <p:cNvPr id="43" name="Rectangle 42"/>
          <p:cNvSpPr/>
          <p:nvPr/>
        </p:nvSpPr>
        <p:spPr>
          <a:xfrm>
            <a:off x="1600200" y="5294376"/>
            <a:ext cx="8988552" cy="10972"/>
          </a:xfrm>
          <a:prstGeom prst="rect">
            <a:avLst/>
          </a:prstGeom>
          <a:solidFill>
            <a:srgbClr val="D5D5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70848" y="5422392"/>
            <a:ext cx="2103120" cy="201168"/>
          </a:xfrm>
          <a:prstGeom prst="rect">
            <a:avLst/>
          </a:prstGeom>
          <a:noFill/>
        </p:spPr>
        <p:txBody>
          <a:bodyPr wrap="square" lIns="18288" rIns="18288" tIns="18288" bIns="18288" anchor="t">
            <a:spAutoFit/>
          </a:bodyPr>
          <a:lstStyle/>
          <a:p>
            <a:pPr algn="r"/>
            <a:r>
              <a:rPr sz="1040" b="1" lang="en-US">
                <a:solidFill>
                  <a:srgbClr val="C40D1E"/>
                </a:solidFill>
                <a:latin typeface="Arial"/>
              </a:rPr>
              <a:t>Thank you · Questions?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One worker image—two authorized measured roles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PER-WORKER RTMR3 REPLAY AND SEPARATE POLICY AUTHORIZATION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3081528" y="1307592"/>
            <a:ext cx="6035040" cy="694944"/>
          </a:xfrm>
          <a:prstGeom prst="roundRect">
            <a:avLst/>
          </a:prstGeom>
          <a:solidFill>
            <a:srgbClr val="F3F3F3"/>
          </a:solidFill>
          <a:ln w="152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19272" y="1499616"/>
            <a:ext cx="5559552" cy="228600"/>
          </a:xfrm>
          <a:prstGeom prst="rect">
            <a:avLst/>
          </a:prstGeom>
          <a:noFill/>
        </p:spPr>
        <p:txBody>
          <a:bodyPr wrap="square" lIns="18288" rIns="18288" tIns="18288" bIns="18288" anchor="t">
            <a:spAutoFit/>
          </a:bodyPr>
          <a:lstStyle/>
          <a:p>
            <a:pPr algn="ctr"/>
            <a:r>
              <a:rPr sz="1420" b="1" lang="en-US">
                <a:solidFill>
                  <a:srgbClr val="C40D1E"/>
                </a:solidFill>
                <a:latin typeface="Arial"/>
              </a:rPr>
              <a:t>ONE DIGEST-PINNED dfl-worker IMAGE</a:t>
            </a:r>
          </a:p>
        </p:txBody>
      </p:sp>
      <p:sp>
        <p:nvSpPr>
          <p:cNvPr id="10" name="TextBox 9"/>
          <p:cNvSpPr txBox="1"/>
          <p:nvPr/>
        </p:nvSpPr>
        <p:spPr>
          <a:xfrm>
            <a:off x="3410712" y="1746504"/>
            <a:ext cx="5376672"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The packaged image contains both training and native inference code.</a:t>
            </a:r>
          </a:p>
        </p:txBody>
      </p:sp>
      <p:cxnSp>
        <p:nvCxnSpPr>
          <p:cNvPr id="11" name="Connector 10"/>
          <p:cNvCxnSpPr/>
          <p:nvPr/>
        </p:nvCxnSpPr>
        <p:spPr>
          <a:xfrm>
            <a:off x="6099048" y="2002536"/>
            <a:ext cx="0" cy="219456"/>
          </a:xfrm>
          <a:prstGeom prst="line">
            <a:avLst/>
          </a:prstGeom>
          <a:ln w="2032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36392" y="2221992"/>
            <a:ext cx="5925312" cy="0"/>
          </a:xfrm>
          <a:prstGeom prst="line">
            <a:avLst/>
          </a:prstGeom>
          <a:ln w="2032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136392" y="2221992"/>
            <a:ext cx="0" cy="210312"/>
          </a:xfrm>
          <a:prstGeom prst="line">
            <a:avLst/>
          </a:prstGeom>
          <a:ln w="2032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061704" y="2221992"/>
            <a:ext cx="0" cy="210312"/>
          </a:xfrm>
          <a:prstGeom prst="line">
            <a:avLst/>
          </a:prstGeom>
          <a:ln w="2032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03504" y="2487168"/>
            <a:ext cx="5193792" cy="1975104"/>
          </a:xfrm>
          <a:prstGeom prst="roundRect">
            <a:avLst/>
          </a:prstGeom>
          <a:solidFill>
            <a:srgbClr val="EAF5FA"/>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2706624"/>
            <a:ext cx="4791456" cy="256032"/>
          </a:xfrm>
          <a:prstGeom prst="rect">
            <a:avLst/>
          </a:prstGeom>
          <a:noFill/>
        </p:spPr>
        <p:txBody>
          <a:bodyPr wrap="square" lIns="18288" rIns="18288" tIns="18288" bIns="18288" anchor="t">
            <a:spAutoFit/>
          </a:bodyPr>
          <a:lstStyle/>
          <a:p>
            <a:pPr algn="ctr"/>
            <a:r>
              <a:rPr sz="1500" b="1" lang="en-US">
                <a:solidFill>
                  <a:srgbClr val="1F90CC"/>
                </a:solidFill>
                <a:latin typeface="Arial"/>
              </a:rPr>
              <a:t>WORKERS 1–5</a:t>
            </a:r>
          </a:p>
        </p:txBody>
      </p:sp>
      <p:sp>
        <p:nvSpPr>
          <p:cNvPr id="17" name="TextBox 16"/>
          <p:cNvSpPr txBox="1"/>
          <p:nvPr/>
        </p:nvSpPr>
        <p:spPr>
          <a:xfrm>
            <a:off x="804672" y="3044952"/>
            <a:ext cx="4791456" cy="201168"/>
          </a:xfrm>
          <a:prstGeom prst="rect">
            <a:avLst/>
          </a:prstGeom>
          <a:noFill/>
        </p:spPr>
        <p:txBody>
          <a:bodyPr wrap="square" lIns="18288" rIns="18288" tIns="18288" bIns="18288" anchor="t">
            <a:spAutoFit/>
          </a:bodyPr>
          <a:lstStyle/>
          <a:p>
            <a:pPr algn="ctr"/>
            <a:r>
              <a:rPr sz="1000" b="1" lang="en-US">
                <a:solidFill>
                  <a:srgbClr val="434343"/>
                </a:solidFill>
                <a:latin typeface="Arial"/>
              </a:rPr>
              <a:t>TRAINING-ONLY PROFILE</a:t>
            </a:r>
          </a:p>
        </p:txBody>
      </p:sp>
      <p:sp>
        <p:nvSpPr>
          <p:cNvPr id="18" name="TextBox 17"/>
          <p:cNvSpPr txBox="1"/>
          <p:nvPr/>
        </p:nvSpPr>
        <p:spPr>
          <a:xfrm>
            <a:off x="905256" y="3383280"/>
            <a:ext cx="4590288" cy="877824"/>
          </a:xfrm>
          <a:prstGeom prst="rect">
            <a:avLst/>
          </a:prstGeom>
          <a:noFill/>
        </p:spPr>
        <p:txBody>
          <a:bodyPr wrap="square" lIns="27432" rIns="27432" tIns="18288" bIns="18288">
            <a:spAutoFit/>
          </a:bodyPr>
          <a:lstStyle/>
          <a:p>
            <a:pPr>
              <a:lnSpc>
                <a:spcPct val="100000"/>
              </a:lnSpc>
              <a:spcAft>
                <a:spcPts val="300"/>
              </a:spcAft>
            </a:pPr>
            <a:r>
              <a:rPr sz="1000" lang="en-US">
                <a:solidFill>
                  <a:srgbClr val="1F90CC"/>
                </a:solidFill>
                <a:latin typeface="Arial"/>
              </a:rPr>
              <a:t>●  </a:t>
            </a:r>
            <a:r>
              <a:rPr sz="900" lang="en-US">
                <a:solidFill>
                  <a:srgbClr val="434343"/>
                </a:solidFill>
                <a:latin typeface="Arial"/>
              </a:rPr>
              <a:t>TEE_INFERENCE_ENABLED = 0</a:t>
            </a:r>
          </a:p>
          <a:p>
            <a:pPr>
              <a:lnSpc>
                <a:spcPct val="100000"/>
              </a:lnSpc>
              <a:spcAft>
                <a:spcPts val="300"/>
              </a:spcAft>
            </a:pPr>
            <a:r>
              <a:rPr sz="1000" lang="en-US">
                <a:solidFill>
                  <a:srgbClr val="1F90CC"/>
                </a:solidFill>
                <a:latin typeface="Arial"/>
              </a:rPr>
              <a:t>●  </a:t>
            </a:r>
            <a:r>
              <a:rPr sz="900" lang="en-US">
                <a:solidFill>
                  <a:srgbClr val="434343"/>
                </a:solidFill>
                <a:latin typeface="Arial"/>
              </a:rPr>
              <a:t>Inference process and endpoint are not started</a:t>
            </a:r>
          </a:p>
          <a:p>
            <a:pPr>
              <a:lnSpc>
                <a:spcPct val="100000"/>
              </a:lnSpc>
              <a:spcAft>
                <a:spcPts val="300"/>
              </a:spcAft>
            </a:pPr>
            <a:r>
              <a:rPr sz="1000" lang="en-US">
                <a:solidFill>
                  <a:srgbClr val="1F90CC"/>
                </a:solidFill>
                <a:latin typeface="Arial"/>
              </a:rPr>
              <a:t>●  </a:t>
            </a:r>
            <a:r>
              <a:rPr sz="900" lang="en-US">
                <a:solidFill>
                  <a:srgbClr val="434343"/>
                </a:solidFill>
                <a:latin typeface="Arial"/>
              </a:rPr>
              <a:t>Training-only policy-v2 identity</a:t>
            </a:r>
          </a:p>
          <a:p>
            <a:pPr>
              <a:lnSpc>
                <a:spcPct val="100000"/>
              </a:lnSpc>
              <a:spcAft>
                <a:spcPts val="300"/>
              </a:spcAft>
            </a:pPr>
            <a:r>
              <a:rPr sz="1000" lang="en-US">
                <a:solidFill>
                  <a:srgbClr val="1F90CC"/>
                </a:solidFill>
                <a:latin typeface="Arial"/>
              </a:rPr>
              <a:t>●  </a:t>
            </a:r>
            <a:r>
              <a:rPr sz="900" lang="en-US">
                <a:solidFill>
                  <a:srgbClr val="434343"/>
                </a:solidFill>
                <a:latin typeface="Arial"/>
              </a:rPr>
              <a:t>Worker-specific Compose, event log, Quote V4, and RTMR3</a:t>
            </a:r>
          </a:p>
        </p:txBody>
      </p:sp>
      <p:sp>
        <p:nvSpPr>
          <p:cNvPr id="19" name="Rounded Rectangle 18"/>
          <p:cNvSpPr/>
          <p:nvPr/>
        </p:nvSpPr>
        <p:spPr>
          <a:xfrm>
            <a:off x="6391656" y="2487168"/>
            <a:ext cx="5193792" cy="1975104"/>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92824" y="2706624"/>
            <a:ext cx="4791456" cy="256032"/>
          </a:xfrm>
          <a:prstGeom prst="rect">
            <a:avLst/>
          </a:prstGeom>
          <a:noFill/>
        </p:spPr>
        <p:txBody>
          <a:bodyPr wrap="square" lIns="18288" rIns="18288" tIns="18288" bIns="18288" anchor="t">
            <a:spAutoFit/>
          </a:bodyPr>
          <a:lstStyle/>
          <a:p>
            <a:pPr algn="ctr"/>
            <a:r>
              <a:rPr sz="1500" b="1" lang="en-US">
                <a:solidFill>
                  <a:srgbClr val="2F8F46"/>
                </a:solidFill>
                <a:latin typeface="Arial"/>
              </a:rPr>
              <a:t>WORKER 0</a:t>
            </a:r>
          </a:p>
        </p:txBody>
      </p:sp>
      <p:sp>
        <p:nvSpPr>
          <p:cNvPr id="21" name="TextBox 20"/>
          <p:cNvSpPr txBox="1"/>
          <p:nvPr/>
        </p:nvSpPr>
        <p:spPr>
          <a:xfrm>
            <a:off x="6592824" y="3044952"/>
            <a:ext cx="4791456" cy="201168"/>
          </a:xfrm>
          <a:prstGeom prst="rect">
            <a:avLst/>
          </a:prstGeom>
          <a:noFill/>
        </p:spPr>
        <p:txBody>
          <a:bodyPr wrap="square" lIns="18288" rIns="18288" tIns="18288" bIns="18288" anchor="t">
            <a:spAutoFit/>
          </a:bodyPr>
          <a:lstStyle/>
          <a:p>
            <a:pPr algn="ctr"/>
            <a:r>
              <a:rPr sz="1000" b="1" lang="en-US">
                <a:solidFill>
                  <a:srgbClr val="434343"/>
                </a:solidFill>
                <a:latin typeface="Arial"/>
              </a:rPr>
              <a:t>COMBINED PROFILE</a:t>
            </a:r>
          </a:p>
        </p:txBody>
      </p:sp>
      <p:sp>
        <p:nvSpPr>
          <p:cNvPr id="22" name="TextBox 21"/>
          <p:cNvSpPr txBox="1"/>
          <p:nvPr/>
        </p:nvSpPr>
        <p:spPr>
          <a:xfrm>
            <a:off x="6693408" y="3383280"/>
            <a:ext cx="4590288" cy="877824"/>
          </a:xfrm>
          <a:prstGeom prst="rect">
            <a:avLst/>
          </a:prstGeom>
          <a:noFill/>
        </p:spPr>
        <p:txBody>
          <a:bodyPr wrap="square" lIns="27432" rIns="27432" tIns="18288" bIns="18288">
            <a:spAutoFit/>
          </a:bodyPr>
          <a:lstStyle/>
          <a:p>
            <a:pPr>
              <a:lnSpc>
                <a:spcPct val="100000"/>
              </a:lnSpc>
              <a:spcAft>
                <a:spcPts val="300"/>
              </a:spcAft>
            </a:pPr>
            <a:r>
              <a:rPr sz="1000" lang="en-US">
                <a:solidFill>
                  <a:srgbClr val="2F8F46"/>
                </a:solidFill>
                <a:latin typeface="Arial"/>
              </a:rPr>
              <a:t>●  </a:t>
            </a:r>
            <a:r>
              <a:rPr sz="900" lang="en-US">
                <a:solidFill>
                  <a:srgbClr val="434343"/>
                </a:solidFill>
                <a:latin typeface="Arial"/>
              </a:rPr>
              <a:t>TEE_INFERENCE_ENABLED = 1</a:t>
            </a:r>
          </a:p>
          <a:p>
            <a:pPr>
              <a:lnSpc>
                <a:spcPct val="100000"/>
              </a:lnSpc>
              <a:spcAft>
                <a:spcPts val="300"/>
              </a:spcAft>
            </a:pPr>
            <a:r>
              <a:rPr sz="1000" lang="en-US">
                <a:solidFill>
                  <a:srgbClr val="2F8F46"/>
                </a:solidFill>
                <a:latin typeface="Arial"/>
              </a:rPr>
              <a:t>●  </a:t>
            </a:r>
            <a:r>
              <a:rPr sz="900" lang="en-US">
                <a:solidFill>
                  <a:srgbClr val="434343"/>
                </a:solidFill>
                <a:latin typeface="Arial"/>
              </a:rPr>
              <a:t>Receiver starts beside the DFL services in the same CVM</a:t>
            </a:r>
          </a:p>
          <a:p>
            <a:pPr>
              <a:lnSpc>
                <a:spcPct val="100000"/>
              </a:lnSpc>
              <a:spcAft>
                <a:spcPts val="300"/>
              </a:spcAft>
            </a:pPr>
            <a:r>
              <a:rPr sz="1000" lang="en-US">
                <a:solidFill>
                  <a:srgbClr val="2F8F46"/>
                </a:solidFill>
                <a:latin typeface="Arial"/>
              </a:rPr>
              <a:t>●  </a:t>
            </a:r>
            <a:r>
              <a:rPr sz="900" lang="en-US">
                <a:solidFill>
                  <a:srgbClr val="434343"/>
                </a:solidFill>
                <a:latin typeface="Arial"/>
              </a:rPr>
              <a:t>Combined training-and-inference policy-v2 identity</a:t>
            </a:r>
          </a:p>
          <a:p>
            <a:pPr>
              <a:lnSpc>
                <a:spcPct val="100000"/>
              </a:lnSpc>
              <a:spcAft>
                <a:spcPts val="300"/>
              </a:spcAft>
            </a:pPr>
            <a:r>
              <a:rPr sz="1000" lang="en-US">
                <a:solidFill>
                  <a:srgbClr val="2F8F46"/>
                </a:solidFill>
                <a:latin typeface="Arial"/>
              </a:rPr>
              <a:t>●  </a:t>
            </a:r>
            <a:r>
              <a:rPr sz="900" lang="en-US">
                <a:solidFill>
                  <a:srgbClr val="434343"/>
                </a:solidFill>
                <a:latin typeface="Arial"/>
              </a:rPr>
              <a:t>Its own Compose, event log, Quote V4, and RTMR3</a:t>
            </a:r>
          </a:p>
        </p:txBody>
      </p:sp>
      <p:sp>
        <p:nvSpPr>
          <p:cNvPr id="23" name="Rectangle 22"/>
          <p:cNvSpPr/>
          <p:nvPr/>
        </p:nvSpPr>
        <p:spPr>
          <a:xfrm>
            <a:off x="676656" y="4645152"/>
            <a:ext cx="6912864" cy="51206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754880"/>
            <a:ext cx="1609344" cy="182880"/>
          </a:xfrm>
          <a:prstGeom prst="rect">
            <a:avLst/>
          </a:prstGeom>
          <a:noFill/>
        </p:spPr>
        <p:txBody>
          <a:bodyPr wrap="square" lIns="18288" rIns="18288" tIns="18288" bIns="18288" anchor="t">
            <a:spAutoFit/>
          </a:bodyPr>
          <a:lstStyle/>
          <a:p>
            <a:pPr algn="l"/>
            <a:r>
              <a:rPr sz="880" b="1" lang="en-US">
                <a:solidFill>
                  <a:srgbClr val="7A35B5"/>
                </a:solidFill>
                <a:latin typeface="Arial"/>
              </a:rPr>
              <a:t>PER-WORKER REPLAY</a:t>
            </a:r>
          </a:p>
        </p:txBody>
      </p:sp>
      <p:sp>
        <p:nvSpPr>
          <p:cNvPr id="25" name="TextBox 24"/>
          <p:cNvSpPr txBox="1"/>
          <p:nvPr/>
        </p:nvSpPr>
        <p:spPr>
          <a:xfrm>
            <a:off x="2423160" y="4727448"/>
            <a:ext cx="4956048" cy="237744"/>
          </a:xfrm>
          <a:prstGeom prst="rect">
            <a:avLst/>
          </a:prstGeom>
          <a:noFill/>
        </p:spPr>
        <p:txBody>
          <a:bodyPr wrap="square" lIns="18288" rIns="18288" tIns="18288" bIns="18288" anchor="ctr">
            <a:spAutoFit/>
          </a:bodyPr>
          <a:lstStyle/>
          <a:p>
            <a:pPr algn="ctr"/>
            <a:r>
              <a:rPr sz="869" b="1" lang="en-US">
                <a:solidFill>
                  <a:srgbClr val="434343"/>
                </a:solidFill>
                <a:latin typeface="Arial"/>
              </a:rPr>
              <a:t>Compose preimage → ordered events → reconstructed RTMR3 = quoted RTMR3</a:t>
            </a:r>
          </a:p>
        </p:txBody>
      </p:sp>
      <p:sp>
        <p:nvSpPr>
          <p:cNvPr id="26" name="Rectangle 25"/>
          <p:cNvSpPr/>
          <p:nvPr/>
        </p:nvSpPr>
        <p:spPr>
          <a:xfrm>
            <a:off x="7754112" y="4645152"/>
            <a:ext cx="3776472" cy="51206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18704" y="4754880"/>
            <a:ext cx="1225296" cy="182880"/>
          </a:xfrm>
          <a:prstGeom prst="rect">
            <a:avLst/>
          </a:prstGeom>
          <a:noFill/>
        </p:spPr>
        <p:txBody>
          <a:bodyPr wrap="square" lIns="18288" rIns="18288" tIns="18288" bIns="18288" anchor="t">
            <a:spAutoFit/>
          </a:bodyPr>
          <a:lstStyle/>
          <a:p>
            <a:pPr algn="l"/>
            <a:r>
              <a:rPr sz="880" b="1" lang="en-US">
                <a:solidFill>
                  <a:srgbClr val="FF6C00"/>
                </a:solidFill>
                <a:latin typeface="Arial"/>
              </a:rPr>
              <a:t>AUTHORIZATION</a:t>
            </a:r>
          </a:p>
        </p:txBody>
      </p:sp>
      <p:sp>
        <p:nvSpPr>
          <p:cNvPr id="28" name="TextBox 27"/>
          <p:cNvSpPr txBox="1"/>
          <p:nvPr/>
        </p:nvSpPr>
        <p:spPr>
          <a:xfrm>
            <a:off x="9125712" y="4718304"/>
            <a:ext cx="2194560" cy="265176"/>
          </a:xfrm>
          <a:prstGeom prst="rect">
            <a:avLst/>
          </a:prstGeom>
          <a:noFill/>
        </p:spPr>
        <p:txBody>
          <a:bodyPr wrap="square" lIns="18288" rIns="18288" tIns="18288" bIns="18288" anchor="ctr">
            <a:spAutoFit/>
          </a:bodyPr>
          <a:lstStyle/>
          <a:p>
            <a:pPr algn="ctr"/>
            <a:r>
              <a:rPr sz="830" b="1" lang="en-US">
                <a:solidFill>
                  <a:srgbClr val="434343"/>
                </a:solidFill>
                <a:latin typeface="Arial"/>
              </a:rPr>
              <a:t>expected image digest + allowed role-policy hash</a:t>
            </a:r>
          </a:p>
        </p:txBody>
      </p:sp>
      <p:sp>
        <p:nvSpPr>
          <p:cNvPr id="29" name="Rectangle 28"/>
          <p:cNvSpPr/>
          <p:nvPr/>
        </p:nvSpPr>
        <p:spPr>
          <a:xfrm>
            <a:off x="932688" y="5340096"/>
            <a:ext cx="10341864" cy="384048"/>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15568" y="5431536"/>
            <a:ext cx="9976104" cy="201168"/>
          </a:xfrm>
          <a:prstGeom prst="rect">
            <a:avLst/>
          </a:prstGeom>
          <a:noFill/>
        </p:spPr>
        <p:txBody>
          <a:bodyPr wrap="square" lIns="18288" rIns="18288" tIns="18288" bIns="18288" anchor="ctr">
            <a:spAutoFit/>
          </a:bodyPr>
          <a:lstStyle/>
          <a:p>
            <a:pPr algn="ctr"/>
            <a:r>
              <a:rPr sz="1019" b="1" lang="en-US">
                <a:solidFill>
                  <a:srgbClr val="FFFFFF"/>
                </a:solidFill>
                <a:latin typeface="Arial"/>
              </a:rPr>
              <a:t>Different Compose and RTMR3 values may pass; an injected image or unapproved role misses the admitted policy.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Use and misuse cases: DFL production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THREAT VIEWS T1–T7</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ectangle 7"/>
          <p:cNvSpPr/>
          <p:nvPr/>
        </p:nvSpPr>
        <p:spPr>
          <a:xfrm>
            <a:off x="603504"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  </a:t>
            </a:r>
            <a:r>
              <a:rPr sz="950" b="1" lang="en-US">
                <a:solidFill>
                  <a:srgbClr val="434343"/>
                </a:solidFill>
                <a:latin typeface="Arial"/>
              </a:rPr>
              <a:t>Admission / identity</a:t>
            </a:r>
          </a:p>
        </p:txBody>
      </p:sp>
      <p:pic>
        <p:nvPicPr>
          <p:cNvPr id="10" name="Picture 9" descr="T1.png"/>
          <p:cNvPicPr>
            <a:picLocks noChangeAspect="1"/>
          </p:cNvPicPr>
          <p:nvPr/>
        </p:nvPicPr>
        <p:blipFill>
          <a:blip r:embed="rId2"/>
          <a:stretch>
            <a:fillRect/>
          </a:stretch>
        </p:blipFill>
        <p:spPr>
          <a:xfrm>
            <a:off x="886149" y="1719072"/>
            <a:ext cx="2013316" cy="1353312"/>
          </a:xfrm>
          <a:prstGeom prst="rect">
            <a:avLst/>
          </a:prstGeom>
        </p:spPr>
      </p:pic>
      <p:sp>
        <p:nvSpPr>
          <p:cNvPr id="11" name="Rectangle 10"/>
          <p:cNvSpPr/>
          <p:nvPr/>
        </p:nvSpPr>
        <p:spPr>
          <a:xfrm>
            <a:off x="3401568"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02152"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T2  </a:t>
            </a:r>
            <a:r>
              <a:rPr sz="950" b="1" lang="en-US">
                <a:solidFill>
                  <a:srgbClr val="434343"/>
                </a:solidFill>
                <a:latin typeface="Arial"/>
              </a:rPr>
              <a:t>Replay / stale context</a:t>
            </a:r>
          </a:p>
        </p:txBody>
      </p:sp>
      <p:pic>
        <p:nvPicPr>
          <p:cNvPr id="13" name="Picture 12" descr="T2.png"/>
          <p:cNvPicPr>
            <a:picLocks noChangeAspect="1"/>
          </p:cNvPicPr>
          <p:nvPr/>
        </p:nvPicPr>
        <p:blipFill>
          <a:blip r:embed="rId3"/>
          <a:stretch>
            <a:fillRect/>
          </a:stretch>
        </p:blipFill>
        <p:spPr>
          <a:xfrm>
            <a:off x="3699734" y="1719072"/>
            <a:ext cx="1982274" cy="1353312"/>
          </a:xfrm>
          <a:prstGeom prst="rect">
            <a:avLst/>
          </a:prstGeom>
        </p:spPr>
      </p:pic>
      <p:sp>
        <p:nvSpPr>
          <p:cNvPr id="14" name="Rectangle 13"/>
          <p:cNvSpPr/>
          <p:nvPr/>
        </p:nvSpPr>
        <p:spPr>
          <a:xfrm>
            <a:off x="6199632"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0216"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T3  </a:t>
            </a:r>
            <a:r>
              <a:rPr sz="950" b="1" lang="en-US">
                <a:solidFill>
                  <a:srgbClr val="434343"/>
                </a:solidFill>
                <a:latin typeface="Arial"/>
              </a:rPr>
              <a:t>Training-input provenance</a:t>
            </a:r>
          </a:p>
        </p:txBody>
      </p:sp>
      <p:pic>
        <p:nvPicPr>
          <p:cNvPr id="16" name="Picture 15" descr="T3.png"/>
          <p:cNvPicPr>
            <a:picLocks noChangeAspect="1"/>
          </p:cNvPicPr>
          <p:nvPr/>
        </p:nvPicPr>
        <p:blipFill>
          <a:blip r:embed="rId4"/>
          <a:stretch>
            <a:fillRect/>
          </a:stretch>
        </p:blipFill>
        <p:spPr>
          <a:xfrm>
            <a:off x="6272784" y="1784476"/>
            <a:ext cx="2432304" cy="1222502"/>
          </a:xfrm>
          <a:prstGeom prst="rect">
            <a:avLst/>
          </a:prstGeom>
        </p:spPr>
      </p:pic>
      <p:sp>
        <p:nvSpPr>
          <p:cNvPr id="17" name="Rectangle 16"/>
          <p:cNvSpPr/>
          <p:nvPr/>
        </p:nvSpPr>
        <p:spPr>
          <a:xfrm>
            <a:off x="8997696"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98280"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T4  </a:t>
            </a:r>
            <a:r>
              <a:rPr sz="950" b="1" lang="en-US">
                <a:solidFill>
                  <a:srgbClr val="434343"/>
                </a:solidFill>
                <a:latin typeface="Arial"/>
              </a:rPr>
              <a:t>Artifact substitution</a:t>
            </a:r>
          </a:p>
        </p:txBody>
      </p:sp>
      <p:pic>
        <p:nvPicPr>
          <p:cNvPr id="19" name="Picture 18" descr="T4.png"/>
          <p:cNvPicPr>
            <a:picLocks noChangeAspect="1"/>
          </p:cNvPicPr>
          <p:nvPr/>
        </p:nvPicPr>
        <p:blipFill>
          <a:blip r:embed="rId5"/>
          <a:stretch>
            <a:fillRect/>
          </a:stretch>
        </p:blipFill>
        <p:spPr>
          <a:xfrm>
            <a:off x="9254209" y="1719072"/>
            <a:ext cx="2065581" cy="1353312"/>
          </a:xfrm>
          <a:prstGeom prst="rect">
            <a:avLst/>
          </a:prstGeom>
        </p:spPr>
      </p:pic>
      <p:sp>
        <p:nvSpPr>
          <p:cNvPr id="20" name="Rectangle 19"/>
          <p:cNvSpPr/>
          <p:nvPr/>
        </p:nvSpPr>
        <p:spPr>
          <a:xfrm>
            <a:off x="2002536"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103120"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T5  </a:t>
            </a:r>
            <a:r>
              <a:rPr sz="950" b="1" lang="en-US">
                <a:solidFill>
                  <a:srgbClr val="434343"/>
                </a:solidFill>
                <a:latin typeface="Arial"/>
              </a:rPr>
              <a:t>Model/key disclosure</a:t>
            </a:r>
          </a:p>
        </p:txBody>
      </p:sp>
      <p:pic>
        <p:nvPicPr>
          <p:cNvPr id="22" name="Picture 21" descr="T5.png"/>
          <p:cNvPicPr>
            <a:picLocks noChangeAspect="1"/>
          </p:cNvPicPr>
          <p:nvPr/>
        </p:nvPicPr>
        <p:blipFill>
          <a:blip r:embed="rId6"/>
          <a:stretch>
            <a:fillRect/>
          </a:stretch>
        </p:blipFill>
        <p:spPr>
          <a:xfrm>
            <a:off x="2296062" y="3749040"/>
            <a:ext cx="1991555" cy="1353312"/>
          </a:xfrm>
          <a:prstGeom prst="rect">
            <a:avLst/>
          </a:prstGeom>
        </p:spPr>
      </p:pic>
      <p:sp>
        <p:nvSpPr>
          <p:cNvPr id="23" name="Rectangle 22"/>
          <p:cNvSpPr/>
          <p:nvPr/>
        </p:nvSpPr>
        <p:spPr>
          <a:xfrm>
            <a:off x="4800600"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01184"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T6  </a:t>
            </a:r>
            <a:r>
              <a:rPr sz="950" b="1" lang="en-US">
                <a:solidFill>
                  <a:srgbClr val="434343"/>
                </a:solidFill>
                <a:latin typeface="Arial"/>
              </a:rPr>
              <a:t>Aggregator omission</a:t>
            </a:r>
          </a:p>
        </p:txBody>
      </p:sp>
      <p:pic>
        <p:nvPicPr>
          <p:cNvPr id="25" name="Picture 24" descr="T6.png"/>
          <p:cNvPicPr>
            <a:picLocks noChangeAspect="1"/>
          </p:cNvPicPr>
          <p:nvPr/>
        </p:nvPicPr>
        <p:blipFill>
          <a:blip r:embed="rId7"/>
          <a:stretch>
            <a:fillRect/>
          </a:stretch>
        </p:blipFill>
        <p:spPr>
          <a:xfrm>
            <a:off x="5106477" y="3749040"/>
            <a:ext cx="1966852" cy="1353312"/>
          </a:xfrm>
          <a:prstGeom prst="rect">
            <a:avLst/>
          </a:prstGeom>
        </p:spPr>
      </p:pic>
      <p:sp>
        <p:nvSpPr>
          <p:cNvPr id="26" name="Rectangle 25"/>
          <p:cNvSpPr/>
          <p:nvPr/>
        </p:nvSpPr>
        <p:spPr>
          <a:xfrm>
            <a:off x="7598664"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99248"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T7  </a:t>
            </a:r>
            <a:r>
              <a:rPr sz="950" b="1" lang="en-US">
                <a:solidFill>
                  <a:srgbClr val="434343"/>
                </a:solidFill>
                <a:latin typeface="Arial"/>
              </a:rPr>
              <a:t>Valid malicious updates</a:t>
            </a:r>
          </a:p>
        </p:txBody>
      </p:sp>
      <p:pic>
        <p:nvPicPr>
          <p:cNvPr id="28" name="Picture 27" descr="T7.png"/>
          <p:cNvPicPr>
            <a:picLocks noChangeAspect="1"/>
          </p:cNvPicPr>
          <p:nvPr/>
        </p:nvPicPr>
        <p:blipFill>
          <a:blip r:embed="rId8"/>
          <a:stretch>
            <a:fillRect/>
          </a:stretch>
        </p:blipFill>
        <p:spPr>
          <a:xfrm>
            <a:off x="7843764" y="3749040"/>
            <a:ext cx="2088406" cy="1353312"/>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Use and misuse cases: agent and infrastructure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THREAT VIEWS T8–T14</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25</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ectangle 7"/>
          <p:cNvSpPr/>
          <p:nvPr/>
        </p:nvSpPr>
        <p:spPr>
          <a:xfrm>
            <a:off x="603504"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T8  </a:t>
            </a:r>
            <a:r>
              <a:rPr sz="950" b="1" lang="en-US">
                <a:solidFill>
                  <a:srgbClr val="434343"/>
                </a:solidFill>
                <a:latin typeface="Arial"/>
              </a:rPr>
              <a:t>Inference evidence</a:t>
            </a:r>
          </a:p>
        </p:txBody>
      </p:sp>
      <p:pic>
        <p:nvPicPr>
          <p:cNvPr id="10" name="Picture 9" descr="T8.png"/>
          <p:cNvPicPr>
            <a:picLocks noChangeAspect="1"/>
          </p:cNvPicPr>
          <p:nvPr/>
        </p:nvPicPr>
        <p:blipFill>
          <a:blip r:embed="rId2"/>
          <a:stretch>
            <a:fillRect/>
          </a:stretch>
        </p:blipFill>
        <p:spPr>
          <a:xfrm>
            <a:off x="991281" y="1719072"/>
            <a:ext cx="1803053" cy="1353312"/>
          </a:xfrm>
          <a:prstGeom prst="rect">
            <a:avLst/>
          </a:prstGeom>
        </p:spPr>
      </p:pic>
      <p:sp>
        <p:nvSpPr>
          <p:cNvPr id="11" name="Rectangle 10"/>
          <p:cNvSpPr/>
          <p:nvPr/>
        </p:nvSpPr>
        <p:spPr>
          <a:xfrm>
            <a:off x="3401568"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02152"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T9  </a:t>
            </a:r>
            <a:r>
              <a:rPr sz="950" b="1" lang="en-US">
                <a:solidFill>
                  <a:srgbClr val="434343"/>
                </a:solidFill>
                <a:latin typeface="Arial"/>
              </a:rPr>
              <a:t>Agent/tool manipulation</a:t>
            </a:r>
          </a:p>
        </p:txBody>
      </p:sp>
      <p:pic>
        <p:nvPicPr>
          <p:cNvPr id="13" name="Picture 12" descr="T9.png"/>
          <p:cNvPicPr>
            <a:picLocks noChangeAspect="1"/>
          </p:cNvPicPr>
          <p:nvPr/>
        </p:nvPicPr>
        <p:blipFill>
          <a:blip r:embed="rId3"/>
          <a:stretch>
            <a:fillRect/>
          </a:stretch>
        </p:blipFill>
        <p:spPr>
          <a:xfrm>
            <a:off x="3765541" y="1719072"/>
            <a:ext cx="1850660" cy="1353312"/>
          </a:xfrm>
          <a:prstGeom prst="rect">
            <a:avLst/>
          </a:prstGeom>
        </p:spPr>
      </p:pic>
      <p:sp>
        <p:nvSpPr>
          <p:cNvPr id="14" name="Rectangle 13"/>
          <p:cNvSpPr/>
          <p:nvPr/>
        </p:nvSpPr>
        <p:spPr>
          <a:xfrm>
            <a:off x="6199632"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0216"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T10  </a:t>
            </a:r>
            <a:r>
              <a:rPr sz="950" b="1" lang="en-US">
                <a:solidFill>
                  <a:srgbClr val="434343"/>
                </a:solidFill>
                <a:latin typeface="Arial"/>
              </a:rPr>
              <a:t>Evidence suppression</a:t>
            </a:r>
          </a:p>
        </p:txBody>
      </p:sp>
      <p:pic>
        <p:nvPicPr>
          <p:cNvPr id="16" name="Picture 15" descr="T10.png"/>
          <p:cNvPicPr>
            <a:picLocks noChangeAspect="1"/>
          </p:cNvPicPr>
          <p:nvPr/>
        </p:nvPicPr>
        <p:blipFill>
          <a:blip r:embed="rId4"/>
          <a:stretch>
            <a:fillRect/>
          </a:stretch>
        </p:blipFill>
        <p:spPr>
          <a:xfrm>
            <a:off x="6512818" y="1719072"/>
            <a:ext cx="1952235" cy="1353312"/>
          </a:xfrm>
          <a:prstGeom prst="rect">
            <a:avLst/>
          </a:prstGeom>
        </p:spPr>
      </p:pic>
      <p:sp>
        <p:nvSpPr>
          <p:cNvPr id="17" name="Rectangle 16"/>
          <p:cNvSpPr/>
          <p:nvPr/>
        </p:nvSpPr>
        <p:spPr>
          <a:xfrm>
            <a:off x="8997696"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98280"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T11  </a:t>
            </a:r>
            <a:r>
              <a:rPr sz="950" b="1" lang="en-US">
                <a:solidFill>
                  <a:srgbClr val="434343"/>
                </a:solidFill>
                <a:latin typeface="Arial"/>
              </a:rPr>
              <a:t>Log omission/equivocation</a:t>
            </a:r>
          </a:p>
        </p:txBody>
      </p:sp>
      <p:pic>
        <p:nvPicPr>
          <p:cNvPr id="19" name="Picture 18" descr="T11.png"/>
          <p:cNvPicPr>
            <a:picLocks noChangeAspect="1"/>
          </p:cNvPicPr>
          <p:nvPr/>
        </p:nvPicPr>
        <p:blipFill>
          <a:blip r:embed="rId5"/>
          <a:stretch>
            <a:fillRect/>
          </a:stretch>
        </p:blipFill>
        <p:spPr>
          <a:xfrm>
            <a:off x="9087332" y="1719072"/>
            <a:ext cx="2399335" cy="1353312"/>
          </a:xfrm>
          <a:prstGeom prst="rect">
            <a:avLst/>
          </a:prstGeom>
        </p:spPr>
      </p:pic>
      <p:sp>
        <p:nvSpPr>
          <p:cNvPr id="20" name="Rectangle 19"/>
          <p:cNvSpPr/>
          <p:nvPr/>
        </p:nvSpPr>
        <p:spPr>
          <a:xfrm>
            <a:off x="2002536"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103120"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T12  </a:t>
            </a:r>
            <a:r>
              <a:rPr sz="950" b="1" lang="en-US">
                <a:solidFill>
                  <a:srgbClr val="434343"/>
                </a:solidFill>
                <a:latin typeface="Arial"/>
              </a:rPr>
              <a:t>Infrastructure DoS</a:t>
            </a:r>
          </a:p>
        </p:txBody>
      </p:sp>
      <p:pic>
        <p:nvPicPr>
          <p:cNvPr id="22" name="Picture 21" descr="T12.png"/>
          <p:cNvPicPr>
            <a:picLocks noChangeAspect="1"/>
          </p:cNvPicPr>
          <p:nvPr/>
        </p:nvPicPr>
        <p:blipFill>
          <a:blip r:embed="rId6"/>
          <a:stretch>
            <a:fillRect/>
          </a:stretch>
        </p:blipFill>
        <p:spPr>
          <a:xfrm>
            <a:off x="2151924" y="3749040"/>
            <a:ext cx="2279830" cy="1353312"/>
          </a:xfrm>
          <a:prstGeom prst="rect">
            <a:avLst/>
          </a:prstGeom>
        </p:spPr>
      </p:pic>
      <p:sp>
        <p:nvSpPr>
          <p:cNvPr id="23" name="Rectangle 22"/>
          <p:cNvSpPr/>
          <p:nvPr/>
        </p:nvSpPr>
        <p:spPr>
          <a:xfrm>
            <a:off x="4800600"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01184"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T13  </a:t>
            </a:r>
            <a:r>
              <a:rPr sz="950" b="1" lang="en-US">
                <a:solidFill>
                  <a:srgbClr val="434343"/>
                </a:solidFill>
                <a:latin typeface="Arial"/>
              </a:rPr>
              <a:t>Root/key compromise</a:t>
            </a:r>
          </a:p>
        </p:txBody>
      </p:sp>
      <p:pic>
        <p:nvPicPr>
          <p:cNvPr id="25" name="Picture 24" descr="T13.png"/>
          <p:cNvPicPr>
            <a:picLocks noChangeAspect="1"/>
          </p:cNvPicPr>
          <p:nvPr/>
        </p:nvPicPr>
        <p:blipFill>
          <a:blip r:embed="rId7"/>
          <a:stretch>
            <a:fillRect/>
          </a:stretch>
        </p:blipFill>
        <p:spPr>
          <a:xfrm>
            <a:off x="4937474" y="3749040"/>
            <a:ext cx="2304859" cy="1353312"/>
          </a:xfrm>
          <a:prstGeom prst="rect">
            <a:avLst/>
          </a:prstGeom>
        </p:spPr>
      </p:pic>
      <p:sp>
        <p:nvSpPr>
          <p:cNvPr id="26" name="Rectangle 25"/>
          <p:cNvSpPr/>
          <p:nvPr/>
        </p:nvSpPr>
        <p:spPr>
          <a:xfrm>
            <a:off x="7598664"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99248"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T14  </a:t>
            </a:r>
            <a:r>
              <a:rPr sz="950" b="1" lang="en-US">
                <a:solidFill>
                  <a:srgbClr val="434343"/>
                </a:solidFill>
                <a:latin typeface="Arial"/>
              </a:rPr>
              <a:t>Systemic collusion</a:t>
            </a:r>
          </a:p>
        </p:txBody>
      </p:sp>
      <p:pic>
        <p:nvPicPr>
          <p:cNvPr id="28" name="Picture 27" descr="T14.png"/>
          <p:cNvPicPr>
            <a:picLocks noChangeAspect="1"/>
          </p:cNvPicPr>
          <p:nvPr/>
        </p:nvPicPr>
        <p:blipFill>
          <a:blip r:embed="rId8"/>
          <a:stretch>
            <a:fillRect/>
          </a:stretch>
        </p:blipFill>
        <p:spPr>
          <a:xfrm>
            <a:off x="7671816" y="3819532"/>
            <a:ext cx="2432304" cy="1212327"/>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T1 · Unauthorized workload admission or identity substitution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26</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1.png"/>
          <p:cNvPicPr>
            <a:picLocks noChangeAspect="1"/>
          </p:cNvPicPr>
          <p:nvPr/>
        </p:nvPicPr>
        <p:blipFill>
          <a:blip r:embed="rId2"/>
          <a:stretch>
            <a:fillRect/>
          </a:stretch>
        </p:blipFill>
        <p:spPr>
          <a:xfrm>
            <a:off x="2553109" y="1307592"/>
            <a:ext cx="7101021" cy="4773168"/>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T2 · Replay or stale-context reuse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27</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2.png"/>
          <p:cNvPicPr>
            <a:picLocks noChangeAspect="1"/>
          </p:cNvPicPr>
          <p:nvPr/>
        </p:nvPicPr>
        <p:blipFill>
          <a:blip r:embed="rId2"/>
          <a:stretch>
            <a:fillRect/>
          </a:stretch>
        </p:blipFill>
        <p:spPr>
          <a:xfrm>
            <a:off x="2607852" y="1307592"/>
            <a:ext cx="6991534" cy="4773168"/>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T3 · Training-input or signer-policy manipulation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28</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3.png"/>
          <p:cNvPicPr>
            <a:picLocks noChangeAspect="1"/>
          </p:cNvPicPr>
          <p:nvPr/>
        </p:nvPicPr>
        <p:blipFill>
          <a:blip r:embed="rId2"/>
          <a:stretch>
            <a:fillRect/>
          </a:stretch>
        </p:blipFill>
        <p:spPr>
          <a:xfrm>
            <a:off x="1355247" y="1307592"/>
            <a:ext cx="9496744" cy="4773168"/>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T4 · Artifact substitution or stale publication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29</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4.png"/>
          <p:cNvPicPr>
            <a:picLocks noChangeAspect="1"/>
          </p:cNvPicPr>
          <p:nvPr/>
        </p:nvPicPr>
        <p:blipFill>
          <a:blip r:embed="rId2"/>
          <a:stretch>
            <a:fillRect/>
          </a:stretch>
        </p:blipFill>
        <p:spPr>
          <a:xfrm>
            <a:off x="2460939" y="1307592"/>
            <a:ext cx="7285361" cy="4773168"/>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T5 · Unauthorized model or key disclosure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30</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5.png"/>
          <p:cNvPicPr>
            <a:picLocks noChangeAspect="1"/>
          </p:cNvPicPr>
          <p:nvPr/>
        </p:nvPicPr>
        <p:blipFill>
          <a:blip r:embed="rId2"/>
          <a:stretch>
            <a:fillRect/>
          </a:stretch>
        </p:blipFill>
        <p:spPr>
          <a:xfrm>
            <a:off x="2591485" y="1307592"/>
            <a:ext cx="7024269" cy="4773168"/>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T6 · Aggregator omission or availability failure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31</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6.png"/>
          <p:cNvPicPr>
            <a:picLocks noChangeAspect="1"/>
          </p:cNvPicPr>
          <p:nvPr/>
        </p:nvPicPr>
        <p:blipFill>
          <a:blip r:embed="rId2"/>
          <a:stretch>
            <a:fillRect/>
          </a:stretch>
        </p:blipFill>
        <p:spPr>
          <a:xfrm>
            <a:off x="2635048" y="1307592"/>
            <a:ext cx="6937142" cy="4773168"/>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T7 · Semantically malicious but valid data or updates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7.png"/>
          <p:cNvPicPr>
            <a:picLocks noChangeAspect="1"/>
          </p:cNvPicPr>
          <p:nvPr/>
        </p:nvPicPr>
        <p:blipFill>
          <a:blip r:embed="rId2"/>
          <a:stretch>
            <a:fillRect/>
          </a:stretch>
        </p:blipFill>
        <p:spPr>
          <a:xfrm>
            <a:off x="2420686" y="1307592"/>
            <a:ext cx="7365866" cy="4773168"/>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T8 · Inference substitution or forged evidence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AGENT AND INFERENCE</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8.png"/>
          <p:cNvPicPr>
            <a:picLocks noChangeAspect="1"/>
          </p:cNvPicPr>
          <p:nvPr/>
        </p:nvPicPr>
        <p:blipFill>
          <a:blip r:embed="rId2"/>
          <a:stretch>
            <a:fillRect/>
          </a:stretch>
        </p:blipFill>
        <p:spPr>
          <a:xfrm>
            <a:off x="2923911" y="1307592"/>
            <a:ext cx="6359417" cy="4773168"/>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T9 · Agent or tool manipulation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AGENT AND INFERENCE</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9.png"/>
          <p:cNvPicPr>
            <a:picLocks noChangeAspect="1"/>
          </p:cNvPicPr>
          <p:nvPr/>
        </p:nvPicPr>
        <p:blipFill>
          <a:blip r:embed="rId2"/>
          <a:stretch>
            <a:fillRect/>
          </a:stretch>
        </p:blipFill>
        <p:spPr>
          <a:xfrm>
            <a:off x="2839954" y="1307592"/>
            <a:ext cx="6527330" cy="4773168"/>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T10 · Evidence or result suppression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AGENT AND TRANSPARENCY</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35</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10.png"/>
          <p:cNvPicPr>
            <a:picLocks noChangeAspect="1"/>
          </p:cNvPicPr>
          <p:nvPr/>
        </p:nvPicPr>
        <p:blipFill>
          <a:blip r:embed="rId2"/>
          <a:stretch>
            <a:fillRect/>
          </a:stretch>
        </p:blipFill>
        <p:spPr>
          <a:xfrm>
            <a:off x="2660826" y="1307592"/>
            <a:ext cx="6885586" cy="4773168"/>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T11 · Transparency-log omission or equivocation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AGENT AND TRANSPARENCY</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36</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11.png"/>
          <p:cNvPicPr>
            <a:picLocks noChangeAspect="1"/>
          </p:cNvPicPr>
          <p:nvPr/>
        </p:nvPicPr>
        <p:blipFill>
          <a:blip r:embed="rId2"/>
          <a:stretch>
            <a:fillRect/>
          </a:stretch>
        </p:blipFill>
        <p:spPr>
          <a:xfrm>
            <a:off x="1872359" y="1307592"/>
            <a:ext cx="8462520" cy="4773168"/>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T12 · Infrastructure denial of service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CROSS-CUTTING RESIDUAL THREAT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37</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12.png"/>
          <p:cNvPicPr>
            <a:picLocks noChangeAspect="1"/>
          </p:cNvPicPr>
          <p:nvPr/>
        </p:nvPicPr>
        <p:blipFill>
          <a:blip r:embed="rId2"/>
          <a:stretch>
            <a:fillRect/>
          </a:stretch>
        </p:blipFill>
        <p:spPr>
          <a:xfrm>
            <a:off x="2083107" y="1307592"/>
            <a:ext cx="8041025" cy="4773168"/>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T13 · Cryptographic, key, or platform-root compromise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CROSS-CUTTING RESIDUAL THREAT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38</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13.png"/>
          <p:cNvPicPr>
            <a:picLocks noChangeAspect="1"/>
          </p:cNvPicPr>
          <p:nvPr/>
        </p:nvPicPr>
        <p:blipFill>
          <a:blip r:embed="rId2"/>
          <a:stretch>
            <a:fillRect/>
          </a:stretch>
        </p:blipFill>
        <p:spPr>
          <a:xfrm>
            <a:off x="2038969" y="1307592"/>
            <a:ext cx="8129301" cy="4773168"/>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T14 · Systemic collusion or economic manipulation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CROSS-CUTTING RESIDUAL THREAT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39</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14.png"/>
          <p:cNvPicPr>
            <a:picLocks noChangeAspect="1"/>
          </p:cNvPicPr>
          <p:nvPr/>
        </p:nvPicPr>
        <p:blipFill>
          <a:blip r:embed="rId2"/>
          <a:stretch>
            <a:fillRect/>
          </a:stretch>
        </p:blipFill>
        <p:spPr>
          <a:xfrm>
            <a:off x="1315394" y="1307592"/>
            <a:ext cx="9576450" cy="4773168"/>
          </a:xfrm>
          <a:prstGeom prst="rect">
            <a:avLst/>
          </a:prstGeom>
        </p:spPr>
      </p:pic>
    </p:spTree>
  </p:cSld>
  <p:clrMapOvr>
    <a:masterClrMapping/>
  </p:clrMapOvr>
</p:sld>
</file>

<file path=ppt/theme/theme1.xml><?xml version="1.0" encoding="utf-8"?>
<a:theme xmlns:a="http://schemas.openxmlformats.org/drawingml/2006/main" name="Titelfolien zur Auswahl">
  <a:themeElements>
    <a:clrScheme name="TU Berlin">
      <a:dk1>
        <a:srgbClr val="434343"/>
      </a:dk1>
      <a:lt1>
        <a:srgbClr val="FFFFFF"/>
      </a:lt1>
      <a:dk2>
        <a:srgbClr val="434343"/>
      </a:dk2>
      <a:lt2>
        <a:srgbClr val="E7E6E6"/>
      </a:lt2>
      <a:accent1>
        <a:srgbClr val="C30D1E"/>
      </a:accent1>
      <a:accent2>
        <a:srgbClr val="B2B2B2"/>
      </a:accent2>
      <a:accent3>
        <a:srgbClr val="FF6C00"/>
      </a:accent3>
      <a:accent4>
        <a:srgbClr val="1F90CC"/>
      </a:accent4>
      <a:accent5>
        <a:srgbClr val="9013FE"/>
      </a:accent5>
      <a:accent6>
        <a:srgbClr val="49CB40"/>
      </a:accent6>
      <a:hlink>
        <a:srgbClr val="C30D1E"/>
      </a:hlink>
      <a:folHlink>
        <a:srgbClr val="C30D1E"/>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äsentation1" id="{AF5D8605-2613-D24D-AB7D-44425CE5E9EB}" vid="{4A2A0730-D474-B642-9EC8-245B2B7F7B17}"/>
    </a:ext>
  </a:extLst>
</a:theme>
</file>

<file path=ppt/theme/theme2.xml><?xml version="1.0" encoding="utf-8"?>
<a:theme xmlns:a="http://schemas.openxmlformats.org/drawingml/2006/main" name="Master für Folgeseiten">
  <a:themeElements>
    <a:clrScheme name="TU Berlin ">
      <a:dk1>
        <a:srgbClr val="434343"/>
      </a:dk1>
      <a:lt1>
        <a:srgbClr val="FFFFFF"/>
      </a:lt1>
      <a:dk2>
        <a:srgbClr val="434343"/>
      </a:dk2>
      <a:lt2>
        <a:srgbClr val="E7E6E6"/>
      </a:lt2>
      <a:accent1>
        <a:srgbClr val="C30D1E"/>
      </a:accent1>
      <a:accent2>
        <a:srgbClr val="B2B2B2"/>
      </a:accent2>
      <a:accent3>
        <a:srgbClr val="FF6C00"/>
      </a:accent3>
      <a:accent4>
        <a:srgbClr val="1F90CC"/>
      </a:accent4>
      <a:accent5>
        <a:srgbClr val="9013FE"/>
      </a:accent5>
      <a:accent6>
        <a:srgbClr val="49CB40"/>
      </a:accent6>
      <a:hlink>
        <a:srgbClr val="C30D1E"/>
      </a:hlink>
      <a:folHlink>
        <a:srgbClr val="C30D1E"/>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äsentation1" id="{AF5D8605-2613-D24D-AB7D-44425CE5E9EB}" vid="{6D2ACD7B-51E4-3F4D-A883-FB2A0ECC7C66}"/>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TU-Berlin-Praesentation-Master-einfarbig-Rot</Template>
  <TotalTime>0</TotalTime>
  <Words>59</Words>
  <Application>Microsoft Office PowerPoint</Application>
  <PresentationFormat>Breitbild</PresentationFormat>
  <Paragraphs>5</Paragraphs>
  <Slides>5</Slides>
  <Notes>0</Notes>
  <HiddenSlides>0</HiddenSlides>
  <MMClips>0</MMClips>
  <ScaleCrop>false</ScaleCrop>
  <HeadingPairs>
    <vt:vector size="6" baseType="variant">
      <vt:variant>
        <vt:lpstr>Verwendete Schriftarten</vt:lpstr>
      </vt:variant>
      <vt:variant>
        <vt:i4>3</vt:i4>
      </vt:variant>
      <vt:variant>
        <vt:lpstr>Design</vt:lpstr>
      </vt:variant>
      <vt:variant>
        <vt:i4>2</vt:i4>
      </vt:variant>
      <vt:variant>
        <vt:lpstr>Folientitel</vt:lpstr>
      </vt:variant>
      <vt:variant>
        <vt:i4>5</vt:i4>
      </vt:variant>
    </vt:vector>
  </HeadingPairs>
  <TitlesOfParts>
    <vt:vector size="10" baseType="lpstr">
      <vt:lpstr>Arial</vt:lpstr>
      <vt:lpstr>Calibri</vt:lpstr>
      <vt:lpstr>Symbol</vt:lpstr>
      <vt:lpstr>Titelfolien zur Auswahl</vt:lpstr>
      <vt:lpstr>Master für Folgeseiten</vt:lpstr>
      <vt:lpstr>PowerPoint-Präsentation</vt:lpstr>
      <vt:lpstr>PowerPoint-Präsentation</vt:lpstr>
      <vt:lpstr>PowerPoint-Präsentation</vt:lpstr>
      <vt:lpstr>PowerPoint-Präsentation</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VITA-FL — Master's Thesis Presentation</dc:title>
  <dc:creator>Ramon Mehrpoya</dc:creator>
  <cp:lastModifiedBy>Friedrich, Ulrike</cp:lastModifiedBy>
  <cp:revision>3</cp:revision>
  <cp:lastPrinted>2021-03-24T16:10:50Z</cp:lastPrinted>
  <dcterms:created xsi:type="dcterms:W3CDTF">2023-04-20T08:54:03Z</dcterms:created>
  <dcterms:modified xsi:type="dcterms:W3CDTF">2025-06-16T09:49:54Z</dcterms:modified>
  <dc:subject>Verifiable Decentralized Federated Machine Learning and Inference for AI Agent Systems</dc:subject>
  <cp:keywords>VITA-FL, DFL, TEE, attested inference, transparency log</cp:keywords>
  <dc:language>en-US</dc:language>
</cp:coreProperties>
</file>