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10" r:id="rId2"/>
  </p:sldMasterIdLst>
  <p:notesMasterIdLst>
    <p:notesMasterId r:id="rId8"/>
  </p:notesMasterIdLst>
  <p:sldIdLst>
    <p:sldId id="256" r:id="rId7"/>
    <p:sldId id="257" r:id="rId6"/>
    <p:sldId id="258" r:id="rId5"/>
    <p:sldId id="259" r:id="rId4"/>
    <p:sldId id="260" r:id="rId3"/>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301" r:id="rId53"/>
    <p:sldId id="279" r:id="rId31"/>
    <p:sldId id="300" r:id="rId52"/>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0D1E"/>
    <a:srgbClr val="9013FE"/>
    <a:srgbClr val="1F90CC"/>
    <a:srgbClr val="434343"/>
    <a:srgbClr val="C40E02"/>
    <a:srgbClr val="FFFFFF"/>
    <a:srgbClr val="49CB40"/>
    <a:srgbClr val="C50E1F"/>
    <a:srgbClr val="B2B2B2"/>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6327"/>
  </p:normalViewPr>
  <p:slideViewPr>
    <p:cSldViewPr snapToGrid="0" snapToObjects="1">
      <p:cViewPr varScale="1">
        <p:scale>
          <a:sx n="81" d="100"/>
          <a:sy n="81" d="100"/>
        </p:scale>
        <p:origin x="542" y="48"/>
      </p:cViewPr>
      <p:guideLst/>
    </p:cSldViewPr>
  </p:slideViewPr>
  <p:notesTextViewPr>
    <p:cViewPr>
      <p:scale>
        <a:sx n="1" d="1"/>
        <a:sy n="1" d="1"/>
      </p:scale>
      <p:origin x="0" y="0"/>
    </p:cViewPr>
  </p:notesTextViewPr>
  <p:notesViewPr>
    <p:cSldViewPr snapToGrid="0" snapToObjects="1" showGuides="1">
      <p:cViewPr varScale="1">
        <p:scale>
          <a:sx n="153" d="100"/>
          <a:sy n="153" d="100"/>
        </p:scale>
        <p:origin x="492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5.xml"/><Relationship Id="rId4" Type="http://schemas.openxmlformats.org/officeDocument/2006/relationships/slide" Target="slides/slide4.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5.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26.xml"/><Relationship Id="rId53"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6180F-3EA1-4748-B4F4-956BB5176995}" type="datetimeFigureOut">
              <a:rPr lang="de-DE" smtClean="0"/>
              <a:t>16.06.2025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C3961-1900-1342-BF9B-82C3215CD312}" type="slidenum">
              <a:rPr lang="de-DE" smtClean="0"/>
              <a:t>‹Nr.›</a:t>
            </a:fld>
            <a:endParaRPr lang="de-DE"/>
          </a:p>
        </p:txBody>
      </p:sp>
    </p:spTree>
    <p:extLst>
      <p:ext uri="{BB962C8B-B14F-4D97-AF65-F5344CB8AC3E}">
        <p14:creationId xmlns:p14="http://schemas.microsoft.com/office/powerpoint/2010/main" val="84893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This presentation introduces VITA-FL, a prototype that connects verifiable decentralized federated learning to attested inference in an AI-agent system. It presents how the model, its production process, and its use during inference can be bound into one verifiable path.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Before turning to the research problem, I want to briefly introduce my background. I am a Computer Science master's thesis candidate at TU Berlin and hold a bachelor's degree in Business Informatics. At ISE, my focus in Gaia-X 4 PLC-AAD was blockchain and encryption. ZoKrates Plus brought together zero knowledge, trusted execution, remote attestation, and decentralized federated learning. ZODIAC focused on AI agents and MCP tools. These three strands led directly to VITA-FL: Verifiable Inference and Trust Architecture for Federated Learning.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Imagine a physician with a chest X-ray asking: Can't I just ask an AI? The AI can return a fluent and plausible result, but the response does not show whether it used the intended X-ray, the current model publication, or an attested inference path. The question is therefore not merely whether AI can answer, but whether the answer is backed by inspectable evidence.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The computer scientist's response is that a plausible model output is not enough. Trust must be engineered across the complete path: signed medical data enters an attested decentralized training process, the current model state is resolved from an authoritative publication, inference runs in a measured environment, and the resulting tool evidence is recorded in a transparency log. This requirement motivates the research gap on the next page: the individual mechanisms exist, but the challenge is to compose them into one user-inspectable system.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The main research question asks how DFL models can be integrated into AI agent-based system architectures while preserving trustworthiness across the complete training and inference pipeline. The first sub-question focuses on integrity and availability during verifiable DFL training. The second asks how inference and model predictions can be made verifiable, for example through cryptographic proofs of execution. Existing work already connects lifecycle stages, as shown on the following comparison slide. The thesis studies a concrete attestation-based implementation and its trust assumptions; it does not claim to be the first end-to-end verifiable AI system.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Imagine a hospital consortium developing a chest X-ray model together. Each institution contributes experience from its own patient population while keeping the underlying records local. The three hospitals illustrate a wider consortium; they are not the participant count of the prototype evaluation. The hospitals also want shared control over participation and model development, confidence that contributions are processed correctly, and a way to continue if the participant coordinating training becomes unavailable. Later, a physician accesses this custom-trained specialist model through an AI assistant. The value of joint training depends on being able to establish that this model processed the submitted image and produced the reported result. The arrows summarize model development and later use; they do not depict patient-data transfers or an implementation architecture. This is the motivating scenario from Chapter 1, not a claim of clinical validation.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Reading this slide: System coverage distinguishes DFL, inference, agents, and a transparency log. General training proofs do not automatically count as DFL; an execution transcript, provenance database, or model ledger does not automatically count as a transparency log for inference/tool statements. The columns are not an exhaustive capability list. Filled blocks/dots mean implemented or evaluated in the described prototype. Outlines mean discussed, proposed, or framework options. A dash means not described as a mechanism of the checked work, not proof of absence from every related implementation. ZKP includes the zero-knowledge proofs used by each system, including certificate or transcript proofs; it is not limited to ML computation. Proof scope remains specific to each row. Paper names link to primary sources. The representative selection is not a systematic literature review or a security ranking. Quote verification and RTMR3 replay are grouped under remote attestation as two selected checks, not an exhaustive definition of attestation. RTMR3 is specific to the TDX measurement path.</a:t>
            </a:r>
          </a:p>
          <a:p/>
          <a:p>
            <a:r>
              <a:rPr lang="en-US"/>
              <a:t>Lee, Heiss et al., End-to-End Verifiable Decentralized Federated Learning (ICBC 2024), https://arxiv.org/html/2404.12623v1, sections V–VII: Groth16 zkSNARKs with ZoKrates cover registration and per-round signed-data provenance, device binding, and local update computation. A smart contract verifies local updates and performs aggregation. Their device attestation is not TEE remote attestation. End-to-end refers to the learning workflow; downstream inference and agent execution are not described.</a:t>
            </a:r>
          </a:p>
          <a:p/>
          <a:p>
            <a:r>
              <a:rPr lang="en-US"/>
              <a:t>Ebrahimi, Sober, Hoang, Ileri, Sanders and Schulte, Blockchain-Based Federated Learning Utilizing Zero-Knowledge Proofs for Verifiable Training and Aggregation (IEEE Blockchain 2024), pp. 54–63, https://doi.org/10.1109/Blockchain62396.2024.00017. The author's companion implementation, https://github.com/ElmiraEbrahimi/Veriblock-FL, supplies separate ZoKrates zk-SNARK circuits for local training and global aggregation, with Solidity proof verification. Model parameters remain off chain; the ledger holds hashes and global-model IPFS references. FederatedModel.sol, getStakeWinnersAndSelectedAggregatorIndex, and devices/middleware/aggregator_selection.py implement changing off-chain aggregators. Hence DFL and ZKP are filled as implemented. The checked implementation does not describe a served inference/agent lifecycle, a tool/inference-receipt transparency log, TEEs, quote verification or RTMR3 replay. A model ledger is not the receipt transparency log meant by this slide. Both training and aggregation are already verifiable here; VITA-FL's distinction is its TEE/remote-attestation mechanism and its continuation to inference, agent use and receipts. The classification was checked against the public companion implementation; the publisher full text was inaccessible, so no paper section numbers or exact historical code correspondence are asserted.</a:t>
            </a:r>
          </a:p>
          <a:p/>
          <a:p>
            <a:r>
              <a:rPr lang="en-US"/>
              <a:t>Voltran (2024), https://arxiv.org/html/2408.06885v1, sections III-C, IV, VII: Intel SGX aggregation with remote attestation and encrypted channels; enclave-result signatures are checked on chain. A trusted committee provisions signing keys. The focus is confidential distributed aggregation within FL, not later inference or agent use. On-chain result-signature checks are not on-chain RA. The Quote verification cell reads SGX RA because RA is used and evaluated (Appendix D-C), but concrete quote fields, certificate/collateral checks, and verifier implementation are not specified. This is not a claim that Voltran omits quote verification. Its model ledger is not a separate tool/inference-receipt transparency log. No TDX/RTMR3 replay is described.</a:t>
            </a:r>
          </a:p>
          <a:p/>
          <a:p>
            <a:r>
              <a:rPr lang="en-US"/>
              <a:t>Hartmann (2024), Advancing the Efficiency of Verifiable Decentralized Federated Learning, TU Berlin master's thesis: the original implementation is present in the vita-fl Git history at 3362a185929b355b69099f2819b8b42638055957 (Johann Hartmann, 5 October 2024). Worker training and aggregation use TEEs with smart-contract coordination. RISC Zero proves certificate-signature verification in the simulated attestation path, not ML training or aggregation; the filled ZKP marker refers to that certificate proof. In remote_attestation/methods/guest/src/bin/verify_ar.rs, lines 74–142 parse CA/VCEK certificates, verify an RSA-PSS/SHA-384 signature, and commit a Boolean result; the guest does not consume a hardware report or app measurements. remote_attestation/apps/src/bin/publisher.rs, lines 167–174, selects Groth16 proving. The Simulated cell distinguishes this registration design from authenticated production hardware quotes. cloud_setup/terraform/main.tf configures an AMD SEV-SNP VM. No downstream inference/agent/transparency-log path or RTMR3 replay is described in the examined predecessor. The original thesis PDF and a public publication URL were not available locally; the bibliography entry is hartmann2024dfl.</a:t>
            </a:r>
          </a:p>
          <a:p/>
          <a:p>
            <a:r>
              <a:rPr lang="en-US"/>
              <a:t>ZKML (EuroSys 2024), https://ddkang.github.io/papers/2024/zkml-eurosys.pdf, sections 2–4 and 8–9: implemented halo2-based compiler and inference-proof optimizations. Table 2 also lists CNN training as supported; section 4.4 explicitly makes training proofs a non-focus. Thus the single inference stage on this slide does not mean training is impossible. Attested sensors are mentioned as a combinable input source, not a deployed TEE/TDX inference attestation mechanism.</a:t>
            </a:r>
          </a:p>
          <a:p/>
          <a:p>
            <a:r>
              <a:rPr lang="en-US"/>
              <a:t>ZkAudit, Trustless Audits without Revealing Data or Models (ICML 2024), https://proceedings.mlr.press/v235/waiwitlikhit24a.html and https://arxiv.org/html/2404.04500v1, sections 3–6: ZkAudit-T proves training with committed data/weights; ZkAudit-I proves later audit functions using the same bindings, including inference in the implemented audits. This is an implemented training-to-audit lifecycle link, although generic training is not a column in this version of the slide. There is no agent or DFL coordination protocol. The Inference cell reads Audits to distinguish this application from a served native inference API. Published commitments do not themselves establish a transparency log.</a:t>
            </a:r>
          </a:p>
          <a:p/>
          <a:p>
            <a:r>
              <a:rPr lang="en-US"/>
              <a:t>Balan et al., A Framework for Cryptographic Verifiability of End-to-End AI Pipelines (2025), https://arxiv.org/html/2503.22573v1, sections 3–5: conceptual linkage of data, training, evaluation, inference, and unlearning through signatures, commitments, and ZKPs. Section 4.2.2 explicitly discusses decentralized FL approaches, including PTDFL; the outlined DFL cell refers to this discussion, not an own implemented DFL protocol. The slide shows selected parts of that broader lifecycle. This is a framework and tooling analysis, not a new fully implemented pipeline. The outlined ZKP marker denotes the framework's discussion and mapping of existing ZKP approaches. The outlined TEE marker refers only to related verifiable-database techniques discussed in section 5.1; no own remote-attestation or image-measurement verification pipeline is specified. The discussed DECORAIT blockchain metadata registry is not a specified transparency service with verified inclusion receipts in this framework.</a:t>
            </a:r>
          </a:p>
          <a:p/>
          <a:p>
            <a:r>
              <a:rPr lang="en-US"/>
              <a:t>AIR revision 02, Attested Inference Receipt: A COSE/CWT Profile for Confidential AI Inference, https://www.ietf.org/archive/id/draft-tsyrulnikov-rats-attested-inference-receipt-02.html, sections 7.2–7.3 and 14: an Internet-Draft with a demonstration implementation, EphemeralML. Filled cells refer to the reported receipt emission/verification and TEE execution, not to a finalized standard. The Platform RA cell summarizes platform-specific attestation: full single-document AIR provenance is implemented for Nitro; TDX/GCP evidence remains split across boot-time and transport/platform verification paths. Full single-document TDX validation is future work. The profile explicitly specifies TDX/DCAP quote checks, and can carry RTMR3 measurements, but does not specify replay of a dstack application event log. An external transparency log is outside the current profile (section 11.4). No DFL or agent workflow is established by the receipt format.</a:t>
            </a:r>
          </a:p>
          <a:p/>
          <a:p>
            <a:r>
              <a:rPr lang="en-US"/>
              <a:t>VET Your Agent (2025 preprint), https://arxiv.org/html/2512.15892v1, sections 6–10 and Appendix A: framework plus evaluated implementation. TLSNotary/Web Proofs bind API transcripts; VeriTrade combines a Claude API trace with a TEE proxy. A self-hosted Intel TDX notary is evaluated. The filled ZKP marker refers to interactive ZK proofs inside TLSNotary/MPC-TLS for TLS records and plaintext, confirmed in the pinned alpha.12 verifier: https://github.com/tlsnotary/tlsn/blob/v0.1.0-alpha.12/crates/verifier/src/lib.rs#L253. Exported Web Proofs rely on the notary; they do not prove LLM inference arithmetic. SNARK/STARK computation proofs remain framework options. RA is discussed, but concrete quote/certificate/app-policy verification and RTMR3/dstack replay are not specified. This does not mean VET never uses attestation. Locally collected traces are not an append-only transparency log with inclusion proofs; selective-disclosure and freshness limitations remain.</a:t>
            </a:r>
          </a:p>
          <a:p/>
          <a:p>
            <a:r>
              <a:rPr lang="en-US"/>
              <a:t>Sello / Figuera (2026), Notarized Agents: Receiver-Attested Confidential Receipts for AI Agent Actions, https://arxiv.org/html/2606.04193v1, sections 4, 6–7: the receiving service signs owner-encrypted tool receipts and publishes them to a transparency log. The reference implementation and cryptographic microbenchmarks use a local mock log; hosted-log submission latency is not measured first-party. Filled cells describe this implemented receipt lifecycle, not a production deployment or proof of all agent reasoning. Receiver-attested means service signatures, not TEE remote attestation. Suppression before a call reaches the receiver and receiver collusion remain outside the guarantee. The protocol does not by itself verify ML inference arithmetic.</a:t>
            </a:r>
          </a:p>
          <a:p/>
          <a:p>
            <a:r>
              <a:rPr lang="en-US"/>
              <a:t>VITA-FL: native training, aggregation, and inference use TEEs and bound evidence rather than ZK proofs of those ML computations. The evaluated runtime also uses no ZK proof for admission: AutomataDcapTdxV4Attestation.sol rejects verifyAndAttestWithZKProof with ZK_Verification_Not_Supported, and DeviceRegistry.sol calls verifyAndAttestOnChainWithRtmr3EventLog. The ZKP dash concerns this operational prototype, not the thesis's discussion of explored alternatives. Full TDX/DCAP quote-signature, certificate, QE, and TCB verification occurs at admission. The image policy parses the exact app_compose preimage, derives its compose hash and immutable image digest, checks the approved image/base-runtime policy, and replays the ordered RTMR3 event chain against the authenticated quote. RTMR3 alone does not identify an image, and replay alone does not authenticate a quote. This dstack/TDX-specific mechanism is an implementation distinction, not a general security advantage over SGX or ZKPs. See https://docs.phala.com/phala-cloud/attestation/verify-your-application. For each inference the agent verifies signed AIR bindings and RTMR3 consistency, but does not authenticate the quote signature or validate the DCAP certificate/collateral chain: dcap_collateral_verified is false. It relies on prior receiver admission and the registered receipt key. The Agent stage means authenticated tool receipts, deterministic model resolution, and recorded inference evidence, not a proof of all LLM reasoning. The Transparency Log cell refers to receiver-published Sello-style tool receipts and inclusion checks, not the training ledger alone. This part builds on existing work: Sello, https://arxiv.org/abs/2606.04193, and the SCITT architecture, https://www.rfc-editor.org/rfc/rfc9943.html. Local code references: vita-fl/smart_contracts/src/attestation/AutomataDcapTdxV4Attestation.sol and vita-fl/agent/tee_inference_client.py.</a:t>
            </a:r>
          </a:p>
          <a:p/>
          <a:p>
            <a:r>
              <a:rPr lang="en-US"/>
              <a:t>Technical background references: SCITT / RFC 9943, https://www.rfc-editor.org/rfc/rfc9943.html, defines signed statements, registration policy, verifiable data structures, and inclusion receipts. It is a transparency architecture rather than a DFL/agent system. Phala/dstack application verification, https://docs.phala.com/phala-cloud/attestation/verify-your-application, supplies the technical precedent for quote authentication, manifest/digest policy, and RTMR3 replay. VITA-FL applies those mechanisms; it does not introduce RTMR3 image binding.</a:t>
            </a:r>
          </a:p>
          <a:p/>
          <a:p>
            <a:r>
              <a:rPr lang="en-US"/>
              <a:t>Takeaway: lifecycle connections already exist. VITA-FL studies an attestation-based DFL-to-inference integration with agent evidence and concrete image-policy checks. No first-system claim, no exhaustive research-gap proof, and no measured TEE-vs-ZKP performance advantage follow from this comparison. Sources checked 20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Federated learning lets participants train a model together while retaining their records locally. DFL is a decentralized form of FL; the left diagram specifically shows centrally coordinated FL. A global model is the shared starting model of a round. A worker is the computing process at a participant, for example a hospital. It starts from that model, trains on local records, and submits its local parameter set or update. The aggregator collects and checks contributions, combines accepted local models, and publishes the next global model. The arrows on the left represent model exchange, never raw patient records. A permanent central server holds the coordination role; continued progress depends on it or an explicit replacement mechanism. On the right, the same participants A, B, and C appear in three successive rounds. Red identifies the aggregator: first A, then B, then C. The other participants perform local training. The horizontal arrows indicate progression between rounds. This is an illustrative assignment sequence, not a mandatory round-robin schedule. Weighted selection can also choose the same aggregator in consecutive rounds. Each eligible participant can assume the role under VITA-FL's shared contract rules. A stalled aggregator can be replaced through the recovery protocol. Rotation alone does not establish availability: decentralization requires agreement and recovery rules and retains infrastructure dependencies. Other DFL designs use peer-to-peer mixing instead of a single rotating aggregator. In the prototype, the current aggregator does not train during its aggregation round: six participants therefore provide five local models. Contribution checks enforce protocol rules; they do not establish that training data are benign. Sources: thesis Chapter 2, Section 2.1; McMahan et al., AISTATS 2017, https://arxiv.org/abs/1602.05629; Martínez Beltrán et al., IEEE Communications Surveys &amp; Tutorials 2023, https://doi.org/10.1109/COMST.2023.3315746.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Lifecycle overview before the detailed architecture. Workers train locally and send encrypted local updates directly to the current aggregator over authenticated HTTPS. The aggregator combines the updates, stores the encrypted global-model bundle in IPFS, and finalizes its references on blockchain. Workers resolve the finalized reference and load the model from IPFS for the next training round. The Global model segment therefore represents both publication and retrieval. The blockchain also coordinates rounds and records accepted submission commitments; those interactions are abstracted here. Aggregation is an assigned participant role, and selection can choose the same participant in successive rounds.</a:t>
            </a:r>
          </a:p>
          <a:p/>
          <a:p>
            <a:r>
              <a:rPr lang="en-US"/>
              <a:t>A finalized model can also be used for inference. The Published model arrow summarizes the receiver resolving its authoritative blockchain reference and retrieving the corresponding IPFS bundle. The agent invokes the inference service through MCP and receives its result. The receiver publishes the tool receipt to the separate transparency log. Domain evidence binds the model, inference input, and output; log inclusion alone does not verify computation. Admission and retained signing identities underpin execution; this overview does not imply a fresh full DCAP check for every call. No inference-to-training feedback is implied. The circle groups functions, not a shared TEE or trust boundary.</a:t>
            </a:r>
          </a:p>
          <a:p/>
          <a:p>
            <a:r>
              <a:rPr lang="en-US"/>
              <a:t>Prototype references: vita-fl/dfl/node_server/src/server.ts:463-533,672-702,2110-2180,2313-2330; vita-fl/dfl/node_server/src/ipfs.ts:315-346,380-435; vita-fl/smart_contracts/src/core/GMStorage.sol:180-248; vita-fl/smart_contracts/src/core/AggregatorSelection.sol:171-195.</a:t>
            </a:r>
          </a:p>
          <a:p/>
          <a:p>
            <a:r>
              <a:rPr lang="en-US"/>
              <a:t>The Phala remote attestation check below Inference represents appraisal of the receiver's TDX quote through the Phala verifier. The agent consumes the verification result and checks the expected deployment policy. The connector indicates evidence verification, not an additional training step.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Green denotes model production; purple denotes blockchain and IPFS; blue denotes agent orchestration, inference and evidence logging. The DFL and agent/inference responsibilities remain separate; shared infrastructure is not a third execution responsibility. These boxes are functional groups, not deployment or attestation boundaries.</a:t>
            </a:r>
          </a:p>
          <a:p/>
          <a:p>
            <a:r>
              <a:rPr lang="en-US"/>
              <a:t>Ledger -&gt; Receiver TEE supplies the finalized model reference: CIDs, round and publisher key. IPFS -&gt; Receiver TEE supplies the signed, encrypted model bundle and associated artifacts. The receiver independently resolves, retrieves and verifies them. Purple arrowheads depict incoming information; the receiver initiates retrieval. The ledger does not upload model bytes to IPFS. DFL publication arrows summarize the active aggregator publishing artifacts and their references.</a:t>
            </a:r>
          </a:p>
          <a:p/>
          <a:p>
            <a:r>
              <a:rPr lang="en-US"/>
              <a:t>Local code references: vita-fl/tee_inference/service/model_source.py:218; vita-fl/agent/blockchain_source.py:354,544. The MCP/log chain is the existing slide's compact view of tools and evidence, not a detailed call-sequence diagram.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This slide illustrates one decentralized training round across five independent hospitals. Each hospital keeps its raw X-rays local and runs an admitted training worker. The current encrypted global model is distributed to the workers, while their signed and round-bound model updates converge on the temporary aggregator, shown here as Hospital D. That aggregator publishes the next global model. The orange clockwise arrows denote rotation of the temporary aggregator role between rounds; they do not represent patient-data transfer between hospitals.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Two independent relations explain why VITA-FL does not use a zero-knowledge proof as its operational worker path. A complete training proof would cover much more than the neural network: it would need the exact parent and policy, signed-input checks, decryption and signature checks, the iterative optimizer transition, and the hashing, signing, encryption, key wrapping, and package formation performed after training. That proof is needed for every worker transition in every round. Separately, proving DCAP registration would require quote and certificate parsing, cryptographic signature and hash verification, collateral and TCB appraisal, and a complete ordered RTMR3 replay with REPORTDATA and enrollment bindings. VITA-FL instead executes these stateful relations natively inside measured TDX workloads and appraises remote-attestation evidence. This is a relation-scope argument, not an empirical claim that TEEs are universally faster than ZK. ZK remains suitable for narrow, precisely encoded claims. References: IETF RFC 9334; Intel TDX/DCAP documentation; and Chen et al., ZKML, EuroSys 2024, https://doi.org/10.1145/3627703.3650088.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This shortened slide ends at provisioning the expected worker image digest in DeviceRegistry on the running blockchain. Later remote-attestation checks are outside the visible scope.</a:t>
            </a:r>
          </a:p>
          <a:p/>
          <a:p>
            <a:r>
              <a:rPr lang="en-US"/>
              <a:t>A worker-code push triggers the configured GitHub Actions publisher. TypeScript is compiled; JavaScript tests cover policy and model/key/round binding. Python tests include tampered data and forged receipts. These tests precede the Docker Buildx build of dfl/Dockerfile and publication to GHCR. Digest denotes the immutable registry image digest, not a Git commit or a local Docker image configuration ID. The deployment job for GitHub environment phala passes the exact repository@sha256:Digest reference and source revision to Terraform. GitHub Actions executes the build and deployment job; GitHub Deployments records the deployment. Auto-deploy requires the configured branch and PHALA_AUTO_DEPLOY=true.</a:t>
            </a:r>
          </a:p>
          <a:p/>
          <a:p>
            <a:r>
              <a:rPr lang="en-US"/>
              <a:t>Terraform passes var.worker_image into the contracts Compose template as EXPECTED_WORKER_IMAGE. The variable contains the complete pinned worker image reference. It does not replace the contracts container image, and Terraform does not send image bytes through this environment variable. Phala/dstack runs the contracts container using its own separately configured image.</a:t>
            </a:r>
          </a:p>
          <a:p/>
          <a:p>
            <a:r>
              <a:rPr lang="en-US"/>
              <a:t>In the prototype, smart-contracts waits for healthy Anvil and uses RPC_URL=http://anvil:8545. starter_docker.sh deploys the contracts, obtains DEVICE_REGISTRY_ADDRESS, extracts the 64-hex-digit image digest from EXPECTED_WORKER_IMAGE, validates it, and sends an owner-signed transaction calling setExpectedWorkerImageDigest(bytes32). DeviceRegistry stores it in bytes32 public expectedWorkerImageDigest. The setter is owner-only and cannot change the policy after the run roster is committed. The diagram therefore depicts bootstrap policy provisioning, not arbitrary updates to a committed registry.</a:t>
            </a:r>
          </a:p>
          <a:p/>
          <a:p>
            <a:r>
              <a:rPr lang="en-US"/>
              <a:t>Sources checked 20 September 2026:</a:t>
            </a:r>
          </a:p>
          <a:p>
            <a:r>
              <a:rPr lang="en-US"/>
              <a:t>vita-fl/.github/workflows/publish-dfl-worker.yml:50-83,95-107,119-134</a:t>
            </a:r>
          </a:p>
          <a:p>
            <a:r>
              <a:rPr lang="en-US"/>
              <a:t>vita-fl/.github/workflows/deploy-phala.yml:26-86</a:t>
            </a:r>
          </a:p>
          <a:p>
            <a:r>
              <a:rPr lang="en-US"/>
              <a:t>vita-fl/phala/main.tf:166</a:t>
            </a:r>
          </a:p>
          <a:p>
            <a:r>
              <a:rPr lang="en-US"/>
              <a:t>vita-fl/phala/dstack-compose.contracts.phala.tftpl:64-75,102</a:t>
            </a:r>
          </a:p>
          <a:p>
            <a:r>
              <a:rPr lang="en-US"/>
              <a:t>vita-fl/smart_contracts/starter_docker.sh:229-237,598-602,1150-1163</a:t>
            </a:r>
          </a:p>
          <a:p>
            <a:r>
              <a:rPr lang="en-US"/>
              <a:t>vita-fl/smart_contracts/src/core/DeviceRegistry.sol:41,93-97</a:t>
            </a:r>
          </a:p>
          <a:p>
            <a:r>
              <a:rPr lang="en-US"/>
              <a:t>Only source inspection and slide generation were performed; no deployment or on-chain transaction was executed.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The previous slide provisions the expected worker-image Digest in DeviceRegistry. This slide explains how the independently supplied live evidence is checked against that policy.</a:t>
            </a:r>
          </a:p>
          <a:p/>
          <a:p>
            <a:r>
              <a:rPr lang="en-US"/>
              <a:t>The worker obtains exact measured app_compose bytes, an ordered RTMR3 event log and a TDX Quote V4 from dstack. It performs preliminary consistency checks and submits all three in a single DeviceRegistry.registerDeviceWithAttestedAppCompose transaction, signed by its TEE action authority. The quote is supplied alongside the log; replay does not create the quote. The arrows are evidence dependencies, not an instruction to execute the Solidity functions in this visual order.</a:t>
            </a:r>
          </a:p>
          <a:p/>
          <a:p>
            <a:r>
              <a:rPr lang="en-US"/>
              <a:t>Everything inside the purple boundary is checked on chain. DeviceRegistry derives the pinned image Digest, SHA-256 of the exact app_compose bytes, and the normalized worker-policy hash. It compares the Digest with expectedWorkerImageDigest and requires an allowed worker policy. The state field contains the 32-byte Registry image digest extracted from the CI-provisioned immutable reference. The event log contains a compose-hash event, not the image Digest itself.</a:t>
            </a:r>
          </a:p>
          <a:p/>
          <a:p>
            <a:r>
              <a:rPr lang="en-US"/>
              <a:t>DeviceRegistry calls AutomataDcapTdxV4Attestation, the DCAP verifier. It authenticates the TDX quote through the Intel-rooted PCK certificate chain and quote/QE signatures, collateral and TCB appraisal, and checks the expected MRTD and RTMR0–2 base-runtime measurements. The verifier requires exactly one compose-hash event matching SHA-256 of the exact app_compose preimage. It replays the ordered RTMR3 runtime events with SHA-384 from a 48-byte all-zero initial value, including event-type and event-digest checks, and compares the result with the RTMR3 authenticated in the quote body. App-compose hashing and RTMR3 extension use different hash functions.</a:t>
            </a:r>
          </a:p>
          <a:p/>
          <a:p>
            <a:r>
              <a:rPr lang="en-US"/>
              <a:t>DeviceRegistry also verifies enrollment authorization and REPORTDATA binding to the registration fields, including participant, action authority, RSA public key, receipt key where applicable, workload, endpoints and fresh nonce. Successful admission therefore requires the conjunction of quote authenticity, trusted base runtime, allowed image and workload policy, event-log binding/replay, and enrollment/key binding. The source image policy and trusted runtime remain trust assumptions; an authenticated image does not itself prove data quality or bug-free training.</a:t>
            </a:r>
          </a:p>
          <a:p/>
          <a:p>
            <a:r>
              <a:rPr lang="en-US"/>
              <a:t>Source map, local prototype checked 20 September 2026:</a:t>
            </a:r>
          </a:p>
          <a:p>
            <a:r>
              <a:rPr lang="en-US"/>
              <a:t>vita-fl/dfl/node_server/src/server.ts:977–1001,1844–1866</a:t>
            </a:r>
          </a:p>
          <a:p>
            <a:r>
              <a:rPr lang="en-US"/>
              <a:t>vita-fl/dfl/node_server/src/bc_client.ts:1146,1226</a:t>
            </a:r>
          </a:p>
          <a:p>
            <a:r>
              <a:rPr lang="en-US"/>
              <a:t>vita-fl/smart_contracts/src/core/DeviceRegistry.sol:308–344,428–434,487–503</a:t>
            </a:r>
          </a:p>
          <a:p>
            <a:r>
              <a:rPr lang="en-US"/>
              <a:t>vita-fl/smart_contracts/src/attestation/AppComposeImage.sol:831</a:t>
            </a:r>
          </a:p>
          <a:p>
            <a:r>
              <a:rPr lang="en-US"/>
              <a:t>vita-fl/smart_contracts/src/attestation/AutomataDcapTdxV4Attestation.sol:151–171,310,458–506</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Actor map: a worker holds separate keys for blockchain actions, model exchange, tool receipts, and inference evidence. The AES sealing key is internal custody of a randomly generated RSA key. Model payload bytes use separate symmetric encryption keys.</a:t>
            </a:r>
          </a:p>
          <a:p/>
          <a:p>
            <a:r>
              <a:rPr lang="en-US"/>
              <a:t>This slide expands the former key-derivation half into three distinct operational purposes. dstack KMS authorization and VITA-FL on-chain worker admission are separate checks. DeviceRegistry does not release the KMS secrets; the visual sequence of the two slides is explanatory, not a boot-order dependency.</a:t>
            </a:r>
          </a:p>
          <a:p/>
          <a:p>
            <a:r>
              <a:rPr lang="en-US"/>
              <a:t>The attested dstack KMS protects root material and authorizes the application under its workload policy. Within the guest, the application calls GetKey through /var/run/dstack.sock. The application root and requested derivation path scope the returned material. VITA-FL then applies purpose-specific derivation and context. Same image alone is insufficient to guarantee the same key: the application root/KMS context, path and additional derivation context must also remain stable. The optional GetKey purpose concerns signature-chain metadata; distinct paths separate key bytes. Returned material is available in workload memory and must be protected there.</a:t>
            </a:r>
          </a:p>
          <a:p/>
          <a:p>
            <a:r>
              <a:rPr lang="en-US"/>
              <a:t>ACTION SIGNING: vita-fl/participant-ethereum-action/v1 returns material used with HMAC-SHA-256 and participant, chain ID and DeviceRegistry address context to derive a valid secp256k1 scalar. The action authority signs authorized protocol transactions, is re-derived for signing, and is checked against the startup address. The action signer rejects value transfers.</a:t>
            </a:r>
          </a:p>
          <a:p/>
          <a:p>
            <a:r>
              <a:rPr lang="en-US"/>
              <a:t>MODEL-KEY CUSTODY: vita-fl/participant-rsa-wrap/v1 returns material from which HKDF-SHA-256 derives an AES-256-GCM wrapping key. The participant RSA-3072 key is generated randomly when sealed state does not exist; it is not deterministically derived from dstack. The AES key seals the PKCS#8 private key with participant identity as associated data. Existing sealed state is unsealed on restart. Stable RSA identity requires retaining that sealed state; re-deriving the wrapping key alone cannot recreate a lost random RSA key. The RSA key signs/decrypts model artifacts and allows the inference worker to decrypt the published model bundle. Persistent storage contains sealed state, while working PEM files reside in /run/vita-fl tmpfs.</a:t>
            </a:r>
          </a:p>
          <a:p/>
          <a:p>
            <a:r>
              <a:rPr lang="en-US"/>
              <a:t>RECEIPT SIGNING: The current Sello receiver uses vita-fl/sello/tee-inference/v1, with HMAC-SHA-256 and participant/chain/registry/service context producing an Ed25519 seed. The Python receiver independently derives the same signing identity. AIR evidence uses a separate master-thesis/air-v1 path and Ed25519 key. The two protocols do not share a single receipt key. Their detailed paths are left in notes so the slide can concentrate on the shared key-derivation principle.</a:t>
            </a:r>
          </a:p>
          <a:p/>
          <a:p>
            <a:r>
              <a:rPr lang="en-US"/>
              <a:t>The action authority, RSA public key and inference worker's Sello receipt public key are bound into quote REPORTDATA during DeviceRegistry enrollment, connecting these operational identities to the verified workload on the preceding slide. AIR binds its own receipt public key and manifest/request context in separate inference evidence. Private key bytes are not written into the registry.</a:t>
            </a:r>
          </a:p>
          <a:p/>
          <a:p>
            <a:r>
              <a:rPr lang="en-US"/>
              <a:t>Source map, local prototype checked 20 September 2026:</a:t>
            </a:r>
          </a:p>
          <a:p>
            <a:r>
              <a:rPr lang="en-US"/>
              <a:t>vita-fl/dfl/node_server/src/action_key.ts:10–11,65–101,185,217</a:t>
            </a:r>
          </a:p>
          <a:p>
            <a:r>
              <a:rPr lang="en-US"/>
              <a:t>vita-fl/dfl/node_server/src/participant_key.ts:14,81,164–178,247–279</a:t>
            </a:r>
          </a:p>
          <a:p>
            <a:r>
              <a:rPr lang="en-US"/>
              <a:t>vita-fl/dfl/node_server/src/sello_key.ts:5,61,92</a:t>
            </a:r>
          </a:p>
          <a:p>
            <a:r>
              <a:rPr lang="en-US"/>
              <a:t>vita-fl/agent_receipts/dstack_key.py:32,91</a:t>
            </a:r>
          </a:p>
          <a:p>
            <a:r>
              <a:rPr lang="en-US"/>
              <a:t>vita-fl/tee_inference/service/attestation.py:56–71</a:t>
            </a:r>
          </a:p>
          <a:p>
            <a:r>
              <a:rPr lang="en-US"/>
              <a:t>vita-fl/dfl/node_server/src/server.ts:1834–1866,2893–2915</a:t>
            </a:r>
          </a:p>
          <a:p>
            <a:r>
              <a:rPr lang="en-US"/>
              <a:t>vita-fl/smart_contracts/src/core/DeviceRegistry.sol:342–344</a:t>
            </a:r>
          </a:p>
          <a:p>
            <a:r>
              <a:rPr lang="en-US"/>
              <a:t>vita-fl/phala/README.md:460,477–484</a:t>
            </a:r>
          </a:p>
          <a:p/>
          <a:p/>
          <a:p>
            <a:r>
              <a:rPr lang="en-US"/>
              <a:t>Concrete uses reviewed for the alternatives: the secp256k1 action key signs protocol transactions, local-update commitments and aggregation statements. The random RSA-3072 key signs model packages and unwraps the symmetric encryption keys used for model transport. The derived AES-256-GCM sealing key protects RSA private-key state on disk; it is distinct from the fresh symmetric keys used to encrypt model bytes. Sello uses Ed25519 to sign receiver-created tool-action receipts submitted to the transparency log; AIR uses a separate Ed25519 key to sign inference evidence verified by the agent. The log proves recording; it does not independently prove computation. Public action, RSA and Sello identities are enrollment-bound; AIR has a separate inference-quote binding.</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Each authorized worker receives weight score plus one. In the example the weights sum to 14, so the displayed probabilities are one, two, four, and seven divided by 14. For the normal selection, the contract hashes prevrandao, the block timestamp, block number, round, and the current aggregator public address. The resulting 256-bit value is converted to an integer and reduced modulo the total weight. This produces one ticket from zero through 13. The ticket is then mapped into the cumulative intervals in the displayed worker order: A receives zero, B one through two, C three through six, and D seven through 13. A ticket of five therefore selects Worker C. The interval widths—not the hash itself—create the probabilities. prevrandao is the EVM-accessible beacon-chain RANDAO value specified by EIP-4399 and is pseudorandom rather than an unbiased randomness oracle. Source: https://eips.ethereum.org/EIPS/eip-4399.</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Recovery starts only after registered worker TEEs report the exact current round and aggregator. The first accepted report freezes the eligible non-aggregator reporter set and the required quorum; the default threshold is the ceiling of fifty percent. At quorum, the contract penalizes the failed aggregator, marks the attempt aborted, advances the raw round, and selects a replacement from the current authorized set while excluding the failed address. This is not a blockchain rollback: the last atomically finalized model remains authoritative. The quorum authenticates reports but does not objectively prove global unreachability.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This slide follows the participating actors. Worker packages go directly to the aggregator, commitments and closure are on chain, computation stays in the TEE, and IPFS holds the encrypted publication before finalization.</a:t>
            </a:r>
          </a:p>
          <a:p/>
          <a:p>
            <a:r>
              <a:rPr lang="en-US"/>
              <a:t>These diagrams show a regular training round, not round-0 bootstrap. The aggregation rule is equal-weight FedAvg, with no validation-loss gate in the active policy.</a:t>
            </a:r>
          </a:p>
          <a:p/>
          <a:p>
            <a:r>
              <a:rPr lang="en-US"/>
              <a:t>Workers send encrypted, signed local-model packages directly to the current aggregator over authenticated HTTPS. These local updates are not stored in IPFS. The receiver verifies package signatures and expected context, decrypts the package, compares its plaintext model hash with the worker commitment, and records the worker's action-key-signed commitment on chain through GMStorage. One logical worker has at most one consistent accepted submission.</a:t>
            </a:r>
          </a:p>
          <a:p/>
          <a:p>
            <a:r>
              <a:rPr lang="en-US"/>
              <a:t>The selected aggregator closes the input window only when the policy-required minimum is reached. AggregationPolicy freezes an ordered input fingerprint and explicit accepted count. inputRoot is a rolling Keccak accumulator over accepted worker/commitment pairs in admission order, not a Merkle root. Closing disallows further submissions. Deadline expiry does not automatically close the round or bypass the minimum. The visible phrase frozen input set means this fingerprint plus count and per-worker records; it is not an on-chain copy of the model tensors.</a:t>
            </a:r>
          </a:p>
          <a:p/>
          <a:p>
            <a:r>
              <a:rPr lang="en-US"/>
              <a:t>Within the TEE, server.ts stages authorized model files whose SHA-256 hashes match the corresponding on-chain records and rechecks the hashes after copying. The local file count must exactly equal the immutable accepted count. Python then sorts unique worker-address filenames canonically, loads all staged models, checks the count, and computes the arithmetic mean of every corresponding state-dict tensor with equal weight per accepted model. This ordering is distinct from admission order in the rolling input commitment. Invalid or incomplete inputs block aggregation. Deterministic execution here refers to the pinned implementation and ordered inputs, not universal bitwise reproducibility across arbitrary hardware or software environments.</a:t>
            </a:r>
          </a:p>
          <a:p/>
          <a:p>
            <a:r>
              <a:rPr lang="en-US"/>
              <a:t>The resulting model is RSA-signed, encrypted in an AES-GCM model bundle, and published to IPFS together with its encrypted-bundle signature and per-recipient key bundle. The aggregator obtains all three CIDs before creating the aggregation statement. The action key signs an EIP-712 statement binding round, aggregator, input fingerprint/count, algorithm/policy, output model and bundle hashes, publication hash over the three CIDs, and nonce. The signature domain binds chain ID and GMStorage. This action signature is separate from the RSA model-package signature.</a:t>
            </a:r>
          </a:p>
          <a:p/>
          <a:p>
            <a:r>
              <a:rPr lang="en-US"/>
              <a:t>GMStorage.finalizeRoundWithAggregation validates current aggregator authorization, closed inputs, nonempty references and hashes, and unpublished round state. AggregationPolicy reconstructs the statement using stored frozen inputs and policy, then verifies the registered action-key signature. Solidity does not rerun FedAvg; correct computation is trusted to the previously attested application holding that key. The single finalization transaction records model references/evidence, marks the round complete, updates counters and advances the round. IPFS publication happened earlier and is not atomic with the blockchain transaction. Next-aggregator selection is a subsequent call, not part of this finalization transaction.</a:t>
            </a:r>
          </a:p>
          <a:p/>
          <a:p>
            <a:r>
              <a:rPr lang="en-US"/>
              <a:t>Source map, checked against local prototype on 20 September 2026:</a:t>
            </a:r>
          </a:p>
          <a:p>
            <a:r>
              <a:rPr lang="en-US"/>
              <a:t>vita-fl/dfl/node_server/src/server.ts:625–702,1310–1365,1930–2004,2229–2330,2786–2828</a:t>
            </a:r>
          </a:p>
          <a:p>
            <a:r>
              <a:rPr lang="en-US"/>
              <a:t>vita-fl/dfl/neural_network/cli.py:1248–1320</a:t>
            </a:r>
          </a:p>
          <a:p>
            <a:r>
              <a:rPr lang="en-US"/>
              <a:t>vita-fl/dfl/node_server/src/ipfs.ts:300–367</a:t>
            </a:r>
          </a:p>
          <a:p>
            <a:r>
              <a:rPr lang="en-US"/>
              <a:t>vita-fl/dfl/node_server/src/bc_client.ts:542–650</a:t>
            </a:r>
          </a:p>
          <a:p>
            <a:r>
              <a:rPr lang="en-US"/>
              <a:t>vita-fl/smart_contracts/src/core/GMStorage.sol:180–248,294–373</a:t>
            </a:r>
          </a:p>
          <a:p>
            <a:r>
              <a:rPr lang="en-US"/>
              <a:t>vita-fl/smart_contracts/src/core/AggregationPolicy.sol:16,203–215,260–305</a:t>
            </a:r>
          </a:p>
          <a:p>
            <a:r>
              <a:rPr lang="en-US"/>
              <a:t>vita-fl/smart_contracts/src/core/AggregatorSelection.sol:169–195</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The agent triggers preparation but never chooses the model. It sends no local path, CID, round, or publisher identity. The measured receiver first resolves the latest finalized publication from the ledger, including the current round, publisher and key snapshot, and the model, signature, and recipient-key-bundle CIDs. IPFS is only untrusted storage for the referenced bytes; it is not an authority. The receiver fetches exactly those objects, unwraps Worker 0's recipient key, decrypts the model, and verifies content hashes, round, publisher signature, and key snapshot. Inference proceeds only when ledger identity, retrieved bytes, and publisher proof agree. A local path, stale CID, alternative publisher, or mismatching object is rejected.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SELLO AND AIR — TASKS AND GUARANTEES</a:t>
            </a:r>
          </a:p>
          <a:p/>
          <a:p>
            <a:r>
              <a:rPr lang="en-US"/>
              <a:t>SOURCE: Juan Figuera, Notarized Agents: Receiver-Attested Confidential Receipts for AI Agent Actions (2026), arXiv:2606.04193v1. https://arxiv.org/abs/2606.04193</a:t>
            </a:r>
          </a:p>
          <a:p>
            <a:r>
              <a:rPr lang="en-US"/>
              <a:t>The paper moves receipt production to the receiving service, encrypts receipt contents for an independent owner, and combines witnessed logging with owner discovery by token reference.</a:t>
            </a:r>
          </a:p>
          <a:p/>
          <a:p>
            <a:r>
              <a:rPr lang="en-US"/>
              <a:t>CURRENT VITA-FL IMPLEMENTATION (23 September 2026): The three fixed operations are model-bundle fetch, ChestMNIST image selection, and inference. The receiver hashes the exact canonical tool input and raw response, HPKE-encrypts the receipt body, and signs its COSE_Sign1 envelope with a dedicated Ed25519 key. The receiver publishes to SCITT before releasing a successful response. The agent verifies the signature, decrypts the receipt, checks byte commitments and verifies the SCITT publication bundle. A log failure yields HTTP 503; already performed computation is not rolled back. The Sello inference input is a job_id object, not the image pixels. Pixel-level evidence is in the separately published AIR bundle.</a:t>
            </a:r>
          </a:p>
          <a:p/>
          <a:p>
            <a:r>
              <a:rPr lang="en-US"/>
              <a:t>VITA-FL ADDITIONS: dstack-derived receiver key, bound at DCAP admission to Worker 0 and its endpoint in DeviceRegistry; mandatory mTLS; short-lived JWS with audience, action scopes, certificate thumbprint and matching subject. This is transport identity, not attestation of agent code. A random jti is not a one-use store and the token is not bound to the request Digest.</a:t>
            </a:r>
          </a:p>
          <a:p/>
          <a:p>
            <a:r>
              <a:rPr lang="en-US"/>
              <a:t>DEVIATIONS / LIMITS: SCITT/CCF runs as one virtual node with no witness cosigning or independent log-key pin. Retrieval follows a returned publication URL; there is no owner discovery service indexed by token reference. Owner HPKE private key and token-issuer signing seed are configured in the agent runtime: the independent-owner threat boundary is therefore not preserved against compromise of that runtime. Domain evidence remains a separate layer. These slides describe the local implementation, not a newly deployed or evaluated run.</a:t>
            </a:r>
          </a:p>
          <a:p/>
          <a:p>
            <a:r>
              <a:rPr lang="en-US"/>
              <a:t>CODE: vita-fl/agent_receipts/sello_v1.py; agent_receipts/environment.py; agent_receipts/receiver_log.py; agent_receipts/scitt.py; agent_receipts/dstack_key.py; agent/sello_client.py; tee_inference/service/app.py; transport_security/peer.py; phala/dstack-compose.contracts.phala.tftpl.</a:t>
            </a:r>
          </a:p>
          <a:p/>
          <a:p>
            <a:r>
              <a:rPr lang="en-US"/>
              <a:t>SOURCE: B. Tsyrulnikov, Attested Inference Receipt (AIR): A COSE/CWT Profile for Confidential AI Inference, Internet-Draft 02, 5 July 2026. https://www.ietf.org/archive/id/draft-tsyrulnikov-rats-attested-inference-receipt-02.html</a:t>
            </a:r>
          </a:p>
          <a:p>
            <a:r>
              <a:rPr lang="en-US"/>
              <a:t>This is a work-in-progress draft, not a peer-reviewed paper or RFC. It defines signed single-inference evidence and distinguishes receipt validation from platform attestation appraisal.</a:t>
            </a:r>
          </a:p>
          <a:p/>
          <a:p>
            <a:r>
              <a:rPr lang="en-US"/>
              <a:t>CURRENT VITA-FL IMPLEMENTATION (23 September 2026): Native ChestMNIST inference uses deterministic CBOR request, response and model-manifest bytes. A dedicated dstack-derived Ed25519 key signs the AIR-style COSE/CWT receipt. The model Digest is the manifest Digest; that manifest binds the separately available DFL model artifact. The receipt contains commitments, not the original model weights or pixels. The returned domain bundle additionally contains exact numeric request/response bytes, manifest, receipt/key, quote, REPORTDATA, ordered event log and measured app_compose. The agent verifies the bundle and separately publishes it to SCITT. This published bundle contains the input pixels in plaintext; receipt hashing does not make this bundle confidential.</a:t>
            </a:r>
          </a:p>
          <a:p/>
          <a:p>
            <a:r>
              <a:rPr lang="en-US"/>
              <a:t>KEY / WORKLOAD BINDING: The 64-byte TDX REPORTDATA contains a domain-separated hash of the AIR public key and model-manifest Digest, followed by the request Digest. A fresh quote is requested per inference; its Digest is included in the AIR receipt. The verifier checks the AIR signature, request/response/manifest/nonce bindings, REPORTDATA, ordered SHA-384 RTMR3 replay, measured Compose, expected worker-image Digest and deployment policy. This is domain evidence for the numeric DFL inference, not evidence of the agent's LLM prompt or Ollama reasoning.</a:t>
            </a:r>
          </a:p>
          <a:p/>
          <a:p>
            <a:r>
              <a:rPr lang="en-US"/>
              <a:t>DEVIATIONS / LIMITS: The per-call verifier explicitly returns dcap_collateral_verified=False. It does not authenticate the individual quote's Intel signature/certificate chain, TCB or revocation collateral; it relies on separately admitted Worker 0 and its registry-bound Sello receiver identity. It also does not reconcile all signed measurement-map values with the quote registers. The REPORTDATA layout is VITA-FL-specific; it differs from revision 02's illustrated TDX key-binding construction. The nonce is generated by the receiver, not the verifier, and there is no seen-cti store; the 300-second issue-time policy (30-second skew) gives recentness, not full replay protection. Describe the profile as AIR-style. Signature and attestation do not establish model accuracy or prove the forward-pass arithmetic independently of trusted execution.</a:t>
            </a:r>
          </a:p>
          <a:p/>
          <a:p>
            <a:r>
              <a:rPr lang="en-US"/>
              <a:t>CODE: vita-fl/tee_inference/air/v1.py; tee_inference/service/attestation.py; tee_inference/service/jobs.py; tee_inference/protocol/v1.py; agent/tee_inference_client.py; agent/scitt_client.py.</a:t>
            </a:r>
          </a:p>
          <a:p/>
          <a:p>
            <a:r>
              <a:rPr lang="en-US"/>
              <a:t>USER REQUEST: Explain together, on one slide, the implemented responsibilities and guarantees of Sello and AIR. This is the current prototype, not the proposed RA-TLS + Phala API extension.</a:t>
            </a:r>
          </a:p>
          <a:p/>
          <a:p>
            <a:r>
              <a:rPr lang="en-US"/>
              <a:t>EXACT TASKS AND ENFORCED CHECKS</a:t>
            </a:r>
          </a:p>
          <a:p>
            <a:r>
              <a:rPr lang="en-US"/>
              <a:t>AIR data integrity: Ed25519 signature and SHA-256 commitments to the exact deterministic-CBOR model manifest, complete numeric inference request, response and quote. Substitution is detected relative to the authenticated signing identity. The manifest commits to model artifacts; model weights themselves are not placed inside the receipt.</a:t>
            </a:r>
          </a:p>
          <a:p>
            <a:r>
              <a:rPr lang="en-US"/>
              <a:t>AIR quote binding: REPORTDATA = SHA256("MasterThesis.AIR.key.v1" || AIR_public_key || manifest_hash) || request_hash. The response is bound by the AIR signature, not directly by the existing REPORTDATA. The receipt also hashes the quote.</a:t>
            </a:r>
          </a:p>
          <a:p>
            <a:r>
              <a:rPr lang="en-US"/>
              <a:t>AIR configuration: RTMR3 is replayed from the ordered event log. Compose hash, expected image digest and configured Chain-ID, GMStorage, DeviceRegistry and RPC endpoint are compared. This is quote-field consistency and deployment policy checking; per-inference Intel quote cryptography remains unverified.</a:t>
            </a:r>
          </a:p>
          <a:p>
            <a:r>
              <a:rPr lang="en-US"/>
              <a:t>Sello authorization: mandatory PKI mTLS plus signed, short-lived token; agent subject, receiver origin/audience, allowed action scope, certificate thumbprint and expiration must match. Jobs belong to the authenticated subject. This transport is not RA-TLS.</a:t>
            </a:r>
          </a:p>
          <a:p>
            <a:r>
              <a:rPr lang="en-US"/>
              <a:t>Sello response evidence: admitted receiver's Ed25519 signature binds action, exact logical tool input hash, exact output hash, token reference and result status. Agent compares them to the actual invocation. For run inference, tool input is the canonical job_id object, while output is the complete AIR evidence bundle. It is not evidence about the LLM's reasoning or original chat prompt.</a:t>
            </a:r>
          </a:p>
          <a:p>
            <a:r>
              <a:rPr lang="en-US"/>
              <a:t>Sello confidentiality: HPKE encrypts the receipt body for the owner. Signature covers the encrypted receipt; public envelope metadata remain visible. The owner private key and token issuer seed are currently in the agent runtime.</a:t>
            </a:r>
          </a:p>
          <a:p>
            <a:r>
              <a:rPr lang="en-US"/>
              <a:t>Publication: receiver publishes Sello before releasing a successful response; agent verifies Sello and its SCITT receipt, checks AIR and separately registers the AIR bundle. No successful verified tool result is released on publication failure. Computation precedes publication and is not rolled back when logging fails.</a:t>
            </a:r>
          </a:p>
          <a:p/>
          <a:p>
            <a:r>
              <a:rPr lang="en-US"/>
              <a:t>SCOPE OF GUARANTEES</a:t>
            </a:r>
          </a:p>
          <a:p>
            <a:r>
              <a:rPr lang="en-US"/>
              <a:t>Current AIR verifier reports dcap_collateral_verified=False. Prior on-chain admission and registry-bound receiver identity remain trust inputs. It does not reconcile every signed measurement-map entry with the quote. AIR nonce is receiver-generated, and neither AIR nor Sello provides an exactly-once execution guarantee.</a:t>
            </a:r>
          </a:p>
          <a:p>
            <a:r>
              <a:rPr lang="en-US"/>
              <a:t>The separate AIR bundle contains unencrypted input and output bytes. HPKE privacy applies only to the Sello receipt. SCITT is a single CCF Virtual Mode node without independent witnesses or a pinned log key; development TLS disables server certificate verification and the Phala log uses tmpfs. Registration proves inclusion against the obtained service keys, not permanent availability or a globally unique history. No medical accuracy or independent arithmetic proof is claimed.</a:t>
            </a:r>
          </a:p>
          <a:p/>
          <a:p>
            <a:r>
              <a:rPr lang="en-US"/>
              <a:t>LAYOUT: All diagrams are native, editable PowerPoint shapes. Approved comparison integrated as Page 20 of the main presentation. Colour role: blue = Sello/tool interaction; green = AIR/numeric DFL inference; purple = shared logging.</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The language-model agent can invoke only three bounded TEE operations. For each successful call, the deterministic inference receiver signs the exact input and output and publishes the receipt before returning the result. After inference, deterministic code in the agent service validates the complete AIR and TDX evidence bundle and publishes that bundle separately. The transparency log records inclusion and order; it does not itself decide whether the inference or attestation evidence is semantically valid.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An independent audit requires exported artifacts rather than only a transaction identifier or browser view. First, the auditor verifies the CCF receipt and Merkle inclusion path against a historical SCITT service key archived outside the log, recovering the exact signed statement and its log position. Second, anyone with the pinned receiver key can verify the signature over the encrypted Sello-style envelope, but its confidential action, status, and input/output hashes remain owner-scoped. Full content verification requires the original authorization JWS, issuer key, owner HPKE private key, and exact request and response. Third, the separate inference-evidence record contains the request, response, AIR-inspired receipt, quote, event log, measured Compose, model manifest, and REPORTDATA. The auditor can recheck signatures and hashes, reconstruct REPORTDATA, and replay RTMR3, but must supply a trusted policy snapshot. A full retrospective DCAP appraisal also needs the quote-time certificate chain, revocation material, QE identity, TCB information, and appraisal policy. The evaluated log was a single-node CCF Virtual-Mode service, so durable independent auditing additionally depends on exporting statements and pinning the contemporaneous service key.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The chain begins with independent device and radiologist RSA signatures. Inside an admitted participant TEE, an application-bound secp256k1 action key authorizes protocol mutations and a random RSA-3072 participant key is sealed with dstack-derived material. Worker updates are encrypted for the current aggregator and signed over their round context. The global model is signed, encrypted with AES-GCM, and wrapped separately for every authorized recipient before IPFS publication and atomic ledger finalization. The native inference receiver inside the Worker 0 TEE verifies that tuple and emits AIR and receiver receipts; the agent verifies them before the full bundle is recorded in the transparency log. CBC confidentiality on worker updates relies on the surrounding signature and hash bindings for integrity.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This is the sole evaluation run reported by the thesis, journal, and presentation. It executed the current deterministic equal-weight FedAvg path. Six Phala tdx.small confidential VMs used fresh measured worker profiles: Worker 0 combined training and native inference, while Workers 1 through 5 were training-only. After one bootstrap completion, the evaluated Tier-1 account permitted at most eight concurrently active TEEs. Six slots were therefore assigned to workers, while the other two ran the contract/control runtime and the Ollama service. The 78,468 ChestMNIST training samples were split evenly across the six workers, producing six shards of 13,078 samples. This is a run-specific capacity decision rather than a protocol limit or a scalability claim. All 24 requested federated rounds succeeded. Every round received all five expected client updates, giving 120 local training completions and 120 transfers, with no aborted round attempt. The run recorded no aborted attempt or selection-gap recovery. The 24 model evaluations span 689.22 seconds, or 29.97 seconds between evaluations on average. The final round-25 model was then consumed through the measured TEE inference path in 2.839 milliseconds; its evidence contains a 5,010-byte quote and ten RTMR3 events and was bound to receiver receipts and a transparency record. The verifier scope covered the AIR signature, REPORTDATA, RTMR3 replay, measured Compose, pinned image, contract endpoint, and trust-root policy; quote collateral was not independently marked as verified in this record. Receipt-level reconciliation in the observability export accounts for all six registrations. The 329 unique transactions and 616,141,147 gas quantify the simulated Anvil EVM protocol execution, including 472,240,960 gas for RTMR3 registration.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The plots show every learned global model from the sole Phala run: federated rounds 1 through 24 produce global-model rounds 2 through 25. Binary cross-entropy is the mean probabilistic error over fourteen independent labels, so lower is better. It falls from 0.414148 to its minimum of 0.329733 at global round 24 and ends at 0.332544. Macro AUROC evaluates per-label ranking and weights every label equally; 0.5 is chance and 1 is ideal. It rises from 0.655573 to 0.720301 at round 13 and ends at 0.711352, providing non-random ranking evidence. Macro F1 is the per-label harmonic mean of precision and recall; it reaches 0.195377 at global round 8 and ends at 0.177471. Label-wise accuracy starts at 88.6936 percent and ends at 85.8592 percent. Exact match requires all fourteen binary labels of a sample to be correct simultaneously; it peaks at 32.7509 percent and ends at 26.0242 percent. Because only 5.2569 percent of label positions are positive, both accuracy curves are dominated by negatives and must be read with the all-negative baselines on the next slide. Every point belongs to the same current equal-weight FedAvg model lineage.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Only 16,510 of 314,062 label positions in the ChestMNIST test split are positive, a rate of 5.2569 percent. Therefore an all-negative classifier obtains 94.7431 percent label-wise accuracy and 53.1717 percent exact match, while its macro F1 is zero and its AUROC is 0.5. Those two raw accuracy measures are dominated by correct negatives and are not suitable headline success metrics. The final model has lower label accuracy, 85.8592 percent, and lower exact match, 26.0242 percent, because positive class weighting deliberately makes positive predictions instead of choosing the trivial all-negative shortcut. Its macro AUROC of 0.711352 demonstrates non-random per-label ranking. Its macro F1 of 0.177471 and micro F1 of 0.262582 are modest because rare labels are evaluated with one fixed 0.5 threshold after only two local epochs in a compact CNN. The next learning step is label-specific threshold calibration and repeated model-selection experiments. The current result supports the claim that the distributed and verifiable pipeline learned a measurable signal; it is not evidence of clinical validity or diagnostic utility.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The conclusion is specific to the sole evaluated systems path: six admitted TDX workers completed all 24 requested FedAvg rounds, the final model reached macro AUROC 0.711 and macro F1 0.177, and Worker 0 consumed that model through the measured inference path. The modest F1 reflects rare ChestMNIST positives, one fixed 0.5 threshold, two local epochs, and the compact CNN. VITA-FL connects the ledger-authoritative model, encrypted and signed handoff, TDX/AIR inference evidence, three receiver-signed tool receipts, and SCITT recording without making the conversational model a root of trust. Exact identities, freshness values, artifacts, inputs, and outputs are checked across component boundaries and mismatches fail closed. The prioritized outlook follows Chapter 8. First, the image digest needs a complete signed source-to-build-to-deployment chain through reproducible or attestable builds, signed provenance, verified software bills of materials, image signatures, vulnerability gates, and digest-pinned automation. Second, transparency should move to independent operators with durable replication, witnessed or gossiped checkpoints, external anchoring, and split-view testing. Third, assurance should expand to robust aggregation and poisoning tests, native DICOM provenance, purpose-specific inference identities with attested key delegation, larger and batched inference, and repeated failure-injection runs. These are future-work items, not demonstrated properties. The result remains a reproducible proof of concept rather than a production-ready or clinically validated platform.</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A shows nested boundaries: the Worker 0 TEE contains one combined dfl-worker container, two service roles and their internal key material. The agent invokes inference and receives results/evidence through the API.</a:t>
            </a:r>
          </a:p>
          <a:p/>
          <a:p>
            <a:r>
              <a:rPr lang="en-US"/>
              <a:t>The active Phala deployment uses exactly one dfl-worker service and one immutable image reference per worker CVM. That image packages the Node DFL service, Python training code, native tee_inference code and agent_receipts. Worker 0 starts training services and the inference receiver as processes in the same container. Other workers contain the same code but do not start inference. This is not a pair of independent container images.</a:t>
            </a:r>
          </a:p>
          <a:p/>
          <a:p>
            <a:r>
              <a:rPr lang="en-US"/>
              <a:t>Inference can load encrypted model publications using the existing participant RSA private key inside the worker CVM. Node owns RSA initialization: it obtains a dstack-derived wrapping key, creates or unseals the random RSA key, and materializes temporary PEM files in /run/vita-fl. Inference uses the same runtime RSA file. RSA unwraps model-transport symmetric keys; it is not the receipt-signing key. Sello and AIR use separate Ed25519 signing keys. Paths/context separate cryptographic purposes but are not an isolation mechanism between processes with access to the same dstack socket. No private-key export to the external agent is part of the intended inference interface. The external agent receives results and signed evidence, and can request/use public verification material.</a:t>
            </a:r>
          </a:p>
          <a:p/>
          <a:p>
            <a:r>
              <a:rPr lang="en-US"/>
              <a:t>The joint OCI image Digest covers both training and inference code. The on-chain verifier derives the image Digest and role-policy hash from the measured app_compose, binds the Compose hash into the event log, replays RTMR3, and compares it with the certificate-verified TDX quote. Image and role-policy checks authorize participation. The parser requires one worker service and one image. Training-only and combined-inference policies are separately allowed; each CVM has its own Compose/event log/quote and potentially different final RTMR3.</a:t>
            </a:r>
          </a:p>
          <a:p/>
          <a:p>
            <a:r>
              <a:rPr lang="en-US"/>
              <a:t>SECURITY SCOPE: these diagrams show intended key custody under the approved application. On-chain admission is distinct from Phala KMS key-release authorization. Startup loads keys before entering the registration state machine. The repository does not independently bind managed-KMS release to DeviceRegistry image/role allowlists. If a malicious upgrade of the same app is authorized by the KMS under the same key root, refusing that version's on-chain registration alone cannot prevent it from retrieving keys. Actual deployed KMS/upgrade authorization was not inspected. Trusted image execution and KMS/upgrade policy are necessary assumptions; the TEE does not isolate approved processes from one another. Do not present these diagrams as unconditional protection against malicious same-app upgrades.</a:t>
            </a:r>
          </a:p>
          <a:p/>
          <a:p>
            <a:r>
              <a:rPr lang="en-US"/>
              <a:t>PER-INFERENCE VERIFICATION: the agent checks AIR signatures, context, report-data binding, replayed RTMR3, measured Compose and its expected image Digest. Terraform derives this expected inference Digest from worker_image. The per-call Python verifier reports dcap_collateral_verified=False; do not describe it as an independent complete DCAP validation for every request. Receiver admission and registry-bound identity provide additional trust context.</a:t>
            </a:r>
          </a:p>
          <a:p/>
          <a:p>
            <a:r>
              <a:rPr lang="en-US"/>
              <a:t>TOOL TRANSPORT: MCP Tool request labels the conceptual tool call. In the deployed agent, LangChain wrappers invoke imported functions from mcp_server.py; the remote inference request uses HTTP REST. This diagram does not claim a public MCP transport server on the worker.</a:t>
            </a:r>
          </a:p>
          <a:p/>
          <a:p>
            <a:r>
              <a:rPr lang="en-US"/>
              <a:t>Source map, checked against local prototype on 20 September 2026:</a:t>
            </a:r>
          </a:p>
          <a:p>
            <a:r>
              <a:rPr lang="en-US"/>
              <a:t>vita-fl/phala/dstack-compose.worker.phala.tftpl:1–18,34–37,87–104</a:t>
            </a:r>
          </a:p>
          <a:p>
            <a:r>
              <a:rPr lang="en-US"/>
              <a:t>vita-fl/phala/dynamic-workers/main.tf:67</a:t>
            </a:r>
          </a:p>
          <a:p>
            <a:r>
              <a:rPr lang="en-US"/>
              <a:t>vita-fl/phala/main.tf:180</a:t>
            </a:r>
          </a:p>
          <a:p>
            <a:r>
              <a:rPr lang="en-US"/>
              <a:t>vita-fl/dfl/Dockerfile:90–99</a:t>
            </a:r>
          </a:p>
          <a:p>
            <a:r>
              <a:rPr lang="en-US"/>
              <a:t>vita-fl/dfl/start_node_neural_network.sh:332–365</a:t>
            </a:r>
          </a:p>
          <a:p>
            <a:r>
              <a:rPr lang="en-US"/>
              <a:t>vita-fl/dfl/node_server/src/server.ts:1823–1868,2890–2923</a:t>
            </a:r>
          </a:p>
          <a:p>
            <a:r>
              <a:rPr lang="en-US"/>
              <a:t>vita-fl/dfl/node_server/src/action_key.ts:65–98</a:t>
            </a:r>
          </a:p>
          <a:p>
            <a:r>
              <a:rPr lang="en-US"/>
              <a:t>vita-fl/dfl/node_server/src/participant_key.ts:247–286</a:t>
            </a:r>
          </a:p>
          <a:p>
            <a:r>
              <a:rPr lang="en-US"/>
              <a:t>vita-fl/tee_inference/service/model_source.py:146–220</a:t>
            </a:r>
          </a:p>
          <a:p>
            <a:r>
              <a:rPr lang="en-US"/>
              <a:t>vita-fl/tee_inference/service/attestation.py:49–60,109–121</a:t>
            </a:r>
          </a:p>
          <a:p>
            <a:r>
              <a:rPr lang="en-US"/>
              <a:t>vita-fl/agent/blockchain_source.py:467–480</a:t>
            </a:r>
          </a:p>
          <a:p>
            <a:r>
              <a:rPr lang="en-US"/>
              <a:t>vita-fl/smart_contracts/src/core/DeviceRegistry.sol:487–490</a:t>
            </a:r>
          </a:p>
          <a:p>
            <a:r>
              <a:rPr lang="en-US"/>
              <a:t>vita-fl/smart_contracts/src/attestation/AppComposeImage.sol:588–592</a:t>
            </a:r>
          </a:p>
          <a:p>
            <a:r>
              <a:rPr lang="en-US"/>
              <a:t>vita-fl/agent/tee_inference_client.py:445–472,605–624</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This backup slide summarizes the use and misuse case views for the DFL production path. The diagrams relate workload admission, replay protection, signed training inputs, artifact identity, model confidentiality, aggregator availability, and valid-but-malicious updates to their corresponding controls. The following backup slides show each diagram at full size.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This backup slide summarizes the use and misuse case views for the agent, attested inference, transparency log, and infrastructure path. The diagrams distinguish forged or suppressed evidence from log equivocation, denial of service, root compromise, and collusion by otherwise valid participants. The following backup slides show each diagram at full size.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This backup slide presents the full-size use and misuse case diagram for T1: Unauthorized workload admission or identity substitution. The corresponding threat specification and residual-risk discussion appear in Chapter 4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This backup slide presents the full-size use and misuse case diagram for T2: Replay or stale-context reuse. The corresponding threat specification and residual-risk discussion appear in Chapter 4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This backup slide presents the full-size use and misuse case diagram for T3: Training-input or signer-policy manipulation. The corresponding threat specification and residual-risk discussion appear in Chapter 4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This backup slide presents the full-size use and misuse case diagram for T4: Artifact substitution or stale publication. The corresponding threat specification and residual-risk discussion appear in Chapter 4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This backup slide presents the full-size use and misuse case diagram for T5: Unauthorized model or key disclosure. The corresponding threat specification and residual-risk discussion appear in Chapter 4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This backup slide presents the full-size use and misuse case diagram for T6: Aggregator omission or availability failure. The corresponding threat specification and residual-risk discussion appear in Chapter 4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This backup slide presents the full-size use and misuse case diagram for T7: Semantically malicious but valid data or updates. The corresponding threat specification and residual-risk discussion appear in Chapter 4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This backup slide presents the full-size use and misuse case diagram for T8: Inference substitution or forged evidence. The corresponding threat specification and residual-risk discussion appear in Chapter 4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This backup slide presents the full-size use and misuse case diagram for T9: Agent or tool manipulation. The corresponding threat specification and residual-risk discussion appear in Chapter 4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This backup slide presents the full-size use and misuse case diagram for T10: Evidence or result suppression. The corresponding threat specification and residual-risk discussion appear in Chapter 4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This backup slide presents the full-size use and misuse case diagram for T11: Transparency-log omission or equivocation. The corresponding threat specification and residual-risk discussion appear in Chapter 4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This backup slide presents the full-size use and misuse case diagram for T12: Infrastructure denial of service. The corresponding threat specification and residual-risk discussion appear in Chapter 4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This backup slide presents the full-size use and misuse case diagram for T13: Cryptographic, key, or platform-root compromise. The corresponding threat specification and residual-risk discussion appear in Chapter 4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This backup slide presents the full-size use and misuse case diagram for T14: Systemic collusion or economic manipulation. The corresponding threat specification and residual-risk discussion appear in Chapter 4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SELECTED VARIANT A — CI CHECKS AND EXTERNAL SYSTEM TESTS</a:t>
            </a:r>
          </a:p>
          <a:p/>
          <a:p>
            <a:r>
              <a:rPr lang="en-US"/>
              <a:t>PURPOSE</a:t>
            </a:r>
          </a:p>
          <a:p>
            <a:r>
              <a:rPr lang="en-US"/>
              <a:t>Approved replacement for Page 26. The left catalog combines unit/component and</a:t>
            </a:r>
          </a:p>
          <a:p>
            <a:r>
              <a:rPr lang="en-US"/>
              <a:t>local integration tests under CI, grouped by the subject under test. The right</a:t>
            </a:r>
          </a:p>
          <a:p>
            <a:r>
              <a:rPr lang="en-US"/>
              <a:t>catalog explains external scenario types and their expected responses. Counts</a:t>
            </a:r>
          </a:p>
          <a:p>
            <a:r>
              <a:rPr lang="en-US"/>
              <a:t>refer to implementations, not passed executions or independent samples.</a:t>
            </a:r>
          </a:p>
          <a:p>
            <a:r>
              <a:rPr lang="en-US"/>
              <a:t>The source/configuration snapshot is dated 27 September 2026. No test or cloud</a:t>
            </a:r>
          </a:p>
          <a:p>
            <a:r>
              <a:rPr lang="en-US"/>
              <a:t>campaign was executed to build this slide. The adjacent historical 24-round</a:t>
            </a:r>
          </a:p>
          <a:p>
            <a:r>
              <a:rPr lang="en-US"/>
              <a:t>Phala experiment remains separate evidence; it is not attributed to the current</a:t>
            </a:r>
          </a:p>
          <a:p>
            <a:r>
              <a:rPr lang="en-US"/>
              <a:t>SMEW/SMA/test-driver profile.</a:t>
            </a:r>
          </a:p>
          <a:p/>
          <a:p>
            <a:r>
              <a:rPr lang="en-US"/>
              <a:t>CI BOUNDARY AND COUNTING</a:t>
            </a:r>
          </a:p>
          <a:p>
            <a:r>
              <a:rPr lang="en-US"/>
              <a:t>878 unique CI-selected declarations: 617 Python, 145 Solidity and 116 Node tests.</a:t>
            </a:r>
          </a:p>
          <a:p>
            <a:r>
              <a:rPr lang="en-US"/>
              <a:t>The seven groups are mutually exclusive assignments of test source areas. Each</a:t>
            </a:r>
          </a:p>
          <a:p>
            <a:r>
              <a:rPr lang="en-US"/>
              <a:t>declaration counts once; parametrization, loops, repeated workflow invocations</a:t>
            </a:r>
          </a:p>
          <a:p>
            <a:r>
              <a:rPr lang="en-US"/>
              <a:t>and subtests are not expanded. Conditional skips remain included. The scope is</a:t>
            </a:r>
          </a:p>
          <a:p>
            <a:r>
              <a:rPr lang="en-US"/>
              <a:t>vita-fl/.github/workflows/ci.yml and the explicit test entrypoints it selects.</a:t>
            </a:r>
          </a:p>
          <a:p>
            <a:r>
              <a:rPr lang="en-US"/>
              <a:t>The node job installs Foundry and requires the Anvil transaction tests. The CI</a:t>
            </a:r>
          </a:p>
          <a:p>
            <a:r>
              <a:rPr lang="en-US"/>
              <a:t>runs on GitHub-hosted Ubuntu for push/PR on main and phala_app_key or manual</a:t>
            </a:r>
          </a:p>
          <a:p>
            <a:r>
              <a:rPr lang="en-US"/>
              <a:t>workflow dispatch. Lint, formatting, build steps and the two runtime readiness</a:t>
            </a:r>
          </a:p>
          <a:p>
            <a:r>
              <a:rPr lang="en-US"/>
              <a:t>checks for Anvil/IPFS are additional pipeline checks, excluded from the 878.</a:t>
            </a:r>
          </a:p>
          <a:p>
            <a:r>
              <a:rPr lang="en-US"/>
              <a:t>The previous 808 inventory is historical. No new unit/integration split is</a:t>
            </a:r>
          </a:p>
          <a:p>
            <a:r>
              <a:rPr lang="en-US"/>
              <a:t>asserted: new tests require fresh assertion-level classification if that split</a:t>
            </a:r>
          </a:p>
          <a:p>
            <a:r>
              <a:rPr lang="en-US"/>
              <a:t>is ever needed again. Unit/component/integration are merged by explicit request.</a:t>
            </a:r>
          </a:p>
          <a:p>
            <a:r>
              <a:rPr lang="en-US"/>
              <a:t>Tests of the TD, SMEW and SMA tools are not silently added to the vita-fl CI count.</a:t>
            </a:r>
          </a:p>
          <a:p/>
          <a:p>
            <a:r>
              <a:rPr lang="en-US"/>
              <a:t>EXTERNAL SCOPE AND CONFIGURATION</a:t>
            </a:r>
          </a:p>
          <a:p>
            <a:r>
              <a:rPr lang="en-US"/>
              <a:t>The TD has nine CLI modes. Eight are considered here: configuration, normal,</a:t>
            </a:r>
          </a:p>
          <a:p>
            <a:r>
              <a:rPr lang="en-US"/>
              <a:t>early, partial, zero, recovery, inference and security. The optional manipulation</a:t>
            </a:r>
          </a:p>
          <a:p>
            <a:r>
              <a:rPr lang="en-US"/>
              <a:t>mode is excluded according to the user's requested scope. Tool-order attacks are</a:t>
            </a:r>
          </a:p>
          <a:p>
            <a:r>
              <a:rPr lang="en-US"/>
              <a:t>also excluded. Eight implemented modes do not mean eight passed live scenarios.</a:t>
            </a:r>
          </a:p>
          <a:p>
            <a:r>
              <a:rPr lang="en-US"/>
              <a:t>The selected local Phala profile has six workers, five successful training rounds,</a:t>
            </a:r>
          </a:p>
          <a:p>
            <a:r>
              <a:rPr lang="en-US"/>
              <a:t>client limit five, epoch one, a 45-second collection deadline, a 3600-second</a:t>
            </a:r>
          </a:p>
          <a:p>
            <a:r>
              <a:rPr lang="en-US"/>
              <a:t>scenario deadline, one-second polling, deployed-agent inference, participant</a:t>
            </a:r>
          </a:p>
          <a:p>
            <a:r>
              <a:rPr lang="en-US"/>
              <a:t>coverage and required transparency audit. Configuration is a setup-only check;</a:t>
            </a:r>
          </a:p>
          <a:p>
            <a:r>
              <a:rPr lang="en-US"/>
              <a:t>the five-round setting applies to training scenarios. train_before_inference is</a:t>
            </a:r>
          </a:p>
          <a:p>
            <a:r>
              <a:rPr lang="en-US"/>
              <a:t>enabled for the inference-only mode in this profile. Bootstrap and aborted</a:t>
            </a:r>
          </a:p>
          <a:p>
            <a:r>
              <a:rPr lang="en-US"/>
              <a:t>attempts are excluded from the five successful rounds. Other runs can vary the</a:t>
            </a:r>
          </a:p>
          <a:p>
            <a:r>
              <a:rPr lang="en-US"/>
              <a:t>parameters, so the profile is not attributed to every historical result.</a:t>
            </a:r>
          </a:p>
          <a:p>
            <a:r>
              <a:rPr lang="en-US"/>
              <a:t>SMEW schedules campaigns/repetitions and validates reports; SMA supervises the</a:t>
            </a:r>
          </a:p>
          <a:p>
            <a:r>
              <a:rPr lang="en-US"/>
              <a:t>local TD subprocess and retrieves Prometheus data for the run window. The TD</a:t>
            </a:r>
          </a:p>
          <a:p>
            <a:r>
              <a:rPr lang="en-US"/>
              <a:t>drives the remote VITA-FL deployment, checks assertions and produces the verdict.</a:t>
            </a:r>
          </a:p>
          <a:p>
            <a:r>
              <a:rPr lang="en-US"/>
              <a:t>No general energy measurement is claimed. Measurements currently include round</a:t>
            </a:r>
          </a:p>
          <a:p>
            <a:r>
              <a:rPr lang="en-US"/>
              <a:t>progress, aborted attempts and transaction gas.</a:t>
            </a:r>
          </a:p>
          <a:p/>
          <a:p>
            <a:r>
              <a:rPr lang="en-US"/>
              <a:t>EXTERNAL ORACLES</a:t>
            </a:r>
          </a:p>
          <a:p>
            <a:r>
              <a:rPr lang="en-US"/>
              <a:t>configuration: five training parameters round-trip; invalid timeouts are rejected</a:t>
            </a:r>
          </a:p>
          <a:p>
            <a:r>
              <a:rPr lang="en-US"/>
              <a:t>with HTTP 400 and the saved configuration remains unchanged.</a:t>
            </a:r>
          </a:p>
          <a:p>
            <a:r>
              <a:rPr lang="en-US"/>
              <a:t>normal: completed nonempty rounds, count/root/policy consistency, unchanged frozen</a:t>
            </a:r>
          </a:p>
          <a:p>
            <a:r>
              <a:rPr lang="en-US"/>
              <a:t>roster and all-six-worker participation; finalized-model inference is verified.</a:t>
            </a:r>
          </a:p>
          <a:p>
            <a:r>
              <a:rPr lang="en-US"/>
              <a:t>early/partial/zero: a cooperative admin-controlled upload gate at the deployed</a:t>
            </a:r>
          </a:p>
          <a:p>
            <a:r>
              <a:rPr lang="en-US"/>
              <a:t>receiver limits accepted clients in the first training round. Respectively 5,</a:t>
            </a:r>
          </a:p>
          <a:p>
            <a:r>
              <a:rPr lang="en-US"/>
              <a:t>2 or 0 accepted inputs establish early closure, exact partial publication after</a:t>
            </a:r>
          </a:p>
          <a:p>
            <a:r>
              <a:rPr lang="en-US"/>
              <a:t>the deadline, or no publication followed by quorum recovery. This is explicit</a:t>
            </a:r>
          </a:p>
          <a:p>
            <a:r>
              <a:rPr lang="en-US"/>
              <a:t>test instrumentation; the gate is not described as a network outage. The receipt</a:t>
            </a:r>
          </a:p>
          <a:p>
            <a:r>
              <a:rPr lang="en-US"/>
              <a:t>of a gate command alone does not establish the expected contribution set.</a:t>
            </a:r>
          </a:p>
          <a:p>
            <a:r>
              <a:rPr lang="en-US"/>
              <a:t>recovery: stop and confirm the selected aggregator CVM, observe three distinct</a:t>
            </a:r>
          </a:p>
          <a:p>
            <a:r>
              <a:rPr lang="en-US"/>
              <a:t>eligible reports out of five voters, keep the old state below quorum, then prove</a:t>
            </a:r>
          </a:p>
          <a:p>
            <a:r>
              <a:rPr lang="en-US"/>
              <a:t>abort/reselection on the third vote and successful resumed publication. Restore</a:t>
            </a:r>
          </a:p>
          <a:p>
            <a:r>
              <a:rPr lang="en-US"/>
              <a:t>the CVM; cleanup failure invalidates the run. The local aggregator timer is not</a:t>
            </a:r>
          </a:p>
          <a:p>
            <a:r>
              <a:rPr lang="en-US"/>
              <a:t>replaced or advanced by the driver. Contract vote conditions remain separate.</a:t>
            </a:r>
          </a:p>
          <a:p>
            <a:r>
              <a:rPr lang="en-US"/>
              <a:t>security: 16 required checks comprise five UI/control checks, four read-only EVM</a:t>
            </a:r>
          </a:p>
          <a:p>
            <a:r>
              <a:rPr lang="en-US"/>
              <a:t>guards, one positive inference control and six inference authorization negatives.</a:t>
            </a:r>
          </a:p>
          <a:p>
            <a:r>
              <a:rPr lang="en-US"/>
              <a:t>EVM guards use eth_call; they do not submit an attack transaction. Wrong reasons,</a:t>
            </a:r>
          </a:p>
          <a:p>
            <a:r>
              <a:rPr lang="en-US"/>
              <a:t>TLS/network errors and unavailable positive controls do not count as rejection.</a:t>
            </a:r>
          </a:p>
          <a:p>
            <a:r>
              <a:rPr lang="en-US"/>
              <a:t>Audit: 17 additional checks are 10 SCITT publisher/inclusion checks, one AIR/TDX,</a:t>
            </a:r>
          </a:p>
          <a:p>
            <a:r>
              <a:rPr lang="en-US"/>
              <a:t>three attestation sessions and three Sello receipts. Re-fetch published bytes,</a:t>
            </a:r>
          </a:p>
          <a:p>
            <a:r>
              <a:rPr lang="en-US"/>
              <a:t>verify bindings to this run and local trust policy, decrypt owner-authorized</a:t>
            </a:r>
          </a:p>
          <a:p>
            <a:r>
              <a:rPr lang="en-US"/>
              <a:t>Sello context and request fresh Phala quote appraisal. This is independent</a:t>
            </a:r>
          </a:p>
          <a:p>
            <a:r>
              <a:rPr lang="en-US"/>
              <a:t>execution using production verifier primitives, not an independent Intel DCAP</a:t>
            </a:r>
          </a:p>
          <a:p>
            <a:r>
              <a:rPr lang="en-US"/>
              <a:t>implementation or a reconstruction of the original TLS/PoP handshake.</a:t>
            </a:r>
          </a:p>
          <a:p>
            <a:r>
              <a:rPr lang="en-US"/>
              <a:t>The audit spans inference-enabled scenarios; it is not a ninth scenario mode.</a:t>
            </a:r>
          </a:p>
          <a:p>
            <a:r>
              <a:rPr lang="en-US"/>
              <a:t>16 security checks and 17 audit checks are not added to the scenario count.</a:t>
            </a:r>
          </a:p>
          <a:p/>
          <a:p>
            <a:r>
              <a:rPr lang="en-US"/>
              <a:t>INTERPRETATION</a:t>
            </a:r>
          </a:p>
          <a:p>
            <a:r>
              <a:rPr lang="en-US"/>
              <a:t>This slide inventories configured tests, not clinical quality, LLM reasoning,</a:t>
            </a:r>
          </a:p>
          <a:p>
            <a:r>
              <a:rPr lang="en-US"/>
              <a:t>load capacity or complete coverage of Chapter 4 threats. Configuration and code</a:t>
            </a:r>
          </a:p>
          <a:p>
            <a:r>
              <a:rPr lang="en-US"/>
              <a:t>availability are kept separate from observed live outcomes. Existing reports</a:t>
            </a:r>
          </a:p>
          <a:p>
            <a:r>
              <a:rPr lang="en-US"/>
              <a:t>contain a five-round Recovery PASS and a complete 17-check audit; early, partial,</a:t>
            </a:r>
          </a:p>
          <a:p>
            <a:r>
              <a:rPr lang="en-US"/>
              <a:t>zero and security must not be described as demonstrated successes from that run.</a:t>
            </a:r>
          </a:p>
          <a:p>
            <a:r>
              <a:rPr lang="en-US"/>
              <a:t>Some code properties have no live fault probe.</a:t>
            </a:r>
          </a:p>
          <a:p/>
          <a:p>
            <a:r>
              <a:rPr lang="en-US"/>
              <a:t>SOURCE MAP</a:t>
            </a:r>
          </a:p>
          <a:p>
            <a:r>
              <a:rPr lang="en-US"/>
              <a:t>Full current CI declaration manifest and source hashes: ci-inventory.json.</a:t>
            </a:r>
          </a:p>
          <a:p>
            <a:r>
              <a:rPr lang="en-US"/>
              <a:t>External scenario groups and public configuration: external-scope.json.</a:t>
            </a:r>
          </a:p>
          <a:p>
            <a:r>
              <a:rPr lang="en-US"/>
              <a:t>Presentation-facing labels/mapping: slide-data.json.</a:t>
            </a:r>
          </a:p>
          <a:p>
            <a:r>
              <a:rPr lang="en-US"/>
              <a:t>vita-fl/.github/workflows/ci.yml</a:t>
            </a:r>
          </a:p>
          <a:p>
            <a:r>
              <a:rPr lang="en-US"/>
              <a:t>vita-fl-td/src/vita_fl_td/config.py</a:t>
            </a:r>
          </a:p>
          <a:p>
            <a:r>
              <a:rPr lang="en-US"/>
              <a:t>vita-fl-td/src/vita_fl_td/runner.py</a:t>
            </a:r>
          </a:p>
          <a:p>
            <a:r>
              <a:rPr lang="en-US"/>
              <a:t>vita-fl-td/src/vita_fl_td/quorum.py</a:t>
            </a:r>
          </a:p>
          <a:p>
            <a:r>
              <a:rPr lang="en-US"/>
              <a:t>vita-fl-td/src/vita_fl_td/security_bridge.py</a:t>
            </a:r>
          </a:p>
          <a:p>
            <a:r>
              <a:rPr lang="en-US"/>
              <a:t>vita-fl-td/src/vita_fl_td/transparency_audit.py</a:t>
            </a:r>
          </a:p>
          <a:p>
            <a:r>
              <a:rPr lang="en-US"/>
              <a:t>vita-fl-td/docs/security-scenarios.md</a:t>
            </a:r>
          </a:p>
          <a:p>
            <a:r>
              <a:rPr lang="en-US"/>
              <a:t>vita-fl-td/docs/transparency-audit.md</a:t>
            </a:r>
          </a:p>
          <a:p>
            <a:r>
              <a:rPr lang="en-US"/>
              <a:t>SMEW/README.md</a:t>
            </a:r>
          </a:p>
          <a:p>
            <a:r>
              <a:rPr lang="en-US"/>
              <a:t>sustainability-measurement-agent/sma/sma.py</a:t>
            </a:r>
          </a:p>
          <a:p/>
          <a:p/>
          <a:p>
            <a:r>
              <a:rPr lang="en-US"/>
              <a:t>GROUP COUNTS</a:t>
            </a:r>
          </a:p>
          <a:p>
            <a:r>
              <a:rPr lang="en-US"/>
              <a:t>Learning &amp; model integrity: 78 — Data splits · aggregation math · model bindings</a:t>
            </a:r>
          </a:p>
          <a:p>
            <a:r>
              <a:rPr lang="en-US"/>
              <a:t>Round control &amp; recovery: 117 — Local timer · input closure · quorum · publication</a:t>
            </a:r>
          </a:p>
          <a:p>
            <a:r>
              <a:rPr lang="en-US"/>
              <a:t>Identity &amp; secure transport: 240 — Admission · quotes · keys · TLS · authorization</a:t>
            </a:r>
          </a:p>
          <a:p>
            <a:r>
              <a:rPr lang="en-US"/>
              <a:t>Inference &amp; agent workflow: 49 — MCP tools · job ownership · TEE/ZK workflow</a:t>
            </a:r>
          </a:p>
          <a:p>
            <a:r>
              <a:rPr lang="en-US"/>
              <a:t>Receipts &amp; provenance: 64 — AIR / Sello / SCITT · signatures · data provenance</a:t>
            </a:r>
          </a:p>
          <a:p>
            <a:r>
              <a:rPr lang="en-US"/>
              <a:t>Runtime control &amp; telemetry: 107 — Configuration · upload gates · worker telemetry</a:t>
            </a:r>
          </a:p>
          <a:p>
            <a:r>
              <a:rPr lang="en-US"/>
              <a:t>Deployment &amp; packaging: 223 — Image policy · revision order · Docker / Terraform</a:t>
            </a:r>
          </a:p>
          <a:p>
            <a:r>
              <a:rPr lang="en-US"/>
              <a:t>Inventory paths are relative to presentation/concepts/test-evaluation/ci-external/.</a:t>
            </a:r>
          </a:p>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APPROVED EVALUATION ARCHITECTURE — EXPERIMENT HOST AND PHALA</a:t>
            </a:r>
          </a:p>
          <a:p/>
          <a:p>
            <a:r>
              <a:rPr lang="en-US"/>
              <a:t>PURPOSE AND SCOPE</a:t>
            </a:r>
          </a:p>
          <a:p>
            <a:r>
              <a:rPr lang="en-US"/>
              <a:t>Meta-level architecture of the current evaluation workflow, checked against local</a:t>
            </a:r>
          </a:p>
          <a:p>
            <a:r>
              <a:rPr lang="en-US"/>
              <a:t>implementation on 27 September 2026. This slide describes responsibilities and</a:t>
            </a:r>
          </a:p>
          <a:p>
            <a:r>
              <a:rPr lang="en-US"/>
              <a:t>execution boundaries, not the outcome of a new run or a measured success rate.</a:t>
            </a:r>
          </a:p>
          <a:p>
            <a:r>
              <a:rPr lang="en-US"/>
              <a:t>It introduces the evaluation section before the historical 24-round Phala run.</a:t>
            </a:r>
          </a:p>
          <a:p>
            <a:r>
              <a:rPr lang="en-US"/>
              <a:t>That historical experiment is separate evidence; this slide does not claim it</a:t>
            </a:r>
          </a:p>
          <a:p>
            <a:r>
              <a:rPr lang="en-US"/>
              <a:t>was conducted with the current SMEW/SMA/test-driver workflow.</a:t>
            </a:r>
          </a:p>
          <a:p/>
          <a:p>
            <a:r>
              <a:rPr lang="en-US"/>
              <a:t>COMPONENT ROLES</a:t>
            </a:r>
          </a:p>
          <a:p>
            <a:r>
              <a:rPr lang="en-US"/>
              <a:t>SMEW (Sustainability Measurement Experiment Workflow) defines campaign matrices</a:t>
            </a:r>
          </a:p>
          <a:p>
            <a:r>
              <a:rPr lang="en-US"/>
              <a:t>and repetitions, distributes runs to daemons, supervises the measurement process,</a:t>
            </a:r>
          </a:p>
          <a:p>
            <a:r>
              <a:rPr lang="en-US"/>
              <a:t>collects reports and validates completeness and overall status. The orchestrator</a:t>
            </a:r>
          </a:p>
          <a:p>
            <a:r>
              <a:rPr lang="en-US"/>
              <a:t>can be hosted separately from the daemon. Diagrams group both under SMEW.</a:t>
            </a:r>
          </a:p>
          <a:p>
            <a:r>
              <a:rPr lang="en-US"/>
              <a:t>SMA (Sustainability Measurement Agent) starts vita-fl-td as a local subprocess,</a:t>
            </a:r>
          </a:p>
          <a:p>
            <a:r>
              <a:rPr lang="en-US"/>
              <a:t>records a measurement window with configured pre/post time, collects process</a:t>
            </a:r>
          </a:p>
          <a:p>
            <a:r>
              <a:rPr lang="en-US"/>
              <a:t>metadata and result files, and fetches Prometheus range-query data for that window</a:t>
            </a:r>
          </a:p>
          <a:p>
            <a:r>
              <a:rPr lang="en-US"/>
              <a:t>after execution. Prometheus performs the continuous scrape; SMA is not a sensor.</a:t>
            </a:r>
          </a:p>
          <a:p>
            <a:r>
              <a:rPr lang="en-US"/>
              <a:t>vita-fl-td drives the deployed system through its real control API, chain RPC and</a:t>
            </a:r>
          </a:p>
          <a:p>
            <a:r>
              <a:rPr lang="en-US"/>
              <a:t>cloud-agent endpoints; selected fault scenarios also use the Phala API. It checks</a:t>
            </a:r>
          </a:p>
          <a:p>
            <a:r>
              <a:rPr lang="en-US"/>
              <a:t>scenario-specific assertions, on-chain events and published evidence. When audit</a:t>
            </a:r>
          </a:p>
          <a:p>
            <a:r>
              <a:rPr lang="en-US"/>
              <a:t>is enabled, it re-verifies SCITT, AIR/TDX and Sello evidence from the transparency</a:t>
            </a:r>
          </a:p>
          <a:p>
            <a:r>
              <a:rPr lang="en-US"/>
              <a:t>log. It reuses production verifier primitives and obtains fresh Phala quote</a:t>
            </a:r>
          </a:p>
          <a:p>
            <a:r>
              <a:rPr lang="en-US"/>
              <a:t>appraisals; it does not implement an independent Intel DCAP verifier.</a:t>
            </a:r>
          </a:p>
          <a:p>
            <a:r>
              <a:rPr lang="en-US"/>
              <a:t>VITA-FL is the deployed system under test: distributed training and aggregation,</a:t>
            </a:r>
          </a:p>
          <a:p>
            <a:r>
              <a:rPr lang="en-US"/>
              <a:t>agent tools, attested inference, contracts, storage, transparency log and metrics.</a:t>
            </a:r>
          </a:p>
          <a:p>
            <a:r>
              <a:rPr lang="en-US"/>
              <a:t>The test driver controls a predeployed system; it does not deploy the cloud stack.</a:t>
            </a:r>
          </a:p>
          <a:p/>
          <a:p>
            <a:r>
              <a:rPr lang="en-US"/>
              <a:t>EXECUTION AND DATA FLOWS</a:t>
            </a:r>
          </a:p>
          <a:p>
            <a:r>
              <a:rPr lang="en-US"/>
              <a:t>In the evaluated Phala setup, SMEW daemon, SMA and the test driver execute on the</a:t>
            </a:r>
          </a:p>
          <a:p>
            <a:r>
              <a:rPr lang="en-US"/>
              <a:t>experiment host; VITA-FL and its Prometheus monitoring execute in Phala. Other</a:t>
            </a:r>
          </a:p>
          <a:p>
            <a:r>
              <a:rPr lang="en-US"/>
              <a:t>Docker profiles and a separately hosted SMEW orchestrator are possible.</a:t>
            </a:r>
          </a:p>
          <a:p>
            <a:r>
              <a:rPr lang="en-US"/>
              <a:t>SMEW daemon -&gt; SMA: launch and supervise a parameterized run.</a:t>
            </a:r>
          </a:p>
          <a:p>
            <a:r>
              <a:rPr lang="en-US"/>
              <a:t>SMA -&gt; TD: start a subprocess scenario and await its completion.</a:t>
            </a:r>
          </a:p>
          <a:p>
            <a:r>
              <a:rPr lang="en-US"/>
              <a:t>TD -&gt; VITA-FL: API/RPC control and configured fault injection.</a:t>
            </a:r>
          </a:p>
          <a:p>
            <a:r>
              <a:rPr lang="en-US"/>
              <a:t>VITA-FL -&gt; TD: state, events and published evidence for assertions.</a:t>
            </a:r>
          </a:p>
          <a:p>
            <a:r>
              <a:rPr lang="en-US"/>
              <a:t>VITA-FL -&gt; Prometheus: exported progress, operating and gas metrics.</a:t>
            </a:r>
          </a:p>
          <a:p>
            <a:r>
              <a:rPr lang="en-US"/>
              <a:t>Prometheus -&gt; SMA: time series queried for the recorded run window.</a:t>
            </a:r>
          </a:p>
          <a:p>
            <a:r>
              <a:rPr lang="en-US"/>
              <a:t>TD -&gt; SMA -&gt; SMEW reports: verdict, checks, JUnit and archived run artifacts.</a:t>
            </a:r>
          </a:p>
          <a:p>
            <a:r>
              <a:rPr lang="en-US"/>
              <a:t>Saved reports -&gt; SMEW Marimo notebook: compare and visualize completed runs.</a:t>
            </a:r>
          </a:p>
          <a:p>
            <a:r>
              <a:rPr lang="en-US"/>
              <a:t>Marimo does not start the campaign or re-run the cryptographic verification.</a:t>
            </a:r>
          </a:p>
          <a:p/>
          <a:p>
            <a:r>
              <a:rPr lang="en-US"/>
              <a:t>INTERPRETATION LIMITS</a:t>
            </a:r>
          </a:p>
          <a:p>
            <a:r>
              <a:rPr lang="en-US"/>
              <a:t>A successful subprocess exit alone is not a passed system evaluation. TD supplies</a:t>
            </a:r>
          </a:p>
          <a:p>
            <a:r>
              <a:rPr lang="en-US"/>
              <a:t>semantic verdicts and evidence; SMEW also requires a successful measurement run</a:t>
            </a:r>
          </a:p>
          <a:p>
            <a:r>
              <a:rPr lang="en-US"/>
              <a:t>and a valid report. Configured assertions determine the claim supported by a run.</a:t>
            </a:r>
          </a:p>
          <a:p>
            <a:r>
              <a:rPr lang="en-US"/>
              <a:t>SMA's name does not imply energy measurement: this integration uses exported</a:t>
            </a:r>
          </a:p>
          <a:p>
            <a:r>
              <a:rPr lang="en-US"/>
              <a:t>Prometheus metrics (including training progress and gas use), not measured Joules.</a:t>
            </a:r>
          </a:p>
          <a:p>
            <a:r>
              <a:rPr lang="en-US"/>
              <a:t>The diagrams simplify internal VITA services and do not represent every API call.</a:t>
            </a:r>
          </a:p>
          <a:p>
            <a:r>
              <a:rPr lang="en-US"/>
              <a:t>VITA-FL is a separate deployed system, not a subprocess of the local test driver.</a:t>
            </a:r>
          </a:p>
          <a:p>
            <a:r>
              <a:rPr lang="en-US"/>
              <a:t>Solid neutral arrows mean launch/control, blue arrows mean evidence/report return,</a:t>
            </a:r>
          </a:p>
          <a:p>
            <a:r>
              <a:rPr lang="en-US"/>
              <a:t>and dashed purple arrows show metric collection and retrieval of time series.</a:t>
            </a:r>
          </a:p>
          <a:p/>
          <a:p>
            <a:r>
              <a:rPr lang="en-US"/>
              <a:t>SOURCE MAP (workspace-relative):</a:t>
            </a:r>
          </a:p>
          <a:p>
            <a:r>
              <a:rPr lang="en-US"/>
              <a:t>SMEW/README.md</a:t>
            </a:r>
          </a:p>
          <a:p>
            <a:r>
              <a:rPr lang="en-US"/>
              <a:t>SMEW/smew/daemon.py</a:t>
            </a:r>
          </a:p>
          <a:p>
            <a:r>
              <a:rPr lang="en-US"/>
              <a:t>SMEW/smew/runner.py</a:t>
            </a:r>
          </a:p>
          <a:p>
            <a:r>
              <a:rPr lang="en-US"/>
              <a:t>SMEW/smew/analysis/vita_fl.py</a:t>
            </a:r>
          </a:p>
          <a:p>
            <a:r>
              <a:rPr lang="en-US"/>
              <a:t>SMEW/reporting.py</a:t>
            </a:r>
          </a:p>
          <a:p>
            <a:r>
              <a:rPr lang="en-US"/>
              <a:t>sustainability-measurement-agent/sma/sma.py</a:t>
            </a:r>
          </a:p>
          <a:p>
            <a:r>
              <a:rPr lang="en-US"/>
              <a:t>vita-fl-td/README.md</a:t>
            </a:r>
          </a:p>
          <a:p>
            <a:r>
              <a:rPr lang="en-US"/>
              <a:t>vita-fl-td/src/vita_fl_td/cli.py</a:t>
            </a:r>
          </a:p>
          <a:p>
            <a:r>
              <a:rPr lang="en-US"/>
              <a:t>vita-fl-td/src/vita_fl_td/runner.py</a:t>
            </a:r>
          </a:p>
          <a:p>
            <a:r>
              <a:rPr lang="en-US"/>
              <a:t>vita-fl-td/src/vita_fl_td/transparency_audit.py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sz="quarter" idx="17" hasCustomPrompt="1"/>
          </p:nvPr>
        </p:nvSpPr>
        <p:spPr>
          <a:xfrm>
            <a:off x="-6479"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nchorCtr="0"/>
          <a:lstStyle>
            <a:lvl1pPr marL="0" indent="0" algn="ctr">
              <a:buNone/>
              <a:defRPr>
                <a:solidFill>
                  <a:schemeClr val="bg1"/>
                </a:solidFill>
                <a:latin typeface="Arial" panose="020B0604020202020204" pitchFamily="34" charset="0"/>
                <a:cs typeface="Arial" panose="020B0604020202020204" pitchFamily="34" charset="0"/>
              </a:defRPr>
            </a:lvl1pPr>
          </a:lstStyle>
          <a:p>
            <a:r>
              <a:rPr lang="de-DE" dirty="0"/>
              <a:t>Platzhalter: Bild Titelfolie</a:t>
            </a:r>
          </a:p>
        </p:txBody>
      </p:sp>
      <p:sp>
        <p:nvSpPr>
          <p:cNvPr id="4" name="Textfeld 3">
            <a:extLst>
              <a:ext uri="{FF2B5EF4-FFF2-40B4-BE49-F238E27FC236}">
                <a16:creationId xmlns:a16="http://schemas.microsoft.com/office/drawing/2014/main" id="{F18C730E-B3F8-944F-8BC2-E236CE7245E4}"/>
              </a:ext>
            </a:extLst>
          </p:cNvPr>
          <p:cNvSpPr txBox="1"/>
          <p:nvPr userDrawn="1"/>
        </p:nvSpPr>
        <p:spPr>
          <a:xfrm>
            <a:off x="-2031023" y="2620375"/>
            <a:ext cx="2021305" cy="1785104"/>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Platzhalterbild ersetzen:</a:t>
            </a:r>
            <a:br>
              <a:rPr lang="de-DE" sz="1000" b="1"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löschen und durch neues Bild ersetzen &gt; über Bildformat &gt; Zuschneiden im Rahmen ggf. nachpositionieren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Copyrightangabe: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Korrektes Copyright angeben (in der Regel Name des*der Fotograf*in), Textfarbe je nach Hintergrund weiß oder schwarz</a:t>
            </a:r>
          </a:p>
        </p:txBody>
      </p:sp>
      <p:sp>
        <p:nvSpPr>
          <p:cNvPr id="5" name="Textfeld 4">
            <a:extLst>
              <a:ext uri="{FF2B5EF4-FFF2-40B4-BE49-F238E27FC236}">
                <a16:creationId xmlns:a16="http://schemas.microsoft.com/office/drawing/2014/main" id="{A7B17960-7FEA-3C44-9F5C-B38F41DF0CD3}"/>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V1: Titelfolie mit Bild</a:t>
            </a:r>
          </a:p>
        </p:txBody>
      </p:sp>
    </p:spTree>
    <p:extLst>
      <p:ext uri="{BB962C8B-B14F-4D97-AF65-F5344CB8AC3E}">
        <p14:creationId xmlns:p14="http://schemas.microsoft.com/office/powerpoint/2010/main" val="2756911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 - Text ">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740704DC-2971-A248-9827-94150E3D8746}"/>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V2: Titelfolie ohne Bild</a:t>
            </a:r>
          </a:p>
        </p:txBody>
      </p:sp>
    </p:spTree>
    <p:extLst>
      <p:ext uri="{BB962C8B-B14F-4D97-AF65-F5344CB8AC3E}">
        <p14:creationId xmlns:p14="http://schemas.microsoft.com/office/powerpoint/2010/main" val="150570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sz="quarter" idx="18" hasCustomPrompt="1"/>
          </p:nvPr>
        </p:nvSpPr>
        <p:spPr>
          <a:xfrm>
            <a:off x="550800" y="3175200"/>
            <a:ext cx="9721850" cy="2124075"/>
          </a:xfrm>
          <a:prstGeom prst="rect">
            <a:avLst/>
          </a:prstGeom>
        </p:spPr>
        <p:txBody>
          <a:bodyPr lIns="0" t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sz="quarter"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endParaRPr lang="de-DE" dirty="0"/>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1431473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sz="quarter"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br>
              <a:rPr lang="de-DE" dirty="0"/>
            </a:b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br>
              <a:rPr lang="de-DE" dirty="0"/>
            </a:br>
            <a:r>
              <a:rPr lang="de-DE" dirty="0"/>
              <a:t>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endParaRPr lang="de-DE" dirty="0"/>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66438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sz="quarter"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32764340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theme" Target="../theme/theme2.xml"/><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hteck 4">
            <a:extLst>
              <a:ext uri="{FF2B5EF4-FFF2-40B4-BE49-F238E27FC236}">
                <a16:creationId xmlns:a16="http://schemas.microsoft.com/office/drawing/2014/main" id="{B97C5655-F240-634C-9B7B-B6181A1B3AF5}"/>
              </a:ext>
            </a:extLst>
          </p:cNvPr>
          <p:cNvSpPr/>
          <p:nvPr userDrawn="1"/>
        </p:nvSpPr>
        <p:spPr>
          <a:xfrm>
            <a:off x="0" y="1668462"/>
            <a:ext cx="121920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F8DDEEBD-D00D-1249-9E02-EDC0548BFCA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9388168" y="378741"/>
            <a:ext cx="2250000" cy="774000"/>
          </a:xfrm>
          <a:prstGeom prst="rect">
            <a:avLst/>
          </a:prstGeom>
        </p:spPr>
      </p:pic>
      <p:sp>
        <p:nvSpPr>
          <p:cNvPr id="4" name="Textfeld 3">
            <a:extLst>
              <a:ext uri="{FF2B5EF4-FFF2-40B4-BE49-F238E27FC236}">
                <a16:creationId xmlns:a16="http://schemas.microsoft.com/office/drawing/2014/main" id="{0D20A730-187A-274D-A0E6-8412686F8775}"/>
              </a:ext>
            </a:extLst>
          </p:cNvPr>
          <p:cNvSpPr txBox="1"/>
          <p:nvPr userDrawn="1"/>
        </p:nvSpPr>
        <p:spPr>
          <a:xfrm>
            <a:off x="12292755" y="5534561"/>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Titelseiten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Direkt auf dieser Folie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Tree>
    <p:extLst>
      <p:ext uri="{BB962C8B-B14F-4D97-AF65-F5344CB8AC3E}">
        <p14:creationId xmlns:p14="http://schemas.microsoft.com/office/powerpoint/2010/main" val="3079698843"/>
      </p:ext>
    </p:extLst>
  </p:cSld>
  <p:clrMap bg1="lt1" tx1="dk1" bg2="lt2" tx2="dk2" accent1="accent1" accent2="accent2" accent3="accent3" accent4="accent4" accent5="accent5" accent6="accent6" hlink="hlink" folHlink="folHlink"/>
  <p:sldLayoutIdLst>
    <p:sldLayoutId id="2147483714" r:id="rId1"/>
    <p:sldLayoutId id="2147483713"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346" userDrawn="1">
          <p15:clr>
            <a:srgbClr val="F26B43"/>
          </p15:clr>
        </p15:guide>
        <p15:guide id="4" pos="1232" userDrawn="1">
          <p15:clr>
            <a:srgbClr val="F26B43"/>
          </p15:clr>
        </p15:guide>
        <p15:guide id="5" orient="horz" pos="3974" userDrawn="1">
          <p15:clr>
            <a:srgbClr val="F26B43"/>
          </p15:clr>
        </p15:guide>
        <p15:guide id="6" orient="horz" pos="663" userDrawn="1">
          <p15:clr>
            <a:srgbClr val="F26B43"/>
          </p15:clr>
        </p15:guide>
        <p15:guide id="7" orient="horz" pos="1003" userDrawn="1">
          <p15:clr>
            <a:srgbClr val="F26B43"/>
          </p15:clr>
        </p15:guide>
        <p15:guide id="8" orient="horz" pos="1321" userDrawn="1">
          <p15:clr>
            <a:srgbClr val="F26B43"/>
          </p15:clr>
        </p15:guide>
        <p15:guide id="9" orient="horz" pos="1661" userDrawn="1">
          <p15:clr>
            <a:srgbClr val="F26B43"/>
          </p15:clr>
        </p15:guide>
        <p15:guide id="10" orient="horz" pos="2001" userDrawn="1">
          <p15:clr>
            <a:srgbClr val="F26B43"/>
          </p15:clr>
        </p15:guide>
        <p15:guide id="11" orient="horz" pos="3339" userDrawn="1">
          <p15:clr>
            <a:srgbClr val="F26B43"/>
          </p15:clr>
        </p15:guide>
        <p15:guide id="12" orient="horz" pos="2319" userDrawn="1">
          <p15:clr>
            <a:srgbClr val="F26B43"/>
          </p15:clr>
        </p15:guide>
        <p15:guide id="13" orient="horz" pos="2999" userDrawn="1">
          <p15:clr>
            <a:srgbClr val="F26B43"/>
          </p15:clr>
        </p15:guide>
        <p15:guide id="14" orient="horz" pos="3657" userDrawn="1">
          <p15:clr>
            <a:srgbClr val="F26B43"/>
          </p15:clr>
        </p15:guide>
        <p15:guide id="15" orient="horz" pos="2659" userDrawn="1">
          <p15:clr>
            <a:srgbClr val="F26B43"/>
          </p15:clr>
        </p15:guide>
        <p15:guide id="16" pos="2094" userDrawn="1">
          <p15:clr>
            <a:srgbClr val="F26B43"/>
          </p15:clr>
        </p15:guide>
        <p15:guide id="17" pos="2978" userDrawn="1">
          <p15:clr>
            <a:srgbClr val="F26B43"/>
          </p15:clr>
        </p15:guide>
        <p15:guide id="18" pos="3840" userDrawn="1">
          <p15:clr>
            <a:srgbClr val="F26B43"/>
          </p15:clr>
        </p15:guide>
        <p15:guide id="19" pos="4725" userDrawn="1">
          <p15:clr>
            <a:srgbClr val="F26B43"/>
          </p15:clr>
        </p15:guide>
        <p15:guide id="20" pos="5586" userDrawn="1">
          <p15:clr>
            <a:srgbClr val="F26B43"/>
          </p15:clr>
        </p15:guide>
        <p15:guide id="21" pos="647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p:nvPr userDrawn="1"/>
        </p:nvSpPr>
        <p:spPr>
          <a:xfrm>
            <a:off x="0" y="5748124"/>
            <a:ext cx="12195175" cy="1109875"/>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a:extLst>
              <a:ext uri="{FF2B5EF4-FFF2-40B4-BE49-F238E27FC236}">
                <a16:creationId xmlns:a16="http://schemas.microsoft.com/office/drawing/2014/main" id="{90A395C2-361B-A14B-9312-A16F3F6780A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614598" y="378000"/>
            <a:ext cx="1004400" cy="766068"/>
          </a:xfrm>
          <a:prstGeom prst="rect">
            <a:avLst/>
          </a:prstGeom>
        </p:spPr>
      </p:pic>
      <p:sp>
        <p:nvSpPr>
          <p:cNvPr id="12" name="Textfeld 11">
            <a:extLst>
              <a:ext uri="{FF2B5EF4-FFF2-40B4-BE49-F238E27FC236}">
                <a16:creationId xmlns:a16="http://schemas.microsoft.com/office/drawing/2014/main" id="{427D4F0D-9351-B349-8187-43002862F183}"/>
              </a:ext>
            </a:extLst>
          </p:cNvPr>
          <p:cNvSpPr txBox="1"/>
          <p:nvPr userDrawn="1"/>
        </p:nvSpPr>
        <p:spPr>
          <a:xfrm>
            <a:off x="12292755" y="5612990"/>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Folgeseiten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Folienmaster &gt; Nr. 2 bearbeiten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
        <p:nvSpPr>
          <p:cNvPr id="13" name="Textfeld 12">
            <a:extLst>
              <a:ext uri="{FF2B5EF4-FFF2-40B4-BE49-F238E27FC236}">
                <a16:creationId xmlns:a16="http://schemas.microsoft.com/office/drawing/2014/main" id="{B91FA75A-4E02-534F-A661-8216932850DD}"/>
              </a:ext>
            </a:extLst>
          </p:cNvPr>
          <p:cNvSpPr txBox="1"/>
          <p:nvPr userDrawn="1"/>
        </p:nvSpPr>
        <p:spPr>
          <a:xfrm>
            <a:off x="-2243920" y="6474756"/>
            <a:ext cx="2223344" cy="400110"/>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Informationen in Fußzeile ändern:</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Folienmaster &gt; Nr. 2 bearbeiten</a:t>
            </a:r>
          </a:p>
        </p:txBody>
      </p:sp>
    </p:spTree>
    <p:extLst>
      <p:ext uri="{BB962C8B-B14F-4D97-AF65-F5344CB8AC3E}">
        <p14:creationId xmlns:p14="http://schemas.microsoft.com/office/powerpoint/2010/main" val="3907247464"/>
      </p:ext>
    </p:extLst>
  </p:cSld>
  <p:clrMap bg1="lt1" tx1="dk1" bg2="lt2" tx2="dk2" accent1="accent1" accent2="accent2" accent3="accent3" accent4="accent4" accent5="accent5" accent6="accent6" hlink="hlink" folHlink="folHlink"/>
  <p:sldLayoutIdLst>
    <p:sldLayoutId id="2147483707" r:id="rId1"/>
    <p:sldLayoutId id="2147483711" r:id="rId2"/>
    <p:sldLayoutId id="214748371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404.12623" TargetMode="External"/><Relationship Id="rId3" Type="http://schemas.openxmlformats.org/officeDocument/2006/relationships/hyperlink" Target="https://doi.org/10.1109/Blockchain62396.2024.00017" TargetMode="External"/><Relationship Id="rId4" Type="http://schemas.openxmlformats.org/officeDocument/2006/relationships/hyperlink" Target="https://arxiv.org/abs/2408.06885" TargetMode="External"/><Relationship Id="rId5" Type="http://schemas.openxmlformats.org/officeDocument/2006/relationships/hyperlink" Target="https://doi.org/10.1145/3627703.3650088" TargetMode="External"/><Relationship Id="rId6" Type="http://schemas.openxmlformats.org/officeDocument/2006/relationships/hyperlink" Target="https://proceedings.mlr.press/v235/waiwitlikhit24a.html" TargetMode="External"/><Relationship Id="rId7" Type="http://schemas.openxmlformats.org/officeDocument/2006/relationships/hyperlink" Target="https://arxiv.org/abs/2503.22573" TargetMode="External"/><Relationship Id="rId8" Type="http://schemas.openxmlformats.org/officeDocument/2006/relationships/hyperlink" Target="https://www.ietf.org/archive/id/draft-tsyrulnikov-rats-attested-inference-receipt-02.html" TargetMode="External"/><Relationship Id="rId9" Type="http://schemas.openxmlformats.org/officeDocument/2006/relationships/hyperlink" Target="https://arxiv.org/abs/2512.15892" TargetMode="External"/><Relationship Id="rId10" Type="http://schemas.openxmlformats.org/officeDocument/2006/relationships/hyperlink" Target="https://arxiv.org/abs/2606.04193" TargetMode="Externa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eips.ethereum.org/EIPS/eip-4399" TargetMode="Externa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6.04193" TargetMode="External"/><Relationship Id="rId3" Type="http://schemas.openxmlformats.org/officeDocument/2006/relationships/hyperlink" Target="https://www.ietf.org/archive/id/draft-tsyrulnikov-rats-attested-inference-receipt-02.html" TargetMode="Externa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 Id="rId3"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 Id="rId3"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 Id="rId3"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 Id="rId3"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 Id="rId3"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 Id="rId3"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 Id="rId3"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 Id="rId3"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png"/><Relationship Id="rId3"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png"/><Relationship Id="rId3"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png"/><Relationship Id="rId3"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 Id="rId3"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3.png"/><Relationship Id="rId3"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age 1 TU Berlin students photograph" descr="image.jpg"/>
          <p:cNvPicPr>
            <a:picLocks noChangeAspect="1"/>
          </p:cNvPicPr>
          <p:nvPr/>
        </p:nvPicPr>
        <p:blipFill>
          <a:blip r:embed="rId2"/>
          <a:srcRect t="38334" b="6404"/>
          <a:stretch>
            <a:fillRect/>
          </a:stretch>
        </p:blipFill>
        <p:spPr>
          <a:xfrm>
            <a:off x="-6492" y="1260591"/>
            <a:ext cx="8885316" cy="3273643"/>
          </a:xfrm>
          <a:prstGeom prst="rect">
            <a:avLst/>
          </a:prstGeom>
        </p:spPr>
      </p:pic>
      <p:sp>
        <p:nvSpPr>
          <p:cNvPr id="3" name="TextBox 2"/>
          <p:cNvSpPr txBox="1"/>
          <p:nvPr/>
        </p:nvSpPr>
        <p:spPr>
          <a:xfrm>
            <a:off x="7772400" y="4315968"/>
            <a:ext cx="932688" cy="128016"/>
          </a:xfrm>
          <a:prstGeom prst="rect">
            <a:avLst/>
          </a:prstGeom>
          <a:noFill/>
        </p:spPr>
        <p:txBody>
          <a:bodyPr wrap="square" lIns="0" rIns="0" tIns="0" bIns="0" anchor="ctr">
            <a:spAutoFit/>
          </a:bodyPr>
          <a:lstStyle/>
          <a:p>
            <a:pPr algn="r"/>
            <a:r>
              <a:rPr sz="630" b="0" lang="en-US">
                <a:solidFill>
                  <a:srgbClr val="FFFFFF"/>
                </a:solidFill>
                <a:latin typeface="Arial"/>
              </a:rPr>
              <a:t>© Philipp Arnoldt</a:t>
            </a:r>
          </a:p>
        </p:txBody>
      </p:sp>
      <p:sp>
        <p:nvSpPr>
          <p:cNvPr id="4" name="TextBox 3"/>
          <p:cNvSpPr txBox="1"/>
          <p:nvPr/>
        </p:nvSpPr>
        <p:spPr>
          <a:xfrm>
            <a:off x="548640" y="4846320"/>
            <a:ext cx="8330183" cy="1078992"/>
          </a:xfrm>
          <a:prstGeom prst="rect">
            <a:avLst/>
          </a:prstGeom>
          <a:noFill/>
        </p:spPr>
        <p:txBody>
          <a:bodyPr wrap="square" lIns="18288" rIns="18288" tIns="18288" bIns="18288" anchor="ctr">
            <a:spAutoFit/>
          </a:bodyPr>
          <a:lstStyle/>
          <a:p>
            <a:pPr algn="l"/>
            <a:r>
              <a:rPr sz="2400" b="0" lang="en-US">
                <a:solidFill>
                  <a:srgbClr val="FFFFFF"/>
                </a:solidFill>
                <a:latin typeface="Arial"/>
              </a:rPr>
              <a:t>Verifiable Decentralized Federated Machine Learning
and Inference for AI Agent Systems</a:t>
            </a:r>
          </a:p>
        </p:txBody>
      </p:sp>
      <p:sp>
        <p:nvSpPr>
          <p:cNvPr id="5" name="TextBox 4"/>
          <p:cNvSpPr txBox="1"/>
          <p:nvPr/>
        </p:nvSpPr>
        <p:spPr>
          <a:xfrm>
            <a:off x="557784" y="5989320"/>
            <a:ext cx="2971800" cy="228600"/>
          </a:xfrm>
          <a:prstGeom prst="rect">
            <a:avLst/>
          </a:prstGeom>
          <a:noFill/>
        </p:spPr>
        <p:txBody>
          <a:bodyPr wrap="square" lIns="18288" rIns="18288" tIns="18288" bIns="18288" anchor="t">
            <a:spAutoFit/>
          </a:bodyPr>
          <a:lstStyle/>
          <a:p>
            <a:pPr algn="l"/>
            <a:r>
              <a:rPr sz="1400" b="1" lang="en-US">
                <a:solidFill>
                  <a:srgbClr val="FFFFFF"/>
                </a:solidFill>
                <a:latin typeface="Arial"/>
              </a:rPr>
              <a:t>Ramon Mehrpoya</a:t>
            </a:r>
          </a:p>
        </p:txBody>
      </p:sp>
      <p:sp>
        <p:nvSpPr>
          <p:cNvPr id="6" name="TextBox 5"/>
          <p:cNvSpPr txBox="1"/>
          <p:nvPr/>
        </p:nvSpPr>
        <p:spPr>
          <a:xfrm>
            <a:off x="557784" y="6272784"/>
            <a:ext cx="2971800" cy="201168"/>
          </a:xfrm>
          <a:prstGeom prst="rect">
            <a:avLst/>
          </a:prstGeom>
          <a:noFill/>
        </p:spPr>
        <p:txBody>
          <a:bodyPr wrap="square" lIns="18288" rIns="18288" tIns="18288" bIns="18288" anchor="t">
            <a:spAutoFit/>
          </a:bodyPr>
          <a:lstStyle/>
          <a:p>
            <a:pPr algn="l"/>
            <a:r>
              <a:rPr sz="1050" b="0" lang="en-US">
                <a:solidFill>
                  <a:srgbClr val="FFFFFF"/>
                </a:solidFill>
                <a:latin typeface="Arial"/>
              </a:rPr>
              <a:t>Master's Thesis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About me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ACADEMIC BACKGROUND · PROJECT EXPERIENCE · MASTER'S THESIS</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2</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pic>
        <p:nvPicPr>
          <p:cNvPr id="8" name="Page 2 Ramon Mehrpoya portrait" descr="ramon-mehrpoya-portrait-2026-09-08.jpg"/>
          <p:cNvPicPr>
            <a:picLocks noChangeAspect="1"/>
          </p:cNvPicPr>
          <p:nvPr/>
        </p:nvPicPr>
        <p:blipFill>
          <a:blip r:embed="rId2"/>
          <a:srcRect t="18382"/>
          <a:stretch>
            <a:fillRect/>
          </a:stretch>
        </p:blipFill>
        <p:spPr>
          <a:xfrm>
            <a:off x="612648" y="1362456"/>
            <a:ext cx="3730752" cy="4059936"/>
          </a:xfrm>
          <a:prstGeom prst="roundRect">
            <a:avLst/>
          </a:prstGeom>
        </p:spPr>
      </p:pic>
      <p:sp>
        <p:nvSpPr>
          <p:cNvPr id="9" name="Page 2 gray portrait frame"/>
          <p:cNvSpPr/>
          <p:nvPr/>
        </p:nvSpPr>
        <p:spPr>
          <a:xfrm>
            <a:off x="612648" y="1362456"/>
            <a:ext cx="3730752" cy="4059936"/>
          </a:xfrm>
          <a:prstGeom prst="roundRect">
            <a:avLst/>
          </a:prstGeom>
          <a:noFill/>
          <a:ln w="17145">
            <a:solidFill>
              <a:srgbClr val="9A9A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56048" y="1499616"/>
            <a:ext cx="5989320" cy="438912"/>
          </a:xfrm>
          <a:prstGeom prst="rect">
            <a:avLst/>
          </a:prstGeom>
          <a:noFill/>
        </p:spPr>
        <p:txBody>
          <a:bodyPr wrap="square" lIns="18288" rIns="18288" tIns="18288" bIns="18288" anchor="ctr">
            <a:spAutoFit/>
          </a:bodyPr>
          <a:lstStyle/>
          <a:p>
            <a:pPr algn="l"/>
            <a:r>
              <a:rPr sz="2600" b="1" lang="en-US">
                <a:solidFill>
                  <a:srgbClr val="434343"/>
                </a:solidFill>
                <a:latin typeface="Arial"/>
              </a:rPr>
              <a:t>Ramon Mehrpoya</a:t>
            </a:r>
          </a:p>
        </p:txBody>
      </p:sp>
      <p:sp>
        <p:nvSpPr>
          <p:cNvPr id="11" name="TextBox 10"/>
          <p:cNvSpPr txBox="1"/>
          <p:nvPr/>
        </p:nvSpPr>
        <p:spPr>
          <a:xfrm>
            <a:off x="4965192" y="2359152"/>
            <a:ext cx="2423160" cy="182880"/>
          </a:xfrm>
          <a:prstGeom prst="rect">
            <a:avLst/>
          </a:prstGeom>
          <a:noFill/>
        </p:spPr>
        <p:txBody>
          <a:bodyPr wrap="square" lIns="18288" rIns="18288" tIns="18288" bIns="18288" anchor="ctr">
            <a:spAutoFit/>
          </a:bodyPr>
          <a:lstStyle/>
          <a:p>
            <a:pPr algn="l"/>
            <a:r>
              <a:rPr sz="840" b="1" lang="en-US">
                <a:solidFill>
                  <a:srgbClr val="C40D1E"/>
                </a:solidFill>
                <a:latin typeface="Arial"/>
              </a:rPr>
              <a:t>ACADEMIC BACKGROUND</a:t>
            </a:r>
          </a:p>
        </p:txBody>
      </p:sp>
      <p:sp>
        <p:nvSpPr>
          <p:cNvPr id="12" name="TextBox 11"/>
          <p:cNvSpPr txBox="1"/>
          <p:nvPr/>
        </p:nvSpPr>
        <p:spPr>
          <a:xfrm>
            <a:off x="4965192" y="2615184"/>
            <a:ext cx="5897880" cy="283464"/>
          </a:xfrm>
          <a:prstGeom prst="rect">
            <a:avLst/>
          </a:prstGeom>
          <a:noFill/>
        </p:spPr>
        <p:txBody>
          <a:bodyPr wrap="square" lIns="18288" rIns="18288" tIns="18288" bIns="18288" anchor="ctr">
            <a:spAutoFit/>
          </a:bodyPr>
          <a:lstStyle/>
          <a:p>
            <a:pPr algn="l"/>
            <a:r>
              <a:rPr sz="1260" b="1" lang="en-US">
                <a:solidFill>
                  <a:srgbClr val="434343"/>
                </a:solidFill>
                <a:latin typeface="Arial"/>
              </a:rPr>
              <a:t>Bachelor's degree in Business Informatics · TU Berlin</a:t>
            </a:r>
          </a:p>
        </p:txBody>
      </p:sp>
      <p:sp>
        <p:nvSpPr>
          <p:cNvPr id="13" name="TextBox 12"/>
          <p:cNvSpPr txBox="1"/>
          <p:nvPr/>
        </p:nvSpPr>
        <p:spPr>
          <a:xfrm>
            <a:off x="4965192" y="2898648"/>
            <a:ext cx="5897880" cy="283464"/>
          </a:xfrm>
          <a:prstGeom prst="rect">
            <a:avLst/>
          </a:prstGeom>
          <a:noFill/>
        </p:spPr>
        <p:txBody>
          <a:bodyPr wrap="square" lIns="18288" rIns="18288" tIns="18288" bIns="18288" anchor="ctr">
            <a:spAutoFit/>
          </a:bodyPr>
          <a:lstStyle/>
          <a:p>
            <a:pPr algn="l"/>
            <a:r>
              <a:rPr sz="1260" b="1" lang="en-US">
                <a:solidFill>
                  <a:srgbClr val="434343"/>
                </a:solidFill>
                <a:latin typeface="Arial"/>
              </a:rPr>
              <a:t>Master's thesis candidate · Computer Science · TU Berlin</a:t>
            </a:r>
          </a:p>
        </p:txBody>
      </p:sp>
      <p:sp>
        <p:nvSpPr>
          <p:cNvPr id="14" name="TextBox 13"/>
          <p:cNvSpPr txBox="1"/>
          <p:nvPr/>
        </p:nvSpPr>
        <p:spPr>
          <a:xfrm>
            <a:off x="4965192" y="3209544"/>
            <a:ext cx="3154680" cy="182880"/>
          </a:xfrm>
          <a:prstGeom prst="rect">
            <a:avLst/>
          </a:prstGeom>
          <a:noFill/>
        </p:spPr>
        <p:txBody>
          <a:bodyPr wrap="square" lIns="18288" rIns="18288" tIns="18288" bIns="18288" anchor="ctr">
            <a:spAutoFit/>
          </a:bodyPr>
          <a:lstStyle/>
          <a:p>
            <a:pPr algn="l"/>
            <a:r>
              <a:rPr sz="840" b="1" lang="en-US">
                <a:solidFill>
                  <a:srgbClr val="C40D1E"/>
                </a:solidFill>
                <a:latin typeface="Arial"/>
              </a:rPr>
              <a:t>PROJECT EXPERIENCE AT ISE, TU BERLIN</a:t>
            </a:r>
          </a:p>
        </p:txBody>
      </p:sp>
      <p:sp>
        <p:nvSpPr>
          <p:cNvPr id="15" name="Rounded Rectangle 14"/>
          <p:cNvSpPr/>
          <p:nvPr/>
        </p:nvSpPr>
        <p:spPr>
          <a:xfrm>
            <a:off x="4956048" y="3429000"/>
            <a:ext cx="1947672" cy="813816"/>
          </a:xfrm>
          <a:prstGeom prst="roundRect">
            <a:avLst/>
          </a:prstGeom>
          <a:solidFill>
            <a:srgbClr val="EAF6ED"/>
          </a:solidFill>
          <a:ln w="1524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0" y="3575304"/>
            <a:ext cx="1801368" cy="164592"/>
          </a:xfrm>
          <a:prstGeom prst="rect">
            <a:avLst/>
          </a:prstGeom>
          <a:noFill/>
        </p:spPr>
        <p:txBody>
          <a:bodyPr wrap="square" lIns="18288" rIns="18288" tIns="18288" bIns="18288" anchor="ctr">
            <a:spAutoFit/>
          </a:bodyPr>
          <a:lstStyle/>
          <a:p>
            <a:pPr algn="ctr"/>
            <a:r>
              <a:rPr sz="780" b="1" lang="en-US">
                <a:solidFill>
                  <a:srgbClr val="2F8F46"/>
                </a:solidFill>
                <a:latin typeface="Arial"/>
              </a:rPr>
              <a:t>GAIA-X 4 PLC-AAD</a:t>
            </a:r>
          </a:p>
        </p:txBody>
      </p:sp>
      <p:cxnSp>
        <p:nvCxnSpPr>
          <p:cNvPr id="17" name="Connector 16"/>
          <p:cNvCxnSpPr/>
          <p:nvPr/>
        </p:nvCxnSpPr>
        <p:spPr>
          <a:xfrm>
            <a:off x="5929883" y="4251960"/>
            <a:ext cx="0" cy="320040"/>
          </a:xfrm>
          <a:prstGeom prst="line">
            <a:avLst/>
          </a:prstGeom>
          <a:ln w="22860">
            <a:solidFill>
              <a:srgbClr val="C40D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976872" y="3429000"/>
            <a:ext cx="1947672" cy="813816"/>
          </a:xfrm>
          <a:prstGeom prst="roundRect">
            <a:avLst/>
          </a:prstGeom>
          <a:solidFill>
            <a:srgbClr val="EAF5FA"/>
          </a:solidFill>
          <a:ln w="1524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50024" y="3575304"/>
            <a:ext cx="1801368" cy="164592"/>
          </a:xfrm>
          <a:prstGeom prst="rect">
            <a:avLst/>
          </a:prstGeom>
          <a:noFill/>
        </p:spPr>
        <p:txBody>
          <a:bodyPr wrap="square" lIns="18288" rIns="18288" tIns="18288" bIns="18288" anchor="ctr">
            <a:spAutoFit/>
          </a:bodyPr>
          <a:lstStyle/>
          <a:p>
            <a:pPr algn="ctr"/>
            <a:r>
              <a:rPr sz="780" b="1" lang="en-US">
                <a:solidFill>
                  <a:srgbClr val="1F90CC"/>
                </a:solidFill>
                <a:latin typeface="Arial"/>
              </a:rPr>
              <a:t>ZOKRATES PLUS</a:t>
            </a:r>
          </a:p>
        </p:txBody>
      </p:sp>
      <p:cxnSp>
        <p:nvCxnSpPr>
          <p:cNvPr id="20" name="Connector 19"/>
          <p:cNvCxnSpPr/>
          <p:nvPr/>
        </p:nvCxnSpPr>
        <p:spPr>
          <a:xfrm>
            <a:off x="7950708" y="4251960"/>
            <a:ext cx="0" cy="320040"/>
          </a:xfrm>
          <a:prstGeom prst="line">
            <a:avLst/>
          </a:prstGeom>
          <a:ln w="22860">
            <a:solidFill>
              <a:srgbClr val="C40D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988552" y="3429000"/>
            <a:ext cx="1947672" cy="813816"/>
          </a:xfrm>
          <a:prstGeom prst="roundRect">
            <a:avLst/>
          </a:prstGeom>
          <a:solidFill>
            <a:srgbClr val="FFF1E7"/>
          </a:solidFill>
          <a:ln w="15240">
            <a:solidFill>
              <a:srgbClr val="FF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61704" y="3575304"/>
            <a:ext cx="1801368" cy="164592"/>
          </a:xfrm>
          <a:prstGeom prst="rect">
            <a:avLst/>
          </a:prstGeom>
          <a:noFill/>
        </p:spPr>
        <p:txBody>
          <a:bodyPr wrap="square" lIns="18288" rIns="18288" tIns="18288" bIns="18288" anchor="ctr">
            <a:spAutoFit/>
          </a:bodyPr>
          <a:lstStyle/>
          <a:p>
            <a:pPr algn="ctr"/>
            <a:r>
              <a:rPr sz="780" b="1" lang="en-US">
                <a:solidFill>
                  <a:srgbClr val="FF6C00"/>
                </a:solidFill>
                <a:latin typeface="Arial"/>
              </a:rPr>
              <a:t>ZODIAC</a:t>
            </a:r>
          </a:p>
        </p:txBody>
      </p:sp>
      <p:cxnSp>
        <p:nvCxnSpPr>
          <p:cNvPr id="23" name="Connector 22"/>
          <p:cNvCxnSpPr/>
          <p:nvPr/>
        </p:nvCxnSpPr>
        <p:spPr>
          <a:xfrm>
            <a:off x="9962388" y="4251960"/>
            <a:ext cx="0" cy="320040"/>
          </a:xfrm>
          <a:prstGeom prst="line">
            <a:avLst/>
          </a:prstGeom>
          <a:ln w="22860">
            <a:solidFill>
              <a:srgbClr val="C40D1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Page 2 technology icon: blockchain / 1"/>
          <p:cNvCxnSpPr/>
          <p:nvPr/>
        </p:nvCxnSpPr>
        <p:spPr>
          <a:xfrm>
            <a:off x="5533263" y="3914775"/>
            <a:ext cx="133731" cy="0"/>
          </a:xfrm>
          <a:prstGeom prst="line">
            <a:avLst/>
          </a:prstGeom>
          <a:ln w="1460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25" name="Page 2 technology icon: blockchain / 2"/>
          <p:cNvCxnSpPr/>
          <p:nvPr/>
        </p:nvCxnSpPr>
        <p:spPr>
          <a:xfrm>
            <a:off x="5666994" y="3914775"/>
            <a:ext cx="0" cy="144018"/>
          </a:xfrm>
          <a:prstGeom prst="line">
            <a:avLst/>
          </a:prstGeom>
          <a:ln w="1460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26" name="Page 2 technology icon: blockchain / 3"/>
          <p:cNvCxnSpPr/>
          <p:nvPr/>
        </p:nvCxnSpPr>
        <p:spPr>
          <a:xfrm flipH="1">
            <a:off x="5533263" y="4058793"/>
            <a:ext cx="133731" cy="0"/>
          </a:xfrm>
          <a:prstGeom prst="line">
            <a:avLst/>
          </a:prstGeom>
          <a:ln w="1460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27" name="Page 2 technology icon: blockchain / 4"/>
          <p:cNvCxnSpPr/>
          <p:nvPr/>
        </p:nvCxnSpPr>
        <p:spPr>
          <a:xfrm flipV="1">
            <a:off x="5533263" y="3914775"/>
            <a:ext cx="0" cy="144018"/>
          </a:xfrm>
          <a:prstGeom prst="line">
            <a:avLst/>
          </a:prstGeom>
          <a:ln w="14604" cap="rnd">
            <a:solidFill>
              <a:srgbClr val="2F8F46"/>
            </a:solidFill>
          </a:ln>
        </p:spPr>
        <p:style>
          <a:lnRef idx="2">
            <a:schemeClr val="accent1"/>
          </a:lnRef>
          <a:fillRef idx="0">
            <a:schemeClr val="accent1"/>
          </a:fillRef>
          <a:effectRef idx="1">
            <a:schemeClr val="accent1"/>
          </a:effectRef>
          <a:fontRef idx="minor">
            <a:schemeClr val="tx1"/>
          </a:fontRef>
        </p:style>
      </p:cxnSp>
      <p:sp>
        <p:nvSpPr>
          <p:cNvPr id="28" name="Page 2 technology icon: blockchain / 5"/>
          <p:cNvSpPr/>
          <p:nvPr/>
        </p:nvSpPr>
        <p:spPr>
          <a:xfrm>
            <a:off x="5481828" y="3863339"/>
            <a:ext cx="82296" cy="82296"/>
          </a:xfrm>
          <a:prstGeom prst="roundRect">
            <a:avLst/>
          </a:prstGeom>
          <a:solidFill>
            <a:srgbClr val="EAF6ED"/>
          </a:solidFill>
          <a:ln w="14604">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Page 2 technology icon: blockchain / 6"/>
          <p:cNvSpPr/>
          <p:nvPr/>
        </p:nvSpPr>
        <p:spPr>
          <a:xfrm>
            <a:off x="5646420" y="3863339"/>
            <a:ext cx="82296" cy="82296"/>
          </a:xfrm>
          <a:prstGeom prst="roundRect">
            <a:avLst/>
          </a:prstGeom>
          <a:solidFill>
            <a:srgbClr val="EAF6ED"/>
          </a:solidFill>
          <a:ln w="14604">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age 2 technology icon: blockchain / 7"/>
          <p:cNvSpPr/>
          <p:nvPr/>
        </p:nvSpPr>
        <p:spPr>
          <a:xfrm>
            <a:off x="5481828" y="4027931"/>
            <a:ext cx="82296" cy="82296"/>
          </a:xfrm>
          <a:prstGeom prst="roundRect">
            <a:avLst/>
          </a:prstGeom>
          <a:solidFill>
            <a:srgbClr val="EAF6ED"/>
          </a:solidFill>
          <a:ln w="14604">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age 2 technology icon: blockchain / 8"/>
          <p:cNvSpPr/>
          <p:nvPr/>
        </p:nvSpPr>
        <p:spPr>
          <a:xfrm>
            <a:off x="5646420" y="4027931"/>
            <a:ext cx="82296" cy="82296"/>
          </a:xfrm>
          <a:prstGeom prst="roundRect">
            <a:avLst/>
          </a:prstGeom>
          <a:solidFill>
            <a:srgbClr val="EAF6ED"/>
          </a:solidFill>
          <a:ln w="14604">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Page 2 technology icon: encryption / 1"/>
          <p:cNvCxnSpPr/>
          <p:nvPr/>
        </p:nvCxnSpPr>
        <p:spPr>
          <a:xfrm flipV="1">
            <a:off x="6182487" y="3925061"/>
            <a:ext cx="0" cy="51436"/>
          </a:xfrm>
          <a:prstGeom prst="line">
            <a:avLst/>
          </a:prstGeom>
          <a:ln w="1460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33" name="Page 2 technology icon: encryption / 2"/>
          <p:cNvCxnSpPr/>
          <p:nvPr/>
        </p:nvCxnSpPr>
        <p:spPr>
          <a:xfrm flipV="1">
            <a:off x="6182487" y="3901487"/>
            <a:ext cx="2833" cy="23574"/>
          </a:xfrm>
          <a:prstGeom prst="line">
            <a:avLst/>
          </a:prstGeom>
          <a:ln w="1460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34" name="Page 2 technology icon: encryption / 3"/>
          <p:cNvCxnSpPr/>
          <p:nvPr/>
        </p:nvCxnSpPr>
        <p:spPr>
          <a:xfrm flipV="1">
            <a:off x="6185320" y="3882199"/>
            <a:ext cx="7835" cy="19288"/>
          </a:xfrm>
          <a:prstGeom prst="line">
            <a:avLst/>
          </a:prstGeom>
          <a:ln w="1460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35" name="Page 2 technology icon: encryption / 4"/>
          <p:cNvCxnSpPr/>
          <p:nvPr/>
        </p:nvCxnSpPr>
        <p:spPr>
          <a:xfrm flipV="1">
            <a:off x="6193155" y="3867197"/>
            <a:ext cx="11834" cy="15002"/>
          </a:xfrm>
          <a:prstGeom prst="line">
            <a:avLst/>
          </a:prstGeom>
          <a:ln w="1460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36" name="Page 2 technology icon: encryption / 5"/>
          <p:cNvCxnSpPr/>
          <p:nvPr/>
        </p:nvCxnSpPr>
        <p:spPr>
          <a:xfrm flipV="1">
            <a:off x="6204989" y="3856481"/>
            <a:ext cx="14836" cy="10716"/>
          </a:xfrm>
          <a:prstGeom prst="line">
            <a:avLst/>
          </a:prstGeom>
          <a:ln w="1460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37" name="Page 2 technology icon: encryption / 6"/>
          <p:cNvCxnSpPr/>
          <p:nvPr/>
        </p:nvCxnSpPr>
        <p:spPr>
          <a:xfrm flipV="1">
            <a:off x="6219825" y="3850052"/>
            <a:ext cx="16835" cy="6429"/>
          </a:xfrm>
          <a:prstGeom prst="line">
            <a:avLst/>
          </a:prstGeom>
          <a:ln w="1460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38" name="Page 2 technology icon: encryption / 7"/>
          <p:cNvCxnSpPr/>
          <p:nvPr/>
        </p:nvCxnSpPr>
        <p:spPr>
          <a:xfrm flipV="1">
            <a:off x="6236660" y="3847909"/>
            <a:ext cx="17836" cy="2143"/>
          </a:xfrm>
          <a:prstGeom prst="line">
            <a:avLst/>
          </a:prstGeom>
          <a:ln w="1460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39" name="Page 2 technology icon: encryption / 8"/>
          <p:cNvCxnSpPr/>
          <p:nvPr/>
        </p:nvCxnSpPr>
        <p:spPr>
          <a:xfrm>
            <a:off x="6254496" y="3847909"/>
            <a:ext cx="17835" cy="2143"/>
          </a:xfrm>
          <a:prstGeom prst="line">
            <a:avLst/>
          </a:prstGeom>
          <a:ln w="1460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40" name="Page 2 technology icon: encryption / 9"/>
          <p:cNvCxnSpPr/>
          <p:nvPr/>
        </p:nvCxnSpPr>
        <p:spPr>
          <a:xfrm>
            <a:off x="6272331" y="3850052"/>
            <a:ext cx="16836" cy="6429"/>
          </a:xfrm>
          <a:prstGeom prst="line">
            <a:avLst/>
          </a:prstGeom>
          <a:ln w="1460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41" name="Page 2 technology icon: encryption / 10"/>
          <p:cNvCxnSpPr/>
          <p:nvPr/>
        </p:nvCxnSpPr>
        <p:spPr>
          <a:xfrm>
            <a:off x="6289167" y="3856481"/>
            <a:ext cx="14835" cy="10716"/>
          </a:xfrm>
          <a:prstGeom prst="line">
            <a:avLst/>
          </a:prstGeom>
          <a:ln w="1460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42" name="Page 2 technology icon: encryption / 11"/>
          <p:cNvCxnSpPr/>
          <p:nvPr/>
        </p:nvCxnSpPr>
        <p:spPr>
          <a:xfrm>
            <a:off x="6304002" y="3867197"/>
            <a:ext cx="11835" cy="15002"/>
          </a:xfrm>
          <a:prstGeom prst="line">
            <a:avLst/>
          </a:prstGeom>
          <a:ln w="1460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43" name="Page 2 technology icon: encryption / 12"/>
          <p:cNvCxnSpPr/>
          <p:nvPr/>
        </p:nvCxnSpPr>
        <p:spPr>
          <a:xfrm>
            <a:off x="6315837" y="3882199"/>
            <a:ext cx="7834" cy="19288"/>
          </a:xfrm>
          <a:prstGeom prst="line">
            <a:avLst/>
          </a:prstGeom>
          <a:ln w="1460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44" name="Page 2 technology icon: encryption / 13"/>
          <p:cNvCxnSpPr/>
          <p:nvPr/>
        </p:nvCxnSpPr>
        <p:spPr>
          <a:xfrm>
            <a:off x="6323671" y="3901487"/>
            <a:ext cx="2834" cy="23574"/>
          </a:xfrm>
          <a:prstGeom prst="line">
            <a:avLst/>
          </a:prstGeom>
          <a:ln w="1460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45" name="Page 2 technology icon: encryption / 14"/>
          <p:cNvCxnSpPr/>
          <p:nvPr/>
        </p:nvCxnSpPr>
        <p:spPr>
          <a:xfrm>
            <a:off x="6326505" y="3925061"/>
            <a:ext cx="0" cy="51436"/>
          </a:xfrm>
          <a:prstGeom prst="line">
            <a:avLst/>
          </a:prstGeom>
          <a:ln w="14604" cap="rnd">
            <a:solidFill>
              <a:srgbClr val="2F8F46"/>
            </a:solidFill>
          </a:ln>
        </p:spPr>
        <p:style>
          <a:lnRef idx="2">
            <a:schemeClr val="accent1"/>
          </a:lnRef>
          <a:fillRef idx="0">
            <a:schemeClr val="accent1"/>
          </a:fillRef>
          <a:effectRef idx="1">
            <a:schemeClr val="accent1"/>
          </a:effectRef>
          <a:fontRef idx="minor">
            <a:schemeClr val="tx1"/>
          </a:fontRef>
        </p:style>
      </p:cxnSp>
      <p:sp>
        <p:nvSpPr>
          <p:cNvPr id="46" name="Page 2 technology icon: encryption / 15"/>
          <p:cNvSpPr/>
          <p:nvPr/>
        </p:nvSpPr>
        <p:spPr>
          <a:xfrm>
            <a:off x="6141339" y="3955923"/>
            <a:ext cx="226314" cy="164592"/>
          </a:xfrm>
          <a:prstGeom prst="roundRect">
            <a:avLst/>
          </a:prstGeom>
          <a:solidFill>
            <a:srgbClr val="EAF6ED"/>
          </a:solidFill>
          <a:ln w="14604">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Page 2 technology icon: encryption / 16"/>
          <p:cNvSpPr/>
          <p:nvPr/>
        </p:nvSpPr>
        <p:spPr>
          <a:xfrm>
            <a:off x="6239065" y="4007357"/>
            <a:ext cx="30861" cy="30861"/>
          </a:xfrm>
          <a:prstGeom prst="ellipse">
            <a:avLst/>
          </a:prstGeom>
          <a:solidFill>
            <a:srgbClr val="2F8F46"/>
          </a:solidFill>
          <a:ln w="14604">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Page 2 technology icon: encryption / 17"/>
          <p:cNvCxnSpPr/>
          <p:nvPr/>
        </p:nvCxnSpPr>
        <p:spPr>
          <a:xfrm>
            <a:off x="6254496" y="4038219"/>
            <a:ext cx="0" cy="30860"/>
          </a:xfrm>
          <a:prstGeom prst="line">
            <a:avLst/>
          </a:prstGeom>
          <a:ln w="14604" cap="rnd">
            <a:solidFill>
              <a:srgbClr val="2F8F46"/>
            </a:solidFill>
          </a:ln>
        </p:spPr>
        <p:style>
          <a:lnRef idx="2">
            <a:schemeClr val="accent1"/>
          </a:lnRef>
          <a:fillRef idx="0">
            <a:schemeClr val="accent1"/>
          </a:fillRef>
          <a:effectRef idx="1">
            <a:schemeClr val="accent1"/>
          </a:effectRef>
          <a:fontRef idx="minor">
            <a:schemeClr val="tx1"/>
          </a:fontRef>
        </p:style>
      </p:cxnSp>
      <p:sp>
        <p:nvSpPr>
          <p:cNvPr id="49" name="Page 2 technology icon: zk / 1"/>
          <p:cNvSpPr/>
          <p:nvPr/>
        </p:nvSpPr>
        <p:spPr>
          <a:xfrm>
            <a:off x="7171182" y="3842765"/>
            <a:ext cx="288036" cy="288036"/>
          </a:xfrm>
          <a:prstGeom prst="ellipse">
            <a:avLst/>
          </a:prstGeom>
          <a:solidFill>
            <a:srgbClr val="EAF5FA"/>
          </a:solidFill>
          <a:ln w="14604">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Page 2 technology icon: zk / 2"/>
          <p:cNvSpPr txBox="1"/>
          <p:nvPr/>
        </p:nvSpPr>
        <p:spPr>
          <a:xfrm>
            <a:off x="7191756" y="3883913"/>
            <a:ext cx="246888" cy="205739"/>
          </a:xfrm>
          <a:prstGeom prst="rect">
            <a:avLst/>
          </a:prstGeom>
          <a:noFill/>
        </p:spPr>
        <p:txBody>
          <a:bodyPr wrap="none" lIns="0" rIns="0" tIns="0" bIns="0" anchor="ctr">
            <a:spAutoFit/>
          </a:bodyPr>
          <a:lstStyle/>
          <a:p>
            <a:pPr algn="ctr"/>
            <a:r>
              <a:rPr sz="800" b="1">
                <a:solidFill>
                  <a:srgbClr val="1F90CC"/>
                </a:solidFill>
                <a:latin typeface="Arial"/>
              </a:rPr>
              <a:t>ZK</a:t>
            </a:r>
          </a:p>
        </p:txBody>
      </p:sp>
      <p:cxnSp>
        <p:nvCxnSpPr>
          <p:cNvPr id="51" name="Page 2 technology icon: tee / 1"/>
          <p:cNvCxnSpPr/>
          <p:nvPr/>
        </p:nvCxnSpPr>
        <p:spPr>
          <a:xfrm>
            <a:off x="7674102" y="3842765"/>
            <a:ext cx="0" cy="41148"/>
          </a:xfrm>
          <a:prstGeom prst="line">
            <a:avLst/>
          </a:prstGeom>
          <a:ln w="1460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52" name="Page 2 technology icon: tee / 2"/>
          <p:cNvCxnSpPr/>
          <p:nvPr/>
        </p:nvCxnSpPr>
        <p:spPr>
          <a:xfrm>
            <a:off x="7674102" y="4089654"/>
            <a:ext cx="0" cy="41148"/>
          </a:xfrm>
          <a:prstGeom prst="line">
            <a:avLst/>
          </a:prstGeom>
          <a:ln w="1460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53" name="Page 2 technology icon: tee / 3"/>
          <p:cNvCxnSpPr/>
          <p:nvPr/>
        </p:nvCxnSpPr>
        <p:spPr>
          <a:xfrm>
            <a:off x="7591806" y="3925061"/>
            <a:ext cx="41148" cy="0"/>
          </a:xfrm>
          <a:prstGeom prst="line">
            <a:avLst/>
          </a:prstGeom>
          <a:ln w="1460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54" name="Page 2 technology icon: tee / 4"/>
          <p:cNvCxnSpPr/>
          <p:nvPr/>
        </p:nvCxnSpPr>
        <p:spPr>
          <a:xfrm>
            <a:off x="7838694" y="3925061"/>
            <a:ext cx="41148" cy="0"/>
          </a:xfrm>
          <a:prstGeom prst="line">
            <a:avLst/>
          </a:prstGeom>
          <a:ln w="1460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55" name="Page 2 technology icon: tee / 5"/>
          <p:cNvCxnSpPr/>
          <p:nvPr/>
        </p:nvCxnSpPr>
        <p:spPr>
          <a:xfrm>
            <a:off x="7735823" y="3842765"/>
            <a:ext cx="0" cy="41148"/>
          </a:xfrm>
          <a:prstGeom prst="line">
            <a:avLst/>
          </a:prstGeom>
          <a:ln w="1460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56" name="Page 2 technology icon: tee / 6"/>
          <p:cNvCxnSpPr/>
          <p:nvPr/>
        </p:nvCxnSpPr>
        <p:spPr>
          <a:xfrm>
            <a:off x="7735823" y="4089654"/>
            <a:ext cx="0" cy="41148"/>
          </a:xfrm>
          <a:prstGeom prst="line">
            <a:avLst/>
          </a:prstGeom>
          <a:ln w="1460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57" name="Page 2 technology icon: tee / 7"/>
          <p:cNvCxnSpPr/>
          <p:nvPr/>
        </p:nvCxnSpPr>
        <p:spPr>
          <a:xfrm>
            <a:off x="7591806" y="3986783"/>
            <a:ext cx="41148" cy="0"/>
          </a:xfrm>
          <a:prstGeom prst="line">
            <a:avLst/>
          </a:prstGeom>
          <a:ln w="1460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58" name="Page 2 technology icon: tee / 8"/>
          <p:cNvCxnSpPr/>
          <p:nvPr/>
        </p:nvCxnSpPr>
        <p:spPr>
          <a:xfrm>
            <a:off x="7838694" y="3986783"/>
            <a:ext cx="41148" cy="0"/>
          </a:xfrm>
          <a:prstGeom prst="line">
            <a:avLst/>
          </a:prstGeom>
          <a:ln w="1460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59" name="Page 2 technology icon: tee / 9"/>
          <p:cNvCxnSpPr/>
          <p:nvPr/>
        </p:nvCxnSpPr>
        <p:spPr>
          <a:xfrm>
            <a:off x="7797546" y="3842765"/>
            <a:ext cx="0" cy="41148"/>
          </a:xfrm>
          <a:prstGeom prst="line">
            <a:avLst/>
          </a:prstGeom>
          <a:ln w="1460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60" name="Page 2 technology icon: tee / 10"/>
          <p:cNvCxnSpPr/>
          <p:nvPr/>
        </p:nvCxnSpPr>
        <p:spPr>
          <a:xfrm>
            <a:off x="7797546" y="4089654"/>
            <a:ext cx="0" cy="41148"/>
          </a:xfrm>
          <a:prstGeom prst="line">
            <a:avLst/>
          </a:prstGeom>
          <a:ln w="1460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61" name="Page 2 technology icon: tee / 11"/>
          <p:cNvCxnSpPr/>
          <p:nvPr/>
        </p:nvCxnSpPr>
        <p:spPr>
          <a:xfrm>
            <a:off x="7591806" y="4048505"/>
            <a:ext cx="41148" cy="0"/>
          </a:xfrm>
          <a:prstGeom prst="line">
            <a:avLst/>
          </a:prstGeom>
          <a:ln w="1460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62" name="Page 2 technology icon: tee / 12"/>
          <p:cNvCxnSpPr/>
          <p:nvPr/>
        </p:nvCxnSpPr>
        <p:spPr>
          <a:xfrm>
            <a:off x="7838694" y="4048505"/>
            <a:ext cx="41148" cy="0"/>
          </a:xfrm>
          <a:prstGeom prst="line">
            <a:avLst/>
          </a:prstGeom>
          <a:ln w="14604" cap="rnd">
            <a:solidFill>
              <a:srgbClr val="1F90CC"/>
            </a:solidFill>
          </a:ln>
        </p:spPr>
        <p:style>
          <a:lnRef idx="2">
            <a:schemeClr val="accent1"/>
          </a:lnRef>
          <a:fillRef idx="0">
            <a:schemeClr val="accent1"/>
          </a:fillRef>
          <a:effectRef idx="1">
            <a:schemeClr val="accent1"/>
          </a:effectRef>
          <a:fontRef idx="minor">
            <a:schemeClr val="tx1"/>
          </a:fontRef>
        </p:style>
      </p:cxnSp>
      <p:sp>
        <p:nvSpPr>
          <p:cNvPr id="63" name="Page 2 technology icon: tee / 13"/>
          <p:cNvSpPr/>
          <p:nvPr/>
        </p:nvSpPr>
        <p:spPr>
          <a:xfrm>
            <a:off x="7632954" y="3883913"/>
            <a:ext cx="205739" cy="205739"/>
          </a:xfrm>
          <a:prstGeom prst="roundRect">
            <a:avLst/>
          </a:prstGeom>
          <a:solidFill>
            <a:srgbClr val="EAF5FA"/>
          </a:solidFill>
          <a:ln w="14604">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Page 2 technology icon: tee / 14"/>
          <p:cNvCxnSpPr/>
          <p:nvPr/>
        </p:nvCxnSpPr>
        <p:spPr>
          <a:xfrm flipV="1">
            <a:off x="7694675" y="3945635"/>
            <a:ext cx="0" cy="30862"/>
          </a:xfrm>
          <a:prstGeom prst="line">
            <a:avLst/>
          </a:prstGeom>
          <a:ln w="11430"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65" name="Page 2 technology icon: tee / 15"/>
          <p:cNvCxnSpPr/>
          <p:nvPr/>
        </p:nvCxnSpPr>
        <p:spPr>
          <a:xfrm flipV="1">
            <a:off x="7694675" y="3933848"/>
            <a:ext cx="1620" cy="11787"/>
          </a:xfrm>
          <a:prstGeom prst="line">
            <a:avLst/>
          </a:prstGeom>
          <a:ln w="11430"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66" name="Page 2 technology icon: tee / 16"/>
          <p:cNvCxnSpPr/>
          <p:nvPr/>
        </p:nvCxnSpPr>
        <p:spPr>
          <a:xfrm flipV="1">
            <a:off x="7696295" y="3924204"/>
            <a:ext cx="4477" cy="9644"/>
          </a:xfrm>
          <a:prstGeom prst="line">
            <a:avLst/>
          </a:prstGeom>
          <a:ln w="11430"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67" name="Page 2 technology icon: tee / 17"/>
          <p:cNvCxnSpPr/>
          <p:nvPr/>
        </p:nvCxnSpPr>
        <p:spPr>
          <a:xfrm flipV="1">
            <a:off x="7700772" y="3916703"/>
            <a:ext cx="6762" cy="7501"/>
          </a:xfrm>
          <a:prstGeom prst="line">
            <a:avLst/>
          </a:prstGeom>
          <a:ln w="11430"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68" name="Page 2 technology icon: tee / 18"/>
          <p:cNvCxnSpPr/>
          <p:nvPr/>
        </p:nvCxnSpPr>
        <p:spPr>
          <a:xfrm flipV="1">
            <a:off x="7707534" y="3911346"/>
            <a:ext cx="8477" cy="5357"/>
          </a:xfrm>
          <a:prstGeom prst="line">
            <a:avLst/>
          </a:prstGeom>
          <a:ln w="11430"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69" name="Page 2 technology icon: tee / 19"/>
          <p:cNvCxnSpPr/>
          <p:nvPr/>
        </p:nvCxnSpPr>
        <p:spPr>
          <a:xfrm flipV="1">
            <a:off x="7716011" y="3908131"/>
            <a:ext cx="9621" cy="3215"/>
          </a:xfrm>
          <a:prstGeom prst="line">
            <a:avLst/>
          </a:prstGeom>
          <a:ln w="11430"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70" name="Page 2 technology icon: tee / 20"/>
          <p:cNvCxnSpPr/>
          <p:nvPr/>
        </p:nvCxnSpPr>
        <p:spPr>
          <a:xfrm flipV="1">
            <a:off x="7725632" y="3907059"/>
            <a:ext cx="10191" cy="1072"/>
          </a:xfrm>
          <a:prstGeom prst="line">
            <a:avLst/>
          </a:prstGeom>
          <a:ln w="11430"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71" name="Page 2 technology icon: tee / 21"/>
          <p:cNvCxnSpPr/>
          <p:nvPr/>
        </p:nvCxnSpPr>
        <p:spPr>
          <a:xfrm>
            <a:off x="7735823" y="3907059"/>
            <a:ext cx="10192" cy="1072"/>
          </a:xfrm>
          <a:prstGeom prst="line">
            <a:avLst/>
          </a:prstGeom>
          <a:ln w="11430"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72" name="Page 2 technology icon: tee / 22"/>
          <p:cNvCxnSpPr/>
          <p:nvPr/>
        </p:nvCxnSpPr>
        <p:spPr>
          <a:xfrm>
            <a:off x="7746015" y="3908131"/>
            <a:ext cx="9620" cy="3215"/>
          </a:xfrm>
          <a:prstGeom prst="line">
            <a:avLst/>
          </a:prstGeom>
          <a:ln w="11430"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73" name="Page 2 technology icon: tee / 23"/>
          <p:cNvCxnSpPr/>
          <p:nvPr/>
        </p:nvCxnSpPr>
        <p:spPr>
          <a:xfrm>
            <a:off x="7755635" y="3911346"/>
            <a:ext cx="8478" cy="5357"/>
          </a:xfrm>
          <a:prstGeom prst="line">
            <a:avLst/>
          </a:prstGeom>
          <a:ln w="11430"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74" name="Page 2 technology icon: tee / 24"/>
          <p:cNvCxnSpPr/>
          <p:nvPr/>
        </p:nvCxnSpPr>
        <p:spPr>
          <a:xfrm>
            <a:off x="7764113" y="3916703"/>
            <a:ext cx="6763" cy="7501"/>
          </a:xfrm>
          <a:prstGeom prst="line">
            <a:avLst/>
          </a:prstGeom>
          <a:ln w="11430"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75" name="Page 2 technology icon: tee / 25"/>
          <p:cNvCxnSpPr/>
          <p:nvPr/>
        </p:nvCxnSpPr>
        <p:spPr>
          <a:xfrm>
            <a:off x="7770876" y="3924204"/>
            <a:ext cx="4476" cy="9644"/>
          </a:xfrm>
          <a:prstGeom prst="line">
            <a:avLst/>
          </a:prstGeom>
          <a:ln w="11430"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76" name="Page 2 technology icon: tee / 26"/>
          <p:cNvCxnSpPr/>
          <p:nvPr/>
        </p:nvCxnSpPr>
        <p:spPr>
          <a:xfrm>
            <a:off x="7775352" y="3933848"/>
            <a:ext cx="1619" cy="11787"/>
          </a:xfrm>
          <a:prstGeom prst="line">
            <a:avLst/>
          </a:prstGeom>
          <a:ln w="11430"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77" name="Page 2 technology icon: tee / 27"/>
          <p:cNvCxnSpPr/>
          <p:nvPr/>
        </p:nvCxnSpPr>
        <p:spPr>
          <a:xfrm>
            <a:off x="7776971" y="3945635"/>
            <a:ext cx="0" cy="30862"/>
          </a:xfrm>
          <a:prstGeom prst="line">
            <a:avLst/>
          </a:prstGeom>
          <a:ln w="11430" cap="rnd">
            <a:solidFill>
              <a:srgbClr val="1F90CC"/>
            </a:solidFill>
          </a:ln>
        </p:spPr>
        <p:style>
          <a:lnRef idx="2">
            <a:schemeClr val="accent1"/>
          </a:lnRef>
          <a:fillRef idx="0">
            <a:schemeClr val="accent1"/>
          </a:fillRef>
          <a:effectRef idx="1">
            <a:schemeClr val="accent1"/>
          </a:effectRef>
          <a:fontRef idx="minor">
            <a:schemeClr val="tx1"/>
          </a:fontRef>
        </p:style>
      </p:cxnSp>
      <p:sp>
        <p:nvSpPr>
          <p:cNvPr id="78" name="Page 2 technology icon: tee / 28"/>
          <p:cNvSpPr/>
          <p:nvPr/>
        </p:nvSpPr>
        <p:spPr>
          <a:xfrm>
            <a:off x="7684388" y="3966209"/>
            <a:ext cx="102869" cy="82296"/>
          </a:xfrm>
          <a:prstGeom prst="roundRect">
            <a:avLst/>
          </a:prstGeom>
          <a:solidFill>
            <a:srgbClr val="EAF5FA"/>
          </a:solidFill>
          <a:ln w="14604">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Page 2 technology icon: attestation / 1"/>
          <p:cNvCxnSpPr/>
          <p:nvPr/>
        </p:nvCxnSpPr>
        <p:spPr>
          <a:xfrm flipH="1">
            <a:off x="8053578" y="3853053"/>
            <a:ext cx="144018" cy="0"/>
          </a:xfrm>
          <a:prstGeom prst="line">
            <a:avLst/>
          </a:prstGeom>
          <a:ln w="1460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80" name="Page 2 technology icon: attestation / 2"/>
          <p:cNvCxnSpPr/>
          <p:nvPr/>
        </p:nvCxnSpPr>
        <p:spPr>
          <a:xfrm>
            <a:off x="8053578" y="3853053"/>
            <a:ext cx="0" cy="267461"/>
          </a:xfrm>
          <a:prstGeom prst="line">
            <a:avLst/>
          </a:prstGeom>
          <a:ln w="1460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81" name="Page 2 technology icon: attestation / 3"/>
          <p:cNvCxnSpPr/>
          <p:nvPr/>
        </p:nvCxnSpPr>
        <p:spPr>
          <a:xfrm>
            <a:off x="8053578" y="4120514"/>
            <a:ext cx="205740" cy="0"/>
          </a:xfrm>
          <a:prstGeom prst="line">
            <a:avLst/>
          </a:prstGeom>
          <a:ln w="1460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82" name="Page 2 technology icon: attestation / 4"/>
          <p:cNvCxnSpPr/>
          <p:nvPr/>
        </p:nvCxnSpPr>
        <p:spPr>
          <a:xfrm flipV="1">
            <a:off x="8259318" y="3914775"/>
            <a:ext cx="0" cy="205739"/>
          </a:xfrm>
          <a:prstGeom prst="line">
            <a:avLst/>
          </a:prstGeom>
          <a:ln w="1460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83" name="Page 2 technology icon: attestation / 5"/>
          <p:cNvCxnSpPr/>
          <p:nvPr/>
        </p:nvCxnSpPr>
        <p:spPr>
          <a:xfrm flipH="1" flipV="1">
            <a:off x="8197596" y="3853053"/>
            <a:ext cx="61722" cy="61722"/>
          </a:xfrm>
          <a:prstGeom prst="line">
            <a:avLst/>
          </a:prstGeom>
          <a:ln w="1460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84" name="Page 2 technology icon: attestation / 6"/>
          <p:cNvCxnSpPr/>
          <p:nvPr/>
        </p:nvCxnSpPr>
        <p:spPr>
          <a:xfrm>
            <a:off x="8197596" y="3853053"/>
            <a:ext cx="0" cy="61722"/>
          </a:xfrm>
          <a:prstGeom prst="line">
            <a:avLst/>
          </a:prstGeom>
          <a:ln w="1460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85" name="Page 2 technology icon: attestation / 7"/>
          <p:cNvCxnSpPr/>
          <p:nvPr/>
        </p:nvCxnSpPr>
        <p:spPr>
          <a:xfrm>
            <a:off x="8197596" y="3914775"/>
            <a:ext cx="61722" cy="0"/>
          </a:xfrm>
          <a:prstGeom prst="line">
            <a:avLst/>
          </a:prstGeom>
          <a:ln w="1460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86" name="Page 2 technology icon: attestation / 8"/>
          <p:cNvCxnSpPr/>
          <p:nvPr/>
        </p:nvCxnSpPr>
        <p:spPr>
          <a:xfrm>
            <a:off x="8094726" y="3945635"/>
            <a:ext cx="72009" cy="0"/>
          </a:xfrm>
          <a:prstGeom prst="line">
            <a:avLst/>
          </a:prstGeom>
          <a:ln w="11430"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87" name="Page 2 technology icon: attestation / 9"/>
          <p:cNvCxnSpPr/>
          <p:nvPr/>
        </p:nvCxnSpPr>
        <p:spPr>
          <a:xfrm>
            <a:off x="8094726" y="3986783"/>
            <a:ext cx="51435" cy="0"/>
          </a:xfrm>
          <a:prstGeom prst="line">
            <a:avLst/>
          </a:prstGeom>
          <a:ln w="11430"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88" name="Page 2 technology icon: attestation / 10"/>
          <p:cNvCxnSpPr/>
          <p:nvPr/>
        </p:nvCxnSpPr>
        <p:spPr>
          <a:xfrm>
            <a:off x="8105013" y="4048505"/>
            <a:ext cx="41148" cy="41149"/>
          </a:xfrm>
          <a:prstGeom prst="line">
            <a:avLst/>
          </a:prstGeom>
          <a:ln w="19050"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89" name="Page 2 technology icon: attestation / 11"/>
          <p:cNvCxnSpPr/>
          <p:nvPr/>
        </p:nvCxnSpPr>
        <p:spPr>
          <a:xfrm flipV="1">
            <a:off x="8146161" y="3997071"/>
            <a:ext cx="92583" cy="92583"/>
          </a:xfrm>
          <a:prstGeom prst="line">
            <a:avLst/>
          </a:prstGeom>
          <a:ln w="19050"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90" name="Page 2 technology icon: dfl / 1"/>
          <p:cNvCxnSpPr/>
          <p:nvPr/>
        </p:nvCxnSpPr>
        <p:spPr>
          <a:xfrm>
            <a:off x="8577072" y="3873627"/>
            <a:ext cx="123443" cy="92582"/>
          </a:xfrm>
          <a:prstGeom prst="line">
            <a:avLst/>
          </a:prstGeom>
          <a:ln w="1460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91" name="Page 2 technology icon: dfl / 2"/>
          <p:cNvCxnSpPr/>
          <p:nvPr/>
        </p:nvCxnSpPr>
        <p:spPr>
          <a:xfrm flipH="1">
            <a:off x="8649080" y="3966209"/>
            <a:ext cx="51435" cy="133731"/>
          </a:xfrm>
          <a:prstGeom prst="line">
            <a:avLst/>
          </a:prstGeom>
          <a:ln w="1460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92" name="Page 2 technology icon: dfl / 3"/>
          <p:cNvCxnSpPr/>
          <p:nvPr/>
        </p:nvCxnSpPr>
        <p:spPr>
          <a:xfrm flipH="1">
            <a:off x="8505063" y="4099940"/>
            <a:ext cx="144017" cy="0"/>
          </a:xfrm>
          <a:prstGeom prst="line">
            <a:avLst/>
          </a:prstGeom>
          <a:ln w="1460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93" name="Page 2 technology icon: dfl / 4"/>
          <p:cNvCxnSpPr/>
          <p:nvPr/>
        </p:nvCxnSpPr>
        <p:spPr>
          <a:xfrm flipH="1" flipV="1">
            <a:off x="8453628" y="3966209"/>
            <a:ext cx="51435" cy="133731"/>
          </a:xfrm>
          <a:prstGeom prst="line">
            <a:avLst/>
          </a:prstGeom>
          <a:ln w="1460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94" name="Page 2 technology icon: dfl / 5"/>
          <p:cNvCxnSpPr/>
          <p:nvPr/>
        </p:nvCxnSpPr>
        <p:spPr>
          <a:xfrm flipV="1">
            <a:off x="8453628" y="3873627"/>
            <a:ext cx="123444" cy="92582"/>
          </a:xfrm>
          <a:prstGeom prst="line">
            <a:avLst/>
          </a:prstGeom>
          <a:ln w="1460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95" name="Page 2 technology icon: dfl / 6"/>
          <p:cNvCxnSpPr/>
          <p:nvPr/>
        </p:nvCxnSpPr>
        <p:spPr>
          <a:xfrm>
            <a:off x="8577072" y="3873627"/>
            <a:ext cx="72008" cy="226313"/>
          </a:xfrm>
          <a:prstGeom prst="line">
            <a:avLst/>
          </a:prstGeom>
          <a:ln w="10160"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96" name="Page 2 technology icon: dfl / 7"/>
          <p:cNvCxnSpPr/>
          <p:nvPr/>
        </p:nvCxnSpPr>
        <p:spPr>
          <a:xfrm flipH="1" flipV="1">
            <a:off x="8453628" y="3966209"/>
            <a:ext cx="195452" cy="133731"/>
          </a:xfrm>
          <a:prstGeom prst="line">
            <a:avLst/>
          </a:prstGeom>
          <a:ln w="10160"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97" name="Page 2 technology icon: dfl / 8"/>
          <p:cNvCxnSpPr/>
          <p:nvPr/>
        </p:nvCxnSpPr>
        <p:spPr>
          <a:xfrm>
            <a:off x="8453628" y="3966209"/>
            <a:ext cx="246887" cy="0"/>
          </a:xfrm>
          <a:prstGeom prst="line">
            <a:avLst/>
          </a:prstGeom>
          <a:ln w="10160"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98" name="Page 2 technology icon: dfl / 9"/>
          <p:cNvCxnSpPr/>
          <p:nvPr/>
        </p:nvCxnSpPr>
        <p:spPr>
          <a:xfrm flipH="1">
            <a:off x="8505063" y="3966209"/>
            <a:ext cx="195452" cy="133731"/>
          </a:xfrm>
          <a:prstGeom prst="line">
            <a:avLst/>
          </a:prstGeom>
          <a:ln w="10160"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99" name="Page 2 technology icon: dfl / 10"/>
          <p:cNvCxnSpPr/>
          <p:nvPr/>
        </p:nvCxnSpPr>
        <p:spPr>
          <a:xfrm flipV="1">
            <a:off x="8505063" y="3873627"/>
            <a:ext cx="72009" cy="226313"/>
          </a:xfrm>
          <a:prstGeom prst="line">
            <a:avLst/>
          </a:prstGeom>
          <a:ln w="10160" cap="rnd">
            <a:solidFill>
              <a:srgbClr val="1F90CC"/>
            </a:solidFill>
          </a:ln>
        </p:spPr>
        <p:style>
          <a:lnRef idx="2">
            <a:schemeClr val="accent1"/>
          </a:lnRef>
          <a:fillRef idx="0">
            <a:schemeClr val="accent1"/>
          </a:fillRef>
          <a:effectRef idx="1">
            <a:schemeClr val="accent1"/>
          </a:effectRef>
          <a:fontRef idx="minor">
            <a:schemeClr val="tx1"/>
          </a:fontRef>
        </p:style>
      </p:cxnSp>
      <p:sp>
        <p:nvSpPr>
          <p:cNvPr id="100" name="Page 2 technology icon: dfl / 11"/>
          <p:cNvSpPr/>
          <p:nvPr/>
        </p:nvSpPr>
        <p:spPr>
          <a:xfrm>
            <a:off x="8550325" y="3846880"/>
            <a:ext cx="53492" cy="53492"/>
          </a:xfrm>
          <a:prstGeom prst="ellipse">
            <a:avLst/>
          </a:prstGeom>
          <a:solidFill>
            <a:srgbClr val="1F90CC"/>
          </a:solidFill>
          <a:ln w="14604">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Page 2 technology icon: dfl / 12"/>
          <p:cNvSpPr/>
          <p:nvPr/>
        </p:nvSpPr>
        <p:spPr>
          <a:xfrm>
            <a:off x="8673769" y="3939463"/>
            <a:ext cx="53492" cy="53492"/>
          </a:xfrm>
          <a:prstGeom prst="ellipse">
            <a:avLst/>
          </a:prstGeom>
          <a:solidFill>
            <a:srgbClr val="1F90CC"/>
          </a:solidFill>
          <a:ln w="14604">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Page 2 technology icon: dfl / 13"/>
          <p:cNvSpPr/>
          <p:nvPr/>
        </p:nvSpPr>
        <p:spPr>
          <a:xfrm>
            <a:off x="8622334" y="4073194"/>
            <a:ext cx="53492" cy="53492"/>
          </a:xfrm>
          <a:prstGeom prst="ellipse">
            <a:avLst/>
          </a:prstGeom>
          <a:solidFill>
            <a:srgbClr val="1F90CC"/>
          </a:solidFill>
          <a:ln w="14604">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Page 2 technology icon: dfl / 14"/>
          <p:cNvSpPr/>
          <p:nvPr/>
        </p:nvSpPr>
        <p:spPr>
          <a:xfrm>
            <a:off x="8478316" y="4073194"/>
            <a:ext cx="53492" cy="53492"/>
          </a:xfrm>
          <a:prstGeom prst="ellipse">
            <a:avLst/>
          </a:prstGeom>
          <a:solidFill>
            <a:srgbClr val="1F90CC"/>
          </a:solidFill>
          <a:ln w="14604">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Page 2 technology icon: dfl / 15"/>
          <p:cNvSpPr/>
          <p:nvPr/>
        </p:nvSpPr>
        <p:spPr>
          <a:xfrm>
            <a:off x="8426881" y="3939463"/>
            <a:ext cx="53492" cy="53492"/>
          </a:xfrm>
          <a:prstGeom prst="ellipse">
            <a:avLst/>
          </a:prstGeom>
          <a:solidFill>
            <a:srgbClr val="1F90CC"/>
          </a:solidFill>
          <a:ln w="14604">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5" name="Page 2 technology icon: agent / 1"/>
          <p:cNvCxnSpPr/>
          <p:nvPr/>
        </p:nvCxnSpPr>
        <p:spPr>
          <a:xfrm>
            <a:off x="9637776" y="3863339"/>
            <a:ext cx="0" cy="51436"/>
          </a:xfrm>
          <a:prstGeom prst="line">
            <a:avLst/>
          </a:prstGeom>
          <a:ln w="14604" cap="rnd">
            <a:solidFill>
              <a:srgbClr val="FF6C00"/>
            </a:solidFill>
          </a:ln>
        </p:spPr>
        <p:style>
          <a:lnRef idx="2">
            <a:schemeClr val="accent1"/>
          </a:lnRef>
          <a:fillRef idx="0">
            <a:schemeClr val="accent1"/>
          </a:fillRef>
          <a:effectRef idx="1">
            <a:schemeClr val="accent1"/>
          </a:effectRef>
          <a:fontRef idx="minor">
            <a:schemeClr val="tx1"/>
          </a:fontRef>
        </p:style>
      </p:cxnSp>
      <p:sp>
        <p:nvSpPr>
          <p:cNvPr id="106" name="Page 2 technology icon: agent / 2"/>
          <p:cNvSpPr/>
          <p:nvPr/>
        </p:nvSpPr>
        <p:spPr>
          <a:xfrm>
            <a:off x="9622345" y="3837622"/>
            <a:ext cx="30861" cy="30861"/>
          </a:xfrm>
          <a:prstGeom prst="ellipse">
            <a:avLst/>
          </a:prstGeom>
          <a:solidFill>
            <a:srgbClr val="FF6C00"/>
          </a:solidFill>
          <a:ln w="14604">
            <a:solidFill>
              <a:srgbClr val="FF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Page 2 technology icon: agent / 3"/>
          <p:cNvSpPr/>
          <p:nvPr/>
        </p:nvSpPr>
        <p:spPr>
          <a:xfrm>
            <a:off x="9514332" y="3914775"/>
            <a:ext cx="246888" cy="205739"/>
          </a:xfrm>
          <a:prstGeom prst="roundRect">
            <a:avLst/>
          </a:prstGeom>
          <a:solidFill>
            <a:srgbClr val="FFF1E7"/>
          </a:solidFill>
          <a:ln w="14604">
            <a:solidFill>
              <a:srgbClr val="FF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8" name="Page 2 technology icon: agent / 4"/>
          <p:cNvCxnSpPr/>
          <p:nvPr/>
        </p:nvCxnSpPr>
        <p:spPr>
          <a:xfrm>
            <a:off x="9483471" y="3976497"/>
            <a:ext cx="0" cy="72008"/>
          </a:xfrm>
          <a:prstGeom prst="line">
            <a:avLst/>
          </a:prstGeom>
          <a:ln w="14604" cap="rnd">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09" name="Page 2 technology icon: agent / 5"/>
          <p:cNvCxnSpPr/>
          <p:nvPr/>
        </p:nvCxnSpPr>
        <p:spPr>
          <a:xfrm>
            <a:off x="9792081" y="3976497"/>
            <a:ext cx="0" cy="72008"/>
          </a:xfrm>
          <a:prstGeom prst="line">
            <a:avLst/>
          </a:prstGeom>
          <a:ln w="14604" cap="rnd">
            <a:solidFill>
              <a:srgbClr val="FF6C00"/>
            </a:solidFill>
          </a:ln>
        </p:spPr>
        <p:style>
          <a:lnRef idx="2">
            <a:schemeClr val="accent1"/>
          </a:lnRef>
          <a:fillRef idx="0">
            <a:schemeClr val="accent1"/>
          </a:fillRef>
          <a:effectRef idx="1">
            <a:schemeClr val="accent1"/>
          </a:effectRef>
          <a:fontRef idx="minor">
            <a:schemeClr val="tx1"/>
          </a:fontRef>
        </p:style>
      </p:cxnSp>
      <p:sp>
        <p:nvSpPr>
          <p:cNvPr id="110" name="Page 2 technology icon: agent / 6"/>
          <p:cNvSpPr/>
          <p:nvPr/>
        </p:nvSpPr>
        <p:spPr>
          <a:xfrm>
            <a:off x="9565767" y="3976497"/>
            <a:ext cx="30861" cy="30861"/>
          </a:xfrm>
          <a:prstGeom prst="ellipse">
            <a:avLst/>
          </a:prstGeom>
          <a:solidFill>
            <a:srgbClr val="FF6C00"/>
          </a:solidFill>
          <a:ln w="14604">
            <a:solidFill>
              <a:srgbClr val="FF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Page 2 technology icon: agent / 7"/>
          <p:cNvSpPr/>
          <p:nvPr/>
        </p:nvSpPr>
        <p:spPr>
          <a:xfrm>
            <a:off x="9678924" y="3976497"/>
            <a:ext cx="30861" cy="30861"/>
          </a:xfrm>
          <a:prstGeom prst="ellipse">
            <a:avLst/>
          </a:prstGeom>
          <a:solidFill>
            <a:srgbClr val="FF6C00"/>
          </a:solidFill>
          <a:ln w="14604">
            <a:solidFill>
              <a:srgbClr val="FF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2" name="Page 2 technology icon: agent / 8"/>
          <p:cNvCxnSpPr/>
          <p:nvPr/>
        </p:nvCxnSpPr>
        <p:spPr>
          <a:xfrm>
            <a:off x="9586340" y="4069079"/>
            <a:ext cx="102871" cy="0"/>
          </a:xfrm>
          <a:prstGeom prst="line">
            <a:avLst/>
          </a:prstGeom>
          <a:ln w="14604" cap="rnd">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13" name="Page 2 technology icon: mcp / 1"/>
          <p:cNvCxnSpPr/>
          <p:nvPr/>
        </p:nvCxnSpPr>
        <p:spPr>
          <a:xfrm flipV="1">
            <a:off x="10155326" y="3853227"/>
            <a:ext cx="124143" cy="124143"/>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4" name="Page 2 technology icon: mcp / 2"/>
          <p:cNvCxnSpPr/>
          <p:nvPr/>
        </p:nvCxnSpPr>
        <p:spPr>
          <a:xfrm flipV="1">
            <a:off x="10279469" y="3850214"/>
            <a:ext cx="3333" cy="3013"/>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5" name="Page 2 technology icon: mcp / 3"/>
          <p:cNvCxnSpPr/>
          <p:nvPr/>
        </p:nvCxnSpPr>
        <p:spPr>
          <a:xfrm flipV="1">
            <a:off x="10282802" y="3847603"/>
            <a:ext cx="3552" cy="2611"/>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6" name="Page 2 technology icon: mcp / 4"/>
          <p:cNvCxnSpPr/>
          <p:nvPr/>
        </p:nvCxnSpPr>
        <p:spPr>
          <a:xfrm flipV="1">
            <a:off x="10286354" y="3845394"/>
            <a:ext cx="3739" cy="2209"/>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7" name="Page 2 technology icon: mcp / 5"/>
          <p:cNvCxnSpPr/>
          <p:nvPr/>
        </p:nvCxnSpPr>
        <p:spPr>
          <a:xfrm flipV="1">
            <a:off x="10290093" y="3843586"/>
            <a:ext cx="3895" cy="1808"/>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8" name="Page 2 technology icon: mcp / 6"/>
          <p:cNvCxnSpPr/>
          <p:nvPr/>
        </p:nvCxnSpPr>
        <p:spPr>
          <a:xfrm flipV="1">
            <a:off x="10293988" y="3842180"/>
            <a:ext cx="4020" cy="1406"/>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9" name="Page 2 technology icon: mcp / 7"/>
          <p:cNvCxnSpPr/>
          <p:nvPr/>
        </p:nvCxnSpPr>
        <p:spPr>
          <a:xfrm flipV="1">
            <a:off x="10298008" y="3841175"/>
            <a:ext cx="4114" cy="1005"/>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0" name="Page 2 technology icon: mcp / 8"/>
          <p:cNvCxnSpPr/>
          <p:nvPr/>
        </p:nvCxnSpPr>
        <p:spPr>
          <a:xfrm flipV="1">
            <a:off x="10302122" y="3840573"/>
            <a:ext cx="4176" cy="602"/>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1" name="Page 2 technology icon: mcp / 9"/>
          <p:cNvCxnSpPr/>
          <p:nvPr/>
        </p:nvCxnSpPr>
        <p:spPr>
          <a:xfrm flipV="1">
            <a:off x="10306298" y="3840372"/>
            <a:ext cx="4207" cy="201"/>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2" name="Page 2 technology icon: mcp / 10"/>
          <p:cNvCxnSpPr/>
          <p:nvPr/>
        </p:nvCxnSpPr>
        <p:spPr>
          <a:xfrm>
            <a:off x="10310505" y="3840372"/>
            <a:ext cx="4207" cy="201"/>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3" name="Page 2 technology icon: mcp / 11"/>
          <p:cNvCxnSpPr/>
          <p:nvPr/>
        </p:nvCxnSpPr>
        <p:spPr>
          <a:xfrm>
            <a:off x="10314712" y="3840573"/>
            <a:ext cx="4176" cy="602"/>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4" name="Page 2 technology icon: mcp / 12"/>
          <p:cNvCxnSpPr/>
          <p:nvPr/>
        </p:nvCxnSpPr>
        <p:spPr>
          <a:xfrm>
            <a:off x="10318888" y="3841175"/>
            <a:ext cx="4113" cy="1005"/>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5" name="Page 2 technology icon: mcp / 13"/>
          <p:cNvCxnSpPr/>
          <p:nvPr/>
        </p:nvCxnSpPr>
        <p:spPr>
          <a:xfrm>
            <a:off x="10323001" y="3842180"/>
            <a:ext cx="4020" cy="1406"/>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6" name="Page 2 technology icon: mcp / 14"/>
          <p:cNvCxnSpPr/>
          <p:nvPr/>
        </p:nvCxnSpPr>
        <p:spPr>
          <a:xfrm>
            <a:off x="10327021" y="3843586"/>
            <a:ext cx="3895" cy="1808"/>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7" name="Page 2 technology icon: mcp / 15"/>
          <p:cNvCxnSpPr/>
          <p:nvPr/>
        </p:nvCxnSpPr>
        <p:spPr>
          <a:xfrm>
            <a:off x="10330916" y="3845394"/>
            <a:ext cx="3739" cy="2209"/>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8" name="Page 2 technology icon: mcp / 16"/>
          <p:cNvCxnSpPr/>
          <p:nvPr/>
        </p:nvCxnSpPr>
        <p:spPr>
          <a:xfrm>
            <a:off x="10334655" y="3847603"/>
            <a:ext cx="3552" cy="2611"/>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9" name="Page 2 technology icon: mcp / 17"/>
          <p:cNvCxnSpPr/>
          <p:nvPr/>
        </p:nvCxnSpPr>
        <p:spPr>
          <a:xfrm>
            <a:off x="10338207" y="3850214"/>
            <a:ext cx="3333" cy="3013"/>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0" name="Page 2 technology icon: mcp / 18"/>
          <p:cNvCxnSpPr/>
          <p:nvPr/>
        </p:nvCxnSpPr>
        <p:spPr>
          <a:xfrm>
            <a:off x="10341540" y="3853227"/>
            <a:ext cx="0" cy="0"/>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1" name="Page 2 technology icon: mcp / 19"/>
          <p:cNvCxnSpPr/>
          <p:nvPr/>
        </p:nvCxnSpPr>
        <p:spPr>
          <a:xfrm>
            <a:off x="10341540" y="3853227"/>
            <a:ext cx="3013" cy="3334"/>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2" name="Page 2 technology icon: mcp / 20"/>
          <p:cNvCxnSpPr/>
          <p:nvPr/>
        </p:nvCxnSpPr>
        <p:spPr>
          <a:xfrm>
            <a:off x="10344553" y="3856561"/>
            <a:ext cx="2611" cy="3552"/>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3" name="Page 2 technology icon: mcp / 21"/>
          <p:cNvCxnSpPr/>
          <p:nvPr/>
        </p:nvCxnSpPr>
        <p:spPr>
          <a:xfrm>
            <a:off x="10347164" y="3860113"/>
            <a:ext cx="2210" cy="3739"/>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4" name="Page 2 technology icon: mcp / 22"/>
          <p:cNvCxnSpPr/>
          <p:nvPr/>
        </p:nvCxnSpPr>
        <p:spPr>
          <a:xfrm>
            <a:off x="10349374" y="3863852"/>
            <a:ext cx="1808" cy="3895"/>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5" name="Page 2 technology icon: mcp / 23"/>
          <p:cNvCxnSpPr/>
          <p:nvPr/>
        </p:nvCxnSpPr>
        <p:spPr>
          <a:xfrm>
            <a:off x="10351182" y="3867747"/>
            <a:ext cx="1406" cy="4020"/>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6" name="Page 2 technology icon: mcp / 24"/>
          <p:cNvCxnSpPr/>
          <p:nvPr/>
        </p:nvCxnSpPr>
        <p:spPr>
          <a:xfrm>
            <a:off x="10352588" y="3871767"/>
            <a:ext cx="1004" cy="4113"/>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7" name="Page 2 technology icon: mcp / 25"/>
          <p:cNvCxnSpPr/>
          <p:nvPr/>
        </p:nvCxnSpPr>
        <p:spPr>
          <a:xfrm>
            <a:off x="10353592" y="3875880"/>
            <a:ext cx="603" cy="4176"/>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8" name="Page 2 technology icon: mcp / 26"/>
          <p:cNvCxnSpPr/>
          <p:nvPr/>
        </p:nvCxnSpPr>
        <p:spPr>
          <a:xfrm>
            <a:off x="10354195" y="3880056"/>
            <a:ext cx="201" cy="4207"/>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9" name="Page 2 technology icon: mcp / 27"/>
          <p:cNvCxnSpPr/>
          <p:nvPr/>
        </p:nvCxnSpPr>
        <p:spPr>
          <a:xfrm flipH="1">
            <a:off x="10354195" y="3884263"/>
            <a:ext cx="201" cy="4207"/>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0" name="Page 2 technology icon: mcp / 28"/>
          <p:cNvCxnSpPr/>
          <p:nvPr/>
        </p:nvCxnSpPr>
        <p:spPr>
          <a:xfrm flipH="1">
            <a:off x="10353592" y="3888470"/>
            <a:ext cx="603" cy="4176"/>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1" name="Page 2 technology icon: mcp / 29"/>
          <p:cNvCxnSpPr/>
          <p:nvPr/>
        </p:nvCxnSpPr>
        <p:spPr>
          <a:xfrm flipH="1">
            <a:off x="10352588" y="3892646"/>
            <a:ext cx="1004" cy="4113"/>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2" name="Page 2 technology icon: mcp / 30"/>
          <p:cNvCxnSpPr/>
          <p:nvPr/>
        </p:nvCxnSpPr>
        <p:spPr>
          <a:xfrm flipH="1">
            <a:off x="10351182" y="3896759"/>
            <a:ext cx="1406" cy="4020"/>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3" name="Page 2 technology icon: mcp / 31"/>
          <p:cNvCxnSpPr/>
          <p:nvPr/>
        </p:nvCxnSpPr>
        <p:spPr>
          <a:xfrm flipH="1">
            <a:off x="10349374" y="3900779"/>
            <a:ext cx="1808" cy="3895"/>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4" name="Page 2 technology icon: mcp / 32"/>
          <p:cNvCxnSpPr/>
          <p:nvPr/>
        </p:nvCxnSpPr>
        <p:spPr>
          <a:xfrm flipH="1">
            <a:off x="10347164" y="3904674"/>
            <a:ext cx="2210" cy="3739"/>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5" name="Page 2 technology icon: mcp / 33"/>
          <p:cNvCxnSpPr/>
          <p:nvPr/>
        </p:nvCxnSpPr>
        <p:spPr>
          <a:xfrm flipH="1">
            <a:off x="10344553" y="3908413"/>
            <a:ext cx="2611" cy="3552"/>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6" name="Page 2 technology icon: mcp / 34"/>
          <p:cNvCxnSpPr/>
          <p:nvPr/>
        </p:nvCxnSpPr>
        <p:spPr>
          <a:xfrm flipH="1">
            <a:off x="10341540" y="3911965"/>
            <a:ext cx="3013" cy="3334"/>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7" name="Page 2 technology icon: mcp / 35"/>
          <p:cNvCxnSpPr/>
          <p:nvPr/>
        </p:nvCxnSpPr>
        <p:spPr>
          <a:xfrm flipH="1">
            <a:off x="10247787" y="3915299"/>
            <a:ext cx="93753" cy="93754"/>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8" name="Page 2 technology icon: mcp / 36"/>
          <p:cNvCxnSpPr/>
          <p:nvPr/>
        </p:nvCxnSpPr>
        <p:spPr>
          <a:xfrm flipV="1">
            <a:off x="10249080" y="3915299"/>
            <a:ext cx="92460" cy="92461"/>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9" name="Page 2 technology icon: mcp / 37"/>
          <p:cNvCxnSpPr/>
          <p:nvPr/>
        </p:nvCxnSpPr>
        <p:spPr>
          <a:xfrm flipV="1">
            <a:off x="10341540" y="3912286"/>
            <a:ext cx="3333" cy="3013"/>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0" name="Page 2 technology icon: mcp / 38"/>
          <p:cNvCxnSpPr/>
          <p:nvPr/>
        </p:nvCxnSpPr>
        <p:spPr>
          <a:xfrm flipV="1">
            <a:off x="10344873" y="3909675"/>
            <a:ext cx="3552" cy="2611"/>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1" name="Page 2 technology icon: mcp / 39"/>
          <p:cNvCxnSpPr/>
          <p:nvPr/>
        </p:nvCxnSpPr>
        <p:spPr>
          <a:xfrm flipV="1">
            <a:off x="10348425" y="3907465"/>
            <a:ext cx="3740" cy="2210"/>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2" name="Page 2 technology icon: mcp / 40"/>
          <p:cNvCxnSpPr/>
          <p:nvPr/>
        </p:nvCxnSpPr>
        <p:spPr>
          <a:xfrm flipV="1">
            <a:off x="10352165" y="3905657"/>
            <a:ext cx="3895" cy="1808"/>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3" name="Page 2 technology icon: mcp / 41"/>
          <p:cNvCxnSpPr/>
          <p:nvPr/>
        </p:nvCxnSpPr>
        <p:spPr>
          <a:xfrm flipV="1">
            <a:off x="10356060" y="3904251"/>
            <a:ext cx="4020" cy="1406"/>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4" name="Page 2 technology icon: mcp / 42"/>
          <p:cNvCxnSpPr/>
          <p:nvPr/>
        </p:nvCxnSpPr>
        <p:spPr>
          <a:xfrm flipV="1">
            <a:off x="10360080" y="3903247"/>
            <a:ext cx="4113" cy="1004"/>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5" name="Page 2 technology icon: mcp / 43"/>
          <p:cNvCxnSpPr/>
          <p:nvPr/>
        </p:nvCxnSpPr>
        <p:spPr>
          <a:xfrm flipV="1">
            <a:off x="10364193" y="3902644"/>
            <a:ext cx="4176" cy="603"/>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6" name="Page 2 technology icon: mcp / 44"/>
          <p:cNvCxnSpPr/>
          <p:nvPr/>
        </p:nvCxnSpPr>
        <p:spPr>
          <a:xfrm flipV="1">
            <a:off x="10368369" y="3902443"/>
            <a:ext cx="4207" cy="201"/>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7" name="Page 2 technology icon: mcp / 45"/>
          <p:cNvCxnSpPr/>
          <p:nvPr/>
        </p:nvCxnSpPr>
        <p:spPr>
          <a:xfrm>
            <a:off x="10372576" y="3902443"/>
            <a:ext cx="4208" cy="201"/>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8" name="Page 2 technology icon: mcp / 46"/>
          <p:cNvCxnSpPr/>
          <p:nvPr/>
        </p:nvCxnSpPr>
        <p:spPr>
          <a:xfrm>
            <a:off x="10376784" y="3902644"/>
            <a:ext cx="4175" cy="603"/>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9" name="Page 2 technology icon: mcp / 47"/>
          <p:cNvCxnSpPr/>
          <p:nvPr/>
        </p:nvCxnSpPr>
        <p:spPr>
          <a:xfrm>
            <a:off x="10380959" y="3903247"/>
            <a:ext cx="4114" cy="1004"/>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0" name="Page 2 technology icon: mcp / 48"/>
          <p:cNvCxnSpPr/>
          <p:nvPr/>
        </p:nvCxnSpPr>
        <p:spPr>
          <a:xfrm>
            <a:off x="10385073" y="3904251"/>
            <a:ext cx="4020" cy="1406"/>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1" name="Page 2 technology icon: mcp / 49"/>
          <p:cNvCxnSpPr/>
          <p:nvPr/>
        </p:nvCxnSpPr>
        <p:spPr>
          <a:xfrm>
            <a:off x="10389093" y="3905657"/>
            <a:ext cx="3895" cy="1808"/>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2" name="Page 2 technology icon: mcp / 50"/>
          <p:cNvCxnSpPr/>
          <p:nvPr/>
        </p:nvCxnSpPr>
        <p:spPr>
          <a:xfrm>
            <a:off x="10392988" y="3907465"/>
            <a:ext cx="3739" cy="2210"/>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3" name="Page 2 technology icon: mcp / 51"/>
          <p:cNvCxnSpPr/>
          <p:nvPr/>
        </p:nvCxnSpPr>
        <p:spPr>
          <a:xfrm>
            <a:off x="10396727" y="3909675"/>
            <a:ext cx="3552" cy="2611"/>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4" name="Page 2 technology icon: mcp / 52"/>
          <p:cNvCxnSpPr/>
          <p:nvPr/>
        </p:nvCxnSpPr>
        <p:spPr>
          <a:xfrm>
            <a:off x="10400279" y="3912286"/>
            <a:ext cx="3334" cy="3013"/>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5" name="Page 2 technology icon: mcp / 53"/>
          <p:cNvCxnSpPr/>
          <p:nvPr/>
        </p:nvCxnSpPr>
        <p:spPr>
          <a:xfrm>
            <a:off x="10403613" y="3915299"/>
            <a:ext cx="645" cy="646"/>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6" name="Page 2 technology icon: mcp / 54"/>
          <p:cNvCxnSpPr/>
          <p:nvPr/>
        </p:nvCxnSpPr>
        <p:spPr>
          <a:xfrm>
            <a:off x="10404258" y="3915945"/>
            <a:ext cx="3014" cy="3334"/>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7" name="Page 2 technology icon: mcp / 55"/>
          <p:cNvCxnSpPr/>
          <p:nvPr/>
        </p:nvCxnSpPr>
        <p:spPr>
          <a:xfrm>
            <a:off x="10407272" y="3919279"/>
            <a:ext cx="2611" cy="3552"/>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8" name="Page 2 technology icon: mcp / 56"/>
          <p:cNvCxnSpPr/>
          <p:nvPr/>
        </p:nvCxnSpPr>
        <p:spPr>
          <a:xfrm>
            <a:off x="10409883" y="3922831"/>
            <a:ext cx="2210" cy="3739"/>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9" name="Page 2 technology icon: mcp / 57"/>
          <p:cNvCxnSpPr/>
          <p:nvPr/>
        </p:nvCxnSpPr>
        <p:spPr>
          <a:xfrm>
            <a:off x="10412093" y="3926570"/>
            <a:ext cx="1808" cy="3895"/>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0" name="Page 2 technology icon: mcp / 58"/>
          <p:cNvCxnSpPr/>
          <p:nvPr/>
        </p:nvCxnSpPr>
        <p:spPr>
          <a:xfrm>
            <a:off x="10413901" y="3930465"/>
            <a:ext cx="1406" cy="4020"/>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1" name="Page 2 technology icon: mcp / 59"/>
          <p:cNvCxnSpPr/>
          <p:nvPr/>
        </p:nvCxnSpPr>
        <p:spPr>
          <a:xfrm>
            <a:off x="10415307" y="3934485"/>
            <a:ext cx="1004" cy="4113"/>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2" name="Page 2 technology icon: mcp / 60"/>
          <p:cNvCxnSpPr/>
          <p:nvPr/>
        </p:nvCxnSpPr>
        <p:spPr>
          <a:xfrm>
            <a:off x="10416311" y="3938598"/>
            <a:ext cx="603" cy="4176"/>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3" name="Page 2 technology icon: mcp / 61"/>
          <p:cNvCxnSpPr/>
          <p:nvPr/>
        </p:nvCxnSpPr>
        <p:spPr>
          <a:xfrm>
            <a:off x="10416914" y="3942774"/>
            <a:ext cx="201" cy="4207"/>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4" name="Page 2 technology icon: mcp / 62"/>
          <p:cNvCxnSpPr/>
          <p:nvPr/>
        </p:nvCxnSpPr>
        <p:spPr>
          <a:xfrm flipH="1">
            <a:off x="10416914" y="3946981"/>
            <a:ext cx="201" cy="4207"/>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5" name="Page 2 technology icon: mcp / 63"/>
          <p:cNvCxnSpPr/>
          <p:nvPr/>
        </p:nvCxnSpPr>
        <p:spPr>
          <a:xfrm flipH="1">
            <a:off x="10416311" y="3951188"/>
            <a:ext cx="603" cy="4176"/>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6" name="Page 2 technology icon: mcp / 64"/>
          <p:cNvCxnSpPr/>
          <p:nvPr/>
        </p:nvCxnSpPr>
        <p:spPr>
          <a:xfrm flipH="1">
            <a:off x="10415307" y="3955364"/>
            <a:ext cx="1004" cy="4114"/>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7" name="Page 2 technology icon: mcp / 65"/>
          <p:cNvCxnSpPr/>
          <p:nvPr/>
        </p:nvCxnSpPr>
        <p:spPr>
          <a:xfrm flipH="1">
            <a:off x="10413901" y="3959478"/>
            <a:ext cx="1406" cy="4019"/>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8" name="Page 2 technology icon: mcp / 66"/>
          <p:cNvCxnSpPr/>
          <p:nvPr/>
        </p:nvCxnSpPr>
        <p:spPr>
          <a:xfrm flipH="1">
            <a:off x="10412093" y="3963497"/>
            <a:ext cx="1808" cy="3895"/>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9" name="Page 2 technology icon: mcp / 67"/>
          <p:cNvCxnSpPr/>
          <p:nvPr/>
        </p:nvCxnSpPr>
        <p:spPr>
          <a:xfrm flipH="1">
            <a:off x="10409883" y="3967392"/>
            <a:ext cx="2210" cy="3740"/>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80" name="Page 2 technology icon: mcp / 68"/>
          <p:cNvCxnSpPr/>
          <p:nvPr/>
        </p:nvCxnSpPr>
        <p:spPr>
          <a:xfrm flipH="1">
            <a:off x="10407272" y="3971132"/>
            <a:ext cx="2611" cy="3551"/>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81" name="Page 2 technology icon: mcp / 69"/>
          <p:cNvCxnSpPr/>
          <p:nvPr/>
        </p:nvCxnSpPr>
        <p:spPr>
          <a:xfrm flipH="1">
            <a:off x="10404258" y="3974683"/>
            <a:ext cx="3014" cy="3334"/>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82" name="Page 2 technology icon: mcp / 70"/>
          <p:cNvCxnSpPr/>
          <p:nvPr/>
        </p:nvCxnSpPr>
        <p:spPr>
          <a:xfrm flipH="1">
            <a:off x="10291983" y="3978017"/>
            <a:ext cx="112275" cy="112277"/>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83" name="Page 2 technology icon: mcp / 71"/>
          <p:cNvCxnSpPr/>
          <p:nvPr/>
        </p:nvCxnSpPr>
        <p:spPr>
          <a:xfrm flipH="1">
            <a:off x="10290978" y="4090294"/>
            <a:ext cx="1005" cy="1111"/>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84" name="Page 2 technology icon: mcp / 72"/>
          <p:cNvCxnSpPr/>
          <p:nvPr/>
        </p:nvCxnSpPr>
        <p:spPr>
          <a:xfrm flipH="1">
            <a:off x="10290108" y="4091405"/>
            <a:ext cx="870" cy="1184"/>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85" name="Page 2 technology icon: mcp / 73"/>
          <p:cNvCxnSpPr/>
          <p:nvPr/>
        </p:nvCxnSpPr>
        <p:spPr>
          <a:xfrm flipH="1">
            <a:off x="10289371" y="4092589"/>
            <a:ext cx="737" cy="1246"/>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86" name="Page 2 technology icon: mcp / 74"/>
          <p:cNvCxnSpPr/>
          <p:nvPr/>
        </p:nvCxnSpPr>
        <p:spPr>
          <a:xfrm flipH="1">
            <a:off x="10288769" y="4093835"/>
            <a:ext cx="602" cy="1298"/>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87" name="Page 2 technology icon: mcp / 75"/>
          <p:cNvCxnSpPr/>
          <p:nvPr/>
        </p:nvCxnSpPr>
        <p:spPr>
          <a:xfrm flipH="1">
            <a:off x="10288300" y="4095133"/>
            <a:ext cx="469" cy="1340"/>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88" name="Page 2 technology icon: mcp / 76"/>
          <p:cNvCxnSpPr/>
          <p:nvPr/>
        </p:nvCxnSpPr>
        <p:spPr>
          <a:xfrm flipH="1">
            <a:off x="10287965" y="4096473"/>
            <a:ext cx="335" cy="1371"/>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89" name="Page 2 technology icon: mcp / 77"/>
          <p:cNvCxnSpPr/>
          <p:nvPr/>
        </p:nvCxnSpPr>
        <p:spPr>
          <a:xfrm flipH="1">
            <a:off x="10287764" y="4097844"/>
            <a:ext cx="201" cy="1392"/>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90" name="Page 2 technology icon: mcp / 78"/>
          <p:cNvCxnSpPr/>
          <p:nvPr/>
        </p:nvCxnSpPr>
        <p:spPr>
          <a:xfrm flipH="1">
            <a:off x="10287697" y="4099236"/>
            <a:ext cx="67" cy="1402"/>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91" name="Page 2 technology icon: mcp / 79"/>
          <p:cNvCxnSpPr/>
          <p:nvPr/>
        </p:nvCxnSpPr>
        <p:spPr>
          <a:xfrm>
            <a:off x="10287697" y="4100638"/>
            <a:ext cx="67" cy="1402"/>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92" name="Page 2 technology icon: mcp / 80"/>
          <p:cNvCxnSpPr/>
          <p:nvPr/>
        </p:nvCxnSpPr>
        <p:spPr>
          <a:xfrm>
            <a:off x="10287764" y="4102040"/>
            <a:ext cx="201" cy="1392"/>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93" name="Page 2 technology icon: mcp / 81"/>
          <p:cNvCxnSpPr/>
          <p:nvPr/>
        </p:nvCxnSpPr>
        <p:spPr>
          <a:xfrm>
            <a:off x="10287965" y="4103432"/>
            <a:ext cx="335" cy="1371"/>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94" name="Page 2 technology icon: mcp / 82"/>
          <p:cNvCxnSpPr/>
          <p:nvPr/>
        </p:nvCxnSpPr>
        <p:spPr>
          <a:xfrm>
            <a:off x="10288300" y="4104803"/>
            <a:ext cx="469" cy="1340"/>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95" name="Page 2 technology icon: mcp / 83"/>
          <p:cNvCxnSpPr/>
          <p:nvPr/>
        </p:nvCxnSpPr>
        <p:spPr>
          <a:xfrm>
            <a:off x="10288769" y="4106143"/>
            <a:ext cx="602" cy="1299"/>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96" name="Page 2 technology icon: mcp / 84"/>
          <p:cNvCxnSpPr/>
          <p:nvPr/>
        </p:nvCxnSpPr>
        <p:spPr>
          <a:xfrm>
            <a:off x="10289371" y="4107442"/>
            <a:ext cx="737" cy="1246"/>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97" name="Page 2 technology icon: mcp / 85"/>
          <p:cNvCxnSpPr/>
          <p:nvPr/>
        </p:nvCxnSpPr>
        <p:spPr>
          <a:xfrm>
            <a:off x="10290108" y="4108688"/>
            <a:ext cx="870" cy="1184"/>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98" name="Page 2 technology icon: mcp / 86"/>
          <p:cNvCxnSpPr/>
          <p:nvPr/>
        </p:nvCxnSpPr>
        <p:spPr>
          <a:xfrm>
            <a:off x="10290978" y="4109872"/>
            <a:ext cx="1005" cy="1111"/>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99" name="Page 2 technology icon: mcp / 87"/>
          <p:cNvCxnSpPr/>
          <p:nvPr/>
        </p:nvCxnSpPr>
        <p:spPr>
          <a:xfrm>
            <a:off x="10291983" y="4110983"/>
            <a:ext cx="23054" cy="23055"/>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00" name="Page 2 technology icon: mcp / 88"/>
          <p:cNvCxnSpPr/>
          <p:nvPr/>
        </p:nvCxnSpPr>
        <p:spPr>
          <a:xfrm flipH="1">
            <a:off x="10218691" y="3884263"/>
            <a:ext cx="91814" cy="91814"/>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01" name="Page 2 technology icon: mcp / 89"/>
          <p:cNvCxnSpPr/>
          <p:nvPr/>
        </p:nvCxnSpPr>
        <p:spPr>
          <a:xfrm flipH="1">
            <a:off x="10215678" y="3976077"/>
            <a:ext cx="3013" cy="3334"/>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02" name="Page 2 technology icon: mcp / 90"/>
          <p:cNvCxnSpPr/>
          <p:nvPr/>
        </p:nvCxnSpPr>
        <p:spPr>
          <a:xfrm flipH="1">
            <a:off x="10213066" y="3979411"/>
            <a:ext cx="2612" cy="3551"/>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03" name="Page 2 technology icon: mcp / 91"/>
          <p:cNvCxnSpPr/>
          <p:nvPr/>
        </p:nvCxnSpPr>
        <p:spPr>
          <a:xfrm flipH="1">
            <a:off x="10210857" y="3982962"/>
            <a:ext cx="2209" cy="3740"/>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04" name="Page 2 technology icon: mcp / 92"/>
          <p:cNvCxnSpPr/>
          <p:nvPr/>
        </p:nvCxnSpPr>
        <p:spPr>
          <a:xfrm flipH="1">
            <a:off x="10209049" y="3986702"/>
            <a:ext cx="1808" cy="3895"/>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05" name="Page 2 technology icon: mcp / 93"/>
          <p:cNvCxnSpPr/>
          <p:nvPr/>
        </p:nvCxnSpPr>
        <p:spPr>
          <a:xfrm flipH="1">
            <a:off x="10207643" y="3990597"/>
            <a:ext cx="1406" cy="4019"/>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06" name="Page 2 technology icon: mcp / 94"/>
          <p:cNvCxnSpPr/>
          <p:nvPr/>
        </p:nvCxnSpPr>
        <p:spPr>
          <a:xfrm flipH="1">
            <a:off x="10206639" y="3994616"/>
            <a:ext cx="1004" cy="4114"/>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07" name="Page 2 technology icon: mcp / 95"/>
          <p:cNvCxnSpPr/>
          <p:nvPr/>
        </p:nvCxnSpPr>
        <p:spPr>
          <a:xfrm flipH="1">
            <a:off x="10206036" y="3998730"/>
            <a:ext cx="603" cy="4176"/>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08" name="Page 2 technology icon: mcp / 96"/>
          <p:cNvCxnSpPr/>
          <p:nvPr/>
        </p:nvCxnSpPr>
        <p:spPr>
          <a:xfrm flipH="1">
            <a:off x="10205835" y="4002906"/>
            <a:ext cx="201" cy="4207"/>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09" name="Page 2 technology icon: mcp / 97"/>
          <p:cNvCxnSpPr/>
          <p:nvPr/>
        </p:nvCxnSpPr>
        <p:spPr>
          <a:xfrm>
            <a:off x="10205835" y="4007113"/>
            <a:ext cx="201" cy="4207"/>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10" name="Page 2 technology icon: mcp / 98"/>
          <p:cNvCxnSpPr/>
          <p:nvPr/>
        </p:nvCxnSpPr>
        <p:spPr>
          <a:xfrm>
            <a:off x="10206036" y="4011320"/>
            <a:ext cx="603" cy="4176"/>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11" name="Page 2 technology icon: mcp / 99"/>
          <p:cNvCxnSpPr/>
          <p:nvPr/>
        </p:nvCxnSpPr>
        <p:spPr>
          <a:xfrm>
            <a:off x="10206639" y="4015496"/>
            <a:ext cx="1004" cy="4113"/>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12" name="Page 2 technology icon: mcp / 100"/>
          <p:cNvCxnSpPr/>
          <p:nvPr/>
        </p:nvCxnSpPr>
        <p:spPr>
          <a:xfrm>
            <a:off x="10207643" y="4019609"/>
            <a:ext cx="1406" cy="4020"/>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13" name="Page 2 technology icon: mcp / 101"/>
          <p:cNvCxnSpPr/>
          <p:nvPr/>
        </p:nvCxnSpPr>
        <p:spPr>
          <a:xfrm>
            <a:off x="10209049" y="4023629"/>
            <a:ext cx="1808" cy="3895"/>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14" name="Page 2 technology icon: mcp / 102"/>
          <p:cNvCxnSpPr/>
          <p:nvPr/>
        </p:nvCxnSpPr>
        <p:spPr>
          <a:xfrm>
            <a:off x="10210857" y="4027524"/>
            <a:ext cx="2209" cy="3739"/>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15" name="Page 2 technology icon: mcp / 103"/>
          <p:cNvCxnSpPr/>
          <p:nvPr/>
        </p:nvCxnSpPr>
        <p:spPr>
          <a:xfrm>
            <a:off x="10213066" y="4031263"/>
            <a:ext cx="2612" cy="3552"/>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16" name="Page 2 technology icon: mcp / 104"/>
          <p:cNvCxnSpPr/>
          <p:nvPr/>
        </p:nvCxnSpPr>
        <p:spPr>
          <a:xfrm>
            <a:off x="10215678" y="4034815"/>
            <a:ext cx="3013" cy="3334"/>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17" name="Page 2 technology icon: mcp / 105"/>
          <p:cNvCxnSpPr/>
          <p:nvPr/>
        </p:nvCxnSpPr>
        <p:spPr>
          <a:xfrm>
            <a:off x="10218691" y="4038149"/>
            <a:ext cx="0" cy="0"/>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18" name="Page 2 technology icon: mcp / 106"/>
          <p:cNvCxnSpPr/>
          <p:nvPr/>
        </p:nvCxnSpPr>
        <p:spPr>
          <a:xfrm>
            <a:off x="10218691" y="4038149"/>
            <a:ext cx="3333" cy="3013"/>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19" name="Page 2 technology icon: mcp / 107"/>
          <p:cNvCxnSpPr/>
          <p:nvPr/>
        </p:nvCxnSpPr>
        <p:spPr>
          <a:xfrm>
            <a:off x="10222024" y="4041162"/>
            <a:ext cx="3552" cy="2611"/>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0" name="Page 2 technology icon: mcp / 108"/>
          <p:cNvCxnSpPr/>
          <p:nvPr/>
        </p:nvCxnSpPr>
        <p:spPr>
          <a:xfrm>
            <a:off x="10225576" y="4043773"/>
            <a:ext cx="3739" cy="2209"/>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1" name="Page 2 technology icon: mcp / 109"/>
          <p:cNvCxnSpPr/>
          <p:nvPr/>
        </p:nvCxnSpPr>
        <p:spPr>
          <a:xfrm>
            <a:off x="10229315" y="4045982"/>
            <a:ext cx="3895" cy="1808"/>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2" name="Page 2 technology icon: mcp / 110"/>
          <p:cNvCxnSpPr/>
          <p:nvPr/>
        </p:nvCxnSpPr>
        <p:spPr>
          <a:xfrm>
            <a:off x="10233210" y="4047790"/>
            <a:ext cx="4020" cy="1406"/>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3" name="Page 2 technology icon: mcp / 111"/>
          <p:cNvCxnSpPr/>
          <p:nvPr/>
        </p:nvCxnSpPr>
        <p:spPr>
          <a:xfrm>
            <a:off x="10237230" y="4049196"/>
            <a:ext cx="4113" cy="1004"/>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4" name="Page 2 technology icon: mcp / 112"/>
          <p:cNvCxnSpPr/>
          <p:nvPr/>
        </p:nvCxnSpPr>
        <p:spPr>
          <a:xfrm>
            <a:off x="10241343" y="4050200"/>
            <a:ext cx="4176" cy="603"/>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5" name="Page 2 technology icon: mcp / 113"/>
          <p:cNvCxnSpPr/>
          <p:nvPr/>
        </p:nvCxnSpPr>
        <p:spPr>
          <a:xfrm>
            <a:off x="10245519" y="4050803"/>
            <a:ext cx="4207" cy="201"/>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6" name="Page 2 technology icon: mcp / 114"/>
          <p:cNvCxnSpPr/>
          <p:nvPr/>
        </p:nvCxnSpPr>
        <p:spPr>
          <a:xfrm flipV="1">
            <a:off x="10249726" y="4050803"/>
            <a:ext cx="4207" cy="201"/>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7" name="Page 2 technology icon: mcp / 115"/>
          <p:cNvCxnSpPr/>
          <p:nvPr/>
        </p:nvCxnSpPr>
        <p:spPr>
          <a:xfrm flipV="1">
            <a:off x="10253933" y="4050200"/>
            <a:ext cx="4176" cy="603"/>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8" name="Page 2 technology icon: mcp / 116"/>
          <p:cNvCxnSpPr/>
          <p:nvPr/>
        </p:nvCxnSpPr>
        <p:spPr>
          <a:xfrm flipV="1">
            <a:off x="10258109" y="4049196"/>
            <a:ext cx="4114" cy="1004"/>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9" name="Page 2 technology icon: mcp / 117"/>
          <p:cNvCxnSpPr/>
          <p:nvPr/>
        </p:nvCxnSpPr>
        <p:spPr>
          <a:xfrm flipV="1">
            <a:off x="10262223" y="4047790"/>
            <a:ext cx="4020" cy="1406"/>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30" name="Page 2 technology icon: mcp / 118"/>
          <p:cNvCxnSpPr/>
          <p:nvPr/>
        </p:nvCxnSpPr>
        <p:spPr>
          <a:xfrm flipV="1">
            <a:off x="10266243" y="4045982"/>
            <a:ext cx="3895" cy="1808"/>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31" name="Page 2 technology icon: mcp / 119"/>
          <p:cNvCxnSpPr/>
          <p:nvPr/>
        </p:nvCxnSpPr>
        <p:spPr>
          <a:xfrm flipV="1">
            <a:off x="10270138" y="4043773"/>
            <a:ext cx="3739" cy="2209"/>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32" name="Page 2 technology icon: mcp / 120"/>
          <p:cNvCxnSpPr/>
          <p:nvPr/>
        </p:nvCxnSpPr>
        <p:spPr>
          <a:xfrm flipV="1">
            <a:off x="10273877" y="4041162"/>
            <a:ext cx="3552" cy="2611"/>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33" name="Page 2 technology icon: mcp / 121"/>
          <p:cNvCxnSpPr/>
          <p:nvPr/>
        </p:nvCxnSpPr>
        <p:spPr>
          <a:xfrm flipV="1">
            <a:off x="10277429" y="4038149"/>
            <a:ext cx="3333" cy="3013"/>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34" name="Page 2 technology icon: mcp / 122"/>
          <p:cNvCxnSpPr/>
          <p:nvPr/>
        </p:nvCxnSpPr>
        <p:spPr>
          <a:xfrm flipV="1">
            <a:off x="10280762" y="3946334"/>
            <a:ext cx="91814" cy="91815"/>
          </a:xfrm>
          <a:prstGeom prst="line">
            <a:avLst/>
          </a:prstGeom>
          <a:ln w="19685" cap="rnd">
            <a:solidFill>
              <a:srgbClr val="000000"/>
            </a:solidFill>
          </a:ln>
        </p:spPr>
        <p:style>
          <a:lnRef idx="2">
            <a:schemeClr val="accent1"/>
          </a:lnRef>
          <a:fillRef idx="0">
            <a:schemeClr val="accent1"/>
          </a:fillRef>
          <a:effectRef idx="1">
            <a:schemeClr val="accent1"/>
          </a:effectRef>
          <a:fontRef idx="minor">
            <a:schemeClr val="tx1"/>
          </a:fontRef>
        </p:style>
      </p:cxnSp>
      <p:sp>
        <p:nvSpPr>
          <p:cNvPr id="235" name="Rounded Rectangle 234"/>
          <p:cNvSpPr/>
          <p:nvPr/>
        </p:nvSpPr>
        <p:spPr>
          <a:xfrm>
            <a:off x="4956048" y="4590288"/>
            <a:ext cx="5980176" cy="786384"/>
          </a:xfrm>
          <a:prstGeom prst="roundRect">
            <a:avLst/>
          </a:prstGeom>
          <a:solidFill>
            <a:srgbClr val="FBEAEC"/>
          </a:solidFill>
          <a:ln w="1778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5193792" y="4718304"/>
            <a:ext cx="1572768" cy="164592"/>
          </a:xfrm>
          <a:prstGeom prst="rect">
            <a:avLst/>
          </a:prstGeom>
          <a:noFill/>
        </p:spPr>
        <p:txBody>
          <a:bodyPr wrap="square" lIns="18288" rIns="18288" tIns="18288" bIns="18288" anchor="ctr">
            <a:spAutoFit/>
          </a:bodyPr>
          <a:lstStyle/>
          <a:p>
            <a:pPr algn="l"/>
            <a:r>
              <a:rPr sz="780" b="1" lang="en-US">
                <a:solidFill>
                  <a:srgbClr val="C40D1E"/>
                </a:solidFill>
                <a:latin typeface="Arial"/>
              </a:rPr>
              <a:t>THESIS PROTOTYPE</a:t>
            </a:r>
          </a:p>
        </p:txBody>
      </p:sp>
      <p:sp>
        <p:nvSpPr>
          <p:cNvPr id="237" name="TextBox 236"/>
          <p:cNvSpPr txBox="1"/>
          <p:nvPr/>
        </p:nvSpPr>
        <p:spPr>
          <a:xfrm>
            <a:off x="5193792" y="4937760"/>
            <a:ext cx="1234440" cy="265176"/>
          </a:xfrm>
          <a:prstGeom prst="rect">
            <a:avLst/>
          </a:prstGeom>
          <a:noFill/>
        </p:spPr>
        <p:txBody>
          <a:bodyPr wrap="square" lIns="18288" rIns="18288" tIns="18288" bIns="18288" anchor="ctr">
            <a:spAutoFit/>
          </a:bodyPr>
          <a:lstStyle/>
          <a:p>
            <a:pPr algn="l"/>
            <a:r>
              <a:rPr sz="1620" b="1" lang="en-US">
                <a:solidFill>
                  <a:srgbClr val="434343"/>
                </a:solidFill>
                <a:latin typeface="Arial"/>
              </a:rPr>
              <a:t>VITA-FL</a:t>
            </a:r>
          </a:p>
        </p:txBody>
      </p:sp>
      <p:sp>
        <p:nvSpPr>
          <p:cNvPr id="238" name="TextBox 237"/>
          <p:cNvSpPr txBox="1"/>
          <p:nvPr/>
        </p:nvSpPr>
        <p:spPr>
          <a:xfrm>
            <a:off x="6519672" y="4919472"/>
            <a:ext cx="4041648" cy="347472"/>
          </a:xfrm>
          <a:prstGeom prst="rect">
            <a:avLst/>
          </a:prstGeom>
          <a:noFill/>
        </p:spPr>
        <p:txBody>
          <a:bodyPr wrap="square" lIns="18288" rIns="18288" tIns="18288" bIns="18288" anchor="ctr">
            <a:spAutoFit/>
          </a:bodyPr>
          <a:lstStyle/>
          <a:p>
            <a:pPr algn="l"/>
            <a:r>
              <a:rPr sz="960" b="1" lang="en-US">
                <a:solidFill>
                  <a:srgbClr val="434343"/>
                </a:solidFill>
                <a:latin typeface="Arial"/>
              </a:rPr>
              <a:t>Verifiable Inference and Trust Architecture
for Federated Learning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A plausible result is not evidence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STARTING POINT: THE PHYSICIAN'S REQUEST</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3</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Rounded Rectangle 7"/>
          <p:cNvSpPr/>
          <p:nvPr/>
        </p:nvSpPr>
        <p:spPr>
          <a:xfrm>
            <a:off x="612648" y="1417320"/>
            <a:ext cx="2816352" cy="3931920"/>
          </a:xfrm>
          <a:prstGeom prst="roundRect">
            <a:avLst/>
          </a:prstGeom>
          <a:solidFill>
            <a:srgbClr val="434343"/>
          </a:solidFill>
          <a:ln w="12700">
            <a:solidFill>
              <a:srgbClr val="4343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xray_concept.png"/>
          <p:cNvPicPr>
            <a:picLocks noChangeAspect="1"/>
          </p:cNvPicPr>
          <p:nvPr/>
        </p:nvPicPr>
        <p:blipFill>
          <a:blip r:embed="rId2"/>
          <a:stretch>
            <a:fillRect/>
          </a:stretch>
        </p:blipFill>
        <p:spPr>
          <a:xfrm>
            <a:off x="859536" y="1645920"/>
            <a:ext cx="2322576" cy="2322576"/>
          </a:xfrm>
          <a:prstGeom prst="rect">
            <a:avLst/>
          </a:prstGeom>
        </p:spPr>
      </p:pic>
      <p:sp>
        <p:nvSpPr>
          <p:cNvPr id="10" name="TextBox 9"/>
          <p:cNvSpPr txBox="1"/>
          <p:nvPr/>
        </p:nvSpPr>
        <p:spPr>
          <a:xfrm>
            <a:off x="877824" y="4078224"/>
            <a:ext cx="2267712" cy="594360"/>
          </a:xfrm>
          <a:prstGeom prst="rect">
            <a:avLst/>
          </a:prstGeom>
          <a:noFill/>
        </p:spPr>
        <p:txBody>
          <a:bodyPr wrap="square" lIns="18288" rIns="18288" tIns="18288" bIns="18288" anchor="t">
            <a:spAutoFit/>
          </a:bodyPr>
          <a:lstStyle/>
          <a:p>
            <a:pPr algn="ctr"/>
            <a:r>
              <a:rPr sz="2000" b="1" lang="en-US">
                <a:solidFill>
                  <a:srgbClr val="FFFFFF"/>
                </a:solidFill>
                <a:latin typeface="Arial"/>
              </a:rPr>
              <a:t>“Analyze this
chest X-ray.”</a:t>
            </a:r>
          </a:p>
        </p:txBody>
      </p:sp>
      <p:pic>
        <p:nvPicPr>
          <p:cNvPr id="11" name="Page 3 physician illustration with tablet" descr="image.png"/>
          <p:cNvPicPr>
            <a:picLocks noChangeAspect="1"/>
          </p:cNvPicPr>
          <p:nvPr/>
        </p:nvPicPr>
        <p:blipFill>
          <a:blip r:embed="rId3"/>
          <a:stretch>
            <a:fillRect/>
          </a:stretch>
        </p:blipFill>
        <p:spPr>
          <a:xfrm>
            <a:off x="3822191" y="1417320"/>
            <a:ext cx="7479792" cy="4169663"/>
          </a:xfrm>
          <a:prstGeom prst="rect">
            <a:avLst/>
          </a:prstGeom>
        </p:spPr>
      </p:pic>
      <p:sp>
        <p:nvSpPr>
          <p:cNvPr id="12" name="Rounded Rectangle 11"/>
          <p:cNvSpPr/>
          <p:nvPr/>
        </p:nvSpPr>
        <p:spPr>
          <a:xfrm>
            <a:off x="4087368" y="1719072"/>
            <a:ext cx="3218688" cy="1737360"/>
          </a:xfrm>
          <a:prstGeom prst="roundRect">
            <a:avLst/>
          </a:prstGeom>
          <a:solidFill>
            <a:srgbClr val="FFFFFF"/>
          </a:solidFill>
          <a:ln w="1905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087368" y="1719072"/>
            <a:ext cx="91440" cy="1737360"/>
          </a:xfrm>
          <a:prstGeom prst="rect">
            <a:avLst/>
          </a:prstGeom>
          <a:solidFill>
            <a:srgbClr val="C40D1E"/>
          </a:solidFill>
          <a:ln w="1270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3128" y="2029968"/>
            <a:ext cx="2487168" cy="182880"/>
          </a:xfrm>
          <a:prstGeom prst="rect">
            <a:avLst/>
          </a:prstGeom>
          <a:noFill/>
        </p:spPr>
        <p:txBody>
          <a:bodyPr wrap="square" lIns="18288" rIns="18288" tIns="18288" bIns="18288" anchor="t">
            <a:spAutoFit/>
          </a:bodyPr>
          <a:lstStyle/>
          <a:p>
            <a:pPr algn="l"/>
            <a:r>
              <a:rPr sz="950" b="1" lang="en-US">
                <a:solidFill>
                  <a:srgbClr val="C40D1E"/>
                </a:solidFill>
                <a:latin typeface="Arial"/>
              </a:rPr>
              <a:t>THE TEMPTING SHORTCUT</a:t>
            </a:r>
          </a:p>
        </p:txBody>
      </p:sp>
      <p:sp>
        <p:nvSpPr>
          <p:cNvPr id="15" name="TextBox 14"/>
          <p:cNvSpPr txBox="1"/>
          <p:nvPr/>
        </p:nvSpPr>
        <p:spPr>
          <a:xfrm>
            <a:off x="4453128" y="2523744"/>
            <a:ext cx="2596896" cy="832104"/>
          </a:xfrm>
          <a:prstGeom prst="rect">
            <a:avLst/>
          </a:prstGeom>
          <a:noFill/>
        </p:spPr>
        <p:txBody>
          <a:bodyPr wrap="square" lIns="18288" rIns="18288" tIns="18288" bIns="18288" anchor="ctr">
            <a:spAutoFit/>
          </a:bodyPr>
          <a:lstStyle/>
          <a:p>
            <a:pPr algn="l"/>
            <a:r>
              <a:rPr sz="2500" b="1" lang="en-US">
                <a:solidFill>
                  <a:srgbClr val="434343"/>
                </a:solidFill>
                <a:latin typeface="Arial"/>
              </a:rPr>
              <a:t>“Can’t I just
ask an 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150" b="0" lang="en-US">
                <a:solidFill>
                  <a:srgbClr val="434343"/>
                </a:solidFill>
                <a:latin typeface="Arial"/>
              </a:rPr>
              <a:t>A trustworthy answer needs verifiable infrastructure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THE COMPUTER SCIENTIST'S RESPONSE</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4</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pic>
        <p:nvPicPr>
          <p:cNvPr id="8" name="Page 4 computer scientist illustration with tablet" descr="image.png"/>
          <p:cNvPicPr>
            <a:picLocks noChangeAspect="1"/>
          </p:cNvPicPr>
          <p:nvPr/>
        </p:nvPicPr>
        <p:blipFill>
          <a:blip r:embed="rId2"/>
          <a:stretch>
            <a:fillRect/>
          </a:stretch>
        </p:blipFill>
        <p:spPr>
          <a:xfrm>
            <a:off x="886968" y="1417320"/>
            <a:ext cx="7479792" cy="4169663"/>
          </a:xfrm>
          <a:prstGeom prst="rect">
            <a:avLst/>
          </a:prstGeom>
        </p:spPr>
      </p:pic>
      <p:sp>
        <p:nvSpPr>
          <p:cNvPr id="9" name="Rounded Rectangle 8"/>
          <p:cNvSpPr/>
          <p:nvPr/>
        </p:nvSpPr>
        <p:spPr>
          <a:xfrm>
            <a:off x="4892040" y="1719072"/>
            <a:ext cx="3218688" cy="1737360"/>
          </a:xfrm>
          <a:prstGeom prst="roundRect">
            <a:avLst/>
          </a:prstGeom>
          <a:solidFill>
            <a:srgbClr val="FFFFFF"/>
          </a:solidFill>
          <a:ln w="1905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019288" y="1719072"/>
            <a:ext cx="91440" cy="1737360"/>
          </a:xfrm>
          <a:prstGeom prst="rect">
            <a:avLst/>
          </a:prstGeom>
          <a:solidFill>
            <a:srgbClr val="C40D1E"/>
          </a:solidFill>
          <a:ln w="1270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93792" y="2029968"/>
            <a:ext cx="2542032" cy="182880"/>
          </a:xfrm>
          <a:prstGeom prst="rect">
            <a:avLst/>
          </a:prstGeom>
          <a:noFill/>
        </p:spPr>
        <p:txBody>
          <a:bodyPr wrap="square" lIns="18288" rIns="18288" tIns="18288" bIns="18288" anchor="t">
            <a:spAutoFit/>
          </a:bodyPr>
          <a:lstStyle/>
          <a:p>
            <a:pPr algn="l"/>
            <a:r>
              <a:rPr sz="950" b="1" lang="en-US">
                <a:solidFill>
                  <a:srgbClr val="C40D1E"/>
                </a:solidFill>
                <a:latin typeface="Arial"/>
              </a:rPr>
              <a:t>THE ENGINEERING RESPONSE</a:t>
            </a:r>
          </a:p>
        </p:txBody>
      </p:sp>
      <p:sp>
        <p:nvSpPr>
          <p:cNvPr id="12" name="TextBox 11"/>
          <p:cNvSpPr txBox="1"/>
          <p:nvPr/>
        </p:nvSpPr>
        <p:spPr>
          <a:xfrm>
            <a:off x="5074920" y="2468880"/>
            <a:ext cx="2889504" cy="786384"/>
          </a:xfrm>
          <a:prstGeom prst="rect">
            <a:avLst/>
          </a:prstGeom>
          <a:noFill/>
        </p:spPr>
        <p:txBody>
          <a:bodyPr wrap="square" lIns="18288" rIns="18288" tIns="18288" bIns="18288" anchor="ctr">
            <a:spAutoFit/>
          </a:bodyPr>
          <a:lstStyle/>
          <a:p>
            <a:pPr algn="l"/>
            <a:r>
              <a:rPr sz="1850" b="1" lang="en-US">
                <a:solidFill>
                  <a:srgbClr val="434343"/>
                </a:solidFill>
                <a:latin typeface="Arial"/>
              </a:rPr>
              <a:t>“Then we need more
than an AI model.”</a:t>
            </a:r>
          </a:p>
        </p:txBody>
      </p:sp>
      <p:sp>
        <p:nvSpPr>
          <p:cNvPr id="13" name="Rounded Rectangle 12"/>
          <p:cNvSpPr/>
          <p:nvPr/>
        </p:nvSpPr>
        <p:spPr>
          <a:xfrm>
            <a:off x="8759952" y="1417320"/>
            <a:ext cx="2825496" cy="3941063"/>
          </a:xfrm>
          <a:prstGeom prst="roundRect">
            <a:avLst/>
          </a:prstGeom>
          <a:solidFill>
            <a:srgbClr val="434343"/>
          </a:solidFill>
          <a:ln w="12700">
            <a:solidFill>
              <a:srgbClr val="4343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0" y="1627632"/>
            <a:ext cx="2423160" cy="182880"/>
          </a:xfrm>
          <a:prstGeom prst="rect">
            <a:avLst/>
          </a:prstGeom>
          <a:noFill/>
        </p:spPr>
        <p:txBody>
          <a:bodyPr wrap="square" lIns="18288" rIns="18288" tIns="18288" bIns="18288" anchor="t">
            <a:spAutoFit/>
          </a:bodyPr>
          <a:lstStyle/>
          <a:p>
            <a:pPr algn="ctr"/>
            <a:r>
              <a:rPr sz="819" b="1" lang="en-US">
                <a:solidFill>
                  <a:srgbClr val="FFFFFF"/>
                </a:solidFill>
                <a:latin typeface="Arial"/>
              </a:rPr>
              <a:t>REQUIRED SYSTEM ARCHITECTURE</a:t>
            </a:r>
          </a:p>
        </p:txBody>
      </p:sp>
      <p:cxnSp>
        <p:nvCxnSpPr>
          <p:cNvPr id="15" name="Page 4 technology icon: blockchain / 1"/>
          <p:cNvCxnSpPr/>
          <p:nvPr/>
        </p:nvCxnSpPr>
        <p:spPr>
          <a:xfrm>
            <a:off x="9450895" y="2199703"/>
            <a:ext cx="245174" cy="0"/>
          </a:xfrm>
          <a:prstGeom prst="line">
            <a:avLst/>
          </a:prstGeom>
          <a:ln w="26775" cap="rnd">
            <a:solidFill>
              <a:srgbClr val="83D49B"/>
            </a:solidFill>
          </a:ln>
        </p:spPr>
        <p:style>
          <a:lnRef idx="2">
            <a:schemeClr val="accent1"/>
          </a:lnRef>
          <a:fillRef idx="0">
            <a:schemeClr val="accent1"/>
          </a:fillRef>
          <a:effectRef idx="1">
            <a:schemeClr val="accent1"/>
          </a:effectRef>
          <a:fontRef idx="minor">
            <a:schemeClr val="tx1"/>
          </a:fontRef>
        </p:style>
      </p:cxnSp>
      <p:cxnSp>
        <p:nvCxnSpPr>
          <p:cNvPr id="16" name="Page 4 technology icon: blockchain / 2"/>
          <p:cNvCxnSpPr/>
          <p:nvPr/>
        </p:nvCxnSpPr>
        <p:spPr>
          <a:xfrm>
            <a:off x="9696069" y="2199703"/>
            <a:ext cx="0" cy="264033"/>
          </a:xfrm>
          <a:prstGeom prst="line">
            <a:avLst/>
          </a:prstGeom>
          <a:ln w="26775" cap="rnd">
            <a:solidFill>
              <a:srgbClr val="83D49B"/>
            </a:solidFill>
          </a:ln>
        </p:spPr>
        <p:style>
          <a:lnRef idx="2">
            <a:schemeClr val="accent1"/>
          </a:lnRef>
          <a:fillRef idx="0">
            <a:schemeClr val="accent1"/>
          </a:fillRef>
          <a:effectRef idx="1">
            <a:schemeClr val="accent1"/>
          </a:effectRef>
          <a:fontRef idx="minor">
            <a:schemeClr val="tx1"/>
          </a:fontRef>
        </p:style>
      </p:cxnSp>
      <p:cxnSp>
        <p:nvCxnSpPr>
          <p:cNvPr id="17" name="Page 4 technology icon: blockchain / 3"/>
          <p:cNvCxnSpPr/>
          <p:nvPr/>
        </p:nvCxnSpPr>
        <p:spPr>
          <a:xfrm flipH="1">
            <a:off x="9450895" y="2463736"/>
            <a:ext cx="245174" cy="0"/>
          </a:xfrm>
          <a:prstGeom prst="line">
            <a:avLst/>
          </a:prstGeom>
          <a:ln w="26775" cap="rnd">
            <a:solidFill>
              <a:srgbClr val="83D49B"/>
            </a:solidFill>
          </a:ln>
        </p:spPr>
        <p:style>
          <a:lnRef idx="2">
            <a:schemeClr val="accent1"/>
          </a:lnRef>
          <a:fillRef idx="0">
            <a:schemeClr val="accent1"/>
          </a:fillRef>
          <a:effectRef idx="1">
            <a:schemeClr val="accent1"/>
          </a:effectRef>
          <a:fontRef idx="minor">
            <a:schemeClr val="tx1"/>
          </a:fontRef>
        </p:style>
      </p:cxnSp>
      <p:cxnSp>
        <p:nvCxnSpPr>
          <p:cNvPr id="18" name="Page 4 technology icon: blockchain / 4"/>
          <p:cNvCxnSpPr/>
          <p:nvPr/>
        </p:nvCxnSpPr>
        <p:spPr>
          <a:xfrm flipV="1">
            <a:off x="9450895" y="2199703"/>
            <a:ext cx="0" cy="264033"/>
          </a:xfrm>
          <a:prstGeom prst="line">
            <a:avLst/>
          </a:prstGeom>
          <a:ln w="26775" cap="rnd">
            <a:solidFill>
              <a:srgbClr val="83D49B"/>
            </a:solidFill>
          </a:ln>
        </p:spPr>
        <p:style>
          <a:lnRef idx="2">
            <a:schemeClr val="accent1"/>
          </a:lnRef>
          <a:fillRef idx="0">
            <a:schemeClr val="accent1"/>
          </a:fillRef>
          <a:effectRef idx="1">
            <a:schemeClr val="accent1"/>
          </a:effectRef>
          <a:fontRef idx="minor">
            <a:schemeClr val="tx1"/>
          </a:fontRef>
        </p:style>
      </p:cxnSp>
      <p:sp>
        <p:nvSpPr>
          <p:cNvPr id="19" name="Page 4 technology icon: blockchain / 5"/>
          <p:cNvSpPr/>
          <p:nvPr/>
        </p:nvSpPr>
        <p:spPr>
          <a:xfrm>
            <a:off x="9356598" y="2105406"/>
            <a:ext cx="150876" cy="150876"/>
          </a:xfrm>
          <a:prstGeom prst="roundRect">
            <a:avLst/>
          </a:prstGeom>
          <a:solidFill>
            <a:srgbClr val="434343"/>
          </a:solidFill>
          <a:ln w="26775">
            <a:solidFill>
              <a:srgbClr val="83D4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age 4 technology icon: blockchain / 6"/>
          <p:cNvSpPr/>
          <p:nvPr/>
        </p:nvSpPr>
        <p:spPr>
          <a:xfrm>
            <a:off x="9658350" y="2105406"/>
            <a:ext cx="150876" cy="150876"/>
          </a:xfrm>
          <a:prstGeom prst="roundRect">
            <a:avLst/>
          </a:prstGeom>
          <a:solidFill>
            <a:srgbClr val="434343"/>
          </a:solidFill>
          <a:ln w="26775">
            <a:solidFill>
              <a:srgbClr val="83D4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age 4 technology icon: blockchain / 7"/>
          <p:cNvSpPr/>
          <p:nvPr/>
        </p:nvSpPr>
        <p:spPr>
          <a:xfrm>
            <a:off x="9356598" y="2407158"/>
            <a:ext cx="150876" cy="150876"/>
          </a:xfrm>
          <a:prstGeom prst="roundRect">
            <a:avLst/>
          </a:prstGeom>
          <a:solidFill>
            <a:srgbClr val="434343"/>
          </a:solidFill>
          <a:ln w="26775">
            <a:solidFill>
              <a:srgbClr val="83D4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age 4 technology icon: blockchain / 8"/>
          <p:cNvSpPr/>
          <p:nvPr/>
        </p:nvSpPr>
        <p:spPr>
          <a:xfrm>
            <a:off x="9658350" y="2407158"/>
            <a:ext cx="150876" cy="150876"/>
          </a:xfrm>
          <a:prstGeom prst="roundRect">
            <a:avLst/>
          </a:prstGeom>
          <a:solidFill>
            <a:srgbClr val="434343"/>
          </a:solidFill>
          <a:ln w="26775">
            <a:solidFill>
              <a:srgbClr val="83D4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Page 4 technology icon: encryption / 1"/>
          <p:cNvCxnSpPr/>
          <p:nvPr/>
        </p:nvCxnSpPr>
        <p:spPr>
          <a:xfrm flipV="1">
            <a:off x="10630471" y="2218563"/>
            <a:ext cx="0" cy="94297"/>
          </a:xfrm>
          <a:prstGeom prst="line">
            <a:avLst/>
          </a:prstGeom>
          <a:ln w="26775" cap="rnd">
            <a:solidFill>
              <a:srgbClr val="83D49B"/>
            </a:solidFill>
          </a:ln>
        </p:spPr>
        <p:style>
          <a:lnRef idx="2">
            <a:schemeClr val="accent1"/>
          </a:lnRef>
          <a:fillRef idx="0">
            <a:schemeClr val="accent1"/>
          </a:fillRef>
          <a:effectRef idx="1">
            <a:schemeClr val="accent1"/>
          </a:effectRef>
          <a:fontRef idx="minor">
            <a:schemeClr val="tx1"/>
          </a:fontRef>
        </p:style>
      </p:cxnSp>
      <p:cxnSp>
        <p:nvCxnSpPr>
          <p:cNvPr id="24" name="Page 4 technology icon: encryption / 2"/>
          <p:cNvCxnSpPr/>
          <p:nvPr/>
        </p:nvCxnSpPr>
        <p:spPr>
          <a:xfrm flipV="1">
            <a:off x="10630471" y="2175343"/>
            <a:ext cx="5195" cy="43220"/>
          </a:xfrm>
          <a:prstGeom prst="line">
            <a:avLst/>
          </a:prstGeom>
          <a:ln w="26775" cap="rnd">
            <a:solidFill>
              <a:srgbClr val="83D49B"/>
            </a:solidFill>
          </a:ln>
        </p:spPr>
        <p:style>
          <a:lnRef idx="2">
            <a:schemeClr val="accent1"/>
          </a:lnRef>
          <a:fillRef idx="0">
            <a:schemeClr val="accent1"/>
          </a:fillRef>
          <a:effectRef idx="1">
            <a:schemeClr val="accent1"/>
          </a:effectRef>
          <a:fontRef idx="minor">
            <a:schemeClr val="tx1"/>
          </a:fontRef>
        </p:style>
      </p:cxnSp>
      <p:cxnSp>
        <p:nvCxnSpPr>
          <p:cNvPr id="25" name="Page 4 technology icon: encryption / 3"/>
          <p:cNvCxnSpPr/>
          <p:nvPr/>
        </p:nvCxnSpPr>
        <p:spPr>
          <a:xfrm flipV="1">
            <a:off x="10635666" y="2139981"/>
            <a:ext cx="14363" cy="35362"/>
          </a:xfrm>
          <a:prstGeom prst="line">
            <a:avLst/>
          </a:prstGeom>
          <a:ln w="26775" cap="rnd">
            <a:solidFill>
              <a:srgbClr val="83D49B"/>
            </a:solidFill>
          </a:ln>
        </p:spPr>
        <p:style>
          <a:lnRef idx="2">
            <a:schemeClr val="accent1"/>
          </a:lnRef>
          <a:fillRef idx="0">
            <a:schemeClr val="accent1"/>
          </a:fillRef>
          <a:effectRef idx="1">
            <a:schemeClr val="accent1"/>
          </a:effectRef>
          <a:fontRef idx="minor">
            <a:schemeClr val="tx1"/>
          </a:fontRef>
        </p:style>
      </p:cxnSp>
      <p:cxnSp>
        <p:nvCxnSpPr>
          <p:cNvPr id="26" name="Page 4 technology icon: encryption / 4"/>
          <p:cNvCxnSpPr/>
          <p:nvPr/>
        </p:nvCxnSpPr>
        <p:spPr>
          <a:xfrm flipV="1">
            <a:off x="10650029" y="2112478"/>
            <a:ext cx="21697" cy="27503"/>
          </a:xfrm>
          <a:prstGeom prst="line">
            <a:avLst/>
          </a:prstGeom>
          <a:ln w="26775" cap="rnd">
            <a:solidFill>
              <a:srgbClr val="83D49B"/>
            </a:solidFill>
          </a:ln>
        </p:spPr>
        <p:style>
          <a:lnRef idx="2">
            <a:schemeClr val="accent1"/>
          </a:lnRef>
          <a:fillRef idx="0">
            <a:schemeClr val="accent1"/>
          </a:fillRef>
          <a:effectRef idx="1">
            <a:schemeClr val="accent1"/>
          </a:effectRef>
          <a:fontRef idx="minor">
            <a:schemeClr val="tx1"/>
          </a:fontRef>
        </p:style>
      </p:cxnSp>
      <p:cxnSp>
        <p:nvCxnSpPr>
          <p:cNvPr id="27" name="Page 4 technology icon: encryption / 5"/>
          <p:cNvCxnSpPr/>
          <p:nvPr/>
        </p:nvCxnSpPr>
        <p:spPr>
          <a:xfrm flipV="1">
            <a:off x="10671726" y="2092833"/>
            <a:ext cx="27198" cy="19645"/>
          </a:xfrm>
          <a:prstGeom prst="line">
            <a:avLst/>
          </a:prstGeom>
          <a:ln w="26775" cap="rnd">
            <a:solidFill>
              <a:srgbClr val="83D49B"/>
            </a:solidFill>
          </a:ln>
        </p:spPr>
        <p:style>
          <a:lnRef idx="2">
            <a:schemeClr val="accent1"/>
          </a:lnRef>
          <a:fillRef idx="0">
            <a:schemeClr val="accent1"/>
          </a:fillRef>
          <a:effectRef idx="1">
            <a:schemeClr val="accent1"/>
          </a:effectRef>
          <a:fontRef idx="minor">
            <a:schemeClr val="tx1"/>
          </a:fontRef>
        </p:style>
      </p:cxnSp>
      <p:cxnSp>
        <p:nvCxnSpPr>
          <p:cNvPr id="28" name="Page 4 technology icon: encryption / 6"/>
          <p:cNvCxnSpPr/>
          <p:nvPr/>
        </p:nvCxnSpPr>
        <p:spPr>
          <a:xfrm flipV="1">
            <a:off x="10698924" y="2081045"/>
            <a:ext cx="30865" cy="11788"/>
          </a:xfrm>
          <a:prstGeom prst="line">
            <a:avLst/>
          </a:prstGeom>
          <a:ln w="26775" cap="rnd">
            <a:solidFill>
              <a:srgbClr val="83D49B"/>
            </a:solidFill>
          </a:ln>
        </p:spPr>
        <p:style>
          <a:lnRef idx="2">
            <a:schemeClr val="accent1"/>
          </a:lnRef>
          <a:fillRef idx="0">
            <a:schemeClr val="accent1"/>
          </a:fillRef>
          <a:effectRef idx="1">
            <a:schemeClr val="accent1"/>
          </a:effectRef>
          <a:fontRef idx="minor">
            <a:schemeClr val="tx1"/>
          </a:fontRef>
        </p:style>
      </p:cxnSp>
      <p:cxnSp>
        <p:nvCxnSpPr>
          <p:cNvPr id="29" name="Page 4 technology icon: encryption / 7"/>
          <p:cNvCxnSpPr/>
          <p:nvPr/>
        </p:nvCxnSpPr>
        <p:spPr>
          <a:xfrm flipV="1">
            <a:off x="10729789" y="2077116"/>
            <a:ext cx="32699" cy="3929"/>
          </a:xfrm>
          <a:prstGeom prst="line">
            <a:avLst/>
          </a:prstGeom>
          <a:ln w="26775" cap="rnd">
            <a:solidFill>
              <a:srgbClr val="83D49B"/>
            </a:solidFill>
          </a:ln>
        </p:spPr>
        <p:style>
          <a:lnRef idx="2">
            <a:schemeClr val="accent1"/>
          </a:lnRef>
          <a:fillRef idx="0">
            <a:schemeClr val="accent1"/>
          </a:fillRef>
          <a:effectRef idx="1">
            <a:schemeClr val="accent1"/>
          </a:effectRef>
          <a:fontRef idx="minor">
            <a:schemeClr val="tx1"/>
          </a:fontRef>
        </p:style>
      </p:cxnSp>
      <p:cxnSp>
        <p:nvCxnSpPr>
          <p:cNvPr id="30" name="Page 4 technology icon: encryption / 8"/>
          <p:cNvCxnSpPr/>
          <p:nvPr/>
        </p:nvCxnSpPr>
        <p:spPr>
          <a:xfrm>
            <a:off x="10762488" y="2077116"/>
            <a:ext cx="32698" cy="3929"/>
          </a:xfrm>
          <a:prstGeom prst="line">
            <a:avLst/>
          </a:prstGeom>
          <a:ln w="26775" cap="rnd">
            <a:solidFill>
              <a:srgbClr val="83D49B"/>
            </a:solidFill>
          </a:ln>
        </p:spPr>
        <p:style>
          <a:lnRef idx="2">
            <a:schemeClr val="accent1"/>
          </a:lnRef>
          <a:fillRef idx="0">
            <a:schemeClr val="accent1"/>
          </a:fillRef>
          <a:effectRef idx="1">
            <a:schemeClr val="accent1"/>
          </a:effectRef>
          <a:fontRef idx="minor">
            <a:schemeClr val="tx1"/>
          </a:fontRef>
        </p:style>
      </p:cxnSp>
      <p:cxnSp>
        <p:nvCxnSpPr>
          <p:cNvPr id="31" name="Page 4 technology icon: encryption / 9"/>
          <p:cNvCxnSpPr/>
          <p:nvPr/>
        </p:nvCxnSpPr>
        <p:spPr>
          <a:xfrm>
            <a:off x="10795186" y="2081045"/>
            <a:ext cx="30865" cy="11788"/>
          </a:xfrm>
          <a:prstGeom prst="line">
            <a:avLst/>
          </a:prstGeom>
          <a:ln w="26775" cap="rnd">
            <a:solidFill>
              <a:srgbClr val="83D49B"/>
            </a:solidFill>
          </a:ln>
        </p:spPr>
        <p:style>
          <a:lnRef idx="2">
            <a:schemeClr val="accent1"/>
          </a:lnRef>
          <a:fillRef idx="0">
            <a:schemeClr val="accent1"/>
          </a:fillRef>
          <a:effectRef idx="1">
            <a:schemeClr val="accent1"/>
          </a:effectRef>
          <a:fontRef idx="minor">
            <a:schemeClr val="tx1"/>
          </a:fontRef>
        </p:style>
      </p:cxnSp>
      <p:cxnSp>
        <p:nvCxnSpPr>
          <p:cNvPr id="32" name="Page 4 technology icon: encryption / 10"/>
          <p:cNvCxnSpPr/>
          <p:nvPr/>
        </p:nvCxnSpPr>
        <p:spPr>
          <a:xfrm>
            <a:off x="10826051" y="2092833"/>
            <a:ext cx="27198" cy="19645"/>
          </a:xfrm>
          <a:prstGeom prst="line">
            <a:avLst/>
          </a:prstGeom>
          <a:ln w="26775" cap="rnd">
            <a:solidFill>
              <a:srgbClr val="83D49B"/>
            </a:solidFill>
          </a:ln>
        </p:spPr>
        <p:style>
          <a:lnRef idx="2">
            <a:schemeClr val="accent1"/>
          </a:lnRef>
          <a:fillRef idx="0">
            <a:schemeClr val="accent1"/>
          </a:fillRef>
          <a:effectRef idx="1">
            <a:schemeClr val="accent1"/>
          </a:effectRef>
          <a:fontRef idx="minor">
            <a:schemeClr val="tx1"/>
          </a:fontRef>
        </p:style>
      </p:cxnSp>
      <p:cxnSp>
        <p:nvCxnSpPr>
          <p:cNvPr id="33" name="Page 4 technology icon: encryption / 11"/>
          <p:cNvCxnSpPr/>
          <p:nvPr/>
        </p:nvCxnSpPr>
        <p:spPr>
          <a:xfrm>
            <a:off x="10853249" y="2112478"/>
            <a:ext cx="21697" cy="27503"/>
          </a:xfrm>
          <a:prstGeom prst="line">
            <a:avLst/>
          </a:prstGeom>
          <a:ln w="26775" cap="rnd">
            <a:solidFill>
              <a:srgbClr val="83D49B"/>
            </a:solidFill>
          </a:ln>
        </p:spPr>
        <p:style>
          <a:lnRef idx="2">
            <a:schemeClr val="accent1"/>
          </a:lnRef>
          <a:fillRef idx="0">
            <a:schemeClr val="accent1"/>
          </a:fillRef>
          <a:effectRef idx="1">
            <a:schemeClr val="accent1"/>
          </a:effectRef>
          <a:fontRef idx="minor">
            <a:schemeClr val="tx1"/>
          </a:fontRef>
        </p:style>
      </p:cxnSp>
      <p:cxnSp>
        <p:nvCxnSpPr>
          <p:cNvPr id="34" name="Page 4 technology icon: encryption / 12"/>
          <p:cNvCxnSpPr/>
          <p:nvPr/>
        </p:nvCxnSpPr>
        <p:spPr>
          <a:xfrm>
            <a:off x="10874946" y="2139981"/>
            <a:ext cx="14363" cy="35362"/>
          </a:xfrm>
          <a:prstGeom prst="line">
            <a:avLst/>
          </a:prstGeom>
          <a:ln w="26775" cap="rnd">
            <a:solidFill>
              <a:srgbClr val="83D49B"/>
            </a:solidFill>
          </a:ln>
        </p:spPr>
        <p:style>
          <a:lnRef idx="2">
            <a:schemeClr val="accent1"/>
          </a:lnRef>
          <a:fillRef idx="0">
            <a:schemeClr val="accent1"/>
          </a:fillRef>
          <a:effectRef idx="1">
            <a:schemeClr val="accent1"/>
          </a:effectRef>
          <a:fontRef idx="minor">
            <a:schemeClr val="tx1"/>
          </a:fontRef>
        </p:style>
      </p:cxnSp>
      <p:cxnSp>
        <p:nvCxnSpPr>
          <p:cNvPr id="35" name="Page 4 technology icon: encryption / 13"/>
          <p:cNvCxnSpPr/>
          <p:nvPr/>
        </p:nvCxnSpPr>
        <p:spPr>
          <a:xfrm>
            <a:off x="10889309" y="2175343"/>
            <a:ext cx="5195" cy="43220"/>
          </a:xfrm>
          <a:prstGeom prst="line">
            <a:avLst/>
          </a:prstGeom>
          <a:ln w="26775" cap="rnd">
            <a:solidFill>
              <a:srgbClr val="83D49B"/>
            </a:solidFill>
          </a:ln>
        </p:spPr>
        <p:style>
          <a:lnRef idx="2">
            <a:schemeClr val="accent1"/>
          </a:lnRef>
          <a:fillRef idx="0">
            <a:schemeClr val="accent1"/>
          </a:fillRef>
          <a:effectRef idx="1">
            <a:schemeClr val="accent1"/>
          </a:effectRef>
          <a:fontRef idx="minor">
            <a:schemeClr val="tx1"/>
          </a:fontRef>
        </p:style>
      </p:cxnSp>
      <p:cxnSp>
        <p:nvCxnSpPr>
          <p:cNvPr id="36" name="Page 4 technology icon: encryption / 14"/>
          <p:cNvCxnSpPr/>
          <p:nvPr/>
        </p:nvCxnSpPr>
        <p:spPr>
          <a:xfrm>
            <a:off x="10894504" y="2218563"/>
            <a:ext cx="0" cy="94297"/>
          </a:xfrm>
          <a:prstGeom prst="line">
            <a:avLst/>
          </a:prstGeom>
          <a:ln w="26775" cap="rnd">
            <a:solidFill>
              <a:srgbClr val="83D49B"/>
            </a:solidFill>
          </a:ln>
        </p:spPr>
        <p:style>
          <a:lnRef idx="2">
            <a:schemeClr val="accent1"/>
          </a:lnRef>
          <a:fillRef idx="0">
            <a:schemeClr val="accent1"/>
          </a:fillRef>
          <a:effectRef idx="1">
            <a:schemeClr val="accent1"/>
          </a:effectRef>
          <a:fontRef idx="minor">
            <a:schemeClr val="tx1"/>
          </a:fontRef>
        </p:style>
      </p:cxnSp>
      <p:sp>
        <p:nvSpPr>
          <p:cNvPr id="37" name="Page 4 technology icon: encryption / 15"/>
          <p:cNvSpPr/>
          <p:nvPr/>
        </p:nvSpPr>
        <p:spPr>
          <a:xfrm>
            <a:off x="10555033" y="2275141"/>
            <a:ext cx="414909" cy="301752"/>
          </a:xfrm>
          <a:prstGeom prst="roundRect">
            <a:avLst/>
          </a:prstGeom>
          <a:solidFill>
            <a:srgbClr val="434343"/>
          </a:solidFill>
          <a:ln w="26775">
            <a:solidFill>
              <a:srgbClr val="83D4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Page 4 technology icon: encryption / 16"/>
          <p:cNvSpPr/>
          <p:nvPr/>
        </p:nvSpPr>
        <p:spPr>
          <a:xfrm>
            <a:off x="10734198" y="2369439"/>
            <a:ext cx="56578" cy="56578"/>
          </a:xfrm>
          <a:prstGeom prst="ellipse">
            <a:avLst/>
          </a:prstGeom>
          <a:solidFill>
            <a:srgbClr val="83D49B"/>
          </a:solidFill>
          <a:ln w="26775">
            <a:solidFill>
              <a:srgbClr val="83D4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Page 4 technology icon: encryption / 17"/>
          <p:cNvCxnSpPr/>
          <p:nvPr/>
        </p:nvCxnSpPr>
        <p:spPr>
          <a:xfrm>
            <a:off x="10762488" y="2426017"/>
            <a:ext cx="0" cy="56579"/>
          </a:xfrm>
          <a:prstGeom prst="line">
            <a:avLst/>
          </a:prstGeom>
          <a:ln w="26775" cap="rnd">
            <a:solidFill>
              <a:srgbClr val="83D49B"/>
            </a:solidFill>
          </a:ln>
        </p:spPr>
        <p:style>
          <a:lnRef idx="2">
            <a:schemeClr val="accent1"/>
          </a:lnRef>
          <a:fillRef idx="0">
            <a:schemeClr val="accent1"/>
          </a:fillRef>
          <a:effectRef idx="1">
            <a:schemeClr val="accent1"/>
          </a:effectRef>
          <a:fontRef idx="minor">
            <a:schemeClr val="tx1"/>
          </a:fontRef>
        </p:style>
      </p:cxnSp>
      <p:sp>
        <p:nvSpPr>
          <p:cNvPr id="40" name="Page 4 technology icon: zk / 1"/>
          <p:cNvSpPr/>
          <p:nvPr/>
        </p:nvSpPr>
        <p:spPr>
          <a:xfrm>
            <a:off x="9318879" y="2881503"/>
            <a:ext cx="528066" cy="528066"/>
          </a:xfrm>
          <a:prstGeom prst="ellipse">
            <a:avLst/>
          </a:prstGeom>
          <a:solidFill>
            <a:srgbClr val="434343"/>
          </a:solidFill>
          <a:ln w="26775">
            <a:solidFill>
              <a:srgbClr val="86C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Page 4 technology icon: zk / 2"/>
          <p:cNvSpPr txBox="1"/>
          <p:nvPr/>
        </p:nvSpPr>
        <p:spPr>
          <a:xfrm>
            <a:off x="9356598" y="2956941"/>
            <a:ext cx="452628" cy="377190"/>
          </a:xfrm>
          <a:prstGeom prst="rect">
            <a:avLst/>
          </a:prstGeom>
          <a:noFill/>
        </p:spPr>
        <p:txBody>
          <a:bodyPr wrap="none" lIns="0" rIns="0" tIns="0" bIns="0" anchor="ctr">
            <a:spAutoFit/>
          </a:bodyPr>
          <a:lstStyle/>
          <a:p>
            <a:pPr algn="ctr"/>
            <a:r>
              <a:rPr sz="1466" b="1">
                <a:solidFill>
                  <a:srgbClr val="86CEEF"/>
                </a:solidFill>
                <a:latin typeface="Arial"/>
              </a:rPr>
              <a:t>ZK</a:t>
            </a:r>
          </a:p>
        </p:txBody>
      </p:sp>
      <p:cxnSp>
        <p:nvCxnSpPr>
          <p:cNvPr id="42" name="Page 4 technology icon: tee / 1"/>
          <p:cNvCxnSpPr/>
          <p:nvPr/>
        </p:nvCxnSpPr>
        <p:spPr>
          <a:xfrm>
            <a:off x="10649331" y="2881503"/>
            <a:ext cx="0" cy="75438"/>
          </a:xfrm>
          <a:prstGeom prst="line">
            <a:avLst/>
          </a:prstGeom>
          <a:ln w="2677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43" name="Page 4 technology icon: tee / 2"/>
          <p:cNvCxnSpPr/>
          <p:nvPr/>
        </p:nvCxnSpPr>
        <p:spPr>
          <a:xfrm>
            <a:off x="10649331" y="3334131"/>
            <a:ext cx="0" cy="75438"/>
          </a:xfrm>
          <a:prstGeom prst="line">
            <a:avLst/>
          </a:prstGeom>
          <a:ln w="2677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44" name="Page 4 technology icon: tee / 3"/>
          <p:cNvCxnSpPr/>
          <p:nvPr/>
        </p:nvCxnSpPr>
        <p:spPr>
          <a:xfrm>
            <a:off x="10498455" y="3032379"/>
            <a:ext cx="75437" cy="0"/>
          </a:xfrm>
          <a:prstGeom prst="line">
            <a:avLst/>
          </a:prstGeom>
          <a:ln w="2677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45" name="Page 4 technology icon: tee / 4"/>
          <p:cNvCxnSpPr/>
          <p:nvPr/>
        </p:nvCxnSpPr>
        <p:spPr>
          <a:xfrm>
            <a:off x="10951083" y="3032379"/>
            <a:ext cx="75438" cy="0"/>
          </a:xfrm>
          <a:prstGeom prst="line">
            <a:avLst/>
          </a:prstGeom>
          <a:ln w="2677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46" name="Page 4 technology icon: tee / 5"/>
          <p:cNvCxnSpPr/>
          <p:nvPr/>
        </p:nvCxnSpPr>
        <p:spPr>
          <a:xfrm>
            <a:off x="10762488" y="2881503"/>
            <a:ext cx="0" cy="75438"/>
          </a:xfrm>
          <a:prstGeom prst="line">
            <a:avLst/>
          </a:prstGeom>
          <a:ln w="2677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47" name="Page 4 technology icon: tee / 6"/>
          <p:cNvCxnSpPr/>
          <p:nvPr/>
        </p:nvCxnSpPr>
        <p:spPr>
          <a:xfrm>
            <a:off x="10762488" y="3334131"/>
            <a:ext cx="0" cy="75438"/>
          </a:xfrm>
          <a:prstGeom prst="line">
            <a:avLst/>
          </a:prstGeom>
          <a:ln w="2677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48" name="Page 4 technology icon: tee / 7"/>
          <p:cNvCxnSpPr/>
          <p:nvPr/>
        </p:nvCxnSpPr>
        <p:spPr>
          <a:xfrm>
            <a:off x="10498455" y="3145536"/>
            <a:ext cx="75437" cy="0"/>
          </a:xfrm>
          <a:prstGeom prst="line">
            <a:avLst/>
          </a:prstGeom>
          <a:ln w="2677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49" name="Page 4 technology icon: tee / 8"/>
          <p:cNvCxnSpPr/>
          <p:nvPr/>
        </p:nvCxnSpPr>
        <p:spPr>
          <a:xfrm>
            <a:off x="10951083" y="3145536"/>
            <a:ext cx="75438" cy="0"/>
          </a:xfrm>
          <a:prstGeom prst="line">
            <a:avLst/>
          </a:prstGeom>
          <a:ln w="2677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50" name="Page 4 technology icon: tee / 9"/>
          <p:cNvCxnSpPr/>
          <p:nvPr/>
        </p:nvCxnSpPr>
        <p:spPr>
          <a:xfrm>
            <a:off x="10875644" y="2881503"/>
            <a:ext cx="0" cy="75438"/>
          </a:xfrm>
          <a:prstGeom prst="line">
            <a:avLst/>
          </a:prstGeom>
          <a:ln w="2677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51" name="Page 4 technology icon: tee / 10"/>
          <p:cNvCxnSpPr/>
          <p:nvPr/>
        </p:nvCxnSpPr>
        <p:spPr>
          <a:xfrm>
            <a:off x="10875644" y="3334131"/>
            <a:ext cx="0" cy="75438"/>
          </a:xfrm>
          <a:prstGeom prst="line">
            <a:avLst/>
          </a:prstGeom>
          <a:ln w="2677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52" name="Page 4 technology icon: tee / 11"/>
          <p:cNvCxnSpPr/>
          <p:nvPr/>
        </p:nvCxnSpPr>
        <p:spPr>
          <a:xfrm>
            <a:off x="10498455" y="3258693"/>
            <a:ext cx="75437" cy="0"/>
          </a:xfrm>
          <a:prstGeom prst="line">
            <a:avLst/>
          </a:prstGeom>
          <a:ln w="2677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53" name="Page 4 technology icon: tee / 12"/>
          <p:cNvCxnSpPr/>
          <p:nvPr/>
        </p:nvCxnSpPr>
        <p:spPr>
          <a:xfrm>
            <a:off x="10951083" y="3258693"/>
            <a:ext cx="75438" cy="0"/>
          </a:xfrm>
          <a:prstGeom prst="line">
            <a:avLst/>
          </a:prstGeom>
          <a:ln w="26775" cap="rnd">
            <a:solidFill>
              <a:srgbClr val="86CEEF"/>
            </a:solidFill>
          </a:ln>
        </p:spPr>
        <p:style>
          <a:lnRef idx="2">
            <a:schemeClr val="accent1"/>
          </a:lnRef>
          <a:fillRef idx="0">
            <a:schemeClr val="accent1"/>
          </a:fillRef>
          <a:effectRef idx="1">
            <a:schemeClr val="accent1"/>
          </a:effectRef>
          <a:fontRef idx="minor">
            <a:schemeClr val="tx1"/>
          </a:fontRef>
        </p:style>
      </p:cxnSp>
      <p:sp>
        <p:nvSpPr>
          <p:cNvPr id="54" name="Page 4 technology icon: tee / 13"/>
          <p:cNvSpPr/>
          <p:nvPr/>
        </p:nvSpPr>
        <p:spPr>
          <a:xfrm>
            <a:off x="10573892" y="2956941"/>
            <a:ext cx="377190" cy="377190"/>
          </a:xfrm>
          <a:prstGeom prst="roundRect">
            <a:avLst/>
          </a:prstGeom>
          <a:solidFill>
            <a:srgbClr val="434343"/>
          </a:solidFill>
          <a:ln w="26775">
            <a:solidFill>
              <a:srgbClr val="86C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5" name="Page 4 technology icon: tee / 14"/>
          <p:cNvCxnSpPr/>
          <p:nvPr/>
        </p:nvCxnSpPr>
        <p:spPr>
          <a:xfrm flipV="1">
            <a:off x="10687050" y="3070098"/>
            <a:ext cx="0" cy="56578"/>
          </a:xfrm>
          <a:prstGeom prst="line">
            <a:avLst/>
          </a:prstGeom>
          <a:ln w="2095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56" name="Page 4 technology icon: tee / 15"/>
          <p:cNvCxnSpPr/>
          <p:nvPr/>
        </p:nvCxnSpPr>
        <p:spPr>
          <a:xfrm flipV="1">
            <a:off x="10687050" y="3048488"/>
            <a:ext cx="2968" cy="21610"/>
          </a:xfrm>
          <a:prstGeom prst="line">
            <a:avLst/>
          </a:prstGeom>
          <a:ln w="2095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57" name="Page 4 technology icon: tee / 16"/>
          <p:cNvCxnSpPr/>
          <p:nvPr/>
        </p:nvCxnSpPr>
        <p:spPr>
          <a:xfrm flipV="1">
            <a:off x="10690018" y="3030807"/>
            <a:ext cx="8208" cy="17681"/>
          </a:xfrm>
          <a:prstGeom prst="line">
            <a:avLst/>
          </a:prstGeom>
          <a:ln w="2095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58" name="Page 4 technology icon: tee / 17"/>
          <p:cNvCxnSpPr/>
          <p:nvPr/>
        </p:nvCxnSpPr>
        <p:spPr>
          <a:xfrm flipV="1">
            <a:off x="10698226" y="3017055"/>
            <a:ext cx="12398" cy="13752"/>
          </a:xfrm>
          <a:prstGeom prst="line">
            <a:avLst/>
          </a:prstGeom>
          <a:ln w="2095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59" name="Page 4 technology icon: tee / 18"/>
          <p:cNvCxnSpPr/>
          <p:nvPr/>
        </p:nvCxnSpPr>
        <p:spPr>
          <a:xfrm flipV="1">
            <a:off x="10710624" y="3007233"/>
            <a:ext cx="15542" cy="9822"/>
          </a:xfrm>
          <a:prstGeom prst="line">
            <a:avLst/>
          </a:prstGeom>
          <a:ln w="2095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60" name="Page 4 technology icon: tee / 19"/>
          <p:cNvCxnSpPr/>
          <p:nvPr/>
        </p:nvCxnSpPr>
        <p:spPr>
          <a:xfrm flipV="1">
            <a:off x="10726166" y="3001339"/>
            <a:ext cx="17637" cy="5894"/>
          </a:xfrm>
          <a:prstGeom prst="line">
            <a:avLst/>
          </a:prstGeom>
          <a:ln w="2095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61" name="Page 4 technology icon: tee / 20"/>
          <p:cNvCxnSpPr/>
          <p:nvPr/>
        </p:nvCxnSpPr>
        <p:spPr>
          <a:xfrm flipV="1">
            <a:off x="10743803" y="2999374"/>
            <a:ext cx="18685" cy="1965"/>
          </a:xfrm>
          <a:prstGeom prst="line">
            <a:avLst/>
          </a:prstGeom>
          <a:ln w="2095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62" name="Page 4 technology icon: tee / 21"/>
          <p:cNvCxnSpPr/>
          <p:nvPr/>
        </p:nvCxnSpPr>
        <p:spPr>
          <a:xfrm>
            <a:off x="10762488" y="2999374"/>
            <a:ext cx="18684" cy="1965"/>
          </a:xfrm>
          <a:prstGeom prst="line">
            <a:avLst/>
          </a:prstGeom>
          <a:ln w="2095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63" name="Page 4 technology icon: tee / 22"/>
          <p:cNvCxnSpPr/>
          <p:nvPr/>
        </p:nvCxnSpPr>
        <p:spPr>
          <a:xfrm>
            <a:off x="10781172" y="3001339"/>
            <a:ext cx="17638" cy="5894"/>
          </a:xfrm>
          <a:prstGeom prst="line">
            <a:avLst/>
          </a:prstGeom>
          <a:ln w="2095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64" name="Page 4 technology icon: tee / 23"/>
          <p:cNvCxnSpPr/>
          <p:nvPr/>
        </p:nvCxnSpPr>
        <p:spPr>
          <a:xfrm>
            <a:off x="10798810" y="3007233"/>
            <a:ext cx="15541" cy="9822"/>
          </a:xfrm>
          <a:prstGeom prst="line">
            <a:avLst/>
          </a:prstGeom>
          <a:ln w="2095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65" name="Page 4 technology icon: tee / 24"/>
          <p:cNvCxnSpPr/>
          <p:nvPr/>
        </p:nvCxnSpPr>
        <p:spPr>
          <a:xfrm>
            <a:off x="10814351" y="3017055"/>
            <a:ext cx="12399" cy="13752"/>
          </a:xfrm>
          <a:prstGeom prst="line">
            <a:avLst/>
          </a:prstGeom>
          <a:ln w="2095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66" name="Page 4 technology icon: tee / 25"/>
          <p:cNvCxnSpPr/>
          <p:nvPr/>
        </p:nvCxnSpPr>
        <p:spPr>
          <a:xfrm>
            <a:off x="10826750" y="3030807"/>
            <a:ext cx="8207" cy="17681"/>
          </a:xfrm>
          <a:prstGeom prst="line">
            <a:avLst/>
          </a:prstGeom>
          <a:ln w="2095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67" name="Page 4 technology icon: tee / 26"/>
          <p:cNvCxnSpPr/>
          <p:nvPr/>
        </p:nvCxnSpPr>
        <p:spPr>
          <a:xfrm>
            <a:off x="10834957" y="3048488"/>
            <a:ext cx="2969" cy="21610"/>
          </a:xfrm>
          <a:prstGeom prst="line">
            <a:avLst/>
          </a:prstGeom>
          <a:ln w="2095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68" name="Page 4 technology icon: tee / 27"/>
          <p:cNvCxnSpPr/>
          <p:nvPr/>
        </p:nvCxnSpPr>
        <p:spPr>
          <a:xfrm>
            <a:off x="10837926" y="3070098"/>
            <a:ext cx="0" cy="56578"/>
          </a:xfrm>
          <a:prstGeom prst="line">
            <a:avLst/>
          </a:prstGeom>
          <a:ln w="20955" cap="rnd">
            <a:solidFill>
              <a:srgbClr val="86CEEF"/>
            </a:solidFill>
          </a:ln>
        </p:spPr>
        <p:style>
          <a:lnRef idx="2">
            <a:schemeClr val="accent1"/>
          </a:lnRef>
          <a:fillRef idx="0">
            <a:schemeClr val="accent1"/>
          </a:fillRef>
          <a:effectRef idx="1">
            <a:schemeClr val="accent1"/>
          </a:effectRef>
          <a:fontRef idx="minor">
            <a:schemeClr val="tx1"/>
          </a:fontRef>
        </p:style>
      </p:cxnSp>
      <p:sp>
        <p:nvSpPr>
          <p:cNvPr id="69" name="Page 4 technology icon: tee / 28"/>
          <p:cNvSpPr/>
          <p:nvPr/>
        </p:nvSpPr>
        <p:spPr>
          <a:xfrm>
            <a:off x="10668190" y="3107817"/>
            <a:ext cx="188595" cy="150876"/>
          </a:xfrm>
          <a:prstGeom prst="roundRect">
            <a:avLst/>
          </a:prstGeom>
          <a:solidFill>
            <a:srgbClr val="434343"/>
          </a:solidFill>
          <a:ln w="26775">
            <a:solidFill>
              <a:srgbClr val="86C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Page 4 technology icon: attestation / 1"/>
          <p:cNvCxnSpPr/>
          <p:nvPr/>
        </p:nvCxnSpPr>
        <p:spPr>
          <a:xfrm flipH="1">
            <a:off x="9394317" y="3714178"/>
            <a:ext cx="264033" cy="0"/>
          </a:xfrm>
          <a:prstGeom prst="line">
            <a:avLst/>
          </a:prstGeom>
          <a:ln w="2677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71" name="Page 4 technology icon: attestation / 2"/>
          <p:cNvCxnSpPr/>
          <p:nvPr/>
        </p:nvCxnSpPr>
        <p:spPr>
          <a:xfrm>
            <a:off x="9394317" y="3714178"/>
            <a:ext cx="0" cy="490347"/>
          </a:xfrm>
          <a:prstGeom prst="line">
            <a:avLst/>
          </a:prstGeom>
          <a:ln w="2677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72" name="Page 4 technology icon: attestation / 3"/>
          <p:cNvCxnSpPr/>
          <p:nvPr/>
        </p:nvCxnSpPr>
        <p:spPr>
          <a:xfrm>
            <a:off x="9394317" y="4204525"/>
            <a:ext cx="377190" cy="0"/>
          </a:xfrm>
          <a:prstGeom prst="line">
            <a:avLst/>
          </a:prstGeom>
          <a:ln w="2677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73" name="Page 4 technology icon: attestation / 4"/>
          <p:cNvCxnSpPr/>
          <p:nvPr/>
        </p:nvCxnSpPr>
        <p:spPr>
          <a:xfrm flipV="1">
            <a:off x="9771507" y="3827335"/>
            <a:ext cx="0" cy="377190"/>
          </a:xfrm>
          <a:prstGeom prst="line">
            <a:avLst/>
          </a:prstGeom>
          <a:ln w="2677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74" name="Page 4 technology icon: attestation / 5"/>
          <p:cNvCxnSpPr/>
          <p:nvPr/>
        </p:nvCxnSpPr>
        <p:spPr>
          <a:xfrm flipH="1" flipV="1">
            <a:off x="9658350" y="3714178"/>
            <a:ext cx="113157" cy="113157"/>
          </a:xfrm>
          <a:prstGeom prst="line">
            <a:avLst/>
          </a:prstGeom>
          <a:ln w="2677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75" name="Page 4 technology icon: attestation / 6"/>
          <p:cNvCxnSpPr/>
          <p:nvPr/>
        </p:nvCxnSpPr>
        <p:spPr>
          <a:xfrm>
            <a:off x="9658350" y="3714178"/>
            <a:ext cx="0" cy="113157"/>
          </a:xfrm>
          <a:prstGeom prst="line">
            <a:avLst/>
          </a:prstGeom>
          <a:ln w="2677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76" name="Page 4 technology icon: attestation / 7"/>
          <p:cNvCxnSpPr/>
          <p:nvPr/>
        </p:nvCxnSpPr>
        <p:spPr>
          <a:xfrm>
            <a:off x="9658350" y="3827335"/>
            <a:ext cx="113157" cy="0"/>
          </a:xfrm>
          <a:prstGeom prst="line">
            <a:avLst/>
          </a:prstGeom>
          <a:ln w="2677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77" name="Page 4 technology icon: attestation / 8"/>
          <p:cNvCxnSpPr/>
          <p:nvPr/>
        </p:nvCxnSpPr>
        <p:spPr>
          <a:xfrm>
            <a:off x="9469755" y="3883913"/>
            <a:ext cx="132016" cy="0"/>
          </a:xfrm>
          <a:prstGeom prst="line">
            <a:avLst/>
          </a:prstGeom>
          <a:ln w="2095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78" name="Page 4 technology icon: attestation / 9"/>
          <p:cNvCxnSpPr/>
          <p:nvPr/>
        </p:nvCxnSpPr>
        <p:spPr>
          <a:xfrm>
            <a:off x="9469755" y="3959352"/>
            <a:ext cx="94297" cy="0"/>
          </a:xfrm>
          <a:prstGeom prst="line">
            <a:avLst/>
          </a:prstGeom>
          <a:ln w="2095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79" name="Page 4 technology icon: attestation / 10"/>
          <p:cNvCxnSpPr/>
          <p:nvPr/>
        </p:nvCxnSpPr>
        <p:spPr>
          <a:xfrm>
            <a:off x="9488614" y="4072509"/>
            <a:ext cx="75438" cy="75438"/>
          </a:xfrm>
          <a:prstGeom prst="line">
            <a:avLst/>
          </a:prstGeom>
          <a:ln w="3492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80" name="Page 4 technology icon: attestation / 11"/>
          <p:cNvCxnSpPr/>
          <p:nvPr/>
        </p:nvCxnSpPr>
        <p:spPr>
          <a:xfrm flipV="1">
            <a:off x="9564052" y="3978211"/>
            <a:ext cx="169736" cy="169736"/>
          </a:xfrm>
          <a:prstGeom prst="line">
            <a:avLst/>
          </a:prstGeom>
          <a:ln w="3492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81" name="Page 4 technology icon: dfl / 1"/>
          <p:cNvCxnSpPr/>
          <p:nvPr/>
        </p:nvCxnSpPr>
        <p:spPr>
          <a:xfrm>
            <a:off x="10762488" y="3751897"/>
            <a:ext cx="226314" cy="169736"/>
          </a:xfrm>
          <a:prstGeom prst="line">
            <a:avLst/>
          </a:prstGeom>
          <a:ln w="2677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82" name="Page 4 technology icon: dfl / 2"/>
          <p:cNvCxnSpPr/>
          <p:nvPr/>
        </p:nvCxnSpPr>
        <p:spPr>
          <a:xfrm flipH="1">
            <a:off x="10894504" y="3921633"/>
            <a:ext cx="94298" cy="245173"/>
          </a:xfrm>
          <a:prstGeom prst="line">
            <a:avLst/>
          </a:prstGeom>
          <a:ln w="2677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83" name="Page 4 technology icon: dfl / 3"/>
          <p:cNvCxnSpPr/>
          <p:nvPr/>
        </p:nvCxnSpPr>
        <p:spPr>
          <a:xfrm flipH="1">
            <a:off x="10630471" y="4166806"/>
            <a:ext cx="264033" cy="0"/>
          </a:xfrm>
          <a:prstGeom prst="line">
            <a:avLst/>
          </a:prstGeom>
          <a:ln w="2677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84" name="Page 4 technology icon: dfl / 4"/>
          <p:cNvCxnSpPr/>
          <p:nvPr/>
        </p:nvCxnSpPr>
        <p:spPr>
          <a:xfrm flipH="1" flipV="1">
            <a:off x="10536174" y="3921633"/>
            <a:ext cx="94297" cy="245173"/>
          </a:xfrm>
          <a:prstGeom prst="line">
            <a:avLst/>
          </a:prstGeom>
          <a:ln w="2677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85" name="Page 4 technology icon: dfl / 5"/>
          <p:cNvCxnSpPr/>
          <p:nvPr/>
        </p:nvCxnSpPr>
        <p:spPr>
          <a:xfrm flipV="1">
            <a:off x="10536174" y="3751897"/>
            <a:ext cx="226314" cy="169736"/>
          </a:xfrm>
          <a:prstGeom prst="line">
            <a:avLst/>
          </a:prstGeom>
          <a:ln w="26775"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86" name="Page 4 technology icon: dfl / 6"/>
          <p:cNvCxnSpPr/>
          <p:nvPr/>
        </p:nvCxnSpPr>
        <p:spPr>
          <a:xfrm>
            <a:off x="10762488" y="3751897"/>
            <a:ext cx="132016" cy="414909"/>
          </a:xfrm>
          <a:prstGeom prst="line">
            <a:avLst/>
          </a:prstGeom>
          <a:ln w="18626"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87" name="Page 4 technology icon: dfl / 7"/>
          <p:cNvCxnSpPr/>
          <p:nvPr/>
        </p:nvCxnSpPr>
        <p:spPr>
          <a:xfrm flipH="1" flipV="1">
            <a:off x="10536174" y="3921633"/>
            <a:ext cx="358330" cy="245173"/>
          </a:xfrm>
          <a:prstGeom prst="line">
            <a:avLst/>
          </a:prstGeom>
          <a:ln w="18626"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88" name="Page 4 technology icon: dfl / 8"/>
          <p:cNvCxnSpPr/>
          <p:nvPr/>
        </p:nvCxnSpPr>
        <p:spPr>
          <a:xfrm>
            <a:off x="10536174" y="3921633"/>
            <a:ext cx="452628" cy="0"/>
          </a:xfrm>
          <a:prstGeom prst="line">
            <a:avLst/>
          </a:prstGeom>
          <a:ln w="18626"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89" name="Page 4 technology icon: dfl / 9"/>
          <p:cNvCxnSpPr/>
          <p:nvPr/>
        </p:nvCxnSpPr>
        <p:spPr>
          <a:xfrm flipH="1">
            <a:off x="10630471" y="3921633"/>
            <a:ext cx="358331" cy="245173"/>
          </a:xfrm>
          <a:prstGeom prst="line">
            <a:avLst/>
          </a:prstGeom>
          <a:ln w="18626" cap="rnd">
            <a:solidFill>
              <a:srgbClr val="86CEEF"/>
            </a:solidFill>
          </a:ln>
        </p:spPr>
        <p:style>
          <a:lnRef idx="2">
            <a:schemeClr val="accent1"/>
          </a:lnRef>
          <a:fillRef idx="0">
            <a:schemeClr val="accent1"/>
          </a:fillRef>
          <a:effectRef idx="1">
            <a:schemeClr val="accent1"/>
          </a:effectRef>
          <a:fontRef idx="minor">
            <a:schemeClr val="tx1"/>
          </a:fontRef>
        </p:style>
      </p:cxnSp>
      <p:cxnSp>
        <p:nvCxnSpPr>
          <p:cNvPr id="90" name="Page 4 technology icon: dfl / 10"/>
          <p:cNvCxnSpPr/>
          <p:nvPr/>
        </p:nvCxnSpPr>
        <p:spPr>
          <a:xfrm flipV="1">
            <a:off x="10630471" y="3751897"/>
            <a:ext cx="132017" cy="414909"/>
          </a:xfrm>
          <a:prstGeom prst="line">
            <a:avLst/>
          </a:prstGeom>
          <a:ln w="18626" cap="rnd">
            <a:solidFill>
              <a:srgbClr val="86CEEF"/>
            </a:solidFill>
          </a:ln>
        </p:spPr>
        <p:style>
          <a:lnRef idx="2">
            <a:schemeClr val="accent1"/>
          </a:lnRef>
          <a:fillRef idx="0">
            <a:schemeClr val="accent1"/>
          </a:fillRef>
          <a:effectRef idx="1">
            <a:schemeClr val="accent1"/>
          </a:effectRef>
          <a:fontRef idx="minor">
            <a:schemeClr val="tx1"/>
          </a:fontRef>
        </p:style>
      </p:cxnSp>
      <p:sp>
        <p:nvSpPr>
          <p:cNvPr id="91" name="Page 4 technology icon: dfl / 11"/>
          <p:cNvSpPr/>
          <p:nvPr/>
        </p:nvSpPr>
        <p:spPr>
          <a:xfrm>
            <a:off x="10713453" y="3702862"/>
            <a:ext cx="98069" cy="98069"/>
          </a:xfrm>
          <a:prstGeom prst="ellipse">
            <a:avLst/>
          </a:prstGeom>
          <a:solidFill>
            <a:srgbClr val="86CEEF"/>
          </a:solidFill>
          <a:ln w="26775">
            <a:solidFill>
              <a:srgbClr val="86C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Page 4 technology icon: dfl / 12"/>
          <p:cNvSpPr/>
          <p:nvPr/>
        </p:nvSpPr>
        <p:spPr>
          <a:xfrm>
            <a:off x="10939767" y="3872598"/>
            <a:ext cx="98069" cy="98069"/>
          </a:xfrm>
          <a:prstGeom prst="ellipse">
            <a:avLst/>
          </a:prstGeom>
          <a:solidFill>
            <a:srgbClr val="86CEEF"/>
          </a:solidFill>
          <a:ln w="26775">
            <a:solidFill>
              <a:srgbClr val="86C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Page 4 technology icon: dfl / 13"/>
          <p:cNvSpPr/>
          <p:nvPr/>
        </p:nvSpPr>
        <p:spPr>
          <a:xfrm>
            <a:off x="10845469" y="4117771"/>
            <a:ext cx="98069" cy="98069"/>
          </a:xfrm>
          <a:prstGeom prst="ellipse">
            <a:avLst/>
          </a:prstGeom>
          <a:solidFill>
            <a:srgbClr val="86CEEF"/>
          </a:solidFill>
          <a:ln w="26775">
            <a:solidFill>
              <a:srgbClr val="86C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Page 4 technology icon: dfl / 14"/>
          <p:cNvSpPr/>
          <p:nvPr/>
        </p:nvSpPr>
        <p:spPr>
          <a:xfrm>
            <a:off x="10581436" y="4117771"/>
            <a:ext cx="98069" cy="98069"/>
          </a:xfrm>
          <a:prstGeom prst="ellipse">
            <a:avLst/>
          </a:prstGeom>
          <a:solidFill>
            <a:srgbClr val="86CEEF"/>
          </a:solidFill>
          <a:ln w="26775">
            <a:solidFill>
              <a:srgbClr val="86C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Page 4 technology icon: dfl / 15"/>
          <p:cNvSpPr/>
          <p:nvPr/>
        </p:nvSpPr>
        <p:spPr>
          <a:xfrm>
            <a:off x="10487139" y="3872598"/>
            <a:ext cx="98069" cy="98069"/>
          </a:xfrm>
          <a:prstGeom prst="ellipse">
            <a:avLst/>
          </a:prstGeom>
          <a:solidFill>
            <a:srgbClr val="86CEEF"/>
          </a:solidFill>
          <a:ln w="26775">
            <a:solidFill>
              <a:srgbClr val="86C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6" name="Page 4 technology icon: agent / 1"/>
          <p:cNvCxnSpPr/>
          <p:nvPr/>
        </p:nvCxnSpPr>
        <p:spPr>
          <a:xfrm>
            <a:off x="9582912" y="4546854"/>
            <a:ext cx="0" cy="94297"/>
          </a:xfrm>
          <a:prstGeom prst="line">
            <a:avLst/>
          </a:prstGeom>
          <a:ln w="26775" cap="rnd">
            <a:solidFill>
              <a:srgbClr val="FFB47D"/>
            </a:solidFill>
          </a:ln>
        </p:spPr>
        <p:style>
          <a:lnRef idx="2">
            <a:schemeClr val="accent1"/>
          </a:lnRef>
          <a:fillRef idx="0">
            <a:schemeClr val="accent1"/>
          </a:fillRef>
          <a:effectRef idx="1">
            <a:schemeClr val="accent1"/>
          </a:effectRef>
          <a:fontRef idx="minor">
            <a:schemeClr val="tx1"/>
          </a:fontRef>
        </p:style>
      </p:cxnSp>
      <p:sp>
        <p:nvSpPr>
          <p:cNvPr id="97" name="Page 4 technology icon: agent / 2"/>
          <p:cNvSpPr/>
          <p:nvPr/>
        </p:nvSpPr>
        <p:spPr>
          <a:xfrm>
            <a:off x="9554622" y="4499705"/>
            <a:ext cx="56578" cy="56578"/>
          </a:xfrm>
          <a:prstGeom prst="ellipse">
            <a:avLst/>
          </a:prstGeom>
          <a:solidFill>
            <a:srgbClr val="FFB47D"/>
          </a:solidFill>
          <a:ln w="26775">
            <a:solidFill>
              <a:srgbClr val="FFB4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Page 4 technology icon: agent / 3"/>
          <p:cNvSpPr/>
          <p:nvPr/>
        </p:nvSpPr>
        <p:spPr>
          <a:xfrm>
            <a:off x="9356598" y="4641151"/>
            <a:ext cx="452628" cy="377190"/>
          </a:xfrm>
          <a:prstGeom prst="roundRect">
            <a:avLst/>
          </a:prstGeom>
          <a:solidFill>
            <a:srgbClr val="434343"/>
          </a:solidFill>
          <a:ln w="26775">
            <a:solidFill>
              <a:srgbClr val="FFB4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9" name="Page 4 technology icon: agent / 4"/>
          <p:cNvCxnSpPr/>
          <p:nvPr/>
        </p:nvCxnSpPr>
        <p:spPr>
          <a:xfrm>
            <a:off x="9300019" y="4754308"/>
            <a:ext cx="0" cy="132017"/>
          </a:xfrm>
          <a:prstGeom prst="line">
            <a:avLst/>
          </a:prstGeom>
          <a:ln w="26775" cap="rnd">
            <a:solidFill>
              <a:srgbClr val="FFB47D"/>
            </a:solidFill>
          </a:ln>
        </p:spPr>
        <p:style>
          <a:lnRef idx="2">
            <a:schemeClr val="accent1"/>
          </a:lnRef>
          <a:fillRef idx="0">
            <a:schemeClr val="accent1"/>
          </a:fillRef>
          <a:effectRef idx="1">
            <a:schemeClr val="accent1"/>
          </a:effectRef>
          <a:fontRef idx="minor">
            <a:schemeClr val="tx1"/>
          </a:fontRef>
        </p:style>
      </p:cxnSp>
      <p:cxnSp>
        <p:nvCxnSpPr>
          <p:cNvPr id="100" name="Page 4 technology icon: agent / 5"/>
          <p:cNvCxnSpPr/>
          <p:nvPr/>
        </p:nvCxnSpPr>
        <p:spPr>
          <a:xfrm>
            <a:off x="9865804" y="4754308"/>
            <a:ext cx="0" cy="132017"/>
          </a:xfrm>
          <a:prstGeom prst="line">
            <a:avLst/>
          </a:prstGeom>
          <a:ln w="26775" cap="rnd">
            <a:solidFill>
              <a:srgbClr val="FFB47D"/>
            </a:solidFill>
          </a:ln>
        </p:spPr>
        <p:style>
          <a:lnRef idx="2">
            <a:schemeClr val="accent1"/>
          </a:lnRef>
          <a:fillRef idx="0">
            <a:schemeClr val="accent1"/>
          </a:fillRef>
          <a:effectRef idx="1">
            <a:schemeClr val="accent1"/>
          </a:effectRef>
          <a:fontRef idx="minor">
            <a:schemeClr val="tx1"/>
          </a:fontRef>
        </p:style>
      </p:cxnSp>
      <p:sp>
        <p:nvSpPr>
          <p:cNvPr id="101" name="Page 4 technology icon: agent / 6"/>
          <p:cNvSpPr/>
          <p:nvPr/>
        </p:nvSpPr>
        <p:spPr>
          <a:xfrm>
            <a:off x="9450895" y="4754308"/>
            <a:ext cx="56578" cy="56578"/>
          </a:xfrm>
          <a:prstGeom prst="ellipse">
            <a:avLst/>
          </a:prstGeom>
          <a:solidFill>
            <a:srgbClr val="FFB47D"/>
          </a:solidFill>
          <a:ln w="26775">
            <a:solidFill>
              <a:srgbClr val="FFB4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Page 4 technology icon: agent / 7"/>
          <p:cNvSpPr/>
          <p:nvPr/>
        </p:nvSpPr>
        <p:spPr>
          <a:xfrm>
            <a:off x="9658350" y="4754308"/>
            <a:ext cx="56578" cy="56578"/>
          </a:xfrm>
          <a:prstGeom prst="ellipse">
            <a:avLst/>
          </a:prstGeom>
          <a:solidFill>
            <a:srgbClr val="FFB47D"/>
          </a:solidFill>
          <a:ln w="26775">
            <a:solidFill>
              <a:srgbClr val="FFB4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3" name="Page 4 technology icon: agent / 8"/>
          <p:cNvCxnSpPr/>
          <p:nvPr/>
        </p:nvCxnSpPr>
        <p:spPr>
          <a:xfrm>
            <a:off x="9488614" y="4924044"/>
            <a:ext cx="188595" cy="0"/>
          </a:xfrm>
          <a:prstGeom prst="line">
            <a:avLst/>
          </a:prstGeom>
          <a:ln w="26775" cap="rnd">
            <a:solidFill>
              <a:srgbClr val="FFB47D"/>
            </a:solidFill>
          </a:ln>
        </p:spPr>
        <p:style>
          <a:lnRef idx="2">
            <a:schemeClr val="accent1"/>
          </a:lnRef>
          <a:fillRef idx="0">
            <a:schemeClr val="accent1"/>
          </a:fillRef>
          <a:effectRef idx="1">
            <a:schemeClr val="accent1"/>
          </a:effectRef>
          <a:fontRef idx="minor">
            <a:schemeClr val="tx1"/>
          </a:fontRef>
        </p:style>
      </p:cxnSp>
      <p:cxnSp>
        <p:nvCxnSpPr>
          <p:cNvPr id="104" name="Page 4 technology icon: mcp / 1"/>
          <p:cNvCxnSpPr/>
          <p:nvPr/>
        </p:nvCxnSpPr>
        <p:spPr>
          <a:xfrm flipV="1">
            <a:off x="10521086" y="4528315"/>
            <a:ext cx="227595" cy="227595"/>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05" name="Page 4 technology icon: mcp / 2"/>
          <p:cNvCxnSpPr/>
          <p:nvPr/>
        </p:nvCxnSpPr>
        <p:spPr>
          <a:xfrm flipV="1">
            <a:off x="10748681" y="4522791"/>
            <a:ext cx="6112" cy="5524"/>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06" name="Page 4 technology icon: mcp / 3"/>
          <p:cNvCxnSpPr/>
          <p:nvPr/>
        </p:nvCxnSpPr>
        <p:spPr>
          <a:xfrm flipV="1">
            <a:off x="10754793" y="4518003"/>
            <a:ext cx="6511" cy="4788"/>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07" name="Page 4 technology icon: mcp / 4"/>
          <p:cNvCxnSpPr/>
          <p:nvPr/>
        </p:nvCxnSpPr>
        <p:spPr>
          <a:xfrm flipV="1">
            <a:off x="10761304" y="4513953"/>
            <a:ext cx="6855" cy="4050"/>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08" name="Page 4 technology icon: mcp / 5"/>
          <p:cNvCxnSpPr/>
          <p:nvPr/>
        </p:nvCxnSpPr>
        <p:spPr>
          <a:xfrm flipV="1">
            <a:off x="10768159" y="4510638"/>
            <a:ext cx="7141" cy="3315"/>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09" name="Page 4 technology icon: mcp / 6"/>
          <p:cNvCxnSpPr/>
          <p:nvPr/>
        </p:nvCxnSpPr>
        <p:spPr>
          <a:xfrm flipV="1">
            <a:off x="10775300" y="4508060"/>
            <a:ext cx="7370" cy="2578"/>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10" name="Page 4 technology icon: mcp / 7"/>
          <p:cNvCxnSpPr/>
          <p:nvPr/>
        </p:nvCxnSpPr>
        <p:spPr>
          <a:xfrm flipV="1">
            <a:off x="10782670" y="4506219"/>
            <a:ext cx="7542" cy="1841"/>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11" name="Page 4 technology icon: mcp / 8"/>
          <p:cNvCxnSpPr/>
          <p:nvPr/>
        </p:nvCxnSpPr>
        <p:spPr>
          <a:xfrm flipV="1">
            <a:off x="10790212" y="4505114"/>
            <a:ext cx="7655" cy="1105"/>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12" name="Page 4 technology icon: mcp / 9"/>
          <p:cNvCxnSpPr/>
          <p:nvPr/>
        </p:nvCxnSpPr>
        <p:spPr>
          <a:xfrm flipV="1">
            <a:off x="10797867" y="4504746"/>
            <a:ext cx="7713" cy="368"/>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13" name="Page 4 technology icon: mcp / 10"/>
          <p:cNvCxnSpPr/>
          <p:nvPr/>
        </p:nvCxnSpPr>
        <p:spPr>
          <a:xfrm>
            <a:off x="10805580" y="4504746"/>
            <a:ext cx="7713" cy="368"/>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14" name="Page 4 technology icon: mcp / 11"/>
          <p:cNvCxnSpPr/>
          <p:nvPr/>
        </p:nvCxnSpPr>
        <p:spPr>
          <a:xfrm>
            <a:off x="10813293" y="4505114"/>
            <a:ext cx="7656" cy="1105"/>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15" name="Page 4 technology icon: mcp / 12"/>
          <p:cNvCxnSpPr/>
          <p:nvPr/>
        </p:nvCxnSpPr>
        <p:spPr>
          <a:xfrm>
            <a:off x="10820949" y="4506219"/>
            <a:ext cx="7541" cy="1841"/>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16" name="Page 4 technology icon: mcp / 13"/>
          <p:cNvCxnSpPr/>
          <p:nvPr/>
        </p:nvCxnSpPr>
        <p:spPr>
          <a:xfrm>
            <a:off x="10828490" y="4508060"/>
            <a:ext cx="7370" cy="2578"/>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17" name="Page 4 technology icon: mcp / 14"/>
          <p:cNvCxnSpPr/>
          <p:nvPr/>
        </p:nvCxnSpPr>
        <p:spPr>
          <a:xfrm>
            <a:off x="10835860" y="4510638"/>
            <a:ext cx="7141" cy="3315"/>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18" name="Page 4 technology icon: mcp / 15"/>
          <p:cNvCxnSpPr/>
          <p:nvPr/>
        </p:nvCxnSpPr>
        <p:spPr>
          <a:xfrm>
            <a:off x="10843001" y="4513953"/>
            <a:ext cx="6855" cy="4050"/>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19" name="Page 4 technology icon: mcp / 16"/>
          <p:cNvCxnSpPr/>
          <p:nvPr/>
        </p:nvCxnSpPr>
        <p:spPr>
          <a:xfrm>
            <a:off x="10849856" y="4518003"/>
            <a:ext cx="6511" cy="4788"/>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0" name="Page 4 technology icon: mcp / 17"/>
          <p:cNvCxnSpPr/>
          <p:nvPr/>
        </p:nvCxnSpPr>
        <p:spPr>
          <a:xfrm>
            <a:off x="10856367" y="4522791"/>
            <a:ext cx="6111" cy="5524"/>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1" name="Page 4 technology icon: mcp / 18"/>
          <p:cNvCxnSpPr/>
          <p:nvPr/>
        </p:nvCxnSpPr>
        <p:spPr>
          <a:xfrm>
            <a:off x="10862478" y="4528315"/>
            <a:ext cx="0" cy="0"/>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2" name="Page 4 technology icon: mcp / 19"/>
          <p:cNvCxnSpPr/>
          <p:nvPr/>
        </p:nvCxnSpPr>
        <p:spPr>
          <a:xfrm>
            <a:off x="10862478" y="4528315"/>
            <a:ext cx="5524" cy="6111"/>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3" name="Page 4 technology icon: mcp / 20"/>
          <p:cNvCxnSpPr/>
          <p:nvPr/>
        </p:nvCxnSpPr>
        <p:spPr>
          <a:xfrm>
            <a:off x="10868002" y="4534426"/>
            <a:ext cx="4788" cy="6512"/>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4" name="Page 4 technology icon: mcp / 21"/>
          <p:cNvCxnSpPr/>
          <p:nvPr/>
        </p:nvCxnSpPr>
        <p:spPr>
          <a:xfrm>
            <a:off x="10872790" y="4540938"/>
            <a:ext cx="4051" cy="6854"/>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5" name="Page 4 technology icon: mcp / 22"/>
          <p:cNvCxnSpPr/>
          <p:nvPr/>
        </p:nvCxnSpPr>
        <p:spPr>
          <a:xfrm>
            <a:off x="10876841" y="4547792"/>
            <a:ext cx="3314" cy="7141"/>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6" name="Page 4 technology icon: mcp / 23"/>
          <p:cNvCxnSpPr/>
          <p:nvPr/>
        </p:nvCxnSpPr>
        <p:spPr>
          <a:xfrm>
            <a:off x="10880155" y="4554933"/>
            <a:ext cx="2578" cy="7370"/>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7" name="Page 4 technology icon: mcp / 24"/>
          <p:cNvCxnSpPr/>
          <p:nvPr/>
        </p:nvCxnSpPr>
        <p:spPr>
          <a:xfrm>
            <a:off x="10882733" y="4562303"/>
            <a:ext cx="1841" cy="7542"/>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8" name="Page 4 technology icon: mcp / 25"/>
          <p:cNvCxnSpPr/>
          <p:nvPr/>
        </p:nvCxnSpPr>
        <p:spPr>
          <a:xfrm>
            <a:off x="10884574" y="4569845"/>
            <a:ext cx="1105" cy="7655"/>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9" name="Page 4 technology icon: mcp / 26"/>
          <p:cNvCxnSpPr/>
          <p:nvPr/>
        </p:nvCxnSpPr>
        <p:spPr>
          <a:xfrm>
            <a:off x="10885679" y="4577500"/>
            <a:ext cx="368" cy="7713"/>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0" name="Page 4 technology icon: mcp / 27"/>
          <p:cNvCxnSpPr/>
          <p:nvPr/>
        </p:nvCxnSpPr>
        <p:spPr>
          <a:xfrm flipH="1">
            <a:off x="10885679" y="4585213"/>
            <a:ext cx="368" cy="7713"/>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1" name="Page 4 technology icon: mcp / 28"/>
          <p:cNvCxnSpPr/>
          <p:nvPr/>
        </p:nvCxnSpPr>
        <p:spPr>
          <a:xfrm flipH="1">
            <a:off x="10884574" y="4592926"/>
            <a:ext cx="1105" cy="7656"/>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2" name="Page 4 technology icon: mcp / 29"/>
          <p:cNvCxnSpPr/>
          <p:nvPr/>
        </p:nvCxnSpPr>
        <p:spPr>
          <a:xfrm flipH="1">
            <a:off x="10882733" y="4600582"/>
            <a:ext cx="1841" cy="7541"/>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3" name="Page 4 technology icon: mcp / 30"/>
          <p:cNvCxnSpPr/>
          <p:nvPr/>
        </p:nvCxnSpPr>
        <p:spPr>
          <a:xfrm flipH="1">
            <a:off x="10880155" y="4608123"/>
            <a:ext cx="2578" cy="7370"/>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4" name="Page 4 technology icon: mcp / 31"/>
          <p:cNvCxnSpPr/>
          <p:nvPr/>
        </p:nvCxnSpPr>
        <p:spPr>
          <a:xfrm flipH="1">
            <a:off x="10876841" y="4615493"/>
            <a:ext cx="3314" cy="7141"/>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5" name="Page 4 technology icon: mcp / 32"/>
          <p:cNvCxnSpPr/>
          <p:nvPr/>
        </p:nvCxnSpPr>
        <p:spPr>
          <a:xfrm flipH="1">
            <a:off x="10872790" y="4622634"/>
            <a:ext cx="4051" cy="6855"/>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6" name="Page 4 technology icon: mcp / 33"/>
          <p:cNvCxnSpPr/>
          <p:nvPr/>
        </p:nvCxnSpPr>
        <p:spPr>
          <a:xfrm flipH="1">
            <a:off x="10868002" y="4629489"/>
            <a:ext cx="4788" cy="6512"/>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7" name="Page 4 technology icon: mcp / 34"/>
          <p:cNvCxnSpPr/>
          <p:nvPr/>
        </p:nvCxnSpPr>
        <p:spPr>
          <a:xfrm flipH="1">
            <a:off x="10862478" y="4636001"/>
            <a:ext cx="5524" cy="6111"/>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8" name="Page 4 technology icon: mcp / 35"/>
          <p:cNvCxnSpPr/>
          <p:nvPr/>
        </p:nvCxnSpPr>
        <p:spPr>
          <a:xfrm flipH="1">
            <a:off x="10690597" y="4642112"/>
            <a:ext cx="171881" cy="171883"/>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9" name="Page 4 technology icon: mcp / 36"/>
          <p:cNvCxnSpPr/>
          <p:nvPr/>
        </p:nvCxnSpPr>
        <p:spPr>
          <a:xfrm flipV="1">
            <a:off x="10692968" y="4642112"/>
            <a:ext cx="169510" cy="169512"/>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0" name="Page 4 technology icon: mcp / 37"/>
          <p:cNvCxnSpPr/>
          <p:nvPr/>
        </p:nvCxnSpPr>
        <p:spPr>
          <a:xfrm flipV="1">
            <a:off x="10862478" y="4636588"/>
            <a:ext cx="6112" cy="5524"/>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1" name="Page 4 technology icon: mcp / 38"/>
          <p:cNvCxnSpPr/>
          <p:nvPr/>
        </p:nvCxnSpPr>
        <p:spPr>
          <a:xfrm flipV="1">
            <a:off x="10868590" y="4631801"/>
            <a:ext cx="6512" cy="4787"/>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2" name="Page 4 technology icon: mcp / 39"/>
          <p:cNvCxnSpPr/>
          <p:nvPr/>
        </p:nvCxnSpPr>
        <p:spPr>
          <a:xfrm flipV="1">
            <a:off x="10875102" y="4627750"/>
            <a:ext cx="6855" cy="4051"/>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3" name="Page 4 technology icon: mcp / 40"/>
          <p:cNvCxnSpPr/>
          <p:nvPr/>
        </p:nvCxnSpPr>
        <p:spPr>
          <a:xfrm flipV="1">
            <a:off x="10881957" y="4624436"/>
            <a:ext cx="7141" cy="3314"/>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4" name="Page 4 technology icon: mcp / 41"/>
          <p:cNvCxnSpPr/>
          <p:nvPr/>
        </p:nvCxnSpPr>
        <p:spPr>
          <a:xfrm flipV="1">
            <a:off x="10889098" y="4621858"/>
            <a:ext cx="7370" cy="2578"/>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5" name="Page 4 technology icon: mcp / 42"/>
          <p:cNvCxnSpPr/>
          <p:nvPr/>
        </p:nvCxnSpPr>
        <p:spPr>
          <a:xfrm flipV="1">
            <a:off x="10896468" y="4620017"/>
            <a:ext cx="7541" cy="1841"/>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6" name="Page 4 technology icon: mcp / 43"/>
          <p:cNvCxnSpPr/>
          <p:nvPr/>
        </p:nvCxnSpPr>
        <p:spPr>
          <a:xfrm flipV="1">
            <a:off x="10904009" y="4618912"/>
            <a:ext cx="7656" cy="1105"/>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7" name="Page 4 technology icon: mcp / 44"/>
          <p:cNvCxnSpPr/>
          <p:nvPr/>
        </p:nvCxnSpPr>
        <p:spPr>
          <a:xfrm flipV="1">
            <a:off x="10911665" y="4618544"/>
            <a:ext cx="7713" cy="368"/>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8" name="Page 4 technology icon: mcp / 45"/>
          <p:cNvCxnSpPr/>
          <p:nvPr/>
        </p:nvCxnSpPr>
        <p:spPr>
          <a:xfrm>
            <a:off x="10919378" y="4618544"/>
            <a:ext cx="7714" cy="368"/>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9" name="Page 4 technology icon: mcp / 46"/>
          <p:cNvCxnSpPr/>
          <p:nvPr/>
        </p:nvCxnSpPr>
        <p:spPr>
          <a:xfrm>
            <a:off x="10927092" y="4618912"/>
            <a:ext cx="7655" cy="1105"/>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0" name="Page 4 technology icon: mcp / 47"/>
          <p:cNvCxnSpPr/>
          <p:nvPr/>
        </p:nvCxnSpPr>
        <p:spPr>
          <a:xfrm>
            <a:off x="10934747" y="4620017"/>
            <a:ext cx="7542" cy="1841"/>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1" name="Page 4 technology icon: mcp / 48"/>
          <p:cNvCxnSpPr/>
          <p:nvPr/>
        </p:nvCxnSpPr>
        <p:spPr>
          <a:xfrm>
            <a:off x="10942289" y="4621858"/>
            <a:ext cx="7370" cy="2578"/>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2" name="Page 4 technology icon: mcp / 49"/>
          <p:cNvCxnSpPr/>
          <p:nvPr/>
        </p:nvCxnSpPr>
        <p:spPr>
          <a:xfrm>
            <a:off x="10949659" y="4624436"/>
            <a:ext cx="7141" cy="3314"/>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3" name="Page 4 technology icon: mcp / 50"/>
          <p:cNvCxnSpPr/>
          <p:nvPr/>
        </p:nvCxnSpPr>
        <p:spPr>
          <a:xfrm>
            <a:off x="10956800" y="4627750"/>
            <a:ext cx="6855" cy="4051"/>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4" name="Page 4 technology icon: mcp / 51"/>
          <p:cNvCxnSpPr/>
          <p:nvPr/>
        </p:nvCxnSpPr>
        <p:spPr>
          <a:xfrm>
            <a:off x="10963655" y="4631801"/>
            <a:ext cx="6512" cy="4787"/>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5" name="Page 4 technology icon: mcp / 52"/>
          <p:cNvCxnSpPr/>
          <p:nvPr/>
        </p:nvCxnSpPr>
        <p:spPr>
          <a:xfrm>
            <a:off x="10970167" y="4636588"/>
            <a:ext cx="6112" cy="5524"/>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6" name="Page 4 technology icon: mcp / 53"/>
          <p:cNvCxnSpPr/>
          <p:nvPr/>
        </p:nvCxnSpPr>
        <p:spPr>
          <a:xfrm>
            <a:off x="10976279" y="4642112"/>
            <a:ext cx="1183" cy="1185"/>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7" name="Page 4 technology icon: mcp / 54"/>
          <p:cNvCxnSpPr/>
          <p:nvPr/>
        </p:nvCxnSpPr>
        <p:spPr>
          <a:xfrm>
            <a:off x="10977462" y="4643297"/>
            <a:ext cx="5524" cy="6112"/>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8" name="Page 4 technology icon: mcp / 55"/>
          <p:cNvCxnSpPr/>
          <p:nvPr/>
        </p:nvCxnSpPr>
        <p:spPr>
          <a:xfrm>
            <a:off x="10982986" y="4649409"/>
            <a:ext cx="4788" cy="6512"/>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9" name="Page 4 technology icon: mcp / 56"/>
          <p:cNvCxnSpPr/>
          <p:nvPr/>
        </p:nvCxnSpPr>
        <p:spPr>
          <a:xfrm>
            <a:off x="10987774" y="4655921"/>
            <a:ext cx="4051" cy="6855"/>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0" name="Page 4 technology icon: mcp / 57"/>
          <p:cNvCxnSpPr/>
          <p:nvPr/>
        </p:nvCxnSpPr>
        <p:spPr>
          <a:xfrm>
            <a:off x="10991825" y="4662776"/>
            <a:ext cx="3314" cy="7141"/>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1" name="Page 4 technology icon: mcp / 58"/>
          <p:cNvCxnSpPr/>
          <p:nvPr/>
        </p:nvCxnSpPr>
        <p:spPr>
          <a:xfrm>
            <a:off x="10995139" y="4669917"/>
            <a:ext cx="2578" cy="7369"/>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2" name="Page 4 technology icon: mcp / 59"/>
          <p:cNvCxnSpPr/>
          <p:nvPr/>
        </p:nvCxnSpPr>
        <p:spPr>
          <a:xfrm>
            <a:off x="10997717" y="4677286"/>
            <a:ext cx="1842" cy="7542"/>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3" name="Page 4 technology icon: mcp / 60"/>
          <p:cNvCxnSpPr/>
          <p:nvPr/>
        </p:nvCxnSpPr>
        <p:spPr>
          <a:xfrm>
            <a:off x="10999559" y="4684828"/>
            <a:ext cx="1104" cy="7655"/>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4" name="Page 4 technology icon: mcp / 61"/>
          <p:cNvCxnSpPr/>
          <p:nvPr/>
        </p:nvCxnSpPr>
        <p:spPr>
          <a:xfrm>
            <a:off x="11000663" y="4692483"/>
            <a:ext cx="369" cy="7713"/>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5" name="Page 4 technology icon: mcp / 62"/>
          <p:cNvCxnSpPr/>
          <p:nvPr/>
        </p:nvCxnSpPr>
        <p:spPr>
          <a:xfrm flipH="1">
            <a:off x="11000663" y="4700196"/>
            <a:ext cx="369" cy="7713"/>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6" name="Page 4 technology icon: mcp / 63"/>
          <p:cNvCxnSpPr/>
          <p:nvPr/>
        </p:nvCxnSpPr>
        <p:spPr>
          <a:xfrm flipH="1">
            <a:off x="10999559" y="4707909"/>
            <a:ext cx="1104" cy="7656"/>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7" name="Page 4 technology icon: mcp / 64"/>
          <p:cNvCxnSpPr/>
          <p:nvPr/>
        </p:nvCxnSpPr>
        <p:spPr>
          <a:xfrm flipH="1">
            <a:off x="10997717" y="4715565"/>
            <a:ext cx="1842" cy="7542"/>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8" name="Page 4 technology icon: mcp / 65"/>
          <p:cNvCxnSpPr/>
          <p:nvPr/>
        </p:nvCxnSpPr>
        <p:spPr>
          <a:xfrm flipH="1">
            <a:off x="10995139" y="4723107"/>
            <a:ext cx="2578" cy="7369"/>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9" name="Page 4 technology icon: mcp / 66"/>
          <p:cNvCxnSpPr/>
          <p:nvPr/>
        </p:nvCxnSpPr>
        <p:spPr>
          <a:xfrm flipH="1">
            <a:off x="10991825" y="4730476"/>
            <a:ext cx="3314" cy="7141"/>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0" name="Page 4 technology icon: mcp / 67"/>
          <p:cNvCxnSpPr/>
          <p:nvPr/>
        </p:nvCxnSpPr>
        <p:spPr>
          <a:xfrm flipH="1">
            <a:off x="10987774" y="4737617"/>
            <a:ext cx="4051" cy="6855"/>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1" name="Page 4 technology icon: mcp / 68"/>
          <p:cNvCxnSpPr/>
          <p:nvPr/>
        </p:nvCxnSpPr>
        <p:spPr>
          <a:xfrm flipH="1">
            <a:off x="10982986" y="4744472"/>
            <a:ext cx="4788" cy="6512"/>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2" name="Page 4 technology icon: mcp / 69"/>
          <p:cNvCxnSpPr/>
          <p:nvPr/>
        </p:nvCxnSpPr>
        <p:spPr>
          <a:xfrm flipH="1">
            <a:off x="10977462" y="4750984"/>
            <a:ext cx="5524" cy="6111"/>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3" name="Page 4 technology icon: mcp / 70"/>
          <p:cNvCxnSpPr/>
          <p:nvPr/>
        </p:nvCxnSpPr>
        <p:spPr>
          <a:xfrm flipH="1">
            <a:off x="10771623" y="4757095"/>
            <a:ext cx="205839" cy="205841"/>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4" name="Page 4 technology icon: mcp / 71"/>
          <p:cNvCxnSpPr/>
          <p:nvPr/>
        </p:nvCxnSpPr>
        <p:spPr>
          <a:xfrm flipH="1">
            <a:off x="10769782" y="4962936"/>
            <a:ext cx="1841" cy="2037"/>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5" name="Page 4 technology icon: mcp / 72"/>
          <p:cNvCxnSpPr/>
          <p:nvPr/>
        </p:nvCxnSpPr>
        <p:spPr>
          <a:xfrm flipH="1">
            <a:off x="10768186" y="4964973"/>
            <a:ext cx="1596" cy="2170"/>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6" name="Page 4 technology icon: mcp / 73"/>
          <p:cNvCxnSpPr/>
          <p:nvPr/>
        </p:nvCxnSpPr>
        <p:spPr>
          <a:xfrm flipH="1">
            <a:off x="10766836" y="4967143"/>
            <a:ext cx="1350" cy="2285"/>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7" name="Page 4 technology icon: mcp / 74"/>
          <p:cNvCxnSpPr/>
          <p:nvPr/>
        </p:nvCxnSpPr>
        <p:spPr>
          <a:xfrm flipH="1">
            <a:off x="10765731" y="4969428"/>
            <a:ext cx="1105" cy="2380"/>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8" name="Page 4 technology icon: mcp / 75"/>
          <p:cNvCxnSpPr/>
          <p:nvPr/>
        </p:nvCxnSpPr>
        <p:spPr>
          <a:xfrm flipH="1">
            <a:off x="10764872" y="4971808"/>
            <a:ext cx="859" cy="2457"/>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9" name="Page 4 technology icon: mcp / 76"/>
          <p:cNvCxnSpPr/>
          <p:nvPr/>
        </p:nvCxnSpPr>
        <p:spPr>
          <a:xfrm flipH="1">
            <a:off x="10764258" y="4974265"/>
            <a:ext cx="614" cy="2513"/>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0" name="Page 4 technology icon: mcp / 77"/>
          <p:cNvCxnSpPr/>
          <p:nvPr/>
        </p:nvCxnSpPr>
        <p:spPr>
          <a:xfrm flipH="1">
            <a:off x="10763890" y="4976778"/>
            <a:ext cx="368" cy="2552"/>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1" name="Page 4 technology icon: mcp / 78"/>
          <p:cNvCxnSpPr/>
          <p:nvPr/>
        </p:nvCxnSpPr>
        <p:spPr>
          <a:xfrm flipH="1">
            <a:off x="10763767" y="4979330"/>
            <a:ext cx="123" cy="2571"/>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2" name="Page 4 technology icon: mcp / 79"/>
          <p:cNvCxnSpPr/>
          <p:nvPr/>
        </p:nvCxnSpPr>
        <p:spPr>
          <a:xfrm>
            <a:off x="10763767" y="4981901"/>
            <a:ext cx="123" cy="2571"/>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3" name="Page 4 technology icon: mcp / 80"/>
          <p:cNvCxnSpPr/>
          <p:nvPr/>
        </p:nvCxnSpPr>
        <p:spPr>
          <a:xfrm>
            <a:off x="10763890" y="4984472"/>
            <a:ext cx="368" cy="2552"/>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4" name="Page 4 technology icon: mcp / 81"/>
          <p:cNvCxnSpPr/>
          <p:nvPr/>
        </p:nvCxnSpPr>
        <p:spPr>
          <a:xfrm>
            <a:off x="10764258" y="4987024"/>
            <a:ext cx="614" cy="2513"/>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5" name="Page 4 technology icon: mcp / 82"/>
          <p:cNvCxnSpPr/>
          <p:nvPr/>
        </p:nvCxnSpPr>
        <p:spPr>
          <a:xfrm>
            <a:off x="10764872" y="4989537"/>
            <a:ext cx="859" cy="2457"/>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6" name="Page 4 technology icon: mcp / 83"/>
          <p:cNvCxnSpPr/>
          <p:nvPr/>
        </p:nvCxnSpPr>
        <p:spPr>
          <a:xfrm>
            <a:off x="10765731" y="4991994"/>
            <a:ext cx="1105" cy="2380"/>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7" name="Page 4 technology icon: mcp / 84"/>
          <p:cNvCxnSpPr/>
          <p:nvPr/>
        </p:nvCxnSpPr>
        <p:spPr>
          <a:xfrm>
            <a:off x="10766836" y="4994374"/>
            <a:ext cx="1350" cy="2285"/>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8" name="Page 4 technology icon: mcp / 85"/>
          <p:cNvCxnSpPr/>
          <p:nvPr/>
        </p:nvCxnSpPr>
        <p:spPr>
          <a:xfrm>
            <a:off x="10768186" y="4996659"/>
            <a:ext cx="1596" cy="2170"/>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9" name="Page 4 technology icon: mcp / 86"/>
          <p:cNvCxnSpPr/>
          <p:nvPr/>
        </p:nvCxnSpPr>
        <p:spPr>
          <a:xfrm>
            <a:off x="10769782" y="4998829"/>
            <a:ext cx="1841" cy="2037"/>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90" name="Page 4 technology icon: mcp / 87"/>
          <p:cNvCxnSpPr/>
          <p:nvPr/>
        </p:nvCxnSpPr>
        <p:spPr>
          <a:xfrm>
            <a:off x="10771623" y="5000866"/>
            <a:ext cx="42266" cy="42269"/>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91" name="Page 4 technology icon: mcp / 88"/>
          <p:cNvCxnSpPr/>
          <p:nvPr/>
        </p:nvCxnSpPr>
        <p:spPr>
          <a:xfrm flipH="1">
            <a:off x="10637254" y="4585213"/>
            <a:ext cx="168327" cy="168326"/>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92" name="Page 4 technology icon: mcp / 89"/>
          <p:cNvCxnSpPr/>
          <p:nvPr/>
        </p:nvCxnSpPr>
        <p:spPr>
          <a:xfrm flipH="1">
            <a:off x="10631731" y="4753539"/>
            <a:ext cx="5523" cy="6112"/>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93" name="Page 4 technology icon: mcp / 90"/>
          <p:cNvCxnSpPr/>
          <p:nvPr/>
        </p:nvCxnSpPr>
        <p:spPr>
          <a:xfrm flipH="1">
            <a:off x="10626943" y="4759651"/>
            <a:ext cx="4788" cy="6511"/>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94" name="Page 4 technology icon: mcp / 91"/>
          <p:cNvCxnSpPr/>
          <p:nvPr/>
        </p:nvCxnSpPr>
        <p:spPr>
          <a:xfrm flipH="1">
            <a:off x="10622892" y="4766162"/>
            <a:ext cx="4051" cy="6855"/>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95" name="Page 4 technology icon: mcp / 92"/>
          <p:cNvCxnSpPr/>
          <p:nvPr/>
        </p:nvCxnSpPr>
        <p:spPr>
          <a:xfrm flipH="1">
            <a:off x="10619578" y="4773017"/>
            <a:ext cx="3314" cy="7141"/>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96" name="Page 4 technology icon: mcp / 93"/>
          <p:cNvCxnSpPr/>
          <p:nvPr/>
        </p:nvCxnSpPr>
        <p:spPr>
          <a:xfrm flipH="1">
            <a:off x="10617000" y="4780158"/>
            <a:ext cx="2578" cy="7370"/>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97" name="Page 4 technology icon: mcp / 94"/>
          <p:cNvCxnSpPr/>
          <p:nvPr/>
        </p:nvCxnSpPr>
        <p:spPr>
          <a:xfrm flipH="1">
            <a:off x="10615159" y="4787528"/>
            <a:ext cx="1841" cy="7541"/>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98" name="Page 4 technology icon: mcp / 95"/>
          <p:cNvCxnSpPr/>
          <p:nvPr/>
        </p:nvCxnSpPr>
        <p:spPr>
          <a:xfrm flipH="1">
            <a:off x="10614054" y="4795069"/>
            <a:ext cx="1105" cy="7656"/>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99" name="Page 4 technology icon: mcp / 96"/>
          <p:cNvCxnSpPr/>
          <p:nvPr/>
        </p:nvCxnSpPr>
        <p:spPr>
          <a:xfrm flipH="1">
            <a:off x="10613686" y="4802725"/>
            <a:ext cx="368" cy="7713"/>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00" name="Page 4 technology icon: mcp / 97"/>
          <p:cNvCxnSpPr/>
          <p:nvPr/>
        </p:nvCxnSpPr>
        <p:spPr>
          <a:xfrm>
            <a:off x="10613686" y="4810438"/>
            <a:ext cx="368" cy="7713"/>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01" name="Page 4 technology icon: mcp / 98"/>
          <p:cNvCxnSpPr/>
          <p:nvPr/>
        </p:nvCxnSpPr>
        <p:spPr>
          <a:xfrm>
            <a:off x="10614054" y="4818151"/>
            <a:ext cx="1105" cy="7656"/>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02" name="Page 4 technology icon: mcp / 99"/>
          <p:cNvCxnSpPr/>
          <p:nvPr/>
        </p:nvCxnSpPr>
        <p:spPr>
          <a:xfrm>
            <a:off x="10615159" y="4825807"/>
            <a:ext cx="1841" cy="7541"/>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03" name="Page 4 technology icon: mcp / 100"/>
          <p:cNvCxnSpPr/>
          <p:nvPr/>
        </p:nvCxnSpPr>
        <p:spPr>
          <a:xfrm>
            <a:off x="10617000" y="4833348"/>
            <a:ext cx="2578" cy="7370"/>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04" name="Page 4 technology icon: mcp / 101"/>
          <p:cNvCxnSpPr/>
          <p:nvPr/>
        </p:nvCxnSpPr>
        <p:spPr>
          <a:xfrm>
            <a:off x="10619578" y="4840718"/>
            <a:ext cx="3314" cy="7141"/>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05" name="Page 4 technology icon: mcp / 102"/>
          <p:cNvCxnSpPr/>
          <p:nvPr/>
        </p:nvCxnSpPr>
        <p:spPr>
          <a:xfrm>
            <a:off x="10622892" y="4847859"/>
            <a:ext cx="4051" cy="6855"/>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06" name="Page 4 technology icon: mcp / 103"/>
          <p:cNvCxnSpPr/>
          <p:nvPr/>
        </p:nvCxnSpPr>
        <p:spPr>
          <a:xfrm>
            <a:off x="10626943" y="4854714"/>
            <a:ext cx="4788" cy="6512"/>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07" name="Page 4 technology icon: mcp / 104"/>
          <p:cNvCxnSpPr/>
          <p:nvPr/>
        </p:nvCxnSpPr>
        <p:spPr>
          <a:xfrm>
            <a:off x="10631731" y="4861226"/>
            <a:ext cx="5523" cy="6112"/>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08" name="Page 4 technology icon: mcp / 105"/>
          <p:cNvCxnSpPr/>
          <p:nvPr/>
        </p:nvCxnSpPr>
        <p:spPr>
          <a:xfrm>
            <a:off x="10637254" y="4867338"/>
            <a:ext cx="0" cy="0"/>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09" name="Page 4 technology icon: mcp / 106"/>
          <p:cNvCxnSpPr/>
          <p:nvPr/>
        </p:nvCxnSpPr>
        <p:spPr>
          <a:xfrm>
            <a:off x="10637254" y="4867338"/>
            <a:ext cx="6112" cy="5523"/>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10" name="Page 4 technology icon: mcp / 107"/>
          <p:cNvCxnSpPr/>
          <p:nvPr/>
        </p:nvCxnSpPr>
        <p:spPr>
          <a:xfrm>
            <a:off x="10643366" y="4872861"/>
            <a:ext cx="6511" cy="4787"/>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11" name="Page 4 technology icon: mcp / 108"/>
          <p:cNvCxnSpPr/>
          <p:nvPr/>
        </p:nvCxnSpPr>
        <p:spPr>
          <a:xfrm>
            <a:off x="10649877" y="4877648"/>
            <a:ext cx="6855" cy="4051"/>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12" name="Page 4 technology icon: mcp / 109"/>
          <p:cNvCxnSpPr/>
          <p:nvPr/>
        </p:nvCxnSpPr>
        <p:spPr>
          <a:xfrm>
            <a:off x="10656732" y="4881699"/>
            <a:ext cx="7141" cy="3314"/>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13" name="Page 4 technology icon: mcp / 110"/>
          <p:cNvCxnSpPr/>
          <p:nvPr/>
        </p:nvCxnSpPr>
        <p:spPr>
          <a:xfrm>
            <a:off x="10663873" y="4885013"/>
            <a:ext cx="7370" cy="2577"/>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14" name="Page 4 technology icon: mcp / 111"/>
          <p:cNvCxnSpPr/>
          <p:nvPr/>
        </p:nvCxnSpPr>
        <p:spPr>
          <a:xfrm>
            <a:off x="10671243" y="4887590"/>
            <a:ext cx="7542" cy="1841"/>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15" name="Page 4 technology icon: mcp / 112"/>
          <p:cNvCxnSpPr/>
          <p:nvPr/>
        </p:nvCxnSpPr>
        <p:spPr>
          <a:xfrm>
            <a:off x="10678785" y="4889431"/>
            <a:ext cx="7655" cy="1105"/>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16" name="Page 4 technology icon: mcp / 113"/>
          <p:cNvCxnSpPr/>
          <p:nvPr/>
        </p:nvCxnSpPr>
        <p:spPr>
          <a:xfrm>
            <a:off x="10686440" y="4890536"/>
            <a:ext cx="7713" cy="368"/>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17" name="Page 4 technology icon: mcp / 114"/>
          <p:cNvCxnSpPr/>
          <p:nvPr/>
        </p:nvCxnSpPr>
        <p:spPr>
          <a:xfrm flipV="1">
            <a:off x="10694153" y="4890536"/>
            <a:ext cx="7713" cy="368"/>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18" name="Page 4 technology icon: mcp / 115"/>
          <p:cNvCxnSpPr/>
          <p:nvPr/>
        </p:nvCxnSpPr>
        <p:spPr>
          <a:xfrm flipV="1">
            <a:off x="10701866" y="4889431"/>
            <a:ext cx="7656" cy="1105"/>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19" name="Page 4 technology icon: mcp / 116"/>
          <p:cNvCxnSpPr/>
          <p:nvPr/>
        </p:nvCxnSpPr>
        <p:spPr>
          <a:xfrm flipV="1">
            <a:off x="10709522" y="4887590"/>
            <a:ext cx="7541" cy="1841"/>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20" name="Page 4 technology icon: mcp / 117"/>
          <p:cNvCxnSpPr/>
          <p:nvPr/>
        </p:nvCxnSpPr>
        <p:spPr>
          <a:xfrm flipV="1">
            <a:off x="10717063" y="4885013"/>
            <a:ext cx="7370" cy="2577"/>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21" name="Page 4 technology icon: mcp / 118"/>
          <p:cNvCxnSpPr/>
          <p:nvPr/>
        </p:nvCxnSpPr>
        <p:spPr>
          <a:xfrm flipV="1">
            <a:off x="10724433" y="4881699"/>
            <a:ext cx="7141" cy="3314"/>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22" name="Page 4 technology icon: mcp / 119"/>
          <p:cNvCxnSpPr/>
          <p:nvPr/>
        </p:nvCxnSpPr>
        <p:spPr>
          <a:xfrm flipV="1">
            <a:off x="10731574" y="4877648"/>
            <a:ext cx="6855" cy="4051"/>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23" name="Page 4 technology icon: mcp / 120"/>
          <p:cNvCxnSpPr/>
          <p:nvPr/>
        </p:nvCxnSpPr>
        <p:spPr>
          <a:xfrm flipV="1">
            <a:off x="10738429" y="4872861"/>
            <a:ext cx="6512" cy="4787"/>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24" name="Page 4 technology icon: mcp / 121"/>
          <p:cNvCxnSpPr/>
          <p:nvPr/>
        </p:nvCxnSpPr>
        <p:spPr>
          <a:xfrm flipV="1">
            <a:off x="10744941" y="4867338"/>
            <a:ext cx="6111" cy="5523"/>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25" name="Page 4 technology icon: mcp / 122"/>
          <p:cNvCxnSpPr/>
          <p:nvPr/>
        </p:nvCxnSpPr>
        <p:spPr>
          <a:xfrm flipV="1">
            <a:off x="10751052" y="4699011"/>
            <a:ext cx="168326" cy="168327"/>
          </a:xfrm>
          <a:prstGeom prst="line">
            <a:avLst/>
          </a:prstGeom>
          <a:ln w="36089" cap="rnd">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26" name="Page 4 symbol connection: 1"/>
          <p:cNvCxnSpPr/>
          <p:nvPr/>
        </p:nvCxnSpPr>
        <p:spPr>
          <a:xfrm>
            <a:off x="9948672" y="2331720"/>
            <a:ext cx="448056" cy="0"/>
          </a:xfrm>
          <a:prstGeom prst="line">
            <a:avLst/>
          </a:prstGeom>
          <a:ln w="13970">
            <a:solidFill>
              <a:srgbClr val="C1C8C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27" name="Page 4 symbol connection: 2"/>
          <p:cNvCxnSpPr/>
          <p:nvPr/>
        </p:nvCxnSpPr>
        <p:spPr>
          <a:xfrm>
            <a:off x="9582912" y="2642615"/>
            <a:ext cx="0" cy="192025"/>
          </a:xfrm>
          <a:prstGeom prst="line">
            <a:avLst/>
          </a:prstGeom>
          <a:ln w="13970">
            <a:solidFill>
              <a:srgbClr val="C1C8C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28" name="Page 4 symbol connection: 3"/>
          <p:cNvCxnSpPr/>
          <p:nvPr/>
        </p:nvCxnSpPr>
        <p:spPr>
          <a:xfrm>
            <a:off x="10762488" y="2642615"/>
            <a:ext cx="0" cy="192025"/>
          </a:xfrm>
          <a:prstGeom prst="line">
            <a:avLst/>
          </a:prstGeom>
          <a:ln w="13970">
            <a:solidFill>
              <a:srgbClr val="C1C8C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29" name="Page 4 symbol connection: 4"/>
          <p:cNvCxnSpPr/>
          <p:nvPr/>
        </p:nvCxnSpPr>
        <p:spPr>
          <a:xfrm>
            <a:off x="9948672" y="3145536"/>
            <a:ext cx="448056" cy="0"/>
          </a:xfrm>
          <a:prstGeom prst="line">
            <a:avLst/>
          </a:prstGeom>
          <a:ln w="13970">
            <a:solidFill>
              <a:srgbClr val="C1C8C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30" name="Page 4 symbol connection: 5"/>
          <p:cNvCxnSpPr/>
          <p:nvPr/>
        </p:nvCxnSpPr>
        <p:spPr>
          <a:xfrm>
            <a:off x="9582912" y="3456432"/>
            <a:ext cx="0" cy="192024"/>
          </a:xfrm>
          <a:prstGeom prst="line">
            <a:avLst/>
          </a:prstGeom>
          <a:ln w="13970">
            <a:solidFill>
              <a:srgbClr val="C1C8C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31" name="Page 4 symbol connection: 6"/>
          <p:cNvCxnSpPr/>
          <p:nvPr/>
        </p:nvCxnSpPr>
        <p:spPr>
          <a:xfrm>
            <a:off x="10762488" y="3456432"/>
            <a:ext cx="0" cy="192024"/>
          </a:xfrm>
          <a:prstGeom prst="line">
            <a:avLst/>
          </a:prstGeom>
          <a:ln w="13970">
            <a:solidFill>
              <a:srgbClr val="C1C8C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32" name="Page 4 symbol connection: 7"/>
          <p:cNvCxnSpPr/>
          <p:nvPr/>
        </p:nvCxnSpPr>
        <p:spPr>
          <a:xfrm>
            <a:off x="9948672" y="3959352"/>
            <a:ext cx="448056" cy="0"/>
          </a:xfrm>
          <a:prstGeom prst="line">
            <a:avLst/>
          </a:prstGeom>
          <a:ln w="13970">
            <a:solidFill>
              <a:srgbClr val="C1C8C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33" name="Page 4 symbol connection: 8"/>
          <p:cNvCxnSpPr/>
          <p:nvPr/>
        </p:nvCxnSpPr>
        <p:spPr>
          <a:xfrm>
            <a:off x="9582912" y="4270248"/>
            <a:ext cx="0" cy="192024"/>
          </a:xfrm>
          <a:prstGeom prst="line">
            <a:avLst/>
          </a:prstGeom>
          <a:ln w="13970">
            <a:solidFill>
              <a:srgbClr val="C1C8C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34" name="Page 4 symbol connection: 9"/>
          <p:cNvCxnSpPr/>
          <p:nvPr/>
        </p:nvCxnSpPr>
        <p:spPr>
          <a:xfrm>
            <a:off x="10762488" y="4270248"/>
            <a:ext cx="0" cy="192024"/>
          </a:xfrm>
          <a:prstGeom prst="line">
            <a:avLst/>
          </a:prstGeom>
          <a:ln w="13970">
            <a:solidFill>
              <a:srgbClr val="C1C8C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35" name="Page 4 symbol connection: 10"/>
          <p:cNvCxnSpPr/>
          <p:nvPr/>
        </p:nvCxnSpPr>
        <p:spPr>
          <a:xfrm>
            <a:off x="9948672" y="4773168"/>
            <a:ext cx="448056" cy="0"/>
          </a:xfrm>
          <a:prstGeom prst="line">
            <a:avLst/>
          </a:prstGeom>
          <a:ln w="13970">
            <a:solidFill>
              <a:srgbClr val="C1C8CC"/>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Research gap and research questions</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RESEARCH POSITIONING</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5</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Rounded Rectangle 7"/>
          <p:cNvSpPr/>
          <p:nvPr/>
        </p:nvSpPr>
        <p:spPr>
          <a:xfrm>
            <a:off x="749808" y="1399032"/>
            <a:ext cx="3246120" cy="987552"/>
          </a:xfrm>
          <a:prstGeom prst="roundRect">
            <a:avLst/>
          </a:prstGeom>
          <a:solidFill>
            <a:srgbClr val="EAF6ED"/>
          </a:solidFill>
          <a:ln w="1270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1572768"/>
            <a:ext cx="2971800" cy="292608"/>
          </a:xfrm>
          <a:prstGeom prst="rect">
            <a:avLst/>
          </a:prstGeom>
          <a:noFill/>
        </p:spPr>
        <p:txBody>
          <a:bodyPr wrap="square" lIns="18288" rIns="18288" tIns="18288" bIns="18288" anchor="ctr">
            <a:spAutoFit/>
          </a:bodyPr>
          <a:lstStyle/>
          <a:p>
            <a:pPr algn="ctr"/>
            <a:r>
              <a:rPr sz="1700" b="1" lang="en-US">
                <a:solidFill>
                  <a:srgbClr val="2F8F46"/>
                </a:solidFill>
                <a:latin typeface="Arial"/>
              </a:rPr>
              <a:t>DFL</a:t>
            </a:r>
          </a:p>
        </p:txBody>
      </p:sp>
      <p:sp>
        <p:nvSpPr>
          <p:cNvPr id="10" name="TextBox 9"/>
          <p:cNvSpPr txBox="1"/>
          <p:nvPr/>
        </p:nvSpPr>
        <p:spPr>
          <a:xfrm>
            <a:off x="886968" y="1956816"/>
            <a:ext cx="2971800" cy="246888"/>
          </a:xfrm>
          <a:prstGeom prst="rect">
            <a:avLst/>
          </a:prstGeom>
          <a:noFill/>
        </p:spPr>
        <p:txBody>
          <a:bodyPr wrap="square" lIns="18288" rIns="18288" tIns="18288" bIns="18288" anchor="ctr">
            <a:spAutoFit/>
          </a:bodyPr>
          <a:lstStyle/>
          <a:p>
            <a:pPr algn="ctr"/>
            <a:r>
              <a:rPr sz="1050" b="0" lang="en-US">
                <a:solidFill>
                  <a:srgbClr val="434343"/>
                </a:solidFill>
                <a:latin typeface="Arial"/>
              </a:rPr>
              <a:t>Model production</a:t>
            </a:r>
          </a:p>
        </p:txBody>
      </p:sp>
      <p:sp>
        <p:nvSpPr>
          <p:cNvPr id="11" name="TextBox 10"/>
          <p:cNvSpPr txBox="1"/>
          <p:nvPr/>
        </p:nvSpPr>
        <p:spPr>
          <a:xfrm>
            <a:off x="4087368" y="1664208"/>
            <a:ext cx="338328" cy="365760"/>
          </a:xfrm>
          <a:prstGeom prst="rect">
            <a:avLst/>
          </a:prstGeom>
          <a:noFill/>
        </p:spPr>
        <p:txBody>
          <a:bodyPr wrap="square" lIns="18288" rIns="18288" tIns="18288" bIns="18288" anchor="ctr">
            <a:spAutoFit/>
          </a:bodyPr>
          <a:lstStyle/>
          <a:p>
            <a:pPr algn="ctr"/>
            <a:r>
              <a:rPr sz="2200" b="1" lang="en-US">
                <a:solidFill>
                  <a:srgbClr val="B2B2B2"/>
                </a:solidFill>
                <a:latin typeface="Arial"/>
              </a:rPr>
              <a:t>?</a:t>
            </a:r>
          </a:p>
        </p:txBody>
      </p:sp>
      <p:sp>
        <p:nvSpPr>
          <p:cNvPr id="12" name="Rounded Rectangle 11"/>
          <p:cNvSpPr/>
          <p:nvPr/>
        </p:nvSpPr>
        <p:spPr>
          <a:xfrm>
            <a:off x="4517136" y="1399032"/>
            <a:ext cx="3246120" cy="987552"/>
          </a:xfrm>
          <a:prstGeom prst="roundRect">
            <a:avLst/>
          </a:prstGeom>
          <a:solidFill>
            <a:srgbClr val="FFF1E7"/>
          </a:solidFill>
          <a:ln w="12700">
            <a:solidFill>
              <a:srgbClr val="FF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54296" y="1572768"/>
            <a:ext cx="2971800" cy="292608"/>
          </a:xfrm>
          <a:prstGeom prst="rect">
            <a:avLst/>
          </a:prstGeom>
          <a:noFill/>
        </p:spPr>
        <p:txBody>
          <a:bodyPr wrap="square" lIns="18288" rIns="18288" tIns="18288" bIns="18288" anchor="ctr">
            <a:spAutoFit/>
          </a:bodyPr>
          <a:lstStyle/>
          <a:p>
            <a:pPr algn="ctr"/>
            <a:r>
              <a:rPr sz="1700" b="1" lang="en-US">
                <a:solidFill>
                  <a:srgbClr val="FF6C00"/>
                </a:solidFill>
                <a:latin typeface="Arial"/>
              </a:rPr>
              <a:t>AGENT</a:t>
            </a:r>
          </a:p>
        </p:txBody>
      </p:sp>
      <p:sp>
        <p:nvSpPr>
          <p:cNvPr id="14" name="TextBox 13"/>
          <p:cNvSpPr txBox="1"/>
          <p:nvPr/>
        </p:nvSpPr>
        <p:spPr>
          <a:xfrm>
            <a:off x="4654296" y="1956816"/>
            <a:ext cx="2971800" cy="246888"/>
          </a:xfrm>
          <a:prstGeom prst="rect">
            <a:avLst/>
          </a:prstGeom>
          <a:noFill/>
        </p:spPr>
        <p:txBody>
          <a:bodyPr wrap="square" lIns="18288" rIns="18288" tIns="18288" bIns="18288" anchor="ctr">
            <a:spAutoFit/>
          </a:bodyPr>
          <a:lstStyle/>
          <a:p>
            <a:pPr algn="ctr"/>
            <a:r>
              <a:rPr sz="1050" b="0" lang="en-US">
                <a:solidFill>
                  <a:srgbClr val="434343"/>
                </a:solidFill>
                <a:latin typeface="Arial"/>
              </a:rPr>
              <a:t>Tool orchestration</a:t>
            </a:r>
          </a:p>
        </p:txBody>
      </p:sp>
      <p:sp>
        <p:nvSpPr>
          <p:cNvPr id="15" name="TextBox 14"/>
          <p:cNvSpPr txBox="1"/>
          <p:nvPr/>
        </p:nvSpPr>
        <p:spPr>
          <a:xfrm>
            <a:off x="7854696" y="1664208"/>
            <a:ext cx="338328" cy="365760"/>
          </a:xfrm>
          <a:prstGeom prst="rect">
            <a:avLst/>
          </a:prstGeom>
          <a:noFill/>
        </p:spPr>
        <p:txBody>
          <a:bodyPr wrap="square" lIns="18288" rIns="18288" tIns="18288" bIns="18288" anchor="ctr">
            <a:spAutoFit/>
          </a:bodyPr>
          <a:lstStyle/>
          <a:p>
            <a:pPr algn="ctr"/>
            <a:r>
              <a:rPr sz="2200" b="1" lang="en-US">
                <a:solidFill>
                  <a:srgbClr val="B2B2B2"/>
                </a:solidFill>
                <a:latin typeface="Arial"/>
              </a:rPr>
              <a:t>?</a:t>
            </a:r>
          </a:p>
        </p:txBody>
      </p:sp>
      <p:sp>
        <p:nvSpPr>
          <p:cNvPr id="16" name="Rounded Rectangle 15"/>
          <p:cNvSpPr/>
          <p:nvPr/>
        </p:nvSpPr>
        <p:spPr>
          <a:xfrm>
            <a:off x="8284464" y="1399032"/>
            <a:ext cx="3246120" cy="987552"/>
          </a:xfrm>
          <a:prstGeom prst="roundRect">
            <a:avLst/>
          </a:prstGeom>
          <a:solidFill>
            <a:srgbClr val="EAF5FA"/>
          </a:solidFill>
          <a:ln w="1270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21624" y="1572768"/>
            <a:ext cx="2971800" cy="292608"/>
          </a:xfrm>
          <a:prstGeom prst="rect">
            <a:avLst/>
          </a:prstGeom>
          <a:noFill/>
        </p:spPr>
        <p:txBody>
          <a:bodyPr wrap="square" lIns="18288" rIns="18288" tIns="18288" bIns="18288" anchor="ctr">
            <a:spAutoFit/>
          </a:bodyPr>
          <a:lstStyle/>
          <a:p>
            <a:pPr algn="ctr"/>
            <a:r>
              <a:rPr sz="1700" b="1" lang="en-US">
                <a:solidFill>
                  <a:srgbClr val="1F90CC"/>
                </a:solidFill>
                <a:latin typeface="Arial"/>
              </a:rPr>
              <a:t>INFERENCE</a:t>
            </a:r>
          </a:p>
        </p:txBody>
      </p:sp>
      <p:sp>
        <p:nvSpPr>
          <p:cNvPr id="18" name="TextBox 17"/>
          <p:cNvSpPr txBox="1"/>
          <p:nvPr/>
        </p:nvSpPr>
        <p:spPr>
          <a:xfrm>
            <a:off x="8421624" y="1956816"/>
            <a:ext cx="2971800" cy="246888"/>
          </a:xfrm>
          <a:prstGeom prst="rect">
            <a:avLst/>
          </a:prstGeom>
          <a:noFill/>
        </p:spPr>
        <p:txBody>
          <a:bodyPr wrap="square" lIns="18288" rIns="18288" tIns="18288" bIns="18288" anchor="ctr">
            <a:spAutoFit/>
          </a:bodyPr>
          <a:lstStyle/>
          <a:p>
            <a:pPr algn="ctr"/>
            <a:r>
              <a:rPr sz="1050" b="0" lang="en-US">
                <a:solidFill>
                  <a:srgbClr val="434343"/>
                </a:solidFill>
                <a:latin typeface="Arial"/>
              </a:rPr>
              <a:t>Attested execution</a:t>
            </a:r>
          </a:p>
        </p:txBody>
      </p:sp>
      <p:sp>
        <p:nvSpPr>
          <p:cNvPr id="19" name="Rectangle 18"/>
          <p:cNvSpPr/>
          <p:nvPr/>
        </p:nvSpPr>
        <p:spPr>
          <a:xfrm>
            <a:off x="658368" y="2633472"/>
            <a:ext cx="10872216" cy="585216"/>
          </a:xfrm>
          <a:prstGeom prst="rect">
            <a:avLst/>
          </a:prstGeom>
          <a:solidFill>
            <a:srgbClr val="C40D1E"/>
          </a:solidFill>
          <a:ln w="1270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2761488"/>
            <a:ext cx="10451592" cy="329184"/>
          </a:xfrm>
          <a:prstGeom prst="rect">
            <a:avLst/>
          </a:prstGeom>
          <a:noFill/>
        </p:spPr>
        <p:txBody>
          <a:bodyPr wrap="square" lIns="18288" rIns="18288" tIns="18288" bIns="18288" anchor="ctr">
            <a:spAutoFit/>
          </a:bodyPr>
          <a:lstStyle/>
          <a:p>
            <a:pPr algn="ctr"/>
            <a:r>
              <a:rPr sz="1500" b="1" lang="en-US">
                <a:solidFill>
                  <a:srgbClr val="FFFFFF"/>
                </a:solidFill>
                <a:latin typeface="Arial"/>
              </a:rPr>
              <a:t>Focus: attestation-based DFL → inference → verifiable agent use.</a:t>
            </a:r>
          </a:p>
        </p:txBody>
      </p:sp>
      <p:cxnSp>
        <p:nvCxnSpPr>
          <p:cNvPr id="21" name="Page 5 technology icon: encryption / 1"/>
          <p:cNvCxnSpPr/>
          <p:nvPr/>
        </p:nvCxnSpPr>
        <p:spPr>
          <a:xfrm flipV="1">
            <a:off x="1061275" y="3727323"/>
            <a:ext cx="0" cy="71437"/>
          </a:xfrm>
          <a:prstGeom prst="line">
            <a:avLst/>
          </a:prstGeom>
          <a:ln w="2028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22" name="Page 5 technology icon: encryption / 2"/>
          <p:cNvCxnSpPr/>
          <p:nvPr/>
        </p:nvCxnSpPr>
        <p:spPr>
          <a:xfrm flipV="1">
            <a:off x="1061275" y="3694580"/>
            <a:ext cx="3936" cy="32743"/>
          </a:xfrm>
          <a:prstGeom prst="line">
            <a:avLst/>
          </a:prstGeom>
          <a:ln w="2028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23" name="Page 5 technology icon: encryption / 3"/>
          <p:cNvCxnSpPr/>
          <p:nvPr/>
        </p:nvCxnSpPr>
        <p:spPr>
          <a:xfrm flipV="1">
            <a:off x="1065211" y="3667791"/>
            <a:ext cx="10881" cy="26789"/>
          </a:xfrm>
          <a:prstGeom prst="line">
            <a:avLst/>
          </a:prstGeom>
          <a:ln w="2028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24" name="Page 5 technology icon: encryption / 4"/>
          <p:cNvCxnSpPr/>
          <p:nvPr/>
        </p:nvCxnSpPr>
        <p:spPr>
          <a:xfrm flipV="1">
            <a:off x="1076092" y="3646955"/>
            <a:ext cx="16437" cy="20836"/>
          </a:xfrm>
          <a:prstGeom prst="line">
            <a:avLst/>
          </a:prstGeom>
          <a:ln w="2028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25" name="Page 5 technology icon: encryption / 5"/>
          <p:cNvCxnSpPr/>
          <p:nvPr/>
        </p:nvCxnSpPr>
        <p:spPr>
          <a:xfrm flipV="1">
            <a:off x="1092529" y="3632073"/>
            <a:ext cx="20604" cy="14882"/>
          </a:xfrm>
          <a:prstGeom prst="line">
            <a:avLst/>
          </a:prstGeom>
          <a:ln w="2028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26" name="Page 5 technology icon: encryption / 6"/>
          <p:cNvCxnSpPr/>
          <p:nvPr/>
        </p:nvCxnSpPr>
        <p:spPr>
          <a:xfrm flipV="1">
            <a:off x="1113133" y="3623143"/>
            <a:ext cx="23383" cy="8930"/>
          </a:xfrm>
          <a:prstGeom prst="line">
            <a:avLst/>
          </a:prstGeom>
          <a:ln w="2028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27" name="Page 5 technology icon: encryption / 7"/>
          <p:cNvCxnSpPr/>
          <p:nvPr/>
        </p:nvCxnSpPr>
        <p:spPr>
          <a:xfrm flipV="1">
            <a:off x="1136516" y="3620166"/>
            <a:ext cx="24772" cy="2977"/>
          </a:xfrm>
          <a:prstGeom prst="line">
            <a:avLst/>
          </a:prstGeom>
          <a:ln w="2028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28" name="Page 5 technology icon: encryption / 8"/>
          <p:cNvCxnSpPr/>
          <p:nvPr/>
        </p:nvCxnSpPr>
        <p:spPr>
          <a:xfrm>
            <a:off x="1161288" y="3620166"/>
            <a:ext cx="24771" cy="2977"/>
          </a:xfrm>
          <a:prstGeom prst="line">
            <a:avLst/>
          </a:prstGeom>
          <a:ln w="2028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29" name="Page 5 technology icon: encryption / 9"/>
          <p:cNvCxnSpPr/>
          <p:nvPr/>
        </p:nvCxnSpPr>
        <p:spPr>
          <a:xfrm>
            <a:off x="1186059" y="3623143"/>
            <a:ext cx="23383" cy="8930"/>
          </a:xfrm>
          <a:prstGeom prst="line">
            <a:avLst/>
          </a:prstGeom>
          <a:ln w="2028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30" name="Page 5 technology icon: encryption / 10"/>
          <p:cNvCxnSpPr/>
          <p:nvPr/>
        </p:nvCxnSpPr>
        <p:spPr>
          <a:xfrm>
            <a:off x="1209442" y="3632073"/>
            <a:ext cx="20604" cy="14882"/>
          </a:xfrm>
          <a:prstGeom prst="line">
            <a:avLst/>
          </a:prstGeom>
          <a:ln w="2028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31" name="Page 5 technology icon: encryption / 11"/>
          <p:cNvCxnSpPr/>
          <p:nvPr/>
        </p:nvCxnSpPr>
        <p:spPr>
          <a:xfrm>
            <a:off x="1230046" y="3646955"/>
            <a:ext cx="16437" cy="20836"/>
          </a:xfrm>
          <a:prstGeom prst="line">
            <a:avLst/>
          </a:prstGeom>
          <a:ln w="2028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32" name="Page 5 technology icon: encryption / 12"/>
          <p:cNvCxnSpPr/>
          <p:nvPr/>
        </p:nvCxnSpPr>
        <p:spPr>
          <a:xfrm>
            <a:off x="1246483" y="3667791"/>
            <a:ext cx="10881" cy="26789"/>
          </a:xfrm>
          <a:prstGeom prst="line">
            <a:avLst/>
          </a:prstGeom>
          <a:ln w="2028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33" name="Page 5 technology icon: encryption / 13"/>
          <p:cNvCxnSpPr/>
          <p:nvPr/>
        </p:nvCxnSpPr>
        <p:spPr>
          <a:xfrm>
            <a:off x="1257364" y="3694580"/>
            <a:ext cx="3936" cy="32743"/>
          </a:xfrm>
          <a:prstGeom prst="line">
            <a:avLst/>
          </a:prstGeom>
          <a:ln w="2028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34" name="Page 5 technology icon: encryption / 14"/>
          <p:cNvCxnSpPr/>
          <p:nvPr/>
        </p:nvCxnSpPr>
        <p:spPr>
          <a:xfrm>
            <a:off x="1261300" y="3727323"/>
            <a:ext cx="0" cy="71437"/>
          </a:xfrm>
          <a:prstGeom prst="line">
            <a:avLst/>
          </a:prstGeom>
          <a:ln w="20284" cap="rnd">
            <a:solidFill>
              <a:srgbClr val="2F8F46"/>
            </a:solidFill>
          </a:ln>
        </p:spPr>
        <p:style>
          <a:lnRef idx="2">
            <a:schemeClr val="accent1"/>
          </a:lnRef>
          <a:fillRef idx="0">
            <a:schemeClr val="accent1"/>
          </a:fillRef>
          <a:effectRef idx="1">
            <a:schemeClr val="accent1"/>
          </a:effectRef>
          <a:fontRef idx="minor">
            <a:schemeClr val="tx1"/>
          </a:fontRef>
        </p:style>
      </p:cxnSp>
      <p:sp>
        <p:nvSpPr>
          <p:cNvPr id="35" name="Page 5 technology icon: encryption / 15"/>
          <p:cNvSpPr/>
          <p:nvPr/>
        </p:nvSpPr>
        <p:spPr>
          <a:xfrm>
            <a:off x="1004125" y="3770185"/>
            <a:ext cx="314325" cy="228600"/>
          </a:xfrm>
          <a:prstGeom prst="roundRect">
            <a:avLst/>
          </a:prstGeom>
          <a:solidFill>
            <a:srgbClr val="FFFFFF"/>
          </a:solidFill>
          <a:ln w="20284">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age 5 technology icon: encryption / 16"/>
          <p:cNvSpPr/>
          <p:nvPr/>
        </p:nvSpPr>
        <p:spPr>
          <a:xfrm>
            <a:off x="1139856" y="3841623"/>
            <a:ext cx="42862" cy="42862"/>
          </a:xfrm>
          <a:prstGeom prst="ellipse">
            <a:avLst/>
          </a:prstGeom>
          <a:solidFill>
            <a:srgbClr val="2F8F46"/>
          </a:solidFill>
          <a:ln w="20284">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Page 5 technology icon: encryption / 17"/>
          <p:cNvCxnSpPr/>
          <p:nvPr/>
        </p:nvCxnSpPr>
        <p:spPr>
          <a:xfrm>
            <a:off x="1161288" y="3884485"/>
            <a:ext cx="0" cy="42863"/>
          </a:xfrm>
          <a:prstGeom prst="line">
            <a:avLst/>
          </a:prstGeom>
          <a:ln w="2028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38" name="Page 5 symbol connection: 1"/>
          <p:cNvCxnSpPr/>
          <p:nvPr/>
        </p:nvCxnSpPr>
        <p:spPr>
          <a:xfrm>
            <a:off x="1481328" y="3813048"/>
            <a:ext cx="1005840" cy="0"/>
          </a:xfrm>
          <a:prstGeom prst="line">
            <a:avLst/>
          </a:prstGeom>
          <a:ln w="15240">
            <a:solidFill>
              <a:srgbClr val="87949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9" name="Page 5 technology icon: tee / 1"/>
          <p:cNvCxnSpPr/>
          <p:nvPr/>
        </p:nvCxnSpPr>
        <p:spPr>
          <a:xfrm>
            <a:off x="2721483" y="3613023"/>
            <a:ext cx="0" cy="57150"/>
          </a:xfrm>
          <a:prstGeom prst="line">
            <a:avLst/>
          </a:prstGeom>
          <a:ln w="2028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40" name="Page 5 technology icon: tee / 2"/>
          <p:cNvCxnSpPr/>
          <p:nvPr/>
        </p:nvCxnSpPr>
        <p:spPr>
          <a:xfrm>
            <a:off x="2721483" y="3955923"/>
            <a:ext cx="0" cy="57150"/>
          </a:xfrm>
          <a:prstGeom prst="line">
            <a:avLst/>
          </a:prstGeom>
          <a:ln w="2028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41" name="Page 5 technology icon: tee / 3"/>
          <p:cNvCxnSpPr/>
          <p:nvPr/>
        </p:nvCxnSpPr>
        <p:spPr>
          <a:xfrm>
            <a:off x="2607183" y="3727323"/>
            <a:ext cx="57150" cy="0"/>
          </a:xfrm>
          <a:prstGeom prst="line">
            <a:avLst/>
          </a:prstGeom>
          <a:ln w="2028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42" name="Page 5 technology icon: tee / 4"/>
          <p:cNvCxnSpPr/>
          <p:nvPr/>
        </p:nvCxnSpPr>
        <p:spPr>
          <a:xfrm>
            <a:off x="2950083" y="3727323"/>
            <a:ext cx="57150" cy="0"/>
          </a:xfrm>
          <a:prstGeom prst="line">
            <a:avLst/>
          </a:prstGeom>
          <a:ln w="2028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43" name="Page 5 technology icon: tee / 5"/>
          <p:cNvCxnSpPr/>
          <p:nvPr/>
        </p:nvCxnSpPr>
        <p:spPr>
          <a:xfrm>
            <a:off x="2807208" y="3613023"/>
            <a:ext cx="0" cy="57150"/>
          </a:xfrm>
          <a:prstGeom prst="line">
            <a:avLst/>
          </a:prstGeom>
          <a:ln w="2028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44" name="Page 5 technology icon: tee / 6"/>
          <p:cNvCxnSpPr/>
          <p:nvPr/>
        </p:nvCxnSpPr>
        <p:spPr>
          <a:xfrm>
            <a:off x="2807208" y="3955923"/>
            <a:ext cx="0" cy="57150"/>
          </a:xfrm>
          <a:prstGeom prst="line">
            <a:avLst/>
          </a:prstGeom>
          <a:ln w="2028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45" name="Page 5 technology icon: tee / 7"/>
          <p:cNvCxnSpPr/>
          <p:nvPr/>
        </p:nvCxnSpPr>
        <p:spPr>
          <a:xfrm>
            <a:off x="2607183" y="3813048"/>
            <a:ext cx="57150" cy="0"/>
          </a:xfrm>
          <a:prstGeom prst="line">
            <a:avLst/>
          </a:prstGeom>
          <a:ln w="2028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46" name="Page 5 technology icon: tee / 8"/>
          <p:cNvCxnSpPr/>
          <p:nvPr/>
        </p:nvCxnSpPr>
        <p:spPr>
          <a:xfrm>
            <a:off x="2950083" y="3813048"/>
            <a:ext cx="57150" cy="0"/>
          </a:xfrm>
          <a:prstGeom prst="line">
            <a:avLst/>
          </a:prstGeom>
          <a:ln w="2028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47" name="Page 5 technology icon: tee / 9"/>
          <p:cNvCxnSpPr/>
          <p:nvPr/>
        </p:nvCxnSpPr>
        <p:spPr>
          <a:xfrm>
            <a:off x="2892933" y="3613023"/>
            <a:ext cx="0" cy="57150"/>
          </a:xfrm>
          <a:prstGeom prst="line">
            <a:avLst/>
          </a:prstGeom>
          <a:ln w="2028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48" name="Page 5 technology icon: tee / 10"/>
          <p:cNvCxnSpPr/>
          <p:nvPr/>
        </p:nvCxnSpPr>
        <p:spPr>
          <a:xfrm>
            <a:off x="2892933" y="3955923"/>
            <a:ext cx="0" cy="57150"/>
          </a:xfrm>
          <a:prstGeom prst="line">
            <a:avLst/>
          </a:prstGeom>
          <a:ln w="2028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49" name="Page 5 technology icon: tee / 11"/>
          <p:cNvCxnSpPr/>
          <p:nvPr/>
        </p:nvCxnSpPr>
        <p:spPr>
          <a:xfrm>
            <a:off x="2607183" y="3898773"/>
            <a:ext cx="57150" cy="0"/>
          </a:xfrm>
          <a:prstGeom prst="line">
            <a:avLst/>
          </a:prstGeom>
          <a:ln w="2028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50" name="Page 5 technology icon: tee / 12"/>
          <p:cNvCxnSpPr/>
          <p:nvPr/>
        </p:nvCxnSpPr>
        <p:spPr>
          <a:xfrm>
            <a:off x="2950083" y="3898773"/>
            <a:ext cx="57150" cy="0"/>
          </a:xfrm>
          <a:prstGeom prst="line">
            <a:avLst/>
          </a:prstGeom>
          <a:ln w="20284" cap="rnd">
            <a:solidFill>
              <a:srgbClr val="1F90CC"/>
            </a:solidFill>
          </a:ln>
        </p:spPr>
        <p:style>
          <a:lnRef idx="2">
            <a:schemeClr val="accent1"/>
          </a:lnRef>
          <a:fillRef idx="0">
            <a:schemeClr val="accent1"/>
          </a:fillRef>
          <a:effectRef idx="1">
            <a:schemeClr val="accent1"/>
          </a:effectRef>
          <a:fontRef idx="minor">
            <a:schemeClr val="tx1"/>
          </a:fontRef>
        </p:style>
      </p:cxnSp>
      <p:sp>
        <p:nvSpPr>
          <p:cNvPr id="51" name="Page 5 technology icon: tee / 13"/>
          <p:cNvSpPr/>
          <p:nvPr/>
        </p:nvSpPr>
        <p:spPr>
          <a:xfrm>
            <a:off x="2664333" y="3670173"/>
            <a:ext cx="285750" cy="285750"/>
          </a:xfrm>
          <a:prstGeom prst="roundRect">
            <a:avLst/>
          </a:prstGeom>
          <a:solidFill>
            <a:srgbClr val="FFFFFF"/>
          </a:solidFill>
          <a:ln w="20284">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Page 5 technology icon: tee / 14"/>
          <p:cNvCxnSpPr/>
          <p:nvPr/>
        </p:nvCxnSpPr>
        <p:spPr>
          <a:xfrm flipV="1">
            <a:off x="2750058" y="3755898"/>
            <a:ext cx="0" cy="42862"/>
          </a:xfrm>
          <a:prstGeom prst="line">
            <a:avLst/>
          </a:prstGeom>
          <a:ln w="15875"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53" name="Page 5 technology icon: tee / 15"/>
          <p:cNvCxnSpPr/>
          <p:nvPr/>
        </p:nvCxnSpPr>
        <p:spPr>
          <a:xfrm flipV="1">
            <a:off x="2750058" y="3739526"/>
            <a:ext cx="2248" cy="16372"/>
          </a:xfrm>
          <a:prstGeom prst="line">
            <a:avLst/>
          </a:prstGeom>
          <a:ln w="15875"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54" name="Page 5 technology icon: tee / 16"/>
          <p:cNvCxnSpPr/>
          <p:nvPr/>
        </p:nvCxnSpPr>
        <p:spPr>
          <a:xfrm flipV="1">
            <a:off x="2752306" y="3726132"/>
            <a:ext cx="6218" cy="13394"/>
          </a:xfrm>
          <a:prstGeom prst="line">
            <a:avLst/>
          </a:prstGeom>
          <a:ln w="15875"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55" name="Page 5 technology icon: tee / 17"/>
          <p:cNvCxnSpPr/>
          <p:nvPr/>
        </p:nvCxnSpPr>
        <p:spPr>
          <a:xfrm flipV="1">
            <a:off x="2758524" y="3715714"/>
            <a:ext cx="9393" cy="10418"/>
          </a:xfrm>
          <a:prstGeom prst="line">
            <a:avLst/>
          </a:prstGeom>
          <a:ln w="15875"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56" name="Page 5 technology icon: tee / 18"/>
          <p:cNvCxnSpPr/>
          <p:nvPr/>
        </p:nvCxnSpPr>
        <p:spPr>
          <a:xfrm flipV="1">
            <a:off x="2767917" y="3708273"/>
            <a:ext cx="11774" cy="7441"/>
          </a:xfrm>
          <a:prstGeom prst="line">
            <a:avLst/>
          </a:prstGeom>
          <a:ln w="15875"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57" name="Page 5 technology icon: tee / 19"/>
          <p:cNvCxnSpPr/>
          <p:nvPr/>
        </p:nvCxnSpPr>
        <p:spPr>
          <a:xfrm flipV="1">
            <a:off x="2779691" y="3703808"/>
            <a:ext cx="13361" cy="4465"/>
          </a:xfrm>
          <a:prstGeom prst="line">
            <a:avLst/>
          </a:prstGeom>
          <a:ln w="15875"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58" name="Page 5 technology icon: tee / 20"/>
          <p:cNvCxnSpPr/>
          <p:nvPr/>
        </p:nvCxnSpPr>
        <p:spPr>
          <a:xfrm flipV="1">
            <a:off x="2793052" y="3702319"/>
            <a:ext cx="14156" cy="1489"/>
          </a:xfrm>
          <a:prstGeom prst="line">
            <a:avLst/>
          </a:prstGeom>
          <a:ln w="15875"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59" name="Page 5 technology icon: tee / 21"/>
          <p:cNvCxnSpPr/>
          <p:nvPr/>
        </p:nvCxnSpPr>
        <p:spPr>
          <a:xfrm>
            <a:off x="2807208" y="3702319"/>
            <a:ext cx="14155" cy="1489"/>
          </a:xfrm>
          <a:prstGeom prst="line">
            <a:avLst/>
          </a:prstGeom>
          <a:ln w="15875"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60" name="Page 5 technology icon: tee / 22"/>
          <p:cNvCxnSpPr/>
          <p:nvPr/>
        </p:nvCxnSpPr>
        <p:spPr>
          <a:xfrm>
            <a:off x="2821363" y="3703808"/>
            <a:ext cx="13361" cy="4465"/>
          </a:xfrm>
          <a:prstGeom prst="line">
            <a:avLst/>
          </a:prstGeom>
          <a:ln w="15875"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61" name="Page 5 technology icon: tee / 23"/>
          <p:cNvCxnSpPr/>
          <p:nvPr/>
        </p:nvCxnSpPr>
        <p:spPr>
          <a:xfrm>
            <a:off x="2834724" y="3708273"/>
            <a:ext cx="11774" cy="7441"/>
          </a:xfrm>
          <a:prstGeom prst="line">
            <a:avLst/>
          </a:prstGeom>
          <a:ln w="15875"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62" name="Page 5 technology icon: tee / 24"/>
          <p:cNvCxnSpPr/>
          <p:nvPr/>
        </p:nvCxnSpPr>
        <p:spPr>
          <a:xfrm>
            <a:off x="2846498" y="3715714"/>
            <a:ext cx="9393" cy="10418"/>
          </a:xfrm>
          <a:prstGeom prst="line">
            <a:avLst/>
          </a:prstGeom>
          <a:ln w="15875"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63" name="Page 5 technology icon: tee / 25"/>
          <p:cNvCxnSpPr/>
          <p:nvPr/>
        </p:nvCxnSpPr>
        <p:spPr>
          <a:xfrm>
            <a:off x="2855891" y="3726132"/>
            <a:ext cx="6218" cy="13394"/>
          </a:xfrm>
          <a:prstGeom prst="line">
            <a:avLst/>
          </a:prstGeom>
          <a:ln w="15875"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64" name="Page 5 technology icon: tee / 26"/>
          <p:cNvCxnSpPr/>
          <p:nvPr/>
        </p:nvCxnSpPr>
        <p:spPr>
          <a:xfrm>
            <a:off x="2862109" y="3739526"/>
            <a:ext cx="2249" cy="16372"/>
          </a:xfrm>
          <a:prstGeom prst="line">
            <a:avLst/>
          </a:prstGeom>
          <a:ln w="15875"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65" name="Page 5 technology icon: tee / 27"/>
          <p:cNvCxnSpPr/>
          <p:nvPr/>
        </p:nvCxnSpPr>
        <p:spPr>
          <a:xfrm>
            <a:off x="2864358" y="3755898"/>
            <a:ext cx="0" cy="42862"/>
          </a:xfrm>
          <a:prstGeom prst="line">
            <a:avLst/>
          </a:prstGeom>
          <a:ln w="15875" cap="rnd">
            <a:solidFill>
              <a:srgbClr val="1F90CC"/>
            </a:solidFill>
          </a:ln>
        </p:spPr>
        <p:style>
          <a:lnRef idx="2">
            <a:schemeClr val="accent1"/>
          </a:lnRef>
          <a:fillRef idx="0">
            <a:schemeClr val="accent1"/>
          </a:fillRef>
          <a:effectRef idx="1">
            <a:schemeClr val="accent1"/>
          </a:effectRef>
          <a:fontRef idx="minor">
            <a:schemeClr val="tx1"/>
          </a:fontRef>
        </p:style>
      </p:cxnSp>
      <p:sp>
        <p:nvSpPr>
          <p:cNvPr id="66" name="Page 5 technology icon: tee / 28"/>
          <p:cNvSpPr/>
          <p:nvPr/>
        </p:nvSpPr>
        <p:spPr>
          <a:xfrm>
            <a:off x="2735770" y="3784473"/>
            <a:ext cx="142875" cy="114300"/>
          </a:xfrm>
          <a:prstGeom prst="roundRect">
            <a:avLst/>
          </a:prstGeom>
          <a:solidFill>
            <a:srgbClr val="FFFFFF"/>
          </a:solidFill>
          <a:ln w="20284">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7" name="Page 5 symbol connection: 2"/>
          <p:cNvCxnSpPr/>
          <p:nvPr/>
        </p:nvCxnSpPr>
        <p:spPr>
          <a:xfrm>
            <a:off x="3127248" y="3813048"/>
            <a:ext cx="1005840" cy="0"/>
          </a:xfrm>
          <a:prstGeom prst="line">
            <a:avLst/>
          </a:prstGeom>
          <a:ln w="15240">
            <a:solidFill>
              <a:srgbClr val="87949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8" name="Page 5 technology icon: attestation / 1"/>
          <p:cNvCxnSpPr/>
          <p:nvPr/>
        </p:nvCxnSpPr>
        <p:spPr>
          <a:xfrm flipH="1">
            <a:off x="4310253" y="3627310"/>
            <a:ext cx="200025" cy="0"/>
          </a:xfrm>
          <a:prstGeom prst="line">
            <a:avLst/>
          </a:prstGeom>
          <a:ln w="2028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69" name="Page 5 technology icon: attestation / 2"/>
          <p:cNvCxnSpPr/>
          <p:nvPr/>
        </p:nvCxnSpPr>
        <p:spPr>
          <a:xfrm>
            <a:off x="4310253" y="3627310"/>
            <a:ext cx="0" cy="371475"/>
          </a:xfrm>
          <a:prstGeom prst="line">
            <a:avLst/>
          </a:prstGeom>
          <a:ln w="2028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70" name="Page 5 technology icon: attestation / 3"/>
          <p:cNvCxnSpPr/>
          <p:nvPr/>
        </p:nvCxnSpPr>
        <p:spPr>
          <a:xfrm>
            <a:off x="4310253" y="3998785"/>
            <a:ext cx="285750" cy="0"/>
          </a:xfrm>
          <a:prstGeom prst="line">
            <a:avLst/>
          </a:prstGeom>
          <a:ln w="2028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71" name="Page 5 technology icon: attestation / 4"/>
          <p:cNvCxnSpPr/>
          <p:nvPr/>
        </p:nvCxnSpPr>
        <p:spPr>
          <a:xfrm flipV="1">
            <a:off x="4596003" y="3713035"/>
            <a:ext cx="0" cy="285750"/>
          </a:xfrm>
          <a:prstGeom prst="line">
            <a:avLst/>
          </a:prstGeom>
          <a:ln w="2028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72" name="Page 5 technology icon: attestation / 5"/>
          <p:cNvCxnSpPr/>
          <p:nvPr/>
        </p:nvCxnSpPr>
        <p:spPr>
          <a:xfrm flipH="1" flipV="1">
            <a:off x="4510278" y="3627310"/>
            <a:ext cx="85725" cy="85725"/>
          </a:xfrm>
          <a:prstGeom prst="line">
            <a:avLst/>
          </a:prstGeom>
          <a:ln w="2028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73" name="Page 5 technology icon: attestation / 6"/>
          <p:cNvCxnSpPr/>
          <p:nvPr/>
        </p:nvCxnSpPr>
        <p:spPr>
          <a:xfrm>
            <a:off x="4510278" y="3627310"/>
            <a:ext cx="0" cy="85725"/>
          </a:xfrm>
          <a:prstGeom prst="line">
            <a:avLst/>
          </a:prstGeom>
          <a:ln w="2028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74" name="Page 5 technology icon: attestation / 7"/>
          <p:cNvCxnSpPr/>
          <p:nvPr/>
        </p:nvCxnSpPr>
        <p:spPr>
          <a:xfrm>
            <a:off x="4510278" y="3713035"/>
            <a:ext cx="85725" cy="0"/>
          </a:xfrm>
          <a:prstGeom prst="line">
            <a:avLst/>
          </a:prstGeom>
          <a:ln w="2028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75" name="Page 5 technology icon: attestation / 8"/>
          <p:cNvCxnSpPr/>
          <p:nvPr/>
        </p:nvCxnSpPr>
        <p:spPr>
          <a:xfrm>
            <a:off x="4367403" y="3755898"/>
            <a:ext cx="100012" cy="0"/>
          </a:xfrm>
          <a:prstGeom prst="line">
            <a:avLst/>
          </a:prstGeom>
          <a:ln w="15875"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76" name="Page 5 technology icon: attestation / 9"/>
          <p:cNvCxnSpPr/>
          <p:nvPr/>
        </p:nvCxnSpPr>
        <p:spPr>
          <a:xfrm>
            <a:off x="4367403" y="3813048"/>
            <a:ext cx="71437" cy="0"/>
          </a:xfrm>
          <a:prstGeom prst="line">
            <a:avLst/>
          </a:prstGeom>
          <a:ln w="15875"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77" name="Page 5 technology icon: attestation / 10"/>
          <p:cNvCxnSpPr/>
          <p:nvPr/>
        </p:nvCxnSpPr>
        <p:spPr>
          <a:xfrm>
            <a:off x="4381690" y="3898773"/>
            <a:ext cx="57150" cy="57150"/>
          </a:xfrm>
          <a:prstGeom prst="line">
            <a:avLst/>
          </a:prstGeom>
          <a:ln w="26458"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78" name="Page 5 technology icon: attestation / 11"/>
          <p:cNvCxnSpPr/>
          <p:nvPr/>
        </p:nvCxnSpPr>
        <p:spPr>
          <a:xfrm flipV="1">
            <a:off x="4438840" y="3827335"/>
            <a:ext cx="128588" cy="128588"/>
          </a:xfrm>
          <a:prstGeom prst="line">
            <a:avLst/>
          </a:prstGeom>
          <a:ln w="26458"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79" name="Page 5 symbol connection: 3"/>
          <p:cNvCxnSpPr/>
          <p:nvPr/>
        </p:nvCxnSpPr>
        <p:spPr>
          <a:xfrm>
            <a:off x="4773168" y="3813048"/>
            <a:ext cx="1005840" cy="0"/>
          </a:xfrm>
          <a:prstGeom prst="line">
            <a:avLst/>
          </a:prstGeom>
          <a:ln w="15240">
            <a:solidFill>
              <a:srgbClr val="87949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0" name="Page 5 technology icon: blockchain / 1"/>
          <p:cNvCxnSpPr/>
          <p:nvPr/>
        </p:nvCxnSpPr>
        <p:spPr>
          <a:xfrm>
            <a:off x="5999035" y="3713035"/>
            <a:ext cx="185738" cy="0"/>
          </a:xfrm>
          <a:prstGeom prst="line">
            <a:avLst/>
          </a:prstGeom>
          <a:ln w="2028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81" name="Page 5 technology icon: blockchain / 2"/>
          <p:cNvCxnSpPr/>
          <p:nvPr/>
        </p:nvCxnSpPr>
        <p:spPr>
          <a:xfrm>
            <a:off x="6184773" y="3713035"/>
            <a:ext cx="0" cy="200025"/>
          </a:xfrm>
          <a:prstGeom prst="line">
            <a:avLst/>
          </a:prstGeom>
          <a:ln w="2028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82" name="Page 5 technology icon: blockchain / 3"/>
          <p:cNvCxnSpPr/>
          <p:nvPr/>
        </p:nvCxnSpPr>
        <p:spPr>
          <a:xfrm flipH="1">
            <a:off x="5999035" y="3913060"/>
            <a:ext cx="185738" cy="0"/>
          </a:xfrm>
          <a:prstGeom prst="line">
            <a:avLst/>
          </a:prstGeom>
          <a:ln w="20284" cap="rnd">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83" name="Page 5 technology icon: blockchain / 4"/>
          <p:cNvCxnSpPr/>
          <p:nvPr/>
        </p:nvCxnSpPr>
        <p:spPr>
          <a:xfrm flipV="1">
            <a:off x="5999035" y="3713035"/>
            <a:ext cx="0" cy="200025"/>
          </a:xfrm>
          <a:prstGeom prst="line">
            <a:avLst/>
          </a:prstGeom>
          <a:ln w="20284" cap="rnd">
            <a:solidFill>
              <a:srgbClr val="2F8F46"/>
            </a:solidFill>
          </a:ln>
        </p:spPr>
        <p:style>
          <a:lnRef idx="2">
            <a:schemeClr val="accent1"/>
          </a:lnRef>
          <a:fillRef idx="0">
            <a:schemeClr val="accent1"/>
          </a:fillRef>
          <a:effectRef idx="1">
            <a:schemeClr val="accent1"/>
          </a:effectRef>
          <a:fontRef idx="minor">
            <a:schemeClr val="tx1"/>
          </a:fontRef>
        </p:style>
      </p:cxnSp>
      <p:sp>
        <p:nvSpPr>
          <p:cNvPr id="84" name="Page 5 technology icon: blockchain / 5"/>
          <p:cNvSpPr/>
          <p:nvPr/>
        </p:nvSpPr>
        <p:spPr>
          <a:xfrm>
            <a:off x="5927598" y="3641598"/>
            <a:ext cx="114300" cy="114300"/>
          </a:xfrm>
          <a:prstGeom prst="roundRect">
            <a:avLst/>
          </a:prstGeom>
          <a:solidFill>
            <a:srgbClr val="FFFFFF"/>
          </a:solidFill>
          <a:ln w="20284">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Page 5 technology icon: blockchain / 6"/>
          <p:cNvSpPr/>
          <p:nvPr/>
        </p:nvSpPr>
        <p:spPr>
          <a:xfrm>
            <a:off x="6156198" y="3641598"/>
            <a:ext cx="114300" cy="114300"/>
          </a:xfrm>
          <a:prstGeom prst="roundRect">
            <a:avLst/>
          </a:prstGeom>
          <a:solidFill>
            <a:srgbClr val="FFFFFF"/>
          </a:solidFill>
          <a:ln w="20284">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Page 5 technology icon: blockchain / 7"/>
          <p:cNvSpPr/>
          <p:nvPr/>
        </p:nvSpPr>
        <p:spPr>
          <a:xfrm>
            <a:off x="5927598" y="3870198"/>
            <a:ext cx="114300" cy="114300"/>
          </a:xfrm>
          <a:prstGeom prst="roundRect">
            <a:avLst/>
          </a:prstGeom>
          <a:solidFill>
            <a:srgbClr val="FFFFFF"/>
          </a:solidFill>
          <a:ln w="20284">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Page 5 technology icon: blockchain / 8"/>
          <p:cNvSpPr/>
          <p:nvPr/>
        </p:nvSpPr>
        <p:spPr>
          <a:xfrm>
            <a:off x="6156198" y="3870198"/>
            <a:ext cx="114300" cy="114300"/>
          </a:xfrm>
          <a:prstGeom prst="roundRect">
            <a:avLst/>
          </a:prstGeom>
          <a:solidFill>
            <a:srgbClr val="FFFFFF"/>
          </a:solidFill>
          <a:ln w="20284">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8" name="Page 5 symbol connection: 4"/>
          <p:cNvCxnSpPr/>
          <p:nvPr/>
        </p:nvCxnSpPr>
        <p:spPr>
          <a:xfrm>
            <a:off x="6419088" y="3813048"/>
            <a:ext cx="1005840" cy="0"/>
          </a:xfrm>
          <a:prstGeom prst="line">
            <a:avLst/>
          </a:prstGeom>
          <a:ln w="15240">
            <a:solidFill>
              <a:srgbClr val="87949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9" name="Page 5 technology icon: dfl / 1"/>
          <p:cNvCxnSpPr/>
          <p:nvPr/>
        </p:nvCxnSpPr>
        <p:spPr>
          <a:xfrm>
            <a:off x="7744968" y="3655885"/>
            <a:ext cx="171450" cy="128588"/>
          </a:xfrm>
          <a:prstGeom prst="line">
            <a:avLst/>
          </a:prstGeom>
          <a:ln w="2028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90" name="Page 5 technology icon: dfl / 2"/>
          <p:cNvCxnSpPr/>
          <p:nvPr/>
        </p:nvCxnSpPr>
        <p:spPr>
          <a:xfrm flipH="1">
            <a:off x="7844980" y="3784473"/>
            <a:ext cx="71438" cy="185737"/>
          </a:xfrm>
          <a:prstGeom prst="line">
            <a:avLst/>
          </a:prstGeom>
          <a:ln w="2028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91" name="Page 5 technology icon: dfl / 3"/>
          <p:cNvCxnSpPr/>
          <p:nvPr/>
        </p:nvCxnSpPr>
        <p:spPr>
          <a:xfrm flipH="1">
            <a:off x="7644955" y="3970210"/>
            <a:ext cx="200025" cy="0"/>
          </a:xfrm>
          <a:prstGeom prst="line">
            <a:avLst/>
          </a:prstGeom>
          <a:ln w="2028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92" name="Page 5 technology icon: dfl / 4"/>
          <p:cNvCxnSpPr/>
          <p:nvPr/>
        </p:nvCxnSpPr>
        <p:spPr>
          <a:xfrm flipH="1" flipV="1">
            <a:off x="7573518" y="3784473"/>
            <a:ext cx="71437" cy="185737"/>
          </a:xfrm>
          <a:prstGeom prst="line">
            <a:avLst/>
          </a:prstGeom>
          <a:ln w="2028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93" name="Page 5 technology icon: dfl / 5"/>
          <p:cNvCxnSpPr/>
          <p:nvPr/>
        </p:nvCxnSpPr>
        <p:spPr>
          <a:xfrm flipV="1">
            <a:off x="7573518" y="3655885"/>
            <a:ext cx="171450" cy="128588"/>
          </a:xfrm>
          <a:prstGeom prst="line">
            <a:avLst/>
          </a:prstGeom>
          <a:ln w="20284"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94" name="Page 5 technology icon: dfl / 6"/>
          <p:cNvCxnSpPr/>
          <p:nvPr/>
        </p:nvCxnSpPr>
        <p:spPr>
          <a:xfrm>
            <a:off x="7744968" y="3655885"/>
            <a:ext cx="100012" cy="314325"/>
          </a:xfrm>
          <a:prstGeom prst="line">
            <a:avLst/>
          </a:prstGeom>
          <a:ln w="14111"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95" name="Page 5 technology icon: dfl / 7"/>
          <p:cNvCxnSpPr/>
          <p:nvPr/>
        </p:nvCxnSpPr>
        <p:spPr>
          <a:xfrm flipH="1" flipV="1">
            <a:off x="7573518" y="3784473"/>
            <a:ext cx="271462" cy="185737"/>
          </a:xfrm>
          <a:prstGeom prst="line">
            <a:avLst/>
          </a:prstGeom>
          <a:ln w="14111"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96" name="Page 5 technology icon: dfl / 8"/>
          <p:cNvCxnSpPr/>
          <p:nvPr/>
        </p:nvCxnSpPr>
        <p:spPr>
          <a:xfrm>
            <a:off x="7573518" y="3784473"/>
            <a:ext cx="342900" cy="0"/>
          </a:xfrm>
          <a:prstGeom prst="line">
            <a:avLst/>
          </a:prstGeom>
          <a:ln w="14111"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97" name="Page 5 technology icon: dfl / 9"/>
          <p:cNvCxnSpPr/>
          <p:nvPr/>
        </p:nvCxnSpPr>
        <p:spPr>
          <a:xfrm flipH="1">
            <a:off x="7644955" y="3784473"/>
            <a:ext cx="271463" cy="185737"/>
          </a:xfrm>
          <a:prstGeom prst="line">
            <a:avLst/>
          </a:prstGeom>
          <a:ln w="14111"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98" name="Page 5 technology icon: dfl / 10"/>
          <p:cNvCxnSpPr/>
          <p:nvPr/>
        </p:nvCxnSpPr>
        <p:spPr>
          <a:xfrm flipV="1">
            <a:off x="7644955" y="3655885"/>
            <a:ext cx="100013" cy="314325"/>
          </a:xfrm>
          <a:prstGeom prst="line">
            <a:avLst/>
          </a:prstGeom>
          <a:ln w="14111" cap="rnd">
            <a:solidFill>
              <a:srgbClr val="1F90CC"/>
            </a:solidFill>
          </a:ln>
        </p:spPr>
        <p:style>
          <a:lnRef idx="2">
            <a:schemeClr val="accent1"/>
          </a:lnRef>
          <a:fillRef idx="0">
            <a:schemeClr val="accent1"/>
          </a:fillRef>
          <a:effectRef idx="1">
            <a:schemeClr val="accent1"/>
          </a:effectRef>
          <a:fontRef idx="minor">
            <a:schemeClr val="tx1"/>
          </a:fontRef>
        </p:style>
      </p:cxnSp>
      <p:sp>
        <p:nvSpPr>
          <p:cNvPr id="99" name="Page 5 technology icon: dfl / 11"/>
          <p:cNvSpPr/>
          <p:nvPr/>
        </p:nvSpPr>
        <p:spPr>
          <a:xfrm>
            <a:off x="7707820" y="3618738"/>
            <a:ext cx="74295" cy="74295"/>
          </a:xfrm>
          <a:prstGeom prst="ellipse">
            <a:avLst/>
          </a:prstGeom>
          <a:solidFill>
            <a:srgbClr val="1F90CC"/>
          </a:solidFill>
          <a:ln w="20284">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Page 5 technology icon: dfl / 12"/>
          <p:cNvSpPr/>
          <p:nvPr/>
        </p:nvSpPr>
        <p:spPr>
          <a:xfrm>
            <a:off x="7879270" y="3747325"/>
            <a:ext cx="74295" cy="74295"/>
          </a:xfrm>
          <a:prstGeom prst="ellipse">
            <a:avLst/>
          </a:prstGeom>
          <a:solidFill>
            <a:srgbClr val="1F90CC"/>
          </a:solidFill>
          <a:ln w="20284">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Page 5 technology icon: dfl / 13"/>
          <p:cNvSpPr/>
          <p:nvPr/>
        </p:nvSpPr>
        <p:spPr>
          <a:xfrm>
            <a:off x="7807833" y="3933062"/>
            <a:ext cx="74295" cy="74295"/>
          </a:xfrm>
          <a:prstGeom prst="ellipse">
            <a:avLst/>
          </a:prstGeom>
          <a:solidFill>
            <a:srgbClr val="1F90CC"/>
          </a:solidFill>
          <a:ln w="20284">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Page 5 technology icon: dfl / 14"/>
          <p:cNvSpPr/>
          <p:nvPr/>
        </p:nvSpPr>
        <p:spPr>
          <a:xfrm>
            <a:off x="7607808" y="3933062"/>
            <a:ext cx="74295" cy="74295"/>
          </a:xfrm>
          <a:prstGeom prst="ellipse">
            <a:avLst/>
          </a:prstGeom>
          <a:solidFill>
            <a:srgbClr val="1F90CC"/>
          </a:solidFill>
          <a:ln w="20284">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Page 5 technology icon: dfl / 15"/>
          <p:cNvSpPr/>
          <p:nvPr/>
        </p:nvSpPr>
        <p:spPr>
          <a:xfrm>
            <a:off x="7536370" y="3747325"/>
            <a:ext cx="74295" cy="74295"/>
          </a:xfrm>
          <a:prstGeom prst="ellipse">
            <a:avLst/>
          </a:prstGeom>
          <a:solidFill>
            <a:srgbClr val="1F90CC"/>
          </a:solidFill>
          <a:ln w="20284">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4" name="Page 5 symbol connection: 5"/>
          <p:cNvCxnSpPr/>
          <p:nvPr/>
        </p:nvCxnSpPr>
        <p:spPr>
          <a:xfrm flipH="1">
            <a:off x="8065008" y="3813048"/>
            <a:ext cx="1005840" cy="0"/>
          </a:xfrm>
          <a:prstGeom prst="line">
            <a:avLst/>
          </a:prstGeom>
          <a:ln w="15240">
            <a:solidFill>
              <a:srgbClr val="87949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05" name="Page 5 technology icon: mcp / 1"/>
          <p:cNvCxnSpPr/>
          <p:nvPr/>
        </p:nvCxnSpPr>
        <p:spPr>
          <a:xfrm flipV="1">
            <a:off x="9208008" y="3627553"/>
            <a:ext cx="172420" cy="172421"/>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6" name="Page 5 technology icon: mcp / 2"/>
          <p:cNvCxnSpPr/>
          <p:nvPr/>
        </p:nvCxnSpPr>
        <p:spPr>
          <a:xfrm flipV="1">
            <a:off x="9380428" y="3623368"/>
            <a:ext cx="4630" cy="4185"/>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7" name="Page 5 technology icon: mcp / 3"/>
          <p:cNvCxnSpPr/>
          <p:nvPr/>
        </p:nvCxnSpPr>
        <p:spPr>
          <a:xfrm flipV="1">
            <a:off x="9385058" y="3619741"/>
            <a:ext cx="4933" cy="3627"/>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8" name="Page 5 technology icon: mcp / 4"/>
          <p:cNvCxnSpPr/>
          <p:nvPr/>
        </p:nvCxnSpPr>
        <p:spPr>
          <a:xfrm flipV="1">
            <a:off x="9389991" y="3616673"/>
            <a:ext cx="5193" cy="3068"/>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9" name="Page 5 technology icon: mcp / 5"/>
          <p:cNvCxnSpPr/>
          <p:nvPr/>
        </p:nvCxnSpPr>
        <p:spPr>
          <a:xfrm flipV="1">
            <a:off x="9395184" y="3614162"/>
            <a:ext cx="5410" cy="2511"/>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0" name="Page 5 technology icon: mcp / 6"/>
          <p:cNvCxnSpPr/>
          <p:nvPr/>
        </p:nvCxnSpPr>
        <p:spPr>
          <a:xfrm flipV="1">
            <a:off x="9400594" y="3612209"/>
            <a:ext cx="5583" cy="195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1" name="Page 5 technology icon: mcp / 7"/>
          <p:cNvCxnSpPr/>
          <p:nvPr/>
        </p:nvCxnSpPr>
        <p:spPr>
          <a:xfrm flipV="1">
            <a:off x="9406177" y="3610814"/>
            <a:ext cx="5714" cy="1395"/>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2" name="Page 5 technology icon: mcp / 8"/>
          <p:cNvCxnSpPr/>
          <p:nvPr/>
        </p:nvCxnSpPr>
        <p:spPr>
          <a:xfrm flipV="1">
            <a:off x="9411891" y="3609977"/>
            <a:ext cx="5800" cy="837"/>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3" name="Page 5 technology icon: mcp / 9"/>
          <p:cNvCxnSpPr/>
          <p:nvPr/>
        </p:nvCxnSpPr>
        <p:spPr>
          <a:xfrm flipV="1">
            <a:off x="9417691" y="3609698"/>
            <a:ext cx="5843" cy="279"/>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4" name="Page 5 technology icon: mcp / 10"/>
          <p:cNvCxnSpPr/>
          <p:nvPr/>
        </p:nvCxnSpPr>
        <p:spPr>
          <a:xfrm>
            <a:off x="9423534" y="3609698"/>
            <a:ext cx="5843" cy="279"/>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5" name="Page 5 technology icon: mcp / 11"/>
          <p:cNvCxnSpPr/>
          <p:nvPr/>
        </p:nvCxnSpPr>
        <p:spPr>
          <a:xfrm>
            <a:off x="9429377" y="3609977"/>
            <a:ext cx="5800" cy="837"/>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6" name="Page 5 technology icon: mcp / 12"/>
          <p:cNvCxnSpPr/>
          <p:nvPr/>
        </p:nvCxnSpPr>
        <p:spPr>
          <a:xfrm>
            <a:off x="9435177" y="3610814"/>
            <a:ext cx="5713" cy="1395"/>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7" name="Page 5 technology icon: mcp / 13"/>
          <p:cNvCxnSpPr/>
          <p:nvPr/>
        </p:nvCxnSpPr>
        <p:spPr>
          <a:xfrm>
            <a:off x="9440890" y="3612209"/>
            <a:ext cx="5583" cy="195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8" name="Page 5 technology icon: mcp / 14"/>
          <p:cNvCxnSpPr/>
          <p:nvPr/>
        </p:nvCxnSpPr>
        <p:spPr>
          <a:xfrm>
            <a:off x="9446473" y="3614162"/>
            <a:ext cx="5409" cy="2511"/>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9" name="Page 5 technology icon: mcp / 15"/>
          <p:cNvCxnSpPr/>
          <p:nvPr/>
        </p:nvCxnSpPr>
        <p:spPr>
          <a:xfrm>
            <a:off x="9451882" y="3616673"/>
            <a:ext cx="5193" cy="3068"/>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0" name="Page 5 technology icon: mcp / 16"/>
          <p:cNvCxnSpPr/>
          <p:nvPr/>
        </p:nvCxnSpPr>
        <p:spPr>
          <a:xfrm>
            <a:off x="9457075" y="3619741"/>
            <a:ext cx="4933" cy="3627"/>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1" name="Page 5 technology icon: mcp / 17"/>
          <p:cNvCxnSpPr/>
          <p:nvPr/>
        </p:nvCxnSpPr>
        <p:spPr>
          <a:xfrm>
            <a:off x="9462008" y="3623368"/>
            <a:ext cx="4630" cy="4185"/>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2" name="Page 5 technology icon: mcp / 18"/>
          <p:cNvCxnSpPr/>
          <p:nvPr/>
        </p:nvCxnSpPr>
        <p:spPr>
          <a:xfrm>
            <a:off x="9466638" y="3627553"/>
            <a:ext cx="0" cy="0"/>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3" name="Page 5 technology icon: mcp / 19"/>
          <p:cNvCxnSpPr/>
          <p:nvPr/>
        </p:nvCxnSpPr>
        <p:spPr>
          <a:xfrm>
            <a:off x="9466638" y="3627553"/>
            <a:ext cx="4185" cy="4630"/>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4" name="Page 5 technology icon: mcp / 20"/>
          <p:cNvCxnSpPr/>
          <p:nvPr/>
        </p:nvCxnSpPr>
        <p:spPr>
          <a:xfrm>
            <a:off x="9470823" y="3632183"/>
            <a:ext cx="3627" cy="493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5" name="Page 5 technology icon: mcp / 21"/>
          <p:cNvCxnSpPr/>
          <p:nvPr/>
        </p:nvCxnSpPr>
        <p:spPr>
          <a:xfrm>
            <a:off x="9474450" y="3637116"/>
            <a:ext cx="3069" cy="519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6" name="Page 5 technology icon: mcp / 22"/>
          <p:cNvCxnSpPr/>
          <p:nvPr/>
        </p:nvCxnSpPr>
        <p:spPr>
          <a:xfrm>
            <a:off x="9477519" y="3642309"/>
            <a:ext cx="2511" cy="5410"/>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7" name="Page 5 technology icon: mcp / 23"/>
          <p:cNvCxnSpPr/>
          <p:nvPr/>
        </p:nvCxnSpPr>
        <p:spPr>
          <a:xfrm>
            <a:off x="9480030" y="3647719"/>
            <a:ext cx="1953" cy="558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8" name="Page 5 technology icon: mcp / 24"/>
          <p:cNvCxnSpPr/>
          <p:nvPr/>
        </p:nvCxnSpPr>
        <p:spPr>
          <a:xfrm>
            <a:off x="9481983" y="3653302"/>
            <a:ext cx="1395" cy="571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9" name="Page 5 technology icon: mcp / 25"/>
          <p:cNvCxnSpPr/>
          <p:nvPr/>
        </p:nvCxnSpPr>
        <p:spPr>
          <a:xfrm>
            <a:off x="9483378" y="3659015"/>
            <a:ext cx="836" cy="5800"/>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0" name="Page 5 technology icon: mcp / 26"/>
          <p:cNvCxnSpPr/>
          <p:nvPr/>
        </p:nvCxnSpPr>
        <p:spPr>
          <a:xfrm>
            <a:off x="9484214" y="3664815"/>
            <a:ext cx="279" cy="584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1" name="Page 5 technology icon: mcp / 27"/>
          <p:cNvCxnSpPr/>
          <p:nvPr/>
        </p:nvCxnSpPr>
        <p:spPr>
          <a:xfrm flipH="1">
            <a:off x="9484214" y="3670658"/>
            <a:ext cx="279" cy="584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2" name="Page 5 technology icon: mcp / 28"/>
          <p:cNvCxnSpPr/>
          <p:nvPr/>
        </p:nvCxnSpPr>
        <p:spPr>
          <a:xfrm flipH="1">
            <a:off x="9483378" y="3676501"/>
            <a:ext cx="836" cy="5800"/>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3" name="Page 5 technology icon: mcp / 29"/>
          <p:cNvCxnSpPr/>
          <p:nvPr/>
        </p:nvCxnSpPr>
        <p:spPr>
          <a:xfrm flipH="1">
            <a:off x="9481983" y="3682301"/>
            <a:ext cx="1395" cy="571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4" name="Page 5 technology icon: mcp / 30"/>
          <p:cNvCxnSpPr/>
          <p:nvPr/>
        </p:nvCxnSpPr>
        <p:spPr>
          <a:xfrm flipH="1">
            <a:off x="9480030" y="3688014"/>
            <a:ext cx="1953" cy="558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5" name="Page 5 technology icon: mcp / 31"/>
          <p:cNvCxnSpPr/>
          <p:nvPr/>
        </p:nvCxnSpPr>
        <p:spPr>
          <a:xfrm flipH="1">
            <a:off x="9477519" y="3693597"/>
            <a:ext cx="2511" cy="5410"/>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6" name="Page 5 technology icon: mcp / 32"/>
          <p:cNvCxnSpPr/>
          <p:nvPr/>
        </p:nvCxnSpPr>
        <p:spPr>
          <a:xfrm flipH="1">
            <a:off x="9474450" y="3699007"/>
            <a:ext cx="3069" cy="519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7" name="Page 5 technology icon: mcp / 33"/>
          <p:cNvCxnSpPr/>
          <p:nvPr/>
        </p:nvCxnSpPr>
        <p:spPr>
          <a:xfrm flipH="1">
            <a:off x="9470823" y="3704200"/>
            <a:ext cx="3627" cy="493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8" name="Page 5 technology icon: mcp / 34"/>
          <p:cNvCxnSpPr/>
          <p:nvPr/>
        </p:nvCxnSpPr>
        <p:spPr>
          <a:xfrm flipH="1">
            <a:off x="9466638" y="3709133"/>
            <a:ext cx="4185" cy="4630"/>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9" name="Page 5 technology icon: mcp / 35"/>
          <p:cNvCxnSpPr/>
          <p:nvPr/>
        </p:nvCxnSpPr>
        <p:spPr>
          <a:xfrm flipH="1">
            <a:off x="9336425" y="3713763"/>
            <a:ext cx="130213" cy="130214"/>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0" name="Page 5 technology icon: mcp / 36"/>
          <p:cNvCxnSpPr/>
          <p:nvPr/>
        </p:nvCxnSpPr>
        <p:spPr>
          <a:xfrm flipV="1">
            <a:off x="9338221" y="3713763"/>
            <a:ext cx="128417" cy="128418"/>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1" name="Page 5 technology icon: mcp / 37"/>
          <p:cNvCxnSpPr/>
          <p:nvPr/>
        </p:nvCxnSpPr>
        <p:spPr>
          <a:xfrm flipV="1">
            <a:off x="9466638" y="3709578"/>
            <a:ext cx="4630" cy="4185"/>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2" name="Page 5 technology icon: mcp / 38"/>
          <p:cNvCxnSpPr/>
          <p:nvPr/>
        </p:nvCxnSpPr>
        <p:spPr>
          <a:xfrm flipV="1">
            <a:off x="9471268" y="3705952"/>
            <a:ext cx="4933" cy="3626"/>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3" name="Page 5 technology icon: mcp / 39"/>
          <p:cNvCxnSpPr/>
          <p:nvPr/>
        </p:nvCxnSpPr>
        <p:spPr>
          <a:xfrm flipV="1">
            <a:off x="9476201" y="3702883"/>
            <a:ext cx="5194" cy="3069"/>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4" name="Page 5 technology icon: mcp / 40"/>
          <p:cNvCxnSpPr/>
          <p:nvPr/>
        </p:nvCxnSpPr>
        <p:spPr>
          <a:xfrm flipV="1">
            <a:off x="9481395" y="3700372"/>
            <a:ext cx="5409" cy="2511"/>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5" name="Page 5 technology icon: mcp / 41"/>
          <p:cNvCxnSpPr/>
          <p:nvPr/>
        </p:nvCxnSpPr>
        <p:spPr>
          <a:xfrm flipV="1">
            <a:off x="9486804" y="3698419"/>
            <a:ext cx="5584" cy="195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6" name="Page 5 technology icon: mcp / 42"/>
          <p:cNvCxnSpPr/>
          <p:nvPr/>
        </p:nvCxnSpPr>
        <p:spPr>
          <a:xfrm flipV="1">
            <a:off x="9492388" y="3697024"/>
            <a:ext cx="5713" cy="1395"/>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7" name="Page 5 technology icon: mcp / 43"/>
          <p:cNvCxnSpPr/>
          <p:nvPr/>
        </p:nvCxnSpPr>
        <p:spPr>
          <a:xfrm flipV="1">
            <a:off x="9498101" y="3696187"/>
            <a:ext cx="5800" cy="837"/>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8" name="Page 5 technology icon: mcp / 44"/>
          <p:cNvCxnSpPr/>
          <p:nvPr/>
        </p:nvCxnSpPr>
        <p:spPr>
          <a:xfrm flipV="1">
            <a:off x="9503901" y="3695908"/>
            <a:ext cx="5843" cy="279"/>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9" name="Page 5 technology icon: mcp / 45"/>
          <p:cNvCxnSpPr/>
          <p:nvPr/>
        </p:nvCxnSpPr>
        <p:spPr>
          <a:xfrm>
            <a:off x="9509744" y="3695908"/>
            <a:ext cx="5844" cy="279"/>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0" name="Page 5 technology icon: mcp / 46"/>
          <p:cNvCxnSpPr/>
          <p:nvPr/>
        </p:nvCxnSpPr>
        <p:spPr>
          <a:xfrm>
            <a:off x="9515588" y="3696187"/>
            <a:ext cx="5799" cy="837"/>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1" name="Page 5 technology icon: mcp / 47"/>
          <p:cNvCxnSpPr/>
          <p:nvPr/>
        </p:nvCxnSpPr>
        <p:spPr>
          <a:xfrm>
            <a:off x="9521387" y="3697024"/>
            <a:ext cx="5714" cy="1395"/>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2" name="Page 5 technology icon: mcp / 48"/>
          <p:cNvCxnSpPr/>
          <p:nvPr/>
        </p:nvCxnSpPr>
        <p:spPr>
          <a:xfrm>
            <a:off x="9527101" y="3698419"/>
            <a:ext cx="5583" cy="195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3" name="Page 5 technology icon: mcp / 49"/>
          <p:cNvCxnSpPr/>
          <p:nvPr/>
        </p:nvCxnSpPr>
        <p:spPr>
          <a:xfrm>
            <a:off x="9532684" y="3700372"/>
            <a:ext cx="5410" cy="2511"/>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4" name="Page 5 technology icon: mcp / 50"/>
          <p:cNvCxnSpPr/>
          <p:nvPr/>
        </p:nvCxnSpPr>
        <p:spPr>
          <a:xfrm>
            <a:off x="9538094" y="3702883"/>
            <a:ext cx="5193" cy="3069"/>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5" name="Page 5 technology icon: mcp / 51"/>
          <p:cNvCxnSpPr/>
          <p:nvPr/>
        </p:nvCxnSpPr>
        <p:spPr>
          <a:xfrm>
            <a:off x="9543287" y="3705952"/>
            <a:ext cx="4934" cy="3626"/>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6" name="Page 5 technology icon: mcp / 52"/>
          <p:cNvCxnSpPr/>
          <p:nvPr/>
        </p:nvCxnSpPr>
        <p:spPr>
          <a:xfrm>
            <a:off x="9548221" y="3709578"/>
            <a:ext cx="4630" cy="4185"/>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7" name="Page 5 technology icon: mcp / 53"/>
          <p:cNvCxnSpPr/>
          <p:nvPr/>
        </p:nvCxnSpPr>
        <p:spPr>
          <a:xfrm>
            <a:off x="9552851" y="3713763"/>
            <a:ext cx="896" cy="898"/>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8" name="Page 5 technology icon: mcp / 54"/>
          <p:cNvCxnSpPr/>
          <p:nvPr/>
        </p:nvCxnSpPr>
        <p:spPr>
          <a:xfrm>
            <a:off x="9553747" y="3714661"/>
            <a:ext cx="4185" cy="4630"/>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9" name="Page 5 technology icon: mcp / 55"/>
          <p:cNvCxnSpPr/>
          <p:nvPr/>
        </p:nvCxnSpPr>
        <p:spPr>
          <a:xfrm>
            <a:off x="9557932" y="3719291"/>
            <a:ext cx="3627" cy="493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0" name="Page 5 technology icon: mcp / 56"/>
          <p:cNvCxnSpPr/>
          <p:nvPr/>
        </p:nvCxnSpPr>
        <p:spPr>
          <a:xfrm>
            <a:off x="9561559" y="3724224"/>
            <a:ext cx="3069" cy="519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1" name="Page 5 technology icon: mcp / 57"/>
          <p:cNvCxnSpPr/>
          <p:nvPr/>
        </p:nvCxnSpPr>
        <p:spPr>
          <a:xfrm>
            <a:off x="9564628" y="3729417"/>
            <a:ext cx="2511" cy="5410"/>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2" name="Page 5 technology icon: mcp / 58"/>
          <p:cNvCxnSpPr/>
          <p:nvPr/>
        </p:nvCxnSpPr>
        <p:spPr>
          <a:xfrm>
            <a:off x="9567139" y="3734827"/>
            <a:ext cx="1953" cy="558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3" name="Page 5 technology icon: mcp / 59"/>
          <p:cNvCxnSpPr/>
          <p:nvPr/>
        </p:nvCxnSpPr>
        <p:spPr>
          <a:xfrm>
            <a:off x="9569092" y="3740410"/>
            <a:ext cx="1395" cy="571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4" name="Page 5 technology icon: mcp / 60"/>
          <p:cNvCxnSpPr/>
          <p:nvPr/>
        </p:nvCxnSpPr>
        <p:spPr>
          <a:xfrm>
            <a:off x="9570487" y="3746123"/>
            <a:ext cx="837" cy="5800"/>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5" name="Page 5 technology icon: mcp / 61"/>
          <p:cNvCxnSpPr/>
          <p:nvPr/>
        </p:nvCxnSpPr>
        <p:spPr>
          <a:xfrm>
            <a:off x="9571324" y="3751923"/>
            <a:ext cx="279" cy="584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6" name="Page 5 technology icon: mcp / 62"/>
          <p:cNvCxnSpPr/>
          <p:nvPr/>
        </p:nvCxnSpPr>
        <p:spPr>
          <a:xfrm flipH="1">
            <a:off x="9571324" y="3757766"/>
            <a:ext cx="279" cy="5844"/>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7" name="Page 5 technology icon: mcp / 63"/>
          <p:cNvCxnSpPr/>
          <p:nvPr/>
        </p:nvCxnSpPr>
        <p:spPr>
          <a:xfrm flipH="1">
            <a:off x="9570487" y="3763610"/>
            <a:ext cx="837" cy="5799"/>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8" name="Page 5 technology icon: mcp / 64"/>
          <p:cNvCxnSpPr/>
          <p:nvPr/>
        </p:nvCxnSpPr>
        <p:spPr>
          <a:xfrm flipH="1">
            <a:off x="9569092" y="3769409"/>
            <a:ext cx="1395" cy="5714"/>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9" name="Page 5 technology icon: mcp / 65"/>
          <p:cNvCxnSpPr/>
          <p:nvPr/>
        </p:nvCxnSpPr>
        <p:spPr>
          <a:xfrm flipH="1">
            <a:off x="9567139" y="3775123"/>
            <a:ext cx="1953" cy="558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0" name="Page 5 technology icon: mcp / 66"/>
          <p:cNvCxnSpPr/>
          <p:nvPr/>
        </p:nvCxnSpPr>
        <p:spPr>
          <a:xfrm flipH="1">
            <a:off x="9564628" y="3780706"/>
            <a:ext cx="2511" cy="5409"/>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1" name="Page 5 technology icon: mcp / 67"/>
          <p:cNvCxnSpPr/>
          <p:nvPr/>
        </p:nvCxnSpPr>
        <p:spPr>
          <a:xfrm flipH="1">
            <a:off x="9561559" y="3786115"/>
            <a:ext cx="3069" cy="5194"/>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2" name="Page 5 technology icon: mcp / 68"/>
          <p:cNvCxnSpPr/>
          <p:nvPr/>
        </p:nvCxnSpPr>
        <p:spPr>
          <a:xfrm flipH="1">
            <a:off x="9557932" y="3791309"/>
            <a:ext cx="3627" cy="493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3" name="Page 5 technology icon: mcp / 69"/>
          <p:cNvCxnSpPr/>
          <p:nvPr/>
        </p:nvCxnSpPr>
        <p:spPr>
          <a:xfrm flipH="1">
            <a:off x="9553747" y="3796242"/>
            <a:ext cx="4185" cy="4630"/>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4" name="Page 5 technology icon: mcp / 70"/>
          <p:cNvCxnSpPr/>
          <p:nvPr/>
        </p:nvCxnSpPr>
        <p:spPr>
          <a:xfrm flipH="1">
            <a:off x="9397808" y="3800872"/>
            <a:ext cx="155939" cy="155939"/>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5" name="Page 5 technology icon: mcp / 71"/>
          <p:cNvCxnSpPr/>
          <p:nvPr/>
        </p:nvCxnSpPr>
        <p:spPr>
          <a:xfrm flipH="1">
            <a:off x="9396414" y="3956811"/>
            <a:ext cx="1394" cy="1544"/>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6" name="Page 5 technology icon: mcp / 72"/>
          <p:cNvCxnSpPr/>
          <p:nvPr/>
        </p:nvCxnSpPr>
        <p:spPr>
          <a:xfrm flipH="1">
            <a:off x="9395205" y="3958355"/>
            <a:ext cx="1209" cy="1644"/>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7" name="Page 5 technology icon: mcp / 73"/>
          <p:cNvCxnSpPr/>
          <p:nvPr/>
        </p:nvCxnSpPr>
        <p:spPr>
          <a:xfrm flipH="1">
            <a:off x="9394182" y="3959999"/>
            <a:ext cx="1023" cy="1731"/>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8" name="Page 5 technology icon: mcp / 74"/>
          <p:cNvCxnSpPr/>
          <p:nvPr/>
        </p:nvCxnSpPr>
        <p:spPr>
          <a:xfrm flipH="1">
            <a:off x="9393345" y="3961730"/>
            <a:ext cx="837" cy="180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9" name="Page 5 technology icon: mcp / 75"/>
          <p:cNvCxnSpPr/>
          <p:nvPr/>
        </p:nvCxnSpPr>
        <p:spPr>
          <a:xfrm flipH="1">
            <a:off x="9392694" y="3963533"/>
            <a:ext cx="651" cy="1861"/>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80" name="Page 5 technology icon: mcp / 76"/>
          <p:cNvCxnSpPr/>
          <p:nvPr/>
        </p:nvCxnSpPr>
        <p:spPr>
          <a:xfrm flipH="1">
            <a:off x="9392229" y="3965394"/>
            <a:ext cx="465" cy="1904"/>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81" name="Page 5 technology icon: mcp / 77"/>
          <p:cNvCxnSpPr/>
          <p:nvPr/>
        </p:nvCxnSpPr>
        <p:spPr>
          <a:xfrm flipH="1">
            <a:off x="9391950" y="3967298"/>
            <a:ext cx="279" cy="193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82" name="Page 5 technology icon: mcp / 78"/>
          <p:cNvCxnSpPr/>
          <p:nvPr/>
        </p:nvCxnSpPr>
        <p:spPr>
          <a:xfrm flipH="1">
            <a:off x="9391857" y="3969231"/>
            <a:ext cx="93" cy="1948"/>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83" name="Page 5 technology icon: mcp / 79"/>
          <p:cNvCxnSpPr/>
          <p:nvPr/>
        </p:nvCxnSpPr>
        <p:spPr>
          <a:xfrm>
            <a:off x="9391857" y="3971179"/>
            <a:ext cx="93" cy="1948"/>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84" name="Page 5 technology icon: mcp / 80"/>
          <p:cNvCxnSpPr/>
          <p:nvPr/>
        </p:nvCxnSpPr>
        <p:spPr>
          <a:xfrm>
            <a:off x="9391950" y="3973127"/>
            <a:ext cx="279" cy="193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85" name="Page 5 technology icon: mcp / 81"/>
          <p:cNvCxnSpPr/>
          <p:nvPr/>
        </p:nvCxnSpPr>
        <p:spPr>
          <a:xfrm>
            <a:off x="9392229" y="3975060"/>
            <a:ext cx="465" cy="1904"/>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86" name="Page 5 technology icon: mcp / 82"/>
          <p:cNvCxnSpPr/>
          <p:nvPr/>
        </p:nvCxnSpPr>
        <p:spPr>
          <a:xfrm>
            <a:off x="9392694" y="3976964"/>
            <a:ext cx="651" cy="1861"/>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87" name="Page 5 technology icon: mcp / 83"/>
          <p:cNvCxnSpPr/>
          <p:nvPr/>
        </p:nvCxnSpPr>
        <p:spPr>
          <a:xfrm>
            <a:off x="9393345" y="3978825"/>
            <a:ext cx="837" cy="180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88" name="Page 5 technology icon: mcp / 84"/>
          <p:cNvCxnSpPr/>
          <p:nvPr/>
        </p:nvCxnSpPr>
        <p:spPr>
          <a:xfrm>
            <a:off x="9394182" y="3980628"/>
            <a:ext cx="1023" cy="1731"/>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89" name="Page 5 technology icon: mcp / 85"/>
          <p:cNvCxnSpPr/>
          <p:nvPr/>
        </p:nvCxnSpPr>
        <p:spPr>
          <a:xfrm>
            <a:off x="9395205" y="3982359"/>
            <a:ext cx="1209" cy="1644"/>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90" name="Page 5 technology icon: mcp / 86"/>
          <p:cNvCxnSpPr/>
          <p:nvPr/>
        </p:nvCxnSpPr>
        <p:spPr>
          <a:xfrm>
            <a:off x="9396414" y="3984003"/>
            <a:ext cx="1394" cy="1544"/>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91" name="Page 5 technology icon: mcp / 87"/>
          <p:cNvCxnSpPr/>
          <p:nvPr/>
        </p:nvCxnSpPr>
        <p:spPr>
          <a:xfrm>
            <a:off x="9397808" y="3985547"/>
            <a:ext cx="32020" cy="32021"/>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92" name="Page 5 technology icon: mcp / 88"/>
          <p:cNvCxnSpPr/>
          <p:nvPr/>
        </p:nvCxnSpPr>
        <p:spPr>
          <a:xfrm flipH="1">
            <a:off x="9296014" y="3670658"/>
            <a:ext cx="127520" cy="127520"/>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93" name="Page 5 technology icon: mcp / 89"/>
          <p:cNvCxnSpPr/>
          <p:nvPr/>
        </p:nvCxnSpPr>
        <p:spPr>
          <a:xfrm flipH="1">
            <a:off x="9291829" y="3798178"/>
            <a:ext cx="4185" cy="4629"/>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94" name="Page 5 technology icon: mcp / 90"/>
          <p:cNvCxnSpPr/>
          <p:nvPr/>
        </p:nvCxnSpPr>
        <p:spPr>
          <a:xfrm flipH="1">
            <a:off x="9288202" y="3802807"/>
            <a:ext cx="3627" cy="4934"/>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95" name="Page 5 technology icon: mcp / 91"/>
          <p:cNvCxnSpPr/>
          <p:nvPr/>
        </p:nvCxnSpPr>
        <p:spPr>
          <a:xfrm flipH="1">
            <a:off x="9285134" y="3807741"/>
            <a:ext cx="3068" cy="519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96" name="Page 5 technology icon: mcp / 92"/>
          <p:cNvCxnSpPr/>
          <p:nvPr/>
        </p:nvCxnSpPr>
        <p:spPr>
          <a:xfrm flipH="1">
            <a:off x="9282623" y="3812934"/>
            <a:ext cx="2511" cy="5409"/>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97" name="Page 5 technology icon: mcp / 93"/>
          <p:cNvCxnSpPr/>
          <p:nvPr/>
        </p:nvCxnSpPr>
        <p:spPr>
          <a:xfrm flipH="1">
            <a:off x="9280670" y="3818343"/>
            <a:ext cx="1953" cy="5584"/>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98" name="Page 5 technology icon: mcp / 94"/>
          <p:cNvCxnSpPr/>
          <p:nvPr/>
        </p:nvCxnSpPr>
        <p:spPr>
          <a:xfrm flipH="1">
            <a:off x="9279275" y="3823927"/>
            <a:ext cx="1395" cy="571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99" name="Page 5 technology icon: mcp / 95"/>
          <p:cNvCxnSpPr/>
          <p:nvPr/>
        </p:nvCxnSpPr>
        <p:spPr>
          <a:xfrm flipH="1">
            <a:off x="9278438" y="3829640"/>
            <a:ext cx="837" cy="5800"/>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00" name="Page 5 technology icon: mcp / 96"/>
          <p:cNvCxnSpPr/>
          <p:nvPr/>
        </p:nvCxnSpPr>
        <p:spPr>
          <a:xfrm flipH="1">
            <a:off x="9278159" y="3835440"/>
            <a:ext cx="279" cy="584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01" name="Page 5 technology icon: mcp / 97"/>
          <p:cNvCxnSpPr/>
          <p:nvPr/>
        </p:nvCxnSpPr>
        <p:spPr>
          <a:xfrm>
            <a:off x="9278159" y="3841283"/>
            <a:ext cx="279" cy="584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02" name="Page 5 technology icon: mcp / 98"/>
          <p:cNvCxnSpPr/>
          <p:nvPr/>
        </p:nvCxnSpPr>
        <p:spPr>
          <a:xfrm>
            <a:off x="9278438" y="3847126"/>
            <a:ext cx="837" cy="5800"/>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03" name="Page 5 technology icon: mcp / 99"/>
          <p:cNvCxnSpPr/>
          <p:nvPr/>
        </p:nvCxnSpPr>
        <p:spPr>
          <a:xfrm>
            <a:off x="9279275" y="3852926"/>
            <a:ext cx="1395" cy="571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04" name="Page 5 technology icon: mcp / 100"/>
          <p:cNvCxnSpPr/>
          <p:nvPr/>
        </p:nvCxnSpPr>
        <p:spPr>
          <a:xfrm>
            <a:off x="9280670" y="3858639"/>
            <a:ext cx="1953" cy="558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05" name="Page 5 technology icon: mcp / 101"/>
          <p:cNvCxnSpPr/>
          <p:nvPr/>
        </p:nvCxnSpPr>
        <p:spPr>
          <a:xfrm>
            <a:off x="9282623" y="3864222"/>
            <a:ext cx="2511" cy="5410"/>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06" name="Page 5 technology icon: mcp / 102"/>
          <p:cNvCxnSpPr/>
          <p:nvPr/>
        </p:nvCxnSpPr>
        <p:spPr>
          <a:xfrm>
            <a:off x="9285134" y="3869632"/>
            <a:ext cx="3068" cy="519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07" name="Page 5 technology icon: mcp / 103"/>
          <p:cNvCxnSpPr/>
          <p:nvPr/>
        </p:nvCxnSpPr>
        <p:spPr>
          <a:xfrm>
            <a:off x="9288202" y="3874825"/>
            <a:ext cx="3627" cy="4933"/>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08" name="Page 5 technology icon: mcp / 104"/>
          <p:cNvCxnSpPr/>
          <p:nvPr/>
        </p:nvCxnSpPr>
        <p:spPr>
          <a:xfrm>
            <a:off x="9291829" y="3879758"/>
            <a:ext cx="4185" cy="4630"/>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09" name="Page 5 technology icon: mcp / 105"/>
          <p:cNvCxnSpPr/>
          <p:nvPr/>
        </p:nvCxnSpPr>
        <p:spPr>
          <a:xfrm>
            <a:off x="9296014" y="3884388"/>
            <a:ext cx="0" cy="0"/>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10" name="Page 5 technology icon: mcp / 106"/>
          <p:cNvCxnSpPr/>
          <p:nvPr/>
        </p:nvCxnSpPr>
        <p:spPr>
          <a:xfrm>
            <a:off x="9296014" y="3884388"/>
            <a:ext cx="4630" cy="4185"/>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11" name="Page 5 technology icon: mcp / 107"/>
          <p:cNvCxnSpPr/>
          <p:nvPr/>
        </p:nvCxnSpPr>
        <p:spPr>
          <a:xfrm>
            <a:off x="9300644" y="3888573"/>
            <a:ext cx="4933" cy="3626"/>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12" name="Page 5 technology icon: mcp / 108"/>
          <p:cNvCxnSpPr/>
          <p:nvPr/>
        </p:nvCxnSpPr>
        <p:spPr>
          <a:xfrm>
            <a:off x="9305577" y="3892199"/>
            <a:ext cx="5193" cy="3069"/>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13" name="Page 5 technology icon: mcp / 109"/>
          <p:cNvCxnSpPr/>
          <p:nvPr/>
        </p:nvCxnSpPr>
        <p:spPr>
          <a:xfrm>
            <a:off x="9310770" y="3895268"/>
            <a:ext cx="5410" cy="2511"/>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14" name="Page 5 technology icon: mcp / 110"/>
          <p:cNvCxnSpPr/>
          <p:nvPr/>
        </p:nvCxnSpPr>
        <p:spPr>
          <a:xfrm>
            <a:off x="9316180" y="3897779"/>
            <a:ext cx="5583" cy="1952"/>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15" name="Page 5 technology icon: mcp / 111"/>
          <p:cNvCxnSpPr/>
          <p:nvPr/>
        </p:nvCxnSpPr>
        <p:spPr>
          <a:xfrm>
            <a:off x="9321763" y="3899731"/>
            <a:ext cx="5713" cy="1395"/>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16" name="Page 5 technology icon: mcp / 112"/>
          <p:cNvCxnSpPr/>
          <p:nvPr/>
        </p:nvCxnSpPr>
        <p:spPr>
          <a:xfrm>
            <a:off x="9327476" y="3901126"/>
            <a:ext cx="5800" cy="837"/>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17" name="Page 5 technology icon: mcp / 113"/>
          <p:cNvCxnSpPr/>
          <p:nvPr/>
        </p:nvCxnSpPr>
        <p:spPr>
          <a:xfrm>
            <a:off x="9333276" y="3901963"/>
            <a:ext cx="5843" cy="279"/>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18" name="Page 5 technology icon: mcp / 114"/>
          <p:cNvCxnSpPr/>
          <p:nvPr/>
        </p:nvCxnSpPr>
        <p:spPr>
          <a:xfrm flipV="1">
            <a:off x="9339119" y="3901963"/>
            <a:ext cx="5843" cy="279"/>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19" name="Page 5 technology icon: mcp / 115"/>
          <p:cNvCxnSpPr/>
          <p:nvPr/>
        </p:nvCxnSpPr>
        <p:spPr>
          <a:xfrm flipV="1">
            <a:off x="9344962" y="3901126"/>
            <a:ext cx="5800" cy="837"/>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0" name="Page 5 technology icon: mcp / 116"/>
          <p:cNvCxnSpPr/>
          <p:nvPr/>
        </p:nvCxnSpPr>
        <p:spPr>
          <a:xfrm flipV="1">
            <a:off x="9350762" y="3899731"/>
            <a:ext cx="5713" cy="1395"/>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1" name="Page 5 technology icon: mcp / 117"/>
          <p:cNvCxnSpPr/>
          <p:nvPr/>
        </p:nvCxnSpPr>
        <p:spPr>
          <a:xfrm flipV="1">
            <a:off x="9356475" y="3897779"/>
            <a:ext cx="5583" cy="1952"/>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2" name="Page 5 technology icon: mcp / 118"/>
          <p:cNvCxnSpPr/>
          <p:nvPr/>
        </p:nvCxnSpPr>
        <p:spPr>
          <a:xfrm flipV="1">
            <a:off x="9362058" y="3895268"/>
            <a:ext cx="5410" cy="2511"/>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3" name="Page 5 technology icon: mcp / 119"/>
          <p:cNvCxnSpPr/>
          <p:nvPr/>
        </p:nvCxnSpPr>
        <p:spPr>
          <a:xfrm flipV="1">
            <a:off x="9367468" y="3892199"/>
            <a:ext cx="5193" cy="3069"/>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4" name="Page 5 technology icon: mcp / 120"/>
          <p:cNvCxnSpPr/>
          <p:nvPr/>
        </p:nvCxnSpPr>
        <p:spPr>
          <a:xfrm flipV="1">
            <a:off x="9372661" y="3888573"/>
            <a:ext cx="4934" cy="3626"/>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5" name="Page 5 technology icon: mcp / 121"/>
          <p:cNvCxnSpPr/>
          <p:nvPr/>
        </p:nvCxnSpPr>
        <p:spPr>
          <a:xfrm flipV="1">
            <a:off x="9377595" y="3884388"/>
            <a:ext cx="4629" cy="4185"/>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6" name="Page 5 technology icon: mcp / 122"/>
          <p:cNvCxnSpPr/>
          <p:nvPr/>
        </p:nvCxnSpPr>
        <p:spPr>
          <a:xfrm flipV="1">
            <a:off x="9382224" y="3756868"/>
            <a:ext cx="127520" cy="127520"/>
          </a:xfrm>
          <a:prstGeom prst="line">
            <a:avLst/>
          </a:prstGeom>
          <a:ln w="27340" cap="rnd">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7" name="Page 5 symbol connection: 6"/>
          <p:cNvCxnSpPr/>
          <p:nvPr/>
        </p:nvCxnSpPr>
        <p:spPr>
          <a:xfrm flipH="1">
            <a:off x="9710928" y="3813048"/>
            <a:ext cx="1005840" cy="0"/>
          </a:xfrm>
          <a:prstGeom prst="line">
            <a:avLst/>
          </a:prstGeom>
          <a:ln w="15240">
            <a:solidFill>
              <a:srgbClr val="87949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28" name="Page 5 technology icon: agent / 1"/>
          <p:cNvCxnSpPr/>
          <p:nvPr/>
        </p:nvCxnSpPr>
        <p:spPr>
          <a:xfrm>
            <a:off x="11036808" y="3641598"/>
            <a:ext cx="0" cy="71437"/>
          </a:xfrm>
          <a:prstGeom prst="line">
            <a:avLst/>
          </a:prstGeom>
          <a:ln w="20284" cap="rnd">
            <a:solidFill>
              <a:srgbClr val="FF6C00"/>
            </a:solidFill>
          </a:ln>
        </p:spPr>
        <p:style>
          <a:lnRef idx="2">
            <a:schemeClr val="accent1"/>
          </a:lnRef>
          <a:fillRef idx="0">
            <a:schemeClr val="accent1"/>
          </a:fillRef>
          <a:effectRef idx="1">
            <a:schemeClr val="accent1"/>
          </a:effectRef>
          <a:fontRef idx="minor">
            <a:schemeClr val="tx1"/>
          </a:fontRef>
        </p:style>
      </p:cxnSp>
      <p:sp>
        <p:nvSpPr>
          <p:cNvPr id="229" name="Page 5 technology icon: agent / 2"/>
          <p:cNvSpPr/>
          <p:nvPr/>
        </p:nvSpPr>
        <p:spPr>
          <a:xfrm>
            <a:off x="11015376" y="3605879"/>
            <a:ext cx="42862" cy="42862"/>
          </a:xfrm>
          <a:prstGeom prst="ellipse">
            <a:avLst/>
          </a:prstGeom>
          <a:solidFill>
            <a:srgbClr val="FF6C00"/>
          </a:solidFill>
          <a:ln w="20284">
            <a:solidFill>
              <a:srgbClr val="FF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Page 5 technology icon: agent / 3"/>
          <p:cNvSpPr/>
          <p:nvPr/>
        </p:nvSpPr>
        <p:spPr>
          <a:xfrm>
            <a:off x="10865358" y="3713035"/>
            <a:ext cx="342900" cy="285750"/>
          </a:xfrm>
          <a:prstGeom prst="roundRect">
            <a:avLst/>
          </a:prstGeom>
          <a:solidFill>
            <a:srgbClr val="FFFFFF"/>
          </a:solidFill>
          <a:ln w="20284">
            <a:solidFill>
              <a:srgbClr val="FF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1" name="Page 5 technology icon: agent / 4"/>
          <p:cNvCxnSpPr/>
          <p:nvPr/>
        </p:nvCxnSpPr>
        <p:spPr>
          <a:xfrm>
            <a:off x="10822495" y="3798760"/>
            <a:ext cx="0" cy="100013"/>
          </a:xfrm>
          <a:prstGeom prst="line">
            <a:avLst/>
          </a:prstGeom>
          <a:ln w="20284" cap="rnd">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232" name="Page 5 technology icon: agent / 5"/>
          <p:cNvCxnSpPr/>
          <p:nvPr/>
        </p:nvCxnSpPr>
        <p:spPr>
          <a:xfrm>
            <a:off x="11251120" y="3798760"/>
            <a:ext cx="0" cy="100013"/>
          </a:xfrm>
          <a:prstGeom prst="line">
            <a:avLst/>
          </a:prstGeom>
          <a:ln w="20284" cap="rnd">
            <a:solidFill>
              <a:srgbClr val="FF6C00"/>
            </a:solidFill>
          </a:ln>
        </p:spPr>
        <p:style>
          <a:lnRef idx="2">
            <a:schemeClr val="accent1"/>
          </a:lnRef>
          <a:fillRef idx="0">
            <a:schemeClr val="accent1"/>
          </a:fillRef>
          <a:effectRef idx="1">
            <a:schemeClr val="accent1"/>
          </a:effectRef>
          <a:fontRef idx="minor">
            <a:schemeClr val="tx1"/>
          </a:fontRef>
        </p:style>
      </p:cxnSp>
      <p:sp>
        <p:nvSpPr>
          <p:cNvPr id="233" name="Page 5 technology icon: agent / 6"/>
          <p:cNvSpPr/>
          <p:nvPr/>
        </p:nvSpPr>
        <p:spPr>
          <a:xfrm>
            <a:off x="10936795" y="3798760"/>
            <a:ext cx="42862" cy="42862"/>
          </a:xfrm>
          <a:prstGeom prst="ellipse">
            <a:avLst/>
          </a:prstGeom>
          <a:solidFill>
            <a:srgbClr val="FF6C00"/>
          </a:solidFill>
          <a:ln w="20284">
            <a:solidFill>
              <a:srgbClr val="FF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Page 5 technology icon: agent / 7"/>
          <p:cNvSpPr/>
          <p:nvPr/>
        </p:nvSpPr>
        <p:spPr>
          <a:xfrm>
            <a:off x="11093958" y="3798760"/>
            <a:ext cx="42862" cy="42862"/>
          </a:xfrm>
          <a:prstGeom prst="ellipse">
            <a:avLst/>
          </a:prstGeom>
          <a:solidFill>
            <a:srgbClr val="FF6C00"/>
          </a:solidFill>
          <a:ln w="20284">
            <a:solidFill>
              <a:srgbClr val="FF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5" name="Page 5 technology icon: agent / 8"/>
          <p:cNvCxnSpPr/>
          <p:nvPr/>
        </p:nvCxnSpPr>
        <p:spPr>
          <a:xfrm>
            <a:off x="10965370" y="3927348"/>
            <a:ext cx="142875" cy="0"/>
          </a:xfrm>
          <a:prstGeom prst="line">
            <a:avLst/>
          </a:prstGeom>
          <a:ln w="20284" cap="rnd">
            <a:solidFill>
              <a:srgbClr val="FF6C00"/>
            </a:solidFill>
          </a:ln>
        </p:spPr>
        <p:style>
          <a:lnRef idx="2">
            <a:schemeClr val="accent1"/>
          </a:lnRef>
          <a:fillRef idx="0">
            <a:schemeClr val="accent1"/>
          </a:fillRef>
          <a:effectRef idx="1">
            <a:schemeClr val="accent1"/>
          </a:effectRef>
          <a:fontRef idx="minor">
            <a:schemeClr val="tx1"/>
          </a:fontRef>
        </p:style>
      </p:cxnSp>
      <p:sp>
        <p:nvSpPr>
          <p:cNvPr id="236" name="Rounded Rectangle 235"/>
          <p:cNvSpPr/>
          <p:nvPr/>
        </p:nvSpPr>
        <p:spPr>
          <a:xfrm>
            <a:off x="621792" y="4407408"/>
            <a:ext cx="3502152" cy="1024128"/>
          </a:xfrm>
          <a:prstGeom prst="roundRect">
            <a:avLst/>
          </a:prstGeom>
          <a:solidFill>
            <a:srgbClr val="EAF6ED"/>
          </a:solidFill>
          <a:ln w="1270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TextBox 236"/>
          <p:cNvSpPr txBox="1"/>
          <p:nvPr/>
        </p:nvSpPr>
        <p:spPr>
          <a:xfrm>
            <a:off x="841248" y="4517136"/>
            <a:ext cx="1051560" cy="310896"/>
          </a:xfrm>
          <a:prstGeom prst="rect">
            <a:avLst/>
          </a:prstGeom>
          <a:noFill/>
        </p:spPr>
        <p:txBody>
          <a:bodyPr wrap="square" lIns="18288" rIns="18288" tIns="18288" bIns="18288" anchor="ctr">
            <a:spAutoFit/>
          </a:bodyPr>
          <a:lstStyle/>
          <a:p>
            <a:pPr algn="l"/>
            <a:r>
              <a:rPr sz="1500" b="1" lang="en-US">
                <a:solidFill>
                  <a:srgbClr val="2F8F46"/>
                </a:solidFill>
                <a:latin typeface="Arial"/>
              </a:rPr>
              <a:t>RQ 1:</a:t>
            </a:r>
          </a:p>
        </p:txBody>
      </p:sp>
      <p:sp>
        <p:nvSpPr>
          <p:cNvPr id="238" name="TextBox 237"/>
          <p:cNvSpPr txBox="1"/>
          <p:nvPr/>
        </p:nvSpPr>
        <p:spPr>
          <a:xfrm>
            <a:off x="841248" y="4956048"/>
            <a:ext cx="3063240" cy="329184"/>
          </a:xfrm>
          <a:prstGeom prst="rect">
            <a:avLst/>
          </a:prstGeom>
          <a:noFill/>
        </p:spPr>
        <p:txBody>
          <a:bodyPr wrap="square" lIns="18288" rIns="18288" tIns="18288" bIns="18288" anchor="ctr">
            <a:spAutoFit/>
          </a:bodyPr>
          <a:lstStyle/>
          <a:p>
            <a:pPr algn="l"/>
            <a:r>
              <a:rPr sz="1700" b="1" lang="en-US">
                <a:solidFill>
                  <a:srgbClr val="434343"/>
                </a:solidFill>
                <a:latin typeface="Arial"/>
              </a:rPr>
              <a:t>Trustworthy integration</a:t>
            </a:r>
          </a:p>
        </p:txBody>
      </p:sp>
      <p:sp>
        <p:nvSpPr>
          <p:cNvPr id="239" name="Rounded Rectangle 238"/>
          <p:cNvSpPr/>
          <p:nvPr/>
        </p:nvSpPr>
        <p:spPr>
          <a:xfrm>
            <a:off x="4343400" y="4407408"/>
            <a:ext cx="3502152" cy="1024128"/>
          </a:xfrm>
          <a:prstGeom prst="roundRect">
            <a:avLst/>
          </a:prstGeom>
          <a:solidFill>
            <a:srgbClr val="EAF5FA"/>
          </a:solidFill>
          <a:ln w="1270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TextBox 239"/>
          <p:cNvSpPr txBox="1"/>
          <p:nvPr/>
        </p:nvSpPr>
        <p:spPr>
          <a:xfrm>
            <a:off x="4562856" y="4517136"/>
            <a:ext cx="1051560" cy="310896"/>
          </a:xfrm>
          <a:prstGeom prst="rect">
            <a:avLst/>
          </a:prstGeom>
          <a:noFill/>
        </p:spPr>
        <p:txBody>
          <a:bodyPr wrap="square" lIns="18288" rIns="18288" tIns="18288" bIns="18288" anchor="ctr">
            <a:spAutoFit/>
          </a:bodyPr>
          <a:lstStyle/>
          <a:p>
            <a:pPr algn="l"/>
            <a:r>
              <a:rPr sz="1500" b="1" lang="en-US">
                <a:solidFill>
                  <a:srgbClr val="1F90CC"/>
                </a:solidFill>
                <a:latin typeface="Arial"/>
              </a:rPr>
              <a:t>RQ 1.1:</a:t>
            </a:r>
          </a:p>
        </p:txBody>
      </p:sp>
      <p:sp>
        <p:nvSpPr>
          <p:cNvPr id="241" name="TextBox 240"/>
          <p:cNvSpPr txBox="1"/>
          <p:nvPr/>
        </p:nvSpPr>
        <p:spPr>
          <a:xfrm>
            <a:off x="4562856" y="4956048"/>
            <a:ext cx="3063240" cy="329184"/>
          </a:xfrm>
          <a:prstGeom prst="rect">
            <a:avLst/>
          </a:prstGeom>
          <a:noFill/>
        </p:spPr>
        <p:txBody>
          <a:bodyPr wrap="square" lIns="18288" rIns="18288" tIns="18288" bIns="18288" anchor="ctr">
            <a:spAutoFit/>
          </a:bodyPr>
          <a:lstStyle/>
          <a:p>
            <a:pPr algn="l"/>
            <a:r>
              <a:rPr sz="1700" b="1" lang="en-US">
                <a:solidFill>
                  <a:srgbClr val="434343"/>
                </a:solidFill>
                <a:latin typeface="Arial"/>
              </a:rPr>
              <a:t>Integrity &amp; availability</a:t>
            </a:r>
          </a:p>
        </p:txBody>
      </p:sp>
      <p:sp>
        <p:nvSpPr>
          <p:cNvPr id="242" name="Rounded Rectangle 241"/>
          <p:cNvSpPr/>
          <p:nvPr/>
        </p:nvSpPr>
        <p:spPr>
          <a:xfrm>
            <a:off x="8065008" y="4407408"/>
            <a:ext cx="3502152" cy="1024128"/>
          </a:xfrm>
          <a:prstGeom prst="roundRect">
            <a:avLst/>
          </a:prstGeom>
          <a:solidFill>
            <a:srgbClr val="F3EBF9"/>
          </a:solidFill>
          <a:ln w="12700">
            <a:solidFill>
              <a:srgbClr val="7A3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TextBox 242"/>
          <p:cNvSpPr txBox="1"/>
          <p:nvPr/>
        </p:nvSpPr>
        <p:spPr>
          <a:xfrm>
            <a:off x="8284464" y="4517136"/>
            <a:ext cx="1051560" cy="310896"/>
          </a:xfrm>
          <a:prstGeom prst="rect">
            <a:avLst/>
          </a:prstGeom>
          <a:noFill/>
        </p:spPr>
        <p:txBody>
          <a:bodyPr wrap="square" lIns="18288" rIns="18288" tIns="18288" bIns="18288" anchor="ctr">
            <a:spAutoFit/>
          </a:bodyPr>
          <a:lstStyle/>
          <a:p>
            <a:pPr algn="l"/>
            <a:r>
              <a:rPr sz="1500" b="1" lang="en-US">
                <a:solidFill>
                  <a:srgbClr val="7A35B5"/>
                </a:solidFill>
                <a:latin typeface="Arial"/>
              </a:rPr>
              <a:t>RQ 1.2:</a:t>
            </a:r>
          </a:p>
        </p:txBody>
      </p:sp>
      <p:sp>
        <p:nvSpPr>
          <p:cNvPr id="244" name="TextBox 243"/>
          <p:cNvSpPr txBox="1"/>
          <p:nvPr/>
        </p:nvSpPr>
        <p:spPr>
          <a:xfrm>
            <a:off x="8284464" y="4956048"/>
            <a:ext cx="3063240" cy="329184"/>
          </a:xfrm>
          <a:prstGeom prst="rect">
            <a:avLst/>
          </a:prstGeom>
          <a:noFill/>
        </p:spPr>
        <p:txBody>
          <a:bodyPr wrap="square" lIns="18288" rIns="18288" tIns="18288" bIns="18288" anchor="ctr">
            <a:spAutoFit/>
          </a:bodyPr>
          <a:lstStyle/>
          <a:p>
            <a:pPr algn="l"/>
            <a:r>
              <a:rPr sz="1700" b="1" lang="en-US">
                <a:solidFill>
                  <a:srgbClr val="434343"/>
                </a:solidFill>
                <a:latin typeface="Arial"/>
              </a:rPr>
              <a:t>Verifiable inference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Several hospitals. One shared model.</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MOTIVATION · LEARNING TOGETHER, KEEPING PATIENT DATA LOCAL</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6</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Rounded Rectangle 7"/>
          <p:cNvSpPr/>
          <p:nvPr/>
        </p:nvSpPr>
        <p:spPr>
          <a:xfrm>
            <a:off x="713232" y="1691640"/>
            <a:ext cx="3840480" cy="2788920"/>
          </a:xfrm>
          <a:prstGeom prst="roundRect">
            <a:avLst/>
          </a:prstGeom>
          <a:solidFill>
            <a:srgbClr val="EAF6ED"/>
          </a:solidFill>
          <a:ln w="1270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865376"/>
            <a:ext cx="3401568" cy="320040"/>
          </a:xfrm>
          <a:prstGeom prst="rect">
            <a:avLst/>
          </a:prstGeom>
          <a:noFill/>
        </p:spPr>
        <p:txBody>
          <a:bodyPr wrap="square" lIns="18288" rIns="18288" tIns="18288" bIns="18288" anchor="t">
            <a:spAutoFit/>
          </a:bodyPr>
          <a:lstStyle/>
          <a:p>
            <a:pPr algn="ctr"/>
            <a:r>
              <a:rPr sz="1700" b="1" lang="en-US">
                <a:solidFill>
                  <a:srgbClr val="434343"/>
                </a:solidFill>
                <a:latin typeface="Arial"/>
              </a:rPr>
              <a:t>Hospital consortium</a:t>
            </a:r>
          </a:p>
        </p:txBody>
      </p:sp>
      <p:sp>
        <p:nvSpPr>
          <p:cNvPr id="10" name="Rectangle 9"/>
          <p:cNvSpPr/>
          <p:nvPr/>
        </p:nvSpPr>
        <p:spPr>
          <a:xfrm>
            <a:off x="1053846" y="2782062"/>
            <a:ext cx="800100" cy="368046"/>
          </a:xfrm>
          <a:prstGeom prst="rect">
            <a:avLst/>
          </a:prstGeom>
          <a:solidFill>
            <a:srgbClr val="FFFFFF"/>
          </a:solidFill>
          <a:ln w="1524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29868" y="2366010"/>
            <a:ext cx="448056" cy="784097"/>
          </a:xfrm>
          <a:prstGeom prst="rect">
            <a:avLst/>
          </a:prstGeom>
          <a:solidFill>
            <a:srgbClr val="FFFFFF"/>
          </a:solidFill>
          <a:ln w="1524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293876" y="2446020"/>
            <a:ext cx="320040" cy="240030"/>
          </a:xfrm>
          <a:prstGeom prst="roundRect">
            <a:avLst/>
          </a:prstGeom>
          <a:solidFill>
            <a:srgbClr val="2F8F46"/>
          </a:solidFill>
          <a:ln w="635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2454021"/>
            <a:ext cx="256032" cy="192024"/>
          </a:xfrm>
          <a:prstGeom prst="rect">
            <a:avLst/>
          </a:prstGeom>
          <a:noFill/>
        </p:spPr>
        <p:txBody>
          <a:bodyPr wrap="square" lIns="0" rIns="0" tIns="0" bIns="0" anchor="ctr">
            <a:spAutoFit/>
          </a:bodyPr>
          <a:lstStyle/>
          <a:p>
            <a:pPr algn="ctr"/>
            <a:r>
              <a:rPr sz="1487" b="1" lang="en-US">
                <a:solidFill>
                  <a:srgbClr val="FFFFFF"/>
                </a:solidFill>
                <a:latin typeface="Arial"/>
              </a:rPr>
              <a:t>H</a:t>
            </a:r>
          </a:p>
        </p:txBody>
      </p:sp>
      <p:sp>
        <p:nvSpPr>
          <p:cNvPr id="14" name="Rectangle 13"/>
          <p:cNvSpPr/>
          <p:nvPr/>
        </p:nvSpPr>
        <p:spPr>
          <a:xfrm>
            <a:off x="1365885" y="2894076"/>
            <a:ext cx="176022" cy="256032"/>
          </a:xfrm>
          <a:prstGeom prst="rect">
            <a:avLst/>
          </a:prstGeom>
          <a:solidFill>
            <a:srgbClr val="2F8F46"/>
          </a:solidFill>
          <a:ln w="635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09853" y="2894076"/>
            <a:ext cx="112014" cy="112014"/>
          </a:xfrm>
          <a:prstGeom prst="rect">
            <a:avLst/>
          </a:prstGeom>
          <a:solidFill>
            <a:srgbClr val="2F8F46"/>
          </a:solidFill>
          <a:ln w="635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685925" y="2894076"/>
            <a:ext cx="112014" cy="112014"/>
          </a:xfrm>
          <a:prstGeom prst="rect">
            <a:avLst/>
          </a:prstGeom>
          <a:solidFill>
            <a:srgbClr val="2F8F46"/>
          </a:solidFill>
          <a:ln w="635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64408"/>
            <a:ext cx="969264" cy="228600"/>
          </a:xfrm>
          <a:prstGeom prst="rect">
            <a:avLst/>
          </a:prstGeom>
          <a:noFill/>
        </p:spPr>
        <p:txBody>
          <a:bodyPr wrap="square" lIns="18288" rIns="18288" tIns="18288" bIns="18288" anchor="t">
            <a:spAutoFit/>
          </a:bodyPr>
          <a:lstStyle/>
          <a:p>
            <a:pPr algn="ctr"/>
            <a:r>
              <a:rPr sz="1100" b="1" lang="en-US">
                <a:solidFill>
                  <a:srgbClr val="434343"/>
                </a:solidFill>
                <a:latin typeface="Arial"/>
              </a:rPr>
              <a:t>Hospital A</a:t>
            </a:r>
          </a:p>
        </p:txBody>
      </p:sp>
      <p:sp>
        <p:nvSpPr>
          <p:cNvPr id="18" name="Rectangle 17"/>
          <p:cNvSpPr/>
          <p:nvPr/>
        </p:nvSpPr>
        <p:spPr>
          <a:xfrm>
            <a:off x="2233422" y="2782062"/>
            <a:ext cx="800100" cy="368046"/>
          </a:xfrm>
          <a:prstGeom prst="rect">
            <a:avLst/>
          </a:prstGeom>
          <a:solidFill>
            <a:srgbClr val="FFFFFF"/>
          </a:solidFill>
          <a:ln w="1524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409444" y="2366010"/>
            <a:ext cx="448056" cy="784097"/>
          </a:xfrm>
          <a:prstGeom prst="rect">
            <a:avLst/>
          </a:prstGeom>
          <a:solidFill>
            <a:srgbClr val="FFFFFF"/>
          </a:solidFill>
          <a:ln w="1524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473452" y="2446020"/>
            <a:ext cx="320040" cy="240030"/>
          </a:xfrm>
          <a:prstGeom prst="roundRect">
            <a:avLst/>
          </a:prstGeom>
          <a:solidFill>
            <a:srgbClr val="2F8F46"/>
          </a:solidFill>
          <a:ln w="635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05456" y="2454021"/>
            <a:ext cx="256032" cy="192024"/>
          </a:xfrm>
          <a:prstGeom prst="rect">
            <a:avLst/>
          </a:prstGeom>
          <a:noFill/>
        </p:spPr>
        <p:txBody>
          <a:bodyPr wrap="square" lIns="0" rIns="0" tIns="0" bIns="0" anchor="ctr">
            <a:spAutoFit/>
          </a:bodyPr>
          <a:lstStyle/>
          <a:p>
            <a:pPr algn="ctr"/>
            <a:r>
              <a:rPr sz="1487" b="1" lang="en-US">
                <a:solidFill>
                  <a:srgbClr val="FFFFFF"/>
                </a:solidFill>
                <a:latin typeface="Arial"/>
              </a:rPr>
              <a:t>H</a:t>
            </a:r>
          </a:p>
        </p:txBody>
      </p:sp>
      <p:sp>
        <p:nvSpPr>
          <p:cNvPr id="22" name="Rectangle 21"/>
          <p:cNvSpPr/>
          <p:nvPr/>
        </p:nvSpPr>
        <p:spPr>
          <a:xfrm>
            <a:off x="2545461" y="2894076"/>
            <a:ext cx="176022" cy="256032"/>
          </a:xfrm>
          <a:prstGeom prst="rect">
            <a:avLst/>
          </a:prstGeom>
          <a:solidFill>
            <a:srgbClr val="2F8F46"/>
          </a:solidFill>
          <a:ln w="635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289429" y="2894076"/>
            <a:ext cx="112014" cy="112014"/>
          </a:xfrm>
          <a:prstGeom prst="rect">
            <a:avLst/>
          </a:prstGeom>
          <a:solidFill>
            <a:srgbClr val="2F8F46"/>
          </a:solidFill>
          <a:ln w="635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865501" y="2894076"/>
            <a:ext cx="112014" cy="112014"/>
          </a:xfrm>
          <a:prstGeom prst="rect">
            <a:avLst/>
          </a:prstGeom>
          <a:solidFill>
            <a:srgbClr val="2F8F46"/>
          </a:solidFill>
          <a:ln w="635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48839" y="3264408"/>
            <a:ext cx="969264" cy="228600"/>
          </a:xfrm>
          <a:prstGeom prst="rect">
            <a:avLst/>
          </a:prstGeom>
          <a:noFill/>
        </p:spPr>
        <p:txBody>
          <a:bodyPr wrap="square" lIns="18288" rIns="18288" tIns="18288" bIns="18288" anchor="t">
            <a:spAutoFit/>
          </a:bodyPr>
          <a:lstStyle/>
          <a:p>
            <a:pPr algn="ctr"/>
            <a:r>
              <a:rPr sz="1100" b="1" lang="en-US">
                <a:solidFill>
                  <a:srgbClr val="434343"/>
                </a:solidFill>
                <a:latin typeface="Arial"/>
              </a:rPr>
              <a:t>Hospital B</a:t>
            </a:r>
          </a:p>
        </p:txBody>
      </p:sp>
      <p:sp>
        <p:nvSpPr>
          <p:cNvPr id="26" name="Rectangle 25"/>
          <p:cNvSpPr/>
          <p:nvPr/>
        </p:nvSpPr>
        <p:spPr>
          <a:xfrm>
            <a:off x="3412998" y="2782062"/>
            <a:ext cx="800100" cy="368046"/>
          </a:xfrm>
          <a:prstGeom prst="rect">
            <a:avLst/>
          </a:prstGeom>
          <a:solidFill>
            <a:srgbClr val="FFFFFF"/>
          </a:solidFill>
          <a:ln w="1524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589020" y="2366010"/>
            <a:ext cx="448056" cy="784097"/>
          </a:xfrm>
          <a:prstGeom prst="rect">
            <a:avLst/>
          </a:prstGeom>
          <a:solidFill>
            <a:srgbClr val="FFFFFF"/>
          </a:solidFill>
          <a:ln w="1524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653028" y="2446020"/>
            <a:ext cx="320040" cy="240030"/>
          </a:xfrm>
          <a:prstGeom prst="roundRect">
            <a:avLst/>
          </a:prstGeom>
          <a:solidFill>
            <a:srgbClr val="2F8F46"/>
          </a:solidFill>
          <a:ln w="635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85032" y="2454021"/>
            <a:ext cx="256032" cy="192024"/>
          </a:xfrm>
          <a:prstGeom prst="rect">
            <a:avLst/>
          </a:prstGeom>
          <a:noFill/>
        </p:spPr>
        <p:txBody>
          <a:bodyPr wrap="square" lIns="0" rIns="0" tIns="0" bIns="0" anchor="ctr">
            <a:spAutoFit/>
          </a:bodyPr>
          <a:lstStyle/>
          <a:p>
            <a:pPr algn="ctr"/>
            <a:r>
              <a:rPr sz="1487" b="1" lang="en-US">
                <a:solidFill>
                  <a:srgbClr val="FFFFFF"/>
                </a:solidFill>
                <a:latin typeface="Arial"/>
              </a:rPr>
              <a:t>H</a:t>
            </a:r>
          </a:p>
        </p:txBody>
      </p:sp>
      <p:sp>
        <p:nvSpPr>
          <p:cNvPr id="30" name="Rectangle 29"/>
          <p:cNvSpPr/>
          <p:nvPr/>
        </p:nvSpPr>
        <p:spPr>
          <a:xfrm>
            <a:off x="3725036" y="2894076"/>
            <a:ext cx="176022" cy="256032"/>
          </a:xfrm>
          <a:prstGeom prst="rect">
            <a:avLst/>
          </a:prstGeom>
          <a:solidFill>
            <a:srgbClr val="2F8F46"/>
          </a:solidFill>
          <a:ln w="635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469005" y="2894076"/>
            <a:ext cx="112014" cy="112014"/>
          </a:xfrm>
          <a:prstGeom prst="rect">
            <a:avLst/>
          </a:prstGeom>
          <a:solidFill>
            <a:srgbClr val="2F8F46"/>
          </a:solidFill>
          <a:ln w="635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045077" y="2894076"/>
            <a:ext cx="112014" cy="112014"/>
          </a:xfrm>
          <a:prstGeom prst="rect">
            <a:avLst/>
          </a:prstGeom>
          <a:solidFill>
            <a:srgbClr val="2F8F46"/>
          </a:solidFill>
          <a:ln w="635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28415" y="3264408"/>
            <a:ext cx="969264" cy="228600"/>
          </a:xfrm>
          <a:prstGeom prst="rect">
            <a:avLst/>
          </a:prstGeom>
          <a:noFill/>
        </p:spPr>
        <p:txBody>
          <a:bodyPr wrap="square" lIns="18288" rIns="18288" tIns="18288" bIns="18288" anchor="t">
            <a:spAutoFit/>
          </a:bodyPr>
          <a:lstStyle/>
          <a:p>
            <a:pPr algn="ctr"/>
            <a:r>
              <a:rPr sz="1100" b="1" lang="en-US">
                <a:solidFill>
                  <a:srgbClr val="434343"/>
                </a:solidFill>
                <a:latin typeface="Arial"/>
              </a:rPr>
              <a:t>Hospital C</a:t>
            </a:r>
          </a:p>
        </p:txBody>
      </p:sp>
      <p:sp>
        <p:nvSpPr>
          <p:cNvPr id="34" name="TextBox 33"/>
          <p:cNvSpPr txBox="1"/>
          <p:nvPr/>
        </p:nvSpPr>
        <p:spPr>
          <a:xfrm>
            <a:off x="950976" y="3730752"/>
            <a:ext cx="3364992" cy="530352"/>
          </a:xfrm>
          <a:prstGeom prst="rect">
            <a:avLst/>
          </a:prstGeom>
          <a:noFill/>
        </p:spPr>
        <p:txBody>
          <a:bodyPr wrap="square" lIns="18288" rIns="18288" tIns="18288" bIns="18288" anchor="t">
            <a:spAutoFit/>
          </a:bodyPr>
          <a:lstStyle/>
          <a:p>
            <a:pPr algn="ctr"/>
            <a:r>
              <a:rPr sz="1400" b="0" lang="en-US">
                <a:solidFill>
                  <a:srgbClr val="434343"/>
                </a:solidFill>
                <a:latin typeface="Arial"/>
              </a:rPr>
              <a:t>Complementary datasets
Patient data stay local</a:t>
            </a:r>
          </a:p>
        </p:txBody>
      </p:sp>
      <p:cxnSp>
        <p:nvCxnSpPr>
          <p:cNvPr id="35" name="Connector 34"/>
          <p:cNvCxnSpPr/>
          <p:nvPr/>
        </p:nvCxnSpPr>
        <p:spPr>
          <a:xfrm>
            <a:off x="4681728" y="2898648"/>
            <a:ext cx="438912" cy="0"/>
          </a:xfrm>
          <a:prstGeom prst="line">
            <a:avLst/>
          </a:prstGeom>
          <a:ln w="25400">
            <a:solidFill>
              <a:srgbClr val="2F8F4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5248656" y="1691640"/>
            <a:ext cx="2788920" cy="2788920"/>
          </a:xfrm>
          <a:prstGeom prst="roundRect">
            <a:avLst/>
          </a:prstGeom>
          <a:solidFill>
            <a:srgbClr val="F3F3F3"/>
          </a:solidFill>
          <a:ln w="1270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40680" y="1865376"/>
            <a:ext cx="2404872" cy="320040"/>
          </a:xfrm>
          <a:prstGeom prst="rect">
            <a:avLst/>
          </a:prstGeom>
          <a:noFill/>
        </p:spPr>
        <p:txBody>
          <a:bodyPr wrap="square" lIns="18288" rIns="18288" tIns="18288" bIns="18288" anchor="t">
            <a:spAutoFit/>
          </a:bodyPr>
          <a:lstStyle/>
          <a:p>
            <a:pPr algn="ctr"/>
            <a:r>
              <a:rPr sz="1700" b="1" lang="en-US">
                <a:solidFill>
                  <a:srgbClr val="434343"/>
                </a:solidFill>
                <a:latin typeface="Arial"/>
              </a:rPr>
              <a:t>Jointly trained</a:t>
            </a:r>
          </a:p>
        </p:txBody>
      </p:sp>
      <p:cxnSp>
        <p:nvCxnSpPr>
          <p:cNvPr id="38" name="Connector 37"/>
          <p:cNvCxnSpPr/>
          <p:nvPr/>
        </p:nvCxnSpPr>
        <p:spPr>
          <a:xfrm flipV="1">
            <a:off x="5879592" y="2395728"/>
            <a:ext cx="768096" cy="109728"/>
          </a:xfrm>
          <a:prstGeom prst="line">
            <a:avLst/>
          </a:prstGeom>
          <a:ln w="1143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879592" y="2505456"/>
            <a:ext cx="768096" cy="329184"/>
          </a:xfrm>
          <a:prstGeom prst="line">
            <a:avLst/>
          </a:prstGeom>
          <a:ln w="1143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879592" y="2505456"/>
            <a:ext cx="768096" cy="768096"/>
          </a:xfrm>
          <a:prstGeom prst="line">
            <a:avLst/>
          </a:prstGeom>
          <a:ln w="1143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5879592" y="2395728"/>
            <a:ext cx="768096" cy="438912"/>
          </a:xfrm>
          <a:prstGeom prst="line">
            <a:avLst/>
          </a:prstGeom>
          <a:ln w="1143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879592" y="2834640"/>
            <a:ext cx="768096" cy="0"/>
          </a:xfrm>
          <a:prstGeom prst="line">
            <a:avLst/>
          </a:prstGeom>
          <a:ln w="1143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879592" y="2834640"/>
            <a:ext cx="768096" cy="438912"/>
          </a:xfrm>
          <a:prstGeom prst="line">
            <a:avLst/>
          </a:prstGeom>
          <a:ln w="1143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5879592" y="2395728"/>
            <a:ext cx="768096" cy="768096"/>
          </a:xfrm>
          <a:prstGeom prst="line">
            <a:avLst/>
          </a:prstGeom>
          <a:ln w="1143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5879592" y="2834640"/>
            <a:ext cx="768096" cy="329184"/>
          </a:xfrm>
          <a:prstGeom prst="line">
            <a:avLst/>
          </a:prstGeom>
          <a:ln w="1143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879592" y="3163824"/>
            <a:ext cx="768096" cy="109728"/>
          </a:xfrm>
          <a:prstGeom prst="line">
            <a:avLst/>
          </a:prstGeom>
          <a:ln w="1143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647688" y="2395728"/>
            <a:ext cx="749808" cy="256032"/>
          </a:xfrm>
          <a:prstGeom prst="line">
            <a:avLst/>
          </a:prstGeom>
          <a:ln w="1143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647688" y="2395728"/>
            <a:ext cx="749808" cy="621792"/>
          </a:xfrm>
          <a:prstGeom prst="line">
            <a:avLst/>
          </a:prstGeom>
          <a:ln w="1143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6647688" y="2651760"/>
            <a:ext cx="749808" cy="182880"/>
          </a:xfrm>
          <a:prstGeom prst="line">
            <a:avLst/>
          </a:prstGeom>
          <a:ln w="1143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647688" y="2834640"/>
            <a:ext cx="749808" cy="182880"/>
          </a:xfrm>
          <a:prstGeom prst="line">
            <a:avLst/>
          </a:prstGeom>
          <a:ln w="1143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6647688" y="2651760"/>
            <a:ext cx="749808" cy="621792"/>
          </a:xfrm>
          <a:prstGeom prst="line">
            <a:avLst/>
          </a:prstGeom>
          <a:ln w="1143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6647688" y="3017520"/>
            <a:ext cx="749808" cy="256032"/>
          </a:xfrm>
          <a:prstGeom prst="line">
            <a:avLst/>
          </a:prstGeom>
          <a:ln w="11430">
            <a:solidFill>
              <a:srgbClr val="B2B2B2"/>
            </a:solidFill>
          </a:ln>
        </p:spPr>
        <p:style>
          <a:lnRef idx="2">
            <a:schemeClr val="accent1"/>
          </a:lnRef>
          <a:fillRef idx="0">
            <a:schemeClr val="accent1"/>
          </a:fillRef>
          <a:effectRef idx="1">
            <a:schemeClr val="accent1"/>
          </a:effectRef>
          <a:fontRef idx="minor">
            <a:schemeClr val="tx1"/>
          </a:fontRef>
        </p:style>
      </p:cxnSp>
      <p:sp>
        <p:nvSpPr>
          <p:cNvPr id="53" name="Oval 52"/>
          <p:cNvSpPr/>
          <p:nvPr/>
        </p:nvSpPr>
        <p:spPr>
          <a:xfrm>
            <a:off x="5797296" y="2423160"/>
            <a:ext cx="164592" cy="164592"/>
          </a:xfrm>
          <a:prstGeom prst="ellipse">
            <a:avLst/>
          </a:prstGeom>
          <a:solidFill>
            <a:srgbClr val="C40D1E"/>
          </a:solidFill>
          <a:ln w="889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5797296" y="2752344"/>
            <a:ext cx="164592" cy="164592"/>
          </a:xfrm>
          <a:prstGeom prst="ellipse">
            <a:avLst/>
          </a:prstGeom>
          <a:solidFill>
            <a:srgbClr val="C40D1E"/>
          </a:solidFill>
          <a:ln w="889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5797296" y="3081528"/>
            <a:ext cx="164592" cy="164592"/>
          </a:xfrm>
          <a:prstGeom prst="ellipse">
            <a:avLst/>
          </a:prstGeom>
          <a:solidFill>
            <a:srgbClr val="C40D1E"/>
          </a:solidFill>
          <a:ln w="889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6565392" y="2313432"/>
            <a:ext cx="164592" cy="164592"/>
          </a:xfrm>
          <a:prstGeom prst="ellipse">
            <a:avLst/>
          </a:prstGeom>
          <a:solidFill>
            <a:srgbClr val="C40D1E"/>
          </a:solidFill>
          <a:ln w="889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6565392" y="2752344"/>
            <a:ext cx="164592" cy="164592"/>
          </a:xfrm>
          <a:prstGeom prst="ellipse">
            <a:avLst/>
          </a:prstGeom>
          <a:solidFill>
            <a:srgbClr val="C40D1E"/>
          </a:solidFill>
          <a:ln w="889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6565392" y="3191256"/>
            <a:ext cx="164592" cy="164592"/>
          </a:xfrm>
          <a:prstGeom prst="ellipse">
            <a:avLst/>
          </a:prstGeom>
          <a:solidFill>
            <a:srgbClr val="C40D1E"/>
          </a:solidFill>
          <a:ln w="889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7315200" y="2569464"/>
            <a:ext cx="164592" cy="164592"/>
          </a:xfrm>
          <a:prstGeom prst="ellipse">
            <a:avLst/>
          </a:prstGeom>
          <a:solidFill>
            <a:srgbClr val="C40D1E"/>
          </a:solidFill>
          <a:ln w="889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7315200" y="2935224"/>
            <a:ext cx="164592" cy="164592"/>
          </a:xfrm>
          <a:prstGeom prst="ellipse">
            <a:avLst/>
          </a:prstGeom>
          <a:solidFill>
            <a:srgbClr val="C40D1E"/>
          </a:solidFill>
          <a:ln w="889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49824" y="3730752"/>
            <a:ext cx="2386584" cy="530352"/>
          </a:xfrm>
          <a:prstGeom prst="rect">
            <a:avLst/>
          </a:prstGeom>
          <a:noFill/>
        </p:spPr>
        <p:txBody>
          <a:bodyPr wrap="square" lIns="18288" rIns="18288" tIns="18288" bIns="18288" anchor="t">
            <a:spAutoFit/>
          </a:bodyPr>
          <a:lstStyle/>
          <a:p>
            <a:pPr algn="ctr"/>
            <a:r>
              <a:rPr sz="1400" b="0" lang="en-US">
                <a:solidFill>
                  <a:srgbClr val="434343"/>
                </a:solidFill>
                <a:latin typeface="Arial"/>
              </a:rPr>
              <a:t>Custom-trained model
for chest X-rays</a:t>
            </a:r>
          </a:p>
        </p:txBody>
      </p:sp>
      <p:cxnSp>
        <p:nvCxnSpPr>
          <p:cNvPr id="62" name="Connector 61"/>
          <p:cNvCxnSpPr/>
          <p:nvPr/>
        </p:nvCxnSpPr>
        <p:spPr>
          <a:xfrm>
            <a:off x="8165592" y="2898648"/>
            <a:ext cx="438912" cy="0"/>
          </a:xfrm>
          <a:prstGeom prst="line">
            <a:avLst/>
          </a:prstGeom>
          <a:ln w="25400">
            <a:solidFill>
              <a:srgbClr val="1F90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8732520" y="1691640"/>
            <a:ext cx="2770632" cy="2788920"/>
          </a:xfrm>
          <a:prstGeom prst="roundRect">
            <a:avLst/>
          </a:prstGeom>
          <a:solidFill>
            <a:srgbClr val="EAF5FA"/>
          </a:solidFill>
          <a:ln w="1270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933688" y="1865376"/>
            <a:ext cx="2368296" cy="320040"/>
          </a:xfrm>
          <a:prstGeom prst="rect">
            <a:avLst/>
          </a:prstGeom>
          <a:noFill/>
        </p:spPr>
        <p:txBody>
          <a:bodyPr wrap="square" lIns="18288" rIns="18288" tIns="18288" bIns="18288" anchor="t">
            <a:spAutoFit/>
          </a:bodyPr>
          <a:lstStyle/>
          <a:p>
            <a:pPr algn="ctr"/>
            <a:r>
              <a:rPr sz="1700" b="1" lang="en-US">
                <a:solidFill>
                  <a:srgbClr val="434343"/>
                </a:solidFill>
                <a:latin typeface="Arial"/>
              </a:rPr>
              <a:t>Later use</a:t>
            </a:r>
          </a:p>
        </p:txBody>
      </p:sp>
      <p:cxnSp>
        <p:nvCxnSpPr>
          <p:cNvPr id="65" name="Hospital motivation: agent / 1"/>
          <p:cNvCxnSpPr/>
          <p:nvPr/>
        </p:nvCxnSpPr>
        <p:spPr>
          <a:xfrm>
            <a:off x="10113264" y="2489454"/>
            <a:ext cx="0" cy="140017"/>
          </a:xfrm>
          <a:prstGeom prst="line">
            <a:avLst/>
          </a:prstGeom>
          <a:ln w="39758" cap="rnd">
            <a:solidFill>
              <a:srgbClr val="1F90CC"/>
            </a:solidFill>
          </a:ln>
        </p:spPr>
        <p:style>
          <a:lnRef idx="2">
            <a:schemeClr val="accent1"/>
          </a:lnRef>
          <a:fillRef idx="0">
            <a:schemeClr val="accent1"/>
          </a:fillRef>
          <a:effectRef idx="1">
            <a:schemeClr val="accent1"/>
          </a:effectRef>
          <a:fontRef idx="minor">
            <a:schemeClr val="tx1"/>
          </a:fontRef>
        </p:style>
      </p:cxnSp>
      <p:sp>
        <p:nvSpPr>
          <p:cNvPr id="66" name="Hospital motivation: agent / 2"/>
          <p:cNvSpPr/>
          <p:nvPr/>
        </p:nvSpPr>
        <p:spPr>
          <a:xfrm>
            <a:off x="10071258" y="2419445"/>
            <a:ext cx="84010" cy="84010"/>
          </a:xfrm>
          <a:prstGeom prst="ellipse">
            <a:avLst/>
          </a:prstGeom>
          <a:solidFill>
            <a:srgbClr val="1F90CC"/>
          </a:solidFill>
          <a:ln w="39758">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Hospital motivation: agent / 3"/>
          <p:cNvSpPr/>
          <p:nvPr/>
        </p:nvSpPr>
        <p:spPr>
          <a:xfrm>
            <a:off x="9777222" y="2629471"/>
            <a:ext cx="672084" cy="560070"/>
          </a:xfrm>
          <a:prstGeom prst="roundRect">
            <a:avLst/>
          </a:prstGeom>
          <a:solidFill>
            <a:srgbClr val="EAF5FA"/>
          </a:solidFill>
          <a:ln w="39758">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8" name="Hospital motivation: agent / 4"/>
          <p:cNvCxnSpPr/>
          <p:nvPr/>
        </p:nvCxnSpPr>
        <p:spPr>
          <a:xfrm>
            <a:off x="9693211" y="2797492"/>
            <a:ext cx="0" cy="196025"/>
          </a:xfrm>
          <a:prstGeom prst="line">
            <a:avLst/>
          </a:prstGeom>
          <a:ln w="39758" cap="rnd">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69" name="Hospital motivation: agent / 5"/>
          <p:cNvCxnSpPr/>
          <p:nvPr/>
        </p:nvCxnSpPr>
        <p:spPr>
          <a:xfrm>
            <a:off x="10533316" y="2797492"/>
            <a:ext cx="0" cy="196025"/>
          </a:xfrm>
          <a:prstGeom prst="line">
            <a:avLst/>
          </a:prstGeom>
          <a:ln w="39758" cap="rnd">
            <a:solidFill>
              <a:srgbClr val="1F90CC"/>
            </a:solidFill>
          </a:ln>
        </p:spPr>
        <p:style>
          <a:lnRef idx="2">
            <a:schemeClr val="accent1"/>
          </a:lnRef>
          <a:fillRef idx="0">
            <a:schemeClr val="accent1"/>
          </a:fillRef>
          <a:effectRef idx="1">
            <a:schemeClr val="accent1"/>
          </a:effectRef>
          <a:fontRef idx="minor">
            <a:schemeClr val="tx1"/>
          </a:fontRef>
        </p:style>
      </p:cxnSp>
      <p:sp>
        <p:nvSpPr>
          <p:cNvPr id="70" name="Hospital motivation: agent / 6"/>
          <p:cNvSpPr/>
          <p:nvPr/>
        </p:nvSpPr>
        <p:spPr>
          <a:xfrm>
            <a:off x="9917239" y="2797492"/>
            <a:ext cx="84010" cy="84010"/>
          </a:xfrm>
          <a:prstGeom prst="ellipse">
            <a:avLst/>
          </a:prstGeom>
          <a:solidFill>
            <a:srgbClr val="1F90CC"/>
          </a:solidFill>
          <a:ln w="39758">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Hospital motivation: agent / 7"/>
          <p:cNvSpPr/>
          <p:nvPr/>
        </p:nvSpPr>
        <p:spPr>
          <a:xfrm>
            <a:off x="10225278" y="2797492"/>
            <a:ext cx="84010" cy="84010"/>
          </a:xfrm>
          <a:prstGeom prst="ellipse">
            <a:avLst/>
          </a:prstGeom>
          <a:solidFill>
            <a:srgbClr val="1F90CC"/>
          </a:solidFill>
          <a:ln w="39758">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2" name="Hospital motivation: agent / 8"/>
          <p:cNvCxnSpPr/>
          <p:nvPr/>
        </p:nvCxnSpPr>
        <p:spPr>
          <a:xfrm>
            <a:off x="9973246" y="3049524"/>
            <a:ext cx="280035" cy="0"/>
          </a:xfrm>
          <a:prstGeom prst="line">
            <a:avLst/>
          </a:prstGeom>
          <a:ln w="39758" cap="rnd">
            <a:solidFill>
              <a:srgbClr val="1F90CC"/>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8887968" y="3712463"/>
            <a:ext cx="2468880" cy="594360"/>
          </a:xfrm>
          <a:prstGeom prst="rect">
            <a:avLst/>
          </a:prstGeom>
          <a:noFill/>
        </p:spPr>
        <p:txBody>
          <a:bodyPr wrap="square" lIns="18288" rIns="18288" tIns="18288" bIns="18288" anchor="t">
            <a:spAutoFit/>
          </a:bodyPr>
          <a:lstStyle/>
          <a:p>
            <a:pPr algn="ctr"/>
            <a:r>
              <a:rPr sz="1250" b="0" lang="en-US">
                <a:solidFill>
                  <a:srgbClr val="434343"/>
                </a:solidFill>
                <a:latin typeface="Arial"/>
              </a:rPr>
              <a:t>Physician accesses the model
through an AI assistant</a:t>
            </a:r>
          </a:p>
        </p:txBody>
      </p:sp>
      <p:sp>
        <p:nvSpPr>
          <p:cNvPr id="74" name="Rectangle 73"/>
          <p:cNvSpPr/>
          <p:nvPr/>
        </p:nvSpPr>
        <p:spPr>
          <a:xfrm>
            <a:off x="731520" y="4846320"/>
            <a:ext cx="10762488" cy="658368"/>
          </a:xfrm>
          <a:prstGeom prst="rect">
            <a:avLst/>
          </a:prstGeom>
          <a:solidFill>
            <a:srgbClr val="FFFFFF"/>
          </a:solidFill>
          <a:ln w="889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731520" y="4846320"/>
            <a:ext cx="68580" cy="658368"/>
          </a:xfrm>
          <a:prstGeom prst="rect">
            <a:avLst/>
          </a:prstGeom>
          <a:solidFill>
            <a:srgbClr val="C40D1E"/>
          </a:solidFill>
          <a:ln>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50976" y="5020056"/>
            <a:ext cx="10222992" cy="292608"/>
          </a:xfrm>
          <a:prstGeom prst="rect">
            <a:avLst/>
          </a:prstGeom>
          <a:noFill/>
        </p:spPr>
        <p:txBody>
          <a:bodyPr wrap="square" lIns="18288" rIns="18288" tIns="18288" bIns="18288" anchor="t">
            <a:spAutoFit/>
          </a:bodyPr>
          <a:lstStyle/>
          <a:p>
            <a:pPr algn="ctr"/>
            <a:r>
              <a:rPr sz="1700" b="1" lang="en-US">
                <a:solidFill>
                  <a:srgbClr val="434343"/>
                </a:solidFill>
                <a:latin typeface="Arial"/>
              </a:rPr>
              <a:t>Shared control during training. Evidence for each prediction.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150" b="0" lang="en-US">
                <a:solidFill>
                  <a:srgbClr val="434343"/>
                </a:solidFill>
                <a:latin typeface="Arial"/>
              </a:rPr>
              <a:t>Prior work: system coverage and verification</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EXISTING LIFECYCLE LINKS · DIFFERENT EVIDENCE AND TRUST ASSUMPTIONS</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7</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TextBox 12"/>
          <p:cNvSpPr txBox="1"/>
          <p:nvPr/>
        </p:nvSpPr>
        <p:spPr>
          <a:xfrm>
            <a:off x="749808" y="1380744"/>
            <a:ext cx="2194560" cy="246888"/>
          </a:xfrm>
          <a:prstGeom prst="rect">
            <a:avLst/>
          </a:prstGeom>
          <a:noFill/>
        </p:spPr>
        <p:txBody>
          <a:bodyPr wrap="square" lIns="18288" rIns="18288" tIns="18288" bIns="18288" anchor="t">
            <a:spAutoFit/>
          </a:bodyPr>
          <a:lstStyle/>
          <a:p>
            <a:pPr algn="l"/>
            <a:r>
              <a:rPr sz="1200" b="1" lang="en-US">
                <a:solidFill>
                  <a:srgbClr val="434343"/>
                </a:solidFill>
                <a:latin typeface="Arial"/>
              </a:rPr>
              <a:t>WORK</a:t>
            </a:r>
          </a:p>
        </p:txBody>
      </p:sp>
      <p:sp>
        <p:nvSpPr>
          <p:cNvPr id="14" name="TextBox 13"/>
          <p:cNvSpPr txBox="1"/>
          <p:nvPr/>
        </p:nvSpPr>
        <p:spPr>
          <a:xfrm>
            <a:off x="3063240" y="1380744"/>
            <a:ext cx="4453128" cy="246888"/>
          </a:xfrm>
          <a:prstGeom prst="rect">
            <a:avLst/>
          </a:prstGeom>
          <a:noFill/>
        </p:spPr>
        <p:txBody>
          <a:bodyPr wrap="square" lIns="18288" rIns="18288" tIns="18288" bIns="18288" anchor="t">
            <a:spAutoFit/>
          </a:bodyPr>
          <a:lstStyle/>
          <a:p>
            <a:pPr algn="ctr"/>
            <a:r>
              <a:rPr sz="1200" b="1" lang="en-US">
                <a:solidFill>
                  <a:srgbClr val="434343"/>
                </a:solidFill>
                <a:latin typeface="Arial"/>
              </a:rPr>
              <a:t>SYSTEM COVERAGE</a:t>
            </a:r>
          </a:p>
        </p:txBody>
      </p:sp>
      <p:sp>
        <p:nvSpPr>
          <p:cNvPr id="15" name="TextBox 14"/>
          <p:cNvSpPr txBox="1"/>
          <p:nvPr/>
        </p:nvSpPr>
        <p:spPr>
          <a:xfrm>
            <a:off x="7626096" y="1380744"/>
            <a:ext cx="3877056" cy="246888"/>
          </a:xfrm>
          <a:prstGeom prst="rect">
            <a:avLst/>
          </a:prstGeom>
          <a:noFill/>
        </p:spPr>
        <p:txBody>
          <a:bodyPr wrap="square" lIns="18288" rIns="18288" tIns="18288" bIns="18288" anchor="t">
            <a:spAutoFit/>
          </a:bodyPr>
          <a:lstStyle/>
          <a:p>
            <a:pPr algn="ctr"/>
            <a:r>
              <a:rPr sz="1200" b="1" lang="en-US">
                <a:solidFill>
                  <a:srgbClr val="434343"/>
                </a:solidFill>
                <a:latin typeface="Arial"/>
              </a:rPr>
              <a:t>VERIFICATION MECHANISMS</a:t>
            </a:r>
          </a:p>
        </p:txBody>
      </p:sp>
      <p:sp>
        <p:nvSpPr>
          <p:cNvPr id="16" name="TextBox 15"/>
          <p:cNvSpPr txBox="1"/>
          <p:nvPr/>
        </p:nvSpPr>
        <p:spPr>
          <a:xfrm>
            <a:off x="3012948" y="1892807"/>
            <a:ext cx="1033272" cy="402336"/>
          </a:xfrm>
          <a:prstGeom prst="rect">
            <a:avLst/>
          </a:prstGeom>
          <a:noFill/>
        </p:spPr>
        <p:txBody>
          <a:bodyPr wrap="square" lIns="0" rIns="0" tIns="0" bIns="0" anchor="ctr">
            <a:spAutoFit/>
          </a:bodyPr>
          <a:lstStyle/>
          <a:p>
            <a:pPr algn="ctr"/>
            <a:r>
              <a:rPr sz="1150" b="1" lang="en-US">
                <a:solidFill>
                  <a:srgbClr val="2F8F46"/>
                </a:solidFill>
                <a:latin typeface="Arial"/>
              </a:rPr>
              <a:t>DFL</a:t>
            </a:r>
          </a:p>
        </p:txBody>
      </p:sp>
      <p:sp>
        <p:nvSpPr>
          <p:cNvPr id="17" name="TextBox 16"/>
          <p:cNvSpPr txBox="1"/>
          <p:nvPr/>
        </p:nvSpPr>
        <p:spPr>
          <a:xfrm>
            <a:off x="4110228" y="1892807"/>
            <a:ext cx="1106424" cy="402336"/>
          </a:xfrm>
          <a:prstGeom prst="rect">
            <a:avLst/>
          </a:prstGeom>
          <a:noFill/>
        </p:spPr>
        <p:txBody>
          <a:bodyPr wrap="square" lIns="0" rIns="0" tIns="0" bIns="0" anchor="ctr">
            <a:spAutoFit/>
          </a:bodyPr>
          <a:lstStyle/>
          <a:p>
            <a:pPr algn="ctr"/>
            <a:r>
              <a:rPr sz="1150" b="1" lang="en-US">
                <a:solidFill>
                  <a:srgbClr val="1F90CC"/>
                </a:solidFill>
                <a:latin typeface="Arial"/>
              </a:rPr>
              <a:t>Inference</a:t>
            </a:r>
          </a:p>
        </p:txBody>
      </p:sp>
      <p:sp>
        <p:nvSpPr>
          <p:cNvPr id="18" name="TextBox 17"/>
          <p:cNvSpPr txBox="1"/>
          <p:nvPr/>
        </p:nvSpPr>
        <p:spPr>
          <a:xfrm>
            <a:off x="5280660" y="1892807"/>
            <a:ext cx="905256" cy="402336"/>
          </a:xfrm>
          <a:prstGeom prst="rect">
            <a:avLst/>
          </a:prstGeom>
          <a:noFill/>
        </p:spPr>
        <p:txBody>
          <a:bodyPr wrap="square" lIns="0" rIns="0" tIns="0" bIns="0" anchor="ctr">
            <a:spAutoFit/>
          </a:bodyPr>
          <a:lstStyle/>
          <a:p>
            <a:pPr algn="ctr"/>
            <a:r>
              <a:rPr sz="1150" b="1" lang="en-US">
                <a:solidFill>
                  <a:srgbClr val="FF6C00"/>
                </a:solidFill>
                <a:latin typeface="Arial"/>
              </a:rPr>
              <a:t>Agent</a:t>
            </a:r>
          </a:p>
        </p:txBody>
      </p:sp>
      <p:sp>
        <p:nvSpPr>
          <p:cNvPr id="19" name="TextBox 18"/>
          <p:cNvSpPr txBox="1"/>
          <p:nvPr/>
        </p:nvSpPr>
        <p:spPr>
          <a:xfrm>
            <a:off x="6249924" y="1892807"/>
            <a:ext cx="1316736" cy="402336"/>
          </a:xfrm>
          <a:prstGeom prst="rect">
            <a:avLst/>
          </a:prstGeom>
          <a:noFill/>
        </p:spPr>
        <p:txBody>
          <a:bodyPr wrap="square" lIns="0" rIns="0" tIns="0" bIns="0" anchor="ctr">
            <a:spAutoFit/>
          </a:bodyPr>
          <a:lstStyle/>
          <a:p>
            <a:pPr algn="ctr"/>
            <a:r>
              <a:rPr sz="1150" b="1" lang="en-US">
                <a:solidFill>
                  <a:srgbClr val="7A35B5"/>
                </a:solidFill>
                <a:latin typeface="Arial"/>
              </a:rPr>
              <a:t>Transparency
Log</a:t>
            </a:r>
          </a:p>
        </p:txBody>
      </p:sp>
      <p:sp>
        <p:nvSpPr>
          <p:cNvPr id="20" name="TextBox 19"/>
          <p:cNvSpPr txBox="1"/>
          <p:nvPr/>
        </p:nvSpPr>
        <p:spPr>
          <a:xfrm>
            <a:off x="9125712" y="1627632"/>
            <a:ext cx="2404872" cy="246888"/>
          </a:xfrm>
          <a:prstGeom prst="rect">
            <a:avLst/>
          </a:prstGeom>
          <a:noFill/>
        </p:spPr>
        <p:txBody>
          <a:bodyPr wrap="square" lIns="18288" rIns="18288" tIns="18288" bIns="18288" anchor="t">
            <a:spAutoFit/>
          </a:bodyPr>
          <a:lstStyle/>
          <a:p>
            <a:pPr algn="ctr"/>
            <a:r>
              <a:rPr sz="1150" b="1" lang="en-US">
                <a:solidFill>
                  <a:srgbClr val="434343"/>
                </a:solidFill>
                <a:latin typeface="Arial"/>
              </a:rPr>
              <a:t>Remote attestation</a:t>
            </a:r>
          </a:p>
        </p:txBody>
      </p:sp>
      <p:cxnSp>
        <p:nvCxnSpPr>
          <p:cNvPr id="21" name="Connector 20"/>
          <p:cNvCxnSpPr/>
          <p:nvPr/>
        </p:nvCxnSpPr>
        <p:spPr>
          <a:xfrm>
            <a:off x="9253728" y="1883664"/>
            <a:ext cx="2139696" cy="0"/>
          </a:xfrm>
          <a:prstGeom prst="line">
            <a:avLst/>
          </a:prstGeom>
          <a:ln w="12700">
            <a:solidFill>
              <a:srgbClr val="D5D5D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253728" y="1883664"/>
            <a:ext cx="0" cy="64008"/>
          </a:xfrm>
          <a:prstGeom prst="line">
            <a:avLst/>
          </a:prstGeom>
          <a:ln w="12700">
            <a:solidFill>
              <a:srgbClr val="D5D5D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1393424" y="1883664"/>
            <a:ext cx="0" cy="64008"/>
          </a:xfrm>
          <a:prstGeom prst="line">
            <a:avLst/>
          </a:prstGeom>
          <a:ln w="12700">
            <a:solidFill>
              <a:srgbClr val="D5D5D5"/>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735823" y="1938528"/>
            <a:ext cx="566928" cy="384048"/>
          </a:xfrm>
          <a:prstGeom prst="rect">
            <a:avLst/>
          </a:prstGeom>
          <a:noFill/>
        </p:spPr>
        <p:txBody>
          <a:bodyPr wrap="square" lIns="0" rIns="0" tIns="0" bIns="0" anchor="ctr">
            <a:spAutoFit/>
          </a:bodyPr>
          <a:lstStyle/>
          <a:p>
            <a:pPr algn="ctr"/>
            <a:r>
              <a:rPr sz="1130" b="1" lang="en-US">
                <a:solidFill>
                  <a:srgbClr val="434343"/>
                </a:solidFill>
                <a:latin typeface="Arial"/>
              </a:rPr>
              <a:t>ZKP</a:t>
            </a:r>
          </a:p>
        </p:txBody>
      </p:sp>
      <p:sp>
        <p:nvSpPr>
          <p:cNvPr id="25" name="TextBox 24"/>
          <p:cNvSpPr txBox="1"/>
          <p:nvPr/>
        </p:nvSpPr>
        <p:spPr>
          <a:xfrm>
            <a:off x="8398764" y="1938528"/>
            <a:ext cx="557784" cy="384048"/>
          </a:xfrm>
          <a:prstGeom prst="rect">
            <a:avLst/>
          </a:prstGeom>
          <a:noFill/>
        </p:spPr>
        <p:txBody>
          <a:bodyPr wrap="square" lIns="0" rIns="0" tIns="0" bIns="0" anchor="ctr">
            <a:spAutoFit/>
          </a:bodyPr>
          <a:lstStyle/>
          <a:p>
            <a:pPr algn="ctr"/>
            <a:r>
              <a:rPr sz="1130" b="1" lang="en-US">
                <a:solidFill>
                  <a:srgbClr val="434343"/>
                </a:solidFill>
                <a:latin typeface="Arial"/>
              </a:rPr>
              <a:t>TEE</a:t>
            </a:r>
          </a:p>
        </p:txBody>
      </p:sp>
      <p:sp>
        <p:nvSpPr>
          <p:cNvPr id="26" name="TextBox 25"/>
          <p:cNvSpPr txBox="1"/>
          <p:nvPr/>
        </p:nvSpPr>
        <p:spPr>
          <a:xfrm>
            <a:off x="9144000" y="1938528"/>
            <a:ext cx="1115568" cy="384048"/>
          </a:xfrm>
          <a:prstGeom prst="rect">
            <a:avLst/>
          </a:prstGeom>
          <a:noFill/>
        </p:spPr>
        <p:txBody>
          <a:bodyPr wrap="square" lIns="0" rIns="0" tIns="0" bIns="0" anchor="ctr">
            <a:spAutoFit/>
          </a:bodyPr>
          <a:lstStyle/>
          <a:p>
            <a:pPr algn="ctr"/>
            <a:r>
              <a:rPr sz="1130" b="1" lang="en-US">
                <a:solidFill>
                  <a:srgbClr val="434343"/>
                </a:solidFill>
                <a:latin typeface="Arial"/>
              </a:rPr>
              <a:t>Quote
verification</a:t>
            </a:r>
          </a:p>
        </p:txBody>
      </p:sp>
      <p:sp>
        <p:nvSpPr>
          <p:cNvPr id="27" name="TextBox 26"/>
          <p:cNvSpPr txBox="1"/>
          <p:nvPr/>
        </p:nvSpPr>
        <p:spPr>
          <a:xfrm>
            <a:off x="10479024" y="1938528"/>
            <a:ext cx="987552" cy="384048"/>
          </a:xfrm>
          <a:prstGeom prst="rect">
            <a:avLst/>
          </a:prstGeom>
          <a:noFill/>
        </p:spPr>
        <p:txBody>
          <a:bodyPr wrap="square" lIns="0" rIns="0" tIns="0" bIns="0" anchor="ctr">
            <a:spAutoFit/>
          </a:bodyPr>
          <a:lstStyle/>
          <a:p>
            <a:pPr algn="ctr"/>
            <a:r>
              <a:rPr sz="1130" b="1" lang="en-US">
                <a:solidFill>
                  <a:srgbClr val="434343"/>
                </a:solidFill>
                <a:latin typeface="Arial"/>
              </a:rPr>
              <a:t>RTMR3
replay</a:t>
            </a:r>
          </a:p>
        </p:txBody>
      </p:sp>
      <p:sp>
        <p:nvSpPr>
          <p:cNvPr id="28" name="Rectangle 27"/>
          <p:cNvSpPr/>
          <p:nvPr/>
        </p:nvSpPr>
        <p:spPr>
          <a:xfrm>
            <a:off x="640080" y="2368296"/>
            <a:ext cx="10917936" cy="256032"/>
          </a:xfrm>
          <a:prstGeom prst="rect">
            <a:avLst/>
          </a:prstGeom>
          <a:solidFill>
            <a:srgbClr val="F3F3F3"/>
          </a:solidFill>
          <a:ln>
            <a:solidFill>
              <a:srgbClr val="F3F3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8952" y="2372868"/>
            <a:ext cx="2221992" cy="246888"/>
          </a:xfrm>
          <a:prstGeom prst="rect">
            <a:avLst/>
          </a:prstGeom>
          <a:noFill/>
        </p:spPr>
        <p:txBody>
          <a:bodyPr wrap="square" lIns="0" rIns="0" tIns="0" bIns="0" anchor="ctr">
            <a:spAutoFit/>
          </a:bodyPr>
          <a:lstStyle/>
          <a:p>
            <a:pPr algn="l"/>
            <a:r>
              <a:rPr sz="1140" b="0" lang="en-US">
                <a:solidFill>
                  <a:srgbClr val="434343"/>
                </a:solidFill>
                <a:latin typeface="Arial"/>
                <a:hlinkClick r:id="rId2"/>
              </a:rPr>
              <a:t>Lee, Heiss et al. · 2024</a:t>
            </a:r>
          </a:p>
        </p:txBody>
      </p:sp>
      <p:sp>
        <p:nvSpPr>
          <p:cNvPr id="30" name="Literature: Lee, Heiss et al. · 2024: DFL"/>
          <p:cNvSpPr/>
          <p:nvPr/>
        </p:nvSpPr>
        <p:spPr>
          <a:xfrm>
            <a:off x="3063240" y="2379726"/>
            <a:ext cx="932688" cy="233172"/>
          </a:xfrm>
          <a:prstGeom prst="roundRect">
            <a:avLst/>
          </a:prstGeom>
          <a:solidFill>
            <a:srgbClr val="2F8F46"/>
          </a:solidFill>
          <a:ln w="1397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063240" y="2379726"/>
            <a:ext cx="932688" cy="233172"/>
          </a:xfrm>
          <a:prstGeom prst="rect">
            <a:avLst/>
          </a:prstGeom>
          <a:noFill/>
        </p:spPr>
        <p:txBody>
          <a:bodyPr wrap="square" lIns="0" rIns="0" tIns="0" bIns="0" anchor="ctr">
            <a:spAutoFit/>
          </a:bodyPr>
          <a:lstStyle/>
          <a:p>
            <a:pPr algn="ctr"/>
            <a:r>
              <a:rPr sz="1080" b="1" lang="en-US">
                <a:solidFill>
                  <a:srgbClr val="FFFFFF"/>
                </a:solidFill>
                <a:latin typeface="Arial"/>
              </a:rPr>
              <a:t>DFL</a:t>
            </a:r>
          </a:p>
        </p:txBody>
      </p:sp>
      <p:cxnSp>
        <p:nvCxnSpPr>
          <p:cNvPr id="32" name="Connector 31"/>
          <p:cNvCxnSpPr/>
          <p:nvPr/>
        </p:nvCxnSpPr>
        <p:spPr>
          <a:xfrm>
            <a:off x="4599431" y="2496312"/>
            <a:ext cx="128017"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669280" y="2496312"/>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844283" y="2496312"/>
            <a:ext cx="128017"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7944307" y="2421331"/>
            <a:ext cx="149961" cy="149961"/>
          </a:xfrm>
          <a:prstGeom prst="ellipse">
            <a:avLst/>
          </a:prstGeom>
          <a:solidFill>
            <a:srgbClr val="434343"/>
          </a:solidFill>
          <a:ln w="19050">
            <a:solidFill>
              <a:srgbClr val="4343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8613648" y="2496312"/>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637776" y="2496312"/>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908792" y="2496312"/>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640080" y="2638044"/>
            <a:ext cx="10917936" cy="25603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8952" y="2642615"/>
            <a:ext cx="2221992" cy="246888"/>
          </a:xfrm>
          <a:prstGeom prst="rect">
            <a:avLst/>
          </a:prstGeom>
          <a:noFill/>
        </p:spPr>
        <p:txBody>
          <a:bodyPr wrap="square" lIns="0" rIns="0" tIns="0" bIns="0" anchor="ctr">
            <a:spAutoFit/>
          </a:bodyPr>
          <a:lstStyle/>
          <a:p>
            <a:pPr algn="l"/>
            <a:r>
              <a:rPr sz="1140" b="0" lang="en-US">
                <a:solidFill>
                  <a:srgbClr val="434343"/>
                </a:solidFill>
                <a:latin typeface="Arial"/>
                <a:hlinkClick r:id="rId3"/>
              </a:rPr>
              <a:t>Ebrahimi et al. · 2024</a:t>
            </a:r>
          </a:p>
        </p:txBody>
      </p:sp>
      <p:sp>
        <p:nvSpPr>
          <p:cNvPr id="41" name="Literature: Ebrahimi et al. · 2024: DFL"/>
          <p:cNvSpPr/>
          <p:nvPr/>
        </p:nvSpPr>
        <p:spPr>
          <a:xfrm>
            <a:off x="3063240" y="2649474"/>
            <a:ext cx="932688" cy="233172"/>
          </a:xfrm>
          <a:prstGeom prst="roundRect">
            <a:avLst/>
          </a:prstGeom>
          <a:solidFill>
            <a:srgbClr val="2F8F46"/>
          </a:solidFill>
          <a:ln w="1397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063240" y="2649474"/>
            <a:ext cx="932688" cy="233172"/>
          </a:xfrm>
          <a:prstGeom prst="rect">
            <a:avLst/>
          </a:prstGeom>
          <a:noFill/>
        </p:spPr>
        <p:txBody>
          <a:bodyPr wrap="square" lIns="0" rIns="0" tIns="0" bIns="0" anchor="ctr">
            <a:spAutoFit/>
          </a:bodyPr>
          <a:lstStyle/>
          <a:p>
            <a:pPr algn="ctr"/>
            <a:r>
              <a:rPr sz="1080" b="1" lang="en-US">
                <a:solidFill>
                  <a:srgbClr val="FFFFFF"/>
                </a:solidFill>
                <a:latin typeface="Arial"/>
              </a:rPr>
              <a:t>DFL</a:t>
            </a:r>
          </a:p>
        </p:txBody>
      </p:sp>
      <p:cxnSp>
        <p:nvCxnSpPr>
          <p:cNvPr id="43" name="Connector 42"/>
          <p:cNvCxnSpPr/>
          <p:nvPr/>
        </p:nvCxnSpPr>
        <p:spPr>
          <a:xfrm>
            <a:off x="4599431" y="2766060"/>
            <a:ext cx="128017"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669280" y="2766060"/>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844283" y="2766060"/>
            <a:ext cx="128017"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7944307" y="2691079"/>
            <a:ext cx="149961" cy="149961"/>
          </a:xfrm>
          <a:prstGeom prst="ellipse">
            <a:avLst/>
          </a:prstGeom>
          <a:solidFill>
            <a:srgbClr val="434343"/>
          </a:solidFill>
          <a:ln w="19050">
            <a:solidFill>
              <a:srgbClr val="4343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a:off x="8613648" y="2766060"/>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9637776" y="2766060"/>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0908792" y="2766060"/>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640080" y="2907791"/>
            <a:ext cx="10917936" cy="256032"/>
          </a:xfrm>
          <a:prstGeom prst="rect">
            <a:avLst/>
          </a:prstGeom>
          <a:solidFill>
            <a:srgbClr val="F3F3F3"/>
          </a:solidFill>
          <a:ln>
            <a:solidFill>
              <a:srgbClr val="F3F3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58952" y="2912363"/>
            <a:ext cx="2221992" cy="246888"/>
          </a:xfrm>
          <a:prstGeom prst="rect">
            <a:avLst/>
          </a:prstGeom>
          <a:noFill/>
        </p:spPr>
        <p:txBody>
          <a:bodyPr wrap="square" lIns="0" rIns="0" tIns="0" bIns="0" anchor="ctr">
            <a:spAutoFit/>
          </a:bodyPr>
          <a:lstStyle/>
          <a:p>
            <a:pPr algn="l"/>
            <a:r>
              <a:rPr sz="1140" b="0" lang="en-US">
                <a:solidFill>
                  <a:srgbClr val="434343"/>
                </a:solidFill>
                <a:latin typeface="Arial"/>
                <a:hlinkClick r:id="rId4"/>
              </a:rPr>
              <a:t>Voltran · 2024</a:t>
            </a:r>
          </a:p>
        </p:txBody>
      </p:sp>
      <p:sp>
        <p:nvSpPr>
          <p:cNvPr id="52" name="Literature: Voltran · 2024: Aggregate"/>
          <p:cNvSpPr/>
          <p:nvPr/>
        </p:nvSpPr>
        <p:spPr>
          <a:xfrm>
            <a:off x="3063240" y="2919222"/>
            <a:ext cx="932688" cy="233172"/>
          </a:xfrm>
          <a:prstGeom prst="roundRect">
            <a:avLst/>
          </a:prstGeom>
          <a:solidFill>
            <a:srgbClr val="2F8F46"/>
          </a:solidFill>
          <a:ln w="1397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063240" y="2919222"/>
            <a:ext cx="932688" cy="233172"/>
          </a:xfrm>
          <a:prstGeom prst="rect">
            <a:avLst/>
          </a:prstGeom>
          <a:noFill/>
        </p:spPr>
        <p:txBody>
          <a:bodyPr wrap="square" lIns="0" rIns="0" tIns="0" bIns="0" anchor="ctr">
            <a:spAutoFit/>
          </a:bodyPr>
          <a:lstStyle/>
          <a:p>
            <a:pPr algn="ctr"/>
            <a:r>
              <a:rPr sz="1080" b="1" lang="en-US">
                <a:solidFill>
                  <a:srgbClr val="FFFFFF"/>
                </a:solidFill>
                <a:latin typeface="Arial"/>
              </a:rPr>
              <a:t>Aggregate</a:t>
            </a:r>
          </a:p>
        </p:txBody>
      </p:sp>
      <p:cxnSp>
        <p:nvCxnSpPr>
          <p:cNvPr id="54" name="Connector 53"/>
          <p:cNvCxnSpPr/>
          <p:nvPr/>
        </p:nvCxnSpPr>
        <p:spPr>
          <a:xfrm>
            <a:off x="4599431" y="3035808"/>
            <a:ext cx="128017"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5669280" y="3035808"/>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6844283" y="3035808"/>
            <a:ext cx="128017"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955279" y="3035808"/>
            <a:ext cx="128017"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8602675" y="2960827"/>
            <a:ext cx="149961" cy="149961"/>
          </a:xfrm>
          <a:prstGeom prst="ellipse">
            <a:avLst/>
          </a:prstGeom>
          <a:solidFill>
            <a:srgbClr val="434343"/>
          </a:solidFill>
          <a:ln w="19050">
            <a:solidFill>
              <a:srgbClr val="4343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162288" y="2912363"/>
            <a:ext cx="1078992" cy="246888"/>
          </a:xfrm>
          <a:prstGeom prst="rect">
            <a:avLst/>
          </a:prstGeom>
          <a:noFill/>
        </p:spPr>
        <p:txBody>
          <a:bodyPr wrap="square" lIns="0" rIns="0" tIns="0" bIns="0" anchor="ctr">
            <a:spAutoFit/>
          </a:bodyPr>
          <a:lstStyle/>
          <a:p>
            <a:pPr algn="ctr"/>
            <a:r>
              <a:rPr sz="1080" b="0" lang="en-US">
                <a:solidFill>
                  <a:srgbClr val="434343"/>
                </a:solidFill>
                <a:latin typeface="Arial"/>
              </a:rPr>
              <a:t>SGX RA</a:t>
            </a:r>
          </a:p>
        </p:txBody>
      </p:sp>
      <p:cxnSp>
        <p:nvCxnSpPr>
          <p:cNvPr id="60" name="Connector 59"/>
          <p:cNvCxnSpPr/>
          <p:nvPr/>
        </p:nvCxnSpPr>
        <p:spPr>
          <a:xfrm>
            <a:off x="10908792" y="3035808"/>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640080" y="3177539"/>
            <a:ext cx="10917936" cy="25603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58952" y="3182111"/>
            <a:ext cx="2221992" cy="246888"/>
          </a:xfrm>
          <a:prstGeom prst="rect">
            <a:avLst/>
          </a:prstGeom>
          <a:noFill/>
        </p:spPr>
        <p:txBody>
          <a:bodyPr wrap="square" lIns="0" rIns="0" tIns="0" bIns="0" anchor="ctr">
            <a:spAutoFit/>
          </a:bodyPr>
          <a:lstStyle/>
          <a:p>
            <a:pPr algn="l"/>
            <a:r>
              <a:rPr sz="1140" b="0" lang="en-US">
                <a:solidFill>
                  <a:srgbClr val="434343"/>
                </a:solidFill>
                <a:latin typeface="Arial"/>
              </a:rPr>
              <a:t>Hartmann · 2024</a:t>
            </a:r>
          </a:p>
        </p:txBody>
      </p:sp>
      <p:sp>
        <p:nvSpPr>
          <p:cNvPr id="63" name="Literature: Hartmann · 2024: DFL"/>
          <p:cNvSpPr/>
          <p:nvPr/>
        </p:nvSpPr>
        <p:spPr>
          <a:xfrm>
            <a:off x="3063240" y="3188970"/>
            <a:ext cx="932688" cy="233172"/>
          </a:xfrm>
          <a:prstGeom prst="roundRect">
            <a:avLst/>
          </a:prstGeom>
          <a:solidFill>
            <a:srgbClr val="2F8F46"/>
          </a:solidFill>
          <a:ln w="1397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063240" y="3188970"/>
            <a:ext cx="932688" cy="233172"/>
          </a:xfrm>
          <a:prstGeom prst="rect">
            <a:avLst/>
          </a:prstGeom>
          <a:noFill/>
        </p:spPr>
        <p:txBody>
          <a:bodyPr wrap="square" lIns="0" rIns="0" tIns="0" bIns="0" anchor="ctr">
            <a:spAutoFit/>
          </a:bodyPr>
          <a:lstStyle/>
          <a:p>
            <a:pPr algn="ctr"/>
            <a:r>
              <a:rPr sz="1080" b="1" lang="en-US">
                <a:solidFill>
                  <a:srgbClr val="FFFFFF"/>
                </a:solidFill>
                <a:latin typeface="Arial"/>
              </a:rPr>
              <a:t>DFL</a:t>
            </a:r>
          </a:p>
        </p:txBody>
      </p:sp>
      <p:cxnSp>
        <p:nvCxnSpPr>
          <p:cNvPr id="65" name="Connector 64"/>
          <p:cNvCxnSpPr/>
          <p:nvPr/>
        </p:nvCxnSpPr>
        <p:spPr>
          <a:xfrm>
            <a:off x="4599431" y="3305556"/>
            <a:ext cx="128017"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5669280" y="3305556"/>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6844283" y="3305556"/>
            <a:ext cx="128017"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sp>
        <p:nvSpPr>
          <p:cNvPr id="68" name="Oval 67"/>
          <p:cNvSpPr/>
          <p:nvPr/>
        </p:nvSpPr>
        <p:spPr>
          <a:xfrm>
            <a:off x="7944307" y="3230575"/>
            <a:ext cx="149961" cy="149961"/>
          </a:xfrm>
          <a:prstGeom prst="ellipse">
            <a:avLst/>
          </a:prstGeom>
          <a:solidFill>
            <a:srgbClr val="434343"/>
          </a:solidFill>
          <a:ln w="19050">
            <a:solidFill>
              <a:srgbClr val="4343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8602675" y="3230575"/>
            <a:ext cx="149961" cy="149961"/>
          </a:xfrm>
          <a:prstGeom prst="ellipse">
            <a:avLst/>
          </a:prstGeom>
          <a:solidFill>
            <a:srgbClr val="434343"/>
          </a:solidFill>
          <a:ln w="19050">
            <a:solidFill>
              <a:srgbClr val="4343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162288" y="3182111"/>
            <a:ext cx="1078992" cy="246888"/>
          </a:xfrm>
          <a:prstGeom prst="rect">
            <a:avLst/>
          </a:prstGeom>
          <a:noFill/>
        </p:spPr>
        <p:txBody>
          <a:bodyPr wrap="square" lIns="0" rIns="0" tIns="0" bIns="0" anchor="ctr">
            <a:spAutoFit/>
          </a:bodyPr>
          <a:lstStyle/>
          <a:p>
            <a:pPr algn="ctr"/>
            <a:r>
              <a:rPr sz="1080" b="0" lang="en-US">
                <a:solidFill>
                  <a:srgbClr val="434343"/>
                </a:solidFill>
                <a:latin typeface="Arial"/>
              </a:rPr>
              <a:t>Simulated</a:t>
            </a:r>
          </a:p>
        </p:txBody>
      </p:sp>
      <p:cxnSp>
        <p:nvCxnSpPr>
          <p:cNvPr id="71" name="Connector 70"/>
          <p:cNvCxnSpPr/>
          <p:nvPr/>
        </p:nvCxnSpPr>
        <p:spPr>
          <a:xfrm>
            <a:off x="10908792" y="3305556"/>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sp>
        <p:nvSpPr>
          <p:cNvPr id="72" name="Rectangle 71"/>
          <p:cNvSpPr/>
          <p:nvPr/>
        </p:nvSpPr>
        <p:spPr>
          <a:xfrm>
            <a:off x="640080" y="3447287"/>
            <a:ext cx="10917936" cy="256032"/>
          </a:xfrm>
          <a:prstGeom prst="rect">
            <a:avLst/>
          </a:prstGeom>
          <a:solidFill>
            <a:srgbClr val="F3F3F3"/>
          </a:solidFill>
          <a:ln>
            <a:solidFill>
              <a:srgbClr val="F3F3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58952" y="3451859"/>
            <a:ext cx="2221992" cy="246888"/>
          </a:xfrm>
          <a:prstGeom prst="rect">
            <a:avLst/>
          </a:prstGeom>
          <a:noFill/>
        </p:spPr>
        <p:txBody>
          <a:bodyPr wrap="square" lIns="0" rIns="0" tIns="0" bIns="0" anchor="ctr">
            <a:spAutoFit/>
          </a:bodyPr>
          <a:lstStyle/>
          <a:p>
            <a:pPr algn="l"/>
            <a:r>
              <a:rPr sz="1140" b="0" lang="en-US">
                <a:solidFill>
                  <a:srgbClr val="434343"/>
                </a:solidFill>
                <a:latin typeface="Arial"/>
                <a:hlinkClick r:id="rId5"/>
              </a:rPr>
              <a:t>ZKML · 2024</a:t>
            </a:r>
          </a:p>
        </p:txBody>
      </p:sp>
      <p:cxnSp>
        <p:nvCxnSpPr>
          <p:cNvPr id="74" name="Connector 73"/>
          <p:cNvCxnSpPr/>
          <p:nvPr/>
        </p:nvCxnSpPr>
        <p:spPr>
          <a:xfrm>
            <a:off x="3465576" y="3575303"/>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sp>
        <p:nvSpPr>
          <p:cNvPr id="75" name="Literature: ZKML · 2024: Inference"/>
          <p:cNvSpPr/>
          <p:nvPr/>
        </p:nvSpPr>
        <p:spPr>
          <a:xfrm>
            <a:off x="4160520" y="3458718"/>
            <a:ext cx="1005840" cy="233172"/>
          </a:xfrm>
          <a:prstGeom prst="roundRect">
            <a:avLst/>
          </a:prstGeom>
          <a:solidFill>
            <a:srgbClr val="1F90CC"/>
          </a:solidFill>
          <a:ln w="1397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160520" y="3458718"/>
            <a:ext cx="1005840" cy="233172"/>
          </a:xfrm>
          <a:prstGeom prst="rect">
            <a:avLst/>
          </a:prstGeom>
          <a:noFill/>
        </p:spPr>
        <p:txBody>
          <a:bodyPr wrap="square" lIns="0" rIns="0" tIns="0" bIns="0" anchor="ctr">
            <a:spAutoFit/>
          </a:bodyPr>
          <a:lstStyle/>
          <a:p>
            <a:pPr algn="ctr"/>
            <a:r>
              <a:rPr sz="1080" b="1" lang="en-US">
                <a:solidFill>
                  <a:srgbClr val="FFFFFF"/>
                </a:solidFill>
                <a:latin typeface="Arial"/>
              </a:rPr>
              <a:t>Inference</a:t>
            </a:r>
          </a:p>
        </p:txBody>
      </p:sp>
      <p:cxnSp>
        <p:nvCxnSpPr>
          <p:cNvPr id="77" name="Connector 76"/>
          <p:cNvCxnSpPr/>
          <p:nvPr/>
        </p:nvCxnSpPr>
        <p:spPr>
          <a:xfrm>
            <a:off x="5669280" y="3575303"/>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844283" y="3575303"/>
            <a:ext cx="128017"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sp>
        <p:nvSpPr>
          <p:cNvPr id="79" name="Oval 78"/>
          <p:cNvSpPr/>
          <p:nvPr/>
        </p:nvSpPr>
        <p:spPr>
          <a:xfrm>
            <a:off x="7944307" y="3500323"/>
            <a:ext cx="149961" cy="149961"/>
          </a:xfrm>
          <a:prstGeom prst="ellipse">
            <a:avLst/>
          </a:prstGeom>
          <a:solidFill>
            <a:srgbClr val="434343"/>
          </a:solidFill>
          <a:ln w="19050">
            <a:solidFill>
              <a:srgbClr val="4343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0" name="Connector 79"/>
          <p:cNvCxnSpPr/>
          <p:nvPr/>
        </p:nvCxnSpPr>
        <p:spPr>
          <a:xfrm>
            <a:off x="8613648" y="3575303"/>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9637776" y="3575303"/>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10908792" y="3575303"/>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sp>
        <p:nvSpPr>
          <p:cNvPr id="83" name="Rectangle 82"/>
          <p:cNvSpPr/>
          <p:nvPr/>
        </p:nvSpPr>
        <p:spPr>
          <a:xfrm>
            <a:off x="640080" y="3717035"/>
            <a:ext cx="10917936" cy="25603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58952" y="3721607"/>
            <a:ext cx="2221992" cy="246888"/>
          </a:xfrm>
          <a:prstGeom prst="rect">
            <a:avLst/>
          </a:prstGeom>
          <a:noFill/>
        </p:spPr>
        <p:txBody>
          <a:bodyPr wrap="square" lIns="0" rIns="0" tIns="0" bIns="0" anchor="ctr">
            <a:spAutoFit/>
          </a:bodyPr>
          <a:lstStyle/>
          <a:p>
            <a:pPr algn="l"/>
            <a:r>
              <a:rPr sz="1140" b="0" lang="en-US">
                <a:solidFill>
                  <a:srgbClr val="434343"/>
                </a:solidFill>
                <a:latin typeface="Arial"/>
                <a:hlinkClick r:id="rId6"/>
              </a:rPr>
              <a:t>ZkAudit · 2024</a:t>
            </a:r>
          </a:p>
        </p:txBody>
      </p:sp>
      <p:cxnSp>
        <p:nvCxnSpPr>
          <p:cNvPr id="85" name="Connector 84"/>
          <p:cNvCxnSpPr/>
          <p:nvPr/>
        </p:nvCxnSpPr>
        <p:spPr>
          <a:xfrm>
            <a:off x="3465576" y="3845051"/>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sp>
        <p:nvSpPr>
          <p:cNvPr id="86" name="Literature: ZkAudit · 2024: Audits"/>
          <p:cNvSpPr/>
          <p:nvPr/>
        </p:nvSpPr>
        <p:spPr>
          <a:xfrm>
            <a:off x="4160520" y="3728465"/>
            <a:ext cx="1005840" cy="233172"/>
          </a:xfrm>
          <a:prstGeom prst="roundRect">
            <a:avLst/>
          </a:prstGeom>
          <a:solidFill>
            <a:srgbClr val="1F90CC"/>
          </a:solidFill>
          <a:ln w="1397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160520" y="3728465"/>
            <a:ext cx="1005840" cy="233172"/>
          </a:xfrm>
          <a:prstGeom prst="rect">
            <a:avLst/>
          </a:prstGeom>
          <a:noFill/>
        </p:spPr>
        <p:txBody>
          <a:bodyPr wrap="square" lIns="0" rIns="0" tIns="0" bIns="0" anchor="ctr">
            <a:spAutoFit/>
          </a:bodyPr>
          <a:lstStyle/>
          <a:p>
            <a:pPr algn="ctr"/>
            <a:r>
              <a:rPr sz="1080" b="1" lang="en-US">
                <a:solidFill>
                  <a:srgbClr val="FFFFFF"/>
                </a:solidFill>
                <a:latin typeface="Arial"/>
              </a:rPr>
              <a:t>Audits</a:t>
            </a:r>
          </a:p>
        </p:txBody>
      </p:sp>
      <p:cxnSp>
        <p:nvCxnSpPr>
          <p:cNvPr id="88" name="Connector 87"/>
          <p:cNvCxnSpPr/>
          <p:nvPr/>
        </p:nvCxnSpPr>
        <p:spPr>
          <a:xfrm>
            <a:off x="5669280" y="3845051"/>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6844283" y="3845051"/>
            <a:ext cx="128017"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sp>
        <p:nvSpPr>
          <p:cNvPr id="90" name="Oval 89"/>
          <p:cNvSpPr/>
          <p:nvPr/>
        </p:nvSpPr>
        <p:spPr>
          <a:xfrm>
            <a:off x="7944307" y="3770071"/>
            <a:ext cx="149961" cy="149961"/>
          </a:xfrm>
          <a:prstGeom prst="ellipse">
            <a:avLst/>
          </a:prstGeom>
          <a:solidFill>
            <a:srgbClr val="434343"/>
          </a:solidFill>
          <a:ln w="19050">
            <a:solidFill>
              <a:srgbClr val="4343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1" name="Connector 90"/>
          <p:cNvCxnSpPr/>
          <p:nvPr/>
        </p:nvCxnSpPr>
        <p:spPr>
          <a:xfrm>
            <a:off x="8613648" y="3845051"/>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9637776" y="3845051"/>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0908792" y="3845051"/>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sp>
        <p:nvSpPr>
          <p:cNvPr id="94" name="Rectangle 93"/>
          <p:cNvSpPr/>
          <p:nvPr/>
        </p:nvSpPr>
        <p:spPr>
          <a:xfrm>
            <a:off x="640080" y="3986783"/>
            <a:ext cx="10917936" cy="256032"/>
          </a:xfrm>
          <a:prstGeom prst="rect">
            <a:avLst/>
          </a:prstGeom>
          <a:solidFill>
            <a:srgbClr val="F3F3F3"/>
          </a:solidFill>
          <a:ln>
            <a:solidFill>
              <a:srgbClr val="F3F3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758952" y="3991355"/>
            <a:ext cx="2221992" cy="246888"/>
          </a:xfrm>
          <a:prstGeom prst="rect">
            <a:avLst/>
          </a:prstGeom>
          <a:noFill/>
        </p:spPr>
        <p:txBody>
          <a:bodyPr wrap="square" lIns="0" rIns="0" tIns="0" bIns="0" anchor="ctr">
            <a:spAutoFit/>
          </a:bodyPr>
          <a:lstStyle/>
          <a:p>
            <a:pPr algn="l"/>
            <a:r>
              <a:rPr sz="1140" b="0" lang="en-US">
                <a:solidFill>
                  <a:srgbClr val="434343"/>
                </a:solidFill>
                <a:latin typeface="Arial"/>
                <a:hlinkClick r:id="rId7"/>
              </a:rPr>
              <a:t>Balan et al. · 2025</a:t>
            </a:r>
          </a:p>
        </p:txBody>
      </p:sp>
      <p:cxnSp>
        <p:nvCxnSpPr>
          <p:cNvPr id="96" name="Connector 95"/>
          <p:cNvCxnSpPr/>
          <p:nvPr/>
        </p:nvCxnSpPr>
        <p:spPr>
          <a:xfrm>
            <a:off x="4009644" y="4114799"/>
            <a:ext cx="137160" cy="0"/>
          </a:xfrm>
          <a:prstGeom prst="line">
            <a:avLst/>
          </a:prstGeom>
          <a:ln w="15240">
            <a:solidFill>
              <a:srgbClr val="43434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97" name="Literature: Balan et al. · 2025: DFL"/>
          <p:cNvSpPr/>
          <p:nvPr/>
        </p:nvSpPr>
        <p:spPr>
          <a:xfrm>
            <a:off x="3063240" y="3998213"/>
            <a:ext cx="932688" cy="233172"/>
          </a:xfrm>
          <a:prstGeom prst="roundRect">
            <a:avLst/>
          </a:prstGeom>
          <a:solidFill>
            <a:srgbClr val="FFFFFF"/>
          </a:solidFill>
          <a:ln w="1397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3063240" y="3998213"/>
            <a:ext cx="932688" cy="233172"/>
          </a:xfrm>
          <a:prstGeom prst="rect">
            <a:avLst/>
          </a:prstGeom>
          <a:noFill/>
        </p:spPr>
        <p:txBody>
          <a:bodyPr wrap="square" lIns="0" rIns="0" tIns="0" bIns="0" anchor="ctr">
            <a:spAutoFit/>
          </a:bodyPr>
          <a:lstStyle/>
          <a:p>
            <a:pPr algn="ctr"/>
            <a:r>
              <a:rPr sz="1080" b="1" lang="en-US">
                <a:solidFill>
                  <a:srgbClr val="2F8F46"/>
                </a:solidFill>
                <a:latin typeface="Arial"/>
              </a:rPr>
              <a:t>DFL</a:t>
            </a:r>
          </a:p>
        </p:txBody>
      </p:sp>
      <p:sp>
        <p:nvSpPr>
          <p:cNvPr id="99" name="Literature: Balan et al. · 2025: Inference"/>
          <p:cNvSpPr/>
          <p:nvPr/>
        </p:nvSpPr>
        <p:spPr>
          <a:xfrm>
            <a:off x="4160520" y="3998213"/>
            <a:ext cx="1005840" cy="233172"/>
          </a:xfrm>
          <a:prstGeom prst="roundRect">
            <a:avLst/>
          </a:prstGeom>
          <a:solidFill>
            <a:srgbClr val="FFFFFF"/>
          </a:solidFill>
          <a:ln w="1397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4160520" y="3998213"/>
            <a:ext cx="1005840" cy="233172"/>
          </a:xfrm>
          <a:prstGeom prst="rect">
            <a:avLst/>
          </a:prstGeom>
          <a:noFill/>
        </p:spPr>
        <p:txBody>
          <a:bodyPr wrap="square" lIns="0" rIns="0" tIns="0" bIns="0" anchor="ctr">
            <a:spAutoFit/>
          </a:bodyPr>
          <a:lstStyle/>
          <a:p>
            <a:pPr algn="ctr"/>
            <a:r>
              <a:rPr sz="1080" b="1" lang="en-US">
                <a:solidFill>
                  <a:srgbClr val="1F90CC"/>
                </a:solidFill>
                <a:latin typeface="Arial"/>
              </a:rPr>
              <a:t>Inference</a:t>
            </a:r>
          </a:p>
        </p:txBody>
      </p:sp>
      <p:cxnSp>
        <p:nvCxnSpPr>
          <p:cNvPr id="101" name="Connector 100"/>
          <p:cNvCxnSpPr/>
          <p:nvPr/>
        </p:nvCxnSpPr>
        <p:spPr>
          <a:xfrm>
            <a:off x="5669280" y="4114799"/>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6844283" y="4114799"/>
            <a:ext cx="128017"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sp>
        <p:nvSpPr>
          <p:cNvPr id="103" name="Oval 102"/>
          <p:cNvSpPr/>
          <p:nvPr/>
        </p:nvSpPr>
        <p:spPr>
          <a:xfrm>
            <a:off x="7944307" y="4039819"/>
            <a:ext cx="149961" cy="149961"/>
          </a:xfrm>
          <a:prstGeom prst="ellipse">
            <a:avLst/>
          </a:prstGeom>
          <a:solidFill>
            <a:srgbClr val="FFFFFF"/>
          </a:solidFill>
          <a:ln w="19050">
            <a:solidFill>
              <a:srgbClr val="4343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8602675" y="4039819"/>
            <a:ext cx="149961" cy="149961"/>
          </a:xfrm>
          <a:prstGeom prst="ellipse">
            <a:avLst/>
          </a:prstGeom>
          <a:solidFill>
            <a:srgbClr val="FFFFFF"/>
          </a:solidFill>
          <a:ln w="19050">
            <a:solidFill>
              <a:srgbClr val="4343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5" name="Connector 104"/>
          <p:cNvCxnSpPr/>
          <p:nvPr/>
        </p:nvCxnSpPr>
        <p:spPr>
          <a:xfrm>
            <a:off x="9637776" y="4114799"/>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10908792" y="4114799"/>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sp>
        <p:nvSpPr>
          <p:cNvPr id="107" name="Rectangle 106"/>
          <p:cNvSpPr/>
          <p:nvPr/>
        </p:nvSpPr>
        <p:spPr>
          <a:xfrm>
            <a:off x="640080" y="4256531"/>
            <a:ext cx="10917936" cy="25603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758952" y="4261103"/>
            <a:ext cx="2221992" cy="246888"/>
          </a:xfrm>
          <a:prstGeom prst="rect">
            <a:avLst/>
          </a:prstGeom>
          <a:noFill/>
        </p:spPr>
        <p:txBody>
          <a:bodyPr wrap="square" lIns="0" rIns="0" tIns="0" bIns="0" anchor="ctr">
            <a:spAutoFit/>
          </a:bodyPr>
          <a:lstStyle/>
          <a:p>
            <a:pPr algn="l"/>
            <a:r>
              <a:rPr sz="1140" b="0" lang="en-US">
                <a:solidFill>
                  <a:srgbClr val="434343"/>
                </a:solidFill>
                <a:latin typeface="Arial"/>
                <a:hlinkClick r:id="rId8"/>
              </a:rPr>
              <a:t>AIR-02 · draft + demo</a:t>
            </a:r>
          </a:p>
        </p:txBody>
      </p:sp>
      <p:cxnSp>
        <p:nvCxnSpPr>
          <p:cNvPr id="109" name="Connector 108"/>
          <p:cNvCxnSpPr/>
          <p:nvPr/>
        </p:nvCxnSpPr>
        <p:spPr>
          <a:xfrm>
            <a:off x="3465576" y="4384547"/>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sp>
        <p:nvSpPr>
          <p:cNvPr id="110" name="Literature: AIR-02 · draft + demo: Receipts"/>
          <p:cNvSpPr/>
          <p:nvPr/>
        </p:nvSpPr>
        <p:spPr>
          <a:xfrm>
            <a:off x="4160520" y="4267962"/>
            <a:ext cx="1005840" cy="233172"/>
          </a:xfrm>
          <a:prstGeom prst="roundRect">
            <a:avLst/>
          </a:prstGeom>
          <a:solidFill>
            <a:srgbClr val="1F90CC"/>
          </a:solidFill>
          <a:ln w="1397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4160520" y="4267962"/>
            <a:ext cx="1005840" cy="233172"/>
          </a:xfrm>
          <a:prstGeom prst="rect">
            <a:avLst/>
          </a:prstGeom>
          <a:noFill/>
        </p:spPr>
        <p:txBody>
          <a:bodyPr wrap="square" lIns="0" rIns="0" tIns="0" bIns="0" anchor="ctr">
            <a:spAutoFit/>
          </a:bodyPr>
          <a:lstStyle/>
          <a:p>
            <a:pPr algn="ctr"/>
            <a:r>
              <a:rPr sz="1080" b="1" lang="en-US">
                <a:solidFill>
                  <a:srgbClr val="FFFFFF"/>
                </a:solidFill>
                <a:latin typeface="Arial"/>
              </a:rPr>
              <a:t>Receipts</a:t>
            </a:r>
          </a:p>
        </p:txBody>
      </p:sp>
      <p:cxnSp>
        <p:nvCxnSpPr>
          <p:cNvPr id="112" name="Connector 111"/>
          <p:cNvCxnSpPr/>
          <p:nvPr/>
        </p:nvCxnSpPr>
        <p:spPr>
          <a:xfrm>
            <a:off x="5669280" y="4384547"/>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6844283" y="4384547"/>
            <a:ext cx="128017"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7955279" y="4384547"/>
            <a:ext cx="128017"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sp>
        <p:nvSpPr>
          <p:cNvPr id="115" name="Oval 114"/>
          <p:cNvSpPr/>
          <p:nvPr/>
        </p:nvSpPr>
        <p:spPr>
          <a:xfrm>
            <a:off x="8602675" y="4309567"/>
            <a:ext cx="149961" cy="149961"/>
          </a:xfrm>
          <a:prstGeom prst="ellipse">
            <a:avLst/>
          </a:prstGeom>
          <a:solidFill>
            <a:srgbClr val="434343"/>
          </a:solidFill>
          <a:ln w="19050">
            <a:solidFill>
              <a:srgbClr val="4343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9162288" y="4261103"/>
            <a:ext cx="1078992" cy="246888"/>
          </a:xfrm>
          <a:prstGeom prst="rect">
            <a:avLst/>
          </a:prstGeom>
          <a:noFill/>
        </p:spPr>
        <p:txBody>
          <a:bodyPr wrap="square" lIns="0" rIns="0" tIns="0" bIns="0" anchor="ctr">
            <a:spAutoFit/>
          </a:bodyPr>
          <a:lstStyle/>
          <a:p>
            <a:pPr algn="ctr"/>
            <a:r>
              <a:rPr sz="1080" b="0" lang="en-US">
                <a:solidFill>
                  <a:srgbClr val="434343"/>
                </a:solidFill>
                <a:latin typeface="Arial"/>
              </a:rPr>
              <a:t>Platform RA</a:t>
            </a:r>
          </a:p>
        </p:txBody>
      </p:sp>
      <p:cxnSp>
        <p:nvCxnSpPr>
          <p:cNvPr id="117" name="Connector 116"/>
          <p:cNvCxnSpPr/>
          <p:nvPr/>
        </p:nvCxnSpPr>
        <p:spPr>
          <a:xfrm>
            <a:off x="10908792" y="4384547"/>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sp>
        <p:nvSpPr>
          <p:cNvPr id="118" name="Rectangle 117"/>
          <p:cNvSpPr/>
          <p:nvPr/>
        </p:nvSpPr>
        <p:spPr>
          <a:xfrm>
            <a:off x="640080" y="4526279"/>
            <a:ext cx="10917936" cy="256032"/>
          </a:xfrm>
          <a:prstGeom prst="rect">
            <a:avLst/>
          </a:prstGeom>
          <a:solidFill>
            <a:srgbClr val="F3F3F3"/>
          </a:solidFill>
          <a:ln>
            <a:solidFill>
              <a:srgbClr val="F3F3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758952" y="4530851"/>
            <a:ext cx="2221992" cy="246888"/>
          </a:xfrm>
          <a:prstGeom prst="rect">
            <a:avLst/>
          </a:prstGeom>
          <a:noFill/>
        </p:spPr>
        <p:txBody>
          <a:bodyPr wrap="square" lIns="0" rIns="0" tIns="0" bIns="0" anchor="ctr">
            <a:spAutoFit/>
          </a:bodyPr>
          <a:lstStyle/>
          <a:p>
            <a:pPr algn="l"/>
            <a:r>
              <a:rPr sz="1140" b="0" lang="en-US">
                <a:solidFill>
                  <a:srgbClr val="434343"/>
                </a:solidFill>
                <a:latin typeface="Arial"/>
                <a:hlinkClick r:id="rId9"/>
              </a:rPr>
              <a:t>VET · 2025</a:t>
            </a:r>
          </a:p>
        </p:txBody>
      </p:sp>
      <p:cxnSp>
        <p:nvCxnSpPr>
          <p:cNvPr id="120" name="Connector 119"/>
          <p:cNvCxnSpPr/>
          <p:nvPr/>
        </p:nvCxnSpPr>
        <p:spPr>
          <a:xfrm>
            <a:off x="5180076" y="4654295"/>
            <a:ext cx="137160" cy="0"/>
          </a:xfrm>
          <a:prstGeom prst="line">
            <a:avLst/>
          </a:prstGeom>
          <a:ln w="15240">
            <a:solidFill>
              <a:srgbClr val="43434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3465576" y="4654295"/>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sp>
        <p:nvSpPr>
          <p:cNvPr id="122" name="Literature: VET · 2025: API trace"/>
          <p:cNvSpPr/>
          <p:nvPr/>
        </p:nvSpPr>
        <p:spPr>
          <a:xfrm>
            <a:off x="4160520" y="4537709"/>
            <a:ext cx="1005840" cy="233172"/>
          </a:xfrm>
          <a:prstGeom prst="roundRect">
            <a:avLst/>
          </a:prstGeom>
          <a:solidFill>
            <a:srgbClr val="1F90CC"/>
          </a:solidFill>
          <a:ln w="1397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4160520" y="4537709"/>
            <a:ext cx="1005840" cy="233172"/>
          </a:xfrm>
          <a:prstGeom prst="rect">
            <a:avLst/>
          </a:prstGeom>
          <a:noFill/>
        </p:spPr>
        <p:txBody>
          <a:bodyPr wrap="square" lIns="0" rIns="0" tIns="0" bIns="0" anchor="ctr">
            <a:spAutoFit/>
          </a:bodyPr>
          <a:lstStyle/>
          <a:p>
            <a:pPr algn="ctr"/>
            <a:r>
              <a:rPr sz="1080" b="1" lang="en-US">
                <a:solidFill>
                  <a:srgbClr val="FFFFFF"/>
                </a:solidFill>
                <a:latin typeface="Arial"/>
              </a:rPr>
              <a:t>API trace</a:t>
            </a:r>
          </a:p>
        </p:txBody>
      </p:sp>
      <p:sp>
        <p:nvSpPr>
          <p:cNvPr id="124" name="Literature: VET · 2025: Agent"/>
          <p:cNvSpPr/>
          <p:nvPr/>
        </p:nvSpPr>
        <p:spPr>
          <a:xfrm>
            <a:off x="5330952" y="4537709"/>
            <a:ext cx="804672" cy="233172"/>
          </a:xfrm>
          <a:prstGeom prst="roundRect">
            <a:avLst/>
          </a:prstGeom>
          <a:solidFill>
            <a:srgbClr val="FF6C00"/>
          </a:solidFill>
          <a:ln w="13970">
            <a:solidFill>
              <a:srgbClr val="FF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5330952" y="4537709"/>
            <a:ext cx="804672" cy="233172"/>
          </a:xfrm>
          <a:prstGeom prst="rect">
            <a:avLst/>
          </a:prstGeom>
          <a:noFill/>
        </p:spPr>
        <p:txBody>
          <a:bodyPr wrap="square" lIns="0" rIns="0" tIns="0" bIns="0" anchor="ctr">
            <a:spAutoFit/>
          </a:bodyPr>
          <a:lstStyle/>
          <a:p>
            <a:pPr algn="ctr"/>
            <a:r>
              <a:rPr sz="1080" b="1" lang="en-US">
                <a:solidFill>
                  <a:srgbClr val="FFFFFF"/>
                </a:solidFill>
                <a:latin typeface="Arial"/>
              </a:rPr>
              <a:t>Agent</a:t>
            </a:r>
          </a:p>
        </p:txBody>
      </p:sp>
      <p:cxnSp>
        <p:nvCxnSpPr>
          <p:cNvPr id="126" name="Connector 125"/>
          <p:cNvCxnSpPr/>
          <p:nvPr/>
        </p:nvCxnSpPr>
        <p:spPr>
          <a:xfrm>
            <a:off x="6844283" y="4654295"/>
            <a:ext cx="128017"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sp>
        <p:nvSpPr>
          <p:cNvPr id="127" name="Oval 126"/>
          <p:cNvSpPr/>
          <p:nvPr/>
        </p:nvSpPr>
        <p:spPr>
          <a:xfrm>
            <a:off x="7944307" y="4579315"/>
            <a:ext cx="149961" cy="149961"/>
          </a:xfrm>
          <a:prstGeom prst="ellipse">
            <a:avLst/>
          </a:prstGeom>
          <a:solidFill>
            <a:srgbClr val="434343"/>
          </a:solidFill>
          <a:ln w="19050">
            <a:solidFill>
              <a:srgbClr val="4343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8602675" y="4579315"/>
            <a:ext cx="149961" cy="149961"/>
          </a:xfrm>
          <a:prstGeom prst="ellipse">
            <a:avLst/>
          </a:prstGeom>
          <a:solidFill>
            <a:srgbClr val="434343"/>
          </a:solidFill>
          <a:ln w="19050">
            <a:solidFill>
              <a:srgbClr val="4343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9" name="Connector 128"/>
          <p:cNvCxnSpPr/>
          <p:nvPr/>
        </p:nvCxnSpPr>
        <p:spPr>
          <a:xfrm>
            <a:off x="9637776" y="4654295"/>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10908792" y="4654295"/>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sp>
        <p:nvSpPr>
          <p:cNvPr id="131" name="Rectangle 130"/>
          <p:cNvSpPr/>
          <p:nvPr/>
        </p:nvSpPr>
        <p:spPr>
          <a:xfrm>
            <a:off x="640080" y="4796027"/>
            <a:ext cx="10917936" cy="25603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758952" y="4800599"/>
            <a:ext cx="2221992" cy="246888"/>
          </a:xfrm>
          <a:prstGeom prst="rect">
            <a:avLst/>
          </a:prstGeom>
          <a:noFill/>
        </p:spPr>
        <p:txBody>
          <a:bodyPr wrap="square" lIns="0" rIns="0" tIns="0" bIns="0" anchor="ctr">
            <a:spAutoFit/>
          </a:bodyPr>
          <a:lstStyle/>
          <a:p>
            <a:pPr algn="l"/>
            <a:r>
              <a:rPr sz="1140" b="0" lang="en-US">
                <a:solidFill>
                  <a:srgbClr val="434343"/>
                </a:solidFill>
                <a:latin typeface="Arial"/>
                <a:hlinkClick r:id="rId10"/>
              </a:rPr>
              <a:t>Sello · 2026</a:t>
            </a:r>
          </a:p>
        </p:txBody>
      </p:sp>
      <p:cxnSp>
        <p:nvCxnSpPr>
          <p:cNvPr id="133" name="Connector 132"/>
          <p:cNvCxnSpPr/>
          <p:nvPr/>
        </p:nvCxnSpPr>
        <p:spPr>
          <a:xfrm>
            <a:off x="6149340" y="4924043"/>
            <a:ext cx="137160" cy="0"/>
          </a:xfrm>
          <a:prstGeom prst="line">
            <a:avLst/>
          </a:prstGeom>
          <a:ln w="15240">
            <a:solidFill>
              <a:srgbClr val="43434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3465576" y="4924043"/>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4599431" y="4924043"/>
            <a:ext cx="128017"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sp>
        <p:nvSpPr>
          <p:cNvPr id="136" name="Literature: Sello · 2026: Tools"/>
          <p:cNvSpPr/>
          <p:nvPr/>
        </p:nvSpPr>
        <p:spPr>
          <a:xfrm>
            <a:off x="5330952" y="4807457"/>
            <a:ext cx="804672" cy="233172"/>
          </a:xfrm>
          <a:prstGeom prst="roundRect">
            <a:avLst/>
          </a:prstGeom>
          <a:solidFill>
            <a:srgbClr val="FF6C00"/>
          </a:solidFill>
          <a:ln w="13970">
            <a:solidFill>
              <a:srgbClr val="FF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5330952" y="4807457"/>
            <a:ext cx="804672" cy="233172"/>
          </a:xfrm>
          <a:prstGeom prst="rect">
            <a:avLst/>
          </a:prstGeom>
          <a:noFill/>
        </p:spPr>
        <p:txBody>
          <a:bodyPr wrap="square" lIns="0" rIns="0" tIns="0" bIns="0" anchor="ctr">
            <a:spAutoFit/>
          </a:bodyPr>
          <a:lstStyle/>
          <a:p>
            <a:pPr algn="ctr"/>
            <a:r>
              <a:rPr sz="1080" b="1" lang="en-US">
                <a:solidFill>
                  <a:srgbClr val="FFFFFF"/>
                </a:solidFill>
                <a:latin typeface="Arial"/>
              </a:rPr>
              <a:t>Tools</a:t>
            </a:r>
          </a:p>
        </p:txBody>
      </p:sp>
      <p:sp>
        <p:nvSpPr>
          <p:cNvPr id="138" name="Literature: Sello · 2026: Receipts"/>
          <p:cNvSpPr/>
          <p:nvPr/>
        </p:nvSpPr>
        <p:spPr>
          <a:xfrm>
            <a:off x="6300216" y="4807457"/>
            <a:ext cx="1216152" cy="233172"/>
          </a:xfrm>
          <a:prstGeom prst="roundRect">
            <a:avLst/>
          </a:prstGeom>
          <a:solidFill>
            <a:srgbClr val="7A35B5"/>
          </a:solidFill>
          <a:ln w="13970">
            <a:solidFill>
              <a:srgbClr val="7A3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6300216" y="4807457"/>
            <a:ext cx="1216152" cy="233172"/>
          </a:xfrm>
          <a:prstGeom prst="rect">
            <a:avLst/>
          </a:prstGeom>
          <a:noFill/>
        </p:spPr>
        <p:txBody>
          <a:bodyPr wrap="square" lIns="0" rIns="0" tIns="0" bIns="0" anchor="ctr">
            <a:spAutoFit/>
          </a:bodyPr>
          <a:lstStyle/>
          <a:p>
            <a:pPr algn="ctr"/>
            <a:r>
              <a:rPr sz="1080" b="1" lang="en-US">
                <a:solidFill>
                  <a:srgbClr val="FFFFFF"/>
                </a:solidFill>
                <a:latin typeface="Arial"/>
              </a:rPr>
              <a:t>Receipts</a:t>
            </a:r>
          </a:p>
        </p:txBody>
      </p:sp>
      <p:cxnSp>
        <p:nvCxnSpPr>
          <p:cNvPr id="140" name="Connector 139"/>
          <p:cNvCxnSpPr/>
          <p:nvPr/>
        </p:nvCxnSpPr>
        <p:spPr>
          <a:xfrm>
            <a:off x="7955279" y="4924043"/>
            <a:ext cx="128017"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a:off x="8613648" y="4924043"/>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9637776" y="4924043"/>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10908792" y="4924043"/>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sp>
        <p:nvSpPr>
          <p:cNvPr id="144" name="Rectangle 143"/>
          <p:cNvSpPr/>
          <p:nvPr/>
        </p:nvSpPr>
        <p:spPr>
          <a:xfrm>
            <a:off x="640080" y="5065775"/>
            <a:ext cx="10917936" cy="256032"/>
          </a:xfrm>
          <a:prstGeom prst="rect">
            <a:avLst/>
          </a:prstGeom>
          <a:solidFill>
            <a:srgbClr val="FBEAEC"/>
          </a:solidFill>
          <a:ln>
            <a:solidFill>
              <a:srgbClr val="FB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640080" y="5065775"/>
            <a:ext cx="41148" cy="256032"/>
          </a:xfrm>
          <a:prstGeom prst="rect">
            <a:avLst/>
          </a:prstGeom>
          <a:solidFill>
            <a:srgbClr val="C40D1E"/>
          </a:solidFill>
          <a:ln>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758952" y="5070347"/>
            <a:ext cx="2221992" cy="246888"/>
          </a:xfrm>
          <a:prstGeom prst="rect">
            <a:avLst/>
          </a:prstGeom>
          <a:noFill/>
        </p:spPr>
        <p:txBody>
          <a:bodyPr wrap="square" lIns="0" rIns="0" tIns="0" bIns="0" anchor="ctr">
            <a:spAutoFit/>
          </a:bodyPr>
          <a:lstStyle/>
          <a:p>
            <a:pPr algn="l"/>
            <a:r>
              <a:rPr sz="1140" b="1" lang="en-US">
                <a:solidFill>
                  <a:srgbClr val="C40D1E"/>
                </a:solidFill>
                <a:latin typeface="Arial"/>
              </a:rPr>
              <a:t>VITA-FL · this thesis</a:t>
            </a:r>
          </a:p>
        </p:txBody>
      </p:sp>
      <p:cxnSp>
        <p:nvCxnSpPr>
          <p:cNvPr id="147" name="Connector 146"/>
          <p:cNvCxnSpPr/>
          <p:nvPr/>
        </p:nvCxnSpPr>
        <p:spPr>
          <a:xfrm>
            <a:off x="4009644" y="5193791"/>
            <a:ext cx="137160" cy="0"/>
          </a:xfrm>
          <a:prstGeom prst="line">
            <a:avLst/>
          </a:prstGeom>
          <a:ln w="15240">
            <a:solidFill>
              <a:srgbClr val="C40D1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5180076" y="5193791"/>
            <a:ext cx="137160" cy="0"/>
          </a:xfrm>
          <a:prstGeom prst="line">
            <a:avLst/>
          </a:prstGeom>
          <a:ln w="15240">
            <a:solidFill>
              <a:srgbClr val="C40D1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6149340" y="5193791"/>
            <a:ext cx="137160" cy="0"/>
          </a:xfrm>
          <a:prstGeom prst="line">
            <a:avLst/>
          </a:prstGeom>
          <a:ln w="15240">
            <a:solidFill>
              <a:srgbClr val="C40D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0" name="Literature: VITA-FL · this thesis: DFL"/>
          <p:cNvSpPr/>
          <p:nvPr/>
        </p:nvSpPr>
        <p:spPr>
          <a:xfrm>
            <a:off x="3063240" y="5077205"/>
            <a:ext cx="932688" cy="233172"/>
          </a:xfrm>
          <a:prstGeom prst="roundRect">
            <a:avLst/>
          </a:prstGeom>
          <a:solidFill>
            <a:srgbClr val="C40D1E"/>
          </a:solidFill>
          <a:ln w="1397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3063240" y="5077205"/>
            <a:ext cx="932688" cy="233172"/>
          </a:xfrm>
          <a:prstGeom prst="rect">
            <a:avLst/>
          </a:prstGeom>
          <a:noFill/>
        </p:spPr>
        <p:txBody>
          <a:bodyPr wrap="square" lIns="0" rIns="0" tIns="0" bIns="0" anchor="ctr">
            <a:spAutoFit/>
          </a:bodyPr>
          <a:lstStyle/>
          <a:p>
            <a:pPr algn="ctr"/>
            <a:r>
              <a:rPr sz="1080" b="1" lang="en-US">
                <a:solidFill>
                  <a:srgbClr val="FFFFFF"/>
                </a:solidFill>
                <a:latin typeface="Arial"/>
              </a:rPr>
              <a:t>DFL</a:t>
            </a:r>
          </a:p>
        </p:txBody>
      </p:sp>
      <p:sp>
        <p:nvSpPr>
          <p:cNvPr id="152" name="Literature: VITA-FL · this thesis: Inference"/>
          <p:cNvSpPr/>
          <p:nvPr/>
        </p:nvSpPr>
        <p:spPr>
          <a:xfrm>
            <a:off x="4160520" y="5077205"/>
            <a:ext cx="1005840" cy="233172"/>
          </a:xfrm>
          <a:prstGeom prst="roundRect">
            <a:avLst/>
          </a:prstGeom>
          <a:solidFill>
            <a:srgbClr val="C40D1E"/>
          </a:solidFill>
          <a:ln w="1397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4160520" y="5077205"/>
            <a:ext cx="1005840" cy="233172"/>
          </a:xfrm>
          <a:prstGeom prst="rect">
            <a:avLst/>
          </a:prstGeom>
          <a:noFill/>
        </p:spPr>
        <p:txBody>
          <a:bodyPr wrap="square" lIns="0" rIns="0" tIns="0" bIns="0" anchor="ctr">
            <a:spAutoFit/>
          </a:bodyPr>
          <a:lstStyle/>
          <a:p>
            <a:pPr algn="ctr"/>
            <a:r>
              <a:rPr sz="1080" b="1" lang="en-US">
                <a:solidFill>
                  <a:srgbClr val="FFFFFF"/>
                </a:solidFill>
                <a:latin typeface="Arial"/>
              </a:rPr>
              <a:t>Inference</a:t>
            </a:r>
          </a:p>
        </p:txBody>
      </p:sp>
      <p:sp>
        <p:nvSpPr>
          <p:cNvPr id="154" name="Literature: VITA-FL · this thesis: Agent"/>
          <p:cNvSpPr/>
          <p:nvPr/>
        </p:nvSpPr>
        <p:spPr>
          <a:xfrm>
            <a:off x="5330952" y="5077205"/>
            <a:ext cx="804672" cy="233172"/>
          </a:xfrm>
          <a:prstGeom prst="roundRect">
            <a:avLst/>
          </a:prstGeom>
          <a:solidFill>
            <a:srgbClr val="C40D1E"/>
          </a:solidFill>
          <a:ln w="1397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5330952" y="5077205"/>
            <a:ext cx="804672" cy="233172"/>
          </a:xfrm>
          <a:prstGeom prst="rect">
            <a:avLst/>
          </a:prstGeom>
          <a:noFill/>
        </p:spPr>
        <p:txBody>
          <a:bodyPr wrap="square" lIns="0" rIns="0" tIns="0" bIns="0" anchor="ctr">
            <a:spAutoFit/>
          </a:bodyPr>
          <a:lstStyle/>
          <a:p>
            <a:pPr algn="ctr"/>
            <a:r>
              <a:rPr sz="1080" b="1" lang="en-US">
                <a:solidFill>
                  <a:srgbClr val="FFFFFF"/>
                </a:solidFill>
                <a:latin typeface="Arial"/>
              </a:rPr>
              <a:t>Agent</a:t>
            </a:r>
          </a:p>
        </p:txBody>
      </p:sp>
      <p:sp>
        <p:nvSpPr>
          <p:cNvPr id="156" name="Literature: VITA-FL · this thesis: Receipts"/>
          <p:cNvSpPr/>
          <p:nvPr/>
        </p:nvSpPr>
        <p:spPr>
          <a:xfrm>
            <a:off x="6300216" y="5077205"/>
            <a:ext cx="1216152" cy="233172"/>
          </a:xfrm>
          <a:prstGeom prst="roundRect">
            <a:avLst/>
          </a:prstGeom>
          <a:solidFill>
            <a:srgbClr val="C40D1E"/>
          </a:solidFill>
          <a:ln w="1397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6300216" y="5077205"/>
            <a:ext cx="1216152" cy="233172"/>
          </a:xfrm>
          <a:prstGeom prst="rect">
            <a:avLst/>
          </a:prstGeom>
          <a:noFill/>
        </p:spPr>
        <p:txBody>
          <a:bodyPr wrap="square" lIns="0" rIns="0" tIns="0" bIns="0" anchor="ctr">
            <a:spAutoFit/>
          </a:bodyPr>
          <a:lstStyle/>
          <a:p>
            <a:pPr algn="ctr"/>
            <a:r>
              <a:rPr sz="1080" b="1" lang="en-US">
                <a:solidFill>
                  <a:srgbClr val="FFFFFF"/>
                </a:solidFill>
                <a:latin typeface="Arial"/>
              </a:rPr>
              <a:t>Receipts</a:t>
            </a:r>
          </a:p>
        </p:txBody>
      </p:sp>
      <p:cxnSp>
        <p:nvCxnSpPr>
          <p:cNvPr id="158" name="Connector 157"/>
          <p:cNvCxnSpPr/>
          <p:nvPr/>
        </p:nvCxnSpPr>
        <p:spPr>
          <a:xfrm>
            <a:off x="7955279" y="5193791"/>
            <a:ext cx="128017"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sp>
        <p:nvSpPr>
          <p:cNvPr id="159" name="Oval 158"/>
          <p:cNvSpPr/>
          <p:nvPr/>
        </p:nvSpPr>
        <p:spPr>
          <a:xfrm>
            <a:off x="8602675" y="5118811"/>
            <a:ext cx="149961" cy="149961"/>
          </a:xfrm>
          <a:prstGeom prst="ellipse">
            <a:avLst/>
          </a:prstGeom>
          <a:solidFill>
            <a:srgbClr val="C40D1E"/>
          </a:solidFill>
          <a:ln w="1905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9626803" y="5118811"/>
            <a:ext cx="149961" cy="149961"/>
          </a:xfrm>
          <a:prstGeom prst="ellipse">
            <a:avLst/>
          </a:prstGeom>
          <a:solidFill>
            <a:srgbClr val="C40D1E"/>
          </a:solidFill>
          <a:ln w="1905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10897819" y="5118811"/>
            <a:ext cx="149961" cy="149961"/>
          </a:xfrm>
          <a:prstGeom prst="ellipse">
            <a:avLst/>
          </a:prstGeom>
          <a:solidFill>
            <a:srgbClr val="C40D1E"/>
          </a:solidFill>
          <a:ln w="1905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2192731" y="5475427"/>
            <a:ext cx="149961" cy="149961"/>
          </a:xfrm>
          <a:prstGeom prst="ellipse">
            <a:avLst/>
          </a:prstGeom>
          <a:solidFill>
            <a:srgbClr val="434343"/>
          </a:solidFill>
          <a:ln w="19050">
            <a:solidFill>
              <a:srgbClr val="4343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2432304" y="5413248"/>
            <a:ext cx="1325880" cy="274320"/>
          </a:xfrm>
          <a:prstGeom prst="rect">
            <a:avLst/>
          </a:prstGeom>
          <a:noFill/>
        </p:spPr>
        <p:txBody>
          <a:bodyPr wrap="square" lIns="0" rIns="0" tIns="0" bIns="0" anchor="ctr">
            <a:spAutoFit/>
          </a:bodyPr>
          <a:lstStyle/>
          <a:p>
            <a:pPr algn="l"/>
            <a:r>
              <a:rPr sz="1150" b="0" lang="en-US">
                <a:solidFill>
                  <a:srgbClr val="434343"/>
                </a:solidFill>
                <a:latin typeface="Arial"/>
              </a:rPr>
              <a:t>Implemented</a:t>
            </a:r>
          </a:p>
        </p:txBody>
      </p:sp>
      <p:sp>
        <p:nvSpPr>
          <p:cNvPr id="164" name="Oval 163"/>
          <p:cNvSpPr/>
          <p:nvPr/>
        </p:nvSpPr>
        <p:spPr>
          <a:xfrm>
            <a:off x="4597603" y="5475427"/>
            <a:ext cx="149961" cy="149961"/>
          </a:xfrm>
          <a:prstGeom prst="ellipse">
            <a:avLst/>
          </a:prstGeom>
          <a:solidFill>
            <a:srgbClr val="FFFFFF"/>
          </a:solidFill>
          <a:ln w="19050">
            <a:solidFill>
              <a:srgbClr val="4343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4837176" y="5413248"/>
            <a:ext cx="2423160" cy="274320"/>
          </a:xfrm>
          <a:prstGeom prst="rect">
            <a:avLst/>
          </a:prstGeom>
          <a:noFill/>
        </p:spPr>
        <p:txBody>
          <a:bodyPr wrap="square" lIns="0" rIns="0" tIns="0" bIns="0" anchor="ctr">
            <a:spAutoFit/>
          </a:bodyPr>
          <a:lstStyle/>
          <a:p>
            <a:pPr algn="l"/>
            <a:r>
              <a:rPr sz="1150" b="0" lang="en-US">
                <a:solidFill>
                  <a:srgbClr val="434343"/>
                </a:solidFill>
                <a:latin typeface="Arial"/>
              </a:rPr>
              <a:t>Discussed / framework</a:t>
            </a:r>
          </a:p>
        </p:txBody>
      </p:sp>
      <p:cxnSp>
        <p:nvCxnSpPr>
          <p:cNvPr id="166" name="Connector 165"/>
          <p:cNvCxnSpPr/>
          <p:nvPr/>
        </p:nvCxnSpPr>
        <p:spPr>
          <a:xfrm>
            <a:off x="8092440" y="5550408"/>
            <a:ext cx="128016"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sp>
        <p:nvSpPr>
          <p:cNvPr id="167" name="TextBox 166"/>
          <p:cNvSpPr txBox="1"/>
          <p:nvPr/>
        </p:nvSpPr>
        <p:spPr>
          <a:xfrm>
            <a:off x="8321040" y="5413248"/>
            <a:ext cx="1600200" cy="274320"/>
          </a:xfrm>
          <a:prstGeom prst="rect">
            <a:avLst/>
          </a:prstGeom>
          <a:noFill/>
        </p:spPr>
        <p:txBody>
          <a:bodyPr wrap="square" lIns="0" rIns="0" tIns="0" bIns="0" anchor="ctr">
            <a:spAutoFit/>
          </a:bodyPr>
          <a:lstStyle/>
          <a:p>
            <a:pPr algn="l"/>
            <a:r>
              <a:rPr sz="1150" b="0" lang="en-US">
                <a:solidFill>
                  <a:srgbClr val="434343"/>
                </a:solidFill>
                <a:latin typeface="Arial"/>
              </a:rPr>
              <a:t>Not described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FL and DFL: who trains, who coordinates?</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FEDERATED LEARNING · DECENTRALIZED COORDINATION · ROLES AND RESPONSIBILITIES</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8</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5D6973"/>
                </a:solidFill>
                <a:latin typeface="Arial"/>
              </a:rPr>
              <a:t>Agent</a:t>
            </a:r>
          </a:p>
        </p:txBody>
      </p:sp>
      <p:sp>
        <p:nvSpPr>
          <p:cNvPr id="13" name="Rounded Rectangle 12"/>
          <p:cNvSpPr/>
          <p:nvPr/>
        </p:nvSpPr>
        <p:spPr>
          <a:xfrm>
            <a:off x="694944" y="1399032"/>
            <a:ext cx="5193792" cy="2560320"/>
          </a:xfrm>
          <a:prstGeom prst="roundRect">
            <a:avLst/>
          </a:prstGeom>
          <a:solidFill>
            <a:srgbClr val="FFFFFF"/>
          </a:solidFill>
          <a:ln w="1016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1545336"/>
            <a:ext cx="4846320" cy="265176"/>
          </a:xfrm>
          <a:prstGeom prst="rect">
            <a:avLst/>
          </a:prstGeom>
          <a:noFill/>
        </p:spPr>
        <p:txBody>
          <a:bodyPr wrap="square" lIns="18288" rIns="18288" tIns="18288" bIns="18288" anchor="t">
            <a:spAutoFit/>
          </a:bodyPr>
          <a:lstStyle/>
          <a:p>
            <a:pPr algn="ctr"/>
            <a:r>
              <a:rPr sz="1600" b="1" lang="en-US">
                <a:solidFill>
                  <a:srgbClr val="434343"/>
                </a:solidFill>
                <a:latin typeface="Arial"/>
              </a:rPr>
              <a:t>Centrally coordinated FL</a:t>
            </a:r>
          </a:p>
        </p:txBody>
      </p:sp>
      <p:sp>
        <p:nvSpPr>
          <p:cNvPr id="15" name="TextBox 14"/>
          <p:cNvSpPr txBox="1"/>
          <p:nvPr/>
        </p:nvSpPr>
        <p:spPr>
          <a:xfrm>
            <a:off x="868680" y="1901952"/>
            <a:ext cx="4846320" cy="219456"/>
          </a:xfrm>
          <a:prstGeom prst="rect">
            <a:avLst/>
          </a:prstGeom>
          <a:noFill/>
        </p:spPr>
        <p:txBody>
          <a:bodyPr wrap="square" lIns="18288" rIns="18288" tIns="18288" bIns="18288" anchor="t">
            <a:spAutoFit/>
          </a:bodyPr>
          <a:lstStyle/>
          <a:p>
            <a:pPr algn="ctr"/>
            <a:r>
              <a:rPr sz="1150" b="0" lang="en-US">
                <a:solidFill>
                  <a:srgbClr val="434343"/>
                </a:solidFill>
                <a:latin typeface="Arial"/>
              </a:rPr>
              <a:t>Permanent central coordinator</a:t>
            </a:r>
          </a:p>
        </p:txBody>
      </p:sp>
      <p:sp>
        <p:nvSpPr>
          <p:cNvPr id="16" name="Rounded Rectangle 15"/>
          <p:cNvSpPr/>
          <p:nvPr/>
        </p:nvSpPr>
        <p:spPr>
          <a:xfrm>
            <a:off x="6300216" y="1399032"/>
            <a:ext cx="5193792" cy="2560320"/>
          </a:xfrm>
          <a:prstGeom prst="roundRect">
            <a:avLst/>
          </a:prstGeom>
          <a:solidFill>
            <a:srgbClr val="FFFFFF"/>
          </a:solidFill>
          <a:ln w="1016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73952" y="1545336"/>
            <a:ext cx="4846320" cy="265176"/>
          </a:xfrm>
          <a:prstGeom prst="rect">
            <a:avLst/>
          </a:prstGeom>
          <a:noFill/>
        </p:spPr>
        <p:txBody>
          <a:bodyPr wrap="square" lIns="18288" rIns="18288" tIns="18288" bIns="18288" anchor="t">
            <a:spAutoFit/>
          </a:bodyPr>
          <a:lstStyle/>
          <a:p>
            <a:pPr algn="ctr"/>
            <a:r>
              <a:rPr sz="1600" b="1" lang="en-US">
                <a:solidFill>
                  <a:srgbClr val="434343"/>
                </a:solidFill>
                <a:latin typeface="Arial"/>
              </a:rPr>
              <a:t>DFL used in VITA-FL</a:t>
            </a:r>
          </a:p>
        </p:txBody>
      </p:sp>
      <p:sp>
        <p:nvSpPr>
          <p:cNvPr id="18" name="TextBox 17"/>
          <p:cNvSpPr txBox="1"/>
          <p:nvPr/>
        </p:nvSpPr>
        <p:spPr>
          <a:xfrm>
            <a:off x="6473952" y="1901952"/>
            <a:ext cx="4846320" cy="219456"/>
          </a:xfrm>
          <a:prstGeom prst="rect">
            <a:avLst/>
          </a:prstGeom>
          <a:noFill/>
        </p:spPr>
        <p:txBody>
          <a:bodyPr wrap="square" lIns="18288" rIns="18288" tIns="18288" bIns="18288" anchor="t">
            <a:spAutoFit/>
          </a:bodyPr>
          <a:lstStyle/>
          <a:p>
            <a:pPr algn="ctr"/>
            <a:r>
              <a:rPr sz="1250" b="1" lang="en-US">
                <a:solidFill>
                  <a:srgbClr val="434343"/>
                </a:solidFill>
                <a:latin typeface="Arial"/>
              </a:rPr>
              <a:t>Each participant can take the aggregator role</a:t>
            </a:r>
          </a:p>
        </p:txBody>
      </p:sp>
      <p:cxnSp>
        <p:nvCxnSpPr>
          <p:cNvPr id="19" name="Connector 18"/>
          <p:cNvCxnSpPr/>
          <p:nvPr/>
        </p:nvCxnSpPr>
        <p:spPr>
          <a:xfrm flipV="1">
            <a:off x="1528557" y="2764657"/>
            <a:ext cx="1773936" cy="475488"/>
          </a:xfrm>
          <a:prstGeom prst="line">
            <a:avLst/>
          </a:prstGeom>
          <a:ln w="12700">
            <a:solidFill>
              <a:srgbClr val="43434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507250" y="2685166"/>
            <a:ext cx="1773936" cy="475488"/>
          </a:xfrm>
          <a:prstGeom prst="line">
            <a:avLst/>
          </a:prstGeom>
          <a:ln w="12700">
            <a:solidFill>
              <a:srgbClr val="43434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332988" y="2724912"/>
            <a:ext cx="0" cy="475488"/>
          </a:xfrm>
          <a:prstGeom prst="line">
            <a:avLst/>
          </a:prstGeom>
          <a:ln w="12700">
            <a:solidFill>
              <a:srgbClr val="43434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250692" y="2724912"/>
            <a:ext cx="0" cy="475488"/>
          </a:xfrm>
          <a:prstGeom prst="line">
            <a:avLst/>
          </a:prstGeom>
          <a:ln w="12700">
            <a:solidFill>
              <a:srgbClr val="43434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3302493" y="2685166"/>
            <a:ext cx="1773936" cy="475488"/>
          </a:xfrm>
          <a:prstGeom prst="line">
            <a:avLst/>
          </a:prstGeom>
          <a:ln w="12700">
            <a:solidFill>
              <a:srgbClr val="43434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281186" y="2764657"/>
            <a:ext cx="1773936" cy="475488"/>
          </a:xfrm>
          <a:prstGeom prst="line">
            <a:avLst/>
          </a:prstGeom>
          <a:ln w="12700">
            <a:solidFill>
              <a:srgbClr val="43434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423160" y="2249424"/>
            <a:ext cx="1737360" cy="475488"/>
          </a:xfrm>
          <a:prstGeom prst="roundRect">
            <a:avLst/>
          </a:prstGeom>
          <a:solidFill>
            <a:srgbClr val="FBEAEC"/>
          </a:solidFill>
          <a:ln w="13335">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78024" y="2281428"/>
            <a:ext cx="1627631" cy="393192"/>
          </a:xfrm>
          <a:prstGeom prst="rect">
            <a:avLst/>
          </a:prstGeom>
          <a:noFill/>
        </p:spPr>
        <p:txBody>
          <a:bodyPr wrap="square" lIns="0" rIns="0" tIns="0" bIns="0" anchor="ctr">
            <a:spAutoFit/>
          </a:bodyPr>
          <a:lstStyle/>
          <a:p>
            <a:pPr algn="ctr"/>
            <a:r>
              <a:rPr sz="1100" b="1" lang="en-US">
                <a:solidFill>
                  <a:srgbClr val="C40D1E"/>
                </a:solidFill>
                <a:latin typeface="Arial"/>
              </a:rPr>
              <a:t>Fixed server
Aggregator</a:t>
            </a:r>
          </a:p>
        </p:txBody>
      </p:sp>
      <p:sp>
        <p:nvSpPr>
          <p:cNvPr id="27" name="Rounded Rectangle 26"/>
          <p:cNvSpPr/>
          <p:nvPr/>
        </p:nvSpPr>
        <p:spPr>
          <a:xfrm>
            <a:off x="932688" y="3200400"/>
            <a:ext cx="1170432" cy="475488"/>
          </a:xfrm>
          <a:prstGeom prst="roundRect">
            <a:avLst/>
          </a:prstGeom>
          <a:solidFill>
            <a:srgbClr val="EAF6ED"/>
          </a:solidFill>
          <a:ln w="13335">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552" y="3232404"/>
            <a:ext cx="1060704" cy="393192"/>
          </a:xfrm>
          <a:prstGeom prst="rect">
            <a:avLst/>
          </a:prstGeom>
          <a:noFill/>
        </p:spPr>
        <p:txBody>
          <a:bodyPr wrap="square" lIns="0" rIns="0" tIns="0" bIns="0" anchor="ctr">
            <a:spAutoFit/>
          </a:bodyPr>
          <a:lstStyle/>
          <a:p>
            <a:pPr algn="ctr"/>
            <a:r>
              <a:rPr sz="1100" b="1" lang="en-US">
                <a:solidFill>
                  <a:srgbClr val="2F8F46"/>
                </a:solidFill>
                <a:latin typeface="Arial"/>
              </a:rPr>
              <a:t>Worker A</a:t>
            </a:r>
          </a:p>
        </p:txBody>
      </p:sp>
      <p:sp>
        <p:nvSpPr>
          <p:cNvPr id="29" name="Rounded Rectangle 28"/>
          <p:cNvSpPr/>
          <p:nvPr/>
        </p:nvSpPr>
        <p:spPr>
          <a:xfrm>
            <a:off x="2706624" y="3200400"/>
            <a:ext cx="1170432" cy="475488"/>
          </a:xfrm>
          <a:prstGeom prst="roundRect">
            <a:avLst/>
          </a:prstGeom>
          <a:solidFill>
            <a:srgbClr val="EAF6ED"/>
          </a:solidFill>
          <a:ln w="13335">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61488" y="3232404"/>
            <a:ext cx="1060704" cy="393192"/>
          </a:xfrm>
          <a:prstGeom prst="rect">
            <a:avLst/>
          </a:prstGeom>
          <a:noFill/>
        </p:spPr>
        <p:txBody>
          <a:bodyPr wrap="square" lIns="0" rIns="0" tIns="0" bIns="0" anchor="ctr">
            <a:spAutoFit/>
          </a:bodyPr>
          <a:lstStyle/>
          <a:p>
            <a:pPr algn="ctr"/>
            <a:r>
              <a:rPr sz="1100" b="1" lang="en-US">
                <a:solidFill>
                  <a:srgbClr val="2F8F46"/>
                </a:solidFill>
                <a:latin typeface="Arial"/>
              </a:rPr>
              <a:t>Worker B</a:t>
            </a:r>
          </a:p>
        </p:txBody>
      </p:sp>
      <p:sp>
        <p:nvSpPr>
          <p:cNvPr id="31" name="Rounded Rectangle 30"/>
          <p:cNvSpPr/>
          <p:nvPr/>
        </p:nvSpPr>
        <p:spPr>
          <a:xfrm>
            <a:off x="4480560" y="3200400"/>
            <a:ext cx="1170432" cy="475488"/>
          </a:xfrm>
          <a:prstGeom prst="roundRect">
            <a:avLst/>
          </a:prstGeom>
          <a:solidFill>
            <a:srgbClr val="EAF6ED"/>
          </a:solidFill>
          <a:ln w="13335">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35424" y="3232404"/>
            <a:ext cx="1060704" cy="393192"/>
          </a:xfrm>
          <a:prstGeom prst="rect">
            <a:avLst/>
          </a:prstGeom>
          <a:noFill/>
        </p:spPr>
        <p:txBody>
          <a:bodyPr wrap="square" lIns="0" rIns="0" tIns="0" bIns="0" anchor="ctr">
            <a:spAutoFit/>
          </a:bodyPr>
          <a:lstStyle/>
          <a:p>
            <a:pPr algn="ctr"/>
            <a:r>
              <a:rPr sz="1100" b="1" lang="en-US">
                <a:solidFill>
                  <a:srgbClr val="2F8F46"/>
                </a:solidFill>
                <a:latin typeface="Arial"/>
              </a:rPr>
              <a:t>Worker C</a:t>
            </a:r>
          </a:p>
        </p:txBody>
      </p:sp>
      <p:sp>
        <p:nvSpPr>
          <p:cNvPr id="33" name="TextBox 32"/>
          <p:cNvSpPr txBox="1"/>
          <p:nvPr/>
        </p:nvSpPr>
        <p:spPr>
          <a:xfrm>
            <a:off x="6611112" y="2313432"/>
            <a:ext cx="1335024" cy="228600"/>
          </a:xfrm>
          <a:prstGeom prst="rect">
            <a:avLst/>
          </a:prstGeom>
          <a:noFill/>
        </p:spPr>
        <p:txBody>
          <a:bodyPr wrap="square" lIns="18288" rIns="18288" tIns="18288" bIns="18288" anchor="t">
            <a:spAutoFit/>
          </a:bodyPr>
          <a:lstStyle/>
          <a:p>
            <a:pPr algn="ctr"/>
            <a:r>
              <a:rPr sz="1250" b="1" lang="en-US">
                <a:solidFill>
                  <a:srgbClr val="434343"/>
                </a:solidFill>
                <a:latin typeface="Arial"/>
              </a:rPr>
              <a:t>Round 1</a:t>
            </a:r>
          </a:p>
        </p:txBody>
      </p:sp>
      <p:cxnSp>
        <p:nvCxnSpPr>
          <p:cNvPr id="34" name="Connector 33"/>
          <p:cNvCxnSpPr/>
          <p:nvPr/>
        </p:nvCxnSpPr>
        <p:spPr>
          <a:xfrm flipH="1">
            <a:off x="6912864" y="2807208"/>
            <a:ext cx="365760" cy="530352"/>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278624" y="2807208"/>
            <a:ext cx="365759" cy="530352"/>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7068312" y="2596896"/>
            <a:ext cx="420624" cy="420624"/>
          </a:xfrm>
          <a:prstGeom prst="ellipse">
            <a:avLst/>
          </a:prstGeom>
          <a:solidFill>
            <a:srgbClr val="C40D1E"/>
          </a:solidFill>
          <a:ln w="1778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068312" y="2596896"/>
            <a:ext cx="420624" cy="420624"/>
          </a:xfrm>
          <a:prstGeom prst="rect">
            <a:avLst/>
          </a:prstGeom>
          <a:noFill/>
        </p:spPr>
        <p:txBody>
          <a:bodyPr wrap="square" lIns="0" rIns="0" tIns="0" bIns="0" anchor="ctr">
            <a:spAutoFit/>
          </a:bodyPr>
          <a:lstStyle/>
          <a:p>
            <a:pPr algn="ctr"/>
            <a:r>
              <a:rPr sz="1400" b="1" lang="en-US">
                <a:solidFill>
                  <a:srgbClr val="FFFFFF"/>
                </a:solidFill>
                <a:latin typeface="Arial"/>
              </a:rPr>
              <a:t>A</a:t>
            </a:r>
          </a:p>
        </p:txBody>
      </p:sp>
      <p:sp>
        <p:nvSpPr>
          <p:cNvPr id="38" name="Oval 37"/>
          <p:cNvSpPr/>
          <p:nvPr/>
        </p:nvSpPr>
        <p:spPr>
          <a:xfrm>
            <a:off x="6702551" y="3127248"/>
            <a:ext cx="420624" cy="420624"/>
          </a:xfrm>
          <a:prstGeom prst="ellipse">
            <a:avLst/>
          </a:prstGeom>
          <a:solidFill>
            <a:srgbClr val="EAF6ED"/>
          </a:solidFill>
          <a:ln w="1778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02551" y="3127248"/>
            <a:ext cx="420624" cy="420624"/>
          </a:xfrm>
          <a:prstGeom prst="rect">
            <a:avLst/>
          </a:prstGeom>
          <a:noFill/>
        </p:spPr>
        <p:txBody>
          <a:bodyPr wrap="square" lIns="0" rIns="0" tIns="0" bIns="0" anchor="ctr">
            <a:spAutoFit/>
          </a:bodyPr>
          <a:lstStyle/>
          <a:p>
            <a:pPr algn="ctr"/>
            <a:r>
              <a:rPr sz="1400" b="1" lang="en-US">
                <a:solidFill>
                  <a:srgbClr val="2F8F46"/>
                </a:solidFill>
                <a:latin typeface="Arial"/>
              </a:rPr>
              <a:t>B</a:t>
            </a:r>
          </a:p>
        </p:txBody>
      </p:sp>
      <p:sp>
        <p:nvSpPr>
          <p:cNvPr id="40" name="Oval 39"/>
          <p:cNvSpPr/>
          <p:nvPr/>
        </p:nvSpPr>
        <p:spPr>
          <a:xfrm>
            <a:off x="7434071" y="3127248"/>
            <a:ext cx="420624" cy="420624"/>
          </a:xfrm>
          <a:prstGeom prst="ellipse">
            <a:avLst/>
          </a:prstGeom>
          <a:solidFill>
            <a:srgbClr val="EAF6ED"/>
          </a:solidFill>
          <a:ln w="1778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34071" y="3127248"/>
            <a:ext cx="420624" cy="420624"/>
          </a:xfrm>
          <a:prstGeom prst="rect">
            <a:avLst/>
          </a:prstGeom>
          <a:noFill/>
        </p:spPr>
        <p:txBody>
          <a:bodyPr wrap="square" lIns="0" rIns="0" tIns="0" bIns="0" anchor="ctr">
            <a:spAutoFit/>
          </a:bodyPr>
          <a:lstStyle/>
          <a:p>
            <a:pPr algn="ctr"/>
            <a:r>
              <a:rPr sz="1400" b="1" lang="en-US">
                <a:solidFill>
                  <a:srgbClr val="2F8F46"/>
                </a:solidFill>
                <a:latin typeface="Arial"/>
              </a:rPr>
              <a:t>C</a:t>
            </a:r>
          </a:p>
        </p:txBody>
      </p:sp>
      <p:sp>
        <p:nvSpPr>
          <p:cNvPr id="42" name="TextBox 41"/>
          <p:cNvSpPr txBox="1"/>
          <p:nvPr/>
        </p:nvSpPr>
        <p:spPr>
          <a:xfrm>
            <a:off x="6574536" y="3675887"/>
            <a:ext cx="1408176" cy="219456"/>
          </a:xfrm>
          <a:prstGeom prst="rect">
            <a:avLst/>
          </a:prstGeom>
          <a:noFill/>
        </p:spPr>
        <p:txBody>
          <a:bodyPr wrap="square" lIns="0" rIns="0" tIns="0" bIns="0" anchor="t">
            <a:spAutoFit/>
          </a:bodyPr>
          <a:lstStyle/>
          <a:p>
            <a:pPr algn="ctr"/>
            <a:r>
              <a:rPr sz="1200" b="1" lang="en-US">
                <a:solidFill>
                  <a:srgbClr val="C40D1E"/>
                </a:solidFill>
                <a:latin typeface="Arial"/>
              </a:rPr>
              <a:t>A aggregates</a:t>
            </a:r>
          </a:p>
        </p:txBody>
      </p:sp>
      <p:cxnSp>
        <p:nvCxnSpPr>
          <p:cNvPr id="43" name="Connector 42"/>
          <p:cNvCxnSpPr/>
          <p:nvPr/>
        </p:nvCxnSpPr>
        <p:spPr>
          <a:xfrm>
            <a:off x="7909560" y="3017520"/>
            <a:ext cx="347471" cy="0"/>
          </a:xfrm>
          <a:prstGeom prst="line">
            <a:avLst/>
          </a:prstGeom>
          <a:ln w="20320">
            <a:solidFill>
              <a:srgbClr val="434343"/>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8229600" y="2313432"/>
            <a:ext cx="1335024" cy="228600"/>
          </a:xfrm>
          <a:prstGeom prst="rect">
            <a:avLst/>
          </a:prstGeom>
          <a:noFill/>
        </p:spPr>
        <p:txBody>
          <a:bodyPr wrap="square" lIns="18288" rIns="18288" tIns="18288" bIns="18288" anchor="t">
            <a:spAutoFit/>
          </a:bodyPr>
          <a:lstStyle/>
          <a:p>
            <a:pPr algn="ctr"/>
            <a:r>
              <a:rPr sz="1250" b="1" lang="en-US">
                <a:solidFill>
                  <a:srgbClr val="434343"/>
                </a:solidFill>
                <a:latin typeface="Arial"/>
              </a:rPr>
              <a:t>Round 2</a:t>
            </a:r>
          </a:p>
        </p:txBody>
      </p:sp>
      <p:cxnSp>
        <p:nvCxnSpPr>
          <p:cNvPr id="45" name="Connector 44"/>
          <p:cNvCxnSpPr/>
          <p:nvPr/>
        </p:nvCxnSpPr>
        <p:spPr>
          <a:xfrm flipV="1">
            <a:off x="8531352" y="2807208"/>
            <a:ext cx="365760" cy="530352"/>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531352" y="3337560"/>
            <a:ext cx="731520"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8686800" y="2596896"/>
            <a:ext cx="420624" cy="420624"/>
          </a:xfrm>
          <a:prstGeom prst="ellipse">
            <a:avLst/>
          </a:prstGeom>
          <a:solidFill>
            <a:srgbClr val="EAF6ED"/>
          </a:solidFill>
          <a:ln w="1778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86800" y="2596896"/>
            <a:ext cx="420624" cy="420624"/>
          </a:xfrm>
          <a:prstGeom prst="rect">
            <a:avLst/>
          </a:prstGeom>
          <a:noFill/>
        </p:spPr>
        <p:txBody>
          <a:bodyPr wrap="square" lIns="0" rIns="0" tIns="0" bIns="0" anchor="ctr">
            <a:spAutoFit/>
          </a:bodyPr>
          <a:lstStyle/>
          <a:p>
            <a:pPr algn="ctr"/>
            <a:r>
              <a:rPr sz="1400" b="1" lang="en-US">
                <a:solidFill>
                  <a:srgbClr val="2F8F46"/>
                </a:solidFill>
                <a:latin typeface="Arial"/>
              </a:rPr>
              <a:t>A</a:t>
            </a:r>
          </a:p>
        </p:txBody>
      </p:sp>
      <p:sp>
        <p:nvSpPr>
          <p:cNvPr id="49" name="Oval 48"/>
          <p:cNvSpPr/>
          <p:nvPr/>
        </p:nvSpPr>
        <p:spPr>
          <a:xfrm>
            <a:off x="8321040" y="3127248"/>
            <a:ext cx="420624" cy="420624"/>
          </a:xfrm>
          <a:prstGeom prst="ellipse">
            <a:avLst/>
          </a:prstGeom>
          <a:solidFill>
            <a:srgbClr val="C40D1E"/>
          </a:solidFill>
          <a:ln w="1778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321040" y="3127248"/>
            <a:ext cx="420624" cy="420624"/>
          </a:xfrm>
          <a:prstGeom prst="rect">
            <a:avLst/>
          </a:prstGeom>
          <a:noFill/>
        </p:spPr>
        <p:txBody>
          <a:bodyPr wrap="square" lIns="0" rIns="0" tIns="0" bIns="0" anchor="ctr">
            <a:spAutoFit/>
          </a:bodyPr>
          <a:lstStyle/>
          <a:p>
            <a:pPr algn="ctr"/>
            <a:r>
              <a:rPr sz="1400" b="1" lang="en-US">
                <a:solidFill>
                  <a:srgbClr val="FFFFFF"/>
                </a:solidFill>
                <a:latin typeface="Arial"/>
              </a:rPr>
              <a:t>B</a:t>
            </a:r>
          </a:p>
        </p:txBody>
      </p:sp>
      <p:sp>
        <p:nvSpPr>
          <p:cNvPr id="51" name="Oval 50"/>
          <p:cNvSpPr/>
          <p:nvPr/>
        </p:nvSpPr>
        <p:spPr>
          <a:xfrm>
            <a:off x="9052560" y="3127248"/>
            <a:ext cx="420624" cy="420624"/>
          </a:xfrm>
          <a:prstGeom prst="ellipse">
            <a:avLst/>
          </a:prstGeom>
          <a:solidFill>
            <a:srgbClr val="EAF6ED"/>
          </a:solidFill>
          <a:ln w="1778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052560" y="3127248"/>
            <a:ext cx="420624" cy="420624"/>
          </a:xfrm>
          <a:prstGeom prst="rect">
            <a:avLst/>
          </a:prstGeom>
          <a:noFill/>
        </p:spPr>
        <p:txBody>
          <a:bodyPr wrap="square" lIns="0" rIns="0" tIns="0" bIns="0" anchor="ctr">
            <a:spAutoFit/>
          </a:bodyPr>
          <a:lstStyle/>
          <a:p>
            <a:pPr algn="ctr"/>
            <a:r>
              <a:rPr sz="1400" b="1" lang="en-US">
                <a:solidFill>
                  <a:srgbClr val="2F8F46"/>
                </a:solidFill>
                <a:latin typeface="Arial"/>
              </a:rPr>
              <a:t>C</a:t>
            </a:r>
          </a:p>
        </p:txBody>
      </p:sp>
      <p:sp>
        <p:nvSpPr>
          <p:cNvPr id="53" name="TextBox 52"/>
          <p:cNvSpPr txBox="1"/>
          <p:nvPr/>
        </p:nvSpPr>
        <p:spPr>
          <a:xfrm>
            <a:off x="8193024" y="3675887"/>
            <a:ext cx="1408176" cy="219456"/>
          </a:xfrm>
          <a:prstGeom prst="rect">
            <a:avLst/>
          </a:prstGeom>
          <a:noFill/>
        </p:spPr>
        <p:txBody>
          <a:bodyPr wrap="square" lIns="0" rIns="0" tIns="0" bIns="0" anchor="t">
            <a:spAutoFit/>
          </a:bodyPr>
          <a:lstStyle/>
          <a:p>
            <a:pPr algn="ctr"/>
            <a:r>
              <a:rPr sz="1200" b="1" lang="en-US">
                <a:solidFill>
                  <a:srgbClr val="C40D1E"/>
                </a:solidFill>
                <a:latin typeface="Arial"/>
              </a:rPr>
              <a:t>B aggregates</a:t>
            </a:r>
          </a:p>
        </p:txBody>
      </p:sp>
      <p:cxnSp>
        <p:nvCxnSpPr>
          <p:cNvPr id="54" name="Connector 53"/>
          <p:cNvCxnSpPr/>
          <p:nvPr/>
        </p:nvCxnSpPr>
        <p:spPr>
          <a:xfrm>
            <a:off x="9528048" y="3017520"/>
            <a:ext cx="347472" cy="0"/>
          </a:xfrm>
          <a:prstGeom prst="line">
            <a:avLst/>
          </a:prstGeom>
          <a:ln w="20320">
            <a:solidFill>
              <a:srgbClr val="434343"/>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9848088" y="2313432"/>
            <a:ext cx="1335024" cy="228600"/>
          </a:xfrm>
          <a:prstGeom prst="rect">
            <a:avLst/>
          </a:prstGeom>
          <a:noFill/>
        </p:spPr>
        <p:txBody>
          <a:bodyPr wrap="square" lIns="18288" rIns="18288" tIns="18288" bIns="18288" anchor="t">
            <a:spAutoFit/>
          </a:bodyPr>
          <a:lstStyle/>
          <a:p>
            <a:pPr algn="ctr"/>
            <a:r>
              <a:rPr sz="1250" b="1" lang="en-US">
                <a:solidFill>
                  <a:srgbClr val="434343"/>
                </a:solidFill>
                <a:latin typeface="Arial"/>
              </a:rPr>
              <a:t>Round 3</a:t>
            </a:r>
          </a:p>
        </p:txBody>
      </p:sp>
      <p:cxnSp>
        <p:nvCxnSpPr>
          <p:cNvPr id="56" name="Connector 55"/>
          <p:cNvCxnSpPr/>
          <p:nvPr/>
        </p:nvCxnSpPr>
        <p:spPr>
          <a:xfrm flipH="1" flipV="1">
            <a:off x="10515600" y="2807208"/>
            <a:ext cx="365760" cy="530352"/>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10149840" y="3337560"/>
            <a:ext cx="731520" cy="0"/>
          </a:xfrm>
          <a:prstGeom prst="line">
            <a:avLst/>
          </a:prstGeom>
          <a:ln w="17780">
            <a:solidFill>
              <a:srgbClr val="B2B2B2"/>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10305288" y="2596896"/>
            <a:ext cx="420624" cy="420624"/>
          </a:xfrm>
          <a:prstGeom prst="ellipse">
            <a:avLst/>
          </a:prstGeom>
          <a:solidFill>
            <a:srgbClr val="EAF6ED"/>
          </a:solidFill>
          <a:ln w="1778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305288" y="2596896"/>
            <a:ext cx="420624" cy="420624"/>
          </a:xfrm>
          <a:prstGeom prst="rect">
            <a:avLst/>
          </a:prstGeom>
          <a:noFill/>
        </p:spPr>
        <p:txBody>
          <a:bodyPr wrap="square" lIns="0" rIns="0" tIns="0" bIns="0" anchor="ctr">
            <a:spAutoFit/>
          </a:bodyPr>
          <a:lstStyle/>
          <a:p>
            <a:pPr algn="ctr"/>
            <a:r>
              <a:rPr sz="1400" b="1" lang="en-US">
                <a:solidFill>
                  <a:srgbClr val="2F8F46"/>
                </a:solidFill>
                <a:latin typeface="Arial"/>
              </a:rPr>
              <a:t>A</a:t>
            </a:r>
          </a:p>
        </p:txBody>
      </p:sp>
      <p:sp>
        <p:nvSpPr>
          <p:cNvPr id="60" name="Oval 59"/>
          <p:cNvSpPr/>
          <p:nvPr/>
        </p:nvSpPr>
        <p:spPr>
          <a:xfrm>
            <a:off x="9939528" y="3127248"/>
            <a:ext cx="420624" cy="420624"/>
          </a:xfrm>
          <a:prstGeom prst="ellipse">
            <a:avLst/>
          </a:prstGeom>
          <a:solidFill>
            <a:srgbClr val="EAF6ED"/>
          </a:solidFill>
          <a:ln w="1778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939528" y="3127248"/>
            <a:ext cx="420624" cy="420624"/>
          </a:xfrm>
          <a:prstGeom prst="rect">
            <a:avLst/>
          </a:prstGeom>
          <a:noFill/>
        </p:spPr>
        <p:txBody>
          <a:bodyPr wrap="square" lIns="0" rIns="0" tIns="0" bIns="0" anchor="ctr">
            <a:spAutoFit/>
          </a:bodyPr>
          <a:lstStyle/>
          <a:p>
            <a:pPr algn="ctr"/>
            <a:r>
              <a:rPr sz="1400" b="1" lang="en-US">
                <a:solidFill>
                  <a:srgbClr val="2F8F46"/>
                </a:solidFill>
                <a:latin typeface="Arial"/>
              </a:rPr>
              <a:t>B</a:t>
            </a:r>
          </a:p>
        </p:txBody>
      </p:sp>
      <p:sp>
        <p:nvSpPr>
          <p:cNvPr id="62" name="Oval 61"/>
          <p:cNvSpPr/>
          <p:nvPr/>
        </p:nvSpPr>
        <p:spPr>
          <a:xfrm>
            <a:off x="10671048" y="3127248"/>
            <a:ext cx="420624" cy="420624"/>
          </a:xfrm>
          <a:prstGeom prst="ellipse">
            <a:avLst/>
          </a:prstGeom>
          <a:solidFill>
            <a:srgbClr val="C40D1E"/>
          </a:solidFill>
          <a:ln w="1778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671048" y="3127248"/>
            <a:ext cx="420624" cy="420624"/>
          </a:xfrm>
          <a:prstGeom prst="rect">
            <a:avLst/>
          </a:prstGeom>
          <a:noFill/>
        </p:spPr>
        <p:txBody>
          <a:bodyPr wrap="square" lIns="0" rIns="0" tIns="0" bIns="0" anchor="ctr">
            <a:spAutoFit/>
          </a:bodyPr>
          <a:lstStyle/>
          <a:p>
            <a:pPr algn="ctr"/>
            <a:r>
              <a:rPr sz="1400" b="1" lang="en-US">
                <a:solidFill>
                  <a:srgbClr val="FFFFFF"/>
                </a:solidFill>
                <a:latin typeface="Arial"/>
              </a:rPr>
              <a:t>C</a:t>
            </a:r>
          </a:p>
        </p:txBody>
      </p:sp>
      <p:sp>
        <p:nvSpPr>
          <p:cNvPr id="64" name="TextBox 63"/>
          <p:cNvSpPr txBox="1"/>
          <p:nvPr/>
        </p:nvSpPr>
        <p:spPr>
          <a:xfrm>
            <a:off x="9811512" y="3675887"/>
            <a:ext cx="1408176" cy="219456"/>
          </a:xfrm>
          <a:prstGeom prst="rect">
            <a:avLst/>
          </a:prstGeom>
          <a:noFill/>
        </p:spPr>
        <p:txBody>
          <a:bodyPr wrap="square" lIns="0" rIns="0" tIns="0" bIns="0" anchor="t">
            <a:spAutoFit/>
          </a:bodyPr>
          <a:lstStyle/>
          <a:p>
            <a:pPr algn="ctr"/>
            <a:r>
              <a:rPr sz="1200" b="1" lang="en-US">
                <a:solidFill>
                  <a:srgbClr val="C40D1E"/>
                </a:solidFill>
                <a:latin typeface="Arial"/>
              </a:rPr>
              <a:t>C aggregates</a:t>
            </a:r>
          </a:p>
        </p:txBody>
      </p:sp>
      <p:sp>
        <p:nvSpPr>
          <p:cNvPr id="65" name="TextBox 64"/>
          <p:cNvSpPr txBox="1"/>
          <p:nvPr/>
        </p:nvSpPr>
        <p:spPr>
          <a:xfrm>
            <a:off x="832104" y="4087368"/>
            <a:ext cx="10561320" cy="256032"/>
          </a:xfrm>
          <a:prstGeom prst="rect">
            <a:avLst/>
          </a:prstGeom>
          <a:noFill/>
        </p:spPr>
        <p:txBody>
          <a:bodyPr wrap="square" lIns="18288" rIns="18288" tIns="18288" bIns="18288" anchor="t">
            <a:spAutoFit/>
          </a:bodyPr>
          <a:lstStyle/>
          <a:p>
            <a:pPr algn="ctr"/>
            <a:r>
              <a:rPr sz="1300" b="1" lang="en-US">
                <a:solidFill>
                  <a:srgbClr val="434343"/>
                </a:solidFill>
                <a:latin typeface="Arial"/>
              </a:rPr>
              <a:t>Both keep training records local and exchange model parameters.</a:t>
            </a:r>
          </a:p>
        </p:txBody>
      </p:sp>
      <p:sp>
        <p:nvSpPr>
          <p:cNvPr id="66" name="Rounded Rectangle 65"/>
          <p:cNvSpPr/>
          <p:nvPr/>
        </p:nvSpPr>
        <p:spPr>
          <a:xfrm>
            <a:off x="694944" y="4489704"/>
            <a:ext cx="5193792" cy="1042415"/>
          </a:xfrm>
          <a:prstGeom prst="roundRect">
            <a:avLst/>
          </a:prstGeom>
          <a:solidFill>
            <a:srgbClr val="EAF6ED"/>
          </a:solidFill>
          <a:ln w="1016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68680" y="4599432"/>
            <a:ext cx="4837176" cy="192024"/>
          </a:xfrm>
          <a:prstGeom prst="rect">
            <a:avLst/>
          </a:prstGeom>
          <a:noFill/>
        </p:spPr>
        <p:txBody>
          <a:bodyPr wrap="square" lIns="18288" rIns="18288" tIns="18288" bIns="18288" anchor="t">
            <a:spAutoFit/>
          </a:bodyPr>
          <a:lstStyle/>
          <a:p>
            <a:pPr algn="l"/>
            <a:r>
              <a:rPr sz="1150" b="1" lang="en-US">
                <a:solidFill>
                  <a:srgbClr val="2F8F46"/>
                </a:solidFill>
                <a:latin typeface="Arial"/>
              </a:rPr>
              <a:t>WORKER · LOCAL TRAINING</a:t>
            </a:r>
          </a:p>
        </p:txBody>
      </p:sp>
      <p:sp>
        <p:nvSpPr>
          <p:cNvPr id="68" name="TextBox 67"/>
          <p:cNvSpPr txBox="1"/>
          <p:nvPr/>
        </p:nvSpPr>
        <p:spPr>
          <a:xfrm>
            <a:off x="868680" y="4837176"/>
            <a:ext cx="4837176" cy="192024"/>
          </a:xfrm>
          <a:prstGeom prst="rect">
            <a:avLst/>
          </a:prstGeom>
          <a:noFill/>
        </p:spPr>
        <p:txBody>
          <a:bodyPr wrap="square" lIns="18288" rIns="18288" tIns="18288" bIns="18288" anchor="t">
            <a:spAutoFit/>
          </a:bodyPr>
          <a:lstStyle/>
          <a:p>
            <a:pPr algn="l"/>
            <a:r>
              <a:rPr sz="1150" b="0" lang="en-US">
                <a:solidFill>
                  <a:srgbClr val="434343"/>
                </a:solidFill>
                <a:latin typeface="Arial"/>
              </a:rPr>
              <a:t>1. Start from the shared global model.</a:t>
            </a:r>
          </a:p>
        </p:txBody>
      </p:sp>
      <p:sp>
        <p:nvSpPr>
          <p:cNvPr id="69" name="TextBox 68"/>
          <p:cNvSpPr txBox="1"/>
          <p:nvPr/>
        </p:nvSpPr>
        <p:spPr>
          <a:xfrm>
            <a:off x="868680" y="5038344"/>
            <a:ext cx="4837176" cy="192024"/>
          </a:xfrm>
          <a:prstGeom prst="rect">
            <a:avLst/>
          </a:prstGeom>
          <a:noFill/>
        </p:spPr>
        <p:txBody>
          <a:bodyPr wrap="square" lIns="18288" rIns="18288" tIns="18288" bIns="18288" anchor="t">
            <a:spAutoFit/>
          </a:bodyPr>
          <a:lstStyle/>
          <a:p>
            <a:pPr algn="l"/>
            <a:r>
              <a:rPr sz="1150" b="0" lang="en-US">
                <a:solidFill>
                  <a:srgbClr val="434343"/>
                </a:solidFill>
                <a:latin typeface="Arial"/>
              </a:rPr>
              <a:t>2. Train on local data → local model.</a:t>
            </a:r>
          </a:p>
        </p:txBody>
      </p:sp>
      <p:sp>
        <p:nvSpPr>
          <p:cNvPr id="70" name="TextBox 69"/>
          <p:cNvSpPr txBox="1"/>
          <p:nvPr/>
        </p:nvSpPr>
        <p:spPr>
          <a:xfrm>
            <a:off x="868680" y="5239512"/>
            <a:ext cx="4837176" cy="192024"/>
          </a:xfrm>
          <a:prstGeom prst="rect">
            <a:avLst/>
          </a:prstGeom>
          <a:noFill/>
        </p:spPr>
        <p:txBody>
          <a:bodyPr wrap="square" lIns="18288" rIns="18288" tIns="18288" bIns="18288" anchor="t">
            <a:spAutoFit/>
          </a:bodyPr>
          <a:lstStyle/>
          <a:p>
            <a:pPr algn="l"/>
            <a:r>
              <a:rPr sz="1150" b="0" lang="en-US">
                <a:solidFill>
                  <a:srgbClr val="434343"/>
                </a:solidFill>
                <a:latin typeface="Arial"/>
              </a:rPr>
              <a:t>3. Submit the local model / parameter update.</a:t>
            </a:r>
          </a:p>
        </p:txBody>
      </p:sp>
      <p:sp>
        <p:nvSpPr>
          <p:cNvPr id="71" name="Rounded Rectangle 70"/>
          <p:cNvSpPr/>
          <p:nvPr/>
        </p:nvSpPr>
        <p:spPr>
          <a:xfrm>
            <a:off x="6300216" y="4489704"/>
            <a:ext cx="5193792" cy="1042415"/>
          </a:xfrm>
          <a:prstGeom prst="roundRect">
            <a:avLst/>
          </a:prstGeom>
          <a:solidFill>
            <a:srgbClr val="FBEAEC"/>
          </a:solidFill>
          <a:ln w="1016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473952" y="4599432"/>
            <a:ext cx="4837176" cy="192024"/>
          </a:xfrm>
          <a:prstGeom prst="rect">
            <a:avLst/>
          </a:prstGeom>
          <a:noFill/>
        </p:spPr>
        <p:txBody>
          <a:bodyPr wrap="square" lIns="18288" rIns="18288" tIns="18288" bIns="18288" anchor="t">
            <a:spAutoFit/>
          </a:bodyPr>
          <a:lstStyle/>
          <a:p>
            <a:pPr algn="l"/>
            <a:r>
              <a:rPr sz="1150" b="1" lang="en-US">
                <a:solidFill>
                  <a:srgbClr val="C40D1E"/>
                </a:solidFill>
                <a:latin typeface="Arial"/>
              </a:rPr>
              <a:t>AGGREGATOR · SHARED MODEL</a:t>
            </a:r>
          </a:p>
        </p:txBody>
      </p:sp>
      <p:sp>
        <p:nvSpPr>
          <p:cNvPr id="73" name="TextBox 72"/>
          <p:cNvSpPr txBox="1"/>
          <p:nvPr/>
        </p:nvSpPr>
        <p:spPr>
          <a:xfrm>
            <a:off x="6473952" y="4837176"/>
            <a:ext cx="4837176" cy="192024"/>
          </a:xfrm>
          <a:prstGeom prst="rect">
            <a:avLst/>
          </a:prstGeom>
          <a:noFill/>
        </p:spPr>
        <p:txBody>
          <a:bodyPr wrap="square" lIns="18288" rIns="18288" tIns="18288" bIns="18288" anchor="t">
            <a:spAutoFit/>
          </a:bodyPr>
          <a:lstStyle/>
          <a:p>
            <a:pPr algn="l"/>
            <a:r>
              <a:rPr sz="1150" b="0" lang="en-US">
                <a:solidFill>
                  <a:srgbClr val="434343"/>
                </a:solidFill>
                <a:latin typeface="Arial"/>
              </a:rPr>
              <a:t>1. Collect and check contributions.</a:t>
            </a:r>
          </a:p>
        </p:txBody>
      </p:sp>
      <p:sp>
        <p:nvSpPr>
          <p:cNvPr id="74" name="TextBox 73"/>
          <p:cNvSpPr txBox="1"/>
          <p:nvPr/>
        </p:nvSpPr>
        <p:spPr>
          <a:xfrm>
            <a:off x="6473952" y="5038344"/>
            <a:ext cx="4837176" cy="192024"/>
          </a:xfrm>
          <a:prstGeom prst="rect">
            <a:avLst/>
          </a:prstGeom>
          <a:noFill/>
        </p:spPr>
        <p:txBody>
          <a:bodyPr wrap="square" lIns="18288" rIns="18288" tIns="18288" bIns="18288" anchor="t">
            <a:spAutoFit/>
          </a:bodyPr>
          <a:lstStyle/>
          <a:p>
            <a:pPr algn="l"/>
            <a:r>
              <a:rPr sz="1150" b="0" lang="en-US">
                <a:solidFill>
                  <a:srgbClr val="434343"/>
                </a:solidFill>
                <a:latin typeface="Arial"/>
              </a:rPr>
              <a:t>2. Combine the accepted local models.</a:t>
            </a:r>
          </a:p>
        </p:txBody>
      </p:sp>
      <p:sp>
        <p:nvSpPr>
          <p:cNvPr id="75" name="TextBox 74"/>
          <p:cNvSpPr txBox="1"/>
          <p:nvPr/>
        </p:nvSpPr>
        <p:spPr>
          <a:xfrm>
            <a:off x="6473952" y="5239512"/>
            <a:ext cx="4837176" cy="192024"/>
          </a:xfrm>
          <a:prstGeom prst="rect">
            <a:avLst/>
          </a:prstGeom>
          <a:noFill/>
        </p:spPr>
        <p:txBody>
          <a:bodyPr wrap="square" lIns="18288" rIns="18288" tIns="18288" bIns="18288" anchor="t">
            <a:spAutoFit/>
          </a:bodyPr>
          <a:lstStyle/>
          <a:p>
            <a:pPr algn="l"/>
            <a:r>
              <a:rPr sz="1150" b="0" lang="en-US">
                <a:solidFill>
                  <a:srgbClr val="434343"/>
                </a:solidFill>
                <a:latin typeface="Arial"/>
              </a:rPr>
              <a:t>3. Publish the next global model.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VITA-FL: from training to verifiable use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9</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Oval 12"/>
          <p:cNvSpPr/>
          <p:nvPr/>
        </p:nvSpPr>
        <p:spPr>
          <a:xfrm>
            <a:off x="1673352" y="1965960"/>
            <a:ext cx="3163824" cy="3163824"/>
          </a:xfrm>
          <a:prstGeom prst="ellipse">
            <a:avLst/>
          </a:prstGeom>
          <a:solidFill>
            <a:srgbClr val="FFFFFF"/>
          </a:solidFill>
          <a:ln w="2857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Editable circular flow"/>
          <p:cNvCxnSpPr/>
          <p:nvPr/>
        </p:nvCxnSpPr>
        <p:spPr>
          <a:xfrm flipH="1">
            <a:off x="1699841" y="3218974"/>
            <a:ext cx="8079" cy="40617"/>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5" name="Editable circular flow"/>
          <p:cNvCxnSpPr/>
          <p:nvPr/>
        </p:nvCxnSpPr>
        <p:spPr>
          <a:xfrm flipH="1">
            <a:off x="1692827" y="3259591"/>
            <a:ext cx="7014" cy="40815"/>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6" name="Editable circular flow"/>
          <p:cNvCxnSpPr/>
          <p:nvPr/>
        </p:nvCxnSpPr>
        <p:spPr>
          <a:xfrm flipH="1">
            <a:off x="1686885" y="3300406"/>
            <a:ext cx="5942" cy="40985"/>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7" name="Editable circular flow"/>
          <p:cNvCxnSpPr/>
          <p:nvPr/>
        </p:nvCxnSpPr>
        <p:spPr>
          <a:xfrm flipH="1">
            <a:off x="1682017" y="3341391"/>
            <a:ext cx="4868" cy="41126"/>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8" name="Editable circular flow"/>
          <p:cNvCxnSpPr/>
          <p:nvPr/>
        </p:nvCxnSpPr>
        <p:spPr>
          <a:xfrm flipH="1">
            <a:off x="1678228" y="3382517"/>
            <a:ext cx="3789" cy="41239"/>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9" name="Editable circular flow"/>
          <p:cNvCxnSpPr/>
          <p:nvPr/>
        </p:nvCxnSpPr>
        <p:spPr>
          <a:xfrm flipH="1">
            <a:off x="1675519" y="3423756"/>
            <a:ext cx="2709" cy="41325"/>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0" name="Editable circular flow"/>
          <p:cNvCxnSpPr/>
          <p:nvPr/>
        </p:nvCxnSpPr>
        <p:spPr>
          <a:xfrm flipH="1">
            <a:off x="1673894" y="3465081"/>
            <a:ext cx="1625" cy="41381"/>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1" name="Editable circular flow"/>
          <p:cNvCxnSpPr/>
          <p:nvPr/>
        </p:nvCxnSpPr>
        <p:spPr>
          <a:xfrm flipH="1">
            <a:off x="1673352" y="3506462"/>
            <a:ext cx="542" cy="41410"/>
          </a:xfrm>
          <a:prstGeom prst="line">
            <a:avLst/>
          </a:prstGeom>
          <a:ln w="29845">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Editable circular flow"/>
          <p:cNvCxnSpPr/>
          <p:nvPr/>
        </p:nvCxnSpPr>
        <p:spPr>
          <a:xfrm flipV="1">
            <a:off x="3796309" y="5019710"/>
            <a:ext cx="38727" cy="14673"/>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3" name="Editable circular flow"/>
          <p:cNvCxnSpPr/>
          <p:nvPr/>
        </p:nvCxnSpPr>
        <p:spPr>
          <a:xfrm flipV="1">
            <a:off x="3835036" y="5004029"/>
            <a:ext cx="38330" cy="15681"/>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4" name="Editable circular flow"/>
          <p:cNvCxnSpPr/>
          <p:nvPr/>
        </p:nvCxnSpPr>
        <p:spPr>
          <a:xfrm flipV="1">
            <a:off x="3873366" y="4987350"/>
            <a:ext cx="37906" cy="16679"/>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5" name="Editable circular flow"/>
          <p:cNvCxnSpPr/>
          <p:nvPr/>
        </p:nvCxnSpPr>
        <p:spPr>
          <a:xfrm flipV="1">
            <a:off x="3911272" y="4969685"/>
            <a:ext cx="37456" cy="17665"/>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6" name="Editable circular flow"/>
          <p:cNvCxnSpPr/>
          <p:nvPr/>
        </p:nvCxnSpPr>
        <p:spPr>
          <a:xfrm flipV="1">
            <a:off x="3948728" y="4951045"/>
            <a:ext cx="36981" cy="18640"/>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7" name="Editable circular flow"/>
          <p:cNvCxnSpPr/>
          <p:nvPr/>
        </p:nvCxnSpPr>
        <p:spPr>
          <a:xfrm flipV="1">
            <a:off x="3985709" y="4931443"/>
            <a:ext cx="36481" cy="19602"/>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8" name="Editable circular flow"/>
          <p:cNvCxnSpPr/>
          <p:nvPr/>
        </p:nvCxnSpPr>
        <p:spPr>
          <a:xfrm flipV="1">
            <a:off x="4022190" y="4910893"/>
            <a:ext cx="35955" cy="20550"/>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9" name="Editable circular flow"/>
          <p:cNvCxnSpPr/>
          <p:nvPr/>
        </p:nvCxnSpPr>
        <p:spPr>
          <a:xfrm flipV="1">
            <a:off x="4058145" y="4889409"/>
            <a:ext cx="35404" cy="21484"/>
          </a:xfrm>
          <a:prstGeom prst="line">
            <a:avLst/>
          </a:prstGeom>
          <a:ln w="29845">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Editable circular flow"/>
          <p:cNvCxnSpPr/>
          <p:nvPr/>
        </p:nvCxnSpPr>
        <p:spPr>
          <a:xfrm flipH="1" flipV="1">
            <a:off x="4364040" y="2419572"/>
            <a:ext cx="29156" cy="29411"/>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1" name="Editable circular flow"/>
          <p:cNvCxnSpPr/>
          <p:nvPr/>
        </p:nvCxnSpPr>
        <p:spPr>
          <a:xfrm flipH="1" flipV="1">
            <a:off x="4334125" y="2390934"/>
            <a:ext cx="29915" cy="28638"/>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2" name="Editable circular flow"/>
          <p:cNvCxnSpPr/>
          <p:nvPr/>
        </p:nvCxnSpPr>
        <p:spPr>
          <a:xfrm flipH="1" flipV="1">
            <a:off x="4303470" y="2363089"/>
            <a:ext cx="30655" cy="27845"/>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3" name="Editable circular flow"/>
          <p:cNvCxnSpPr/>
          <p:nvPr/>
        </p:nvCxnSpPr>
        <p:spPr>
          <a:xfrm flipH="1" flipV="1">
            <a:off x="4272097" y="2336057"/>
            <a:ext cx="31373" cy="27032"/>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4" name="Editable circular flow"/>
          <p:cNvCxnSpPr/>
          <p:nvPr/>
        </p:nvCxnSpPr>
        <p:spPr>
          <a:xfrm flipH="1" flipV="1">
            <a:off x="4240027" y="2309854"/>
            <a:ext cx="32070" cy="26203"/>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5" name="Editable circular flow"/>
          <p:cNvCxnSpPr/>
          <p:nvPr/>
        </p:nvCxnSpPr>
        <p:spPr>
          <a:xfrm flipH="1" flipV="1">
            <a:off x="4207282" y="2284500"/>
            <a:ext cx="32745" cy="25354"/>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6" name="Editable circular flow"/>
          <p:cNvCxnSpPr/>
          <p:nvPr/>
        </p:nvCxnSpPr>
        <p:spPr>
          <a:xfrm flipH="1" flipV="1">
            <a:off x="4173884" y="2260012"/>
            <a:ext cx="33398" cy="24488"/>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7" name="Editable circular flow"/>
          <p:cNvCxnSpPr/>
          <p:nvPr/>
        </p:nvCxnSpPr>
        <p:spPr>
          <a:xfrm flipH="1" flipV="1">
            <a:off x="4139857" y="2236407"/>
            <a:ext cx="34027" cy="23605"/>
          </a:xfrm>
          <a:prstGeom prst="line">
            <a:avLst/>
          </a:prstGeom>
          <a:ln w="29845">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Functional node: Workers / Local training"/>
          <p:cNvSpPr/>
          <p:nvPr/>
        </p:nvSpPr>
        <p:spPr>
          <a:xfrm>
            <a:off x="1387796" y="1849709"/>
            <a:ext cx="1920240" cy="804672"/>
          </a:xfrm>
          <a:prstGeom prst="roundRect">
            <a:avLst/>
          </a:prstGeom>
          <a:solidFill>
            <a:srgbClr val="FFFFFF"/>
          </a:solidFill>
          <a:ln w="1714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abel: Workers"/>
          <p:cNvSpPr txBox="1"/>
          <p:nvPr/>
        </p:nvSpPr>
        <p:spPr>
          <a:xfrm>
            <a:off x="1442660" y="1959437"/>
            <a:ext cx="1810512" cy="329184"/>
          </a:xfrm>
          <a:prstGeom prst="rect">
            <a:avLst/>
          </a:prstGeom>
          <a:noFill/>
        </p:spPr>
        <p:txBody>
          <a:bodyPr wrap="square" lIns="0" rIns="0" tIns="0" bIns="0" anchor="ctr">
            <a:spAutoFit/>
          </a:bodyPr>
          <a:lstStyle/>
          <a:p>
            <a:pPr algn="ctr"/>
            <a:r>
              <a:rPr sz="1800" b="1" lang="en-US">
                <a:solidFill>
                  <a:srgbClr val="207548"/>
                </a:solidFill>
                <a:latin typeface="Arial"/>
              </a:rPr>
              <a:t>Workers</a:t>
            </a:r>
          </a:p>
        </p:txBody>
      </p:sp>
      <p:sp>
        <p:nvSpPr>
          <p:cNvPr id="40" name="Label: Local training"/>
          <p:cNvSpPr txBox="1"/>
          <p:nvPr/>
        </p:nvSpPr>
        <p:spPr>
          <a:xfrm>
            <a:off x="1442660" y="2370917"/>
            <a:ext cx="1810512" cy="219456"/>
          </a:xfrm>
          <a:prstGeom prst="rect">
            <a:avLst/>
          </a:prstGeom>
          <a:noFill/>
        </p:spPr>
        <p:txBody>
          <a:bodyPr wrap="square" lIns="0" rIns="0" tIns="0" bIns="0" anchor="ctr">
            <a:spAutoFit/>
          </a:bodyPr>
          <a:lstStyle/>
          <a:p>
            <a:pPr algn="ctr"/>
            <a:r>
              <a:rPr sz="1300" b="0" lang="en-US">
                <a:solidFill>
                  <a:srgbClr val="207548"/>
                </a:solidFill>
                <a:latin typeface="Arial"/>
              </a:rPr>
              <a:t>Local training</a:t>
            </a:r>
          </a:p>
        </p:txBody>
      </p:sp>
      <p:sp>
        <p:nvSpPr>
          <p:cNvPr id="41" name="Functional node: Aggregator / Combine updates"/>
          <p:cNvSpPr/>
          <p:nvPr/>
        </p:nvSpPr>
        <p:spPr>
          <a:xfrm>
            <a:off x="1387796" y="4441362"/>
            <a:ext cx="1920240" cy="804672"/>
          </a:xfrm>
          <a:prstGeom prst="roundRect">
            <a:avLst/>
          </a:prstGeom>
          <a:solidFill>
            <a:srgbClr val="FFFFFF"/>
          </a:solidFill>
          <a:ln w="1714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Label: Aggregator"/>
          <p:cNvSpPr txBox="1"/>
          <p:nvPr/>
        </p:nvSpPr>
        <p:spPr>
          <a:xfrm>
            <a:off x="1442660" y="4551090"/>
            <a:ext cx="1810512" cy="329184"/>
          </a:xfrm>
          <a:prstGeom prst="rect">
            <a:avLst/>
          </a:prstGeom>
          <a:noFill/>
        </p:spPr>
        <p:txBody>
          <a:bodyPr wrap="square" lIns="0" rIns="0" tIns="0" bIns="0" anchor="ctr">
            <a:spAutoFit/>
          </a:bodyPr>
          <a:lstStyle/>
          <a:p>
            <a:pPr algn="ctr"/>
            <a:r>
              <a:rPr sz="1800" b="1" lang="en-US">
                <a:solidFill>
                  <a:srgbClr val="207548"/>
                </a:solidFill>
                <a:latin typeface="Arial"/>
              </a:rPr>
              <a:t>Aggregator</a:t>
            </a:r>
          </a:p>
        </p:txBody>
      </p:sp>
      <p:sp>
        <p:nvSpPr>
          <p:cNvPr id="43" name="Label: Combine updates"/>
          <p:cNvSpPr txBox="1"/>
          <p:nvPr/>
        </p:nvSpPr>
        <p:spPr>
          <a:xfrm>
            <a:off x="1442660" y="4962570"/>
            <a:ext cx="1810512" cy="219456"/>
          </a:xfrm>
          <a:prstGeom prst="rect">
            <a:avLst/>
          </a:prstGeom>
          <a:noFill/>
        </p:spPr>
        <p:txBody>
          <a:bodyPr wrap="square" lIns="0" rIns="0" tIns="0" bIns="0" anchor="ctr">
            <a:spAutoFit/>
          </a:bodyPr>
          <a:lstStyle/>
          <a:p>
            <a:pPr algn="ctr"/>
            <a:r>
              <a:rPr sz="1300" b="0" lang="en-US">
                <a:solidFill>
                  <a:srgbClr val="207548"/>
                </a:solidFill>
                <a:latin typeface="Arial"/>
              </a:rPr>
              <a:t>Combine updates</a:t>
            </a:r>
          </a:p>
        </p:txBody>
      </p:sp>
      <p:sp>
        <p:nvSpPr>
          <p:cNvPr id="44" name="Label: DFL"/>
          <p:cNvSpPr txBox="1"/>
          <p:nvPr/>
        </p:nvSpPr>
        <p:spPr>
          <a:xfrm>
            <a:off x="2715768" y="3337560"/>
            <a:ext cx="1115568" cy="420624"/>
          </a:xfrm>
          <a:prstGeom prst="rect">
            <a:avLst/>
          </a:prstGeom>
          <a:noFill/>
        </p:spPr>
        <p:txBody>
          <a:bodyPr wrap="square" lIns="0" rIns="0" tIns="0" bIns="0" anchor="ctr">
            <a:spAutoFit/>
          </a:bodyPr>
          <a:lstStyle/>
          <a:p>
            <a:pPr algn="ctr"/>
            <a:r>
              <a:rPr sz="2600" b="1" lang="en-US">
                <a:solidFill>
                  <a:srgbClr val="207548"/>
                </a:solidFill>
                <a:latin typeface="Arial"/>
              </a:rPr>
              <a:t>DFL</a:t>
            </a:r>
          </a:p>
        </p:txBody>
      </p:sp>
      <p:sp>
        <p:nvSpPr>
          <p:cNvPr id="45" name="Label: Local / updates"/>
          <p:cNvSpPr txBox="1"/>
          <p:nvPr/>
        </p:nvSpPr>
        <p:spPr>
          <a:xfrm>
            <a:off x="566928" y="3209544"/>
            <a:ext cx="1078992" cy="612648"/>
          </a:xfrm>
          <a:prstGeom prst="rect">
            <a:avLst/>
          </a:prstGeom>
          <a:noFill/>
        </p:spPr>
        <p:txBody>
          <a:bodyPr wrap="square" lIns="0" rIns="0" tIns="0" bIns="0" anchor="ctr">
            <a:spAutoFit/>
          </a:bodyPr>
          <a:lstStyle/>
          <a:p>
            <a:pPr algn="ctr"/>
            <a:r>
              <a:rPr sz="1500" b="0" lang="en-US">
                <a:solidFill>
                  <a:srgbClr val="207548"/>
                </a:solidFill>
                <a:latin typeface="Arial"/>
              </a:rPr>
              <a:t>Local
updates</a:t>
            </a:r>
          </a:p>
        </p:txBody>
      </p:sp>
      <p:sp>
        <p:nvSpPr>
          <p:cNvPr id="46" name="Label: Load model"/>
          <p:cNvSpPr txBox="1"/>
          <p:nvPr/>
        </p:nvSpPr>
        <p:spPr>
          <a:xfrm>
            <a:off x="3355848" y="1536192"/>
            <a:ext cx="1664208" cy="310896"/>
          </a:xfrm>
          <a:prstGeom prst="rect">
            <a:avLst/>
          </a:prstGeom>
          <a:noFill/>
        </p:spPr>
        <p:txBody>
          <a:bodyPr wrap="square" lIns="0" rIns="0" tIns="0" bIns="0" anchor="ctr">
            <a:spAutoFit/>
          </a:bodyPr>
          <a:lstStyle/>
          <a:p>
            <a:pPr algn="ctr"/>
            <a:r>
              <a:rPr sz="1500" b="0" lang="en-US">
                <a:solidFill>
                  <a:srgbClr val="207548"/>
                </a:solidFill>
                <a:latin typeface="Arial"/>
              </a:rPr>
              <a:t>Load model</a:t>
            </a:r>
          </a:p>
        </p:txBody>
      </p:sp>
      <p:sp>
        <p:nvSpPr>
          <p:cNvPr id="47" name="Label: Publish model"/>
          <p:cNvSpPr txBox="1"/>
          <p:nvPr/>
        </p:nvSpPr>
        <p:spPr>
          <a:xfrm>
            <a:off x="3172968" y="5321808"/>
            <a:ext cx="1947672" cy="292608"/>
          </a:xfrm>
          <a:prstGeom prst="rect">
            <a:avLst/>
          </a:prstGeom>
          <a:noFill/>
        </p:spPr>
        <p:txBody>
          <a:bodyPr wrap="square" lIns="0" rIns="0" tIns="0" bIns="0" anchor="ctr">
            <a:spAutoFit/>
          </a:bodyPr>
          <a:lstStyle/>
          <a:p>
            <a:pPr algn="ctr"/>
            <a:r>
              <a:rPr sz="1500" b="0" lang="en-US">
                <a:solidFill>
                  <a:srgbClr val="207548"/>
                </a:solidFill>
                <a:latin typeface="Arial"/>
              </a:rPr>
              <a:t>Publish model</a:t>
            </a:r>
          </a:p>
        </p:txBody>
      </p:sp>
      <p:sp>
        <p:nvSpPr>
          <p:cNvPr id="48" name="Functional publication segment on DFL cycle"/>
          <p:cNvSpPr/>
          <p:nvPr/>
        </p:nvSpPr>
        <p:spPr>
          <a:xfrm>
            <a:off x="3831335" y="2505456"/>
            <a:ext cx="2011680" cy="2084831"/>
          </a:xfrm>
          <a:prstGeom prst="roundRect">
            <a:avLst/>
          </a:prstGeom>
          <a:solidFill>
            <a:srgbClr val="F8F5FB"/>
          </a:solidFill>
          <a:ln w="1651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Label: Global model"/>
          <p:cNvSpPr txBox="1"/>
          <p:nvPr/>
        </p:nvSpPr>
        <p:spPr>
          <a:xfrm>
            <a:off x="3904487" y="2615184"/>
            <a:ext cx="1865376" cy="320040"/>
          </a:xfrm>
          <a:prstGeom prst="rect">
            <a:avLst/>
          </a:prstGeom>
          <a:noFill/>
        </p:spPr>
        <p:txBody>
          <a:bodyPr wrap="square" lIns="0" rIns="0" tIns="0" bIns="0" anchor="ctr">
            <a:spAutoFit/>
          </a:bodyPr>
          <a:lstStyle/>
          <a:p>
            <a:pPr algn="ctr"/>
            <a:r>
              <a:rPr sz="1800" b="1" lang="en-US">
                <a:solidFill>
                  <a:srgbClr val="7446A6"/>
                </a:solidFill>
                <a:latin typeface="Arial"/>
              </a:rPr>
              <a:t>Global model</a:t>
            </a:r>
          </a:p>
        </p:txBody>
      </p:sp>
      <p:sp>
        <p:nvSpPr>
          <p:cNvPr id="50" name="Rounded Rectangle 49"/>
          <p:cNvSpPr/>
          <p:nvPr/>
        </p:nvSpPr>
        <p:spPr>
          <a:xfrm>
            <a:off x="3931920" y="3081527"/>
            <a:ext cx="1810512" cy="603504"/>
          </a:xfrm>
          <a:prstGeom prst="roundRect">
            <a:avLst/>
          </a:prstGeom>
          <a:solidFill>
            <a:srgbClr val="FFFFFF"/>
          </a:solidFill>
          <a:ln w="1270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Label: IPFS"/>
          <p:cNvSpPr txBox="1"/>
          <p:nvPr/>
        </p:nvSpPr>
        <p:spPr>
          <a:xfrm>
            <a:off x="4005072" y="3127248"/>
            <a:ext cx="1664208" cy="292608"/>
          </a:xfrm>
          <a:prstGeom prst="rect">
            <a:avLst/>
          </a:prstGeom>
          <a:noFill/>
        </p:spPr>
        <p:txBody>
          <a:bodyPr wrap="square" lIns="0" rIns="0" tIns="0" bIns="0" anchor="ctr">
            <a:spAutoFit/>
          </a:bodyPr>
          <a:lstStyle/>
          <a:p>
            <a:pPr algn="ctr"/>
            <a:r>
              <a:rPr sz="1600" b="1" lang="en-US">
                <a:solidFill>
                  <a:srgbClr val="7446A6"/>
                </a:solidFill>
                <a:latin typeface="Arial"/>
              </a:rPr>
              <a:t>IPFS</a:t>
            </a:r>
          </a:p>
        </p:txBody>
      </p:sp>
      <p:sp>
        <p:nvSpPr>
          <p:cNvPr id="52" name="Label: Model files"/>
          <p:cNvSpPr txBox="1"/>
          <p:nvPr/>
        </p:nvSpPr>
        <p:spPr>
          <a:xfrm>
            <a:off x="4005072" y="3465575"/>
            <a:ext cx="1664208" cy="192024"/>
          </a:xfrm>
          <a:prstGeom prst="rect">
            <a:avLst/>
          </a:prstGeom>
          <a:noFill/>
        </p:spPr>
        <p:txBody>
          <a:bodyPr wrap="square" lIns="0" rIns="0" tIns="0" bIns="0" anchor="ctr">
            <a:spAutoFit/>
          </a:bodyPr>
          <a:lstStyle/>
          <a:p>
            <a:pPr algn="ctr"/>
            <a:r>
              <a:rPr sz="1250" b="0" lang="en-US">
                <a:solidFill>
                  <a:srgbClr val="7446A6"/>
                </a:solidFill>
                <a:latin typeface="Arial"/>
              </a:rPr>
              <a:t>Model files</a:t>
            </a:r>
          </a:p>
        </p:txBody>
      </p:sp>
      <p:sp>
        <p:nvSpPr>
          <p:cNvPr id="53" name="Rounded Rectangle 52"/>
          <p:cNvSpPr/>
          <p:nvPr/>
        </p:nvSpPr>
        <p:spPr>
          <a:xfrm>
            <a:off x="3931920" y="3803904"/>
            <a:ext cx="1810512" cy="603504"/>
          </a:xfrm>
          <a:prstGeom prst="roundRect">
            <a:avLst/>
          </a:prstGeom>
          <a:solidFill>
            <a:srgbClr val="FFFFFF"/>
          </a:solidFill>
          <a:ln w="1270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Label: Blockchain"/>
          <p:cNvSpPr txBox="1"/>
          <p:nvPr/>
        </p:nvSpPr>
        <p:spPr>
          <a:xfrm>
            <a:off x="4005072" y="3849624"/>
            <a:ext cx="1664208" cy="292608"/>
          </a:xfrm>
          <a:prstGeom prst="rect">
            <a:avLst/>
          </a:prstGeom>
          <a:noFill/>
        </p:spPr>
        <p:txBody>
          <a:bodyPr wrap="square" lIns="0" rIns="0" tIns="0" bIns="0" anchor="ctr">
            <a:spAutoFit/>
          </a:bodyPr>
          <a:lstStyle/>
          <a:p>
            <a:pPr algn="ctr"/>
            <a:r>
              <a:rPr sz="1600" b="1" lang="en-US">
                <a:solidFill>
                  <a:srgbClr val="7446A6"/>
                </a:solidFill>
                <a:latin typeface="Arial"/>
              </a:rPr>
              <a:t>Blockchain</a:t>
            </a:r>
          </a:p>
        </p:txBody>
      </p:sp>
      <p:sp>
        <p:nvSpPr>
          <p:cNvPr id="55" name="Label: Model reference"/>
          <p:cNvSpPr txBox="1"/>
          <p:nvPr/>
        </p:nvSpPr>
        <p:spPr>
          <a:xfrm>
            <a:off x="4005072" y="4187952"/>
            <a:ext cx="1664208" cy="192024"/>
          </a:xfrm>
          <a:prstGeom prst="rect">
            <a:avLst/>
          </a:prstGeom>
          <a:noFill/>
        </p:spPr>
        <p:txBody>
          <a:bodyPr wrap="square" lIns="0" rIns="0" tIns="0" bIns="0" anchor="ctr">
            <a:spAutoFit/>
          </a:bodyPr>
          <a:lstStyle/>
          <a:p>
            <a:pPr algn="ctr"/>
            <a:r>
              <a:rPr sz="1250" b="0" lang="en-US">
                <a:solidFill>
                  <a:srgbClr val="7446A6"/>
                </a:solidFill>
                <a:latin typeface="Arial"/>
              </a:rPr>
              <a:t>Model reference</a:t>
            </a:r>
          </a:p>
        </p:txBody>
      </p:sp>
      <p:cxnSp>
        <p:nvCxnSpPr>
          <p:cNvPr id="56" name="Flow"/>
          <p:cNvCxnSpPr/>
          <p:nvPr/>
        </p:nvCxnSpPr>
        <p:spPr>
          <a:xfrm>
            <a:off x="5897880" y="3547872"/>
            <a:ext cx="1444751" cy="0"/>
          </a:xfrm>
          <a:prstGeom prst="line">
            <a:avLst/>
          </a:prstGeom>
          <a:ln w="29209">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Label: Published / model"/>
          <p:cNvSpPr txBox="1"/>
          <p:nvPr/>
        </p:nvSpPr>
        <p:spPr>
          <a:xfrm>
            <a:off x="6016752" y="2788920"/>
            <a:ext cx="1252728" cy="594360"/>
          </a:xfrm>
          <a:prstGeom prst="rect">
            <a:avLst/>
          </a:prstGeom>
          <a:noFill/>
        </p:spPr>
        <p:txBody>
          <a:bodyPr wrap="square" lIns="0" rIns="0" tIns="0" bIns="0" anchor="ctr">
            <a:spAutoFit/>
          </a:bodyPr>
          <a:lstStyle/>
          <a:p>
            <a:pPr algn="ctr"/>
            <a:r>
              <a:rPr sz="1600" b="0" lang="en-US">
                <a:solidFill>
                  <a:srgbClr val="7446A6"/>
                </a:solidFill>
                <a:latin typeface="Arial"/>
              </a:rPr>
              <a:t>Published
model</a:t>
            </a:r>
          </a:p>
        </p:txBody>
      </p:sp>
      <p:sp>
        <p:nvSpPr>
          <p:cNvPr id="58" name="Node: Inference"/>
          <p:cNvSpPr/>
          <p:nvPr/>
        </p:nvSpPr>
        <p:spPr>
          <a:xfrm>
            <a:off x="7388352" y="3067812"/>
            <a:ext cx="1810512" cy="960120"/>
          </a:xfrm>
          <a:prstGeom prst="roundRect">
            <a:avLst/>
          </a:prstGeom>
          <a:solidFill>
            <a:srgbClr val="EDF4FA"/>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abel: Inference"/>
          <p:cNvSpPr txBox="1"/>
          <p:nvPr/>
        </p:nvSpPr>
        <p:spPr>
          <a:xfrm>
            <a:off x="7452360" y="3095244"/>
            <a:ext cx="1682495" cy="905256"/>
          </a:xfrm>
          <a:prstGeom prst="rect">
            <a:avLst/>
          </a:prstGeom>
          <a:noFill/>
        </p:spPr>
        <p:txBody>
          <a:bodyPr wrap="square" lIns="0" rIns="0" tIns="0" bIns="0" anchor="ctr">
            <a:spAutoFit/>
          </a:bodyPr>
          <a:lstStyle/>
          <a:p>
            <a:pPr algn="ctr"/>
            <a:r>
              <a:rPr sz="2000" b="1" lang="en-US">
                <a:solidFill>
                  <a:srgbClr val="1764A1"/>
                </a:solidFill>
                <a:latin typeface="Arial"/>
              </a:rPr>
              <a:t>Inference</a:t>
            </a:r>
          </a:p>
        </p:txBody>
      </p:sp>
      <p:sp>
        <p:nvSpPr>
          <p:cNvPr id="60" name="Oval 59"/>
          <p:cNvSpPr/>
          <p:nvPr/>
        </p:nvSpPr>
        <p:spPr>
          <a:xfrm>
            <a:off x="7854696" y="1371600"/>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8091525" y="1655064"/>
            <a:ext cx="404164" cy="303123"/>
          </a:xfrm>
          <a:prstGeom prst="roundRect">
            <a:avLst/>
          </a:prstGeom>
          <a:solidFill>
            <a:srgbClr val="FFFFFF"/>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8186348" y="1757659"/>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8349569" y="1757659"/>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Flow"/>
          <p:cNvCxnSpPr/>
          <p:nvPr/>
        </p:nvCxnSpPr>
        <p:spPr>
          <a:xfrm>
            <a:off x="8223656" y="1888236"/>
            <a:ext cx="139903"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65" name="Flow"/>
          <p:cNvCxnSpPr/>
          <p:nvPr/>
        </p:nvCxnSpPr>
        <p:spPr>
          <a:xfrm flipV="1">
            <a:off x="8293608" y="1569567"/>
            <a:ext cx="0" cy="85497"/>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8262518" y="1507388"/>
            <a:ext cx="62179" cy="62179"/>
          </a:xfrm>
          <a:prstGeom prst="ellipse">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Label: Agent"/>
          <p:cNvSpPr txBox="1"/>
          <p:nvPr/>
        </p:nvSpPr>
        <p:spPr>
          <a:xfrm>
            <a:off x="7242048" y="2368296"/>
            <a:ext cx="2103120" cy="347472"/>
          </a:xfrm>
          <a:prstGeom prst="rect">
            <a:avLst/>
          </a:prstGeom>
          <a:noFill/>
        </p:spPr>
        <p:txBody>
          <a:bodyPr wrap="square" lIns="0" rIns="0" tIns="0" bIns="0" anchor="ctr">
            <a:spAutoFit/>
          </a:bodyPr>
          <a:lstStyle/>
          <a:p>
            <a:pPr algn="ctr"/>
            <a:r>
              <a:rPr sz="1900" b="1" lang="en-US">
                <a:solidFill>
                  <a:srgbClr val="1764A1"/>
                </a:solidFill>
                <a:latin typeface="Arial"/>
              </a:rPr>
              <a:t>Agent</a:t>
            </a:r>
          </a:p>
        </p:txBody>
      </p:sp>
      <p:cxnSp>
        <p:nvCxnSpPr>
          <p:cNvPr id="68" name="Flow"/>
          <p:cNvCxnSpPr/>
          <p:nvPr/>
        </p:nvCxnSpPr>
        <p:spPr>
          <a:xfrm>
            <a:off x="8065008" y="2743200"/>
            <a:ext cx="0" cy="265176"/>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69" name="Label: MCP"/>
          <p:cNvSpPr txBox="1"/>
          <p:nvPr/>
        </p:nvSpPr>
        <p:spPr>
          <a:xfrm>
            <a:off x="7397496" y="2738628"/>
            <a:ext cx="594360" cy="274320"/>
          </a:xfrm>
          <a:prstGeom prst="rect">
            <a:avLst/>
          </a:prstGeom>
          <a:noFill/>
        </p:spPr>
        <p:txBody>
          <a:bodyPr wrap="square" lIns="0" rIns="0" tIns="0" bIns="0" anchor="ctr">
            <a:spAutoFit/>
          </a:bodyPr>
          <a:lstStyle/>
          <a:p>
            <a:pPr algn="ctr"/>
            <a:r>
              <a:rPr sz="1600" b="1" lang="en-US">
                <a:solidFill>
                  <a:srgbClr val="1764A1"/>
                </a:solidFill>
                <a:latin typeface="Arial"/>
              </a:rPr>
              <a:t>MCP</a:t>
            </a:r>
          </a:p>
        </p:txBody>
      </p:sp>
      <p:cxnSp>
        <p:nvCxnSpPr>
          <p:cNvPr id="70" name="Flow"/>
          <p:cNvCxnSpPr/>
          <p:nvPr/>
        </p:nvCxnSpPr>
        <p:spPr>
          <a:xfrm flipV="1">
            <a:off x="8540496" y="2743200"/>
            <a:ext cx="0" cy="265176"/>
          </a:xfrm>
          <a:prstGeom prst="line">
            <a:avLst/>
          </a:prstGeom>
          <a:ln w="1905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1" name="Label: Result"/>
          <p:cNvSpPr txBox="1"/>
          <p:nvPr/>
        </p:nvSpPr>
        <p:spPr>
          <a:xfrm>
            <a:off x="8668512" y="2738628"/>
            <a:ext cx="722376" cy="274320"/>
          </a:xfrm>
          <a:prstGeom prst="rect">
            <a:avLst/>
          </a:prstGeom>
          <a:noFill/>
        </p:spPr>
        <p:txBody>
          <a:bodyPr wrap="square" lIns="0" rIns="0" tIns="0" bIns="0" anchor="ctr">
            <a:spAutoFit/>
          </a:bodyPr>
          <a:lstStyle/>
          <a:p>
            <a:pPr algn="ctr"/>
            <a:r>
              <a:rPr sz="1400" b="0" lang="en-US">
                <a:solidFill>
                  <a:srgbClr val="67747C"/>
                </a:solidFill>
                <a:latin typeface="Arial"/>
              </a:rPr>
              <a:t>Result</a:t>
            </a:r>
          </a:p>
        </p:txBody>
      </p:sp>
      <p:cxnSp>
        <p:nvCxnSpPr>
          <p:cNvPr id="72" name="Flow"/>
          <p:cNvCxnSpPr/>
          <p:nvPr/>
        </p:nvCxnSpPr>
        <p:spPr>
          <a:xfrm>
            <a:off x="9244584" y="3547872"/>
            <a:ext cx="1115568" cy="0"/>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3" name="Label: Tool receipt"/>
          <p:cNvSpPr txBox="1"/>
          <p:nvPr/>
        </p:nvSpPr>
        <p:spPr>
          <a:xfrm>
            <a:off x="9281160" y="3081528"/>
            <a:ext cx="1115568" cy="301752"/>
          </a:xfrm>
          <a:prstGeom prst="rect">
            <a:avLst/>
          </a:prstGeom>
          <a:noFill/>
        </p:spPr>
        <p:txBody>
          <a:bodyPr wrap="square" lIns="0" rIns="0" tIns="0" bIns="0" anchor="ctr">
            <a:spAutoFit/>
          </a:bodyPr>
          <a:lstStyle/>
          <a:p>
            <a:pPr algn="ctr"/>
            <a:r>
              <a:rPr sz="1300" b="0" lang="en-US">
                <a:solidFill>
                  <a:srgbClr val="1764A1"/>
                </a:solidFill>
                <a:latin typeface="Arial"/>
              </a:rPr>
              <a:t>Tool receipt</a:t>
            </a:r>
          </a:p>
        </p:txBody>
      </p:sp>
      <p:sp>
        <p:nvSpPr>
          <p:cNvPr id="74" name="Oval 73"/>
          <p:cNvSpPr/>
          <p:nvPr/>
        </p:nvSpPr>
        <p:spPr>
          <a:xfrm>
            <a:off x="10433304" y="3108960"/>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0755630" y="3229203"/>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0716768" y="3268065"/>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0677906" y="3306927"/>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8" name="Flow"/>
          <p:cNvCxnSpPr/>
          <p:nvPr/>
        </p:nvCxnSpPr>
        <p:spPr>
          <a:xfrm>
            <a:off x="10755630" y="3439058"/>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79" name="Flow"/>
          <p:cNvCxnSpPr/>
          <p:nvPr/>
        </p:nvCxnSpPr>
        <p:spPr>
          <a:xfrm>
            <a:off x="10755630" y="3547872"/>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80" name="Flow"/>
          <p:cNvCxnSpPr/>
          <p:nvPr/>
        </p:nvCxnSpPr>
        <p:spPr>
          <a:xfrm>
            <a:off x="10755630" y="3656685"/>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81" name="Label: Transparency / log"/>
          <p:cNvSpPr txBox="1"/>
          <p:nvPr/>
        </p:nvSpPr>
        <p:spPr>
          <a:xfrm>
            <a:off x="9820656" y="4105656"/>
            <a:ext cx="2103120" cy="658368"/>
          </a:xfrm>
          <a:prstGeom prst="rect">
            <a:avLst/>
          </a:prstGeom>
          <a:noFill/>
        </p:spPr>
        <p:txBody>
          <a:bodyPr wrap="square" lIns="0" rIns="0" tIns="0" bIns="0" anchor="ctr">
            <a:spAutoFit/>
          </a:bodyPr>
          <a:lstStyle/>
          <a:p>
            <a:pPr algn="ctr"/>
            <a:r>
              <a:rPr sz="1800" b="1" lang="en-US">
                <a:solidFill>
                  <a:srgbClr val="1764A1"/>
                </a:solidFill>
                <a:latin typeface="Arial"/>
              </a:rPr>
              <a:t>Transparency
log</a:t>
            </a:r>
          </a:p>
        </p:txBody>
      </p:sp>
      <p:cxnSp>
        <p:nvCxnSpPr>
          <p:cNvPr id="82" name="Association: Inference and Phala attestation check"/>
          <p:cNvCxnSpPr/>
          <p:nvPr/>
        </p:nvCxnSpPr>
        <p:spPr>
          <a:xfrm>
            <a:off x="8293608" y="4027932"/>
            <a:ext cx="0" cy="461772"/>
          </a:xfrm>
          <a:prstGeom prst="line">
            <a:avLst/>
          </a:prstGeom>
          <a:ln w="19050">
            <a:solidFill>
              <a:srgbClr val="1764A1"/>
            </a:solidFill>
          </a:ln>
        </p:spPr>
        <p:style>
          <a:lnRef idx="2">
            <a:schemeClr val="accent1"/>
          </a:lnRef>
          <a:fillRef idx="0">
            <a:schemeClr val="accent1"/>
          </a:fillRef>
          <a:effectRef idx="1">
            <a:schemeClr val="accent1"/>
          </a:effectRef>
          <a:fontRef idx="minor">
            <a:schemeClr val="tx1"/>
          </a:fontRef>
        </p:style>
      </p:cxnSp>
      <p:sp>
        <p:nvSpPr>
          <p:cNvPr id="83" name="Node: Phala remote attestation check"/>
          <p:cNvSpPr/>
          <p:nvPr/>
        </p:nvSpPr>
        <p:spPr>
          <a:xfrm>
            <a:off x="7004304" y="4489704"/>
            <a:ext cx="2578608" cy="758952"/>
          </a:xfrm>
          <a:prstGeom prst="roundRect">
            <a:avLst/>
          </a:prstGeom>
          <a:solidFill>
            <a:srgbClr val="EDF4FA"/>
          </a:solidFill>
          <a:ln w="1270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Label: Phala"/>
          <p:cNvSpPr txBox="1"/>
          <p:nvPr/>
        </p:nvSpPr>
        <p:spPr>
          <a:xfrm>
            <a:off x="7104888" y="4581144"/>
            <a:ext cx="2377440" cy="301752"/>
          </a:xfrm>
          <a:prstGeom prst="rect">
            <a:avLst/>
          </a:prstGeom>
          <a:noFill/>
        </p:spPr>
        <p:txBody>
          <a:bodyPr wrap="square" lIns="0" rIns="0" tIns="0" bIns="0" anchor="ctr">
            <a:spAutoFit/>
          </a:bodyPr>
          <a:lstStyle/>
          <a:p>
            <a:pPr algn="ctr"/>
            <a:r>
              <a:rPr sz="1700" b="1" lang="en-US">
                <a:solidFill>
                  <a:srgbClr val="1764A1"/>
                </a:solidFill>
                <a:latin typeface="Arial"/>
              </a:rPr>
              <a:t>Phala</a:t>
            </a:r>
          </a:p>
        </p:txBody>
      </p:sp>
      <p:sp>
        <p:nvSpPr>
          <p:cNvPr id="85" name="Label: Remote attestation check"/>
          <p:cNvSpPr txBox="1"/>
          <p:nvPr/>
        </p:nvSpPr>
        <p:spPr>
          <a:xfrm>
            <a:off x="7104888" y="4937760"/>
            <a:ext cx="2377440" cy="228600"/>
          </a:xfrm>
          <a:prstGeom prst="rect">
            <a:avLst/>
          </a:prstGeom>
          <a:noFill/>
        </p:spPr>
        <p:txBody>
          <a:bodyPr wrap="square" lIns="0" rIns="0" tIns="0" bIns="0" anchor="ctr">
            <a:spAutoFit/>
          </a:bodyPr>
          <a:lstStyle/>
          <a:p>
            <a:pPr algn="ctr"/>
            <a:r>
              <a:rPr sz="1230" b="0" lang="en-US">
                <a:solidFill>
                  <a:srgbClr val="1764A1"/>
                </a:solidFill>
                <a:latin typeface="Arial"/>
              </a:rPr>
              <a:t>Remote attestation check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VITA-FL: two responsibility blocks</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10</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Rounded Rectangle 12"/>
          <p:cNvSpPr/>
          <p:nvPr/>
        </p:nvSpPr>
        <p:spPr>
          <a:xfrm>
            <a:off x="576072" y="1508760"/>
            <a:ext cx="3108960" cy="3200400"/>
          </a:xfrm>
          <a:prstGeom prst="round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886200" y="1508760"/>
            <a:ext cx="2432304" cy="3611880"/>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19672" y="1508760"/>
            <a:ext cx="5093208" cy="3200400"/>
          </a:xfrm>
          <a:prstGeom prst="roundRect">
            <a:avLst/>
          </a:prstGeom>
          <a:solidFill>
            <a:srgbClr val="EDF4FA"/>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Shared group frame: DFL and infrastructure / 1"/>
          <p:cNvCxnSpPr/>
          <p:nvPr/>
        </p:nvCxnSpPr>
        <p:spPr>
          <a:xfrm>
            <a:off x="438912" y="1380744"/>
            <a:ext cx="5952744" cy="0"/>
          </a:xfrm>
          <a:prstGeom prst="line">
            <a:avLst/>
          </a:prstGeom>
          <a:ln w="13970">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17" name="Shared group frame: DFL and infrastructure / 2"/>
          <p:cNvCxnSpPr/>
          <p:nvPr/>
        </p:nvCxnSpPr>
        <p:spPr>
          <a:xfrm>
            <a:off x="6391656" y="1380744"/>
            <a:ext cx="0" cy="3867912"/>
          </a:xfrm>
          <a:prstGeom prst="line">
            <a:avLst/>
          </a:prstGeom>
          <a:ln w="13970">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18" name="Shared group frame: DFL and infrastructure / 3"/>
          <p:cNvCxnSpPr/>
          <p:nvPr/>
        </p:nvCxnSpPr>
        <p:spPr>
          <a:xfrm flipH="1">
            <a:off x="438912" y="5248656"/>
            <a:ext cx="5952744" cy="0"/>
          </a:xfrm>
          <a:prstGeom prst="line">
            <a:avLst/>
          </a:prstGeom>
          <a:ln w="13970">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19" name="Shared group frame: DFL and infrastructure / 4"/>
          <p:cNvCxnSpPr/>
          <p:nvPr/>
        </p:nvCxnSpPr>
        <p:spPr>
          <a:xfrm flipV="1">
            <a:off x="438912" y="1380744"/>
            <a:ext cx="0" cy="3867912"/>
          </a:xfrm>
          <a:prstGeom prst="line">
            <a:avLst/>
          </a:prstGeom>
          <a:ln w="13970">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20" name="Shared group frame: Infrastructure and agent / 1"/>
          <p:cNvCxnSpPr/>
          <p:nvPr/>
        </p:nvCxnSpPr>
        <p:spPr>
          <a:xfrm>
            <a:off x="3785615" y="1298448"/>
            <a:ext cx="7973569" cy="0"/>
          </a:xfrm>
          <a:prstGeom prst="line">
            <a:avLst/>
          </a:prstGeom>
          <a:ln w="13970">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21" name="Shared group frame: Infrastructure and agent / 2"/>
          <p:cNvCxnSpPr/>
          <p:nvPr/>
        </p:nvCxnSpPr>
        <p:spPr>
          <a:xfrm>
            <a:off x="11759184" y="1298448"/>
            <a:ext cx="0" cy="4078224"/>
          </a:xfrm>
          <a:prstGeom prst="line">
            <a:avLst/>
          </a:prstGeom>
          <a:ln w="13970">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22" name="Shared group frame: Infrastructure and agent / 3"/>
          <p:cNvCxnSpPr/>
          <p:nvPr/>
        </p:nvCxnSpPr>
        <p:spPr>
          <a:xfrm flipH="1">
            <a:off x="3785615" y="5376672"/>
            <a:ext cx="7973569" cy="0"/>
          </a:xfrm>
          <a:prstGeom prst="line">
            <a:avLst/>
          </a:prstGeom>
          <a:ln w="13970">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23" name="Shared group frame: Infrastructure and agent / 4"/>
          <p:cNvCxnSpPr/>
          <p:nvPr/>
        </p:nvCxnSpPr>
        <p:spPr>
          <a:xfrm flipV="1">
            <a:off x="3785615" y="1298448"/>
            <a:ext cx="0" cy="4078224"/>
          </a:xfrm>
          <a:prstGeom prst="line">
            <a:avLst/>
          </a:prstGeom>
          <a:ln w="13970">
            <a:solidFill>
              <a:srgbClr val="000000"/>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95528" y="1719072"/>
            <a:ext cx="2651760" cy="274320"/>
          </a:xfrm>
          <a:prstGeom prst="rect">
            <a:avLst/>
          </a:prstGeom>
          <a:noFill/>
        </p:spPr>
        <p:txBody>
          <a:bodyPr wrap="square" lIns="0" rIns="0" tIns="0" bIns="0" anchor="ctr">
            <a:spAutoFit/>
          </a:bodyPr>
          <a:lstStyle/>
          <a:p>
            <a:pPr algn="l"/>
            <a:r>
              <a:rPr sz="1350" b="1" lang="en-US">
                <a:solidFill>
                  <a:srgbClr val="207548"/>
                </a:solidFill>
                <a:latin typeface="Arial"/>
              </a:rPr>
              <a:t>DFL BLOCK</a:t>
            </a:r>
          </a:p>
        </p:txBody>
      </p:sp>
      <p:sp>
        <p:nvSpPr>
          <p:cNvPr id="25" name="TextBox 24"/>
          <p:cNvSpPr txBox="1"/>
          <p:nvPr/>
        </p:nvSpPr>
        <p:spPr>
          <a:xfrm>
            <a:off x="4069080" y="1719072"/>
            <a:ext cx="2066543" cy="274320"/>
          </a:xfrm>
          <a:prstGeom prst="rect">
            <a:avLst/>
          </a:prstGeom>
          <a:noFill/>
        </p:spPr>
        <p:txBody>
          <a:bodyPr wrap="square" lIns="0" rIns="0" tIns="0" bIns="0" anchor="ctr">
            <a:spAutoFit/>
          </a:bodyPr>
          <a:lstStyle/>
          <a:p>
            <a:pPr algn="ctr"/>
            <a:r>
              <a:rPr sz="1150" b="1" lang="en-US">
                <a:solidFill>
                  <a:srgbClr val="7446A6"/>
                </a:solidFill>
                <a:latin typeface="Arial"/>
              </a:rPr>
              <a:t>BLOCKCHAIN / IPFS</a:t>
            </a:r>
          </a:p>
        </p:txBody>
      </p:sp>
      <p:sp>
        <p:nvSpPr>
          <p:cNvPr id="26" name="TextBox 25"/>
          <p:cNvSpPr txBox="1"/>
          <p:nvPr/>
        </p:nvSpPr>
        <p:spPr>
          <a:xfrm>
            <a:off x="6729984" y="1719072"/>
            <a:ext cx="4663440" cy="274320"/>
          </a:xfrm>
          <a:prstGeom prst="rect">
            <a:avLst/>
          </a:prstGeom>
          <a:noFill/>
        </p:spPr>
        <p:txBody>
          <a:bodyPr wrap="square" lIns="0" rIns="0" tIns="0" bIns="0" anchor="ctr">
            <a:spAutoFit/>
          </a:bodyPr>
          <a:lstStyle/>
          <a:p>
            <a:pPr algn="l"/>
            <a:r>
              <a:rPr sz="1350" b="1" lang="en-US">
                <a:solidFill>
                  <a:srgbClr val="1764A1"/>
                </a:solidFill>
                <a:latin typeface="Arial"/>
              </a:rPr>
              <a:t>AGENT AND INFERENCE BLOCK</a:t>
            </a:r>
          </a:p>
        </p:txBody>
      </p:sp>
      <p:sp>
        <p:nvSpPr>
          <p:cNvPr id="27" name="Data"/>
          <p:cNvSpPr/>
          <p:nvPr/>
        </p:nvSpPr>
        <p:spPr>
          <a:xfrm>
            <a:off x="795528" y="2340864"/>
            <a:ext cx="1133856" cy="1051560"/>
          </a:xfrm>
          <a:prstGeom prst="roundRect">
            <a:avLst/>
          </a:prstGeom>
          <a:solidFill>
            <a:srgbClr val="FFFFFF"/>
          </a:solidFill>
          <a:ln w="1524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6968" y="2432304"/>
            <a:ext cx="950976" cy="274320"/>
          </a:xfrm>
          <a:prstGeom prst="rect">
            <a:avLst/>
          </a:prstGeom>
          <a:noFill/>
        </p:spPr>
        <p:txBody>
          <a:bodyPr wrap="square" lIns="0" rIns="0" tIns="0" bIns="0" anchor="ctr">
            <a:spAutoFit/>
          </a:bodyPr>
          <a:lstStyle/>
          <a:p>
            <a:pPr algn="ctr"/>
            <a:r>
              <a:rPr sz="1200" b="1" lang="en-US">
                <a:solidFill>
                  <a:srgbClr val="207548"/>
                </a:solidFill>
                <a:latin typeface="Arial"/>
              </a:rPr>
              <a:t>DATA</a:t>
            </a:r>
          </a:p>
        </p:txBody>
      </p:sp>
      <p:sp>
        <p:nvSpPr>
          <p:cNvPr id="29" name="TextBox 28"/>
          <p:cNvSpPr txBox="1"/>
          <p:nvPr/>
        </p:nvSpPr>
        <p:spPr>
          <a:xfrm>
            <a:off x="886968" y="2807208"/>
            <a:ext cx="950976" cy="502919"/>
          </a:xfrm>
          <a:prstGeom prst="rect">
            <a:avLst/>
          </a:prstGeom>
          <a:noFill/>
        </p:spPr>
        <p:txBody>
          <a:bodyPr wrap="square" lIns="0" rIns="0" tIns="0" bIns="0" anchor="ctr">
            <a:spAutoFit/>
          </a:bodyPr>
          <a:lstStyle/>
          <a:p>
            <a:pPr algn="ctr"/>
            <a:r>
              <a:rPr sz="1050" b="0" lang="en-US">
                <a:solidFill>
                  <a:srgbClr val="434343"/>
                </a:solidFill>
                <a:latin typeface="Arial"/>
              </a:rPr>
              <a:t>Signed
input</a:t>
            </a:r>
          </a:p>
        </p:txBody>
      </p:sp>
      <p:sp>
        <p:nvSpPr>
          <p:cNvPr id="30" name="Worker"/>
          <p:cNvSpPr/>
          <p:nvPr/>
        </p:nvSpPr>
        <p:spPr>
          <a:xfrm>
            <a:off x="2167128" y="2340864"/>
            <a:ext cx="1271016" cy="1051560"/>
          </a:xfrm>
          <a:prstGeom prst="roundRect">
            <a:avLst/>
          </a:prstGeom>
          <a:solidFill>
            <a:srgbClr val="FFFFFF"/>
          </a:solidFill>
          <a:ln w="1524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258568" y="2432304"/>
            <a:ext cx="1088136" cy="274320"/>
          </a:xfrm>
          <a:prstGeom prst="rect">
            <a:avLst/>
          </a:prstGeom>
          <a:noFill/>
        </p:spPr>
        <p:txBody>
          <a:bodyPr wrap="square" lIns="0" rIns="0" tIns="0" bIns="0" anchor="ctr">
            <a:spAutoFit/>
          </a:bodyPr>
          <a:lstStyle/>
          <a:p>
            <a:pPr algn="ctr"/>
            <a:r>
              <a:rPr sz="1050" b="1" lang="en-US">
                <a:solidFill>
                  <a:srgbClr val="207548"/>
                </a:solidFill>
                <a:latin typeface="Arial"/>
              </a:rPr>
              <a:t>WORKER TEE</a:t>
            </a:r>
          </a:p>
        </p:txBody>
      </p:sp>
      <p:sp>
        <p:nvSpPr>
          <p:cNvPr id="32" name="TextBox 31"/>
          <p:cNvSpPr txBox="1"/>
          <p:nvPr/>
        </p:nvSpPr>
        <p:spPr>
          <a:xfrm>
            <a:off x="2258568" y="2807208"/>
            <a:ext cx="1088136" cy="502919"/>
          </a:xfrm>
          <a:prstGeom prst="rect">
            <a:avLst/>
          </a:prstGeom>
          <a:noFill/>
        </p:spPr>
        <p:txBody>
          <a:bodyPr wrap="square" lIns="0" rIns="0" tIns="0" bIns="0" anchor="ctr">
            <a:spAutoFit/>
          </a:bodyPr>
          <a:lstStyle/>
          <a:p>
            <a:pPr algn="ctr"/>
            <a:r>
              <a:rPr sz="1050" b="0" lang="en-US">
                <a:solidFill>
                  <a:srgbClr val="434343"/>
                </a:solidFill>
                <a:latin typeface="Arial"/>
              </a:rPr>
              <a:t>Attested
training</a:t>
            </a:r>
          </a:p>
        </p:txBody>
      </p:sp>
      <p:sp>
        <p:nvSpPr>
          <p:cNvPr id="33" name="Ledger"/>
          <p:cNvSpPr/>
          <p:nvPr/>
        </p:nvSpPr>
        <p:spPr>
          <a:xfrm>
            <a:off x="4096512" y="2340864"/>
            <a:ext cx="2011680" cy="1051560"/>
          </a:xfrm>
          <a:prstGeom prst="roundRect">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87952" y="2432304"/>
            <a:ext cx="1828800" cy="274320"/>
          </a:xfrm>
          <a:prstGeom prst="rect">
            <a:avLst/>
          </a:prstGeom>
          <a:noFill/>
        </p:spPr>
        <p:txBody>
          <a:bodyPr wrap="square" lIns="0" rIns="0" tIns="0" bIns="0" anchor="ctr">
            <a:spAutoFit/>
          </a:bodyPr>
          <a:lstStyle/>
          <a:p>
            <a:pPr algn="ctr"/>
            <a:r>
              <a:rPr sz="1200" b="1" lang="en-US">
                <a:solidFill>
                  <a:srgbClr val="7446A6"/>
                </a:solidFill>
                <a:latin typeface="Arial"/>
              </a:rPr>
              <a:t>LEDGER</a:t>
            </a:r>
          </a:p>
        </p:txBody>
      </p:sp>
      <p:sp>
        <p:nvSpPr>
          <p:cNvPr id="35" name="TextBox 34"/>
          <p:cNvSpPr txBox="1"/>
          <p:nvPr/>
        </p:nvSpPr>
        <p:spPr>
          <a:xfrm>
            <a:off x="4187952" y="2807208"/>
            <a:ext cx="1828800" cy="502919"/>
          </a:xfrm>
          <a:prstGeom prst="rect">
            <a:avLst/>
          </a:prstGeom>
          <a:noFill/>
        </p:spPr>
        <p:txBody>
          <a:bodyPr wrap="square" lIns="0" rIns="0" tIns="0" bIns="0" anchor="ctr">
            <a:spAutoFit/>
          </a:bodyPr>
          <a:lstStyle/>
          <a:p>
            <a:pPr algn="ctr"/>
            <a:r>
              <a:rPr sz="1050" b="0" lang="en-US">
                <a:solidFill>
                  <a:srgbClr val="434343"/>
                </a:solidFill>
                <a:latin typeface="Arial"/>
              </a:rPr>
              <a:t>Finalized
model reference</a:t>
            </a:r>
          </a:p>
        </p:txBody>
      </p:sp>
      <p:sp>
        <p:nvSpPr>
          <p:cNvPr id="36" name="IPFS"/>
          <p:cNvSpPr/>
          <p:nvPr/>
        </p:nvSpPr>
        <p:spPr>
          <a:xfrm>
            <a:off x="4096512" y="3685032"/>
            <a:ext cx="2011680" cy="1097280"/>
          </a:xfrm>
          <a:prstGeom prst="roundRect">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87952" y="3776472"/>
            <a:ext cx="1828800" cy="274320"/>
          </a:xfrm>
          <a:prstGeom prst="rect">
            <a:avLst/>
          </a:prstGeom>
          <a:noFill/>
        </p:spPr>
        <p:txBody>
          <a:bodyPr wrap="square" lIns="0" rIns="0" tIns="0" bIns="0" anchor="ctr">
            <a:spAutoFit/>
          </a:bodyPr>
          <a:lstStyle/>
          <a:p>
            <a:pPr algn="ctr"/>
            <a:r>
              <a:rPr sz="1200" b="1" lang="en-US">
                <a:solidFill>
                  <a:srgbClr val="7446A6"/>
                </a:solidFill>
                <a:latin typeface="Arial"/>
              </a:rPr>
              <a:t>IPFS</a:t>
            </a:r>
          </a:p>
        </p:txBody>
      </p:sp>
      <p:sp>
        <p:nvSpPr>
          <p:cNvPr id="38" name="TextBox 37"/>
          <p:cNvSpPr txBox="1"/>
          <p:nvPr/>
        </p:nvSpPr>
        <p:spPr>
          <a:xfrm>
            <a:off x="4187952" y="4151376"/>
            <a:ext cx="1828800" cy="548640"/>
          </a:xfrm>
          <a:prstGeom prst="rect">
            <a:avLst/>
          </a:prstGeom>
          <a:noFill/>
        </p:spPr>
        <p:txBody>
          <a:bodyPr wrap="square" lIns="0" rIns="0" tIns="0" bIns="0" anchor="ctr">
            <a:spAutoFit/>
          </a:bodyPr>
          <a:lstStyle/>
          <a:p>
            <a:pPr algn="ctr"/>
            <a:r>
              <a:rPr sz="1050" b="0" lang="en-US">
                <a:solidFill>
                  <a:srgbClr val="434343"/>
                </a:solidFill>
                <a:latin typeface="Arial"/>
              </a:rPr>
              <a:t>Signed, encrypted
model bundle</a:t>
            </a:r>
          </a:p>
        </p:txBody>
      </p:sp>
      <p:sp>
        <p:nvSpPr>
          <p:cNvPr id="39" name="Receiver"/>
          <p:cNvSpPr/>
          <p:nvPr/>
        </p:nvSpPr>
        <p:spPr>
          <a:xfrm>
            <a:off x="6775704" y="2340864"/>
            <a:ext cx="1929384" cy="1051560"/>
          </a:xfrm>
          <a:prstGeom prst="round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67144" y="2432304"/>
            <a:ext cx="1746504" cy="274320"/>
          </a:xfrm>
          <a:prstGeom prst="rect">
            <a:avLst/>
          </a:prstGeom>
          <a:noFill/>
        </p:spPr>
        <p:txBody>
          <a:bodyPr wrap="square" lIns="0" rIns="0" tIns="0" bIns="0" anchor="ctr">
            <a:spAutoFit/>
          </a:bodyPr>
          <a:lstStyle/>
          <a:p>
            <a:pPr algn="ctr"/>
            <a:r>
              <a:rPr sz="1200" b="1" lang="en-US">
                <a:solidFill>
                  <a:srgbClr val="1764A1"/>
                </a:solidFill>
                <a:latin typeface="Arial"/>
              </a:rPr>
              <a:t>RECEIVER TEE</a:t>
            </a:r>
          </a:p>
        </p:txBody>
      </p:sp>
      <p:sp>
        <p:nvSpPr>
          <p:cNvPr id="41" name="TextBox 40"/>
          <p:cNvSpPr txBox="1"/>
          <p:nvPr/>
        </p:nvSpPr>
        <p:spPr>
          <a:xfrm>
            <a:off x="6867144" y="2807208"/>
            <a:ext cx="1746504" cy="502919"/>
          </a:xfrm>
          <a:prstGeom prst="rect">
            <a:avLst/>
          </a:prstGeom>
          <a:noFill/>
        </p:spPr>
        <p:txBody>
          <a:bodyPr wrap="square" lIns="0" rIns="0" tIns="0" bIns="0" anchor="ctr">
            <a:spAutoFit/>
          </a:bodyPr>
          <a:lstStyle/>
          <a:p>
            <a:pPr algn="ctr"/>
            <a:r>
              <a:rPr sz="1050" b="0" lang="en-US">
                <a:solidFill>
                  <a:srgbClr val="434343"/>
                </a:solidFill>
                <a:latin typeface="Arial"/>
              </a:rPr>
              <a:t>Resolve
and infer</a:t>
            </a:r>
          </a:p>
        </p:txBody>
      </p:sp>
      <p:sp>
        <p:nvSpPr>
          <p:cNvPr id="42" name="MCP"/>
          <p:cNvSpPr/>
          <p:nvPr/>
        </p:nvSpPr>
        <p:spPr>
          <a:xfrm>
            <a:off x="8979408" y="2340864"/>
            <a:ext cx="1042415" cy="1051560"/>
          </a:xfrm>
          <a:prstGeom prst="round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70848" y="2432304"/>
            <a:ext cx="859536" cy="274320"/>
          </a:xfrm>
          <a:prstGeom prst="rect">
            <a:avLst/>
          </a:prstGeom>
          <a:noFill/>
        </p:spPr>
        <p:txBody>
          <a:bodyPr wrap="square" lIns="0" rIns="0" tIns="0" bIns="0" anchor="ctr">
            <a:spAutoFit/>
          </a:bodyPr>
          <a:lstStyle/>
          <a:p>
            <a:pPr algn="ctr"/>
            <a:r>
              <a:rPr sz="1200" b="1" lang="en-US">
                <a:solidFill>
                  <a:srgbClr val="1764A1"/>
                </a:solidFill>
                <a:latin typeface="Arial"/>
              </a:rPr>
              <a:t>MCP</a:t>
            </a:r>
          </a:p>
        </p:txBody>
      </p:sp>
      <p:sp>
        <p:nvSpPr>
          <p:cNvPr id="44" name="TextBox 43"/>
          <p:cNvSpPr txBox="1"/>
          <p:nvPr/>
        </p:nvSpPr>
        <p:spPr>
          <a:xfrm>
            <a:off x="9070848" y="2807208"/>
            <a:ext cx="859536" cy="502919"/>
          </a:xfrm>
          <a:prstGeom prst="rect">
            <a:avLst/>
          </a:prstGeom>
          <a:noFill/>
        </p:spPr>
        <p:txBody>
          <a:bodyPr wrap="square" lIns="0" rIns="0" tIns="0" bIns="0" anchor="ctr">
            <a:spAutoFit/>
          </a:bodyPr>
          <a:lstStyle/>
          <a:p>
            <a:pPr algn="ctr"/>
            <a:r>
              <a:rPr sz="1050" b="0" lang="en-US">
                <a:solidFill>
                  <a:srgbClr val="434343"/>
                </a:solidFill>
                <a:latin typeface="Arial"/>
              </a:rPr>
              <a:t>Bounded
tools</a:t>
            </a:r>
          </a:p>
        </p:txBody>
      </p:sp>
      <p:sp>
        <p:nvSpPr>
          <p:cNvPr id="45" name="Log"/>
          <p:cNvSpPr/>
          <p:nvPr/>
        </p:nvSpPr>
        <p:spPr>
          <a:xfrm>
            <a:off x="10287000" y="2340864"/>
            <a:ext cx="1078992" cy="1051560"/>
          </a:xfrm>
          <a:prstGeom prst="round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378440" y="2432304"/>
            <a:ext cx="896112" cy="274320"/>
          </a:xfrm>
          <a:prstGeom prst="rect">
            <a:avLst/>
          </a:prstGeom>
          <a:noFill/>
        </p:spPr>
        <p:txBody>
          <a:bodyPr wrap="square" lIns="0" rIns="0" tIns="0" bIns="0" anchor="ctr">
            <a:spAutoFit/>
          </a:bodyPr>
          <a:lstStyle/>
          <a:p>
            <a:pPr algn="ctr"/>
            <a:r>
              <a:rPr sz="1200" b="1" lang="en-US">
                <a:solidFill>
                  <a:srgbClr val="1764A1"/>
                </a:solidFill>
                <a:latin typeface="Arial"/>
              </a:rPr>
              <a:t>LOG</a:t>
            </a:r>
          </a:p>
        </p:txBody>
      </p:sp>
      <p:sp>
        <p:nvSpPr>
          <p:cNvPr id="47" name="TextBox 46"/>
          <p:cNvSpPr txBox="1"/>
          <p:nvPr/>
        </p:nvSpPr>
        <p:spPr>
          <a:xfrm>
            <a:off x="10378440" y="2807208"/>
            <a:ext cx="896112" cy="502919"/>
          </a:xfrm>
          <a:prstGeom prst="rect">
            <a:avLst/>
          </a:prstGeom>
          <a:noFill/>
        </p:spPr>
        <p:txBody>
          <a:bodyPr wrap="square" lIns="0" rIns="0" tIns="0" bIns="0" anchor="ctr">
            <a:spAutoFit/>
          </a:bodyPr>
          <a:lstStyle/>
          <a:p>
            <a:pPr algn="ctr"/>
            <a:r>
              <a:rPr sz="1050" b="0" lang="en-US">
                <a:solidFill>
                  <a:srgbClr val="434343"/>
                </a:solidFill>
                <a:latin typeface="Arial"/>
              </a:rPr>
              <a:t>Receipts /
evidence</a:t>
            </a:r>
          </a:p>
        </p:txBody>
      </p:sp>
      <p:cxnSp>
        <p:nvCxnSpPr>
          <p:cNvPr id="48" name="Data to worker / 1"/>
          <p:cNvCxnSpPr/>
          <p:nvPr/>
        </p:nvCxnSpPr>
        <p:spPr>
          <a:xfrm>
            <a:off x="1956816" y="2866644"/>
            <a:ext cx="182880" cy="0"/>
          </a:xfrm>
          <a:prstGeom prst="line">
            <a:avLst/>
          </a:prstGeom>
          <a:ln w="1778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Publish reference / 1"/>
          <p:cNvCxnSpPr/>
          <p:nvPr/>
        </p:nvCxnSpPr>
        <p:spPr>
          <a:xfrm>
            <a:off x="3465576" y="2866644"/>
            <a:ext cx="594360" cy="0"/>
          </a:xfrm>
          <a:prstGeom prst="line">
            <a:avLst/>
          </a:prstGeom>
          <a:ln w="2286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Publish artifacts / 1"/>
          <p:cNvCxnSpPr/>
          <p:nvPr/>
        </p:nvCxnSpPr>
        <p:spPr>
          <a:xfrm>
            <a:off x="2802636" y="3429000"/>
            <a:ext cx="0" cy="804672"/>
          </a:xfrm>
          <a:prstGeom prst="line">
            <a:avLst/>
          </a:prstGeom>
          <a:ln w="2286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1" name="Publish artifacts / 2"/>
          <p:cNvCxnSpPr/>
          <p:nvPr/>
        </p:nvCxnSpPr>
        <p:spPr>
          <a:xfrm>
            <a:off x="2802636" y="4233672"/>
            <a:ext cx="1257300" cy="0"/>
          </a:xfrm>
          <a:prstGeom prst="line">
            <a:avLst/>
          </a:prstGeom>
          <a:ln w="2286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2" name="Ledger to receiver / 1"/>
          <p:cNvCxnSpPr/>
          <p:nvPr/>
        </p:nvCxnSpPr>
        <p:spPr>
          <a:xfrm>
            <a:off x="6135624" y="2866644"/>
            <a:ext cx="603504" cy="0"/>
          </a:xfrm>
          <a:prstGeom prst="line">
            <a:avLst/>
          </a:prstGeom>
          <a:ln w="2794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IPFS to receiver / 1"/>
          <p:cNvCxnSpPr/>
          <p:nvPr/>
        </p:nvCxnSpPr>
        <p:spPr>
          <a:xfrm>
            <a:off x="6135624" y="4233672"/>
            <a:ext cx="320040" cy="0"/>
          </a:xfrm>
          <a:prstGeom prst="line">
            <a:avLst/>
          </a:prstGeom>
          <a:ln w="2794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4" name="IPFS to receiver / 2"/>
          <p:cNvCxnSpPr/>
          <p:nvPr/>
        </p:nvCxnSpPr>
        <p:spPr>
          <a:xfrm flipV="1">
            <a:off x="6455664" y="3163824"/>
            <a:ext cx="0" cy="1069848"/>
          </a:xfrm>
          <a:prstGeom prst="line">
            <a:avLst/>
          </a:prstGeom>
          <a:ln w="2794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5" name="IPFS to receiver / 3"/>
          <p:cNvCxnSpPr/>
          <p:nvPr/>
        </p:nvCxnSpPr>
        <p:spPr>
          <a:xfrm>
            <a:off x="6455664" y="3163824"/>
            <a:ext cx="283464" cy="0"/>
          </a:xfrm>
          <a:prstGeom prst="line">
            <a:avLst/>
          </a:prstGeom>
          <a:ln w="2794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Receiver to MCP / 1"/>
          <p:cNvCxnSpPr/>
          <p:nvPr/>
        </p:nvCxnSpPr>
        <p:spPr>
          <a:xfrm>
            <a:off x="8732520" y="2866644"/>
            <a:ext cx="210312" cy="0"/>
          </a:xfrm>
          <a:prstGeom prst="line">
            <a:avLst/>
          </a:prstGeom>
          <a:ln w="1778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7" name="MCP to log / 1"/>
          <p:cNvCxnSpPr/>
          <p:nvPr/>
        </p:nvCxnSpPr>
        <p:spPr>
          <a:xfrm>
            <a:off x="10049256" y="2866644"/>
            <a:ext cx="201168" cy="0"/>
          </a:xfrm>
          <a:prstGeom prst="line">
            <a:avLst/>
          </a:prstGeom>
          <a:ln w="1778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795528" y="4864608"/>
            <a:ext cx="2651760" cy="246888"/>
          </a:xfrm>
          <a:prstGeom prst="rect">
            <a:avLst/>
          </a:prstGeom>
          <a:noFill/>
        </p:spPr>
        <p:txBody>
          <a:bodyPr wrap="square" lIns="0" rIns="0" tIns="0" bIns="0" anchor="ctr">
            <a:spAutoFit/>
          </a:bodyPr>
          <a:lstStyle/>
          <a:p>
            <a:pPr algn="ctr"/>
            <a:r>
              <a:rPr sz="1150" b="1" lang="en-US">
                <a:solidFill>
                  <a:srgbClr val="207548"/>
                </a:solidFill>
                <a:latin typeface="Arial"/>
              </a:rPr>
              <a:t>Produces the model</a:t>
            </a:r>
          </a:p>
        </p:txBody>
      </p:sp>
      <p:sp>
        <p:nvSpPr>
          <p:cNvPr id="59" name="TextBox 58"/>
          <p:cNvSpPr txBox="1"/>
          <p:nvPr/>
        </p:nvSpPr>
        <p:spPr>
          <a:xfrm>
            <a:off x="6803136" y="4855464"/>
            <a:ext cx="4535424" cy="274320"/>
          </a:xfrm>
          <a:prstGeom prst="rect">
            <a:avLst/>
          </a:prstGeom>
          <a:noFill/>
        </p:spPr>
        <p:txBody>
          <a:bodyPr wrap="square" lIns="0" rIns="0" tIns="0" bIns="0" anchor="ctr">
            <a:spAutoFit/>
          </a:bodyPr>
          <a:lstStyle/>
          <a:p>
            <a:pPr algn="ctr"/>
            <a:r>
              <a:rPr sz="1200" b="1" lang="en-US">
                <a:solidFill>
                  <a:srgbClr val="1764A1"/>
                </a:solidFill>
                <a:latin typeface="Arial"/>
              </a:rPr>
              <a:t>The agent orchestrates tools and evidence.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Decentralized training across hospitals</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LOCAL DATA · SHARED MODEL · VERIFIABLE COORDINATION</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11</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5D6973"/>
                </a:solidFill>
                <a:latin typeface="Arial"/>
              </a:rPr>
              <a:t>Agent</a:t>
            </a:r>
          </a:p>
        </p:txBody>
      </p:sp>
      <p:cxnSp>
        <p:nvCxnSpPr>
          <p:cNvPr id="13" name="Connector 12"/>
          <p:cNvCxnSpPr/>
          <p:nvPr/>
        </p:nvCxnSpPr>
        <p:spPr>
          <a:xfrm flipV="1">
            <a:off x="4178808" y="1530999"/>
            <a:ext cx="213359" cy="32625"/>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4392167" y="1502212"/>
            <a:ext cx="213361" cy="28787"/>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605528" y="1477264"/>
            <a:ext cx="213360" cy="24948"/>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818888" y="1456153"/>
            <a:ext cx="213360" cy="21111"/>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5032248" y="1438881"/>
            <a:ext cx="213360" cy="17272"/>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5245608" y="1425448"/>
            <a:ext cx="213360" cy="13433"/>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5458968" y="1415852"/>
            <a:ext cx="213360" cy="9596"/>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5672328" y="1410095"/>
            <a:ext cx="213360" cy="5757"/>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5885688" y="1408176"/>
            <a:ext cx="213360" cy="1919"/>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099048" y="1408176"/>
            <a:ext cx="213360" cy="1919"/>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312408" y="1410095"/>
            <a:ext cx="213360" cy="5757"/>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525768" y="1415852"/>
            <a:ext cx="213359" cy="9596"/>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739127" y="1425448"/>
            <a:ext cx="213360" cy="13433"/>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952487" y="1438881"/>
            <a:ext cx="213360" cy="17272"/>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165847" y="1456153"/>
            <a:ext cx="213361" cy="21111"/>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379208" y="1477264"/>
            <a:ext cx="213359" cy="24948"/>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592567" y="1502212"/>
            <a:ext cx="213361" cy="28787"/>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805928" y="1530999"/>
            <a:ext cx="213360" cy="32625"/>
          </a:xfrm>
          <a:prstGeom prst="line">
            <a:avLst/>
          </a:prstGeom>
          <a:ln w="25400">
            <a:solidFill>
              <a:srgbClr val="FF6C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582912" y="1984248"/>
            <a:ext cx="144836" cy="56162"/>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727748" y="2040410"/>
            <a:ext cx="133773" cy="58758"/>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861521" y="2099168"/>
            <a:ext cx="122711" cy="61356"/>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984232" y="2160524"/>
            <a:ext cx="111647" cy="63951"/>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0095879" y="2224475"/>
            <a:ext cx="100584" cy="66548"/>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0196463" y="2291023"/>
            <a:ext cx="89521" cy="69145"/>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285984" y="2360168"/>
            <a:ext cx="78457" cy="71740"/>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364441" y="2431908"/>
            <a:ext cx="67395" cy="74338"/>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431836" y="2506246"/>
            <a:ext cx="56332" cy="76934"/>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488168" y="2583180"/>
            <a:ext cx="45268" cy="79530"/>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533436" y="2662710"/>
            <a:ext cx="34205" cy="82126"/>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0567641" y="2744836"/>
            <a:ext cx="23143" cy="84723"/>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0590784" y="2829559"/>
            <a:ext cx="12079" cy="87320"/>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0602863" y="2916879"/>
            <a:ext cx="1016" cy="89916"/>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10593832" y="3006795"/>
            <a:ext cx="10047" cy="92513"/>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10572721" y="3099308"/>
            <a:ext cx="21111" cy="95108"/>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10540548" y="3194416"/>
            <a:ext cx="32173" cy="97706"/>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10497312" y="3292122"/>
            <a:ext cx="43236" cy="100302"/>
          </a:xfrm>
          <a:prstGeom prst="line">
            <a:avLst/>
          </a:prstGeom>
          <a:ln w="25400">
            <a:solidFill>
              <a:srgbClr val="FF6C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9520766" y="4023360"/>
            <a:ext cx="80434" cy="140320"/>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9431866" y="4163680"/>
            <a:ext cx="88900" cy="130387"/>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9334500" y="4294067"/>
            <a:ext cx="97366" cy="120453"/>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9228666" y="4414520"/>
            <a:ext cx="105834" cy="110518"/>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9114366" y="4525038"/>
            <a:ext cx="114300" cy="100584"/>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8991600" y="4625622"/>
            <a:ext cx="122766" cy="90650"/>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8860366" y="4716272"/>
            <a:ext cx="131234" cy="80715"/>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8720666" y="4796987"/>
            <a:ext cx="139700" cy="70781"/>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8572500" y="4867768"/>
            <a:ext cx="148166" cy="60848"/>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8415866" y="4928616"/>
            <a:ext cx="156634" cy="50912"/>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8250766" y="4979528"/>
            <a:ext cx="165100" cy="40979"/>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8077200" y="5020507"/>
            <a:ext cx="173566" cy="31045"/>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7895166" y="5051552"/>
            <a:ext cx="182034" cy="21110"/>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7704666" y="5072662"/>
            <a:ext cx="190500" cy="11176"/>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7505700" y="5083838"/>
            <a:ext cx="198966" cy="1242"/>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7298266" y="5076387"/>
            <a:ext cx="207434" cy="8693"/>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7082366" y="5057760"/>
            <a:ext cx="215900" cy="18627"/>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6858000" y="5029200"/>
            <a:ext cx="224366" cy="28560"/>
          </a:xfrm>
          <a:prstGeom prst="line">
            <a:avLst/>
          </a:prstGeom>
          <a:ln w="25400">
            <a:solidFill>
              <a:srgbClr val="FF6C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5106585" y="5029200"/>
            <a:ext cx="224367" cy="28560"/>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4890685" y="5057760"/>
            <a:ext cx="215900" cy="18627"/>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4683252" y="5076387"/>
            <a:ext cx="207433" cy="8693"/>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4484285" y="5083838"/>
            <a:ext cx="198967" cy="1242"/>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4293785" y="5072662"/>
            <a:ext cx="190500" cy="11176"/>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4111752" y="5051552"/>
            <a:ext cx="182033" cy="21110"/>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3938185" y="5020507"/>
            <a:ext cx="173567" cy="31045"/>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3773085" y="4979528"/>
            <a:ext cx="165100" cy="40979"/>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flipV="1">
            <a:off x="3616452" y="4928616"/>
            <a:ext cx="156633" cy="50912"/>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flipV="1">
            <a:off x="3468285" y="4867768"/>
            <a:ext cx="148167" cy="60848"/>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flipV="1">
            <a:off x="3328585" y="4796987"/>
            <a:ext cx="139700" cy="70781"/>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flipV="1">
            <a:off x="3197352" y="4716272"/>
            <a:ext cx="131233" cy="80715"/>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flipV="1">
            <a:off x="3074585" y="4625622"/>
            <a:ext cx="122767" cy="90650"/>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flipV="1">
            <a:off x="2960285" y="4525038"/>
            <a:ext cx="114300" cy="100584"/>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flipV="1">
            <a:off x="2854452" y="4414520"/>
            <a:ext cx="105833" cy="110518"/>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flipV="1">
            <a:off x="2757085" y="4294067"/>
            <a:ext cx="97367" cy="120453"/>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2668185" y="4163680"/>
            <a:ext cx="88900" cy="130387"/>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flipV="1">
            <a:off x="2587752" y="4023360"/>
            <a:ext cx="80433" cy="140320"/>
          </a:xfrm>
          <a:prstGeom prst="line">
            <a:avLst/>
          </a:prstGeom>
          <a:ln w="25400">
            <a:solidFill>
              <a:srgbClr val="FF6C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1691640" y="3295960"/>
            <a:ext cx="53678" cy="96464"/>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1745318" y="3201641"/>
            <a:ext cx="53340" cy="94319"/>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1798658" y="3109468"/>
            <a:ext cx="53002" cy="92173"/>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1851660" y="3019439"/>
            <a:ext cx="52662" cy="90029"/>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904322" y="2931555"/>
            <a:ext cx="52324" cy="87884"/>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956646" y="2845816"/>
            <a:ext cx="51986" cy="85739"/>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2008632" y="2762221"/>
            <a:ext cx="51646" cy="83595"/>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2060278" y="2680772"/>
            <a:ext cx="51308" cy="81449"/>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2111586" y="2601468"/>
            <a:ext cx="50970" cy="79304"/>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2162556" y="2524308"/>
            <a:ext cx="50630" cy="77160"/>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2213186" y="2449293"/>
            <a:ext cx="50292" cy="75015"/>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2263478" y="2376424"/>
            <a:ext cx="49954" cy="72869"/>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2313432" y="2305699"/>
            <a:ext cx="49614" cy="70725"/>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2363046" y="2237119"/>
            <a:ext cx="49276" cy="68580"/>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2412322" y="2170684"/>
            <a:ext cx="48938" cy="66435"/>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2461260" y="2106393"/>
            <a:ext cx="48598" cy="64291"/>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2509858" y="2044248"/>
            <a:ext cx="48260" cy="62145"/>
          </a:xfrm>
          <a:prstGeom prst="line">
            <a:avLst/>
          </a:prstGeom>
          <a:ln w="2540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2558118" y="1984248"/>
            <a:ext cx="47922" cy="60000"/>
          </a:xfrm>
          <a:prstGeom prst="line">
            <a:avLst/>
          </a:prstGeom>
          <a:ln w="25400">
            <a:solidFill>
              <a:srgbClr val="FF6C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flipV="1">
            <a:off x="5191327" y="2159377"/>
            <a:ext cx="66473" cy="80903"/>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flipV="1">
            <a:off x="5124497" y="2085832"/>
            <a:ext cx="66830" cy="73545"/>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H="1" flipV="1">
            <a:off x="5057310" y="2019645"/>
            <a:ext cx="67187" cy="66187"/>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H="1" flipV="1">
            <a:off x="4989766" y="1960816"/>
            <a:ext cx="67544" cy="58829"/>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flipV="1">
            <a:off x="4921865" y="1909345"/>
            <a:ext cx="67901" cy="51471"/>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H="1" flipV="1">
            <a:off x="4853606" y="1865233"/>
            <a:ext cx="68259" cy="44112"/>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H="1" flipV="1">
            <a:off x="4784990" y="1828478"/>
            <a:ext cx="68616" cy="36755"/>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4716018" y="1799082"/>
            <a:ext cx="68972" cy="29396"/>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flipV="1">
            <a:off x="4646687" y="1777043"/>
            <a:ext cx="69331" cy="22039"/>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flipV="1">
            <a:off x="4577000" y="1762363"/>
            <a:ext cx="69687" cy="14680"/>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H="1" flipV="1">
            <a:off x="4506956" y="1755040"/>
            <a:ext cx="70044" cy="7323"/>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H="1">
            <a:off x="4436554" y="1755040"/>
            <a:ext cx="70402" cy="36"/>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H="1">
            <a:off x="4365795" y="1755076"/>
            <a:ext cx="70759" cy="7394"/>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H="1">
            <a:off x="4294679" y="1762470"/>
            <a:ext cx="71116" cy="14752"/>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H="1">
            <a:off x="4223206" y="1777222"/>
            <a:ext cx="71473" cy="22110"/>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H="1">
            <a:off x="4151376" y="1799332"/>
            <a:ext cx="71830" cy="29468"/>
          </a:xfrm>
          <a:prstGeom prst="line">
            <a:avLst/>
          </a:prstGeom>
          <a:ln w="25400">
            <a:solidFill>
              <a:srgbClr val="C40D1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6931152" y="2159377"/>
            <a:ext cx="67544" cy="80903"/>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6998696" y="2085832"/>
            <a:ext cx="67758" cy="73545"/>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7066454" y="2019645"/>
            <a:ext cx="67973" cy="66187"/>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7134427" y="1960816"/>
            <a:ext cx="68187" cy="58829"/>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7202614" y="1909345"/>
            <a:ext cx="68401" cy="51471"/>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7271015" y="1865233"/>
            <a:ext cx="68616" cy="44112"/>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7339631" y="1828478"/>
            <a:ext cx="68830" cy="36755"/>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7408461" y="1799082"/>
            <a:ext cx="69045" cy="29396"/>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7477506" y="1777043"/>
            <a:ext cx="69258" cy="22039"/>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7546764" y="1762363"/>
            <a:ext cx="69473" cy="14680"/>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7616237" y="1755040"/>
            <a:ext cx="69687" cy="7323"/>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7685924" y="1755040"/>
            <a:ext cx="69902" cy="36"/>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7755826" y="1755076"/>
            <a:ext cx="70116" cy="7394"/>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7825942" y="1762470"/>
            <a:ext cx="70330" cy="14752"/>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7896272" y="1777222"/>
            <a:ext cx="70545" cy="22110"/>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7966817" y="1799332"/>
            <a:ext cx="70758" cy="29468"/>
          </a:xfrm>
          <a:prstGeom prst="line">
            <a:avLst/>
          </a:prstGeom>
          <a:ln w="25400">
            <a:solidFill>
              <a:srgbClr val="C40D1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H="1">
            <a:off x="4515278" y="3044952"/>
            <a:ext cx="129874" cy="7465"/>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H="1">
            <a:off x="4390834" y="3052417"/>
            <a:ext cx="124444" cy="10965"/>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H="1">
            <a:off x="4271819" y="3063382"/>
            <a:ext cx="119015" cy="14466"/>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H="1">
            <a:off x="4158233" y="3077848"/>
            <a:ext cx="113586" cy="17967"/>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H="1">
            <a:off x="4050077" y="3095815"/>
            <a:ext cx="108156" cy="21467"/>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H="1">
            <a:off x="3947350" y="3117282"/>
            <a:ext cx="102727" cy="24967"/>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H="1">
            <a:off x="3850052" y="3142249"/>
            <a:ext cx="97298" cy="28468"/>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H="1">
            <a:off x="3758184" y="3170717"/>
            <a:ext cx="91868" cy="31969"/>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H="1">
            <a:off x="3671744" y="3202686"/>
            <a:ext cx="86440" cy="35468"/>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H="1">
            <a:off x="3590734" y="3238154"/>
            <a:ext cx="81010" cy="38969"/>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H="1">
            <a:off x="3515153" y="3277123"/>
            <a:ext cx="75581" cy="42470"/>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H="1">
            <a:off x="3445002" y="3319593"/>
            <a:ext cx="70151" cy="45970"/>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H="1">
            <a:off x="3380279" y="3365563"/>
            <a:ext cx="64723" cy="49470"/>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H="1">
            <a:off x="3320986" y="3415033"/>
            <a:ext cx="59293" cy="52971"/>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H="1">
            <a:off x="3267122" y="3468004"/>
            <a:ext cx="53864" cy="56472"/>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H="1">
            <a:off x="3218688" y="3524476"/>
            <a:ext cx="48434" cy="59972"/>
          </a:xfrm>
          <a:prstGeom prst="line">
            <a:avLst/>
          </a:prstGeom>
          <a:ln w="25400">
            <a:solidFill>
              <a:srgbClr val="C40D1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7543800" y="3044952"/>
            <a:ext cx="130980" cy="7465"/>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7674780" y="3052417"/>
            <a:ext cx="125480" cy="10965"/>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7800260" y="3063382"/>
            <a:ext cx="119979" cy="14466"/>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7920239" y="3077848"/>
            <a:ext cx="114479" cy="17967"/>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8034718" y="3095815"/>
            <a:ext cx="108978" cy="21467"/>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8143696" y="3117282"/>
            <a:ext cx="103477" cy="24967"/>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8247173" y="3142249"/>
            <a:ext cx="97977" cy="28468"/>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8345150" y="3170717"/>
            <a:ext cx="92476" cy="31969"/>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8437626" y="3202686"/>
            <a:ext cx="86975" cy="35468"/>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8524601" y="3238154"/>
            <a:ext cx="81474" cy="38969"/>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8606075" y="3277123"/>
            <a:ext cx="75974" cy="42470"/>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a:off x="8682049" y="3319593"/>
            <a:ext cx="70473" cy="45970"/>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a:off x="8752522" y="3365563"/>
            <a:ext cx="64972" cy="49470"/>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a:off x="8817494" y="3415033"/>
            <a:ext cx="59472" cy="52971"/>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a:off x="8876966" y="3468004"/>
            <a:ext cx="53971" cy="56472"/>
          </a:xfrm>
          <a:prstGeom prst="line">
            <a:avLst/>
          </a:prstGeom>
          <a:ln w="2540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a:off x="8930937" y="3524476"/>
            <a:ext cx="48471" cy="59972"/>
          </a:xfrm>
          <a:prstGeom prst="line">
            <a:avLst/>
          </a:prstGeom>
          <a:ln w="25400">
            <a:solidFill>
              <a:srgbClr val="C40D1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a:off x="3392424" y="2157984"/>
            <a:ext cx="12954" cy="228346"/>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a:off x="3405378" y="2386330"/>
            <a:ext cx="22606" cy="215646"/>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a:off x="3427984" y="2601976"/>
            <a:ext cx="32258" cy="202946"/>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a:off x="3553714" y="3172713"/>
            <a:ext cx="61214" cy="164847"/>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a:off x="3614928" y="3337560"/>
            <a:ext cx="70866" cy="152146"/>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a:off x="3685794" y="3489706"/>
            <a:ext cx="80518" cy="139446"/>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a:off x="3956304" y="3869944"/>
            <a:ext cx="109473" cy="101346"/>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a:off x="4065777" y="3971290"/>
            <a:ext cx="119127" cy="88646"/>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a:off x="4184904" y="4059936"/>
            <a:ext cx="128777" cy="75946"/>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a:off x="4600194" y="4249674"/>
            <a:ext cx="157734" cy="37846"/>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a:off x="4757928" y="4287520"/>
            <a:ext cx="167386" cy="25146"/>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a:off x="4925314" y="4312666"/>
            <a:ext cx="177038" cy="12446"/>
          </a:xfrm>
          <a:prstGeom prst="line">
            <a:avLst/>
          </a:prstGeom>
          <a:ln w="25400">
            <a:solidFill>
              <a:srgbClr val="1F90C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H="1">
            <a:off x="8791758" y="2157984"/>
            <a:ext cx="13914" cy="228346"/>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H="1">
            <a:off x="8768305" y="2386330"/>
            <a:ext cx="23453" cy="215646"/>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H="1">
            <a:off x="8735314" y="2601976"/>
            <a:ext cx="32991" cy="202946"/>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H="1">
            <a:off x="8579104" y="3172713"/>
            <a:ext cx="61609" cy="164847"/>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H="1">
            <a:off x="8507955" y="3337560"/>
            <a:ext cx="71149" cy="152146"/>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H="1">
            <a:off x="8427268" y="3489706"/>
            <a:ext cx="80687" cy="139446"/>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H="1">
            <a:off x="8127971" y="3869944"/>
            <a:ext cx="109305" cy="101346"/>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H="1">
            <a:off x="8009128" y="3971290"/>
            <a:ext cx="118843" cy="88646"/>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H="1">
            <a:off x="7880745" y="4059936"/>
            <a:ext cx="128383" cy="75946"/>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H="1">
            <a:off x="7438361" y="4249674"/>
            <a:ext cx="157001" cy="37846"/>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H="1">
            <a:off x="7271822" y="4287520"/>
            <a:ext cx="166539" cy="25146"/>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H="1">
            <a:off x="7095744" y="4312666"/>
            <a:ext cx="176078" cy="12446"/>
          </a:xfrm>
          <a:prstGeom prst="line">
            <a:avLst/>
          </a:prstGeom>
          <a:ln w="25400">
            <a:solidFill>
              <a:srgbClr val="1F90C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H="1">
            <a:off x="8915597" y="3922776"/>
            <a:ext cx="72955" cy="118759"/>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H="1">
            <a:off x="8838974" y="4041535"/>
            <a:ext cx="76623" cy="110405"/>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H="1">
            <a:off x="8758682" y="4151940"/>
            <a:ext cx="80292" cy="102052"/>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H="1">
            <a:off x="8495792" y="4433033"/>
            <a:ext cx="91298" cy="76991"/>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H="1">
            <a:off x="8400824" y="4510024"/>
            <a:ext cx="94968" cy="68636"/>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H="1">
            <a:off x="8302187" y="4578660"/>
            <a:ext cx="98637" cy="60283"/>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H="1">
            <a:off x="7984264" y="4734447"/>
            <a:ext cx="109643" cy="35221"/>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H="1">
            <a:off x="7870952" y="4769668"/>
            <a:ext cx="113312" cy="26868"/>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H="1">
            <a:off x="7753970" y="4796536"/>
            <a:ext cx="116982" cy="18513"/>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H="1" flipV="1">
            <a:off x="7381014" y="4820468"/>
            <a:ext cx="127988" cy="6548"/>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H="1" flipV="1">
            <a:off x="7249357" y="4805567"/>
            <a:ext cx="131657" cy="14901"/>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H="1" flipV="1">
            <a:off x="7114032" y="4782312"/>
            <a:ext cx="135325" cy="23255"/>
          </a:xfrm>
          <a:prstGeom prst="line">
            <a:avLst/>
          </a:prstGeom>
          <a:ln w="25400">
            <a:solidFill>
              <a:srgbClr val="1F90C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a:off x="3200400" y="3922776"/>
            <a:ext cx="73942" cy="118759"/>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a:off x="3274342" y="4041535"/>
            <a:ext cx="77554" cy="110405"/>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a:off x="3351896" y="4151940"/>
            <a:ext cx="81168" cy="102052"/>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3606235" y="4433033"/>
            <a:ext cx="92005" cy="76991"/>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a:off x="3698240" y="4510024"/>
            <a:ext cx="95616" cy="68636"/>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a:off x="3793856" y="4578660"/>
            <a:ext cx="99230" cy="60283"/>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a:off x="4102382" y="4734447"/>
            <a:ext cx="110066" cy="35221"/>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a:off x="4212448" y="4769668"/>
            <a:ext cx="113680" cy="26868"/>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a:off x="4326128" y="4796536"/>
            <a:ext cx="117291" cy="18513"/>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4688840" y="4820468"/>
            <a:ext cx="128128" cy="6548"/>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4816968" y="4805567"/>
            <a:ext cx="131742" cy="14901"/>
          </a:xfrm>
          <a:prstGeom prst="line">
            <a:avLst/>
          </a:prstGeom>
          <a:ln w="2540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4948710" y="4782312"/>
            <a:ext cx="135354" cy="23255"/>
          </a:xfrm>
          <a:prstGeom prst="line">
            <a:avLst/>
          </a:prstGeom>
          <a:ln w="25400">
            <a:solidFill>
              <a:srgbClr val="1F90C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flipV="1">
            <a:off x="6099048" y="4352635"/>
            <a:ext cx="0" cy="54773"/>
          </a:xfrm>
          <a:prstGeom prst="line">
            <a:avLst/>
          </a:prstGeom>
          <a:ln w="3429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flipV="1">
            <a:off x="6099048" y="4298045"/>
            <a:ext cx="0" cy="54590"/>
          </a:xfrm>
          <a:prstGeom prst="line">
            <a:avLst/>
          </a:prstGeom>
          <a:ln w="3429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flipH="1" flipV="1">
            <a:off x="6099047" y="4243638"/>
            <a:ext cx="1" cy="54407"/>
          </a:xfrm>
          <a:prstGeom prst="line">
            <a:avLst/>
          </a:prstGeom>
          <a:ln w="3429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flipV="1">
            <a:off x="6099047" y="4189415"/>
            <a:ext cx="1" cy="54223"/>
          </a:xfrm>
          <a:prstGeom prst="line">
            <a:avLst/>
          </a:prstGeom>
          <a:ln w="3429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flipV="1">
            <a:off x="6099048" y="4135374"/>
            <a:ext cx="0" cy="54041"/>
          </a:xfrm>
          <a:prstGeom prst="line">
            <a:avLst/>
          </a:prstGeom>
          <a:ln w="3429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flipV="1">
            <a:off x="6099048" y="4081515"/>
            <a:ext cx="0" cy="53859"/>
          </a:xfrm>
          <a:prstGeom prst="line">
            <a:avLst/>
          </a:prstGeom>
          <a:ln w="3429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flipV="1">
            <a:off x="6099048" y="4027840"/>
            <a:ext cx="0" cy="53675"/>
          </a:xfrm>
          <a:prstGeom prst="line">
            <a:avLst/>
          </a:prstGeom>
          <a:ln w="3429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flipV="1">
            <a:off x="6099048" y="3974348"/>
            <a:ext cx="0" cy="53492"/>
          </a:xfrm>
          <a:prstGeom prst="line">
            <a:avLst/>
          </a:prstGeom>
          <a:ln w="3429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flipV="1">
            <a:off x="6099048" y="3921038"/>
            <a:ext cx="0" cy="53310"/>
          </a:xfrm>
          <a:prstGeom prst="line">
            <a:avLst/>
          </a:prstGeom>
          <a:ln w="3429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flipV="1">
            <a:off x="6099048" y="3867912"/>
            <a:ext cx="0" cy="53126"/>
          </a:xfrm>
          <a:prstGeom prst="line">
            <a:avLst/>
          </a:prstGeom>
          <a:ln w="34290">
            <a:solidFill>
              <a:srgbClr val="1F90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5" name="TextBox 224"/>
          <p:cNvSpPr txBox="1"/>
          <p:nvPr/>
        </p:nvSpPr>
        <p:spPr>
          <a:xfrm>
            <a:off x="6217920" y="4096512"/>
            <a:ext cx="1325880" cy="164592"/>
          </a:xfrm>
          <a:prstGeom prst="rect">
            <a:avLst/>
          </a:prstGeom>
          <a:noFill/>
        </p:spPr>
        <p:txBody>
          <a:bodyPr wrap="square" lIns="18288" rIns="18288" tIns="18288" bIns="18288" anchor="t">
            <a:spAutoFit/>
          </a:bodyPr>
          <a:lstStyle/>
          <a:p>
            <a:pPr algn="l"/>
            <a:r>
              <a:rPr sz="780" b="1" lang="en-US">
                <a:solidFill>
                  <a:srgbClr val="1F90CC"/>
                </a:solidFill>
                <a:latin typeface="Arial"/>
              </a:rPr>
              <a:t>Aggregated publication</a:t>
            </a:r>
          </a:p>
        </p:txBody>
      </p:sp>
      <p:sp>
        <p:nvSpPr>
          <p:cNvPr id="226" name="Rounded Rectangle 225"/>
          <p:cNvSpPr/>
          <p:nvPr/>
        </p:nvSpPr>
        <p:spPr>
          <a:xfrm>
            <a:off x="2606040" y="1444752"/>
            <a:ext cx="1572768" cy="694944"/>
          </a:xfrm>
          <a:prstGeom prst="roundRect">
            <a:avLst/>
          </a:prstGeom>
          <a:solidFill>
            <a:srgbClr val="EAF5FA"/>
          </a:solidFill>
          <a:ln w="1397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2775204" y="1784725"/>
            <a:ext cx="374904" cy="172455"/>
          </a:xfrm>
          <a:prstGeom prst="rect">
            <a:avLst/>
          </a:prstGeom>
          <a:solidFill>
            <a:srgbClr val="FFFFFF"/>
          </a:solidFill>
          <a:ln w="1524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2857682" y="1589775"/>
            <a:ext cx="209946" cy="367405"/>
          </a:xfrm>
          <a:prstGeom prst="rect">
            <a:avLst/>
          </a:prstGeom>
          <a:solidFill>
            <a:srgbClr val="FFFFFF"/>
          </a:solidFill>
          <a:ln w="1524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ounded Rectangle 228"/>
          <p:cNvSpPr/>
          <p:nvPr/>
        </p:nvSpPr>
        <p:spPr>
          <a:xfrm>
            <a:off x="2887675" y="1627266"/>
            <a:ext cx="149961" cy="112471"/>
          </a:xfrm>
          <a:prstGeom prst="roundRect">
            <a:avLst/>
          </a:prstGeom>
          <a:solidFill>
            <a:srgbClr val="1F90CC"/>
          </a:solidFill>
          <a:ln w="635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TextBox 229"/>
          <p:cNvSpPr txBox="1"/>
          <p:nvPr/>
        </p:nvSpPr>
        <p:spPr>
          <a:xfrm>
            <a:off x="2902671" y="1631015"/>
            <a:ext cx="119969" cy="89976"/>
          </a:xfrm>
          <a:prstGeom prst="rect">
            <a:avLst/>
          </a:prstGeom>
          <a:noFill/>
        </p:spPr>
        <p:txBody>
          <a:bodyPr wrap="square" lIns="0" rIns="0" tIns="0" bIns="0" anchor="ctr">
            <a:spAutoFit/>
          </a:bodyPr>
          <a:lstStyle/>
          <a:p>
            <a:pPr algn="ctr"/>
            <a:r>
              <a:rPr sz="697" b="1" lang="en-US">
                <a:solidFill>
                  <a:srgbClr val="FFFFFF"/>
                </a:solidFill>
                <a:latin typeface="Arial"/>
              </a:rPr>
              <a:t>H</a:t>
            </a:r>
          </a:p>
        </p:txBody>
      </p:sp>
      <p:sp>
        <p:nvSpPr>
          <p:cNvPr id="231" name="Rectangle 230"/>
          <p:cNvSpPr/>
          <p:nvPr/>
        </p:nvSpPr>
        <p:spPr>
          <a:xfrm>
            <a:off x="2921416" y="1837212"/>
            <a:ext cx="82478" cy="119969"/>
          </a:xfrm>
          <a:prstGeom prst="rect">
            <a:avLst/>
          </a:prstGeom>
          <a:solidFill>
            <a:srgbClr val="1F90CC"/>
          </a:solidFill>
          <a:ln w="635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2801447" y="1837212"/>
            <a:ext cx="52486" cy="52486"/>
          </a:xfrm>
          <a:prstGeom prst="rect">
            <a:avLst/>
          </a:prstGeom>
          <a:solidFill>
            <a:srgbClr val="1F90CC"/>
          </a:solidFill>
          <a:ln w="635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3071378" y="1837212"/>
            <a:ext cx="52486" cy="52486"/>
          </a:xfrm>
          <a:prstGeom prst="rect">
            <a:avLst/>
          </a:prstGeom>
          <a:solidFill>
            <a:srgbClr val="1F90CC"/>
          </a:solidFill>
          <a:ln w="635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3246120" y="1591056"/>
            <a:ext cx="841247" cy="173736"/>
          </a:xfrm>
          <a:prstGeom prst="rect">
            <a:avLst/>
          </a:prstGeom>
          <a:noFill/>
        </p:spPr>
        <p:txBody>
          <a:bodyPr wrap="square" lIns="18288" rIns="18288" tIns="18288" bIns="18288" anchor="t">
            <a:spAutoFit/>
          </a:bodyPr>
          <a:lstStyle/>
          <a:p>
            <a:pPr algn="l"/>
            <a:r>
              <a:rPr sz="1050" b="1" lang="en-US">
                <a:solidFill>
                  <a:srgbClr val="434343"/>
                </a:solidFill>
                <a:latin typeface="Arial"/>
              </a:rPr>
              <a:t>Hospital A</a:t>
            </a:r>
          </a:p>
        </p:txBody>
      </p:sp>
      <p:sp>
        <p:nvSpPr>
          <p:cNvPr id="235" name="TextBox 234"/>
          <p:cNvSpPr txBox="1"/>
          <p:nvPr/>
        </p:nvSpPr>
        <p:spPr>
          <a:xfrm>
            <a:off x="3246120" y="1828800"/>
            <a:ext cx="841247" cy="146304"/>
          </a:xfrm>
          <a:prstGeom prst="rect">
            <a:avLst/>
          </a:prstGeom>
          <a:noFill/>
        </p:spPr>
        <p:txBody>
          <a:bodyPr wrap="square" lIns="18288" rIns="18288" tIns="18288" bIns="18288" anchor="t">
            <a:spAutoFit/>
          </a:bodyPr>
          <a:lstStyle/>
          <a:p>
            <a:pPr algn="l"/>
            <a:r>
              <a:rPr sz="770" b="0" lang="en-US">
                <a:solidFill>
                  <a:srgbClr val="434343"/>
                </a:solidFill>
                <a:latin typeface="Arial"/>
              </a:rPr>
              <a:t>Local training</a:t>
            </a:r>
          </a:p>
        </p:txBody>
      </p:sp>
      <p:sp>
        <p:nvSpPr>
          <p:cNvPr id="236" name="Rounded Rectangle 235"/>
          <p:cNvSpPr/>
          <p:nvPr/>
        </p:nvSpPr>
        <p:spPr>
          <a:xfrm>
            <a:off x="8019288" y="1444752"/>
            <a:ext cx="1572768" cy="694944"/>
          </a:xfrm>
          <a:prstGeom prst="roundRect">
            <a:avLst/>
          </a:prstGeom>
          <a:solidFill>
            <a:srgbClr val="EAF5FA"/>
          </a:solidFill>
          <a:ln w="1397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8188452" y="1784725"/>
            <a:ext cx="374904" cy="172455"/>
          </a:xfrm>
          <a:prstGeom prst="rect">
            <a:avLst/>
          </a:prstGeom>
          <a:solidFill>
            <a:srgbClr val="FFFFFF"/>
          </a:solidFill>
          <a:ln w="1524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8270930" y="1589775"/>
            <a:ext cx="209946" cy="367405"/>
          </a:xfrm>
          <a:prstGeom prst="rect">
            <a:avLst/>
          </a:prstGeom>
          <a:solidFill>
            <a:srgbClr val="FFFFFF"/>
          </a:solidFill>
          <a:ln w="1524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ounded Rectangle 238"/>
          <p:cNvSpPr/>
          <p:nvPr/>
        </p:nvSpPr>
        <p:spPr>
          <a:xfrm>
            <a:off x="8300923" y="1627266"/>
            <a:ext cx="149961" cy="112471"/>
          </a:xfrm>
          <a:prstGeom prst="roundRect">
            <a:avLst/>
          </a:prstGeom>
          <a:solidFill>
            <a:srgbClr val="1F90CC"/>
          </a:solidFill>
          <a:ln w="635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TextBox 239"/>
          <p:cNvSpPr txBox="1"/>
          <p:nvPr/>
        </p:nvSpPr>
        <p:spPr>
          <a:xfrm>
            <a:off x="8315919" y="1631015"/>
            <a:ext cx="119969" cy="89976"/>
          </a:xfrm>
          <a:prstGeom prst="rect">
            <a:avLst/>
          </a:prstGeom>
          <a:noFill/>
        </p:spPr>
        <p:txBody>
          <a:bodyPr wrap="square" lIns="0" rIns="0" tIns="0" bIns="0" anchor="ctr">
            <a:spAutoFit/>
          </a:bodyPr>
          <a:lstStyle/>
          <a:p>
            <a:pPr algn="ctr"/>
            <a:r>
              <a:rPr sz="697" b="1" lang="en-US">
                <a:solidFill>
                  <a:srgbClr val="FFFFFF"/>
                </a:solidFill>
                <a:latin typeface="Arial"/>
              </a:rPr>
              <a:t>H</a:t>
            </a:r>
          </a:p>
        </p:txBody>
      </p:sp>
      <p:sp>
        <p:nvSpPr>
          <p:cNvPr id="241" name="Rectangle 240"/>
          <p:cNvSpPr/>
          <p:nvPr/>
        </p:nvSpPr>
        <p:spPr>
          <a:xfrm>
            <a:off x="8334664" y="1837212"/>
            <a:ext cx="82478" cy="119969"/>
          </a:xfrm>
          <a:prstGeom prst="rect">
            <a:avLst/>
          </a:prstGeom>
          <a:solidFill>
            <a:srgbClr val="1F90CC"/>
          </a:solidFill>
          <a:ln w="635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8214695" y="1837212"/>
            <a:ext cx="52486" cy="52486"/>
          </a:xfrm>
          <a:prstGeom prst="rect">
            <a:avLst/>
          </a:prstGeom>
          <a:solidFill>
            <a:srgbClr val="1F90CC"/>
          </a:solidFill>
          <a:ln w="635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8484626" y="1837212"/>
            <a:ext cx="52486" cy="52486"/>
          </a:xfrm>
          <a:prstGeom prst="rect">
            <a:avLst/>
          </a:prstGeom>
          <a:solidFill>
            <a:srgbClr val="1F90CC"/>
          </a:solidFill>
          <a:ln w="635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243"/>
          <p:cNvSpPr txBox="1"/>
          <p:nvPr/>
        </p:nvSpPr>
        <p:spPr>
          <a:xfrm>
            <a:off x="8659368" y="1591056"/>
            <a:ext cx="841247" cy="173736"/>
          </a:xfrm>
          <a:prstGeom prst="rect">
            <a:avLst/>
          </a:prstGeom>
          <a:noFill/>
        </p:spPr>
        <p:txBody>
          <a:bodyPr wrap="square" lIns="18288" rIns="18288" tIns="18288" bIns="18288" anchor="t">
            <a:spAutoFit/>
          </a:bodyPr>
          <a:lstStyle/>
          <a:p>
            <a:pPr algn="l"/>
            <a:r>
              <a:rPr sz="1050" b="1" lang="en-US">
                <a:solidFill>
                  <a:srgbClr val="434343"/>
                </a:solidFill>
                <a:latin typeface="Arial"/>
              </a:rPr>
              <a:t>Hospital B</a:t>
            </a:r>
          </a:p>
        </p:txBody>
      </p:sp>
      <p:sp>
        <p:nvSpPr>
          <p:cNvPr id="245" name="TextBox 244"/>
          <p:cNvSpPr txBox="1"/>
          <p:nvPr/>
        </p:nvSpPr>
        <p:spPr>
          <a:xfrm>
            <a:off x="8659368" y="1828800"/>
            <a:ext cx="841247" cy="146304"/>
          </a:xfrm>
          <a:prstGeom prst="rect">
            <a:avLst/>
          </a:prstGeom>
          <a:noFill/>
        </p:spPr>
        <p:txBody>
          <a:bodyPr wrap="square" lIns="18288" rIns="18288" tIns="18288" bIns="18288" anchor="t">
            <a:spAutoFit/>
          </a:bodyPr>
          <a:lstStyle/>
          <a:p>
            <a:pPr algn="l"/>
            <a:r>
              <a:rPr sz="770" b="0" lang="en-US">
                <a:solidFill>
                  <a:srgbClr val="434343"/>
                </a:solidFill>
                <a:latin typeface="Arial"/>
              </a:rPr>
              <a:t>Local training</a:t>
            </a:r>
          </a:p>
        </p:txBody>
      </p:sp>
      <p:sp>
        <p:nvSpPr>
          <p:cNvPr id="246" name="Rounded Rectangle 245"/>
          <p:cNvSpPr/>
          <p:nvPr/>
        </p:nvSpPr>
        <p:spPr>
          <a:xfrm>
            <a:off x="8970264" y="3346704"/>
            <a:ext cx="1572768" cy="694944"/>
          </a:xfrm>
          <a:prstGeom prst="roundRect">
            <a:avLst/>
          </a:prstGeom>
          <a:solidFill>
            <a:srgbClr val="EAF5FA"/>
          </a:solidFill>
          <a:ln w="1397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9139428" y="3686677"/>
            <a:ext cx="374904" cy="172455"/>
          </a:xfrm>
          <a:prstGeom prst="rect">
            <a:avLst/>
          </a:prstGeom>
          <a:solidFill>
            <a:srgbClr val="FFFFFF"/>
          </a:solidFill>
          <a:ln w="1524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9221906" y="3491727"/>
            <a:ext cx="209946" cy="367405"/>
          </a:xfrm>
          <a:prstGeom prst="rect">
            <a:avLst/>
          </a:prstGeom>
          <a:solidFill>
            <a:srgbClr val="FFFFFF"/>
          </a:solidFill>
          <a:ln w="1524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ounded Rectangle 248"/>
          <p:cNvSpPr/>
          <p:nvPr/>
        </p:nvSpPr>
        <p:spPr>
          <a:xfrm>
            <a:off x="9251899" y="3529218"/>
            <a:ext cx="149961" cy="112471"/>
          </a:xfrm>
          <a:prstGeom prst="roundRect">
            <a:avLst/>
          </a:prstGeom>
          <a:solidFill>
            <a:srgbClr val="1F90CC"/>
          </a:solidFill>
          <a:ln w="635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TextBox 249"/>
          <p:cNvSpPr txBox="1"/>
          <p:nvPr/>
        </p:nvSpPr>
        <p:spPr>
          <a:xfrm>
            <a:off x="9266895" y="3532967"/>
            <a:ext cx="119969" cy="89976"/>
          </a:xfrm>
          <a:prstGeom prst="rect">
            <a:avLst/>
          </a:prstGeom>
          <a:noFill/>
        </p:spPr>
        <p:txBody>
          <a:bodyPr wrap="square" lIns="0" rIns="0" tIns="0" bIns="0" anchor="ctr">
            <a:spAutoFit/>
          </a:bodyPr>
          <a:lstStyle/>
          <a:p>
            <a:pPr algn="ctr"/>
            <a:r>
              <a:rPr sz="697" b="1" lang="en-US">
                <a:solidFill>
                  <a:srgbClr val="FFFFFF"/>
                </a:solidFill>
                <a:latin typeface="Arial"/>
              </a:rPr>
              <a:t>H</a:t>
            </a:r>
          </a:p>
        </p:txBody>
      </p:sp>
      <p:sp>
        <p:nvSpPr>
          <p:cNvPr id="251" name="Rectangle 250"/>
          <p:cNvSpPr/>
          <p:nvPr/>
        </p:nvSpPr>
        <p:spPr>
          <a:xfrm>
            <a:off x="9285640" y="3739164"/>
            <a:ext cx="82478" cy="119969"/>
          </a:xfrm>
          <a:prstGeom prst="rect">
            <a:avLst/>
          </a:prstGeom>
          <a:solidFill>
            <a:srgbClr val="1F90CC"/>
          </a:solidFill>
          <a:ln w="635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9165671" y="3739164"/>
            <a:ext cx="52486" cy="52486"/>
          </a:xfrm>
          <a:prstGeom prst="rect">
            <a:avLst/>
          </a:prstGeom>
          <a:solidFill>
            <a:srgbClr val="1F90CC"/>
          </a:solidFill>
          <a:ln w="635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9435602" y="3739164"/>
            <a:ext cx="52486" cy="52486"/>
          </a:xfrm>
          <a:prstGeom prst="rect">
            <a:avLst/>
          </a:prstGeom>
          <a:solidFill>
            <a:srgbClr val="1F90CC"/>
          </a:solidFill>
          <a:ln w="635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TextBox 253"/>
          <p:cNvSpPr txBox="1"/>
          <p:nvPr/>
        </p:nvSpPr>
        <p:spPr>
          <a:xfrm>
            <a:off x="9610344" y="3493008"/>
            <a:ext cx="841247" cy="173736"/>
          </a:xfrm>
          <a:prstGeom prst="rect">
            <a:avLst/>
          </a:prstGeom>
          <a:noFill/>
        </p:spPr>
        <p:txBody>
          <a:bodyPr wrap="square" lIns="18288" rIns="18288" tIns="18288" bIns="18288" anchor="t">
            <a:spAutoFit/>
          </a:bodyPr>
          <a:lstStyle/>
          <a:p>
            <a:pPr algn="l"/>
            <a:r>
              <a:rPr sz="1050" b="1" lang="en-US">
                <a:solidFill>
                  <a:srgbClr val="434343"/>
                </a:solidFill>
                <a:latin typeface="Arial"/>
              </a:rPr>
              <a:t>Hospital C</a:t>
            </a:r>
          </a:p>
        </p:txBody>
      </p:sp>
      <p:sp>
        <p:nvSpPr>
          <p:cNvPr id="255" name="TextBox 254"/>
          <p:cNvSpPr txBox="1"/>
          <p:nvPr/>
        </p:nvSpPr>
        <p:spPr>
          <a:xfrm>
            <a:off x="9610344" y="3730752"/>
            <a:ext cx="841247" cy="146304"/>
          </a:xfrm>
          <a:prstGeom prst="rect">
            <a:avLst/>
          </a:prstGeom>
          <a:noFill/>
        </p:spPr>
        <p:txBody>
          <a:bodyPr wrap="square" lIns="18288" rIns="18288" tIns="18288" bIns="18288" anchor="t">
            <a:spAutoFit/>
          </a:bodyPr>
          <a:lstStyle/>
          <a:p>
            <a:pPr algn="l"/>
            <a:r>
              <a:rPr sz="770" b="0" lang="en-US">
                <a:solidFill>
                  <a:srgbClr val="434343"/>
                </a:solidFill>
                <a:latin typeface="Arial"/>
              </a:rPr>
              <a:t>Local training</a:t>
            </a:r>
          </a:p>
        </p:txBody>
      </p:sp>
      <p:sp>
        <p:nvSpPr>
          <p:cNvPr id="256" name="Rounded Rectangle 255"/>
          <p:cNvSpPr/>
          <p:nvPr/>
        </p:nvSpPr>
        <p:spPr>
          <a:xfrm>
            <a:off x="5202936" y="4416552"/>
            <a:ext cx="1792224" cy="694944"/>
          </a:xfrm>
          <a:prstGeom prst="roundRect">
            <a:avLst/>
          </a:prstGeom>
          <a:solidFill>
            <a:srgbClr val="FBEAEC"/>
          </a:solidFill>
          <a:ln w="2540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p:cNvSpPr/>
          <p:nvPr/>
        </p:nvSpPr>
        <p:spPr>
          <a:xfrm>
            <a:off x="5372099" y="4756525"/>
            <a:ext cx="374904" cy="172455"/>
          </a:xfrm>
          <a:prstGeom prst="rect">
            <a:avLst/>
          </a:prstGeom>
          <a:solidFill>
            <a:srgbClr val="FFFFFF"/>
          </a:solidFill>
          <a:ln w="1524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5454578" y="4561575"/>
            <a:ext cx="209946" cy="367405"/>
          </a:xfrm>
          <a:prstGeom prst="rect">
            <a:avLst/>
          </a:prstGeom>
          <a:solidFill>
            <a:srgbClr val="FFFFFF"/>
          </a:solidFill>
          <a:ln w="1524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ounded Rectangle 258"/>
          <p:cNvSpPr/>
          <p:nvPr/>
        </p:nvSpPr>
        <p:spPr>
          <a:xfrm>
            <a:off x="5484571" y="4599066"/>
            <a:ext cx="149961" cy="112471"/>
          </a:xfrm>
          <a:prstGeom prst="roundRect">
            <a:avLst/>
          </a:prstGeom>
          <a:solidFill>
            <a:srgbClr val="C40D1E"/>
          </a:solidFill>
          <a:ln w="635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TextBox 259"/>
          <p:cNvSpPr txBox="1"/>
          <p:nvPr/>
        </p:nvSpPr>
        <p:spPr>
          <a:xfrm>
            <a:off x="5499567" y="4602815"/>
            <a:ext cx="119969" cy="89976"/>
          </a:xfrm>
          <a:prstGeom prst="rect">
            <a:avLst/>
          </a:prstGeom>
          <a:noFill/>
        </p:spPr>
        <p:txBody>
          <a:bodyPr wrap="square" lIns="0" rIns="0" tIns="0" bIns="0" anchor="ctr">
            <a:spAutoFit/>
          </a:bodyPr>
          <a:lstStyle/>
          <a:p>
            <a:pPr algn="ctr"/>
            <a:r>
              <a:rPr sz="697" b="1" lang="en-US">
                <a:solidFill>
                  <a:srgbClr val="FFFFFF"/>
                </a:solidFill>
                <a:latin typeface="Arial"/>
              </a:rPr>
              <a:t>H</a:t>
            </a:r>
          </a:p>
        </p:txBody>
      </p:sp>
      <p:sp>
        <p:nvSpPr>
          <p:cNvPr id="261" name="Rectangle 260"/>
          <p:cNvSpPr/>
          <p:nvPr/>
        </p:nvSpPr>
        <p:spPr>
          <a:xfrm>
            <a:off x="5518312" y="4809012"/>
            <a:ext cx="82478" cy="119969"/>
          </a:xfrm>
          <a:prstGeom prst="rect">
            <a:avLst/>
          </a:prstGeom>
          <a:solidFill>
            <a:srgbClr val="C40D1E"/>
          </a:solidFill>
          <a:ln w="635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angle 261"/>
          <p:cNvSpPr/>
          <p:nvPr/>
        </p:nvSpPr>
        <p:spPr>
          <a:xfrm>
            <a:off x="5398343" y="4809012"/>
            <a:ext cx="52486" cy="52486"/>
          </a:xfrm>
          <a:prstGeom prst="rect">
            <a:avLst/>
          </a:prstGeom>
          <a:solidFill>
            <a:srgbClr val="C40D1E"/>
          </a:solidFill>
          <a:ln w="635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5668274" y="4809012"/>
            <a:ext cx="52486" cy="52486"/>
          </a:xfrm>
          <a:prstGeom prst="rect">
            <a:avLst/>
          </a:prstGeom>
          <a:solidFill>
            <a:srgbClr val="C40D1E"/>
          </a:solidFill>
          <a:ln w="635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TextBox 263"/>
          <p:cNvSpPr txBox="1"/>
          <p:nvPr/>
        </p:nvSpPr>
        <p:spPr>
          <a:xfrm>
            <a:off x="5843016" y="4562856"/>
            <a:ext cx="1060704" cy="173736"/>
          </a:xfrm>
          <a:prstGeom prst="rect">
            <a:avLst/>
          </a:prstGeom>
          <a:noFill/>
        </p:spPr>
        <p:txBody>
          <a:bodyPr wrap="square" lIns="18288" rIns="18288" tIns="18288" bIns="18288" anchor="t">
            <a:spAutoFit/>
          </a:bodyPr>
          <a:lstStyle/>
          <a:p>
            <a:pPr algn="l"/>
            <a:r>
              <a:rPr sz="1050" b="1" lang="en-US">
                <a:solidFill>
                  <a:srgbClr val="434343"/>
                </a:solidFill>
                <a:latin typeface="Arial"/>
              </a:rPr>
              <a:t>Hospital D</a:t>
            </a:r>
          </a:p>
        </p:txBody>
      </p:sp>
      <p:sp>
        <p:nvSpPr>
          <p:cNvPr id="265" name="TextBox 264"/>
          <p:cNvSpPr txBox="1"/>
          <p:nvPr/>
        </p:nvSpPr>
        <p:spPr>
          <a:xfrm>
            <a:off x="5843016" y="4800600"/>
            <a:ext cx="1060704" cy="146304"/>
          </a:xfrm>
          <a:prstGeom prst="rect">
            <a:avLst/>
          </a:prstGeom>
          <a:noFill/>
        </p:spPr>
        <p:txBody>
          <a:bodyPr wrap="square" lIns="18288" rIns="18288" tIns="18288" bIns="18288" anchor="t">
            <a:spAutoFit/>
          </a:bodyPr>
          <a:lstStyle/>
          <a:p>
            <a:pPr algn="l"/>
            <a:r>
              <a:rPr sz="770" b="0" lang="en-US">
                <a:solidFill>
                  <a:srgbClr val="434343"/>
                </a:solidFill>
                <a:latin typeface="Arial"/>
              </a:rPr>
              <a:t>Local training</a:t>
            </a:r>
          </a:p>
        </p:txBody>
      </p:sp>
      <p:sp>
        <p:nvSpPr>
          <p:cNvPr id="266" name="TextBox 265"/>
          <p:cNvSpPr txBox="1"/>
          <p:nvPr/>
        </p:nvSpPr>
        <p:spPr>
          <a:xfrm>
            <a:off x="5824727" y="4974336"/>
            <a:ext cx="1133856" cy="118872"/>
          </a:xfrm>
          <a:prstGeom prst="rect">
            <a:avLst/>
          </a:prstGeom>
          <a:noFill/>
        </p:spPr>
        <p:txBody>
          <a:bodyPr wrap="square" lIns="18288" rIns="18288" tIns="18288" bIns="18288" anchor="t">
            <a:spAutoFit/>
          </a:bodyPr>
          <a:lstStyle/>
          <a:p>
            <a:pPr algn="l"/>
            <a:r>
              <a:rPr sz="600" b="1" lang="en-US">
                <a:solidFill>
                  <a:srgbClr val="C40D1E"/>
                </a:solidFill>
                <a:latin typeface="Arial"/>
              </a:rPr>
              <a:t>Temporary aggregator</a:t>
            </a:r>
          </a:p>
        </p:txBody>
      </p:sp>
      <p:sp>
        <p:nvSpPr>
          <p:cNvPr id="267" name="Rounded Rectangle 266"/>
          <p:cNvSpPr/>
          <p:nvPr/>
        </p:nvSpPr>
        <p:spPr>
          <a:xfrm>
            <a:off x="1655064" y="3346704"/>
            <a:ext cx="1572768" cy="694944"/>
          </a:xfrm>
          <a:prstGeom prst="roundRect">
            <a:avLst/>
          </a:prstGeom>
          <a:solidFill>
            <a:srgbClr val="EAF5FA"/>
          </a:solidFill>
          <a:ln w="1397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Rectangle 267"/>
          <p:cNvSpPr/>
          <p:nvPr/>
        </p:nvSpPr>
        <p:spPr>
          <a:xfrm>
            <a:off x="1824228" y="3686677"/>
            <a:ext cx="374904" cy="172455"/>
          </a:xfrm>
          <a:prstGeom prst="rect">
            <a:avLst/>
          </a:prstGeom>
          <a:solidFill>
            <a:srgbClr val="FFFFFF"/>
          </a:solidFill>
          <a:ln w="1524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Rectangle 268"/>
          <p:cNvSpPr/>
          <p:nvPr/>
        </p:nvSpPr>
        <p:spPr>
          <a:xfrm>
            <a:off x="1906706" y="3491727"/>
            <a:ext cx="209946" cy="367405"/>
          </a:xfrm>
          <a:prstGeom prst="rect">
            <a:avLst/>
          </a:prstGeom>
          <a:solidFill>
            <a:srgbClr val="FFFFFF"/>
          </a:solidFill>
          <a:ln w="1524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Rounded Rectangle 269"/>
          <p:cNvSpPr/>
          <p:nvPr/>
        </p:nvSpPr>
        <p:spPr>
          <a:xfrm>
            <a:off x="1936699" y="3529218"/>
            <a:ext cx="149961" cy="112471"/>
          </a:xfrm>
          <a:prstGeom prst="roundRect">
            <a:avLst/>
          </a:prstGeom>
          <a:solidFill>
            <a:srgbClr val="1F90CC"/>
          </a:solidFill>
          <a:ln w="635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TextBox 270"/>
          <p:cNvSpPr txBox="1"/>
          <p:nvPr/>
        </p:nvSpPr>
        <p:spPr>
          <a:xfrm>
            <a:off x="1951695" y="3532967"/>
            <a:ext cx="119969" cy="89976"/>
          </a:xfrm>
          <a:prstGeom prst="rect">
            <a:avLst/>
          </a:prstGeom>
          <a:noFill/>
        </p:spPr>
        <p:txBody>
          <a:bodyPr wrap="square" lIns="0" rIns="0" tIns="0" bIns="0" anchor="ctr">
            <a:spAutoFit/>
          </a:bodyPr>
          <a:lstStyle/>
          <a:p>
            <a:pPr algn="ctr"/>
            <a:r>
              <a:rPr sz="697" b="1" lang="en-US">
                <a:solidFill>
                  <a:srgbClr val="FFFFFF"/>
                </a:solidFill>
                <a:latin typeface="Arial"/>
              </a:rPr>
              <a:t>H</a:t>
            </a:r>
          </a:p>
        </p:txBody>
      </p:sp>
      <p:sp>
        <p:nvSpPr>
          <p:cNvPr id="272" name="Rectangle 271"/>
          <p:cNvSpPr/>
          <p:nvPr/>
        </p:nvSpPr>
        <p:spPr>
          <a:xfrm>
            <a:off x="1970440" y="3739164"/>
            <a:ext cx="82478" cy="119969"/>
          </a:xfrm>
          <a:prstGeom prst="rect">
            <a:avLst/>
          </a:prstGeom>
          <a:solidFill>
            <a:srgbClr val="1F90CC"/>
          </a:solidFill>
          <a:ln w="635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Rectangle 272"/>
          <p:cNvSpPr/>
          <p:nvPr/>
        </p:nvSpPr>
        <p:spPr>
          <a:xfrm>
            <a:off x="1850471" y="3739164"/>
            <a:ext cx="52486" cy="52486"/>
          </a:xfrm>
          <a:prstGeom prst="rect">
            <a:avLst/>
          </a:prstGeom>
          <a:solidFill>
            <a:srgbClr val="1F90CC"/>
          </a:solidFill>
          <a:ln w="635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Rectangle 273"/>
          <p:cNvSpPr/>
          <p:nvPr/>
        </p:nvSpPr>
        <p:spPr>
          <a:xfrm>
            <a:off x="2120402" y="3739164"/>
            <a:ext cx="52486" cy="52486"/>
          </a:xfrm>
          <a:prstGeom prst="rect">
            <a:avLst/>
          </a:prstGeom>
          <a:solidFill>
            <a:srgbClr val="1F90CC"/>
          </a:solidFill>
          <a:ln w="635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TextBox 274"/>
          <p:cNvSpPr txBox="1"/>
          <p:nvPr/>
        </p:nvSpPr>
        <p:spPr>
          <a:xfrm>
            <a:off x="2295144" y="3493008"/>
            <a:ext cx="841247" cy="173736"/>
          </a:xfrm>
          <a:prstGeom prst="rect">
            <a:avLst/>
          </a:prstGeom>
          <a:noFill/>
        </p:spPr>
        <p:txBody>
          <a:bodyPr wrap="square" lIns="18288" rIns="18288" tIns="18288" bIns="18288" anchor="t">
            <a:spAutoFit/>
          </a:bodyPr>
          <a:lstStyle/>
          <a:p>
            <a:pPr algn="l"/>
            <a:r>
              <a:rPr sz="1050" b="1" lang="en-US">
                <a:solidFill>
                  <a:srgbClr val="434343"/>
                </a:solidFill>
                <a:latin typeface="Arial"/>
              </a:rPr>
              <a:t>Hospital E</a:t>
            </a:r>
          </a:p>
        </p:txBody>
      </p:sp>
      <p:sp>
        <p:nvSpPr>
          <p:cNvPr id="276" name="TextBox 275"/>
          <p:cNvSpPr txBox="1"/>
          <p:nvPr/>
        </p:nvSpPr>
        <p:spPr>
          <a:xfrm>
            <a:off x="2295144" y="3730752"/>
            <a:ext cx="841247" cy="146304"/>
          </a:xfrm>
          <a:prstGeom prst="rect">
            <a:avLst/>
          </a:prstGeom>
          <a:noFill/>
        </p:spPr>
        <p:txBody>
          <a:bodyPr wrap="square" lIns="18288" rIns="18288" tIns="18288" bIns="18288" anchor="t">
            <a:spAutoFit/>
          </a:bodyPr>
          <a:lstStyle/>
          <a:p>
            <a:pPr algn="l"/>
            <a:r>
              <a:rPr sz="770" b="0" lang="en-US">
                <a:solidFill>
                  <a:srgbClr val="434343"/>
                </a:solidFill>
                <a:latin typeface="Arial"/>
              </a:rPr>
              <a:t>Local training</a:t>
            </a:r>
          </a:p>
        </p:txBody>
      </p:sp>
      <p:sp>
        <p:nvSpPr>
          <p:cNvPr id="277" name="Rounded Rectangle 276"/>
          <p:cNvSpPr/>
          <p:nvPr/>
        </p:nvSpPr>
        <p:spPr>
          <a:xfrm>
            <a:off x="4645152" y="2221992"/>
            <a:ext cx="2898648" cy="1627632"/>
          </a:xfrm>
          <a:prstGeom prst="roundRect">
            <a:avLst/>
          </a:prstGeom>
          <a:solidFill>
            <a:srgbClr val="FBEAEC"/>
          </a:solidFill>
          <a:ln w="2794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TextBox 277"/>
          <p:cNvSpPr txBox="1"/>
          <p:nvPr/>
        </p:nvSpPr>
        <p:spPr>
          <a:xfrm>
            <a:off x="5084064" y="2441448"/>
            <a:ext cx="2020824" cy="201168"/>
          </a:xfrm>
          <a:prstGeom prst="rect">
            <a:avLst/>
          </a:prstGeom>
          <a:noFill/>
        </p:spPr>
        <p:txBody>
          <a:bodyPr wrap="square" lIns="18288" rIns="18288" tIns="18288" bIns="18288" anchor="t">
            <a:spAutoFit/>
          </a:bodyPr>
          <a:lstStyle/>
          <a:p>
            <a:pPr algn="ctr"/>
            <a:r>
              <a:rPr sz="1050" b="1" lang="en-US">
                <a:solidFill>
                  <a:srgbClr val="C40D1E"/>
                </a:solidFill>
                <a:latin typeface="Arial"/>
              </a:rPr>
              <a:t>CURRENT ENCRYPTED</a:t>
            </a:r>
          </a:p>
        </p:txBody>
      </p:sp>
      <p:sp>
        <p:nvSpPr>
          <p:cNvPr id="279" name="TextBox 278"/>
          <p:cNvSpPr txBox="1"/>
          <p:nvPr/>
        </p:nvSpPr>
        <p:spPr>
          <a:xfrm>
            <a:off x="4846320" y="2807208"/>
            <a:ext cx="2496312" cy="310896"/>
          </a:xfrm>
          <a:prstGeom prst="rect">
            <a:avLst/>
          </a:prstGeom>
          <a:noFill/>
        </p:spPr>
        <p:txBody>
          <a:bodyPr wrap="square" lIns="18288" rIns="18288" tIns="18288" bIns="18288" anchor="t">
            <a:spAutoFit/>
          </a:bodyPr>
          <a:lstStyle/>
          <a:p>
            <a:pPr algn="ctr"/>
            <a:r>
              <a:rPr sz="1950" b="1" lang="en-US">
                <a:solidFill>
                  <a:srgbClr val="434343"/>
                </a:solidFill>
                <a:latin typeface="Arial"/>
              </a:rPr>
              <a:t>GLOBAL MODEL</a:t>
            </a:r>
          </a:p>
        </p:txBody>
      </p:sp>
      <p:cxnSp>
        <p:nvCxnSpPr>
          <p:cNvPr id="280" name="Connector 279"/>
          <p:cNvCxnSpPr/>
          <p:nvPr/>
        </p:nvCxnSpPr>
        <p:spPr>
          <a:xfrm flipV="1">
            <a:off x="5998464" y="3230403"/>
            <a:ext cx="25145" cy="34005"/>
          </a:xfrm>
          <a:prstGeom prst="line">
            <a:avLst/>
          </a:prstGeom>
          <a:ln w="1905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6023609" y="3206114"/>
            <a:ext cx="25147" cy="24289"/>
          </a:xfrm>
          <a:prstGeom prst="line">
            <a:avLst/>
          </a:prstGeom>
          <a:ln w="1905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6048756" y="3191541"/>
            <a:ext cx="25146" cy="14573"/>
          </a:xfrm>
          <a:prstGeom prst="line">
            <a:avLst/>
          </a:prstGeom>
          <a:ln w="1905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6073902" y="3186684"/>
            <a:ext cx="25146" cy="4857"/>
          </a:xfrm>
          <a:prstGeom prst="line">
            <a:avLst/>
          </a:prstGeom>
          <a:ln w="1905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a:off x="6099048" y="3186684"/>
            <a:ext cx="25146" cy="4857"/>
          </a:xfrm>
          <a:prstGeom prst="line">
            <a:avLst/>
          </a:prstGeom>
          <a:ln w="1905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a:off x="6124194" y="3191541"/>
            <a:ext cx="25146" cy="14573"/>
          </a:xfrm>
          <a:prstGeom prst="line">
            <a:avLst/>
          </a:prstGeom>
          <a:ln w="1905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6149340" y="3206114"/>
            <a:ext cx="25146" cy="24289"/>
          </a:xfrm>
          <a:prstGeom prst="line">
            <a:avLst/>
          </a:prstGeom>
          <a:ln w="1905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6174486" y="3230403"/>
            <a:ext cx="25146" cy="34005"/>
          </a:xfrm>
          <a:prstGeom prst="line">
            <a:avLst/>
          </a:prstGeom>
          <a:ln w="19050">
            <a:solidFill>
              <a:srgbClr val="C40D1E"/>
            </a:solidFill>
          </a:ln>
        </p:spPr>
        <p:style>
          <a:lnRef idx="2">
            <a:schemeClr val="accent1"/>
          </a:lnRef>
          <a:fillRef idx="0">
            <a:schemeClr val="accent1"/>
          </a:fillRef>
          <a:effectRef idx="1">
            <a:schemeClr val="accent1"/>
          </a:effectRef>
          <a:fontRef idx="minor">
            <a:schemeClr val="tx1"/>
          </a:fontRef>
        </p:style>
      </p:cxnSp>
      <p:sp>
        <p:nvSpPr>
          <p:cNvPr id="288" name="Rounded Rectangle 287"/>
          <p:cNvSpPr/>
          <p:nvPr/>
        </p:nvSpPr>
        <p:spPr>
          <a:xfrm>
            <a:off x="5952744" y="3246120"/>
            <a:ext cx="292608" cy="246888"/>
          </a:xfrm>
          <a:prstGeom prst="roundRect">
            <a:avLst/>
          </a:prstGeom>
          <a:solidFill>
            <a:srgbClr val="C40D1E"/>
          </a:solidFill>
          <a:ln w="635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TextBox 288"/>
          <p:cNvSpPr txBox="1"/>
          <p:nvPr/>
        </p:nvSpPr>
        <p:spPr>
          <a:xfrm>
            <a:off x="6025896" y="3282696"/>
            <a:ext cx="146304" cy="109728"/>
          </a:xfrm>
          <a:prstGeom prst="rect">
            <a:avLst/>
          </a:prstGeom>
          <a:noFill/>
        </p:spPr>
        <p:txBody>
          <a:bodyPr wrap="square" lIns="0" rIns="0" tIns="0" bIns="0" anchor="t">
            <a:spAutoFit/>
          </a:bodyPr>
          <a:lstStyle/>
          <a:p>
            <a:pPr algn="ctr"/>
            <a:r>
              <a:rPr sz="800" b="1" lang="en-US">
                <a:solidFill>
                  <a:srgbClr val="FFFFFF"/>
                </a:solidFill>
                <a:latin typeface="Arial"/>
              </a:rPr>
              <a:t>•</a:t>
            </a:r>
          </a:p>
        </p:txBody>
      </p:sp>
      <p:sp>
        <p:nvSpPr>
          <p:cNvPr id="290" name="Rounded Rectangle 289"/>
          <p:cNvSpPr/>
          <p:nvPr/>
        </p:nvSpPr>
        <p:spPr>
          <a:xfrm>
            <a:off x="5120640" y="3566160"/>
            <a:ext cx="1956816" cy="219456"/>
          </a:xfrm>
          <a:prstGeom prst="roundRect">
            <a:avLst/>
          </a:prstGeom>
          <a:solidFill>
            <a:srgbClr val="FFFFFF"/>
          </a:solidFill>
          <a:ln w="762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TextBox 290"/>
          <p:cNvSpPr txBox="1"/>
          <p:nvPr/>
        </p:nvSpPr>
        <p:spPr>
          <a:xfrm>
            <a:off x="5202936" y="3616452"/>
            <a:ext cx="1792224" cy="109728"/>
          </a:xfrm>
          <a:prstGeom prst="rect">
            <a:avLst/>
          </a:prstGeom>
          <a:noFill/>
        </p:spPr>
        <p:txBody>
          <a:bodyPr wrap="square" lIns="0" rIns="0" tIns="0" bIns="0" anchor="t">
            <a:spAutoFit/>
          </a:bodyPr>
          <a:lstStyle/>
          <a:p>
            <a:pPr algn="ctr"/>
            <a:r>
              <a:rPr sz="770" b="0" lang="en-US">
                <a:solidFill>
                  <a:srgbClr val="434343"/>
                </a:solidFill>
                <a:latin typeface="Arial"/>
              </a:rPr>
              <a:t>Resolved from the ledger</a:t>
            </a:r>
          </a:p>
        </p:txBody>
      </p:sp>
      <p:sp>
        <p:nvSpPr>
          <p:cNvPr id="292" name="Rounded Rectangle 291"/>
          <p:cNvSpPr/>
          <p:nvPr/>
        </p:nvSpPr>
        <p:spPr>
          <a:xfrm>
            <a:off x="475488" y="1627632"/>
            <a:ext cx="1773936" cy="1572768"/>
          </a:xfrm>
          <a:prstGeom prst="roundRect">
            <a:avLst/>
          </a:prstGeom>
          <a:solidFill>
            <a:srgbClr val="F3F3F3"/>
          </a:solidFill>
          <a:ln w="1270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TextBox 292"/>
          <p:cNvSpPr txBox="1"/>
          <p:nvPr/>
        </p:nvSpPr>
        <p:spPr>
          <a:xfrm>
            <a:off x="731520" y="1810512"/>
            <a:ext cx="1271016" cy="164592"/>
          </a:xfrm>
          <a:prstGeom prst="rect">
            <a:avLst/>
          </a:prstGeom>
          <a:noFill/>
        </p:spPr>
        <p:txBody>
          <a:bodyPr wrap="square" lIns="18288" rIns="18288" tIns="18288" bIns="18288" anchor="t">
            <a:spAutoFit/>
          </a:bodyPr>
          <a:lstStyle/>
          <a:p>
            <a:pPr algn="ctr"/>
            <a:r>
              <a:rPr sz="1000" b="1" lang="en-US">
                <a:solidFill>
                  <a:srgbClr val="C40D1E"/>
                </a:solidFill>
                <a:latin typeface="Arial"/>
              </a:rPr>
              <a:t>DATA FLOW</a:t>
            </a:r>
          </a:p>
        </p:txBody>
      </p:sp>
      <p:cxnSp>
        <p:nvCxnSpPr>
          <p:cNvPr id="294" name="Connector 293"/>
          <p:cNvCxnSpPr/>
          <p:nvPr/>
        </p:nvCxnSpPr>
        <p:spPr>
          <a:xfrm>
            <a:off x="694944" y="2176272"/>
            <a:ext cx="484632" cy="0"/>
          </a:xfrm>
          <a:prstGeom prst="line">
            <a:avLst/>
          </a:prstGeom>
          <a:ln w="24130">
            <a:solidFill>
              <a:srgbClr val="C40D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5" name="TextBox 294"/>
          <p:cNvSpPr txBox="1"/>
          <p:nvPr/>
        </p:nvSpPr>
        <p:spPr>
          <a:xfrm>
            <a:off x="1298448" y="2093976"/>
            <a:ext cx="832104" cy="146304"/>
          </a:xfrm>
          <a:prstGeom prst="rect">
            <a:avLst/>
          </a:prstGeom>
          <a:noFill/>
        </p:spPr>
        <p:txBody>
          <a:bodyPr wrap="square" lIns="18288" rIns="18288" tIns="18288" bIns="18288" anchor="t">
            <a:spAutoFit/>
          </a:bodyPr>
          <a:lstStyle/>
          <a:p>
            <a:pPr algn="l"/>
            <a:r>
              <a:rPr sz="740" b="0" lang="en-US">
                <a:solidFill>
                  <a:srgbClr val="434343"/>
                </a:solidFill>
                <a:latin typeface="Arial"/>
              </a:rPr>
              <a:t>Encrypted model</a:t>
            </a:r>
          </a:p>
        </p:txBody>
      </p:sp>
      <p:cxnSp>
        <p:nvCxnSpPr>
          <p:cNvPr id="296" name="Connector 295"/>
          <p:cNvCxnSpPr/>
          <p:nvPr/>
        </p:nvCxnSpPr>
        <p:spPr>
          <a:xfrm>
            <a:off x="694944" y="2496312"/>
            <a:ext cx="484632" cy="0"/>
          </a:xfrm>
          <a:prstGeom prst="line">
            <a:avLst/>
          </a:prstGeom>
          <a:ln w="24130">
            <a:solidFill>
              <a:srgbClr val="1F90C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97" name="TextBox 296"/>
          <p:cNvSpPr txBox="1"/>
          <p:nvPr/>
        </p:nvSpPr>
        <p:spPr>
          <a:xfrm>
            <a:off x="1298448" y="2414016"/>
            <a:ext cx="832104" cy="146304"/>
          </a:xfrm>
          <a:prstGeom prst="rect">
            <a:avLst/>
          </a:prstGeom>
          <a:noFill/>
        </p:spPr>
        <p:txBody>
          <a:bodyPr wrap="square" lIns="18288" rIns="18288" tIns="18288" bIns="18288" anchor="t">
            <a:spAutoFit/>
          </a:bodyPr>
          <a:lstStyle/>
          <a:p>
            <a:pPr algn="l"/>
            <a:r>
              <a:rPr sz="740" b="0" lang="en-US">
                <a:solidFill>
                  <a:srgbClr val="434343"/>
                </a:solidFill>
                <a:latin typeface="Arial"/>
              </a:rPr>
              <a:t>Signed update</a:t>
            </a:r>
          </a:p>
        </p:txBody>
      </p:sp>
      <p:cxnSp>
        <p:nvCxnSpPr>
          <p:cNvPr id="298" name="Connector 297"/>
          <p:cNvCxnSpPr/>
          <p:nvPr/>
        </p:nvCxnSpPr>
        <p:spPr>
          <a:xfrm>
            <a:off x="694944" y="2816352"/>
            <a:ext cx="484632" cy="0"/>
          </a:xfrm>
          <a:prstGeom prst="line">
            <a:avLst/>
          </a:prstGeom>
          <a:ln w="24130">
            <a:solidFill>
              <a:srgbClr val="1F90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9" name="TextBox 298"/>
          <p:cNvSpPr txBox="1"/>
          <p:nvPr/>
        </p:nvSpPr>
        <p:spPr>
          <a:xfrm>
            <a:off x="1298448" y="2734056"/>
            <a:ext cx="832104" cy="146304"/>
          </a:xfrm>
          <a:prstGeom prst="rect">
            <a:avLst/>
          </a:prstGeom>
          <a:noFill/>
        </p:spPr>
        <p:txBody>
          <a:bodyPr wrap="square" lIns="18288" rIns="18288" tIns="18288" bIns="18288" anchor="t">
            <a:spAutoFit/>
          </a:bodyPr>
          <a:lstStyle/>
          <a:p>
            <a:pPr algn="l"/>
            <a:r>
              <a:rPr sz="740" b="0" lang="en-US">
                <a:solidFill>
                  <a:srgbClr val="434343"/>
                </a:solidFill>
                <a:latin typeface="Arial"/>
              </a:rPr>
              <a:t>Publication</a:t>
            </a:r>
          </a:p>
        </p:txBody>
      </p:sp>
      <p:cxnSp>
        <p:nvCxnSpPr>
          <p:cNvPr id="300" name="Connector 299"/>
          <p:cNvCxnSpPr/>
          <p:nvPr/>
        </p:nvCxnSpPr>
        <p:spPr>
          <a:xfrm>
            <a:off x="694944" y="3108960"/>
            <a:ext cx="484632" cy="0"/>
          </a:xfrm>
          <a:prstGeom prst="line">
            <a:avLst/>
          </a:prstGeom>
          <a:ln w="24130">
            <a:solidFill>
              <a:srgbClr val="FF6C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1" name="TextBox 300"/>
          <p:cNvSpPr txBox="1"/>
          <p:nvPr/>
        </p:nvSpPr>
        <p:spPr>
          <a:xfrm>
            <a:off x="1298448" y="3026664"/>
            <a:ext cx="832104" cy="146304"/>
          </a:xfrm>
          <a:prstGeom prst="rect">
            <a:avLst/>
          </a:prstGeom>
          <a:noFill/>
        </p:spPr>
        <p:txBody>
          <a:bodyPr wrap="square" lIns="18288" rIns="18288" tIns="18288" bIns="18288" anchor="t">
            <a:spAutoFit/>
          </a:bodyPr>
          <a:lstStyle/>
          <a:p>
            <a:pPr algn="l"/>
            <a:r>
              <a:rPr sz="600" b="0" lang="en-US">
                <a:solidFill>
                  <a:srgbClr val="434343"/>
                </a:solidFill>
                <a:latin typeface="Arial"/>
              </a:rPr>
              <a:t>Aggregator rotation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Why TEE/RA for the operational path?</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TWO INDEPENDENT ZK RELATIONS—NOT ONE NEURAL-NETWORK CIRCUIT</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12</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5D6973"/>
                </a:solidFill>
                <a:latin typeface="Arial"/>
              </a:rPr>
              <a:t>Agent</a:t>
            </a:r>
          </a:p>
        </p:txBody>
      </p:sp>
      <p:sp>
        <p:nvSpPr>
          <p:cNvPr id="13" name="Rectangle 12"/>
          <p:cNvSpPr/>
          <p:nvPr/>
        </p:nvSpPr>
        <p:spPr>
          <a:xfrm>
            <a:off x="603504" y="1344168"/>
            <a:ext cx="10972800" cy="466344"/>
          </a:xfrm>
          <a:prstGeom prst="rect">
            <a:avLst/>
          </a:prstGeom>
          <a:solidFill>
            <a:srgbClr val="F3F3F3"/>
          </a:solidFill>
          <a:ln w="1270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1463040"/>
            <a:ext cx="10570464" cy="219456"/>
          </a:xfrm>
          <a:prstGeom prst="rect">
            <a:avLst/>
          </a:prstGeom>
          <a:noFill/>
        </p:spPr>
        <p:txBody>
          <a:bodyPr wrap="square" lIns="18288" rIns="18288" tIns="18288" bIns="18288" anchor="ctr">
            <a:spAutoFit/>
          </a:bodyPr>
          <a:lstStyle/>
          <a:p>
            <a:pPr algn="ctr"/>
            <a:r>
              <a:rPr sz="1050" b="1" lang="en-US">
                <a:solidFill>
                  <a:srgbClr val="C40D1E"/>
                </a:solidFill>
                <a:latin typeface="Arial"/>
              </a:rPr>
              <a:t>RELATION SCOPE   </a:t>
            </a:r>
            <a:r>
              <a:rPr sz="1200" b="1" lang="en-US">
                <a:solidFill>
                  <a:srgbClr val="434343"/>
                </a:solidFill>
                <a:latin typeface="Arial"/>
              </a:rPr>
              <a:t>The proof would need to cover the surrounding cryptographic workflow as well as the tensors.</a:t>
            </a:r>
          </a:p>
        </p:txBody>
      </p:sp>
      <p:sp>
        <p:nvSpPr>
          <p:cNvPr id="15" name="Rounded Rectangle 14"/>
          <p:cNvSpPr/>
          <p:nvPr/>
        </p:nvSpPr>
        <p:spPr>
          <a:xfrm>
            <a:off x="566928" y="1984248"/>
            <a:ext cx="5376672" cy="2688336"/>
          </a:xfrm>
          <a:prstGeom prst="roundRect">
            <a:avLst/>
          </a:prstGeom>
          <a:solidFill>
            <a:srgbClr val="F3EBF9"/>
          </a:solidFill>
          <a:ln w="15240">
            <a:solidFill>
              <a:srgbClr val="7A3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 y="2185416"/>
            <a:ext cx="3657600" cy="320040"/>
          </a:xfrm>
          <a:prstGeom prst="rect">
            <a:avLst/>
          </a:prstGeom>
          <a:noFill/>
        </p:spPr>
        <p:txBody>
          <a:bodyPr wrap="square" lIns="18288" rIns="18288" tIns="18288" bIns="18288" anchor="t">
            <a:spAutoFit/>
          </a:bodyPr>
          <a:lstStyle/>
          <a:p>
            <a:pPr algn="l"/>
            <a:r>
              <a:rPr sz="1270" b="1" lang="en-US">
                <a:solidFill>
                  <a:srgbClr val="7A35B5"/>
                </a:solidFill>
                <a:latin typeface="Arial"/>
              </a:rPr>
              <a:t>WORKER TRAINING AS A ZK RELATION</a:t>
            </a:r>
          </a:p>
        </p:txBody>
      </p:sp>
      <p:sp>
        <p:nvSpPr>
          <p:cNvPr id="17" name="Rectangle 16"/>
          <p:cNvSpPr/>
          <p:nvPr/>
        </p:nvSpPr>
        <p:spPr>
          <a:xfrm>
            <a:off x="4507992" y="2148840"/>
            <a:ext cx="1143000" cy="320040"/>
          </a:xfrm>
          <a:prstGeom prst="rect">
            <a:avLst/>
          </a:prstGeom>
          <a:solidFill>
            <a:srgbClr val="FF6C00"/>
          </a:solidFill>
          <a:ln w="12700">
            <a:solidFill>
              <a:srgbClr val="FF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2231136"/>
            <a:ext cx="1014984" cy="164592"/>
          </a:xfrm>
          <a:prstGeom prst="rect">
            <a:avLst/>
          </a:prstGeom>
          <a:noFill/>
        </p:spPr>
        <p:txBody>
          <a:bodyPr wrap="square" lIns="18288" rIns="18288" tIns="18288" bIns="18288" anchor="ctr">
            <a:spAutoFit/>
          </a:bodyPr>
          <a:lstStyle/>
          <a:p>
            <a:pPr algn="ctr"/>
            <a:r>
              <a:rPr sz="840" b="1" lang="en-US">
                <a:solidFill>
                  <a:srgbClr val="FFFFFF"/>
                </a:solidFill>
                <a:latin typeface="Arial"/>
              </a:rPr>
              <a:t>EVERY ROUND</a:t>
            </a:r>
          </a:p>
        </p:txBody>
      </p:sp>
      <p:sp>
        <p:nvSpPr>
          <p:cNvPr id="19" name="TextBox 18"/>
          <p:cNvSpPr txBox="1"/>
          <p:nvPr/>
        </p:nvSpPr>
        <p:spPr>
          <a:xfrm>
            <a:off x="813816" y="2615184"/>
            <a:ext cx="4846320" cy="201168"/>
          </a:xfrm>
          <a:prstGeom prst="rect">
            <a:avLst/>
          </a:prstGeom>
          <a:noFill/>
        </p:spPr>
        <p:txBody>
          <a:bodyPr wrap="square" lIns="18288" rIns="18288" tIns="18288" bIns="18288" anchor="t">
            <a:spAutoFit/>
          </a:bodyPr>
          <a:lstStyle/>
          <a:p>
            <a:pPr algn="l"/>
            <a:r>
              <a:rPr sz="950" b="1" lang="en-US">
                <a:solidFill>
                  <a:srgbClr val="7A35B5"/>
                </a:solidFill>
                <a:latin typeface="Arial"/>
              </a:rPr>
              <a:t>STATEFUL TRAINING TRANSITION</a:t>
            </a:r>
          </a:p>
        </p:txBody>
      </p:sp>
      <p:sp>
        <p:nvSpPr>
          <p:cNvPr id="20" name="TextBox 19"/>
          <p:cNvSpPr txBox="1"/>
          <p:nvPr/>
        </p:nvSpPr>
        <p:spPr>
          <a:xfrm>
            <a:off x="804672" y="2871216"/>
            <a:ext cx="4882896" cy="1572768"/>
          </a:xfrm>
          <a:prstGeom prst="rect">
            <a:avLst/>
          </a:prstGeom>
          <a:noFill/>
        </p:spPr>
        <p:txBody>
          <a:bodyPr wrap="square" lIns="27432" rIns="27432" tIns="18288" bIns="18288">
            <a:spAutoFit/>
          </a:bodyPr>
          <a:lstStyle/>
          <a:p>
            <a:pPr>
              <a:lnSpc>
                <a:spcPct val="100000"/>
              </a:lnSpc>
              <a:spcAft>
                <a:spcPts val="300"/>
              </a:spcAft>
            </a:pPr>
            <a:r>
              <a:rPr sz="1000" lang="en-US">
                <a:solidFill>
                  <a:srgbClr val="7A35B5"/>
                </a:solidFill>
                <a:latin typeface="Arial"/>
              </a:rPr>
              <a:t>●  </a:t>
            </a:r>
            <a:r>
              <a:rPr sz="990" lang="en-US">
                <a:solidFill>
                  <a:srgbClr val="434343"/>
                </a:solidFill>
                <a:latin typeface="Arial"/>
              </a:rPr>
              <a:t>Resolve the exact parent model, round policy, and signed training inputs</a:t>
            </a:r>
          </a:p>
          <a:p>
            <a:pPr>
              <a:lnSpc>
                <a:spcPct val="100000"/>
              </a:lnSpc>
              <a:spcAft>
                <a:spcPts val="300"/>
              </a:spcAft>
            </a:pPr>
            <a:r>
              <a:rPr sz="1000" lang="en-US">
                <a:solidFill>
                  <a:srgbClr val="7A35B5"/>
                </a:solidFill>
                <a:latin typeface="Arial"/>
              </a:rPr>
              <a:t>●  </a:t>
            </a:r>
            <a:r>
              <a:rPr sz="990" lang="en-US">
                <a:solidFill>
                  <a:srgbClr val="434343"/>
                </a:solidFill>
                <a:latin typeface="Arial"/>
              </a:rPr>
              <a:t>Decrypt model material and verify signatures, commitments, hashes, and nonces</a:t>
            </a:r>
          </a:p>
          <a:p>
            <a:pPr>
              <a:lnSpc>
                <a:spcPct val="100000"/>
              </a:lnSpc>
              <a:spcAft>
                <a:spcPts val="300"/>
              </a:spcAft>
            </a:pPr>
            <a:r>
              <a:rPr sz="1000" lang="en-US">
                <a:solidFill>
                  <a:srgbClr val="7A35B5"/>
                </a:solidFill>
                <a:latin typeface="Arial"/>
              </a:rPr>
              <a:t>●  </a:t>
            </a:r>
            <a:r>
              <a:rPr sz="990" lang="en-US">
                <a:solidFill>
                  <a:srgbClr val="434343"/>
                </a:solidFill>
                <a:latin typeface="Arial"/>
              </a:rPr>
              <a:t>Encode forward/backward passes, optimizer state, and tensor updates</a:t>
            </a:r>
          </a:p>
          <a:p>
            <a:pPr>
              <a:lnSpc>
                <a:spcPct val="100000"/>
              </a:lnSpc>
              <a:spcAft>
                <a:spcPts val="300"/>
              </a:spcAft>
            </a:pPr>
            <a:r>
              <a:rPr sz="1000" lang="en-US">
                <a:solidFill>
                  <a:srgbClr val="7A35B5"/>
                </a:solidFill>
                <a:latin typeface="Arial"/>
              </a:rPr>
              <a:t>●  </a:t>
            </a:r>
            <a:r>
              <a:rPr sz="990" lang="en-US">
                <a:solidFill>
                  <a:srgbClr val="434343"/>
                </a:solidFill>
                <a:latin typeface="Arial"/>
              </a:rPr>
              <a:t>Hash, sign, encrypt, wrap, and package the resulting update for the aggregator</a:t>
            </a:r>
          </a:p>
        </p:txBody>
      </p:sp>
      <p:sp>
        <p:nvSpPr>
          <p:cNvPr id="21" name="Rounded Rectangle 20"/>
          <p:cNvSpPr/>
          <p:nvPr/>
        </p:nvSpPr>
        <p:spPr>
          <a:xfrm>
            <a:off x="6236208" y="1984248"/>
            <a:ext cx="5376672" cy="2688336"/>
          </a:xfrm>
          <a:prstGeom prst="roundRect">
            <a:avLst/>
          </a:prstGeom>
          <a:solidFill>
            <a:srgbClr val="EAF5FA"/>
          </a:solidFill>
          <a:ln w="1524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64808" y="2185416"/>
            <a:ext cx="3657600" cy="320040"/>
          </a:xfrm>
          <a:prstGeom prst="rect">
            <a:avLst/>
          </a:prstGeom>
          <a:noFill/>
        </p:spPr>
        <p:txBody>
          <a:bodyPr wrap="square" lIns="18288" rIns="18288" tIns="18288" bIns="18288" anchor="t">
            <a:spAutoFit/>
          </a:bodyPr>
          <a:lstStyle/>
          <a:p>
            <a:pPr algn="l"/>
            <a:r>
              <a:rPr sz="1270" b="1" lang="en-US">
                <a:solidFill>
                  <a:srgbClr val="1F90CC"/>
                </a:solidFill>
                <a:latin typeface="Arial"/>
              </a:rPr>
              <a:t>DCAP ADMISSION AS A ZK RELATION</a:t>
            </a:r>
          </a:p>
        </p:txBody>
      </p:sp>
      <p:sp>
        <p:nvSpPr>
          <p:cNvPr id="23" name="Rectangle 22"/>
          <p:cNvSpPr/>
          <p:nvPr/>
        </p:nvSpPr>
        <p:spPr>
          <a:xfrm>
            <a:off x="10177272" y="2148840"/>
            <a:ext cx="1143000" cy="320040"/>
          </a:xfrm>
          <a:prstGeom prst="rect">
            <a:avLst/>
          </a:prstGeom>
          <a:solidFill>
            <a:srgbClr val="2F8F46"/>
          </a:solidFill>
          <a:ln w="1270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241280" y="2231136"/>
            <a:ext cx="1014984" cy="164592"/>
          </a:xfrm>
          <a:prstGeom prst="rect">
            <a:avLst/>
          </a:prstGeom>
          <a:noFill/>
        </p:spPr>
        <p:txBody>
          <a:bodyPr wrap="square" lIns="18288" rIns="18288" tIns="18288" bIns="18288" anchor="ctr">
            <a:spAutoFit/>
          </a:bodyPr>
          <a:lstStyle/>
          <a:p>
            <a:pPr algn="ctr"/>
            <a:r>
              <a:rPr sz="840" b="1" lang="en-US">
                <a:solidFill>
                  <a:srgbClr val="FFFFFF"/>
                </a:solidFill>
                <a:latin typeface="Arial"/>
              </a:rPr>
              <a:t>PER ADMISSION</a:t>
            </a:r>
          </a:p>
        </p:txBody>
      </p:sp>
      <p:sp>
        <p:nvSpPr>
          <p:cNvPr id="25" name="TextBox 24"/>
          <p:cNvSpPr txBox="1"/>
          <p:nvPr/>
        </p:nvSpPr>
        <p:spPr>
          <a:xfrm>
            <a:off x="6483096" y="2615184"/>
            <a:ext cx="4846320" cy="201168"/>
          </a:xfrm>
          <a:prstGeom prst="rect">
            <a:avLst/>
          </a:prstGeom>
          <a:noFill/>
        </p:spPr>
        <p:txBody>
          <a:bodyPr wrap="square" lIns="18288" rIns="18288" tIns="18288" bIns="18288" anchor="t">
            <a:spAutoFit/>
          </a:bodyPr>
          <a:lstStyle/>
          <a:p>
            <a:pPr algn="l"/>
            <a:r>
              <a:rPr sz="950" b="1" lang="en-US">
                <a:solidFill>
                  <a:srgbClr val="1F90CC"/>
                </a:solidFill>
                <a:latin typeface="Arial"/>
              </a:rPr>
              <a:t>QUOTE AND MEASUREMENT APPRAISAL</a:t>
            </a:r>
          </a:p>
        </p:txBody>
      </p:sp>
      <p:sp>
        <p:nvSpPr>
          <p:cNvPr id="26" name="TextBox 25"/>
          <p:cNvSpPr txBox="1"/>
          <p:nvPr/>
        </p:nvSpPr>
        <p:spPr>
          <a:xfrm>
            <a:off x="6473952" y="2871216"/>
            <a:ext cx="4882896" cy="1572768"/>
          </a:xfrm>
          <a:prstGeom prst="rect">
            <a:avLst/>
          </a:prstGeom>
          <a:noFill/>
        </p:spPr>
        <p:txBody>
          <a:bodyPr wrap="square" lIns="27432" rIns="27432" tIns="18288" bIns="18288">
            <a:spAutoFit/>
          </a:bodyPr>
          <a:lstStyle/>
          <a:p>
            <a:pPr>
              <a:lnSpc>
                <a:spcPct val="100000"/>
              </a:lnSpc>
              <a:spcAft>
                <a:spcPts val="300"/>
              </a:spcAft>
            </a:pPr>
            <a:r>
              <a:rPr sz="1000" lang="en-US">
                <a:solidFill>
                  <a:srgbClr val="1F90CC"/>
                </a:solidFill>
                <a:latin typeface="Arial"/>
              </a:rPr>
              <a:t>●  </a:t>
            </a:r>
            <a:r>
              <a:rPr sz="990" lang="en-US">
                <a:solidFill>
                  <a:srgbClr val="434343"/>
                </a:solidFill>
                <a:latin typeface="Arial"/>
              </a:rPr>
              <a:t>Parse Quote V4, TD report, certificate chain, QE identity, and TCB information</a:t>
            </a:r>
          </a:p>
          <a:p>
            <a:pPr>
              <a:lnSpc>
                <a:spcPct val="100000"/>
              </a:lnSpc>
              <a:spcAft>
                <a:spcPts val="300"/>
              </a:spcAft>
            </a:pPr>
            <a:r>
              <a:rPr sz="1000" lang="en-US">
                <a:solidFill>
                  <a:srgbClr val="1F90CC"/>
                </a:solidFill>
                <a:latin typeface="Arial"/>
              </a:rPr>
              <a:t>●  </a:t>
            </a:r>
            <a:r>
              <a:rPr sz="990" lang="en-US">
                <a:solidFill>
                  <a:srgbClr val="434343"/>
                </a:solidFill>
                <a:latin typeface="Arial"/>
              </a:rPr>
              <a:t>Verify P-256 signatures, hashes, revocation material, freshness, and appraisal policy</a:t>
            </a:r>
          </a:p>
          <a:p>
            <a:pPr>
              <a:lnSpc>
                <a:spcPct val="100000"/>
              </a:lnSpc>
              <a:spcAft>
                <a:spcPts val="300"/>
              </a:spcAft>
            </a:pPr>
            <a:r>
              <a:rPr sz="1000" lang="en-US">
                <a:solidFill>
                  <a:srgbClr val="1F90CC"/>
                </a:solidFill>
                <a:latin typeface="Arial"/>
              </a:rPr>
              <a:t>●  </a:t>
            </a:r>
            <a:r>
              <a:rPr sz="990" lang="en-US">
                <a:solidFill>
                  <a:srgbClr val="434343"/>
                </a:solidFill>
                <a:latin typeface="Arial"/>
              </a:rPr>
              <a:t>Replay every ordered application event into RTMR3 and match the quoted value</a:t>
            </a:r>
          </a:p>
          <a:p>
            <a:pPr>
              <a:lnSpc>
                <a:spcPct val="100000"/>
              </a:lnSpc>
              <a:spcAft>
                <a:spcPts val="300"/>
              </a:spcAft>
            </a:pPr>
            <a:r>
              <a:rPr sz="1000" lang="en-US">
                <a:solidFill>
                  <a:srgbClr val="1F90CC"/>
                </a:solidFill>
                <a:latin typeface="Arial"/>
              </a:rPr>
              <a:t>●  </a:t>
            </a:r>
            <a:r>
              <a:rPr sz="990" lang="en-US">
                <a:solidFill>
                  <a:srgbClr val="434343"/>
                </a:solidFill>
                <a:latin typeface="Arial"/>
              </a:rPr>
              <a:t>Bind REPORTDATA, Compose, image, registry, caller, role policy, and one-time nonce</a:t>
            </a:r>
          </a:p>
        </p:txBody>
      </p:sp>
      <p:sp>
        <p:nvSpPr>
          <p:cNvPr id="27" name="Rectangle 26"/>
          <p:cNvSpPr/>
          <p:nvPr/>
        </p:nvSpPr>
        <p:spPr>
          <a:xfrm>
            <a:off x="841248" y="4919472"/>
            <a:ext cx="10515600" cy="493776"/>
          </a:xfrm>
          <a:prstGeom prst="rect">
            <a:avLst/>
          </a:prstGeom>
          <a:solidFill>
            <a:srgbClr val="C40D1E"/>
          </a:solidFill>
          <a:ln w="1270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5056632"/>
            <a:ext cx="10094976" cy="228600"/>
          </a:xfrm>
          <a:prstGeom prst="rect">
            <a:avLst/>
          </a:prstGeom>
          <a:noFill/>
        </p:spPr>
        <p:txBody>
          <a:bodyPr wrap="square" lIns="18288" rIns="18288" tIns="18288" bIns="18288" anchor="ctr">
            <a:spAutoFit/>
          </a:bodyPr>
          <a:lstStyle/>
          <a:p>
            <a:pPr algn="ctr"/>
            <a:r>
              <a:rPr sz="1019" b="1" lang="en-US">
                <a:solidFill>
                  <a:srgbClr val="FFFFFF"/>
                </a:solidFill>
                <a:latin typeface="Arial"/>
              </a:rPr>
              <a:t>VITA-FL DECISION   </a:t>
            </a:r>
            <a:r>
              <a:rPr sz="1100" b="1" lang="en-US">
                <a:solidFill>
                  <a:srgbClr val="FFFFFF"/>
                </a:solidFill>
                <a:latin typeface="Arial"/>
              </a:rPr>
              <a:t>TEE/RA keeps both relations native and stateful; ZK remains useful for narrow encoded claims.</a:t>
            </a:r>
          </a:p>
        </p:txBody>
      </p:sp>
      <p:sp>
        <p:nvSpPr>
          <p:cNvPr id="29" name="TextBox 28"/>
          <p:cNvSpPr txBox="1"/>
          <p:nvPr/>
        </p:nvSpPr>
        <p:spPr>
          <a:xfrm>
            <a:off x="704088" y="5504688"/>
            <a:ext cx="10771632" cy="146304"/>
          </a:xfrm>
          <a:prstGeom prst="rect">
            <a:avLst/>
          </a:prstGeom>
          <a:noFill/>
        </p:spPr>
        <p:txBody>
          <a:bodyPr wrap="square" lIns="0" rIns="0" tIns="0" bIns="0" anchor="t">
            <a:spAutoFit/>
          </a:bodyPr>
          <a:lstStyle/>
          <a:p>
            <a:pPr algn="ctr"/>
            <a:r>
              <a:rPr sz="710" b="0" lang="en-US">
                <a:solidFill>
                  <a:srgbClr val="434343"/>
                </a:solidFill>
                <a:latin typeface="Arial"/>
              </a:rPr>
              <a:t>Scope statement—not a measured TEE-over-ZK speedup. Sources: RFC 9334 · Intel TDX/DCAP · Chen et al., EuroSys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From worker image to on-chain policy</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13</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Label: GITHUB ACTIONS"/>
          <p:cNvSpPr txBox="1"/>
          <p:nvPr/>
        </p:nvSpPr>
        <p:spPr>
          <a:xfrm>
            <a:off x="2002536" y="1444752"/>
            <a:ext cx="5577840" cy="265176"/>
          </a:xfrm>
          <a:prstGeom prst="rect">
            <a:avLst/>
          </a:prstGeom>
          <a:noFill/>
        </p:spPr>
        <p:txBody>
          <a:bodyPr wrap="square" lIns="0" rIns="0" tIns="0" bIns="0" anchor="ctr">
            <a:spAutoFit/>
          </a:bodyPr>
          <a:lstStyle/>
          <a:p>
            <a:pPr algn="ctr"/>
            <a:r>
              <a:rPr sz="1300" b="1" lang="en-US">
                <a:solidFill>
                  <a:srgbClr val="1764A1"/>
                </a:solidFill>
                <a:latin typeface="Arial"/>
              </a:rPr>
              <a:t>GITHUB ACTIONS</a:t>
            </a:r>
          </a:p>
        </p:txBody>
      </p:sp>
      <p:sp>
        <p:nvSpPr>
          <p:cNvPr id="14" name="Label: GitHub push"/>
          <p:cNvSpPr txBox="1"/>
          <p:nvPr/>
        </p:nvSpPr>
        <p:spPr>
          <a:xfrm>
            <a:off x="548639" y="2441448"/>
            <a:ext cx="2011680" cy="374904"/>
          </a:xfrm>
          <a:prstGeom prst="rect">
            <a:avLst/>
          </a:prstGeom>
          <a:noFill/>
        </p:spPr>
        <p:txBody>
          <a:bodyPr wrap="square" lIns="0" rIns="0" tIns="0" bIns="0" anchor="ctr">
            <a:spAutoFit/>
          </a:bodyPr>
          <a:lstStyle/>
          <a:p>
            <a:pPr algn="ctr"/>
            <a:r>
              <a:rPr sz="2000" b="1" lang="en-US">
                <a:solidFill>
                  <a:srgbClr val="263440"/>
                </a:solidFill>
                <a:latin typeface="Arial"/>
              </a:rPr>
              <a:t>GitHub push</a:t>
            </a:r>
          </a:p>
        </p:txBody>
      </p:sp>
      <p:sp>
        <p:nvSpPr>
          <p:cNvPr id="15" name="Label: Worker tests"/>
          <p:cNvSpPr txBox="1"/>
          <p:nvPr/>
        </p:nvSpPr>
        <p:spPr>
          <a:xfrm>
            <a:off x="2697480" y="2441448"/>
            <a:ext cx="2377440" cy="374904"/>
          </a:xfrm>
          <a:prstGeom prst="rect">
            <a:avLst/>
          </a:prstGeom>
          <a:noFill/>
        </p:spPr>
        <p:txBody>
          <a:bodyPr wrap="square" lIns="0" rIns="0" tIns="0" bIns="0" anchor="ctr">
            <a:spAutoFit/>
          </a:bodyPr>
          <a:lstStyle/>
          <a:p>
            <a:pPr algn="ctr"/>
            <a:r>
              <a:rPr sz="2000" b="1" lang="en-US">
                <a:solidFill>
                  <a:srgbClr val="1764A1"/>
                </a:solidFill>
                <a:latin typeface="Arial"/>
              </a:rPr>
              <a:t>Worker tests</a:t>
            </a:r>
          </a:p>
        </p:txBody>
      </p:sp>
      <p:sp>
        <p:nvSpPr>
          <p:cNvPr id="16" name="Label: Build → GHCR"/>
          <p:cNvSpPr txBox="1"/>
          <p:nvPr/>
        </p:nvSpPr>
        <p:spPr>
          <a:xfrm>
            <a:off x="5554980" y="2441448"/>
            <a:ext cx="2606040" cy="374904"/>
          </a:xfrm>
          <a:prstGeom prst="rect">
            <a:avLst/>
          </a:prstGeom>
          <a:noFill/>
        </p:spPr>
        <p:txBody>
          <a:bodyPr wrap="square" lIns="0" rIns="0" tIns="0" bIns="0" anchor="ctr">
            <a:spAutoFit/>
          </a:bodyPr>
          <a:lstStyle/>
          <a:p>
            <a:pPr algn="ctr"/>
            <a:r>
              <a:rPr sz="2000" b="1" lang="en-US">
                <a:solidFill>
                  <a:srgbClr val="1764A1"/>
                </a:solidFill>
                <a:latin typeface="Arial"/>
              </a:rPr>
              <a:t>Build → GHCR</a:t>
            </a:r>
          </a:p>
        </p:txBody>
      </p:sp>
      <p:sp>
        <p:nvSpPr>
          <p:cNvPr id="17" name="Label: Terraform"/>
          <p:cNvSpPr txBox="1"/>
          <p:nvPr/>
        </p:nvSpPr>
        <p:spPr>
          <a:xfrm>
            <a:off x="8618220" y="2441448"/>
            <a:ext cx="2514600" cy="374904"/>
          </a:xfrm>
          <a:prstGeom prst="rect">
            <a:avLst/>
          </a:prstGeom>
          <a:noFill/>
        </p:spPr>
        <p:txBody>
          <a:bodyPr wrap="square" lIns="0" rIns="0" tIns="0" bIns="0" anchor="ctr">
            <a:spAutoFit/>
          </a:bodyPr>
          <a:lstStyle/>
          <a:p>
            <a:pPr algn="ctr"/>
            <a:r>
              <a:rPr sz="2000" b="1" lang="en-US">
                <a:solidFill>
                  <a:srgbClr val="7446A6"/>
                </a:solidFill>
                <a:latin typeface="Arial"/>
              </a:rPr>
              <a:t>Terraform</a:t>
            </a:r>
          </a:p>
        </p:txBody>
      </p:sp>
      <p:cxnSp>
        <p:nvCxnSpPr>
          <p:cNvPr id="18" name="Pipeline flow"/>
          <p:cNvCxnSpPr/>
          <p:nvPr/>
        </p:nvCxnSpPr>
        <p:spPr>
          <a:xfrm>
            <a:off x="2011680" y="2020824"/>
            <a:ext cx="1380744" cy="0"/>
          </a:xfrm>
          <a:prstGeom prst="line">
            <a:avLst/>
          </a:prstGeom>
          <a:ln w="26670">
            <a:solidFill>
              <a:srgbClr val="A4B4C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Pipeline flow"/>
          <p:cNvCxnSpPr/>
          <p:nvPr/>
        </p:nvCxnSpPr>
        <p:spPr>
          <a:xfrm>
            <a:off x="4389120" y="2020824"/>
            <a:ext cx="1975104" cy="0"/>
          </a:xfrm>
          <a:prstGeom prst="line">
            <a:avLst/>
          </a:prstGeom>
          <a:ln w="26670">
            <a:solidFill>
              <a:srgbClr val="A4B4C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Pipeline flow"/>
          <p:cNvCxnSpPr/>
          <p:nvPr/>
        </p:nvCxnSpPr>
        <p:spPr>
          <a:xfrm>
            <a:off x="7351775" y="2020824"/>
            <a:ext cx="2029969" cy="0"/>
          </a:xfrm>
          <a:prstGeom prst="line">
            <a:avLst/>
          </a:prstGeom>
          <a:ln w="26670">
            <a:solidFill>
              <a:srgbClr val="A4B4C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Pipeline flow"/>
          <p:cNvCxnSpPr/>
          <p:nvPr/>
        </p:nvCxnSpPr>
        <p:spPr>
          <a:xfrm>
            <a:off x="1444752" y="1819656"/>
            <a:ext cx="0" cy="402336"/>
          </a:xfrm>
          <a:prstGeom prst="line">
            <a:avLst/>
          </a:prstGeom>
          <a:ln w="2540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2" name="Pipeline flow"/>
          <p:cNvCxnSpPr/>
          <p:nvPr/>
        </p:nvCxnSpPr>
        <p:spPr>
          <a:xfrm flipV="1">
            <a:off x="1444752" y="1892807"/>
            <a:ext cx="274320" cy="192024"/>
          </a:xfrm>
          <a:prstGeom prst="line">
            <a:avLst/>
          </a:prstGeom>
          <a:ln w="2540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3" name="Pipeline flow"/>
          <p:cNvCxnSpPr/>
          <p:nvPr/>
        </p:nvCxnSpPr>
        <p:spPr>
          <a:xfrm flipV="1">
            <a:off x="1719072" y="1819656"/>
            <a:ext cx="0" cy="73151"/>
          </a:xfrm>
          <a:prstGeom prst="line">
            <a:avLst/>
          </a:prstGeom>
          <a:ln w="25400">
            <a:solidFill>
              <a:srgbClr val="263440"/>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1399032" y="1773936"/>
            <a:ext cx="91440" cy="91440"/>
          </a:xfrm>
          <a:prstGeom prst="ellipse">
            <a:avLst/>
          </a:prstGeom>
          <a:solidFill>
            <a:srgbClr val="FFFFFF"/>
          </a:solidFill>
          <a:ln w="16510">
            <a:solidFill>
              <a:srgbClr val="26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399032" y="2176272"/>
            <a:ext cx="91440" cy="91440"/>
          </a:xfrm>
          <a:prstGeom prst="ellipse">
            <a:avLst/>
          </a:prstGeom>
          <a:solidFill>
            <a:srgbClr val="FFFFFF"/>
          </a:solidFill>
          <a:ln w="16510">
            <a:solidFill>
              <a:srgbClr val="26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673351" y="1773936"/>
            <a:ext cx="91440" cy="91440"/>
          </a:xfrm>
          <a:prstGeom prst="ellipse">
            <a:avLst/>
          </a:prstGeom>
          <a:solidFill>
            <a:srgbClr val="FFFFFF"/>
          </a:solidFill>
          <a:ln w="16510">
            <a:solidFill>
              <a:srgbClr val="26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94176" y="1801368"/>
            <a:ext cx="384048" cy="438912"/>
          </a:xfrm>
          <a:prstGeom prst="rect">
            <a:avLst/>
          </a:prstGeom>
          <a:solidFill>
            <a:srgbClr val="FFFFFF"/>
          </a:solidFill>
          <a:ln w="2032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Pipeline flow"/>
          <p:cNvCxnSpPr/>
          <p:nvPr/>
        </p:nvCxnSpPr>
        <p:spPr>
          <a:xfrm>
            <a:off x="3749039" y="1911095"/>
            <a:ext cx="54865" cy="45720"/>
          </a:xfrm>
          <a:prstGeom prst="line">
            <a:avLst/>
          </a:prstGeom>
          <a:ln w="2032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29" name="Pipeline flow"/>
          <p:cNvCxnSpPr/>
          <p:nvPr/>
        </p:nvCxnSpPr>
        <p:spPr>
          <a:xfrm flipV="1">
            <a:off x="3803904" y="1856231"/>
            <a:ext cx="73152" cy="100584"/>
          </a:xfrm>
          <a:prstGeom prst="line">
            <a:avLst/>
          </a:prstGeom>
          <a:ln w="2032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30" name="Pipeline flow"/>
          <p:cNvCxnSpPr/>
          <p:nvPr/>
        </p:nvCxnSpPr>
        <p:spPr>
          <a:xfrm>
            <a:off x="3941063" y="1911095"/>
            <a:ext cx="73152"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31" name="Pipeline flow"/>
          <p:cNvCxnSpPr/>
          <p:nvPr/>
        </p:nvCxnSpPr>
        <p:spPr>
          <a:xfrm>
            <a:off x="3749039" y="2075688"/>
            <a:ext cx="54865" cy="45720"/>
          </a:xfrm>
          <a:prstGeom prst="line">
            <a:avLst/>
          </a:prstGeom>
          <a:ln w="2032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32" name="Pipeline flow"/>
          <p:cNvCxnSpPr/>
          <p:nvPr/>
        </p:nvCxnSpPr>
        <p:spPr>
          <a:xfrm flipV="1">
            <a:off x="3803904" y="2020824"/>
            <a:ext cx="73152" cy="100584"/>
          </a:xfrm>
          <a:prstGeom prst="line">
            <a:avLst/>
          </a:prstGeom>
          <a:ln w="2032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33" name="Pipeline flow"/>
          <p:cNvCxnSpPr/>
          <p:nvPr/>
        </p:nvCxnSpPr>
        <p:spPr>
          <a:xfrm>
            <a:off x="3941063" y="2075688"/>
            <a:ext cx="73152"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34" name="Pipeline flow"/>
          <p:cNvCxnSpPr/>
          <p:nvPr/>
        </p:nvCxnSpPr>
        <p:spPr>
          <a:xfrm>
            <a:off x="6858000" y="1773936"/>
            <a:ext cx="228600" cy="137159"/>
          </a:xfrm>
          <a:prstGeom prst="line">
            <a:avLst/>
          </a:prstGeom>
          <a:ln w="2159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35" name="Pipeline flow"/>
          <p:cNvCxnSpPr/>
          <p:nvPr/>
        </p:nvCxnSpPr>
        <p:spPr>
          <a:xfrm>
            <a:off x="7086600" y="1911095"/>
            <a:ext cx="0" cy="237745"/>
          </a:xfrm>
          <a:prstGeom prst="line">
            <a:avLst/>
          </a:prstGeom>
          <a:ln w="2159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36" name="Pipeline flow"/>
          <p:cNvCxnSpPr/>
          <p:nvPr/>
        </p:nvCxnSpPr>
        <p:spPr>
          <a:xfrm flipH="1">
            <a:off x="6858000" y="2148840"/>
            <a:ext cx="228600" cy="146304"/>
          </a:xfrm>
          <a:prstGeom prst="line">
            <a:avLst/>
          </a:prstGeom>
          <a:ln w="2159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37" name="Pipeline flow"/>
          <p:cNvCxnSpPr/>
          <p:nvPr/>
        </p:nvCxnSpPr>
        <p:spPr>
          <a:xfrm flipH="1" flipV="1">
            <a:off x="6629400" y="2148840"/>
            <a:ext cx="228600" cy="146304"/>
          </a:xfrm>
          <a:prstGeom prst="line">
            <a:avLst/>
          </a:prstGeom>
          <a:ln w="2159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38" name="Pipeline flow"/>
          <p:cNvCxnSpPr/>
          <p:nvPr/>
        </p:nvCxnSpPr>
        <p:spPr>
          <a:xfrm flipV="1">
            <a:off x="6629400" y="1911095"/>
            <a:ext cx="0" cy="237745"/>
          </a:xfrm>
          <a:prstGeom prst="line">
            <a:avLst/>
          </a:prstGeom>
          <a:ln w="2159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39" name="Pipeline flow"/>
          <p:cNvCxnSpPr/>
          <p:nvPr/>
        </p:nvCxnSpPr>
        <p:spPr>
          <a:xfrm flipV="1">
            <a:off x="6629400" y="1773936"/>
            <a:ext cx="228600" cy="137159"/>
          </a:xfrm>
          <a:prstGeom prst="line">
            <a:avLst/>
          </a:prstGeom>
          <a:ln w="2159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40" name="Pipeline flow"/>
          <p:cNvCxnSpPr/>
          <p:nvPr/>
        </p:nvCxnSpPr>
        <p:spPr>
          <a:xfrm>
            <a:off x="6629400" y="1911095"/>
            <a:ext cx="228600" cy="146305"/>
          </a:xfrm>
          <a:prstGeom prst="line">
            <a:avLst/>
          </a:prstGeom>
          <a:ln w="2159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41" name="Pipeline flow"/>
          <p:cNvCxnSpPr/>
          <p:nvPr/>
        </p:nvCxnSpPr>
        <p:spPr>
          <a:xfrm flipV="1">
            <a:off x="6858000" y="1911095"/>
            <a:ext cx="228600" cy="146305"/>
          </a:xfrm>
          <a:prstGeom prst="line">
            <a:avLst/>
          </a:prstGeom>
          <a:ln w="2159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42" name="Pipeline flow"/>
          <p:cNvCxnSpPr/>
          <p:nvPr/>
        </p:nvCxnSpPr>
        <p:spPr>
          <a:xfrm>
            <a:off x="6858000" y="2057400"/>
            <a:ext cx="0" cy="237744"/>
          </a:xfrm>
          <a:prstGeom prst="line">
            <a:avLst/>
          </a:prstGeom>
          <a:ln w="21590">
            <a:solidFill>
              <a:srgbClr val="1764A1"/>
            </a:solidFill>
          </a:ln>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9619488" y="1792224"/>
            <a:ext cx="228600" cy="228600"/>
          </a:xfrm>
          <a:prstGeom prst="rect">
            <a:avLst/>
          </a:prstGeom>
          <a:solidFill>
            <a:srgbClr val="7446A6"/>
          </a:solidFill>
          <a:ln>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902952" y="1792224"/>
            <a:ext cx="228600" cy="228600"/>
          </a:xfrm>
          <a:prstGeom prst="rect">
            <a:avLst/>
          </a:prstGeom>
          <a:solidFill>
            <a:srgbClr val="7446A6"/>
          </a:solidFill>
          <a:ln>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902952" y="2075688"/>
            <a:ext cx="228600" cy="228600"/>
          </a:xfrm>
          <a:prstGeom prst="rect">
            <a:avLst/>
          </a:prstGeom>
          <a:solidFill>
            <a:srgbClr val="7446A6"/>
          </a:solidFill>
          <a:ln>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Label: Worker code"/>
          <p:cNvSpPr txBox="1"/>
          <p:nvPr/>
        </p:nvSpPr>
        <p:spPr>
          <a:xfrm>
            <a:off x="685800" y="2907792"/>
            <a:ext cx="1737360" cy="283464"/>
          </a:xfrm>
          <a:prstGeom prst="rect">
            <a:avLst/>
          </a:prstGeom>
          <a:noFill/>
        </p:spPr>
        <p:txBody>
          <a:bodyPr wrap="square" lIns="0" rIns="0" tIns="0" bIns="0" anchor="ctr">
            <a:spAutoFit/>
          </a:bodyPr>
          <a:lstStyle/>
          <a:p>
            <a:pPr algn="ctr"/>
            <a:r>
              <a:rPr sz="1600" b="0" lang="en-US">
                <a:solidFill>
                  <a:srgbClr val="67747C"/>
                </a:solidFill>
                <a:latin typeface="Arial"/>
              </a:rPr>
              <a:t>Worker code</a:t>
            </a:r>
          </a:p>
        </p:txBody>
      </p:sp>
      <p:sp>
        <p:nvSpPr>
          <p:cNvPr id="47" name="Label: TS / JS · policy and rounds"/>
          <p:cNvSpPr txBox="1"/>
          <p:nvPr/>
        </p:nvSpPr>
        <p:spPr>
          <a:xfrm>
            <a:off x="2313432" y="2907792"/>
            <a:ext cx="3145536" cy="274320"/>
          </a:xfrm>
          <a:prstGeom prst="rect">
            <a:avLst/>
          </a:prstGeom>
          <a:noFill/>
        </p:spPr>
        <p:txBody>
          <a:bodyPr wrap="square" lIns="0" rIns="0" tIns="0" bIns="0" anchor="ctr">
            <a:spAutoFit/>
          </a:bodyPr>
          <a:lstStyle/>
          <a:p>
            <a:pPr algn="ctr"/>
            <a:r>
              <a:rPr sz="1400" b="0" lang="en-US">
                <a:solidFill>
                  <a:srgbClr val="263440"/>
                </a:solidFill>
                <a:latin typeface="Arial"/>
              </a:rPr>
              <a:t>TS / JS · policy and rounds</a:t>
            </a:r>
          </a:p>
        </p:txBody>
      </p:sp>
      <p:sp>
        <p:nvSpPr>
          <p:cNvPr id="48" name="Label: Python · data and receipts"/>
          <p:cNvSpPr txBox="1"/>
          <p:nvPr/>
        </p:nvSpPr>
        <p:spPr>
          <a:xfrm>
            <a:off x="2313432" y="3218688"/>
            <a:ext cx="3145536" cy="274320"/>
          </a:xfrm>
          <a:prstGeom prst="rect">
            <a:avLst/>
          </a:prstGeom>
          <a:noFill/>
        </p:spPr>
        <p:txBody>
          <a:bodyPr wrap="square" lIns="0" rIns="0" tIns="0" bIns="0" anchor="ctr">
            <a:spAutoFit/>
          </a:bodyPr>
          <a:lstStyle/>
          <a:p>
            <a:pPr algn="ctr"/>
            <a:r>
              <a:rPr sz="1400" b="0" lang="en-US">
                <a:solidFill>
                  <a:srgbClr val="263440"/>
                </a:solidFill>
                <a:latin typeface="Arial"/>
              </a:rPr>
              <a:t>Python · data and receipts</a:t>
            </a:r>
          </a:p>
        </p:txBody>
      </p:sp>
      <p:sp>
        <p:nvSpPr>
          <p:cNvPr id="49" name="Rounded Rectangle 48"/>
          <p:cNvSpPr/>
          <p:nvPr/>
        </p:nvSpPr>
        <p:spPr>
          <a:xfrm>
            <a:off x="5687568" y="2880360"/>
            <a:ext cx="2340864" cy="429768"/>
          </a:xfrm>
          <a:prstGeom prst="roundRect">
            <a:avLst/>
          </a:prstGeom>
          <a:solidFill>
            <a:srgbClr val="F3EEF8"/>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Label: Image Digest"/>
          <p:cNvSpPr txBox="1"/>
          <p:nvPr/>
        </p:nvSpPr>
        <p:spPr>
          <a:xfrm>
            <a:off x="5769864" y="2935224"/>
            <a:ext cx="2176272" cy="301752"/>
          </a:xfrm>
          <a:prstGeom prst="rect">
            <a:avLst/>
          </a:prstGeom>
          <a:noFill/>
        </p:spPr>
        <p:txBody>
          <a:bodyPr wrap="square" lIns="0" rIns="0" tIns="0" bIns="0" anchor="ctr">
            <a:spAutoFit/>
          </a:bodyPr>
          <a:lstStyle/>
          <a:p>
            <a:pPr algn="ctr"/>
            <a:r>
              <a:rPr sz="1700" b="1" lang="en-US">
                <a:solidFill>
                  <a:srgbClr val="7446A6"/>
                </a:solidFill>
                <a:latin typeface="Arial"/>
              </a:rPr>
              <a:t>Image Digest</a:t>
            </a:r>
          </a:p>
        </p:txBody>
      </p:sp>
      <p:sp>
        <p:nvSpPr>
          <p:cNvPr id="51" name="Label: GitHub env: phala"/>
          <p:cNvSpPr txBox="1"/>
          <p:nvPr/>
        </p:nvSpPr>
        <p:spPr>
          <a:xfrm>
            <a:off x="8577072" y="2907792"/>
            <a:ext cx="2596896" cy="283464"/>
          </a:xfrm>
          <a:prstGeom prst="rect">
            <a:avLst/>
          </a:prstGeom>
          <a:noFill/>
        </p:spPr>
        <p:txBody>
          <a:bodyPr wrap="square" lIns="0" rIns="0" tIns="0" bIns="0" anchor="ctr">
            <a:spAutoFit/>
          </a:bodyPr>
          <a:lstStyle/>
          <a:p>
            <a:pPr algn="ctr"/>
            <a:r>
              <a:rPr sz="1500" b="0" lang="en-US">
                <a:solidFill>
                  <a:srgbClr val="67747C"/>
                </a:solidFill>
                <a:latin typeface="Arial"/>
              </a:rPr>
              <a:t>GitHub env: phala</a:t>
            </a:r>
          </a:p>
        </p:txBody>
      </p:sp>
      <p:sp>
        <p:nvSpPr>
          <p:cNvPr id="52" name="Label: worker_image"/>
          <p:cNvSpPr txBox="1"/>
          <p:nvPr/>
        </p:nvSpPr>
        <p:spPr>
          <a:xfrm>
            <a:off x="8577072" y="3236976"/>
            <a:ext cx="2596896" cy="256032"/>
          </a:xfrm>
          <a:prstGeom prst="rect">
            <a:avLst/>
          </a:prstGeom>
          <a:noFill/>
        </p:spPr>
        <p:txBody>
          <a:bodyPr wrap="square" lIns="0" rIns="0" tIns="0" bIns="0" anchor="ctr">
            <a:spAutoFit/>
          </a:bodyPr>
          <a:lstStyle/>
          <a:p>
            <a:pPr algn="ctr"/>
            <a:r>
              <a:rPr sz="1400" b="1" lang="en-US">
                <a:solidFill>
                  <a:srgbClr val="7446A6"/>
                </a:solidFill>
                <a:latin typeface="Arial"/>
              </a:rPr>
              <a:t>worker_image</a:t>
            </a:r>
          </a:p>
        </p:txBody>
      </p:sp>
      <p:cxnSp>
        <p:nvCxnSpPr>
          <p:cNvPr id="53" name="Pipeline flow"/>
          <p:cNvCxnSpPr/>
          <p:nvPr/>
        </p:nvCxnSpPr>
        <p:spPr>
          <a:xfrm>
            <a:off x="9875520" y="3557016"/>
            <a:ext cx="0" cy="173736"/>
          </a:xfrm>
          <a:prstGeom prst="line">
            <a:avLst/>
          </a:prstGeom>
          <a:ln w="2794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4" name="Pipeline flow"/>
          <p:cNvCxnSpPr/>
          <p:nvPr/>
        </p:nvCxnSpPr>
        <p:spPr>
          <a:xfrm flipH="1">
            <a:off x="2880360" y="3730752"/>
            <a:ext cx="6995160" cy="0"/>
          </a:xfrm>
          <a:prstGeom prst="line">
            <a:avLst/>
          </a:prstGeom>
          <a:ln w="2794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5" name="Pipeline flow"/>
          <p:cNvCxnSpPr/>
          <p:nvPr/>
        </p:nvCxnSpPr>
        <p:spPr>
          <a:xfrm>
            <a:off x="2880360" y="3730752"/>
            <a:ext cx="0" cy="265176"/>
          </a:xfrm>
          <a:prstGeom prst="line">
            <a:avLst/>
          </a:prstGeom>
          <a:ln w="2794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Label: Pinned worker image"/>
          <p:cNvSpPr txBox="1"/>
          <p:nvPr/>
        </p:nvSpPr>
        <p:spPr>
          <a:xfrm>
            <a:off x="4672584" y="3419856"/>
            <a:ext cx="2843784" cy="256032"/>
          </a:xfrm>
          <a:prstGeom prst="rect">
            <a:avLst/>
          </a:prstGeom>
          <a:noFill/>
        </p:spPr>
        <p:txBody>
          <a:bodyPr wrap="square" lIns="0" rIns="0" tIns="0" bIns="0" anchor="ctr">
            <a:spAutoFit/>
          </a:bodyPr>
          <a:lstStyle/>
          <a:p>
            <a:pPr algn="ctr"/>
            <a:r>
              <a:rPr sz="1400" b="0" lang="en-US">
                <a:solidFill>
                  <a:srgbClr val="7446A6"/>
                </a:solidFill>
                <a:latin typeface="Arial"/>
              </a:rPr>
              <a:t>Pinned worker image</a:t>
            </a:r>
          </a:p>
        </p:txBody>
      </p:sp>
      <p:sp>
        <p:nvSpPr>
          <p:cNvPr id="57" name="Label: PHALA / DSTACK"/>
          <p:cNvSpPr txBox="1"/>
          <p:nvPr/>
        </p:nvSpPr>
        <p:spPr>
          <a:xfrm>
            <a:off x="795528" y="3776472"/>
            <a:ext cx="1819656" cy="246888"/>
          </a:xfrm>
          <a:prstGeom prst="rect">
            <a:avLst/>
          </a:prstGeom>
          <a:noFill/>
        </p:spPr>
        <p:txBody>
          <a:bodyPr wrap="square" lIns="0" rIns="0" tIns="0" bIns="0" anchor="ctr">
            <a:spAutoFit/>
          </a:bodyPr>
          <a:lstStyle/>
          <a:p>
            <a:pPr algn="l"/>
            <a:r>
              <a:rPr sz="1200" b="1" lang="en-US">
                <a:solidFill>
                  <a:srgbClr val="207548"/>
                </a:solidFill>
                <a:latin typeface="Arial"/>
              </a:rPr>
              <a:t>PHALA / DSTACK</a:t>
            </a:r>
          </a:p>
        </p:txBody>
      </p:sp>
      <p:sp>
        <p:nvSpPr>
          <p:cNvPr id="58" name="Rounded Rectangle 57"/>
          <p:cNvSpPr/>
          <p:nvPr/>
        </p:nvSpPr>
        <p:spPr>
          <a:xfrm>
            <a:off x="594360" y="4050791"/>
            <a:ext cx="4572000" cy="1389888"/>
          </a:xfrm>
          <a:prstGeom prst="roundRect">
            <a:avLst/>
          </a:prstGeom>
          <a:solidFill>
            <a:srgbClr val="F3EEF8"/>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abel: Contracts container"/>
          <p:cNvSpPr txBox="1"/>
          <p:nvPr/>
        </p:nvSpPr>
        <p:spPr>
          <a:xfrm>
            <a:off x="795528" y="4169663"/>
            <a:ext cx="4169663" cy="393192"/>
          </a:xfrm>
          <a:prstGeom prst="rect">
            <a:avLst/>
          </a:prstGeom>
          <a:noFill/>
        </p:spPr>
        <p:txBody>
          <a:bodyPr wrap="square" lIns="0" rIns="0" tIns="0" bIns="0" anchor="ctr">
            <a:spAutoFit/>
          </a:bodyPr>
          <a:lstStyle/>
          <a:p>
            <a:pPr algn="ctr"/>
            <a:r>
              <a:rPr sz="2300" b="1" lang="en-US">
                <a:solidFill>
                  <a:srgbClr val="7446A6"/>
                </a:solidFill>
                <a:latin typeface="Arial"/>
              </a:rPr>
              <a:t>Contracts container</a:t>
            </a:r>
          </a:p>
        </p:txBody>
      </p:sp>
      <p:sp>
        <p:nvSpPr>
          <p:cNvPr id="60" name="Label: EXPECTED_WORKER_IMAGE"/>
          <p:cNvSpPr txBox="1"/>
          <p:nvPr/>
        </p:nvSpPr>
        <p:spPr>
          <a:xfrm>
            <a:off x="795528" y="4654296"/>
            <a:ext cx="4169663" cy="310896"/>
          </a:xfrm>
          <a:prstGeom prst="rect">
            <a:avLst/>
          </a:prstGeom>
          <a:noFill/>
        </p:spPr>
        <p:txBody>
          <a:bodyPr wrap="square" lIns="0" rIns="0" tIns="0" bIns="0" anchor="ctr">
            <a:spAutoFit/>
          </a:bodyPr>
          <a:lstStyle/>
          <a:p>
            <a:pPr algn="ctr"/>
            <a:r>
              <a:rPr sz="1700" b="1" lang="en-US">
                <a:solidFill>
                  <a:srgbClr val="7446A6"/>
                </a:solidFill>
                <a:latin typeface="Arial"/>
              </a:rPr>
              <a:t>EXPECTED_WORKER_IMAGE</a:t>
            </a:r>
          </a:p>
        </p:txBody>
      </p:sp>
      <p:sp>
        <p:nvSpPr>
          <p:cNvPr id="61" name="Label: ghcr.io/…@sha256:Digest"/>
          <p:cNvSpPr txBox="1"/>
          <p:nvPr/>
        </p:nvSpPr>
        <p:spPr>
          <a:xfrm>
            <a:off x="795528" y="5084064"/>
            <a:ext cx="4169663" cy="292608"/>
          </a:xfrm>
          <a:prstGeom prst="rect">
            <a:avLst/>
          </a:prstGeom>
          <a:noFill/>
        </p:spPr>
        <p:txBody>
          <a:bodyPr wrap="square" lIns="0" rIns="0" tIns="0" bIns="0" anchor="ctr">
            <a:spAutoFit/>
          </a:bodyPr>
          <a:lstStyle/>
          <a:p>
            <a:pPr algn="ctr"/>
            <a:r>
              <a:rPr sz="1600" b="0" lang="en-US">
                <a:solidFill>
                  <a:srgbClr val="263440"/>
                </a:solidFill>
                <a:latin typeface="Arial"/>
              </a:rPr>
              <a:t>ghcr.io/…@sha256:Digest</a:t>
            </a:r>
          </a:p>
        </p:txBody>
      </p:sp>
      <p:cxnSp>
        <p:nvCxnSpPr>
          <p:cNvPr id="62" name="Pipeline flow"/>
          <p:cNvCxnSpPr/>
          <p:nvPr/>
        </p:nvCxnSpPr>
        <p:spPr>
          <a:xfrm>
            <a:off x="5221224" y="4745736"/>
            <a:ext cx="1600200" cy="0"/>
          </a:xfrm>
          <a:prstGeom prst="line">
            <a:avLst/>
          </a:prstGeom>
          <a:ln w="29209">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Label: Extract digest"/>
          <p:cNvSpPr txBox="1"/>
          <p:nvPr/>
        </p:nvSpPr>
        <p:spPr>
          <a:xfrm>
            <a:off x="5257800" y="4297680"/>
            <a:ext cx="1527048" cy="274320"/>
          </a:xfrm>
          <a:prstGeom prst="rect">
            <a:avLst/>
          </a:prstGeom>
          <a:noFill/>
        </p:spPr>
        <p:txBody>
          <a:bodyPr wrap="square" lIns="0" rIns="0" tIns="0" bIns="0" anchor="ctr">
            <a:spAutoFit/>
          </a:bodyPr>
          <a:lstStyle/>
          <a:p>
            <a:pPr algn="ctr"/>
            <a:r>
              <a:rPr sz="1400" b="0" lang="en-US">
                <a:solidFill>
                  <a:srgbClr val="263440"/>
                </a:solidFill>
                <a:latin typeface="Arial"/>
              </a:rPr>
              <a:t>Extract digest</a:t>
            </a:r>
          </a:p>
        </p:txBody>
      </p:sp>
      <p:sp>
        <p:nvSpPr>
          <p:cNvPr id="64" name="Label: Owner transaction"/>
          <p:cNvSpPr txBox="1"/>
          <p:nvPr/>
        </p:nvSpPr>
        <p:spPr>
          <a:xfrm>
            <a:off x="5257800" y="4919472"/>
            <a:ext cx="1527048" cy="502920"/>
          </a:xfrm>
          <a:prstGeom prst="rect">
            <a:avLst/>
          </a:prstGeom>
          <a:noFill/>
        </p:spPr>
        <p:txBody>
          <a:bodyPr wrap="square" lIns="0" rIns="0" tIns="0" bIns="0" anchor="ctr">
            <a:spAutoFit/>
          </a:bodyPr>
          <a:lstStyle/>
          <a:p>
            <a:pPr algn="ctr"/>
            <a:r>
              <a:rPr sz="1300" b="0" lang="en-US">
                <a:solidFill>
                  <a:srgbClr val="7446A6"/>
                </a:solidFill>
                <a:latin typeface="Arial"/>
              </a:rPr>
              <a:t>Owner transaction</a:t>
            </a:r>
          </a:p>
        </p:txBody>
      </p:sp>
      <p:sp>
        <p:nvSpPr>
          <p:cNvPr id="65" name="Label: RUNNING BLOCKCHAIN"/>
          <p:cNvSpPr txBox="1"/>
          <p:nvPr/>
        </p:nvSpPr>
        <p:spPr>
          <a:xfrm>
            <a:off x="7040880" y="3776472"/>
            <a:ext cx="4315968" cy="246888"/>
          </a:xfrm>
          <a:prstGeom prst="rect">
            <a:avLst/>
          </a:prstGeom>
          <a:noFill/>
        </p:spPr>
        <p:txBody>
          <a:bodyPr wrap="square" lIns="0" rIns="0" tIns="0" bIns="0" anchor="ctr">
            <a:spAutoFit/>
          </a:bodyPr>
          <a:lstStyle/>
          <a:p>
            <a:pPr algn="l"/>
            <a:r>
              <a:rPr sz="1200" b="1" lang="en-US">
                <a:solidFill>
                  <a:srgbClr val="7446A6"/>
                </a:solidFill>
                <a:latin typeface="Arial"/>
              </a:rPr>
              <a:t>RUNNING BLOCKCHAIN</a:t>
            </a:r>
          </a:p>
        </p:txBody>
      </p:sp>
      <p:sp>
        <p:nvSpPr>
          <p:cNvPr id="66" name="Rounded Rectangle 65"/>
          <p:cNvSpPr/>
          <p:nvPr/>
        </p:nvSpPr>
        <p:spPr>
          <a:xfrm>
            <a:off x="6876288" y="4050791"/>
            <a:ext cx="4718304" cy="1389888"/>
          </a:xfrm>
          <a:prstGeom prst="roundRect">
            <a:avLst/>
          </a:prstGeom>
          <a:solidFill>
            <a:srgbClr val="F3EEF8"/>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Label: DeviceRegistry"/>
          <p:cNvSpPr txBox="1"/>
          <p:nvPr/>
        </p:nvSpPr>
        <p:spPr>
          <a:xfrm>
            <a:off x="7077456" y="4169663"/>
            <a:ext cx="4315968" cy="393192"/>
          </a:xfrm>
          <a:prstGeom prst="rect">
            <a:avLst/>
          </a:prstGeom>
          <a:noFill/>
        </p:spPr>
        <p:txBody>
          <a:bodyPr wrap="square" lIns="0" rIns="0" tIns="0" bIns="0" anchor="ctr">
            <a:spAutoFit/>
          </a:bodyPr>
          <a:lstStyle/>
          <a:p>
            <a:pPr algn="ctr"/>
            <a:r>
              <a:rPr sz="2300" b="1" lang="en-US">
                <a:solidFill>
                  <a:srgbClr val="7446A6"/>
                </a:solidFill>
                <a:latin typeface="Arial"/>
              </a:rPr>
              <a:t>DeviceRegistry</a:t>
            </a:r>
          </a:p>
        </p:txBody>
      </p:sp>
      <p:sp>
        <p:nvSpPr>
          <p:cNvPr id="68" name="Label: expectedWorkerImageDigest = Digest"/>
          <p:cNvSpPr txBox="1"/>
          <p:nvPr/>
        </p:nvSpPr>
        <p:spPr>
          <a:xfrm>
            <a:off x="7077456" y="4663440"/>
            <a:ext cx="4315968" cy="310896"/>
          </a:xfrm>
          <a:prstGeom prst="rect">
            <a:avLst/>
          </a:prstGeom>
          <a:noFill/>
        </p:spPr>
        <p:txBody>
          <a:bodyPr wrap="square" lIns="0" rIns="0" tIns="0" bIns="0" anchor="ctr">
            <a:spAutoFit/>
          </a:bodyPr>
          <a:lstStyle/>
          <a:p>
            <a:pPr algn="ctr"/>
            <a:r>
              <a:rPr sz="1450" b="1" lang="en-US">
                <a:solidFill>
                  <a:srgbClr val="7446A6"/>
                </a:solidFill>
                <a:latin typeface="Arial"/>
              </a:rPr>
              <a:t>expectedWorkerImageDigest = Digest</a:t>
            </a:r>
          </a:p>
        </p:txBody>
      </p:sp>
      <p:sp>
        <p:nvSpPr>
          <p:cNvPr id="69" name="Label: setExpectedWorkerImageDigest(bytes32)"/>
          <p:cNvSpPr txBox="1"/>
          <p:nvPr/>
        </p:nvSpPr>
        <p:spPr>
          <a:xfrm>
            <a:off x="7077456" y="5102352"/>
            <a:ext cx="4315968" cy="265176"/>
          </a:xfrm>
          <a:prstGeom prst="rect">
            <a:avLst/>
          </a:prstGeom>
          <a:noFill/>
        </p:spPr>
        <p:txBody>
          <a:bodyPr wrap="square" lIns="0" rIns="0" tIns="0" bIns="0" anchor="ctr">
            <a:spAutoFit/>
          </a:bodyPr>
          <a:lstStyle/>
          <a:p>
            <a:pPr algn="ctr"/>
            <a:r>
              <a:rPr sz="1350" b="0" lang="en-US">
                <a:solidFill>
                  <a:srgbClr val="263440"/>
                </a:solidFill>
                <a:latin typeface="Arial"/>
              </a:rPr>
              <a:t>setExpectedWorkerImageDigest(bytes32)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Verify the deployed worker image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SUBMIT APP_COMPOSE, EVENT LOG AND TDX QUOTE TOGETHER FOR ON-CHAIN VERIFICATION</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14</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5D6973"/>
                </a:solidFill>
                <a:latin typeface="Arial"/>
              </a:rPr>
              <a:t>Agent</a:t>
            </a:r>
          </a:p>
        </p:txBody>
      </p:sp>
      <p:sp>
        <p:nvSpPr>
          <p:cNvPr id="13" name="Attestation: WORKER TEE / DSTACK"/>
          <p:cNvSpPr txBox="1"/>
          <p:nvPr/>
        </p:nvSpPr>
        <p:spPr>
          <a:xfrm>
            <a:off x="594360" y="1417320"/>
            <a:ext cx="2542032" cy="274320"/>
          </a:xfrm>
          <a:prstGeom prst="rect">
            <a:avLst/>
          </a:prstGeom>
          <a:noFill/>
        </p:spPr>
        <p:txBody>
          <a:bodyPr wrap="square" lIns="0" rIns="0" tIns="0" bIns="0" anchor="ctr">
            <a:spAutoFit/>
          </a:bodyPr>
          <a:lstStyle/>
          <a:p>
            <a:pPr algn="ctr"/>
            <a:r>
              <a:rPr sz="1300" b="1" lang="en-US">
                <a:solidFill>
                  <a:srgbClr val="207548"/>
                </a:solidFill>
                <a:latin typeface="Arial"/>
              </a:rPr>
              <a:t>WORKER TEE / DSTACK</a:t>
            </a:r>
          </a:p>
        </p:txBody>
      </p:sp>
      <p:sp>
        <p:nvSpPr>
          <p:cNvPr id="14" name="Rounded Rectangle 13"/>
          <p:cNvSpPr/>
          <p:nvPr/>
        </p:nvSpPr>
        <p:spPr>
          <a:xfrm>
            <a:off x="3401568" y="1353312"/>
            <a:ext cx="8193024" cy="4325112"/>
          </a:xfrm>
          <a:prstGeom prst="roundRect">
            <a:avLst/>
          </a:prstGeom>
          <a:solidFill>
            <a:srgbClr val="FAF8FC"/>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ttestation: ON CHAIN · DeviceRegistry + DCAP verifier"/>
          <p:cNvSpPr txBox="1"/>
          <p:nvPr/>
        </p:nvSpPr>
        <p:spPr>
          <a:xfrm>
            <a:off x="3639312" y="1463040"/>
            <a:ext cx="7680960" cy="301752"/>
          </a:xfrm>
          <a:prstGeom prst="rect">
            <a:avLst/>
          </a:prstGeom>
          <a:noFill/>
        </p:spPr>
        <p:txBody>
          <a:bodyPr wrap="square" lIns="0" rIns="0" tIns="0" bIns="0" anchor="ctr">
            <a:spAutoFit/>
          </a:bodyPr>
          <a:lstStyle/>
          <a:p>
            <a:pPr algn="ctr"/>
            <a:r>
              <a:rPr sz="1600" b="1" lang="en-US">
                <a:solidFill>
                  <a:srgbClr val="7446A6"/>
                </a:solidFill>
                <a:latin typeface="Arial"/>
              </a:rPr>
              <a:t>ON CHAIN · DeviceRegistry + DCAP verifier</a:t>
            </a:r>
          </a:p>
        </p:txBody>
      </p:sp>
      <p:sp>
        <p:nvSpPr>
          <p:cNvPr id="16" name="Rounded Rectangle 15"/>
          <p:cNvSpPr/>
          <p:nvPr/>
        </p:nvSpPr>
        <p:spPr>
          <a:xfrm>
            <a:off x="594360" y="1920240"/>
            <a:ext cx="2542032" cy="777240"/>
          </a:xfrm>
          <a:prstGeom prst="round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639312" y="1920240"/>
            <a:ext cx="5934456" cy="777240"/>
          </a:xfrm>
          <a:prstGeom prst="roundRect">
            <a:avLst/>
          </a:prstGeom>
          <a:solidFill>
            <a:srgbClr val="FFFFFF"/>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3172968" y="2308860"/>
            <a:ext cx="429768" cy="0"/>
          </a:xfrm>
          <a:prstGeom prst="line">
            <a:avLst/>
          </a:prstGeom>
          <a:ln w="2159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94360" y="3200400"/>
            <a:ext cx="2542032" cy="777240"/>
          </a:xfrm>
          <a:prstGeom prst="round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39312" y="3200400"/>
            <a:ext cx="5934456" cy="777240"/>
          </a:xfrm>
          <a:prstGeom prst="roundRect">
            <a:avLst/>
          </a:prstGeom>
          <a:solidFill>
            <a:srgbClr val="FFFFFF"/>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3172968" y="3589020"/>
            <a:ext cx="429768" cy="0"/>
          </a:xfrm>
          <a:prstGeom prst="line">
            <a:avLst/>
          </a:prstGeom>
          <a:ln w="2159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94360" y="4480560"/>
            <a:ext cx="2542032" cy="960120"/>
          </a:xfrm>
          <a:prstGeom prst="round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639312" y="4480560"/>
            <a:ext cx="5934456" cy="960120"/>
          </a:xfrm>
          <a:prstGeom prst="roundRect">
            <a:avLst/>
          </a:prstGeom>
          <a:solidFill>
            <a:srgbClr val="FFFFFF"/>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3172968" y="4960620"/>
            <a:ext cx="429768" cy="0"/>
          </a:xfrm>
          <a:prstGeom prst="line">
            <a:avLst/>
          </a:prstGeom>
          <a:ln w="2159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Attestation: app_compose"/>
          <p:cNvSpPr txBox="1"/>
          <p:nvPr/>
        </p:nvSpPr>
        <p:spPr>
          <a:xfrm>
            <a:off x="731520" y="2011680"/>
            <a:ext cx="2267712" cy="283464"/>
          </a:xfrm>
          <a:prstGeom prst="rect">
            <a:avLst/>
          </a:prstGeom>
          <a:noFill/>
        </p:spPr>
        <p:txBody>
          <a:bodyPr wrap="square" lIns="0" rIns="0" tIns="0" bIns="0" anchor="ctr">
            <a:spAutoFit/>
          </a:bodyPr>
          <a:lstStyle/>
          <a:p>
            <a:pPr algn="ctr"/>
            <a:r>
              <a:rPr sz="1800" b="1" lang="en-US">
                <a:solidFill>
                  <a:srgbClr val="207548"/>
                </a:solidFill>
                <a:latin typeface="Arial"/>
              </a:rPr>
              <a:t>app_compose</a:t>
            </a:r>
          </a:p>
        </p:txBody>
      </p:sp>
      <p:sp>
        <p:nvSpPr>
          <p:cNvPr id="26" name="Attestation: …@sha256:Digest"/>
          <p:cNvSpPr txBox="1"/>
          <p:nvPr/>
        </p:nvSpPr>
        <p:spPr>
          <a:xfrm>
            <a:off x="731520" y="2386584"/>
            <a:ext cx="2267712" cy="210312"/>
          </a:xfrm>
          <a:prstGeom prst="rect">
            <a:avLst/>
          </a:prstGeom>
          <a:noFill/>
        </p:spPr>
        <p:txBody>
          <a:bodyPr wrap="square" lIns="0" rIns="0" tIns="0" bIns="0" anchor="ctr">
            <a:spAutoFit/>
          </a:bodyPr>
          <a:lstStyle/>
          <a:p>
            <a:pPr algn="ctr"/>
            <a:r>
              <a:rPr sz="1400" b="0" lang="en-US">
                <a:solidFill>
                  <a:srgbClr val="263440"/>
                </a:solidFill>
                <a:latin typeface="Arial"/>
              </a:rPr>
              <a:t>…@sha256:Digest</a:t>
            </a:r>
          </a:p>
        </p:txBody>
      </p:sp>
      <p:sp>
        <p:nvSpPr>
          <p:cNvPr id="27" name="Attestation: Compare image Digest with stored policy"/>
          <p:cNvSpPr txBox="1"/>
          <p:nvPr/>
        </p:nvSpPr>
        <p:spPr>
          <a:xfrm>
            <a:off x="3776472" y="2011680"/>
            <a:ext cx="5660136" cy="283464"/>
          </a:xfrm>
          <a:prstGeom prst="rect">
            <a:avLst/>
          </a:prstGeom>
          <a:noFill/>
        </p:spPr>
        <p:txBody>
          <a:bodyPr wrap="square" lIns="0" rIns="0" tIns="0" bIns="0" anchor="ctr">
            <a:spAutoFit/>
          </a:bodyPr>
          <a:lstStyle/>
          <a:p>
            <a:pPr algn="ctr"/>
            <a:r>
              <a:rPr sz="1700" b="1" lang="en-US">
                <a:solidFill>
                  <a:srgbClr val="7446A6"/>
                </a:solidFill>
                <a:latin typeface="Arial"/>
              </a:rPr>
              <a:t>Compare image Digest with stored policy</a:t>
            </a:r>
          </a:p>
        </p:txBody>
      </p:sp>
      <p:sp>
        <p:nvSpPr>
          <p:cNvPr id="28" name="Attestation: DeviceRegistry.expectedWorkerImageDigest"/>
          <p:cNvSpPr txBox="1"/>
          <p:nvPr/>
        </p:nvSpPr>
        <p:spPr>
          <a:xfrm>
            <a:off x="3776472" y="2395728"/>
            <a:ext cx="5660136" cy="210312"/>
          </a:xfrm>
          <a:prstGeom prst="rect">
            <a:avLst/>
          </a:prstGeom>
          <a:noFill/>
        </p:spPr>
        <p:txBody>
          <a:bodyPr wrap="square" lIns="0" rIns="0" tIns="0" bIns="0" anchor="ctr">
            <a:spAutoFit/>
          </a:bodyPr>
          <a:lstStyle/>
          <a:p>
            <a:pPr algn="ctr"/>
            <a:r>
              <a:rPr sz="1300" b="0" lang="en-US">
                <a:solidFill>
                  <a:srgbClr val="263440"/>
                </a:solidFill>
                <a:latin typeface="Arial"/>
              </a:rPr>
              <a:t>DeviceRegistry.expectedWorkerImageDigest</a:t>
            </a:r>
          </a:p>
        </p:txBody>
      </p:sp>
      <p:sp>
        <p:nvSpPr>
          <p:cNvPr id="29" name="Attestation: Event log"/>
          <p:cNvSpPr txBox="1"/>
          <p:nvPr/>
        </p:nvSpPr>
        <p:spPr>
          <a:xfrm>
            <a:off x="731520" y="3291840"/>
            <a:ext cx="2267712" cy="283464"/>
          </a:xfrm>
          <a:prstGeom prst="rect">
            <a:avLst/>
          </a:prstGeom>
          <a:noFill/>
        </p:spPr>
        <p:txBody>
          <a:bodyPr wrap="square" lIns="0" rIns="0" tIns="0" bIns="0" anchor="ctr">
            <a:spAutoFit/>
          </a:bodyPr>
          <a:lstStyle/>
          <a:p>
            <a:pPr algn="ctr"/>
            <a:r>
              <a:rPr sz="1800" b="1" lang="en-US">
                <a:solidFill>
                  <a:srgbClr val="207548"/>
                </a:solidFill>
                <a:latin typeface="Arial"/>
              </a:rPr>
              <a:t>Event log</a:t>
            </a:r>
          </a:p>
        </p:txBody>
      </p:sp>
      <p:sp>
        <p:nvSpPr>
          <p:cNvPr id="30" name="Attestation: Ordered runtime events"/>
          <p:cNvSpPr txBox="1"/>
          <p:nvPr/>
        </p:nvSpPr>
        <p:spPr>
          <a:xfrm>
            <a:off x="731520" y="3666744"/>
            <a:ext cx="2267712" cy="210312"/>
          </a:xfrm>
          <a:prstGeom prst="rect">
            <a:avLst/>
          </a:prstGeom>
          <a:noFill/>
        </p:spPr>
        <p:txBody>
          <a:bodyPr wrap="square" lIns="0" rIns="0" tIns="0" bIns="0" anchor="ctr">
            <a:spAutoFit/>
          </a:bodyPr>
          <a:lstStyle/>
          <a:p>
            <a:pPr algn="ctr"/>
            <a:r>
              <a:rPr sz="1300" b="0" lang="en-US">
                <a:solidFill>
                  <a:srgbClr val="263440"/>
                </a:solidFill>
                <a:latin typeface="Arial"/>
              </a:rPr>
              <a:t>Ordered runtime events</a:t>
            </a:r>
          </a:p>
        </p:txBody>
      </p:sp>
      <p:sp>
        <p:nvSpPr>
          <p:cNvPr id="31" name="Attestation: Replay the RTMR3 event chain"/>
          <p:cNvSpPr txBox="1"/>
          <p:nvPr/>
        </p:nvSpPr>
        <p:spPr>
          <a:xfrm>
            <a:off x="3776472" y="3291840"/>
            <a:ext cx="5660136" cy="283464"/>
          </a:xfrm>
          <a:prstGeom prst="rect">
            <a:avLst/>
          </a:prstGeom>
          <a:noFill/>
        </p:spPr>
        <p:txBody>
          <a:bodyPr wrap="square" lIns="0" rIns="0" tIns="0" bIns="0" anchor="ctr">
            <a:spAutoFit/>
          </a:bodyPr>
          <a:lstStyle/>
          <a:p>
            <a:pPr algn="ctr"/>
            <a:r>
              <a:rPr sz="1700" b="1" lang="en-US">
                <a:solidFill>
                  <a:srgbClr val="7446A6"/>
                </a:solidFill>
                <a:latin typeface="Arial"/>
              </a:rPr>
              <a:t>Replay the RTMR3 event chain</a:t>
            </a:r>
          </a:p>
        </p:txBody>
      </p:sp>
      <p:sp>
        <p:nvSpPr>
          <p:cNvPr id="32" name="Attestation: Start at zero · SHA-384 extend every event"/>
          <p:cNvSpPr txBox="1"/>
          <p:nvPr/>
        </p:nvSpPr>
        <p:spPr>
          <a:xfrm>
            <a:off x="3776472" y="3666744"/>
            <a:ext cx="5660136" cy="210312"/>
          </a:xfrm>
          <a:prstGeom prst="rect">
            <a:avLst/>
          </a:prstGeom>
          <a:noFill/>
        </p:spPr>
        <p:txBody>
          <a:bodyPr wrap="square" lIns="0" rIns="0" tIns="0" bIns="0" anchor="ctr">
            <a:spAutoFit/>
          </a:bodyPr>
          <a:lstStyle/>
          <a:p>
            <a:pPr algn="ctr"/>
            <a:r>
              <a:rPr sz="1300" b="0" lang="en-US">
                <a:solidFill>
                  <a:srgbClr val="263440"/>
                </a:solidFill>
                <a:latin typeface="Arial"/>
              </a:rPr>
              <a:t>Start at zero · SHA-384 extend every event</a:t>
            </a:r>
          </a:p>
        </p:txBody>
      </p:sp>
      <p:sp>
        <p:nvSpPr>
          <p:cNvPr id="33" name="Attestation: TDX Quote"/>
          <p:cNvSpPr txBox="1"/>
          <p:nvPr/>
        </p:nvSpPr>
        <p:spPr>
          <a:xfrm>
            <a:off x="731520" y="4572000"/>
            <a:ext cx="2267712" cy="283464"/>
          </a:xfrm>
          <a:prstGeom prst="rect">
            <a:avLst/>
          </a:prstGeom>
          <a:noFill/>
        </p:spPr>
        <p:txBody>
          <a:bodyPr wrap="square" lIns="0" rIns="0" tIns="0" bIns="0" anchor="ctr">
            <a:spAutoFit/>
          </a:bodyPr>
          <a:lstStyle/>
          <a:p>
            <a:pPr algn="ctr"/>
            <a:r>
              <a:rPr sz="1800" b="1" lang="en-US">
                <a:solidFill>
                  <a:srgbClr val="207548"/>
                </a:solidFill>
                <a:latin typeface="Arial"/>
              </a:rPr>
              <a:t>TDX Quote</a:t>
            </a:r>
          </a:p>
        </p:txBody>
      </p:sp>
      <p:sp>
        <p:nvSpPr>
          <p:cNvPr id="34" name="Attestation: RTMR3 · REPORTDATA"/>
          <p:cNvSpPr txBox="1"/>
          <p:nvPr/>
        </p:nvSpPr>
        <p:spPr>
          <a:xfrm>
            <a:off x="731520" y="5020056"/>
            <a:ext cx="2267712" cy="228600"/>
          </a:xfrm>
          <a:prstGeom prst="rect">
            <a:avLst/>
          </a:prstGeom>
          <a:noFill/>
        </p:spPr>
        <p:txBody>
          <a:bodyPr wrap="square" lIns="0" rIns="0" tIns="0" bIns="0" anchor="ctr">
            <a:spAutoFit/>
          </a:bodyPr>
          <a:lstStyle/>
          <a:p>
            <a:pPr algn="ctr"/>
            <a:r>
              <a:rPr sz="1300" b="0" lang="en-US">
                <a:solidFill>
                  <a:srgbClr val="263440"/>
                </a:solidFill>
                <a:latin typeface="Arial"/>
              </a:rPr>
              <a:t>RTMR3 · REPORTDATA</a:t>
            </a:r>
          </a:p>
        </p:txBody>
      </p:sp>
      <p:sp>
        <p:nvSpPr>
          <p:cNvPr id="35" name="Attestation: Verify quote authenticity and bindings"/>
          <p:cNvSpPr txBox="1"/>
          <p:nvPr/>
        </p:nvSpPr>
        <p:spPr>
          <a:xfrm>
            <a:off x="3776472" y="4572000"/>
            <a:ext cx="5660136" cy="283464"/>
          </a:xfrm>
          <a:prstGeom prst="rect">
            <a:avLst/>
          </a:prstGeom>
          <a:noFill/>
        </p:spPr>
        <p:txBody>
          <a:bodyPr wrap="square" lIns="0" rIns="0" tIns="0" bIns="0" anchor="ctr">
            <a:spAutoFit/>
          </a:bodyPr>
          <a:lstStyle/>
          <a:p>
            <a:pPr algn="ctr"/>
            <a:r>
              <a:rPr sz="1700" b="1" lang="en-US">
                <a:solidFill>
                  <a:srgbClr val="7446A6"/>
                </a:solidFill>
                <a:latin typeface="Arial"/>
              </a:rPr>
              <a:t>Verify quote authenticity and bindings</a:t>
            </a:r>
          </a:p>
        </p:txBody>
      </p:sp>
      <p:sp>
        <p:nvSpPr>
          <p:cNvPr id="36" name="Attestation: Intel signatures · TCB · base-runtime measurements / REPORTDATA: participant · keys · nonce"/>
          <p:cNvSpPr txBox="1"/>
          <p:nvPr/>
        </p:nvSpPr>
        <p:spPr>
          <a:xfrm>
            <a:off x="3776472" y="4956048"/>
            <a:ext cx="5660136" cy="393192"/>
          </a:xfrm>
          <a:prstGeom prst="rect">
            <a:avLst/>
          </a:prstGeom>
          <a:noFill/>
        </p:spPr>
        <p:txBody>
          <a:bodyPr wrap="square" lIns="0" rIns="0" tIns="0" bIns="0" anchor="ctr">
            <a:spAutoFit/>
          </a:bodyPr>
          <a:lstStyle/>
          <a:p>
            <a:pPr algn="ctr"/>
            <a:r>
              <a:rPr sz="1250" b="0" lang="en-US">
                <a:solidFill>
                  <a:srgbClr val="263440"/>
                </a:solidFill>
                <a:latin typeface="Arial"/>
              </a:rPr>
              <a:t>Intel signatures · TCB · base-runtime measurements
REPORTDATA: participant · keys · nonce</a:t>
            </a:r>
          </a:p>
        </p:txBody>
      </p:sp>
      <p:cxnSp>
        <p:nvCxnSpPr>
          <p:cNvPr id="37" name="Connector 36"/>
          <p:cNvCxnSpPr/>
          <p:nvPr/>
        </p:nvCxnSpPr>
        <p:spPr>
          <a:xfrm>
            <a:off x="3895344" y="2734056"/>
            <a:ext cx="0" cy="429768"/>
          </a:xfrm>
          <a:prstGeom prst="line">
            <a:avLst/>
          </a:prstGeom>
          <a:ln w="2159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Attestation: SHA-256(app_compose) = compose-hash event"/>
          <p:cNvSpPr txBox="1"/>
          <p:nvPr/>
        </p:nvSpPr>
        <p:spPr>
          <a:xfrm>
            <a:off x="4133087" y="2816352"/>
            <a:ext cx="5321808" cy="256032"/>
          </a:xfrm>
          <a:prstGeom prst="rect">
            <a:avLst/>
          </a:prstGeom>
          <a:noFill/>
        </p:spPr>
        <p:txBody>
          <a:bodyPr wrap="square" lIns="0" rIns="0" tIns="0" bIns="0" anchor="ctr">
            <a:spAutoFit/>
          </a:bodyPr>
          <a:lstStyle/>
          <a:p>
            <a:pPr algn="ctr"/>
            <a:r>
              <a:rPr sz="1300" b="0" lang="en-US">
                <a:solidFill>
                  <a:srgbClr val="7446A6"/>
                </a:solidFill>
                <a:latin typeface="Arial"/>
              </a:rPr>
              <a:t>SHA-256(app_compose) = compose-hash event</a:t>
            </a:r>
          </a:p>
        </p:txBody>
      </p:sp>
      <p:cxnSp>
        <p:nvCxnSpPr>
          <p:cNvPr id="39" name="Connector 38"/>
          <p:cNvCxnSpPr/>
          <p:nvPr/>
        </p:nvCxnSpPr>
        <p:spPr>
          <a:xfrm>
            <a:off x="3895344" y="4014215"/>
            <a:ext cx="0" cy="429769"/>
          </a:xfrm>
          <a:prstGeom prst="line">
            <a:avLst/>
          </a:prstGeom>
          <a:ln w="2159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Attestation: Replayed RTMR3 = authenticated quote RTMR3"/>
          <p:cNvSpPr txBox="1"/>
          <p:nvPr/>
        </p:nvSpPr>
        <p:spPr>
          <a:xfrm>
            <a:off x="4133087" y="4096512"/>
            <a:ext cx="5321808" cy="256032"/>
          </a:xfrm>
          <a:prstGeom prst="rect">
            <a:avLst/>
          </a:prstGeom>
          <a:noFill/>
        </p:spPr>
        <p:txBody>
          <a:bodyPr wrap="square" lIns="0" rIns="0" tIns="0" bIns="0" anchor="ctr">
            <a:spAutoFit/>
          </a:bodyPr>
          <a:lstStyle/>
          <a:p>
            <a:pPr algn="ctr"/>
            <a:r>
              <a:rPr sz="1300" b="0" lang="en-US">
                <a:solidFill>
                  <a:srgbClr val="7446A6"/>
                </a:solidFill>
                <a:latin typeface="Arial"/>
              </a:rPr>
              <a:t>Replayed RTMR3 = authenticated quote RTMR3</a:t>
            </a:r>
          </a:p>
        </p:txBody>
      </p:sp>
      <p:cxnSp>
        <p:nvCxnSpPr>
          <p:cNvPr id="41" name="Connector 40"/>
          <p:cNvCxnSpPr/>
          <p:nvPr/>
        </p:nvCxnSpPr>
        <p:spPr>
          <a:xfrm>
            <a:off x="9610344" y="2308860"/>
            <a:ext cx="283464" cy="0"/>
          </a:xfrm>
          <a:prstGeom prst="line">
            <a:avLst/>
          </a:prstGeom>
          <a:ln w="2159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610344" y="3589020"/>
            <a:ext cx="283464" cy="0"/>
          </a:xfrm>
          <a:prstGeom prst="line">
            <a:avLst/>
          </a:prstGeom>
          <a:ln w="2159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610344" y="4960620"/>
            <a:ext cx="283464" cy="0"/>
          </a:xfrm>
          <a:prstGeom prst="line">
            <a:avLst/>
          </a:prstGeom>
          <a:ln w="2159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893808" y="2308860"/>
            <a:ext cx="0" cy="2651760"/>
          </a:xfrm>
          <a:prstGeom prst="line">
            <a:avLst/>
          </a:prstGeom>
          <a:ln w="2159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893808" y="3589020"/>
            <a:ext cx="256032" cy="0"/>
          </a:xfrm>
          <a:prstGeom prst="line">
            <a:avLst/>
          </a:prstGeom>
          <a:ln w="2159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10469880" y="2761488"/>
            <a:ext cx="603504" cy="603504"/>
          </a:xfrm>
          <a:prstGeom prst="ellipse">
            <a:avLst/>
          </a:prstGeom>
          <a:solidFill>
            <a:srgbClr val="EDF6F0"/>
          </a:solidFill>
          <a:ln w="1524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a:off x="10607040" y="3054096"/>
            <a:ext cx="118872" cy="118872"/>
          </a:xfrm>
          <a:prstGeom prst="line">
            <a:avLst/>
          </a:prstGeom>
          <a:ln w="3048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0725912" y="2926080"/>
            <a:ext cx="237744" cy="246888"/>
          </a:xfrm>
          <a:prstGeom prst="line">
            <a:avLst/>
          </a:prstGeom>
          <a:ln w="30480">
            <a:solidFill>
              <a:srgbClr val="207548"/>
            </a:solidFill>
          </a:ln>
        </p:spPr>
        <p:style>
          <a:lnRef idx="2">
            <a:schemeClr val="accent1"/>
          </a:lnRef>
          <a:fillRef idx="0">
            <a:schemeClr val="accent1"/>
          </a:fillRef>
          <a:effectRef idx="1">
            <a:schemeClr val="accent1"/>
          </a:effectRef>
          <a:fontRef idx="minor">
            <a:schemeClr val="tx1"/>
          </a:fontRef>
        </p:style>
      </p:cxnSp>
      <p:sp>
        <p:nvSpPr>
          <p:cNvPr id="49" name="Attestation: Verified / worker"/>
          <p:cNvSpPr txBox="1"/>
          <p:nvPr/>
        </p:nvSpPr>
        <p:spPr>
          <a:xfrm>
            <a:off x="10168128" y="3483864"/>
            <a:ext cx="1225296" cy="603504"/>
          </a:xfrm>
          <a:prstGeom prst="rect">
            <a:avLst/>
          </a:prstGeom>
          <a:noFill/>
        </p:spPr>
        <p:txBody>
          <a:bodyPr wrap="square" lIns="0" rIns="0" tIns="0" bIns="0" anchor="ctr">
            <a:spAutoFit/>
          </a:bodyPr>
          <a:lstStyle/>
          <a:p>
            <a:pPr algn="ctr"/>
            <a:r>
              <a:rPr sz="1800" b="1" lang="en-US">
                <a:solidFill>
                  <a:srgbClr val="207548"/>
                </a:solidFill>
                <a:latin typeface="Arial"/>
              </a:rPr>
              <a:t>Verified
worker</a:t>
            </a:r>
          </a:p>
        </p:txBody>
      </p:sp>
      <p:sp>
        <p:nvSpPr>
          <p:cNvPr id="50" name="Attestation: All checks / pass"/>
          <p:cNvSpPr txBox="1"/>
          <p:nvPr/>
        </p:nvSpPr>
        <p:spPr>
          <a:xfrm>
            <a:off x="10168128" y="4215384"/>
            <a:ext cx="1225296" cy="475488"/>
          </a:xfrm>
          <a:prstGeom prst="rect">
            <a:avLst/>
          </a:prstGeom>
          <a:noFill/>
        </p:spPr>
        <p:txBody>
          <a:bodyPr wrap="square" lIns="0" rIns="0" tIns="0" bIns="0" anchor="ctr">
            <a:spAutoFit/>
          </a:bodyPr>
          <a:lstStyle/>
          <a:p>
            <a:pPr algn="ctr"/>
            <a:r>
              <a:rPr sz="1300" b="0" lang="en-US">
                <a:solidFill>
                  <a:srgbClr val="67747C"/>
                </a:solidFill>
                <a:latin typeface="Arial"/>
              </a:rPr>
              <a:t>All checks
pass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Key use at the system interfaces</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15</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Key use: dstack GetKey(path): action, wrapping and receipt keys"/>
          <p:cNvSpPr txBox="1"/>
          <p:nvPr/>
        </p:nvSpPr>
        <p:spPr>
          <a:xfrm>
            <a:off x="594360" y="1362456"/>
            <a:ext cx="11000232" cy="329184"/>
          </a:xfrm>
          <a:prstGeom prst="rect">
            <a:avLst/>
          </a:prstGeom>
          <a:noFill/>
        </p:spPr>
        <p:txBody>
          <a:bodyPr wrap="square" lIns="0" rIns="0" tIns="0" bIns="0" anchor="ctr">
            <a:spAutoFit/>
          </a:bodyPr>
          <a:lstStyle/>
          <a:p>
            <a:pPr algn="ctr"/>
            <a:r>
              <a:rPr sz="1900" b="0" lang="en-US">
                <a:solidFill>
                  <a:srgbClr val="263440"/>
                </a:solidFill>
                <a:latin typeface="Arial"/>
              </a:rPr>
              <a:t>dstack GetKey(path): action, wrapping and receipt keys</a:t>
            </a:r>
          </a:p>
        </p:txBody>
      </p:sp>
      <p:sp>
        <p:nvSpPr>
          <p:cNvPr id="14" name="Rounded Rectangle 13"/>
          <p:cNvSpPr/>
          <p:nvPr/>
        </p:nvSpPr>
        <p:spPr>
          <a:xfrm>
            <a:off x="3922776" y="1856231"/>
            <a:ext cx="4334256" cy="3639312"/>
          </a:xfrm>
          <a:prstGeom prst="roundRect">
            <a:avLst/>
          </a:prstGeom>
          <a:solidFill>
            <a:srgbClr val="F8F9FA"/>
          </a:solidFill>
          <a:ln w="16510">
            <a:solidFill>
              <a:srgbClr val="26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Key use icon: tee / 1"/>
          <p:cNvCxnSpPr/>
          <p:nvPr/>
        </p:nvCxnSpPr>
        <p:spPr>
          <a:xfrm>
            <a:off x="4749165" y="2001393"/>
            <a:ext cx="0" cy="52578"/>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6" name="Key use icon: tee / 2"/>
          <p:cNvCxnSpPr/>
          <p:nvPr/>
        </p:nvCxnSpPr>
        <p:spPr>
          <a:xfrm>
            <a:off x="4749165" y="2316861"/>
            <a:ext cx="0" cy="52578"/>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7" name="Key use icon: tee / 3"/>
          <p:cNvCxnSpPr/>
          <p:nvPr/>
        </p:nvCxnSpPr>
        <p:spPr>
          <a:xfrm>
            <a:off x="4644008" y="2106549"/>
            <a:ext cx="52579" cy="0"/>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8" name="Key use icon: tee / 4"/>
          <p:cNvCxnSpPr/>
          <p:nvPr/>
        </p:nvCxnSpPr>
        <p:spPr>
          <a:xfrm>
            <a:off x="4959477" y="2106549"/>
            <a:ext cx="52578" cy="0"/>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9" name="Key use icon: tee / 5"/>
          <p:cNvCxnSpPr/>
          <p:nvPr/>
        </p:nvCxnSpPr>
        <p:spPr>
          <a:xfrm>
            <a:off x="4828032" y="2001393"/>
            <a:ext cx="0" cy="52578"/>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0" name="Key use icon: tee / 6"/>
          <p:cNvCxnSpPr/>
          <p:nvPr/>
        </p:nvCxnSpPr>
        <p:spPr>
          <a:xfrm>
            <a:off x="4828032" y="2316861"/>
            <a:ext cx="0" cy="52578"/>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1" name="Key use icon: tee / 7"/>
          <p:cNvCxnSpPr/>
          <p:nvPr/>
        </p:nvCxnSpPr>
        <p:spPr>
          <a:xfrm>
            <a:off x="4644008" y="2185416"/>
            <a:ext cx="52579" cy="0"/>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2" name="Key use icon: tee / 8"/>
          <p:cNvCxnSpPr/>
          <p:nvPr/>
        </p:nvCxnSpPr>
        <p:spPr>
          <a:xfrm>
            <a:off x="4959477" y="2185416"/>
            <a:ext cx="52578" cy="0"/>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3" name="Key use icon: tee / 9"/>
          <p:cNvCxnSpPr/>
          <p:nvPr/>
        </p:nvCxnSpPr>
        <p:spPr>
          <a:xfrm>
            <a:off x="4906899" y="2001393"/>
            <a:ext cx="0" cy="52578"/>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4" name="Key use icon: tee / 10"/>
          <p:cNvCxnSpPr/>
          <p:nvPr/>
        </p:nvCxnSpPr>
        <p:spPr>
          <a:xfrm>
            <a:off x="4906899" y="2316861"/>
            <a:ext cx="0" cy="52578"/>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5" name="Key use icon: tee / 11"/>
          <p:cNvCxnSpPr/>
          <p:nvPr/>
        </p:nvCxnSpPr>
        <p:spPr>
          <a:xfrm>
            <a:off x="4644008" y="2264283"/>
            <a:ext cx="52579" cy="0"/>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6" name="Key use icon: tee / 12"/>
          <p:cNvCxnSpPr/>
          <p:nvPr/>
        </p:nvCxnSpPr>
        <p:spPr>
          <a:xfrm>
            <a:off x="4959477" y="2264283"/>
            <a:ext cx="52578" cy="0"/>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sp>
        <p:nvSpPr>
          <p:cNvPr id="27" name="Key use icon: tee / 13"/>
          <p:cNvSpPr/>
          <p:nvPr/>
        </p:nvSpPr>
        <p:spPr>
          <a:xfrm>
            <a:off x="4696587" y="2053971"/>
            <a:ext cx="262890" cy="262890"/>
          </a:xfrm>
          <a:prstGeom prst="roundRect">
            <a:avLst/>
          </a:prstGeom>
          <a:solidFill>
            <a:srgbClr val="FFFFFF"/>
          </a:solidFill>
          <a:ln w="18661">
            <a:solidFill>
              <a:srgbClr val="26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Key use icon: tee / 14"/>
          <p:cNvCxnSpPr/>
          <p:nvPr/>
        </p:nvCxnSpPr>
        <p:spPr>
          <a:xfrm flipV="1">
            <a:off x="4775454" y="2132838"/>
            <a:ext cx="0" cy="39433"/>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9" name="Key use icon: tee / 15"/>
          <p:cNvCxnSpPr/>
          <p:nvPr/>
        </p:nvCxnSpPr>
        <p:spPr>
          <a:xfrm flipV="1">
            <a:off x="4775454" y="2117776"/>
            <a:ext cx="2069" cy="15062"/>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0" name="Key use icon: tee / 16"/>
          <p:cNvCxnSpPr/>
          <p:nvPr/>
        </p:nvCxnSpPr>
        <p:spPr>
          <a:xfrm flipV="1">
            <a:off x="4777523" y="2105453"/>
            <a:ext cx="5720" cy="12323"/>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1" name="Key use icon: tee / 17"/>
          <p:cNvCxnSpPr/>
          <p:nvPr/>
        </p:nvCxnSpPr>
        <p:spPr>
          <a:xfrm flipV="1">
            <a:off x="4783243" y="2095869"/>
            <a:ext cx="8641" cy="9584"/>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2" name="Key use icon: tee / 18"/>
          <p:cNvCxnSpPr/>
          <p:nvPr/>
        </p:nvCxnSpPr>
        <p:spPr>
          <a:xfrm flipV="1">
            <a:off x="4791884" y="2089023"/>
            <a:ext cx="10832" cy="6846"/>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3" name="Key use icon: tee / 19"/>
          <p:cNvCxnSpPr/>
          <p:nvPr/>
        </p:nvCxnSpPr>
        <p:spPr>
          <a:xfrm flipV="1">
            <a:off x="4802716" y="2084915"/>
            <a:ext cx="12293" cy="4108"/>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4" name="Key use icon: tee / 20"/>
          <p:cNvCxnSpPr/>
          <p:nvPr/>
        </p:nvCxnSpPr>
        <p:spPr>
          <a:xfrm flipV="1">
            <a:off x="4815009" y="2083546"/>
            <a:ext cx="13023" cy="1369"/>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5" name="Key use icon: tee / 21"/>
          <p:cNvCxnSpPr/>
          <p:nvPr/>
        </p:nvCxnSpPr>
        <p:spPr>
          <a:xfrm>
            <a:off x="4828032" y="2083546"/>
            <a:ext cx="13022" cy="1369"/>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6" name="Key use icon: tee / 22"/>
          <p:cNvCxnSpPr/>
          <p:nvPr/>
        </p:nvCxnSpPr>
        <p:spPr>
          <a:xfrm>
            <a:off x="4841054" y="2084915"/>
            <a:ext cx="12293" cy="4108"/>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7" name="Key use icon: tee / 23"/>
          <p:cNvCxnSpPr/>
          <p:nvPr/>
        </p:nvCxnSpPr>
        <p:spPr>
          <a:xfrm>
            <a:off x="4853347" y="2089023"/>
            <a:ext cx="10832" cy="6846"/>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8" name="Key use icon: tee / 24"/>
          <p:cNvCxnSpPr/>
          <p:nvPr/>
        </p:nvCxnSpPr>
        <p:spPr>
          <a:xfrm>
            <a:off x="4864179" y="2095869"/>
            <a:ext cx="8641" cy="9584"/>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9" name="Key use icon: tee / 25"/>
          <p:cNvCxnSpPr/>
          <p:nvPr/>
        </p:nvCxnSpPr>
        <p:spPr>
          <a:xfrm>
            <a:off x="4872820" y="2105453"/>
            <a:ext cx="5720" cy="12323"/>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40" name="Key use icon: tee / 26"/>
          <p:cNvCxnSpPr/>
          <p:nvPr/>
        </p:nvCxnSpPr>
        <p:spPr>
          <a:xfrm>
            <a:off x="4878540" y="2117776"/>
            <a:ext cx="2069" cy="15062"/>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41" name="Key use icon: tee / 27"/>
          <p:cNvCxnSpPr/>
          <p:nvPr/>
        </p:nvCxnSpPr>
        <p:spPr>
          <a:xfrm>
            <a:off x="4880609" y="2132838"/>
            <a:ext cx="0" cy="39433"/>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sp>
        <p:nvSpPr>
          <p:cNvPr id="42" name="Key use icon: tee / 28"/>
          <p:cNvSpPr/>
          <p:nvPr/>
        </p:nvSpPr>
        <p:spPr>
          <a:xfrm>
            <a:off x="4762309" y="2159127"/>
            <a:ext cx="131445" cy="105156"/>
          </a:xfrm>
          <a:prstGeom prst="roundRect">
            <a:avLst/>
          </a:prstGeom>
          <a:solidFill>
            <a:srgbClr val="FFFFFF"/>
          </a:solidFill>
          <a:ln w="18661">
            <a:solidFill>
              <a:srgbClr val="26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Key use: Worker TEE"/>
          <p:cNvSpPr txBox="1"/>
          <p:nvPr/>
        </p:nvSpPr>
        <p:spPr>
          <a:xfrm>
            <a:off x="5102352" y="1956816"/>
            <a:ext cx="2039112" cy="402336"/>
          </a:xfrm>
          <a:prstGeom prst="rect">
            <a:avLst/>
          </a:prstGeom>
          <a:noFill/>
        </p:spPr>
        <p:txBody>
          <a:bodyPr wrap="square" lIns="0" rIns="0" tIns="0" bIns="0" anchor="ctr">
            <a:spAutoFit/>
          </a:bodyPr>
          <a:lstStyle/>
          <a:p>
            <a:pPr algn="ctr"/>
            <a:r>
              <a:rPr sz="2400" b="1" lang="en-US">
                <a:solidFill>
                  <a:srgbClr val="263440"/>
                </a:solidFill>
                <a:latin typeface="Arial"/>
              </a:rPr>
              <a:t>Worker TEE</a:t>
            </a:r>
          </a:p>
        </p:txBody>
      </p:sp>
      <p:sp>
        <p:nvSpPr>
          <p:cNvPr id="44" name="Rounded Rectangle 43"/>
          <p:cNvSpPr/>
          <p:nvPr/>
        </p:nvSpPr>
        <p:spPr>
          <a:xfrm>
            <a:off x="502920" y="2331720"/>
            <a:ext cx="2834640" cy="1335024"/>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Key use icon: blockchain / 1"/>
          <p:cNvCxnSpPr/>
          <p:nvPr/>
        </p:nvCxnSpPr>
        <p:spPr>
          <a:xfrm>
            <a:off x="752094" y="2580894"/>
            <a:ext cx="148590" cy="0"/>
          </a:xfrm>
          <a:prstGeom prst="line">
            <a:avLst/>
          </a:prstGeom>
          <a:ln w="16227"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6" name="Key use icon: blockchain / 2"/>
          <p:cNvCxnSpPr/>
          <p:nvPr/>
        </p:nvCxnSpPr>
        <p:spPr>
          <a:xfrm>
            <a:off x="900684" y="2580894"/>
            <a:ext cx="0" cy="160020"/>
          </a:xfrm>
          <a:prstGeom prst="line">
            <a:avLst/>
          </a:prstGeom>
          <a:ln w="16227"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7" name="Key use icon: blockchain / 3"/>
          <p:cNvCxnSpPr/>
          <p:nvPr/>
        </p:nvCxnSpPr>
        <p:spPr>
          <a:xfrm flipH="1">
            <a:off x="752094" y="2740914"/>
            <a:ext cx="148590" cy="0"/>
          </a:xfrm>
          <a:prstGeom prst="line">
            <a:avLst/>
          </a:prstGeom>
          <a:ln w="16227"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8" name="Key use icon: blockchain / 4"/>
          <p:cNvCxnSpPr/>
          <p:nvPr/>
        </p:nvCxnSpPr>
        <p:spPr>
          <a:xfrm flipV="1">
            <a:off x="752094" y="2580894"/>
            <a:ext cx="0" cy="160020"/>
          </a:xfrm>
          <a:prstGeom prst="line">
            <a:avLst/>
          </a:prstGeom>
          <a:ln w="16227" cap="rnd">
            <a:solidFill>
              <a:srgbClr val="7446A6"/>
            </a:solidFill>
          </a:ln>
        </p:spPr>
        <p:style>
          <a:lnRef idx="2">
            <a:schemeClr val="accent1"/>
          </a:lnRef>
          <a:fillRef idx="0">
            <a:schemeClr val="accent1"/>
          </a:fillRef>
          <a:effectRef idx="1">
            <a:schemeClr val="accent1"/>
          </a:effectRef>
          <a:fontRef idx="minor">
            <a:schemeClr val="tx1"/>
          </a:fontRef>
        </p:style>
      </p:cxnSp>
      <p:sp>
        <p:nvSpPr>
          <p:cNvPr id="49" name="Key use icon: blockchain / 5"/>
          <p:cNvSpPr/>
          <p:nvPr/>
        </p:nvSpPr>
        <p:spPr>
          <a:xfrm>
            <a:off x="694944" y="2523744"/>
            <a:ext cx="91440" cy="91440"/>
          </a:xfrm>
          <a:prstGeom prst="roundRect">
            <a:avLst/>
          </a:prstGeom>
          <a:solidFill>
            <a:srgbClr val="FFFFFF"/>
          </a:solidFill>
          <a:ln w="16227">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Key use icon: blockchain / 6"/>
          <p:cNvSpPr/>
          <p:nvPr/>
        </p:nvSpPr>
        <p:spPr>
          <a:xfrm>
            <a:off x="877824" y="2523744"/>
            <a:ext cx="91440" cy="91440"/>
          </a:xfrm>
          <a:prstGeom prst="roundRect">
            <a:avLst/>
          </a:prstGeom>
          <a:solidFill>
            <a:srgbClr val="FFFFFF"/>
          </a:solidFill>
          <a:ln w="16227">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Key use icon: blockchain / 7"/>
          <p:cNvSpPr/>
          <p:nvPr/>
        </p:nvSpPr>
        <p:spPr>
          <a:xfrm>
            <a:off x="694944" y="2706624"/>
            <a:ext cx="91440" cy="91440"/>
          </a:xfrm>
          <a:prstGeom prst="roundRect">
            <a:avLst/>
          </a:prstGeom>
          <a:solidFill>
            <a:srgbClr val="FFFFFF"/>
          </a:solidFill>
          <a:ln w="16227">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Key use icon: blockchain / 8"/>
          <p:cNvSpPr/>
          <p:nvPr/>
        </p:nvSpPr>
        <p:spPr>
          <a:xfrm>
            <a:off x="877824" y="2706624"/>
            <a:ext cx="91440" cy="91440"/>
          </a:xfrm>
          <a:prstGeom prst="roundRect">
            <a:avLst/>
          </a:prstGeom>
          <a:solidFill>
            <a:srgbClr val="FFFFFF"/>
          </a:solidFill>
          <a:ln w="16227">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Key use: Blockchain"/>
          <p:cNvSpPr txBox="1"/>
          <p:nvPr/>
        </p:nvSpPr>
        <p:spPr>
          <a:xfrm>
            <a:off x="1115568" y="2441448"/>
            <a:ext cx="2103120" cy="310896"/>
          </a:xfrm>
          <a:prstGeom prst="rect">
            <a:avLst/>
          </a:prstGeom>
          <a:noFill/>
        </p:spPr>
        <p:txBody>
          <a:bodyPr wrap="square" lIns="0" rIns="0" tIns="0" bIns="0" anchor="ctr">
            <a:spAutoFit/>
          </a:bodyPr>
          <a:lstStyle/>
          <a:p>
            <a:pPr algn="l"/>
            <a:r>
              <a:rPr sz="1800" b="1" lang="en-US">
                <a:solidFill>
                  <a:srgbClr val="7446A6"/>
                </a:solidFill>
                <a:latin typeface="Arial"/>
              </a:rPr>
              <a:t>Blockchain</a:t>
            </a:r>
          </a:p>
        </p:txBody>
      </p:sp>
      <p:sp>
        <p:nvSpPr>
          <p:cNvPr id="54" name="Key use: Protocol transactions / Update commitments / Aggregation statements"/>
          <p:cNvSpPr txBox="1"/>
          <p:nvPr/>
        </p:nvSpPr>
        <p:spPr>
          <a:xfrm>
            <a:off x="667512" y="2871215"/>
            <a:ext cx="2505456" cy="713231"/>
          </a:xfrm>
          <a:prstGeom prst="rect">
            <a:avLst/>
          </a:prstGeom>
          <a:noFill/>
        </p:spPr>
        <p:txBody>
          <a:bodyPr wrap="square" lIns="0" rIns="0" tIns="0" bIns="0" anchor="ctr">
            <a:spAutoFit/>
          </a:bodyPr>
          <a:lstStyle/>
          <a:p>
            <a:pPr algn="l"/>
            <a:r>
              <a:rPr sz="1520" b="0" lang="en-US">
                <a:solidFill>
                  <a:srgbClr val="263440"/>
                </a:solidFill>
                <a:latin typeface="Arial"/>
              </a:rPr>
              <a:t>Protocol transactions
Update commitments
Aggregation statements</a:t>
            </a:r>
          </a:p>
        </p:txBody>
      </p:sp>
      <p:sp>
        <p:nvSpPr>
          <p:cNvPr id="55" name="Rounded Rectangle 54"/>
          <p:cNvSpPr/>
          <p:nvPr/>
        </p:nvSpPr>
        <p:spPr>
          <a:xfrm>
            <a:off x="502920" y="3986784"/>
            <a:ext cx="2834640" cy="1280160"/>
          </a:xfrm>
          <a:prstGeom prst="round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a:off x="676656" y="4160520"/>
            <a:ext cx="256032" cy="118872"/>
          </a:xfrm>
          <a:prstGeom prst="line">
            <a:avLst/>
          </a:prstGeom>
          <a:ln w="1524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676656" y="4279392"/>
            <a:ext cx="256032" cy="128016"/>
          </a:xfrm>
          <a:prstGeom prst="line">
            <a:avLst/>
          </a:prstGeom>
          <a:ln w="15240">
            <a:solidFill>
              <a:srgbClr val="207548"/>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630936" y="4114800"/>
            <a:ext cx="91440" cy="91440"/>
          </a:xfrm>
          <a:prstGeom prst="ellipse">
            <a:avLst/>
          </a:prstGeom>
          <a:solidFill>
            <a:srgbClr val="FFFFFF"/>
          </a:solidFill>
          <a:ln w="1524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630936" y="4361688"/>
            <a:ext cx="91440" cy="91440"/>
          </a:xfrm>
          <a:prstGeom prst="ellipse">
            <a:avLst/>
          </a:prstGeom>
          <a:solidFill>
            <a:srgbClr val="FFFFFF"/>
          </a:solidFill>
          <a:ln w="1524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886968" y="4233672"/>
            <a:ext cx="91440" cy="91440"/>
          </a:xfrm>
          <a:prstGeom prst="ellipse">
            <a:avLst/>
          </a:prstGeom>
          <a:solidFill>
            <a:srgbClr val="FFFFFF"/>
          </a:solidFill>
          <a:ln w="1524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Key use: Model exchange"/>
          <p:cNvSpPr txBox="1"/>
          <p:nvPr/>
        </p:nvSpPr>
        <p:spPr>
          <a:xfrm>
            <a:off x="1115568" y="4096512"/>
            <a:ext cx="2103120" cy="310896"/>
          </a:xfrm>
          <a:prstGeom prst="rect">
            <a:avLst/>
          </a:prstGeom>
          <a:noFill/>
        </p:spPr>
        <p:txBody>
          <a:bodyPr wrap="square" lIns="0" rIns="0" tIns="0" bIns="0" anchor="ctr">
            <a:spAutoFit/>
          </a:bodyPr>
          <a:lstStyle/>
          <a:p>
            <a:pPr algn="l"/>
            <a:r>
              <a:rPr sz="1800" b="1" lang="en-US">
                <a:solidFill>
                  <a:srgbClr val="207548"/>
                </a:solidFill>
                <a:latin typeface="Arial"/>
              </a:rPr>
              <a:t>Model exchange</a:t>
            </a:r>
          </a:p>
        </p:txBody>
      </p:sp>
      <p:sp>
        <p:nvSpPr>
          <p:cNvPr id="62" name="Key use: Sign model packages / Unwrap symmetric keys"/>
          <p:cNvSpPr txBox="1"/>
          <p:nvPr/>
        </p:nvSpPr>
        <p:spPr>
          <a:xfrm>
            <a:off x="667512" y="4526280"/>
            <a:ext cx="2505456" cy="658367"/>
          </a:xfrm>
          <a:prstGeom prst="rect">
            <a:avLst/>
          </a:prstGeom>
          <a:noFill/>
        </p:spPr>
        <p:txBody>
          <a:bodyPr wrap="square" lIns="0" rIns="0" tIns="0" bIns="0" anchor="ctr">
            <a:spAutoFit/>
          </a:bodyPr>
          <a:lstStyle/>
          <a:p>
            <a:pPr algn="l"/>
            <a:r>
              <a:rPr sz="1520" b="0" lang="en-US">
                <a:solidFill>
                  <a:srgbClr val="263440"/>
                </a:solidFill>
                <a:latin typeface="Arial"/>
              </a:rPr>
              <a:t>Sign model packages
Unwrap symmetric keys</a:t>
            </a:r>
          </a:p>
        </p:txBody>
      </p:sp>
      <p:sp>
        <p:nvSpPr>
          <p:cNvPr id="63" name="Rounded Rectangle 62"/>
          <p:cNvSpPr/>
          <p:nvPr/>
        </p:nvSpPr>
        <p:spPr>
          <a:xfrm>
            <a:off x="8851392" y="2331720"/>
            <a:ext cx="2834640" cy="1335024"/>
          </a:xfrm>
          <a:prstGeom prst="roundRect">
            <a:avLst/>
          </a:prstGeom>
          <a:solidFill>
            <a:srgbClr val="EDF4FA"/>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9006840" y="2450591"/>
            <a:ext cx="310896" cy="393192"/>
          </a:xfrm>
          <a:prstGeom prst="roundRect">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Connector 64"/>
          <p:cNvCxnSpPr/>
          <p:nvPr/>
        </p:nvCxnSpPr>
        <p:spPr>
          <a:xfrm>
            <a:off x="9070848" y="2551176"/>
            <a:ext cx="182880" cy="0"/>
          </a:xfrm>
          <a:prstGeom prst="line">
            <a:avLst/>
          </a:prstGeom>
          <a:ln w="127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9070848" y="2642615"/>
            <a:ext cx="182880" cy="0"/>
          </a:xfrm>
          <a:prstGeom prst="line">
            <a:avLst/>
          </a:prstGeom>
          <a:ln w="127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070848" y="2734056"/>
            <a:ext cx="182880" cy="0"/>
          </a:xfrm>
          <a:prstGeom prst="line">
            <a:avLst/>
          </a:prstGeom>
          <a:ln w="12700">
            <a:solidFill>
              <a:srgbClr val="1764A1"/>
            </a:solidFill>
          </a:ln>
        </p:spPr>
        <p:style>
          <a:lnRef idx="2">
            <a:schemeClr val="accent1"/>
          </a:lnRef>
          <a:fillRef idx="0">
            <a:schemeClr val="accent1"/>
          </a:fillRef>
          <a:effectRef idx="1">
            <a:schemeClr val="accent1"/>
          </a:effectRef>
          <a:fontRef idx="minor">
            <a:schemeClr val="tx1"/>
          </a:fontRef>
        </p:style>
      </p:cxnSp>
      <p:sp>
        <p:nvSpPr>
          <p:cNvPr id="68" name="Key use: Receipt log"/>
          <p:cNvSpPr txBox="1"/>
          <p:nvPr/>
        </p:nvSpPr>
        <p:spPr>
          <a:xfrm>
            <a:off x="9464040" y="2441448"/>
            <a:ext cx="2103120" cy="310896"/>
          </a:xfrm>
          <a:prstGeom prst="rect">
            <a:avLst/>
          </a:prstGeom>
          <a:noFill/>
        </p:spPr>
        <p:txBody>
          <a:bodyPr wrap="square" lIns="0" rIns="0" tIns="0" bIns="0" anchor="ctr">
            <a:spAutoFit/>
          </a:bodyPr>
          <a:lstStyle/>
          <a:p>
            <a:pPr algn="l"/>
            <a:r>
              <a:rPr sz="1800" b="1" lang="en-US">
                <a:solidFill>
                  <a:srgbClr val="1764A1"/>
                </a:solidFill>
                <a:latin typeface="Arial"/>
              </a:rPr>
              <a:t>Receipt log</a:t>
            </a:r>
          </a:p>
        </p:txBody>
      </p:sp>
      <p:sp>
        <p:nvSpPr>
          <p:cNvPr id="69" name="Key use: Signed tool-action receipts / Recording and audit trail"/>
          <p:cNvSpPr txBox="1"/>
          <p:nvPr/>
        </p:nvSpPr>
        <p:spPr>
          <a:xfrm>
            <a:off x="9015984" y="2871215"/>
            <a:ext cx="2505456" cy="713231"/>
          </a:xfrm>
          <a:prstGeom prst="rect">
            <a:avLst/>
          </a:prstGeom>
          <a:noFill/>
        </p:spPr>
        <p:txBody>
          <a:bodyPr wrap="square" lIns="0" rIns="0" tIns="0" bIns="0" anchor="ctr">
            <a:spAutoFit/>
          </a:bodyPr>
          <a:lstStyle/>
          <a:p>
            <a:pPr algn="l"/>
            <a:r>
              <a:rPr sz="1520" b="0" lang="en-US">
                <a:solidFill>
                  <a:srgbClr val="263440"/>
                </a:solidFill>
                <a:latin typeface="Arial"/>
              </a:rPr>
              <a:t>Signed tool-action receipts
Recording and audit trail</a:t>
            </a:r>
          </a:p>
        </p:txBody>
      </p:sp>
      <p:sp>
        <p:nvSpPr>
          <p:cNvPr id="70" name="Rounded Rectangle 69"/>
          <p:cNvSpPr/>
          <p:nvPr/>
        </p:nvSpPr>
        <p:spPr>
          <a:xfrm>
            <a:off x="8851392" y="3986784"/>
            <a:ext cx="2834640" cy="1280160"/>
          </a:xfrm>
          <a:prstGeom prst="roundRect">
            <a:avLst/>
          </a:prstGeom>
          <a:solidFill>
            <a:srgbClr val="EDF4FA"/>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Key use icon: agent / 1"/>
          <p:cNvCxnSpPr/>
          <p:nvPr/>
        </p:nvCxnSpPr>
        <p:spPr>
          <a:xfrm>
            <a:off x="9180576" y="4178808"/>
            <a:ext cx="0" cy="57150"/>
          </a:xfrm>
          <a:prstGeom prst="line">
            <a:avLst/>
          </a:prstGeom>
          <a:ln w="16227" cap="rnd">
            <a:solidFill>
              <a:srgbClr val="1764A1"/>
            </a:solidFill>
          </a:ln>
        </p:spPr>
        <p:style>
          <a:lnRef idx="2">
            <a:schemeClr val="accent1"/>
          </a:lnRef>
          <a:fillRef idx="0">
            <a:schemeClr val="accent1"/>
          </a:fillRef>
          <a:effectRef idx="1">
            <a:schemeClr val="accent1"/>
          </a:effectRef>
          <a:fontRef idx="minor">
            <a:schemeClr val="tx1"/>
          </a:fontRef>
        </p:style>
      </p:cxnSp>
      <p:sp>
        <p:nvSpPr>
          <p:cNvPr id="72" name="Key use icon: agent / 2"/>
          <p:cNvSpPr/>
          <p:nvPr/>
        </p:nvSpPr>
        <p:spPr>
          <a:xfrm>
            <a:off x="9163431" y="4150233"/>
            <a:ext cx="34290" cy="34290"/>
          </a:xfrm>
          <a:prstGeom prst="ellipse">
            <a:avLst/>
          </a:prstGeom>
          <a:solidFill>
            <a:srgbClr val="1764A1"/>
          </a:solidFill>
          <a:ln w="16227">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Key use icon: agent / 3"/>
          <p:cNvSpPr/>
          <p:nvPr/>
        </p:nvSpPr>
        <p:spPr>
          <a:xfrm>
            <a:off x="9043416" y="4235958"/>
            <a:ext cx="274320" cy="228600"/>
          </a:xfrm>
          <a:prstGeom prst="roundRect">
            <a:avLst/>
          </a:prstGeom>
          <a:solidFill>
            <a:srgbClr val="FFFFFF"/>
          </a:solidFill>
          <a:ln w="16227">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4" name="Key use icon: agent / 4"/>
          <p:cNvCxnSpPr/>
          <p:nvPr/>
        </p:nvCxnSpPr>
        <p:spPr>
          <a:xfrm>
            <a:off x="9009126" y="4304538"/>
            <a:ext cx="0" cy="80010"/>
          </a:xfrm>
          <a:prstGeom prst="line">
            <a:avLst/>
          </a:prstGeom>
          <a:ln w="16227" cap="rnd">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75" name="Key use icon: agent / 5"/>
          <p:cNvCxnSpPr/>
          <p:nvPr/>
        </p:nvCxnSpPr>
        <p:spPr>
          <a:xfrm>
            <a:off x="9352026" y="4304538"/>
            <a:ext cx="0" cy="80010"/>
          </a:xfrm>
          <a:prstGeom prst="line">
            <a:avLst/>
          </a:prstGeom>
          <a:ln w="16227" cap="rnd">
            <a:solidFill>
              <a:srgbClr val="1764A1"/>
            </a:solidFill>
          </a:ln>
        </p:spPr>
        <p:style>
          <a:lnRef idx="2">
            <a:schemeClr val="accent1"/>
          </a:lnRef>
          <a:fillRef idx="0">
            <a:schemeClr val="accent1"/>
          </a:fillRef>
          <a:effectRef idx="1">
            <a:schemeClr val="accent1"/>
          </a:effectRef>
          <a:fontRef idx="minor">
            <a:schemeClr val="tx1"/>
          </a:fontRef>
        </p:style>
      </p:cxnSp>
      <p:sp>
        <p:nvSpPr>
          <p:cNvPr id="76" name="Key use icon: agent / 6"/>
          <p:cNvSpPr/>
          <p:nvPr/>
        </p:nvSpPr>
        <p:spPr>
          <a:xfrm>
            <a:off x="9100566" y="4304538"/>
            <a:ext cx="34290" cy="34290"/>
          </a:xfrm>
          <a:prstGeom prst="ellipse">
            <a:avLst/>
          </a:prstGeom>
          <a:solidFill>
            <a:srgbClr val="1764A1"/>
          </a:solidFill>
          <a:ln w="16227">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Key use icon: agent / 7"/>
          <p:cNvSpPr/>
          <p:nvPr/>
        </p:nvSpPr>
        <p:spPr>
          <a:xfrm>
            <a:off x="9226296" y="4304538"/>
            <a:ext cx="34290" cy="34290"/>
          </a:xfrm>
          <a:prstGeom prst="ellipse">
            <a:avLst/>
          </a:prstGeom>
          <a:solidFill>
            <a:srgbClr val="1764A1"/>
          </a:solidFill>
          <a:ln w="16227">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8" name="Key use icon: agent / 8"/>
          <p:cNvCxnSpPr/>
          <p:nvPr/>
        </p:nvCxnSpPr>
        <p:spPr>
          <a:xfrm>
            <a:off x="9123426" y="4407408"/>
            <a:ext cx="114300" cy="0"/>
          </a:xfrm>
          <a:prstGeom prst="line">
            <a:avLst/>
          </a:prstGeom>
          <a:ln w="16227" cap="rnd">
            <a:solidFill>
              <a:srgbClr val="1764A1"/>
            </a:solidFill>
          </a:ln>
        </p:spPr>
        <p:style>
          <a:lnRef idx="2">
            <a:schemeClr val="accent1"/>
          </a:lnRef>
          <a:fillRef idx="0">
            <a:schemeClr val="accent1"/>
          </a:fillRef>
          <a:effectRef idx="1">
            <a:schemeClr val="accent1"/>
          </a:effectRef>
          <a:fontRef idx="minor">
            <a:schemeClr val="tx1"/>
          </a:fontRef>
        </p:style>
      </p:cxnSp>
      <p:sp>
        <p:nvSpPr>
          <p:cNvPr id="79" name="Key use: Agent"/>
          <p:cNvSpPr txBox="1"/>
          <p:nvPr/>
        </p:nvSpPr>
        <p:spPr>
          <a:xfrm>
            <a:off x="9464040" y="4096512"/>
            <a:ext cx="2103120" cy="310896"/>
          </a:xfrm>
          <a:prstGeom prst="rect">
            <a:avLst/>
          </a:prstGeom>
          <a:noFill/>
        </p:spPr>
        <p:txBody>
          <a:bodyPr wrap="square" lIns="0" rIns="0" tIns="0" bIns="0" anchor="ctr">
            <a:spAutoFit/>
          </a:bodyPr>
          <a:lstStyle/>
          <a:p>
            <a:pPr algn="l"/>
            <a:r>
              <a:rPr sz="1800" b="1" lang="en-US">
                <a:solidFill>
                  <a:srgbClr val="1764A1"/>
                </a:solidFill>
                <a:latin typeface="Arial"/>
              </a:rPr>
              <a:t>Agent</a:t>
            </a:r>
          </a:p>
        </p:txBody>
      </p:sp>
      <p:sp>
        <p:nvSpPr>
          <p:cNvPr id="80" name="Key use: Verify signed inference / evidence (AIR)"/>
          <p:cNvSpPr txBox="1"/>
          <p:nvPr/>
        </p:nvSpPr>
        <p:spPr>
          <a:xfrm>
            <a:off x="9015984" y="4526280"/>
            <a:ext cx="2505456" cy="658367"/>
          </a:xfrm>
          <a:prstGeom prst="rect">
            <a:avLst/>
          </a:prstGeom>
          <a:noFill/>
        </p:spPr>
        <p:txBody>
          <a:bodyPr wrap="square" lIns="0" rIns="0" tIns="0" bIns="0" anchor="ctr">
            <a:spAutoFit/>
          </a:bodyPr>
          <a:lstStyle/>
          <a:p>
            <a:pPr algn="l"/>
            <a:r>
              <a:rPr sz="1520" b="0" lang="en-US">
                <a:solidFill>
                  <a:srgbClr val="263440"/>
                </a:solidFill>
                <a:latin typeface="Arial"/>
              </a:rPr>
              <a:t>Verify signed inference
evidence (AIR)</a:t>
            </a:r>
          </a:p>
        </p:txBody>
      </p:sp>
      <p:sp>
        <p:nvSpPr>
          <p:cNvPr id="81" name="Rounded Rectangle 80"/>
          <p:cNvSpPr/>
          <p:nvPr/>
        </p:nvSpPr>
        <p:spPr>
          <a:xfrm>
            <a:off x="4096512" y="2660904"/>
            <a:ext cx="1901952" cy="713232"/>
          </a:xfrm>
          <a:prstGeom prst="roundRect">
            <a:avLst/>
          </a:prstGeom>
          <a:solidFill>
            <a:srgbClr val="FFFFFF"/>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4206240" y="2859145"/>
            <a:ext cx="138257" cy="138257"/>
          </a:xfrm>
          <a:prstGeom prst="ellipse">
            <a:avLst/>
          </a:prstGeom>
          <a:solidFill>
            <a:srgbClr val="FFFFFF"/>
          </a:solidFill>
          <a:ln w="1905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3" name="Connector 82"/>
          <p:cNvCxnSpPr/>
          <p:nvPr/>
        </p:nvCxnSpPr>
        <p:spPr>
          <a:xfrm>
            <a:off x="4341205" y="2928274"/>
            <a:ext cx="174467" cy="0"/>
          </a:xfrm>
          <a:prstGeom prst="line">
            <a:avLst/>
          </a:prstGeom>
          <a:ln w="2540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4446544" y="2928274"/>
            <a:ext cx="0" cy="75712"/>
          </a:xfrm>
          <a:prstGeom prst="line">
            <a:avLst/>
          </a:prstGeom>
          <a:ln w="2540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4505797" y="2928274"/>
            <a:ext cx="0" cy="75712"/>
          </a:xfrm>
          <a:prstGeom prst="line">
            <a:avLst/>
          </a:prstGeom>
          <a:ln w="25400">
            <a:solidFill>
              <a:srgbClr val="7446A6"/>
            </a:solidFill>
          </a:ln>
        </p:spPr>
        <p:style>
          <a:lnRef idx="2">
            <a:schemeClr val="accent1"/>
          </a:lnRef>
          <a:fillRef idx="0">
            <a:schemeClr val="accent1"/>
          </a:fillRef>
          <a:effectRef idx="1">
            <a:schemeClr val="accent1"/>
          </a:effectRef>
          <a:fontRef idx="minor">
            <a:schemeClr val="tx1"/>
          </a:fontRef>
        </p:style>
      </p:cxnSp>
      <p:sp>
        <p:nvSpPr>
          <p:cNvPr id="86" name="Key use: Derived / secp256k1"/>
          <p:cNvSpPr txBox="1"/>
          <p:nvPr/>
        </p:nvSpPr>
        <p:spPr>
          <a:xfrm>
            <a:off x="4599432" y="2752344"/>
            <a:ext cx="1307592" cy="530352"/>
          </a:xfrm>
          <a:prstGeom prst="rect">
            <a:avLst/>
          </a:prstGeom>
          <a:noFill/>
        </p:spPr>
        <p:txBody>
          <a:bodyPr wrap="square" lIns="0" rIns="0" tIns="0" bIns="0" anchor="ctr">
            <a:spAutoFit/>
          </a:bodyPr>
          <a:lstStyle/>
          <a:p>
            <a:pPr algn="ctr"/>
            <a:r>
              <a:rPr sz="1450" b="1" lang="en-US">
                <a:solidFill>
                  <a:srgbClr val="7446A6"/>
                </a:solidFill>
                <a:latin typeface="Arial"/>
              </a:rPr>
              <a:t>Derived
secp256k1</a:t>
            </a:r>
          </a:p>
        </p:txBody>
      </p:sp>
      <p:sp>
        <p:nvSpPr>
          <p:cNvPr id="87" name="Rounded Rectangle 86"/>
          <p:cNvSpPr/>
          <p:nvPr/>
        </p:nvSpPr>
        <p:spPr>
          <a:xfrm>
            <a:off x="6190488" y="2660904"/>
            <a:ext cx="1901952" cy="713232"/>
          </a:xfrm>
          <a:prstGeom prst="roundRect">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6300216" y="2859145"/>
            <a:ext cx="138257" cy="138257"/>
          </a:xfrm>
          <a:prstGeom prst="ellipse">
            <a:avLst/>
          </a:prstGeom>
          <a:solidFill>
            <a:srgbClr val="FFFFFF"/>
          </a:solidFill>
          <a:ln w="1905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9" name="Connector 88"/>
          <p:cNvCxnSpPr/>
          <p:nvPr/>
        </p:nvCxnSpPr>
        <p:spPr>
          <a:xfrm>
            <a:off x="6435181" y="2928274"/>
            <a:ext cx="174467" cy="0"/>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6540520" y="2928274"/>
            <a:ext cx="0" cy="75712"/>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6599773" y="2928274"/>
            <a:ext cx="0" cy="75712"/>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sp>
        <p:nvSpPr>
          <p:cNvPr id="92" name="Key use: Sello / Ed25519"/>
          <p:cNvSpPr txBox="1"/>
          <p:nvPr/>
        </p:nvSpPr>
        <p:spPr>
          <a:xfrm>
            <a:off x="6693407" y="2752344"/>
            <a:ext cx="1307592" cy="530352"/>
          </a:xfrm>
          <a:prstGeom prst="rect">
            <a:avLst/>
          </a:prstGeom>
          <a:noFill/>
        </p:spPr>
        <p:txBody>
          <a:bodyPr wrap="square" lIns="0" rIns="0" tIns="0" bIns="0" anchor="ctr">
            <a:spAutoFit/>
          </a:bodyPr>
          <a:lstStyle/>
          <a:p>
            <a:pPr algn="ctr"/>
            <a:r>
              <a:rPr sz="1450" b="1" lang="en-US">
                <a:solidFill>
                  <a:srgbClr val="1764A1"/>
                </a:solidFill>
                <a:latin typeface="Arial"/>
              </a:rPr>
              <a:t>Sello
Ed25519</a:t>
            </a:r>
          </a:p>
        </p:txBody>
      </p:sp>
      <p:sp>
        <p:nvSpPr>
          <p:cNvPr id="93" name="Rounded Rectangle 92"/>
          <p:cNvSpPr/>
          <p:nvPr/>
        </p:nvSpPr>
        <p:spPr>
          <a:xfrm>
            <a:off x="4096512" y="4041648"/>
            <a:ext cx="1901952" cy="713232"/>
          </a:xfrm>
          <a:prstGeom prst="roundRect">
            <a:avLst/>
          </a:prstGeom>
          <a:solidFill>
            <a:srgbClr val="FFFFFF"/>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4206240" y="4239889"/>
            <a:ext cx="138257" cy="138257"/>
          </a:xfrm>
          <a:prstGeom prst="ellipse">
            <a:avLst/>
          </a:prstGeom>
          <a:solidFill>
            <a:srgbClr val="FFFFFF"/>
          </a:solidFill>
          <a:ln w="190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5" name="Connector 94"/>
          <p:cNvCxnSpPr/>
          <p:nvPr/>
        </p:nvCxnSpPr>
        <p:spPr>
          <a:xfrm>
            <a:off x="4341205" y="4309018"/>
            <a:ext cx="174467" cy="0"/>
          </a:xfrm>
          <a:prstGeom prst="line">
            <a:avLst/>
          </a:prstGeom>
          <a:ln w="2540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4446544" y="4309018"/>
            <a:ext cx="0" cy="75712"/>
          </a:xfrm>
          <a:prstGeom prst="line">
            <a:avLst/>
          </a:prstGeom>
          <a:ln w="2540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4505797" y="4309018"/>
            <a:ext cx="0" cy="75712"/>
          </a:xfrm>
          <a:prstGeom prst="line">
            <a:avLst/>
          </a:prstGeom>
          <a:ln w="25400">
            <a:solidFill>
              <a:srgbClr val="207548"/>
            </a:solidFill>
          </a:ln>
        </p:spPr>
        <p:style>
          <a:lnRef idx="2">
            <a:schemeClr val="accent1"/>
          </a:lnRef>
          <a:fillRef idx="0">
            <a:schemeClr val="accent1"/>
          </a:fillRef>
          <a:effectRef idx="1">
            <a:schemeClr val="accent1"/>
          </a:effectRef>
          <a:fontRef idx="minor">
            <a:schemeClr val="tx1"/>
          </a:fontRef>
        </p:style>
      </p:cxnSp>
      <p:sp>
        <p:nvSpPr>
          <p:cNvPr id="98" name="Key use: Random / RSA-3072"/>
          <p:cNvSpPr txBox="1"/>
          <p:nvPr/>
        </p:nvSpPr>
        <p:spPr>
          <a:xfrm>
            <a:off x="4599432" y="4133087"/>
            <a:ext cx="1307592" cy="530352"/>
          </a:xfrm>
          <a:prstGeom prst="rect">
            <a:avLst/>
          </a:prstGeom>
          <a:noFill/>
        </p:spPr>
        <p:txBody>
          <a:bodyPr wrap="square" lIns="0" rIns="0" tIns="0" bIns="0" anchor="ctr">
            <a:spAutoFit/>
          </a:bodyPr>
          <a:lstStyle/>
          <a:p>
            <a:pPr algn="ctr"/>
            <a:r>
              <a:rPr sz="1450" b="1" lang="en-US">
                <a:solidFill>
                  <a:srgbClr val="207548"/>
                </a:solidFill>
                <a:latin typeface="Arial"/>
              </a:rPr>
              <a:t>Random
RSA-3072</a:t>
            </a:r>
          </a:p>
        </p:txBody>
      </p:sp>
      <p:sp>
        <p:nvSpPr>
          <p:cNvPr id="99" name="Rounded Rectangle 98"/>
          <p:cNvSpPr/>
          <p:nvPr/>
        </p:nvSpPr>
        <p:spPr>
          <a:xfrm>
            <a:off x="6190488" y="4041648"/>
            <a:ext cx="1901952" cy="713232"/>
          </a:xfrm>
          <a:prstGeom prst="roundRect">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6300216" y="4239889"/>
            <a:ext cx="138257" cy="138257"/>
          </a:xfrm>
          <a:prstGeom prst="ellipse">
            <a:avLst/>
          </a:prstGeom>
          <a:solidFill>
            <a:srgbClr val="FFFFFF"/>
          </a:solidFill>
          <a:ln w="1905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1" name="Connector 100"/>
          <p:cNvCxnSpPr/>
          <p:nvPr/>
        </p:nvCxnSpPr>
        <p:spPr>
          <a:xfrm>
            <a:off x="6435181" y="4309018"/>
            <a:ext cx="174467" cy="0"/>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6540520" y="4309018"/>
            <a:ext cx="0" cy="75712"/>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6599773" y="4309018"/>
            <a:ext cx="0" cy="75712"/>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sp>
        <p:nvSpPr>
          <p:cNvPr id="104" name="Key use: AIR / Ed25519"/>
          <p:cNvSpPr txBox="1"/>
          <p:nvPr/>
        </p:nvSpPr>
        <p:spPr>
          <a:xfrm>
            <a:off x="6693407" y="4133087"/>
            <a:ext cx="1307592" cy="530352"/>
          </a:xfrm>
          <a:prstGeom prst="rect">
            <a:avLst/>
          </a:prstGeom>
          <a:noFill/>
        </p:spPr>
        <p:txBody>
          <a:bodyPr wrap="square" lIns="0" rIns="0" tIns="0" bIns="0" anchor="ctr">
            <a:spAutoFit/>
          </a:bodyPr>
          <a:lstStyle/>
          <a:p>
            <a:pPr algn="ctr"/>
            <a:r>
              <a:rPr sz="1450" b="1" lang="en-US">
                <a:solidFill>
                  <a:srgbClr val="1764A1"/>
                </a:solidFill>
                <a:latin typeface="Arial"/>
              </a:rPr>
              <a:t>AIR
Ed25519</a:t>
            </a:r>
          </a:p>
        </p:txBody>
      </p:sp>
      <p:cxnSp>
        <p:nvCxnSpPr>
          <p:cNvPr id="105" name="Connector 104"/>
          <p:cNvCxnSpPr/>
          <p:nvPr/>
        </p:nvCxnSpPr>
        <p:spPr>
          <a:xfrm flipH="1">
            <a:off x="3374136" y="3008376"/>
            <a:ext cx="694944" cy="0"/>
          </a:xfrm>
          <a:prstGeom prst="line">
            <a:avLst/>
          </a:prstGeom>
          <a:ln w="2286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8119872" y="3008376"/>
            <a:ext cx="694944" cy="0"/>
          </a:xfrm>
          <a:prstGeom prst="line">
            <a:avLst/>
          </a:prstGeom>
          <a:ln w="2286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a:off x="3374136" y="4398264"/>
            <a:ext cx="694944" cy="0"/>
          </a:xfrm>
          <a:prstGeom prst="line">
            <a:avLst/>
          </a:prstGeom>
          <a:ln w="2286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8119872" y="4398264"/>
            <a:ext cx="694944" cy="0"/>
          </a:xfrm>
          <a:prstGeom prst="line">
            <a:avLst/>
          </a:prstGeom>
          <a:ln w="2286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9" name="Rounded Rectangle 108"/>
          <p:cNvSpPr/>
          <p:nvPr/>
        </p:nvSpPr>
        <p:spPr>
          <a:xfrm>
            <a:off x="4096512" y="5038344"/>
            <a:ext cx="3995928" cy="310896"/>
          </a:xfrm>
          <a:prstGeom prst="round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Key use: Derived AES-GCM seals RSA state"/>
          <p:cNvSpPr txBox="1"/>
          <p:nvPr/>
        </p:nvSpPr>
        <p:spPr>
          <a:xfrm>
            <a:off x="4169664" y="5070348"/>
            <a:ext cx="3849624" cy="246888"/>
          </a:xfrm>
          <a:prstGeom prst="rect">
            <a:avLst/>
          </a:prstGeom>
          <a:noFill/>
        </p:spPr>
        <p:txBody>
          <a:bodyPr wrap="square" lIns="0" rIns="0" tIns="0" bIns="0" anchor="ctr">
            <a:spAutoFit/>
          </a:bodyPr>
          <a:lstStyle/>
          <a:p>
            <a:pPr algn="ctr"/>
            <a:r>
              <a:rPr sz="1400" b="1" lang="en-US">
                <a:solidFill>
                  <a:srgbClr val="207548"/>
                </a:solidFill>
                <a:latin typeface="Arial"/>
              </a:rPr>
              <a:t>Derived AES-GCM seals RSA state</a:t>
            </a:r>
          </a:p>
        </p:txBody>
      </p:sp>
      <p:cxnSp>
        <p:nvCxnSpPr>
          <p:cNvPr id="111" name="Connector 110"/>
          <p:cNvCxnSpPr/>
          <p:nvPr/>
        </p:nvCxnSpPr>
        <p:spPr>
          <a:xfrm flipV="1">
            <a:off x="5056632" y="4782312"/>
            <a:ext cx="0" cy="228600"/>
          </a:xfrm>
          <a:prstGeom prst="line">
            <a:avLst/>
          </a:prstGeom>
          <a:ln w="1905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Weighted aggregator selection</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PARTICIPATION RAISES PROBABILITY WITHOUT EXCLUDING NEWCOMERS</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16</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5D6973"/>
                </a:solidFill>
                <a:latin typeface="Arial"/>
              </a:rPr>
              <a:t>Agent</a:t>
            </a:r>
          </a:p>
        </p:txBody>
      </p:sp>
      <p:sp>
        <p:nvSpPr>
          <p:cNvPr id="13" name="Rectangle 12"/>
          <p:cNvSpPr/>
          <p:nvPr/>
        </p:nvSpPr>
        <p:spPr>
          <a:xfrm>
            <a:off x="713232" y="1362456"/>
            <a:ext cx="10771632" cy="502920"/>
          </a:xfrm>
          <a:prstGeom prst="rect">
            <a:avLst/>
          </a:prstGeom>
          <a:solidFill>
            <a:srgbClr val="F3F3F3"/>
          </a:solidFill>
          <a:ln w="1270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1481328"/>
            <a:ext cx="10332720" cy="256032"/>
          </a:xfrm>
          <a:prstGeom prst="rect">
            <a:avLst/>
          </a:prstGeom>
          <a:noFill/>
        </p:spPr>
        <p:txBody>
          <a:bodyPr wrap="square" lIns="18288" rIns="18288" tIns="18288" bIns="18288" anchor="ctr">
            <a:spAutoFit/>
          </a:bodyPr>
          <a:lstStyle/>
          <a:p>
            <a:pPr algn="ctr"/>
            <a:r>
              <a:rPr sz="1700" b="1" lang="en-US">
                <a:solidFill>
                  <a:srgbClr val="434343"/>
                </a:solidFill>
                <a:latin typeface="Arial"/>
              </a:rPr>
              <a:t>P(worker i) = (score_i + 1) / Σ(score_j + 1)</a:t>
            </a:r>
          </a:p>
        </p:txBody>
      </p:sp>
      <p:sp>
        <p:nvSpPr>
          <p:cNvPr id="15" name="Rounded Rectangle 14"/>
          <p:cNvSpPr/>
          <p:nvPr/>
        </p:nvSpPr>
        <p:spPr>
          <a:xfrm>
            <a:off x="786384" y="2039112"/>
            <a:ext cx="2468880" cy="841248"/>
          </a:xfrm>
          <a:prstGeom prst="roundRect">
            <a:avLst/>
          </a:prstGeom>
          <a:solidFill>
            <a:srgbClr val="EAF5FA"/>
          </a:solidFill>
          <a:ln w="1270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176272"/>
            <a:ext cx="2249424" cy="182880"/>
          </a:xfrm>
          <a:prstGeom prst="rect">
            <a:avLst/>
          </a:prstGeom>
          <a:noFill/>
        </p:spPr>
        <p:txBody>
          <a:bodyPr wrap="square" lIns="18288" rIns="18288" tIns="18288" bIns="18288" anchor="t">
            <a:spAutoFit/>
          </a:bodyPr>
          <a:lstStyle/>
          <a:p>
            <a:pPr algn="ctr"/>
            <a:r>
              <a:rPr sz="1050" b="1" lang="en-US">
                <a:solidFill>
                  <a:srgbClr val="1F90CC"/>
                </a:solidFill>
                <a:latin typeface="Arial"/>
              </a:rPr>
              <a:t>WORKER A</a:t>
            </a:r>
          </a:p>
        </p:txBody>
      </p:sp>
      <p:sp>
        <p:nvSpPr>
          <p:cNvPr id="17" name="TextBox 16"/>
          <p:cNvSpPr txBox="1"/>
          <p:nvPr/>
        </p:nvSpPr>
        <p:spPr>
          <a:xfrm>
            <a:off x="896112" y="2487168"/>
            <a:ext cx="2249424" cy="210312"/>
          </a:xfrm>
          <a:prstGeom prst="rect">
            <a:avLst/>
          </a:prstGeom>
          <a:noFill/>
        </p:spPr>
        <p:txBody>
          <a:bodyPr wrap="square" lIns="18288" rIns="18288" tIns="18288" bIns="18288" anchor="ctr">
            <a:spAutoFit/>
          </a:bodyPr>
          <a:lstStyle/>
          <a:p>
            <a:pPr algn="ctr"/>
            <a:r>
              <a:rPr sz="1200" b="1" lang="en-US">
                <a:solidFill>
                  <a:srgbClr val="434343"/>
                </a:solidFill>
                <a:latin typeface="Arial"/>
              </a:rPr>
              <a:t>score 0  →  weight 1</a:t>
            </a:r>
          </a:p>
        </p:txBody>
      </p:sp>
      <p:sp>
        <p:nvSpPr>
          <p:cNvPr id="18" name="Rounded Rectangle 17"/>
          <p:cNvSpPr/>
          <p:nvPr/>
        </p:nvSpPr>
        <p:spPr>
          <a:xfrm>
            <a:off x="3584448" y="2039112"/>
            <a:ext cx="2468880" cy="841248"/>
          </a:xfrm>
          <a:prstGeom prst="roundRect">
            <a:avLst/>
          </a:prstGeom>
          <a:solidFill>
            <a:srgbClr val="FBEAEC"/>
          </a:solidFill>
          <a:ln w="1270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94176" y="2176272"/>
            <a:ext cx="2249424" cy="182880"/>
          </a:xfrm>
          <a:prstGeom prst="rect">
            <a:avLst/>
          </a:prstGeom>
          <a:noFill/>
        </p:spPr>
        <p:txBody>
          <a:bodyPr wrap="square" lIns="18288" rIns="18288" tIns="18288" bIns="18288" anchor="t">
            <a:spAutoFit/>
          </a:bodyPr>
          <a:lstStyle/>
          <a:p>
            <a:pPr algn="ctr"/>
            <a:r>
              <a:rPr sz="1050" b="1" lang="en-US">
                <a:solidFill>
                  <a:srgbClr val="C40D1E"/>
                </a:solidFill>
                <a:latin typeface="Arial"/>
              </a:rPr>
              <a:t>WORKER B</a:t>
            </a:r>
          </a:p>
        </p:txBody>
      </p:sp>
      <p:sp>
        <p:nvSpPr>
          <p:cNvPr id="20" name="TextBox 19"/>
          <p:cNvSpPr txBox="1"/>
          <p:nvPr/>
        </p:nvSpPr>
        <p:spPr>
          <a:xfrm>
            <a:off x="3694176" y="2487168"/>
            <a:ext cx="2249424" cy="210312"/>
          </a:xfrm>
          <a:prstGeom prst="rect">
            <a:avLst/>
          </a:prstGeom>
          <a:noFill/>
        </p:spPr>
        <p:txBody>
          <a:bodyPr wrap="square" lIns="18288" rIns="18288" tIns="18288" bIns="18288" anchor="ctr">
            <a:spAutoFit/>
          </a:bodyPr>
          <a:lstStyle/>
          <a:p>
            <a:pPr algn="ctr"/>
            <a:r>
              <a:rPr sz="1200" b="1" lang="en-US">
                <a:solidFill>
                  <a:srgbClr val="434343"/>
                </a:solidFill>
                <a:latin typeface="Arial"/>
              </a:rPr>
              <a:t>score 1  →  weight 2</a:t>
            </a:r>
          </a:p>
        </p:txBody>
      </p:sp>
      <p:sp>
        <p:nvSpPr>
          <p:cNvPr id="21" name="Rounded Rectangle 20"/>
          <p:cNvSpPr/>
          <p:nvPr/>
        </p:nvSpPr>
        <p:spPr>
          <a:xfrm>
            <a:off x="6382512" y="2039112"/>
            <a:ext cx="2468880" cy="841248"/>
          </a:xfrm>
          <a:prstGeom prst="roundRect">
            <a:avLst/>
          </a:prstGeom>
          <a:solidFill>
            <a:srgbClr val="EAF6ED"/>
          </a:solidFill>
          <a:ln w="1270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2176272"/>
            <a:ext cx="2249424" cy="182880"/>
          </a:xfrm>
          <a:prstGeom prst="rect">
            <a:avLst/>
          </a:prstGeom>
          <a:noFill/>
        </p:spPr>
        <p:txBody>
          <a:bodyPr wrap="square" lIns="18288" rIns="18288" tIns="18288" bIns="18288" anchor="t">
            <a:spAutoFit/>
          </a:bodyPr>
          <a:lstStyle/>
          <a:p>
            <a:pPr algn="ctr"/>
            <a:r>
              <a:rPr sz="1050" b="1" lang="en-US">
                <a:solidFill>
                  <a:srgbClr val="2F8F46"/>
                </a:solidFill>
                <a:latin typeface="Arial"/>
              </a:rPr>
              <a:t>WORKER C</a:t>
            </a:r>
          </a:p>
        </p:txBody>
      </p:sp>
      <p:sp>
        <p:nvSpPr>
          <p:cNvPr id="23" name="TextBox 22"/>
          <p:cNvSpPr txBox="1"/>
          <p:nvPr/>
        </p:nvSpPr>
        <p:spPr>
          <a:xfrm>
            <a:off x="6492240" y="2487168"/>
            <a:ext cx="2249424" cy="210312"/>
          </a:xfrm>
          <a:prstGeom prst="rect">
            <a:avLst/>
          </a:prstGeom>
          <a:noFill/>
        </p:spPr>
        <p:txBody>
          <a:bodyPr wrap="square" lIns="18288" rIns="18288" tIns="18288" bIns="18288" anchor="ctr">
            <a:spAutoFit/>
          </a:bodyPr>
          <a:lstStyle/>
          <a:p>
            <a:pPr algn="ctr"/>
            <a:r>
              <a:rPr sz="1200" b="1" lang="en-US">
                <a:solidFill>
                  <a:srgbClr val="434343"/>
                </a:solidFill>
                <a:latin typeface="Arial"/>
              </a:rPr>
              <a:t>score 3  →  weight 4</a:t>
            </a:r>
          </a:p>
        </p:txBody>
      </p:sp>
      <p:sp>
        <p:nvSpPr>
          <p:cNvPr id="24" name="Rounded Rectangle 23"/>
          <p:cNvSpPr/>
          <p:nvPr/>
        </p:nvSpPr>
        <p:spPr>
          <a:xfrm>
            <a:off x="9180576" y="2039112"/>
            <a:ext cx="2468880" cy="841248"/>
          </a:xfrm>
          <a:prstGeom prst="roundRect">
            <a:avLst/>
          </a:prstGeom>
          <a:solidFill>
            <a:srgbClr val="F3EBF9"/>
          </a:solidFill>
          <a:ln w="12700">
            <a:solidFill>
              <a:srgbClr val="7A3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90303" y="2176272"/>
            <a:ext cx="2249424" cy="182880"/>
          </a:xfrm>
          <a:prstGeom prst="rect">
            <a:avLst/>
          </a:prstGeom>
          <a:noFill/>
        </p:spPr>
        <p:txBody>
          <a:bodyPr wrap="square" lIns="18288" rIns="18288" tIns="18288" bIns="18288" anchor="t">
            <a:spAutoFit/>
          </a:bodyPr>
          <a:lstStyle/>
          <a:p>
            <a:pPr algn="ctr"/>
            <a:r>
              <a:rPr sz="1050" b="1" lang="en-US">
                <a:solidFill>
                  <a:srgbClr val="7A35B5"/>
                </a:solidFill>
                <a:latin typeface="Arial"/>
              </a:rPr>
              <a:t>WORKER D</a:t>
            </a:r>
          </a:p>
        </p:txBody>
      </p:sp>
      <p:sp>
        <p:nvSpPr>
          <p:cNvPr id="26" name="TextBox 25"/>
          <p:cNvSpPr txBox="1"/>
          <p:nvPr/>
        </p:nvSpPr>
        <p:spPr>
          <a:xfrm>
            <a:off x="9290303" y="2487168"/>
            <a:ext cx="2249424" cy="210312"/>
          </a:xfrm>
          <a:prstGeom prst="rect">
            <a:avLst/>
          </a:prstGeom>
          <a:noFill/>
        </p:spPr>
        <p:txBody>
          <a:bodyPr wrap="square" lIns="18288" rIns="18288" tIns="18288" bIns="18288" anchor="ctr">
            <a:spAutoFit/>
          </a:bodyPr>
          <a:lstStyle/>
          <a:p>
            <a:pPr algn="ctr"/>
            <a:r>
              <a:rPr sz="1200" b="1" lang="en-US">
                <a:solidFill>
                  <a:srgbClr val="434343"/>
                </a:solidFill>
                <a:latin typeface="Arial"/>
              </a:rPr>
              <a:t>score 6  →  weight 7</a:t>
            </a:r>
          </a:p>
        </p:txBody>
      </p:sp>
      <p:sp>
        <p:nvSpPr>
          <p:cNvPr id="27" name="Rectangle 26"/>
          <p:cNvSpPr/>
          <p:nvPr/>
        </p:nvSpPr>
        <p:spPr>
          <a:xfrm>
            <a:off x="914400" y="3200400"/>
            <a:ext cx="739357" cy="640080"/>
          </a:xfrm>
          <a:prstGeom prst="rect">
            <a:avLst/>
          </a:prstGeom>
          <a:solidFill>
            <a:srgbClr val="1F90CC"/>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 y="3383280"/>
            <a:ext cx="702781" cy="237744"/>
          </a:xfrm>
          <a:prstGeom prst="rect">
            <a:avLst/>
          </a:prstGeom>
          <a:noFill/>
        </p:spPr>
        <p:txBody>
          <a:bodyPr wrap="square" lIns="0" rIns="0" tIns="0" bIns="0" anchor="ctr">
            <a:spAutoFit/>
          </a:bodyPr>
          <a:lstStyle/>
          <a:p>
            <a:pPr algn="ctr"/>
            <a:r>
              <a:rPr sz="819" b="1" lang="en-US">
                <a:solidFill>
                  <a:srgbClr val="FFFFFF"/>
                </a:solidFill>
                <a:latin typeface="Arial"/>
              </a:rPr>
              <a:t>7.1%</a:t>
            </a:r>
          </a:p>
        </p:txBody>
      </p:sp>
      <p:sp>
        <p:nvSpPr>
          <p:cNvPr id="29" name="Rectangle 28"/>
          <p:cNvSpPr/>
          <p:nvPr/>
        </p:nvSpPr>
        <p:spPr>
          <a:xfrm>
            <a:off x="1653757" y="3200400"/>
            <a:ext cx="1478715" cy="640080"/>
          </a:xfrm>
          <a:prstGeom prst="rect">
            <a:avLst/>
          </a:prstGeom>
          <a:solidFill>
            <a:srgbClr val="C40D1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72045" y="3383280"/>
            <a:ext cx="1442139" cy="237744"/>
          </a:xfrm>
          <a:prstGeom prst="rect">
            <a:avLst/>
          </a:prstGeom>
          <a:noFill/>
        </p:spPr>
        <p:txBody>
          <a:bodyPr wrap="square" lIns="0" rIns="0" tIns="0" bIns="0" anchor="ctr">
            <a:spAutoFit/>
          </a:bodyPr>
          <a:lstStyle/>
          <a:p>
            <a:pPr algn="ctr"/>
            <a:r>
              <a:rPr sz="1000" b="1" lang="en-US">
                <a:solidFill>
                  <a:srgbClr val="FFFFFF"/>
                </a:solidFill>
                <a:latin typeface="Arial"/>
              </a:rPr>
              <a:t>14.3%</a:t>
            </a:r>
          </a:p>
        </p:txBody>
      </p:sp>
      <p:sp>
        <p:nvSpPr>
          <p:cNvPr id="31" name="Rectangle 30"/>
          <p:cNvSpPr/>
          <p:nvPr/>
        </p:nvSpPr>
        <p:spPr>
          <a:xfrm>
            <a:off x="3132473" y="3200400"/>
            <a:ext cx="2957430" cy="640080"/>
          </a:xfrm>
          <a:prstGeom prst="rect">
            <a:avLst/>
          </a:prstGeom>
          <a:solidFill>
            <a:srgbClr val="2F8F46"/>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150761" y="3383280"/>
            <a:ext cx="2920854" cy="237744"/>
          </a:xfrm>
          <a:prstGeom prst="rect">
            <a:avLst/>
          </a:prstGeom>
          <a:noFill/>
        </p:spPr>
        <p:txBody>
          <a:bodyPr wrap="square" lIns="0" rIns="0" tIns="0" bIns="0" anchor="ctr">
            <a:spAutoFit/>
          </a:bodyPr>
          <a:lstStyle/>
          <a:p>
            <a:pPr algn="ctr"/>
            <a:r>
              <a:rPr sz="1000" b="1" lang="en-US">
                <a:solidFill>
                  <a:srgbClr val="FFFFFF"/>
                </a:solidFill>
                <a:latin typeface="Arial"/>
              </a:rPr>
              <a:t>28.6%</a:t>
            </a:r>
          </a:p>
        </p:txBody>
      </p:sp>
      <p:sp>
        <p:nvSpPr>
          <p:cNvPr id="33" name="Rectangle 32"/>
          <p:cNvSpPr/>
          <p:nvPr/>
        </p:nvSpPr>
        <p:spPr>
          <a:xfrm>
            <a:off x="6089904" y="3200400"/>
            <a:ext cx="5175504" cy="640080"/>
          </a:xfrm>
          <a:prstGeom prst="rect">
            <a:avLst/>
          </a:prstGeom>
          <a:solidFill>
            <a:srgbClr val="7A35B5"/>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08192" y="3383280"/>
            <a:ext cx="5138928" cy="237744"/>
          </a:xfrm>
          <a:prstGeom prst="rect">
            <a:avLst/>
          </a:prstGeom>
          <a:noFill/>
        </p:spPr>
        <p:txBody>
          <a:bodyPr wrap="square" lIns="0" rIns="0" tIns="0" bIns="0" anchor="ctr">
            <a:spAutoFit/>
          </a:bodyPr>
          <a:lstStyle/>
          <a:p>
            <a:pPr algn="ctr"/>
            <a:r>
              <a:rPr sz="1000" b="1" lang="en-US">
                <a:solidFill>
                  <a:srgbClr val="FFFFFF"/>
                </a:solidFill>
                <a:latin typeface="Arial"/>
              </a:rPr>
              <a:t>50.0%</a:t>
            </a:r>
          </a:p>
        </p:txBody>
      </p:sp>
      <p:sp>
        <p:nvSpPr>
          <p:cNvPr id="35" name="Rectangle 34"/>
          <p:cNvSpPr/>
          <p:nvPr/>
        </p:nvSpPr>
        <p:spPr>
          <a:xfrm>
            <a:off x="749808" y="4005072"/>
            <a:ext cx="10698480" cy="585216"/>
          </a:xfrm>
          <a:prstGeom prst="rect">
            <a:avLst/>
          </a:prstGeom>
          <a:solidFill>
            <a:srgbClr val="F3F3F3"/>
          </a:solidFill>
          <a:ln w="1270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2688" y="4178808"/>
            <a:ext cx="10332720" cy="201168"/>
          </a:xfrm>
          <a:prstGeom prst="rect">
            <a:avLst/>
          </a:prstGeom>
          <a:noFill/>
        </p:spPr>
        <p:txBody>
          <a:bodyPr wrap="square" lIns="18288" rIns="18288" tIns="18288" bIns="18288" anchor="ctr">
            <a:spAutoFit/>
          </a:bodyPr>
          <a:lstStyle/>
          <a:p>
            <a:pPr algn="ctr"/>
            <a:r>
              <a:rPr sz="1000" b="1" lang="en-US">
                <a:solidFill>
                  <a:srgbClr val="C40D1E"/>
                </a:solidFill>
                <a:latin typeface="Arial"/>
              </a:rPr>
              <a:t>1 · HASH DRAW CONTEXT   </a:t>
            </a:r>
            <a:r>
              <a:rPr sz="1019" b="1" lang="en-US">
                <a:solidFill>
                  <a:srgbClr val="434343"/>
                </a:solidFill>
                <a:latin typeface="Arial"/>
              </a:rPr>
              <a:t>r = uint256(keccak256(prevrandao, timestamp, block number, round, current aggregator public address))</a:t>
            </a:r>
          </a:p>
        </p:txBody>
      </p:sp>
      <p:sp>
        <p:nvSpPr>
          <p:cNvPr id="37" name="Rounded Rectangle 36"/>
          <p:cNvSpPr/>
          <p:nvPr/>
        </p:nvSpPr>
        <p:spPr>
          <a:xfrm>
            <a:off x="749808" y="4718304"/>
            <a:ext cx="5285232" cy="713232"/>
          </a:xfrm>
          <a:prstGeom prst="roundRect">
            <a:avLst/>
          </a:prstGeom>
          <a:solidFill>
            <a:srgbClr val="EAF5FA"/>
          </a:solidFill>
          <a:ln w="1270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7552" y="4855464"/>
            <a:ext cx="1993392" cy="182880"/>
          </a:xfrm>
          <a:prstGeom prst="rect">
            <a:avLst/>
          </a:prstGeom>
          <a:noFill/>
        </p:spPr>
        <p:txBody>
          <a:bodyPr wrap="square" lIns="18288" rIns="18288" tIns="18288" bIns="18288" anchor="t">
            <a:spAutoFit/>
          </a:bodyPr>
          <a:lstStyle/>
          <a:p>
            <a:pPr algn="l"/>
            <a:r>
              <a:rPr sz="1050" b="1" lang="en-US">
                <a:solidFill>
                  <a:srgbClr val="1F90CC"/>
                </a:solidFill>
                <a:latin typeface="Arial"/>
              </a:rPr>
              <a:t>2 · DRAW ONE TICKET</a:t>
            </a:r>
          </a:p>
        </p:txBody>
      </p:sp>
      <p:sp>
        <p:nvSpPr>
          <p:cNvPr id="39" name="TextBox 38"/>
          <p:cNvSpPr txBox="1"/>
          <p:nvPr/>
        </p:nvSpPr>
        <p:spPr>
          <a:xfrm>
            <a:off x="987552" y="5093208"/>
            <a:ext cx="4754880" cy="201168"/>
          </a:xfrm>
          <a:prstGeom prst="rect">
            <a:avLst/>
          </a:prstGeom>
          <a:noFill/>
        </p:spPr>
        <p:txBody>
          <a:bodyPr wrap="square" lIns="18288" rIns="18288" tIns="18288" bIns="18288" anchor="ctr">
            <a:spAutoFit/>
          </a:bodyPr>
          <a:lstStyle/>
          <a:p>
            <a:pPr algn="ctr"/>
            <a:r>
              <a:rPr sz="1220" b="1" lang="en-US">
                <a:solidFill>
                  <a:srgbClr val="434343"/>
                </a:solidFill>
                <a:latin typeface="Arial"/>
              </a:rPr>
              <a:t>ticket = r mod W = r mod 14  ∈  {0, …, 13}</a:t>
            </a:r>
          </a:p>
        </p:txBody>
      </p:sp>
      <p:sp>
        <p:nvSpPr>
          <p:cNvPr id="40" name="Rounded Rectangle 39"/>
          <p:cNvSpPr/>
          <p:nvPr/>
        </p:nvSpPr>
        <p:spPr>
          <a:xfrm>
            <a:off x="6199632" y="4718304"/>
            <a:ext cx="5248656" cy="713232"/>
          </a:xfrm>
          <a:prstGeom prst="roundRect">
            <a:avLst/>
          </a:prstGeom>
          <a:solidFill>
            <a:srgbClr val="EAF6ED"/>
          </a:solidFill>
          <a:ln w="1270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37376" y="4855464"/>
            <a:ext cx="2926080" cy="182880"/>
          </a:xfrm>
          <a:prstGeom prst="rect">
            <a:avLst/>
          </a:prstGeom>
          <a:noFill/>
        </p:spPr>
        <p:txBody>
          <a:bodyPr wrap="square" lIns="18288" rIns="18288" tIns="18288" bIns="18288" anchor="t">
            <a:spAutoFit/>
          </a:bodyPr>
          <a:lstStyle/>
          <a:p>
            <a:pPr algn="l"/>
            <a:r>
              <a:rPr sz="1050" b="1" lang="en-US">
                <a:solidFill>
                  <a:srgbClr val="2F8F46"/>
                </a:solidFill>
                <a:latin typeface="Arial"/>
              </a:rPr>
              <a:t>3 · MAP TO CUMULATIVE INTERVAL</a:t>
            </a:r>
          </a:p>
        </p:txBody>
      </p:sp>
      <p:sp>
        <p:nvSpPr>
          <p:cNvPr id="42" name="TextBox 41"/>
          <p:cNvSpPr txBox="1"/>
          <p:nvPr/>
        </p:nvSpPr>
        <p:spPr>
          <a:xfrm>
            <a:off x="6437376" y="5093208"/>
            <a:ext cx="4736592" cy="201168"/>
          </a:xfrm>
          <a:prstGeom prst="rect">
            <a:avLst/>
          </a:prstGeom>
          <a:noFill/>
        </p:spPr>
        <p:txBody>
          <a:bodyPr wrap="square" lIns="18288" rIns="18288" tIns="18288" bIns="18288" anchor="ctr">
            <a:spAutoFit/>
          </a:bodyPr>
          <a:lstStyle/>
          <a:p>
            <a:pPr algn="ctr"/>
            <a:r>
              <a:rPr sz="1040" b="1" lang="en-US">
                <a:solidFill>
                  <a:srgbClr val="434343"/>
                </a:solidFill>
                <a:latin typeface="Arial"/>
              </a:rPr>
              <a:t>A: 0   ·   B: 1–2   ·   C: 3–6   ·   D: 7–13   |   Example: 5 → C</a:t>
            </a:r>
          </a:p>
        </p:txBody>
      </p:sp>
      <p:sp>
        <p:nvSpPr>
          <p:cNvPr id="43" name="TextBox 42"/>
          <p:cNvSpPr txBox="1"/>
          <p:nvPr/>
        </p:nvSpPr>
        <p:spPr>
          <a:xfrm>
            <a:off x="822960" y="5577840"/>
            <a:ext cx="10552176" cy="146304"/>
          </a:xfrm>
          <a:prstGeom prst="rect">
            <a:avLst/>
          </a:prstGeom>
          <a:noFill/>
        </p:spPr>
        <p:txBody>
          <a:bodyPr wrap="square" lIns="18288" rIns="18288" tIns="18288" bIns="18288" anchor="ctr">
            <a:spAutoFit/>
          </a:bodyPr>
          <a:lstStyle/>
          <a:p>
            <a:pPr algn="ctr"/>
            <a:r>
              <a:rPr sz="750" b="0" lang="en-US">
                <a:solidFill>
                  <a:srgbClr val="434343"/>
                </a:solidFill>
                <a:latin typeface="Arial"/>
              </a:rPr>
              <a:t>prevrandao pseudorandom value: </a:t>
            </a:r>
            <a:r>
              <a:rPr sz="750" b="0" lang="en-US">
                <a:solidFill>
                  <a:srgbClr val="C40D1E"/>
                </a:solidFill>
                <a:latin typeface="Arial"/>
                <a:hlinkClick r:id="rId2"/>
              </a:rPr>
              <a:t>https://eips.ethereum.org/EIPS/eip-4399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Quorum recovery when an aggregator stalls</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ABORT THE ATTEMPT · PRESERVE THE LAST FINALIZED MODEL · SELECT A SUCCESSOR</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17</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5D6973"/>
                </a:solidFill>
                <a:latin typeface="Arial"/>
              </a:rPr>
              <a:t>Agent</a:t>
            </a:r>
          </a:p>
        </p:txBody>
      </p:sp>
      <p:cxnSp>
        <p:nvCxnSpPr>
          <p:cNvPr id="13" name="Connector 12"/>
          <p:cNvCxnSpPr/>
          <p:nvPr/>
        </p:nvCxnSpPr>
        <p:spPr>
          <a:xfrm>
            <a:off x="1746504" y="2505456"/>
            <a:ext cx="301752" cy="0"/>
          </a:xfrm>
          <a:prstGeom prst="line">
            <a:avLst/>
          </a:prstGeom>
          <a:ln w="21590">
            <a:solidFill>
              <a:srgbClr val="C40D1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798064" y="2093976"/>
            <a:ext cx="89439" cy="6429"/>
          </a:xfrm>
          <a:prstGeom prst="line">
            <a:avLst/>
          </a:prstGeom>
          <a:ln w="1524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887503" y="2100405"/>
            <a:ext cx="85440" cy="19288"/>
          </a:xfrm>
          <a:prstGeom prst="line">
            <a:avLst/>
          </a:prstGeom>
          <a:ln w="1524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972943" y="2119693"/>
            <a:ext cx="81438" cy="32147"/>
          </a:xfrm>
          <a:prstGeom prst="line">
            <a:avLst/>
          </a:prstGeom>
          <a:ln w="1524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054381" y="2151840"/>
            <a:ext cx="77439" cy="45006"/>
          </a:xfrm>
          <a:prstGeom prst="line">
            <a:avLst/>
          </a:prstGeom>
          <a:ln w="1524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131820" y="2196846"/>
            <a:ext cx="73437" cy="57864"/>
          </a:xfrm>
          <a:prstGeom prst="line">
            <a:avLst/>
          </a:prstGeom>
          <a:ln w="1524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205257" y="2254710"/>
            <a:ext cx="69438" cy="70723"/>
          </a:xfrm>
          <a:prstGeom prst="line">
            <a:avLst/>
          </a:prstGeom>
          <a:ln w="1524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274695" y="2325433"/>
            <a:ext cx="65436" cy="83582"/>
          </a:xfrm>
          <a:prstGeom prst="line">
            <a:avLst/>
          </a:prstGeom>
          <a:ln w="1524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340131" y="2409015"/>
            <a:ext cx="61437" cy="96441"/>
          </a:xfrm>
          <a:prstGeom prst="line">
            <a:avLst/>
          </a:prstGeom>
          <a:ln w="15240">
            <a:solidFill>
              <a:srgbClr val="7A35B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798064" y="2505456"/>
            <a:ext cx="89439" cy="0"/>
          </a:xfrm>
          <a:prstGeom prst="line">
            <a:avLst/>
          </a:prstGeom>
          <a:ln w="1524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887503" y="2505456"/>
            <a:ext cx="85440" cy="0"/>
          </a:xfrm>
          <a:prstGeom prst="line">
            <a:avLst/>
          </a:prstGeom>
          <a:ln w="1524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972943" y="2505456"/>
            <a:ext cx="81438" cy="0"/>
          </a:xfrm>
          <a:prstGeom prst="line">
            <a:avLst/>
          </a:prstGeom>
          <a:ln w="1524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054381" y="2505456"/>
            <a:ext cx="77439" cy="0"/>
          </a:xfrm>
          <a:prstGeom prst="line">
            <a:avLst/>
          </a:prstGeom>
          <a:ln w="1524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131820" y="2505456"/>
            <a:ext cx="73437" cy="0"/>
          </a:xfrm>
          <a:prstGeom prst="line">
            <a:avLst/>
          </a:prstGeom>
          <a:ln w="1524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205257" y="2505456"/>
            <a:ext cx="69438" cy="0"/>
          </a:xfrm>
          <a:prstGeom prst="line">
            <a:avLst/>
          </a:prstGeom>
          <a:ln w="1524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274695" y="2505456"/>
            <a:ext cx="65436" cy="0"/>
          </a:xfrm>
          <a:prstGeom prst="line">
            <a:avLst/>
          </a:prstGeom>
          <a:ln w="1524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340131" y="2505456"/>
            <a:ext cx="61437" cy="0"/>
          </a:xfrm>
          <a:prstGeom prst="line">
            <a:avLst/>
          </a:prstGeom>
          <a:ln w="15240">
            <a:solidFill>
              <a:srgbClr val="7A35B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798064" y="2910506"/>
            <a:ext cx="89439" cy="6430"/>
          </a:xfrm>
          <a:prstGeom prst="line">
            <a:avLst/>
          </a:prstGeom>
          <a:ln w="1524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887503" y="2891218"/>
            <a:ext cx="85440" cy="19288"/>
          </a:xfrm>
          <a:prstGeom prst="line">
            <a:avLst/>
          </a:prstGeom>
          <a:ln w="1524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2972943" y="2859071"/>
            <a:ext cx="81438" cy="32147"/>
          </a:xfrm>
          <a:prstGeom prst="line">
            <a:avLst/>
          </a:prstGeom>
          <a:ln w="1524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054381" y="2814066"/>
            <a:ext cx="77439" cy="45005"/>
          </a:xfrm>
          <a:prstGeom prst="line">
            <a:avLst/>
          </a:prstGeom>
          <a:ln w="1524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131820" y="2756201"/>
            <a:ext cx="73437" cy="57865"/>
          </a:xfrm>
          <a:prstGeom prst="line">
            <a:avLst/>
          </a:prstGeom>
          <a:ln w="1524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205257" y="2685478"/>
            <a:ext cx="69438" cy="70723"/>
          </a:xfrm>
          <a:prstGeom prst="line">
            <a:avLst/>
          </a:prstGeom>
          <a:ln w="1524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274695" y="2601896"/>
            <a:ext cx="65436" cy="83582"/>
          </a:xfrm>
          <a:prstGeom prst="line">
            <a:avLst/>
          </a:prstGeom>
          <a:ln w="1524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340131" y="2505456"/>
            <a:ext cx="61437" cy="96440"/>
          </a:xfrm>
          <a:prstGeom prst="line">
            <a:avLst/>
          </a:prstGeom>
          <a:ln w="15240">
            <a:solidFill>
              <a:srgbClr val="7A35B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358384" y="2505456"/>
            <a:ext cx="566928" cy="0"/>
          </a:xfrm>
          <a:prstGeom prst="line">
            <a:avLst/>
          </a:prstGeom>
          <a:ln w="22860">
            <a:solidFill>
              <a:srgbClr val="C40D1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278624" y="2505456"/>
            <a:ext cx="548640" cy="0"/>
          </a:xfrm>
          <a:prstGeom prst="line">
            <a:avLst/>
          </a:prstGeom>
          <a:ln w="22860">
            <a:solidFill>
              <a:srgbClr val="FF6C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180576" y="2505456"/>
            <a:ext cx="621792" cy="0"/>
          </a:xfrm>
          <a:prstGeom prst="line">
            <a:avLst/>
          </a:prstGeom>
          <a:ln w="22860">
            <a:solidFill>
              <a:srgbClr val="1F90C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488168" y="3182112"/>
            <a:ext cx="0" cy="1133856"/>
          </a:xfrm>
          <a:prstGeom prst="line">
            <a:avLst/>
          </a:prstGeom>
          <a:ln w="19050">
            <a:solidFill>
              <a:srgbClr val="1F90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457200" y="1828800"/>
            <a:ext cx="1335024" cy="1335024"/>
          </a:xfrm>
          <a:prstGeom prst="ellipse">
            <a:avLst/>
          </a:prstGeom>
          <a:solidFill>
            <a:srgbClr val="EAF5FA"/>
          </a:solidFill>
          <a:ln w="2286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8368" y="2112264"/>
            <a:ext cx="932688" cy="228600"/>
          </a:xfrm>
          <a:prstGeom prst="rect">
            <a:avLst/>
          </a:prstGeom>
          <a:noFill/>
        </p:spPr>
        <p:txBody>
          <a:bodyPr wrap="square" lIns="18288" rIns="18288" tIns="18288" bIns="18288" anchor="t">
            <a:spAutoFit/>
          </a:bodyPr>
          <a:lstStyle/>
          <a:p>
            <a:pPr algn="ctr"/>
            <a:r>
              <a:rPr sz="1250" b="1" lang="en-US">
                <a:solidFill>
                  <a:srgbClr val="1F90CC"/>
                </a:solidFill>
                <a:latin typeface="Arial"/>
              </a:rPr>
              <a:t>ROUND r</a:t>
            </a:r>
          </a:p>
        </p:txBody>
      </p:sp>
      <p:sp>
        <p:nvSpPr>
          <p:cNvPr id="44" name="TextBox 43"/>
          <p:cNvSpPr txBox="1"/>
          <p:nvPr/>
        </p:nvSpPr>
        <p:spPr>
          <a:xfrm>
            <a:off x="603504" y="2468880"/>
            <a:ext cx="1042415" cy="420624"/>
          </a:xfrm>
          <a:prstGeom prst="rect">
            <a:avLst/>
          </a:prstGeom>
          <a:noFill/>
        </p:spPr>
        <p:txBody>
          <a:bodyPr wrap="square" lIns="18288" rIns="18288" tIns="18288" bIns="18288" anchor="t">
            <a:spAutoFit/>
          </a:bodyPr>
          <a:lstStyle/>
          <a:p>
            <a:pPr algn="ctr"/>
            <a:r>
              <a:rPr sz="960" b="1" lang="en-US">
                <a:solidFill>
                  <a:srgbClr val="434343"/>
                </a:solidFill>
                <a:latin typeface="Arial"/>
              </a:rPr>
              <a:t>AGGREGATOR
STALLED</a:t>
            </a:r>
          </a:p>
        </p:txBody>
      </p:sp>
      <p:sp>
        <p:nvSpPr>
          <p:cNvPr id="45" name="TextBox 44"/>
          <p:cNvSpPr txBox="1"/>
          <p:nvPr/>
        </p:nvSpPr>
        <p:spPr>
          <a:xfrm>
            <a:off x="329184" y="3227832"/>
            <a:ext cx="1609344" cy="201168"/>
          </a:xfrm>
          <a:prstGeom prst="rect">
            <a:avLst/>
          </a:prstGeom>
          <a:noFill/>
        </p:spPr>
        <p:txBody>
          <a:bodyPr wrap="square" lIns="18288" rIns="18288" tIns="18288" bIns="18288" anchor="t">
            <a:spAutoFit/>
          </a:bodyPr>
          <a:lstStyle/>
          <a:p>
            <a:pPr algn="ctr"/>
            <a:r>
              <a:rPr sz="800" b="0" lang="en-US">
                <a:solidFill>
                  <a:srgbClr val="434343"/>
                </a:solidFill>
                <a:latin typeface="Arial"/>
              </a:rPr>
              <a:t>repeated lack of progress</a:t>
            </a:r>
          </a:p>
        </p:txBody>
      </p:sp>
      <p:sp>
        <p:nvSpPr>
          <p:cNvPr id="46" name="TextBox 45"/>
          <p:cNvSpPr txBox="1"/>
          <p:nvPr/>
        </p:nvSpPr>
        <p:spPr>
          <a:xfrm>
            <a:off x="1856231" y="1435608"/>
            <a:ext cx="1307592" cy="329184"/>
          </a:xfrm>
          <a:prstGeom prst="rect">
            <a:avLst/>
          </a:prstGeom>
          <a:noFill/>
        </p:spPr>
        <p:txBody>
          <a:bodyPr wrap="square" lIns="18288" rIns="18288" tIns="18288" bIns="18288" anchor="t">
            <a:spAutoFit/>
          </a:bodyPr>
          <a:lstStyle/>
          <a:p>
            <a:pPr algn="ctr"/>
            <a:r>
              <a:rPr sz="890" b="1" lang="en-US">
                <a:solidFill>
                  <a:srgbClr val="7A35B5"/>
                </a:solidFill>
                <a:latin typeface="Arial"/>
              </a:rPr>
              <a:t>SIGNED TIMEOUT REPORTS</a:t>
            </a:r>
          </a:p>
        </p:txBody>
      </p:sp>
      <p:sp>
        <p:nvSpPr>
          <p:cNvPr id="47" name="Oval 46"/>
          <p:cNvSpPr/>
          <p:nvPr/>
        </p:nvSpPr>
        <p:spPr>
          <a:xfrm>
            <a:off x="2185416" y="1938528"/>
            <a:ext cx="347472" cy="347472"/>
          </a:xfrm>
          <a:prstGeom prst="ellipse">
            <a:avLst/>
          </a:prstGeom>
          <a:solidFill>
            <a:srgbClr val="F3EBF9"/>
          </a:solidFill>
          <a:ln w="13970">
            <a:solidFill>
              <a:srgbClr val="7A3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240280" y="2029968"/>
            <a:ext cx="237744" cy="146304"/>
          </a:xfrm>
          <a:prstGeom prst="rect">
            <a:avLst/>
          </a:prstGeom>
          <a:noFill/>
        </p:spPr>
        <p:txBody>
          <a:bodyPr wrap="square" lIns="0" rIns="0" tIns="0" bIns="0" anchor="t">
            <a:spAutoFit/>
          </a:bodyPr>
          <a:lstStyle/>
          <a:p>
            <a:pPr algn="ctr"/>
            <a:r>
              <a:rPr sz="700" b="1" lang="en-US">
                <a:solidFill>
                  <a:srgbClr val="7A35B5"/>
                </a:solidFill>
                <a:latin typeface="Arial"/>
              </a:rPr>
              <a:t>W1</a:t>
            </a:r>
          </a:p>
        </p:txBody>
      </p:sp>
      <p:sp>
        <p:nvSpPr>
          <p:cNvPr id="49" name="Oval 48"/>
          <p:cNvSpPr/>
          <p:nvPr/>
        </p:nvSpPr>
        <p:spPr>
          <a:xfrm>
            <a:off x="2185416" y="2350008"/>
            <a:ext cx="347472" cy="347472"/>
          </a:xfrm>
          <a:prstGeom prst="ellipse">
            <a:avLst/>
          </a:prstGeom>
          <a:solidFill>
            <a:srgbClr val="F3EBF9"/>
          </a:solidFill>
          <a:ln w="13970">
            <a:solidFill>
              <a:srgbClr val="7A3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240280" y="2441448"/>
            <a:ext cx="237744" cy="146304"/>
          </a:xfrm>
          <a:prstGeom prst="rect">
            <a:avLst/>
          </a:prstGeom>
          <a:noFill/>
        </p:spPr>
        <p:txBody>
          <a:bodyPr wrap="square" lIns="0" rIns="0" tIns="0" bIns="0" anchor="t">
            <a:spAutoFit/>
          </a:bodyPr>
          <a:lstStyle/>
          <a:p>
            <a:pPr algn="ctr"/>
            <a:r>
              <a:rPr sz="700" b="1" lang="en-US">
                <a:solidFill>
                  <a:srgbClr val="7A35B5"/>
                </a:solidFill>
                <a:latin typeface="Arial"/>
              </a:rPr>
              <a:t>W2</a:t>
            </a:r>
          </a:p>
        </p:txBody>
      </p:sp>
      <p:sp>
        <p:nvSpPr>
          <p:cNvPr id="51" name="Oval 50"/>
          <p:cNvSpPr/>
          <p:nvPr/>
        </p:nvSpPr>
        <p:spPr>
          <a:xfrm>
            <a:off x="2185416" y="2761488"/>
            <a:ext cx="347472" cy="347472"/>
          </a:xfrm>
          <a:prstGeom prst="ellipse">
            <a:avLst/>
          </a:prstGeom>
          <a:solidFill>
            <a:srgbClr val="F3EBF9"/>
          </a:solidFill>
          <a:ln w="13970">
            <a:solidFill>
              <a:srgbClr val="7A3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240280" y="2852928"/>
            <a:ext cx="237744" cy="146304"/>
          </a:xfrm>
          <a:prstGeom prst="rect">
            <a:avLst/>
          </a:prstGeom>
          <a:noFill/>
        </p:spPr>
        <p:txBody>
          <a:bodyPr wrap="square" lIns="0" rIns="0" tIns="0" bIns="0" anchor="t">
            <a:spAutoFit/>
          </a:bodyPr>
          <a:lstStyle/>
          <a:p>
            <a:pPr algn="ctr"/>
            <a:r>
              <a:rPr sz="700" b="1" lang="en-US">
                <a:solidFill>
                  <a:srgbClr val="7A35B5"/>
                </a:solidFill>
                <a:latin typeface="Arial"/>
              </a:rPr>
              <a:t>W3</a:t>
            </a:r>
          </a:p>
        </p:txBody>
      </p:sp>
      <p:sp>
        <p:nvSpPr>
          <p:cNvPr id="53" name="TextBox 52"/>
          <p:cNvSpPr txBox="1"/>
          <p:nvPr/>
        </p:nvSpPr>
        <p:spPr>
          <a:xfrm>
            <a:off x="1764792" y="3209544"/>
            <a:ext cx="1408176" cy="566928"/>
          </a:xfrm>
          <a:prstGeom prst="rect">
            <a:avLst/>
          </a:prstGeom>
          <a:noFill/>
        </p:spPr>
        <p:txBody>
          <a:bodyPr wrap="square" lIns="18288" rIns="18288" tIns="18288" bIns="18288" anchor="t">
            <a:spAutoFit/>
          </a:bodyPr>
          <a:lstStyle/>
          <a:p>
            <a:pPr algn="ctr"/>
            <a:r>
              <a:rPr sz="780" b="0" lang="en-US">
                <a:solidFill>
                  <a:srgbClr val="434343"/>
                </a:solidFill>
                <a:latin typeface="Arial"/>
              </a:rPr>
              <a:t>action key binds exact
round + aggregator
duplicates reject</a:t>
            </a:r>
          </a:p>
        </p:txBody>
      </p:sp>
      <p:sp>
        <p:nvSpPr>
          <p:cNvPr id="54" name="Oval 53"/>
          <p:cNvSpPr/>
          <p:nvPr/>
        </p:nvSpPr>
        <p:spPr>
          <a:xfrm>
            <a:off x="3401568" y="1517904"/>
            <a:ext cx="1956816" cy="1956816"/>
          </a:xfrm>
          <a:prstGeom prst="ellipse">
            <a:avLst/>
          </a:prstGeom>
          <a:solidFill>
            <a:srgbClr val="F3EBF9"/>
          </a:solidFill>
          <a:ln w="27940">
            <a:solidFill>
              <a:srgbClr val="7A3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5" name="Connector 54"/>
          <p:cNvCxnSpPr/>
          <p:nvPr/>
        </p:nvCxnSpPr>
        <p:spPr>
          <a:xfrm>
            <a:off x="3611880" y="2487168"/>
            <a:ext cx="1536192" cy="0"/>
          </a:xfrm>
          <a:prstGeom prst="line">
            <a:avLst/>
          </a:prstGeom>
          <a:ln w="25400">
            <a:solidFill>
              <a:srgbClr val="7A35B5"/>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3730752" y="1819656"/>
            <a:ext cx="1298448" cy="393192"/>
          </a:xfrm>
          <a:prstGeom prst="rect">
            <a:avLst/>
          </a:prstGeom>
          <a:noFill/>
        </p:spPr>
        <p:txBody>
          <a:bodyPr wrap="square" lIns="18288" rIns="18288" tIns="18288" bIns="18288" anchor="t">
            <a:spAutoFit/>
          </a:bodyPr>
          <a:lstStyle/>
          <a:p>
            <a:pPr algn="ctr"/>
            <a:r>
              <a:rPr sz="900" b="1" lang="en-US">
                <a:solidFill>
                  <a:srgbClr val="7A35B5"/>
                </a:solidFill>
                <a:latin typeface="Arial"/>
              </a:rPr>
              <a:t>FIRST REPORT
FREEZES E</a:t>
            </a:r>
          </a:p>
        </p:txBody>
      </p:sp>
      <p:sp>
        <p:nvSpPr>
          <p:cNvPr id="57" name="TextBox 56"/>
          <p:cNvSpPr txBox="1"/>
          <p:nvPr/>
        </p:nvSpPr>
        <p:spPr>
          <a:xfrm>
            <a:off x="3648456" y="2295144"/>
            <a:ext cx="1463040" cy="274320"/>
          </a:xfrm>
          <a:prstGeom prst="rect">
            <a:avLst/>
          </a:prstGeom>
          <a:noFill/>
        </p:spPr>
        <p:txBody>
          <a:bodyPr wrap="square" lIns="18288" rIns="18288" tIns="18288" bIns="18288" anchor="t">
            <a:spAutoFit/>
          </a:bodyPr>
          <a:lstStyle/>
          <a:p>
            <a:pPr algn="ctr"/>
            <a:r>
              <a:rPr sz="1000" b="1" lang="en-US">
                <a:solidFill>
                  <a:srgbClr val="434343"/>
                </a:solidFill>
                <a:latin typeface="Arial"/>
              </a:rPr>
              <a:t>q = ceil(E × 50 / 100)</a:t>
            </a:r>
          </a:p>
        </p:txBody>
      </p:sp>
      <p:sp>
        <p:nvSpPr>
          <p:cNvPr id="58" name="TextBox 57"/>
          <p:cNvSpPr txBox="1"/>
          <p:nvPr/>
        </p:nvSpPr>
        <p:spPr>
          <a:xfrm>
            <a:off x="3730752" y="2724912"/>
            <a:ext cx="1298448" cy="365760"/>
          </a:xfrm>
          <a:prstGeom prst="rect">
            <a:avLst/>
          </a:prstGeom>
          <a:noFill/>
        </p:spPr>
        <p:txBody>
          <a:bodyPr wrap="square" lIns="18288" rIns="18288" tIns="18288" bIns="18288" anchor="t">
            <a:spAutoFit/>
          </a:bodyPr>
          <a:lstStyle/>
          <a:p>
            <a:pPr algn="ctr"/>
            <a:r>
              <a:rPr sz="810" b="0" lang="en-US">
                <a:solidFill>
                  <a:srgbClr val="434343"/>
                </a:solidFill>
                <a:latin typeface="Arial"/>
              </a:rPr>
              <a:t>50% quorum
of eligible reporters</a:t>
            </a:r>
          </a:p>
        </p:txBody>
      </p:sp>
      <p:sp>
        <p:nvSpPr>
          <p:cNvPr id="59" name="TextBox 58"/>
          <p:cNvSpPr txBox="1"/>
          <p:nvPr/>
        </p:nvSpPr>
        <p:spPr>
          <a:xfrm>
            <a:off x="5394960" y="2240280"/>
            <a:ext cx="502920" cy="182880"/>
          </a:xfrm>
          <a:prstGeom prst="rect">
            <a:avLst/>
          </a:prstGeom>
          <a:noFill/>
        </p:spPr>
        <p:txBody>
          <a:bodyPr wrap="square" lIns="18288" rIns="18288" tIns="18288" bIns="18288" anchor="t">
            <a:spAutoFit/>
          </a:bodyPr>
          <a:lstStyle/>
          <a:p>
            <a:pPr algn="ctr"/>
            <a:r>
              <a:rPr sz="750" b="1" lang="en-US">
                <a:solidFill>
                  <a:srgbClr val="C40D1E"/>
                </a:solidFill>
                <a:latin typeface="Arial"/>
              </a:rPr>
              <a:t>q reached</a:t>
            </a:r>
          </a:p>
        </p:txBody>
      </p:sp>
      <p:sp>
        <p:nvSpPr>
          <p:cNvPr id="60" name="Oval 59"/>
          <p:cNvSpPr/>
          <p:nvPr/>
        </p:nvSpPr>
        <p:spPr>
          <a:xfrm>
            <a:off x="5943600" y="1828800"/>
            <a:ext cx="1335024" cy="1335024"/>
          </a:xfrm>
          <a:prstGeom prst="ellipse">
            <a:avLst/>
          </a:prstGeom>
          <a:solidFill>
            <a:srgbClr val="FBEAEC"/>
          </a:solidFill>
          <a:ln w="2540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135624" y="2103120"/>
            <a:ext cx="950976" cy="228600"/>
          </a:xfrm>
          <a:prstGeom prst="rect">
            <a:avLst/>
          </a:prstGeom>
          <a:noFill/>
        </p:spPr>
        <p:txBody>
          <a:bodyPr wrap="square" lIns="18288" rIns="18288" tIns="18288" bIns="18288" anchor="t">
            <a:spAutoFit/>
          </a:bodyPr>
          <a:lstStyle/>
          <a:p>
            <a:pPr algn="ctr"/>
            <a:r>
              <a:rPr sz="1200" b="1" lang="en-US">
                <a:solidFill>
                  <a:srgbClr val="C40D1E"/>
                </a:solidFill>
                <a:latin typeface="Arial"/>
              </a:rPr>
              <a:t>ABORT r</a:t>
            </a:r>
          </a:p>
        </p:txBody>
      </p:sp>
      <p:sp>
        <p:nvSpPr>
          <p:cNvPr id="62" name="TextBox 61"/>
          <p:cNvSpPr txBox="1"/>
          <p:nvPr/>
        </p:nvSpPr>
        <p:spPr>
          <a:xfrm>
            <a:off x="6089904" y="2459736"/>
            <a:ext cx="1042415" cy="420624"/>
          </a:xfrm>
          <a:prstGeom prst="rect">
            <a:avLst/>
          </a:prstGeom>
          <a:noFill/>
        </p:spPr>
        <p:txBody>
          <a:bodyPr wrap="square" lIns="18288" rIns="18288" tIns="18288" bIns="18288" anchor="t">
            <a:spAutoFit/>
          </a:bodyPr>
          <a:lstStyle/>
          <a:p>
            <a:pPr algn="ctr"/>
            <a:r>
              <a:rPr sz="860" b="1" lang="en-US">
                <a:solidFill>
                  <a:srgbClr val="434343"/>
                </a:solidFill>
                <a:latin typeface="Arial"/>
              </a:rPr>
              <a:t>penalize · record
advance to r+1</a:t>
            </a:r>
          </a:p>
        </p:txBody>
      </p:sp>
      <p:sp>
        <p:nvSpPr>
          <p:cNvPr id="63" name="TextBox 62"/>
          <p:cNvSpPr txBox="1"/>
          <p:nvPr/>
        </p:nvSpPr>
        <p:spPr>
          <a:xfrm>
            <a:off x="6135624" y="3255264"/>
            <a:ext cx="950976" cy="182880"/>
          </a:xfrm>
          <a:prstGeom prst="rect">
            <a:avLst/>
          </a:prstGeom>
          <a:noFill/>
        </p:spPr>
        <p:txBody>
          <a:bodyPr wrap="square" lIns="18288" rIns="18288" tIns="18288" bIns="18288" anchor="t">
            <a:spAutoFit/>
          </a:bodyPr>
          <a:lstStyle/>
          <a:p>
            <a:pPr algn="ctr"/>
            <a:r>
              <a:rPr sz="840" b="1" lang="en-US">
                <a:solidFill>
                  <a:srgbClr val="C40D1E"/>
                </a:solidFill>
                <a:latin typeface="Arial"/>
              </a:rPr>
              <a:t>NO M(r)</a:t>
            </a:r>
          </a:p>
        </p:txBody>
      </p:sp>
      <p:sp>
        <p:nvSpPr>
          <p:cNvPr id="64" name="Oval 63"/>
          <p:cNvSpPr/>
          <p:nvPr/>
        </p:nvSpPr>
        <p:spPr>
          <a:xfrm>
            <a:off x="7845552" y="1828800"/>
            <a:ext cx="1335024" cy="1335024"/>
          </a:xfrm>
          <a:prstGeom prst="ellipse">
            <a:avLst/>
          </a:prstGeom>
          <a:solidFill>
            <a:srgbClr val="FFF1E7"/>
          </a:solidFill>
          <a:ln w="22860">
            <a:solidFill>
              <a:srgbClr val="FF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019288" y="2066543"/>
            <a:ext cx="987552" cy="201168"/>
          </a:xfrm>
          <a:prstGeom prst="rect">
            <a:avLst/>
          </a:prstGeom>
          <a:noFill/>
        </p:spPr>
        <p:txBody>
          <a:bodyPr wrap="square" lIns="18288" rIns="18288" tIns="18288" bIns="18288" anchor="t">
            <a:spAutoFit/>
          </a:bodyPr>
          <a:lstStyle/>
          <a:p>
            <a:pPr algn="ctr"/>
            <a:r>
              <a:rPr sz="900" b="1" lang="en-US">
                <a:solidFill>
                  <a:srgbClr val="FF6C00"/>
                </a:solidFill>
                <a:latin typeface="Arial"/>
              </a:rPr>
              <a:t>WEIGHTED</a:t>
            </a:r>
          </a:p>
        </p:txBody>
      </p:sp>
      <p:sp>
        <p:nvSpPr>
          <p:cNvPr id="66" name="TextBox 65"/>
          <p:cNvSpPr txBox="1"/>
          <p:nvPr/>
        </p:nvSpPr>
        <p:spPr>
          <a:xfrm>
            <a:off x="7973568" y="2350008"/>
            <a:ext cx="1078992" cy="420624"/>
          </a:xfrm>
          <a:prstGeom prst="rect">
            <a:avLst/>
          </a:prstGeom>
          <a:noFill/>
        </p:spPr>
        <p:txBody>
          <a:bodyPr wrap="square" lIns="18288" rIns="18288" tIns="18288" bIns="18288" anchor="t">
            <a:spAutoFit/>
          </a:bodyPr>
          <a:lstStyle/>
          <a:p>
            <a:pPr algn="ctr"/>
            <a:r>
              <a:rPr sz="980" b="1" lang="en-US">
                <a:solidFill>
                  <a:srgbClr val="434343"/>
                </a:solidFill>
                <a:latin typeface="Arial"/>
              </a:rPr>
              <a:t>SUCCESSOR
DRAW</a:t>
            </a:r>
          </a:p>
        </p:txBody>
      </p:sp>
      <p:sp>
        <p:nvSpPr>
          <p:cNvPr id="67" name="TextBox 66"/>
          <p:cNvSpPr txBox="1"/>
          <p:nvPr/>
        </p:nvSpPr>
        <p:spPr>
          <a:xfrm>
            <a:off x="7717536" y="3236976"/>
            <a:ext cx="1591056" cy="201168"/>
          </a:xfrm>
          <a:prstGeom prst="rect">
            <a:avLst/>
          </a:prstGeom>
          <a:noFill/>
        </p:spPr>
        <p:txBody>
          <a:bodyPr wrap="square" lIns="18288" rIns="18288" tIns="18288" bIns="18288" anchor="t">
            <a:spAutoFit/>
          </a:bodyPr>
          <a:lstStyle/>
          <a:p>
            <a:pPr algn="ctr"/>
            <a:r>
              <a:rPr sz="780" b="0" lang="en-US">
                <a:solidFill>
                  <a:srgbClr val="434343"/>
                </a:solidFill>
                <a:latin typeface="Arial"/>
              </a:rPr>
              <a:t>failed address excluded</a:t>
            </a:r>
          </a:p>
        </p:txBody>
      </p:sp>
      <p:sp>
        <p:nvSpPr>
          <p:cNvPr id="68" name="Oval 67"/>
          <p:cNvSpPr/>
          <p:nvPr/>
        </p:nvSpPr>
        <p:spPr>
          <a:xfrm>
            <a:off x="9820656" y="1828800"/>
            <a:ext cx="1335024" cy="1335024"/>
          </a:xfrm>
          <a:prstGeom prst="ellipse">
            <a:avLst/>
          </a:prstGeom>
          <a:solidFill>
            <a:srgbClr val="EAF5FA"/>
          </a:solidFill>
          <a:ln w="2286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985248" y="2075688"/>
            <a:ext cx="1005840" cy="201168"/>
          </a:xfrm>
          <a:prstGeom prst="rect">
            <a:avLst/>
          </a:prstGeom>
          <a:noFill/>
        </p:spPr>
        <p:txBody>
          <a:bodyPr wrap="square" lIns="18288" rIns="18288" tIns="18288" bIns="18288" anchor="t">
            <a:spAutoFit/>
          </a:bodyPr>
          <a:lstStyle/>
          <a:p>
            <a:pPr algn="ctr"/>
            <a:r>
              <a:rPr sz="1000" b="1" lang="en-US">
                <a:solidFill>
                  <a:srgbClr val="1F90CC"/>
                </a:solidFill>
                <a:latin typeface="Arial"/>
              </a:rPr>
              <a:t>TRAINING</a:t>
            </a:r>
          </a:p>
        </p:txBody>
      </p:sp>
      <p:sp>
        <p:nvSpPr>
          <p:cNvPr id="70" name="TextBox 69"/>
          <p:cNvSpPr txBox="1"/>
          <p:nvPr/>
        </p:nvSpPr>
        <p:spPr>
          <a:xfrm>
            <a:off x="9948672" y="2404872"/>
            <a:ext cx="1078992" cy="246888"/>
          </a:xfrm>
          <a:prstGeom prst="rect">
            <a:avLst/>
          </a:prstGeom>
          <a:noFill/>
        </p:spPr>
        <p:txBody>
          <a:bodyPr wrap="square" lIns="18288" rIns="18288" tIns="18288" bIns="18288" anchor="t">
            <a:spAutoFit/>
          </a:bodyPr>
          <a:lstStyle/>
          <a:p>
            <a:pPr algn="ctr"/>
            <a:r>
              <a:rPr sz="1120" b="1" lang="en-US">
                <a:solidFill>
                  <a:srgbClr val="434343"/>
                </a:solidFill>
                <a:latin typeface="Arial"/>
              </a:rPr>
              <a:t>ROUND r+1</a:t>
            </a:r>
          </a:p>
        </p:txBody>
      </p:sp>
      <p:sp>
        <p:nvSpPr>
          <p:cNvPr id="71" name="TextBox 70"/>
          <p:cNvSpPr txBox="1"/>
          <p:nvPr/>
        </p:nvSpPr>
        <p:spPr>
          <a:xfrm>
            <a:off x="9921240" y="2816352"/>
            <a:ext cx="1133856" cy="182880"/>
          </a:xfrm>
          <a:prstGeom prst="rect">
            <a:avLst/>
          </a:prstGeom>
          <a:noFill/>
        </p:spPr>
        <p:txBody>
          <a:bodyPr wrap="square" lIns="18288" rIns="18288" tIns="18288" bIns="18288" anchor="t">
            <a:spAutoFit/>
          </a:bodyPr>
          <a:lstStyle/>
          <a:p>
            <a:pPr algn="ctr"/>
            <a:r>
              <a:rPr sz="800" b="0" lang="en-US">
                <a:solidFill>
                  <a:srgbClr val="434343"/>
                </a:solidFill>
                <a:latin typeface="Arial"/>
              </a:rPr>
              <a:t>new aggregator</a:t>
            </a:r>
          </a:p>
        </p:txBody>
      </p:sp>
      <p:sp>
        <p:nvSpPr>
          <p:cNvPr id="72" name="TextBox 71"/>
          <p:cNvSpPr txBox="1"/>
          <p:nvPr/>
        </p:nvSpPr>
        <p:spPr>
          <a:xfrm>
            <a:off x="1847088" y="4041648"/>
            <a:ext cx="2395728" cy="219456"/>
          </a:xfrm>
          <a:prstGeom prst="rect">
            <a:avLst/>
          </a:prstGeom>
          <a:noFill/>
        </p:spPr>
        <p:txBody>
          <a:bodyPr wrap="square" lIns="18288" rIns="18288" tIns="18288" bIns="18288" anchor="t">
            <a:spAutoFit/>
          </a:bodyPr>
          <a:lstStyle/>
          <a:p>
            <a:pPr algn="l"/>
            <a:r>
              <a:rPr sz="1019" b="1" lang="en-US">
                <a:solidFill>
                  <a:srgbClr val="2F8F46"/>
                </a:solidFill>
                <a:latin typeface="Arial"/>
              </a:rPr>
              <a:t>PRESERVED MODEL STATE</a:t>
            </a:r>
          </a:p>
        </p:txBody>
      </p:sp>
      <p:cxnSp>
        <p:nvCxnSpPr>
          <p:cNvPr id="73" name="Connector 72"/>
          <p:cNvCxnSpPr/>
          <p:nvPr/>
        </p:nvCxnSpPr>
        <p:spPr>
          <a:xfrm>
            <a:off x="1627632" y="4599432"/>
            <a:ext cx="9162288" cy="0"/>
          </a:xfrm>
          <a:prstGeom prst="line">
            <a:avLst/>
          </a:prstGeom>
          <a:ln w="50800">
            <a:solidFill>
              <a:srgbClr val="2F8F4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4" name="Oval 73"/>
          <p:cNvSpPr/>
          <p:nvPr/>
        </p:nvSpPr>
        <p:spPr>
          <a:xfrm>
            <a:off x="603504" y="4169663"/>
            <a:ext cx="1042415" cy="1042415"/>
          </a:xfrm>
          <a:prstGeom prst="ellipse">
            <a:avLst/>
          </a:prstGeom>
          <a:solidFill>
            <a:srgbClr val="EAF6ED"/>
          </a:solidFill>
          <a:ln w="2540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58952" y="4462272"/>
            <a:ext cx="731520" cy="219456"/>
          </a:xfrm>
          <a:prstGeom prst="rect">
            <a:avLst/>
          </a:prstGeom>
          <a:noFill/>
        </p:spPr>
        <p:txBody>
          <a:bodyPr wrap="square" lIns="18288" rIns="18288" tIns="18288" bIns="18288" anchor="t">
            <a:spAutoFit/>
          </a:bodyPr>
          <a:lstStyle/>
          <a:p>
            <a:pPr algn="ctr"/>
            <a:r>
              <a:rPr sz="1200" b="1" lang="en-US">
                <a:solidFill>
                  <a:srgbClr val="2F8F46"/>
                </a:solidFill>
                <a:latin typeface="Arial"/>
              </a:rPr>
              <a:t>M(r−1)</a:t>
            </a:r>
          </a:p>
        </p:txBody>
      </p:sp>
      <p:sp>
        <p:nvSpPr>
          <p:cNvPr id="76" name="TextBox 75"/>
          <p:cNvSpPr txBox="1"/>
          <p:nvPr/>
        </p:nvSpPr>
        <p:spPr>
          <a:xfrm>
            <a:off x="1847088" y="4352544"/>
            <a:ext cx="3529584" cy="228600"/>
          </a:xfrm>
          <a:prstGeom prst="rect">
            <a:avLst/>
          </a:prstGeom>
          <a:noFill/>
        </p:spPr>
        <p:txBody>
          <a:bodyPr wrap="square" lIns="18288" rIns="18288" tIns="18288" bIns="18288" anchor="t">
            <a:spAutoFit/>
          </a:bodyPr>
          <a:lstStyle/>
          <a:p>
            <a:pPr algn="l"/>
            <a:r>
              <a:rPr sz="919" b="1" lang="en-US">
                <a:solidFill>
                  <a:srgbClr val="434343"/>
                </a:solidFill>
                <a:latin typeface="Arial"/>
              </a:rPr>
              <a:t>M(r−1) remains authoritative throughout recovery</a:t>
            </a:r>
          </a:p>
        </p:txBody>
      </p:sp>
      <p:sp>
        <p:nvSpPr>
          <p:cNvPr id="77" name="TextBox 76"/>
          <p:cNvSpPr txBox="1"/>
          <p:nvPr/>
        </p:nvSpPr>
        <p:spPr>
          <a:xfrm>
            <a:off x="5596128" y="4242816"/>
            <a:ext cx="1938528" cy="219456"/>
          </a:xfrm>
          <a:prstGeom prst="rect">
            <a:avLst/>
          </a:prstGeom>
          <a:noFill/>
        </p:spPr>
        <p:txBody>
          <a:bodyPr wrap="square" lIns="18288" rIns="18288" tIns="18288" bIns="18288" anchor="t">
            <a:spAutoFit/>
          </a:bodyPr>
          <a:lstStyle/>
          <a:p>
            <a:pPr algn="ctr"/>
            <a:r>
              <a:rPr sz="900" b="1" lang="en-US">
                <a:solidFill>
                  <a:srgbClr val="C40D1E"/>
                </a:solidFill>
                <a:latin typeface="Arial"/>
              </a:rPr>
              <a:t>×  M(r) was never finalized</a:t>
            </a:r>
          </a:p>
        </p:txBody>
      </p:sp>
      <p:sp>
        <p:nvSpPr>
          <p:cNvPr id="78" name="TextBox 77"/>
          <p:cNvSpPr txBox="1"/>
          <p:nvPr/>
        </p:nvSpPr>
        <p:spPr>
          <a:xfrm>
            <a:off x="9491472" y="4764024"/>
            <a:ext cx="1609344" cy="201168"/>
          </a:xfrm>
          <a:prstGeom prst="rect">
            <a:avLst/>
          </a:prstGeom>
          <a:noFill/>
        </p:spPr>
        <p:txBody>
          <a:bodyPr wrap="square" lIns="18288" rIns="18288" tIns="18288" bIns="18288" anchor="t">
            <a:spAutoFit/>
          </a:bodyPr>
          <a:lstStyle/>
          <a:p>
            <a:pPr algn="ctr"/>
            <a:r>
              <a:rPr sz="840" b="1" lang="en-US">
                <a:solidFill>
                  <a:srgbClr val="2F8F46"/>
                </a:solidFill>
                <a:latin typeface="Arial"/>
              </a:rPr>
              <a:t>parent of round r+1</a:t>
            </a:r>
          </a:p>
        </p:txBody>
      </p:sp>
      <p:sp>
        <p:nvSpPr>
          <p:cNvPr id="79" name="Rectangle 78"/>
          <p:cNvSpPr/>
          <p:nvPr/>
        </p:nvSpPr>
        <p:spPr>
          <a:xfrm>
            <a:off x="1243584" y="5193792"/>
            <a:ext cx="9710928" cy="393192"/>
          </a:xfrm>
          <a:prstGeom prst="rect">
            <a:avLst/>
          </a:prstGeom>
          <a:solidFill>
            <a:srgbClr val="C40D1E"/>
          </a:solidFill>
          <a:ln w="1270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499616" y="5276088"/>
            <a:ext cx="9198864" cy="210312"/>
          </a:xfrm>
          <a:prstGeom prst="rect">
            <a:avLst/>
          </a:prstGeom>
          <a:noFill/>
        </p:spPr>
        <p:txBody>
          <a:bodyPr wrap="square" lIns="18288" rIns="18288" tIns="18288" bIns="18288" anchor="ctr">
            <a:spAutoFit/>
          </a:bodyPr>
          <a:lstStyle/>
          <a:p>
            <a:pPr algn="ctr"/>
            <a:r>
              <a:rPr sz="1150" b="1" lang="en-US">
                <a:solidFill>
                  <a:srgbClr val="FFFFFF"/>
                </a:solidFill>
                <a:latin typeface="Arial"/>
              </a:rPr>
              <a:t>No blockchain rewind: the failed attempt is abandoned and the previous finalized model is preserved.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Who does what during aggregation?</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18</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5D6973"/>
                </a:solidFill>
                <a:latin typeface="Arial"/>
              </a:rPr>
              <a:t>Agent</a:t>
            </a:r>
          </a:p>
        </p:txBody>
      </p:sp>
      <p:sp>
        <p:nvSpPr>
          <p:cNvPr id="13" name="Aggregation: Workers"/>
          <p:cNvSpPr txBox="1"/>
          <p:nvPr/>
        </p:nvSpPr>
        <p:spPr>
          <a:xfrm>
            <a:off x="594360" y="1435608"/>
            <a:ext cx="1865376" cy="347472"/>
          </a:xfrm>
          <a:prstGeom prst="rect">
            <a:avLst/>
          </a:prstGeom>
          <a:noFill/>
        </p:spPr>
        <p:txBody>
          <a:bodyPr wrap="square" lIns="0" rIns="0" tIns="0" bIns="0" anchor="ctr">
            <a:spAutoFit/>
          </a:bodyPr>
          <a:lstStyle/>
          <a:p>
            <a:pPr algn="ctr"/>
            <a:r>
              <a:rPr sz="2100" b="1" lang="en-US">
                <a:solidFill>
                  <a:srgbClr val="207548"/>
                </a:solidFill>
                <a:latin typeface="Arial"/>
              </a:rPr>
              <a:t>Workers</a:t>
            </a:r>
          </a:p>
        </p:txBody>
      </p:sp>
      <p:sp>
        <p:nvSpPr>
          <p:cNvPr id="14" name="Aggregation: Aggregator TEE"/>
          <p:cNvSpPr txBox="1"/>
          <p:nvPr/>
        </p:nvSpPr>
        <p:spPr>
          <a:xfrm>
            <a:off x="2843784" y="1435608"/>
            <a:ext cx="2852928" cy="347472"/>
          </a:xfrm>
          <a:prstGeom prst="rect">
            <a:avLst/>
          </a:prstGeom>
          <a:noFill/>
        </p:spPr>
        <p:txBody>
          <a:bodyPr wrap="square" lIns="0" rIns="0" tIns="0" bIns="0" anchor="ctr">
            <a:spAutoFit/>
          </a:bodyPr>
          <a:lstStyle/>
          <a:p>
            <a:pPr algn="ctr"/>
            <a:r>
              <a:rPr sz="2100" b="1" lang="en-US">
                <a:solidFill>
                  <a:srgbClr val="207548"/>
                </a:solidFill>
                <a:latin typeface="Arial"/>
              </a:rPr>
              <a:t>Aggregator TEE</a:t>
            </a:r>
          </a:p>
        </p:txBody>
      </p:sp>
      <p:sp>
        <p:nvSpPr>
          <p:cNvPr id="15" name="Aggregation: IPFS"/>
          <p:cNvSpPr txBox="1"/>
          <p:nvPr/>
        </p:nvSpPr>
        <p:spPr>
          <a:xfrm>
            <a:off x="6281928" y="1435608"/>
            <a:ext cx="1965960" cy="347472"/>
          </a:xfrm>
          <a:prstGeom prst="rect">
            <a:avLst/>
          </a:prstGeom>
          <a:noFill/>
        </p:spPr>
        <p:txBody>
          <a:bodyPr wrap="square" lIns="0" rIns="0" tIns="0" bIns="0" anchor="ctr">
            <a:spAutoFit/>
          </a:bodyPr>
          <a:lstStyle/>
          <a:p>
            <a:pPr algn="ctr"/>
            <a:r>
              <a:rPr sz="2100" b="1" lang="en-US">
                <a:solidFill>
                  <a:srgbClr val="7446A6"/>
                </a:solidFill>
                <a:latin typeface="Arial"/>
              </a:rPr>
              <a:t>IPFS</a:t>
            </a:r>
          </a:p>
        </p:txBody>
      </p:sp>
      <p:sp>
        <p:nvSpPr>
          <p:cNvPr id="16" name="Aggregation: Blockchain"/>
          <p:cNvSpPr txBox="1"/>
          <p:nvPr/>
        </p:nvSpPr>
        <p:spPr>
          <a:xfrm>
            <a:off x="8759952" y="1435608"/>
            <a:ext cx="2834640" cy="347472"/>
          </a:xfrm>
          <a:prstGeom prst="rect">
            <a:avLst/>
          </a:prstGeom>
          <a:noFill/>
        </p:spPr>
        <p:txBody>
          <a:bodyPr wrap="square" lIns="0" rIns="0" tIns="0" bIns="0" anchor="ctr">
            <a:spAutoFit/>
          </a:bodyPr>
          <a:lstStyle/>
          <a:p>
            <a:pPr algn="ctr"/>
            <a:r>
              <a:rPr sz="2100" b="1" lang="en-US">
                <a:solidFill>
                  <a:srgbClr val="7446A6"/>
                </a:solidFill>
                <a:latin typeface="Arial"/>
              </a:rPr>
              <a:t>Blockchain</a:t>
            </a:r>
          </a:p>
        </p:txBody>
      </p:sp>
      <p:cxnSp>
        <p:nvCxnSpPr>
          <p:cNvPr id="17" name="Connector 16"/>
          <p:cNvCxnSpPr/>
          <p:nvPr/>
        </p:nvCxnSpPr>
        <p:spPr>
          <a:xfrm>
            <a:off x="2578608" y="1901952"/>
            <a:ext cx="0" cy="3419856"/>
          </a:xfrm>
          <a:prstGeom prst="line">
            <a:avLst/>
          </a:prstGeom>
          <a:ln w="12700">
            <a:solidFill>
              <a:srgbClr val="DCE2E7"/>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961888" y="1901952"/>
            <a:ext cx="0" cy="3419856"/>
          </a:xfrm>
          <a:prstGeom prst="line">
            <a:avLst/>
          </a:prstGeom>
          <a:ln w="12700">
            <a:solidFill>
              <a:srgbClr val="DCE2E7"/>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522208" y="1901952"/>
            <a:ext cx="0" cy="3419856"/>
          </a:xfrm>
          <a:prstGeom prst="line">
            <a:avLst/>
          </a:prstGeom>
          <a:ln w="12700">
            <a:solidFill>
              <a:srgbClr val="DCE2E7"/>
            </a:solidFill>
            <a:prstDash val="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58368" y="2176272"/>
            <a:ext cx="411480" cy="512064"/>
          </a:xfrm>
          <a:prstGeom prst="roundRect">
            <a:avLst/>
          </a:prstGeom>
          <a:solidFill>
            <a:srgbClr val="FFFFFF"/>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0664" y="2286000"/>
            <a:ext cx="67056" cy="11430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59" y="2286000"/>
            <a:ext cx="67056" cy="11430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5256" y="2286000"/>
            <a:ext cx="67056" cy="11430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0664" y="2432304"/>
            <a:ext cx="67056" cy="11430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2959" y="2432304"/>
            <a:ext cx="67056" cy="11430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5256" y="2432304"/>
            <a:ext cx="67056" cy="11430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161288" y="2176272"/>
            <a:ext cx="411480" cy="512064"/>
          </a:xfrm>
          <a:prstGeom prst="roundRect">
            <a:avLst/>
          </a:prstGeom>
          <a:solidFill>
            <a:srgbClr val="FFFFFF"/>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243584" y="2286000"/>
            <a:ext cx="67056" cy="11430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325880" y="2286000"/>
            <a:ext cx="67056" cy="11430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408176" y="2286000"/>
            <a:ext cx="67056" cy="11430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243584" y="2432304"/>
            <a:ext cx="67056" cy="11430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325880" y="2432304"/>
            <a:ext cx="67056" cy="11430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408176" y="2432304"/>
            <a:ext cx="67056" cy="11430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664208" y="2176272"/>
            <a:ext cx="411480" cy="512064"/>
          </a:xfrm>
          <a:prstGeom prst="roundRect">
            <a:avLst/>
          </a:prstGeom>
          <a:solidFill>
            <a:srgbClr val="FFFFFF"/>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746504" y="2286000"/>
            <a:ext cx="67056" cy="11430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828800" y="2286000"/>
            <a:ext cx="67056" cy="11430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911096" y="2286000"/>
            <a:ext cx="67056" cy="11430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746504" y="2432304"/>
            <a:ext cx="67056" cy="11430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828800" y="2432304"/>
            <a:ext cx="67056" cy="11430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911096" y="2432304"/>
            <a:ext cx="67056" cy="11430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ggregation: Signed, encrypted / local models"/>
          <p:cNvSpPr txBox="1"/>
          <p:nvPr/>
        </p:nvSpPr>
        <p:spPr>
          <a:xfrm>
            <a:off x="594360" y="2862072"/>
            <a:ext cx="1865376" cy="557784"/>
          </a:xfrm>
          <a:prstGeom prst="rect">
            <a:avLst/>
          </a:prstGeom>
          <a:noFill/>
        </p:spPr>
        <p:txBody>
          <a:bodyPr wrap="square" lIns="0" rIns="0" tIns="0" bIns="0" anchor="ctr">
            <a:spAutoFit/>
          </a:bodyPr>
          <a:lstStyle/>
          <a:p>
            <a:pPr algn="ctr"/>
            <a:r>
              <a:rPr sz="1500" b="0" lang="en-US">
                <a:solidFill>
                  <a:srgbClr val="263440"/>
                </a:solidFill>
                <a:latin typeface="Arial"/>
              </a:rPr>
              <a:t>Signed, encrypted
local models</a:t>
            </a:r>
          </a:p>
        </p:txBody>
      </p:sp>
      <p:cxnSp>
        <p:nvCxnSpPr>
          <p:cNvPr id="42" name="Connector 41"/>
          <p:cNvCxnSpPr/>
          <p:nvPr/>
        </p:nvCxnSpPr>
        <p:spPr>
          <a:xfrm>
            <a:off x="2139696" y="2487168"/>
            <a:ext cx="649224" cy="0"/>
          </a:xfrm>
          <a:prstGeom prst="line">
            <a:avLst/>
          </a:prstGeom>
          <a:ln w="2540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2843784" y="2084831"/>
            <a:ext cx="2852928" cy="832104"/>
          </a:xfrm>
          <a:prstGeom prst="round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ggregation: Receive + verify"/>
          <p:cNvSpPr txBox="1"/>
          <p:nvPr/>
        </p:nvSpPr>
        <p:spPr>
          <a:xfrm>
            <a:off x="2999232" y="2185416"/>
            <a:ext cx="2542032" cy="310896"/>
          </a:xfrm>
          <a:prstGeom prst="rect">
            <a:avLst/>
          </a:prstGeom>
          <a:noFill/>
        </p:spPr>
        <p:txBody>
          <a:bodyPr wrap="square" lIns="0" rIns="0" tIns="0" bIns="0" anchor="ctr">
            <a:spAutoFit/>
          </a:bodyPr>
          <a:lstStyle/>
          <a:p>
            <a:pPr algn="ctr"/>
            <a:r>
              <a:rPr sz="1700" b="1" lang="en-US">
                <a:solidFill>
                  <a:srgbClr val="207548"/>
                </a:solidFill>
                <a:latin typeface="Arial"/>
              </a:rPr>
              <a:t>Receive + verify</a:t>
            </a:r>
          </a:p>
        </p:txBody>
      </p:sp>
      <p:sp>
        <p:nvSpPr>
          <p:cNvPr id="45" name="Aggregation: Hashes and signatures"/>
          <p:cNvSpPr txBox="1"/>
          <p:nvPr/>
        </p:nvSpPr>
        <p:spPr>
          <a:xfrm>
            <a:off x="2999232" y="2596896"/>
            <a:ext cx="2542032" cy="219456"/>
          </a:xfrm>
          <a:prstGeom prst="rect">
            <a:avLst/>
          </a:prstGeom>
          <a:noFill/>
        </p:spPr>
        <p:txBody>
          <a:bodyPr wrap="square" lIns="0" rIns="0" tIns="0" bIns="0" anchor="ctr">
            <a:spAutoFit/>
          </a:bodyPr>
          <a:lstStyle/>
          <a:p>
            <a:pPr algn="ctr"/>
            <a:r>
              <a:rPr sz="1350" b="0" lang="en-US">
                <a:solidFill>
                  <a:srgbClr val="263440"/>
                </a:solidFill>
                <a:latin typeface="Arial"/>
              </a:rPr>
              <a:t>Hashes and signatures</a:t>
            </a:r>
          </a:p>
        </p:txBody>
      </p:sp>
      <p:cxnSp>
        <p:nvCxnSpPr>
          <p:cNvPr id="46" name="Connector 45"/>
          <p:cNvCxnSpPr/>
          <p:nvPr/>
        </p:nvCxnSpPr>
        <p:spPr>
          <a:xfrm>
            <a:off x="5751576" y="2500884"/>
            <a:ext cx="2953512" cy="0"/>
          </a:xfrm>
          <a:prstGeom prst="line">
            <a:avLst/>
          </a:prstGeom>
          <a:ln w="2286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Aggregation: Record commitments"/>
          <p:cNvSpPr txBox="1"/>
          <p:nvPr/>
        </p:nvSpPr>
        <p:spPr>
          <a:xfrm>
            <a:off x="5961888" y="2112264"/>
            <a:ext cx="2560320" cy="246888"/>
          </a:xfrm>
          <a:prstGeom prst="rect">
            <a:avLst/>
          </a:prstGeom>
          <a:noFill/>
        </p:spPr>
        <p:txBody>
          <a:bodyPr wrap="square" lIns="0" rIns="0" tIns="0" bIns="0" anchor="ctr">
            <a:spAutoFit/>
          </a:bodyPr>
          <a:lstStyle/>
          <a:p>
            <a:pPr algn="ctr"/>
            <a:r>
              <a:rPr sz="1300" b="0" lang="en-US">
                <a:solidFill>
                  <a:srgbClr val="7446A6"/>
                </a:solidFill>
                <a:latin typeface="Arial"/>
              </a:rPr>
              <a:t>Record commitments</a:t>
            </a:r>
          </a:p>
        </p:txBody>
      </p:sp>
      <p:sp>
        <p:nvSpPr>
          <p:cNvPr id="48" name="Rounded Rectangle 47"/>
          <p:cNvSpPr/>
          <p:nvPr/>
        </p:nvSpPr>
        <p:spPr>
          <a:xfrm>
            <a:off x="8759952" y="2084831"/>
            <a:ext cx="2834640" cy="832104"/>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Aggregation: Accept commitments"/>
          <p:cNvSpPr txBox="1"/>
          <p:nvPr/>
        </p:nvSpPr>
        <p:spPr>
          <a:xfrm>
            <a:off x="8915400" y="2185416"/>
            <a:ext cx="2523744" cy="310896"/>
          </a:xfrm>
          <a:prstGeom prst="rect">
            <a:avLst/>
          </a:prstGeom>
          <a:noFill/>
        </p:spPr>
        <p:txBody>
          <a:bodyPr wrap="square" lIns="0" rIns="0" tIns="0" bIns="0" anchor="ctr">
            <a:spAutoFit/>
          </a:bodyPr>
          <a:lstStyle/>
          <a:p>
            <a:pPr algn="ctr"/>
            <a:r>
              <a:rPr sz="1600" b="1" lang="en-US">
                <a:solidFill>
                  <a:srgbClr val="7446A6"/>
                </a:solidFill>
                <a:latin typeface="Arial"/>
              </a:rPr>
              <a:t>Accept commitments</a:t>
            </a:r>
          </a:p>
        </p:txBody>
      </p:sp>
      <p:sp>
        <p:nvSpPr>
          <p:cNvPr id="50" name="Aggregation: Worker · model hash"/>
          <p:cNvSpPr txBox="1"/>
          <p:nvPr/>
        </p:nvSpPr>
        <p:spPr>
          <a:xfrm>
            <a:off x="8915400" y="2596896"/>
            <a:ext cx="2523744" cy="219456"/>
          </a:xfrm>
          <a:prstGeom prst="rect">
            <a:avLst/>
          </a:prstGeom>
          <a:noFill/>
        </p:spPr>
        <p:txBody>
          <a:bodyPr wrap="square" lIns="0" rIns="0" tIns="0" bIns="0" anchor="ctr">
            <a:spAutoFit/>
          </a:bodyPr>
          <a:lstStyle/>
          <a:p>
            <a:pPr algn="ctr"/>
            <a:r>
              <a:rPr sz="1350" b="0" lang="en-US">
                <a:solidFill>
                  <a:srgbClr val="263440"/>
                </a:solidFill>
                <a:latin typeface="Arial"/>
              </a:rPr>
              <a:t>Worker · model hash</a:t>
            </a:r>
          </a:p>
        </p:txBody>
      </p:sp>
      <p:cxnSp>
        <p:nvCxnSpPr>
          <p:cNvPr id="51" name="Connector 50"/>
          <p:cNvCxnSpPr/>
          <p:nvPr/>
        </p:nvCxnSpPr>
        <p:spPr>
          <a:xfrm>
            <a:off x="10177272" y="2953512"/>
            <a:ext cx="0" cy="274320"/>
          </a:xfrm>
          <a:prstGeom prst="line">
            <a:avLst/>
          </a:prstGeom>
          <a:ln w="2286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8759952" y="3273552"/>
            <a:ext cx="2834640" cy="832104"/>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Aggregation: Aggregator closes"/>
          <p:cNvSpPr txBox="1"/>
          <p:nvPr/>
        </p:nvSpPr>
        <p:spPr>
          <a:xfrm>
            <a:off x="8915400" y="3374136"/>
            <a:ext cx="2523744" cy="310896"/>
          </a:xfrm>
          <a:prstGeom prst="rect">
            <a:avLst/>
          </a:prstGeom>
          <a:noFill/>
        </p:spPr>
        <p:txBody>
          <a:bodyPr wrap="square" lIns="0" rIns="0" tIns="0" bIns="0" anchor="ctr">
            <a:spAutoFit/>
          </a:bodyPr>
          <a:lstStyle/>
          <a:p>
            <a:pPr algn="ctr"/>
            <a:r>
              <a:rPr sz="1600" b="1" lang="en-US">
                <a:solidFill>
                  <a:srgbClr val="7446A6"/>
                </a:solidFill>
                <a:latin typeface="Arial"/>
              </a:rPr>
              <a:t>Aggregator closes</a:t>
            </a:r>
          </a:p>
        </p:txBody>
      </p:sp>
      <p:sp>
        <p:nvSpPr>
          <p:cNvPr id="54" name="Aggregation: Freeze fingerprint + count"/>
          <p:cNvSpPr txBox="1"/>
          <p:nvPr/>
        </p:nvSpPr>
        <p:spPr>
          <a:xfrm>
            <a:off x="8887968" y="3785615"/>
            <a:ext cx="2578608" cy="219456"/>
          </a:xfrm>
          <a:prstGeom prst="rect">
            <a:avLst/>
          </a:prstGeom>
          <a:noFill/>
        </p:spPr>
        <p:txBody>
          <a:bodyPr wrap="square" lIns="0" rIns="0" tIns="0" bIns="0" anchor="ctr">
            <a:spAutoFit/>
          </a:bodyPr>
          <a:lstStyle/>
          <a:p>
            <a:pPr algn="ctr"/>
            <a:r>
              <a:rPr sz="1300" b="0" lang="en-US">
                <a:solidFill>
                  <a:srgbClr val="263440"/>
                </a:solidFill>
                <a:latin typeface="Arial"/>
              </a:rPr>
              <a:t>Freeze fingerprint + count</a:t>
            </a:r>
          </a:p>
        </p:txBody>
      </p:sp>
      <p:cxnSp>
        <p:nvCxnSpPr>
          <p:cNvPr id="55" name="Connector 54"/>
          <p:cNvCxnSpPr/>
          <p:nvPr/>
        </p:nvCxnSpPr>
        <p:spPr>
          <a:xfrm flipH="1">
            <a:off x="5751576" y="3689604"/>
            <a:ext cx="2953512" cy="0"/>
          </a:xfrm>
          <a:prstGeom prst="line">
            <a:avLst/>
          </a:prstGeom>
          <a:ln w="2286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Aggregation: Frozen input set"/>
          <p:cNvSpPr txBox="1"/>
          <p:nvPr/>
        </p:nvSpPr>
        <p:spPr>
          <a:xfrm>
            <a:off x="5961888" y="3300984"/>
            <a:ext cx="2560320" cy="246888"/>
          </a:xfrm>
          <a:prstGeom prst="rect">
            <a:avLst/>
          </a:prstGeom>
          <a:noFill/>
        </p:spPr>
        <p:txBody>
          <a:bodyPr wrap="square" lIns="0" rIns="0" tIns="0" bIns="0" anchor="ctr">
            <a:spAutoFit/>
          </a:bodyPr>
          <a:lstStyle/>
          <a:p>
            <a:pPr algn="ctr"/>
            <a:r>
              <a:rPr sz="1300" b="0" lang="en-US">
                <a:solidFill>
                  <a:srgbClr val="7446A6"/>
                </a:solidFill>
                <a:latin typeface="Arial"/>
              </a:rPr>
              <a:t>Frozen input set</a:t>
            </a:r>
          </a:p>
        </p:txBody>
      </p:sp>
      <p:sp>
        <p:nvSpPr>
          <p:cNvPr id="57" name="Rounded Rectangle 56"/>
          <p:cNvSpPr/>
          <p:nvPr/>
        </p:nvSpPr>
        <p:spPr>
          <a:xfrm>
            <a:off x="2843784" y="3273552"/>
            <a:ext cx="2852928" cy="832104"/>
          </a:xfrm>
          <a:prstGeom prst="round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Aggregation: Check input set"/>
          <p:cNvSpPr txBox="1"/>
          <p:nvPr/>
        </p:nvSpPr>
        <p:spPr>
          <a:xfrm>
            <a:off x="2999232" y="3374136"/>
            <a:ext cx="2542032" cy="310896"/>
          </a:xfrm>
          <a:prstGeom prst="rect">
            <a:avLst/>
          </a:prstGeom>
          <a:noFill/>
        </p:spPr>
        <p:txBody>
          <a:bodyPr wrap="square" lIns="0" rIns="0" tIns="0" bIns="0" anchor="ctr">
            <a:spAutoFit/>
          </a:bodyPr>
          <a:lstStyle/>
          <a:p>
            <a:pPr algn="ctr"/>
            <a:r>
              <a:rPr sz="1550" b="1" lang="en-US">
                <a:solidFill>
                  <a:srgbClr val="207548"/>
                </a:solidFill>
                <a:latin typeface="Arial"/>
              </a:rPr>
              <a:t>Check input set</a:t>
            </a:r>
          </a:p>
        </p:txBody>
      </p:sp>
      <p:sp>
        <p:nvSpPr>
          <p:cNvPr id="59" name="Aggregation: Exact files + exact count"/>
          <p:cNvSpPr txBox="1"/>
          <p:nvPr/>
        </p:nvSpPr>
        <p:spPr>
          <a:xfrm>
            <a:off x="2999232" y="3785615"/>
            <a:ext cx="2542032" cy="219456"/>
          </a:xfrm>
          <a:prstGeom prst="rect">
            <a:avLst/>
          </a:prstGeom>
          <a:noFill/>
        </p:spPr>
        <p:txBody>
          <a:bodyPr wrap="square" lIns="0" rIns="0" tIns="0" bIns="0" anchor="ctr">
            <a:spAutoFit/>
          </a:bodyPr>
          <a:lstStyle/>
          <a:p>
            <a:pPr algn="ctr"/>
            <a:r>
              <a:rPr sz="1300" b="0" lang="en-US">
                <a:solidFill>
                  <a:srgbClr val="263440"/>
                </a:solidFill>
                <a:latin typeface="Arial"/>
              </a:rPr>
              <a:t>Exact files + exact count</a:t>
            </a:r>
          </a:p>
        </p:txBody>
      </p:sp>
      <p:cxnSp>
        <p:nvCxnSpPr>
          <p:cNvPr id="60" name="Connector 59"/>
          <p:cNvCxnSpPr/>
          <p:nvPr/>
        </p:nvCxnSpPr>
        <p:spPr>
          <a:xfrm>
            <a:off x="4270248" y="4142232"/>
            <a:ext cx="0" cy="210312"/>
          </a:xfrm>
          <a:prstGeom prst="line">
            <a:avLst/>
          </a:prstGeom>
          <a:ln w="2286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Rounded Rectangle 60"/>
          <p:cNvSpPr/>
          <p:nvPr/>
        </p:nvSpPr>
        <p:spPr>
          <a:xfrm>
            <a:off x="2843784" y="4398264"/>
            <a:ext cx="2852928" cy="905256"/>
          </a:xfrm>
          <a:prstGeom prst="round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Aggregation: Compute FedAvg"/>
          <p:cNvSpPr txBox="1"/>
          <p:nvPr/>
        </p:nvSpPr>
        <p:spPr>
          <a:xfrm>
            <a:off x="2999232" y="4489704"/>
            <a:ext cx="2542032" cy="292608"/>
          </a:xfrm>
          <a:prstGeom prst="rect">
            <a:avLst/>
          </a:prstGeom>
          <a:noFill/>
        </p:spPr>
        <p:txBody>
          <a:bodyPr wrap="square" lIns="0" rIns="0" tIns="0" bIns="0" anchor="ctr">
            <a:spAutoFit/>
          </a:bodyPr>
          <a:lstStyle/>
          <a:p>
            <a:pPr algn="ctr"/>
            <a:r>
              <a:rPr sz="1650" b="1" lang="en-US">
                <a:solidFill>
                  <a:srgbClr val="207548"/>
                </a:solidFill>
                <a:latin typeface="Arial"/>
              </a:rPr>
              <a:t>Compute FedAvg</a:t>
            </a:r>
          </a:p>
        </p:txBody>
      </p:sp>
      <p:sp>
        <p:nvSpPr>
          <p:cNvPr id="63" name="Aggregation: Equal mean per parameter / Encrypt + sign output"/>
          <p:cNvSpPr txBox="1"/>
          <p:nvPr/>
        </p:nvSpPr>
        <p:spPr>
          <a:xfrm>
            <a:off x="2999232" y="4818888"/>
            <a:ext cx="2542032" cy="429768"/>
          </a:xfrm>
          <a:prstGeom prst="rect">
            <a:avLst/>
          </a:prstGeom>
          <a:noFill/>
        </p:spPr>
        <p:txBody>
          <a:bodyPr wrap="square" lIns="0" rIns="0" tIns="0" bIns="0" anchor="ctr">
            <a:spAutoFit/>
          </a:bodyPr>
          <a:lstStyle/>
          <a:p>
            <a:pPr algn="ctr"/>
            <a:r>
              <a:rPr sz="1300" b="0" lang="en-US">
                <a:solidFill>
                  <a:srgbClr val="263440"/>
                </a:solidFill>
                <a:latin typeface="Arial"/>
              </a:rPr>
              <a:t>Equal mean per parameter
Encrypt + sign output</a:t>
            </a:r>
          </a:p>
        </p:txBody>
      </p:sp>
      <p:cxnSp>
        <p:nvCxnSpPr>
          <p:cNvPr id="64" name="Connector 63"/>
          <p:cNvCxnSpPr/>
          <p:nvPr/>
        </p:nvCxnSpPr>
        <p:spPr>
          <a:xfrm>
            <a:off x="5751576" y="4681728"/>
            <a:ext cx="475488" cy="0"/>
          </a:xfrm>
          <a:prstGeom prst="line">
            <a:avLst/>
          </a:prstGeom>
          <a:ln w="2286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Rounded Rectangle 64"/>
          <p:cNvSpPr/>
          <p:nvPr/>
        </p:nvSpPr>
        <p:spPr>
          <a:xfrm>
            <a:off x="6281928" y="4398264"/>
            <a:ext cx="1965960" cy="905256"/>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Aggregation: Store bundle"/>
          <p:cNvSpPr txBox="1"/>
          <p:nvPr/>
        </p:nvSpPr>
        <p:spPr>
          <a:xfrm>
            <a:off x="6419088" y="4489704"/>
            <a:ext cx="1691640" cy="292608"/>
          </a:xfrm>
          <a:prstGeom prst="rect">
            <a:avLst/>
          </a:prstGeom>
          <a:noFill/>
        </p:spPr>
        <p:txBody>
          <a:bodyPr wrap="square" lIns="0" rIns="0" tIns="0" bIns="0" anchor="ctr">
            <a:spAutoFit/>
          </a:bodyPr>
          <a:lstStyle/>
          <a:p>
            <a:pPr algn="ctr"/>
            <a:r>
              <a:rPr sz="1600" b="1" lang="en-US">
                <a:solidFill>
                  <a:srgbClr val="7446A6"/>
                </a:solidFill>
                <a:latin typeface="Arial"/>
              </a:rPr>
              <a:t>Store bundle</a:t>
            </a:r>
          </a:p>
        </p:txBody>
      </p:sp>
      <p:sp>
        <p:nvSpPr>
          <p:cNvPr id="67" name="Aggregation: Model · signature / recipient keys"/>
          <p:cNvSpPr txBox="1"/>
          <p:nvPr/>
        </p:nvSpPr>
        <p:spPr>
          <a:xfrm>
            <a:off x="6419088" y="4837176"/>
            <a:ext cx="1691640" cy="393192"/>
          </a:xfrm>
          <a:prstGeom prst="rect">
            <a:avLst/>
          </a:prstGeom>
          <a:noFill/>
        </p:spPr>
        <p:txBody>
          <a:bodyPr wrap="square" lIns="0" rIns="0" tIns="0" bIns="0" anchor="ctr">
            <a:spAutoFit/>
          </a:bodyPr>
          <a:lstStyle/>
          <a:p>
            <a:pPr algn="ctr"/>
            <a:r>
              <a:rPr sz="1280" b="0" lang="en-US">
                <a:solidFill>
                  <a:srgbClr val="263440"/>
                </a:solidFill>
                <a:latin typeface="Arial"/>
              </a:rPr>
              <a:t>Model · signature
recipient keys</a:t>
            </a:r>
          </a:p>
        </p:txBody>
      </p:sp>
      <p:sp>
        <p:nvSpPr>
          <p:cNvPr id="68" name="Rounded Rectangle 67"/>
          <p:cNvSpPr/>
          <p:nvPr/>
        </p:nvSpPr>
        <p:spPr>
          <a:xfrm>
            <a:off x="8759952" y="4398264"/>
            <a:ext cx="2834640" cy="905256"/>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Aggregation: Finalize round"/>
          <p:cNvSpPr txBox="1"/>
          <p:nvPr/>
        </p:nvSpPr>
        <p:spPr>
          <a:xfrm>
            <a:off x="8915400" y="4489704"/>
            <a:ext cx="2523744" cy="292608"/>
          </a:xfrm>
          <a:prstGeom prst="rect">
            <a:avLst/>
          </a:prstGeom>
          <a:noFill/>
        </p:spPr>
        <p:txBody>
          <a:bodyPr wrap="square" lIns="0" rIns="0" tIns="0" bIns="0" anchor="ctr">
            <a:spAutoFit/>
          </a:bodyPr>
          <a:lstStyle/>
          <a:p>
            <a:pPr algn="ctr"/>
            <a:r>
              <a:rPr sz="1700" b="1" lang="en-US">
                <a:solidFill>
                  <a:srgbClr val="7446A6"/>
                </a:solidFill>
                <a:latin typeface="Arial"/>
              </a:rPr>
              <a:t>Finalize round</a:t>
            </a:r>
          </a:p>
        </p:txBody>
      </p:sp>
      <p:sp>
        <p:nvSpPr>
          <p:cNvPr id="70" name="Aggregation: Verify signed statement / Publish CIDs · advance"/>
          <p:cNvSpPr txBox="1"/>
          <p:nvPr/>
        </p:nvSpPr>
        <p:spPr>
          <a:xfrm>
            <a:off x="8915400" y="4818888"/>
            <a:ext cx="2523744" cy="429768"/>
          </a:xfrm>
          <a:prstGeom prst="rect">
            <a:avLst/>
          </a:prstGeom>
          <a:noFill/>
        </p:spPr>
        <p:txBody>
          <a:bodyPr wrap="square" lIns="0" rIns="0" tIns="0" bIns="0" anchor="ctr">
            <a:spAutoFit/>
          </a:bodyPr>
          <a:lstStyle/>
          <a:p>
            <a:pPr algn="ctr"/>
            <a:r>
              <a:rPr sz="1300" b="0" lang="en-US">
                <a:solidFill>
                  <a:srgbClr val="263440"/>
                </a:solidFill>
                <a:latin typeface="Arial"/>
              </a:rPr>
              <a:t>Verify signed statement
Publish CIDs · advance</a:t>
            </a:r>
          </a:p>
        </p:txBody>
      </p:sp>
      <p:cxnSp>
        <p:nvCxnSpPr>
          <p:cNvPr id="71" name="Connector 70"/>
          <p:cNvCxnSpPr/>
          <p:nvPr/>
        </p:nvCxnSpPr>
        <p:spPr>
          <a:xfrm>
            <a:off x="4270248" y="5349240"/>
            <a:ext cx="0" cy="283464"/>
          </a:xfrm>
          <a:prstGeom prst="line">
            <a:avLst/>
          </a:prstGeom>
          <a:ln w="2540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4270248" y="5632704"/>
            <a:ext cx="5907024" cy="0"/>
          </a:xfrm>
          <a:prstGeom prst="line">
            <a:avLst/>
          </a:prstGeom>
          <a:ln w="2540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10177272" y="5349240"/>
            <a:ext cx="0" cy="283464"/>
          </a:xfrm>
          <a:prstGeom prst="line">
            <a:avLst/>
          </a:prstGeom>
          <a:ln w="2540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4" name="Aggregation: Signed statement + IPFS CIDs · one transaction"/>
          <p:cNvSpPr txBox="1"/>
          <p:nvPr/>
        </p:nvSpPr>
        <p:spPr>
          <a:xfrm>
            <a:off x="4690872" y="5349240"/>
            <a:ext cx="5148072" cy="219456"/>
          </a:xfrm>
          <a:prstGeom prst="rect">
            <a:avLst/>
          </a:prstGeom>
          <a:noFill/>
        </p:spPr>
        <p:txBody>
          <a:bodyPr wrap="square" lIns="0" rIns="0" tIns="0" bIns="0" anchor="ctr">
            <a:spAutoFit/>
          </a:bodyPr>
          <a:lstStyle/>
          <a:p>
            <a:pPr algn="ctr"/>
            <a:r>
              <a:rPr sz="1300" b="0" lang="en-US">
                <a:solidFill>
                  <a:srgbClr val="7446A6"/>
                </a:solidFill>
                <a:latin typeface="Arial"/>
              </a:rPr>
              <a:t>Signed statement + IPFS CIDs · one transaction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The agent cannot choose the model</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LEDGER = AUTHORITY · IPFS = UNTRUSTED BYTES · RECEIVER = VERIFICATION</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19</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5D6973"/>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cxnSp>
        <p:nvCxnSpPr>
          <p:cNvPr id="13" name="Connector 12"/>
          <p:cNvCxnSpPr/>
          <p:nvPr/>
        </p:nvCxnSpPr>
        <p:spPr>
          <a:xfrm>
            <a:off x="6099048" y="1856231"/>
            <a:ext cx="0" cy="192025"/>
          </a:xfrm>
          <a:prstGeom prst="line">
            <a:avLst/>
          </a:prstGeom>
          <a:ln w="22860">
            <a:solidFill>
              <a:srgbClr val="2F8F4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907792" y="3273552"/>
            <a:ext cx="320040" cy="0"/>
          </a:xfrm>
          <a:prstGeom prst="line">
            <a:avLst/>
          </a:prstGeom>
          <a:ln w="22860">
            <a:solidFill>
              <a:srgbClr val="C40D1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8961120" y="3273552"/>
            <a:ext cx="310896" cy="0"/>
          </a:xfrm>
          <a:prstGeom prst="line">
            <a:avLst/>
          </a:prstGeom>
          <a:ln w="22860">
            <a:solidFill>
              <a:srgbClr val="7A35B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370832" y="1316736"/>
            <a:ext cx="3456432" cy="539496"/>
          </a:xfrm>
          <a:prstGeom prst="roundRect">
            <a:avLst/>
          </a:prstGeom>
          <a:solidFill>
            <a:srgbClr val="F3F3F3"/>
          </a:solidFill>
          <a:ln w="12700">
            <a:solidFill>
              <a:srgbClr val="B2B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1408176"/>
            <a:ext cx="1197864" cy="164592"/>
          </a:xfrm>
          <a:prstGeom prst="rect">
            <a:avLst/>
          </a:prstGeom>
          <a:noFill/>
        </p:spPr>
        <p:txBody>
          <a:bodyPr wrap="square" lIns="18288" rIns="18288" tIns="18288" bIns="18288" anchor="t">
            <a:spAutoFit/>
          </a:bodyPr>
          <a:lstStyle/>
          <a:p>
            <a:pPr algn="ctr"/>
            <a:r>
              <a:rPr sz="860" b="1" lang="en-US">
                <a:solidFill>
                  <a:srgbClr val="434343"/>
                </a:solidFill>
                <a:latin typeface="Arial"/>
              </a:rPr>
              <a:t>AGENT REQUEST</a:t>
            </a:r>
          </a:p>
        </p:txBody>
      </p:sp>
      <p:sp>
        <p:nvSpPr>
          <p:cNvPr id="18" name="TextBox 17"/>
          <p:cNvSpPr txBox="1"/>
          <p:nvPr/>
        </p:nvSpPr>
        <p:spPr>
          <a:xfrm>
            <a:off x="5733288" y="1408176"/>
            <a:ext cx="1847088" cy="164592"/>
          </a:xfrm>
          <a:prstGeom prst="rect">
            <a:avLst/>
          </a:prstGeom>
          <a:noFill/>
        </p:spPr>
        <p:txBody>
          <a:bodyPr wrap="square" lIns="18288" rIns="18288" tIns="18288" bIns="18288" anchor="t">
            <a:spAutoFit/>
          </a:bodyPr>
          <a:lstStyle/>
          <a:p>
            <a:pPr algn="ctr"/>
            <a:r>
              <a:rPr sz="860" b="1" lang="en-US">
                <a:solidFill>
                  <a:srgbClr val="434343"/>
                </a:solidFill>
                <a:latin typeface="Arial"/>
              </a:rPr>
              <a:t>PREPARE CURRENT MODEL</a:t>
            </a:r>
          </a:p>
        </p:txBody>
      </p:sp>
      <p:sp>
        <p:nvSpPr>
          <p:cNvPr id="19" name="TextBox 18"/>
          <p:cNvSpPr txBox="1"/>
          <p:nvPr/>
        </p:nvSpPr>
        <p:spPr>
          <a:xfrm>
            <a:off x="4645152" y="1645920"/>
            <a:ext cx="2907792" cy="146304"/>
          </a:xfrm>
          <a:prstGeom prst="rect">
            <a:avLst/>
          </a:prstGeom>
          <a:noFill/>
        </p:spPr>
        <p:txBody>
          <a:bodyPr wrap="square" lIns="18288" rIns="18288" tIns="18288" bIns="18288" anchor="t">
            <a:spAutoFit/>
          </a:bodyPr>
          <a:lstStyle/>
          <a:p>
            <a:pPr algn="ctr"/>
            <a:r>
              <a:rPr sz="750" b="1" lang="en-US">
                <a:solidFill>
                  <a:srgbClr val="C40D1E"/>
                </a:solidFill>
                <a:latin typeface="Arial"/>
              </a:rPr>
              <a:t>no path · no CID · no round · no publisher</a:t>
            </a:r>
          </a:p>
        </p:txBody>
      </p:sp>
      <p:sp>
        <p:nvSpPr>
          <p:cNvPr id="20" name="Rounded Rectangle 19"/>
          <p:cNvSpPr/>
          <p:nvPr/>
        </p:nvSpPr>
        <p:spPr>
          <a:xfrm>
            <a:off x="566928" y="2057400"/>
            <a:ext cx="2340864" cy="2560320"/>
          </a:xfrm>
          <a:prstGeom prst="roundRect">
            <a:avLst/>
          </a:prstGeom>
          <a:solidFill>
            <a:srgbClr val="FBEAEC"/>
          </a:solidFill>
          <a:ln w="2032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44" y="2304288"/>
            <a:ext cx="1627632" cy="274320"/>
          </a:xfrm>
          <a:prstGeom prst="rect">
            <a:avLst/>
          </a:prstGeom>
          <a:noFill/>
        </p:spPr>
        <p:txBody>
          <a:bodyPr wrap="square" lIns="18288" rIns="18288" tIns="18288" bIns="18288" anchor="t">
            <a:spAutoFit/>
          </a:bodyPr>
          <a:lstStyle/>
          <a:p>
            <a:pPr algn="ctr"/>
            <a:r>
              <a:rPr sz="1500" b="1" lang="en-US">
                <a:solidFill>
                  <a:srgbClr val="C40D1E"/>
                </a:solidFill>
                <a:latin typeface="Arial"/>
              </a:rPr>
              <a:t>LEDGER</a:t>
            </a:r>
          </a:p>
        </p:txBody>
      </p:sp>
      <p:sp>
        <p:nvSpPr>
          <p:cNvPr id="22" name="TextBox 21"/>
          <p:cNvSpPr txBox="1"/>
          <p:nvPr/>
        </p:nvSpPr>
        <p:spPr>
          <a:xfrm>
            <a:off x="868680" y="2688336"/>
            <a:ext cx="1737360" cy="201168"/>
          </a:xfrm>
          <a:prstGeom prst="rect">
            <a:avLst/>
          </a:prstGeom>
          <a:noFill/>
        </p:spPr>
        <p:txBody>
          <a:bodyPr wrap="square" lIns="18288" rIns="18288" tIns="18288" bIns="18288" anchor="t">
            <a:spAutoFit/>
          </a:bodyPr>
          <a:lstStyle/>
          <a:p>
            <a:pPr algn="ctr"/>
            <a:r>
              <a:rPr sz="900" b="1" lang="en-US">
                <a:solidFill>
                  <a:srgbClr val="434343"/>
                </a:solidFill>
                <a:latin typeface="Arial"/>
              </a:rPr>
              <a:t>FINALIZED STATE</a:t>
            </a:r>
          </a:p>
        </p:txBody>
      </p:sp>
      <p:sp>
        <p:nvSpPr>
          <p:cNvPr id="23" name="TextBox 22"/>
          <p:cNvSpPr txBox="1"/>
          <p:nvPr/>
        </p:nvSpPr>
        <p:spPr>
          <a:xfrm>
            <a:off x="841248" y="3081528"/>
            <a:ext cx="1792224" cy="1005840"/>
          </a:xfrm>
          <a:prstGeom prst="rect">
            <a:avLst/>
          </a:prstGeom>
          <a:noFill/>
        </p:spPr>
        <p:txBody>
          <a:bodyPr wrap="square" lIns="18288" rIns="18288" tIns="18288" bIns="18288" anchor="t">
            <a:spAutoFit/>
          </a:bodyPr>
          <a:lstStyle/>
          <a:p>
            <a:pPr algn="ctr"/>
            <a:r>
              <a:rPr sz="910" b="0" lang="en-US">
                <a:solidFill>
                  <a:srgbClr val="434343"/>
                </a:solidFill>
                <a:latin typeface="Arial"/>
              </a:rPr>
              <a:t>round + publisher
key snapshot
model CID
signature CID
key-bundle CID</a:t>
            </a:r>
          </a:p>
        </p:txBody>
      </p:sp>
      <p:sp>
        <p:nvSpPr>
          <p:cNvPr id="24" name="TextBox 23"/>
          <p:cNvSpPr txBox="1"/>
          <p:nvPr/>
        </p:nvSpPr>
        <p:spPr>
          <a:xfrm>
            <a:off x="841248" y="4279392"/>
            <a:ext cx="1792224" cy="182880"/>
          </a:xfrm>
          <a:prstGeom prst="rect">
            <a:avLst/>
          </a:prstGeom>
          <a:noFill/>
        </p:spPr>
        <p:txBody>
          <a:bodyPr wrap="square" lIns="18288" rIns="18288" tIns="18288" bIns="18288" anchor="t">
            <a:spAutoFit/>
          </a:bodyPr>
          <a:lstStyle/>
          <a:p>
            <a:pPr algn="ctr"/>
            <a:r>
              <a:rPr sz="800" b="1" lang="en-US">
                <a:solidFill>
                  <a:srgbClr val="C40D1E"/>
                </a:solidFill>
                <a:latin typeface="Arial"/>
              </a:rPr>
              <a:t>defines what is current</a:t>
            </a:r>
          </a:p>
        </p:txBody>
      </p:sp>
      <p:sp>
        <p:nvSpPr>
          <p:cNvPr id="25" name="Rounded Rectangle 24"/>
          <p:cNvSpPr/>
          <p:nvPr/>
        </p:nvSpPr>
        <p:spPr>
          <a:xfrm>
            <a:off x="3236976" y="1993392"/>
            <a:ext cx="5724144" cy="2788920"/>
          </a:xfrm>
          <a:prstGeom prst="roundRect">
            <a:avLst/>
          </a:prstGeom>
          <a:solidFill>
            <a:srgbClr val="EAF6ED"/>
          </a:solidFill>
          <a:ln w="2286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2249424"/>
            <a:ext cx="3566160" cy="283464"/>
          </a:xfrm>
          <a:prstGeom prst="rect">
            <a:avLst/>
          </a:prstGeom>
          <a:noFill/>
        </p:spPr>
        <p:txBody>
          <a:bodyPr wrap="square" lIns="18288" rIns="18288" tIns="18288" bIns="18288" anchor="t">
            <a:spAutoFit/>
          </a:bodyPr>
          <a:lstStyle/>
          <a:p>
            <a:pPr algn="ctr"/>
            <a:r>
              <a:rPr sz="1500" b="1" lang="en-US">
                <a:solidFill>
                  <a:srgbClr val="2F8F46"/>
                </a:solidFill>
                <a:latin typeface="Arial"/>
              </a:rPr>
              <a:t>MEASURED RECEIVER</a:t>
            </a:r>
          </a:p>
        </p:txBody>
      </p:sp>
      <p:sp>
        <p:nvSpPr>
          <p:cNvPr id="27" name="Rounded Rectangle 26"/>
          <p:cNvSpPr/>
          <p:nvPr/>
        </p:nvSpPr>
        <p:spPr>
          <a:xfrm>
            <a:off x="3547872" y="2706624"/>
            <a:ext cx="1517904" cy="1078992"/>
          </a:xfrm>
          <a:prstGeom prst="roundRect">
            <a:avLst/>
          </a:prstGeom>
          <a:solidFill>
            <a:srgbClr val="FFFFFF"/>
          </a:solidFill>
          <a:ln w="1270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39312" y="2843784"/>
            <a:ext cx="1335024" cy="182880"/>
          </a:xfrm>
          <a:prstGeom prst="rect">
            <a:avLst/>
          </a:prstGeom>
          <a:noFill/>
        </p:spPr>
        <p:txBody>
          <a:bodyPr wrap="square" lIns="18288" rIns="18288" tIns="18288" bIns="18288" anchor="t">
            <a:spAutoFit/>
          </a:bodyPr>
          <a:lstStyle/>
          <a:p>
            <a:pPr algn="ctr"/>
            <a:r>
              <a:rPr sz="919" b="1" lang="en-US">
                <a:solidFill>
                  <a:srgbClr val="2F8F46"/>
                </a:solidFill>
                <a:latin typeface="Arial"/>
              </a:rPr>
              <a:t>1  RESOLVE</a:t>
            </a:r>
          </a:p>
        </p:txBody>
      </p:sp>
      <p:sp>
        <p:nvSpPr>
          <p:cNvPr id="29" name="TextBox 28"/>
          <p:cNvSpPr txBox="1"/>
          <p:nvPr/>
        </p:nvSpPr>
        <p:spPr>
          <a:xfrm>
            <a:off x="3639312" y="3191256"/>
            <a:ext cx="1335024" cy="365760"/>
          </a:xfrm>
          <a:prstGeom prst="rect">
            <a:avLst/>
          </a:prstGeom>
          <a:noFill/>
        </p:spPr>
        <p:txBody>
          <a:bodyPr wrap="square" lIns="18288" rIns="18288" tIns="18288" bIns="18288" anchor="t">
            <a:spAutoFit/>
          </a:bodyPr>
          <a:lstStyle/>
          <a:p>
            <a:pPr algn="ctr"/>
            <a:r>
              <a:rPr sz="880" b="0" lang="en-US">
                <a:solidFill>
                  <a:srgbClr val="434343"/>
                </a:solidFill>
                <a:latin typeface="Arial"/>
              </a:rPr>
              <a:t>latest finalized
ledger tuple</a:t>
            </a:r>
          </a:p>
        </p:txBody>
      </p:sp>
      <p:sp>
        <p:nvSpPr>
          <p:cNvPr id="30" name="Rounded Rectangle 29"/>
          <p:cNvSpPr/>
          <p:nvPr/>
        </p:nvSpPr>
        <p:spPr>
          <a:xfrm>
            <a:off x="5248656" y="2706624"/>
            <a:ext cx="1517904" cy="1078992"/>
          </a:xfrm>
          <a:prstGeom prst="roundRect">
            <a:avLst/>
          </a:prstGeom>
          <a:solidFill>
            <a:srgbClr val="FFFFFF"/>
          </a:solidFill>
          <a:ln w="1270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40096" y="2843784"/>
            <a:ext cx="1335024" cy="182880"/>
          </a:xfrm>
          <a:prstGeom prst="rect">
            <a:avLst/>
          </a:prstGeom>
          <a:noFill/>
        </p:spPr>
        <p:txBody>
          <a:bodyPr wrap="square" lIns="18288" rIns="18288" tIns="18288" bIns="18288" anchor="t">
            <a:spAutoFit/>
          </a:bodyPr>
          <a:lstStyle/>
          <a:p>
            <a:pPr algn="ctr"/>
            <a:r>
              <a:rPr sz="919" b="1" lang="en-US">
                <a:solidFill>
                  <a:srgbClr val="2F8F46"/>
                </a:solidFill>
                <a:latin typeface="Arial"/>
              </a:rPr>
              <a:t>2  RETRIEVE</a:t>
            </a:r>
          </a:p>
        </p:txBody>
      </p:sp>
      <p:sp>
        <p:nvSpPr>
          <p:cNvPr id="32" name="TextBox 31"/>
          <p:cNvSpPr txBox="1"/>
          <p:nvPr/>
        </p:nvSpPr>
        <p:spPr>
          <a:xfrm>
            <a:off x="5340096" y="3191256"/>
            <a:ext cx="1335024" cy="365760"/>
          </a:xfrm>
          <a:prstGeom prst="rect">
            <a:avLst/>
          </a:prstGeom>
          <a:noFill/>
        </p:spPr>
        <p:txBody>
          <a:bodyPr wrap="square" lIns="18288" rIns="18288" tIns="18288" bIns="18288" anchor="t">
            <a:spAutoFit/>
          </a:bodyPr>
          <a:lstStyle/>
          <a:p>
            <a:pPr algn="ctr"/>
            <a:r>
              <a:rPr sz="880" b="0" lang="en-US">
                <a:solidFill>
                  <a:srgbClr val="434343"/>
                </a:solidFill>
                <a:latin typeface="Arial"/>
              </a:rPr>
              <a:t>named CIDs
unwrap + decrypt</a:t>
            </a:r>
          </a:p>
        </p:txBody>
      </p:sp>
      <p:sp>
        <p:nvSpPr>
          <p:cNvPr id="33" name="Rounded Rectangle 32"/>
          <p:cNvSpPr/>
          <p:nvPr/>
        </p:nvSpPr>
        <p:spPr>
          <a:xfrm>
            <a:off x="6949440" y="2706624"/>
            <a:ext cx="1517904" cy="1078992"/>
          </a:xfrm>
          <a:prstGeom prst="roundRect">
            <a:avLst/>
          </a:prstGeom>
          <a:solidFill>
            <a:srgbClr val="FFFFFF"/>
          </a:solidFill>
          <a:ln w="1270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40879" y="2843784"/>
            <a:ext cx="1335024" cy="182880"/>
          </a:xfrm>
          <a:prstGeom prst="rect">
            <a:avLst/>
          </a:prstGeom>
          <a:noFill/>
        </p:spPr>
        <p:txBody>
          <a:bodyPr wrap="square" lIns="18288" rIns="18288" tIns="18288" bIns="18288" anchor="t">
            <a:spAutoFit/>
          </a:bodyPr>
          <a:lstStyle/>
          <a:p>
            <a:pPr algn="ctr"/>
            <a:r>
              <a:rPr sz="919" b="1" lang="en-US">
                <a:solidFill>
                  <a:srgbClr val="2F8F46"/>
                </a:solidFill>
                <a:latin typeface="Arial"/>
              </a:rPr>
              <a:t>3  VERIFY</a:t>
            </a:r>
          </a:p>
        </p:txBody>
      </p:sp>
      <p:sp>
        <p:nvSpPr>
          <p:cNvPr id="35" name="TextBox 34"/>
          <p:cNvSpPr txBox="1"/>
          <p:nvPr/>
        </p:nvSpPr>
        <p:spPr>
          <a:xfrm>
            <a:off x="7040879" y="3191256"/>
            <a:ext cx="1335024" cy="365760"/>
          </a:xfrm>
          <a:prstGeom prst="rect">
            <a:avLst/>
          </a:prstGeom>
          <a:noFill/>
        </p:spPr>
        <p:txBody>
          <a:bodyPr wrap="square" lIns="18288" rIns="18288" tIns="18288" bIns="18288" anchor="t">
            <a:spAutoFit/>
          </a:bodyPr>
          <a:lstStyle/>
          <a:p>
            <a:pPr algn="ctr"/>
            <a:r>
              <a:rPr sz="880" b="0" lang="en-US">
                <a:solidFill>
                  <a:srgbClr val="434343"/>
                </a:solidFill>
                <a:latin typeface="Arial"/>
              </a:rPr>
              <a:t>hashes · round
publisher · key snapshot</a:t>
            </a:r>
          </a:p>
        </p:txBody>
      </p:sp>
      <p:sp>
        <p:nvSpPr>
          <p:cNvPr id="36" name="Rectangle 35"/>
          <p:cNvSpPr/>
          <p:nvPr/>
        </p:nvSpPr>
        <p:spPr>
          <a:xfrm>
            <a:off x="3547872" y="4087368"/>
            <a:ext cx="4919472" cy="429768"/>
          </a:xfrm>
          <a:prstGeom prst="rect">
            <a:avLst/>
          </a:prstGeom>
          <a:solidFill>
            <a:srgbClr val="2F8F46"/>
          </a:solidFill>
          <a:ln w="1270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03904" y="4197096"/>
            <a:ext cx="4407408" cy="182880"/>
          </a:xfrm>
          <a:prstGeom prst="rect">
            <a:avLst/>
          </a:prstGeom>
          <a:noFill/>
        </p:spPr>
        <p:txBody>
          <a:bodyPr wrap="square" lIns="18288" rIns="18288" tIns="18288" bIns="18288" anchor="t">
            <a:spAutoFit/>
          </a:bodyPr>
          <a:lstStyle/>
          <a:p>
            <a:pPr algn="ctr"/>
            <a:r>
              <a:rPr sz="1070" b="1" lang="en-US">
                <a:solidFill>
                  <a:srgbClr val="FFFFFF"/>
                </a:solidFill>
                <a:latin typeface="Arial"/>
              </a:rPr>
              <a:t>INSTALL THE EXACT MODEL—OR REJECT</a:t>
            </a:r>
          </a:p>
        </p:txBody>
      </p:sp>
      <p:sp>
        <p:nvSpPr>
          <p:cNvPr id="38" name="Rounded Rectangle 37"/>
          <p:cNvSpPr/>
          <p:nvPr/>
        </p:nvSpPr>
        <p:spPr>
          <a:xfrm>
            <a:off x="9272016" y="2057400"/>
            <a:ext cx="2340864" cy="2560320"/>
          </a:xfrm>
          <a:prstGeom prst="roundRect">
            <a:avLst/>
          </a:prstGeom>
          <a:solidFill>
            <a:srgbClr val="F3EBF9"/>
          </a:solidFill>
          <a:ln w="20320">
            <a:solidFill>
              <a:srgbClr val="7A3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637776" y="2304288"/>
            <a:ext cx="1609344" cy="274320"/>
          </a:xfrm>
          <a:prstGeom prst="rect">
            <a:avLst/>
          </a:prstGeom>
          <a:noFill/>
        </p:spPr>
        <p:txBody>
          <a:bodyPr wrap="square" lIns="18288" rIns="18288" tIns="18288" bIns="18288" anchor="t">
            <a:spAutoFit/>
          </a:bodyPr>
          <a:lstStyle/>
          <a:p>
            <a:pPr algn="ctr"/>
            <a:r>
              <a:rPr sz="1500" b="1" lang="en-US">
                <a:solidFill>
                  <a:srgbClr val="7A35B5"/>
                </a:solidFill>
                <a:latin typeface="Arial"/>
              </a:rPr>
              <a:t>IPFS</a:t>
            </a:r>
          </a:p>
        </p:txBody>
      </p:sp>
      <p:sp>
        <p:nvSpPr>
          <p:cNvPr id="40" name="TextBox 39"/>
          <p:cNvSpPr txBox="1"/>
          <p:nvPr/>
        </p:nvSpPr>
        <p:spPr>
          <a:xfrm>
            <a:off x="9482328" y="2688336"/>
            <a:ext cx="1920240" cy="201168"/>
          </a:xfrm>
          <a:prstGeom prst="rect">
            <a:avLst/>
          </a:prstGeom>
          <a:noFill/>
        </p:spPr>
        <p:txBody>
          <a:bodyPr wrap="square" lIns="18288" rIns="18288" tIns="18288" bIns="18288" anchor="t">
            <a:spAutoFit/>
          </a:bodyPr>
          <a:lstStyle/>
          <a:p>
            <a:pPr algn="ctr"/>
            <a:r>
              <a:rPr sz="900" b="1" lang="en-US">
                <a:solidFill>
                  <a:srgbClr val="434343"/>
                </a:solidFill>
                <a:latin typeface="Arial"/>
              </a:rPr>
              <a:t>UNTRUSTED STORAGE</a:t>
            </a:r>
          </a:p>
        </p:txBody>
      </p:sp>
      <p:sp>
        <p:nvSpPr>
          <p:cNvPr id="41" name="TextBox 40"/>
          <p:cNvSpPr txBox="1"/>
          <p:nvPr/>
        </p:nvSpPr>
        <p:spPr>
          <a:xfrm>
            <a:off x="9546336" y="3145536"/>
            <a:ext cx="1792224" cy="658368"/>
          </a:xfrm>
          <a:prstGeom prst="rect">
            <a:avLst/>
          </a:prstGeom>
          <a:noFill/>
        </p:spPr>
        <p:txBody>
          <a:bodyPr wrap="square" lIns="18288" rIns="18288" tIns="18288" bIns="18288" anchor="t">
            <a:spAutoFit/>
          </a:bodyPr>
          <a:lstStyle/>
          <a:p>
            <a:pPr algn="ctr"/>
            <a:r>
              <a:rPr sz="919" b="0" lang="en-US">
                <a:solidFill>
                  <a:srgbClr val="434343"/>
                </a:solidFill>
                <a:latin typeface="Arial"/>
              </a:rPr>
              <a:t>encrypted model
publisher signature
recipient key envelope</a:t>
            </a:r>
          </a:p>
        </p:txBody>
      </p:sp>
      <p:sp>
        <p:nvSpPr>
          <p:cNvPr id="42" name="TextBox 41"/>
          <p:cNvSpPr txBox="1"/>
          <p:nvPr/>
        </p:nvSpPr>
        <p:spPr>
          <a:xfrm>
            <a:off x="9473184" y="4187952"/>
            <a:ext cx="1938528" cy="347472"/>
          </a:xfrm>
          <a:prstGeom prst="rect">
            <a:avLst/>
          </a:prstGeom>
          <a:noFill/>
        </p:spPr>
        <p:txBody>
          <a:bodyPr wrap="square" lIns="18288" rIns="18288" tIns="18288" bIns="18288" anchor="t">
            <a:spAutoFit/>
          </a:bodyPr>
          <a:lstStyle/>
          <a:p>
            <a:pPr algn="ctr"/>
            <a:r>
              <a:rPr sz="780" b="1" lang="en-US">
                <a:solidFill>
                  <a:srgbClr val="7A35B5"/>
                </a:solidFill>
                <a:latin typeface="Arial"/>
              </a:rPr>
              <a:t>may be stale, unavailable, or hostile</a:t>
            </a:r>
          </a:p>
        </p:txBody>
      </p:sp>
      <p:sp>
        <p:nvSpPr>
          <p:cNvPr id="43" name="Rectangle 42"/>
          <p:cNvSpPr/>
          <p:nvPr/>
        </p:nvSpPr>
        <p:spPr>
          <a:xfrm>
            <a:off x="877824" y="5056632"/>
            <a:ext cx="10442448" cy="484632"/>
          </a:xfrm>
          <a:prstGeom prst="rect">
            <a:avLst/>
          </a:prstGeom>
          <a:solidFill>
            <a:srgbClr val="C40D1E"/>
          </a:solidFill>
          <a:ln w="1270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33856" y="5184648"/>
            <a:ext cx="9930384" cy="219456"/>
          </a:xfrm>
          <a:prstGeom prst="rect">
            <a:avLst/>
          </a:prstGeom>
          <a:noFill/>
        </p:spPr>
        <p:txBody>
          <a:bodyPr wrap="square" lIns="18288" rIns="18288" tIns="18288" bIns="18288" anchor="ctr">
            <a:spAutoFit/>
          </a:bodyPr>
          <a:lstStyle/>
          <a:p>
            <a:pPr algn="ctr"/>
            <a:r>
              <a:rPr sz="1200" b="1" lang="en-US">
                <a:solidFill>
                  <a:srgbClr val="FFFFFF"/>
                </a:solidFill>
                <a:latin typeface="Arial"/>
              </a:rPr>
              <a:t>Reject local paths, stale CIDs, alternative publishers, and hash mismatches.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Sello and AIR: two layers of evidence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CURRENT VITA-FL IMPLEMENTATION</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20</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5D6973"/>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Rectangle 7"/>
          <p:cNvSpPr/>
          <p:nvPr/>
        </p:nvSpPr>
        <p:spPr>
          <a:xfrm>
            <a:off x="0" y="5733288"/>
            <a:ext cx="12191999" cy="39319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ello AIR: Sello checks the tool interaction. AIR binds the numeric inference."/>
          <p:cNvSpPr txBox="1"/>
          <p:nvPr/>
        </p:nvSpPr>
        <p:spPr>
          <a:xfrm>
            <a:off x="621792" y="1344168"/>
            <a:ext cx="10936224" cy="466344"/>
          </a:xfrm>
          <a:prstGeom prst="rect">
            <a:avLst/>
          </a:prstGeom>
          <a:noFill/>
        </p:spPr>
        <p:txBody>
          <a:bodyPr wrap="square" lIns="0" rIns="0" tIns="0" bIns="0" anchor="ctr">
            <a:spAutoFit/>
          </a:bodyPr>
          <a:lstStyle/>
          <a:p>
            <a:pPr algn="l"/>
            <a:r>
              <a:rPr sz="1900" b="0" lang="en-US">
                <a:solidFill>
                  <a:srgbClr val="263440"/>
                </a:solidFill>
                <a:latin typeface="Arial"/>
              </a:rPr>
              <a:t>Sello checks the tool interaction. AIR binds the numeric inference.</a:t>
            </a:r>
          </a:p>
        </p:txBody>
      </p:sp>
      <p:sp>
        <p:nvSpPr>
          <p:cNvPr id="15" name="Rectangle 19"/>
          <p:cNvSpPr/>
          <p:nvPr/>
        </p:nvSpPr>
        <p:spPr>
          <a:xfrm>
            <a:off x="630936" y="1901952"/>
            <a:ext cx="5330952" cy="2926080"/>
          </a:xfrm>
          <a:prstGeom prst="rect">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20"/>
          <p:cNvSpPr/>
          <p:nvPr/>
        </p:nvSpPr>
        <p:spPr>
          <a:xfrm>
            <a:off x="644652" y="1915668"/>
            <a:ext cx="5303520" cy="557784"/>
          </a:xfrm>
          <a:prstGeom prst="rect">
            <a:avLst/>
          </a:prstGeom>
          <a:solidFill>
            <a:srgbClr val="EDF4FA"/>
          </a:solidFill>
          <a:ln>
            <a:solidFill>
              <a:srgbClr val="ED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ello AIR: Sello"/>
          <p:cNvSpPr txBox="1"/>
          <p:nvPr/>
        </p:nvSpPr>
        <p:spPr>
          <a:xfrm>
            <a:off x="813815" y="2011680"/>
            <a:ext cx="1325880" cy="438912"/>
          </a:xfrm>
          <a:prstGeom prst="rect">
            <a:avLst/>
          </a:prstGeom>
          <a:noFill/>
        </p:spPr>
        <p:txBody>
          <a:bodyPr wrap="square" lIns="0" rIns="0" tIns="0" bIns="0" anchor="ctr">
            <a:spAutoFit/>
          </a:bodyPr>
          <a:lstStyle/>
          <a:p>
            <a:pPr algn="l"/>
            <a:r>
              <a:rPr sz="2600" b="1" lang="en-US">
                <a:solidFill>
                  <a:srgbClr val="1764A1"/>
                </a:solidFill>
                <a:latin typeface="Arial"/>
              </a:rPr>
              <a:t>Sello</a:t>
            </a:r>
          </a:p>
        </p:txBody>
      </p:sp>
      <p:sp>
        <p:nvSpPr>
          <p:cNvPr id="18" name="Sello AIR: Tool interaction"/>
          <p:cNvSpPr txBox="1"/>
          <p:nvPr/>
        </p:nvSpPr>
        <p:spPr>
          <a:xfrm>
            <a:off x="2139696" y="2048256"/>
            <a:ext cx="3602736" cy="301752"/>
          </a:xfrm>
          <a:prstGeom prst="rect">
            <a:avLst/>
          </a:prstGeom>
          <a:noFill/>
        </p:spPr>
        <p:txBody>
          <a:bodyPr wrap="square" lIns="0" rIns="0" tIns="0" bIns="0" anchor="ctr">
            <a:spAutoFit/>
          </a:bodyPr>
          <a:lstStyle/>
          <a:p>
            <a:pPr algn="l"/>
            <a:r>
              <a:rPr sz="1800" b="0" lang="en-US">
                <a:solidFill>
                  <a:srgbClr val="1764A1"/>
                </a:solidFill>
                <a:latin typeface="Arial"/>
              </a:rPr>
              <a:t>Tool interaction</a:t>
            </a:r>
          </a:p>
        </p:txBody>
      </p:sp>
      <p:sp>
        <p:nvSpPr>
          <p:cNvPr id="19" name="Oval 23"/>
          <p:cNvSpPr/>
          <p:nvPr/>
        </p:nvSpPr>
        <p:spPr>
          <a:xfrm>
            <a:off x="813815" y="2574036"/>
            <a:ext cx="256032" cy="256032"/>
          </a:xfrm>
          <a:prstGeom prst="ellipse">
            <a:avLst/>
          </a:prstGeom>
          <a:solidFill>
            <a:srgbClr val="1764A1"/>
          </a:solidFill>
          <a:ln w="1270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ello AIR: 1"/>
          <p:cNvSpPr txBox="1"/>
          <p:nvPr/>
        </p:nvSpPr>
        <p:spPr>
          <a:xfrm>
            <a:off x="813815" y="2583179"/>
            <a:ext cx="256032" cy="237744"/>
          </a:xfrm>
          <a:prstGeom prst="rect">
            <a:avLst/>
          </a:prstGeom>
          <a:noFill/>
        </p:spPr>
        <p:txBody>
          <a:bodyPr wrap="square" lIns="0" rIns="0" tIns="0" bIns="0" anchor="ctr">
            <a:spAutoFit/>
          </a:bodyPr>
          <a:lstStyle/>
          <a:p>
            <a:pPr algn="ctr"/>
            <a:r>
              <a:rPr sz="1200" b="1" lang="en-US">
                <a:solidFill>
                  <a:srgbClr val="FFFFFF"/>
                </a:solidFill>
                <a:latin typeface="Arial"/>
              </a:rPr>
              <a:t>1</a:t>
            </a:r>
          </a:p>
        </p:txBody>
      </p:sp>
      <p:sp>
        <p:nvSpPr>
          <p:cNvPr id="21" name="Sello AIR: An authorised agent may call"/>
          <p:cNvSpPr txBox="1"/>
          <p:nvPr/>
        </p:nvSpPr>
        <p:spPr>
          <a:xfrm>
            <a:off x="1197864" y="2560320"/>
            <a:ext cx="4562856" cy="292608"/>
          </a:xfrm>
          <a:prstGeom prst="rect">
            <a:avLst/>
          </a:prstGeom>
          <a:noFill/>
        </p:spPr>
        <p:txBody>
          <a:bodyPr wrap="square" lIns="0" rIns="0" tIns="0" bIns="0" anchor="ctr">
            <a:spAutoFit/>
          </a:bodyPr>
          <a:lstStyle/>
          <a:p>
            <a:pPr algn="l"/>
            <a:r>
              <a:rPr sz="1639" b="1" lang="en-US">
                <a:solidFill>
                  <a:srgbClr val="1764A1"/>
                </a:solidFill>
                <a:latin typeface="Arial"/>
              </a:rPr>
              <a:t>An authorised agent may call</a:t>
            </a:r>
          </a:p>
        </p:txBody>
      </p:sp>
      <p:sp>
        <p:nvSpPr>
          <p:cNvPr id="22" name="Sello AIR: mTLS + token: identity, Inference TEE, / scope, certificate, expiry; job ownership."/>
          <p:cNvSpPr txBox="1"/>
          <p:nvPr/>
        </p:nvSpPr>
        <p:spPr>
          <a:xfrm>
            <a:off x="1197864" y="2852927"/>
            <a:ext cx="4544568" cy="448056"/>
          </a:xfrm>
          <a:prstGeom prst="rect">
            <a:avLst/>
          </a:prstGeom>
          <a:noFill/>
        </p:spPr>
        <p:txBody>
          <a:bodyPr wrap="square" lIns="0" rIns="0" tIns="0" bIns="0" anchor="ctr">
            <a:spAutoFit/>
          </a:bodyPr>
          <a:lstStyle/>
          <a:p>
            <a:pPr algn="l"/>
            <a:r>
              <a:rPr sz="1400" b="0" lang="en-US">
                <a:solidFill>
                  <a:srgbClr val="263440"/>
                </a:solidFill>
                <a:latin typeface="Arial"/>
              </a:rPr>
              <a:t>mTLS + token: identity, Inference TEE,
scope, certificate, expiry; job ownership.</a:t>
            </a:r>
          </a:p>
        </p:txBody>
      </p:sp>
      <p:sp>
        <p:nvSpPr>
          <p:cNvPr id="23" name="Oval 27"/>
          <p:cNvSpPr/>
          <p:nvPr/>
        </p:nvSpPr>
        <p:spPr>
          <a:xfrm>
            <a:off x="813815" y="3314700"/>
            <a:ext cx="256032" cy="256032"/>
          </a:xfrm>
          <a:prstGeom prst="ellipse">
            <a:avLst/>
          </a:prstGeom>
          <a:solidFill>
            <a:srgbClr val="1764A1"/>
          </a:solidFill>
          <a:ln w="1270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ello AIR: 2"/>
          <p:cNvSpPr txBox="1"/>
          <p:nvPr/>
        </p:nvSpPr>
        <p:spPr>
          <a:xfrm>
            <a:off x="813815" y="3323844"/>
            <a:ext cx="256032" cy="237744"/>
          </a:xfrm>
          <a:prstGeom prst="rect">
            <a:avLst/>
          </a:prstGeom>
          <a:noFill/>
        </p:spPr>
        <p:txBody>
          <a:bodyPr wrap="square" lIns="0" rIns="0" tIns="0" bIns="0" anchor="ctr">
            <a:spAutoFit/>
          </a:bodyPr>
          <a:lstStyle/>
          <a:p>
            <a:pPr algn="ctr"/>
            <a:r>
              <a:rPr sz="1200" b="1" lang="en-US">
                <a:solidFill>
                  <a:srgbClr val="FFFFFF"/>
                </a:solidFill>
                <a:latin typeface="Arial"/>
              </a:rPr>
              <a:t>2</a:t>
            </a:r>
          </a:p>
        </p:txBody>
      </p:sp>
      <p:sp>
        <p:nvSpPr>
          <p:cNvPr id="25" name="Sello AIR: A signed record of the tool call"/>
          <p:cNvSpPr txBox="1"/>
          <p:nvPr/>
        </p:nvSpPr>
        <p:spPr>
          <a:xfrm>
            <a:off x="1197864" y="3300984"/>
            <a:ext cx="4562856" cy="292608"/>
          </a:xfrm>
          <a:prstGeom prst="rect">
            <a:avLst/>
          </a:prstGeom>
          <a:noFill/>
        </p:spPr>
        <p:txBody>
          <a:bodyPr wrap="square" lIns="0" rIns="0" tIns="0" bIns="0" anchor="ctr">
            <a:spAutoFit/>
          </a:bodyPr>
          <a:lstStyle/>
          <a:p>
            <a:pPr algn="l"/>
            <a:r>
              <a:rPr sz="1639" b="1" lang="en-US">
                <a:solidFill>
                  <a:srgbClr val="1764A1"/>
                </a:solidFill>
                <a:latin typeface="Arial"/>
              </a:rPr>
              <a:t>A signed record of the tool call</a:t>
            </a:r>
          </a:p>
        </p:txBody>
      </p:sp>
      <p:sp>
        <p:nvSpPr>
          <p:cNvPr id="26" name="Sello AIR: Inference TEE signs action, input/output hashes, / token reference and result status."/>
          <p:cNvSpPr txBox="1"/>
          <p:nvPr/>
        </p:nvSpPr>
        <p:spPr>
          <a:xfrm>
            <a:off x="1197864" y="3593591"/>
            <a:ext cx="4544568" cy="448056"/>
          </a:xfrm>
          <a:prstGeom prst="rect">
            <a:avLst/>
          </a:prstGeom>
          <a:noFill/>
        </p:spPr>
        <p:txBody>
          <a:bodyPr wrap="square" lIns="0" rIns="0" tIns="0" bIns="0" anchor="ctr">
            <a:spAutoFit/>
          </a:bodyPr>
          <a:lstStyle/>
          <a:p>
            <a:pPr algn="l"/>
            <a:r>
              <a:rPr sz="1400" b="0" lang="en-US">
                <a:solidFill>
                  <a:srgbClr val="263440"/>
                </a:solidFill>
                <a:latin typeface="Arial"/>
              </a:rPr>
              <a:t>Inference TEE signs action, input/output hashes,
token reference and result status.</a:t>
            </a:r>
          </a:p>
        </p:txBody>
      </p:sp>
      <p:sp>
        <p:nvSpPr>
          <p:cNvPr id="27" name="Oval 31"/>
          <p:cNvSpPr/>
          <p:nvPr/>
        </p:nvSpPr>
        <p:spPr>
          <a:xfrm>
            <a:off x="813815" y="4055363"/>
            <a:ext cx="256032" cy="256032"/>
          </a:xfrm>
          <a:prstGeom prst="ellipse">
            <a:avLst/>
          </a:prstGeom>
          <a:solidFill>
            <a:srgbClr val="1764A1"/>
          </a:solidFill>
          <a:ln w="1270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ello AIR: 3"/>
          <p:cNvSpPr txBox="1"/>
          <p:nvPr/>
        </p:nvSpPr>
        <p:spPr>
          <a:xfrm>
            <a:off x="813815" y="4064507"/>
            <a:ext cx="256032" cy="237744"/>
          </a:xfrm>
          <a:prstGeom prst="rect">
            <a:avLst/>
          </a:prstGeom>
          <a:noFill/>
        </p:spPr>
        <p:txBody>
          <a:bodyPr wrap="square" lIns="0" rIns="0" tIns="0" bIns="0" anchor="ctr">
            <a:spAutoFit/>
          </a:bodyPr>
          <a:lstStyle/>
          <a:p>
            <a:pPr algn="ctr"/>
            <a:r>
              <a:rPr sz="1200" b="1" lang="en-US">
                <a:solidFill>
                  <a:srgbClr val="FFFFFF"/>
                </a:solidFill>
                <a:latin typeface="Arial"/>
              </a:rPr>
              <a:t>3</a:t>
            </a:r>
          </a:p>
        </p:txBody>
      </p:sp>
      <p:sp>
        <p:nvSpPr>
          <p:cNvPr id="29" name="Sello AIR: The receipt body stays encrypted"/>
          <p:cNvSpPr txBox="1"/>
          <p:nvPr/>
        </p:nvSpPr>
        <p:spPr>
          <a:xfrm>
            <a:off x="1197864" y="4041648"/>
            <a:ext cx="4562856" cy="292608"/>
          </a:xfrm>
          <a:prstGeom prst="rect">
            <a:avLst/>
          </a:prstGeom>
          <a:noFill/>
        </p:spPr>
        <p:txBody>
          <a:bodyPr wrap="square" lIns="0" rIns="0" tIns="0" bIns="0" anchor="ctr">
            <a:spAutoFit/>
          </a:bodyPr>
          <a:lstStyle/>
          <a:p>
            <a:pPr algn="l"/>
            <a:r>
              <a:rPr sz="1639" b="1" lang="en-US">
                <a:solidFill>
                  <a:srgbClr val="1764A1"/>
                </a:solidFill>
                <a:latin typeface="Arial"/>
              </a:rPr>
              <a:t>The receipt body stays encrypted</a:t>
            </a:r>
          </a:p>
        </p:txBody>
      </p:sp>
      <p:sp>
        <p:nvSpPr>
          <p:cNvPr id="30" name="Sello AIR: HPKE seals the Sello receipt for the owner."/>
          <p:cNvSpPr txBox="1"/>
          <p:nvPr/>
        </p:nvSpPr>
        <p:spPr>
          <a:xfrm>
            <a:off x="1197864" y="4334256"/>
            <a:ext cx="4544568" cy="448056"/>
          </a:xfrm>
          <a:prstGeom prst="rect">
            <a:avLst/>
          </a:prstGeom>
          <a:noFill/>
        </p:spPr>
        <p:txBody>
          <a:bodyPr wrap="square" lIns="0" rIns="0" tIns="0" bIns="0" anchor="ctr">
            <a:spAutoFit/>
          </a:bodyPr>
          <a:lstStyle/>
          <a:p>
            <a:pPr algn="l"/>
            <a:r>
              <a:rPr sz="1400" b="0" lang="en-US">
                <a:solidFill>
                  <a:srgbClr val="263440"/>
                </a:solidFill>
                <a:latin typeface="Arial"/>
              </a:rPr>
              <a:t>HPKE seals the Sello receipt for the owner.</a:t>
            </a:r>
          </a:p>
        </p:txBody>
      </p:sp>
      <p:sp>
        <p:nvSpPr>
          <p:cNvPr id="31" name="Rectangle 35"/>
          <p:cNvSpPr/>
          <p:nvPr/>
        </p:nvSpPr>
        <p:spPr>
          <a:xfrm>
            <a:off x="6217920" y="1901952"/>
            <a:ext cx="5330952" cy="2926080"/>
          </a:xfrm>
          <a:prstGeom prst="rect">
            <a:avLst/>
          </a:prstGeom>
          <a:solidFill>
            <a:srgbClr val="FFFFFF"/>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6"/>
          <p:cNvSpPr/>
          <p:nvPr/>
        </p:nvSpPr>
        <p:spPr>
          <a:xfrm>
            <a:off x="6231636" y="1915668"/>
            <a:ext cx="5303520" cy="557784"/>
          </a:xfrm>
          <a:prstGeom prst="rect">
            <a:avLst/>
          </a:prstGeom>
          <a:solidFill>
            <a:srgbClr val="EDF6F0"/>
          </a:solidFill>
          <a:ln>
            <a:solidFill>
              <a:srgbClr val="EDF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ello AIR: AIR"/>
          <p:cNvSpPr txBox="1"/>
          <p:nvPr/>
        </p:nvSpPr>
        <p:spPr>
          <a:xfrm>
            <a:off x="6400800" y="2011680"/>
            <a:ext cx="1325880" cy="438912"/>
          </a:xfrm>
          <a:prstGeom prst="rect">
            <a:avLst/>
          </a:prstGeom>
          <a:noFill/>
        </p:spPr>
        <p:txBody>
          <a:bodyPr wrap="square" lIns="0" rIns="0" tIns="0" bIns="0" anchor="ctr">
            <a:spAutoFit/>
          </a:bodyPr>
          <a:lstStyle/>
          <a:p>
            <a:pPr algn="l"/>
            <a:r>
              <a:rPr sz="2600" b="1" lang="en-US">
                <a:solidFill>
                  <a:srgbClr val="207548"/>
                </a:solidFill>
                <a:latin typeface="Arial"/>
              </a:rPr>
              <a:t>AIR</a:t>
            </a:r>
          </a:p>
        </p:txBody>
      </p:sp>
      <p:sp>
        <p:nvSpPr>
          <p:cNvPr id="34" name="Sello AIR: Attested Inference Receipt"/>
          <p:cNvSpPr txBox="1"/>
          <p:nvPr/>
        </p:nvSpPr>
        <p:spPr>
          <a:xfrm>
            <a:off x="7726679" y="2048256"/>
            <a:ext cx="3602736" cy="301752"/>
          </a:xfrm>
          <a:prstGeom prst="rect">
            <a:avLst/>
          </a:prstGeom>
          <a:noFill/>
        </p:spPr>
        <p:txBody>
          <a:bodyPr wrap="square" lIns="0" rIns="0" tIns="0" bIns="0" anchor="ctr">
            <a:spAutoFit/>
          </a:bodyPr>
          <a:lstStyle/>
          <a:p>
            <a:pPr algn="l"/>
            <a:r>
              <a:rPr sz="1800" b="0" lang="en-US">
                <a:solidFill>
                  <a:srgbClr val="207548"/>
                </a:solidFill>
                <a:latin typeface="Arial"/>
              </a:rPr>
              <a:t>Attested Inference Receipt</a:t>
            </a:r>
          </a:p>
        </p:txBody>
      </p:sp>
      <p:sp>
        <p:nvSpPr>
          <p:cNvPr id="35" name="Oval 39"/>
          <p:cNvSpPr/>
          <p:nvPr/>
        </p:nvSpPr>
        <p:spPr>
          <a:xfrm>
            <a:off x="6400800" y="2574036"/>
            <a:ext cx="256032" cy="256032"/>
          </a:xfrm>
          <a:prstGeom prst="ellipse">
            <a:avLst/>
          </a:prstGeom>
          <a:solidFill>
            <a:srgbClr val="207548"/>
          </a:solidFill>
          <a:ln w="1270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ello AIR: 1"/>
          <p:cNvSpPr txBox="1"/>
          <p:nvPr/>
        </p:nvSpPr>
        <p:spPr>
          <a:xfrm>
            <a:off x="6400800" y="2583179"/>
            <a:ext cx="256032" cy="237744"/>
          </a:xfrm>
          <a:prstGeom prst="rect">
            <a:avLst/>
          </a:prstGeom>
          <a:noFill/>
        </p:spPr>
        <p:txBody>
          <a:bodyPr wrap="square" lIns="0" rIns="0" tIns="0" bIns="0" anchor="ctr">
            <a:spAutoFit/>
          </a:bodyPr>
          <a:lstStyle/>
          <a:p>
            <a:pPr algn="ctr"/>
            <a:r>
              <a:rPr sz="1200" b="1" lang="en-US">
                <a:solidFill>
                  <a:srgbClr val="FFFFFF"/>
                </a:solidFill>
                <a:latin typeface="Arial"/>
              </a:rPr>
              <a:t>1</a:t>
            </a:r>
          </a:p>
        </p:txBody>
      </p:sp>
      <p:sp>
        <p:nvSpPr>
          <p:cNvPr id="37" name="Sello AIR: Model, input and result stay linked"/>
          <p:cNvSpPr txBox="1"/>
          <p:nvPr/>
        </p:nvSpPr>
        <p:spPr>
          <a:xfrm>
            <a:off x="6784848" y="2560320"/>
            <a:ext cx="4562856" cy="292608"/>
          </a:xfrm>
          <a:prstGeom prst="rect">
            <a:avLst/>
          </a:prstGeom>
          <a:noFill/>
        </p:spPr>
        <p:txBody>
          <a:bodyPr wrap="square" lIns="0" rIns="0" tIns="0" bIns="0" anchor="ctr">
            <a:spAutoFit/>
          </a:bodyPr>
          <a:lstStyle/>
          <a:p>
            <a:pPr algn="l"/>
            <a:r>
              <a:rPr sz="1639" b="1" lang="en-US">
                <a:solidFill>
                  <a:srgbClr val="207548"/>
                </a:solidFill>
                <a:latin typeface="Arial"/>
              </a:rPr>
              <a:t>Model, input and result stay linked</a:t>
            </a:r>
          </a:p>
        </p:txBody>
      </p:sp>
      <p:sp>
        <p:nvSpPr>
          <p:cNvPr id="38" name="Sello AIR: Ed25519 signs their hashes and the quote hash."/>
          <p:cNvSpPr txBox="1"/>
          <p:nvPr/>
        </p:nvSpPr>
        <p:spPr>
          <a:xfrm>
            <a:off x="6784848" y="2852927"/>
            <a:ext cx="4544568" cy="448056"/>
          </a:xfrm>
          <a:prstGeom prst="rect">
            <a:avLst/>
          </a:prstGeom>
          <a:noFill/>
        </p:spPr>
        <p:txBody>
          <a:bodyPr wrap="square" lIns="0" rIns="0" tIns="0" bIns="0" anchor="ctr">
            <a:spAutoFit/>
          </a:bodyPr>
          <a:lstStyle/>
          <a:p>
            <a:pPr algn="l"/>
            <a:r>
              <a:rPr sz="1400" b="0" lang="en-US">
                <a:solidFill>
                  <a:srgbClr val="263440"/>
                </a:solidFill>
                <a:latin typeface="Arial"/>
              </a:rPr>
              <a:t>Ed25519 signs their hashes and the quote hash.</a:t>
            </a:r>
          </a:p>
        </p:txBody>
      </p:sp>
      <p:sp>
        <p:nvSpPr>
          <p:cNvPr id="39" name="Oval 43"/>
          <p:cNvSpPr/>
          <p:nvPr/>
        </p:nvSpPr>
        <p:spPr>
          <a:xfrm>
            <a:off x="6400800" y="3314700"/>
            <a:ext cx="256032" cy="256032"/>
          </a:xfrm>
          <a:prstGeom prst="ellipse">
            <a:avLst/>
          </a:prstGeom>
          <a:solidFill>
            <a:srgbClr val="207548"/>
          </a:solidFill>
          <a:ln w="1270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ello AIR: 2"/>
          <p:cNvSpPr txBox="1"/>
          <p:nvPr/>
        </p:nvSpPr>
        <p:spPr>
          <a:xfrm>
            <a:off x="6400800" y="3323844"/>
            <a:ext cx="256032" cy="237744"/>
          </a:xfrm>
          <a:prstGeom prst="rect">
            <a:avLst/>
          </a:prstGeom>
          <a:noFill/>
        </p:spPr>
        <p:txBody>
          <a:bodyPr wrap="square" lIns="0" rIns="0" tIns="0" bIns="0" anchor="ctr">
            <a:spAutoFit/>
          </a:bodyPr>
          <a:lstStyle/>
          <a:p>
            <a:pPr algn="ctr"/>
            <a:r>
              <a:rPr sz="1200" b="1" lang="en-US">
                <a:solidFill>
                  <a:srgbClr val="FFFFFF"/>
                </a:solidFill>
                <a:latin typeface="Arial"/>
              </a:rPr>
              <a:t>2</a:t>
            </a:r>
          </a:p>
        </p:txBody>
      </p:sp>
      <p:sp>
        <p:nvSpPr>
          <p:cNvPr id="41" name="Sello AIR: The receipt key is bound to the quote"/>
          <p:cNvSpPr txBox="1"/>
          <p:nvPr/>
        </p:nvSpPr>
        <p:spPr>
          <a:xfrm>
            <a:off x="6784848" y="3300984"/>
            <a:ext cx="4562856" cy="292608"/>
          </a:xfrm>
          <a:prstGeom prst="rect">
            <a:avLst/>
          </a:prstGeom>
          <a:noFill/>
        </p:spPr>
        <p:txBody>
          <a:bodyPr wrap="square" lIns="0" rIns="0" tIns="0" bIns="0" anchor="ctr">
            <a:spAutoFit/>
          </a:bodyPr>
          <a:lstStyle/>
          <a:p>
            <a:pPr algn="l"/>
            <a:r>
              <a:rPr sz="1639" b="1" lang="en-US">
                <a:solidFill>
                  <a:srgbClr val="207548"/>
                </a:solidFill>
                <a:latin typeface="Arial"/>
              </a:rPr>
              <a:t>The receipt key is bound to the quote</a:t>
            </a:r>
          </a:p>
        </p:txBody>
      </p:sp>
      <p:sp>
        <p:nvSpPr>
          <p:cNvPr id="42" name="Sello AIR: REPORTDATA: key + manifest + request. / The AIR signature binds the result."/>
          <p:cNvSpPr txBox="1"/>
          <p:nvPr/>
        </p:nvSpPr>
        <p:spPr>
          <a:xfrm>
            <a:off x="6784848" y="3593591"/>
            <a:ext cx="4544568" cy="448056"/>
          </a:xfrm>
          <a:prstGeom prst="rect">
            <a:avLst/>
          </a:prstGeom>
          <a:noFill/>
        </p:spPr>
        <p:txBody>
          <a:bodyPr wrap="square" lIns="0" rIns="0" tIns="0" bIns="0" anchor="ctr">
            <a:spAutoFit/>
          </a:bodyPr>
          <a:lstStyle/>
          <a:p>
            <a:pPr algn="l"/>
            <a:r>
              <a:rPr sz="1400" b="0" lang="en-US">
                <a:solidFill>
                  <a:srgbClr val="263440"/>
                </a:solidFill>
                <a:latin typeface="Arial"/>
              </a:rPr>
              <a:t>REPORTDATA: key + manifest + request.
The AIR signature binds the result.</a:t>
            </a:r>
          </a:p>
        </p:txBody>
      </p:sp>
      <p:sp>
        <p:nvSpPr>
          <p:cNvPr id="43" name="Oval 47"/>
          <p:cNvSpPr/>
          <p:nvPr/>
        </p:nvSpPr>
        <p:spPr>
          <a:xfrm>
            <a:off x="6400800" y="4055363"/>
            <a:ext cx="256032" cy="256032"/>
          </a:xfrm>
          <a:prstGeom prst="ellipse">
            <a:avLst/>
          </a:prstGeom>
          <a:solidFill>
            <a:srgbClr val="207548"/>
          </a:solidFill>
          <a:ln w="1270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ello AIR: 3"/>
          <p:cNvSpPr txBox="1"/>
          <p:nvPr/>
        </p:nvSpPr>
        <p:spPr>
          <a:xfrm>
            <a:off x="6400800" y="4064507"/>
            <a:ext cx="256032" cy="237744"/>
          </a:xfrm>
          <a:prstGeom prst="rect">
            <a:avLst/>
          </a:prstGeom>
          <a:noFill/>
        </p:spPr>
        <p:txBody>
          <a:bodyPr wrap="square" lIns="0" rIns="0" tIns="0" bIns="0" anchor="ctr">
            <a:spAutoFit/>
          </a:bodyPr>
          <a:lstStyle/>
          <a:p>
            <a:pPr algn="ctr"/>
            <a:r>
              <a:rPr sz="1200" b="1" lang="en-US">
                <a:solidFill>
                  <a:srgbClr val="FFFFFF"/>
                </a:solidFill>
                <a:latin typeface="Arial"/>
              </a:rPr>
              <a:t>3</a:t>
            </a:r>
          </a:p>
        </p:txBody>
      </p:sp>
      <p:sp>
        <p:nvSpPr>
          <p:cNvPr id="45" name="Sello AIR: Deployment policy is checked"/>
          <p:cNvSpPr txBox="1"/>
          <p:nvPr/>
        </p:nvSpPr>
        <p:spPr>
          <a:xfrm>
            <a:off x="6784848" y="4041648"/>
            <a:ext cx="4562856" cy="292608"/>
          </a:xfrm>
          <a:prstGeom prst="rect">
            <a:avLst/>
          </a:prstGeom>
          <a:noFill/>
        </p:spPr>
        <p:txBody>
          <a:bodyPr wrap="square" lIns="0" rIns="0" tIns="0" bIns="0" anchor="ctr">
            <a:spAutoFit/>
          </a:bodyPr>
          <a:lstStyle/>
          <a:p>
            <a:pPr algn="l"/>
            <a:r>
              <a:rPr sz="1639" b="1" lang="en-US">
                <a:solidFill>
                  <a:srgbClr val="207548"/>
                </a:solidFill>
                <a:latin typeface="Arial"/>
              </a:rPr>
              <a:t>Deployment policy is checked</a:t>
            </a:r>
          </a:p>
        </p:txBody>
      </p:sp>
      <p:sp>
        <p:nvSpPr>
          <p:cNvPr id="46" name="Sello AIR: Replay RTMR3; compare Compose, image digest, / chain, contracts and RPC."/>
          <p:cNvSpPr txBox="1"/>
          <p:nvPr/>
        </p:nvSpPr>
        <p:spPr>
          <a:xfrm>
            <a:off x="6784848" y="4334256"/>
            <a:ext cx="4544568" cy="448056"/>
          </a:xfrm>
          <a:prstGeom prst="rect">
            <a:avLst/>
          </a:prstGeom>
          <a:noFill/>
        </p:spPr>
        <p:txBody>
          <a:bodyPr wrap="square" lIns="0" rIns="0" tIns="0" bIns="0" anchor="ctr">
            <a:spAutoFit/>
          </a:bodyPr>
          <a:lstStyle/>
          <a:p>
            <a:pPr algn="l"/>
            <a:r>
              <a:rPr sz="1400" b="0" lang="en-US">
                <a:solidFill>
                  <a:srgbClr val="263440"/>
                </a:solidFill>
                <a:latin typeface="Arial"/>
              </a:rPr>
              <a:t>Replay RTMR3; compare Compose, image digest,
chain, contracts and RPC.</a:t>
            </a:r>
          </a:p>
        </p:txBody>
      </p:sp>
      <p:sp>
        <p:nvSpPr>
          <p:cNvPr id="47" name="Rounded Rectangle 51"/>
          <p:cNvSpPr/>
          <p:nvPr/>
        </p:nvSpPr>
        <p:spPr>
          <a:xfrm>
            <a:off x="630936" y="4965192"/>
            <a:ext cx="10917936" cy="612648"/>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52"/>
          <p:cNvSpPr/>
          <p:nvPr/>
        </p:nvSpPr>
        <p:spPr>
          <a:xfrm>
            <a:off x="786384" y="5143500"/>
            <a:ext cx="1335024" cy="256032"/>
          </a:xfrm>
          <a:prstGeom prst="rect">
            <a:avLst/>
          </a:prstGeom>
          <a:solidFill>
            <a:srgbClr val="7446A6"/>
          </a:solidFill>
          <a:ln>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Sello AIR: SHARED LOG"/>
          <p:cNvSpPr txBox="1"/>
          <p:nvPr/>
        </p:nvSpPr>
        <p:spPr>
          <a:xfrm>
            <a:off x="850392" y="5157216"/>
            <a:ext cx="1207007" cy="228600"/>
          </a:xfrm>
          <a:prstGeom prst="rect">
            <a:avLst/>
          </a:prstGeom>
          <a:noFill/>
        </p:spPr>
        <p:txBody>
          <a:bodyPr wrap="square" lIns="0" rIns="0" tIns="0" bIns="0" anchor="ctr">
            <a:spAutoFit/>
          </a:bodyPr>
          <a:lstStyle/>
          <a:p>
            <a:pPr algn="ctr"/>
            <a:r>
              <a:rPr sz="1150" b="1" lang="en-US">
                <a:solidFill>
                  <a:srgbClr val="FFFFFF"/>
                </a:solidFill>
                <a:latin typeface="Arial"/>
              </a:rPr>
              <a:t>SHARED LOG</a:t>
            </a:r>
          </a:p>
        </p:txBody>
      </p:sp>
      <p:sp>
        <p:nvSpPr>
          <p:cNvPr id="50" name="Sello AIR: Inference TEE logs Sello before reply"/>
          <p:cNvSpPr txBox="1"/>
          <p:nvPr/>
        </p:nvSpPr>
        <p:spPr>
          <a:xfrm>
            <a:off x="2295144" y="5125212"/>
            <a:ext cx="4261104" cy="292608"/>
          </a:xfrm>
          <a:prstGeom prst="rect">
            <a:avLst/>
          </a:prstGeom>
          <a:noFill/>
        </p:spPr>
        <p:txBody>
          <a:bodyPr wrap="square" lIns="0" rIns="0" tIns="0" bIns="0" anchor="ctr">
            <a:spAutoFit/>
          </a:bodyPr>
          <a:lstStyle/>
          <a:p>
            <a:pPr algn="l"/>
            <a:r>
              <a:rPr sz="1500" b="1" lang="en-US">
                <a:solidFill>
                  <a:srgbClr val="7446A6"/>
                </a:solidFill>
                <a:latin typeface="Arial"/>
              </a:rPr>
              <a:t>Inference TEE logs Sello before reply</a:t>
            </a:r>
          </a:p>
        </p:txBody>
      </p:sp>
      <p:cxnSp>
        <p:nvCxnSpPr>
          <p:cNvPr id="51" name="Connector 55"/>
          <p:cNvCxnSpPr/>
          <p:nvPr/>
        </p:nvCxnSpPr>
        <p:spPr>
          <a:xfrm>
            <a:off x="6656832" y="5271516"/>
            <a:ext cx="283464" cy="0"/>
          </a:xfrm>
          <a:prstGeom prst="line">
            <a:avLst/>
          </a:prstGeom>
          <a:ln w="1905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Sello AIR: Agent verifies Transparency Log / and logs AIR"/>
          <p:cNvSpPr txBox="1"/>
          <p:nvPr/>
        </p:nvSpPr>
        <p:spPr>
          <a:xfrm>
            <a:off x="7114032" y="5015484"/>
            <a:ext cx="4224528" cy="512064"/>
          </a:xfrm>
          <a:prstGeom prst="rect">
            <a:avLst/>
          </a:prstGeom>
          <a:noFill/>
        </p:spPr>
        <p:txBody>
          <a:bodyPr wrap="square" lIns="0" rIns="0" tIns="0" bIns="0" anchor="ctr">
            <a:spAutoFit/>
          </a:bodyPr>
          <a:lstStyle/>
          <a:p>
            <a:pPr algn="l"/>
            <a:r>
              <a:rPr sz="1500" b="1" lang="en-US">
                <a:solidFill>
                  <a:srgbClr val="7446A6"/>
                </a:solidFill>
                <a:latin typeface="Arial"/>
              </a:rPr>
              <a:t>Agent verifies Transparency Log
and logs AIR</a:t>
            </a:r>
          </a:p>
        </p:txBody>
      </p:sp>
      <p:sp>
        <p:nvSpPr>
          <p:cNvPr id="53" name="Sello AIR: Sello-inspired profile · Figuera (2026)"/>
          <p:cNvSpPr txBox="1"/>
          <p:nvPr/>
        </p:nvSpPr>
        <p:spPr>
          <a:xfrm>
            <a:off x="630936" y="5879592"/>
            <a:ext cx="5212080" cy="201168"/>
          </a:xfrm>
          <a:prstGeom prst="rect">
            <a:avLst/>
          </a:prstGeom>
          <a:noFill/>
        </p:spPr>
        <p:txBody>
          <a:bodyPr wrap="square" lIns="0" rIns="0" tIns="0" bIns="0" anchor="ctr">
            <a:spAutoFit/>
          </a:bodyPr>
          <a:lstStyle/>
          <a:p>
            <a:pPr algn="l"/>
            <a:r>
              <a:rPr sz="1000" b="0" lang="en-US">
                <a:solidFill>
                  <a:srgbClr val="67747C"/>
                </a:solidFill>
                <a:latin typeface="Arial"/>
                <a:hlinkClick r:id="rId2"/>
              </a:rPr>
              <a:t>Sello-inspired profile · Figuera (2026)</a:t>
            </a:r>
          </a:p>
        </p:txBody>
      </p:sp>
      <p:sp>
        <p:nvSpPr>
          <p:cNvPr id="54" name="Sello AIR: AIR-style profile · Tsyrulnikov, Internet-Draft 02 (2026)"/>
          <p:cNvSpPr txBox="1"/>
          <p:nvPr/>
        </p:nvSpPr>
        <p:spPr>
          <a:xfrm>
            <a:off x="5943600" y="5879592"/>
            <a:ext cx="5577840" cy="201168"/>
          </a:xfrm>
          <a:prstGeom prst="rect">
            <a:avLst/>
          </a:prstGeom>
          <a:noFill/>
        </p:spPr>
        <p:txBody>
          <a:bodyPr wrap="square" lIns="0" rIns="0" tIns="0" bIns="0" anchor="ctr">
            <a:spAutoFit/>
          </a:bodyPr>
          <a:lstStyle/>
          <a:p>
            <a:pPr algn="l"/>
            <a:r>
              <a:rPr sz="1000" b="0" lang="en-US">
                <a:solidFill>
                  <a:srgbClr val="67747C"/>
                </a:solidFill>
                <a:latin typeface="Arial"/>
                <a:hlinkClick r:id="rId3"/>
              </a:rPr>
              <a:t>AIR-style profile · Tsyrulnikov, Internet-Draft 02 (2026)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Block 2: agent-mediated attested inference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THREE BOUNDED MCP OPERATIONS, FOUR LOG RECORDS</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21</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5D6973"/>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Rounded Rectangle 12"/>
          <p:cNvSpPr/>
          <p:nvPr/>
        </p:nvSpPr>
        <p:spPr>
          <a:xfrm>
            <a:off x="434340" y="1344168"/>
            <a:ext cx="1965960" cy="502920"/>
          </a:xfrm>
          <a:prstGeom prst="roundRect">
            <a:avLst/>
          </a:prstGeom>
          <a:solidFill>
            <a:srgbClr val="FFFFFF"/>
          </a:solidFill>
          <a:ln w="1270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9204" y="1499616"/>
            <a:ext cx="1856231" cy="201168"/>
          </a:xfrm>
          <a:prstGeom prst="rect">
            <a:avLst/>
          </a:prstGeom>
          <a:noFill/>
        </p:spPr>
        <p:txBody>
          <a:bodyPr wrap="square" lIns="18288" rIns="18288" tIns="18288" bIns="18288" anchor="t">
            <a:spAutoFit/>
          </a:bodyPr>
          <a:lstStyle/>
          <a:p>
            <a:pPr algn="ctr"/>
            <a:r>
              <a:rPr sz="1150" b="1" lang="en-US">
                <a:solidFill>
                  <a:srgbClr val="1F90CC"/>
                </a:solidFill>
                <a:latin typeface="Arial"/>
              </a:rPr>
              <a:t>AGENT SERVICE</a:t>
            </a:r>
          </a:p>
        </p:txBody>
      </p:sp>
      <p:cxnSp>
        <p:nvCxnSpPr>
          <p:cNvPr id="15" name="Connector 14"/>
          <p:cNvCxnSpPr/>
          <p:nvPr/>
        </p:nvCxnSpPr>
        <p:spPr>
          <a:xfrm>
            <a:off x="1417320" y="1865376"/>
            <a:ext cx="0" cy="2761488"/>
          </a:xfrm>
          <a:prstGeom prst="line">
            <a:avLst/>
          </a:prstGeom>
          <a:ln w="12700">
            <a:solidFill>
              <a:srgbClr val="B2B2B2"/>
            </a:solidFill>
            <a:prstDash val="dash"/>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732020" y="1344168"/>
            <a:ext cx="1965960" cy="502920"/>
          </a:xfrm>
          <a:prstGeom prst="roundRect">
            <a:avLst/>
          </a:prstGeom>
          <a:solidFill>
            <a:srgbClr val="FFFFFF"/>
          </a:solidFill>
          <a:ln w="1270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86883" y="1499616"/>
            <a:ext cx="1856231" cy="201168"/>
          </a:xfrm>
          <a:prstGeom prst="rect">
            <a:avLst/>
          </a:prstGeom>
          <a:noFill/>
        </p:spPr>
        <p:txBody>
          <a:bodyPr wrap="square" lIns="18288" rIns="18288" tIns="18288" bIns="18288" anchor="t">
            <a:spAutoFit/>
          </a:bodyPr>
          <a:lstStyle/>
          <a:p>
            <a:pPr algn="ctr"/>
            <a:r>
              <a:rPr sz="1150" b="1" lang="en-US">
                <a:solidFill>
                  <a:srgbClr val="2F8F46"/>
                </a:solidFill>
                <a:latin typeface="Arial"/>
              </a:rPr>
              <a:t>INFERENCE TEE</a:t>
            </a:r>
          </a:p>
        </p:txBody>
      </p:sp>
      <p:cxnSp>
        <p:nvCxnSpPr>
          <p:cNvPr id="18" name="Connector 17"/>
          <p:cNvCxnSpPr/>
          <p:nvPr/>
        </p:nvCxnSpPr>
        <p:spPr>
          <a:xfrm>
            <a:off x="5715000" y="1865376"/>
            <a:ext cx="0" cy="2761488"/>
          </a:xfrm>
          <a:prstGeom prst="line">
            <a:avLst/>
          </a:prstGeom>
          <a:ln w="12700">
            <a:solidFill>
              <a:srgbClr val="B2B2B2"/>
            </a:solidFill>
            <a:prstDash val="dash"/>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828532" y="1344168"/>
            <a:ext cx="2057400" cy="502920"/>
          </a:xfrm>
          <a:prstGeom prst="roundRect">
            <a:avLst/>
          </a:prstGeom>
          <a:solidFill>
            <a:srgbClr val="FFFFFF"/>
          </a:solidFill>
          <a:ln w="12700">
            <a:solidFill>
              <a:srgbClr val="7A3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83396" y="1499616"/>
            <a:ext cx="1947672" cy="201168"/>
          </a:xfrm>
          <a:prstGeom prst="rect">
            <a:avLst/>
          </a:prstGeom>
          <a:noFill/>
        </p:spPr>
        <p:txBody>
          <a:bodyPr wrap="square" lIns="18288" rIns="18288" tIns="18288" bIns="18288" anchor="t">
            <a:spAutoFit/>
          </a:bodyPr>
          <a:lstStyle/>
          <a:p>
            <a:pPr algn="ctr"/>
            <a:r>
              <a:rPr sz="1150" b="1" lang="en-US">
                <a:solidFill>
                  <a:srgbClr val="7A35B5"/>
                </a:solidFill>
                <a:latin typeface="Arial"/>
              </a:rPr>
              <a:t>TRANSPARENCY LOG</a:t>
            </a:r>
          </a:p>
        </p:txBody>
      </p:sp>
      <p:cxnSp>
        <p:nvCxnSpPr>
          <p:cNvPr id="21" name="Connector 20"/>
          <p:cNvCxnSpPr/>
          <p:nvPr/>
        </p:nvCxnSpPr>
        <p:spPr>
          <a:xfrm>
            <a:off x="9857232" y="1865376"/>
            <a:ext cx="0" cy="2761488"/>
          </a:xfrm>
          <a:prstGeom prst="line">
            <a:avLst/>
          </a:prstGeom>
          <a:ln w="12700">
            <a:solidFill>
              <a:srgbClr val="B2B2B2"/>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527048" y="2148840"/>
            <a:ext cx="4069080" cy="0"/>
          </a:xfrm>
          <a:prstGeom prst="line">
            <a:avLst/>
          </a:prstGeom>
          <a:ln w="21590">
            <a:solidFill>
              <a:srgbClr val="1F90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627632" y="1828800"/>
            <a:ext cx="2057400" cy="219456"/>
          </a:xfrm>
          <a:prstGeom prst="rect">
            <a:avLst/>
          </a:prstGeom>
          <a:noFill/>
        </p:spPr>
        <p:txBody>
          <a:bodyPr wrap="square" lIns="18288" rIns="18288" tIns="18288" bIns="18288" anchor="t">
            <a:spAutoFit/>
          </a:bodyPr>
          <a:lstStyle/>
          <a:p>
            <a:pPr algn="l"/>
            <a:r>
              <a:rPr sz="1120" b="1" lang="en-US">
                <a:solidFill>
                  <a:srgbClr val="1F90CC"/>
                </a:solidFill>
                <a:latin typeface="Arial"/>
              </a:rPr>
              <a:t>1  TEE BUNDLE FETCH</a:t>
            </a:r>
          </a:p>
        </p:txBody>
      </p:sp>
      <p:sp>
        <p:nvSpPr>
          <p:cNvPr id="24" name="TextBox 23"/>
          <p:cNvSpPr txBox="1"/>
          <p:nvPr/>
        </p:nvSpPr>
        <p:spPr>
          <a:xfrm>
            <a:off x="3730752" y="1828800"/>
            <a:ext cx="1737360" cy="256032"/>
          </a:xfrm>
          <a:prstGeom prst="rect">
            <a:avLst/>
          </a:prstGeom>
          <a:noFill/>
        </p:spPr>
        <p:txBody>
          <a:bodyPr wrap="square" lIns="18288" rIns="18288" tIns="18288" bIns="18288" anchor="t">
            <a:spAutoFit/>
          </a:bodyPr>
          <a:lstStyle/>
          <a:p>
            <a:pPr algn="r"/>
            <a:r>
              <a:rPr sz="940" b="1" lang="en-US">
                <a:solidFill>
                  <a:srgbClr val="434343"/>
                </a:solidFill>
                <a:latin typeface="Arial"/>
              </a:rPr>
              <a:t>Resolve and verify the current model bundle</a:t>
            </a:r>
          </a:p>
        </p:txBody>
      </p:sp>
      <p:cxnSp>
        <p:nvCxnSpPr>
          <p:cNvPr id="25" name="Connector 24"/>
          <p:cNvCxnSpPr/>
          <p:nvPr/>
        </p:nvCxnSpPr>
        <p:spPr>
          <a:xfrm>
            <a:off x="5833872" y="2377440"/>
            <a:ext cx="3904488" cy="0"/>
          </a:xfrm>
          <a:prstGeom prst="line">
            <a:avLst/>
          </a:prstGeom>
          <a:ln w="20320">
            <a:solidFill>
              <a:srgbClr val="7A35B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455664" y="2185416"/>
            <a:ext cx="2724912" cy="182880"/>
          </a:xfrm>
          <a:prstGeom prst="rect">
            <a:avLst/>
          </a:prstGeom>
          <a:noFill/>
        </p:spPr>
        <p:txBody>
          <a:bodyPr wrap="square" lIns="18288" rIns="18288" tIns="18288" bIns="18288" anchor="t">
            <a:spAutoFit/>
          </a:bodyPr>
          <a:lstStyle/>
          <a:p>
            <a:pPr algn="ctr"/>
            <a:r>
              <a:rPr sz="950" b="1" lang="en-US">
                <a:solidFill>
                  <a:srgbClr val="7A35B5"/>
                </a:solidFill>
                <a:latin typeface="Arial"/>
              </a:rPr>
              <a:t>Publish receiver receipt before output</a:t>
            </a:r>
          </a:p>
        </p:txBody>
      </p:sp>
      <p:cxnSp>
        <p:nvCxnSpPr>
          <p:cNvPr id="27" name="Connector 26"/>
          <p:cNvCxnSpPr/>
          <p:nvPr/>
        </p:nvCxnSpPr>
        <p:spPr>
          <a:xfrm>
            <a:off x="1527048" y="2880360"/>
            <a:ext cx="4069080" cy="0"/>
          </a:xfrm>
          <a:prstGeom prst="line">
            <a:avLst/>
          </a:prstGeom>
          <a:ln w="21590">
            <a:solidFill>
              <a:srgbClr val="2F8F4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627632" y="2560320"/>
            <a:ext cx="2057400" cy="219456"/>
          </a:xfrm>
          <a:prstGeom prst="rect">
            <a:avLst/>
          </a:prstGeom>
          <a:noFill/>
        </p:spPr>
        <p:txBody>
          <a:bodyPr wrap="square" lIns="18288" rIns="18288" tIns="18288" bIns="18288" anchor="t">
            <a:spAutoFit/>
          </a:bodyPr>
          <a:lstStyle/>
          <a:p>
            <a:pPr algn="l"/>
            <a:r>
              <a:rPr sz="1120" b="1" lang="en-US">
                <a:solidFill>
                  <a:srgbClr val="2F8F46"/>
                </a:solidFill>
                <a:latin typeface="Arial"/>
              </a:rPr>
              <a:t>2  TEE IMAGE PICK</a:t>
            </a:r>
          </a:p>
        </p:txBody>
      </p:sp>
      <p:sp>
        <p:nvSpPr>
          <p:cNvPr id="29" name="TextBox 28"/>
          <p:cNvSpPr txBox="1"/>
          <p:nvPr/>
        </p:nvSpPr>
        <p:spPr>
          <a:xfrm>
            <a:off x="3730752" y="2560320"/>
            <a:ext cx="1737360" cy="256032"/>
          </a:xfrm>
          <a:prstGeom prst="rect">
            <a:avLst/>
          </a:prstGeom>
          <a:noFill/>
        </p:spPr>
        <p:txBody>
          <a:bodyPr wrap="square" lIns="18288" rIns="18288" tIns="18288" bIns="18288" anchor="t">
            <a:spAutoFit/>
          </a:bodyPr>
          <a:lstStyle/>
          <a:p>
            <a:pPr algn="r"/>
            <a:r>
              <a:rPr sz="940" b="1" lang="en-US">
                <a:solidFill>
                  <a:srgbClr val="434343"/>
                </a:solidFill>
                <a:latin typeface="Arial"/>
              </a:rPr>
              <a:t>Create receiver-owned image state</a:t>
            </a:r>
          </a:p>
        </p:txBody>
      </p:sp>
      <p:cxnSp>
        <p:nvCxnSpPr>
          <p:cNvPr id="30" name="Connector 29"/>
          <p:cNvCxnSpPr/>
          <p:nvPr/>
        </p:nvCxnSpPr>
        <p:spPr>
          <a:xfrm>
            <a:off x="5833872" y="3108960"/>
            <a:ext cx="3904488" cy="0"/>
          </a:xfrm>
          <a:prstGeom prst="line">
            <a:avLst/>
          </a:prstGeom>
          <a:ln w="20320">
            <a:solidFill>
              <a:srgbClr val="7A35B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55664" y="2916936"/>
            <a:ext cx="2724912" cy="182880"/>
          </a:xfrm>
          <a:prstGeom prst="rect">
            <a:avLst/>
          </a:prstGeom>
          <a:noFill/>
        </p:spPr>
        <p:txBody>
          <a:bodyPr wrap="square" lIns="18288" rIns="18288" tIns="18288" bIns="18288" anchor="t">
            <a:spAutoFit/>
          </a:bodyPr>
          <a:lstStyle/>
          <a:p>
            <a:pPr algn="ctr"/>
            <a:r>
              <a:rPr sz="950" b="1" lang="en-US">
                <a:solidFill>
                  <a:srgbClr val="7A35B5"/>
                </a:solidFill>
                <a:latin typeface="Arial"/>
              </a:rPr>
              <a:t>Publish receiver receipt before output</a:t>
            </a:r>
          </a:p>
        </p:txBody>
      </p:sp>
      <p:cxnSp>
        <p:nvCxnSpPr>
          <p:cNvPr id="32" name="Connector 31"/>
          <p:cNvCxnSpPr/>
          <p:nvPr/>
        </p:nvCxnSpPr>
        <p:spPr>
          <a:xfrm>
            <a:off x="1527048" y="3611880"/>
            <a:ext cx="4069080" cy="0"/>
          </a:xfrm>
          <a:prstGeom prst="line">
            <a:avLst/>
          </a:prstGeom>
          <a:ln w="21590">
            <a:solidFill>
              <a:srgbClr val="FF6C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627632" y="3291840"/>
            <a:ext cx="2057400" cy="219456"/>
          </a:xfrm>
          <a:prstGeom prst="rect">
            <a:avLst/>
          </a:prstGeom>
          <a:noFill/>
        </p:spPr>
        <p:txBody>
          <a:bodyPr wrap="square" lIns="18288" rIns="18288" tIns="18288" bIns="18288" anchor="t">
            <a:spAutoFit/>
          </a:bodyPr>
          <a:lstStyle/>
          <a:p>
            <a:pPr algn="l"/>
            <a:r>
              <a:rPr sz="1120" b="1" lang="en-US">
                <a:solidFill>
                  <a:srgbClr val="FF6C00"/>
                </a:solidFill>
                <a:latin typeface="Arial"/>
              </a:rPr>
              <a:t>3  TEE INFERENCE</a:t>
            </a:r>
          </a:p>
        </p:txBody>
      </p:sp>
      <p:sp>
        <p:nvSpPr>
          <p:cNvPr id="34" name="TextBox 33"/>
          <p:cNvSpPr txBox="1"/>
          <p:nvPr/>
        </p:nvSpPr>
        <p:spPr>
          <a:xfrm>
            <a:off x="3730752" y="3291840"/>
            <a:ext cx="1737360" cy="256032"/>
          </a:xfrm>
          <a:prstGeom prst="rect">
            <a:avLst/>
          </a:prstGeom>
          <a:noFill/>
        </p:spPr>
        <p:txBody>
          <a:bodyPr wrap="square" lIns="18288" rIns="18288" tIns="18288" bIns="18288" anchor="t">
            <a:spAutoFit/>
          </a:bodyPr>
          <a:lstStyle/>
          <a:p>
            <a:pPr algn="r"/>
            <a:r>
              <a:rPr sz="940" b="1" lang="en-US">
                <a:solidFill>
                  <a:srgbClr val="434343"/>
                </a:solidFill>
                <a:latin typeface="Arial"/>
              </a:rPr>
              <a:t>Run native inference and emit AIR/TDX evidence</a:t>
            </a:r>
          </a:p>
        </p:txBody>
      </p:sp>
      <p:cxnSp>
        <p:nvCxnSpPr>
          <p:cNvPr id="35" name="Connector 34"/>
          <p:cNvCxnSpPr/>
          <p:nvPr/>
        </p:nvCxnSpPr>
        <p:spPr>
          <a:xfrm>
            <a:off x="5833872" y="3840480"/>
            <a:ext cx="3904488" cy="0"/>
          </a:xfrm>
          <a:prstGeom prst="line">
            <a:avLst/>
          </a:prstGeom>
          <a:ln w="20320">
            <a:solidFill>
              <a:srgbClr val="7A35B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455664" y="3648456"/>
            <a:ext cx="2724912" cy="182880"/>
          </a:xfrm>
          <a:prstGeom prst="rect">
            <a:avLst/>
          </a:prstGeom>
          <a:noFill/>
        </p:spPr>
        <p:txBody>
          <a:bodyPr wrap="square" lIns="18288" rIns="18288" tIns="18288" bIns="18288" anchor="t">
            <a:spAutoFit/>
          </a:bodyPr>
          <a:lstStyle/>
          <a:p>
            <a:pPr algn="ctr"/>
            <a:r>
              <a:rPr sz="950" b="1" lang="en-US">
                <a:solidFill>
                  <a:srgbClr val="7A35B5"/>
                </a:solidFill>
                <a:latin typeface="Arial"/>
              </a:rPr>
              <a:t>Publish receiver receipt before output</a:t>
            </a:r>
          </a:p>
        </p:txBody>
      </p:sp>
      <p:cxnSp>
        <p:nvCxnSpPr>
          <p:cNvPr id="37" name="Connector 36"/>
          <p:cNvCxnSpPr/>
          <p:nvPr/>
        </p:nvCxnSpPr>
        <p:spPr>
          <a:xfrm>
            <a:off x="1527048" y="4297680"/>
            <a:ext cx="8211312" cy="0"/>
          </a:xfrm>
          <a:prstGeom prst="line">
            <a:avLst/>
          </a:prstGeom>
          <a:ln w="24130">
            <a:solidFill>
              <a:srgbClr val="C40D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788920" y="3886200"/>
            <a:ext cx="5705856" cy="347472"/>
          </a:xfrm>
          <a:prstGeom prst="rect">
            <a:avLst/>
          </a:prstGeom>
          <a:noFill/>
        </p:spPr>
        <p:txBody>
          <a:bodyPr wrap="square" lIns="18288" rIns="18288" tIns="18288" bIns="18288" anchor="t">
            <a:spAutoFit/>
          </a:bodyPr>
          <a:lstStyle/>
          <a:p>
            <a:pPr algn="ctr"/>
            <a:r>
              <a:rPr sz="1080" b="1" lang="en-US">
                <a:solidFill>
                  <a:srgbClr val="C40D1E"/>
                </a:solidFill>
                <a:latin typeface="Arial"/>
              </a:rPr>
              <a:t>The agent service validates and publishes the complete inference bundle</a:t>
            </a:r>
          </a:p>
        </p:txBody>
      </p:sp>
      <p:sp>
        <p:nvSpPr>
          <p:cNvPr id="39" name="Rectangle 38"/>
          <p:cNvSpPr/>
          <p:nvPr/>
        </p:nvSpPr>
        <p:spPr>
          <a:xfrm>
            <a:off x="795528" y="4800600"/>
            <a:ext cx="10552176" cy="548640"/>
          </a:xfrm>
          <a:prstGeom prst="rect">
            <a:avLst/>
          </a:prstGeom>
          <a:solidFill>
            <a:srgbClr val="F3F3F3"/>
          </a:solidFill>
          <a:ln w="1270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87552" y="4965192"/>
            <a:ext cx="10168128" cy="246888"/>
          </a:xfrm>
          <a:prstGeom prst="rect">
            <a:avLst/>
          </a:prstGeom>
          <a:noFill/>
        </p:spPr>
        <p:txBody>
          <a:bodyPr wrap="square" lIns="18288" rIns="18288" tIns="18288" bIns="18288" anchor="ctr">
            <a:spAutoFit/>
          </a:bodyPr>
          <a:lstStyle/>
          <a:p>
            <a:pPr algn="ctr"/>
            <a:r>
              <a:rPr sz="1500" b="1" lang="en-US">
                <a:solidFill>
                  <a:srgbClr val="7A35B5"/>
                </a:solidFill>
                <a:latin typeface="Arial"/>
              </a:rPr>
              <a:t>3 × receiver-signed tool receipts</a:t>
            </a:r>
            <a:r>
              <a:rPr sz="1600" b="0" lang="en-US">
                <a:solidFill>
                  <a:srgbClr val="434343"/>
                </a:solidFill>
                <a:latin typeface="Arial"/>
              </a:rPr>
              <a:t>   +   </a:t>
            </a:r>
            <a:r>
              <a:rPr sz="1500" b="1" lang="en-US">
                <a:solidFill>
                  <a:srgbClr val="1F90CC"/>
                </a:solidFill>
                <a:latin typeface="Arial"/>
              </a:rPr>
              <a:t>1 × complete inference bundle</a:t>
            </a:r>
            <a:r>
              <a:rPr sz="1500" b="1" lang="en-US">
                <a:solidFill>
                  <a:srgbClr val="2F8F46"/>
                </a:solidFill>
                <a:latin typeface="Arial"/>
              </a:rPr>
              <a:t>   = 4 log records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150" b="0" lang="en-US">
                <a:solidFill>
                  <a:srgbClr val="434343"/>
                </a:solidFill>
                <a:latin typeface="Arial"/>
              </a:rPr>
              <a:t>Independent audit: verify the evidence—not the UI</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RECORDED? → AUTHENTIC? → ACCEPTABLE UNDER POLICY?</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22</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5D6973"/>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cxnSp>
        <p:nvCxnSpPr>
          <p:cNvPr id="13" name="Connector 12"/>
          <p:cNvCxnSpPr/>
          <p:nvPr/>
        </p:nvCxnSpPr>
        <p:spPr>
          <a:xfrm flipV="1">
            <a:off x="786384" y="1764792"/>
            <a:ext cx="0" cy="2935224"/>
          </a:xfrm>
          <a:prstGeom prst="line">
            <a:avLst/>
          </a:prstGeom>
          <a:ln w="25400">
            <a:solidFill>
              <a:srgbClr val="C40D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rot="16200000">
            <a:off x="210312" y="2423160"/>
            <a:ext cx="310896" cy="1627632"/>
          </a:xfrm>
          <a:prstGeom prst="rect">
            <a:avLst/>
          </a:prstGeom>
          <a:noFill/>
        </p:spPr>
        <p:txBody>
          <a:bodyPr wrap="square" lIns="18288" rIns="18288" tIns="18288" bIns="18288" anchor="t">
            <a:spAutoFit/>
          </a:bodyPr>
          <a:lstStyle/>
          <a:p>
            <a:pPr algn="ctr"/>
            <a:r>
              <a:rPr sz="900" b="1" lang="en-US">
                <a:solidFill>
                  <a:srgbClr val="C40D1E"/>
                </a:solidFill>
                <a:latin typeface="Arial"/>
              </a:rPr>
              <a:t>AUDIT DEPTH</a:t>
            </a:r>
          </a:p>
        </p:txBody>
      </p:sp>
      <p:sp>
        <p:nvSpPr>
          <p:cNvPr id="15" name="Rounded Rectangle 14"/>
          <p:cNvSpPr/>
          <p:nvPr/>
        </p:nvSpPr>
        <p:spPr>
          <a:xfrm>
            <a:off x="1417320" y="4005072"/>
            <a:ext cx="9400032" cy="749808"/>
          </a:xfrm>
          <a:prstGeom prst="roundRect">
            <a:avLst/>
          </a:prstGeom>
          <a:solidFill>
            <a:srgbClr val="F3EBF9"/>
          </a:solidFill>
          <a:ln w="16510">
            <a:solidFill>
              <a:srgbClr val="7A3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691640" y="4206240"/>
            <a:ext cx="2468880" cy="237744"/>
          </a:xfrm>
          <a:prstGeom prst="rect">
            <a:avLst/>
          </a:prstGeom>
          <a:noFill/>
        </p:spPr>
        <p:txBody>
          <a:bodyPr wrap="square" lIns="18288" rIns="18288" tIns="18288" bIns="18288" anchor="ctr">
            <a:spAutoFit/>
          </a:bodyPr>
          <a:lstStyle/>
          <a:p>
            <a:pPr algn="l"/>
            <a:r>
              <a:rPr sz="1120" b="1" lang="en-US">
                <a:solidFill>
                  <a:srgbClr val="7A35B5"/>
                </a:solidFill>
                <a:latin typeface="Arial"/>
              </a:rPr>
              <a:t>LOG PROOF</a:t>
            </a:r>
          </a:p>
        </p:txBody>
      </p:sp>
      <p:sp>
        <p:nvSpPr>
          <p:cNvPr id="17" name="TextBox 16"/>
          <p:cNvSpPr txBox="1"/>
          <p:nvPr/>
        </p:nvSpPr>
        <p:spPr>
          <a:xfrm>
            <a:off x="4160520" y="4160520"/>
            <a:ext cx="5212079" cy="502919"/>
          </a:xfrm>
          <a:prstGeom prst="rect">
            <a:avLst/>
          </a:prstGeom>
          <a:noFill/>
        </p:spPr>
        <p:txBody>
          <a:bodyPr wrap="square" lIns="18288" rIns="18288" tIns="18288" bIns="18288" anchor="ctr">
            <a:spAutoFit/>
          </a:bodyPr>
          <a:lstStyle/>
          <a:p>
            <a:pPr algn="ctr"/>
            <a:r>
              <a:rPr sz="1000" b="1" lang="en-US">
                <a:solidFill>
                  <a:srgbClr val="434343"/>
                </a:solidFill>
                <a:latin typeface="Arial"/>
              </a:rPr>
              <a:t>Was this exact signed statement recorded?</a:t>
            </a:r>
          </a:p>
        </p:txBody>
      </p:sp>
      <p:sp>
        <p:nvSpPr>
          <p:cNvPr id="18" name="Rectangle 17"/>
          <p:cNvSpPr/>
          <p:nvPr/>
        </p:nvSpPr>
        <p:spPr>
          <a:xfrm>
            <a:off x="9464040" y="4206240"/>
            <a:ext cx="1078992" cy="310896"/>
          </a:xfrm>
          <a:prstGeom prst="rect">
            <a:avLst/>
          </a:prstGeom>
          <a:solidFill>
            <a:srgbClr val="7A35B5"/>
          </a:solidFill>
          <a:ln w="12700">
            <a:solidFill>
              <a:srgbClr val="7A3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37192" y="4279392"/>
            <a:ext cx="932688" cy="155448"/>
          </a:xfrm>
          <a:prstGeom prst="rect">
            <a:avLst/>
          </a:prstGeom>
          <a:noFill/>
        </p:spPr>
        <p:txBody>
          <a:bodyPr wrap="square" lIns="0" rIns="0" tIns="0" bIns="0" anchor="ctr">
            <a:spAutoFit/>
          </a:bodyPr>
          <a:lstStyle/>
          <a:p>
            <a:pPr algn="ctr"/>
            <a:r>
              <a:rPr sz="770" b="1" lang="en-US">
                <a:solidFill>
                  <a:srgbClr val="FFFFFF"/>
                </a:solidFill>
                <a:latin typeface="Arial"/>
              </a:rPr>
              <a:t>PUBLIC</a:t>
            </a:r>
          </a:p>
        </p:txBody>
      </p:sp>
      <p:sp>
        <p:nvSpPr>
          <p:cNvPr id="20" name="Rounded Rectangle 19"/>
          <p:cNvSpPr/>
          <p:nvPr/>
        </p:nvSpPr>
        <p:spPr>
          <a:xfrm>
            <a:off x="1417320" y="2907792"/>
            <a:ext cx="9400032" cy="749808"/>
          </a:xfrm>
          <a:prstGeom prst="roundRect">
            <a:avLst/>
          </a:prstGeom>
          <a:solidFill>
            <a:srgbClr val="EAF5FA"/>
          </a:solidFill>
          <a:ln w="1651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691640" y="3108960"/>
            <a:ext cx="2468880" cy="237744"/>
          </a:xfrm>
          <a:prstGeom prst="rect">
            <a:avLst/>
          </a:prstGeom>
          <a:noFill/>
        </p:spPr>
        <p:txBody>
          <a:bodyPr wrap="square" lIns="18288" rIns="18288" tIns="18288" bIns="18288" anchor="ctr">
            <a:spAutoFit/>
          </a:bodyPr>
          <a:lstStyle/>
          <a:p>
            <a:pPr algn="l"/>
            <a:r>
              <a:rPr sz="1120" b="1" lang="en-US">
                <a:solidFill>
                  <a:srgbClr val="1F90CC"/>
                </a:solidFill>
                <a:latin typeface="Arial"/>
              </a:rPr>
              <a:t>RECEIPT AUTHENTICITY</a:t>
            </a:r>
          </a:p>
        </p:txBody>
      </p:sp>
      <p:sp>
        <p:nvSpPr>
          <p:cNvPr id="22" name="TextBox 21"/>
          <p:cNvSpPr txBox="1"/>
          <p:nvPr/>
        </p:nvSpPr>
        <p:spPr>
          <a:xfrm>
            <a:off x="4160520" y="3063240"/>
            <a:ext cx="5212079" cy="502919"/>
          </a:xfrm>
          <a:prstGeom prst="rect">
            <a:avLst/>
          </a:prstGeom>
          <a:noFill/>
        </p:spPr>
        <p:txBody>
          <a:bodyPr wrap="square" lIns="18288" rIns="18288" tIns="18288" bIns="18288" anchor="ctr">
            <a:spAutoFit/>
          </a:bodyPr>
          <a:lstStyle/>
          <a:p>
            <a:pPr algn="ctr"/>
            <a:r>
              <a:rPr sz="1000" b="1" lang="en-US">
                <a:solidFill>
                  <a:srgbClr val="434343"/>
                </a:solidFill>
                <a:latin typeface="Arial"/>
              </a:rPr>
              <a:t>Did the receiver sign this request and response?</a:t>
            </a:r>
          </a:p>
        </p:txBody>
      </p:sp>
      <p:sp>
        <p:nvSpPr>
          <p:cNvPr id="23" name="Rectangle 22"/>
          <p:cNvSpPr/>
          <p:nvPr/>
        </p:nvSpPr>
        <p:spPr>
          <a:xfrm>
            <a:off x="9464040" y="3108960"/>
            <a:ext cx="1078992" cy="310896"/>
          </a:xfrm>
          <a:prstGeom prst="rect">
            <a:avLst/>
          </a:prstGeom>
          <a:solidFill>
            <a:srgbClr val="1F90CC"/>
          </a:solidFill>
          <a:ln w="1270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37192" y="3182112"/>
            <a:ext cx="932688" cy="155448"/>
          </a:xfrm>
          <a:prstGeom prst="rect">
            <a:avLst/>
          </a:prstGeom>
          <a:noFill/>
        </p:spPr>
        <p:txBody>
          <a:bodyPr wrap="square" lIns="0" rIns="0" tIns="0" bIns="0" anchor="ctr">
            <a:spAutoFit/>
          </a:bodyPr>
          <a:lstStyle/>
          <a:p>
            <a:pPr algn="ctr"/>
            <a:r>
              <a:rPr sz="770" b="1" lang="en-US">
                <a:solidFill>
                  <a:srgbClr val="FFFFFF"/>
                </a:solidFill>
                <a:latin typeface="Arial"/>
              </a:rPr>
              <a:t>OWNER DATA</a:t>
            </a:r>
          </a:p>
        </p:txBody>
      </p:sp>
      <p:sp>
        <p:nvSpPr>
          <p:cNvPr id="25" name="Rounded Rectangle 24"/>
          <p:cNvSpPr/>
          <p:nvPr/>
        </p:nvSpPr>
        <p:spPr>
          <a:xfrm>
            <a:off x="1417320" y="1792224"/>
            <a:ext cx="9400032" cy="749808"/>
          </a:xfrm>
          <a:prstGeom prst="roundRect">
            <a:avLst/>
          </a:prstGeom>
          <a:solidFill>
            <a:srgbClr val="EAF6ED"/>
          </a:solidFill>
          <a:ln w="1651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91640" y="1993392"/>
            <a:ext cx="2468880" cy="237744"/>
          </a:xfrm>
          <a:prstGeom prst="rect">
            <a:avLst/>
          </a:prstGeom>
          <a:noFill/>
        </p:spPr>
        <p:txBody>
          <a:bodyPr wrap="square" lIns="18288" rIns="18288" tIns="18288" bIns="18288" anchor="ctr">
            <a:spAutoFit/>
          </a:bodyPr>
          <a:lstStyle/>
          <a:p>
            <a:pPr algn="l"/>
            <a:r>
              <a:rPr sz="1120" b="1" lang="en-US">
                <a:solidFill>
                  <a:srgbClr val="2F8F46"/>
                </a:solidFill>
                <a:latin typeface="Arial"/>
              </a:rPr>
              <a:t>INFERENCE APPRAISAL</a:t>
            </a:r>
          </a:p>
        </p:txBody>
      </p:sp>
      <p:sp>
        <p:nvSpPr>
          <p:cNvPr id="27" name="TextBox 26"/>
          <p:cNvSpPr txBox="1"/>
          <p:nvPr/>
        </p:nvSpPr>
        <p:spPr>
          <a:xfrm>
            <a:off x="4160520" y="1947672"/>
            <a:ext cx="5212079" cy="502919"/>
          </a:xfrm>
          <a:prstGeom prst="rect">
            <a:avLst/>
          </a:prstGeom>
          <a:noFill/>
        </p:spPr>
        <p:txBody>
          <a:bodyPr wrap="square" lIns="18288" rIns="18288" tIns="18288" bIns="18288" anchor="ctr">
            <a:spAutoFit/>
          </a:bodyPr>
          <a:lstStyle/>
          <a:p>
            <a:pPr algn="ctr"/>
            <a:r>
              <a:rPr sz="1000" b="1" lang="en-US">
                <a:solidFill>
                  <a:srgbClr val="434343"/>
                </a:solidFill>
                <a:latin typeface="Arial"/>
              </a:rPr>
              <a:t>Does the attested workload satisfy trusted policy?</a:t>
            </a:r>
          </a:p>
        </p:txBody>
      </p:sp>
      <p:sp>
        <p:nvSpPr>
          <p:cNvPr id="28" name="Rectangle 27"/>
          <p:cNvSpPr/>
          <p:nvPr/>
        </p:nvSpPr>
        <p:spPr>
          <a:xfrm>
            <a:off x="9464040" y="1993392"/>
            <a:ext cx="1078992" cy="310896"/>
          </a:xfrm>
          <a:prstGeom prst="rect">
            <a:avLst/>
          </a:prstGeom>
          <a:solidFill>
            <a:srgbClr val="2F8F46"/>
          </a:solidFill>
          <a:ln w="1270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37192" y="2066543"/>
            <a:ext cx="932688" cy="155448"/>
          </a:xfrm>
          <a:prstGeom prst="rect">
            <a:avLst/>
          </a:prstGeom>
          <a:noFill/>
        </p:spPr>
        <p:txBody>
          <a:bodyPr wrap="square" lIns="0" rIns="0" tIns="0" bIns="0" anchor="ctr">
            <a:spAutoFit/>
          </a:bodyPr>
          <a:lstStyle/>
          <a:p>
            <a:pPr algn="ctr"/>
            <a:r>
              <a:rPr sz="770" b="1" lang="en-US">
                <a:solidFill>
                  <a:srgbClr val="FFFFFF"/>
                </a:solidFill>
                <a:latin typeface="Arial"/>
              </a:rPr>
              <a:t>POLICY</a:t>
            </a:r>
          </a:p>
        </p:txBody>
      </p:sp>
      <p:sp>
        <p:nvSpPr>
          <p:cNvPr id="30" name="Rectangle 29"/>
          <p:cNvSpPr/>
          <p:nvPr/>
        </p:nvSpPr>
        <p:spPr>
          <a:xfrm>
            <a:off x="1417320" y="5010912"/>
            <a:ext cx="9400032" cy="384048"/>
          </a:xfrm>
          <a:prstGeom prst="rect">
            <a:avLst/>
          </a:prstGeom>
          <a:solidFill>
            <a:srgbClr val="F3F3F3"/>
          </a:solidFill>
          <a:ln w="1270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636776" y="5111496"/>
            <a:ext cx="8961120" cy="182880"/>
          </a:xfrm>
          <a:prstGeom prst="rect">
            <a:avLst/>
          </a:prstGeom>
          <a:noFill/>
        </p:spPr>
        <p:txBody>
          <a:bodyPr wrap="square" lIns="18288" rIns="18288" tIns="18288" bIns="18288" anchor="t">
            <a:spAutoFit/>
          </a:bodyPr>
          <a:lstStyle/>
          <a:p>
            <a:pPr algn="ctr"/>
            <a:r>
              <a:rPr sz="930" b="1" lang="en-US">
                <a:solidFill>
                  <a:srgbClr val="434343"/>
                </a:solidFill>
                <a:latin typeface="Arial"/>
              </a:rPr>
              <a:t>AUDITOR NEEDS   exported statements · pinned historical keys · appraisal policy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Cryptographic chain of custody</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WHO PRODUCED IT · WHO MAY READ IT · WHICH EXACT BYTES ARE BOUND</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23</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cxnSp>
        <p:nvCxnSpPr>
          <p:cNvPr id="13" name="Connector 12"/>
          <p:cNvCxnSpPr/>
          <p:nvPr/>
        </p:nvCxnSpPr>
        <p:spPr>
          <a:xfrm>
            <a:off x="2066543" y="2852928"/>
            <a:ext cx="694945" cy="0"/>
          </a:xfrm>
          <a:prstGeom prst="line">
            <a:avLst/>
          </a:prstGeom>
          <a:ln w="21590">
            <a:solidFill>
              <a:srgbClr val="B2B2B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398264" y="2852928"/>
            <a:ext cx="694944" cy="0"/>
          </a:xfrm>
          <a:prstGeom prst="line">
            <a:avLst/>
          </a:prstGeom>
          <a:ln w="21590">
            <a:solidFill>
              <a:srgbClr val="B2B2B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729984" y="2852928"/>
            <a:ext cx="694943" cy="0"/>
          </a:xfrm>
          <a:prstGeom prst="line">
            <a:avLst/>
          </a:prstGeom>
          <a:ln w="21590">
            <a:solidFill>
              <a:srgbClr val="B2B2B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061704" y="2852928"/>
            <a:ext cx="694944" cy="0"/>
          </a:xfrm>
          <a:prstGeom prst="line">
            <a:avLst/>
          </a:prstGeom>
          <a:ln w="21590">
            <a:solidFill>
              <a:srgbClr val="B2B2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20040" y="1508760"/>
            <a:ext cx="1874519" cy="310896"/>
          </a:xfrm>
          <a:prstGeom prst="rect">
            <a:avLst/>
          </a:prstGeom>
          <a:noFill/>
        </p:spPr>
        <p:txBody>
          <a:bodyPr wrap="square" lIns="18288" rIns="18288" tIns="18288" bIns="18288" anchor="t">
            <a:spAutoFit/>
          </a:bodyPr>
          <a:lstStyle/>
          <a:p>
            <a:pPr algn="ctr"/>
            <a:r>
              <a:rPr sz="1000" b="1" lang="en-US">
                <a:solidFill>
                  <a:srgbClr val="2F8F46"/>
                </a:solidFill>
                <a:latin typeface="Arial"/>
              </a:rPr>
              <a:t>01  MEDICAL INPUT</a:t>
            </a:r>
          </a:p>
        </p:txBody>
      </p:sp>
      <p:sp>
        <p:nvSpPr>
          <p:cNvPr id="18" name="Oval 17"/>
          <p:cNvSpPr/>
          <p:nvPr/>
        </p:nvSpPr>
        <p:spPr>
          <a:xfrm>
            <a:off x="502920" y="2103120"/>
            <a:ext cx="1508760" cy="1508760"/>
          </a:xfrm>
          <a:prstGeom prst="ellipse">
            <a:avLst/>
          </a:prstGeom>
          <a:solidFill>
            <a:srgbClr val="EAF6ED"/>
          </a:solidFill>
          <a:ln w="2159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 y="2578608"/>
            <a:ext cx="1161288" cy="566928"/>
          </a:xfrm>
          <a:prstGeom prst="rect">
            <a:avLst/>
          </a:prstGeom>
          <a:noFill/>
        </p:spPr>
        <p:txBody>
          <a:bodyPr wrap="square" lIns="0" rIns="0" tIns="0" bIns="0" anchor="ctr">
            <a:spAutoFit/>
          </a:bodyPr>
          <a:lstStyle/>
          <a:p>
            <a:pPr algn="ctr"/>
            <a:r>
              <a:rPr sz="1300" b="1" lang="en-US">
                <a:solidFill>
                  <a:srgbClr val="2F8F46"/>
                </a:solidFill>
                <a:latin typeface="Arial"/>
              </a:rPr>
              <a:t>SIGN</a:t>
            </a:r>
          </a:p>
        </p:txBody>
      </p:sp>
      <p:sp>
        <p:nvSpPr>
          <p:cNvPr id="20" name="TextBox 19"/>
          <p:cNvSpPr txBox="1"/>
          <p:nvPr/>
        </p:nvSpPr>
        <p:spPr>
          <a:xfrm>
            <a:off x="292608" y="3886200"/>
            <a:ext cx="1929384" cy="603504"/>
          </a:xfrm>
          <a:prstGeom prst="rect">
            <a:avLst/>
          </a:prstGeom>
          <a:noFill/>
        </p:spPr>
        <p:txBody>
          <a:bodyPr wrap="square" lIns="18288" rIns="18288" tIns="18288" bIns="18288" anchor="t">
            <a:spAutoFit/>
          </a:bodyPr>
          <a:lstStyle/>
          <a:p>
            <a:pPr algn="ctr"/>
            <a:r>
              <a:rPr sz="850" b="1" lang="en-US">
                <a:solidFill>
                  <a:srgbClr val="434343"/>
                </a:solidFill>
                <a:latin typeface="Arial"/>
              </a:rPr>
              <a:t>Device + radiologist
RSA-2048 / SHA-256</a:t>
            </a:r>
          </a:p>
        </p:txBody>
      </p:sp>
      <p:sp>
        <p:nvSpPr>
          <p:cNvPr id="21" name="TextBox 20"/>
          <p:cNvSpPr txBox="1"/>
          <p:nvPr/>
        </p:nvSpPr>
        <p:spPr>
          <a:xfrm>
            <a:off x="2651760" y="1508760"/>
            <a:ext cx="1874519" cy="310896"/>
          </a:xfrm>
          <a:prstGeom prst="rect">
            <a:avLst/>
          </a:prstGeom>
          <a:noFill/>
        </p:spPr>
        <p:txBody>
          <a:bodyPr wrap="square" lIns="18288" rIns="18288" tIns="18288" bIns="18288" anchor="t">
            <a:spAutoFit/>
          </a:bodyPr>
          <a:lstStyle/>
          <a:p>
            <a:pPr algn="ctr"/>
            <a:r>
              <a:rPr sz="1000" b="1" lang="en-US">
                <a:solidFill>
                  <a:srgbClr val="1F90CC"/>
                </a:solidFill>
                <a:latin typeface="Arial"/>
              </a:rPr>
              <a:t>02  PARTICIPANT TEE</a:t>
            </a:r>
          </a:p>
        </p:txBody>
      </p:sp>
      <p:sp>
        <p:nvSpPr>
          <p:cNvPr id="22" name="Oval 21"/>
          <p:cNvSpPr/>
          <p:nvPr/>
        </p:nvSpPr>
        <p:spPr>
          <a:xfrm>
            <a:off x="2834640" y="2103120"/>
            <a:ext cx="1508760" cy="1508760"/>
          </a:xfrm>
          <a:prstGeom prst="ellipse">
            <a:avLst/>
          </a:prstGeom>
          <a:solidFill>
            <a:srgbClr val="EAF5FA"/>
          </a:solidFill>
          <a:ln w="2159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08376" y="2459736"/>
            <a:ext cx="1161288" cy="566928"/>
          </a:xfrm>
          <a:prstGeom prst="rect">
            <a:avLst/>
          </a:prstGeom>
          <a:noFill/>
        </p:spPr>
        <p:txBody>
          <a:bodyPr wrap="square" lIns="0" rIns="0" tIns="0" bIns="0" anchor="ctr">
            <a:spAutoFit/>
          </a:bodyPr>
          <a:lstStyle/>
          <a:p>
            <a:pPr algn="ctr"/>
            <a:r>
              <a:rPr sz="1140" b="1" lang="en-US">
                <a:solidFill>
                  <a:srgbClr val="1F90CC"/>
                </a:solidFill>
                <a:latin typeface="Arial"/>
              </a:rPr>
              <a:t>BIND
+ SEAL</a:t>
            </a:r>
          </a:p>
        </p:txBody>
      </p:sp>
      <p:sp>
        <p:nvSpPr>
          <p:cNvPr id="24" name="TextBox 23"/>
          <p:cNvSpPr txBox="1"/>
          <p:nvPr/>
        </p:nvSpPr>
        <p:spPr>
          <a:xfrm>
            <a:off x="2624328" y="3886200"/>
            <a:ext cx="1929384" cy="603504"/>
          </a:xfrm>
          <a:prstGeom prst="rect">
            <a:avLst/>
          </a:prstGeom>
          <a:noFill/>
        </p:spPr>
        <p:txBody>
          <a:bodyPr wrap="square" lIns="18288" rIns="18288" tIns="18288" bIns="18288" anchor="t">
            <a:spAutoFit/>
          </a:bodyPr>
          <a:lstStyle/>
          <a:p>
            <a:pPr algn="ctr"/>
            <a:r>
              <a:rPr sz="850" b="1" lang="en-US">
                <a:solidFill>
                  <a:srgbClr val="434343"/>
                </a:solidFill>
                <a:latin typeface="Arial"/>
              </a:rPr>
              <a:t>secp256k1 action key · RSA-3072 custody
REPORTDATA + RTMR3</a:t>
            </a:r>
          </a:p>
        </p:txBody>
      </p:sp>
      <p:sp>
        <p:nvSpPr>
          <p:cNvPr id="25" name="TextBox 24"/>
          <p:cNvSpPr txBox="1"/>
          <p:nvPr/>
        </p:nvSpPr>
        <p:spPr>
          <a:xfrm>
            <a:off x="4983480" y="1508760"/>
            <a:ext cx="1874519" cy="310896"/>
          </a:xfrm>
          <a:prstGeom prst="rect">
            <a:avLst/>
          </a:prstGeom>
          <a:noFill/>
        </p:spPr>
        <p:txBody>
          <a:bodyPr wrap="square" lIns="18288" rIns="18288" tIns="18288" bIns="18288" anchor="t">
            <a:spAutoFit/>
          </a:bodyPr>
          <a:lstStyle/>
          <a:p>
            <a:pPr algn="ctr"/>
            <a:r>
              <a:rPr sz="1000" b="1" lang="en-US">
                <a:solidFill>
                  <a:srgbClr val="FF6C00"/>
                </a:solidFill>
                <a:latin typeface="Arial"/>
              </a:rPr>
              <a:t>03  WORKER UPDATE</a:t>
            </a:r>
          </a:p>
        </p:txBody>
      </p:sp>
      <p:sp>
        <p:nvSpPr>
          <p:cNvPr id="26" name="Oval 25"/>
          <p:cNvSpPr/>
          <p:nvPr/>
        </p:nvSpPr>
        <p:spPr>
          <a:xfrm>
            <a:off x="5166360" y="2103120"/>
            <a:ext cx="1508760" cy="1508760"/>
          </a:xfrm>
          <a:prstGeom prst="ellipse">
            <a:avLst/>
          </a:prstGeom>
          <a:solidFill>
            <a:srgbClr val="FFF1E7"/>
          </a:solidFill>
          <a:ln w="21590">
            <a:solidFill>
              <a:srgbClr val="FF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40096" y="2459736"/>
            <a:ext cx="1161288" cy="566928"/>
          </a:xfrm>
          <a:prstGeom prst="rect">
            <a:avLst/>
          </a:prstGeom>
          <a:noFill/>
        </p:spPr>
        <p:txBody>
          <a:bodyPr wrap="square" lIns="0" rIns="0" tIns="0" bIns="0" anchor="ctr">
            <a:spAutoFit/>
          </a:bodyPr>
          <a:lstStyle/>
          <a:p>
            <a:pPr algn="ctr"/>
            <a:r>
              <a:rPr sz="1140" b="1" lang="en-US">
                <a:solidFill>
                  <a:srgbClr val="FF6C00"/>
                </a:solidFill>
                <a:latin typeface="Arial"/>
              </a:rPr>
              <a:t>ENCRYPT
+ SIGN</a:t>
            </a:r>
          </a:p>
        </p:txBody>
      </p:sp>
      <p:sp>
        <p:nvSpPr>
          <p:cNvPr id="28" name="TextBox 27"/>
          <p:cNvSpPr txBox="1"/>
          <p:nvPr/>
        </p:nvSpPr>
        <p:spPr>
          <a:xfrm>
            <a:off x="4956048" y="3886200"/>
            <a:ext cx="1929384" cy="603504"/>
          </a:xfrm>
          <a:prstGeom prst="rect">
            <a:avLst/>
          </a:prstGeom>
          <a:noFill/>
        </p:spPr>
        <p:txBody>
          <a:bodyPr wrap="square" lIns="18288" rIns="18288" tIns="18288" bIns="18288" anchor="t">
            <a:spAutoFit/>
          </a:bodyPr>
          <a:lstStyle/>
          <a:p>
            <a:pPr algn="ctr"/>
            <a:r>
              <a:rPr sz="850" b="1" lang="en-US">
                <a:solidFill>
                  <a:srgbClr val="434343"/>
                </a:solidFill>
                <a:latin typeface="Arial"/>
              </a:rPr>
              <a:t>AES-CBC · RSA-OAEP
package signature · EIP-712</a:t>
            </a:r>
          </a:p>
        </p:txBody>
      </p:sp>
      <p:sp>
        <p:nvSpPr>
          <p:cNvPr id="29" name="TextBox 28"/>
          <p:cNvSpPr txBox="1"/>
          <p:nvPr/>
        </p:nvSpPr>
        <p:spPr>
          <a:xfrm>
            <a:off x="7315199" y="1508760"/>
            <a:ext cx="1874519" cy="310896"/>
          </a:xfrm>
          <a:prstGeom prst="rect">
            <a:avLst/>
          </a:prstGeom>
          <a:noFill/>
        </p:spPr>
        <p:txBody>
          <a:bodyPr wrap="square" lIns="18288" rIns="18288" tIns="18288" bIns="18288" anchor="t">
            <a:spAutoFit/>
          </a:bodyPr>
          <a:lstStyle/>
          <a:p>
            <a:pPr algn="ctr"/>
            <a:r>
              <a:rPr sz="1000" b="1" lang="en-US">
                <a:solidFill>
                  <a:srgbClr val="7A35B5"/>
                </a:solidFill>
                <a:latin typeface="Arial"/>
              </a:rPr>
              <a:t>04  GLOBAL MODEL</a:t>
            </a:r>
          </a:p>
        </p:txBody>
      </p:sp>
      <p:sp>
        <p:nvSpPr>
          <p:cNvPr id="30" name="Oval 29"/>
          <p:cNvSpPr/>
          <p:nvPr/>
        </p:nvSpPr>
        <p:spPr>
          <a:xfrm>
            <a:off x="7498079" y="2103120"/>
            <a:ext cx="1508760" cy="1508760"/>
          </a:xfrm>
          <a:prstGeom prst="ellipse">
            <a:avLst/>
          </a:prstGeom>
          <a:solidFill>
            <a:srgbClr val="F3EBF9"/>
          </a:solidFill>
          <a:ln w="21590">
            <a:solidFill>
              <a:srgbClr val="7A3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71815" y="2459736"/>
            <a:ext cx="1161288" cy="566928"/>
          </a:xfrm>
          <a:prstGeom prst="rect">
            <a:avLst/>
          </a:prstGeom>
          <a:noFill/>
        </p:spPr>
        <p:txBody>
          <a:bodyPr wrap="square" lIns="0" rIns="0" tIns="0" bIns="0" anchor="ctr">
            <a:spAutoFit/>
          </a:bodyPr>
          <a:lstStyle/>
          <a:p>
            <a:pPr algn="ctr"/>
            <a:r>
              <a:rPr sz="1140" b="1" lang="en-US">
                <a:solidFill>
                  <a:srgbClr val="7A35B5"/>
                </a:solidFill>
                <a:latin typeface="Arial"/>
              </a:rPr>
              <a:t>WRAP
+ FINALIZE</a:t>
            </a:r>
          </a:p>
        </p:txBody>
      </p:sp>
      <p:sp>
        <p:nvSpPr>
          <p:cNvPr id="32" name="TextBox 31"/>
          <p:cNvSpPr txBox="1"/>
          <p:nvPr/>
        </p:nvSpPr>
        <p:spPr>
          <a:xfrm>
            <a:off x="7287767" y="3886200"/>
            <a:ext cx="1929384" cy="603504"/>
          </a:xfrm>
          <a:prstGeom prst="rect">
            <a:avLst/>
          </a:prstGeom>
          <a:noFill/>
        </p:spPr>
        <p:txBody>
          <a:bodyPr wrap="square" lIns="18288" rIns="18288" tIns="18288" bIns="18288" anchor="t">
            <a:spAutoFit/>
          </a:bodyPr>
          <a:lstStyle/>
          <a:p>
            <a:pPr algn="ctr"/>
            <a:r>
              <a:rPr sz="850" b="1" lang="en-US">
                <a:solidFill>
                  <a:srgbClr val="434343"/>
                </a:solidFill>
                <a:latin typeface="Arial"/>
              </a:rPr>
              <a:t>AES-GCM · per-recipient OAEP
aggregator signature · IPFS CID</a:t>
            </a:r>
          </a:p>
        </p:txBody>
      </p:sp>
      <p:sp>
        <p:nvSpPr>
          <p:cNvPr id="33" name="TextBox 32"/>
          <p:cNvSpPr txBox="1"/>
          <p:nvPr/>
        </p:nvSpPr>
        <p:spPr>
          <a:xfrm>
            <a:off x="9646920" y="1508760"/>
            <a:ext cx="1874519" cy="310896"/>
          </a:xfrm>
          <a:prstGeom prst="rect">
            <a:avLst/>
          </a:prstGeom>
          <a:noFill/>
        </p:spPr>
        <p:txBody>
          <a:bodyPr wrap="square" lIns="18288" rIns="18288" tIns="18288" bIns="18288" anchor="t">
            <a:spAutoFit/>
          </a:bodyPr>
          <a:lstStyle/>
          <a:p>
            <a:pPr algn="ctr"/>
            <a:r>
              <a:rPr sz="1000" b="1" lang="en-US">
                <a:solidFill>
                  <a:srgbClr val="C40D1E"/>
                </a:solidFill>
                <a:latin typeface="Arial"/>
              </a:rPr>
              <a:t>05  INFERENCE + LOG</a:t>
            </a:r>
          </a:p>
        </p:txBody>
      </p:sp>
      <p:sp>
        <p:nvSpPr>
          <p:cNvPr id="34" name="Oval 33"/>
          <p:cNvSpPr/>
          <p:nvPr/>
        </p:nvSpPr>
        <p:spPr>
          <a:xfrm>
            <a:off x="9829800" y="2103120"/>
            <a:ext cx="1508760" cy="1508760"/>
          </a:xfrm>
          <a:prstGeom prst="ellipse">
            <a:avLst/>
          </a:prstGeom>
          <a:solidFill>
            <a:srgbClr val="FBEAEC"/>
          </a:solidFill>
          <a:ln w="2159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03536" y="2459736"/>
            <a:ext cx="1161288" cy="566928"/>
          </a:xfrm>
          <a:prstGeom prst="rect">
            <a:avLst/>
          </a:prstGeom>
          <a:noFill/>
        </p:spPr>
        <p:txBody>
          <a:bodyPr wrap="square" lIns="0" rIns="0" tIns="0" bIns="0" anchor="ctr">
            <a:spAutoFit/>
          </a:bodyPr>
          <a:lstStyle/>
          <a:p>
            <a:pPr algn="ctr"/>
            <a:r>
              <a:rPr sz="1140" b="1" lang="en-US">
                <a:solidFill>
                  <a:srgbClr val="C40D1E"/>
                </a:solidFill>
                <a:latin typeface="Arial"/>
              </a:rPr>
              <a:t>VERIFY
+ RECORD</a:t>
            </a:r>
          </a:p>
        </p:txBody>
      </p:sp>
      <p:sp>
        <p:nvSpPr>
          <p:cNvPr id="36" name="TextBox 35"/>
          <p:cNvSpPr txBox="1"/>
          <p:nvPr/>
        </p:nvSpPr>
        <p:spPr>
          <a:xfrm>
            <a:off x="9619488" y="3886200"/>
            <a:ext cx="1929384" cy="603504"/>
          </a:xfrm>
          <a:prstGeom prst="rect">
            <a:avLst/>
          </a:prstGeom>
          <a:noFill/>
        </p:spPr>
        <p:txBody>
          <a:bodyPr wrap="square" lIns="18288" rIns="18288" tIns="18288" bIns="18288" anchor="t">
            <a:spAutoFit/>
          </a:bodyPr>
          <a:lstStyle/>
          <a:p>
            <a:pPr algn="ctr"/>
            <a:r>
              <a:rPr sz="850" b="1" lang="en-US">
                <a:solidFill>
                  <a:srgbClr val="434343"/>
                </a:solidFill>
                <a:latin typeface="Arial"/>
              </a:rPr>
              <a:t>AIR/TDX · HPKE receipt
ES256 statement · CCF receipt</a:t>
            </a:r>
          </a:p>
        </p:txBody>
      </p:sp>
      <p:sp>
        <p:nvSpPr>
          <p:cNvPr id="37" name="TextBox 36"/>
          <p:cNvSpPr txBox="1"/>
          <p:nvPr/>
        </p:nvSpPr>
        <p:spPr>
          <a:xfrm>
            <a:off x="987552" y="4791456"/>
            <a:ext cx="10222992" cy="219456"/>
          </a:xfrm>
          <a:prstGeom prst="rect">
            <a:avLst/>
          </a:prstGeom>
          <a:noFill/>
        </p:spPr>
        <p:txBody>
          <a:bodyPr wrap="square" lIns="18288" rIns="18288" tIns="18288" bIns="18288" anchor="ctr">
            <a:spAutoFit/>
          </a:bodyPr>
          <a:lstStyle/>
          <a:p>
            <a:pPr algn="ctr"/>
            <a:r>
              <a:rPr sz="960" b="1" lang="en-US">
                <a:solidFill>
                  <a:srgbClr val="C40D1E"/>
                </a:solidFill>
                <a:latin typeface="Arial"/>
              </a:rPr>
              <a:t>Each transition preserves exact-byte binding; </a:t>
            </a:r>
            <a:r>
              <a:rPr sz="960" b="1" lang="en-US">
                <a:solidFill>
                  <a:srgbClr val="434343"/>
                </a:solidFill>
                <a:latin typeface="Arial"/>
              </a:rPr>
              <a:t>confidentiality and authorization change with the object and recipient.</a:t>
            </a:r>
          </a:p>
        </p:txBody>
      </p:sp>
      <p:sp>
        <p:nvSpPr>
          <p:cNvPr id="38" name="Rectangle 37"/>
          <p:cNvSpPr/>
          <p:nvPr/>
        </p:nvSpPr>
        <p:spPr>
          <a:xfrm>
            <a:off x="896112" y="5230368"/>
            <a:ext cx="10405872" cy="347472"/>
          </a:xfrm>
          <a:prstGeom prst="rect">
            <a:avLst/>
          </a:prstGeom>
          <a:solidFill>
            <a:srgbClr val="F3F3F3"/>
          </a:solidFill>
          <a:ln w="1270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78992" y="5321808"/>
            <a:ext cx="10040112" cy="173736"/>
          </a:xfrm>
          <a:prstGeom prst="rect">
            <a:avLst/>
          </a:prstGeom>
          <a:noFill/>
        </p:spPr>
        <p:txBody>
          <a:bodyPr wrap="square" lIns="18288" rIns="18288" tIns="18288" bIns="18288" anchor="ctr">
            <a:spAutoFit/>
          </a:bodyPr>
          <a:lstStyle/>
          <a:p>
            <a:pPr algn="ctr"/>
            <a:r>
              <a:rPr sz="1019" b="1" lang="en-US">
                <a:solidFill>
                  <a:srgbClr val="434343"/>
                </a:solidFill>
                <a:latin typeface="Arial"/>
              </a:rPr>
              <a:t>TLS protects transport hops; application signatures, recipient encryption, and ledger/log bindings survive intermediary storage.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name="VITA-FL evaluation tools architecture">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Local evaluation, deployed system</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EVALUATION · HOW THE TOOLS WORK TOGETHER</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24</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Evaluation stack: The test driver stays outside VITA-FL and checks its observable behavior."/>
          <p:cNvSpPr txBox="1"/>
          <p:nvPr/>
        </p:nvSpPr>
        <p:spPr>
          <a:xfrm>
            <a:off x="630936" y="1389888"/>
            <a:ext cx="10927080" cy="521207"/>
          </a:xfrm>
          <a:prstGeom prst="rect">
            <a:avLst/>
          </a:prstGeom>
          <a:noFill/>
        </p:spPr>
        <p:txBody>
          <a:bodyPr wrap="square" lIns="0" rIns="0" tIns="0" bIns="0" anchor="ctr">
            <a:spAutoFit/>
          </a:bodyPr>
          <a:lstStyle/>
          <a:p>
            <a:pPr algn="l"/>
            <a:r>
              <a:rPr sz="2000" b="0" lang="en-US">
                <a:solidFill>
                  <a:srgbClr val="263440"/>
                </a:solidFill>
                <a:latin typeface="Arial"/>
              </a:rPr>
              <a:t>The test driver stays outside VITA-FL and checks its observable behavior.</a:t>
            </a:r>
          </a:p>
        </p:txBody>
      </p:sp>
      <p:sp>
        <p:nvSpPr>
          <p:cNvPr id="14" name="Rounded Rectangle 13"/>
          <p:cNvSpPr/>
          <p:nvPr/>
        </p:nvSpPr>
        <p:spPr>
          <a:xfrm>
            <a:off x="640080" y="2084831"/>
            <a:ext cx="6665976" cy="3255264"/>
          </a:xfrm>
          <a:prstGeom prst="roundRect">
            <a:avLst/>
          </a:prstGeom>
          <a:solidFill>
            <a:srgbClr val="F2F5F7"/>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99831" y="2084831"/>
            <a:ext cx="3749039" cy="3255264"/>
          </a:xfrm>
          <a:prstGeom prst="roundRect">
            <a:avLst/>
          </a:prstGeom>
          <a:solidFill>
            <a:srgbClr val="FFFFFF"/>
          </a:solidFill>
          <a:ln w="19050">
            <a:solidFill>
              <a:srgbClr val="26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valuation stack: EXPERIMENT HOST"/>
          <p:cNvSpPr txBox="1"/>
          <p:nvPr/>
        </p:nvSpPr>
        <p:spPr>
          <a:xfrm>
            <a:off x="868680" y="2212848"/>
            <a:ext cx="6172200" cy="265176"/>
          </a:xfrm>
          <a:prstGeom prst="rect">
            <a:avLst/>
          </a:prstGeom>
          <a:noFill/>
        </p:spPr>
        <p:txBody>
          <a:bodyPr wrap="square" lIns="0" rIns="0" tIns="0" bIns="0" anchor="ctr">
            <a:spAutoFit/>
          </a:bodyPr>
          <a:lstStyle/>
          <a:p>
            <a:pPr algn="l"/>
            <a:r>
              <a:rPr sz="1300" b="1" lang="en-US">
                <a:solidFill>
                  <a:srgbClr val="65737D"/>
                </a:solidFill>
                <a:latin typeface="Arial"/>
              </a:rPr>
              <a:t>EXPERIMENT HOST</a:t>
            </a:r>
          </a:p>
        </p:txBody>
      </p:sp>
      <p:sp>
        <p:nvSpPr>
          <p:cNvPr id="17" name="Evaluation stack: PHALA DEPLOYMENT"/>
          <p:cNvSpPr txBox="1"/>
          <p:nvPr/>
        </p:nvSpPr>
        <p:spPr>
          <a:xfrm>
            <a:off x="8037575" y="2212848"/>
            <a:ext cx="3255264" cy="265176"/>
          </a:xfrm>
          <a:prstGeom prst="rect">
            <a:avLst/>
          </a:prstGeom>
          <a:noFill/>
        </p:spPr>
        <p:txBody>
          <a:bodyPr wrap="square" lIns="0" rIns="0" tIns="0" bIns="0" anchor="ctr">
            <a:spAutoFit/>
          </a:bodyPr>
          <a:lstStyle/>
          <a:p>
            <a:pPr algn="l"/>
            <a:r>
              <a:rPr sz="1300" b="1" lang="en-US">
                <a:solidFill>
                  <a:srgbClr val="65737D"/>
                </a:solidFill>
                <a:latin typeface="Arial"/>
              </a:rPr>
              <a:t>PHALA DEPLOYMENT</a:t>
            </a:r>
          </a:p>
        </p:txBody>
      </p:sp>
      <p:sp>
        <p:nvSpPr>
          <p:cNvPr id="18" name="Rounded Rectangle 17"/>
          <p:cNvSpPr/>
          <p:nvPr/>
        </p:nvSpPr>
        <p:spPr>
          <a:xfrm>
            <a:off x="868680" y="2706624"/>
            <a:ext cx="1673352" cy="914400"/>
          </a:xfrm>
          <a:prstGeom prst="roundRect">
            <a:avLst/>
          </a:prstGeom>
          <a:solidFill>
            <a:srgbClr val="FFFFFF"/>
          </a:solidFill>
          <a:ln w="12700">
            <a:solidFill>
              <a:srgbClr val="26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Evaluation stack: SMEW"/>
          <p:cNvSpPr txBox="1"/>
          <p:nvPr/>
        </p:nvSpPr>
        <p:spPr>
          <a:xfrm>
            <a:off x="978407" y="2816352"/>
            <a:ext cx="1453896" cy="329184"/>
          </a:xfrm>
          <a:prstGeom prst="rect">
            <a:avLst/>
          </a:prstGeom>
          <a:noFill/>
        </p:spPr>
        <p:txBody>
          <a:bodyPr wrap="square" lIns="0" rIns="0" tIns="0" bIns="0" anchor="ctr">
            <a:spAutoFit/>
          </a:bodyPr>
          <a:lstStyle/>
          <a:p>
            <a:pPr algn="ctr"/>
            <a:r>
              <a:rPr sz="1900" b="1" lang="en-US">
                <a:solidFill>
                  <a:srgbClr val="263440"/>
                </a:solidFill>
                <a:latin typeface="Arial"/>
              </a:rPr>
              <a:t>SMEW</a:t>
            </a:r>
          </a:p>
        </p:txBody>
      </p:sp>
      <p:sp>
        <p:nvSpPr>
          <p:cNvPr id="20" name="Evaluation stack: Campaigns"/>
          <p:cNvSpPr txBox="1"/>
          <p:nvPr/>
        </p:nvSpPr>
        <p:spPr>
          <a:xfrm>
            <a:off x="950976" y="3236976"/>
            <a:ext cx="1508760" cy="246888"/>
          </a:xfrm>
          <a:prstGeom prst="rect">
            <a:avLst/>
          </a:prstGeom>
          <a:noFill/>
        </p:spPr>
        <p:txBody>
          <a:bodyPr wrap="square" lIns="0" rIns="0" tIns="0" bIns="0" anchor="ctr">
            <a:spAutoFit/>
          </a:bodyPr>
          <a:lstStyle/>
          <a:p>
            <a:pPr algn="ctr"/>
            <a:r>
              <a:rPr sz="1250" b="0" lang="en-US">
                <a:solidFill>
                  <a:srgbClr val="65737D"/>
                </a:solidFill>
                <a:latin typeface="Arial"/>
              </a:rPr>
              <a:t>Campaigns</a:t>
            </a:r>
          </a:p>
        </p:txBody>
      </p:sp>
      <p:sp>
        <p:nvSpPr>
          <p:cNvPr id="21" name="Rounded Rectangle 20"/>
          <p:cNvSpPr/>
          <p:nvPr/>
        </p:nvSpPr>
        <p:spPr>
          <a:xfrm>
            <a:off x="2880360" y="2706624"/>
            <a:ext cx="1645920" cy="914400"/>
          </a:xfrm>
          <a:prstGeom prst="roundRect">
            <a:avLst/>
          </a:prstGeom>
          <a:solidFill>
            <a:srgbClr val="FFFFFF"/>
          </a:solidFill>
          <a:ln w="1270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valuation stack: SMA"/>
          <p:cNvSpPr txBox="1"/>
          <p:nvPr/>
        </p:nvSpPr>
        <p:spPr>
          <a:xfrm>
            <a:off x="2990088" y="2816352"/>
            <a:ext cx="1426464" cy="329184"/>
          </a:xfrm>
          <a:prstGeom prst="rect">
            <a:avLst/>
          </a:prstGeom>
          <a:noFill/>
        </p:spPr>
        <p:txBody>
          <a:bodyPr wrap="square" lIns="0" rIns="0" tIns="0" bIns="0" anchor="ctr">
            <a:spAutoFit/>
          </a:bodyPr>
          <a:lstStyle/>
          <a:p>
            <a:pPr algn="ctr"/>
            <a:r>
              <a:rPr sz="1900" b="1" lang="en-US">
                <a:solidFill>
                  <a:srgbClr val="7446A6"/>
                </a:solidFill>
                <a:latin typeface="Arial"/>
              </a:rPr>
              <a:t>SMA</a:t>
            </a:r>
          </a:p>
        </p:txBody>
      </p:sp>
      <p:sp>
        <p:nvSpPr>
          <p:cNvPr id="23" name="Evaluation stack: Measured run"/>
          <p:cNvSpPr txBox="1"/>
          <p:nvPr/>
        </p:nvSpPr>
        <p:spPr>
          <a:xfrm>
            <a:off x="2962656" y="3236976"/>
            <a:ext cx="1481328" cy="246888"/>
          </a:xfrm>
          <a:prstGeom prst="rect">
            <a:avLst/>
          </a:prstGeom>
          <a:noFill/>
        </p:spPr>
        <p:txBody>
          <a:bodyPr wrap="square" lIns="0" rIns="0" tIns="0" bIns="0" anchor="ctr">
            <a:spAutoFit/>
          </a:bodyPr>
          <a:lstStyle/>
          <a:p>
            <a:pPr algn="ctr"/>
            <a:r>
              <a:rPr sz="1250" b="0" lang="en-US">
                <a:solidFill>
                  <a:srgbClr val="65737D"/>
                </a:solidFill>
                <a:latin typeface="Arial"/>
              </a:rPr>
              <a:t>Measured run</a:t>
            </a:r>
          </a:p>
        </p:txBody>
      </p:sp>
      <p:sp>
        <p:nvSpPr>
          <p:cNvPr id="24" name="Rounded Rectangle 23"/>
          <p:cNvSpPr/>
          <p:nvPr/>
        </p:nvSpPr>
        <p:spPr>
          <a:xfrm>
            <a:off x="4864608" y="2706624"/>
            <a:ext cx="2212848" cy="914400"/>
          </a:xfrm>
          <a:prstGeom prst="roundRect">
            <a:avLst/>
          </a:prstGeom>
          <a:solidFill>
            <a:srgbClr val="FFFFFF"/>
          </a:solidFill>
          <a:ln w="1270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valuation stack: vita-fl-td"/>
          <p:cNvSpPr txBox="1"/>
          <p:nvPr/>
        </p:nvSpPr>
        <p:spPr>
          <a:xfrm>
            <a:off x="4974336" y="2816352"/>
            <a:ext cx="1993391" cy="329184"/>
          </a:xfrm>
          <a:prstGeom prst="rect">
            <a:avLst/>
          </a:prstGeom>
          <a:noFill/>
        </p:spPr>
        <p:txBody>
          <a:bodyPr wrap="square" lIns="0" rIns="0" tIns="0" bIns="0" anchor="ctr">
            <a:spAutoFit/>
          </a:bodyPr>
          <a:lstStyle/>
          <a:p>
            <a:pPr algn="ctr"/>
            <a:r>
              <a:rPr sz="1900" b="1" lang="en-US">
                <a:solidFill>
                  <a:srgbClr val="1764A1"/>
                </a:solidFill>
                <a:latin typeface="Arial"/>
              </a:rPr>
              <a:t>vita-fl-td</a:t>
            </a:r>
          </a:p>
        </p:txBody>
      </p:sp>
      <p:sp>
        <p:nvSpPr>
          <p:cNvPr id="26" name="Evaluation stack: Assertions"/>
          <p:cNvSpPr txBox="1"/>
          <p:nvPr/>
        </p:nvSpPr>
        <p:spPr>
          <a:xfrm>
            <a:off x="4946904" y="3236976"/>
            <a:ext cx="2048255" cy="246888"/>
          </a:xfrm>
          <a:prstGeom prst="rect">
            <a:avLst/>
          </a:prstGeom>
          <a:noFill/>
        </p:spPr>
        <p:txBody>
          <a:bodyPr wrap="square" lIns="0" rIns="0" tIns="0" bIns="0" anchor="ctr">
            <a:spAutoFit/>
          </a:bodyPr>
          <a:lstStyle/>
          <a:p>
            <a:pPr algn="ctr"/>
            <a:r>
              <a:rPr sz="1250" b="0" lang="en-US">
                <a:solidFill>
                  <a:srgbClr val="65737D"/>
                </a:solidFill>
                <a:latin typeface="Arial"/>
              </a:rPr>
              <a:t>Assertions</a:t>
            </a:r>
          </a:p>
        </p:txBody>
      </p:sp>
      <p:cxnSp>
        <p:nvCxnSpPr>
          <p:cNvPr id="27" name="Connector 26"/>
          <p:cNvCxnSpPr/>
          <p:nvPr/>
        </p:nvCxnSpPr>
        <p:spPr>
          <a:xfrm>
            <a:off x="2578608" y="3108960"/>
            <a:ext cx="265176" cy="0"/>
          </a:xfrm>
          <a:prstGeom prst="line">
            <a:avLst/>
          </a:prstGeom>
          <a:ln w="22860">
            <a:solidFill>
              <a:srgbClr val="2634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562856" y="3108960"/>
            <a:ext cx="265176" cy="0"/>
          </a:xfrm>
          <a:prstGeom prst="line">
            <a:avLst/>
          </a:prstGeom>
          <a:ln w="22860">
            <a:solidFill>
              <a:srgbClr val="2634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284464" y="2706624"/>
            <a:ext cx="2880360" cy="1216152"/>
          </a:xfrm>
          <a:prstGeom prst="roundRect">
            <a:avLst/>
          </a:prstGeom>
          <a:solidFill>
            <a:srgbClr val="F2F5F7"/>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Evaluation stack: VITA-FL"/>
          <p:cNvSpPr txBox="1"/>
          <p:nvPr/>
        </p:nvSpPr>
        <p:spPr>
          <a:xfrm>
            <a:off x="8458200" y="2834640"/>
            <a:ext cx="2532888" cy="365760"/>
          </a:xfrm>
          <a:prstGeom prst="rect">
            <a:avLst/>
          </a:prstGeom>
          <a:noFill/>
        </p:spPr>
        <p:txBody>
          <a:bodyPr wrap="square" lIns="0" rIns="0" tIns="0" bIns="0" anchor="ctr">
            <a:spAutoFit/>
          </a:bodyPr>
          <a:lstStyle/>
          <a:p>
            <a:pPr algn="l"/>
            <a:r>
              <a:rPr sz="2200" b="1" lang="en-US">
                <a:solidFill>
                  <a:srgbClr val="263440"/>
                </a:solidFill>
                <a:latin typeface="Arial"/>
              </a:rPr>
              <a:t>VITA-FL</a:t>
            </a:r>
          </a:p>
        </p:txBody>
      </p:sp>
      <p:sp>
        <p:nvSpPr>
          <p:cNvPr id="31" name="Evaluation stack: Training · inference / contracts · evidence"/>
          <p:cNvSpPr txBox="1"/>
          <p:nvPr/>
        </p:nvSpPr>
        <p:spPr>
          <a:xfrm>
            <a:off x="8458200" y="3300984"/>
            <a:ext cx="2532888" cy="512064"/>
          </a:xfrm>
          <a:prstGeom prst="rect">
            <a:avLst/>
          </a:prstGeom>
          <a:noFill/>
        </p:spPr>
        <p:txBody>
          <a:bodyPr wrap="square" lIns="0" rIns="0" tIns="0" bIns="0" anchor="ctr">
            <a:spAutoFit/>
          </a:bodyPr>
          <a:lstStyle/>
          <a:p>
            <a:pPr algn="l"/>
            <a:r>
              <a:rPr sz="1400" b="0" lang="en-US">
                <a:solidFill>
                  <a:srgbClr val="263440"/>
                </a:solidFill>
                <a:latin typeface="Arial"/>
              </a:rPr>
              <a:t>Training · inference
contracts · evidence</a:t>
            </a:r>
          </a:p>
        </p:txBody>
      </p:sp>
      <p:cxnSp>
        <p:nvCxnSpPr>
          <p:cNvPr id="32" name="Connector 31"/>
          <p:cNvCxnSpPr/>
          <p:nvPr/>
        </p:nvCxnSpPr>
        <p:spPr>
          <a:xfrm>
            <a:off x="7114032" y="2953512"/>
            <a:ext cx="1133856" cy="0"/>
          </a:xfrm>
          <a:prstGeom prst="line">
            <a:avLst/>
          </a:prstGeom>
          <a:ln w="22860">
            <a:solidFill>
              <a:srgbClr val="2634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Evaluation stack: API / RPC"/>
          <p:cNvSpPr txBox="1"/>
          <p:nvPr/>
        </p:nvSpPr>
        <p:spPr>
          <a:xfrm>
            <a:off x="7223760" y="2660904"/>
            <a:ext cx="978408" cy="237744"/>
          </a:xfrm>
          <a:prstGeom prst="rect">
            <a:avLst/>
          </a:prstGeom>
          <a:noFill/>
        </p:spPr>
        <p:txBody>
          <a:bodyPr wrap="square" lIns="0" rIns="0" tIns="0" bIns="0" anchor="ctr">
            <a:spAutoFit/>
          </a:bodyPr>
          <a:lstStyle/>
          <a:p>
            <a:pPr algn="ctr"/>
            <a:r>
              <a:rPr sz="1150" b="0" lang="en-US">
                <a:solidFill>
                  <a:srgbClr val="263440"/>
                </a:solidFill>
                <a:latin typeface="Arial"/>
              </a:rPr>
              <a:t>API / RPC</a:t>
            </a:r>
          </a:p>
        </p:txBody>
      </p:sp>
      <p:cxnSp>
        <p:nvCxnSpPr>
          <p:cNvPr id="34" name="Connector 33"/>
          <p:cNvCxnSpPr/>
          <p:nvPr/>
        </p:nvCxnSpPr>
        <p:spPr>
          <a:xfrm flipH="1">
            <a:off x="7114032" y="3456432"/>
            <a:ext cx="1133856" cy="0"/>
          </a:xfrm>
          <a:prstGeom prst="line">
            <a:avLst/>
          </a:prstGeom>
          <a:ln w="2286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Evaluation stack: Evidence"/>
          <p:cNvSpPr txBox="1"/>
          <p:nvPr/>
        </p:nvSpPr>
        <p:spPr>
          <a:xfrm>
            <a:off x="7251192" y="3502152"/>
            <a:ext cx="950976" cy="246888"/>
          </a:xfrm>
          <a:prstGeom prst="rect">
            <a:avLst/>
          </a:prstGeom>
          <a:noFill/>
        </p:spPr>
        <p:txBody>
          <a:bodyPr wrap="square" lIns="0" rIns="0" tIns="0" bIns="0" anchor="ctr">
            <a:spAutoFit/>
          </a:bodyPr>
          <a:lstStyle/>
          <a:p>
            <a:pPr algn="ctr"/>
            <a:r>
              <a:rPr sz="1150" b="0" lang="en-US">
                <a:solidFill>
                  <a:srgbClr val="1764A1"/>
                </a:solidFill>
                <a:latin typeface="Arial"/>
              </a:rPr>
              <a:t>Evidence</a:t>
            </a:r>
          </a:p>
        </p:txBody>
      </p:sp>
      <p:sp>
        <p:nvSpPr>
          <p:cNvPr id="36" name="Rounded Rectangle 35"/>
          <p:cNvSpPr/>
          <p:nvPr/>
        </p:nvSpPr>
        <p:spPr>
          <a:xfrm>
            <a:off x="8284464" y="4315968"/>
            <a:ext cx="2880360" cy="694944"/>
          </a:xfrm>
          <a:prstGeom prst="roundRect">
            <a:avLst/>
          </a:prstGeom>
          <a:solidFill>
            <a:srgbClr val="F3EEF8"/>
          </a:solidFill>
          <a:ln w="12700">
            <a:solidFill>
              <a:srgbClr val="C8B9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Evaluation stack: Prometheus"/>
          <p:cNvSpPr txBox="1"/>
          <p:nvPr/>
        </p:nvSpPr>
        <p:spPr>
          <a:xfrm>
            <a:off x="8449056" y="4416552"/>
            <a:ext cx="2551176" cy="310896"/>
          </a:xfrm>
          <a:prstGeom prst="rect">
            <a:avLst/>
          </a:prstGeom>
          <a:noFill/>
        </p:spPr>
        <p:txBody>
          <a:bodyPr wrap="square" lIns="0" rIns="0" tIns="0" bIns="0" anchor="ctr">
            <a:spAutoFit/>
          </a:bodyPr>
          <a:lstStyle/>
          <a:p>
            <a:pPr algn="l"/>
            <a:r>
              <a:rPr sz="1800" b="1" lang="en-US">
                <a:solidFill>
                  <a:srgbClr val="7446A6"/>
                </a:solidFill>
                <a:latin typeface="Arial"/>
              </a:rPr>
              <a:t>Prometheus</a:t>
            </a:r>
          </a:p>
        </p:txBody>
      </p:sp>
      <p:sp>
        <p:nvSpPr>
          <p:cNvPr id="38" name="Evaluation stack: Recorded system metrics"/>
          <p:cNvSpPr txBox="1"/>
          <p:nvPr/>
        </p:nvSpPr>
        <p:spPr>
          <a:xfrm>
            <a:off x="8449056" y="4745736"/>
            <a:ext cx="2551176" cy="201168"/>
          </a:xfrm>
          <a:prstGeom prst="rect">
            <a:avLst/>
          </a:prstGeom>
          <a:noFill/>
        </p:spPr>
        <p:txBody>
          <a:bodyPr wrap="square" lIns="0" rIns="0" tIns="0" bIns="0" anchor="ctr">
            <a:spAutoFit/>
          </a:bodyPr>
          <a:lstStyle/>
          <a:p>
            <a:pPr algn="l"/>
            <a:r>
              <a:rPr sz="1100" b="0" lang="en-US">
                <a:solidFill>
                  <a:srgbClr val="7446A6"/>
                </a:solidFill>
                <a:latin typeface="Arial"/>
              </a:rPr>
              <a:t>Recorded system metrics</a:t>
            </a:r>
          </a:p>
        </p:txBody>
      </p:sp>
      <p:cxnSp>
        <p:nvCxnSpPr>
          <p:cNvPr id="39" name="Connector 38"/>
          <p:cNvCxnSpPr/>
          <p:nvPr/>
        </p:nvCxnSpPr>
        <p:spPr>
          <a:xfrm>
            <a:off x="9720072" y="3941063"/>
            <a:ext cx="0" cy="338329"/>
          </a:xfrm>
          <a:prstGeom prst="line">
            <a:avLst/>
          </a:prstGeom>
          <a:ln w="22860">
            <a:solidFill>
              <a:srgbClr val="7446A6"/>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3749039" y="4645152"/>
            <a:ext cx="4498849" cy="0"/>
          </a:xfrm>
          <a:prstGeom prst="line">
            <a:avLst/>
          </a:prstGeom>
          <a:ln w="22860">
            <a:solidFill>
              <a:srgbClr val="7446A6"/>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749039" y="3657600"/>
            <a:ext cx="0" cy="987552"/>
          </a:xfrm>
          <a:prstGeom prst="line">
            <a:avLst/>
          </a:prstGeom>
          <a:ln w="22860">
            <a:solidFill>
              <a:srgbClr val="7446A6"/>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2" name="Evaluation stack: Time series for run window"/>
          <p:cNvSpPr txBox="1"/>
          <p:nvPr/>
        </p:nvSpPr>
        <p:spPr>
          <a:xfrm>
            <a:off x="4178808" y="4261104"/>
            <a:ext cx="3401568" cy="256032"/>
          </a:xfrm>
          <a:prstGeom prst="rect">
            <a:avLst/>
          </a:prstGeom>
          <a:noFill/>
        </p:spPr>
        <p:txBody>
          <a:bodyPr wrap="square" lIns="0" rIns="0" tIns="0" bIns="0" anchor="ctr">
            <a:spAutoFit/>
          </a:bodyPr>
          <a:lstStyle/>
          <a:p>
            <a:pPr algn="ctr"/>
            <a:r>
              <a:rPr sz="1300" b="0" lang="en-US">
                <a:solidFill>
                  <a:srgbClr val="7446A6"/>
                </a:solidFill>
                <a:latin typeface="Arial"/>
              </a:rPr>
              <a:t>Time series for run window</a:t>
            </a:r>
          </a:p>
        </p:txBody>
      </p:sp>
      <p:sp>
        <p:nvSpPr>
          <p:cNvPr id="43" name="Rounded Rectangle 42"/>
          <p:cNvSpPr/>
          <p:nvPr/>
        </p:nvSpPr>
        <p:spPr>
          <a:xfrm>
            <a:off x="868680" y="4361688"/>
            <a:ext cx="2560320" cy="640080"/>
          </a:xfrm>
          <a:prstGeom prst="roundRect">
            <a:avLst/>
          </a:prstGeom>
          <a:solidFill>
            <a:srgbClr val="EDF4FA"/>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Evaluation stack: Reports + Marimo"/>
          <p:cNvSpPr txBox="1"/>
          <p:nvPr/>
        </p:nvSpPr>
        <p:spPr>
          <a:xfrm>
            <a:off x="1005840" y="4443984"/>
            <a:ext cx="2286000" cy="283464"/>
          </a:xfrm>
          <a:prstGeom prst="rect">
            <a:avLst/>
          </a:prstGeom>
          <a:noFill/>
        </p:spPr>
        <p:txBody>
          <a:bodyPr wrap="square" lIns="0" rIns="0" tIns="0" bIns="0" anchor="ctr">
            <a:spAutoFit/>
          </a:bodyPr>
          <a:lstStyle/>
          <a:p>
            <a:pPr algn="l"/>
            <a:r>
              <a:rPr sz="1600" b="1" lang="en-US">
                <a:solidFill>
                  <a:srgbClr val="1764A1"/>
                </a:solidFill>
                <a:latin typeface="Arial"/>
              </a:rPr>
              <a:t>Reports + Marimo</a:t>
            </a:r>
          </a:p>
        </p:txBody>
      </p:sp>
      <p:sp>
        <p:nvSpPr>
          <p:cNvPr id="45" name="Evaluation stack: Compare saved runs"/>
          <p:cNvSpPr txBox="1"/>
          <p:nvPr/>
        </p:nvSpPr>
        <p:spPr>
          <a:xfrm>
            <a:off x="1005840" y="4764024"/>
            <a:ext cx="2286000" cy="182880"/>
          </a:xfrm>
          <a:prstGeom prst="rect">
            <a:avLst/>
          </a:prstGeom>
          <a:noFill/>
        </p:spPr>
        <p:txBody>
          <a:bodyPr wrap="square" lIns="0" rIns="0" tIns="0" bIns="0" anchor="ctr">
            <a:spAutoFit/>
          </a:bodyPr>
          <a:lstStyle/>
          <a:p>
            <a:pPr algn="l"/>
            <a:r>
              <a:rPr sz="1050" b="0" lang="en-US">
                <a:solidFill>
                  <a:srgbClr val="65737D"/>
                </a:solidFill>
                <a:latin typeface="Arial"/>
              </a:rPr>
              <a:t>Compare saved runs</a:t>
            </a:r>
          </a:p>
        </p:txBody>
      </p:sp>
      <p:cxnSp>
        <p:nvCxnSpPr>
          <p:cNvPr id="46" name="Connector 45"/>
          <p:cNvCxnSpPr/>
          <p:nvPr/>
        </p:nvCxnSpPr>
        <p:spPr>
          <a:xfrm>
            <a:off x="1709928" y="3657600"/>
            <a:ext cx="0" cy="667512"/>
          </a:xfrm>
          <a:prstGeom prst="line">
            <a:avLst/>
          </a:prstGeom>
          <a:ln w="2286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3246120" y="3657600"/>
            <a:ext cx="0" cy="329184"/>
          </a:xfrm>
          <a:prstGeom prst="line">
            <a:avLst/>
          </a:prstGeom>
          <a:ln w="2286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2496312" y="3986784"/>
            <a:ext cx="749808" cy="0"/>
          </a:xfrm>
          <a:prstGeom prst="line">
            <a:avLst/>
          </a:prstGeom>
          <a:ln w="2286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2496312" y="3986784"/>
            <a:ext cx="0" cy="338328"/>
          </a:xfrm>
          <a:prstGeom prst="line">
            <a:avLst/>
          </a:prstGeom>
          <a:ln w="2286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980176" y="3657600"/>
            <a:ext cx="0" cy="292608"/>
          </a:xfrm>
          <a:prstGeom prst="line">
            <a:avLst/>
          </a:prstGeom>
          <a:ln w="2286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4251960" y="3950208"/>
            <a:ext cx="1728216" cy="0"/>
          </a:xfrm>
          <a:prstGeom prst="line">
            <a:avLst/>
          </a:prstGeom>
          <a:ln w="2286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251960" y="3657600"/>
            <a:ext cx="0" cy="292608"/>
          </a:xfrm>
          <a:prstGeom prst="line">
            <a:avLst/>
          </a:prstGeom>
          <a:ln w="2286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Evaluation stack: SMA retrieves the time series for its measurement window after the scenario ends."/>
          <p:cNvSpPr txBox="1"/>
          <p:nvPr/>
        </p:nvSpPr>
        <p:spPr>
          <a:xfrm>
            <a:off x="658368" y="5468112"/>
            <a:ext cx="10890504" cy="274320"/>
          </a:xfrm>
          <a:prstGeom prst="rect">
            <a:avLst/>
          </a:prstGeom>
          <a:noFill/>
        </p:spPr>
        <p:txBody>
          <a:bodyPr wrap="square" lIns="0" rIns="0" tIns="0" bIns="0" anchor="ctr">
            <a:spAutoFit/>
          </a:bodyPr>
          <a:lstStyle/>
          <a:p>
            <a:pPr algn="l"/>
            <a:r>
              <a:rPr sz="1250" b="0" lang="en-US">
                <a:solidFill>
                  <a:srgbClr val="65737D"/>
                </a:solidFill>
                <a:latin typeface="Arial"/>
              </a:rPr>
              <a:t>SMA retrieves the time series for its measurement window after the scenario ends.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One end-to-end Phala FedAvg run</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CURRENT EQUAL-WEIGHT FEDAVG PATH · SIX WORKER TEES · TWO INFRASTRUCTURE TEES · 24 FEDERATED ROUNDS</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25</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cxnSp>
        <p:nvCxnSpPr>
          <p:cNvPr id="13" name="Connector 12"/>
          <p:cNvCxnSpPr/>
          <p:nvPr/>
        </p:nvCxnSpPr>
        <p:spPr>
          <a:xfrm>
            <a:off x="1664207" y="2148840"/>
            <a:ext cx="877825" cy="0"/>
          </a:xfrm>
          <a:prstGeom prst="line">
            <a:avLst/>
          </a:prstGeom>
          <a:ln w="19050">
            <a:solidFill>
              <a:srgbClr val="B2B2B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675887" y="2148840"/>
            <a:ext cx="877825" cy="0"/>
          </a:xfrm>
          <a:prstGeom prst="line">
            <a:avLst/>
          </a:prstGeom>
          <a:ln w="19050">
            <a:solidFill>
              <a:srgbClr val="B2B2B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687568" y="2148840"/>
            <a:ext cx="877824" cy="0"/>
          </a:xfrm>
          <a:prstGeom prst="line">
            <a:avLst/>
          </a:prstGeom>
          <a:ln w="19050">
            <a:solidFill>
              <a:srgbClr val="B2B2B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699248" y="2148840"/>
            <a:ext cx="877824" cy="0"/>
          </a:xfrm>
          <a:prstGeom prst="line">
            <a:avLst/>
          </a:prstGeom>
          <a:ln w="19050">
            <a:solidFill>
              <a:srgbClr val="B2B2B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10928" y="2148840"/>
            <a:ext cx="740664" cy="0"/>
          </a:xfrm>
          <a:prstGeom prst="line">
            <a:avLst/>
          </a:prstGeom>
          <a:ln w="19050">
            <a:solidFill>
              <a:srgbClr val="B2B2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585215" y="1627632"/>
            <a:ext cx="1024128" cy="1024128"/>
          </a:xfrm>
          <a:prstGeom prst="ellipse">
            <a:avLst/>
          </a:prstGeom>
          <a:solidFill>
            <a:srgbClr val="EAF5FA"/>
          </a:solidFill>
          <a:ln w="2286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1901952"/>
            <a:ext cx="859536" cy="320040"/>
          </a:xfrm>
          <a:prstGeom prst="rect">
            <a:avLst/>
          </a:prstGeom>
          <a:noFill/>
        </p:spPr>
        <p:txBody>
          <a:bodyPr wrap="square" lIns="0" rIns="0" tIns="0" bIns="0" anchor="t">
            <a:spAutoFit/>
          </a:bodyPr>
          <a:lstStyle/>
          <a:p>
            <a:pPr algn="ctr"/>
            <a:r>
              <a:rPr sz="1650" b="1" lang="en-US">
                <a:solidFill>
                  <a:srgbClr val="1F90CC"/>
                </a:solidFill>
                <a:latin typeface="Arial"/>
              </a:rPr>
              <a:t>6</a:t>
            </a:r>
          </a:p>
        </p:txBody>
      </p:sp>
      <p:sp>
        <p:nvSpPr>
          <p:cNvPr id="20" name="TextBox 19"/>
          <p:cNvSpPr txBox="1"/>
          <p:nvPr/>
        </p:nvSpPr>
        <p:spPr>
          <a:xfrm>
            <a:off x="384047" y="2761488"/>
            <a:ext cx="1426464" cy="310896"/>
          </a:xfrm>
          <a:prstGeom prst="rect">
            <a:avLst/>
          </a:prstGeom>
          <a:noFill/>
        </p:spPr>
        <p:txBody>
          <a:bodyPr wrap="square" lIns="18288" rIns="18288" tIns="18288" bIns="18288" anchor="t">
            <a:spAutoFit/>
          </a:bodyPr>
          <a:lstStyle/>
          <a:p>
            <a:pPr algn="ctr"/>
            <a:r>
              <a:rPr sz="800" b="1" lang="en-US">
                <a:solidFill>
                  <a:srgbClr val="434343"/>
                </a:solidFill>
                <a:latin typeface="Arial"/>
              </a:rPr>
              <a:t>TEE WORKERS</a:t>
            </a:r>
          </a:p>
        </p:txBody>
      </p:sp>
      <p:sp>
        <p:nvSpPr>
          <p:cNvPr id="21" name="Oval 20"/>
          <p:cNvSpPr/>
          <p:nvPr/>
        </p:nvSpPr>
        <p:spPr>
          <a:xfrm>
            <a:off x="2596896" y="1627632"/>
            <a:ext cx="1024128" cy="1024128"/>
          </a:xfrm>
          <a:prstGeom prst="ellipse">
            <a:avLst/>
          </a:prstGeom>
          <a:solidFill>
            <a:srgbClr val="EAF6ED"/>
          </a:solidFill>
          <a:ln w="2286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79191" y="1901952"/>
            <a:ext cx="859536" cy="320040"/>
          </a:xfrm>
          <a:prstGeom prst="rect">
            <a:avLst/>
          </a:prstGeom>
          <a:noFill/>
        </p:spPr>
        <p:txBody>
          <a:bodyPr wrap="square" lIns="0" rIns="0" tIns="0" bIns="0" anchor="t">
            <a:spAutoFit/>
          </a:bodyPr>
          <a:lstStyle/>
          <a:p>
            <a:pPr algn="ctr"/>
            <a:r>
              <a:rPr sz="1200" b="1" lang="en-US">
                <a:solidFill>
                  <a:srgbClr val="2F8F46"/>
                </a:solidFill>
                <a:latin typeface="Arial"/>
              </a:rPr>
              <a:t>24/24</a:t>
            </a:r>
          </a:p>
        </p:txBody>
      </p:sp>
      <p:sp>
        <p:nvSpPr>
          <p:cNvPr id="23" name="TextBox 22"/>
          <p:cNvSpPr txBox="1"/>
          <p:nvPr/>
        </p:nvSpPr>
        <p:spPr>
          <a:xfrm>
            <a:off x="2395728" y="2761488"/>
            <a:ext cx="1426464" cy="310896"/>
          </a:xfrm>
          <a:prstGeom prst="rect">
            <a:avLst/>
          </a:prstGeom>
          <a:noFill/>
        </p:spPr>
        <p:txBody>
          <a:bodyPr wrap="square" lIns="18288" rIns="18288" tIns="18288" bIns="18288" anchor="t">
            <a:spAutoFit/>
          </a:bodyPr>
          <a:lstStyle/>
          <a:p>
            <a:pPr algn="ctr"/>
            <a:r>
              <a:rPr sz="800" b="1" lang="en-US">
                <a:solidFill>
                  <a:srgbClr val="434343"/>
                </a:solidFill>
                <a:latin typeface="Arial"/>
              </a:rPr>
              <a:t>ROUNDS</a:t>
            </a:r>
          </a:p>
        </p:txBody>
      </p:sp>
      <p:sp>
        <p:nvSpPr>
          <p:cNvPr id="24" name="Oval 23"/>
          <p:cNvSpPr/>
          <p:nvPr/>
        </p:nvSpPr>
        <p:spPr>
          <a:xfrm>
            <a:off x="4608575" y="1627632"/>
            <a:ext cx="1024128" cy="1024128"/>
          </a:xfrm>
          <a:prstGeom prst="ellipse">
            <a:avLst/>
          </a:prstGeom>
          <a:solidFill>
            <a:srgbClr val="FFF1E7"/>
          </a:solidFill>
          <a:ln w="22860">
            <a:solidFill>
              <a:srgbClr val="FF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90872" y="1901952"/>
            <a:ext cx="859536" cy="320040"/>
          </a:xfrm>
          <a:prstGeom prst="rect">
            <a:avLst/>
          </a:prstGeom>
          <a:noFill/>
        </p:spPr>
        <p:txBody>
          <a:bodyPr wrap="square" lIns="0" rIns="0" tIns="0" bIns="0" anchor="t">
            <a:spAutoFit/>
          </a:bodyPr>
          <a:lstStyle/>
          <a:p>
            <a:pPr algn="ctr"/>
            <a:r>
              <a:rPr sz="1650" b="1" lang="en-US">
                <a:solidFill>
                  <a:srgbClr val="FF6C00"/>
                </a:solidFill>
                <a:latin typeface="Arial"/>
              </a:rPr>
              <a:t>5</a:t>
            </a:r>
          </a:p>
        </p:txBody>
      </p:sp>
      <p:sp>
        <p:nvSpPr>
          <p:cNvPr id="26" name="TextBox 25"/>
          <p:cNvSpPr txBox="1"/>
          <p:nvPr/>
        </p:nvSpPr>
        <p:spPr>
          <a:xfrm>
            <a:off x="4407407" y="2761488"/>
            <a:ext cx="1426464" cy="310896"/>
          </a:xfrm>
          <a:prstGeom prst="rect">
            <a:avLst/>
          </a:prstGeom>
          <a:noFill/>
        </p:spPr>
        <p:txBody>
          <a:bodyPr wrap="square" lIns="18288" rIns="18288" tIns="18288" bIns="18288" anchor="t">
            <a:spAutoFit/>
          </a:bodyPr>
          <a:lstStyle/>
          <a:p>
            <a:pPr algn="ctr"/>
            <a:r>
              <a:rPr sz="800" b="1" lang="en-US">
                <a:solidFill>
                  <a:srgbClr val="434343"/>
                </a:solidFill>
                <a:latin typeface="Arial"/>
              </a:rPr>
              <a:t>UPDATES / ROUND</a:t>
            </a:r>
          </a:p>
        </p:txBody>
      </p:sp>
      <p:sp>
        <p:nvSpPr>
          <p:cNvPr id="27" name="Oval 26"/>
          <p:cNvSpPr/>
          <p:nvPr/>
        </p:nvSpPr>
        <p:spPr>
          <a:xfrm>
            <a:off x="6620256" y="1627632"/>
            <a:ext cx="1024128" cy="1024128"/>
          </a:xfrm>
          <a:prstGeom prst="ellipse">
            <a:avLst/>
          </a:prstGeom>
          <a:solidFill>
            <a:srgbClr val="F3EBF9"/>
          </a:solidFill>
          <a:ln w="22860">
            <a:solidFill>
              <a:srgbClr val="7A3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2552" y="1901952"/>
            <a:ext cx="859536" cy="320040"/>
          </a:xfrm>
          <a:prstGeom prst="rect">
            <a:avLst/>
          </a:prstGeom>
          <a:noFill/>
        </p:spPr>
        <p:txBody>
          <a:bodyPr wrap="square" lIns="0" rIns="0" tIns="0" bIns="0" anchor="t">
            <a:spAutoFit/>
          </a:bodyPr>
          <a:lstStyle/>
          <a:p>
            <a:pPr algn="ctr"/>
            <a:r>
              <a:rPr sz="1650" b="1" lang="en-US">
                <a:solidFill>
                  <a:srgbClr val="7A35B5"/>
                </a:solidFill>
                <a:latin typeface="Arial"/>
              </a:rPr>
              <a:t>120</a:t>
            </a:r>
          </a:p>
        </p:txBody>
      </p:sp>
      <p:sp>
        <p:nvSpPr>
          <p:cNvPr id="29" name="TextBox 28"/>
          <p:cNvSpPr txBox="1"/>
          <p:nvPr/>
        </p:nvSpPr>
        <p:spPr>
          <a:xfrm>
            <a:off x="6419088" y="2761488"/>
            <a:ext cx="1426464" cy="310896"/>
          </a:xfrm>
          <a:prstGeom prst="rect">
            <a:avLst/>
          </a:prstGeom>
          <a:noFill/>
        </p:spPr>
        <p:txBody>
          <a:bodyPr wrap="square" lIns="18288" rIns="18288" tIns="18288" bIns="18288" anchor="t">
            <a:spAutoFit/>
          </a:bodyPr>
          <a:lstStyle/>
          <a:p>
            <a:pPr algn="ctr"/>
            <a:r>
              <a:rPr sz="800" b="1" lang="en-US">
                <a:solidFill>
                  <a:srgbClr val="434343"/>
                </a:solidFill>
                <a:latin typeface="Arial"/>
              </a:rPr>
              <a:t>TRAINS + TRANSFERS</a:t>
            </a:r>
          </a:p>
        </p:txBody>
      </p:sp>
      <p:sp>
        <p:nvSpPr>
          <p:cNvPr id="30" name="Oval 29"/>
          <p:cNvSpPr/>
          <p:nvPr/>
        </p:nvSpPr>
        <p:spPr>
          <a:xfrm>
            <a:off x="8631936" y="1627632"/>
            <a:ext cx="1024128" cy="1024128"/>
          </a:xfrm>
          <a:prstGeom prst="ellipse">
            <a:avLst/>
          </a:prstGeom>
          <a:solidFill>
            <a:srgbClr val="FBEAEC"/>
          </a:solidFill>
          <a:ln w="2286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14232" y="1901952"/>
            <a:ext cx="859536" cy="320040"/>
          </a:xfrm>
          <a:prstGeom prst="rect">
            <a:avLst/>
          </a:prstGeom>
          <a:noFill/>
        </p:spPr>
        <p:txBody>
          <a:bodyPr wrap="square" lIns="0" rIns="0" tIns="0" bIns="0" anchor="t">
            <a:spAutoFit/>
          </a:bodyPr>
          <a:lstStyle/>
          <a:p>
            <a:pPr algn="ctr"/>
            <a:r>
              <a:rPr sz="1650" b="1" lang="en-US">
                <a:solidFill>
                  <a:srgbClr val="C40D1E"/>
                </a:solidFill>
                <a:latin typeface="Arial"/>
              </a:rPr>
              <a:t>0</a:t>
            </a:r>
          </a:p>
        </p:txBody>
      </p:sp>
      <p:sp>
        <p:nvSpPr>
          <p:cNvPr id="32" name="TextBox 31"/>
          <p:cNvSpPr txBox="1"/>
          <p:nvPr/>
        </p:nvSpPr>
        <p:spPr>
          <a:xfrm>
            <a:off x="8430768" y="2761488"/>
            <a:ext cx="1426464" cy="310896"/>
          </a:xfrm>
          <a:prstGeom prst="rect">
            <a:avLst/>
          </a:prstGeom>
          <a:noFill/>
        </p:spPr>
        <p:txBody>
          <a:bodyPr wrap="square" lIns="18288" rIns="18288" tIns="18288" bIns="18288" anchor="t">
            <a:spAutoFit/>
          </a:bodyPr>
          <a:lstStyle/>
          <a:p>
            <a:pPr algn="ctr"/>
            <a:r>
              <a:rPr sz="800" b="1" lang="en-US">
                <a:solidFill>
                  <a:srgbClr val="434343"/>
                </a:solidFill>
                <a:latin typeface="Arial"/>
              </a:rPr>
              <a:t>ABORTED ATTEMPTS</a:t>
            </a:r>
          </a:p>
        </p:txBody>
      </p:sp>
      <p:sp>
        <p:nvSpPr>
          <p:cNvPr id="33" name="Oval 32"/>
          <p:cNvSpPr/>
          <p:nvPr/>
        </p:nvSpPr>
        <p:spPr>
          <a:xfrm>
            <a:off x="10506456" y="1627632"/>
            <a:ext cx="1024128" cy="1024128"/>
          </a:xfrm>
          <a:prstGeom prst="ellipse">
            <a:avLst/>
          </a:prstGeom>
          <a:solidFill>
            <a:srgbClr val="F3F3F3"/>
          </a:solidFill>
          <a:ln w="22860">
            <a:solidFill>
              <a:srgbClr val="4343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588752" y="1901952"/>
            <a:ext cx="859536" cy="320040"/>
          </a:xfrm>
          <a:prstGeom prst="rect">
            <a:avLst/>
          </a:prstGeom>
          <a:noFill/>
        </p:spPr>
        <p:txBody>
          <a:bodyPr wrap="square" lIns="0" rIns="0" tIns="0" bIns="0" anchor="t">
            <a:spAutoFit/>
          </a:bodyPr>
          <a:lstStyle/>
          <a:p>
            <a:pPr algn="ctr"/>
            <a:r>
              <a:rPr sz="1650" b="1" lang="en-US">
                <a:solidFill>
                  <a:srgbClr val="434343"/>
                </a:solidFill>
                <a:latin typeface="Arial"/>
              </a:rPr>
              <a:t>0</a:t>
            </a:r>
          </a:p>
        </p:txBody>
      </p:sp>
      <p:sp>
        <p:nvSpPr>
          <p:cNvPr id="35" name="TextBox 34"/>
          <p:cNvSpPr txBox="1"/>
          <p:nvPr/>
        </p:nvSpPr>
        <p:spPr>
          <a:xfrm>
            <a:off x="10305288" y="2761488"/>
            <a:ext cx="1426464" cy="310896"/>
          </a:xfrm>
          <a:prstGeom prst="rect">
            <a:avLst/>
          </a:prstGeom>
          <a:noFill/>
        </p:spPr>
        <p:txBody>
          <a:bodyPr wrap="square" lIns="18288" rIns="18288" tIns="18288" bIns="18288" anchor="t">
            <a:spAutoFit/>
          </a:bodyPr>
          <a:lstStyle/>
          <a:p>
            <a:pPr algn="ctr"/>
            <a:r>
              <a:rPr sz="800" b="1" lang="en-US">
                <a:solidFill>
                  <a:srgbClr val="434343"/>
                </a:solidFill>
                <a:latin typeface="Arial"/>
              </a:rPr>
              <a:t>GAP RECOVERIES</a:t>
            </a:r>
          </a:p>
        </p:txBody>
      </p:sp>
      <p:sp>
        <p:nvSpPr>
          <p:cNvPr id="36" name="Rounded Rectangle 35"/>
          <p:cNvSpPr/>
          <p:nvPr/>
        </p:nvSpPr>
        <p:spPr>
          <a:xfrm>
            <a:off x="621792" y="3310128"/>
            <a:ext cx="3456432" cy="1353312"/>
          </a:xfrm>
          <a:prstGeom prst="roundRect">
            <a:avLst/>
          </a:prstGeom>
          <a:solidFill>
            <a:srgbClr val="EAF5FA"/>
          </a:solidFill>
          <a:ln w="1651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9536" y="3529584"/>
            <a:ext cx="1060704" cy="201168"/>
          </a:xfrm>
          <a:prstGeom prst="rect">
            <a:avLst/>
          </a:prstGeom>
          <a:noFill/>
        </p:spPr>
        <p:txBody>
          <a:bodyPr wrap="square" lIns="18288" rIns="18288" tIns="18288" bIns="18288" anchor="t">
            <a:spAutoFit/>
          </a:bodyPr>
          <a:lstStyle/>
          <a:p>
            <a:pPr algn="l"/>
            <a:r>
              <a:rPr sz="1000" b="1" lang="en-US">
                <a:solidFill>
                  <a:srgbClr val="1F90CC"/>
                </a:solidFill>
                <a:latin typeface="Arial"/>
              </a:rPr>
              <a:t>RUN CLOCK</a:t>
            </a:r>
          </a:p>
        </p:txBody>
      </p:sp>
      <p:sp>
        <p:nvSpPr>
          <p:cNvPr id="38" name="TextBox 37"/>
          <p:cNvSpPr txBox="1"/>
          <p:nvPr/>
        </p:nvSpPr>
        <p:spPr>
          <a:xfrm>
            <a:off x="859536" y="3849624"/>
            <a:ext cx="2724912" cy="274320"/>
          </a:xfrm>
          <a:prstGeom prst="rect">
            <a:avLst/>
          </a:prstGeom>
          <a:noFill/>
        </p:spPr>
        <p:txBody>
          <a:bodyPr wrap="square" lIns="18288" rIns="18288" tIns="18288" bIns="18288" anchor="t">
            <a:spAutoFit/>
          </a:bodyPr>
          <a:lstStyle/>
          <a:p>
            <a:pPr algn="l"/>
            <a:r>
              <a:rPr sz="1800" b="1" lang="en-US">
                <a:solidFill>
                  <a:srgbClr val="434343"/>
                </a:solidFill>
                <a:latin typeface="Arial"/>
              </a:rPr>
              <a:t>11.49 min</a:t>
            </a:r>
          </a:p>
        </p:txBody>
      </p:sp>
      <p:sp>
        <p:nvSpPr>
          <p:cNvPr id="39" name="TextBox 38"/>
          <p:cNvSpPr txBox="1"/>
          <p:nvPr/>
        </p:nvSpPr>
        <p:spPr>
          <a:xfrm>
            <a:off x="859536" y="4251960"/>
            <a:ext cx="2834640" cy="201168"/>
          </a:xfrm>
          <a:prstGeom prst="rect">
            <a:avLst/>
          </a:prstGeom>
          <a:noFill/>
        </p:spPr>
        <p:txBody>
          <a:bodyPr wrap="square" lIns="18288" rIns="18288" tIns="18288" bIns="18288" anchor="t">
            <a:spAutoFit/>
          </a:bodyPr>
          <a:lstStyle/>
          <a:p>
            <a:pPr algn="l"/>
            <a:r>
              <a:rPr sz="919" b="0" lang="en-US">
                <a:solidFill>
                  <a:srgbClr val="434343"/>
                </a:solidFill>
                <a:latin typeface="Arial"/>
              </a:rPr>
              <a:t>29.97 s mean evaluation interval</a:t>
            </a:r>
          </a:p>
        </p:txBody>
      </p:sp>
      <p:sp>
        <p:nvSpPr>
          <p:cNvPr id="40" name="Rounded Rectangle 39"/>
          <p:cNvSpPr/>
          <p:nvPr/>
        </p:nvSpPr>
        <p:spPr>
          <a:xfrm>
            <a:off x="4370832" y="3310128"/>
            <a:ext cx="3456432" cy="1353312"/>
          </a:xfrm>
          <a:prstGeom prst="roundRect">
            <a:avLst/>
          </a:prstGeom>
          <a:solidFill>
            <a:srgbClr val="F3EBF9"/>
          </a:solidFill>
          <a:ln w="16510">
            <a:solidFill>
              <a:srgbClr val="7A3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608576" y="3529584"/>
            <a:ext cx="2633472" cy="201168"/>
          </a:xfrm>
          <a:prstGeom prst="rect">
            <a:avLst/>
          </a:prstGeom>
          <a:noFill/>
        </p:spPr>
        <p:txBody>
          <a:bodyPr wrap="square" lIns="18288" rIns="18288" tIns="18288" bIns="18288" anchor="t">
            <a:spAutoFit/>
          </a:bodyPr>
          <a:lstStyle/>
          <a:p>
            <a:pPr algn="l"/>
            <a:r>
              <a:rPr sz="1000" b="1" lang="en-US">
                <a:solidFill>
                  <a:srgbClr val="7A35B5"/>
                </a:solidFill>
                <a:latin typeface="Arial"/>
              </a:rPr>
              <a:t>ROUND-25 TEE INFERENCE</a:t>
            </a:r>
          </a:p>
        </p:txBody>
      </p:sp>
      <p:sp>
        <p:nvSpPr>
          <p:cNvPr id="42" name="TextBox 41"/>
          <p:cNvSpPr txBox="1"/>
          <p:nvPr/>
        </p:nvSpPr>
        <p:spPr>
          <a:xfrm>
            <a:off x="4608576" y="3849624"/>
            <a:ext cx="1408176" cy="274320"/>
          </a:xfrm>
          <a:prstGeom prst="rect">
            <a:avLst/>
          </a:prstGeom>
          <a:noFill/>
        </p:spPr>
        <p:txBody>
          <a:bodyPr wrap="square" lIns="18288" rIns="18288" tIns="18288" bIns="18288" anchor="t">
            <a:spAutoFit/>
          </a:bodyPr>
          <a:lstStyle/>
          <a:p>
            <a:pPr algn="l"/>
            <a:r>
              <a:rPr sz="1800" b="1" lang="en-US">
                <a:solidFill>
                  <a:srgbClr val="434343"/>
                </a:solidFill>
                <a:latin typeface="Arial"/>
              </a:rPr>
              <a:t>2.839 ms</a:t>
            </a:r>
          </a:p>
        </p:txBody>
      </p:sp>
      <p:sp>
        <p:nvSpPr>
          <p:cNvPr id="43" name="TextBox 42"/>
          <p:cNvSpPr txBox="1"/>
          <p:nvPr/>
        </p:nvSpPr>
        <p:spPr>
          <a:xfrm>
            <a:off x="4608576" y="4251960"/>
            <a:ext cx="2871216" cy="201168"/>
          </a:xfrm>
          <a:prstGeom prst="rect">
            <a:avLst/>
          </a:prstGeom>
          <a:noFill/>
        </p:spPr>
        <p:txBody>
          <a:bodyPr wrap="square" lIns="18288" rIns="18288" tIns="18288" bIns="18288" anchor="t">
            <a:spAutoFit/>
          </a:bodyPr>
          <a:lstStyle/>
          <a:p>
            <a:pPr algn="l"/>
            <a:r>
              <a:rPr sz="919" b="0" lang="en-US">
                <a:solidFill>
                  <a:srgbClr val="434343"/>
                </a:solidFill>
                <a:latin typeface="Arial"/>
              </a:rPr>
              <a:t>5,010 B quote · 10 RTMR3 events</a:t>
            </a:r>
          </a:p>
        </p:txBody>
      </p:sp>
      <p:sp>
        <p:nvSpPr>
          <p:cNvPr id="44" name="Rounded Rectangle 43"/>
          <p:cNvSpPr/>
          <p:nvPr/>
        </p:nvSpPr>
        <p:spPr>
          <a:xfrm>
            <a:off x="8119872" y="3310128"/>
            <a:ext cx="3456432" cy="1353312"/>
          </a:xfrm>
          <a:prstGeom prst="roundRect">
            <a:avLst/>
          </a:prstGeom>
          <a:solidFill>
            <a:srgbClr val="FFF1E7"/>
          </a:solidFill>
          <a:ln w="16510">
            <a:solidFill>
              <a:srgbClr val="FF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57616" y="3529584"/>
            <a:ext cx="2779776" cy="201168"/>
          </a:xfrm>
          <a:prstGeom prst="rect">
            <a:avLst/>
          </a:prstGeom>
          <a:noFill/>
        </p:spPr>
        <p:txBody>
          <a:bodyPr wrap="square" lIns="18288" rIns="18288" tIns="18288" bIns="18288" anchor="t">
            <a:spAutoFit/>
          </a:bodyPr>
          <a:lstStyle/>
          <a:p>
            <a:pPr algn="l"/>
            <a:r>
              <a:rPr sz="960" b="1" lang="en-US">
                <a:solidFill>
                  <a:srgbClr val="FF6C00"/>
                </a:solidFill>
                <a:latin typeface="Arial"/>
              </a:rPr>
              <a:t>ANVIL GAS ACCOUNTING</a:t>
            </a:r>
          </a:p>
        </p:txBody>
      </p:sp>
      <p:sp>
        <p:nvSpPr>
          <p:cNvPr id="46" name="TextBox 45"/>
          <p:cNvSpPr txBox="1"/>
          <p:nvPr/>
        </p:nvSpPr>
        <p:spPr>
          <a:xfrm>
            <a:off x="8357616" y="3822191"/>
            <a:ext cx="2834640" cy="292608"/>
          </a:xfrm>
          <a:prstGeom prst="rect">
            <a:avLst/>
          </a:prstGeom>
          <a:noFill/>
        </p:spPr>
        <p:txBody>
          <a:bodyPr wrap="square" lIns="18288" rIns="18288" tIns="18288" bIns="18288" anchor="t">
            <a:spAutoFit/>
          </a:bodyPr>
          <a:lstStyle/>
          <a:p>
            <a:pPr algn="l"/>
            <a:r>
              <a:rPr sz="1700" b="1" lang="en-US">
                <a:solidFill>
                  <a:srgbClr val="434343"/>
                </a:solidFill>
                <a:latin typeface="Arial"/>
              </a:rPr>
              <a:t>616,141,147 gas</a:t>
            </a:r>
          </a:p>
        </p:txBody>
      </p:sp>
      <p:sp>
        <p:nvSpPr>
          <p:cNvPr id="47" name="TextBox 46"/>
          <p:cNvSpPr txBox="1"/>
          <p:nvPr/>
        </p:nvSpPr>
        <p:spPr>
          <a:xfrm>
            <a:off x="8357616" y="4251960"/>
            <a:ext cx="2871216" cy="201168"/>
          </a:xfrm>
          <a:prstGeom prst="rect">
            <a:avLst/>
          </a:prstGeom>
          <a:noFill/>
        </p:spPr>
        <p:txBody>
          <a:bodyPr wrap="square" lIns="18288" rIns="18288" tIns="18288" bIns="18288" anchor="t">
            <a:spAutoFit/>
          </a:bodyPr>
          <a:lstStyle/>
          <a:p>
            <a:pPr algn="l"/>
            <a:r>
              <a:rPr sz="880" b="0" lang="en-US">
                <a:solidFill>
                  <a:srgbClr val="434343"/>
                </a:solidFill>
                <a:latin typeface="Arial"/>
              </a:rPr>
              <a:t>6/6 registrations · 472,240,960 gas</a:t>
            </a:r>
          </a:p>
        </p:txBody>
      </p:sp>
      <p:sp>
        <p:nvSpPr>
          <p:cNvPr id="48" name="Rounded Rectangle 47"/>
          <p:cNvSpPr/>
          <p:nvPr/>
        </p:nvSpPr>
        <p:spPr>
          <a:xfrm>
            <a:off x="621792" y="4882896"/>
            <a:ext cx="3310128" cy="658368"/>
          </a:xfrm>
          <a:prstGeom prst="roundRect">
            <a:avLst/>
          </a:prstGeom>
          <a:solidFill>
            <a:srgbClr val="FBEAEC"/>
          </a:solidFill>
          <a:ln w="1524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68096" y="5001768"/>
            <a:ext cx="3017520" cy="164592"/>
          </a:xfrm>
          <a:prstGeom prst="rect">
            <a:avLst/>
          </a:prstGeom>
          <a:noFill/>
        </p:spPr>
        <p:txBody>
          <a:bodyPr wrap="square" lIns="18288" rIns="18288" tIns="18288" bIns="18288" anchor="t">
            <a:spAutoFit/>
          </a:bodyPr>
          <a:lstStyle/>
          <a:p>
            <a:pPr algn="ctr"/>
            <a:r>
              <a:rPr sz="850" b="1" lang="en-US">
                <a:solidFill>
                  <a:srgbClr val="C40D1E"/>
                </a:solidFill>
                <a:latin typeface="Arial"/>
              </a:rPr>
              <a:t>RUN CAPACITY</a:t>
            </a:r>
          </a:p>
        </p:txBody>
      </p:sp>
      <p:sp>
        <p:nvSpPr>
          <p:cNvPr id="50" name="TextBox 49"/>
          <p:cNvSpPr txBox="1"/>
          <p:nvPr/>
        </p:nvSpPr>
        <p:spPr>
          <a:xfrm>
            <a:off x="768096" y="5230368"/>
            <a:ext cx="3017520" cy="182880"/>
          </a:xfrm>
          <a:prstGeom prst="rect">
            <a:avLst/>
          </a:prstGeom>
          <a:noFill/>
        </p:spPr>
        <p:txBody>
          <a:bodyPr wrap="square" lIns="18288" rIns="18288" tIns="18288" bIns="18288" anchor="t">
            <a:spAutoFit/>
          </a:bodyPr>
          <a:lstStyle/>
          <a:p>
            <a:pPr algn="ctr"/>
            <a:r>
              <a:rPr sz="850" b="1" lang="en-US">
                <a:solidFill>
                  <a:srgbClr val="434343"/>
                </a:solidFill>
                <a:latin typeface="Arial"/>
              </a:rPr>
              <a:t>Tier 1: at most 8 active TEEs</a:t>
            </a:r>
          </a:p>
        </p:txBody>
      </p:sp>
      <p:sp>
        <p:nvSpPr>
          <p:cNvPr id="51" name="Rounded Rectangle 50"/>
          <p:cNvSpPr/>
          <p:nvPr/>
        </p:nvSpPr>
        <p:spPr>
          <a:xfrm>
            <a:off x="4151376" y="4882896"/>
            <a:ext cx="3310128" cy="658368"/>
          </a:xfrm>
          <a:prstGeom prst="roundRect">
            <a:avLst/>
          </a:prstGeom>
          <a:solidFill>
            <a:srgbClr val="EAF6ED"/>
          </a:solidFill>
          <a:ln w="1524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297680" y="5001768"/>
            <a:ext cx="3017520" cy="164592"/>
          </a:xfrm>
          <a:prstGeom prst="rect">
            <a:avLst/>
          </a:prstGeom>
          <a:noFill/>
        </p:spPr>
        <p:txBody>
          <a:bodyPr wrap="square" lIns="18288" rIns="18288" tIns="18288" bIns="18288" anchor="t">
            <a:spAutoFit/>
          </a:bodyPr>
          <a:lstStyle/>
          <a:p>
            <a:pPr algn="ctr"/>
            <a:r>
              <a:rPr sz="850" b="1" lang="en-US">
                <a:solidFill>
                  <a:srgbClr val="2F8F46"/>
                </a:solidFill>
                <a:latin typeface="Arial"/>
              </a:rPr>
              <a:t>TRAINING</a:t>
            </a:r>
          </a:p>
        </p:txBody>
      </p:sp>
      <p:sp>
        <p:nvSpPr>
          <p:cNvPr id="53" name="TextBox 52"/>
          <p:cNvSpPr txBox="1"/>
          <p:nvPr/>
        </p:nvSpPr>
        <p:spPr>
          <a:xfrm>
            <a:off x="4297680" y="5230368"/>
            <a:ext cx="3017520" cy="182880"/>
          </a:xfrm>
          <a:prstGeom prst="rect">
            <a:avLst/>
          </a:prstGeom>
          <a:noFill/>
        </p:spPr>
        <p:txBody>
          <a:bodyPr wrap="square" lIns="18288" rIns="18288" tIns="18288" bIns="18288" anchor="t">
            <a:spAutoFit/>
          </a:bodyPr>
          <a:lstStyle/>
          <a:p>
            <a:pPr algn="ctr"/>
            <a:r>
              <a:rPr sz="850" b="1" lang="en-US">
                <a:solidFill>
                  <a:srgbClr val="434343"/>
                </a:solidFill>
                <a:latin typeface="Arial"/>
              </a:rPr>
              <a:t>6 workers · 6 × 13,078 = 78,468 samples</a:t>
            </a:r>
          </a:p>
        </p:txBody>
      </p:sp>
      <p:sp>
        <p:nvSpPr>
          <p:cNvPr id="54" name="Rounded Rectangle 53"/>
          <p:cNvSpPr/>
          <p:nvPr/>
        </p:nvSpPr>
        <p:spPr>
          <a:xfrm>
            <a:off x="7680960" y="4882896"/>
            <a:ext cx="3310128" cy="658368"/>
          </a:xfrm>
          <a:prstGeom prst="roundRect">
            <a:avLst/>
          </a:prstGeom>
          <a:solidFill>
            <a:srgbClr val="F3EBF9"/>
          </a:solidFill>
          <a:ln w="15240">
            <a:solidFill>
              <a:srgbClr val="7A3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827264" y="5001768"/>
            <a:ext cx="3017520" cy="164592"/>
          </a:xfrm>
          <a:prstGeom prst="rect">
            <a:avLst/>
          </a:prstGeom>
          <a:noFill/>
        </p:spPr>
        <p:txBody>
          <a:bodyPr wrap="square" lIns="18288" rIns="18288" tIns="18288" bIns="18288" anchor="t">
            <a:spAutoFit/>
          </a:bodyPr>
          <a:lstStyle/>
          <a:p>
            <a:pPr algn="ctr"/>
            <a:r>
              <a:rPr sz="850" b="1" lang="en-US">
                <a:solidFill>
                  <a:srgbClr val="7A35B5"/>
                </a:solidFill>
                <a:latin typeface="Arial"/>
              </a:rPr>
              <a:t>INFRASTRUCTURE</a:t>
            </a:r>
          </a:p>
        </p:txBody>
      </p:sp>
      <p:sp>
        <p:nvSpPr>
          <p:cNvPr id="56" name="TextBox 55"/>
          <p:cNvSpPr txBox="1"/>
          <p:nvPr/>
        </p:nvSpPr>
        <p:spPr>
          <a:xfrm>
            <a:off x="7827264" y="5230368"/>
            <a:ext cx="3017520" cy="182880"/>
          </a:xfrm>
          <a:prstGeom prst="rect">
            <a:avLst/>
          </a:prstGeom>
          <a:noFill/>
        </p:spPr>
        <p:txBody>
          <a:bodyPr wrap="square" lIns="18288" rIns="18288" tIns="18288" bIns="18288" anchor="t">
            <a:spAutoFit/>
          </a:bodyPr>
          <a:lstStyle/>
          <a:p>
            <a:pPr algn="ctr"/>
            <a:r>
              <a:rPr sz="850" b="1" lang="en-US">
                <a:solidFill>
                  <a:srgbClr val="434343"/>
                </a:solidFill>
                <a:latin typeface="Arial"/>
              </a:rPr>
              <a:t>2 CVMs · contract/control runtime + Ollama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name="VITA-FL implemented test evaluation">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CI checks and external system tests</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EVALUATION · CI COVERAGE AND EXTERNAL TEST CONFIGURATION</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26</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Rectangle 12"/>
          <p:cNvSpPr/>
          <p:nvPr/>
        </p:nvSpPr>
        <p:spPr>
          <a:xfrm>
            <a:off x="640080" y="1408176"/>
            <a:ext cx="5312664" cy="3886200"/>
          </a:xfrm>
          <a:prstGeom prst="rect">
            <a:avLst/>
          </a:prstGeom>
          <a:solidFill>
            <a:srgbClr val="FFFFFF"/>
          </a:solidFill>
          <a:ln w="1016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26480" y="1408176"/>
            <a:ext cx="5422392" cy="3886200"/>
          </a:xfrm>
          <a:prstGeom prst="rect">
            <a:avLst/>
          </a:prstGeom>
          <a:solidFill>
            <a:srgbClr val="FFFFFF"/>
          </a:solidFill>
          <a:ln w="1016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1408176"/>
            <a:ext cx="5312664" cy="640080"/>
          </a:xfrm>
          <a:prstGeom prst="rect">
            <a:avLst/>
          </a:prstGeom>
          <a:solidFill>
            <a:srgbClr val="EDF4FA"/>
          </a:solidFill>
          <a:ln w="10160">
            <a:solidFill>
              <a:srgbClr val="ED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26480" y="1408176"/>
            <a:ext cx="5422392" cy="640080"/>
          </a:xfrm>
          <a:prstGeom prst="rect">
            <a:avLst/>
          </a:prstGeom>
          <a:solidFill>
            <a:srgbClr val="F3EEF8"/>
          </a:solidFill>
          <a:ln w="10160">
            <a:solidFill>
              <a:srgbClr val="F3EE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I/external scope: CI · 878 definitions"/>
          <p:cNvSpPr txBox="1"/>
          <p:nvPr/>
        </p:nvSpPr>
        <p:spPr>
          <a:xfrm>
            <a:off x="832104" y="1490472"/>
            <a:ext cx="4928616" cy="329184"/>
          </a:xfrm>
          <a:prstGeom prst="rect">
            <a:avLst/>
          </a:prstGeom>
          <a:noFill/>
        </p:spPr>
        <p:txBody>
          <a:bodyPr wrap="square" lIns="0" rIns="0" tIns="0" bIns="0" anchor="ctr">
            <a:spAutoFit/>
          </a:bodyPr>
          <a:lstStyle/>
          <a:p>
            <a:pPr algn="l"/>
            <a:r>
              <a:rPr sz="2100" b="1" lang="en-US">
                <a:solidFill>
                  <a:srgbClr val="1764A1"/>
                </a:solidFill>
                <a:latin typeface="Arial"/>
              </a:rPr>
              <a:t>CI · 878 definitions</a:t>
            </a:r>
          </a:p>
        </p:txBody>
      </p:sp>
      <p:sp>
        <p:nvSpPr>
          <p:cNvPr id="18" name="CI/external scope: Unit / component / integration · GitHub Actions"/>
          <p:cNvSpPr txBox="1"/>
          <p:nvPr/>
        </p:nvSpPr>
        <p:spPr>
          <a:xfrm>
            <a:off x="832104" y="1865376"/>
            <a:ext cx="4928616" cy="219456"/>
          </a:xfrm>
          <a:prstGeom prst="rect">
            <a:avLst/>
          </a:prstGeom>
          <a:noFill/>
        </p:spPr>
        <p:txBody>
          <a:bodyPr wrap="square" lIns="0" rIns="0" tIns="0" bIns="0" anchor="ctr">
            <a:spAutoFit/>
          </a:bodyPr>
          <a:lstStyle/>
          <a:p>
            <a:pPr algn="l"/>
            <a:r>
              <a:rPr sz="1130" b="0" lang="en-US">
                <a:solidFill>
                  <a:srgbClr val="1764A1"/>
                </a:solidFill>
                <a:latin typeface="Arial"/>
              </a:rPr>
              <a:t>Unit / component / integration · GitHub Actions</a:t>
            </a:r>
          </a:p>
        </p:txBody>
      </p:sp>
      <p:sp>
        <p:nvSpPr>
          <p:cNvPr id="19" name="CI/external scope: External · 8 modes + audit"/>
          <p:cNvSpPr txBox="1"/>
          <p:nvPr/>
        </p:nvSpPr>
        <p:spPr>
          <a:xfrm>
            <a:off x="6318504" y="1490472"/>
            <a:ext cx="5029200" cy="329184"/>
          </a:xfrm>
          <a:prstGeom prst="rect">
            <a:avLst/>
          </a:prstGeom>
          <a:noFill/>
        </p:spPr>
        <p:txBody>
          <a:bodyPr wrap="square" lIns="0" rIns="0" tIns="0" bIns="0" anchor="ctr">
            <a:spAutoFit/>
          </a:bodyPr>
          <a:lstStyle/>
          <a:p>
            <a:pPr algn="l"/>
            <a:r>
              <a:rPr sz="2100" b="1" lang="en-US">
                <a:solidFill>
                  <a:srgbClr val="7446A6"/>
                </a:solidFill>
                <a:latin typeface="Arial"/>
              </a:rPr>
              <a:t>External · 8 modes + audit</a:t>
            </a:r>
          </a:p>
        </p:txBody>
      </p:sp>
      <p:sp>
        <p:nvSpPr>
          <p:cNvPr id="20" name="CI/external scope: SMEW → SMA → vita-fl-td · deployed VITA-FL in Phala"/>
          <p:cNvSpPr txBox="1"/>
          <p:nvPr/>
        </p:nvSpPr>
        <p:spPr>
          <a:xfrm>
            <a:off x="6318504" y="1865376"/>
            <a:ext cx="5029200" cy="219456"/>
          </a:xfrm>
          <a:prstGeom prst="rect">
            <a:avLst/>
          </a:prstGeom>
          <a:noFill/>
        </p:spPr>
        <p:txBody>
          <a:bodyPr wrap="square" lIns="0" rIns="0" tIns="0" bIns="0" anchor="ctr">
            <a:spAutoFit/>
          </a:bodyPr>
          <a:lstStyle/>
          <a:p>
            <a:pPr algn="l"/>
            <a:r>
              <a:rPr sz="1130" b="0" lang="en-US">
                <a:solidFill>
                  <a:srgbClr val="7446A6"/>
                </a:solidFill>
                <a:latin typeface="Arial"/>
              </a:rPr>
              <a:t>SMEW → SMA → vita-fl-td · deployed VITA-FL in Phala</a:t>
            </a:r>
          </a:p>
        </p:txBody>
      </p:sp>
      <p:sp>
        <p:nvSpPr>
          <p:cNvPr id="21" name="CI/external scope: Learning &amp; model integrity"/>
          <p:cNvSpPr txBox="1"/>
          <p:nvPr/>
        </p:nvSpPr>
        <p:spPr>
          <a:xfrm>
            <a:off x="832104" y="2148840"/>
            <a:ext cx="4215384" cy="246888"/>
          </a:xfrm>
          <a:prstGeom prst="rect">
            <a:avLst/>
          </a:prstGeom>
          <a:noFill/>
        </p:spPr>
        <p:txBody>
          <a:bodyPr wrap="square" lIns="0" rIns="0" tIns="0" bIns="0" anchor="ctr">
            <a:spAutoFit/>
          </a:bodyPr>
          <a:lstStyle/>
          <a:p>
            <a:pPr algn="l"/>
            <a:r>
              <a:rPr sz="1400" b="1" lang="en-US">
                <a:solidFill>
                  <a:srgbClr val="263440"/>
                </a:solidFill>
                <a:latin typeface="Arial"/>
              </a:rPr>
              <a:t>Learning &amp; model integrity</a:t>
            </a:r>
          </a:p>
        </p:txBody>
      </p:sp>
      <p:sp>
        <p:nvSpPr>
          <p:cNvPr id="22" name="CI/external scope: Data splits · aggregation math · model bindings"/>
          <p:cNvSpPr txBox="1"/>
          <p:nvPr/>
        </p:nvSpPr>
        <p:spPr>
          <a:xfrm>
            <a:off x="832104" y="2382012"/>
            <a:ext cx="4462272" cy="210312"/>
          </a:xfrm>
          <a:prstGeom prst="rect">
            <a:avLst/>
          </a:prstGeom>
          <a:noFill/>
        </p:spPr>
        <p:txBody>
          <a:bodyPr wrap="square" lIns="0" rIns="0" tIns="0" bIns="0" anchor="ctr">
            <a:spAutoFit/>
          </a:bodyPr>
          <a:lstStyle/>
          <a:p>
            <a:pPr algn="l"/>
            <a:r>
              <a:rPr sz="1120" b="0" lang="en-US">
                <a:solidFill>
                  <a:srgbClr val="65737D"/>
                </a:solidFill>
                <a:latin typeface="Arial"/>
              </a:rPr>
              <a:t>Data splits · aggregation math · model bindings</a:t>
            </a:r>
          </a:p>
        </p:txBody>
      </p:sp>
      <p:sp>
        <p:nvSpPr>
          <p:cNvPr id="23" name="CI/external scope: 78"/>
          <p:cNvSpPr txBox="1"/>
          <p:nvPr/>
        </p:nvSpPr>
        <p:spPr>
          <a:xfrm>
            <a:off x="5230368" y="2185416"/>
            <a:ext cx="502920" cy="310896"/>
          </a:xfrm>
          <a:prstGeom prst="rect">
            <a:avLst/>
          </a:prstGeom>
          <a:noFill/>
        </p:spPr>
        <p:txBody>
          <a:bodyPr wrap="square" lIns="0" rIns="0" tIns="0" bIns="0" anchor="ctr">
            <a:spAutoFit/>
          </a:bodyPr>
          <a:lstStyle/>
          <a:p>
            <a:pPr algn="ctr"/>
            <a:r>
              <a:rPr sz="1800" b="1" lang="en-US">
                <a:solidFill>
                  <a:srgbClr val="1764A1"/>
                </a:solidFill>
                <a:latin typeface="Arial"/>
              </a:rPr>
              <a:t>78</a:t>
            </a:r>
          </a:p>
        </p:txBody>
      </p:sp>
      <p:cxnSp>
        <p:nvCxnSpPr>
          <p:cNvPr id="24" name="Connector 23"/>
          <p:cNvCxnSpPr/>
          <p:nvPr/>
        </p:nvCxnSpPr>
        <p:spPr>
          <a:xfrm>
            <a:off x="832104" y="2583180"/>
            <a:ext cx="4901184" cy="0"/>
          </a:xfrm>
          <a:prstGeom prst="line">
            <a:avLst/>
          </a:prstGeom>
          <a:ln w="8890">
            <a:solidFill>
              <a:srgbClr val="DCE3E8"/>
            </a:solidFill>
          </a:ln>
        </p:spPr>
        <p:style>
          <a:lnRef idx="2">
            <a:schemeClr val="accent1"/>
          </a:lnRef>
          <a:fillRef idx="0">
            <a:schemeClr val="accent1"/>
          </a:fillRef>
          <a:effectRef idx="1">
            <a:schemeClr val="accent1"/>
          </a:effectRef>
          <a:fontRef idx="minor">
            <a:schemeClr val="tx1"/>
          </a:fontRef>
        </p:style>
      </p:cxnSp>
      <p:sp>
        <p:nvSpPr>
          <p:cNvPr id="25" name="CI/external scope: Round control &amp; recovery"/>
          <p:cNvSpPr txBox="1"/>
          <p:nvPr/>
        </p:nvSpPr>
        <p:spPr>
          <a:xfrm>
            <a:off x="832104" y="2587752"/>
            <a:ext cx="4215384" cy="246888"/>
          </a:xfrm>
          <a:prstGeom prst="rect">
            <a:avLst/>
          </a:prstGeom>
          <a:noFill/>
        </p:spPr>
        <p:txBody>
          <a:bodyPr wrap="square" lIns="0" rIns="0" tIns="0" bIns="0" anchor="ctr">
            <a:spAutoFit/>
          </a:bodyPr>
          <a:lstStyle/>
          <a:p>
            <a:pPr algn="l"/>
            <a:r>
              <a:rPr sz="1400" b="1" lang="en-US">
                <a:solidFill>
                  <a:srgbClr val="263440"/>
                </a:solidFill>
                <a:latin typeface="Arial"/>
              </a:rPr>
              <a:t>Round control &amp; recovery</a:t>
            </a:r>
          </a:p>
        </p:txBody>
      </p:sp>
      <p:sp>
        <p:nvSpPr>
          <p:cNvPr id="26" name="CI/external scope: Local timer · input closure · quorum · publication"/>
          <p:cNvSpPr txBox="1"/>
          <p:nvPr/>
        </p:nvSpPr>
        <p:spPr>
          <a:xfrm>
            <a:off x="832104" y="2820924"/>
            <a:ext cx="4462272" cy="210312"/>
          </a:xfrm>
          <a:prstGeom prst="rect">
            <a:avLst/>
          </a:prstGeom>
          <a:noFill/>
        </p:spPr>
        <p:txBody>
          <a:bodyPr wrap="square" lIns="0" rIns="0" tIns="0" bIns="0" anchor="ctr">
            <a:spAutoFit/>
          </a:bodyPr>
          <a:lstStyle/>
          <a:p>
            <a:pPr algn="l"/>
            <a:r>
              <a:rPr sz="1120" b="0" lang="en-US">
                <a:solidFill>
                  <a:srgbClr val="65737D"/>
                </a:solidFill>
                <a:latin typeface="Arial"/>
              </a:rPr>
              <a:t>Local timer · input closure · quorum · publication</a:t>
            </a:r>
          </a:p>
        </p:txBody>
      </p:sp>
      <p:sp>
        <p:nvSpPr>
          <p:cNvPr id="27" name="CI/external scope: 117"/>
          <p:cNvSpPr txBox="1"/>
          <p:nvPr/>
        </p:nvSpPr>
        <p:spPr>
          <a:xfrm>
            <a:off x="5230368" y="2624328"/>
            <a:ext cx="502920" cy="310896"/>
          </a:xfrm>
          <a:prstGeom prst="rect">
            <a:avLst/>
          </a:prstGeom>
          <a:noFill/>
        </p:spPr>
        <p:txBody>
          <a:bodyPr wrap="square" lIns="0" rIns="0" tIns="0" bIns="0" anchor="ctr">
            <a:spAutoFit/>
          </a:bodyPr>
          <a:lstStyle/>
          <a:p>
            <a:pPr algn="ctr"/>
            <a:r>
              <a:rPr sz="1800" b="1" lang="en-US">
                <a:solidFill>
                  <a:srgbClr val="1764A1"/>
                </a:solidFill>
                <a:latin typeface="Arial"/>
              </a:rPr>
              <a:t>117</a:t>
            </a:r>
          </a:p>
        </p:txBody>
      </p:sp>
      <p:cxnSp>
        <p:nvCxnSpPr>
          <p:cNvPr id="28" name="Connector 27"/>
          <p:cNvCxnSpPr/>
          <p:nvPr/>
        </p:nvCxnSpPr>
        <p:spPr>
          <a:xfrm>
            <a:off x="832104" y="3022092"/>
            <a:ext cx="4901184" cy="0"/>
          </a:xfrm>
          <a:prstGeom prst="line">
            <a:avLst/>
          </a:prstGeom>
          <a:ln w="8890">
            <a:solidFill>
              <a:srgbClr val="DCE3E8"/>
            </a:solidFill>
          </a:ln>
        </p:spPr>
        <p:style>
          <a:lnRef idx="2">
            <a:schemeClr val="accent1"/>
          </a:lnRef>
          <a:fillRef idx="0">
            <a:schemeClr val="accent1"/>
          </a:fillRef>
          <a:effectRef idx="1">
            <a:schemeClr val="accent1"/>
          </a:effectRef>
          <a:fontRef idx="minor">
            <a:schemeClr val="tx1"/>
          </a:fontRef>
        </p:style>
      </p:cxnSp>
      <p:sp>
        <p:nvSpPr>
          <p:cNvPr id="29" name="CI/external scope: Identity &amp; secure transport"/>
          <p:cNvSpPr txBox="1"/>
          <p:nvPr/>
        </p:nvSpPr>
        <p:spPr>
          <a:xfrm>
            <a:off x="832104" y="3026664"/>
            <a:ext cx="4215384" cy="246888"/>
          </a:xfrm>
          <a:prstGeom prst="rect">
            <a:avLst/>
          </a:prstGeom>
          <a:noFill/>
        </p:spPr>
        <p:txBody>
          <a:bodyPr wrap="square" lIns="0" rIns="0" tIns="0" bIns="0" anchor="ctr">
            <a:spAutoFit/>
          </a:bodyPr>
          <a:lstStyle/>
          <a:p>
            <a:pPr algn="l"/>
            <a:r>
              <a:rPr sz="1400" b="1" lang="en-US">
                <a:solidFill>
                  <a:srgbClr val="263440"/>
                </a:solidFill>
                <a:latin typeface="Arial"/>
              </a:rPr>
              <a:t>Identity &amp; secure transport</a:t>
            </a:r>
          </a:p>
        </p:txBody>
      </p:sp>
      <p:sp>
        <p:nvSpPr>
          <p:cNvPr id="30" name="CI/external scope: Admission · quotes · keys · TLS · authorization"/>
          <p:cNvSpPr txBox="1"/>
          <p:nvPr/>
        </p:nvSpPr>
        <p:spPr>
          <a:xfrm>
            <a:off x="832104" y="3259836"/>
            <a:ext cx="4462272" cy="210312"/>
          </a:xfrm>
          <a:prstGeom prst="rect">
            <a:avLst/>
          </a:prstGeom>
          <a:noFill/>
        </p:spPr>
        <p:txBody>
          <a:bodyPr wrap="square" lIns="0" rIns="0" tIns="0" bIns="0" anchor="ctr">
            <a:spAutoFit/>
          </a:bodyPr>
          <a:lstStyle/>
          <a:p>
            <a:pPr algn="l"/>
            <a:r>
              <a:rPr sz="1120" b="0" lang="en-US">
                <a:solidFill>
                  <a:srgbClr val="65737D"/>
                </a:solidFill>
                <a:latin typeface="Arial"/>
              </a:rPr>
              <a:t>Admission · quotes · keys · TLS · authorization</a:t>
            </a:r>
          </a:p>
        </p:txBody>
      </p:sp>
      <p:sp>
        <p:nvSpPr>
          <p:cNvPr id="31" name="CI/external scope: 240"/>
          <p:cNvSpPr txBox="1"/>
          <p:nvPr/>
        </p:nvSpPr>
        <p:spPr>
          <a:xfrm>
            <a:off x="5230368" y="3063240"/>
            <a:ext cx="502920" cy="310896"/>
          </a:xfrm>
          <a:prstGeom prst="rect">
            <a:avLst/>
          </a:prstGeom>
          <a:noFill/>
        </p:spPr>
        <p:txBody>
          <a:bodyPr wrap="square" lIns="0" rIns="0" tIns="0" bIns="0" anchor="ctr">
            <a:spAutoFit/>
          </a:bodyPr>
          <a:lstStyle/>
          <a:p>
            <a:pPr algn="ctr"/>
            <a:r>
              <a:rPr sz="1800" b="1" lang="en-US">
                <a:solidFill>
                  <a:srgbClr val="1764A1"/>
                </a:solidFill>
                <a:latin typeface="Arial"/>
              </a:rPr>
              <a:t>240</a:t>
            </a:r>
          </a:p>
        </p:txBody>
      </p:sp>
      <p:cxnSp>
        <p:nvCxnSpPr>
          <p:cNvPr id="32" name="Connector 31"/>
          <p:cNvCxnSpPr/>
          <p:nvPr/>
        </p:nvCxnSpPr>
        <p:spPr>
          <a:xfrm>
            <a:off x="832104" y="3461004"/>
            <a:ext cx="4901184" cy="0"/>
          </a:xfrm>
          <a:prstGeom prst="line">
            <a:avLst/>
          </a:prstGeom>
          <a:ln w="8890">
            <a:solidFill>
              <a:srgbClr val="DCE3E8"/>
            </a:solidFill>
          </a:ln>
        </p:spPr>
        <p:style>
          <a:lnRef idx="2">
            <a:schemeClr val="accent1"/>
          </a:lnRef>
          <a:fillRef idx="0">
            <a:schemeClr val="accent1"/>
          </a:fillRef>
          <a:effectRef idx="1">
            <a:schemeClr val="accent1"/>
          </a:effectRef>
          <a:fontRef idx="minor">
            <a:schemeClr val="tx1"/>
          </a:fontRef>
        </p:style>
      </p:cxnSp>
      <p:sp>
        <p:nvSpPr>
          <p:cNvPr id="33" name="CI/external scope: Inference &amp; agent workflow"/>
          <p:cNvSpPr txBox="1"/>
          <p:nvPr/>
        </p:nvSpPr>
        <p:spPr>
          <a:xfrm>
            <a:off x="832104" y="3465576"/>
            <a:ext cx="4215384" cy="246888"/>
          </a:xfrm>
          <a:prstGeom prst="rect">
            <a:avLst/>
          </a:prstGeom>
          <a:noFill/>
        </p:spPr>
        <p:txBody>
          <a:bodyPr wrap="square" lIns="0" rIns="0" tIns="0" bIns="0" anchor="ctr">
            <a:spAutoFit/>
          </a:bodyPr>
          <a:lstStyle/>
          <a:p>
            <a:pPr algn="l"/>
            <a:r>
              <a:rPr sz="1400" b="1" lang="en-US">
                <a:solidFill>
                  <a:srgbClr val="263440"/>
                </a:solidFill>
                <a:latin typeface="Arial"/>
              </a:rPr>
              <a:t>Inference &amp; agent workflow</a:t>
            </a:r>
          </a:p>
        </p:txBody>
      </p:sp>
      <p:sp>
        <p:nvSpPr>
          <p:cNvPr id="34" name="CI/external scope: MCP tools · job ownership · TEE/ZK workflow"/>
          <p:cNvSpPr txBox="1"/>
          <p:nvPr/>
        </p:nvSpPr>
        <p:spPr>
          <a:xfrm>
            <a:off x="832104" y="3698748"/>
            <a:ext cx="4462272" cy="210312"/>
          </a:xfrm>
          <a:prstGeom prst="rect">
            <a:avLst/>
          </a:prstGeom>
          <a:noFill/>
        </p:spPr>
        <p:txBody>
          <a:bodyPr wrap="square" lIns="0" rIns="0" tIns="0" bIns="0" anchor="ctr">
            <a:spAutoFit/>
          </a:bodyPr>
          <a:lstStyle/>
          <a:p>
            <a:pPr algn="l"/>
            <a:r>
              <a:rPr sz="1120" b="0" lang="en-US">
                <a:solidFill>
                  <a:srgbClr val="65737D"/>
                </a:solidFill>
                <a:latin typeface="Arial"/>
              </a:rPr>
              <a:t>MCP tools · job ownership · TEE/ZK workflow</a:t>
            </a:r>
          </a:p>
        </p:txBody>
      </p:sp>
      <p:sp>
        <p:nvSpPr>
          <p:cNvPr id="35" name="CI/external scope: 49"/>
          <p:cNvSpPr txBox="1"/>
          <p:nvPr/>
        </p:nvSpPr>
        <p:spPr>
          <a:xfrm>
            <a:off x="5230368" y="3502152"/>
            <a:ext cx="502920" cy="310896"/>
          </a:xfrm>
          <a:prstGeom prst="rect">
            <a:avLst/>
          </a:prstGeom>
          <a:noFill/>
        </p:spPr>
        <p:txBody>
          <a:bodyPr wrap="square" lIns="0" rIns="0" tIns="0" bIns="0" anchor="ctr">
            <a:spAutoFit/>
          </a:bodyPr>
          <a:lstStyle/>
          <a:p>
            <a:pPr algn="ctr"/>
            <a:r>
              <a:rPr sz="1800" b="1" lang="en-US">
                <a:solidFill>
                  <a:srgbClr val="1764A1"/>
                </a:solidFill>
                <a:latin typeface="Arial"/>
              </a:rPr>
              <a:t>49</a:t>
            </a:r>
          </a:p>
        </p:txBody>
      </p:sp>
      <p:cxnSp>
        <p:nvCxnSpPr>
          <p:cNvPr id="36" name="Connector 35"/>
          <p:cNvCxnSpPr/>
          <p:nvPr/>
        </p:nvCxnSpPr>
        <p:spPr>
          <a:xfrm>
            <a:off x="832104" y="3899915"/>
            <a:ext cx="4901184" cy="0"/>
          </a:xfrm>
          <a:prstGeom prst="line">
            <a:avLst/>
          </a:prstGeom>
          <a:ln w="8890">
            <a:solidFill>
              <a:srgbClr val="DCE3E8"/>
            </a:solidFill>
          </a:ln>
        </p:spPr>
        <p:style>
          <a:lnRef idx="2">
            <a:schemeClr val="accent1"/>
          </a:lnRef>
          <a:fillRef idx="0">
            <a:schemeClr val="accent1"/>
          </a:fillRef>
          <a:effectRef idx="1">
            <a:schemeClr val="accent1"/>
          </a:effectRef>
          <a:fontRef idx="minor">
            <a:schemeClr val="tx1"/>
          </a:fontRef>
        </p:style>
      </p:cxnSp>
      <p:sp>
        <p:nvSpPr>
          <p:cNvPr id="37" name="CI/external scope: Receipts &amp; provenance"/>
          <p:cNvSpPr txBox="1"/>
          <p:nvPr/>
        </p:nvSpPr>
        <p:spPr>
          <a:xfrm>
            <a:off x="832104" y="3904487"/>
            <a:ext cx="4215384" cy="246888"/>
          </a:xfrm>
          <a:prstGeom prst="rect">
            <a:avLst/>
          </a:prstGeom>
          <a:noFill/>
        </p:spPr>
        <p:txBody>
          <a:bodyPr wrap="square" lIns="0" rIns="0" tIns="0" bIns="0" anchor="ctr">
            <a:spAutoFit/>
          </a:bodyPr>
          <a:lstStyle/>
          <a:p>
            <a:pPr algn="l"/>
            <a:r>
              <a:rPr sz="1400" b="1" lang="en-US">
                <a:solidFill>
                  <a:srgbClr val="263440"/>
                </a:solidFill>
                <a:latin typeface="Arial"/>
              </a:rPr>
              <a:t>Receipts &amp; provenance</a:t>
            </a:r>
          </a:p>
        </p:txBody>
      </p:sp>
      <p:sp>
        <p:nvSpPr>
          <p:cNvPr id="38" name="CI/external scope: AIR / Sello / SCITT · signatures · data provenance"/>
          <p:cNvSpPr txBox="1"/>
          <p:nvPr/>
        </p:nvSpPr>
        <p:spPr>
          <a:xfrm>
            <a:off x="832104" y="4137659"/>
            <a:ext cx="4462272" cy="210312"/>
          </a:xfrm>
          <a:prstGeom prst="rect">
            <a:avLst/>
          </a:prstGeom>
          <a:noFill/>
        </p:spPr>
        <p:txBody>
          <a:bodyPr wrap="square" lIns="0" rIns="0" tIns="0" bIns="0" anchor="ctr">
            <a:spAutoFit/>
          </a:bodyPr>
          <a:lstStyle/>
          <a:p>
            <a:pPr algn="l"/>
            <a:r>
              <a:rPr sz="1120" b="0" lang="en-US">
                <a:solidFill>
                  <a:srgbClr val="65737D"/>
                </a:solidFill>
                <a:latin typeface="Arial"/>
              </a:rPr>
              <a:t>AIR / Sello / SCITT · signatures · data provenance</a:t>
            </a:r>
          </a:p>
        </p:txBody>
      </p:sp>
      <p:sp>
        <p:nvSpPr>
          <p:cNvPr id="39" name="CI/external scope: 64"/>
          <p:cNvSpPr txBox="1"/>
          <p:nvPr/>
        </p:nvSpPr>
        <p:spPr>
          <a:xfrm>
            <a:off x="5230368" y="3941063"/>
            <a:ext cx="502920" cy="310896"/>
          </a:xfrm>
          <a:prstGeom prst="rect">
            <a:avLst/>
          </a:prstGeom>
          <a:noFill/>
        </p:spPr>
        <p:txBody>
          <a:bodyPr wrap="square" lIns="0" rIns="0" tIns="0" bIns="0" anchor="ctr">
            <a:spAutoFit/>
          </a:bodyPr>
          <a:lstStyle/>
          <a:p>
            <a:pPr algn="ctr"/>
            <a:r>
              <a:rPr sz="1800" b="1" lang="en-US">
                <a:solidFill>
                  <a:srgbClr val="1764A1"/>
                </a:solidFill>
                <a:latin typeface="Arial"/>
              </a:rPr>
              <a:t>64</a:t>
            </a:r>
          </a:p>
        </p:txBody>
      </p:sp>
      <p:cxnSp>
        <p:nvCxnSpPr>
          <p:cNvPr id="40" name="Connector 39"/>
          <p:cNvCxnSpPr/>
          <p:nvPr/>
        </p:nvCxnSpPr>
        <p:spPr>
          <a:xfrm>
            <a:off x="832104" y="4338827"/>
            <a:ext cx="4901184" cy="0"/>
          </a:xfrm>
          <a:prstGeom prst="line">
            <a:avLst/>
          </a:prstGeom>
          <a:ln w="8890">
            <a:solidFill>
              <a:srgbClr val="DCE3E8"/>
            </a:solidFill>
          </a:ln>
        </p:spPr>
        <p:style>
          <a:lnRef idx="2">
            <a:schemeClr val="accent1"/>
          </a:lnRef>
          <a:fillRef idx="0">
            <a:schemeClr val="accent1"/>
          </a:fillRef>
          <a:effectRef idx="1">
            <a:schemeClr val="accent1"/>
          </a:effectRef>
          <a:fontRef idx="minor">
            <a:schemeClr val="tx1"/>
          </a:fontRef>
        </p:style>
      </p:cxnSp>
      <p:sp>
        <p:nvSpPr>
          <p:cNvPr id="41" name="CI/external scope: Runtime control &amp; telemetry"/>
          <p:cNvSpPr txBox="1"/>
          <p:nvPr/>
        </p:nvSpPr>
        <p:spPr>
          <a:xfrm>
            <a:off x="832104" y="4343400"/>
            <a:ext cx="4215384" cy="246888"/>
          </a:xfrm>
          <a:prstGeom prst="rect">
            <a:avLst/>
          </a:prstGeom>
          <a:noFill/>
        </p:spPr>
        <p:txBody>
          <a:bodyPr wrap="square" lIns="0" rIns="0" tIns="0" bIns="0" anchor="ctr">
            <a:spAutoFit/>
          </a:bodyPr>
          <a:lstStyle/>
          <a:p>
            <a:pPr algn="l"/>
            <a:r>
              <a:rPr sz="1400" b="1" lang="en-US">
                <a:solidFill>
                  <a:srgbClr val="263440"/>
                </a:solidFill>
                <a:latin typeface="Arial"/>
              </a:rPr>
              <a:t>Runtime control &amp; telemetry</a:t>
            </a:r>
          </a:p>
        </p:txBody>
      </p:sp>
      <p:sp>
        <p:nvSpPr>
          <p:cNvPr id="42" name="CI/external scope: Configuration · upload gates · worker telemetry"/>
          <p:cNvSpPr txBox="1"/>
          <p:nvPr/>
        </p:nvSpPr>
        <p:spPr>
          <a:xfrm>
            <a:off x="832104" y="4576572"/>
            <a:ext cx="4462272" cy="210312"/>
          </a:xfrm>
          <a:prstGeom prst="rect">
            <a:avLst/>
          </a:prstGeom>
          <a:noFill/>
        </p:spPr>
        <p:txBody>
          <a:bodyPr wrap="square" lIns="0" rIns="0" tIns="0" bIns="0" anchor="ctr">
            <a:spAutoFit/>
          </a:bodyPr>
          <a:lstStyle/>
          <a:p>
            <a:pPr algn="l"/>
            <a:r>
              <a:rPr sz="1120" b="0" lang="en-US">
                <a:solidFill>
                  <a:srgbClr val="65737D"/>
                </a:solidFill>
                <a:latin typeface="Arial"/>
              </a:rPr>
              <a:t>Configuration · upload gates · worker telemetry</a:t>
            </a:r>
          </a:p>
        </p:txBody>
      </p:sp>
      <p:sp>
        <p:nvSpPr>
          <p:cNvPr id="43" name="CI/external scope: 107"/>
          <p:cNvSpPr txBox="1"/>
          <p:nvPr/>
        </p:nvSpPr>
        <p:spPr>
          <a:xfrm>
            <a:off x="5230368" y="4379976"/>
            <a:ext cx="502920" cy="310896"/>
          </a:xfrm>
          <a:prstGeom prst="rect">
            <a:avLst/>
          </a:prstGeom>
          <a:noFill/>
        </p:spPr>
        <p:txBody>
          <a:bodyPr wrap="square" lIns="0" rIns="0" tIns="0" bIns="0" anchor="ctr">
            <a:spAutoFit/>
          </a:bodyPr>
          <a:lstStyle/>
          <a:p>
            <a:pPr algn="ctr"/>
            <a:r>
              <a:rPr sz="1800" b="1" lang="en-US">
                <a:solidFill>
                  <a:srgbClr val="1764A1"/>
                </a:solidFill>
                <a:latin typeface="Arial"/>
              </a:rPr>
              <a:t>107</a:t>
            </a:r>
          </a:p>
        </p:txBody>
      </p:sp>
      <p:cxnSp>
        <p:nvCxnSpPr>
          <p:cNvPr id="44" name="Connector 43"/>
          <p:cNvCxnSpPr/>
          <p:nvPr/>
        </p:nvCxnSpPr>
        <p:spPr>
          <a:xfrm>
            <a:off x="832104" y="4777740"/>
            <a:ext cx="4901184" cy="0"/>
          </a:xfrm>
          <a:prstGeom prst="line">
            <a:avLst/>
          </a:prstGeom>
          <a:ln w="8890">
            <a:solidFill>
              <a:srgbClr val="DCE3E8"/>
            </a:solidFill>
          </a:ln>
        </p:spPr>
        <p:style>
          <a:lnRef idx="2">
            <a:schemeClr val="accent1"/>
          </a:lnRef>
          <a:fillRef idx="0">
            <a:schemeClr val="accent1"/>
          </a:fillRef>
          <a:effectRef idx="1">
            <a:schemeClr val="accent1"/>
          </a:effectRef>
          <a:fontRef idx="minor">
            <a:schemeClr val="tx1"/>
          </a:fontRef>
        </p:style>
      </p:cxnSp>
      <p:sp>
        <p:nvSpPr>
          <p:cNvPr id="45" name="CI/external scope: Deployment &amp; packaging"/>
          <p:cNvSpPr txBox="1"/>
          <p:nvPr/>
        </p:nvSpPr>
        <p:spPr>
          <a:xfrm>
            <a:off x="832104" y="4782312"/>
            <a:ext cx="4215384" cy="246888"/>
          </a:xfrm>
          <a:prstGeom prst="rect">
            <a:avLst/>
          </a:prstGeom>
          <a:noFill/>
        </p:spPr>
        <p:txBody>
          <a:bodyPr wrap="square" lIns="0" rIns="0" tIns="0" bIns="0" anchor="ctr">
            <a:spAutoFit/>
          </a:bodyPr>
          <a:lstStyle/>
          <a:p>
            <a:pPr algn="l"/>
            <a:r>
              <a:rPr sz="1400" b="1" lang="en-US">
                <a:solidFill>
                  <a:srgbClr val="263440"/>
                </a:solidFill>
                <a:latin typeface="Arial"/>
              </a:rPr>
              <a:t>Deployment &amp; packaging</a:t>
            </a:r>
          </a:p>
        </p:txBody>
      </p:sp>
      <p:sp>
        <p:nvSpPr>
          <p:cNvPr id="46" name="CI/external scope: Image policy · revision order · Docker / Terraform"/>
          <p:cNvSpPr txBox="1"/>
          <p:nvPr/>
        </p:nvSpPr>
        <p:spPr>
          <a:xfrm>
            <a:off x="832104" y="5015484"/>
            <a:ext cx="4462272" cy="210312"/>
          </a:xfrm>
          <a:prstGeom prst="rect">
            <a:avLst/>
          </a:prstGeom>
          <a:noFill/>
        </p:spPr>
        <p:txBody>
          <a:bodyPr wrap="square" lIns="0" rIns="0" tIns="0" bIns="0" anchor="ctr">
            <a:spAutoFit/>
          </a:bodyPr>
          <a:lstStyle/>
          <a:p>
            <a:pPr algn="l"/>
            <a:r>
              <a:rPr sz="1120" b="0" lang="en-US">
                <a:solidFill>
                  <a:srgbClr val="65737D"/>
                </a:solidFill>
                <a:latin typeface="Arial"/>
              </a:rPr>
              <a:t>Image policy · revision order · Docker / Terraform</a:t>
            </a:r>
          </a:p>
        </p:txBody>
      </p:sp>
      <p:sp>
        <p:nvSpPr>
          <p:cNvPr id="47" name="CI/external scope: 223"/>
          <p:cNvSpPr txBox="1"/>
          <p:nvPr/>
        </p:nvSpPr>
        <p:spPr>
          <a:xfrm>
            <a:off x="5230368" y="4818888"/>
            <a:ext cx="502920" cy="310896"/>
          </a:xfrm>
          <a:prstGeom prst="rect">
            <a:avLst/>
          </a:prstGeom>
          <a:noFill/>
        </p:spPr>
        <p:txBody>
          <a:bodyPr wrap="square" lIns="0" rIns="0" tIns="0" bIns="0" anchor="ctr">
            <a:spAutoFit/>
          </a:bodyPr>
          <a:lstStyle/>
          <a:p>
            <a:pPr algn="ctr"/>
            <a:r>
              <a:rPr sz="1800" b="1" lang="en-US">
                <a:solidFill>
                  <a:srgbClr val="1764A1"/>
                </a:solidFill>
                <a:latin typeface="Arial"/>
              </a:rPr>
              <a:t>223</a:t>
            </a:r>
          </a:p>
        </p:txBody>
      </p:sp>
      <p:sp>
        <p:nvSpPr>
          <p:cNvPr id="48" name="CI/external scope: Settings · configuration"/>
          <p:cNvSpPr txBox="1"/>
          <p:nvPr/>
        </p:nvSpPr>
        <p:spPr>
          <a:xfrm>
            <a:off x="6318504" y="2148840"/>
            <a:ext cx="5029200" cy="265176"/>
          </a:xfrm>
          <a:prstGeom prst="rect">
            <a:avLst/>
          </a:prstGeom>
          <a:noFill/>
        </p:spPr>
        <p:txBody>
          <a:bodyPr wrap="square" lIns="0" rIns="0" tIns="0" bIns="0" anchor="ctr">
            <a:spAutoFit/>
          </a:bodyPr>
          <a:lstStyle/>
          <a:p>
            <a:pPr algn="l"/>
            <a:r>
              <a:rPr sz="1400" b="1" lang="en-US">
                <a:solidFill>
                  <a:srgbClr val="263440"/>
                </a:solidFill>
                <a:latin typeface="Arial"/>
              </a:rPr>
              <a:t>Settings · configuration</a:t>
            </a:r>
          </a:p>
        </p:txBody>
      </p:sp>
      <p:sp>
        <p:nvSpPr>
          <p:cNvPr id="49" name="CI/external scope: Save/read parameters; reject invalid deadlines"/>
          <p:cNvSpPr txBox="1"/>
          <p:nvPr/>
        </p:nvSpPr>
        <p:spPr>
          <a:xfrm>
            <a:off x="6318504" y="2418588"/>
            <a:ext cx="5029200" cy="210312"/>
          </a:xfrm>
          <a:prstGeom prst="rect">
            <a:avLst/>
          </a:prstGeom>
          <a:noFill/>
        </p:spPr>
        <p:txBody>
          <a:bodyPr wrap="square" lIns="0" rIns="0" tIns="0" bIns="0" anchor="ctr">
            <a:spAutoFit/>
          </a:bodyPr>
          <a:lstStyle/>
          <a:p>
            <a:pPr algn="l"/>
            <a:r>
              <a:rPr sz="1140" b="0" lang="en-US">
                <a:solidFill>
                  <a:srgbClr val="65737D"/>
                </a:solidFill>
                <a:latin typeface="Arial"/>
              </a:rPr>
              <a:t>Save/read parameters; reject invalid deadlines</a:t>
            </a:r>
          </a:p>
        </p:txBody>
      </p:sp>
      <p:cxnSp>
        <p:nvCxnSpPr>
          <p:cNvPr id="50" name="Connector 49"/>
          <p:cNvCxnSpPr/>
          <p:nvPr/>
        </p:nvCxnSpPr>
        <p:spPr>
          <a:xfrm>
            <a:off x="6318504" y="2638044"/>
            <a:ext cx="5020056" cy="0"/>
          </a:xfrm>
          <a:prstGeom prst="line">
            <a:avLst/>
          </a:prstGeom>
          <a:ln w="8890">
            <a:solidFill>
              <a:srgbClr val="DCE3E8"/>
            </a:solidFill>
          </a:ln>
        </p:spPr>
        <p:style>
          <a:lnRef idx="2">
            <a:schemeClr val="accent1"/>
          </a:lnRef>
          <a:fillRef idx="0">
            <a:schemeClr val="accent1"/>
          </a:fillRef>
          <a:effectRef idx="1">
            <a:schemeClr val="accent1"/>
          </a:effectRef>
          <a:fontRef idx="minor">
            <a:schemeClr val="tx1"/>
          </a:fontRef>
        </p:style>
      </p:cxnSp>
      <p:sp>
        <p:nvSpPr>
          <p:cNvPr id="51" name="CI/external scope: Lifecycle · normal / inference"/>
          <p:cNvSpPr txBox="1"/>
          <p:nvPr/>
        </p:nvSpPr>
        <p:spPr>
          <a:xfrm>
            <a:off x="6318504" y="2656332"/>
            <a:ext cx="5029200" cy="265176"/>
          </a:xfrm>
          <a:prstGeom prst="rect">
            <a:avLst/>
          </a:prstGeom>
          <a:noFill/>
        </p:spPr>
        <p:txBody>
          <a:bodyPr wrap="square" lIns="0" rIns="0" tIns="0" bIns="0" anchor="ctr">
            <a:spAutoFit/>
          </a:bodyPr>
          <a:lstStyle/>
          <a:p>
            <a:pPr algn="l"/>
            <a:r>
              <a:rPr sz="1400" b="1" lang="en-US">
                <a:solidFill>
                  <a:srgbClr val="263440"/>
                </a:solidFill>
                <a:latin typeface="Arial"/>
              </a:rPr>
              <a:t>Lifecycle · normal / inference</a:t>
            </a:r>
          </a:p>
        </p:txBody>
      </p:sp>
      <p:sp>
        <p:nvSpPr>
          <p:cNvPr id="52" name="CI/external scope: Complete training; use and verify the finalized model"/>
          <p:cNvSpPr txBox="1"/>
          <p:nvPr/>
        </p:nvSpPr>
        <p:spPr>
          <a:xfrm>
            <a:off x="6318504" y="2926080"/>
            <a:ext cx="5029200" cy="210312"/>
          </a:xfrm>
          <a:prstGeom prst="rect">
            <a:avLst/>
          </a:prstGeom>
          <a:noFill/>
        </p:spPr>
        <p:txBody>
          <a:bodyPr wrap="square" lIns="0" rIns="0" tIns="0" bIns="0" anchor="ctr">
            <a:spAutoFit/>
          </a:bodyPr>
          <a:lstStyle/>
          <a:p>
            <a:pPr algn="l"/>
            <a:r>
              <a:rPr sz="1140" b="0" lang="en-US">
                <a:solidFill>
                  <a:srgbClr val="65737D"/>
                </a:solidFill>
                <a:latin typeface="Arial"/>
              </a:rPr>
              <a:t>Complete training; use and verify the finalized model</a:t>
            </a:r>
          </a:p>
        </p:txBody>
      </p:sp>
      <p:cxnSp>
        <p:nvCxnSpPr>
          <p:cNvPr id="53" name="Connector 52"/>
          <p:cNvCxnSpPr/>
          <p:nvPr/>
        </p:nvCxnSpPr>
        <p:spPr>
          <a:xfrm>
            <a:off x="6318504" y="3145536"/>
            <a:ext cx="5020056" cy="0"/>
          </a:xfrm>
          <a:prstGeom prst="line">
            <a:avLst/>
          </a:prstGeom>
          <a:ln w="8890">
            <a:solidFill>
              <a:srgbClr val="DCE3E8"/>
            </a:solidFill>
          </a:ln>
        </p:spPr>
        <p:style>
          <a:lnRef idx="2">
            <a:schemeClr val="accent1"/>
          </a:lnRef>
          <a:fillRef idx="0">
            <a:schemeClr val="accent1"/>
          </a:fillRef>
          <a:effectRef idx="1">
            <a:schemeClr val="accent1"/>
          </a:effectRef>
          <a:fontRef idx="minor">
            <a:schemeClr val="tx1"/>
          </a:fontRef>
        </p:style>
      </p:cxnSp>
      <p:sp>
        <p:nvSpPr>
          <p:cNvPr id="54" name="CI/external scope: Collection · early / partial / zero"/>
          <p:cNvSpPr txBox="1"/>
          <p:nvPr/>
        </p:nvSpPr>
        <p:spPr>
          <a:xfrm>
            <a:off x="6318504" y="3163824"/>
            <a:ext cx="5029200" cy="265176"/>
          </a:xfrm>
          <a:prstGeom prst="rect">
            <a:avLst/>
          </a:prstGeom>
          <a:noFill/>
        </p:spPr>
        <p:txBody>
          <a:bodyPr wrap="square" lIns="0" rIns="0" tIns="0" bIns="0" anchor="ctr">
            <a:spAutoFit/>
          </a:bodyPr>
          <a:lstStyle/>
          <a:p>
            <a:pPr algn="l"/>
            <a:r>
              <a:rPr sz="1400" b="1" lang="en-US">
                <a:solidFill>
                  <a:srgbClr val="263440"/>
                </a:solidFill>
                <a:latin typeface="Arial"/>
              </a:rPr>
              <a:t>Collection · early / partial / zero</a:t>
            </a:r>
          </a:p>
        </p:txBody>
      </p:sp>
      <p:sp>
        <p:nvSpPr>
          <p:cNvPr id="55" name="CI/external scope: Close early, publish partial inputs, or recover from zero"/>
          <p:cNvSpPr txBox="1"/>
          <p:nvPr/>
        </p:nvSpPr>
        <p:spPr>
          <a:xfrm>
            <a:off x="6318504" y="3433572"/>
            <a:ext cx="5029200" cy="210312"/>
          </a:xfrm>
          <a:prstGeom prst="rect">
            <a:avLst/>
          </a:prstGeom>
          <a:noFill/>
        </p:spPr>
        <p:txBody>
          <a:bodyPr wrap="square" lIns="0" rIns="0" tIns="0" bIns="0" anchor="ctr">
            <a:spAutoFit/>
          </a:bodyPr>
          <a:lstStyle/>
          <a:p>
            <a:pPr algn="l"/>
            <a:r>
              <a:rPr sz="1140" b="0" lang="en-US">
                <a:solidFill>
                  <a:srgbClr val="65737D"/>
                </a:solidFill>
                <a:latin typeface="Arial"/>
              </a:rPr>
              <a:t>Close early, publish partial inputs, or recover from zero</a:t>
            </a:r>
          </a:p>
        </p:txBody>
      </p:sp>
      <p:cxnSp>
        <p:nvCxnSpPr>
          <p:cNvPr id="56" name="Connector 55"/>
          <p:cNvCxnSpPr/>
          <p:nvPr/>
        </p:nvCxnSpPr>
        <p:spPr>
          <a:xfrm>
            <a:off x="6318504" y="3653028"/>
            <a:ext cx="5020056" cy="0"/>
          </a:xfrm>
          <a:prstGeom prst="line">
            <a:avLst/>
          </a:prstGeom>
          <a:ln w="8890">
            <a:solidFill>
              <a:srgbClr val="DCE3E8"/>
            </a:solidFill>
          </a:ln>
        </p:spPr>
        <p:style>
          <a:lnRef idx="2">
            <a:schemeClr val="accent1"/>
          </a:lnRef>
          <a:fillRef idx="0">
            <a:schemeClr val="accent1"/>
          </a:fillRef>
          <a:effectRef idx="1">
            <a:schemeClr val="accent1"/>
          </a:effectRef>
          <a:fontRef idx="minor">
            <a:schemeClr val="tx1"/>
          </a:fontRef>
        </p:style>
      </p:cxnSp>
      <p:sp>
        <p:nvSpPr>
          <p:cNvPr id="57" name="CI/external scope: Recovery · aggregator outage"/>
          <p:cNvSpPr txBox="1"/>
          <p:nvPr/>
        </p:nvSpPr>
        <p:spPr>
          <a:xfrm>
            <a:off x="6318504" y="3671316"/>
            <a:ext cx="5029200" cy="265176"/>
          </a:xfrm>
          <a:prstGeom prst="rect">
            <a:avLst/>
          </a:prstGeom>
          <a:noFill/>
        </p:spPr>
        <p:txBody>
          <a:bodyPr wrap="square" lIns="0" rIns="0" tIns="0" bIns="0" anchor="ctr">
            <a:spAutoFit/>
          </a:bodyPr>
          <a:lstStyle/>
          <a:p>
            <a:pPr algn="l"/>
            <a:r>
              <a:rPr sz="1400" b="1" lang="en-US">
                <a:solidFill>
                  <a:srgbClr val="263440"/>
                </a:solidFill>
                <a:latin typeface="Arial"/>
              </a:rPr>
              <a:t>Recovery · aggregator outage</a:t>
            </a:r>
          </a:p>
        </p:txBody>
      </p:sp>
      <p:sp>
        <p:nvSpPr>
          <p:cNvPr id="58" name="CI/external scope: Stop CVM; 1/3 → 2/3 → 3/3 votes; elect a replacement"/>
          <p:cNvSpPr txBox="1"/>
          <p:nvPr/>
        </p:nvSpPr>
        <p:spPr>
          <a:xfrm>
            <a:off x="6318504" y="3941064"/>
            <a:ext cx="5029200" cy="210312"/>
          </a:xfrm>
          <a:prstGeom prst="rect">
            <a:avLst/>
          </a:prstGeom>
          <a:noFill/>
        </p:spPr>
        <p:txBody>
          <a:bodyPr wrap="square" lIns="0" rIns="0" tIns="0" bIns="0" anchor="ctr">
            <a:spAutoFit/>
          </a:bodyPr>
          <a:lstStyle/>
          <a:p>
            <a:pPr algn="l"/>
            <a:r>
              <a:rPr sz="1140" b="0" lang="en-US">
                <a:solidFill>
                  <a:srgbClr val="65737D"/>
                </a:solidFill>
                <a:latin typeface="Arial"/>
              </a:rPr>
              <a:t>Stop CVM; 1/3 → 2/3 → 3/3 votes; elect a replacement</a:t>
            </a:r>
          </a:p>
        </p:txBody>
      </p:sp>
      <p:cxnSp>
        <p:nvCxnSpPr>
          <p:cNvPr id="59" name="Connector 58"/>
          <p:cNvCxnSpPr/>
          <p:nvPr/>
        </p:nvCxnSpPr>
        <p:spPr>
          <a:xfrm>
            <a:off x="6318504" y="4160520"/>
            <a:ext cx="5020056" cy="0"/>
          </a:xfrm>
          <a:prstGeom prst="line">
            <a:avLst/>
          </a:prstGeom>
          <a:ln w="8890">
            <a:solidFill>
              <a:srgbClr val="DCE3E8"/>
            </a:solidFill>
          </a:ln>
        </p:spPr>
        <p:style>
          <a:lnRef idx="2">
            <a:schemeClr val="accent1"/>
          </a:lnRef>
          <a:fillRef idx="0">
            <a:schemeClr val="accent1"/>
          </a:fillRef>
          <a:effectRef idx="1">
            <a:schemeClr val="accent1"/>
          </a:effectRef>
          <a:fontRef idx="minor">
            <a:schemeClr val="tx1"/>
          </a:fontRef>
        </p:style>
      </p:cxnSp>
      <p:sp>
        <p:nvSpPr>
          <p:cNvPr id="60" name="CI/external scope: Security · access and contract guards"/>
          <p:cNvSpPr txBox="1"/>
          <p:nvPr/>
        </p:nvSpPr>
        <p:spPr>
          <a:xfrm>
            <a:off x="6318504" y="4178808"/>
            <a:ext cx="5029200" cy="265176"/>
          </a:xfrm>
          <a:prstGeom prst="rect">
            <a:avLst/>
          </a:prstGeom>
          <a:noFill/>
        </p:spPr>
        <p:txBody>
          <a:bodyPr wrap="square" lIns="0" rIns="0" tIns="0" bIns="0" anchor="ctr">
            <a:spAutoFit/>
          </a:bodyPr>
          <a:lstStyle/>
          <a:p>
            <a:pPr algn="l"/>
            <a:r>
              <a:rPr sz="1400" b="1" lang="en-US">
                <a:solidFill>
                  <a:srgbClr val="263440"/>
                </a:solidFill>
                <a:latin typeface="Arial"/>
              </a:rPr>
              <a:t>Security · access and contract guards</a:t>
            </a:r>
          </a:p>
        </p:txBody>
      </p:sp>
      <p:sp>
        <p:nvSpPr>
          <p:cNvPr id="61" name="CI/external scope: 16 checks: access, contracts + positive inference"/>
          <p:cNvSpPr txBox="1"/>
          <p:nvPr/>
        </p:nvSpPr>
        <p:spPr>
          <a:xfrm>
            <a:off x="6318504" y="4448556"/>
            <a:ext cx="5029200" cy="210312"/>
          </a:xfrm>
          <a:prstGeom prst="rect">
            <a:avLst/>
          </a:prstGeom>
          <a:noFill/>
        </p:spPr>
        <p:txBody>
          <a:bodyPr wrap="square" lIns="0" rIns="0" tIns="0" bIns="0" anchor="ctr">
            <a:spAutoFit/>
          </a:bodyPr>
          <a:lstStyle/>
          <a:p>
            <a:pPr algn="l"/>
            <a:r>
              <a:rPr sz="1140" b="0" lang="en-US">
                <a:solidFill>
                  <a:srgbClr val="65737D"/>
                </a:solidFill>
                <a:latin typeface="Arial"/>
              </a:rPr>
              <a:t>16 checks: access, contracts + positive inference</a:t>
            </a:r>
          </a:p>
        </p:txBody>
      </p:sp>
      <p:cxnSp>
        <p:nvCxnSpPr>
          <p:cNvPr id="62" name="Connector 61"/>
          <p:cNvCxnSpPr/>
          <p:nvPr/>
        </p:nvCxnSpPr>
        <p:spPr>
          <a:xfrm>
            <a:off x="6318504" y="4668012"/>
            <a:ext cx="5020056" cy="0"/>
          </a:xfrm>
          <a:prstGeom prst="line">
            <a:avLst/>
          </a:prstGeom>
          <a:ln w="8890">
            <a:solidFill>
              <a:srgbClr val="DCE3E8"/>
            </a:solidFill>
          </a:ln>
        </p:spPr>
        <p:style>
          <a:lnRef idx="2">
            <a:schemeClr val="accent1"/>
          </a:lnRef>
          <a:fillRef idx="0">
            <a:schemeClr val="accent1"/>
          </a:fillRef>
          <a:effectRef idx="1">
            <a:schemeClr val="accent1"/>
          </a:effectRef>
          <a:fontRef idx="minor">
            <a:schemeClr val="tx1"/>
          </a:fontRef>
        </p:style>
      </p:cxnSp>
      <p:sp>
        <p:nvSpPr>
          <p:cNvPr id="63" name="CI/external scope: Evidence · published receipt audit"/>
          <p:cNvSpPr txBox="1"/>
          <p:nvPr/>
        </p:nvSpPr>
        <p:spPr>
          <a:xfrm>
            <a:off x="6318504" y="4686300"/>
            <a:ext cx="5029200" cy="265176"/>
          </a:xfrm>
          <a:prstGeom prst="rect">
            <a:avLst/>
          </a:prstGeom>
          <a:noFill/>
        </p:spPr>
        <p:txBody>
          <a:bodyPr wrap="square" lIns="0" rIns="0" tIns="0" bIns="0" anchor="ctr">
            <a:spAutoFit/>
          </a:bodyPr>
          <a:lstStyle/>
          <a:p>
            <a:pPr algn="l"/>
            <a:r>
              <a:rPr sz="1400" b="1" lang="en-US">
                <a:solidFill>
                  <a:srgbClr val="263440"/>
                </a:solidFill>
                <a:latin typeface="Arial"/>
              </a:rPr>
              <a:t>Evidence · published receipt audit</a:t>
            </a:r>
          </a:p>
        </p:txBody>
      </p:sp>
      <p:sp>
        <p:nvSpPr>
          <p:cNvPr id="64" name="CI/external scope: 17 checks: SCITT, AIR/TDX, sessions and Sello"/>
          <p:cNvSpPr txBox="1"/>
          <p:nvPr/>
        </p:nvSpPr>
        <p:spPr>
          <a:xfrm>
            <a:off x="6318504" y="4956048"/>
            <a:ext cx="5029200" cy="210312"/>
          </a:xfrm>
          <a:prstGeom prst="rect">
            <a:avLst/>
          </a:prstGeom>
          <a:noFill/>
        </p:spPr>
        <p:txBody>
          <a:bodyPr wrap="square" lIns="0" rIns="0" tIns="0" bIns="0" anchor="ctr">
            <a:spAutoFit/>
          </a:bodyPr>
          <a:lstStyle/>
          <a:p>
            <a:pPr algn="l"/>
            <a:r>
              <a:rPr sz="1140" b="0" lang="en-US">
                <a:solidFill>
                  <a:srgbClr val="65737D"/>
                </a:solidFill>
                <a:latin typeface="Arial"/>
              </a:rPr>
              <a:t>17 checks: SCITT, AIR/TDX, sessions and Sello</a:t>
            </a:r>
          </a:p>
        </p:txBody>
      </p:sp>
      <p:sp>
        <p:nvSpPr>
          <p:cNvPr id="65" name="CI/external scope: Phala training profile: 6 workers · 5 successful rounds · client limit 5 · 45 s deadline. Counts ≠ passed runs."/>
          <p:cNvSpPr txBox="1"/>
          <p:nvPr/>
        </p:nvSpPr>
        <p:spPr>
          <a:xfrm>
            <a:off x="658368" y="5468112"/>
            <a:ext cx="10890504" cy="265176"/>
          </a:xfrm>
          <a:prstGeom prst="rect">
            <a:avLst/>
          </a:prstGeom>
          <a:noFill/>
        </p:spPr>
        <p:txBody>
          <a:bodyPr wrap="square" lIns="0" rIns="0" tIns="0" bIns="0" anchor="ctr">
            <a:spAutoFit/>
          </a:bodyPr>
          <a:lstStyle/>
          <a:p>
            <a:pPr algn="l"/>
            <a:r>
              <a:rPr sz="1130" b="0" lang="en-US">
                <a:solidFill>
                  <a:srgbClr val="65737D"/>
                </a:solidFill>
                <a:latin typeface="Arial"/>
              </a:rPr>
              <a:t>Phala training profile: 6 workers · 5 successful rounds · client limit 5 · 45 s deadline. Counts ≠ passed runs.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What changed over the 24 federated rounds?</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EQUAL-WEIGHT FEDAVG · FIVE COMPLEMENTARY VIEWS OF MODEL BEHAVIOR</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27</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5D6973"/>
                </a:solidFill>
                <a:latin typeface="Arial"/>
              </a:rPr>
              <a:t>Agent</a:t>
            </a:r>
          </a:p>
        </p:txBody>
      </p:sp>
      <p:sp>
        <p:nvSpPr>
          <p:cNvPr id="13" name="Rounded Rectangle 12"/>
          <p:cNvSpPr/>
          <p:nvPr/>
        </p:nvSpPr>
        <p:spPr>
          <a:xfrm>
            <a:off x="411480" y="1307592"/>
            <a:ext cx="3703320" cy="1920240"/>
          </a:xfrm>
          <a:prstGeom prst="roundRect">
            <a:avLst/>
          </a:prstGeom>
          <a:solidFill>
            <a:srgbClr val="FFFFFF"/>
          </a:solidFill>
          <a:ln w="1270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 y="1399032"/>
            <a:ext cx="3483863" cy="256032"/>
          </a:xfrm>
          <a:prstGeom prst="rect">
            <a:avLst/>
          </a:prstGeom>
          <a:noFill/>
        </p:spPr>
        <p:txBody>
          <a:bodyPr wrap="square" lIns="18288" rIns="18288" tIns="18288" bIns="18288" anchor="ctr">
            <a:spAutoFit/>
          </a:bodyPr>
          <a:lstStyle/>
          <a:p>
            <a:pPr algn="ctr"/>
            <a:r>
              <a:rPr sz="1250" b="1" lang="en-US">
                <a:solidFill>
                  <a:srgbClr val="434343"/>
                </a:solidFill>
                <a:latin typeface="Arial"/>
              </a:rPr>
              <a:t>Unweighted test BCE</a:t>
            </a:r>
          </a:p>
        </p:txBody>
      </p:sp>
      <p:sp>
        <p:nvSpPr>
          <p:cNvPr id="15" name="TextBox 14"/>
          <p:cNvSpPr txBox="1"/>
          <p:nvPr/>
        </p:nvSpPr>
        <p:spPr>
          <a:xfrm>
            <a:off x="557784" y="1627631"/>
            <a:ext cx="3410712" cy="246888"/>
          </a:xfrm>
          <a:prstGeom prst="rect">
            <a:avLst/>
          </a:prstGeom>
          <a:noFill/>
        </p:spPr>
        <p:txBody>
          <a:bodyPr wrap="square" lIns="0" rIns="0" tIns="0" bIns="0" anchor="ctr">
            <a:spAutoFit/>
          </a:bodyPr>
          <a:lstStyle/>
          <a:p>
            <a:pPr algn="ctr"/>
            <a:r>
              <a:rPr sz="720" b="1" lang="en-US">
                <a:solidFill>
                  <a:srgbClr val="686868"/>
                </a:solidFill>
                <a:latin typeface="Arial"/>
              </a:rPr>
              <a:t>Lower is better · best 0.330 at global round 24</a:t>
            </a:r>
          </a:p>
        </p:txBody>
      </p:sp>
      <p:cxnSp>
        <p:nvCxnSpPr>
          <p:cNvPr id="16" name="Connector 15"/>
          <p:cNvCxnSpPr/>
          <p:nvPr/>
        </p:nvCxnSpPr>
        <p:spPr>
          <a:xfrm>
            <a:off x="886968" y="2734056"/>
            <a:ext cx="3044952" cy="0"/>
          </a:xfrm>
          <a:prstGeom prst="line">
            <a:avLst/>
          </a:prstGeom>
          <a:ln w="7620">
            <a:solidFill>
              <a:srgbClr val="D5D5D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48056" y="2660904"/>
            <a:ext cx="393192" cy="146304"/>
          </a:xfrm>
          <a:prstGeom prst="rect">
            <a:avLst/>
          </a:prstGeom>
          <a:noFill/>
        </p:spPr>
        <p:txBody>
          <a:bodyPr wrap="square" lIns="0" rIns="0" tIns="0" bIns="0" anchor="ctr">
            <a:spAutoFit/>
          </a:bodyPr>
          <a:lstStyle/>
          <a:p>
            <a:pPr algn="r"/>
            <a:r>
              <a:rPr sz="720" b="0" lang="en-US">
                <a:solidFill>
                  <a:srgbClr val="686868"/>
                </a:solidFill>
                <a:latin typeface="Arial"/>
              </a:rPr>
              <a:t>0.30</a:t>
            </a:r>
          </a:p>
        </p:txBody>
      </p:sp>
      <p:cxnSp>
        <p:nvCxnSpPr>
          <p:cNvPr id="18" name="Connector 17"/>
          <p:cNvCxnSpPr/>
          <p:nvPr/>
        </p:nvCxnSpPr>
        <p:spPr>
          <a:xfrm>
            <a:off x="886968" y="2553462"/>
            <a:ext cx="3044952" cy="0"/>
          </a:xfrm>
          <a:prstGeom prst="line">
            <a:avLst/>
          </a:prstGeom>
          <a:ln w="7620">
            <a:solidFill>
              <a:srgbClr val="D5D5D5"/>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48056" y="2480310"/>
            <a:ext cx="393192" cy="146304"/>
          </a:xfrm>
          <a:prstGeom prst="rect">
            <a:avLst/>
          </a:prstGeom>
          <a:noFill/>
        </p:spPr>
        <p:txBody>
          <a:bodyPr wrap="square" lIns="0" rIns="0" tIns="0" bIns="0" anchor="ctr">
            <a:spAutoFit/>
          </a:bodyPr>
          <a:lstStyle/>
          <a:p>
            <a:pPr algn="r"/>
            <a:r>
              <a:rPr sz="720" b="0" lang="en-US">
                <a:solidFill>
                  <a:srgbClr val="686868"/>
                </a:solidFill>
                <a:latin typeface="Arial"/>
              </a:rPr>
              <a:t>0.33</a:t>
            </a:r>
          </a:p>
        </p:txBody>
      </p:sp>
      <p:cxnSp>
        <p:nvCxnSpPr>
          <p:cNvPr id="20" name="Connector 19"/>
          <p:cNvCxnSpPr/>
          <p:nvPr/>
        </p:nvCxnSpPr>
        <p:spPr>
          <a:xfrm>
            <a:off x="886968" y="2372868"/>
            <a:ext cx="3044952" cy="0"/>
          </a:xfrm>
          <a:prstGeom prst="line">
            <a:avLst/>
          </a:prstGeom>
          <a:ln w="7620">
            <a:solidFill>
              <a:srgbClr val="D5D5D5"/>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48056" y="2299716"/>
            <a:ext cx="393192" cy="146304"/>
          </a:xfrm>
          <a:prstGeom prst="rect">
            <a:avLst/>
          </a:prstGeom>
          <a:noFill/>
        </p:spPr>
        <p:txBody>
          <a:bodyPr wrap="square" lIns="0" rIns="0" tIns="0" bIns="0" anchor="ctr">
            <a:spAutoFit/>
          </a:bodyPr>
          <a:lstStyle/>
          <a:p>
            <a:pPr algn="r"/>
            <a:r>
              <a:rPr sz="720" b="0" lang="en-US">
                <a:solidFill>
                  <a:srgbClr val="686868"/>
                </a:solidFill>
                <a:latin typeface="Arial"/>
              </a:rPr>
              <a:t>0.36</a:t>
            </a:r>
          </a:p>
        </p:txBody>
      </p:sp>
      <p:cxnSp>
        <p:nvCxnSpPr>
          <p:cNvPr id="22" name="Connector 21"/>
          <p:cNvCxnSpPr/>
          <p:nvPr/>
        </p:nvCxnSpPr>
        <p:spPr>
          <a:xfrm>
            <a:off x="886968" y="2192274"/>
            <a:ext cx="3044952" cy="0"/>
          </a:xfrm>
          <a:prstGeom prst="line">
            <a:avLst/>
          </a:prstGeom>
          <a:ln w="7620">
            <a:solidFill>
              <a:srgbClr val="D5D5D5"/>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48056" y="2119122"/>
            <a:ext cx="393192" cy="146304"/>
          </a:xfrm>
          <a:prstGeom prst="rect">
            <a:avLst/>
          </a:prstGeom>
          <a:noFill/>
        </p:spPr>
        <p:txBody>
          <a:bodyPr wrap="square" lIns="0" rIns="0" tIns="0" bIns="0" anchor="ctr">
            <a:spAutoFit/>
          </a:bodyPr>
          <a:lstStyle/>
          <a:p>
            <a:pPr algn="r"/>
            <a:r>
              <a:rPr sz="720" b="0" lang="en-US">
                <a:solidFill>
                  <a:srgbClr val="686868"/>
                </a:solidFill>
                <a:latin typeface="Arial"/>
              </a:rPr>
              <a:t>0.39</a:t>
            </a:r>
          </a:p>
        </p:txBody>
      </p:sp>
      <p:cxnSp>
        <p:nvCxnSpPr>
          <p:cNvPr id="24" name="Connector 23"/>
          <p:cNvCxnSpPr/>
          <p:nvPr/>
        </p:nvCxnSpPr>
        <p:spPr>
          <a:xfrm>
            <a:off x="886968" y="2011680"/>
            <a:ext cx="3044952" cy="0"/>
          </a:xfrm>
          <a:prstGeom prst="line">
            <a:avLst/>
          </a:prstGeom>
          <a:ln w="7620">
            <a:solidFill>
              <a:srgbClr val="D5D5D5"/>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48056" y="1938528"/>
            <a:ext cx="393192" cy="146304"/>
          </a:xfrm>
          <a:prstGeom prst="rect">
            <a:avLst/>
          </a:prstGeom>
          <a:noFill/>
        </p:spPr>
        <p:txBody>
          <a:bodyPr wrap="square" lIns="0" rIns="0" tIns="0" bIns="0" anchor="ctr">
            <a:spAutoFit/>
          </a:bodyPr>
          <a:lstStyle/>
          <a:p>
            <a:pPr algn="r"/>
            <a:r>
              <a:rPr sz="720" b="0" lang="en-US">
                <a:solidFill>
                  <a:srgbClr val="686868"/>
                </a:solidFill>
                <a:latin typeface="Arial"/>
              </a:rPr>
              <a:t>0.42</a:t>
            </a:r>
          </a:p>
        </p:txBody>
      </p:sp>
      <p:sp>
        <p:nvSpPr>
          <p:cNvPr id="26" name="TextBox 25"/>
          <p:cNvSpPr txBox="1"/>
          <p:nvPr/>
        </p:nvSpPr>
        <p:spPr>
          <a:xfrm>
            <a:off x="886968" y="2944368"/>
            <a:ext cx="3044952" cy="137160"/>
          </a:xfrm>
          <a:prstGeom prst="rect">
            <a:avLst/>
          </a:prstGeom>
          <a:noFill/>
        </p:spPr>
        <p:txBody>
          <a:bodyPr wrap="square" lIns="0" rIns="0" tIns="0" bIns="0" anchor="ctr">
            <a:spAutoFit/>
          </a:bodyPr>
          <a:lstStyle/>
          <a:p>
            <a:pPr algn="ctr"/>
            <a:r>
              <a:rPr sz="720" b="0" lang="en-US">
                <a:solidFill>
                  <a:srgbClr val="686868"/>
                </a:solidFill>
                <a:latin typeface="Arial"/>
              </a:rPr>
              <a:t>Global model round</a:t>
            </a:r>
          </a:p>
        </p:txBody>
      </p:sp>
      <p:cxnSp>
        <p:nvCxnSpPr>
          <p:cNvPr id="27" name="Connector 26"/>
          <p:cNvCxnSpPr/>
          <p:nvPr/>
        </p:nvCxnSpPr>
        <p:spPr>
          <a:xfrm>
            <a:off x="886968" y="2011680"/>
            <a:ext cx="0" cy="722376"/>
          </a:xfrm>
          <a:prstGeom prst="line">
            <a:avLst/>
          </a:prstGeom>
          <a:ln w="5715">
            <a:solidFill>
              <a:srgbClr val="E8E8E8"/>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22376" y="2779776"/>
            <a:ext cx="329184" cy="137160"/>
          </a:xfrm>
          <a:prstGeom prst="rect">
            <a:avLst/>
          </a:prstGeom>
          <a:noFill/>
        </p:spPr>
        <p:txBody>
          <a:bodyPr wrap="square" lIns="0" rIns="0" tIns="0" bIns="0" anchor="ctr">
            <a:spAutoFit/>
          </a:bodyPr>
          <a:lstStyle/>
          <a:p>
            <a:pPr algn="ctr"/>
            <a:r>
              <a:rPr sz="720" b="0" lang="en-US">
                <a:solidFill>
                  <a:srgbClr val="686868"/>
                </a:solidFill>
                <a:latin typeface="Arial"/>
              </a:rPr>
              <a:t>2</a:t>
            </a:r>
          </a:p>
        </p:txBody>
      </p:sp>
      <p:cxnSp>
        <p:nvCxnSpPr>
          <p:cNvPr id="29" name="Connector 28"/>
          <p:cNvCxnSpPr/>
          <p:nvPr/>
        </p:nvCxnSpPr>
        <p:spPr>
          <a:xfrm>
            <a:off x="1416524" y="2011680"/>
            <a:ext cx="0" cy="722376"/>
          </a:xfrm>
          <a:prstGeom prst="line">
            <a:avLst/>
          </a:prstGeom>
          <a:ln w="5715">
            <a:solidFill>
              <a:srgbClr val="E8E8E8"/>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251932" y="2779776"/>
            <a:ext cx="329184" cy="137160"/>
          </a:xfrm>
          <a:prstGeom prst="rect">
            <a:avLst/>
          </a:prstGeom>
          <a:noFill/>
        </p:spPr>
        <p:txBody>
          <a:bodyPr wrap="square" lIns="0" rIns="0" tIns="0" bIns="0" anchor="ctr">
            <a:spAutoFit/>
          </a:bodyPr>
          <a:lstStyle/>
          <a:p>
            <a:pPr algn="ctr"/>
            <a:r>
              <a:rPr sz="720" b="0" lang="en-US">
                <a:solidFill>
                  <a:srgbClr val="686868"/>
                </a:solidFill>
                <a:latin typeface="Arial"/>
              </a:rPr>
              <a:t>6</a:t>
            </a:r>
          </a:p>
        </p:txBody>
      </p:sp>
      <p:cxnSp>
        <p:nvCxnSpPr>
          <p:cNvPr id="31" name="Connector 30"/>
          <p:cNvCxnSpPr/>
          <p:nvPr/>
        </p:nvCxnSpPr>
        <p:spPr>
          <a:xfrm>
            <a:off x="2078470" y="2011680"/>
            <a:ext cx="0" cy="722376"/>
          </a:xfrm>
          <a:prstGeom prst="line">
            <a:avLst/>
          </a:prstGeom>
          <a:ln w="5715">
            <a:solidFill>
              <a:srgbClr val="E8E8E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913878" y="2779776"/>
            <a:ext cx="329184" cy="137160"/>
          </a:xfrm>
          <a:prstGeom prst="rect">
            <a:avLst/>
          </a:prstGeom>
          <a:noFill/>
        </p:spPr>
        <p:txBody>
          <a:bodyPr wrap="square" lIns="0" rIns="0" tIns="0" bIns="0" anchor="ctr">
            <a:spAutoFit/>
          </a:bodyPr>
          <a:lstStyle/>
          <a:p>
            <a:pPr algn="ctr"/>
            <a:r>
              <a:rPr sz="720" b="0" lang="en-US">
                <a:solidFill>
                  <a:srgbClr val="686868"/>
                </a:solidFill>
                <a:latin typeface="Arial"/>
              </a:rPr>
              <a:t>11</a:t>
            </a:r>
          </a:p>
        </p:txBody>
      </p:sp>
      <p:cxnSp>
        <p:nvCxnSpPr>
          <p:cNvPr id="33" name="Connector 32"/>
          <p:cNvCxnSpPr/>
          <p:nvPr/>
        </p:nvCxnSpPr>
        <p:spPr>
          <a:xfrm>
            <a:off x="3005195" y="2011680"/>
            <a:ext cx="0" cy="722376"/>
          </a:xfrm>
          <a:prstGeom prst="line">
            <a:avLst/>
          </a:prstGeom>
          <a:ln w="5715">
            <a:solidFill>
              <a:srgbClr val="E8E8E8"/>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840603" y="2779776"/>
            <a:ext cx="329184" cy="137160"/>
          </a:xfrm>
          <a:prstGeom prst="rect">
            <a:avLst/>
          </a:prstGeom>
          <a:noFill/>
        </p:spPr>
        <p:txBody>
          <a:bodyPr wrap="square" lIns="0" rIns="0" tIns="0" bIns="0" anchor="ctr">
            <a:spAutoFit/>
          </a:bodyPr>
          <a:lstStyle/>
          <a:p>
            <a:pPr algn="ctr"/>
            <a:r>
              <a:rPr sz="720" b="0" lang="en-US">
                <a:solidFill>
                  <a:srgbClr val="686868"/>
                </a:solidFill>
                <a:latin typeface="Arial"/>
              </a:rPr>
              <a:t>18</a:t>
            </a:r>
          </a:p>
        </p:txBody>
      </p:sp>
      <p:cxnSp>
        <p:nvCxnSpPr>
          <p:cNvPr id="35" name="Connector 34"/>
          <p:cNvCxnSpPr/>
          <p:nvPr/>
        </p:nvCxnSpPr>
        <p:spPr>
          <a:xfrm>
            <a:off x="3931920" y="2011680"/>
            <a:ext cx="0" cy="722376"/>
          </a:xfrm>
          <a:prstGeom prst="line">
            <a:avLst/>
          </a:prstGeom>
          <a:ln w="5715">
            <a:solidFill>
              <a:srgbClr val="E8E8E8"/>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767328" y="2779776"/>
            <a:ext cx="329184" cy="137160"/>
          </a:xfrm>
          <a:prstGeom prst="rect">
            <a:avLst/>
          </a:prstGeom>
          <a:noFill/>
        </p:spPr>
        <p:txBody>
          <a:bodyPr wrap="square" lIns="0" rIns="0" tIns="0" bIns="0" anchor="ctr">
            <a:spAutoFit/>
          </a:bodyPr>
          <a:lstStyle/>
          <a:p>
            <a:pPr algn="ctr"/>
            <a:r>
              <a:rPr sz="720" b="0" lang="en-US">
                <a:solidFill>
                  <a:srgbClr val="686868"/>
                </a:solidFill>
                <a:latin typeface="Arial"/>
              </a:rPr>
              <a:t>25</a:t>
            </a:r>
          </a:p>
        </p:txBody>
      </p:sp>
      <p:cxnSp>
        <p:nvCxnSpPr>
          <p:cNvPr id="37" name="Connector 36"/>
          <p:cNvCxnSpPr/>
          <p:nvPr/>
        </p:nvCxnSpPr>
        <p:spPr>
          <a:xfrm>
            <a:off x="886968" y="2011680"/>
            <a:ext cx="0" cy="722376"/>
          </a:xfrm>
          <a:prstGeom prst="line">
            <a:avLst/>
          </a:prstGeom>
          <a:ln w="11430">
            <a:solidFill>
              <a:srgbClr val="43434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86968" y="2734056"/>
            <a:ext cx="3044952" cy="0"/>
          </a:xfrm>
          <a:prstGeom prst="line">
            <a:avLst/>
          </a:prstGeom>
          <a:ln w="11430">
            <a:solidFill>
              <a:srgbClr val="434343"/>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86968" y="2046906"/>
            <a:ext cx="132389" cy="303210"/>
          </a:xfrm>
          <a:prstGeom prst="line">
            <a:avLst/>
          </a:prstGeom>
          <a:ln w="2413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19357" y="2350116"/>
            <a:ext cx="132389" cy="45148"/>
          </a:xfrm>
          <a:prstGeom prst="line">
            <a:avLst/>
          </a:prstGeom>
          <a:ln w="2413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151746" y="2395264"/>
            <a:ext cx="132389" cy="63430"/>
          </a:xfrm>
          <a:prstGeom prst="line">
            <a:avLst/>
          </a:prstGeom>
          <a:ln w="2413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1284135" y="2437215"/>
            <a:ext cx="132389" cy="21479"/>
          </a:xfrm>
          <a:prstGeom prst="line">
            <a:avLst/>
          </a:prstGeom>
          <a:ln w="2413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416524" y="2437215"/>
            <a:ext cx="132390" cy="51687"/>
          </a:xfrm>
          <a:prstGeom prst="line">
            <a:avLst/>
          </a:prstGeom>
          <a:ln w="2413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548914" y="2488902"/>
            <a:ext cx="132389" cy="16566"/>
          </a:xfrm>
          <a:prstGeom prst="line">
            <a:avLst/>
          </a:prstGeom>
          <a:ln w="2413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681303" y="2505468"/>
            <a:ext cx="132389" cy="49345"/>
          </a:xfrm>
          <a:prstGeom prst="line">
            <a:avLst/>
          </a:prstGeom>
          <a:ln w="2413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813692" y="2471035"/>
            <a:ext cx="132389" cy="83778"/>
          </a:xfrm>
          <a:prstGeom prst="line">
            <a:avLst/>
          </a:prstGeom>
          <a:ln w="2413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946081" y="2471035"/>
            <a:ext cx="132389" cy="1420"/>
          </a:xfrm>
          <a:prstGeom prst="line">
            <a:avLst/>
          </a:prstGeom>
          <a:ln w="2413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2078470" y="2471661"/>
            <a:ext cx="132390" cy="794"/>
          </a:xfrm>
          <a:prstGeom prst="line">
            <a:avLst/>
          </a:prstGeom>
          <a:ln w="2413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2210860" y="2464425"/>
            <a:ext cx="132389" cy="7236"/>
          </a:xfrm>
          <a:prstGeom prst="line">
            <a:avLst/>
          </a:prstGeom>
          <a:ln w="2413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2343249" y="2464425"/>
            <a:ext cx="132389" cy="24541"/>
          </a:xfrm>
          <a:prstGeom prst="line">
            <a:avLst/>
          </a:prstGeom>
          <a:ln w="2413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2475638" y="2488966"/>
            <a:ext cx="132389" cy="56682"/>
          </a:xfrm>
          <a:prstGeom prst="line">
            <a:avLst/>
          </a:prstGeom>
          <a:ln w="2413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2608027" y="2490208"/>
            <a:ext cx="132390" cy="55440"/>
          </a:xfrm>
          <a:prstGeom prst="line">
            <a:avLst/>
          </a:prstGeom>
          <a:ln w="2413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2740417" y="2490208"/>
            <a:ext cx="132389" cy="25124"/>
          </a:xfrm>
          <a:prstGeom prst="line">
            <a:avLst/>
          </a:prstGeom>
          <a:ln w="2413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2872806" y="2515332"/>
            <a:ext cx="132389" cy="15418"/>
          </a:xfrm>
          <a:prstGeom prst="line">
            <a:avLst/>
          </a:prstGeom>
          <a:ln w="2413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005195" y="2530750"/>
            <a:ext cx="132389" cy="11761"/>
          </a:xfrm>
          <a:prstGeom prst="line">
            <a:avLst/>
          </a:prstGeom>
          <a:ln w="2413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3137584" y="2523027"/>
            <a:ext cx="132389" cy="19484"/>
          </a:xfrm>
          <a:prstGeom prst="line">
            <a:avLst/>
          </a:prstGeom>
          <a:ln w="2413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3269973" y="2523027"/>
            <a:ext cx="132390" cy="16087"/>
          </a:xfrm>
          <a:prstGeom prst="line">
            <a:avLst/>
          </a:prstGeom>
          <a:ln w="2413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3402363" y="2518557"/>
            <a:ext cx="132389" cy="20557"/>
          </a:xfrm>
          <a:prstGeom prst="line">
            <a:avLst/>
          </a:prstGeom>
          <a:ln w="2413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3534752" y="2518557"/>
            <a:ext cx="132389" cy="22683"/>
          </a:xfrm>
          <a:prstGeom prst="line">
            <a:avLst/>
          </a:prstGeom>
          <a:ln w="2413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3667141" y="2541240"/>
            <a:ext cx="132389" cy="13828"/>
          </a:xfrm>
          <a:prstGeom prst="line">
            <a:avLst/>
          </a:prstGeom>
          <a:ln w="24130">
            <a:solidFill>
              <a:srgbClr val="1F90CC"/>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3799530" y="2538148"/>
            <a:ext cx="132390" cy="16920"/>
          </a:xfrm>
          <a:prstGeom prst="line">
            <a:avLst/>
          </a:prstGeom>
          <a:ln w="24130">
            <a:solidFill>
              <a:srgbClr val="1F90CC"/>
            </a:solidFill>
          </a:ln>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845819" y="2005758"/>
            <a:ext cx="82296" cy="82296"/>
          </a:xfrm>
          <a:prstGeom prst="ellipse">
            <a:avLst/>
          </a:prstGeom>
          <a:solidFill>
            <a:srgbClr val="1F90CC"/>
          </a:solidFill>
          <a:ln w="635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3890772" y="2497000"/>
            <a:ext cx="82296" cy="82296"/>
          </a:xfrm>
          <a:prstGeom prst="ellipse">
            <a:avLst/>
          </a:prstGeom>
          <a:solidFill>
            <a:srgbClr val="1F90CC"/>
          </a:solidFill>
          <a:ln w="6350">
            <a:solidFill>
              <a:srgbClr val="1F9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4242816" y="1307592"/>
            <a:ext cx="3703320" cy="1920240"/>
          </a:xfrm>
          <a:prstGeom prst="roundRect">
            <a:avLst/>
          </a:prstGeom>
          <a:solidFill>
            <a:srgbClr val="FFFFFF"/>
          </a:solidFill>
          <a:ln w="1270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352544" y="1399032"/>
            <a:ext cx="3483863" cy="256032"/>
          </a:xfrm>
          <a:prstGeom prst="rect">
            <a:avLst/>
          </a:prstGeom>
          <a:noFill/>
        </p:spPr>
        <p:txBody>
          <a:bodyPr wrap="square" lIns="18288" rIns="18288" tIns="18288" bIns="18288" anchor="ctr">
            <a:spAutoFit/>
          </a:bodyPr>
          <a:lstStyle/>
          <a:p>
            <a:pPr algn="ctr"/>
            <a:r>
              <a:rPr sz="1250" b="1" lang="en-US">
                <a:solidFill>
                  <a:srgbClr val="434343"/>
                </a:solidFill>
                <a:latin typeface="Arial"/>
              </a:rPr>
              <a:t>Macro AUROC</a:t>
            </a:r>
          </a:p>
        </p:txBody>
      </p:sp>
      <p:sp>
        <p:nvSpPr>
          <p:cNvPr id="66" name="TextBox 65"/>
          <p:cNvSpPr txBox="1"/>
          <p:nvPr/>
        </p:nvSpPr>
        <p:spPr>
          <a:xfrm>
            <a:off x="4389120" y="1627631"/>
            <a:ext cx="3410712" cy="246888"/>
          </a:xfrm>
          <a:prstGeom prst="rect">
            <a:avLst/>
          </a:prstGeom>
          <a:noFill/>
        </p:spPr>
        <p:txBody>
          <a:bodyPr wrap="square" lIns="0" rIns="0" tIns="0" bIns="0" anchor="ctr">
            <a:spAutoFit/>
          </a:bodyPr>
          <a:lstStyle/>
          <a:p>
            <a:pPr algn="ctr"/>
            <a:r>
              <a:rPr sz="720" b="1" lang="en-US">
                <a:solidFill>
                  <a:srgbClr val="686868"/>
                </a:solidFill>
                <a:latin typeface="Arial"/>
              </a:rPr>
              <a:t>Higher is better · best 0.720 at global round 13</a:t>
            </a:r>
          </a:p>
        </p:txBody>
      </p:sp>
      <p:cxnSp>
        <p:nvCxnSpPr>
          <p:cNvPr id="67" name="Connector 66"/>
          <p:cNvCxnSpPr/>
          <p:nvPr/>
        </p:nvCxnSpPr>
        <p:spPr>
          <a:xfrm>
            <a:off x="4718304" y="2676265"/>
            <a:ext cx="3044952" cy="0"/>
          </a:xfrm>
          <a:prstGeom prst="line">
            <a:avLst/>
          </a:prstGeom>
          <a:ln w="7620">
            <a:solidFill>
              <a:srgbClr val="D5D5D5"/>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4279392" y="2603113"/>
            <a:ext cx="393192" cy="146304"/>
          </a:xfrm>
          <a:prstGeom prst="rect">
            <a:avLst/>
          </a:prstGeom>
          <a:noFill/>
        </p:spPr>
        <p:txBody>
          <a:bodyPr wrap="square" lIns="0" rIns="0" tIns="0" bIns="0" anchor="ctr">
            <a:spAutoFit/>
          </a:bodyPr>
          <a:lstStyle/>
          <a:p>
            <a:pPr algn="r"/>
            <a:r>
              <a:rPr sz="720" b="0" lang="en-US">
                <a:solidFill>
                  <a:srgbClr val="686868"/>
                </a:solidFill>
                <a:latin typeface="Arial"/>
              </a:rPr>
              <a:t>0.50</a:t>
            </a:r>
          </a:p>
        </p:txBody>
      </p:sp>
      <p:cxnSp>
        <p:nvCxnSpPr>
          <p:cNvPr id="69" name="Connector 68"/>
          <p:cNvCxnSpPr/>
          <p:nvPr/>
        </p:nvCxnSpPr>
        <p:spPr>
          <a:xfrm>
            <a:off x="4718304" y="2387315"/>
            <a:ext cx="3044952" cy="0"/>
          </a:xfrm>
          <a:prstGeom prst="line">
            <a:avLst/>
          </a:prstGeom>
          <a:ln w="7620">
            <a:solidFill>
              <a:srgbClr val="D5D5D5"/>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4279392" y="2314163"/>
            <a:ext cx="393192" cy="146304"/>
          </a:xfrm>
          <a:prstGeom prst="rect">
            <a:avLst/>
          </a:prstGeom>
          <a:noFill/>
        </p:spPr>
        <p:txBody>
          <a:bodyPr wrap="square" lIns="0" rIns="0" tIns="0" bIns="0" anchor="ctr">
            <a:spAutoFit/>
          </a:bodyPr>
          <a:lstStyle/>
          <a:p>
            <a:pPr algn="r"/>
            <a:r>
              <a:rPr sz="720" b="0" lang="en-US">
                <a:solidFill>
                  <a:srgbClr val="686868"/>
                </a:solidFill>
                <a:latin typeface="Arial"/>
              </a:rPr>
              <a:t>0.60</a:t>
            </a:r>
          </a:p>
        </p:txBody>
      </p:sp>
      <p:cxnSp>
        <p:nvCxnSpPr>
          <p:cNvPr id="71" name="Connector 70"/>
          <p:cNvCxnSpPr/>
          <p:nvPr/>
        </p:nvCxnSpPr>
        <p:spPr>
          <a:xfrm>
            <a:off x="4718304" y="2242840"/>
            <a:ext cx="3044952" cy="0"/>
          </a:xfrm>
          <a:prstGeom prst="line">
            <a:avLst/>
          </a:prstGeom>
          <a:ln w="7620">
            <a:solidFill>
              <a:srgbClr val="D5D5D5"/>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4279392" y="2169688"/>
            <a:ext cx="393192" cy="146304"/>
          </a:xfrm>
          <a:prstGeom prst="rect">
            <a:avLst/>
          </a:prstGeom>
          <a:noFill/>
        </p:spPr>
        <p:txBody>
          <a:bodyPr wrap="square" lIns="0" rIns="0" tIns="0" bIns="0" anchor="ctr">
            <a:spAutoFit/>
          </a:bodyPr>
          <a:lstStyle/>
          <a:p>
            <a:pPr algn="r"/>
            <a:r>
              <a:rPr sz="720" b="0" lang="en-US">
                <a:solidFill>
                  <a:srgbClr val="686868"/>
                </a:solidFill>
                <a:latin typeface="Arial"/>
              </a:rPr>
              <a:t>0.65</a:t>
            </a:r>
          </a:p>
        </p:txBody>
      </p:sp>
      <p:cxnSp>
        <p:nvCxnSpPr>
          <p:cNvPr id="73" name="Connector 72"/>
          <p:cNvCxnSpPr/>
          <p:nvPr/>
        </p:nvCxnSpPr>
        <p:spPr>
          <a:xfrm>
            <a:off x="4718304" y="2098365"/>
            <a:ext cx="3044952" cy="0"/>
          </a:xfrm>
          <a:prstGeom prst="line">
            <a:avLst/>
          </a:prstGeom>
          <a:ln w="7620">
            <a:solidFill>
              <a:srgbClr val="D5D5D5"/>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4279392" y="2025213"/>
            <a:ext cx="393192" cy="146304"/>
          </a:xfrm>
          <a:prstGeom prst="rect">
            <a:avLst/>
          </a:prstGeom>
          <a:noFill/>
        </p:spPr>
        <p:txBody>
          <a:bodyPr wrap="square" lIns="0" rIns="0" tIns="0" bIns="0" anchor="ctr">
            <a:spAutoFit/>
          </a:bodyPr>
          <a:lstStyle/>
          <a:p>
            <a:pPr algn="r"/>
            <a:r>
              <a:rPr sz="720" b="0" lang="en-US">
                <a:solidFill>
                  <a:srgbClr val="686868"/>
                </a:solidFill>
                <a:latin typeface="Arial"/>
              </a:rPr>
              <a:t>0.70</a:t>
            </a:r>
          </a:p>
        </p:txBody>
      </p:sp>
      <p:sp>
        <p:nvSpPr>
          <p:cNvPr id="75" name="TextBox 74"/>
          <p:cNvSpPr txBox="1"/>
          <p:nvPr/>
        </p:nvSpPr>
        <p:spPr>
          <a:xfrm>
            <a:off x="4718304" y="2944368"/>
            <a:ext cx="3044952" cy="137160"/>
          </a:xfrm>
          <a:prstGeom prst="rect">
            <a:avLst/>
          </a:prstGeom>
          <a:noFill/>
        </p:spPr>
        <p:txBody>
          <a:bodyPr wrap="square" lIns="0" rIns="0" tIns="0" bIns="0" anchor="ctr">
            <a:spAutoFit/>
          </a:bodyPr>
          <a:lstStyle/>
          <a:p>
            <a:pPr algn="ctr"/>
            <a:r>
              <a:rPr sz="720" b="0" lang="en-US">
                <a:solidFill>
                  <a:srgbClr val="686868"/>
                </a:solidFill>
                <a:latin typeface="Arial"/>
              </a:rPr>
              <a:t>Global model round</a:t>
            </a:r>
          </a:p>
        </p:txBody>
      </p:sp>
      <p:cxnSp>
        <p:nvCxnSpPr>
          <p:cNvPr id="76" name="Connector 75"/>
          <p:cNvCxnSpPr/>
          <p:nvPr/>
        </p:nvCxnSpPr>
        <p:spPr>
          <a:xfrm>
            <a:off x="4718304" y="2011680"/>
            <a:ext cx="0" cy="722376"/>
          </a:xfrm>
          <a:prstGeom prst="line">
            <a:avLst/>
          </a:prstGeom>
          <a:ln w="5715">
            <a:solidFill>
              <a:srgbClr val="E8E8E8"/>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4553712" y="2779776"/>
            <a:ext cx="329184" cy="137160"/>
          </a:xfrm>
          <a:prstGeom prst="rect">
            <a:avLst/>
          </a:prstGeom>
          <a:noFill/>
        </p:spPr>
        <p:txBody>
          <a:bodyPr wrap="square" lIns="0" rIns="0" tIns="0" bIns="0" anchor="ctr">
            <a:spAutoFit/>
          </a:bodyPr>
          <a:lstStyle/>
          <a:p>
            <a:pPr algn="ctr"/>
            <a:r>
              <a:rPr sz="720" b="0" lang="en-US">
                <a:solidFill>
                  <a:srgbClr val="686868"/>
                </a:solidFill>
                <a:latin typeface="Arial"/>
              </a:rPr>
              <a:t>2</a:t>
            </a:r>
          </a:p>
        </p:txBody>
      </p:sp>
      <p:cxnSp>
        <p:nvCxnSpPr>
          <p:cNvPr id="78" name="Connector 77"/>
          <p:cNvCxnSpPr/>
          <p:nvPr/>
        </p:nvCxnSpPr>
        <p:spPr>
          <a:xfrm>
            <a:off x="5247860" y="2011680"/>
            <a:ext cx="0" cy="722376"/>
          </a:xfrm>
          <a:prstGeom prst="line">
            <a:avLst/>
          </a:prstGeom>
          <a:ln w="5715">
            <a:solidFill>
              <a:srgbClr val="E8E8E8"/>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5083268" y="2779776"/>
            <a:ext cx="329184" cy="137160"/>
          </a:xfrm>
          <a:prstGeom prst="rect">
            <a:avLst/>
          </a:prstGeom>
          <a:noFill/>
        </p:spPr>
        <p:txBody>
          <a:bodyPr wrap="square" lIns="0" rIns="0" tIns="0" bIns="0" anchor="ctr">
            <a:spAutoFit/>
          </a:bodyPr>
          <a:lstStyle/>
          <a:p>
            <a:pPr algn="ctr"/>
            <a:r>
              <a:rPr sz="720" b="0" lang="en-US">
                <a:solidFill>
                  <a:srgbClr val="686868"/>
                </a:solidFill>
                <a:latin typeface="Arial"/>
              </a:rPr>
              <a:t>6</a:t>
            </a:r>
          </a:p>
        </p:txBody>
      </p:sp>
      <p:cxnSp>
        <p:nvCxnSpPr>
          <p:cNvPr id="80" name="Connector 79"/>
          <p:cNvCxnSpPr/>
          <p:nvPr/>
        </p:nvCxnSpPr>
        <p:spPr>
          <a:xfrm>
            <a:off x="5909806" y="2011680"/>
            <a:ext cx="0" cy="722376"/>
          </a:xfrm>
          <a:prstGeom prst="line">
            <a:avLst/>
          </a:prstGeom>
          <a:ln w="5715">
            <a:solidFill>
              <a:srgbClr val="E8E8E8"/>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5745214" y="2779776"/>
            <a:ext cx="329184" cy="137160"/>
          </a:xfrm>
          <a:prstGeom prst="rect">
            <a:avLst/>
          </a:prstGeom>
          <a:noFill/>
        </p:spPr>
        <p:txBody>
          <a:bodyPr wrap="square" lIns="0" rIns="0" tIns="0" bIns="0" anchor="ctr">
            <a:spAutoFit/>
          </a:bodyPr>
          <a:lstStyle/>
          <a:p>
            <a:pPr algn="ctr"/>
            <a:r>
              <a:rPr sz="720" b="0" lang="en-US">
                <a:solidFill>
                  <a:srgbClr val="686868"/>
                </a:solidFill>
                <a:latin typeface="Arial"/>
              </a:rPr>
              <a:t>11</a:t>
            </a:r>
          </a:p>
        </p:txBody>
      </p:sp>
      <p:cxnSp>
        <p:nvCxnSpPr>
          <p:cNvPr id="82" name="Connector 81"/>
          <p:cNvCxnSpPr/>
          <p:nvPr/>
        </p:nvCxnSpPr>
        <p:spPr>
          <a:xfrm>
            <a:off x="6836531" y="2011680"/>
            <a:ext cx="0" cy="722376"/>
          </a:xfrm>
          <a:prstGeom prst="line">
            <a:avLst/>
          </a:prstGeom>
          <a:ln w="5715">
            <a:solidFill>
              <a:srgbClr val="E8E8E8"/>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6671939" y="2779776"/>
            <a:ext cx="329184" cy="137160"/>
          </a:xfrm>
          <a:prstGeom prst="rect">
            <a:avLst/>
          </a:prstGeom>
          <a:noFill/>
        </p:spPr>
        <p:txBody>
          <a:bodyPr wrap="square" lIns="0" rIns="0" tIns="0" bIns="0" anchor="ctr">
            <a:spAutoFit/>
          </a:bodyPr>
          <a:lstStyle/>
          <a:p>
            <a:pPr algn="ctr"/>
            <a:r>
              <a:rPr sz="720" b="0" lang="en-US">
                <a:solidFill>
                  <a:srgbClr val="686868"/>
                </a:solidFill>
                <a:latin typeface="Arial"/>
              </a:rPr>
              <a:t>18</a:t>
            </a:r>
          </a:p>
        </p:txBody>
      </p:sp>
      <p:cxnSp>
        <p:nvCxnSpPr>
          <p:cNvPr id="84" name="Connector 83"/>
          <p:cNvCxnSpPr/>
          <p:nvPr/>
        </p:nvCxnSpPr>
        <p:spPr>
          <a:xfrm>
            <a:off x="7763256" y="2011680"/>
            <a:ext cx="0" cy="722376"/>
          </a:xfrm>
          <a:prstGeom prst="line">
            <a:avLst/>
          </a:prstGeom>
          <a:ln w="5715">
            <a:solidFill>
              <a:srgbClr val="E8E8E8"/>
            </a:solidFill>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7598664" y="2779776"/>
            <a:ext cx="329184" cy="137160"/>
          </a:xfrm>
          <a:prstGeom prst="rect">
            <a:avLst/>
          </a:prstGeom>
          <a:noFill/>
        </p:spPr>
        <p:txBody>
          <a:bodyPr wrap="square" lIns="0" rIns="0" tIns="0" bIns="0" anchor="ctr">
            <a:spAutoFit/>
          </a:bodyPr>
          <a:lstStyle/>
          <a:p>
            <a:pPr algn="ctr"/>
            <a:r>
              <a:rPr sz="720" b="0" lang="en-US">
                <a:solidFill>
                  <a:srgbClr val="686868"/>
                </a:solidFill>
                <a:latin typeface="Arial"/>
              </a:rPr>
              <a:t>25</a:t>
            </a:r>
          </a:p>
        </p:txBody>
      </p:sp>
      <p:cxnSp>
        <p:nvCxnSpPr>
          <p:cNvPr id="86" name="Connector 85"/>
          <p:cNvCxnSpPr/>
          <p:nvPr/>
        </p:nvCxnSpPr>
        <p:spPr>
          <a:xfrm>
            <a:off x="4718304" y="2011680"/>
            <a:ext cx="0" cy="722376"/>
          </a:xfrm>
          <a:prstGeom prst="line">
            <a:avLst/>
          </a:prstGeom>
          <a:ln w="11430">
            <a:solidFill>
              <a:srgbClr val="434343"/>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4718304" y="2734056"/>
            <a:ext cx="3044952" cy="0"/>
          </a:xfrm>
          <a:prstGeom prst="line">
            <a:avLst/>
          </a:prstGeom>
          <a:ln w="11430">
            <a:solidFill>
              <a:srgbClr val="434343"/>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4718304" y="2676265"/>
            <a:ext cx="3044952" cy="0"/>
          </a:xfrm>
          <a:prstGeom prst="line">
            <a:avLst/>
          </a:prstGeom>
          <a:ln w="12700">
            <a:solidFill>
              <a:srgbClr val="B2B2B2"/>
            </a:solidFill>
            <a:prstDash val="dash"/>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7269480" y="2511673"/>
            <a:ext cx="457200" cy="128016"/>
          </a:xfrm>
          <a:prstGeom prst="rect">
            <a:avLst/>
          </a:prstGeom>
          <a:noFill/>
        </p:spPr>
        <p:txBody>
          <a:bodyPr wrap="square" lIns="0" rIns="0" tIns="0" bIns="0" anchor="t">
            <a:spAutoFit/>
          </a:bodyPr>
          <a:lstStyle/>
          <a:p>
            <a:pPr algn="r"/>
            <a:r>
              <a:rPr sz="700" b="0" lang="en-US">
                <a:solidFill>
                  <a:srgbClr val="686868"/>
                </a:solidFill>
                <a:latin typeface="Arial"/>
              </a:rPr>
              <a:t>chance</a:t>
            </a:r>
          </a:p>
        </p:txBody>
      </p:sp>
      <p:cxnSp>
        <p:nvCxnSpPr>
          <p:cNvPr id="90" name="Connector 89"/>
          <p:cNvCxnSpPr/>
          <p:nvPr/>
        </p:nvCxnSpPr>
        <p:spPr>
          <a:xfrm flipV="1">
            <a:off x="4718304" y="2152446"/>
            <a:ext cx="132389" cy="74290"/>
          </a:xfrm>
          <a:prstGeom prst="line">
            <a:avLst/>
          </a:prstGeom>
          <a:ln w="24130">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4850693" y="2121395"/>
            <a:ext cx="132389" cy="31051"/>
          </a:xfrm>
          <a:prstGeom prst="line">
            <a:avLst/>
          </a:prstGeom>
          <a:ln w="24130">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4983082" y="2096367"/>
            <a:ext cx="132389" cy="25028"/>
          </a:xfrm>
          <a:prstGeom prst="line">
            <a:avLst/>
          </a:prstGeom>
          <a:ln w="24130">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5115471" y="2079304"/>
            <a:ext cx="132389" cy="17063"/>
          </a:xfrm>
          <a:prstGeom prst="line">
            <a:avLst/>
          </a:prstGeom>
          <a:ln w="24130">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5247860" y="2068459"/>
            <a:ext cx="132390" cy="10845"/>
          </a:xfrm>
          <a:prstGeom prst="line">
            <a:avLst/>
          </a:prstGeom>
          <a:ln w="24130">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5380250" y="2061104"/>
            <a:ext cx="132389" cy="7355"/>
          </a:xfrm>
          <a:prstGeom prst="line">
            <a:avLst/>
          </a:prstGeom>
          <a:ln w="24130">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5512639" y="2048415"/>
            <a:ext cx="132389" cy="12689"/>
          </a:xfrm>
          <a:prstGeom prst="line">
            <a:avLst/>
          </a:prstGeom>
          <a:ln w="24130">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645028" y="2048415"/>
            <a:ext cx="132389" cy="1826"/>
          </a:xfrm>
          <a:prstGeom prst="line">
            <a:avLst/>
          </a:prstGeom>
          <a:ln w="24130">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5777417" y="2043300"/>
            <a:ext cx="132389" cy="6941"/>
          </a:xfrm>
          <a:prstGeom prst="line">
            <a:avLst/>
          </a:prstGeom>
          <a:ln w="24130">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5909806" y="2043300"/>
            <a:ext cx="132390" cy="4884"/>
          </a:xfrm>
          <a:prstGeom prst="line">
            <a:avLst/>
          </a:prstGeom>
          <a:ln w="24130">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6042196" y="2039705"/>
            <a:ext cx="132389" cy="8479"/>
          </a:xfrm>
          <a:prstGeom prst="line">
            <a:avLst/>
          </a:prstGeom>
          <a:ln w="24130">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6174585" y="2039705"/>
            <a:ext cx="132389" cy="2808"/>
          </a:xfrm>
          <a:prstGeom prst="line">
            <a:avLst/>
          </a:prstGeom>
          <a:ln w="24130">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6306974" y="2042513"/>
            <a:ext cx="132389" cy="3716"/>
          </a:xfrm>
          <a:prstGeom prst="line">
            <a:avLst/>
          </a:prstGeom>
          <a:ln w="24130">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6439363" y="2041984"/>
            <a:ext cx="132390" cy="4245"/>
          </a:xfrm>
          <a:prstGeom prst="line">
            <a:avLst/>
          </a:prstGeom>
          <a:ln w="24130">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6571753" y="2041984"/>
            <a:ext cx="132389" cy="9553"/>
          </a:xfrm>
          <a:prstGeom prst="line">
            <a:avLst/>
          </a:prstGeom>
          <a:ln w="24130">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6704142" y="2045431"/>
            <a:ext cx="132389" cy="6106"/>
          </a:xfrm>
          <a:prstGeom prst="line">
            <a:avLst/>
          </a:prstGeom>
          <a:ln w="24130">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6836531" y="2045431"/>
            <a:ext cx="132389" cy="6117"/>
          </a:xfrm>
          <a:prstGeom prst="line">
            <a:avLst/>
          </a:prstGeom>
          <a:ln w="24130">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6968920" y="2051548"/>
            <a:ext cx="132389" cy="2556"/>
          </a:xfrm>
          <a:prstGeom prst="line">
            <a:avLst/>
          </a:prstGeom>
          <a:ln w="24130">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7101309" y="2054104"/>
            <a:ext cx="132390" cy="9115"/>
          </a:xfrm>
          <a:prstGeom prst="line">
            <a:avLst/>
          </a:prstGeom>
          <a:ln w="24130">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7233699" y="2063219"/>
            <a:ext cx="132389" cy="70"/>
          </a:xfrm>
          <a:prstGeom prst="line">
            <a:avLst/>
          </a:prstGeom>
          <a:ln w="24130">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7366088" y="2063289"/>
            <a:ext cx="132389" cy="3445"/>
          </a:xfrm>
          <a:prstGeom prst="line">
            <a:avLst/>
          </a:prstGeom>
          <a:ln w="24130">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7498477" y="2058990"/>
            <a:ext cx="132389" cy="7744"/>
          </a:xfrm>
          <a:prstGeom prst="line">
            <a:avLst/>
          </a:prstGeom>
          <a:ln w="24130">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7630866" y="2058990"/>
            <a:ext cx="132390" cy="6572"/>
          </a:xfrm>
          <a:prstGeom prst="line">
            <a:avLst/>
          </a:prstGeom>
          <a:ln w="24130">
            <a:solidFill>
              <a:srgbClr val="2F8F46"/>
            </a:solidFill>
          </a:ln>
        </p:spPr>
        <p:style>
          <a:lnRef idx="2">
            <a:schemeClr val="accent1"/>
          </a:lnRef>
          <a:fillRef idx="0">
            <a:schemeClr val="accent1"/>
          </a:fillRef>
          <a:effectRef idx="1">
            <a:schemeClr val="accent1"/>
          </a:effectRef>
          <a:fontRef idx="minor">
            <a:schemeClr val="tx1"/>
          </a:fontRef>
        </p:style>
      </p:cxnSp>
      <p:sp>
        <p:nvSpPr>
          <p:cNvPr id="113" name="Oval 112"/>
          <p:cNvSpPr/>
          <p:nvPr/>
        </p:nvSpPr>
        <p:spPr>
          <a:xfrm>
            <a:off x="4677156" y="2185588"/>
            <a:ext cx="82296" cy="82296"/>
          </a:xfrm>
          <a:prstGeom prst="ellipse">
            <a:avLst/>
          </a:prstGeom>
          <a:solidFill>
            <a:srgbClr val="2F8F46"/>
          </a:solidFill>
          <a:ln w="635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7722108" y="2024414"/>
            <a:ext cx="82296" cy="82296"/>
          </a:xfrm>
          <a:prstGeom prst="ellipse">
            <a:avLst/>
          </a:prstGeom>
          <a:solidFill>
            <a:srgbClr val="2F8F46"/>
          </a:solidFill>
          <a:ln w="635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ounded Rectangle 114"/>
          <p:cNvSpPr/>
          <p:nvPr/>
        </p:nvSpPr>
        <p:spPr>
          <a:xfrm>
            <a:off x="8074152" y="1307592"/>
            <a:ext cx="3703320" cy="1920240"/>
          </a:xfrm>
          <a:prstGeom prst="roundRect">
            <a:avLst/>
          </a:prstGeom>
          <a:solidFill>
            <a:srgbClr val="FFFFFF"/>
          </a:solidFill>
          <a:ln w="1270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8183879" y="1399032"/>
            <a:ext cx="3483863" cy="256032"/>
          </a:xfrm>
          <a:prstGeom prst="rect">
            <a:avLst/>
          </a:prstGeom>
          <a:noFill/>
        </p:spPr>
        <p:txBody>
          <a:bodyPr wrap="square" lIns="18288" rIns="18288" tIns="18288" bIns="18288" anchor="ctr">
            <a:spAutoFit/>
          </a:bodyPr>
          <a:lstStyle/>
          <a:p>
            <a:pPr algn="ctr"/>
            <a:r>
              <a:rPr sz="1250" b="1" lang="en-US">
                <a:solidFill>
                  <a:srgbClr val="434343"/>
                </a:solidFill>
                <a:latin typeface="Arial"/>
              </a:rPr>
              <a:t>Macro F1</a:t>
            </a:r>
          </a:p>
        </p:txBody>
      </p:sp>
      <p:sp>
        <p:nvSpPr>
          <p:cNvPr id="117" name="TextBox 116"/>
          <p:cNvSpPr txBox="1"/>
          <p:nvPr/>
        </p:nvSpPr>
        <p:spPr>
          <a:xfrm>
            <a:off x="8220456" y="1627631"/>
            <a:ext cx="3410712" cy="246888"/>
          </a:xfrm>
          <a:prstGeom prst="rect">
            <a:avLst/>
          </a:prstGeom>
          <a:noFill/>
        </p:spPr>
        <p:txBody>
          <a:bodyPr wrap="square" lIns="0" rIns="0" tIns="0" bIns="0" anchor="ctr">
            <a:spAutoFit/>
          </a:bodyPr>
          <a:lstStyle/>
          <a:p>
            <a:pPr algn="ctr"/>
            <a:r>
              <a:rPr sz="720" b="1" lang="en-US">
                <a:solidFill>
                  <a:srgbClr val="686868"/>
                </a:solidFill>
                <a:latin typeface="Arial"/>
              </a:rPr>
              <a:t>Higher is better · best 0.195 at global round 8</a:t>
            </a:r>
          </a:p>
        </p:txBody>
      </p:sp>
      <p:cxnSp>
        <p:nvCxnSpPr>
          <p:cNvPr id="118" name="Connector 117"/>
          <p:cNvCxnSpPr/>
          <p:nvPr/>
        </p:nvCxnSpPr>
        <p:spPr>
          <a:xfrm>
            <a:off x="8549640" y="2613660"/>
            <a:ext cx="3044952" cy="0"/>
          </a:xfrm>
          <a:prstGeom prst="line">
            <a:avLst/>
          </a:prstGeom>
          <a:ln w="7620">
            <a:solidFill>
              <a:srgbClr val="D5D5D5"/>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8110727" y="2540508"/>
            <a:ext cx="393192" cy="146304"/>
          </a:xfrm>
          <a:prstGeom prst="rect">
            <a:avLst/>
          </a:prstGeom>
          <a:noFill/>
        </p:spPr>
        <p:txBody>
          <a:bodyPr wrap="square" lIns="0" rIns="0" tIns="0" bIns="0" anchor="ctr">
            <a:spAutoFit/>
          </a:bodyPr>
          <a:lstStyle/>
          <a:p>
            <a:pPr algn="r"/>
            <a:r>
              <a:rPr sz="720" b="0" lang="en-US">
                <a:solidFill>
                  <a:srgbClr val="686868"/>
                </a:solidFill>
                <a:latin typeface="Arial"/>
              </a:rPr>
              <a:t>0.15</a:t>
            </a:r>
          </a:p>
        </p:txBody>
      </p:sp>
      <p:cxnSp>
        <p:nvCxnSpPr>
          <p:cNvPr id="120" name="Connector 119"/>
          <p:cNvCxnSpPr/>
          <p:nvPr/>
        </p:nvCxnSpPr>
        <p:spPr>
          <a:xfrm>
            <a:off x="8549640" y="2372868"/>
            <a:ext cx="3044952" cy="0"/>
          </a:xfrm>
          <a:prstGeom prst="line">
            <a:avLst/>
          </a:prstGeom>
          <a:ln w="7620">
            <a:solidFill>
              <a:srgbClr val="D5D5D5"/>
            </a:solidFill>
          </a:ln>
        </p:spPr>
        <p:style>
          <a:lnRef idx="2">
            <a:schemeClr val="accent1"/>
          </a:lnRef>
          <a:fillRef idx="0">
            <a:schemeClr val="accent1"/>
          </a:fillRef>
          <a:effectRef idx="1">
            <a:schemeClr val="accent1"/>
          </a:effectRef>
          <a:fontRef idx="minor">
            <a:schemeClr val="tx1"/>
          </a:fontRef>
        </p:style>
      </p:cxnSp>
      <p:sp>
        <p:nvSpPr>
          <p:cNvPr id="121" name="TextBox 120"/>
          <p:cNvSpPr txBox="1"/>
          <p:nvPr/>
        </p:nvSpPr>
        <p:spPr>
          <a:xfrm>
            <a:off x="8110727" y="2299716"/>
            <a:ext cx="393192" cy="146304"/>
          </a:xfrm>
          <a:prstGeom prst="rect">
            <a:avLst/>
          </a:prstGeom>
          <a:noFill/>
        </p:spPr>
        <p:txBody>
          <a:bodyPr wrap="square" lIns="0" rIns="0" tIns="0" bIns="0" anchor="ctr">
            <a:spAutoFit/>
          </a:bodyPr>
          <a:lstStyle/>
          <a:p>
            <a:pPr algn="r"/>
            <a:r>
              <a:rPr sz="720" b="0" lang="en-US">
                <a:solidFill>
                  <a:srgbClr val="686868"/>
                </a:solidFill>
                <a:latin typeface="Arial"/>
              </a:rPr>
              <a:t>0.17</a:t>
            </a:r>
          </a:p>
        </p:txBody>
      </p:sp>
      <p:cxnSp>
        <p:nvCxnSpPr>
          <p:cNvPr id="122" name="Connector 121"/>
          <p:cNvCxnSpPr/>
          <p:nvPr/>
        </p:nvCxnSpPr>
        <p:spPr>
          <a:xfrm>
            <a:off x="8549640" y="2132076"/>
            <a:ext cx="3044952" cy="0"/>
          </a:xfrm>
          <a:prstGeom prst="line">
            <a:avLst/>
          </a:prstGeom>
          <a:ln w="7620">
            <a:solidFill>
              <a:srgbClr val="D5D5D5"/>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8110727" y="2058924"/>
            <a:ext cx="393192" cy="146304"/>
          </a:xfrm>
          <a:prstGeom prst="rect">
            <a:avLst/>
          </a:prstGeom>
          <a:noFill/>
        </p:spPr>
        <p:txBody>
          <a:bodyPr wrap="square" lIns="0" rIns="0" tIns="0" bIns="0" anchor="ctr">
            <a:spAutoFit/>
          </a:bodyPr>
          <a:lstStyle/>
          <a:p>
            <a:pPr algn="r"/>
            <a:r>
              <a:rPr sz="720" b="0" lang="en-US">
                <a:solidFill>
                  <a:srgbClr val="686868"/>
                </a:solidFill>
                <a:latin typeface="Arial"/>
              </a:rPr>
              <a:t>0.19</a:t>
            </a:r>
          </a:p>
        </p:txBody>
      </p:sp>
      <p:sp>
        <p:nvSpPr>
          <p:cNvPr id="124" name="TextBox 123"/>
          <p:cNvSpPr txBox="1"/>
          <p:nvPr/>
        </p:nvSpPr>
        <p:spPr>
          <a:xfrm>
            <a:off x="8549640" y="2944368"/>
            <a:ext cx="3044952" cy="137160"/>
          </a:xfrm>
          <a:prstGeom prst="rect">
            <a:avLst/>
          </a:prstGeom>
          <a:noFill/>
        </p:spPr>
        <p:txBody>
          <a:bodyPr wrap="square" lIns="0" rIns="0" tIns="0" bIns="0" anchor="ctr">
            <a:spAutoFit/>
          </a:bodyPr>
          <a:lstStyle/>
          <a:p>
            <a:pPr algn="ctr"/>
            <a:r>
              <a:rPr sz="720" b="0" lang="en-US">
                <a:solidFill>
                  <a:srgbClr val="686868"/>
                </a:solidFill>
                <a:latin typeface="Arial"/>
              </a:rPr>
              <a:t>Global model round</a:t>
            </a:r>
          </a:p>
        </p:txBody>
      </p:sp>
      <p:cxnSp>
        <p:nvCxnSpPr>
          <p:cNvPr id="125" name="Connector 124"/>
          <p:cNvCxnSpPr/>
          <p:nvPr/>
        </p:nvCxnSpPr>
        <p:spPr>
          <a:xfrm>
            <a:off x="8549640" y="2011680"/>
            <a:ext cx="0" cy="722376"/>
          </a:xfrm>
          <a:prstGeom prst="line">
            <a:avLst/>
          </a:prstGeom>
          <a:ln w="5715">
            <a:solidFill>
              <a:srgbClr val="E8E8E8"/>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8385048" y="2779776"/>
            <a:ext cx="329184" cy="137160"/>
          </a:xfrm>
          <a:prstGeom prst="rect">
            <a:avLst/>
          </a:prstGeom>
          <a:noFill/>
        </p:spPr>
        <p:txBody>
          <a:bodyPr wrap="square" lIns="0" rIns="0" tIns="0" bIns="0" anchor="ctr">
            <a:spAutoFit/>
          </a:bodyPr>
          <a:lstStyle/>
          <a:p>
            <a:pPr algn="ctr"/>
            <a:r>
              <a:rPr sz="720" b="0" lang="en-US">
                <a:solidFill>
                  <a:srgbClr val="686868"/>
                </a:solidFill>
                <a:latin typeface="Arial"/>
              </a:rPr>
              <a:t>2</a:t>
            </a:r>
          </a:p>
        </p:txBody>
      </p:sp>
      <p:cxnSp>
        <p:nvCxnSpPr>
          <p:cNvPr id="127" name="Connector 126"/>
          <p:cNvCxnSpPr/>
          <p:nvPr/>
        </p:nvCxnSpPr>
        <p:spPr>
          <a:xfrm>
            <a:off x="9079196" y="2011680"/>
            <a:ext cx="0" cy="722376"/>
          </a:xfrm>
          <a:prstGeom prst="line">
            <a:avLst/>
          </a:prstGeom>
          <a:ln w="5715">
            <a:solidFill>
              <a:srgbClr val="E8E8E8"/>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8914604" y="2779776"/>
            <a:ext cx="329184" cy="137160"/>
          </a:xfrm>
          <a:prstGeom prst="rect">
            <a:avLst/>
          </a:prstGeom>
          <a:noFill/>
        </p:spPr>
        <p:txBody>
          <a:bodyPr wrap="square" lIns="0" rIns="0" tIns="0" bIns="0" anchor="ctr">
            <a:spAutoFit/>
          </a:bodyPr>
          <a:lstStyle/>
          <a:p>
            <a:pPr algn="ctr"/>
            <a:r>
              <a:rPr sz="720" b="0" lang="en-US">
                <a:solidFill>
                  <a:srgbClr val="686868"/>
                </a:solidFill>
                <a:latin typeface="Arial"/>
              </a:rPr>
              <a:t>6</a:t>
            </a:r>
          </a:p>
        </p:txBody>
      </p:sp>
      <p:cxnSp>
        <p:nvCxnSpPr>
          <p:cNvPr id="129" name="Connector 128"/>
          <p:cNvCxnSpPr/>
          <p:nvPr/>
        </p:nvCxnSpPr>
        <p:spPr>
          <a:xfrm>
            <a:off x="9741142" y="2011680"/>
            <a:ext cx="0" cy="722376"/>
          </a:xfrm>
          <a:prstGeom prst="line">
            <a:avLst/>
          </a:prstGeom>
          <a:ln w="5715">
            <a:solidFill>
              <a:srgbClr val="E8E8E8"/>
            </a:solidFill>
          </a:ln>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9576550" y="2779776"/>
            <a:ext cx="329184" cy="137160"/>
          </a:xfrm>
          <a:prstGeom prst="rect">
            <a:avLst/>
          </a:prstGeom>
          <a:noFill/>
        </p:spPr>
        <p:txBody>
          <a:bodyPr wrap="square" lIns="0" rIns="0" tIns="0" bIns="0" anchor="ctr">
            <a:spAutoFit/>
          </a:bodyPr>
          <a:lstStyle/>
          <a:p>
            <a:pPr algn="ctr"/>
            <a:r>
              <a:rPr sz="720" b="0" lang="en-US">
                <a:solidFill>
                  <a:srgbClr val="686868"/>
                </a:solidFill>
                <a:latin typeface="Arial"/>
              </a:rPr>
              <a:t>11</a:t>
            </a:r>
          </a:p>
        </p:txBody>
      </p:sp>
      <p:cxnSp>
        <p:nvCxnSpPr>
          <p:cNvPr id="131" name="Connector 130"/>
          <p:cNvCxnSpPr/>
          <p:nvPr/>
        </p:nvCxnSpPr>
        <p:spPr>
          <a:xfrm>
            <a:off x="10667867" y="2011680"/>
            <a:ext cx="0" cy="722376"/>
          </a:xfrm>
          <a:prstGeom prst="line">
            <a:avLst/>
          </a:prstGeom>
          <a:ln w="5715">
            <a:solidFill>
              <a:srgbClr val="E8E8E8"/>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10503275" y="2779776"/>
            <a:ext cx="329184" cy="137160"/>
          </a:xfrm>
          <a:prstGeom prst="rect">
            <a:avLst/>
          </a:prstGeom>
          <a:noFill/>
        </p:spPr>
        <p:txBody>
          <a:bodyPr wrap="square" lIns="0" rIns="0" tIns="0" bIns="0" anchor="ctr">
            <a:spAutoFit/>
          </a:bodyPr>
          <a:lstStyle/>
          <a:p>
            <a:pPr algn="ctr"/>
            <a:r>
              <a:rPr sz="720" b="0" lang="en-US">
                <a:solidFill>
                  <a:srgbClr val="686868"/>
                </a:solidFill>
                <a:latin typeface="Arial"/>
              </a:rPr>
              <a:t>18</a:t>
            </a:r>
          </a:p>
        </p:txBody>
      </p:sp>
      <p:cxnSp>
        <p:nvCxnSpPr>
          <p:cNvPr id="133" name="Connector 132"/>
          <p:cNvCxnSpPr/>
          <p:nvPr/>
        </p:nvCxnSpPr>
        <p:spPr>
          <a:xfrm>
            <a:off x="11594592" y="2011680"/>
            <a:ext cx="0" cy="722376"/>
          </a:xfrm>
          <a:prstGeom prst="line">
            <a:avLst/>
          </a:prstGeom>
          <a:ln w="5715">
            <a:solidFill>
              <a:srgbClr val="E8E8E8"/>
            </a:solidFill>
          </a:ln>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11430000" y="2779776"/>
            <a:ext cx="329184" cy="137160"/>
          </a:xfrm>
          <a:prstGeom prst="rect">
            <a:avLst/>
          </a:prstGeom>
          <a:noFill/>
        </p:spPr>
        <p:txBody>
          <a:bodyPr wrap="square" lIns="0" rIns="0" tIns="0" bIns="0" anchor="ctr">
            <a:spAutoFit/>
          </a:bodyPr>
          <a:lstStyle/>
          <a:p>
            <a:pPr algn="ctr"/>
            <a:r>
              <a:rPr sz="720" b="0" lang="en-US">
                <a:solidFill>
                  <a:srgbClr val="686868"/>
                </a:solidFill>
                <a:latin typeface="Arial"/>
              </a:rPr>
              <a:t>25</a:t>
            </a:r>
          </a:p>
        </p:txBody>
      </p:sp>
      <p:cxnSp>
        <p:nvCxnSpPr>
          <p:cNvPr id="135" name="Connector 134"/>
          <p:cNvCxnSpPr/>
          <p:nvPr/>
        </p:nvCxnSpPr>
        <p:spPr>
          <a:xfrm>
            <a:off x="8549640" y="2011680"/>
            <a:ext cx="0" cy="722376"/>
          </a:xfrm>
          <a:prstGeom prst="line">
            <a:avLst/>
          </a:prstGeom>
          <a:ln w="11430">
            <a:solidFill>
              <a:srgbClr val="434343"/>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8549640" y="2734056"/>
            <a:ext cx="3044952" cy="0"/>
          </a:xfrm>
          <a:prstGeom prst="line">
            <a:avLst/>
          </a:prstGeom>
          <a:ln w="11430">
            <a:solidFill>
              <a:srgbClr val="434343"/>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8549640" y="2446184"/>
            <a:ext cx="132389" cy="276022"/>
          </a:xfrm>
          <a:prstGeom prst="line">
            <a:avLst/>
          </a:prstGeom>
          <a:ln w="2413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8682029" y="2446184"/>
            <a:ext cx="132389" cy="7247"/>
          </a:xfrm>
          <a:prstGeom prst="line">
            <a:avLst/>
          </a:prstGeom>
          <a:ln w="2413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8814418" y="2412876"/>
            <a:ext cx="132389" cy="40555"/>
          </a:xfrm>
          <a:prstGeom prst="line">
            <a:avLst/>
          </a:prstGeom>
          <a:ln w="2413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8946807" y="2176417"/>
            <a:ext cx="132389" cy="236459"/>
          </a:xfrm>
          <a:prstGeom prst="line">
            <a:avLst/>
          </a:prstGeom>
          <a:ln w="2413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9079196" y="2102367"/>
            <a:ext cx="132390" cy="74050"/>
          </a:xfrm>
          <a:prstGeom prst="line">
            <a:avLst/>
          </a:prstGeom>
          <a:ln w="2413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9211586" y="2067342"/>
            <a:ext cx="132389" cy="35025"/>
          </a:xfrm>
          <a:prstGeom prst="line">
            <a:avLst/>
          </a:prstGeom>
          <a:ln w="2413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9343975" y="2067342"/>
            <a:ext cx="132389" cy="95002"/>
          </a:xfrm>
          <a:prstGeom prst="line">
            <a:avLst/>
          </a:prstGeom>
          <a:ln w="2413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9476364" y="2162344"/>
            <a:ext cx="132389" cy="10875"/>
          </a:xfrm>
          <a:prstGeom prst="line">
            <a:avLst/>
          </a:prstGeom>
          <a:ln w="2413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9608753" y="2162454"/>
            <a:ext cx="132389" cy="10765"/>
          </a:xfrm>
          <a:prstGeom prst="line">
            <a:avLst/>
          </a:prstGeom>
          <a:ln w="2413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9741142" y="2110462"/>
            <a:ext cx="132390" cy="51992"/>
          </a:xfrm>
          <a:prstGeom prst="line">
            <a:avLst/>
          </a:prstGeom>
          <a:ln w="2413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9873532" y="2110462"/>
            <a:ext cx="132389" cy="180623"/>
          </a:xfrm>
          <a:prstGeom prst="line">
            <a:avLst/>
          </a:prstGeom>
          <a:ln w="2413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10005921" y="2259989"/>
            <a:ext cx="132389" cy="31096"/>
          </a:xfrm>
          <a:prstGeom prst="line">
            <a:avLst/>
          </a:prstGeom>
          <a:ln w="2413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0138310" y="2259989"/>
            <a:ext cx="132389" cy="8655"/>
          </a:xfrm>
          <a:prstGeom prst="line">
            <a:avLst/>
          </a:prstGeom>
          <a:ln w="2413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0270699" y="2268644"/>
            <a:ext cx="132390" cy="92"/>
          </a:xfrm>
          <a:prstGeom prst="line">
            <a:avLst/>
          </a:prstGeom>
          <a:ln w="2413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0403089" y="2268736"/>
            <a:ext cx="132389" cy="10314"/>
          </a:xfrm>
          <a:prstGeom prst="line">
            <a:avLst/>
          </a:prstGeom>
          <a:ln w="2413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10535478" y="2238872"/>
            <a:ext cx="132389" cy="40178"/>
          </a:xfrm>
          <a:prstGeom prst="line">
            <a:avLst/>
          </a:prstGeom>
          <a:ln w="2413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0667867" y="2238872"/>
            <a:ext cx="132389" cy="28631"/>
          </a:xfrm>
          <a:prstGeom prst="line">
            <a:avLst/>
          </a:prstGeom>
          <a:ln w="2413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10800256" y="2267503"/>
            <a:ext cx="132389" cy="5732"/>
          </a:xfrm>
          <a:prstGeom prst="line">
            <a:avLst/>
          </a:prstGeom>
          <a:ln w="2413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10932645" y="2273235"/>
            <a:ext cx="132390" cy="6322"/>
          </a:xfrm>
          <a:prstGeom prst="line">
            <a:avLst/>
          </a:prstGeom>
          <a:ln w="2413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11065035" y="2266252"/>
            <a:ext cx="132389" cy="13305"/>
          </a:xfrm>
          <a:prstGeom prst="line">
            <a:avLst/>
          </a:prstGeom>
          <a:ln w="2413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11197424" y="2266252"/>
            <a:ext cx="132389" cy="19003"/>
          </a:xfrm>
          <a:prstGeom prst="line">
            <a:avLst/>
          </a:prstGeom>
          <a:ln w="2413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11329813" y="2274121"/>
            <a:ext cx="132389" cy="11134"/>
          </a:xfrm>
          <a:prstGeom prst="line">
            <a:avLst/>
          </a:prstGeom>
          <a:ln w="24130">
            <a:solidFill>
              <a:srgbClr val="FF6C00"/>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11462202" y="2274121"/>
            <a:ext cx="132390" cy="8802"/>
          </a:xfrm>
          <a:prstGeom prst="line">
            <a:avLst/>
          </a:prstGeom>
          <a:ln w="24130">
            <a:solidFill>
              <a:srgbClr val="FF6C00"/>
            </a:solidFill>
          </a:ln>
        </p:spPr>
        <p:style>
          <a:lnRef idx="2">
            <a:schemeClr val="accent1"/>
          </a:lnRef>
          <a:fillRef idx="0">
            <a:schemeClr val="accent1"/>
          </a:fillRef>
          <a:effectRef idx="1">
            <a:schemeClr val="accent1"/>
          </a:effectRef>
          <a:fontRef idx="minor">
            <a:schemeClr val="tx1"/>
          </a:fontRef>
        </p:style>
      </p:cxnSp>
      <p:sp>
        <p:nvSpPr>
          <p:cNvPr id="160" name="Oval 159"/>
          <p:cNvSpPr/>
          <p:nvPr/>
        </p:nvSpPr>
        <p:spPr>
          <a:xfrm>
            <a:off x="8508492" y="2681058"/>
            <a:ext cx="82296" cy="82296"/>
          </a:xfrm>
          <a:prstGeom prst="ellipse">
            <a:avLst/>
          </a:prstGeom>
          <a:solidFill>
            <a:srgbClr val="FF6C00"/>
          </a:solidFill>
          <a:ln w="6350">
            <a:solidFill>
              <a:srgbClr val="FF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11553444" y="2241775"/>
            <a:ext cx="82296" cy="82296"/>
          </a:xfrm>
          <a:prstGeom prst="ellipse">
            <a:avLst/>
          </a:prstGeom>
          <a:solidFill>
            <a:srgbClr val="FF6C00"/>
          </a:solidFill>
          <a:ln w="6350">
            <a:solidFill>
              <a:srgbClr val="FF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ounded Rectangle 161"/>
          <p:cNvSpPr/>
          <p:nvPr/>
        </p:nvSpPr>
        <p:spPr>
          <a:xfrm>
            <a:off x="1417320" y="3447288"/>
            <a:ext cx="4663440" cy="1956816"/>
          </a:xfrm>
          <a:prstGeom prst="roundRect">
            <a:avLst/>
          </a:prstGeom>
          <a:solidFill>
            <a:srgbClr val="FFFFFF"/>
          </a:solidFill>
          <a:ln w="1270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1527048" y="3538728"/>
            <a:ext cx="4443983" cy="256032"/>
          </a:xfrm>
          <a:prstGeom prst="rect">
            <a:avLst/>
          </a:prstGeom>
          <a:noFill/>
        </p:spPr>
        <p:txBody>
          <a:bodyPr wrap="square" lIns="18288" rIns="18288" tIns="18288" bIns="18288" anchor="ctr">
            <a:spAutoFit/>
          </a:bodyPr>
          <a:lstStyle/>
          <a:p>
            <a:pPr algn="ctr"/>
            <a:r>
              <a:rPr sz="1250" b="1" lang="en-US">
                <a:solidFill>
                  <a:srgbClr val="434343"/>
                </a:solidFill>
                <a:latin typeface="Arial"/>
              </a:rPr>
              <a:t>Label-wise accuracy</a:t>
            </a:r>
          </a:p>
        </p:txBody>
      </p:sp>
      <p:sp>
        <p:nvSpPr>
          <p:cNvPr id="164" name="TextBox 163"/>
          <p:cNvSpPr txBox="1"/>
          <p:nvPr/>
        </p:nvSpPr>
        <p:spPr>
          <a:xfrm>
            <a:off x="1563624" y="3767328"/>
            <a:ext cx="4370831" cy="246888"/>
          </a:xfrm>
          <a:prstGeom prst="rect">
            <a:avLst/>
          </a:prstGeom>
          <a:noFill/>
        </p:spPr>
        <p:txBody>
          <a:bodyPr wrap="square" lIns="0" rIns="0" tIns="0" bIns="0" anchor="ctr">
            <a:spAutoFit/>
          </a:bodyPr>
          <a:lstStyle/>
          <a:p>
            <a:pPr algn="ctr"/>
            <a:r>
              <a:rPr sz="720" b="1" lang="en-US">
                <a:solidFill>
                  <a:srgbClr val="686868"/>
                </a:solidFill>
                <a:latin typeface="Arial"/>
              </a:rPr>
              <a:t>Negative-dominated · final 85.86% · interpret with the baseline</a:t>
            </a:r>
          </a:p>
        </p:txBody>
      </p:sp>
      <p:cxnSp>
        <p:nvCxnSpPr>
          <p:cNvPr id="165" name="Connector 164"/>
          <p:cNvCxnSpPr/>
          <p:nvPr/>
        </p:nvCxnSpPr>
        <p:spPr>
          <a:xfrm>
            <a:off x="1892808" y="4826000"/>
            <a:ext cx="4005072" cy="0"/>
          </a:xfrm>
          <a:prstGeom prst="line">
            <a:avLst/>
          </a:prstGeom>
          <a:ln w="7620">
            <a:solidFill>
              <a:srgbClr val="D5D5D5"/>
            </a:solidFill>
          </a:ln>
        </p:spPr>
        <p:style>
          <a:lnRef idx="2">
            <a:schemeClr val="accent1"/>
          </a:lnRef>
          <a:fillRef idx="0">
            <a:schemeClr val="accent1"/>
          </a:fillRef>
          <a:effectRef idx="1">
            <a:schemeClr val="accent1"/>
          </a:effectRef>
          <a:fontRef idx="minor">
            <a:schemeClr val="tx1"/>
          </a:fontRef>
        </p:style>
      </p:cxnSp>
      <p:sp>
        <p:nvSpPr>
          <p:cNvPr id="166" name="TextBox 165"/>
          <p:cNvSpPr txBox="1"/>
          <p:nvPr/>
        </p:nvSpPr>
        <p:spPr>
          <a:xfrm>
            <a:off x="1453896" y="4752848"/>
            <a:ext cx="393192" cy="146304"/>
          </a:xfrm>
          <a:prstGeom prst="rect">
            <a:avLst/>
          </a:prstGeom>
          <a:noFill/>
        </p:spPr>
        <p:txBody>
          <a:bodyPr wrap="square" lIns="0" rIns="0" tIns="0" bIns="0" anchor="ctr">
            <a:spAutoFit/>
          </a:bodyPr>
          <a:lstStyle/>
          <a:p>
            <a:pPr algn="r"/>
            <a:r>
              <a:rPr sz="720" b="0" lang="en-US">
                <a:solidFill>
                  <a:srgbClr val="686868"/>
                </a:solidFill>
                <a:latin typeface="Arial"/>
              </a:rPr>
              <a:t>86%</a:t>
            </a:r>
          </a:p>
        </p:txBody>
      </p:sp>
      <p:cxnSp>
        <p:nvCxnSpPr>
          <p:cNvPr id="167" name="Connector 166"/>
          <p:cNvCxnSpPr/>
          <p:nvPr/>
        </p:nvCxnSpPr>
        <p:spPr>
          <a:xfrm>
            <a:off x="1892808" y="4657344"/>
            <a:ext cx="4005072" cy="0"/>
          </a:xfrm>
          <a:prstGeom prst="line">
            <a:avLst/>
          </a:prstGeom>
          <a:ln w="7620">
            <a:solidFill>
              <a:srgbClr val="D5D5D5"/>
            </a:solidFill>
          </a:ln>
        </p:spPr>
        <p:style>
          <a:lnRef idx="2">
            <a:schemeClr val="accent1"/>
          </a:lnRef>
          <a:fillRef idx="0">
            <a:schemeClr val="accent1"/>
          </a:fillRef>
          <a:effectRef idx="1">
            <a:schemeClr val="accent1"/>
          </a:effectRef>
          <a:fontRef idx="minor">
            <a:schemeClr val="tx1"/>
          </a:fontRef>
        </p:style>
      </p:cxnSp>
      <p:sp>
        <p:nvSpPr>
          <p:cNvPr id="168" name="TextBox 167"/>
          <p:cNvSpPr txBox="1"/>
          <p:nvPr/>
        </p:nvSpPr>
        <p:spPr>
          <a:xfrm>
            <a:off x="1453896" y="4584192"/>
            <a:ext cx="393192" cy="146304"/>
          </a:xfrm>
          <a:prstGeom prst="rect">
            <a:avLst/>
          </a:prstGeom>
          <a:noFill/>
        </p:spPr>
        <p:txBody>
          <a:bodyPr wrap="square" lIns="0" rIns="0" tIns="0" bIns="0" anchor="ctr">
            <a:spAutoFit/>
          </a:bodyPr>
          <a:lstStyle/>
          <a:p>
            <a:pPr algn="r"/>
            <a:r>
              <a:rPr sz="720" b="0" lang="en-US">
                <a:solidFill>
                  <a:srgbClr val="686868"/>
                </a:solidFill>
                <a:latin typeface="Arial"/>
              </a:rPr>
              <a:t>87%</a:t>
            </a:r>
          </a:p>
        </p:txBody>
      </p:sp>
      <p:cxnSp>
        <p:nvCxnSpPr>
          <p:cNvPr id="169" name="Connector 168"/>
          <p:cNvCxnSpPr/>
          <p:nvPr/>
        </p:nvCxnSpPr>
        <p:spPr>
          <a:xfrm>
            <a:off x="1892808" y="4488688"/>
            <a:ext cx="4005072" cy="0"/>
          </a:xfrm>
          <a:prstGeom prst="line">
            <a:avLst/>
          </a:prstGeom>
          <a:ln w="7620">
            <a:solidFill>
              <a:srgbClr val="D5D5D5"/>
            </a:solidFill>
          </a:ln>
        </p:spPr>
        <p:style>
          <a:lnRef idx="2">
            <a:schemeClr val="accent1"/>
          </a:lnRef>
          <a:fillRef idx="0">
            <a:schemeClr val="accent1"/>
          </a:fillRef>
          <a:effectRef idx="1">
            <a:schemeClr val="accent1"/>
          </a:effectRef>
          <a:fontRef idx="minor">
            <a:schemeClr val="tx1"/>
          </a:fontRef>
        </p:style>
      </p:cxnSp>
      <p:sp>
        <p:nvSpPr>
          <p:cNvPr id="170" name="TextBox 169"/>
          <p:cNvSpPr txBox="1"/>
          <p:nvPr/>
        </p:nvSpPr>
        <p:spPr>
          <a:xfrm>
            <a:off x="1453896" y="4415536"/>
            <a:ext cx="393192" cy="146304"/>
          </a:xfrm>
          <a:prstGeom prst="rect">
            <a:avLst/>
          </a:prstGeom>
          <a:noFill/>
        </p:spPr>
        <p:txBody>
          <a:bodyPr wrap="square" lIns="0" rIns="0" tIns="0" bIns="0" anchor="ctr">
            <a:spAutoFit/>
          </a:bodyPr>
          <a:lstStyle/>
          <a:p>
            <a:pPr algn="r"/>
            <a:r>
              <a:rPr sz="720" b="0" lang="en-US">
                <a:solidFill>
                  <a:srgbClr val="686868"/>
                </a:solidFill>
                <a:latin typeface="Arial"/>
              </a:rPr>
              <a:t>88%</a:t>
            </a:r>
          </a:p>
        </p:txBody>
      </p:sp>
      <p:cxnSp>
        <p:nvCxnSpPr>
          <p:cNvPr id="171" name="Connector 170"/>
          <p:cNvCxnSpPr/>
          <p:nvPr/>
        </p:nvCxnSpPr>
        <p:spPr>
          <a:xfrm>
            <a:off x="1892808" y="4320032"/>
            <a:ext cx="4005072" cy="0"/>
          </a:xfrm>
          <a:prstGeom prst="line">
            <a:avLst/>
          </a:prstGeom>
          <a:ln w="7620">
            <a:solidFill>
              <a:srgbClr val="D5D5D5"/>
            </a:solidFill>
          </a:ln>
        </p:spPr>
        <p:style>
          <a:lnRef idx="2">
            <a:schemeClr val="accent1"/>
          </a:lnRef>
          <a:fillRef idx="0">
            <a:schemeClr val="accent1"/>
          </a:fillRef>
          <a:effectRef idx="1">
            <a:schemeClr val="accent1"/>
          </a:effectRef>
          <a:fontRef idx="minor">
            <a:schemeClr val="tx1"/>
          </a:fontRef>
        </p:style>
      </p:cxnSp>
      <p:sp>
        <p:nvSpPr>
          <p:cNvPr id="172" name="TextBox 171"/>
          <p:cNvSpPr txBox="1"/>
          <p:nvPr/>
        </p:nvSpPr>
        <p:spPr>
          <a:xfrm>
            <a:off x="1453896" y="4246879"/>
            <a:ext cx="393192" cy="146304"/>
          </a:xfrm>
          <a:prstGeom prst="rect">
            <a:avLst/>
          </a:prstGeom>
          <a:noFill/>
        </p:spPr>
        <p:txBody>
          <a:bodyPr wrap="square" lIns="0" rIns="0" tIns="0" bIns="0" anchor="ctr">
            <a:spAutoFit/>
          </a:bodyPr>
          <a:lstStyle/>
          <a:p>
            <a:pPr algn="r"/>
            <a:r>
              <a:rPr sz="720" b="0" lang="en-US">
                <a:solidFill>
                  <a:srgbClr val="686868"/>
                </a:solidFill>
                <a:latin typeface="Arial"/>
              </a:rPr>
              <a:t>89%</a:t>
            </a:r>
          </a:p>
        </p:txBody>
      </p:sp>
      <p:sp>
        <p:nvSpPr>
          <p:cNvPr id="173" name="TextBox 172"/>
          <p:cNvSpPr txBox="1"/>
          <p:nvPr/>
        </p:nvSpPr>
        <p:spPr>
          <a:xfrm>
            <a:off x="1892808" y="5120640"/>
            <a:ext cx="4005072" cy="137160"/>
          </a:xfrm>
          <a:prstGeom prst="rect">
            <a:avLst/>
          </a:prstGeom>
          <a:noFill/>
        </p:spPr>
        <p:txBody>
          <a:bodyPr wrap="square" lIns="0" rIns="0" tIns="0" bIns="0" anchor="ctr">
            <a:spAutoFit/>
          </a:bodyPr>
          <a:lstStyle/>
          <a:p>
            <a:pPr algn="ctr"/>
            <a:r>
              <a:rPr sz="720" b="0" lang="en-US">
                <a:solidFill>
                  <a:srgbClr val="686868"/>
                </a:solidFill>
                <a:latin typeface="Arial"/>
              </a:rPr>
              <a:t>Global model round</a:t>
            </a:r>
          </a:p>
        </p:txBody>
      </p:sp>
      <p:cxnSp>
        <p:nvCxnSpPr>
          <p:cNvPr id="174" name="Connector 173"/>
          <p:cNvCxnSpPr/>
          <p:nvPr/>
        </p:nvCxnSpPr>
        <p:spPr>
          <a:xfrm>
            <a:off x="1892808" y="4151376"/>
            <a:ext cx="0" cy="758952"/>
          </a:xfrm>
          <a:prstGeom prst="line">
            <a:avLst/>
          </a:prstGeom>
          <a:ln w="5715">
            <a:solidFill>
              <a:srgbClr val="E8E8E8"/>
            </a:solidFill>
          </a:ln>
        </p:spPr>
        <p:style>
          <a:lnRef idx="2">
            <a:schemeClr val="accent1"/>
          </a:lnRef>
          <a:fillRef idx="0">
            <a:schemeClr val="accent1"/>
          </a:fillRef>
          <a:effectRef idx="1">
            <a:schemeClr val="accent1"/>
          </a:effectRef>
          <a:fontRef idx="minor">
            <a:schemeClr val="tx1"/>
          </a:fontRef>
        </p:style>
      </p:cxnSp>
      <p:sp>
        <p:nvSpPr>
          <p:cNvPr id="175" name="TextBox 174"/>
          <p:cNvSpPr txBox="1"/>
          <p:nvPr/>
        </p:nvSpPr>
        <p:spPr>
          <a:xfrm>
            <a:off x="1728216" y="4956048"/>
            <a:ext cx="329184" cy="137160"/>
          </a:xfrm>
          <a:prstGeom prst="rect">
            <a:avLst/>
          </a:prstGeom>
          <a:noFill/>
        </p:spPr>
        <p:txBody>
          <a:bodyPr wrap="square" lIns="0" rIns="0" tIns="0" bIns="0" anchor="ctr">
            <a:spAutoFit/>
          </a:bodyPr>
          <a:lstStyle/>
          <a:p>
            <a:pPr algn="ctr"/>
            <a:r>
              <a:rPr sz="720" b="0" lang="en-US">
                <a:solidFill>
                  <a:srgbClr val="686868"/>
                </a:solidFill>
                <a:latin typeface="Arial"/>
              </a:rPr>
              <a:t>2</a:t>
            </a:r>
          </a:p>
        </p:txBody>
      </p:sp>
      <p:cxnSp>
        <p:nvCxnSpPr>
          <p:cNvPr id="176" name="Connector 175"/>
          <p:cNvCxnSpPr/>
          <p:nvPr/>
        </p:nvCxnSpPr>
        <p:spPr>
          <a:xfrm>
            <a:off x="2589342" y="4151376"/>
            <a:ext cx="0" cy="758952"/>
          </a:xfrm>
          <a:prstGeom prst="line">
            <a:avLst/>
          </a:prstGeom>
          <a:ln w="5715">
            <a:solidFill>
              <a:srgbClr val="E8E8E8"/>
            </a:solidFill>
          </a:ln>
        </p:spPr>
        <p:style>
          <a:lnRef idx="2">
            <a:schemeClr val="accent1"/>
          </a:lnRef>
          <a:fillRef idx="0">
            <a:schemeClr val="accent1"/>
          </a:fillRef>
          <a:effectRef idx="1">
            <a:schemeClr val="accent1"/>
          </a:effectRef>
          <a:fontRef idx="minor">
            <a:schemeClr val="tx1"/>
          </a:fontRef>
        </p:style>
      </p:cxnSp>
      <p:sp>
        <p:nvSpPr>
          <p:cNvPr id="177" name="TextBox 176"/>
          <p:cNvSpPr txBox="1"/>
          <p:nvPr/>
        </p:nvSpPr>
        <p:spPr>
          <a:xfrm>
            <a:off x="2424750" y="4956048"/>
            <a:ext cx="329184" cy="137160"/>
          </a:xfrm>
          <a:prstGeom prst="rect">
            <a:avLst/>
          </a:prstGeom>
          <a:noFill/>
        </p:spPr>
        <p:txBody>
          <a:bodyPr wrap="square" lIns="0" rIns="0" tIns="0" bIns="0" anchor="ctr">
            <a:spAutoFit/>
          </a:bodyPr>
          <a:lstStyle/>
          <a:p>
            <a:pPr algn="ctr"/>
            <a:r>
              <a:rPr sz="720" b="0" lang="en-US">
                <a:solidFill>
                  <a:srgbClr val="686868"/>
                </a:solidFill>
                <a:latin typeface="Arial"/>
              </a:rPr>
              <a:t>6</a:t>
            </a:r>
          </a:p>
        </p:txBody>
      </p:sp>
      <p:cxnSp>
        <p:nvCxnSpPr>
          <p:cNvPr id="178" name="Connector 177"/>
          <p:cNvCxnSpPr/>
          <p:nvPr/>
        </p:nvCxnSpPr>
        <p:spPr>
          <a:xfrm>
            <a:off x="3460010" y="4151376"/>
            <a:ext cx="0" cy="758952"/>
          </a:xfrm>
          <a:prstGeom prst="line">
            <a:avLst/>
          </a:prstGeom>
          <a:ln w="5715">
            <a:solidFill>
              <a:srgbClr val="E8E8E8"/>
            </a:solidFill>
          </a:ln>
        </p:spPr>
        <p:style>
          <a:lnRef idx="2">
            <a:schemeClr val="accent1"/>
          </a:lnRef>
          <a:fillRef idx="0">
            <a:schemeClr val="accent1"/>
          </a:fillRef>
          <a:effectRef idx="1">
            <a:schemeClr val="accent1"/>
          </a:effectRef>
          <a:fontRef idx="minor">
            <a:schemeClr val="tx1"/>
          </a:fontRef>
        </p:style>
      </p:cxnSp>
      <p:sp>
        <p:nvSpPr>
          <p:cNvPr id="179" name="TextBox 178"/>
          <p:cNvSpPr txBox="1"/>
          <p:nvPr/>
        </p:nvSpPr>
        <p:spPr>
          <a:xfrm>
            <a:off x="3295418" y="4956048"/>
            <a:ext cx="329184" cy="137160"/>
          </a:xfrm>
          <a:prstGeom prst="rect">
            <a:avLst/>
          </a:prstGeom>
          <a:noFill/>
        </p:spPr>
        <p:txBody>
          <a:bodyPr wrap="square" lIns="0" rIns="0" tIns="0" bIns="0" anchor="ctr">
            <a:spAutoFit/>
          </a:bodyPr>
          <a:lstStyle/>
          <a:p>
            <a:pPr algn="ctr"/>
            <a:r>
              <a:rPr sz="720" b="0" lang="en-US">
                <a:solidFill>
                  <a:srgbClr val="686868"/>
                </a:solidFill>
                <a:latin typeface="Arial"/>
              </a:rPr>
              <a:t>11</a:t>
            </a:r>
          </a:p>
        </p:txBody>
      </p:sp>
      <p:cxnSp>
        <p:nvCxnSpPr>
          <p:cNvPr id="180" name="Connector 179"/>
          <p:cNvCxnSpPr/>
          <p:nvPr/>
        </p:nvCxnSpPr>
        <p:spPr>
          <a:xfrm>
            <a:off x="4678945" y="4151376"/>
            <a:ext cx="0" cy="758952"/>
          </a:xfrm>
          <a:prstGeom prst="line">
            <a:avLst/>
          </a:prstGeom>
          <a:ln w="5715">
            <a:solidFill>
              <a:srgbClr val="E8E8E8"/>
            </a:solidFill>
          </a:ln>
        </p:spPr>
        <p:style>
          <a:lnRef idx="2">
            <a:schemeClr val="accent1"/>
          </a:lnRef>
          <a:fillRef idx="0">
            <a:schemeClr val="accent1"/>
          </a:fillRef>
          <a:effectRef idx="1">
            <a:schemeClr val="accent1"/>
          </a:effectRef>
          <a:fontRef idx="minor">
            <a:schemeClr val="tx1"/>
          </a:fontRef>
        </p:style>
      </p:cxnSp>
      <p:sp>
        <p:nvSpPr>
          <p:cNvPr id="181" name="TextBox 180"/>
          <p:cNvSpPr txBox="1"/>
          <p:nvPr/>
        </p:nvSpPr>
        <p:spPr>
          <a:xfrm>
            <a:off x="4514353" y="4956048"/>
            <a:ext cx="329184" cy="137160"/>
          </a:xfrm>
          <a:prstGeom prst="rect">
            <a:avLst/>
          </a:prstGeom>
          <a:noFill/>
        </p:spPr>
        <p:txBody>
          <a:bodyPr wrap="square" lIns="0" rIns="0" tIns="0" bIns="0" anchor="ctr">
            <a:spAutoFit/>
          </a:bodyPr>
          <a:lstStyle/>
          <a:p>
            <a:pPr algn="ctr"/>
            <a:r>
              <a:rPr sz="720" b="0" lang="en-US">
                <a:solidFill>
                  <a:srgbClr val="686868"/>
                </a:solidFill>
                <a:latin typeface="Arial"/>
              </a:rPr>
              <a:t>18</a:t>
            </a:r>
          </a:p>
        </p:txBody>
      </p:sp>
      <p:cxnSp>
        <p:nvCxnSpPr>
          <p:cNvPr id="182" name="Connector 181"/>
          <p:cNvCxnSpPr/>
          <p:nvPr/>
        </p:nvCxnSpPr>
        <p:spPr>
          <a:xfrm>
            <a:off x="5897880" y="4151376"/>
            <a:ext cx="0" cy="758952"/>
          </a:xfrm>
          <a:prstGeom prst="line">
            <a:avLst/>
          </a:prstGeom>
          <a:ln w="5715">
            <a:solidFill>
              <a:srgbClr val="E8E8E8"/>
            </a:solidFill>
          </a:ln>
        </p:spPr>
        <p:style>
          <a:lnRef idx="2">
            <a:schemeClr val="accent1"/>
          </a:lnRef>
          <a:fillRef idx="0">
            <a:schemeClr val="accent1"/>
          </a:fillRef>
          <a:effectRef idx="1">
            <a:schemeClr val="accent1"/>
          </a:effectRef>
          <a:fontRef idx="minor">
            <a:schemeClr val="tx1"/>
          </a:fontRef>
        </p:style>
      </p:cxnSp>
      <p:sp>
        <p:nvSpPr>
          <p:cNvPr id="183" name="TextBox 182"/>
          <p:cNvSpPr txBox="1"/>
          <p:nvPr/>
        </p:nvSpPr>
        <p:spPr>
          <a:xfrm>
            <a:off x="5733288" y="4956048"/>
            <a:ext cx="329184" cy="137160"/>
          </a:xfrm>
          <a:prstGeom prst="rect">
            <a:avLst/>
          </a:prstGeom>
          <a:noFill/>
        </p:spPr>
        <p:txBody>
          <a:bodyPr wrap="square" lIns="0" rIns="0" tIns="0" bIns="0" anchor="ctr">
            <a:spAutoFit/>
          </a:bodyPr>
          <a:lstStyle/>
          <a:p>
            <a:pPr algn="ctr"/>
            <a:r>
              <a:rPr sz="720" b="0" lang="en-US">
                <a:solidFill>
                  <a:srgbClr val="686868"/>
                </a:solidFill>
                <a:latin typeface="Arial"/>
              </a:rPr>
              <a:t>25</a:t>
            </a:r>
          </a:p>
        </p:txBody>
      </p:sp>
      <p:cxnSp>
        <p:nvCxnSpPr>
          <p:cNvPr id="184" name="Connector 183"/>
          <p:cNvCxnSpPr/>
          <p:nvPr/>
        </p:nvCxnSpPr>
        <p:spPr>
          <a:xfrm>
            <a:off x="1892808" y="4151376"/>
            <a:ext cx="0" cy="758952"/>
          </a:xfrm>
          <a:prstGeom prst="line">
            <a:avLst/>
          </a:prstGeom>
          <a:ln w="11430">
            <a:solidFill>
              <a:srgbClr val="434343"/>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a:off x="1892808" y="4910328"/>
            <a:ext cx="4005072" cy="0"/>
          </a:xfrm>
          <a:prstGeom prst="line">
            <a:avLst/>
          </a:prstGeom>
          <a:ln w="11430">
            <a:solidFill>
              <a:srgbClr val="434343"/>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a:off x="1892808" y="4371702"/>
            <a:ext cx="174133" cy="233494"/>
          </a:xfrm>
          <a:prstGeom prst="line">
            <a:avLst/>
          </a:prstGeom>
          <a:ln w="2413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66941" y="4577379"/>
            <a:ext cx="174134" cy="27817"/>
          </a:xfrm>
          <a:prstGeom prst="line">
            <a:avLst/>
          </a:prstGeom>
          <a:ln w="2413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241075" y="4428733"/>
            <a:ext cx="174133" cy="148646"/>
          </a:xfrm>
          <a:prstGeom prst="line">
            <a:avLst/>
          </a:prstGeom>
          <a:ln w="2413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2415208" y="4428733"/>
            <a:ext cx="174134" cy="166689"/>
          </a:xfrm>
          <a:prstGeom prst="line">
            <a:avLst/>
          </a:prstGeom>
          <a:ln w="2413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589342" y="4545319"/>
            <a:ext cx="174133" cy="50103"/>
          </a:xfrm>
          <a:prstGeom prst="line">
            <a:avLst/>
          </a:prstGeom>
          <a:ln w="2413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a:off x="2763475" y="4545319"/>
            <a:ext cx="174134" cy="58857"/>
          </a:xfrm>
          <a:prstGeom prst="line">
            <a:avLst/>
          </a:prstGeom>
          <a:ln w="2413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937609" y="4583286"/>
            <a:ext cx="174133" cy="20890"/>
          </a:xfrm>
          <a:prstGeom prst="line">
            <a:avLst/>
          </a:prstGeom>
          <a:ln w="2413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a:off x="3111742" y="4583286"/>
            <a:ext cx="174134" cy="144672"/>
          </a:xfrm>
          <a:prstGeom prst="line">
            <a:avLst/>
          </a:prstGeom>
          <a:ln w="2413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3285876" y="4727958"/>
            <a:ext cx="174134" cy="61971"/>
          </a:xfrm>
          <a:prstGeom prst="line">
            <a:avLst/>
          </a:prstGeom>
          <a:ln w="2413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3460010" y="4785687"/>
            <a:ext cx="174133" cy="4242"/>
          </a:xfrm>
          <a:prstGeom prst="line">
            <a:avLst/>
          </a:prstGeom>
          <a:ln w="2413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3634143" y="4782304"/>
            <a:ext cx="174134" cy="3383"/>
          </a:xfrm>
          <a:prstGeom prst="line">
            <a:avLst/>
          </a:prstGeom>
          <a:ln w="2413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3808277" y="4782304"/>
            <a:ext cx="174133" cy="64173"/>
          </a:xfrm>
          <a:prstGeom prst="line">
            <a:avLst/>
          </a:prstGeom>
          <a:ln w="2413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3982410" y="4753896"/>
            <a:ext cx="174134" cy="92581"/>
          </a:xfrm>
          <a:prstGeom prst="line">
            <a:avLst/>
          </a:prstGeom>
          <a:ln w="2413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4156544" y="4753896"/>
            <a:ext cx="174133" cy="49835"/>
          </a:xfrm>
          <a:prstGeom prst="line">
            <a:avLst/>
          </a:prstGeom>
          <a:ln w="2413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4330677" y="4771349"/>
            <a:ext cx="174134" cy="32382"/>
          </a:xfrm>
          <a:prstGeom prst="line">
            <a:avLst/>
          </a:prstGeom>
          <a:ln w="2413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a:off x="4504811" y="4771349"/>
            <a:ext cx="174134" cy="17614"/>
          </a:xfrm>
          <a:prstGeom prst="line">
            <a:avLst/>
          </a:prstGeom>
          <a:ln w="2413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a:off x="4678945" y="4788963"/>
            <a:ext cx="174133" cy="8109"/>
          </a:xfrm>
          <a:prstGeom prst="line">
            <a:avLst/>
          </a:prstGeom>
          <a:ln w="2413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a:off x="4853078" y="4797072"/>
            <a:ext cx="174134" cy="41618"/>
          </a:xfrm>
          <a:prstGeom prst="line">
            <a:avLst/>
          </a:prstGeom>
          <a:ln w="2413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5027212" y="4811947"/>
            <a:ext cx="174133" cy="26743"/>
          </a:xfrm>
          <a:prstGeom prst="line">
            <a:avLst/>
          </a:prstGeom>
          <a:ln w="2413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a:off x="5201345" y="4811947"/>
            <a:ext cx="174134" cy="60575"/>
          </a:xfrm>
          <a:prstGeom prst="line">
            <a:avLst/>
          </a:prstGeom>
          <a:ln w="2413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5375479" y="4819197"/>
            <a:ext cx="174133" cy="53325"/>
          </a:xfrm>
          <a:prstGeom prst="line">
            <a:avLst/>
          </a:prstGeom>
          <a:ln w="2413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a:off x="5549612" y="4819197"/>
            <a:ext cx="174134" cy="22286"/>
          </a:xfrm>
          <a:prstGeom prst="line">
            <a:avLst/>
          </a:prstGeom>
          <a:ln w="24130">
            <a:solidFill>
              <a:srgbClr val="7A35B5"/>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a:off x="5723746" y="4841483"/>
            <a:ext cx="174134" cy="8270"/>
          </a:xfrm>
          <a:prstGeom prst="line">
            <a:avLst/>
          </a:prstGeom>
          <a:ln w="24130">
            <a:solidFill>
              <a:srgbClr val="7A35B5"/>
            </a:solidFill>
          </a:ln>
        </p:spPr>
        <p:style>
          <a:lnRef idx="2">
            <a:schemeClr val="accent1"/>
          </a:lnRef>
          <a:fillRef idx="0">
            <a:schemeClr val="accent1"/>
          </a:fillRef>
          <a:effectRef idx="1">
            <a:schemeClr val="accent1"/>
          </a:effectRef>
          <a:fontRef idx="minor">
            <a:schemeClr val="tx1"/>
          </a:fontRef>
        </p:style>
      </p:cxnSp>
      <p:sp>
        <p:nvSpPr>
          <p:cNvPr id="209" name="Oval 208"/>
          <p:cNvSpPr/>
          <p:nvPr/>
        </p:nvSpPr>
        <p:spPr>
          <a:xfrm>
            <a:off x="1851660" y="4330554"/>
            <a:ext cx="82296" cy="82296"/>
          </a:xfrm>
          <a:prstGeom prst="ellipse">
            <a:avLst/>
          </a:prstGeom>
          <a:solidFill>
            <a:srgbClr val="7A35B5"/>
          </a:solidFill>
          <a:ln w="6350">
            <a:solidFill>
              <a:srgbClr val="7A3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Oval 209"/>
          <p:cNvSpPr/>
          <p:nvPr/>
        </p:nvSpPr>
        <p:spPr>
          <a:xfrm>
            <a:off x="5856732" y="4808605"/>
            <a:ext cx="82296" cy="82296"/>
          </a:xfrm>
          <a:prstGeom prst="ellipse">
            <a:avLst/>
          </a:prstGeom>
          <a:solidFill>
            <a:srgbClr val="7A35B5"/>
          </a:solidFill>
          <a:ln w="6350">
            <a:solidFill>
              <a:srgbClr val="7A3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ounded Rectangle 210"/>
          <p:cNvSpPr/>
          <p:nvPr/>
        </p:nvSpPr>
        <p:spPr>
          <a:xfrm>
            <a:off x="6199632" y="3447288"/>
            <a:ext cx="4663440" cy="1956816"/>
          </a:xfrm>
          <a:prstGeom prst="roundRect">
            <a:avLst/>
          </a:prstGeom>
          <a:solidFill>
            <a:srgbClr val="FFFFFF"/>
          </a:solidFill>
          <a:ln w="1270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6309360" y="3538728"/>
            <a:ext cx="4443983" cy="256032"/>
          </a:xfrm>
          <a:prstGeom prst="rect">
            <a:avLst/>
          </a:prstGeom>
          <a:noFill/>
        </p:spPr>
        <p:txBody>
          <a:bodyPr wrap="square" lIns="18288" rIns="18288" tIns="18288" bIns="18288" anchor="ctr">
            <a:spAutoFit/>
          </a:bodyPr>
          <a:lstStyle/>
          <a:p>
            <a:pPr algn="ctr"/>
            <a:r>
              <a:rPr sz="1250" b="1" lang="en-US">
                <a:solidFill>
                  <a:srgbClr val="434343"/>
                </a:solidFill>
                <a:latin typeface="Arial"/>
              </a:rPr>
              <a:t>Exact match</a:t>
            </a:r>
          </a:p>
        </p:txBody>
      </p:sp>
      <p:sp>
        <p:nvSpPr>
          <p:cNvPr id="213" name="TextBox 212"/>
          <p:cNvSpPr txBox="1"/>
          <p:nvPr/>
        </p:nvSpPr>
        <p:spPr>
          <a:xfrm>
            <a:off x="6345936" y="3767328"/>
            <a:ext cx="4370831" cy="246888"/>
          </a:xfrm>
          <a:prstGeom prst="rect">
            <a:avLst/>
          </a:prstGeom>
          <a:noFill/>
        </p:spPr>
        <p:txBody>
          <a:bodyPr wrap="square" lIns="0" rIns="0" tIns="0" bIns="0" anchor="ctr">
            <a:spAutoFit/>
          </a:bodyPr>
          <a:lstStyle/>
          <a:p>
            <a:pPr algn="ctr"/>
            <a:r>
              <a:rPr sz="720" b="1" lang="en-US">
                <a:solidFill>
                  <a:srgbClr val="686868"/>
                </a:solidFill>
                <a:latin typeface="Arial"/>
              </a:rPr>
              <a:t>All 14 labels must match · best 32.75% · final 26.02%</a:t>
            </a:r>
          </a:p>
        </p:txBody>
      </p:sp>
      <p:cxnSp>
        <p:nvCxnSpPr>
          <p:cNvPr id="214" name="Connector 213"/>
          <p:cNvCxnSpPr/>
          <p:nvPr/>
        </p:nvCxnSpPr>
        <p:spPr>
          <a:xfrm>
            <a:off x="6675120" y="4834432"/>
            <a:ext cx="4005072" cy="0"/>
          </a:xfrm>
          <a:prstGeom prst="line">
            <a:avLst/>
          </a:prstGeom>
          <a:ln w="7620">
            <a:solidFill>
              <a:srgbClr val="D5D5D5"/>
            </a:solidFill>
          </a:ln>
        </p:spPr>
        <p:style>
          <a:lnRef idx="2">
            <a:schemeClr val="accent1"/>
          </a:lnRef>
          <a:fillRef idx="0">
            <a:schemeClr val="accent1"/>
          </a:fillRef>
          <a:effectRef idx="1">
            <a:schemeClr val="accent1"/>
          </a:effectRef>
          <a:fontRef idx="minor">
            <a:schemeClr val="tx1"/>
          </a:fontRef>
        </p:style>
      </p:cxnSp>
      <p:sp>
        <p:nvSpPr>
          <p:cNvPr id="215" name="TextBox 214"/>
          <p:cNvSpPr txBox="1"/>
          <p:nvPr/>
        </p:nvSpPr>
        <p:spPr>
          <a:xfrm>
            <a:off x="6236208" y="4761280"/>
            <a:ext cx="393192" cy="146304"/>
          </a:xfrm>
          <a:prstGeom prst="rect">
            <a:avLst/>
          </a:prstGeom>
          <a:noFill/>
        </p:spPr>
        <p:txBody>
          <a:bodyPr wrap="square" lIns="0" rIns="0" tIns="0" bIns="0" anchor="ctr">
            <a:spAutoFit/>
          </a:bodyPr>
          <a:lstStyle/>
          <a:p>
            <a:pPr algn="r"/>
            <a:r>
              <a:rPr sz="720" b="0" lang="en-US">
                <a:solidFill>
                  <a:srgbClr val="686868"/>
                </a:solidFill>
                <a:latin typeface="Arial"/>
              </a:rPr>
              <a:t>25%</a:t>
            </a:r>
          </a:p>
        </p:txBody>
      </p:sp>
      <p:cxnSp>
        <p:nvCxnSpPr>
          <p:cNvPr id="216" name="Connector 215"/>
          <p:cNvCxnSpPr/>
          <p:nvPr/>
        </p:nvCxnSpPr>
        <p:spPr>
          <a:xfrm>
            <a:off x="6675120" y="4682642"/>
            <a:ext cx="4005072" cy="0"/>
          </a:xfrm>
          <a:prstGeom prst="line">
            <a:avLst/>
          </a:prstGeom>
          <a:ln w="7620">
            <a:solidFill>
              <a:srgbClr val="D5D5D5"/>
            </a:solidFill>
          </a:ln>
        </p:spPr>
        <p:style>
          <a:lnRef idx="2">
            <a:schemeClr val="accent1"/>
          </a:lnRef>
          <a:fillRef idx="0">
            <a:schemeClr val="accent1"/>
          </a:fillRef>
          <a:effectRef idx="1">
            <a:schemeClr val="accent1"/>
          </a:effectRef>
          <a:fontRef idx="minor">
            <a:schemeClr val="tx1"/>
          </a:fontRef>
        </p:style>
      </p:cxnSp>
      <p:sp>
        <p:nvSpPr>
          <p:cNvPr id="217" name="TextBox 216"/>
          <p:cNvSpPr txBox="1"/>
          <p:nvPr/>
        </p:nvSpPr>
        <p:spPr>
          <a:xfrm>
            <a:off x="6236208" y="4609490"/>
            <a:ext cx="393192" cy="146304"/>
          </a:xfrm>
          <a:prstGeom prst="rect">
            <a:avLst/>
          </a:prstGeom>
          <a:noFill/>
        </p:spPr>
        <p:txBody>
          <a:bodyPr wrap="square" lIns="0" rIns="0" tIns="0" bIns="0" anchor="ctr">
            <a:spAutoFit/>
          </a:bodyPr>
          <a:lstStyle/>
          <a:p>
            <a:pPr algn="r"/>
            <a:r>
              <a:rPr sz="720" b="0" lang="en-US">
                <a:solidFill>
                  <a:srgbClr val="686868"/>
                </a:solidFill>
                <a:latin typeface="Arial"/>
              </a:rPr>
              <a:t>27%</a:t>
            </a:r>
          </a:p>
        </p:txBody>
      </p:sp>
      <p:cxnSp>
        <p:nvCxnSpPr>
          <p:cNvPr id="218" name="Connector 217"/>
          <p:cNvCxnSpPr/>
          <p:nvPr/>
        </p:nvCxnSpPr>
        <p:spPr>
          <a:xfrm>
            <a:off x="6675120" y="4454956"/>
            <a:ext cx="4005072" cy="0"/>
          </a:xfrm>
          <a:prstGeom prst="line">
            <a:avLst/>
          </a:prstGeom>
          <a:ln w="7620">
            <a:solidFill>
              <a:srgbClr val="D5D5D5"/>
            </a:solidFill>
          </a:ln>
        </p:spPr>
        <p:style>
          <a:lnRef idx="2">
            <a:schemeClr val="accent1"/>
          </a:lnRef>
          <a:fillRef idx="0">
            <a:schemeClr val="accent1"/>
          </a:fillRef>
          <a:effectRef idx="1">
            <a:schemeClr val="accent1"/>
          </a:effectRef>
          <a:fontRef idx="minor">
            <a:schemeClr val="tx1"/>
          </a:fontRef>
        </p:style>
      </p:cxnSp>
      <p:sp>
        <p:nvSpPr>
          <p:cNvPr id="219" name="TextBox 218"/>
          <p:cNvSpPr txBox="1"/>
          <p:nvPr/>
        </p:nvSpPr>
        <p:spPr>
          <a:xfrm>
            <a:off x="6236208" y="4381804"/>
            <a:ext cx="393192" cy="146304"/>
          </a:xfrm>
          <a:prstGeom prst="rect">
            <a:avLst/>
          </a:prstGeom>
          <a:noFill/>
        </p:spPr>
        <p:txBody>
          <a:bodyPr wrap="square" lIns="0" rIns="0" tIns="0" bIns="0" anchor="ctr">
            <a:spAutoFit/>
          </a:bodyPr>
          <a:lstStyle/>
          <a:p>
            <a:pPr algn="r"/>
            <a:r>
              <a:rPr sz="720" b="0" lang="en-US">
                <a:solidFill>
                  <a:srgbClr val="686868"/>
                </a:solidFill>
                <a:latin typeface="Arial"/>
              </a:rPr>
              <a:t>30%</a:t>
            </a:r>
          </a:p>
        </p:txBody>
      </p:sp>
      <p:cxnSp>
        <p:nvCxnSpPr>
          <p:cNvPr id="220" name="Connector 219"/>
          <p:cNvCxnSpPr/>
          <p:nvPr/>
        </p:nvCxnSpPr>
        <p:spPr>
          <a:xfrm>
            <a:off x="6675120" y="4303166"/>
            <a:ext cx="4005072" cy="0"/>
          </a:xfrm>
          <a:prstGeom prst="line">
            <a:avLst/>
          </a:prstGeom>
          <a:ln w="7620">
            <a:solidFill>
              <a:srgbClr val="D5D5D5"/>
            </a:solidFill>
          </a:ln>
        </p:spPr>
        <p:style>
          <a:lnRef idx="2">
            <a:schemeClr val="accent1"/>
          </a:lnRef>
          <a:fillRef idx="0">
            <a:schemeClr val="accent1"/>
          </a:fillRef>
          <a:effectRef idx="1">
            <a:schemeClr val="accent1"/>
          </a:effectRef>
          <a:fontRef idx="minor">
            <a:schemeClr val="tx1"/>
          </a:fontRef>
        </p:style>
      </p:cxnSp>
      <p:sp>
        <p:nvSpPr>
          <p:cNvPr id="221" name="TextBox 220"/>
          <p:cNvSpPr txBox="1"/>
          <p:nvPr/>
        </p:nvSpPr>
        <p:spPr>
          <a:xfrm>
            <a:off x="6236208" y="4230014"/>
            <a:ext cx="393192" cy="146304"/>
          </a:xfrm>
          <a:prstGeom prst="rect">
            <a:avLst/>
          </a:prstGeom>
          <a:noFill/>
        </p:spPr>
        <p:txBody>
          <a:bodyPr wrap="square" lIns="0" rIns="0" tIns="0" bIns="0" anchor="ctr">
            <a:spAutoFit/>
          </a:bodyPr>
          <a:lstStyle/>
          <a:p>
            <a:pPr algn="r"/>
            <a:r>
              <a:rPr sz="720" b="0" lang="en-US">
                <a:solidFill>
                  <a:srgbClr val="686868"/>
                </a:solidFill>
                <a:latin typeface="Arial"/>
              </a:rPr>
              <a:t>32%</a:t>
            </a:r>
          </a:p>
        </p:txBody>
      </p:sp>
      <p:sp>
        <p:nvSpPr>
          <p:cNvPr id="222" name="TextBox 221"/>
          <p:cNvSpPr txBox="1"/>
          <p:nvPr/>
        </p:nvSpPr>
        <p:spPr>
          <a:xfrm>
            <a:off x="6675120" y="5120640"/>
            <a:ext cx="4005072" cy="137160"/>
          </a:xfrm>
          <a:prstGeom prst="rect">
            <a:avLst/>
          </a:prstGeom>
          <a:noFill/>
        </p:spPr>
        <p:txBody>
          <a:bodyPr wrap="square" lIns="0" rIns="0" tIns="0" bIns="0" anchor="ctr">
            <a:spAutoFit/>
          </a:bodyPr>
          <a:lstStyle/>
          <a:p>
            <a:pPr algn="ctr"/>
            <a:r>
              <a:rPr sz="720" b="0" lang="en-US">
                <a:solidFill>
                  <a:srgbClr val="686868"/>
                </a:solidFill>
                <a:latin typeface="Arial"/>
              </a:rPr>
              <a:t>Global model round</a:t>
            </a:r>
          </a:p>
        </p:txBody>
      </p:sp>
      <p:cxnSp>
        <p:nvCxnSpPr>
          <p:cNvPr id="223" name="Connector 222"/>
          <p:cNvCxnSpPr/>
          <p:nvPr/>
        </p:nvCxnSpPr>
        <p:spPr>
          <a:xfrm>
            <a:off x="6675120" y="4151376"/>
            <a:ext cx="0" cy="758952"/>
          </a:xfrm>
          <a:prstGeom prst="line">
            <a:avLst/>
          </a:prstGeom>
          <a:ln w="5715">
            <a:solidFill>
              <a:srgbClr val="E8E8E8"/>
            </a:solidFill>
          </a:ln>
        </p:spPr>
        <p:style>
          <a:lnRef idx="2">
            <a:schemeClr val="accent1"/>
          </a:lnRef>
          <a:fillRef idx="0">
            <a:schemeClr val="accent1"/>
          </a:fillRef>
          <a:effectRef idx="1">
            <a:schemeClr val="accent1"/>
          </a:effectRef>
          <a:fontRef idx="minor">
            <a:schemeClr val="tx1"/>
          </a:fontRef>
        </p:style>
      </p:cxnSp>
      <p:sp>
        <p:nvSpPr>
          <p:cNvPr id="224" name="TextBox 223"/>
          <p:cNvSpPr txBox="1"/>
          <p:nvPr/>
        </p:nvSpPr>
        <p:spPr>
          <a:xfrm>
            <a:off x="6510528" y="4956048"/>
            <a:ext cx="329184" cy="137160"/>
          </a:xfrm>
          <a:prstGeom prst="rect">
            <a:avLst/>
          </a:prstGeom>
          <a:noFill/>
        </p:spPr>
        <p:txBody>
          <a:bodyPr wrap="square" lIns="0" rIns="0" tIns="0" bIns="0" anchor="ctr">
            <a:spAutoFit/>
          </a:bodyPr>
          <a:lstStyle/>
          <a:p>
            <a:pPr algn="ctr"/>
            <a:r>
              <a:rPr sz="720" b="0" lang="en-US">
                <a:solidFill>
                  <a:srgbClr val="686868"/>
                </a:solidFill>
                <a:latin typeface="Arial"/>
              </a:rPr>
              <a:t>2</a:t>
            </a:r>
          </a:p>
        </p:txBody>
      </p:sp>
      <p:cxnSp>
        <p:nvCxnSpPr>
          <p:cNvPr id="225" name="Connector 224"/>
          <p:cNvCxnSpPr/>
          <p:nvPr/>
        </p:nvCxnSpPr>
        <p:spPr>
          <a:xfrm>
            <a:off x="7371654" y="4151376"/>
            <a:ext cx="0" cy="758952"/>
          </a:xfrm>
          <a:prstGeom prst="line">
            <a:avLst/>
          </a:prstGeom>
          <a:ln w="5715">
            <a:solidFill>
              <a:srgbClr val="E8E8E8"/>
            </a:solidFill>
          </a:ln>
        </p:spPr>
        <p:style>
          <a:lnRef idx="2">
            <a:schemeClr val="accent1"/>
          </a:lnRef>
          <a:fillRef idx="0">
            <a:schemeClr val="accent1"/>
          </a:fillRef>
          <a:effectRef idx="1">
            <a:schemeClr val="accent1"/>
          </a:effectRef>
          <a:fontRef idx="minor">
            <a:schemeClr val="tx1"/>
          </a:fontRef>
        </p:style>
      </p:cxnSp>
      <p:sp>
        <p:nvSpPr>
          <p:cNvPr id="226" name="TextBox 225"/>
          <p:cNvSpPr txBox="1"/>
          <p:nvPr/>
        </p:nvSpPr>
        <p:spPr>
          <a:xfrm>
            <a:off x="7207062" y="4956048"/>
            <a:ext cx="329184" cy="137160"/>
          </a:xfrm>
          <a:prstGeom prst="rect">
            <a:avLst/>
          </a:prstGeom>
          <a:noFill/>
        </p:spPr>
        <p:txBody>
          <a:bodyPr wrap="square" lIns="0" rIns="0" tIns="0" bIns="0" anchor="ctr">
            <a:spAutoFit/>
          </a:bodyPr>
          <a:lstStyle/>
          <a:p>
            <a:pPr algn="ctr"/>
            <a:r>
              <a:rPr sz="720" b="0" lang="en-US">
                <a:solidFill>
                  <a:srgbClr val="686868"/>
                </a:solidFill>
                <a:latin typeface="Arial"/>
              </a:rPr>
              <a:t>6</a:t>
            </a:r>
          </a:p>
        </p:txBody>
      </p:sp>
      <p:cxnSp>
        <p:nvCxnSpPr>
          <p:cNvPr id="227" name="Connector 226"/>
          <p:cNvCxnSpPr/>
          <p:nvPr/>
        </p:nvCxnSpPr>
        <p:spPr>
          <a:xfrm>
            <a:off x="8242322" y="4151376"/>
            <a:ext cx="0" cy="758952"/>
          </a:xfrm>
          <a:prstGeom prst="line">
            <a:avLst/>
          </a:prstGeom>
          <a:ln w="5715">
            <a:solidFill>
              <a:srgbClr val="E8E8E8"/>
            </a:solidFill>
          </a:ln>
        </p:spPr>
        <p:style>
          <a:lnRef idx="2">
            <a:schemeClr val="accent1"/>
          </a:lnRef>
          <a:fillRef idx="0">
            <a:schemeClr val="accent1"/>
          </a:fillRef>
          <a:effectRef idx="1">
            <a:schemeClr val="accent1"/>
          </a:effectRef>
          <a:fontRef idx="minor">
            <a:schemeClr val="tx1"/>
          </a:fontRef>
        </p:style>
      </p:cxnSp>
      <p:sp>
        <p:nvSpPr>
          <p:cNvPr id="228" name="TextBox 227"/>
          <p:cNvSpPr txBox="1"/>
          <p:nvPr/>
        </p:nvSpPr>
        <p:spPr>
          <a:xfrm>
            <a:off x="8077730" y="4956048"/>
            <a:ext cx="329184" cy="137160"/>
          </a:xfrm>
          <a:prstGeom prst="rect">
            <a:avLst/>
          </a:prstGeom>
          <a:noFill/>
        </p:spPr>
        <p:txBody>
          <a:bodyPr wrap="square" lIns="0" rIns="0" tIns="0" bIns="0" anchor="ctr">
            <a:spAutoFit/>
          </a:bodyPr>
          <a:lstStyle/>
          <a:p>
            <a:pPr algn="ctr"/>
            <a:r>
              <a:rPr sz="720" b="0" lang="en-US">
                <a:solidFill>
                  <a:srgbClr val="686868"/>
                </a:solidFill>
                <a:latin typeface="Arial"/>
              </a:rPr>
              <a:t>11</a:t>
            </a:r>
          </a:p>
        </p:txBody>
      </p:sp>
      <p:cxnSp>
        <p:nvCxnSpPr>
          <p:cNvPr id="229" name="Connector 228"/>
          <p:cNvCxnSpPr/>
          <p:nvPr/>
        </p:nvCxnSpPr>
        <p:spPr>
          <a:xfrm>
            <a:off x="9461257" y="4151376"/>
            <a:ext cx="0" cy="758952"/>
          </a:xfrm>
          <a:prstGeom prst="line">
            <a:avLst/>
          </a:prstGeom>
          <a:ln w="5715">
            <a:solidFill>
              <a:srgbClr val="E8E8E8"/>
            </a:solidFill>
          </a:ln>
        </p:spPr>
        <p:style>
          <a:lnRef idx="2">
            <a:schemeClr val="accent1"/>
          </a:lnRef>
          <a:fillRef idx="0">
            <a:schemeClr val="accent1"/>
          </a:fillRef>
          <a:effectRef idx="1">
            <a:schemeClr val="accent1"/>
          </a:effectRef>
          <a:fontRef idx="minor">
            <a:schemeClr val="tx1"/>
          </a:fontRef>
        </p:style>
      </p:cxnSp>
      <p:sp>
        <p:nvSpPr>
          <p:cNvPr id="230" name="TextBox 229"/>
          <p:cNvSpPr txBox="1"/>
          <p:nvPr/>
        </p:nvSpPr>
        <p:spPr>
          <a:xfrm>
            <a:off x="9296665" y="4956048"/>
            <a:ext cx="329184" cy="137160"/>
          </a:xfrm>
          <a:prstGeom prst="rect">
            <a:avLst/>
          </a:prstGeom>
          <a:noFill/>
        </p:spPr>
        <p:txBody>
          <a:bodyPr wrap="square" lIns="0" rIns="0" tIns="0" bIns="0" anchor="ctr">
            <a:spAutoFit/>
          </a:bodyPr>
          <a:lstStyle/>
          <a:p>
            <a:pPr algn="ctr"/>
            <a:r>
              <a:rPr sz="720" b="0" lang="en-US">
                <a:solidFill>
                  <a:srgbClr val="686868"/>
                </a:solidFill>
                <a:latin typeface="Arial"/>
              </a:rPr>
              <a:t>18</a:t>
            </a:r>
          </a:p>
        </p:txBody>
      </p:sp>
      <p:cxnSp>
        <p:nvCxnSpPr>
          <p:cNvPr id="231" name="Connector 230"/>
          <p:cNvCxnSpPr/>
          <p:nvPr/>
        </p:nvCxnSpPr>
        <p:spPr>
          <a:xfrm>
            <a:off x="10680192" y="4151376"/>
            <a:ext cx="0" cy="758952"/>
          </a:xfrm>
          <a:prstGeom prst="line">
            <a:avLst/>
          </a:prstGeom>
          <a:ln w="5715">
            <a:solidFill>
              <a:srgbClr val="E8E8E8"/>
            </a:solidFill>
          </a:ln>
        </p:spPr>
        <p:style>
          <a:lnRef idx="2">
            <a:schemeClr val="accent1"/>
          </a:lnRef>
          <a:fillRef idx="0">
            <a:schemeClr val="accent1"/>
          </a:fillRef>
          <a:effectRef idx="1">
            <a:schemeClr val="accent1"/>
          </a:effectRef>
          <a:fontRef idx="minor">
            <a:schemeClr val="tx1"/>
          </a:fontRef>
        </p:style>
      </p:cxnSp>
      <p:sp>
        <p:nvSpPr>
          <p:cNvPr id="232" name="TextBox 231"/>
          <p:cNvSpPr txBox="1"/>
          <p:nvPr/>
        </p:nvSpPr>
        <p:spPr>
          <a:xfrm>
            <a:off x="10515600" y="4956048"/>
            <a:ext cx="329184" cy="137160"/>
          </a:xfrm>
          <a:prstGeom prst="rect">
            <a:avLst/>
          </a:prstGeom>
          <a:noFill/>
        </p:spPr>
        <p:txBody>
          <a:bodyPr wrap="square" lIns="0" rIns="0" tIns="0" bIns="0" anchor="ctr">
            <a:spAutoFit/>
          </a:bodyPr>
          <a:lstStyle/>
          <a:p>
            <a:pPr algn="ctr"/>
            <a:r>
              <a:rPr sz="720" b="0" lang="en-US">
                <a:solidFill>
                  <a:srgbClr val="686868"/>
                </a:solidFill>
                <a:latin typeface="Arial"/>
              </a:rPr>
              <a:t>25</a:t>
            </a:r>
          </a:p>
        </p:txBody>
      </p:sp>
      <p:cxnSp>
        <p:nvCxnSpPr>
          <p:cNvPr id="233" name="Connector 232"/>
          <p:cNvCxnSpPr/>
          <p:nvPr/>
        </p:nvCxnSpPr>
        <p:spPr>
          <a:xfrm>
            <a:off x="6675120" y="4151376"/>
            <a:ext cx="0" cy="758952"/>
          </a:xfrm>
          <a:prstGeom prst="line">
            <a:avLst/>
          </a:prstGeom>
          <a:ln w="11430">
            <a:solidFill>
              <a:srgbClr val="434343"/>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6675120" y="4910328"/>
            <a:ext cx="4005072" cy="0"/>
          </a:xfrm>
          <a:prstGeom prst="line">
            <a:avLst/>
          </a:prstGeom>
          <a:ln w="11430">
            <a:solidFill>
              <a:srgbClr val="434343"/>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flipV="1">
            <a:off x="6675120" y="4589912"/>
            <a:ext cx="174133" cy="222952"/>
          </a:xfrm>
          <a:prstGeom prst="line">
            <a:avLst/>
          </a:prstGeom>
          <a:ln w="2413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flipV="1">
            <a:off x="6849253" y="4560140"/>
            <a:ext cx="174134" cy="29772"/>
          </a:xfrm>
          <a:prstGeom prst="line">
            <a:avLst/>
          </a:prstGeom>
          <a:ln w="2413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flipV="1">
            <a:off x="7023387" y="4246179"/>
            <a:ext cx="174133" cy="313961"/>
          </a:xfrm>
          <a:prstGeom prst="line">
            <a:avLst/>
          </a:prstGeom>
          <a:ln w="2413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7197520" y="4246179"/>
            <a:ext cx="174134" cy="151906"/>
          </a:xfrm>
          <a:prstGeom prst="line">
            <a:avLst/>
          </a:prstGeom>
          <a:ln w="2413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flipV="1">
            <a:off x="7371654" y="4299634"/>
            <a:ext cx="174133" cy="98451"/>
          </a:xfrm>
          <a:prstGeom prst="line">
            <a:avLst/>
          </a:prstGeom>
          <a:ln w="2413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7545787" y="4299634"/>
            <a:ext cx="174134" cy="114690"/>
          </a:xfrm>
          <a:prstGeom prst="line">
            <a:avLst/>
          </a:prstGeom>
          <a:ln w="2413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flipV="1">
            <a:off x="7719921" y="4298281"/>
            <a:ext cx="174133" cy="116043"/>
          </a:xfrm>
          <a:prstGeom prst="line">
            <a:avLst/>
          </a:prstGeom>
          <a:ln w="2413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7894054" y="4298281"/>
            <a:ext cx="174134" cy="261859"/>
          </a:xfrm>
          <a:prstGeom prst="line">
            <a:avLst/>
          </a:prstGeom>
          <a:ln w="2413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8068188" y="4560140"/>
            <a:ext cx="174134" cy="80182"/>
          </a:xfrm>
          <a:prstGeom prst="line">
            <a:avLst/>
          </a:prstGeom>
          <a:ln w="2413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8242322" y="4640322"/>
            <a:ext cx="174133" cy="6089"/>
          </a:xfrm>
          <a:prstGeom prst="line">
            <a:avLst/>
          </a:prstGeom>
          <a:ln w="2413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8416455" y="4646411"/>
            <a:ext cx="174134" cy="22329"/>
          </a:xfrm>
          <a:prstGeom prst="line">
            <a:avLst/>
          </a:prstGeom>
          <a:ln w="2413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8590589" y="4668740"/>
            <a:ext cx="174133" cy="53455"/>
          </a:xfrm>
          <a:prstGeom prst="line">
            <a:avLst/>
          </a:prstGeom>
          <a:ln w="2413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flipV="1">
            <a:off x="8764722" y="4617316"/>
            <a:ext cx="174134" cy="104879"/>
          </a:xfrm>
          <a:prstGeom prst="line">
            <a:avLst/>
          </a:prstGeom>
          <a:ln w="2413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flipV="1">
            <a:off x="8938856" y="4613594"/>
            <a:ext cx="174133" cy="3722"/>
          </a:xfrm>
          <a:prstGeom prst="line">
            <a:avLst/>
          </a:prstGeom>
          <a:ln w="2413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9112989" y="4613594"/>
            <a:ext cx="174134" cy="20299"/>
          </a:xfrm>
          <a:prstGeom prst="line">
            <a:avLst/>
          </a:prstGeom>
          <a:ln w="2413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9287123" y="4613256"/>
            <a:ext cx="174134" cy="20637"/>
          </a:xfrm>
          <a:prstGeom prst="line">
            <a:avLst/>
          </a:prstGeom>
          <a:ln w="2413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a:off x="9461257" y="4613256"/>
            <a:ext cx="174133" cy="79843"/>
          </a:xfrm>
          <a:prstGeom prst="line">
            <a:avLst/>
          </a:prstGeom>
          <a:ln w="2413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9635390" y="4680243"/>
            <a:ext cx="174134" cy="12856"/>
          </a:xfrm>
          <a:prstGeom prst="line">
            <a:avLst/>
          </a:prstGeom>
          <a:ln w="2413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a:off x="9809524" y="4680243"/>
            <a:ext cx="174133" cy="91008"/>
          </a:xfrm>
          <a:prstGeom prst="line">
            <a:avLst/>
          </a:prstGeom>
          <a:ln w="2413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9983657" y="4720842"/>
            <a:ext cx="174134" cy="50409"/>
          </a:xfrm>
          <a:prstGeom prst="line">
            <a:avLst/>
          </a:prstGeom>
          <a:ln w="2413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0157791" y="4712722"/>
            <a:ext cx="174133" cy="8120"/>
          </a:xfrm>
          <a:prstGeom prst="line">
            <a:avLst/>
          </a:prstGeom>
          <a:ln w="2413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10331924" y="4647426"/>
            <a:ext cx="174134" cy="65296"/>
          </a:xfrm>
          <a:prstGeom prst="line">
            <a:avLst/>
          </a:prstGeom>
          <a:ln w="24130">
            <a:solidFill>
              <a:srgbClr val="C40D1E"/>
            </a:solidFill>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a:off x="10506058" y="4647426"/>
            <a:ext cx="174134" cy="109277"/>
          </a:xfrm>
          <a:prstGeom prst="line">
            <a:avLst/>
          </a:prstGeom>
          <a:ln w="24130">
            <a:solidFill>
              <a:srgbClr val="C40D1E"/>
            </a:solidFill>
          </a:ln>
        </p:spPr>
        <p:style>
          <a:lnRef idx="2">
            <a:schemeClr val="accent1"/>
          </a:lnRef>
          <a:fillRef idx="0">
            <a:schemeClr val="accent1"/>
          </a:fillRef>
          <a:effectRef idx="1">
            <a:schemeClr val="accent1"/>
          </a:effectRef>
          <a:fontRef idx="minor">
            <a:schemeClr val="tx1"/>
          </a:fontRef>
        </p:style>
      </p:cxnSp>
      <p:sp>
        <p:nvSpPr>
          <p:cNvPr id="258" name="Oval 257"/>
          <p:cNvSpPr/>
          <p:nvPr/>
        </p:nvSpPr>
        <p:spPr>
          <a:xfrm>
            <a:off x="6633972" y="4771716"/>
            <a:ext cx="82296" cy="82296"/>
          </a:xfrm>
          <a:prstGeom prst="ellipse">
            <a:avLst/>
          </a:prstGeom>
          <a:solidFill>
            <a:srgbClr val="C40D1E"/>
          </a:solidFill>
          <a:ln w="635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Oval 258"/>
          <p:cNvSpPr/>
          <p:nvPr/>
        </p:nvSpPr>
        <p:spPr>
          <a:xfrm>
            <a:off x="10639044" y="4715555"/>
            <a:ext cx="82296" cy="82296"/>
          </a:xfrm>
          <a:prstGeom prst="ellipse">
            <a:avLst/>
          </a:prstGeom>
          <a:solidFill>
            <a:srgbClr val="C40D1E"/>
          </a:solidFill>
          <a:ln w="635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Why do the headline scores look modest?</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CURRENT FEDAVG RUN · IMBALANCE MAKES AUROC AND F1 MORE INFORMATIVE THAN ACCURACY</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28</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5D6973"/>
                </a:solidFill>
                <a:latin typeface="Arial"/>
              </a:rPr>
              <a:t>Agent</a:t>
            </a:r>
          </a:p>
        </p:txBody>
      </p:sp>
      <p:sp>
        <p:nvSpPr>
          <p:cNvPr id="13" name="TextBox 12"/>
          <p:cNvSpPr txBox="1"/>
          <p:nvPr/>
        </p:nvSpPr>
        <p:spPr>
          <a:xfrm>
            <a:off x="658368" y="1380744"/>
            <a:ext cx="2999232" cy="201168"/>
          </a:xfrm>
          <a:prstGeom prst="rect">
            <a:avLst/>
          </a:prstGeom>
          <a:noFill/>
        </p:spPr>
        <p:txBody>
          <a:bodyPr wrap="square" lIns="18288" rIns="18288" tIns="18288" bIns="18288" anchor="t">
            <a:spAutoFit/>
          </a:bodyPr>
          <a:lstStyle/>
          <a:p>
            <a:pPr algn="l"/>
            <a:r>
              <a:rPr sz="1000" b="1" lang="en-US">
                <a:solidFill>
                  <a:srgbClr val="C40D1E"/>
                </a:solidFill>
                <a:latin typeface="Arial"/>
              </a:rPr>
              <a:t>TEST LABEL POSITIONS</a:t>
            </a:r>
          </a:p>
        </p:txBody>
      </p:sp>
      <p:sp>
        <p:nvSpPr>
          <p:cNvPr id="14" name="Rectangle 13"/>
          <p:cNvSpPr/>
          <p:nvPr/>
        </p:nvSpPr>
        <p:spPr>
          <a:xfrm>
            <a:off x="658368" y="1755648"/>
            <a:ext cx="2999232" cy="493776"/>
          </a:xfrm>
          <a:prstGeom prst="rect">
            <a:avLst/>
          </a:prstGeom>
          <a:solidFill>
            <a:srgbClr val="F3F3F3"/>
          </a:solidFill>
          <a:ln w="1270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1755648"/>
            <a:ext cx="157667" cy="493776"/>
          </a:xfrm>
          <a:prstGeom prst="rect">
            <a:avLst/>
          </a:prstGeom>
          <a:solidFill>
            <a:srgbClr val="C40D1E"/>
          </a:solidFill>
          <a:ln w="1270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 y="2395728"/>
            <a:ext cx="1417320" cy="201168"/>
          </a:xfrm>
          <a:prstGeom prst="rect">
            <a:avLst/>
          </a:prstGeom>
          <a:noFill/>
        </p:spPr>
        <p:txBody>
          <a:bodyPr wrap="square" lIns="18288" rIns="18288" tIns="18288" bIns="18288" anchor="t">
            <a:spAutoFit/>
          </a:bodyPr>
          <a:lstStyle/>
          <a:p>
            <a:pPr algn="l"/>
            <a:r>
              <a:rPr sz="1120" b="1" lang="en-US">
                <a:solidFill>
                  <a:srgbClr val="C40D1E"/>
                </a:solidFill>
                <a:latin typeface="Arial"/>
              </a:rPr>
              <a:t>5.26% positive</a:t>
            </a:r>
          </a:p>
        </p:txBody>
      </p:sp>
      <p:sp>
        <p:nvSpPr>
          <p:cNvPr id="17" name="TextBox 16"/>
          <p:cNvSpPr txBox="1"/>
          <p:nvPr/>
        </p:nvSpPr>
        <p:spPr>
          <a:xfrm>
            <a:off x="2011680" y="2395728"/>
            <a:ext cx="1645920" cy="201168"/>
          </a:xfrm>
          <a:prstGeom prst="rect">
            <a:avLst/>
          </a:prstGeom>
          <a:noFill/>
        </p:spPr>
        <p:txBody>
          <a:bodyPr wrap="square" lIns="18288" rIns="18288" tIns="18288" bIns="18288" anchor="t">
            <a:spAutoFit/>
          </a:bodyPr>
          <a:lstStyle/>
          <a:p>
            <a:pPr algn="r"/>
            <a:r>
              <a:rPr sz="1120" b="1" lang="en-US">
                <a:solidFill>
                  <a:srgbClr val="434343"/>
                </a:solidFill>
                <a:latin typeface="Arial"/>
              </a:rPr>
              <a:t>94.74% negative</a:t>
            </a:r>
          </a:p>
        </p:txBody>
      </p:sp>
      <p:sp>
        <p:nvSpPr>
          <p:cNvPr id="18" name="TextBox 17"/>
          <p:cNvSpPr txBox="1"/>
          <p:nvPr/>
        </p:nvSpPr>
        <p:spPr>
          <a:xfrm>
            <a:off x="658368" y="2816352"/>
            <a:ext cx="2999232" cy="713232"/>
          </a:xfrm>
          <a:prstGeom prst="rect">
            <a:avLst/>
          </a:prstGeom>
          <a:noFill/>
        </p:spPr>
        <p:txBody>
          <a:bodyPr wrap="square" lIns="18288" rIns="18288" tIns="18288" bIns="18288" anchor="ctr">
            <a:spAutoFit/>
          </a:bodyPr>
          <a:lstStyle/>
          <a:p>
            <a:pPr algn="ctr"/>
            <a:r>
              <a:rPr sz="1220" b="1" lang="en-US">
                <a:solidFill>
                  <a:srgbClr val="434343"/>
                </a:solidFill>
                <a:latin typeface="Arial"/>
              </a:rPr>
              <a:t>A classifier that always predicts 'negative' already scores 94.74% label accuracy.</a:t>
            </a:r>
          </a:p>
        </p:txBody>
      </p:sp>
      <p:sp>
        <p:nvSpPr>
          <p:cNvPr id="19" name="TextBox 18"/>
          <p:cNvSpPr txBox="1"/>
          <p:nvPr/>
        </p:nvSpPr>
        <p:spPr>
          <a:xfrm>
            <a:off x="4041648" y="1380744"/>
            <a:ext cx="4069080" cy="201168"/>
          </a:xfrm>
          <a:prstGeom prst="rect">
            <a:avLst/>
          </a:prstGeom>
          <a:noFill/>
        </p:spPr>
        <p:txBody>
          <a:bodyPr wrap="square" lIns="18288" rIns="18288" tIns="18288" bIns="18288" anchor="t">
            <a:spAutoFit/>
          </a:bodyPr>
          <a:lstStyle/>
          <a:p>
            <a:pPr algn="ctr"/>
            <a:r>
              <a:rPr sz="1000" b="1" lang="en-US">
                <a:solidFill>
                  <a:srgbClr val="C40D1E"/>
                </a:solidFill>
                <a:latin typeface="Arial"/>
              </a:rPr>
              <a:t>BASELINE VS FINAL MODEL</a:t>
            </a:r>
          </a:p>
        </p:txBody>
      </p:sp>
      <p:sp>
        <p:nvSpPr>
          <p:cNvPr id="20" name="TextBox 19"/>
          <p:cNvSpPr txBox="1"/>
          <p:nvPr/>
        </p:nvSpPr>
        <p:spPr>
          <a:xfrm>
            <a:off x="4041648" y="1746504"/>
            <a:ext cx="1298448" cy="256032"/>
          </a:xfrm>
          <a:prstGeom prst="rect">
            <a:avLst/>
          </a:prstGeom>
          <a:noFill/>
        </p:spPr>
        <p:txBody>
          <a:bodyPr wrap="square" lIns="18288" rIns="18288" tIns="18288" bIns="18288" anchor="t">
            <a:spAutoFit/>
          </a:bodyPr>
          <a:lstStyle/>
          <a:p>
            <a:pPr algn="ctr"/>
            <a:r>
              <a:rPr sz="840" b="1" lang="en-US">
                <a:solidFill>
                  <a:srgbClr val="434343"/>
                </a:solidFill>
                <a:latin typeface="Arial"/>
              </a:rPr>
              <a:t/>
            </a:r>
          </a:p>
        </p:txBody>
      </p:sp>
      <p:sp>
        <p:nvSpPr>
          <p:cNvPr id="21" name="TextBox 20"/>
          <p:cNvSpPr txBox="1"/>
          <p:nvPr/>
        </p:nvSpPr>
        <p:spPr>
          <a:xfrm>
            <a:off x="5394960" y="1746504"/>
            <a:ext cx="1298448" cy="256032"/>
          </a:xfrm>
          <a:prstGeom prst="rect">
            <a:avLst/>
          </a:prstGeom>
          <a:noFill/>
        </p:spPr>
        <p:txBody>
          <a:bodyPr wrap="square" lIns="18288" rIns="18288" tIns="18288" bIns="18288" anchor="t">
            <a:spAutoFit/>
          </a:bodyPr>
          <a:lstStyle/>
          <a:p>
            <a:pPr algn="ctr"/>
            <a:r>
              <a:rPr sz="840" b="1" lang="en-US">
                <a:solidFill>
                  <a:srgbClr val="434343"/>
                </a:solidFill>
                <a:latin typeface="Arial"/>
              </a:rPr>
              <a:t>ALL-NEGATIVE</a:t>
            </a:r>
          </a:p>
        </p:txBody>
      </p:sp>
      <p:sp>
        <p:nvSpPr>
          <p:cNvPr id="22" name="TextBox 21"/>
          <p:cNvSpPr txBox="1"/>
          <p:nvPr/>
        </p:nvSpPr>
        <p:spPr>
          <a:xfrm>
            <a:off x="6748272" y="1746504"/>
            <a:ext cx="1298448" cy="256032"/>
          </a:xfrm>
          <a:prstGeom prst="rect">
            <a:avLst/>
          </a:prstGeom>
          <a:noFill/>
        </p:spPr>
        <p:txBody>
          <a:bodyPr wrap="square" lIns="18288" rIns="18288" tIns="18288" bIns="18288" anchor="t">
            <a:spAutoFit/>
          </a:bodyPr>
          <a:lstStyle/>
          <a:p>
            <a:pPr algn="ctr"/>
            <a:r>
              <a:rPr sz="840" b="1" lang="en-US">
                <a:solidFill>
                  <a:srgbClr val="C40D1E"/>
                </a:solidFill>
                <a:latin typeface="Arial"/>
              </a:rPr>
              <a:t>VITA-FL r25</a:t>
            </a:r>
          </a:p>
        </p:txBody>
      </p:sp>
      <p:sp>
        <p:nvSpPr>
          <p:cNvPr id="23" name="Rectangle 22"/>
          <p:cNvSpPr/>
          <p:nvPr/>
        </p:nvSpPr>
        <p:spPr>
          <a:xfrm>
            <a:off x="4041648" y="2112264"/>
            <a:ext cx="4069080" cy="429768"/>
          </a:xfrm>
          <a:prstGeom prst="rect">
            <a:avLst/>
          </a:prstGeom>
          <a:solidFill>
            <a:srgbClr val="F3F3F3"/>
          </a:solidFill>
          <a:ln w="635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42232" y="2221992"/>
            <a:ext cx="1152144" cy="173736"/>
          </a:xfrm>
          <a:prstGeom prst="rect">
            <a:avLst/>
          </a:prstGeom>
          <a:noFill/>
        </p:spPr>
        <p:txBody>
          <a:bodyPr wrap="square" lIns="18288" rIns="18288" tIns="18288" bIns="18288" anchor="t">
            <a:spAutoFit/>
          </a:bodyPr>
          <a:lstStyle/>
          <a:p>
            <a:pPr algn="ctr"/>
            <a:r>
              <a:rPr sz="900" b="1" lang="en-US">
                <a:solidFill>
                  <a:srgbClr val="434343"/>
                </a:solidFill>
                <a:latin typeface="Arial"/>
              </a:rPr>
              <a:t>LABEL ACC.</a:t>
            </a:r>
          </a:p>
        </p:txBody>
      </p:sp>
      <p:sp>
        <p:nvSpPr>
          <p:cNvPr id="25" name="TextBox 24"/>
          <p:cNvSpPr txBox="1"/>
          <p:nvPr/>
        </p:nvSpPr>
        <p:spPr>
          <a:xfrm>
            <a:off x="5458968" y="2221992"/>
            <a:ext cx="1152144" cy="173736"/>
          </a:xfrm>
          <a:prstGeom prst="rect">
            <a:avLst/>
          </a:prstGeom>
          <a:noFill/>
        </p:spPr>
        <p:txBody>
          <a:bodyPr wrap="square" lIns="18288" rIns="18288" tIns="18288" bIns="18288" anchor="t">
            <a:spAutoFit/>
          </a:bodyPr>
          <a:lstStyle/>
          <a:p>
            <a:pPr algn="ctr"/>
            <a:r>
              <a:rPr sz="900" b="0" lang="en-US">
                <a:solidFill>
                  <a:srgbClr val="434343"/>
                </a:solidFill>
                <a:latin typeface="Arial"/>
              </a:rPr>
              <a:t>94.74%</a:t>
            </a:r>
          </a:p>
        </p:txBody>
      </p:sp>
      <p:sp>
        <p:nvSpPr>
          <p:cNvPr id="26" name="TextBox 25"/>
          <p:cNvSpPr txBox="1"/>
          <p:nvPr/>
        </p:nvSpPr>
        <p:spPr>
          <a:xfrm>
            <a:off x="6775704" y="2221992"/>
            <a:ext cx="1152144" cy="173736"/>
          </a:xfrm>
          <a:prstGeom prst="rect">
            <a:avLst/>
          </a:prstGeom>
          <a:noFill/>
        </p:spPr>
        <p:txBody>
          <a:bodyPr wrap="square" lIns="18288" rIns="18288" tIns="18288" bIns="18288" anchor="t">
            <a:spAutoFit/>
          </a:bodyPr>
          <a:lstStyle/>
          <a:p>
            <a:pPr algn="ctr"/>
            <a:r>
              <a:rPr sz="900" b="1" lang="en-US">
                <a:solidFill>
                  <a:srgbClr val="434343"/>
                </a:solidFill>
                <a:latin typeface="Arial"/>
              </a:rPr>
              <a:t>85.86%</a:t>
            </a:r>
          </a:p>
        </p:txBody>
      </p:sp>
      <p:sp>
        <p:nvSpPr>
          <p:cNvPr id="27" name="Rectangle 26"/>
          <p:cNvSpPr/>
          <p:nvPr/>
        </p:nvSpPr>
        <p:spPr>
          <a:xfrm>
            <a:off x="4041648" y="2596896"/>
            <a:ext cx="4069080" cy="429768"/>
          </a:xfrm>
          <a:prstGeom prst="rect">
            <a:avLst/>
          </a:prstGeom>
          <a:solidFill>
            <a:srgbClr val="FFFFFF"/>
          </a:solidFill>
          <a:ln w="635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42232" y="2706624"/>
            <a:ext cx="1152144" cy="173736"/>
          </a:xfrm>
          <a:prstGeom prst="rect">
            <a:avLst/>
          </a:prstGeom>
          <a:noFill/>
        </p:spPr>
        <p:txBody>
          <a:bodyPr wrap="square" lIns="18288" rIns="18288" tIns="18288" bIns="18288" anchor="t">
            <a:spAutoFit/>
          </a:bodyPr>
          <a:lstStyle/>
          <a:p>
            <a:pPr algn="ctr"/>
            <a:r>
              <a:rPr sz="900" b="1" lang="en-US">
                <a:solidFill>
                  <a:srgbClr val="434343"/>
                </a:solidFill>
                <a:latin typeface="Arial"/>
              </a:rPr>
              <a:t>EXACT MATCH</a:t>
            </a:r>
          </a:p>
        </p:txBody>
      </p:sp>
      <p:sp>
        <p:nvSpPr>
          <p:cNvPr id="29" name="TextBox 28"/>
          <p:cNvSpPr txBox="1"/>
          <p:nvPr/>
        </p:nvSpPr>
        <p:spPr>
          <a:xfrm>
            <a:off x="5458968" y="2706624"/>
            <a:ext cx="1152144" cy="173736"/>
          </a:xfrm>
          <a:prstGeom prst="rect">
            <a:avLst/>
          </a:prstGeom>
          <a:noFill/>
        </p:spPr>
        <p:txBody>
          <a:bodyPr wrap="square" lIns="18288" rIns="18288" tIns="18288" bIns="18288" anchor="t">
            <a:spAutoFit/>
          </a:bodyPr>
          <a:lstStyle/>
          <a:p>
            <a:pPr algn="ctr"/>
            <a:r>
              <a:rPr sz="900" b="0" lang="en-US">
                <a:solidFill>
                  <a:srgbClr val="434343"/>
                </a:solidFill>
                <a:latin typeface="Arial"/>
              </a:rPr>
              <a:t>53.17%</a:t>
            </a:r>
          </a:p>
        </p:txBody>
      </p:sp>
      <p:sp>
        <p:nvSpPr>
          <p:cNvPr id="30" name="TextBox 29"/>
          <p:cNvSpPr txBox="1"/>
          <p:nvPr/>
        </p:nvSpPr>
        <p:spPr>
          <a:xfrm>
            <a:off x="6775704" y="2706624"/>
            <a:ext cx="1152144" cy="173736"/>
          </a:xfrm>
          <a:prstGeom prst="rect">
            <a:avLst/>
          </a:prstGeom>
          <a:noFill/>
        </p:spPr>
        <p:txBody>
          <a:bodyPr wrap="square" lIns="18288" rIns="18288" tIns="18288" bIns="18288" anchor="t">
            <a:spAutoFit/>
          </a:bodyPr>
          <a:lstStyle/>
          <a:p>
            <a:pPr algn="ctr"/>
            <a:r>
              <a:rPr sz="900" b="1" lang="en-US">
                <a:solidFill>
                  <a:srgbClr val="434343"/>
                </a:solidFill>
                <a:latin typeface="Arial"/>
              </a:rPr>
              <a:t>26.02%</a:t>
            </a:r>
          </a:p>
        </p:txBody>
      </p:sp>
      <p:sp>
        <p:nvSpPr>
          <p:cNvPr id="31" name="Rectangle 30"/>
          <p:cNvSpPr/>
          <p:nvPr/>
        </p:nvSpPr>
        <p:spPr>
          <a:xfrm>
            <a:off x="4041648" y="3081528"/>
            <a:ext cx="4069080" cy="429768"/>
          </a:xfrm>
          <a:prstGeom prst="rect">
            <a:avLst/>
          </a:prstGeom>
          <a:solidFill>
            <a:srgbClr val="F3F3F3"/>
          </a:solidFill>
          <a:ln w="635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42232" y="3191256"/>
            <a:ext cx="1152144" cy="173736"/>
          </a:xfrm>
          <a:prstGeom prst="rect">
            <a:avLst/>
          </a:prstGeom>
          <a:noFill/>
        </p:spPr>
        <p:txBody>
          <a:bodyPr wrap="square" lIns="18288" rIns="18288" tIns="18288" bIns="18288" anchor="t">
            <a:spAutoFit/>
          </a:bodyPr>
          <a:lstStyle/>
          <a:p>
            <a:pPr algn="ctr"/>
            <a:r>
              <a:rPr sz="900" b="1" lang="en-US">
                <a:solidFill>
                  <a:srgbClr val="434343"/>
                </a:solidFill>
                <a:latin typeface="Arial"/>
              </a:rPr>
              <a:t>MACRO F1</a:t>
            </a:r>
          </a:p>
        </p:txBody>
      </p:sp>
      <p:sp>
        <p:nvSpPr>
          <p:cNvPr id="33" name="TextBox 32"/>
          <p:cNvSpPr txBox="1"/>
          <p:nvPr/>
        </p:nvSpPr>
        <p:spPr>
          <a:xfrm>
            <a:off x="5458968" y="3191256"/>
            <a:ext cx="1152144" cy="173736"/>
          </a:xfrm>
          <a:prstGeom prst="rect">
            <a:avLst/>
          </a:prstGeom>
          <a:noFill/>
        </p:spPr>
        <p:txBody>
          <a:bodyPr wrap="square" lIns="18288" rIns="18288" tIns="18288" bIns="18288" anchor="t">
            <a:spAutoFit/>
          </a:bodyPr>
          <a:lstStyle/>
          <a:p>
            <a:pPr algn="ctr"/>
            <a:r>
              <a:rPr sz="900" b="0" lang="en-US">
                <a:solidFill>
                  <a:srgbClr val="434343"/>
                </a:solidFill>
                <a:latin typeface="Arial"/>
              </a:rPr>
              <a:t>0.000</a:t>
            </a:r>
          </a:p>
        </p:txBody>
      </p:sp>
      <p:sp>
        <p:nvSpPr>
          <p:cNvPr id="34" name="TextBox 33"/>
          <p:cNvSpPr txBox="1"/>
          <p:nvPr/>
        </p:nvSpPr>
        <p:spPr>
          <a:xfrm>
            <a:off x="6775704" y="3191256"/>
            <a:ext cx="1152144" cy="173736"/>
          </a:xfrm>
          <a:prstGeom prst="rect">
            <a:avLst/>
          </a:prstGeom>
          <a:noFill/>
        </p:spPr>
        <p:txBody>
          <a:bodyPr wrap="square" lIns="18288" rIns="18288" tIns="18288" bIns="18288" anchor="t">
            <a:spAutoFit/>
          </a:bodyPr>
          <a:lstStyle/>
          <a:p>
            <a:pPr algn="ctr"/>
            <a:r>
              <a:rPr sz="900" b="1" lang="en-US">
                <a:solidFill>
                  <a:srgbClr val="2F8F46"/>
                </a:solidFill>
                <a:latin typeface="Arial"/>
              </a:rPr>
              <a:t>0.177</a:t>
            </a:r>
          </a:p>
        </p:txBody>
      </p:sp>
      <p:sp>
        <p:nvSpPr>
          <p:cNvPr id="35" name="Rectangle 34"/>
          <p:cNvSpPr/>
          <p:nvPr/>
        </p:nvSpPr>
        <p:spPr>
          <a:xfrm>
            <a:off x="4041648" y="3566160"/>
            <a:ext cx="4069080" cy="429768"/>
          </a:xfrm>
          <a:prstGeom prst="rect">
            <a:avLst/>
          </a:prstGeom>
          <a:solidFill>
            <a:srgbClr val="FFFFFF"/>
          </a:solidFill>
          <a:ln w="635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42232" y="3675888"/>
            <a:ext cx="1152144" cy="173736"/>
          </a:xfrm>
          <a:prstGeom prst="rect">
            <a:avLst/>
          </a:prstGeom>
          <a:noFill/>
        </p:spPr>
        <p:txBody>
          <a:bodyPr wrap="square" lIns="18288" rIns="18288" tIns="18288" bIns="18288" anchor="t">
            <a:spAutoFit/>
          </a:bodyPr>
          <a:lstStyle/>
          <a:p>
            <a:pPr algn="ctr"/>
            <a:r>
              <a:rPr sz="900" b="1" lang="en-US">
                <a:solidFill>
                  <a:srgbClr val="434343"/>
                </a:solidFill>
                <a:latin typeface="Arial"/>
              </a:rPr>
              <a:t>MACRO AUROC</a:t>
            </a:r>
          </a:p>
        </p:txBody>
      </p:sp>
      <p:sp>
        <p:nvSpPr>
          <p:cNvPr id="37" name="TextBox 36"/>
          <p:cNvSpPr txBox="1"/>
          <p:nvPr/>
        </p:nvSpPr>
        <p:spPr>
          <a:xfrm>
            <a:off x="5458968" y="3675888"/>
            <a:ext cx="1152144" cy="173736"/>
          </a:xfrm>
          <a:prstGeom prst="rect">
            <a:avLst/>
          </a:prstGeom>
          <a:noFill/>
        </p:spPr>
        <p:txBody>
          <a:bodyPr wrap="square" lIns="18288" rIns="18288" tIns="18288" bIns="18288" anchor="t">
            <a:spAutoFit/>
          </a:bodyPr>
          <a:lstStyle/>
          <a:p>
            <a:pPr algn="ctr"/>
            <a:r>
              <a:rPr sz="900" b="0" lang="en-US">
                <a:solidFill>
                  <a:srgbClr val="434343"/>
                </a:solidFill>
                <a:latin typeface="Arial"/>
              </a:rPr>
              <a:t>0.500</a:t>
            </a:r>
          </a:p>
        </p:txBody>
      </p:sp>
      <p:sp>
        <p:nvSpPr>
          <p:cNvPr id="38" name="TextBox 37"/>
          <p:cNvSpPr txBox="1"/>
          <p:nvPr/>
        </p:nvSpPr>
        <p:spPr>
          <a:xfrm>
            <a:off x="6775704" y="3675888"/>
            <a:ext cx="1152144" cy="173736"/>
          </a:xfrm>
          <a:prstGeom prst="rect">
            <a:avLst/>
          </a:prstGeom>
          <a:noFill/>
        </p:spPr>
        <p:txBody>
          <a:bodyPr wrap="square" lIns="18288" rIns="18288" tIns="18288" bIns="18288" anchor="t">
            <a:spAutoFit/>
          </a:bodyPr>
          <a:lstStyle/>
          <a:p>
            <a:pPr algn="ctr"/>
            <a:r>
              <a:rPr sz="900" b="1" lang="en-US">
                <a:solidFill>
                  <a:srgbClr val="2F8F46"/>
                </a:solidFill>
                <a:latin typeface="Arial"/>
              </a:rPr>
              <a:t>0.711</a:t>
            </a:r>
          </a:p>
        </p:txBody>
      </p:sp>
      <p:sp>
        <p:nvSpPr>
          <p:cNvPr id="39" name="Rounded Rectangle 38"/>
          <p:cNvSpPr/>
          <p:nvPr/>
        </p:nvSpPr>
        <p:spPr>
          <a:xfrm>
            <a:off x="8458200" y="1380744"/>
            <a:ext cx="3072384" cy="2651760"/>
          </a:xfrm>
          <a:prstGeom prst="roundRect">
            <a:avLst/>
          </a:prstGeom>
          <a:solidFill>
            <a:srgbClr val="FFF1E7"/>
          </a:solidFill>
          <a:ln w="16510">
            <a:solidFill>
              <a:srgbClr val="FF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705088" y="1618488"/>
            <a:ext cx="2578608" cy="201168"/>
          </a:xfrm>
          <a:prstGeom prst="rect">
            <a:avLst/>
          </a:prstGeom>
          <a:noFill/>
        </p:spPr>
        <p:txBody>
          <a:bodyPr wrap="square" lIns="18288" rIns="18288" tIns="18288" bIns="18288" anchor="t">
            <a:spAutoFit/>
          </a:bodyPr>
          <a:lstStyle/>
          <a:p>
            <a:pPr algn="ctr"/>
            <a:r>
              <a:rPr sz="1019" b="1" lang="en-US">
                <a:solidFill>
                  <a:srgbClr val="FF6C00"/>
                </a:solidFill>
                <a:latin typeface="Arial"/>
              </a:rPr>
              <a:t>WHY F1 REMAINS LOW</a:t>
            </a:r>
          </a:p>
        </p:txBody>
      </p:sp>
      <p:sp>
        <p:nvSpPr>
          <p:cNvPr id="41" name="Oval 40"/>
          <p:cNvSpPr/>
          <p:nvPr/>
        </p:nvSpPr>
        <p:spPr>
          <a:xfrm>
            <a:off x="8723376" y="2075688"/>
            <a:ext cx="228600" cy="228600"/>
          </a:xfrm>
          <a:prstGeom prst="ellipse">
            <a:avLst/>
          </a:prstGeom>
          <a:solidFill>
            <a:srgbClr val="FFFFFF"/>
          </a:solidFill>
          <a:ln w="15240">
            <a:solidFill>
              <a:srgbClr val="FF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778240" y="2098548"/>
            <a:ext cx="118872" cy="109728"/>
          </a:xfrm>
          <a:prstGeom prst="rect">
            <a:avLst/>
          </a:prstGeom>
          <a:noFill/>
        </p:spPr>
        <p:txBody>
          <a:bodyPr wrap="square" lIns="0" rIns="0" tIns="0" bIns="0" anchor="t">
            <a:spAutoFit/>
          </a:bodyPr>
          <a:lstStyle/>
          <a:p>
            <a:pPr algn="ctr"/>
            <a:r>
              <a:rPr sz="850" b="1" lang="en-US">
                <a:solidFill>
                  <a:srgbClr val="FF6C00"/>
                </a:solidFill>
                <a:latin typeface="Arial"/>
              </a:rPr>
              <a:t>•</a:t>
            </a:r>
          </a:p>
        </p:txBody>
      </p:sp>
      <p:sp>
        <p:nvSpPr>
          <p:cNvPr id="43" name="TextBox 42"/>
          <p:cNvSpPr txBox="1"/>
          <p:nvPr/>
        </p:nvSpPr>
        <p:spPr>
          <a:xfrm>
            <a:off x="9079992" y="2066544"/>
            <a:ext cx="2057400" cy="228600"/>
          </a:xfrm>
          <a:prstGeom prst="rect">
            <a:avLst/>
          </a:prstGeom>
          <a:noFill/>
        </p:spPr>
        <p:txBody>
          <a:bodyPr wrap="square" lIns="18288" rIns="18288" tIns="18288" bIns="18288" anchor="t">
            <a:spAutoFit/>
          </a:bodyPr>
          <a:lstStyle/>
          <a:p>
            <a:pPr algn="l"/>
            <a:r>
              <a:rPr sz="969" b="1" lang="en-US">
                <a:solidFill>
                  <a:srgbClr val="434343"/>
                </a:solidFill>
                <a:latin typeface="Arial"/>
              </a:rPr>
              <a:t>rare positive labels</a:t>
            </a:r>
          </a:p>
        </p:txBody>
      </p:sp>
      <p:sp>
        <p:nvSpPr>
          <p:cNvPr id="44" name="Oval 43"/>
          <p:cNvSpPr/>
          <p:nvPr/>
        </p:nvSpPr>
        <p:spPr>
          <a:xfrm>
            <a:off x="8723376" y="2514600"/>
            <a:ext cx="228600" cy="228600"/>
          </a:xfrm>
          <a:prstGeom prst="ellipse">
            <a:avLst/>
          </a:prstGeom>
          <a:solidFill>
            <a:srgbClr val="FFFFFF"/>
          </a:solidFill>
          <a:ln w="15240">
            <a:solidFill>
              <a:srgbClr val="FF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778240" y="2537460"/>
            <a:ext cx="118872" cy="109728"/>
          </a:xfrm>
          <a:prstGeom prst="rect">
            <a:avLst/>
          </a:prstGeom>
          <a:noFill/>
        </p:spPr>
        <p:txBody>
          <a:bodyPr wrap="square" lIns="0" rIns="0" tIns="0" bIns="0" anchor="t">
            <a:spAutoFit/>
          </a:bodyPr>
          <a:lstStyle/>
          <a:p>
            <a:pPr algn="ctr"/>
            <a:r>
              <a:rPr sz="850" b="1" lang="en-US">
                <a:solidFill>
                  <a:srgbClr val="FF6C00"/>
                </a:solidFill>
                <a:latin typeface="Arial"/>
              </a:rPr>
              <a:t>•</a:t>
            </a:r>
          </a:p>
        </p:txBody>
      </p:sp>
      <p:sp>
        <p:nvSpPr>
          <p:cNvPr id="46" name="TextBox 45"/>
          <p:cNvSpPr txBox="1"/>
          <p:nvPr/>
        </p:nvSpPr>
        <p:spPr>
          <a:xfrm>
            <a:off x="9079992" y="2505456"/>
            <a:ext cx="2057400" cy="228600"/>
          </a:xfrm>
          <a:prstGeom prst="rect">
            <a:avLst/>
          </a:prstGeom>
          <a:noFill/>
        </p:spPr>
        <p:txBody>
          <a:bodyPr wrap="square" lIns="18288" rIns="18288" tIns="18288" bIns="18288" anchor="t">
            <a:spAutoFit/>
          </a:bodyPr>
          <a:lstStyle/>
          <a:p>
            <a:pPr algn="l"/>
            <a:r>
              <a:rPr sz="969" b="1" lang="en-US">
                <a:solidFill>
                  <a:srgbClr val="434343"/>
                </a:solidFill>
                <a:latin typeface="Arial"/>
              </a:rPr>
              <a:t>one fixed 0.5 threshold</a:t>
            </a:r>
          </a:p>
        </p:txBody>
      </p:sp>
      <p:sp>
        <p:nvSpPr>
          <p:cNvPr id="47" name="Oval 46"/>
          <p:cNvSpPr/>
          <p:nvPr/>
        </p:nvSpPr>
        <p:spPr>
          <a:xfrm>
            <a:off x="8723376" y="2953512"/>
            <a:ext cx="228600" cy="228600"/>
          </a:xfrm>
          <a:prstGeom prst="ellipse">
            <a:avLst/>
          </a:prstGeom>
          <a:solidFill>
            <a:srgbClr val="FFFFFF"/>
          </a:solidFill>
          <a:ln w="15240">
            <a:solidFill>
              <a:srgbClr val="FF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778240" y="2976372"/>
            <a:ext cx="118872" cy="109728"/>
          </a:xfrm>
          <a:prstGeom prst="rect">
            <a:avLst/>
          </a:prstGeom>
          <a:noFill/>
        </p:spPr>
        <p:txBody>
          <a:bodyPr wrap="square" lIns="0" rIns="0" tIns="0" bIns="0" anchor="t">
            <a:spAutoFit/>
          </a:bodyPr>
          <a:lstStyle/>
          <a:p>
            <a:pPr algn="ctr"/>
            <a:r>
              <a:rPr sz="850" b="1" lang="en-US">
                <a:solidFill>
                  <a:srgbClr val="FF6C00"/>
                </a:solidFill>
                <a:latin typeface="Arial"/>
              </a:rPr>
              <a:t>•</a:t>
            </a:r>
          </a:p>
        </p:txBody>
      </p:sp>
      <p:sp>
        <p:nvSpPr>
          <p:cNvPr id="49" name="TextBox 48"/>
          <p:cNvSpPr txBox="1"/>
          <p:nvPr/>
        </p:nvSpPr>
        <p:spPr>
          <a:xfrm>
            <a:off x="9079992" y="2944368"/>
            <a:ext cx="2057400" cy="228600"/>
          </a:xfrm>
          <a:prstGeom prst="rect">
            <a:avLst/>
          </a:prstGeom>
          <a:noFill/>
        </p:spPr>
        <p:txBody>
          <a:bodyPr wrap="square" lIns="18288" rIns="18288" tIns="18288" bIns="18288" anchor="t">
            <a:spAutoFit/>
          </a:bodyPr>
          <a:lstStyle/>
          <a:p>
            <a:pPr algn="l"/>
            <a:r>
              <a:rPr sz="969" b="1" lang="en-US">
                <a:solidFill>
                  <a:srgbClr val="434343"/>
                </a:solidFill>
                <a:latin typeface="Arial"/>
              </a:rPr>
              <a:t>two local epochs</a:t>
            </a:r>
          </a:p>
        </p:txBody>
      </p:sp>
      <p:sp>
        <p:nvSpPr>
          <p:cNvPr id="50" name="Oval 49"/>
          <p:cNvSpPr/>
          <p:nvPr/>
        </p:nvSpPr>
        <p:spPr>
          <a:xfrm>
            <a:off x="8723376" y="3392424"/>
            <a:ext cx="228600" cy="228600"/>
          </a:xfrm>
          <a:prstGeom prst="ellipse">
            <a:avLst/>
          </a:prstGeom>
          <a:solidFill>
            <a:srgbClr val="FFFFFF"/>
          </a:solidFill>
          <a:ln w="15240">
            <a:solidFill>
              <a:srgbClr val="FF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78240" y="3415284"/>
            <a:ext cx="118872" cy="109728"/>
          </a:xfrm>
          <a:prstGeom prst="rect">
            <a:avLst/>
          </a:prstGeom>
          <a:noFill/>
        </p:spPr>
        <p:txBody>
          <a:bodyPr wrap="square" lIns="0" rIns="0" tIns="0" bIns="0" anchor="t">
            <a:spAutoFit/>
          </a:bodyPr>
          <a:lstStyle/>
          <a:p>
            <a:pPr algn="ctr"/>
            <a:r>
              <a:rPr sz="850" b="1" lang="en-US">
                <a:solidFill>
                  <a:srgbClr val="FF6C00"/>
                </a:solidFill>
                <a:latin typeface="Arial"/>
              </a:rPr>
              <a:t>•</a:t>
            </a:r>
          </a:p>
        </p:txBody>
      </p:sp>
      <p:sp>
        <p:nvSpPr>
          <p:cNvPr id="52" name="TextBox 51"/>
          <p:cNvSpPr txBox="1"/>
          <p:nvPr/>
        </p:nvSpPr>
        <p:spPr>
          <a:xfrm>
            <a:off x="9079992" y="3383280"/>
            <a:ext cx="2057400" cy="228600"/>
          </a:xfrm>
          <a:prstGeom prst="rect">
            <a:avLst/>
          </a:prstGeom>
          <a:noFill/>
        </p:spPr>
        <p:txBody>
          <a:bodyPr wrap="square" lIns="18288" rIns="18288" tIns="18288" bIns="18288" anchor="t">
            <a:spAutoFit/>
          </a:bodyPr>
          <a:lstStyle/>
          <a:p>
            <a:pPr algn="l"/>
            <a:r>
              <a:rPr sz="969" b="1" lang="en-US">
                <a:solidFill>
                  <a:srgbClr val="434343"/>
                </a:solidFill>
                <a:latin typeface="Arial"/>
              </a:rPr>
              <a:t>compact two-convolution CNN</a:t>
            </a:r>
          </a:p>
        </p:txBody>
      </p:sp>
      <p:sp>
        <p:nvSpPr>
          <p:cNvPr id="53" name="Rounded Rectangle 52"/>
          <p:cNvSpPr/>
          <p:nvPr/>
        </p:nvSpPr>
        <p:spPr>
          <a:xfrm>
            <a:off x="713232" y="4343400"/>
            <a:ext cx="10771632" cy="530352"/>
          </a:xfrm>
          <a:prstGeom prst="roundRect">
            <a:avLst/>
          </a:prstGeom>
          <a:solidFill>
            <a:srgbClr val="EAF6ED"/>
          </a:solidFill>
          <a:ln w="1524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60120" y="4480560"/>
            <a:ext cx="10277856" cy="265176"/>
          </a:xfrm>
          <a:prstGeom prst="rect">
            <a:avLst/>
          </a:prstGeom>
          <a:noFill/>
        </p:spPr>
        <p:txBody>
          <a:bodyPr wrap="square" lIns="18288" rIns="18288" tIns="18288" bIns="18288" anchor="ctr">
            <a:spAutoFit/>
          </a:bodyPr>
          <a:lstStyle/>
          <a:p>
            <a:pPr algn="ctr"/>
            <a:r>
              <a:rPr sz="1080" b="1" lang="en-US">
                <a:solidFill>
                  <a:srgbClr val="434343"/>
                </a:solidFill>
                <a:latin typeface="Arial"/>
              </a:rPr>
              <a:t>Interpretation: lower raw accuracy is compatible with learning positives; AUROC 0.711 shows ranking signal, while F1 0.177 calls for label-specific threshold calibration.</a:t>
            </a:r>
          </a:p>
        </p:txBody>
      </p:sp>
      <p:sp>
        <p:nvSpPr>
          <p:cNvPr id="55" name="Rectangle 54"/>
          <p:cNvSpPr/>
          <p:nvPr/>
        </p:nvSpPr>
        <p:spPr>
          <a:xfrm>
            <a:off x="1243584" y="5157216"/>
            <a:ext cx="9710928" cy="393192"/>
          </a:xfrm>
          <a:prstGeom prst="rect">
            <a:avLst/>
          </a:prstGeom>
          <a:solidFill>
            <a:srgbClr val="C40D1E"/>
          </a:solidFill>
          <a:ln w="1270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481328" y="5266944"/>
            <a:ext cx="9235440" cy="182880"/>
          </a:xfrm>
          <a:prstGeom prst="rect">
            <a:avLst/>
          </a:prstGeom>
          <a:noFill/>
        </p:spPr>
        <p:txBody>
          <a:bodyPr wrap="square" lIns="18288" rIns="18288" tIns="18288" bIns="18288" anchor="t">
            <a:spAutoFit/>
          </a:bodyPr>
          <a:lstStyle/>
          <a:p>
            <a:pPr algn="ctr"/>
            <a:r>
              <a:rPr sz="1140" b="1" lang="en-US">
                <a:solidFill>
                  <a:srgbClr val="FFFFFF"/>
                </a:solidFill>
                <a:latin typeface="Arial"/>
              </a:rPr>
              <a:t>Functional distributed-learning evidence — not a clinical validation.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Conclusion and outlook</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COMPOSED EVIDENCE WORKS · NEXT: STRENGTHEN SOURCE-TO-DEPLOYMENT TRUST</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29</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TextBox 12"/>
          <p:cNvSpPr txBox="1"/>
          <p:nvPr/>
        </p:nvSpPr>
        <p:spPr>
          <a:xfrm>
            <a:off x="713232" y="1353312"/>
            <a:ext cx="1920240" cy="219456"/>
          </a:xfrm>
          <a:prstGeom prst="rect">
            <a:avLst/>
          </a:prstGeom>
          <a:noFill/>
        </p:spPr>
        <p:txBody>
          <a:bodyPr wrap="square" lIns="18288" rIns="18288" tIns="18288" bIns="18288" anchor="t">
            <a:spAutoFit/>
          </a:bodyPr>
          <a:lstStyle/>
          <a:p>
            <a:pPr algn="l"/>
            <a:r>
              <a:rPr sz="1030" b="1" lang="en-US">
                <a:solidFill>
                  <a:srgbClr val="C40D1E"/>
                </a:solidFill>
                <a:latin typeface="Arial"/>
              </a:rPr>
              <a:t>CORE CONCLUSION</a:t>
            </a:r>
          </a:p>
        </p:txBody>
      </p:sp>
      <p:sp>
        <p:nvSpPr>
          <p:cNvPr id="14" name="TextBox 13"/>
          <p:cNvSpPr txBox="1"/>
          <p:nvPr/>
        </p:nvSpPr>
        <p:spPr>
          <a:xfrm>
            <a:off x="713232" y="1609344"/>
            <a:ext cx="10789920" cy="713232"/>
          </a:xfrm>
          <a:prstGeom prst="rect">
            <a:avLst/>
          </a:prstGeom>
          <a:noFill/>
        </p:spPr>
        <p:txBody>
          <a:bodyPr wrap="square" lIns="18288" rIns="18288" tIns="18288" bIns="18288" anchor="ctr">
            <a:spAutoFit/>
          </a:bodyPr>
          <a:lstStyle/>
          <a:p>
            <a:pPr algn="ctr"/>
            <a:r>
              <a:rPr sz="1950" b="1" lang="en-US">
                <a:solidFill>
                  <a:srgbClr val="434343"/>
                </a:solidFill>
                <a:latin typeface="Arial"/>
              </a:rPr>
              <a:t>VITA-FL composes scoped evidence from decentralized model production
to agent consumption.</a:t>
            </a:r>
          </a:p>
        </p:txBody>
      </p:sp>
      <p:sp>
        <p:nvSpPr>
          <p:cNvPr id="15" name="TextBox 14"/>
          <p:cNvSpPr txBox="1"/>
          <p:nvPr/>
        </p:nvSpPr>
        <p:spPr>
          <a:xfrm>
            <a:off x="1207008" y="2331720"/>
            <a:ext cx="9802368" cy="256032"/>
          </a:xfrm>
          <a:prstGeom prst="rect">
            <a:avLst/>
          </a:prstGeom>
          <a:noFill/>
        </p:spPr>
        <p:txBody>
          <a:bodyPr wrap="square" lIns="18288" rIns="18288" tIns="18288" bIns="18288" anchor="t">
            <a:spAutoFit/>
          </a:bodyPr>
          <a:lstStyle/>
          <a:p>
            <a:pPr algn="ctr"/>
            <a:r>
              <a:rPr sz="1120" b="1" lang="en-US">
                <a:solidFill>
                  <a:srgbClr val="C40D1E"/>
                </a:solidFill>
                <a:latin typeface="Arial"/>
              </a:rPr>
              <a:t>Reproducible proof of concept—not a trustless or clinically validated platform.</a:t>
            </a:r>
          </a:p>
        </p:txBody>
      </p:sp>
      <p:sp>
        <p:nvSpPr>
          <p:cNvPr id="16" name="TextBox 15"/>
          <p:cNvSpPr txBox="1"/>
          <p:nvPr/>
        </p:nvSpPr>
        <p:spPr>
          <a:xfrm>
            <a:off x="786384" y="2660904"/>
            <a:ext cx="1938528" cy="219456"/>
          </a:xfrm>
          <a:prstGeom prst="rect">
            <a:avLst/>
          </a:prstGeom>
          <a:noFill/>
        </p:spPr>
        <p:txBody>
          <a:bodyPr wrap="square" lIns="18288" rIns="18288" tIns="18288" bIns="18288" anchor="t">
            <a:spAutoFit/>
          </a:bodyPr>
          <a:lstStyle/>
          <a:p>
            <a:pPr algn="l"/>
            <a:r>
              <a:rPr sz="1050" b="1" lang="en-US">
                <a:solidFill>
                  <a:srgbClr val="2F8F46"/>
                </a:solidFill>
                <a:latin typeface="Arial"/>
              </a:rPr>
              <a:t>DEMONSTRATED</a:t>
            </a:r>
          </a:p>
        </p:txBody>
      </p:sp>
      <p:sp>
        <p:nvSpPr>
          <p:cNvPr id="17" name="TextBox 16"/>
          <p:cNvSpPr txBox="1"/>
          <p:nvPr/>
        </p:nvSpPr>
        <p:spPr>
          <a:xfrm>
            <a:off x="7406640" y="2660904"/>
            <a:ext cx="1115568" cy="219456"/>
          </a:xfrm>
          <a:prstGeom prst="rect">
            <a:avLst/>
          </a:prstGeom>
          <a:noFill/>
        </p:spPr>
        <p:txBody>
          <a:bodyPr wrap="square" lIns="18288" rIns="18288" tIns="18288" bIns="18288" anchor="t">
            <a:spAutoFit/>
          </a:bodyPr>
          <a:lstStyle/>
          <a:p>
            <a:pPr algn="l"/>
            <a:r>
              <a:rPr sz="1050" b="1" lang="en-US">
                <a:solidFill>
                  <a:srgbClr val="FF6C00"/>
                </a:solidFill>
                <a:latin typeface="Arial"/>
              </a:rPr>
              <a:t>NEXT</a:t>
            </a:r>
          </a:p>
        </p:txBody>
      </p:sp>
      <p:cxnSp>
        <p:nvCxnSpPr>
          <p:cNvPr id="18" name="Connector 17"/>
          <p:cNvCxnSpPr/>
          <p:nvPr/>
        </p:nvCxnSpPr>
        <p:spPr>
          <a:xfrm>
            <a:off x="1115568" y="3319272"/>
            <a:ext cx="4416552" cy="0"/>
          </a:xfrm>
          <a:prstGeom prst="line">
            <a:avLst/>
          </a:prstGeom>
          <a:ln w="38100">
            <a:solidFill>
              <a:srgbClr val="2F8F4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647688" y="3319272"/>
            <a:ext cx="4370832" cy="0"/>
          </a:xfrm>
          <a:prstGeom prst="line">
            <a:avLst/>
          </a:prstGeom>
          <a:ln w="38100">
            <a:solidFill>
              <a:srgbClr val="FF6C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1014983" y="3008376"/>
            <a:ext cx="621792" cy="621792"/>
          </a:xfrm>
          <a:prstGeom prst="ellipse">
            <a:avLst/>
          </a:prstGeom>
          <a:solidFill>
            <a:srgbClr val="FFFFFF"/>
          </a:solidFill>
          <a:ln w="2794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24712" y="3145536"/>
            <a:ext cx="402336" cy="274320"/>
          </a:xfrm>
          <a:prstGeom prst="rect">
            <a:avLst/>
          </a:prstGeom>
          <a:noFill/>
        </p:spPr>
        <p:txBody>
          <a:bodyPr wrap="square" lIns="0" rIns="0" tIns="0" bIns="0" anchor="t">
            <a:spAutoFit/>
          </a:bodyPr>
          <a:lstStyle/>
          <a:p>
            <a:pPr algn="ctr"/>
            <a:r>
              <a:rPr sz="1600" b="1" lang="en-US">
                <a:solidFill>
                  <a:srgbClr val="2F8F46"/>
                </a:solidFill>
                <a:latin typeface="Arial"/>
              </a:rPr>
              <a:t>✓</a:t>
            </a:r>
          </a:p>
        </p:txBody>
      </p:sp>
      <p:sp>
        <p:nvSpPr>
          <p:cNvPr id="22" name="TextBox 21"/>
          <p:cNvSpPr txBox="1"/>
          <p:nvPr/>
        </p:nvSpPr>
        <p:spPr>
          <a:xfrm>
            <a:off x="685800" y="3840480"/>
            <a:ext cx="1280160" cy="228600"/>
          </a:xfrm>
          <a:prstGeom prst="rect">
            <a:avLst/>
          </a:prstGeom>
          <a:noFill/>
        </p:spPr>
        <p:txBody>
          <a:bodyPr wrap="square" lIns="18288" rIns="18288" tIns="18288" bIns="18288" anchor="t">
            <a:spAutoFit/>
          </a:bodyPr>
          <a:lstStyle/>
          <a:p>
            <a:pPr algn="ctr"/>
            <a:r>
              <a:rPr sz="919" b="1" lang="en-US">
                <a:solidFill>
                  <a:srgbClr val="2F8F46"/>
                </a:solidFill>
                <a:latin typeface="Arial"/>
              </a:rPr>
              <a:t>SIGNED INPUT</a:t>
            </a:r>
          </a:p>
        </p:txBody>
      </p:sp>
      <p:sp>
        <p:nvSpPr>
          <p:cNvPr id="23" name="TextBox 22"/>
          <p:cNvSpPr txBox="1"/>
          <p:nvPr/>
        </p:nvSpPr>
        <p:spPr>
          <a:xfrm>
            <a:off x="667512" y="4142232"/>
            <a:ext cx="1316736" cy="438912"/>
          </a:xfrm>
          <a:prstGeom prst="rect">
            <a:avLst/>
          </a:prstGeom>
          <a:noFill/>
        </p:spPr>
        <p:txBody>
          <a:bodyPr wrap="square" lIns="18288" rIns="18288" tIns="18288" bIns="18288" anchor="t">
            <a:spAutoFit/>
          </a:bodyPr>
          <a:lstStyle/>
          <a:p>
            <a:pPr algn="ctr"/>
            <a:r>
              <a:rPr sz="800" b="0" lang="en-US">
                <a:solidFill>
                  <a:srgbClr val="434343"/>
                </a:solidFill>
                <a:latin typeface="Arial"/>
              </a:rPr>
              <a:t>independent provenance</a:t>
            </a:r>
          </a:p>
        </p:txBody>
      </p:sp>
      <p:sp>
        <p:nvSpPr>
          <p:cNvPr id="24" name="Oval 23"/>
          <p:cNvSpPr/>
          <p:nvPr/>
        </p:nvSpPr>
        <p:spPr>
          <a:xfrm>
            <a:off x="2660904" y="3008376"/>
            <a:ext cx="621792" cy="621792"/>
          </a:xfrm>
          <a:prstGeom prst="ellipse">
            <a:avLst/>
          </a:prstGeom>
          <a:solidFill>
            <a:srgbClr val="FFFFFF"/>
          </a:solidFill>
          <a:ln w="2794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70632" y="3145536"/>
            <a:ext cx="402336" cy="274320"/>
          </a:xfrm>
          <a:prstGeom prst="rect">
            <a:avLst/>
          </a:prstGeom>
          <a:noFill/>
        </p:spPr>
        <p:txBody>
          <a:bodyPr wrap="square" lIns="0" rIns="0" tIns="0" bIns="0" anchor="t">
            <a:spAutoFit/>
          </a:bodyPr>
          <a:lstStyle/>
          <a:p>
            <a:pPr algn="ctr"/>
            <a:r>
              <a:rPr sz="1600" b="1" lang="en-US">
                <a:solidFill>
                  <a:srgbClr val="2F8F46"/>
                </a:solidFill>
                <a:latin typeface="Arial"/>
              </a:rPr>
              <a:t>✓</a:t>
            </a:r>
          </a:p>
        </p:txBody>
      </p:sp>
      <p:sp>
        <p:nvSpPr>
          <p:cNvPr id="26" name="TextBox 25"/>
          <p:cNvSpPr txBox="1"/>
          <p:nvPr/>
        </p:nvSpPr>
        <p:spPr>
          <a:xfrm>
            <a:off x="2331720" y="3840480"/>
            <a:ext cx="1280160" cy="228600"/>
          </a:xfrm>
          <a:prstGeom prst="rect">
            <a:avLst/>
          </a:prstGeom>
          <a:noFill/>
        </p:spPr>
        <p:txBody>
          <a:bodyPr wrap="square" lIns="18288" rIns="18288" tIns="18288" bIns="18288" anchor="t">
            <a:spAutoFit/>
          </a:bodyPr>
          <a:lstStyle/>
          <a:p>
            <a:pPr algn="ctr"/>
            <a:r>
              <a:rPr sz="919" b="1" lang="en-US">
                <a:solidFill>
                  <a:srgbClr val="2F8F46"/>
                </a:solidFill>
                <a:latin typeface="Arial"/>
              </a:rPr>
              <a:t>DFL MODEL</a:t>
            </a:r>
          </a:p>
        </p:txBody>
      </p:sp>
      <p:sp>
        <p:nvSpPr>
          <p:cNvPr id="27" name="TextBox 26"/>
          <p:cNvSpPr txBox="1"/>
          <p:nvPr/>
        </p:nvSpPr>
        <p:spPr>
          <a:xfrm>
            <a:off x="2313432" y="4142232"/>
            <a:ext cx="1316736" cy="438912"/>
          </a:xfrm>
          <a:prstGeom prst="rect">
            <a:avLst/>
          </a:prstGeom>
          <a:noFill/>
        </p:spPr>
        <p:txBody>
          <a:bodyPr wrap="square" lIns="18288" rIns="18288" tIns="18288" bIns="18288" anchor="t">
            <a:spAutoFit/>
          </a:bodyPr>
          <a:lstStyle/>
          <a:p>
            <a:pPr algn="ctr"/>
            <a:r>
              <a:rPr sz="800" b="0" lang="en-US">
                <a:solidFill>
                  <a:srgbClr val="434343"/>
                </a:solidFill>
                <a:latin typeface="Arial"/>
              </a:rPr>
              <a:t>closed set + atomic handoff</a:t>
            </a:r>
          </a:p>
        </p:txBody>
      </p:sp>
      <p:sp>
        <p:nvSpPr>
          <p:cNvPr id="28" name="Oval 27"/>
          <p:cNvSpPr/>
          <p:nvPr/>
        </p:nvSpPr>
        <p:spPr>
          <a:xfrm>
            <a:off x="4306824" y="3008376"/>
            <a:ext cx="621792" cy="621792"/>
          </a:xfrm>
          <a:prstGeom prst="ellipse">
            <a:avLst/>
          </a:prstGeom>
          <a:solidFill>
            <a:srgbClr val="FFFFFF"/>
          </a:solidFill>
          <a:ln w="27940">
            <a:solidFill>
              <a:srgbClr val="2F8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16552" y="3145536"/>
            <a:ext cx="402336" cy="274320"/>
          </a:xfrm>
          <a:prstGeom prst="rect">
            <a:avLst/>
          </a:prstGeom>
          <a:noFill/>
        </p:spPr>
        <p:txBody>
          <a:bodyPr wrap="square" lIns="0" rIns="0" tIns="0" bIns="0" anchor="t">
            <a:spAutoFit/>
          </a:bodyPr>
          <a:lstStyle/>
          <a:p>
            <a:pPr algn="ctr"/>
            <a:r>
              <a:rPr sz="1600" b="1" lang="en-US">
                <a:solidFill>
                  <a:srgbClr val="2F8F46"/>
                </a:solidFill>
                <a:latin typeface="Arial"/>
              </a:rPr>
              <a:t>✓</a:t>
            </a:r>
          </a:p>
        </p:txBody>
      </p:sp>
      <p:sp>
        <p:nvSpPr>
          <p:cNvPr id="30" name="TextBox 29"/>
          <p:cNvSpPr txBox="1"/>
          <p:nvPr/>
        </p:nvSpPr>
        <p:spPr>
          <a:xfrm>
            <a:off x="3977639" y="3840480"/>
            <a:ext cx="1280160" cy="228600"/>
          </a:xfrm>
          <a:prstGeom prst="rect">
            <a:avLst/>
          </a:prstGeom>
          <a:noFill/>
        </p:spPr>
        <p:txBody>
          <a:bodyPr wrap="square" lIns="18288" rIns="18288" tIns="18288" bIns="18288" anchor="t">
            <a:spAutoFit/>
          </a:bodyPr>
          <a:lstStyle/>
          <a:p>
            <a:pPr algn="ctr"/>
            <a:r>
              <a:rPr sz="919" b="1" lang="en-US">
                <a:solidFill>
                  <a:srgbClr val="2F8F46"/>
                </a:solidFill>
                <a:latin typeface="Arial"/>
              </a:rPr>
              <a:t>ATTESTED USE</a:t>
            </a:r>
          </a:p>
        </p:txBody>
      </p:sp>
      <p:sp>
        <p:nvSpPr>
          <p:cNvPr id="31" name="TextBox 30"/>
          <p:cNvSpPr txBox="1"/>
          <p:nvPr/>
        </p:nvSpPr>
        <p:spPr>
          <a:xfrm>
            <a:off x="3959352" y="4142232"/>
            <a:ext cx="1316736" cy="438912"/>
          </a:xfrm>
          <a:prstGeom prst="rect">
            <a:avLst/>
          </a:prstGeom>
          <a:noFill/>
        </p:spPr>
        <p:txBody>
          <a:bodyPr wrap="square" lIns="18288" rIns="18288" tIns="18288" bIns="18288" anchor="t">
            <a:spAutoFit/>
          </a:bodyPr>
          <a:lstStyle/>
          <a:p>
            <a:pPr algn="ctr"/>
            <a:r>
              <a:rPr sz="800" b="0" lang="en-US">
                <a:solidFill>
                  <a:srgbClr val="434343"/>
                </a:solidFill>
                <a:latin typeface="Arial"/>
              </a:rPr>
              <a:t>TDX/AIR + receipts + SCITT</a:t>
            </a:r>
          </a:p>
        </p:txBody>
      </p:sp>
      <p:sp>
        <p:nvSpPr>
          <p:cNvPr id="32" name="Oval 31"/>
          <p:cNvSpPr/>
          <p:nvPr/>
        </p:nvSpPr>
        <p:spPr>
          <a:xfrm>
            <a:off x="5513832" y="2743200"/>
            <a:ext cx="1143000" cy="1143000"/>
          </a:xfrm>
          <a:prstGeom prst="ellipse">
            <a:avLst/>
          </a:prstGeom>
          <a:solidFill>
            <a:srgbClr val="FBEAEC"/>
          </a:solidFill>
          <a:ln w="2286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50992" y="3054096"/>
            <a:ext cx="868680" cy="201168"/>
          </a:xfrm>
          <a:prstGeom prst="rect">
            <a:avLst/>
          </a:prstGeom>
          <a:noFill/>
        </p:spPr>
        <p:txBody>
          <a:bodyPr wrap="square" lIns="18288" rIns="18288" tIns="18288" bIns="18288" anchor="t">
            <a:spAutoFit/>
          </a:bodyPr>
          <a:lstStyle/>
          <a:p>
            <a:pPr algn="ctr"/>
            <a:r>
              <a:rPr sz="1019" b="1" lang="en-US">
                <a:solidFill>
                  <a:srgbClr val="C40D1E"/>
                </a:solidFill>
                <a:latin typeface="Arial"/>
              </a:rPr>
              <a:t>VITA-FL</a:t>
            </a:r>
          </a:p>
        </p:txBody>
      </p:sp>
      <p:sp>
        <p:nvSpPr>
          <p:cNvPr id="34" name="TextBox 33"/>
          <p:cNvSpPr txBox="1"/>
          <p:nvPr/>
        </p:nvSpPr>
        <p:spPr>
          <a:xfrm>
            <a:off x="5751576" y="3319272"/>
            <a:ext cx="667512" cy="182880"/>
          </a:xfrm>
          <a:prstGeom prst="rect">
            <a:avLst/>
          </a:prstGeom>
          <a:noFill/>
        </p:spPr>
        <p:txBody>
          <a:bodyPr wrap="square" lIns="18288" rIns="18288" tIns="18288" bIns="18288" anchor="t">
            <a:spAutoFit/>
          </a:bodyPr>
          <a:lstStyle/>
          <a:p>
            <a:pPr algn="ctr"/>
            <a:r>
              <a:rPr sz="900" b="1" lang="en-US">
                <a:solidFill>
                  <a:srgbClr val="434343"/>
                </a:solidFill>
                <a:latin typeface="Arial"/>
              </a:rPr>
              <a:t>PoC</a:t>
            </a:r>
          </a:p>
        </p:txBody>
      </p:sp>
      <p:sp>
        <p:nvSpPr>
          <p:cNvPr id="35" name="Oval 34"/>
          <p:cNvSpPr/>
          <p:nvPr/>
        </p:nvSpPr>
        <p:spPr>
          <a:xfrm>
            <a:off x="7168896" y="3008376"/>
            <a:ext cx="621792" cy="621792"/>
          </a:xfrm>
          <a:prstGeom prst="ellipse">
            <a:avLst/>
          </a:prstGeom>
          <a:solidFill>
            <a:srgbClr val="FFFFFF"/>
          </a:solidFill>
          <a:ln w="27940">
            <a:solidFill>
              <a:srgbClr val="FF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78624" y="3145536"/>
            <a:ext cx="402336" cy="274320"/>
          </a:xfrm>
          <a:prstGeom prst="rect">
            <a:avLst/>
          </a:prstGeom>
          <a:noFill/>
        </p:spPr>
        <p:txBody>
          <a:bodyPr wrap="square" lIns="0" rIns="0" tIns="0" bIns="0" anchor="t">
            <a:spAutoFit/>
          </a:bodyPr>
          <a:lstStyle/>
          <a:p>
            <a:pPr algn="ctr"/>
            <a:r>
              <a:rPr sz="1500" b="1" lang="en-US">
                <a:solidFill>
                  <a:srgbClr val="FF6C00"/>
                </a:solidFill>
                <a:latin typeface="Arial"/>
              </a:rPr>
              <a:t>→</a:t>
            </a:r>
          </a:p>
        </p:txBody>
      </p:sp>
      <p:sp>
        <p:nvSpPr>
          <p:cNvPr id="37" name="TextBox 36"/>
          <p:cNvSpPr txBox="1"/>
          <p:nvPr/>
        </p:nvSpPr>
        <p:spPr>
          <a:xfrm>
            <a:off x="6784848" y="3813048"/>
            <a:ext cx="1389888" cy="365760"/>
          </a:xfrm>
          <a:prstGeom prst="rect">
            <a:avLst/>
          </a:prstGeom>
          <a:noFill/>
        </p:spPr>
        <p:txBody>
          <a:bodyPr wrap="square" lIns="18288" rIns="18288" tIns="18288" bIns="18288" anchor="t">
            <a:spAutoFit/>
          </a:bodyPr>
          <a:lstStyle/>
          <a:p>
            <a:pPr algn="ctr"/>
            <a:r>
              <a:rPr sz="830" b="1" lang="en-US">
                <a:solidFill>
                  <a:srgbClr val="FF6C00"/>
                </a:solidFill>
                <a:latin typeface="Arial"/>
              </a:rPr>
              <a:t>SUPPLY CHAIN</a:t>
            </a:r>
          </a:p>
        </p:txBody>
      </p:sp>
      <p:sp>
        <p:nvSpPr>
          <p:cNvPr id="38" name="TextBox 37"/>
          <p:cNvSpPr txBox="1"/>
          <p:nvPr/>
        </p:nvSpPr>
        <p:spPr>
          <a:xfrm>
            <a:off x="6775704" y="4215384"/>
            <a:ext cx="1408176" cy="475488"/>
          </a:xfrm>
          <a:prstGeom prst="rect">
            <a:avLst/>
          </a:prstGeom>
          <a:noFill/>
        </p:spPr>
        <p:txBody>
          <a:bodyPr wrap="square" lIns="18288" rIns="18288" tIns="18288" bIns="18288" anchor="t">
            <a:spAutoFit/>
          </a:bodyPr>
          <a:lstStyle/>
          <a:p>
            <a:pPr algn="ctr"/>
            <a:r>
              <a:rPr sz="800" b="0" lang="en-US">
                <a:solidFill>
                  <a:srgbClr val="434343"/>
                </a:solidFill>
                <a:latin typeface="Arial"/>
              </a:rPr>
              <a:t>source→build · SBOM · signatures</a:t>
            </a:r>
          </a:p>
        </p:txBody>
      </p:sp>
      <p:sp>
        <p:nvSpPr>
          <p:cNvPr id="39" name="Oval 38"/>
          <p:cNvSpPr/>
          <p:nvPr/>
        </p:nvSpPr>
        <p:spPr>
          <a:xfrm>
            <a:off x="8833104" y="3008376"/>
            <a:ext cx="621792" cy="621792"/>
          </a:xfrm>
          <a:prstGeom prst="ellipse">
            <a:avLst/>
          </a:prstGeom>
          <a:solidFill>
            <a:srgbClr val="FFFFFF"/>
          </a:solidFill>
          <a:ln w="27940">
            <a:solidFill>
              <a:srgbClr val="FF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42832" y="3145536"/>
            <a:ext cx="402336" cy="274320"/>
          </a:xfrm>
          <a:prstGeom prst="rect">
            <a:avLst/>
          </a:prstGeom>
          <a:noFill/>
        </p:spPr>
        <p:txBody>
          <a:bodyPr wrap="square" lIns="0" rIns="0" tIns="0" bIns="0" anchor="t">
            <a:spAutoFit/>
          </a:bodyPr>
          <a:lstStyle/>
          <a:p>
            <a:pPr algn="ctr"/>
            <a:r>
              <a:rPr sz="1500" b="1" lang="en-US">
                <a:solidFill>
                  <a:srgbClr val="FF6C00"/>
                </a:solidFill>
                <a:latin typeface="Arial"/>
              </a:rPr>
              <a:t>→</a:t>
            </a:r>
          </a:p>
        </p:txBody>
      </p:sp>
      <p:sp>
        <p:nvSpPr>
          <p:cNvPr id="41" name="TextBox 40"/>
          <p:cNvSpPr txBox="1"/>
          <p:nvPr/>
        </p:nvSpPr>
        <p:spPr>
          <a:xfrm>
            <a:off x="8449056" y="3813048"/>
            <a:ext cx="1389888" cy="365760"/>
          </a:xfrm>
          <a:prstGeom prst="rect">
            <a:avLst/>
          </a:prstGeom>
          <a:noFill/>
        </p:spPr>
        <p:txBody>
          <a:bodyPr wrap="square" lIns="18288" rIns="18288" tIns="18288" bIns="18288" anchor="t">
            <a:spAutoFit/>
          </a:bodyPr>
          <a:lstStyle/>
          <a:p>
            <a:pPr algn="ctr"/>
            <a:r>
              <a:rPr sz="830" b="1" lang="en-US">
                <a:solidFill>
                  <a:srgbClr val="FF6C00"/>
                </a:solidFill>
                <a:latin typeface="Arial"/>
              </a:rPr>
              <a:t>INDEPENDENT LOGS</a:t>
            </a:r>
          </a:p>
        </p:txBody>
      </p:sp>
      <p:sp>
        <p:nvSpPr>
          <p:cNvPr id="42" name="TextBox 41"/>
          <p:cNvSpPr txBox="1"/>
          <p:nvPr/>
        </p:nvSpPr>
        <p:spPr>
          <a:xfrm>
            <a:off x="8439912" y="4215384"/>
            <a:ext cx="1408176" cy="475488"/>
          </a:xfrm>
          <a:prstGeom prst="rect">
            <a:avLst/>
          </a:prstGeom>
          <a:noFill/>
        </p:spPr>
        <p:txBody>
          <a:bodyPr wrap="square" lIns="18288" rIns="18288" tIns="18288" bIns="18288" anchor="t">
            <a:spAutoFit/>
          </a:bodyPr>
          <a:lstStyle/>
          <a:p>
            <a:pPr algn="ctr"/>
            <a:r>
              <a:rPr sz="800" b="0" lang="en-US">
                <a:solidFill>
                  <a:srgbClr val="434343"/>
                </a:solidFill>
                <a:latin typeface="Arial"/>
              </a:rPr>
              <a:t>witness · gossip · anchoring</a:t>
            </a:r>
          </a:p>
        </p:txBody>
      </p:sp>
      <p:sp>
        <p:nvSpPr>
          <p:cNvPr id="43" name="Oval 42"/>
          <p:cNvSpPr/>
          <p:nvPr/>
        </p:nvSpPr>
        <p:spPr>
          <a:xfrm>
            <a:off x="10497312" y="3008376"/>
            <a:ext cx="621792" cy="621792"/>
          </a:xfrm>
          <a:prstGeom prst="ellipse">
            <a:avLst/>
          </a:prstGeom>
          <a:solidFill>
            <a:srgbClr val="FFFFFF"/>
          </a:solidFill>
          <a:ln w="27940">
            <a:solidFill>
              <a:srgbClr val="FF6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607040" y="3145536"/>
            <a:ext cx="402336" cy="274320"/>
          </a:xfrm>
          <a:prstGeom prst="rect">
            <a:avLst/>
          </a:prstGeom>
          <a:noFill/>
        </p:spPr>
        <p:txBody>
          <a:bodyPr wrap="square" lIns="0" rIns="0" tIns="0" bIns="0" anchor="t">
            <a:spAutoFit/>
          </a:bodyPr>
          <a:lstStyle/>
          <a:p>
            <a:pPr algn="ctr"/>
            <a:r>
              <a:rPr sz="1500" b="1" lang="en-US">
                <a:solidFill>
                  <a:srgbClr val="FF6C00"/>
                </a:solidFill>
                <a:latin typeface="Arial"/>
              </a:rPr>
              <a:t>→</a:t>
            </a:r>
          </a:p>
        </p:txBody>
      </p:sp>
      <p:sp>
        <p:nvSpPr>
          <p:cNvPr id="45" name="TextBox 44"/>
          <p:cNvSpPr txBox="1"/>
          <p:nvPr/>
        </p:nvSpPr>
        <p:spPr>
          <a:xfrm>
            <a:off x="10113264" y="3813048"/>
            <a:ext cx="1389888" cy="365760"/>
          </a:xfrm>
          <a:prstGeom prst="rect">
            <a:avLst/>
          </a:prstGeom>
          <a:noFill/>
        </p:spPr>
        <p:txBody>
          <a:bodyPr wrap="square" lIns="18288" rIns="18288" tIns="18288" bIns="18288" anchor="t">
            <a:spAutoFit/>
          </a:bodyPr>
          <a:lstStyle/>
          <a:p>
            <a:pPr algn="ctr"/>
            <a:r>
              <a:rPr sz="800" b="1" lang="en-US">
                <a:solidFill>
                  <a:srgbClr val="FF6C00"/>
                </a:solidFill>
                <a:latin typeface="Arial"/>
              </a:rPr>
              <a:t>ASSURANCE AT SCALE</a:t>
            </a:r>
          </a:p>
        </p:txBody>
      </p:sp>
      <p:sp>
        <p:nvSpPr>
          <p:cNvPr id="46" name="TextBox 45"/>
          <p:cNvSpPr txBox="1"/>
          <p:nvPr/>
        </p:nvSpPr>
        <p:spPr>
          <a:xfrm>
            <a:off x="10104120" y="4215384"/>
            <a:ext cx="1408176" cy="475488"/>
          </a:xfrm>
          <a:prstGeom prst="rect">
            <a:avLst/>
          </a:prstGeom>
          <a:noFill/>
        </p:spPr>
        <p:txBody>
          <a:bodyPr wrap="square" lIns="18288" rIns="18288" tIns="18288" bIns="18288" anchor="t">
            <a:spAutoFit/>
          </a:bodyPr>
          <a:lstStyle/>
          <a:p>
            <a:pPr algn="ctr"/>
            <a:r>
              <a:rPr sz="800" b="0" lang="en-US">
                <a:solidFill>
                  <a:srgbClr val="434343"/>
                </a:solidFill>
                <a:latin typeface="Arial"/>
              </a:rPr>
              <a:t>poisoning · native DICOM · repeated runs</a:t>
            </a:r>
          </a:p>
        </p:txBody>
      </p:sp>
      <p:sp>
        <p:nvSpPr>
          <p:cNvPr id="47" name="TextBox 46"/>
          <p:cNvSpPr txBox="1"/>
          <p:nvPr/>
        </p:nvSpPr>
        <p:spPr>
          <a:xfrm>
            <a:off x="1005840" y="4910328"/>
            <a:ext cx="10168128" cy="219456"/>
          </a:xfrm>
          <a:prstGeom prst="rect">
            <a:avLst/>
          </a:prstGeom>
          <a:noFill/>
        </p:spPr>
        <p:txBody>
          <a:bodyPr wrap="square" lIns="18288" rIns="18288" tIns="18288" bIns="18288" anchor="t">
            <a:spAutoFit/>
          </a:bodyPr>
          <a:lstStyle/>
          <a:p>
            <a:pPr algn="ctr"/>
            <a:r>
              <a:rPr sz="930" b="1" lang="en-US">
                <a:solidFill>
                  <a:srgbClr val="FF6C00"/>
                </a:solidFill>
                <a:latin typeface="Arial"/>
              </a:rPr>
              <a:t>Future-work milestones strengthen the chain; they are not demonstrated properties of the prototype.</a:t>
            </a:r>
          </a:p>
        </p:txBody>
      </p:sp>
      <p:sp>
        <p:nvSpPr>
          <p:cNvPr id="48" name="Rectangle 47"/>
          <p:cNvSpPr/>
          <p:nvPr/>
        </p:nvSpPr>
        <p:spPr>
          <a:xfrm>
            <a:off x="1600200" y="5294376"/>
            <a:ext cx="8988552" cy="10972"/>
          </a:xfrm>
          <a:prstGeom prst="rect">
            <a:avLst/>
          </a:prstGeom>
          <a:solidFill>
            <a:srgbClr val="D5D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070848" y="5422392"/>
            <a:ext cx="2103120" cy="201168"/>
          </a:xfrm>
          <a:prstGeom prst="rect">
            <a:avLst/>
          </a:prstGeom>
          <a:noFill/>
        </p:spPr>
        <p:txBody>
          <a:bodyPr wrap="square" lIns="18288" rIns="18288" tIns="18288" bIns="18288" anchor="t">
            <a:spAutoFit/>
          </a:bodyPr>
          <a:lstStyle/>
          <a:p>
            <a:pPr algn="r"/>
            <a:r>
              <a:rPr sz="1040" b="1" lang="en-US">
                <a:solidFill>
                  <a:srgbClr val="C40D1E"/>
                </a:solidFill>
                <a:latin typeface="Arial"/>
              </a:rPr>
              <a:t>Thank you · Questions?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150" b="0" lang="en-US">
                <a:solidFill>
                  <a:srgbClr val="434343"/>
                </a:solidFill>
                <a:latin typeface="Arial"/>
              </a:rPr>
              <a:t>Training and inference share one verified image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30</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Rounded Rectangle 12"/>
          <p:cNvSpPr/>
          <p:nvPr/>
        </p:nvSpPr>
        <p:spPr>
          <a:xfrm>
            <a:off x="594360" y="1664208"/>
            <a:ext cx="7818120" cy="3282696"/>
          </a:xfrm>
          <a:prstGeom prst="roundRect">
            <a:avLst/>
          </a:prstGeom>
          <a:solidFill>
            <a:srgbClr val="F7F9FA"/>
          </a:solidFill>
          <a:ln w="21590">
            <a:solidFill>
              <a:srgbClr val="26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Worker inference icon: tee / 1"/>
          <p:cNvCxnSpPr/>
          <p:nvPr/>
        </p:nvCxnSpPr>
        <p:spPr>
          <a:xfrm>
            <a:off x="922401" y="1813941"/>
            <a:ext cx="0" cy="43434"/>
          </a:xfrm>
          <a:prstGeom prst="line">
            <a:avLst/>
          </a:prstGeom>
          <a:ln w="15416"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5" name="Worker inference icon: tee / 2"/>
          <p:cNvCxnSpPr/>
          <p:nvPr/>
        </p:nvCxnSpPr>
        <p:spPr>
          <a:xfrm>
            <a:off x="922401" y="2074545"/>
            <a:ext cx="0" cy="43434"/>
          </a:xfrm>
          <a:prstGeom prst="line">
            <a:avLst/>
          </a:prstGeom>
          <a:ln w="15416"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6" name="Worker inference icon: tee / 3"/>
          <p:cNvCxnSpPr/>
          <p:nvPr/>
        </p:nvCxnSpPr>
        <p:spPr>
          <a:xfrm>
            <a:off x="835533" y="1900809"/>
            <a:ext cx="43434" cy="0"/>
          </a:xfrm>
          <a:prstGeom prst="line">
            <a:avLst/>
          </a:prstGeom>
          <a:ln w="15416"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7" name="Worker inference icon: tee / 4"/>
          <p:cNvCxnSpPr/>
          <p:nvPr/>
        </p:nvCxnSpPr>
        <p:spPr>
          <a:xfrm>
            <a:off x="1096137" y="1900809"/>
            <a:ext cx="43434" cy="0"/>
          </a:xfrm>
          <a:prstGeom prst="line">
            <a:avLst/>
          </a:prstGeom>
          <a:ln w="15416"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8" name="Worker inference icon: tee / 5"/>
          <p:cNvCxnSpPr/>
          <p:nvPr/>
        </p:nvCxnSpPr>
        <p:spPr>
          <a:xfrm>
            <a:off x="987552" y="1813941"/>
            <a:ext cx="0" cy="43434"/>
          </a:xfrm>
          <a:prstGeom prst="line">
            <a:avLst/>
          </a:prstGeom>
          <a:ln w="15416"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9" name="Worker inference icon: tee / 6"/>
          <p:cNvCxnSpPr/>
          <p:nvPr/>
        </p:nvCxnSpPr>
        <p:spPr>
          <a:xfrm>
            <a:off x="987552" y="2074545"/>
            <a:ext cx="0" cy="43434"/>
          </a:xfrm>
          <a:prstGeom prst="line">
            <a:avLst/>
          </a:prstGeom>
          <a:ln w="15416"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0" name="Worker inference icon: tee / 7"/>
          <p:cNvCxnSpPr/>
          <p:nvPr/>
        </p:nvCxnSpPr>
        <p:spPr>
          <a:xfrm>
            <a:off x="835533" y="1965960"/>
            <a:ext cx="43434" cy="0"/>
          </a:xfrm>
          <a:prstGeom prst="line">
            <a:avLst/>
          </a:prstGeom>
          <a:ln w="15416"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1" name="Worker inference icon: tee / 8"/>
          <p:cNvCxnSpPr/>
          <p:nvPr/>
        </p:nvCxnSpPr>
        <p:spPr>
          <a:xfrm>
            <a:off x="1096137" y="1965960"/>
            <a:ext cx="43434" cy="0"/>
          </a:xfrm>
          <a:prstGeom prst="line">
            <a:avLst/>
          </a:prstGeom>
          <a:ln w="15416"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2" name="Worker inference icon: tee / 9"/>
          <p:cNvCxnSpPr/>
          <p:nvPr/>
        </p:nvCxnSpPr>
        <p:spPr>
          <a:xfrm>
            <a:off x="1052703" y="1813941"/>
            <a:ext cx="0" cy="43434"/>
          </a:xfrm>
          <a:prstGeom prst="line">
            <a:avLst/>
          </a:prstGeom>
          <a:ln w="15416"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3" name="Worker inference icon: tee / 10"/>
          <p:cNvCxnSpPr/>
          <p:nvPr/>
        </p:nvCxnSpPr>
        <p:spPr>
          <a:xfrm>
            <a:off x="1052703" y="2074545"/>
            <a:ext cx="0" cy="43434"/>
          </a:xfrm>
          <a:prstGeom prst="line">
            <a:avLst/>
          </a:prstGeom>
          <a:ln w="15416"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4" name="Worker inference icon: tee / 11"/>
          <p:cNvCxnSpPr/>
          <p:nvPr/>
        </p:nvCxnSpPr>
        <p:spPr>
          <a:xfrm>
            <a:off x="835533" y="2031111"/>
            <a:ext cx="43434" cy="0"/>
          </a:xfrm>
          <a:prstGeom prst="line">
            <a:avLst/>
          </a:prstGeom>
          <a:ln w="15416"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5" name="Worker inference icon: tee / 12"/>
          <p:cNvCxnSpPr/>
          <p:nvPr/>
        </p:nvCxnSpPr>
        <p:spPr>
          <a:xfrm>
            <a:off x="1096137" y="2031111"/>
            <a:ext cx="43434" cy="0"/>
          </a:xfrm>
          <a:prstGeom prst="line">
            <a:avLst/>
          </a:prstGeom>
          <a:ln w="15416" cap="rnd">
            <a:solidFill>
              <a:srgbClr val="263440"/>
            </a:solidFill>
          </a:ln>
        </p:spPr>
        <p:style>
          <a:lnRef idx="2">
            <a:schemeClr val="accent1"/>
          </a:lnRef>
          <a:fillRef idx="0">
            <a:schemeClr val="accent1"/>
          </a:fillRef>
          <a:effectRef idx="1">
            <a:schemeClr val="accent1"/>
          </a:effectRef>
          <a:fontRef idx="minor">
            <a:schemeClr val="tx1"/>
          </a:fontRef>
        </p:style>
      </p:cxnSp>
      <p:sp>
        <p:nvSpPr>
          <p:cNvPr id="26" name="Worker inference icon: tee / 13"/>
          <p:cNvSpPr/>
          <p:nvPr/>
        </p:nvSpPr>
        <p:spPr>
          <a:xfrm>
            <a:off x="878967" y="1857375"/>
            <a:ext cx="217170" cy="217170"/>
          </a:xfrm>
          <a:prstGeom prst="roundRect">
            <a:avLst/>
          </a:prstGeom>
          <a:solidFill>
            <a:srgbClr val="F7F9FA"/>
          </a:solidFill>
          <a:ln w="15416">
            <a:solidFill>
              <a:srgbClr val="26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Worker inference icon: tee / 14"/>
          <p:cNvCxnSpPr/>
          <p:nvPr/>
        </p:nvCxnSpPr>
        <p:spPr>
          <a:xfrm flipV="1">
            <a:off x="944118" y="1922526"/>
            <a:ext cx="0" cy="32575"/>
          </a:xfrm>
          <a:prstGeom prst="line">
            <a:avLst/>
          </a:prstGeom>
          <a:ln w="1206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8" name="Worker inference icon: tee / 15"/>
          <p:cNvCxnSpPr/>
          <p:nvPr/>
        </p:nvCxnSpPr>
        <p:spPr>
          <a:xfrm flipV="1">
            <a:off x="944118" y="1910083"/>
            <a:ext cx="1709" cy="12443"/>
          </a:xfrm>
          <a:prstGeom prst="line">
            <a:avLst/>
          </a:prstGeom>
          <a:ln w="1206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9" name="Worker inference icon: tee / 16"/>
          <p:cNvCxnSpPr/>
          <p:nvPr/>
        </p:nvCxnSpPr>
        <p:spPr>
          <a:xfrm flipV="1">
            <a:off x="945827" y="1899904"/>
            <a:ext cx="4725" cy="10179"/>
          </a:xfrm>
          <a:prstGeom prst="line">
            <a:avLst/>
          </a:prstGeom>
          <a:ln w="1206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0" name="Worker inference icon: tee / 17"/>
          <p:cNvCxnSpPr/>
          <p:nvPr/>
        </p:nvCxnSpPr>
        <p:spPr>
          <a:xfrm flipV="1">
            <a:off x="950552" y="1891986"/>
            <a:ext cx="7139" cy="7918"/>
          </a:xfrm>
          <a:prstGeom prst="line">
            <a:avLst/>
          </a:prstGeom>
          <a:ln w="1206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1" name="Worker inference icon: tee / 18"/>
          <p:cNvCxnSpPr/>
          <p:nvPr/>
        </p:nvCxnSpPr>
        <p:spPr>
          <a:xfrm flipV="1">
            <a:off x="957691" y="1886331"/>
            <a:ext cx="8948" cy="5655"/>
          </a:xfrm>
          <a:prstGeom prst="line">
            <a:avLst/>
          </a:prstGeom>
          <a:ln w="1206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2" name="Worker inference icon: tee / 19"/>
          <p:cNvCxnSpPr/>
          <p:nvPr/>
        </p:nvCxnSpPr>
        <p:spPr>
          <a:xfrm flipV="1">
            <a:off x="966639" y="1882937"/>
            <a:ext cx="10155" cy="3394"/>
          </a:xfrm>
          <a:prstGeom prst="line">
            <a:avLst/>
          </a:prstGeom>
          <a:ln w="1206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3" name="Worker inference icon: tee / 20"/>
          <p:cNvCxnSpPr/>
          <p:nvPr/>
        </p:nvCxnSpPr>
        <p:spPr>
          <a:xfrm flipV="1">
            <a:off x="976794" y="1881806"/>
            <a:ext cx="10758" cy="1131"/>
          </a:xfrm>
          <a:prstGeom prst="line">
            <a:avLst/>
          </a:prstGeom>
          <a:ln w="1206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4" name="Worker inference icon: tee / 21"/>
          <p:cNvCxnSpPr/>
          <p:nvPr/>
        </p:nvCxnSpPr>
        <p:spPr>
          <a:xfrm>
            <a:off x="987552" y="1881806"/>
            <a:ext cx="10757" cy="1131"/>
          </a:xfrm>
          <a:prstGeom prst="line">
            <a:avLst/>
          </a:prstGeom>
          <a:ln w="1206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5" name="Worker inference icon: tee / 22"/>
          <p:cNvCxnSpPr/>
          <p:nvPr/>
        </p:nvCxnSpPr>
        <p:spPr>
          <a:xfrm>
            <a:off x="998309" y="1882937"/>
            <a:ext cx="10155" cy="3394"/>
          </a:xfrm>
          <a:prstGeom prst="line">
            <a:avLst/>
          </a:prstGeom>
          <a:ln w="1206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6" name="Worker inference icon: tee / 23"/>
          <p:cNvCxnSpPr/>
          <p:nvPr/>
        </p:nvCxnSpPr>
        <p:spPr>
          <a:xfrm>
            <a:off x="1008464" y="1886331"/>
            <a:ext cx="8948" cy="5655"/>
          </a:xfrm>
          <a:prstGeom prst="line">
            <a:avLst/>
          </a:prstGeom>
          <a:ln w="1206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7" name="Worker inference icon: tee / 24"/>
          <p:cNvCxnSpPr/>
          <p:nvPr/>
        </p:nvCxnSpPr>
        <p:spPr>
          <a:xfrm>
            <a:off x="1017412" y="1891986"/>
            <a:ext cx="7139" cy="7918"/>
          </a:xfrm>
          <a:prstGeom prst="line">
            <a:avLst/>
          </a:prstGeom>
          <a:ln w="1206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8" name="Worker inference icon: tee / 25"/>
          <p:cNvCxnSpPr/>
          <p:nvPr/>
        </p:nvCxnSpPr>
        <p:spPr>
          <a:xfrm>
            <a:off x="1024551" y="1899904"/>
            <a:ext cx="4725" cy="10179"/>
          </a:xfrm>
          <a:prstGeom prst="line">
            <a:avLst/>
          </a:prstGeom>
          <a:ln w="1206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9" name="Worker inference icon: tee / 26"/>
          <p:cNvCxnSpPr/>
          <p:nvPr/>
        </p:nvCxnSpPr>
        <p:spPr>
          <a:xfrm>
            <a:off x="1029276" y="1910083"/>
            <a:ext cx="1710" cy="12443"/>
          </a:xfrm>
          <a:prstGeom prst="line">
            <a:avLst/>
          </a:prstGeom>
          <a:ln w="1206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40" name="Worker inference icon: tee / 27"/>
          <p:cNvCxnSpPr/>
          <p:nvPr/>
        </p:nvCxnSpPr>
        <p:spPr>
          <a:xfrm>
            <a:off x="1030986" y="1922526"/>
            <a:ext cx="0" cy="32575"/>
          </a:xfrm>
          <a:prstGeom prst="line">
            <a:avLst/>
          </a:prstGeom>
          <a:ln w="12065" cap="rnd">
            <a:solidFill>
              <a:srgbClr val="263440"/>
            </a:solidFill>
          </a:ln>
        </p:spPr>
        <p:style>
          <a:lnRef idx="2">
            <a:schemeClr val="accent1"/>
          </a:lnRef>
          <a:fillRef idx="0">
            <a:schemeClr val="accent1"/>
          </a:fillRef>
          <a:effectRef idx="1">
            <a:schemeClr val="accent1"/>
          </a:effectRef>
          <a:fontRef idx="minor">
            <a:schemeClr val="tx1"/>
          </a:fontRef>
        </p:style>
      </p:cxnSp>
      <p:sp>
        <p:nvSpPr>
          <p:cNvPr id="41" name="Worker inference icon: tee / 28"/>
          <p:cNvSpPr/>
          <p:nvPr/>
        </p:nvSpPr>
        <p:spPr>
          <a:xfrm>
            <a:off x="933259" y="1944243"/>
            <a:ext cx="108585" cy="86868"/>
          </a:xfrm>
          <a:prstGeom prst="roundRect">
            <a:avLst/>
          </a:prstGeom>
          <a:solidFill>
            <a:srgbClr val="F7F9FA"/>
          </a:solidFill>
          <a:ln w="15416">
            <a:solidFill>
              <a:srgbClr val="26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Worker inference: Worker 0 · TEE"/>
          <p:cNvSpPr txBox="1"/>
          <p:nvPr/>
        </p:nvSpPr>
        <p:spPr>
          <a:xfrm>
            <a:off x="1307592" y="1755648"/>
            <a:ext cx="3127248" cy="356616"/>
          </a:xfrm>
          <a:prstGeom prst="rect">
            <a:avLst/>
          </a:prstGeom>
          <a:noFill/>
        </p:spPr>
        <p:txBody>
          <a:bodyPr wrap="square" lIns="0" rIns="0" tIns="0" bIns="0" anchor="ctr">
            <a:spAutoFit/>
          </a:bodyPr>
          <a:lstStyle/>
          <a:p>
            <a:pPr algn="l"/>
            <a:r>
              <a:rPr sz="2200" b="1" lang="en-US">
                <a:solidFill>
                  <a:srgbClr val="263440"/>
                </a:solidFill>
                <a:latin typeface="Arial"/>
              </a:rPr>
              <a:t>Worker 0 · TEE</a:t>
            </a:r>
          </a:p>
        </p:txBody>
      </p:sp>
      <p:sp>
        <p:nvSpPr>
          <p:cNvPr id="43" name="Worker inference: One protected application"/>
          <p:cNvSpPr txBox="1"/>
          <p:nvPr/>
        </p:nvSpPr>
        <p:spPr>
          <a:xfrm>
            <a:off x="4809744" y="1773936"/>
            <a:ext cx="3282696" cy="320040"/>
          </a:xfrm>
          <a:prstGeom prst="rect">
            <a:avLst/>
          </a:prstGeom>
          <a:noFill/>
        </p:spPr>
        <p:txBody>
          <a:bodyPr wrap="square" lIns="0" rIns="0" tIns="0" bIns="0" anchor="ctr">
            <a:spAutoFit/>
          </a:bodyPr>
          <a:lstStyle/>
          <a:p>
            <a:pPr algn="ctr"/>
            <a:r>
              <a:rPr sz="1600" b="0" lang="en-US">
                <a:solidFill>
                  <a:srgbClr val="67747C"/>
                </a:solidFill>
                <a:latin typeface="Arial"/>
              </a:rPr>
              <a:t>One protected application</a:t>
            </a:r>
          </a:p>
        </p:txBody>
      </p:sp>
      <p:sp>
        <p:nvSpPr>
          <p:cNvPr id="44" name="Rounded Rectangle 43"/>
          <p:cNvSpPr/>
          <p:nvPr/>
        </p:nvSpPr>
        <p:spPr>
          <a:xfrm>
            <a:off x="841248" y="2304288"/>
            <a:ext cx="7324344" cy="2404872"/>
          </a:xfrm>
          <a:prstGeom prst="roundRect">
            <a:avLst/>
          </a:prstGeom>
          <a:solidFill>
            <a:srgbClr val="FFFFFF"/>
          </a:solidFill>
          <a:ln w="15240">
            <a:solidFill>
              <a:srgbClr val="26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Worker inference: ONE dfl-worker CONTAINER · ONE IMAGE DIGEST"/>
          <p:cNvSpPr txBox="1"/>
          <p:nvPr/>
        </p:nvSpPr>
        <p:spPr>
          <a:xfrm>
            <a:off x="1033271" y="2441448"/>
            <a:ext cx="6940296" cy="310896"/>
          </a:xfrm>
          <a:prstGeom prst="rect">
            <a:avLst/>
          </a:prstGeom>
          <a:noFill/>
        </p:spPr>
        <p:txBody>
          <a:bodyPr wrap="square" lIns="0" rIns="0" tIns="0" bIns="0" anchor="ctr">
            <a:spAutoFit/>
          </a:bodyPr>
          <a:lstStyle/>
          <a:p>
            <a:pPr algn="ctr"/>
            <a:r>
              <a:rPr sz="1700" b="1" lang="en-US">
                <a:solidFill>
                  <a:srgbClr val="263440"/>
                </a:solidFill>
                <a:latin typeface="Arial"/>
              </a:rPr>
              <a:t>ONE dfl-worker CONTAINER · ONE IMAGE DIGEST</a:t>
            </a:r>
          </a:p>
        </p:txBody>
      </p:sp>
      <p:sp>
        <p:nvSpPr>
          <p:cNvPr id="46" name="Rounded Rectangle 45"/>
          <p:cNvSpPr/>
          <p:nvPr/>
        </p:nvSpPr>
        <p:spPr>
          <a:xfrm>
            <a:off x="1069848" y="2907792"/>
            <a:ext cx="2880360" cy="850392"/>
          </a:xfrm>
          <a:prstGeom prst="roundRect">
            <a:avLst/>
          </a:prstGeom>
          <a:solidFill>
            <a:srgbClr val="EDF6F0"/>
          </a:solidFill>
          <a:ln w="1524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Worker inference: DFL"/>
          <p:cNvSpPr txBox="1"/>
          <p:nvPr/>
        </p:nvSpPr>
        <p:spPr>
          <a:xfrm>
            <a:off x="1197864" y="2971800"/>
            <a:ext cx="2624328" cy="347472"/>
          </a:xfrm>
          <a:prstGeom prst="rect">
            <a:avLst/>
          </a:prstGeom>
          <a:noFill/>
        </p:spPr>
        <p:txBody>
          <a:bodyPr wrap="square" lIns="0" rIns="0" tIns="0" bIns="0" anchor="ctr">
            <a:spAutoFit/>
          </a:bodyPr>
          <a:lstStyle/>
          <a:p>
            <a:pPr algn="ctr"/>
            <a:r>
              <a:rPr sz="2100" b="1" lang="en-US">
                <a:solidFill>
                  <a:srgbClr val="207548"/>
                </a:solidFill>
                <a:latin typeface="Arial"/>
              </a:rPr>
              <a:t>DFL</a:t>
            </a:r>
          </a:p>
        </p:txBody>
      </p:sp>
      <p:sp>
        <p:nvSpPr>
          <p:cNvPr id="48" name="Worker inference: Train · aggregate · publish"/>
          <p:cNvSpPr txBox="1"/>
          <p:nvPr/>
        </p:nvSpPr>
        <p:spPr>
          <a:xfrm>
            <a:off x="1179576" y="3383280"/>
            <a:ext cx="2660904" cy="246888"/>
          </a:xfrm>
          <a:prstGeom prst="rect">
            <a:avLst/>
          </a:prstGeom>
          <a:noFill/>
        </p:spPr>
        <p:txBody>
          <a:bodyPr wrap="square" lIns="0" rIns="0" tIns="0" bIns="0" anchor="ctr">
            <a:spAutoFit/>
          </a:bodyPr>
          <a:lstStyle/>
          <a:p>
            <a:pPr algn="ctr"/>
            <a:r>
              <a:rPr sz="1450" b="0" lang="en-US">
                <a:solidFill>
                  <a:srgbClr val="263440"/>
                </a:solidFill>
                <a:latin typeface="Arial"/>
              </a:rPr>
              <a:t>Train · aggregate · publish</a:t>
            </a:r>
          </a:p>
        </p:txBody>
      </p:sp>
      <p:sp>
        <p:nvSpPr>
          <p:cNvPr id="49" name="Rounded Rectangle 48"/>
          <p:cNvSpPr/>
          <p:nvPr/>
        </p:nvSpPr>
        <p:spPr>
          <a:xfrm>
            <a:off x="4654296" y="2907792"/>
            <a:ext cx="3255264" cy="850392"/>
          </a:xfrm>
          <a:prstGeom prst="roundRect">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Worker inference: Inference"/>
          <p:cNvSpPr txBox="1"/>
          <p:nvPr/>
        </p:nvSpPr>
        <p:spPr>
          <a:xfrm>
            <a:off x="4809744" y="2971800"/>
            <a:ext cx="2944368" cy="347472"/>
          </a:xfrm>
          <a:prstGeom prst="rect">
            <a:avLst/>
          </a:prstGeom>
          <a:noFill/>
        </p:spPr>
        <p:txBody>
          <a:bodyPr wrap="square" lIns="0" rIns="0" tIns="0" bIns="0" anchor="ctr">
            <a:spAutoFit/>
          </a:bodyPr>
          <a:lstStyle/>
          <a:p>
            <a:pPr algn="ctr"/>
            <a:r>
              <a:rPr sz="2100" b="1" lang="en-US">
                <a:solidFill>
                  <a:srgbClr val="1764A1"/>
                </a:solidFill>
                <a:latin typeface="Arial"/>
              </a:rPr>
              <a:t>Inference</a:t>
            </a:r>
          </a:p>
        </p:txBody>
      </p:sp>
      <p:sp>
        <p:nvSpPr>
          <p:cNvPr id="51" name="Worker inference: Load model · predict · sign"/>
          <p:cNvSpPr txBox="1"/>
          <p:nvPr/>
        </p:nvSpPr>
        <p:spPr>
          <a:xfrm>
            <a:off x="4791456" y="3383280"/>
            <a:ext cx="2980944" cy="246888"/>
          </a:xfrm>
          <a:prstGeom prst="rect">
            <a:avLst/>
          </a:prstGeom>
          <a:noFill/>
        </p:spPr>
        <p:txBody>
          <a:bodyPr wrap="square" lIns="0" rIns="0" tIns="0" bIns="0" anchor="ctr">
            <a:spAutoFit/>
          </a:bodyPr>
          <a:lstStyle/>
          <a:p>
            <a:pPr algn="ctr"/>
            <a:r>
              <a:rPr sz="1450" b="0" lang="en-US">
                <a:solidFill>
                  <a:srgbClr val="263440"/>
                </a:solidFill>
                <a:latin typeface="Arial"/>
              </a:rPr>
              <a:t>Load model · predict · sign</a:t>
            </a:r>
          </a:p>
        </p:txBody>
      </p:sp>
      <p:sp>
        <p:nvSpPr>
          <p:cNvPr id="52" name="Rounded Rectangle 51"/>
          <p:cNvSpPr/>
          <p:nvPr/>
        </p:nvSpPr>
        <p:spPr>
          <a:xfrm>
            <a:off x="1069848" y="4114800"/>
            <a:ext cx="6839712" cy="393192"/>
          </a:xfrm>
          <a:prstGeom prst="roundRect">
            <a:avLst/>
          </a:prstGeom>
          <a:solidFill>
            <a:srgbClr val="F3EEF8"/>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243584" y="4244644"/>
            <a:ext cx="161300" cy="161300"/>
          </a:xfrm>
          <a:prstGeom prst="ellipse">
            <a:avLst/>
          </a:prstGeom>
          <a:solidFill>
            <a:srgbClr val="F3EEF8"/>
          </a:solidFill>
          <a:ln w="2032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1401043" y="4325294"/>
            <a:ext cx="203546" cy="0"/>
          </a:xfrm>
          <a:prstGeom prst="line">
            <a:avLst/>
          </a:prstGeom>
          <a:ln w="2540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523939" y="4325294"/>
            <a:ext cx="0" cy="92172"/>
          </a:xfrm>
          <a:prstGeom prst="line">
            <a:avLst/>
          </a:prstGeom>
          <a:ln w="2540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593067" y="4325294"/>
            <a:ext cx="0" cy="92172"/>
          </a:xfrm>
          <a:prstGeom prst="line">
            <a:avLst/>
          </a:prstGeom>
          <a:ln w="25400">
            <a:solidFill>
              <a:srgbClr val="7446A6"/>
            </a:solidFill>
          </a:ln>
        </p:spPr>
        <p:style>
          <a:lnRef idx="2">
            <a:schemeClr val="accent1"/>
          </a:lnRef>
          <a:fillRef idx="0">
            <a:schemeClr val="accent1"/>
          </a:fillRef>
          <a:effectRef idx="1">
            <a:schemeClr val="accent1"/>
          </a:effectRef>
          <a:fontRef idx="minor">
            <a:schemeClr val="tx1"/>
          </a:fontRef>
        </p:style>
      </p:cxnSp>
      <p:sp>
        <p:nvSpPr>
          <p:cNvPr id="57" name="Worker inference: Shared RSA key · separate signing keys"/>
          <p:cNvSpPr txBox="1"/>
          <p:nvPr/>
        </p:nvSpPr>
        <p:spPr>
          <a:xfrm>
            <a:off x="1819656" y="4151376"/>
            <a:ext cx="5925312" cy="301752"/>
          </a:xfrm>
          <a:prstGeom prst="rect">
            <a:avLst/>
          </a:prstGeom>
          <a:noFill/>
        </p:spPr>
        <p:txBody>
          <a:bodyPr wrap="square" lIns="0" rIns="0" tIns="0" bIns="0" anchor="ctr">
            <a:spAutoFit/>
          </a:bodyPr>
          <a:lstStyle/>
          <a:p>
            <a:pPr algn="ctr"/>
            <a:r>
              <a:rPr sz="1500" b="1" lang="en-US">
                <a:solidFill>
                  <a:srgbClr val="7446A6"/>
                </a:solidFill>
                <a:latin typeface="Arial"/>
              </a:rPr>
              <a:t>Shared RSA key · separate signing keys</a:t>
            </a:r>
          </a:p>
        </p:txBody>
      </p:sp>
      <p:cxnSp>
        <p:nvCxnSpPr>
          <p:cNvPr id="58" name="Connector 57"/>
          <p:cNvCxnSpPr/>
          <p:nvPr/>
        </p:nvCxnSpPr>
        <p:spPr>
          <a:xfrm flipV="1">
            <a:off x="2505456" y="3794759"/>
            <a:ext cx="0" cy="292609"/>
          </a:xfrm>
          <a:prstGeom prst="line">
            <a:avLst/>
          </a:prstGeom>
          <a:ln w="2286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6281928" y="3794759"/>
            <a:ext cx="0" cy="292609"/>
          </a:xfrm>
          <a:prstGeom prst="line">
            <a:avLst/>
          </a:prstGeom>
          <a:ln w="2286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9784080" y="2880360"/>
            <a:ext cx="1810512" cy="1024128"/>
          </a:xfrm>
          <a:prstGeom prst="roundRect">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1" name="Worker inference icon: agent / 1"/>
          <p:cNvCxnSpPr/>
          <p:nvPr/>
        </p:nvCxnSpPr>
        <p:spPr>
          <a:xfrm>
            <a:off x="10671048" y="3054095"/>
            <a:ext cx="0" cy="57150"/>
          </a:xfrm>
          <a:prstGeom prst="line">
            <a:avLst/>
          </a:prstGeom>
          <a:ln w="16227" cap="rnd">
            <a:solidFill>
              <a:srgbClr val="1764A1"/>
            </a:solidFill>
          </a:ln>
        </p:spPr>
        <p:style>
          <a:lnRef idx="2">
            <a:schemeClr val="accent1"/>
          </a:lnRef>
          <a:fillRef idx="0">
            <a:schemeClr val="accent1"/>
          </a:fillRef>
          <a:effectRef idx="1">
            <a:schemeClr val="accent1"/>
          </a:effectRef>
          <a:fontRef idx="minor">
            <a:schemeClr val="tx1"/>
          </a:fontRef>
        </p:style>
      </p:cxnSp>
      <p:sp>
        <p:nvSpPr>
          <p:cNvPr id="62" name="Worker inference icon: agent / 2"/>
          <p:cNvSpPr/>
          <p:nvPr/>
        </p:nvSpPr>
        <p:spPr>
          <a:xfrm>
            <a:off x="10653903" y="3025520"/>
            <a:ext cx="34290" cy="34290"/>
          </a:xfrm>
          <a:prstGeom prst="ellipse">
            <a:avLst/>
          </a:prstGeom>
          <a:solidFill>
            <a:srgbClr val="1764A1"/>
          </a:solidFill>
          <a:ln w="16227">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Worker inference icon: agent / 3"/>
          <p:cNvSpPr/>
          <p:nvPr/>
        </p:nvSpPr>
        <p:spPr>
          <a:xfrm>
            <a:off x="10533888" y="3111245"/>
            <a:ext cx="274320" cy="228600"/>
          </a:xfrm>
          <a:prstGeom prst="roundRect">
            <a:avLst/>
          </a:prstGeom>
          <a:solidFill>
            <a:srgbClr val="EDF4FA"/>
          </a:solidFill>
          <a:ln w="16227">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Worker inference icon: agent / 4"/>
          <p:cNvCxnSpPr/>
          <p:nvPr/>
        </p:nvCxnSpPr>
        <p:spPr>
          <a:xfrm>
            <a:off x="10499598" y="3179826"/>
            <a:ext cx="0" cy="80010"/>
          </a:xfrm>
          <a:prstGeom prst="line">
            <a:avLst/>
          </a:prstGeom>
          <a:ln w="16227" cap="rnd">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65" name="Worker inference icon: agent / 5"/>
          <p:cNvCxnSpPr/>
          <p:nvPr/>
        </p:nvCxnSpPr>
        <p:spPr>
          <a:xfrm>
            <a:off x="10842498" y="3179826"/>
            <a:ext cx="0" cy="80010"/>
          </a:xfrm>
          <a:prstGeom prst="line">
            <a:avLst/>
          </a:prstGeom>
          <a:ln w="16227" cap="rnd">
            <a:solidFill>
              <a:srgbClr val="1764A1"/>
            </a:solidFill>
          </a:ln>
        </p:spPr>
        <p:style>
          <a:lnRef idx="2">
            <a:schemeClr val="accent1"/>
          </a:lnRef>
          <a:fillRef idx="0">
            <a:schemeClr val="accent1"/>
          </a:fillRef>
          <a:effectRef idx="1">
            <a:schemeClr val="accent1"/>
          </a:effectRef>
          <a:fontRef idx="minor">
            <a:schemeClr val="tx1"/>
          </a:fontRef>
        </p:style>
      </p:cxnSp>
      <p:sp>
        <p:nvSpPr>
          <p:cNvPr id="66" name="Worker inference icon: agent / 6"/>
          <p:cNvSpPr/>
          <p:nvPr/>
        </p:nvSpPr>
        <p:spPr>
          <a:xfrm>
            <a:off x="10591038" y="3179826"/>
            <a:ext cx="34290" cy="34290"/>
          </a:xfrm>
          <a:prstGeom prst="ellipse">
            <a:avLst/>
          </a:prstGeom>
          <a:solidFill>
            <a:srgbClr val="1764A1"/>
          </a:solidFill>
          <a:ln w="16227">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Worker inference icon: agent / 7"/>
          <p:cNvSpPr/>
          <p:nvPr/>
        </p:nvSpPr>
        <p:spPr>
          <a:xfrm>
            <a:off x="10716768" y="3179826"/>
            <a:ext cx="34290" cy="34290"/>
          </a:xfrm>
          <a:prstGeom prst="ellipse">
            <a:avLst/>
          </a:prstGeom>
          <a:solidFill>
            <a:srgbClr val="1764A1"/>
          </a:solidFill>
          <a:ln w="16227">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8" name="Worker inference icon: agent / 8"/>
          <p:cNvCxnSpPr/>
          <p:nvPr/>
        </p:nvCxnSpPr>
        <p:spPr>
          <a:xfrm>
            <a:off x="10613898" y="3282696"/>
            <a:ext cx="114300" cy="0"/>
          </a:xfrm>
          <a:prstGeom prst="line">
            <a:avLst/>
          </a:prstGeom>
          <a:ln w="16227" cap="rnd">
            <a:solidFill>
              <a:srgbClr val="1764A1"/>
            </a:solidFill>
          </a:ln>
        </p:spPr>
        <p:style>
          <a:lnRef idx="2">
            <a:schemeClr val="accent1"/>
          </a:lnRef>
          <a:fillRef idx="0">
            <a:schemeClr val="accent1"/>
          </a:fillRef>
          <a:effectRef idx="1">
            <a:schemeClr val="accent1"/>
          </a:effectRef>
          <a:fontRef idx="minor">
            <a:schemeClr val="tx1"/>
          </a:fontRef>
        </p:style>
      </p:cxnSp>
      <p:sp>
        <p:nvSpPr>
          <p:cNvPr id="69" name="Worker inference: Agent"/>
          <p:cNvSpPr txBox="1"/>
          <p:nvPr/>
        </p:nvSpPr>
        <p:spPr>
          <a:xfrm>
            <a:off x="9912096" y="3429000"/>
            <a:ext cx="1554480" cy="374904"/>
          </a:xfrm>
          <a:prstGeom prst="rect">
            <a:avLst/>
          </a:prstGeom>
          <a:noFill/>
        </p:spPr>
        <p:txBody>
          <a:bodyPr wrap="square" lIns="0" rIns="0" tIns="0" bIns="0" anchor="ctr">
            <a:spAutoFit/>
          </a:bodyPr>
          <a:lstStyle/>
          <a:p>
            <a:pPr algn="ctr"/>
            <a:r>
              <a:rPr sz="2200" b="1" lang="en-US">
                <a:solidFill>
                  <a:srgbClr val="1764A1"/>
                </a:solidFill>
                <a:latin typeface="Arial"/>
              </a:rPr>
              <a:t>Agent</a:t>
            </a:r>
          </a:p>
        </p:txBody>
      </p:sp>
      <p:cxnSp>
        <p:nvCxnSpPr>
          <p:cNvPr id="70" name="Connector 69"/>
          <p:cNvCxnSpPr/>
          <p:nvPr/>
        </p:nvCxnSpPr>
        <p:spPr>
          <a:xfrm flipV="1">
            <a:off x="10680192" y="2176272"/>
            <a:ext cx="0" cy="658368"/>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8915400" y="2176272"/>
            <a:ext cx="1764792" cy="0"/>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8915400" y="2176272"/>
            <a:ext cx="0" cy="850392"/>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7946136" y="3026664"/>
            <a:ext cx="969264" cy="0"/>
          </a:xfrm>
          <a:prstGeom prst="line">
            <a:avLst/>
          </a:prstGeom>
          <a:ln w="2540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4" name="Worker inference: MCP Tool request"/>
          <p:cNvSpPr txBox="1"/>
          <p:nvPr/>
        </p:nvSpPr>
        <p:spPr>
          <a:xfrm>
            <a:off x="8769096" y="1737360"/>
            <a:ext cx="2825496" cy="310896"/>
          </a:xfrm>
          <a:prstGeom prst="rect">
            <a:avLst/>
          </a:prstGeom>
          <a:noFill/>
        </p:spPr>
        <p:txBody>
          <a:bodyPr wrap="square" lIns="0" rIns="0" tIns="0" bIns="0" anchor="ctr">
            <a:spAutoFit/>
          </a:bodyPr>
          <a:lstStyle/>
          <a:p>
            <a:pPr algn="ctr"/>
            <a:r>
              <a:rPr sz="1600" b="1" lang="en-US">
                <a:solidFill>
                  <a:srgbClr val="1764A1"/>
                </a:solidFill>
                <a:latin typeface="Arial"/>
              </a:rPr>
              <a:t>MCP Tool request</a:t>
            </a:r>
          </a:p>
        </p:txBody>
      </p:sp>
      <p:cxnSp>
        <p:nvCxnSpPr>
          <p:cNvPr id="75" name="Connector 74"/>
          <p:cNvCxnSpPr/>
          <p:nvPr/>
        </p:nvCxnSpPr>
        <p:spPr>
          <a:xfrm>
            <a:off x="7946136" y="3648455"/>
            <a:ext cx="1792224" cy="0"/>
          </a:xfrm>
          <a:prstGeom prst="line">
            <a:avLst/>
          </a:prstGeom>
          <a:ln w="2540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6" name="Worker inference: Result + / evidence"/>
          <p:cNvSpPr txBox="1"/>
          <p:nvPr/>
        </p:nvSpPr>
        <p:spPr>
          <a:xfrm>
            <a:off x="8549640" y="3108960"/>
            <a:ext cx="1170432" cy="502920"/>
          </a:xfrm>
          <a:prstGeom prst="rect">
            <a:avLst/>
          </a:prstGeom>
          <a:noFill/>
        </p:spPr>
        <p:txBody>
          <a:bodyPr wrap="square" lIns="0" rIns="0" tIns="0" bIns="0" anchor="ctr">
            <a:spAutoFit/>
          </a:bodyPr>
          <a:lstStyle/>
          <a:p>
            <a:pPr algn="ctr"/>
            <a:r>
              <a:rPr sz="1400" b="0" lang="en-US">
                <a:solidFill>
                  <a:srgbClr val="1764A1"/>
                </a:solidFill>
                <a:latin typeface="Arial"/>
              </a:rPr>
              <a:t>Result +
evidence</a:t>
            </a:r>
          </a:p>
        </p:txBody>
      </p:sp>
      <p:sp>
        <p:nvSpPr>
          <p:cNvPr id="77" name="Rounded Rectangle 76"/>
          <p:cNvSpPr/>
          <p:nvPr/>
        </p:nvSpPr>
        <p:spPr>
          <a:xfrm>
            <a:off x="9784080" y="4370832"/>
            <a:ext cx="1810512" cy="594360"/>
          </a:xfrm>
          <a:prstGeom prst="roundRect">
            <a:avLst/>
          </a:prstGeom>
          <a:solidFill>
            <a:srgbClr val="F3EEF8"/>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Worker inference: Transparency / Log"/>
          <p:cNvSpPr txBox="1"/>
          <p:nvPr/>
        </p:nvSpPr>
        <p:spPr>
          <a:xfrm>
            <a:off x="9866376" y="4416552"/>
            <a:ext cx="1645920" cy="484632"/>
          </a:xfrm>
          <a:prstGeom prst="rect">
            <a:avLst/>
          </a:prstGeom>
          <a:noFill/>
        </p:spPr>
        <p:txBody>
          <a:bodyPr wrap="square" lIns="0" rIns="0" tIns="0" bIns="0" anchor="ctr">
            <a:spAutoFit/>
          </a:bodyPr>
          <a:lstStyle/>
          <a:p>
            <a:pPr algn="ctr"/>
            <a:r>
              <a:rPr sz="1500" b="1" lang="en-US">
                <a:solidFill>
                  <a:srgbClr val="7446A6"/>
                </a:solidFill>
                <a:latin typeface="Arial"/>
              </a:rPr>
              <a:t>Transparency
Log</a:t>
            </a:r>
          </a:p>
        </p:txBody>
      </p:sp>
      <p:cxnSp>
        <p:nvCxnSpPr>
          <p:cNvPr id="79" name="Connector 78"/>
          <p:cNvCxnSpPr/>
          <p:nvPr/>
        </p:nvCxnSpPr>
        <p:spPr>
          <a:xfrm>
            <a:off x="10680192" y="3950208"/>
            <a:ext cx="0" cy="374904"/>
          </a:xfrm>
          <a:prstGeom prst="line">
            <a:avLst/>
          </a:prstGeom>
          <a:ln w="2286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0" name="Worker inference: AIR"/>
          <p:cNvSpPr txBox="1"/>
          <p:nvPr/>
        </p:nvSpPr>
        <p:spPr>
          <a:xfrm>
            <a:off x="10835640" y="4023360"/>
            <a:ext cx="612648" cy="246888"/>
          </a:xfrm>
          <a:prstGeom prst="rect">
            <a:avLst/>
          </a:prstGeom>
          <a:noFill/>
        </p:spPr>
        <p:txBody>
          <a:bodyPr wrap="square" lIns="0" rIns="0" tIns="0" bIns="0" anchor="ctr">
            <a:spAutoFit/>
          </a:bodyPr>
          <a:lstStyle/>
          <a:p>
            <a:pPr algn="ctr"/>
            <a:r>
              <a:rPr sz="1350" b="0" lang="en-US">
                <a:solidFill>
                  <a:srgbClr val="7446A6"/>
                </a:solidFill>
                <a:latin typeface="Arial"/>
              </a:rPr>
              <a:t>AIR</a:t>
            </a:r>
          </a:p>
        </p:txBody>
      </p:sp>
      <p:cxnSp>
        <p:nvCxnSpPr>
          <p:cNvPr id="81" name="Connector 80"/>
          <p:cNvCxnSpPr/>
          <p:nvPr/>
        </p:nvCxnSpPr>
        <p:spPr>
          <a:xfrm>
            <a:off x="7726679" y="3794759"/>
            <a:ext cx="0" cy="146305"/>
          </a:xfrm>
          <a:prstGeom prst="line">
            <a:avLst/>
          </a:prstGeom>
          <a:ln w="2286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7726679" y="3941064"/>
            <a:ext cx="960121" cy="0"/>
          </a:xfrm>
          <a:prstGeom prst="line">
            <a:avLst/>
          </a:prstGeom>
          <a:ln w="2286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8686800" y="3941064"/>
            <a:ext cx="0" cy="726948"/>
          </a:xfrm>
          <a:prstGeom prst="line">
            <a:avLst/>
          </a:prstGeom>
          <a:ln w="2286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8686800" y="4668012"/>
            <a:ext cx="1051560" cy="0"/>
          </a:xfrm>
          <a:prstGeom prst="line">
            <a:avLst/>
          </a:prstGeom>
          <a:ln w="2286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5" name="Worker inference: Sello"/>
          <p:cNvSpPr txBox="1"/>
          <p:nvPr/>
        </p:nvSpPr>
        <p:spPr>
          <a:xfrm>
            <a:off x="8732520" y="4325112"/>
            <a:ext cx="969264" cy="246888"/>
          </a:xfrm>
          <a:prstGeom prst="rect">
            <a:avLst/>
          </a:prstGeom>
          <a:noFill/>
        </p:spPr>
        <p:txBody>
          <a:bodyPr wrap="square" lIns="0" rIns="0" tIns="0" bIns="0" anchor="ctr">
            <a:spAutoFit/>
          </a:bodyPr>
          <a:lstStyle/>
          <a:p>
            <a:pPr algn="ctr"/>
            <a:r>
              <a:rPr sz="1400" b="0" lang="en-US">
                <a:solidFill>
                  <a:srgbClr val="7446A6"/>
                </a:solidFill>
                <a:latin typeface="Arial"/>
              </a:rPr>
              <a:t>Sello</a:t>
            </a:r>
          </a:p>
        </p:txBody>
      </p:sp>
      <p:sp>
        <p:nvSpPr>
          <p:cNvPr id="86" name="Worker inference: No private keys sent to the agent"/>
          <p:cNvSpPr txBox="1"/>
          <p:nvPr/>
        </p:nvSpPr>
        <p:spPr>
          <a:xfrm>
            <a:off x="594360" y="5285232"/>
            <a:ext cx="11000232" cy="384048"/>
          </a:xfrm>
          <a:prstGeom prst="rect">
            <a:avLst/>
          </a:prstGeom>
          <a:noFill/>
        </p:spPr>
        <p:txBody>
          <a:bodyPr wrap="square" lIns="0" rIns="0" tIns="0" bIns="0" anchor="ctr">
            <a:spAutoFit/>
          </a:bodyPr>
          <a:lstStyle/>
          <a:p>
            <a:pPr algn="ctr"/>
            <a:r>
              <a:rPr sz="2000" b="1" lang="en-US">
                <a:solidFill>
                  <a:srgbClr val="1764A1"/>
                </a:solidFill>
                <a:latin typeface="Arial"/>
              </a:rPr>
              <a:t>No private keys sent to the agent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Use and misuse cases: DFL production</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BACKUP · THREAT VIEWS T1–T7</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31</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5D6973"/>
                </a:solidFill>
                <a:latin typeface="Arial"/>
              </a:rPr>
              <a:t>Agent</a:t>
            </a:r>
          </a:p>
        </p:txBody>
      </p:sp>
      <p:sp>
        <p:nvSpPr>
          <p:cNvPr id="13" name="Rectangle 12"/>
          <p:cNvSpPr/>
          <p:nvPr/>
        </p:nvSpPr>
        <p:spPr>
          <a:xfrm>
            <a:off x="603504" y="1371600"/>
            <a:ext cx="2578608" cy="1792224"/>
          </a:xfrm>
          <a:prstGeom prst="rect">
            <a:avLst/>
          </a:prstGeom>
          <a:solidFill>
            <a:srgbClr val="F3F3F3"/>
          </a:solidFill>
          <a:ln w="1270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1444752"/>
            <a:ext cx="2377440" cy="256032"/>
          </a:xfrm>
          <a:prstGeom prst="rect">
            <a:avLst/>
          </a:prstGeom>
          <a:noFill/>
        </p:spPr>
        <p:txBody>
          <a:bodyPr wrap="square" lIns="18288" rIns="18288" tIns="18288" bIns="18288" anchor="ctr">
            <a:spAutoFit/>
          </a:bodyPr>
          <a:lstStyle/>
          <a:p>
            <a:pPr algn="l"/>
            <a:r>
              <a:rPr sz="950" b="1" lang="en-US">
                <a:solidFill>
                  <a:srgbClr val="C40D1E"/>
                </a:solidFill>
                <a:latin typeface="Arial"/>
              </a:rPr>
              <a:t>T1  </a:t>
            </a:r>
            <a:r>
              <a:rPr sz="950" b="1" lang="en-US">
                <a:solidFill>
                  <a:srgbClr val="434343"/>
                </a:solidFill>
                <a:latin typeface="Arial"/>
              </a:rPr>
              <a:t>Admission / identity</a:t>
            </a:r>
          </a:p>
        </p:txBody>
      </p:sp>
      <p:pic>
        <p:nvPicPr>
          <p:cNvPr id="15" name="Picture 14" descr="T1.png"/>
          <p:cNvPicPr>
            <a:picLocks noChangeAspect="1"/>
          </p:cNvPicPr>
          <p:nvPr/>
        </p:nvPicPr>
        <p:blipFill>
          <a:blip r:embed="rId2"/>
          <a:stretch>
            <a:fillRect/>
          </a:stretch>
        </p:blipFill>
        <p:spPr>
          <a:xfrm>
            <a:off x="886149" y="1719072"/>
            <a:ext cx="2013316" cy="1353312"/>
          </a:xfrm>
          <a:prstGeom prst="rect">
            <a:avLst/>
          </a:prstGeom>
        </p:spPr>
      </p:pic>
      <p:sp>
        <p:nvSpPr>
          <p:cNvPr id="16" name="Rectangle 15"/>
          <p:cNvSpPr/>
          <p:nvPr/>
        </p:nvSpPr>
        <p:spPr>
          <a:xfrm>
            <a:off x="3401568" y="1371600"/>
            <a:ext cx="2578608" cy="1792224"/>
          </a:xfrm>
          <a:prstGeom prst="rect">
            <a:avLst/>
          </a:prstGeom>
          <a:solidFill>
            <a:srgbClr val="F3F3F3"/>
          </a:solidFill>
          <a:ln w="1270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02152" y="1444752"/>
            <a:ext cx="2377440" cy="256032"/>
          </a:xfrm>
          <a:prstGeom prst="rect">
            <a:avLst/>
          </a:prstGeom>
          <a:noFill/>
        </p:spPr>
        <p:txBody>
          <a:bodyPr wrap="square" lIns="18288" rIns="18288" tIns="18288" bIns="18288" anchor="ctr">
            <a:spAutoFit/>
          </a:bodyPr>
          <a:lstStyle/>
          <a:p>
            <a:pPr algn="l"/>
            <a:r>
              <a:rPr sz="950" b="1" lang="en-US">
                <a:solidFill>
                  <a:srgbClr val="C40D1E"/>
                </a:solidFill>
                <a:latin typeface="Arial"/>
              </a:rPr>
              <a:t>T2  </a:t>
            </a:r>
            <a:r>
              <a:rPr sz="950" b="1" lang="en-US">
                <a:solidFill>
                  <a:srgbClr val="434343"/>
                </a:solidFill>
                <a:latin typeface="Arial"/>
              </a:rPr>
              <a:t>Replay / stale context</a:t>
            </a:r>
          </a:p>
        </p:txBody>
      </p:sp>
      <p:pic>
        <p:nvPicPr>
          <p:cNvPr id="18" name="Picture 17" descr="T2.png"/>
          <p:cNvPicPr>
            <a:picLocks noChangeAspect="1"/>
          </p:cNvPicPr>
          <p:nvPr/>
        </p:nvPicPr>
        <p:blipFill>
          <a:blip r:embed="rId3"/>
          <a:stretch>
            <a:fillRect/>
          </a:stretch>
        </p:blipFill>
        <p:spPr>
          <a:xfrm>
            <a:off x="3699734" y="1719072"/>
            <a:ext cx="1982274" cy="1353312"/>
          </a:xfrm>
          <a:prstGeom prst="rect">
            <a:avLst/>
          </a:prstGeom>
        </p:spPr>
      </p:pic>
      <p:sp>
        <p:nvSpPr>
          <p:cNvPr id="19" name="Rectangle 18"/>
          <p:cNvSpPr/>
          <p:nvPr/>
        </p:nvSpPr>
        <p:spPr>
          <a:xfrm>
            <a:off x="6199632" y="1371600"/>
            <a:ext cx="2578608" cy="1792224"/>
          </a:xfrm>
          <a:prstGeom prst="rect">
            <a:avLst/>
          </a:prstGeom>
          <a:solidFill>
            <a:srgbClr val="F3F3F3"/>
          </a:solidFill>
          <a:ln w="1270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0216" y="1444752"/>
            <a:ext cx="2377440" cy="256032"/>
          </a:xfrm>
          <a:prstGeom prst="rect">
            <a:avLst/>
          </a:prstGeom>
          <a:noFill/>
        </p:spPr>
        <p:txBody>
          <a:bodyPr wrap="square" lIns="18288" rIns="18288" tIns="18288" bIns="18288" anchor="ctr">
            <a:spAutoFit/>
          </a:bodyPr>
          <a:lstStyle/>
          <a:p>
            <a:pPr algn="l"/>
            <a:r>
              <a:rPr sz="950" b="1" lang="en-US">
                <a:solidFill>
                  <a:srgbClr val="C40D1E"/>
                </a:solidFill>
                <a:latin typeface="Arial"/>
              </a:rPr>
              <a:t>T3  </a:t>
            </a:r>
            <a:r>
              <a:rPr sz="950" b="1" lang="en-US">
                <a:solidFill>
                  <a:srgbClr val="434343"/>
                </a:solidFill>
                <a:latin typeface="Arial"/>
              </a:rPr>
              <a:t>Training-input provenance</a:t>
            </a:r>
          </a:p>
        </p:txBody>
      </p:sp>
      <p:pic>
        <p:nvPicPr>
          <p:cNvPr id="21" name="Picture 20" descr="T3.png"/>
          <p:cNvPicPr>
            <a:picLocks noChangeAspect="1"/>
          </p:cNvPicPr>
          <p:nvPr/>
        </p:nvPicPr>
        <p:blipFill>
          <a:blip r:embed="rId4"/>
          <a:stretch>
            <a:fillRect/>
          </a:stretch>
        </p:blipFill>
        <p:spPr>
          <a:xfrm>
            <a:off x="6272784" y="1784476"/>
            <a:ext cx="2432304" cy="1222502"/>
          </a:xfrm>
          <a:prstGeom prst="rect">
            <a:avLst/>
          </a:prstGeom>
        </p:spPr>
      </p:pic>
      <p:sp>
        <p:nvSpPr>
          <p:cNvPr id="22" name="Rectangle 21"/>
          <p:cNvSpPr/>
          <p:nvPr/>
        </p:nvSpPr>
        <p:spPr>
          <a:xfrm>
            <a:off x="8997696" y="1371600"/>
            <a:ext cx="2578608" cy="1792224"/>
          </a:xfrm>
          <a:prstGeom prst="rect">
            <a:avLst/>
          </a:prstGeom>
          <a:solidFill>
            <a:srgbClr val="F3F3F3"/>
          </a:solidFill>
          <a:ln w="1270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98280" y="1444752"/>
            <a:ext cx="2377440" cy="256032"/>
          </a:xfrm>
          <a:prstGeom prst="rect">
            <a:avLst/>
          </a:prstGeom>
          <a:noFill/>
        </p:spPr>
        <p:txBody>
          <a:bodyPr wrap="square" lIns="18288" rIns="18288" tIns="18288" bIns="18288" anchor="ctr">
            <a:spAutoFit/>
          </a:bodyPr>
          <a:lstStyle/>
          <a:p>
            <a:pPr algn="l"/>
            <a:r>
              <a:rPr sz="950" b="1" lang="en-US">
                <a:solidFill>
                  <a:srgbClr val="C40D1E"/>
                </a:solidFill>
                <a:latin typeface="Arial"/>
              </a:rPr>
              <a:t>T4  </a:t>
            </a:r>
            <a:r>
              <a:rPr sz="950" b="1" lang="en-US">
                <a:solidFill>
                  <a:srgbClr val="434343"/>
                </a:solidFill>
                <a:latin typeface="Arial"/>
              </a:rPr>
              <a:t>Artifact substitution</a:t>
            </a:r>
          </a:p>
        </p:txBody>
      </p:sp>
      <p:pic>
        <p:nvPicPr>
          <p:cNvPr id="24" name="Picture 23" descr="T4.png"/>
          <p:cNvPicPr>
            <a:picLocks noChangeAspect="1"/>
          </p:cNvPicPr>
          <p:nvPr/>
        </p:nvPicPr>
        <p:blipFill>
          <a:blip r:embed="rId5"/>
          <a:stretch>
            <a:fillRect/>
          </a:stretch>
        </p:blipFill>
        <p:spPr>
          <a:xfrm>
            <a:off x="9254209" y="1719072"/>
            <a:ext cx="2065581" cy="1353312"/>
          </a:xfrm>
          <a:prstGeom prst="rect">
            <a:avLst/>
          </a:prstGeom>
        </p:spPr>
      </p:pic>
      <p:sp>
        <p:nvSpPr>
          <p:cNvPr id="25" name="Rectangle 24"/>
          <p:cNvSpPr/>
          <p:nvPr/>
        </p:nvSpPr>
        <p:spPr>
          <a:xfrm>
            <a:off x="2002536" y="3401568"/>
            <a:ext cx="2578608" cy="1792224"/>
          </a:xfrm>
          <a:prstGeom prst="rect">
            <a:avLst/>
          </a:prstGeom>
          <a:solidFill>
            <a:srgbClr val="F3F3F3"/>
          </a:solidFill>
          <a:ln w="1270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03120" y="3474720"/>
            <a:ext cx="2377440" cy="256032"/>
          </a:xfrm>
          <a:prstGeom prst="rect">
            <a:avLst/>
          </a:prstGeom>
          <a:noFill/>
        </p:spPr>
        <p:txBody>
          <a:bodyPr wrap="square" lIns="18288" rIns="18288" tIns="18288" bIns="18288" anchor="ctr">
            <a:spAutoFit/>
          </a:bodyPr>
          <a:lstStyle/>
          <a:p>
            <a:pPr algn="l"/>
            <a:r>
              <a:rPr sz="950" b="1" lang="en-US">
                <a:solidFill>
                  <a:srgbClr val="C40D1E"/>
                </a:solidFill>
                <a:latin typeface="Arial"/>
              </a:rPr>
              <a:t>T5  </a:t>
            </a:r>
            <a:r>
              <a:rPr sz="950" b="1" lang="en-US">
                <a:solidFill>
                  <a:srgbClr val="434343"/>
                </a:solidFill>
                <a:latin typeface="Arial"/>
              </a:rPr>
              <a:t>Model/key disclosure</a:t>
            </a:r>
          </a:p>
        </p:txBody>
      </p:sp>
      <p:pic>
        <p:nvPicPr>
          <p:cNvPr id="27" name="Picture 26" descr="T5.png"/>
          <p:cNvPicPr>
            <a:picLocks noChangeAspect="1"/>
          </p:cNvPicPr>
          <p:nvPr/>
        </p:nvPicPr>
        <p:blipFill>
          <a:blip r:embed="rId6"/>
          <a:stretch>
            <a:fillRect/>
          </a:stretch>
        </p:blipFill>
        <p:spPr>
          <a:xfrm>
            <a:off x="2296062" y="3749040"/>
            <a:ext cx="1991555" cy="1353312"/>
          </a:xfrm>
          <a:prstGeom prst="rect">
            <a:avLst/>
          </a:prstGeom>
        </p:spPr>
      </p:pic>
      <p:sp>
        <p:nvSpPr>
          <p:cNvPr id="28" name="Rectangle 27"/>
          <p:cNvSpPr/>
          <p:nvPr/>
        </p:nvSpPr>
        <p:spPr>
          <a:xfrm>
            <a:off x="4800600" y="3401568"/>
            <a:ext cx="2578608" cy="1792224"/>
          </a:xfrm>
          <a:prstGeom prst="rect">
            <a:avLst/>
          </a:prstGeom>
          <a:solidFill>
            <a:srgbClr val="F3F3F3"/>
          </a:solidFill>
          <a:ln w="1270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01184" y="3474720"/>
            <a:ext cx="2377440" cy="256032"/>
          </a:xfrm>
          <a:prstGeom prst="rect">
            <a:avLst/>
          </a:prstGeom>
          <a:noFill/>
        </p:spPr>
        <p:txBody>
          <a:bodyPr wrap="square" lIns="18288" rIns="18288" tIns="18288" bIns="18288" anchor="ctr">
            <a:spAutoFit/>
          </a:bodyPr>
          <a:lstStyle/>
          <a:p>
            <a:pPr algn="l"/>
            <a:r>
              <a:rPr sz="950" b="1" lang="en-US">
                <a:solidFill>
                  <a:srgbClr val="C40D1E"/>
                </a:solidFill>
                <a:latin typeface="Arial"/>
              </a:rPr>
              <a:t>T6  </a:t>
            </a:r>
            <a:r>
              <a:rPr sz="950" b="1" lang="en-US">
                <a:solidFill>
                  <a:srgbClr val="434343"/>
                </a:solidFill>
                <a:latin typeface="Arial"/>
              </a:rPr>
              <a:t>Aggregator omission</a:t>
            </a:r>
          </a:p>
        </p:txBody>
      </p:sp>
      <p:pic>
        <p:nvPicPr>
          <p:cNvPr id="30" name="Picture 29" descr="T6.png"/>
          <p:cNvPicPr>
            <a:picLocks noChangeAspect="1"/>
          </p:cNvPicPr>
          <p:nvPr/>
        </p:nvPicPr>
        <p:blipFill>
          <a:blip r:embed="rId7"/>
          <a:stretch>
            <a:fillRect/>
          </a:stretch>
        </p:blipFill>
        <p:spPr>
          <a:xfrm>
            <a:off x="5106477" y="3749040"/>
            <a:ext cx="1966852" cy="1353312"/>
          </a:xfrm>
          <a:prstGeom prst="rect">
            <a:avLst/>
          </a:prstGeom>
        </p:spPr>
      </p:pic>
      <p:sp>
        <p:nvSpPr>
          <p:cNvPr id="31" name="Rectangle 30"/>
          <p:cNvSpPr/>
          <p:nvPr/>
        </p:nvSpPr>
        <p:spPr>
          <a:xfrm>
            <a:off x="7598664" y="3401568"/>
            <a:ext cx="2578608" cy="1792224"/>
          </a:xfrm>
          <a:prstGeom prst="rect">
            <a:avLst/>
          </a:prstGeom>
          <a:solidFill>
            <a:srgbClr val="F3F3F3"/>
          </a:solidFill>
          <a:ln w="1270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99248" y="3474720"/>
            <a:ext cx="2377440" cy="256032"/>
          </a:xfrm>
          <a:prstGeom prst="rect">
            <a:avLst/>
          </a:prstGeom>
          <a:noFill/>
        </p:spPr>
        <p:txBody>
          <a:bodyPr wrap="square" lIns="18288" rIns="18288" tIns="18288" bIns="18288" anchor="ctr">
            <a:spAutoFit/>
          </a:bodyPr>
          <a:lstStyle/>
          <a:p>
            <a:pPr algn="l"/>
            <a:r>
              <a:rPr sz="950" b="1" lang="en-US">
                <a:solidFill>
                  <a:srgbClr val="C40D1E"/>
                </a:solidFill>
                <a:latin typeface="Arial"/>
              </a:rPr>
              <a:t>T7  </a:t>
            </a:r>
            <a:r>
              <a:rPr sz="950" b="1" lang="en-US">
                <a:solidFill>
                  <a:srgbClr val="434343"/>
                </a:solidFill>
                <a:latin typeface="Arial"/>
              </a:rPr>
              <a:t>Valid malicious updates</a:t>
            </a:r>
          </a:p>
        </p:txBody>
      </p:sp>
      <p:pic>
        <p:nvPicPr>
          <p:cNvPr id="33" name="Picture 32" descr="T7.png"/>
          <p:cNvPicPr>
            <a:picLocks noChangeAspect="1"/>
          </p:cNvPicPr>
          <p:nvPr/>
        </p:nvPicPr>
        <p:blipFill>
          <a:blip r:embed="rId8"/>
          <a:stretch>
            <a:fillRect/>
          </a:stretch>
        </p:blipFill>
        <p:spPr>
          <a:xfrm>
            <a:off x="7843764" y="3749040"/>
            <a:ext cx="2088406" cy="1353312"/>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150" b="0" lang="en-US">
                <a:solidFill>
                  <a:srgbClr val="434343"/>
                </a:solidFill>
                <a:latin typeface="Arial"/>
              </a:rPr>
              <a:t>Use and misuse cases: agent and infrastructure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BACKUP · THREAT VIEWS T8–T14</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32</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5D6973"/>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Rectangle 12"/>
          <p:cNvSpPr/>
          <p:nvPr/>
        </p:nvSpPr>
        <p:spPr>
          <a:xfrm>
            <a:off x="603504" y="1371600"/>
            <a:ext cx="2578608" cy="1792224"/>
          </a:xfrm>
          <a:prstGeom prst="rect">
            <a:avLst/>
          </a:prstGeom>
          <a:solidFill>
            <a:srgbClr val="F3F3F3"/>
          </a:solidFill>
          <a:ln w="1270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1444752"/>
            <a:ext cx="2377440" cy="256032"/>
          </a:xfrm>
          <a:prstGeom prst="rect">
            <a:avLst/>
          </a:prstGeom>
          <a:noFill/>
        </p:spPr>
        <p:txBody>
          <a:bodyPr wrap="square" lIns="18288" rIns="18288" tIns="18288" bIns="18288" anchor="ctr">
            <a:spAutoFit/>
          </a:bodyPr>
          <a:lstStyle/>
          <a:p>
            <a:pPr algn="l"/>
            <a:r>
              <a:rPr sz="950" b="1" lang="en-US">
                <a:solidFill>
                  <a:srgbClr val="C40D1E"/>
                </a:solidFill>
                <a:latin typeface="Arial"/>
              </a:rPr>
              <a:t>T8  </a:t>
            </a:r>
            <a:r>
              <a:rPr sz="950" b="1" lang="en-US">
                <a:solidFill>
                  <a:srgbClr val="434343"/>
                </a:solidFill>
                <a:latin typeface="Arial"/>
              </a:rPr>
              <a:t>Inference evidence</a:t>
            </a:r>
          </a:p>
        </p:txBody>
      </p:sp>
      <p:pic>
        <p:nvPicPr>
          <p:cNvPr id="15" name="Picture 14" descr="T8.png"/>
          <p:cNvPicPr>
            <a:picLocks noChangeAspect="1"/>
          </p:cNvPicPr>
          <p:nvPr/>
        </p:nvPicPr>
        <p:blipFill>
          <a:blip r:embed="rId2"/>
          <a:stretch>
            <a:fillRect/>
          </a:stretch>
        </p:blipFill>
        <p:spPr>
          <a:xfrm>
            <a:off x="991281" y="1719072"/>
            <a:ext cx="1803053" cy="1353312"/>
          </a:xfrm>
          <a:prstGeom prst="rect">
            <a:avLst/>
          </a:prstGeom>
        </p:spPr>
      </p:pic>
      <p:sp>
        <p:nvSpPr>
          <p:cNvPr id="16" name="Rectangle 15"/>
          <p:cNvSpPr/>
          <p:nvPr/>
        </p:nvSpPr>
        <p:spPr>
          <a:xfrm>
            <a:off x="3401568" y="1371600"/>
            <a:ext cx="2578608" cy="1792224"/>
          </a:xfrm>
          <a:prstGeom prst="rect">
            <a:avLst/>
          </a:prstGeom>
          <a:solidFill>
            <a:srgbClr val="F3F3F3"/>
          </a:solidFill>
          <a:ln w="1270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02152" y="1444752"/>
            <a:ext cx="2377440" cy="256032"/>
          </a:xfrm>
          <a:prstGeom prst="rect">
            <a:avLst/>
          </a:prstGeom>
          <a:noFill/>
        </p:spPr>
        <p:txBody>
          <a:bodyPr wrap="square" lIns="18288" rIns="18288" tIns="18288" bIns="18288" anchor="ctr">
            <a:spAutoFit/>
          </a:bodyPr>
          <a:lstStyle/>
          <a:p>
            <a:pPr algn="l"/>
            <a:r>
              <a:rPr sz="950" b="1" lang="en-US">
                <a:solidFill>
                  <a:srgbClr val="C40D1E"/>
                </a:solidFill>
                <a:latin typeface="Arial"/>
              </a:rPr>
              <a:t>T9  </a:t>
            </a:r>
            <a:r>
              <a:rPr sz="950" b="1" lang="en-US">
                <a:solidFill>
                  <a:srgbClr val="434343"/>
                </a:solidFill>
                <a:latin typeface="Arial"/>
              </a:rPr>
              <a:t>Agent/tool manipulation</a:t>
            </a:r>
          </a:p>
        </p:txBody>
      </p:sp>
      <p:pic>
        <p:nvPicPr>
          <p:cNvPr id="18" name="Picture 17" descr="T9.png"/>
          <p:cNvPicPr>
            <a:picLocks noChangeAspect="1"/>
          </p:cNvPicPr>
          <p:nvPr/>
        </p:nvPicPr>
        <p:blipFill>
          <a:blip r:embed="rId3"/>
          <a:stretch>
            <a:fillRect/>
          </a:stretch>
        </p:blipFill>
        <p:spPr>
          <a:xfrm>
            <a:off x="3765541" y="1719072"/>
            <a:ext cx="1850660" cy="1353312"/>
          </a:xfrm>
          <a:prstGeom prst="rect">
            <a:avLst/>
          </a:prstGeom>
        </p:spPr>
      </p:pic>
      <p:sp>
        <p:nvSpPr>
          <p:cNvPr id="19" name="Rectangle 18"/>
          <p:cNvSpPr/>
          <p:nvPr/>
        </p:nvSpPr>
        <p:spPr>
          <a:xfrm>
            <a:off x="6199632" y="1371600"/>
            <a:ext cx="2578608" cy="1792224"/>
          </a:xfrm>
          <a:prstGeom prst="rect">
            <a:avLst/>
          </a:prstGeom>
          <a:solidFill>
            <a:srgbClr val="F3F3F3"/>
          </a:solidFill>
          <a:ln w="1270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0216" y="1444752"/>
            <a:ext cx="2377440" cy="256032"/>
          </a:xfrm>
          <a:prstGeom prst="rect">
            <a:avLst/>
          </a:prstGeom>
          <a:noFill/>
        </p:spPr>
        <p:txBody>
          <a:bodyPr wrap="square" lIns="18288" rIns="18288" tIns="18288" bIns="18288" anchor="ctr">
            <a:spAutoFit/>
          </a:bodyPr>
          <a:lstStyle/>
          <a:p>
            <a:pPr algn="l"/>
            <a:r>
              <a:rPr sz="950" b="1" lang="en-US">
                <a:solidFill>
                  <a:srgbClr val="C40D1E"/>
                </a:solidFill>
                <a:latin typeface="Arial"/>
              </a:rPr>
              <a:t>T10  </a:t>
            </a:r>
            <a:r>
              <a:rPr sz="950" b="1" lang="en-US">
                <a:solidFill>
                  <a:srgbClr val="434343"/>
                </a:solidFill>
                <a:latin typeface="Arial"/>
              </a:rPr>
              <a:t>Evidence suppression</a:t>
            </a:r>
          </a:p>
        </p:txBody>
      </p:sp>
      <p:pic>
        <p:nvPicPr>
          <p:cNvPr id="21" name="Picture 20" descr="T10.png"/>
          <p:cNvPicPr>
            <a:picLocks noChangeAspect="1"/>
          </p:cNvPicPr>
          <p:nvPr/>
        </p:nvPicPr>
        <p:blipFill>
          <a:blip r:embed="rId4"/>
          <a:stretch>
            <a:fillRect/>
          </a:stretch>
        </p:blipFill>
        <p:spPr>
          <a:xfrm>
            <a:off x="6512818" y="1719072"/>
            <a:ext cx="1952235" cy="1353312"/>
          </a:xfrm>
          <a:prstGeom prst="rect">
            <a:avLst/>
          </a:prstGeom>
        </p:spPr>
      </p:pic>
      <p:sp>
        <p:nvSpPr>
          <p:cNvPr id="22" name="Rectangle 21"/>
          <p:cNvSpPr/>
          <p:nvPr/>
        </p:nvSpPr>
        <p:spPr>
          <a:xfrm>
            <a:off x="8997696" y="1371600"/>
            <a:ext cx="2578608" cy="1792224"/>
          </a:xfrm>
          <a:prstGeom prst="rect">
            <a:avLst/>
          </a:prstGeom>
          <a:solidFill>
            <a:srgbClr val="F3F3F3"/>
          </a:solidFill>
          <a:ln w="1270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98280" y="1444752"/>
            <a:ext cx="2377440" cy="256032"/>
          </a:xfrm>
          <a:prstGeom prst="rect">
            <a:avLst/>
          </a:prstGeom>
          <a:noFill/>
        </p:spPr>
        <p:txBody>
          <a:bodyPr wrap="square" lIns="18288" rIns="18288" tIns="18288" bIns="18288" anchor="ctr">
            <a:spAutoFit/>
          </a:bodyPr>
          <a:lstStyle/>
          <a:p>
            <a:pPr algn="l"/>
            <a:r>
              <a:rPr sz="950" b="1" lang="en-US">
                <a:solidFill>
                  <a:srgbClr val="C40D1E"/>
                </a:solidFill>
                <a:latin typeface="Arial"/>
              </a:rPr>
              <a:t>T11  </a:t>
            </a:r>
            <a:r>
              <a:rPr sz="950" b="1" lang="en-US">
                <a:solidFill>
                  <a:srgbClr val="434343"/>
                </a:solidFill>
                <a:latin typeface="Arial"/>
              </a:rPr>
              <a:t>Log omission/equivocation</a:t>
            </a:r>
          </a:p>
        </p:txBody>
      </p:sp>
      <p:pic>
        <p:nvPicPr>
          <p:cNvPr id="24" name="Picture 23" descr="T11.png"/>
          <p:cNvPicPr>
            <a:picLocks noChangeAspect="1"/>
          </p:cNvPicPr>
          <p:nvPr/>
        </p:nvPicPr>
        <p:blipFill>
          <a:blip r:embed="rId5"/>
          <a:stretch>
            <a:fillRect/>
          </a:stretch>
        </p:blipFill>
        <p:spPr>
          <a:xfrm>
            <a:off x="9087332" y="1719072"/>
            <a:ext cx="2399335" cy="1353312"/>
          </a:xfrm>
          <a:prstGeom prst="rect">
            <a:avLst/>
          </a:prstGeom>
        </p:spPr>
      </p:pic>
      <p:sp>
        <p:nvSpPr>
          <p:cNvPr id="25" name="Rectangle 24"/>
          <p:cNvSpPr/>
          <p:nvPr/>
        </p:nvSpPr>
        <p:spPr>
          <a:xfrm>
            <a:off x="2002536" y="3401568"/>
            <a:ext cx="2578608" cy="1792224"/>
          </a:xfrm>
          <a:prstGeom prst="rect">
            <a:avLst/>
          </a:prstGeom>
          <a:solidFill>
            <a:srgbClr val="F3F3F3"/>
          </a:solidFill>
          <a:ln w="1270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03120" y="3474720"/>
            <a:ext cx="2377440" cy="256032"/>
          </a:xfrm>
          <a:prstGeom prst="rect">
            <a:avLst/>
          </a:prstGeom>
          <a:noFill/>
        </p:spPr>
        <p:txBody>
          <a:bodyPr wrap="square" lIns="18288" rIns="18288" tIns="18288" bIns="18288" anchor="ctr">
            <a:spAutoFit/>
          </a:bodyPr>
          <a:lstStyle/>
          <a:p>
            <a:pPr algn="l"/>
            <a:r>
              <a:rPr sz="950" b="1" lang="en-US">
                <a:solidFill>
                  <a:srgbClr val="C40D1E"/>
                </a:solidFill>
                <a:latin typeface="Arial"/>
              </a:rPr>
              <a:t>T12  </a:t>
            </a:r>
            <a:r>
              <a:rPr sz="950" b="1" lang="en-US">
                <a:solidFill>
                  <a:srgbClr val="434343"/>
                </a:solidFill>
                <a:latin typeface="Arial"/>
              </a:rPr>
              <a:t>Infrastructure DoS</a:t>
            </a:r>
          </a:p>
        </p:txBody>
      </p:sp>
      <p:pic>
        <p:nvPicPr>
          <p:cNvPr id="27" name="Picture 26" descr="T12.png"/>
          <p:cNvPicPr>
            <a:picLocks noChangeAspect="1"/>
          </p:cNvPicPr>
          <p:nvPr/>
        </p:nvPicPr>
        <p:blipFill>
          <a:blip r:embed="rId6"/>
          <a:stretch>
            <a:fillRect/>
          </a:stretch>
        </p:blipFill>
        <p:spPr>
          <a:xfrm>
            <a:off x="2151924" y="3749040"/>
            <a:ext cx="2279830" cy="1353312"/>
          </a:xfrm>
          <a:prstGeom prst="rect">
            <a:avLst/>
          </a:prstGeom>
        </p:spPr>
      </p:pic>
      <p:sp>
        <p:nvSpPr>
          <p:cNvPr id="28" name="Rectangle 27"/>
          <p:cNvSpPr/>
          <p:nvPr/>
        </p:nvSpPr>
        <p:spPr>
          <a:xfrm>
            <a:off x="4800600" y="3401568"/>
            <a:ext cx="2578608" cy="1792224"/>
          </a:xfrm>
          <a:prstGeom prst="rect">
            <a:avLst/>
          </a:prstGeom>
          <a:solidFill>
            <a:srgbClr val="F3F3F3"/>
          </a:solidFill>
          <a:ln w="1270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01184" y="3474720"/>
            <a:ext cx="2377440" cy="256032"/>
          </a:xfrm>
          <a:prstGeom prst="rect">
            <a:avLst/>
          </a:prstGeom>
          <a:noFill/>
        </p:spPr>
        <p:txBody>
          <a:bodyPr wrap="square" lIns="18288" rIns="18288" tIns="18288" bIns="18288" anchor="ctr">
            <a:spAutoFit/>
          </a:bodyPr>
          <a:lstStyle/>
          <a:p>
            <a:pPr algn="l"/>
            <a:r>
              <a:rPr sz="950" b="1" lang="en-US">
                <a:solidFill>
                  <a:srgbClr val="C40D1E"/>
                </a:solidFill>
                <a:latin typeface="Arial"/>
              </a:rPr>
              <a:t>T13  </a:t>
            </a:r>
            <a:r>
              <a:rPr sz="950" b="1" lang="en-US">
                <a:solidFill>
                  <a:srgbClr val="434343"/>
                </a:solidFill>
                <a:latin typeface="Arial"/>
              </a:rPr>
              <a:t>Root/key compromise</a:t>
            </a:r>
          </a:p>
        </p:txBody>
      </p:sp>
      <p:pic>
        <p:nvPicPr>
          <p:cNvPr id="30" name="Picture 29" descr="T13.png"/>
          <p:cNvPicPr>
            <a:picLocks noChangeAspect="1"/>
          </p:cNvPicPr>
          <p:nvPr/>
        </p:nvPicPr>
        <p:blipFill>
          <a:blip r:embed="rId7"/>
          <a:stretch>
            <a:fillRect/>
          </a:stretch>
        </p:blipFill>
        <p:spPr>
          <a:xfrm>
            <a:off x="4937474" y="3749040"/>
            <a:ext cx="2304859" cy="1353312"/>
          </a:xfrm>
          <a:prstGeom prst="rect">
            <a:avLst/>
          </a:prstGeom>
        </p:spPr>
      </p:pic>
      <p:sp>
        <p:nvSpPr>
          <p:cNvPr id="31" name="Rectangle 30"/>
          <p:cNvSpPr/>
          <p:nvPr/>
        </p:nvSpPr>
        <p:spPr>
          <a:xfrm>
            <a:off x="7598664" y="3401568"/>
            <a:ext cx="2578608" cy="1792224"/>
          </a:xfrm>
          <a:prstGeom prst="rect">
            <a:avLst/>
          </a:prstGeom>
          <a:solidFill>
            <a:srgbClr val="F3F3F3"/>
          </a:solidFill>
          <a:ln w="12700">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99248" y="3474720"/>
            <a:ext cx="2377440" cy="256032"/>
          </a:xfrm>
          <a:prstGeom prst="rect">
            <a:avLst/>
          </a:prstGeom>
          <a:noFill/>
        </p:spPr>
        <p:txBody>
          <a:bodyPr wrap="square" lIns="18288" rIns="18288" tIns="18288" bIns="18288" anchor="ctr">
            <a:spAutoFit/>
          </a:bodyPr>
          <a:lstStyle/>
          <a:p>
            <a:pPr algn="l"/>
            <a:r>
              <a:rPr sz="950" b="1" lang="en-US">
                <a:solidFill>
                  <a:srgbClr val="C40D1E"/>
                </a:solidFill>
                <a:latin typeface="Arial"/>
              </a:rPr>
              <a:t>T14  </a:t>
            </a:r>
            <a:r>
              <a:rPr sz="950" b="1" lang="en-US">
                <a:solidFill>
                  <a:srgbClr val="434343"/>
                </a:solidFill>
                <a:latin typeface="Arial"/>
              </a:rPr>
              <a:t>Systemic collusion</a:t>
            </a:r>
          </a:p>
        </p:txBody>
      </p:sp>
      <p:pic>
        <p:nvPicPr>
          <p:cNvPr id="33" name="Picture 32" descr="T14.png"/>
          <p:cNvPicPr>
            <a:picLocks noChangeAspect="1"/>
          </p:cNvPicPr>
          <p:nvPr/>
        </p:nvPicPr>
        <p:blipFill>
          <a:blip r:embed="rId8"/>
          <a:stretch>
            <a:fillRect/>
          </a:stretch>
        </p:blipFill>
        <p:spPr>
          <a:xfrm>
            <a:off x="7671816" y="3819532"/>
            <a:ext cx="2432304" cy="1212327"/>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150" b="0" lang="en-US">
                <a:solidFill>
                  <a:srgbClr val="434343"/>
                </a:solidFill>
                <a:latin typeface="Arial"/>
              </a:rPr>
              <a:t>T1 · Unauthorized workload admission or identity substitution</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BACKUP · USE AND MISUSE CASE · DFL PRODUCTION</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33</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5D6973"/>
                </a:solidFill>
                <a:latin typeface="Arial"/>
              </a:rPr>
              <a:t>Agent</a:t>
            </a:r>
          </a:p>
        </p:txBody>
      </p:sp>
      <p:pic>
        <p:nvPicPr>
          <p:cNvPr id="13" name="Picture 12" descr="T1.png"/>
          <p:cNvPicPr>
            <a:picLocks noChangeAspect="1"/>
          </p:cNvPicPr>
          <p:nvPr/>
        </p:nvPicPr>
        <p:blipFill>
          <a:blip r:embed="rId2"/>
          <a:stretch>
            <a:fillRect/>
          </a:stretch>
        </p:blipFill>
        <p:spPr>
          <a:xfrm>
            <a:off x="2553109" y="1307592"/>
            <a:ext cx="7101021" cy="4773168"/>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T2 · Replay or stale-context reuse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BACKUP · USE AND MISUSE CASE · DFL PRODUCTION</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34</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5D6973"/>
                </a:solidFill>
                <a:latin typeface="Arial"/>
              </a:rPr>
              <a:t>Agent</a:t>
            </a:r>
          </a:p>
        </p:txBody>
      </p:sp>
      <p:pic>
        <p:nvPicPr>
          <p:cNvPr id="13" name="Picture 12" descr="T2.png"/>
          <p:cNvPicPr>
            <a:picLocks noChangeAspect="1"/>
          </p:cNvPicPr>
          <p:nvPr/>
        </p:nvPicPr>
        <p:blipFill>
          <a:blip r:embed="rId2"/>
          <a:stretch>
            <a:fillRect/>
          </a:stretch>
        </p:blipFill>
        <p:spPr>
          <a:xfrm>
            <a:off x="2607852" y="1307592"/>
            <a:ext cx="6991534" cy="4773168"/>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150" b="0" lang="en-US">
                <a:solidFill>
                  <a:srgbClr val="434343"/>
                </a:solidFill>
                <a:latin typeface="Arial"/>
              </a:rPr>
              <a:t>T3 · Training-input or signer-policy manipulation</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BACKUP · USE AND MISUSE CASE · DFL PRODUCTION</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35</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5D6973"/>
                </a:solidFill>
                <a:latin typeface="Arial"/>
              </a:rPr>
              <a:t>Agent</a:t>
            </a:r>
          </a:p>
        </p:txBody>
      </p:sp>
      <p:pic>
        <p:nvPicPr>
          <p:cNvPr id="13" name="Picture 12" descr="T3.png"/>
          <p:cNvPicPr>
            <a:picLocks noChangeAspect="1"/>
          </p:cNvPicPr>
          <p:nvPr/>
        </p:nvPicPr>
        <p:blipFill>
          <a:blip r:embed="rId2"/>
          <a:stretch>
            <a:fillRect/>
          </a:stretch>
        </p:blipFill>
        <p:spPr>
          <a:xfrm>
            <a:off x="1355247" y="1307592"/>
            <a:ext cx="9496744" cy="4773168"/>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150" b="0" lang="en-US">
                <a:solidFill>
                  <a:srgbClr val="434343"/>
                </a:solidFill>
                <a:latin typeface="Arial"/>
              </a:rPr>
              <a:t>T4 · Artifact substitution or stale publication</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BACKUP · USE AND MISUSE CASE · DFL PRODUCTION</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36</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5D6973"/>
                </a:solidFill>
                <a:latin typeface="Arial"/>
              </a:rPr>
              <a:t>Agent</a:t>
            </a:r>
          </a:p>
        </p:txBody>
      </p:sp>
      <p:pic>
        <p:nvPicPr>
          <p:cNvPr id="13" name="Picture 12" descr="T4.png"/>
          <p:cNvPicPr>
            <a:picLocks noChangeAspect="1"/>
          </p:cNvPicPr>
          <p:nvPr/>
        </p:nvPicPr>
        <p:blipFill>
          <a:blip r:embed="rId2"/>
          <a:stretch>
            <a:fillRect/>
          </a:stretch>
        </p:blipFill>
        <p:spPr>
          <a:xfrm>
            <a:off x="2460939" y="1307592"/>
            <a:ext cx="7285361" cy="4773168"/>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T5 · Unauthorized model or key disclosure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BACKUP · USE AND MISUSE CASE · DFL PRODUCTION</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37</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5D6973"/>
                </a:solidFill>
                <a:latin typeface="Arial"/>
              </a:rPr>
              <a:t>Agent</a:t>
            </a:r>
          </a:p>
        </p:txBody>
      </p:sp>
      <p:pic>
        <p:nvPicPr>
          <p:cNvPr id="13" name="Picture 12" descr="T5.png"/>
          <p:cNvPicPr>
            <a:picLocks noChangeAspect="1"/>
          </p:cNvPicPr>
          <p:nvPr/>
        </p:nvPicPr>
        <p:blipFill>
          <a:blip r:embed="rId2"/>
          <a:stretch>
            <a:fillRect/>
          </a:stretch>
        </p:blipFill>
        <p:spPr>
          <a:xfrm>
            <a:off x="2591485" y="1307592"/>
            <a:ext cx="7024269" cy="4773168"/>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150" b="0" lang="en-US">
                <a:solidFill>
                  <a:srgbClr val="434343"/>
                </a:solidFill>
                <a:latin typeface="Arial"/>
              </a:rPr>
              <a:t>T6 · Aggregator omission or availability failure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BACKUP · USE AND MISUSE CASE · DFL PRODUCTION</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38</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5D6973"/>
                </a:solidFill>
                <a:latin typeface="Arial"/>
              </a:rPr>
              <a:t>Agent</a:t>
            </a:r>
          </a:p>
        </p:txBody>
      </p:sp>
      <p:pic>
        <p:nvPicPr>
          <p:cNvPr id="13" name="Picture 12" descr="T6.png"/>
          <p:cNvPicPr>
            <a:picLocks noChangeAspect="1"/>
          </p:cNvPicPr>
          <p:nvPr/>
        </p:nvPicPr>
        <p:blipFill>
          <a:blip r:embed="rId2"/>
          <a:stretch>
            <a:fillRect/>
          </a:stretch>
        </p:blipFill>
        <p:spPr>
          <a:xfrm>
            <a:off x="2635048" y="1307592"/>
            <a:ext cx="6937142" cy="4773168"/>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150" b="0" lang="en-US">
                <a:solidFill>
                  <a:srgbClr val="434343"/>
                </a:solidFill>
                <a:latin typeface="Arial"/>
              </a:rPr>
              <a:t>T7 · Semantically malicious but valid data or updates</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BACKUP · USE AND MISUSE CASE · DFL PRODUCTION</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39</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5D6973"/>
                </a:solidFill>
                <a:latin typeface="Arial"/>
              </a:rPr>
              <a:t>Agent</a:t>
            </a:r>
          </a:p>
        </p:txBody>
      </p:sp>
      <p:pic>
        <p:nvPicPr>
          <p:cNvPr id="13" name="Picture 12" descr="T7.png"/>
          <p:cNvPicPr>
            <a:picLocks noChangeAspect="1"/>
          </p:cNvPicPr>
          <p:nvPr/>
        </p:nvPicPr>
        <p:blipFill>
          <a:blip r:embed="rId2"/>
          <a:stretch>
            <a:fillRect/>
          </a:stretch>
        </p:blipFill>
        <p:spPr>
          <a:xfrm>
            <a:off x="2420686" y="1307592"/>
            <a:ext cx="7365866" cy="4773168"/>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150" b="0" lang="en-US">
                <a:solidFill>
                  <a:srgbClr val="434343"/>
                </a:solidFill>
                <a:latin typeface="Arial"/>
              </a:rPr>
              <a:t>T8 · Inference substitution or forged evidence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BACKUP · USE AND MISUSE CASE · AGENT AND INFERENCE</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40</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5D6973"/>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pic>
        <p:nvPicPr>
          <p:cNvPr id="13" name="Picture 12" descr="T8.png"/>
          <p:cNvPicPr>
            <a:picLocks noChangeAspect="1"/>
          </p:cNvPicPr>
          <p:nvPr/>
        </p:nvPicPr>
        <p:blipFill>
          <a:blip r:embed="rId2"/>
          <a:stretch>
            <a:fillRect/>
          </a:stretch>
        </p:blipFill>
        <p:spPr>
          <a:xfrm>
            <a:off x="2923911" y="1307592"/>
            <a:ext cx="6359417" cy="4773168"/>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T9 · Agent or tool manipulation</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BACKUP · USE AND MISUSE CASE · AGENT AND INFERENCE</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41</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5D6973"/>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pic>
        <p:nvPicPr>
          <p:cNvPr id="13" name="Picture 12" descr="T9.png"/>
          <p:cNvPicPr>
            <a:picLocks noChangeAspect="1"/>
          </p:cNvPicPr>
          <p:nvPr/>
        </p:nvPicPr>
        <p:blipFill>
          <a:blip r:embed="rId2"/>
          <a:stretch>
            <a:fillRect/>
          </a:stretch>
        </p:blipFill>
        <p:spPr>
          <a:xfrm>
            <a:off x="2839954" y="1307592"/>
            <a:ext cx="6527330" cy="4773168"/>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T10 · Evidence or result suppression</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BACKUP · USE AND MISUSE CASE · AGENT AND TRANSPARENCY</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42</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5D6973"/>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pic>
        <p:nvPicPr>
          <p:cNvPr id="13" name="Picture 12" descr="T10.png"/>
          <p:cNvPicPr>
            <a:picLocks noChangeAspect="1"/>
          </p:cNvPicPr>
          <p:nvPr/>
        </p:nvPicPr>
        <p:blipFill>
          <a:blip r:embed="rId2"/>
          <a:stretch>
            <a:fillRect/>
          </a:stretch>
        </p:blipFill>
        <p:spPr>
          <a:xfrm>
            <a:off x="2660826" y="1307592"/>
            <a:ext cx="6885586" cy="4773168"/>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150" b="0" lang="en-US">
                <a:solidFill>
                  <a:srgbClr val="434343"/>
                </a:solidFill>
                <a:latin typeface="Arial"/>
              </a:rPr>
              <a:t>T11 · Transparency-log omission or equivocation</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BACKUP · USE AND MISUSE CASE · AGENT AND TRANSPARENCY</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43</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5D6973"/>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pic>
        <p:nvPicPr>
          <p:cNvPr id="13" name="Picture 12" descr="T11.png"/>
          <p:cNvPicPr>
            <a:picLocks noChangeAspect="1"/>
          </p:cNvPicPr>
          <p:nvPr/>
        </p:nvPicPr>
        <p:blipFill>
          <a:blip r:embed="rId2"/>
          <a:stretch>
            <a:fillRect/>
          </a:stretch>
        </p:blipFill>
        <p:spPr>
          <a:xfrm>
            <a:off x="1872359" y="1307592"/>
            <a:ext cx="8462520" cy="4773168"/>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T12 · Infrastructure denial of service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BACKUP · USE AND MISUSE CASE · CROSS-CUTTING RESIDUAL THREAT</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44</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pic>
        <p:nvPicPr>
          <p:cNvPr id="13" name="Picture 12" descr="T12.png"/>
          <p:cNvPicPr>
            <a:picLocks noChangeAspect="1"/>
          </p:cNvPicPr>
          <p:nvPr/>
        </p:nvPicPr>
        <p:blipFill>
          <a:blip r:embed="rId2"/>
          <a:stretch>
            <a:fillRect/>
          </a:stretch>
        </p:blipFill>
        <p:spPr>
          <a:xfrm>
            <a:off x="2083107" y="1307592"/>
            <a:ext cx="8041025" cy="4773168"/>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150" b="0" lang="en-US">
                <a:solidFill>
                  <a:srgbClr val="434343"/>
                </a:solidFill>
                <a:latin typeface="Arial"/>
              </a:rPr>
              <a:t>T13 · Cryptographic, key, or platform-root compromise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BACKUP · USE AND MISUSE CASE · CROSS-CUTTING RESIDUAL THREAT</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45</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pic>
        <p:nvPicPr>
          <p:cNvPr id="13" name="Picture 12" descr="T13.png"/>
          <p:cNvPicPr>
            <a:picLocks noChangeAspect="1"/>
          </p:cNvPicPr>
          <p:nvPr/>
        </p:nvPicPr>
        <p:blipFill>
          <a:blip r:embed="rId2"/>
          <a:stretch>
            <a:fillRect/>
          </a:stretch>
        </p:blipFill>
        <p:spPr>
          <a:xfrm>
            <a:off x="2038969" y="1307592"/>
            <a:ext cx="8129301" cy="4773168"/>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150" b="0" lang="en-US">
                <a:solidFill>
                  <a:srgbClr val="434343"/>
                </a:solidFill>
                <a:latin typeface="Arial"/>
              </a:rPr>
              <a:t>T14 · Systemic collusion or economic manipulation</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BACKUP · USE AND MISUSE CASE · CROSS-CUTTING RESIDUAL THREAT</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Page 46</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5D6973"/>
                </a:solidFill>
                <a:latin typeface="Arial"/>
              </a:rPr>
              <a:t>Agent</a:t>
            </a:r>
          </a:p>
        </p:txBody>
      </p:sp>
      <p:pic>
        <p:nvPicPr>
          <p:cNvPr id="13" name="Picture 12" descr="T14.png"/>
          <p:cNvPicPr>
            <a:picLocks noChangeAspect="1"/>
          </p:cNvPicPr>
          <p:nvPr/>
        </p:nvPicPr>
        <p:blipFill>
          <a:blip r:embed="rId2"/>
          <a:stretch>
            <a:fillRect/>
          </a:stretch>
        </p:blipFill>
        <p:spPr>
          <a:xfrm>
            <a:off x="1315394" y="1307592"/>
            <a:ext cx="9576450" cy="4773168"/>
          </a:xfrm>
          <a:prstGeom prst="rect">
            <a:avLst/>
          </a:prstGeom>
        </p:spPr>
      </p:pic>
    </p:spTree>
  </p:cSld>
  <p:clrMapOvr>
    <a:masterClrMapping/>
  </p:clrMapOvr>
</p:sld>
</file>

<file path=ppt/theme/theme1.xml><?xml version="1.0" encoding="utf-8"?>
<a:theme xmlns:a="http://schemas.openxmlformats.org/drawingml/2006/main" name="Titelfolien zur Auswahl">
  <a:themeElements>
    <a:clrScheme name="TU Berlin">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4A2A0730-D474-B642-9EC8-245B2B7F7B17}"/>
    </a:ext>
  </a:ext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6D2ACD7B-51E4-3F4D-A883-FB2A0ECC7C66}"/>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TU-Berlin-Praesentation-Master-einfarbig-Rot</Template>
  <TotalTime>0</TotalTime>
  <Words>59</Words>
  <Application>Microsoft Office PowerPoint</Application>
  <PresentationFormat>Breitbild</PresentationFormat>
  <Paragraphs>5</Paragraphs>
  <Slides>5</Slides>
  <Notes>0</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5</vt:i4>
      </vt:variant>
    </vt:vector>
  </HeadingPairs>
  <TitlesOfParts>
    <vt:vector size="10" baseType="lpstr">
      <vt:lpstr>Arial</vt:lpstr>
      <vt:lpstr>Calibri</vt:lpstr>
      <vt:lpstr>Symbol</vt:lpstr>
      <vt:lpstr>Titelfolien zur Auswahl</vt:lpstr>
      <vt:lpstr>Master für Folgeseiten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VITA-FL — Master's Thesis Presentation</dc:title>
  <dc:creator>Ramon Mehrpoya</dc:creator>
  <cp:lastModifiedBy>Friedrich, Ulrike</cp:lastModifiedBy>
  <cp:revision>3</cp:revision>
  <cp:lastPrinted>2021-03-24T16:10:50Z</cp:lastPrinted>
  <dcterms:created xsi:type="dcterms:W3CDTF">2023-04-20T08:54:03Z</dcterms:created>
  <dcterms:modified xsi:type="dcterms:W3CDTF">2025-06-16T09:49:54Z</dcterms:modified>
  <dc:subject>Verifiable Decentralized Federated Machine Learning and Inference for AI Agent Systems</dc:subject>
  <cp:keywords>VITA-FL, DFL, TEE, attested inference, transparency log</cp:keywords>
  <dc:language>en-US</dc:language>
</cp:coreProperties>
</file>