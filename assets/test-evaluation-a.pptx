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SELECTED VARIANT A — COUNTS STRICTLY BY TEST TYPE</a:t>
            </a:r>
          </a:p>
          <a:p/>
          <a:p>
            <a:r>
              <a:rPr lang="en-US"/>
              <a:t>731 unit/component + 77 local integration = 808 unique implemented definitions. This is a static inventory, not an execution result, pass count or coverage percentage. The assignment is based on the asserted boundary, not suite names. Component combines isolated function/module/contract tests; integration crosses a real interface.</a:t>
            </a:r>
          </a:p>
          <a:p/>
          <a:p>
            <a:r>
              <a:rPr lang="en-US"/>
              <a:t>CURRENT CODE VERSUS HISTORICAL EVIDENCE</a:t>
            </a:r>
          </a:p>
          <a:p>
            <a:r>
              <a:rPr lang="en-US"/>
              <a:t>Includes the current RA-TLS, legacy mTLS, ZK, infrastructure and deployment-helper suites. These counts do not describe the exact code version of the September 1, 2026 Phala run. That separate run used six worker CVMs, 24 successful federated rounds and final inference with the round-25 model. It did not exercise aggregator failover. Its exported evidence does not preserve original evidence.cbor/transparent-statement byte files.</a:t>
            </a:r>
          </a:p>
          <a:p/>
          <a:p>
            <a:r>
              <a:rPr lang="en-US"/>
              <a:t>SYSTEM AND PRODUCTION</a:t>
            </a:r>
          </a:p>
          <a:p>
            <a:r>
              <a:rPr lang="en-US"/>
              <a:t>Zero system tests means no implemented automated full training-to-inference test suite in the audited CI scope. The manual Phala run is system-level evidence. Two shell-based service smoke checks query Anvil eth_chainId and IPFS version; counted separately from the 808 framework definitions and not considered complete system tests. Production is an environment, not a fourth formal test level. No dedicated production-test suite was identified; deployment readiness and existing operational metrics are not counted as one.</a:t>
            </a:r>
          </a:p>
          <a:p/>
          <a:p>
            <a:r>
              <a:rPr lang="en-US"/>
              <a:t>CI/CD</a:t>
            </a:r>
          </a:p>
          <a:p>
            <a:r>
              <a:rPr lang="en-US"/>
              <a:t>The configured test suites run on GitHub-hosted Ubuntu runners for pushes/PRs on main and phala_app_key, or manual dispatch. Python uses pytest/unittest, Node uses node --test, contracts use Foundry's local EVM; integration dependencies run locally on the runner. Tool/environment-dependent cases can skip. The general docker-builds job has no dependency on all test jobs; do not infer a global test gate before publication. Dedicated component publish workflows run selected checks before pushing, and optional Phala deployment depends on publication. No complete deployed lifecycle is automatically tested by these workflows.</a:t>
            </a:r>
          </a:p>
          <a:p/>
          <a:p>
            <a:r>
              <a:rPr lang="en-US"/>
              <a:t>AUDIT AND IMPLEMENTATION MAP</a:t>
            </a:r>
          </a:p>
          <a:p>
            <a:r>
              <a:rPr lang="en-US"/>
              <a:t># Static test inventory</a:t>
            </a:r>
          </a:p>
          <a:p/>
          <a:p>
            <a:r>
              <a:rPr lang="en-US"/>
              <a:t>**808 implemented test definitions: 731 unit/component, 77 local integration, 0 complete automated system E2E.**</a:t>
            </a:r>
          </a:p>
          <a:p/>
          <a:p>
            <a:r>
              <a:rPr lang="en-US"/>
              <a:t>This is a source inventory, not an execution report. No pass rate, successful CI run or new test result is claimed. Production is an execution context, not a fourth test level.</a:t>
            </a:r>
          </a:p>
          <a:p/>
          <a:p>
            <a:r>
              <a:rPr lang="en-US"/>
              <a:t>| Test type | Definitions | Boundary |</a:t>
            </a:r>
          </a:p>
          <a:p>
            <a:r>
              <a:rPr lang="en-US"/>
              <a:t>|---|---:|---|</a:t>
            </a:r>
          </a:p>
          <a:p>
            <a:r>
              <a:rPr lang="en-US"/>
              <a:t>| Unit/component | 731 | Isolated functions, modules, contracts, crypto, guards, source and configuration checks; dependencies controlled |</a:t>
            </a:r>
          </a:p>
          <a:p>
            <a:r>
              <a:rPr lang="en-US"/>
              <a:t>| Local integration | 77 | Actual API/socket/process boundaries or asserted collaboration of production components; selected dependencies can remain mocked |</a:t>
            </a:r>
          </a:p>
          <a:p>
            <a:r>
              <a:rPr lang="en-US"/>
              <a:t>| Complete system E2E | 0 | No automated full application lifecycle established in the selected CI test definitions |</a:t>
            </a:r>
          </a:p>
          <a:p/>
          <a:p>
            <a:r>
              <a:rPr lang="en-US"/>
              <a:t>Languages: **569 Python, 138 Solidity, 101 Node**; **96 test files**.</a:t>
            </a:r>
          </a:p>
          <a:p/>
          <a:p>
            <a:r>
              <a:rPr lang="en-US"/>
              <a:t>## Counting and classification rules</a:t>
            </a:r>
          </a:p>
          <a:p/>
          <a:p>
            <a:r>
              <a:rPr lang="en-US"/>
              <a:t>- U: isolated production function/module/contract/library, fixtures/mocks, pure/source/configuration checks.</a:t>
            </a:r>
          </a:p>
          <a:p>
            <a:r>
              <a:rPr lang="en-US"/>
              <a:t>- I: asserted behavior crosses a real production API/service/process boundary or actively composes production components; external dependencies may remain mocked.</a:t>
            </a:r>
          </a:p>
          <a:p>
            <a:r>
              <a:rPr lang="en-US"/>
              <a:t>- Classification is assertion-specific: fixture construction, filenames and end_to_end in a name do not determine the category.</a:t>
            </a:r>
          </a:p>
          <a:p>
            <a:r>
              <a:rPr lang="en-US"/>
              <a:t>- The exact reviewed integration whitelist is encoded in inventory_tests.py; all other inventoried definitions are U.</a:t>
            </a:r>
          </a:p>
          <a:p>
            <a:r>
              <a:rPr lang="en-US"/>
              <a:t>- System E2E means an automated complete application lifecycle; none is defined in this inventory.</a:t>
            </a:r>
          </a:p>
          <a:p>
            <a:r>
              <a:rPr lang="en-US"/>
              <a:t>- Production is an execution context, not an additional test level; no automated production execution is established by this static inventory.</a:t>
            </a:r>
          </a:p>
          <a:p>
            <a:r>
              <a:rPr lang="en-US"/>
              <a:t>- Count declarations, not executions. Parametrization, subtests, loops and duplicate runs in publisher workflows are not expanded.</a:t>
            </a:r>
          </a:p>
          <a:p>
            <a:r>
              <a:rPr lang="en-US"/>
              <a:t>- Conditional skips remain included: local model fixtures, Terraform, nginx, Smallstep binaries and Docker availability can affect executed counts.</a:t>
            </a:r>
          </a:p>
          <a:p>
            <a:r>
              <a:rPr lang="en-US"/>
              <a:t>- Python uses static AST traversal; Solidity and Node use static declaration matching for this checkout's source style. Tests are never imported or collected.</a:t>
            </a:r>
          </a:p>
          <a:p>
            <a:r>
              <a:rPr lang="en-US"/>
              <a:t>- A model-inference function or Hybrid-R test named end_to_end remains a component test. Direct control-API calls with mocked dependencies remain component tests; ASGI/HTTP requests exercise integration boundaries.</a:t>
            </a:r>
          </a:p>
          <a:p>
            <a:r>
              <a:rPr lang="en-US"/>
              <a:t>- Only the positive AIR-v2 service-emitter/agent-verifier compatibility test is classified as integration in test_ratls.py; isolated rejection guards stay component tests despite a composed fixture.</a:t>
            </a:r>
          </a:p>
          <a:p>
            <a:r>
              <a:rPr lang="en-US"/>
              <a:t>- Solidity integration requires the assertion to traverse actual production contracts. Cross-contract setup alone and a mocked TDX verifier do not establish that scope.</a:t>
            </a:r>
          </a:p>
          <a:p>
            <a:r>
              <a:rPr lang="en-US"/>
              <a:t>- This checkout includes newer RA-TLS definitions. Their inventory must not be attributed to the historical mTLS/AIR-v1 cloud run.</a:t>
            </a:r>
          </a:p>
          <a:p/>
          <a:p>
            <a:r>
              <a:rPr lang="en-US"/>
              <a:t>## CI execution configuration</a:t>
            </a:r>
          </a:p>
          <a:p/>
          <a:p>
            <a:r>
              <a:rPr lang="en-US"/>
              <a:t>Primary source: [ci.yml](../../../vita-fl/.github/workflows/ci.yml). CI is configured for push/PR on main and phala_app_key, and manual dispatch. The table describes configured execution, not an observed outcome.</a:t>
            </a:r>
          </a:p>
          <a:p/>
          <a:p>
            <a:r>
              <a:rPr lang="en-US"/>
              <a:t>| CI job | Unit/component | Local integration | Command scope |</a:t>
            </a:r>
          </a:p>
          <a:p>
            <a:r>
              <a:rPr lang="en-US"/>
              <a:t>|---|---:|---:|---|</a:t>
            </a:r>
          </a:p>
          <a:p>
            <a:r>
              <a:rPr lang="en-US"/>
              <a:t>| python-quality | 461 | 43 | pytest agent/tests and tee_inference/tests; unittest discovery for DFL neural/container, ZK, control API, Phala and transparency-log tests |</a:t>
            </a:r>
          </a:p>
          <a:p>
            <a:r>
              <a:rPr lang="en-US"/>
              <a:t>| transport-pki | 50 | 10 | pytest transport_security/tests pki/tests; CI installs/checks nginx, step and step-ca |</a:t>
            </a:r>
          </a:p>
          <a:p>
            <a:r>
              <a:rPr lang="en-US"/>
              <a:t>| node-server | 89 | 0 | npm test → node --test in dfl/node_server |</a:t>
            </a:r>
          </a:p>
          <a:p>
            <a:r>
              <a:rPr lang="en-US"/>
              <a:t>| smart-contracts | 130 | 20 | forge test -vvv plus node --test test/*.test.mjs |</a:t>
            </a:r>
          </a:p>
          <a:p>
            <a:r>
              <a:rPr lang="en-US"/>
              <a:t>| docker-builds | 1 | 4 | unittest test_docker_build_contexts.py, only matrix.name == tee-inference |</a:t>
            </a:r>
          </a:p>
          <a:p/>
          <a:p>
            <a:r>
              <a:rPr lang="en-US"/>
              <a:t>Publisher workflows can rerun subsets; those invocations do not create additional definitions.</a:t>
            </a:r>
          </a:p>
          <a:p/>
          <a:p>
            <a:r>
              <a:rPr lang="en-US"/>
              <a:t>## Separate evidence, excluded from 808</a:t>
            </a:r>
          </a:p>
          <a:p/>
          <a:p>
            <a:r>
              <a:rPr lang="en-US"/>
              <a:t>- **2 configured service-readiness checks** in runtime-smoke-test: Anvil eth_chainId and IPFS /api/v0/version. They do not execute the full training/inference lifecycle.</a:t>
            </a:r>
          </a:p>
          <a:p>
            <a:r>
              <a:rPr lang="en-US"/>
              <a:t>- **1 existing manual Phala workflow record**: data/evaluation/authoritative-phala-6w-24r-20260901/README.md (six workers, 24 training rounds and final inference). No new cloud run, full recovery experiment or production qualification is claimed.</a:t>
            </a:r>
          </a:p>
          <a:p/>
          <a:p>
            <a:r>
              <a:rPr lang="en-US"/>
              <a:t>## Representative assertions</a:t>
            </a:r>
          </a:p>
          <a:p/>
          <a:p>
            <a:r>
              <a:rPr lang="en-US"/>
              <a:t>| Category | Test | Scope |</a:t>
            </a:r>
          </a:p>
          <a:p>
            <a:r>
              <a:rPr lang="en-US"/>
              <a:t>|---|---|---|</a:t>
            </a:r>
          </a:p>
          <a:p>
            <a:r>
              <a:rPr lang="en-US"/>
              <a:t>| unit_component | `dfl/neural_network/tests/test_dicom_provenance.py:49::test_modified_label_is_rejected` | Isolated production component, protocol/crypto/model/configuration assertion or guard; fixtures and mocked dependencies do not change the tested scope. |</a:t>
            </a:r>
          </a:p>
          <a:p>
            <a:r>
              <a:rPr lang="en-US"/>
              <a:t>| unit_component | `agent/tests/test_tee_inference_client.py:430::test_request_substitution_is_rejected` | Client, orchestration, policy or receipt component assertion with controlled dependencies; fixture crypto alone does not establish a live service boundary. |</a:t>
            </a:r>
          </a:p>
          <a:p>
            <a:r>
              <a:rPr lang="en-US"/>
              <a:t>| local_integration | `tee_inference/tests/test_authorization.py:145::test_publication_failure_cannot_return_success_without_receipt` | Real ASGI requests exercise production routing, authorization, job ownership and receipt handling; model and log dependencies are controlled. |</a:t>
            </a:r>
          </a:p>
          <a:p>
            <a:r>
              <a:rPr lang="en-US"/>
              <a:t>| local_integration | `smart_contracts/test/GMStorageAggregatorReward.t.sol:187::testAtomicFinalizationPublishesAdvancesAndRewardsExactlyOnce` | Assertion exercises real GMStorage-policy publication, threshold or ledger-binding transitions; registry/selection dependencies may be stubs. |</a:t>
            </a:r>
          </a:p>
          <a:p>
            <a:r>
              <a:rPr lang="en-US"/>
              <a:t>| local_integration | `pki/tests/test_step_ca_integration.py:22::test_real_ca_one_use_renewal_and_active_revocation` | Disposable real local step-ca/step processes exercise enrollment, renewal and active revocation; requires their binaries. |</a:t>
            </a:r>
          </a:p>
          <a:p/>
          <a:p>
            <a:r>
              <a:rPr lang="en-US"/>
              <a:t>## Reproduce and audit</a:t>
            </a:r>
          </a:p>
          <a:p/>
          <a:p>
            <a:r>
              <a:rPr lang="en-US"/>
              <a:t>From the workspace root:</a:t>
            </a:r>
          </a:p>
          <a:p/>
          <a:p>
            <a:r>
              <a:rPr lang="en-US"/>
              <a:t>```bash</a:t>
            </a:r>
          </a:p>
          <a:p>
            <a:r>
              <a:rPr lang="en-US"/>
              <a:t>presentation/.venv/bin/python presentation/concepts/test-evaluation/inventory_tests.py</a:t>
            </a:r>
          </a:p>
          <a:p>
            <a:r>
              <a:rPr lang="en-US"/>
              <a:t>```</a:t>
            </a:r>
          </a:p>
          <a:p/>
          <a:p>
            <a:r>
              <a:rPr lang="en-US"/>
              <a:t>The script asserts 808 = 569 + 138 + 101 and the reviewed 731/77 split, rejecting stale whitelist entries or duplicate identifiers. It writes test-inventory.json, test-inventory.csv and this overview. Each test row includes path, line, name, category, rationale, CI job, source SHA-256 and commit.</a:t>
            </a:r>
          </a:p>
          <a:p/>
          <a:p>
            <a:r>
              <a:rPr lang="en-US"/>
              <a:t>- Commit: `29b78acafcfe1362257e1cebb3f0f91a0026be80`</a:t>
            </a:r>
          </a:p>
          <a:p>
            <a:r>
              <a:rPr lang="en-US"/>
              <a:t>- Tracked working-tree changes present: `False`</a:t>
            </a:r>
          </a:p>
          <a:p>
            <a:r>
              <a:rPr lang="en-US"/>
              <a:t>- Combined source SHA-256: `e66bc970c69daa0148d2317e1b168c8dcfeeb137e17c42c8cd1b89844ea8a28c`</a:t>
            </a:r>
          </a:p>
          <a:p>
            <a:r>
              <a:rPr lang="en-US"/>
              <a:t>- Inventory script SHA-256: `a12579ac9d6a3387c8170a2f8b16f6004b972434e86e837c1067a4d10b18fa87`</a:t>
            </a:r>
          </a:p>
          <a:p>
            <a:r>
              <a:rPr lang="en-US"/>
              <a:t>- Generated UTC: `2026-09-24T14:09:44.920080+00:00`</a:t>
            </a:r>
          </a:p>
          <a:p/>
          <a:p>
            <a:r>
              <a:rPr lang="en-US"/>
              <a:t>The commit identifies the base revision; per-file content hashes identify the actual inspected working tree. The combined hash covers every inventoried test file, ci.yml and the Node package.json. It does not hash every production implementation dependency.</a:t>
            </a:r>
          </a:p>
          <a:p/>
          <a:p>
            <a:r>
              <a:rPr lang="en-US"/>
              <a:t>Machine-readable outputs contain the complete per-definition classification and source-hash manifest. Static classification is a documented operational convention for this evaluation, not a universal taxonomy.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Implemented tests by test level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EVALUATION · TEST COUNT, BOUNDARY AND EXECUTION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st evaluation: 808 implemented test definitions"/>
          <p:cNvSpPr txBox="1"/>
          <p:nvPr/>
        </p:nvSpPr>
        <p:spPr>
          <a:xfrm>
            <a:off x="621792" y="1380744"/>
            <a:ext cx="6583680" cy="365760"/>
          </a:xfrm>
          <a:prstGeom prst="rect">
            <a:avLst/>
          </a:prstGeom>
          <a:noFill/>
        </p:spPr>
        <p:txBody>
          <a:bodyPr wrap="square" lIns="0" rIns="0" tIns="0" bIns="0" anchor="ctr">
            <a:spAutoFit/>
          </a:bodyPr>
          <a:lstStyle/>
          <a:p>
            <a:pPr algn="l"/>
            <a:r>
              <a:rPr sz="2100" b="1" lang="en-US">
                <a:solidFill>
                  <a:srgbClr val="263440"/>
                </a:solidFill>
                <a:latin typeface="Arial"/>
              </a:rPr>
              <a:t>808 implemented test definitions</a:t>
            </a:r>
          </a:p>
        </p:txBody>
      </p:sp>
      <p:sp>
        <p:nvSpPr>
          <p:cNvPr id="14" name="Test evaluation: Audited CI scope · current code, all profiles"/>
          <p:cNvSpPr txBox="1"/>
          <p:nvPr/>
        </p:nvSpPr>
        <p:spPr>
          <a:xfrm>
            <a:off x="7251192" y="1408176"/>
            <a:ext cx="4315968" cy="310896"/>
          </a:xfrm>
          <a:prstGeom prst="rect">
            <a:avLst/>
          </a:prstGeom>
          <a:noFill/>
        </p:spPr>
        <p:txBody>
          <a:bodyPr wrap="square" lIns="0" rIns="0" tIns="0" bIns="0" anchor="ctr">
            <a:spAutoFit/>
          </a:bodyPr>
          <a:lstStyle/>
          <a:p>
            <a:pPr algn="l"/>
            <a:r>
              <a:rPr sz="1200" b="0" lang="en-US">
                <a:solidFill>
                  <a:srgbClr val="65737D"/>
                </a:solidFill>
                <a:latin typeface="Arial"/>
              </a:rPr>
              <a:t>Audited CI scope · current code, all profiles</a:t>
            </a:r>
          </a:p>
        </p:txBody>
      </p:sp>
      <p:sp>
        <p:nvSpPr>
          <p:cNvPr id="15" name="Test evaluation: TEST TYPE"/>
          <p:cNvSpPr txBox="1"/>
          <p:nvPr/>
        </p:nvSpPr>
        <p:spPr>
          <a:xfrm>
            <a:off x="758952" y="1874519"/>
            <a:ext cx="2075688" cy="246888"/>
          </a:xfrm>
          <a:prstGeom prst="rect">
            <a:avLst/>
          </a:prstGeom>
          <a:noFill/>
        </p:spPr>
        <p:txBody>
          <a:bodyPr wrap="square" lIns="0" rIns="0" tIns="0" bIns="0" anchor="ctr">
            <a:spAutoFit/>
          </a:bodyPr>
          <a:lstStyle/>
          <a:p>
            <a:pPr algn="l"/>
            <a:r>
              <a:rPr sz="1050" b="1" lang="en-US">
                <a:solidFill>
                  <a:srgbClr val="65737D"/>
                </a:solidFill>
                <a:latin typeface="Arial"/>
              </a:rPr>
              <a:t>TEST TYPE</a:t>
            </a:r>
          </a:p>
        </p:txBody>
      </p:sp>
      <p:sp>
        <p:nvSpPr>
          <p:cNvPr id="16" name="Test evaluation: COUNT"/>
          <p:cNvSpPr txBox="1"/>
          <p:nvPr/>
        </p:nvSpPr>
        <p:spPr>
          <a:xfrm>
            <a:off x="2880360" y="1874519"/>
            <a:ext cx="1115568" cy="246888"/>
          </a:xfrm>
          <a:prstGeom prst="rect">
            <a:avLst/>
          </a:prstGeom>
          <a:noFill/>
        </p:spPr>
        <p:txBody>
          <a:bodyPr wrap="square" lIns="0" rIns="0" tIns="0" bIns="0" anchor="ctr">
            <a:spAutoFit/>
          </a:bodyPr>
          <a:lstStyle/>
          <a:p>
            <a:pPr algn="l"/>
            <a:r>
              <a:rPr sz="1050" b="1" lang="en-US">
                <a:solidFill>
                  <a:srgbClr val="65737D"/>
                </a:solidFill>
                <a:latin typeface="Arial"/>
              </a:rPr>
              <a:t>COUNT</a:t>
            </a:r>
          </a:p>
        </p:txBody>
      </p:sp>
      <p:sp>
        <p:nvSpPr>
          <p:cNvPr id="17" name="Test evaluation: BOUNDARY / CHECKED SCOPE"/>
          <p:cNvSpPr txBox="1"/>
          <p:nvPr/>
        </p:nvSpPr>
        <p:spPr>
          <a:xfrm>
            <a:off x="4187952" y="1874519"/>
            <a:ext cx="3794760" cy="246888"/>
          </a:xfrm>
          <a:prstGeom prst="rect">
            <a:avLst/>
          </a:prstGeom>
          <a:noFill/>
        </p:spPr>
        <p:txBody>
          <a:bodyPr wrap="square" lIns="0" rIns="0" tIns="0" bIns="0" anchor="ctr">
            <a:spAutoFit/>
          </a:bodyPr>
          <a:lstStyle/>
          <a:p>
            <a:pPr algn="l"/>
            <a:r>
              <a:rPr sz="1050" b="1" lang="en-US">
                <a:solidFill>
                  <a:srgbClr val="65737D"/>
                </a:solidFill>
                <a:latin typeface="Arial"/>
              </a:rPr>
              <a:t>BOUNDARY / CHECKED SCOPE</a:t>
            </a:r>
          </a:p>
        </p:txBody>
      </p:sp>
      <p:sp>
        <p:nvSpPr>
          <p:cNvPr id="18" name="Test evaluation: CONFIGURED EXECUTION"/>
          <p:cNvSpPr txBox="1"/>
          <p:nvPr/>
        </p:nvSpPr>
        <p:spPr>
          <a:xfrm>
            <a:off x="8211312" y="1874519"/>
            <a:ext cx="3209544" cy="246888"/>
          </a:xfrm>
          <a:prstGeom prst="rect">
            <a:avLst/>
          </a:prstGeom>
          <a:noFill/>
        </p:spPr>
        <p:txBody>
          <a:bodyPr wrap="square" lIns="0" rIns="0" tIns="0" bIns="0" anchor="ctr">
            <a:spAutoFit/>
          </a:bodyPr>
          <a:lstStyle/>
          <a:p>
            <a:pPr algn="l"/>
            <a:r>
              <a:rPr sz="1050" b="1" lang="en-US">
                <a:solidFill>
                  <a:srgbClr val="65737D"/>
                </a:solidFill>
                <a:latin typeface="Arial"/>
              </a:rPr>
              <a:t>CONFIGURED EXECUTION</a:t>
            </a:r>
          </a:p>
        </p:txBody>
      </p:sp>
      <p:sp>
        <p:nvSpPr>
          <p:cNvPr id="19" name="Rectangle 18"/>
          <p:cNvSpPr/>
          <p:nvPr/>
        </p:nvSpPr>
        <p:spPr>
          <a:xfrm>
            <a:off x="621792" y="2194560"/>
            <a:ext cx="10954512" cy="10972"/>
          </a:xfrm>
          <a:prstGeom prst="rect">
            <a:avLst/>
          </a:prstGeom>
          <a:solidFill>
            <a:srgbClr val="DCE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 y="2258568"/>
            <a:ext cx="41148" cy="507492"/>
          </a:xfrm>
          <a:prstGeom prst="rect">
            <a:avLst/>
          </a:prstGeom>
          <a:solidFill>
            <a:srgbClr val="207548"/>
          </a:solidFill>
          <a:ln>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st evaluation: Unit / component"/>
          <p:cNvSpPr txBox="1"/>
          <p:nvPr/>
        </p:nvSpPr>
        <p:spPr>
          <a:xfrm>
            <a:off x="758952" y="2331720"/>
            <a:ext cx="2075688" cy="384048"/>
          </a:xfrm>
          <a:prstGeom prst="rect">
            <a:avLst/>
          </a:prstGeom>
          <a:noFill/>
        </p:spPr>
        <p:txBody>
          <a:bodyPr wrap="square" lIns="0" rIns="0" tIns="0" bIns="0" anchor="ctr">
            <a:spAutoFit/>
          </a:bodyPr>
          <a:lstStyle/>
          <a:p>
            <a:pPr algn="l"/>
            <a:r>
              <a:rPr sz="1400" b="1" lang="en-US">
                <a:solidFill>
                  <a:srgbClr val="207548"/>
                </a:solidFill>
                <a:latin typeface="Arial"/>
              </a:rPr>
              <a:t>Unit / component</a:t>
            </a:r>
          </a:p>
        </p:txBody>
      </p:sp>
      <p:sp>
        <p:nvSpPr>
          <p:cNvPr id="22" name="Test evaluation: 731"/>
          <p:cNvSpPr txBox="1"/>
          <p:nvPr/>
        </p:nvSpPr>
        <p:spPr>
          <a:xfrm>
            <a:off x="2880360" y="2258568"/>
            <a:ext cx="1078992" cy="365760"/>
          </a:xfrm>
          <a:prstGeom prst="rect">
            <a:avLst/>
          </a:prstGeom>
          <a:noFill/>
        </p:spPr>
        <p:txBody>
          <a:bodyPr wrap="square" lIns="0" rIns="0" tIns="0" bIns="0" anchor="ctr">
            <a:spAutoFit/>
          </a:bodyPr>
          <a:lstStyle/>
          <a:p>
            <a:pPr algn="l"/>
            <a:r>
              <a:rPr sz="2300" b="1" lang="en-US">
                <a:solidFill>
                  <a:srgbClr val="207548"/>
                </a:solidFill>
                <a:latin typeface="Arial"/>
              </a:rPr>
              <a:t>731</a:t>
            </a:r>
          </a:p>
        </p:txBody>
      </p:sp>
      <p:sp>
        <p:nvSpPr>
          <p:cNvPr id="23" name="Test evaluation: definitions"/>
          <p:cNvSpPr txBox="1"/>
          <p:nvPr/>
        </p:nvSpPr>
        <p:spPr>
          <a:xfrm>
            <a:off x="2880360" y="2619756"/>
            <a:ext cx="1133856" cy="192024"/>
          </a:xfrm>
          <a:prstGeom prst="rect">
            <a:avLst/>
          </a:prstGeom>
          <a:noFill/>
        </p:spPr>
        <p:txBody>
          <a:bodyPr wrap="square" lIns="0" rIns="0" tIns="0" bIns="0" anchor="ctr">
            <a:spAutoFit/>
          </a:bodyPr>
          <a:lstStyle/>
          <a:p>
            <a:pPr algn="l"/>
            <a:r>
              <a:rPr sz="1050" b="0" lang="en-US">
                <a:solidFill>
                  <a:srgbClr val="65737D"/>
                </a:solidFill>
                <a:latin typeface="Arial"/>
              </a:rPr>
              <a:t>definitions</a:t>
            </a:r>
          </a:p>
        </p:txBody>
      </p:sp>
      <p:sp>
        <p:nvSpPr>
          <p:cNvPr id="24" name="Test evaluation: Functions and contract logic"/>
          <p:cNvSpPr txBox="1"/>
          <p:nvPr/>
        </p:nvSpPr>
        <p:spPr>
          <a:xfrm>
            <a:off x="4187952" y="2281428"/>
            <a:ext cx="3813048" cy="246888"/>
          </a:xfrm>
          <a:prstGeom prst="rect">
            <a:avLst/>
          </a:prstGeom>
          <a:noFill/>
        </p:spPr>
        <p:txBody>
          <a:bodyPr wrap="square" lIns="0" rIns="0" tIns="0" bIns="0" anchor="ctr">
            <a:spAutoFit/>
          </a:bodyPr>
          <a:lstStyle/>
          <a:p>
            <a:pPr algn="l"/>
            <a:r>
              <a:rPr sz="1400" b="1" lang="en-US">
                <a:solidFill>
                  <a:srgbClr val="263440"/>
                </a:solidFill>
                <a:latin typeface="Arial"/>
              </a:rPr>
              <a:t>Functions and contract logic</a:t>
            </a:r>
          </a:p>
        </p:txBody>
      </p:sp>
      <p:sp>
        <p:nvSpPr>
          <p:cNvPr id="25" name="Test evaluation: Validation · signatures · state guards"/>
          <p:cNvSpPr txBox="1"/>
          <p:nvPr/>
        </p:nvSpPr>
        <p:spPr>
          <a:xfrm>
            <a:off x="4187952" y="2560320"/>
            <a:ext cx="3813048" cy="219456"/>
          </a:xfrm>
          <a:prstGeom prst="rect">
            <a:avLst/>
          </a:prstGeom>
          <a:noFill/>
        </p:spPr>
        <p:txBody>
          <a:bodyPr wrap="square" lIns="0" rIns="0" tIns="0" bIns="0" anchor="ctr">
            <a:spAutoFit/>
          </a:bodyPr>
          <a:lstStyle/>
          <a:p>
            <a:pPr algn="l"/>
            <a:r>
              <a:rPr sz="1150" b="0" lang="en-US">
                <a:solidFill>
                  <a:srgbClr val="65737D"/>
                </a:solidFill>
                <a:latin typeface="Arial"/>
              </a:rPr>
              <a:t>Validation · signatures · state guards</a:t>
            </a:r>
          </a:p>
        </p:txBody>
      </p:sp>
      <p:sp>
        <p:nvSpPr>
          <p:cNvPr id="26" name="Test evaluation: CI · GitHub Actions"/>
          <p:cNvSpPr txBox="1"/>
          <p:nvPr/>
        </p:nvSpPr>
        <p:spPr>
          <a:xfrm>
            <a:off x="8211312" y="2281428"/>
            <a:ext cx="3218688" cy="246888"/>
          </a:xfrm>
          <a:prstGeom prst="rect">
            <a:avLst/>
          </a:prstGeom>
          <a:noFill/>
        </p:spPr>
        <p:txBody>
          <a:bodyPr wrap="square" lIns="0" rIns="0" tIns="0" bIns="0" anchor="ctr">
            <a:spAutoFit/>
          </a:bodyPr>
          <a:lstStyle/>
          <a:p>
            <a:pPr algn="l"/>
            <a:r>
              <a:rPr sz="1400" b="1" lang="en-US">
                <a:solidFill>
                  <a:srgbClr val="207548"/>
                </a:solidFill>
                <a:latin typeface="Arial"/>
              </a:rPr>
              <a:t>CI · GitHub Actions</a:t>
            </a:r>
          </a:p>
        </p:txBody>
      </p:sp>
      <p:sp>
        <p:nvSpPr>
          <p:cNvPr id="27" name="Test evaluation: Python / Node.js / Foundry"/>
          <p:cNvSpPr txBox="1"/>
          <p:nvPr/>
        </p:nvSpPr>
        <p:spPr>
          <a:xfrm>
            <a:off x="8211312" y="2560320"/>
            <a:ext cx="3218688" cy="219456"/>
          </a:xfrm>
          <a:prstGeom prst="rect">
            <a:avLst/>
          </a:prstGeom>
          <a:noFill/>
        </p:spPr>
        <p:txBody>
          <a:bodyPr wrap="square" lIns="0" rIns="0" tIns="0" bIns="0" anchor="ctr">
            <a:spAutoFit/>
          </a:bodyPr>
          <a:lstStyle/>
          <a:p>
            <a:pPr algn="l"/>
            <a:r>
              <a:rPr sz="1050" b="0" lang="en-US">
                <a:solidFill>
                  <a:srgbClr val="65737D"/>
                </a:solidFill>
                <a:latin typeface="Arial"/>
              </a:rPr>
              <a:t>Python / Node.js / Foundry</a:t>
            </a:r>
          </a:p>
        </p:txBody>
      </p:sp>
      <p:sp>
        <p:nvSpPr>
          <p:cNvPr id="28" name="Rectangle 27"/>
          <p:cNvSpPr/>
          <p:nvPr/>
        </p:nvSpPr>
        <p:spPr>
          <a:xfrm>
            <a:off x="758952" y="2816352"/>
            <a:ext cx="10789920" cy="10972"/>
          </a:xfrm>
          <a:prstGeom prst="rect">
            <a:avLst/>
          </a:prstGeom>
          <a:solidFill>
            <a:srgbClr val="DCE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 y="2843784"/>
            <a:ext cx="41148" cy="507492"/>
          </a:xfrm>
          <a:prstGeom prst="rect">
            <a:avLst/>
          </a:prstGeom>
          <a:solidFill>
            <a:srgbClr val="1764A1"/>
          </a:solidFill>
          <a:ln>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st evaluation: Integration"/>
          <p:cNvSpPr txBox="1"/>
          <p:nvPr/>
        </p:nvSpPr>
        <p:spPr>
          <a:xfrm>
            <a:off x="758952" y="2916936"/>
            <a:ext cx="2075688" cy="384048"/>
          </a:xfrm>
          <a:prstGeom prst="rect">
            <a:avLst/>
          </a:prstGeom>
          <a:noFill/>
        </p:spPr>
        <p:txBody>
          <a:bodyPr wrap="square" lIns="0" rIns="0" tIns="0" bIns="0" anchor="ctr">
            <a:spAutoFit/>
          </a:bodyPr>
          <a:lstStyle/>
          <a:p>
            <a:pPr algn="l"/>
            <a:r>
              <a:rPr sz="1400" b="1" lang="en-US">
                <a:solidFill>
                  <a:srgbClr val="1764A1"/>
                </a:solidFill>
                <a:latin typeface="Arial"/>
              </a:rPr>
              <a:t>Integration</a:t>
            </a:r>
          </a:p>
        </p:txBody>
      </p:sp>
      <p:sp>
        <p:nvSpPr>
          <p:cNvPr id="31" name="Test evaluation: 77"/>
          <p:cNvSpPr txBox="1"/>
          <p:nvPr/>
        </p:nvSpPr>
        <p:spPr>
          <a:xfrm>
            <a:off x="2880360" y="2843784"/>
            <a:ext cx="1078992" cy="365760"/>
          </a:xfrm>
          <a:prstGeom prst="rect">
            <a:avLst/>
          </a:prstGeom>
          <a:noFill/>
        </p:spPr>
        <p:txBody>
          <a:bodyPr wrap="square" lIns="0" rIns="0" tIns="0" bIns="0" anchor="ctr">
            <a:spAutoFit/>
          </a:bodyPr>
          <a:lstStyle/>
          <a:p>
            <a:pPr algn="l"/>
            <a:r>
              <a:rPr sz="2300" b="1" lang="en-US">
                <a:solidFill>
                  <a:srgbClr val="1764A1"/>
                </a:solidFill>
                <a:latin typeface="Arial"/>
              </a:rPr>
              <a:t>77</a:t>
            </a:r>
          </a:p>
        </p:txBody>
      </p:sp>
      <p:sp>
        <p:nvSpPr>
          <p:cNvPr id="32" name="Test evaluation: definitions"/>
          <p:cNvSpPr txBox="1"/>
          <p:nvPr/>
        </p:nvSpPr>
        <p:spPr>
          <a:xfrm>
            <a:off x="2880360" y="3204972"/>
            <a:ext cx="1133856" cy="192024"/>
          </a:xfrm>
          <a:prstGeom prst="rect">
            <a:avLst/>
          </a:prstGeom>
          <a:noFill/>
        </p:spPr>
        <p:txBody>
          <a:bodyPr wrap="square" lIns="0" rIns="0" tIns="0" bIns="0" anchor="ctr">
            <a:spAutoFit/>
          </a:bodyPr>
          <a:lstStyle/>
          <a:p>
            <a:pPr algn="l"/>
            <a:r>
              <a:rPr sz="1050" b="0" lang="en-US">
                <a:solidFill>
                  <a:srgbClr val="65737D"/>
                </a:solidFill>
                <a:latin typeface="Arial"/>
              </a:rPr>
              <a:t>definitions</a:t>
            </a:r>
          </a:p>
        </p:txBody>
      </p:sp>
      <p:sp>
        <p:nvSpPr>
          <p:cNvPr id="33" name="Test evaluation: Real local interfaces"/>
          <p:cNvSpPr txBox="1"/>
          <p:nvPr/>
        </p:nvSpPr>
        <p:spPr>
          <a:xfrm>
            <a:off x="4187952" y="2866644"/>
            <a:ext cx="3813048" cy="246888"/>
          </a:xfrm>
          <a:prstGeom prst="rect">
            <a:avLst/>
          </a:prstGeom>
          <a:noFill/>
        </p:spPr>
        <p:txBody>
          <a:bodyPr wrap="square" lIns="0" rIns="0" tIns="0" bIns="0" anchor="ctr">
            <a:spAutoFit/>
          </a:bodyPr>
          <a:lstStyle/>
          <a:p>
            <a:pPr algn="l"/>
            <a:r>
              <a:rPr sz="1400" b="1" lang="en-US">
                <a:solidFill>
                  <a:srgbClr val="263440"/>
                </a:solidFill>
                <a:latin typeface="Arial"/>
              </a:rPr>
              <a:t>Real local interfaces</a:t>
            </a:r>
          </a:p>
        </p:txBody>
      </p:sp>
      <p:sp>
        <p:nvSpPr>
          <p:cNvPr id="34" name="Test evaluation: HTTP/TLS · contracts · external tools"/>
          <p:cNvSpPr txBox="1"/>
          <p:nvPr/>
        </p:nvSpPr>
        <p:spPr>
          <a:xfrm>
            <a:off x="4187952" y="3145536"/>
            <a:ext cx="3813048" cy="219456"/>
          </a:xfrm>
          <a:prstGeom prst="rect">
            <a:avLst/>
          </a:prstGeom>
          <a:noFill/>
        </p:spPr>
        <p:txBody>
          <a:bodyPr wrap="square" lIns="0" rIns="0" tIns="0" bIns="0" anchor="ctr">
            <a:spAutoFit/>
          </a:bodyPr>
          <a:lstStyle/>
          <a:p>
            <a:pPr algn="l"/>
            <a:r>
              <a:rPr sz="1150" b="0" lang="en-US">
                <a:solidFill>
                  <a:srgbClr val="65737D"/>
                </a:solidFill>
                <a:latin typeface="Arial"/>
              </a:rPr>
              <a:t>HTTP/TLS · contracts · external tools</a:t>
            </a:r>
          </a:p>
        </p:txBody>
      </p:sp>
      <p:sp>
        <p:nvSpPr>
          <p:cNvPr id="35" name="Test evaluation: CI · GitHub Actions"/>
          <p:cNvSpPr txBox="1"/>
          <p:nvPr/>
        </p:nvSpPr>
        <p:spPr>
          <a:xfrm>
            <a:off x="8211312" y="2866644"/>
            <a:ext cx="3218688" cy="246888"/>
          </a:xfrm>
          <a:prstGeom prst="rect">
            <a:avLst/>
          </a:prstGeom>
          <a:noFill/>
        </p:spPr>
        <p:txBody>
          <a:bodyPr wrap="square" lIns="0" rIns="0" tIns="0" bIns="0" anchor="ctr">
            <a:spAutoFit/>
          </a:bodyPr>
          <a:lstStyle/>
          <a:p>
            <a:pPr algn="l"/>
            <a:r>
              <a:rPr sz="1400" b="1" lang="en-US">
                <a:solidFill>
                  <a:srgbClr val="1764A1"/>
                </a:solidFill>
                <a:latin typeface="Arial"/>
              </a:rPr>
              <a:t>CI · GitHub Actions</a:t>
            </a:r>
          </a:p>
        </p:txBody>
      </p:sp>
      <p:sp>
        <p:nvSpPr>
          <p:cNvPr id="36" name="Test evaluation: Local services, binaries and EVM"/>
          <p:cNvSpPr txBox="1"/>
          <p:nvPr/>
        </p:nvSpPr>
        <p:spPr>
          <a:xfrm>
            <a:off x="8211312" y="3145536"/>
            <a:ext cx="3218688" cy="219456"/>
          </a:xfrm>
          <a:prstGeom prst="rect">
            <a:avLst/>
          </a:prstGeom>
          <a:noFill/>
        </p:spPr>
        <p:txBody>
          <a:bodyPr wrap="square" lIns="0" rIns="0" tIns="0" bIns="0" anchor="ctr">
            <a:spAutoFit/>
          </a:bodyPr>
          <a:lstStyle/>
          <a:p>
            <a:pPr algn="l"/>
            <a:r>
              <a:rPr sz="1050" b="0" lang="en-US">
                <a:solidFill>
                  <a:srgbClr val="65737D"/>
                </a:solidFill>
                <a:latin typeface="Arial"/>
              </a:rPr>
              <a:t>Local services, binaries and EVM</a:t>
            </a:r>
          </a:p>
        </p:txBody>
      </p:sp>
      <p:sp>
        <p:nvSpPr>
          <p:cNvPr id="37" name="Rectangle 36"/>
          <p:cNvSpPr/>
          <p:nvPr/>
        </p:nvSpPr>
        <p:spPr>
          <a:xfrm>
            <a:off x="758952" y="3401568"/>
            <a:ext cx="10789920" cy="10972"/>
          </a:xfrm>
          <a:prstGeom prst="rect">
            <a:avLst/>
          </a:prstGeom>
          <a:solidFill>
            <a:srgbClr val="DCE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1792" y="3429000"/>
            <a:ext cx="41148" cy="507492"/>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st evaluation: System / end-to-end"/>
          <p:cNvSpPr txBox="1"/>
          <p:nvPr/>
        </p:nvSpPr>
        <p:spPr>
          <a:xfrm>
            <a:off x="758952" y="3502152"/>
            <a:ext cx="2075688" cy="384048"/>
          </a:xfrm>
          <a:prstGeom prst="rect">
            <a:avLst/>
          </a:prstGeom>
          <a:noFill/>
        </p:spPr>
        <p:txBody>
          <a:bodyPr wrap="square" lIns="0" rIns="0" tIns="0" bIns="0" anchor="ctr">
            <a:spAutoFit/>
          </a:bodyPr>
          <a:lstStyle/>
          <a:p>
            <a:pPr algn="l"/>
            <a:r>
              <a:rPr sz="1400" b="1" lang="en-US">
                <a:solidFill>
                  <a:srgbClr val="7446A6"/>
                </a:solidFill>
                <a:latin typeface="Arial"/>
              </a:rPr>
              <a:t>System / end-to-end</a:t>
            </a:r>
          </a:p>
        </p:txBody>
      </p:sp>
      <p:sp>
        <p:nvSpPr>
          <p:cNvPr id="40" name="Test evaluation: 0"/>
          <p:cNvSpPr txBox="1"/>
          <p:nvPr/>
        </p:nvSpPr>
        <p:spPr>
          <a:xfrm>
            <a:off x="2880360" y="3429000"/>
            <a:ext cx="1078992" cy="365760"/>
          </a:xfrm>
          <a:prstGeom prst="rect">
            <a:avLst/>
          </a:prstGeom>
          <a:noFill/>
        </p:spPr>
        <p:txBody>
          <a:bodyPr wrap="square" lIns="0" rIns="0" tIns="0" bIns="0" anchor="ctr">
            <a:spAutoFit/>
          </a:bodyPr>
          <a:lstStyle/>
          <a:p>
            <a:pPr algn="l"/>
            <a:r>
              <a:rPr sz="2300" b="1" lang="en-US">
                <a:solidFill>
                  <a:srgbClr val="7446A6"/>
                </a:solidFill>
                <a:latin typeface="Arial"/>
              </a:rPr>
              <a:t>0</a:t>
            </a:r>
          </a:p>
        </p:txBody>
      </p:sp>
      <p:sp>
        <p:nvSpPr>
          <p:cNvPr id="41" name="Test evaluation: automated"/>
          <p:cNvSpPr txBox="1"/>
          <p:nvPr/>
        </p:nvSpPr>
        <p:spPr>
          <a:xfrm>
            <a:off x="2880360" y="3790187"/>
            <a:ext cx="1133856" cy="192024"/>
          </a:xfrm>
          <a:prstGeom prst="rect">
            <a:avLst/>
          </a:prstGeom>
          <a:noFill/>
        </p:spPr>
        <p:txBody>
          <a:bodyPr wrap="square" lIns="0" rIns="0" tIns="0" bIns="0" anchor="ctr">
            <a:spAutoFit/>
          </a:bodyPr>
          <a:lstStyle/>
          <a:p>
            <a:pPr algn="l"/>
            <a:r>
              <a:rPr sz="1050" b="0" lang="en-US">
                <a:solidFill>
                  <a:srgbClr val="65737D"/>
                </a:solidFill>
                <a:latin typeface="Arial"/>
              </a:rPr>
              <a:t>automated</a:t>
            </a:r>
          </a:p>
        </p:txBody>
      </p:sp>
      <p:sp>
        <p:nvSpPr>
          <p:cNvPr id="42" name="Test evaluation: Complete deployed workflow"/>
          <p:cNvSpPr txBox="1"/>
          <p:nvPr/>
        </p:nvSpPr>
        <p:spPr>
          <a:xfrm>
            <a:off x="4187952" y="3451860"/>
            <a:ext cx="3813048" cy="246888"/>
          </a:xfrm>
          <a:prstGeom prst="rect">
            <a:avLst/>
          </a:prstGeom>
          <a:noFill/>
        </p:spPr>
        <p:txBody>
          <a:bodyPr wrap="square" lIns="0" rIns="0" tIns="0" bIns="0" anchor="ctr">
            <a:spAutoFit/>
          </a:bodyPr>
          <a:lstStyle/>
          <a:p>
            <a:pPr algn="l"/>
            <a:r>
              <a:rPr sz="1400" b="1" lang="en-US">
                <a:solidFill>
                  <a:srgbClr val="263440"/>
                </a:solidFill>
                <a:latin typeface="Arial"/>
              </a:rPr>
              <a:t>Complete deployed workflow</a:t>
            </a:r>
          </a:p>
        </p:txBody>
      </p:sp>
      <p:sp>
        <p:nvSpPr>
          <p:cNvPr id="43" name="Test evaluation: Training → publication → inference"/>
          <p:cNvSpPr txBox="1"/>
          <p:nvPr/>
        </p:nvSpPr>
        <p:spPr>
          <a:xfrm>
            <a:off x="4187952" y="3730752"/>
            <a:ext cx="3813048" cy="219456"/>
          </a:xfrm>
          <a:prstGeom prst="rect">
            <a:avLst/>
          </a:prstGeom>
          <a:noFill/>
        </p:spPr>
        <p:txBody>
          <a:bodyPr wrap="square" lIns="0" rIns="0" tIns="0" bIns="0" anchor="ctr">
            <a:spAutoFit/>
          </a:bodyPr>
          <a:lstStyle/>
          <a:p>
            <a:pPr algn="l"/>
            <a:r>
              <a:rPr sz="1150" b="0" lang="en-US">
                <a:solidFill>
                  <a:srgbClr val="65737D"/>
                </a:solidFill>
                <a:latin typeface="Arial"/>
              </a:rPr>
              <a:t>Training → publication → inference</a:t>
            </a:r>
          </a:p>
        </p:txBody>
      </p:sp>
      <p:sp>
        <p:nvSpPr>
          <p:cNvPr id="44" name="Test evaluation: 1 separate Phala run"/>
          <p:cNvSpPr txBox="1"/>
          <p:nvPr/>
        </p:nvSpPr>
        <p:spPr>
          <a:xfrm>
            <a:off x="8211312" y="3451860"/>
            <a:ext cx="3218688" cy="246888"/>
          </a:xfrm>
          <a:prstGeom prst="rect">
            <a:avLst/>
          </a:prstGeom>
          <a:noFill/>
        </p:spPr>
        <p:txBody>
          <a:bodyPr wrap="square" lIns="0" rIns="0" tIns="0" bIns="0" anchor="ctr">
            <a:spAutoFit/>
          </a:bodyPr>
          <a:lstStyle/>
          <a:p>
            <a:pPr algn="l"/>
            <a:r>
              <a:rPr sz="1400" b="1" lang="en-US">
                <a:solidFill>
                  <a:srgbClr val="7446A6"/>
                </a:solidFill>
                <a:latin typeface="Arial"/>
              </a:rPr>
              <a:t>1 separate Phala run</a:t>
            </a:r>
          </a:p>
        </p:txBody>
      </p:sp>
      <p:sp>
        <p:nvSpPr>
          <p:cNvPr id="45" name="Test evaluation: 6 workers · 24 rounds + final inference"/>
          <p:cNvSpPr txBox="1"/>
          <p:nvPr/>
        </p:nvSpPr>
        <p:spPr>
          <a:xfrm>
            <a:off x="8211312" y="3730752"/>
            <a:ext cx="3218688" cy="219456"/>
          </a:xfrm>
          <a:prstGeom prst="rect">
            <a:avLst/>
          </a:prstGeom>
          <a:noFill/>
        </p:spPr>
        <p:txBody>
          <a:bodyPr wrap="square" lIns="0" rIns="0" tIns="0" bIns="0" anchor="ctr">
            <a:spAutoFit/>
          </a:bodyPr>
          <a:lstStyle/>
          <a:p>
            <a:pPr algn="l"/>
            <a:r>
              <a:rPr sz="1050" b="0" lang="en-US">
                <a:solidFill>
                  <a:srgbClr val="65737D"/>
                </a:solidFill>
                <a:latin typeface="Arial"/>
              </a:rPr>
              <a:t>6 workers · 24 rounds + final inference</a:t>
            </a:r>
          </a:p>
        </p:txBody>
      </p:sp>
      <p:sp>
        <p:nvSpPr>
          <p:cNvPr id="46" name="Rectangle 45"/>
          <p:cNvSpPr/>
          <p:nvPr/>
        </p:nvSpPr>
        <p:spPr>
          <a:xfrm>
            <a:off x="758952" y="3986784"/>
            <a:ext cx="10789920" cy="10972"/>
          </a:xfrm>
          <a:prstGeom prst="rect">
            <a:avLst/>
          </a:prstGeom>
          <a:solidFill>
            <a:srgbClr val="DCE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1792" y="4014216"/>
            <a:ext cx="41148" cy="507492"/>
          </a:xfrm>
          <a:prstGeom prst="rect">
            <a:avLst/>
          </a:prstGeom>
          <a:solidFill>
            <a:srgbClr val="65737D"/>
          </a:solidFill>
          <a:ln>
            <a:solidFill>
              <a:srgbClr val="6573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st evaluation: Production checks*"/>
          <p:cNvSpPr txBox="1"/>
          <p:nvPr/>
        </p:nvSpPr>
        <p:spPr>
          <a:xfrm>
            <a:off x="758952" y="4087368"/>
            <a:ext cx="2075688" cy="384048"/>
          </a:xfrm>
          <a:prstGeom prst="rect">
            <a:avLst/>
          </a:prstGeom>
          <a:noFill/>
        </p:spPr>
        <p:txBody>
          <a:bodyPr wrap="square" lIns="0" rIns="0" tIns="0" bIns="0" anchor="ctr">
            <a:spAutoFit/>
          </a:bodyPr>
          <a:lstStyle/>
          <a:p>
            <a:pPr algn="l"/>
            <a:r>
              <a:rPr sz="1400" b="1" lang="en-US">
                <a:solidFill>
                  <a:srgbClr val="65737D"/>
                </a:solidFill>
                <a:latin typeface="Arial"/>
              </a:rPr>
              <a:t>Production checks*</a:t>
            </a:r>
          </a:p>
        </p:txBody>
      </p:sp>
      <p:sp>
        <p:nvSpPr>
          <p:cNvPr id="49" name="Test evaluation: 0"/>
          <p:cNvSpPr txBox="1"/>
          <p:nvPr/>
        </p:nvSpPr>
        <p:spPr>
          <a:xfrm>
            <a:off x="2880360" y="4014216"/>
            <a:ext cx="1078992" cy="365760"/>
          </a:xfrm>
          <a:prstGeom prst="rect">
            <a:avLst/>
          </a:prstGeom>
          <a:noFill/>
        </p:spPr>
        <p:txBody>
          <a:bodyPr wrap="square" lIns="0" rIns="0" tIns="0" bIns="0" anchor="ctr">
            <a:spAutoFit/>
          </a:bodyPr>
          <a:lstStyle/>
          <a:p>
            <a:pPr algn="l"/>
            <a:r>
              <a:rPr sz="2300" b="1" lang="en-US">
                <a:solidFill>
                  <a:srgbClr val="65737D"/>
                </a:solidFill>
                <a:latin typeface="Arial"/>
              </a:rPr>
              <a:t>0</a:t>
            </a:r>
          </a:p>
        </p:txBody>
      </p:sp>
      <p:sp>
        <p:nvSpPr>
          <p:cNvPr id="50" name="Test evaluation: identified"/>
          <p:cNvSpPr txBox="1"/>
          <p:nvPr/>
        </p:nvSpPr>
        <p:spPr>
          <a:xfrm>
            <a:off x="2880360" y="4375404"/>
            <a:ext cx="1133856" cy="192024"/>
          </a:xfrm>
          <a:prstGeom prst="rect">
            <a:avLst/>
          </a:prstGeom>
          <a:noFill/>
        </p:spPr>
        <p:txBody>
          <a:bodyPr wrap="square" lIns="0" rIns="0" tIns="0" bIns="0" anchor="ctr">
            <a:spAutoFit/>
          </a:bodyPr>
          <a:lstStyle/>
          <a:p>
            <a:pPr algn="l"/>
            <a:r>
              <a:rPr sz="1050" b="0" lang="en-US">
                <a:solidFill>
                  <a:srgbClr val="65737D"/>
                </a:solidFill>
                <a:latin typeface="Arial"/>
              </a:rPr>
              <a:t>identified</a:t>
            </a:r>
          </a:p>
        </p:txBody>
      </p:sp>
      <p:sp>
        <p:nvSpPr>
          <p:cNvPr id="51" name="Test evaluation: Tests against the live deployment"/>
          <p:cNvSpPr txBox="1"/>
          <p:nvPr/>
        </p:nvSpPr>
        <p:spPr>
          <a:xfrm>
            <a:off x="4187952" y="4037076"/>
            <a:ext cx="3813048" cy="246888"/>
          </a:xfrm>
          <a:prstGeom prst="rect">
            <a:avLst/>
          </a:prstGeom>
          <a:noFill/>
        </p:spPr>
        <p:txBody>
          <a:bodyPr wrap="square" lIns="0" rIns="0" tIns="0" bIns="0" anchor="ctr">
            <a:spAutoFit/>
          </a:bodyPr>
          <a:lstStyle/>
          <a:p>
            <a:pPr algn="l"/>
            <a:r>
              <a:rPr sz="1400" b="1" lang="en-US">
                <a:solidFill>
                  <a:srgbClr val="263440"/>
                </a:solidFill>
                <a:latin typeface="Arial"/>
              </a:rPr>
              <a:t>Tests against the live deployment</a:t>
            </a:r>
          </a:p>
        </p:txBody>
      </p:sp>
      <p:sp>
        <p:nvSpPr>
          <p:cNvPr id="52" name="Test evaluation: Operational behaviour under real load"/>
          <p:cNvSpPr txBox="1"/>
          <p:nvPr/>
        </p:nvSpPr>
        <p:spPr>
          <a:xfrm>
            <a:off x="4187952" y="4315968"/>
            <a:ext cx="3813048" cy="219456"/>
          </a:xfrm>
          <a:prstGeom prst="rect">
            <a:avLst/>
          </a:prstGeom>
          <a:noFill/>
        </p:spPr>
        <p:txBody>
          <a:bodyPr wrap="square" lIns="0" rIns="0" tIns="0" bIns="0" anchor="ctr">
            <a:spAutoFit/>
          </a:bodyPr>
          <a:lstStyle/>
          <a:p>
            <a:pPr algn="l"/>
            <a:r>
              <a:rPr sz="1150" b="0" lang="en-US">
                <a:solidFill>
                  <a:srgbClr val="65737D"/>
                </a:solidFill>
                <a:latin typeface="Arial"/>
              </a:rPr>
              <a:t>Operational behaviour under real load</a:t>
            </a:r>
          </a:p>
        </p:txBody>
      </p:sp>
      <p:sp>
        <p:nvSpPr>
          <p:cNvPr id="53" name="Test evaluation: No suite identified"/>
          <p:cNvSpPr txBox="1"/>
          <p:nvPr/>
        </p:nvSpPr>
        <p:spPr>
          <a:xfrm>
            <a:off x="8211312" y="4037076"/>
            <a:ext cx="3218688" cy="246888"/>
          </a:xfrm>
          <a:prstGeom prst="rect">
            <a:avLst/>
          </a:prstGeom>
          <a:noFill/>
        </p:spPr>
        <p:txBody>
          <a:bodyPr wrap="square" lIns="0" rIns="0" tIns="0" bIns="0" anchor="ctr">
            <a:spAutoFit/>
          </a:bodyPr>
          <a:lstStyle/>
          <a:p>
            <a:pPr algn="l"/>
            <a:r>
              <a:rPr sz="1400" b="1" lang="en-US">
                <a:solidFill>
                  <a:srgbClr val="65737D"/>
                </a:solidFill>
                <a:latin typeface="Arial"/>
              </a:rPr>
              <a:t>No suite identified</a:t>
            </a:r>
          </a:p>
        </p:txBody>
      </p:sp>
      <p:sp>
        <p:nvSpPr>
          <p:cNvPr id="54" name="Test evaluation: Within the audited CI scope"/>
          <p:cNvSpPr txBox="1"/>
          <p:nvPr/>
        </p:nvSpPr>
        <p:spPr>
          <a:xfrm>
            <a:off x="8211312" y="4315968"/>
            <a:ext cx="3218688" cy="219456"/>
          </a:xfrm>
          <a:prstGeom prst="rect">
            <a:avLst/>
          </a:prstGeom>
          <a:noFill/>
        </p:spPr>
        <p:txBody>
          <a:bodyPr wrap="square" lIns="0" rIns="0" tIns="0" bIns="0" anchor="ctr">
            <a:spAutoFit/>
          </a:bodyPr>
          <a:lstStyle/>
          <a:p>
            <a:pPr algn="l"/>
            <a:r>
              <a:rPr sz="1050" b="0" lang="en-US">
                <a:solidFill>
                  <a:srgbClr val="65737D"/>
                </a:solidFill>
                <a:latin typeface="Arial"/>
              </a:rPr>
              <a:t>Within the audited CI scope</a:t>
            </a:r>
          </a:p>
        </p:txBody>
      </p:sp>
      <p:sp>
        <p:nvSpPr>
          <p:cNvPr id="55" name="Rectangle 54"/>
          <p:cNvSpPr/>
          <p:nvPr/>
        </p:nvSpPr>
        <p:spPr>
          <a:xfrm>
            <a:off x="758952" y="4572000"/>
            <a:ext cx="10789920" cy="10972"/>
          </a:xfrm>
          <a:prstGeom prst="rect">
            <a:avLst/>
          </a:prstGeom>
          <a:solidFill>
            <a:srgbClr val="DCE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1792" y="4727448"/>
            <a:ext cx="10954512" cy="484632"/>
          </a:xfrm>
          <a:prstGeom prst="rect">
            <a:avLst/>
          </a:prstGeom>
          <a:solidFill>
            <a:srgbClr val="F2F5F7"/>
          </a:solidFill>
          <a:ln>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st evaluation: CI: push / pull request / manual · Ubuntu runners"/>
          <p:cNvSpPr txBox="1"/>
          <p:nvPr/>
        </p:nvSpPr>
        <p:spPr>
          <a:xfrm>
            <a:off x="768096" y="4759452"/>
            <a:ext cx="5852160" cy="393192"/>
          </a:xfrm>
          <a:prstGeom prst="rect">
            <a:avLst/>
          </a:prstGeom>
          <a:noFill/>
        </p:spPr>
        <p:txBody>
          <a:bodyPr wrap="square" lIns="0" rIns="0" tIns="0" bIns="0" anchor="ctr">
            <a:spAutoFit/>
          </a:bodyPr>
          <a:lstStyle/>
          <a:p>
            <a:pPr algn="l"/>
            <a:r>
              <a:rPr sz="1300" b="1" lang="en-US">
                <a:solidFill>
                  <a:srgbClr val="263440"/>
                </a:solidFill>
                <a:latin typeface="Arial"/>
              </a:rPr>
              <a:t>CI: push / pull request / manual · Ubuntu runners</a:t>
            </a:r>
          </a:p>
        </p:txBody>
      </p:sp>
      <p:sp>
        <p:nvSpPr>
          <p:cNvPr id="58" name="Test evaluation: + 2 service smoke checks: Anvil + IPFS"/>
          <p:cNvSpPr txBox="1"/>
          <p:nvPr/>
        </p:nvSpPr>
        <p:spPr>
          <a:xfrm>
            <a:off x="6784848" y="4759452"/>
            <a:ext cx="4608576" cy="393192"/>
          </a:xfrm>
          <a:prstGeom prst="rect">
            <a:avLst/>
          </a:prstGeom>
          <a:noFill/>
        </p:spPr>
        <p:txBody>
          <a:bodyPr wrap="square" lIns="0" rIns="0" tIns="0" bIns="0" anchor="ctr">
            <a:spAutoFit/>
          </a:bodyPr>
          <a:lstStyle/>
          <a:p>
            <a:pPr algn="l"/>
            <a:r>
              <a:rPr sz="1250" b="0" lang="en-US">
                <a:solidFill>
                  <a:srgbClr val="263440"/>
                </a:solidFill>
                <a:latin typeface="Arial"/>
              </a:rPr>
              <a:t>+ 2 service smoke checks: Anvil + IPFS</a:t>
            </a:r>
          </a:p>
        </p:txBody>
      </p:sp>
      <p:sp>
        <p:nvSpPr>
          <p:cNvPr id="59" name="Test evaluation: Static definitions, including conditional skips; parameter variants counted once. No pass count."/>
          <p:cNvSpPr txBox="1"/>
          <p:nvPr/>
        </p:nvSpPr>
        <p:spPr>
          <a:xfrm>
            <a:off x="621792" y="5312664"/>
            <a:ext cx="10954512" cy="210312"/>
          </a:xfrm>
          <a:prstGeom prst="rect">
            <a:avLst/>
          </a:prstGeom>
          <a:noFill/>
        </p:spPr>
        <p:txBody>
          <a:bodyPr wrap="square" lIns="0" rIns="0" tIns="0" bIns="0" anchor="ctr">
            <a:spAutoFit/>
          </a:bodyPr>
          <a:lstStyle/>
          <a:p>
            <a:pPr algn="l"/>
            <a:r>
              <a:rPr sz="1050" b="0" lang="en-US">
                <a:solidFill>
                  <a:srgbClr val="65737D"/>
                </a:solidFill>
                <a:latin typeface="Arial"/>
              </a:rPr>
              <a:t>Static definitions, including conditional skips; parameter variants counted once. No pass count.</a:t>
            </a:r>
          </a:p>
        </p:txBody>
      </p:sp>
      <p:sp>
        <p:nvSpPr>
          <p:cNvPr id="60" name="Test evaluation: * Production denotes an execution context. Current-code inventory and recorded cloud run are separate evidence."/>
          <p:cNvSpPr txBox="1"/>
          <p:nvPr/>
        </p:nvSpPr>
        <p:spPr>
          <a:xfrm>
            <a:off x="621792" y="5554980"/>
            <a:ext cx="10954512" cy="210312"/>
          </a:xfrm>
          <a:prstGeom prst="rect">
            <a:avLst/>
          </a:prstGeom>
          <a:noFill/>
        </p:spPr>
        <p:txBody>
          <a:bodyPr wrap="square" lIns="0" rIns="0" tIns="0" bIns="0" anchor="ctr">
            <a:spAutoFit/>
          </a:bodyPr>
          <a:lstStyle/>
          <a:p>
            <a:pPr algn="l"/>
            <a:r>
              <a:rPr sz="950" b="0" lang="en-US">
                <a:solidFill>
                  <a:srgbClr val="65737D"/>
                </a:solidFill>
                <a:latin typeface="Arial"/>
              </a:rPr>
              <a:t>* Production denotes an execution context. Current-code inventory and recorded cloud run are separate evidence.</a:t>
            </a:r>
          </a:p>
        </p:txBody>
      </p:sp>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Implemented tests by test level</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