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SELECTED VARIANT A — CI CHECKS AND EXTERNAL SYSTEM TESTS</a:t>
            </a:r>
          </a:p>
          <a:p/>
          <a:p>
            <a:r>
              <a:rPr lang="en-US"/>
              <a:t>PURPOSE</a:t>
            </a:r>
          </a:p>
          <a:p>
            <a:r>
              <a:rPr lang="en-US"/>
              <a:t>Approved replacement for Page 26. The left catalog combines unit/component and</a:t>
            </a:r>
          </a:p>
          <a:p>
            <a:r>
              <a:rPr lang="en-US"/>
              <a:t>local integration tests under CI, grouped by the subject under test. The right</a:t>
            </a:r>
          </a:p>
          <a:p>
            <a:r>
              <a:rPr lang="en-US"/>
              <a:t>catalog explains external scenario types and their expected responses. Counts</a:t>
            </a:r>
          </a:p>
          <a:p>
            <a:r>
              <a:rPr lang="en-US"/>
              <a:t>refer to implementations, not passed executions or independent samples.</a:t>
            </a:r>
          </a:p>
          <a:p>
            <a:r>
              <a:rPr lang="en-US"/>
              <a:t>The source/configuration snapshot is dated 27 September 2026. No test or cloud</a:t>
            </a:r>
          </a:p>
          <a:p>
            <a:r>
              <a:rPr lang="en-US"/>
              <a:t>campaign was executed to build this slide. The adjacent historical 24-round</a:t>
            </a:r>
          </a:p>
          <a:p>
            <a:r>
              <a:rPr lang="en-US"/>
              <a:t>Phala experiment remains separate evidence; it is not attributed to the current</a:t>
            </a:r>
          </a:p>
          <a:p>
            <a:r>
              <a:rPr lang="en-US"/>
              <a:t>SMEW/SMA/test-driver profile.</a:t>
            </a:r>
          </a:p>
          <a:p/>
          <a:p>
            <a:r>
              <a:rPr lang="en-US"/>
              <a:t>CI BOUNDARY AND COUNTING</a:t>
            </a:r>
          </a:p>
          <a:p>
            <a:r>
              <a:rPr lang="en-US"/>
              <a:t>878 unique CI-selected declarations: 617 Python, 145 Solidity and 116 Node tests.</a:t>
            </a:r>
          </a:p>
          <a:p>
            <a:r>
              <a:rPr lang="en-US"/>
              <a:t>The seven groups are mutually exclusive assignments of test source areas. Each</a:t>
            </a:r>
          </a:p>
          <a:p>
            <a:r>
              <a:rPr lang="en-US"/>
              <a:t>declaration counts once; parametrization, loops, repeated workflow invocations</a:t>
            </a:r>
          </a:p>
          <a:p>
            <a:r>
              <a:rPr lang="en-US"/>
              <a:t>and subtests are not expanded. Conditional skips remain included. The scope is</a:t>
            </a:r>
          </a:p>
          <a:p>
            <a:r>
              <a:rPr lang="en-US"/>
              <a:t>vita-fl/.github/workflows/ci.yml and the explicit test entrypoints it selects.</a:t>
            </a:r>
          </a:p>
          <a:p>
            <a:r>
              <a:rPr lang="en-US"/>
              <a:t>The node job installs Foundry and requires the Anvil transaction tests. The CI</a:t>
            </a:r>
          </a:p>
          <a:p>
            <a:r>
              <a:rPr lang="en-US"/>
              <a:t>runs on GitHub-hosted Ubuntu for push/PR on main and phala_app_key or manual</a:t>
            </a:r>
          </a:p>
          <a:p>
            <a:r>
              <a:rPr lang="en-US"/>
              <a:t>workflow dispatch. Lint, formatting, build steps and the two runtime readiness</a:t>
            </a:r>
          </a:p>
          <a:p>
            <a:r>
              <a:rPr lang="en-US"/>
              <a:t>checks for Anvil/IPFS are additional pipeline checks, excluded from the 878.</a:t>
            </a:r>
          </a:p>
          <a:p>
            <a:r>
              <a:rPr lang="en-US"/>
              <a:t>The previous 808 inventory is historical. No new unit/integration split is</a:t>
            </a:r>
          </a:p>
          <a:p>
            <a:r>
              <a:rPr lang="en-US"/>
              <a:t>asserted: new tests require fresh assertion-level classification if that split</a:t>
            </a:r>
          </a:p>
          <a:p>
            <a:r>
              <a:rPr lang="en-US"/>
              <a:t>is ever needed again. Unit/component/integration are merged by explicit request.</a:t>
            </a:r>
          </a:p>
          <a:p>
            <a:r>
              <a:rPr lang="en-US"/>
              <a:t>Tests of the TD, SMEW and SMA tools are not silently added to the vita-fl CI count.</a:t>
            </a:r>
          </a:p>
          <a:p/>
          <a:p>
            <a:r>
              <a:rPr lang="en-US"/>
              <a:t>EXTERNAL SCOPE AND CONFIGURATION</a:t>
            </a:r>
          </a:p>
          <a:p>
            <a:r>
              <a:rPr lang="en-US"/>
              <a:t>The TD has nine CLI modes. Eight are considered here: configuration, normal,</a:t>
            </a:r>
          </a:p>
          <a:p>
            <a:r>
              <a:rPr lang="en-US"/>
              <a:t>early, partial, zero, recovery, inference and security. The optional manipulation</a:t>
            </a:r>
          </a:p>
          <a:p>
            <a:r>
              <a:rPr lang="en-US"/>
              <a:t>mode is excluded according to the user's requested scope. Tool-order attacks are</a:t>
            </a:r>
          </a:p>
          <a:p>
            <a:r>
              <a:rPr lang="en-US"/>
              <a:t>also excluded. Eight implemented modes do not mean eight passed live scenarios.</a:t>
            </a:r>
          </a:p>
          <a:p>
            <a:r>
              <a:rPr lang="en-US"/>
              <a:t>The selected local Phala profile has six workers, five successful training rounds,</a:t>
            </a:r>
          </a:p>
          <a:p>
            <a:r>
              <a:rPr lang="en-US"/>
              <a:t>client limit five, epoch one, a 45-second collection deadline, a 3600-second</a:t>
            </a:r>
          </a:p>
          <a:p>
            <a:r>
              <a:rPr lang="en-US"/>
              <a:t>scenario deadline, one-second polling, deployed-agent inference, participant</a:t>
            </a:r>
          </a:p>
          <a:p>
            <a:r>
              <a:rPr lang="en-US"/>
              <a:t>coverage and required transparency audit. Configuration is a setup-only check;</a:t>
            </a:r>
          </a:p>
          <a:p>
            <a:r>
              <a:rPr lang="en-US"/>
              <a:t>the five-round setting applies to training scenarios. train_before_inference is</a:t>
            </a:r>
          </a:p>
          <a:p>
            <a:r>
              <a:rPr lang="en-US"/>
              <a:t>enabled for the inference-only mode in this profile. Bootstrap and aborted</a:t>
            </a:r>
          </a:p>
          <a:p>
            <a:r>
              <a:rPr lang="en-US"/>
              <a:t>attempts are excluded from the five successful rounds. Other runs can vary the</a:t>
            </a:r>
          </a:p>
          <a:p>
            <a:r>
              <a:rPr lang="en-US"/>
              <a:t>parameters, so the profile is not attributed to every historical result.</a:t>
            </a:r>
          </a:p>
          <a:p>
            <a:r>
              <a:rPr lang="en-US"/>
              <a:t>SMEW schedules campaigns/repetitions and validates reports; SMA supervises the</a:t>
            </a:r>
          </a:p>
          <a:p>
            <a:r>
              <a:rPr lang="en-US"/>
              <a:t>local TD subprocess and retrieves Prometheus data for the run window. The TD</a:t>
            </a:r>
          </a:p>
          <a:p>
            <a:r>
              <a:rPr lang="en-US"/>
              <a:t>drives the remote VITA-FL deployment, checks assertions and produces the verdict.</a:t>
            </a:r>
          </a:p>
          <a:p>
            <a:r>
              <a:rPr lang="en-US"/>
              <a:t>No general energy measurement is claimed. Measurements currently include round</a:t>
            </a:r>
          </a:p>
          <a:p>
            <a:r>
              <a:rPr lang="en-US"/>
              <a:t>progress, aborted attempts and transaction gas.</a:t>
            </a:r>
          </a:p>
          <a:p/>
          <a:p>
            <a:r>
              <a:rPr lang="en-US"/>
              <a:t>EXTERNAL ORACLES</a:t>
            </a:r>
          </a:p>
          <a:p>
            <a:r>
              <a:rPr lang="en-US"/>
              <a:t>configuration: five training parameters round-trip; invalid timeouts are rejected</a:t>
            </a:r>
          </a:p>
          <a:p>
            <a:r>
              <a:rPr lang="en-US"/>
              <a:t>with HTTP 400 and the saved configuration remains unchanged.</a:t>
            </a:r>
          </a:p>
          <a:p>
            <a:r>
              <a:rPr lang="en-US"/>
              <a:t>normal: completed nonempty rounds, count/root/policy consistency, unchanged frozen</a:t>
            </a:r>
          </a:p>
          <a:p>
            <a:r>
              <a:rPr lang="en-US"/>
              <a:t>roster and all-six-worker participation; finalized-model inference is verified.</a:t>
            </a:r>
          </a:p>
          <a:p>
            <a:r>
              <a:rPr lang="en-US"/>
              <a:t>early/partial/zero: a cooperative admin-controlled upload gate at the deployed</a:t>
            </a:r>
          </a:p>
          <a:p>
            <a:r>
              <a:rPr lang="en-US"/>
              <a:t>receiver limits accepted clients in the first training round. Respectively 5,</a:t>
            </a:r>
          </a:p>
          <a:p>
            <a:r>
              <a:rPr lang="en-US"/>
              <a:t>2 or 0 accepted inputs establish early closure, exact partial publication after</a:t>
            </a:r>
          </a:p>
          <a:p>
            <a:r>
              <a:rPr lang="en-US"/>
              <a:t>the deadline, or no publication followed by quorum recovery. This is explicit</a:t>
            </a:r>
          </a:p>
          <a:p>
            <a:r>
              <a:rPr lang="en-US"/>
              <a:t>test instrumentation; the gate is not described as a network outage. The receipt</a:t>
            </a:r>
          </a:p>
          <a:p>
            <a:r>
              <a:rPr lang="en-US"/>
              <a:t>of a gate command alone does not establish the expected contribution set.</a:t>
            </a:r>
          </a:p>
          <a:p>
            <a:r>
              <a:rPr lang="en-US"/>
              <a:t>recovery: stop and confirm the selected aggregator CVM, observe three distinct</a:t>
            </a:r>
          </a:p>
          <a:p>
            <a:r>
              <a:rPr lang="en-US"/>
              <a:t>eligible reports out of five voters, keep the old state below quorum, then prove</a:t>
            </a:r>
          </a:p>
          <a:p>
            <a:r>
              <a:rPr lang="en-US"/>
              <a:t>abort/reselection on the third vote and successful resumed publication. Restore</a:t>
            </a:r>
          </a:p>
          <a:p>
            <a:r>
              <a:rPr lang="en-US"/>
              <a:t>the CVM; cleanup failure invalidates the run. The local aggregator timer is not</a:t>
            </a:r>
          </a:p>
          <a:p>
            <a:r>
              <a:rPr lang="en-US"/>
              <a:t>replaced or advanced by the driver. Contract vote conditions remain separate.</a:t>
            </a:r>
          </a:p>
          <a:p>
            <a:r>
              <a:rPr lang="en-US"/>
              <a:t>security: 16 required checks comprise five UI/control checks, four read-only EVM</a:t>
            </a:r>
          </a:p>
          <a:p>
            <a:r>
              <a:rPr lang="en-US"/>
              <a:t>guards, one positive inference control and six inference authorization negatives.</a:t>
            </a:r>
          </a:p>
          <a:p>
            <a:r>
              <a:rPr lang="en-US"/>
              <a:t>EVM guards use eth_call; they do not submit an attack transaction. Wrong reasons,</a:t>
            </a:r>
          </a:p>
          <a:p>
            <a:r>
              <a:rPr lang="en-US"/>
              <a:t>TLS/network errors and unavailable positive controls do not count as rejection.</a:t>
            </a:r>
          </a:p>
          <a:p>
            <a:r>
              <a:rPr lang="en-US"/>
              <a:t>Audit: 17 additional checks are 10 SCITT publisher/inclusion checks, one AIR/TDX,</a:t>
            </a:r>
          </a:p>
          <a:p>
            <a:r>
              <a:rPr lang="en-US"/>
              <a:t>three attestation sessions and three Sello receipts. Re-fetch published bytes,</a:t>
            </a:r>
          </a:p>
          <a:p>
            <a:r>
              <a:rPr lang="en-US"/>
              <a:t>verify bindings to this run and local trust policy, decrypt owner-authorized</a:t>
            </a:r>
          </a:p>
          <a:p>
            <a:r>
              <a:rPr lang="en-US"/>
              <a:t>Sello context and request fresh Phala quote appraisal. This is independent</a:t>
            </a:r>
          </a:p>
          <a:p>
            <a:r>
              <a:rPr lang="en-US"/>
              <a:t>execution using production verifier primitives, not an independent Intel DCAP</a:t>
            </a:r>
          </a:p>
          <a:p>
            <a:r>
              <a:rPr lang="en-US"/>
              <a:t>implementation or a reconstruction of the original TLS/PoP handshake.</a:t>
            </a:r>
          </a:p>
          <a:p>
            <a:r>
              <a:rPr lang="en-US"/>
              <a:t>The audit spans inference-enabled scenarios; it is not a ninth scenario mode.</a:t>
            </a:r>
          </a:p>
          <a:p>
            <a:r>
              <a:rPr lang="en-US"/>
              <a:t>16 security checks and 17 audit checks are not added to the scenario count.</a:t>
            </a:r>
          </a:p>
          <a:p/>
          <a:p>
            <a:r>
              <a:rPr lang="en-US"/>
              <a:t>INTERPRETATION</a:t>
            </a:r>
          </a:p>
          <a:p>
            <a:r>
              <a:rPr lang="en-US"/>
              <a:t>This slide inventories configured tests, not clinical quality, LLM reasoning,</a:t>
            </a:r>
          </a:p>
          <a:p>
            <a:r>
              <a:rPr lang="en-US"/>
              <a:t>load capacity or complete coverage of Chapter 4 threats. Configuration and code</a:t>
            </a:r>
          </a:p>
          <a:p>
            <a:r>
              <a:rPr lang="en-US"/>
              <a:t>availability are kept separate from observed live outcomes. Existing reports</a:t>
            </a:r>
          </a:p>
          <a:p>
            <a:r>
              <a:rPr lang="en-US"/>
              <a:t>contain a five-round Recovery PASS and a complete 17-check audit; early, partial,</a:t>
            </a:r>
          </a:p>
          <a:p>
            <a:r>
              <a:rPr lang="en-US"/>
              <a:t>zero and security must not be described as demonstrated successes from that run.</a:t>
            </a:r>
          </a:p>
          <a:p>
            <a:r>
              <a:rPr lang="en-US"/>
              <a:t>Some code properties have no live fault probe.</a:t>
            </a:r>
          </a:p>
          <a:p/>
          <a:p>
            <a:r>
              <a:rPr lang="en-US"/>
              <a:t>SOURCE MAP</a:t>
            </a:r>
          </a:p>
          <a:p>
            <a:r>
              <a:rPr lang="en-US"/>
              <a:t>Full current CI declaration manifest and source hashes: ci-inventory.json.</a:t>
            </a:r>
          </a:p>
          <a:p>
            <a:r>
              <a:rPr lang="en-US"/>
              <a:t>External scenario groups and public configuration: external-scope.json.</a:t>
            </a:r>
          </a:p>
          <a:p>
            <a:r>
              <a:rPr lang="en-US"/>
              <a:t>Presentation-facing labels/mapping: slide-data.json.</a:t>
            </a:r>
          </a:p>
          <a:p>
            <a:r>
              <a:rPr lang="en-US"/>
              <a:t>vita-fl/.github/workflows/ci.yml</a:t>
            </a:r>
          </a:p>
          <a:p>
            <a:r>
              <a:rPr lang="en-US"/>
              <a:t>vita-fl-td/src/vita_fl_td/config.py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vita-fl-td/src/vita_fl_td/quorum.py</a:t>
            </a:r>
          </a:p>
          <a:p>
            <a:r>
              <a:rPr lang="en-US"/>
              <a:t>vita-fl-td/src/vita_fl_td/security_bridge.py</a:t>
            </a:r>
          </a:p>
          <a:p>
            <a:r>
              <a:rPr lang="en-US"/>
              <a:t>vita-fl-td/src/vita_fl_td/transparency_audit.py</a:t>
            </a:r>
          </a:p>
          <a:p>
            <a:r>
              <a:rPr lang="en-US"/>
              <a:t>vita-fl-td/docs/security-scenarios.md</a:t>
            </a:r>
          </a:p>
          <a:p>
            <a:r>
              <a:rPr lang="en-US"/>
              <a:t>vita-fl-td/docs/transparency-audit.md</a:t>
            </a:r>
          </a:p>
          <a:p>
            <a:r>
              <a:rPr lang="en-US"/>
              <a:t>SMEW/README.md</a:t>
            </a:r>
          </a:p>
          <a:p>
            <a:r>
              <a:rPr lang="en-US"/>
              <a:t>sustainability-measurement-agent/sma/sma.py</a:t>
            </a:r>
          </a:p>
          <a:p/>
          <a:p/>
          <a:p>
            <a:r>
              <a:rPr lang="en-US"/>
              <a:t>GROUP COUNTS</a:t>
            </a:r>
          </a:p>
          <a:p>
            <a:r>
              <a:rPr lang="en-US"/>
              <a:t>Learning &amp; model integrity: 78 — Data splits · aggregation math · model bindings</a:t>
            </a:r>
          </a:p>
          <a:p>
            <a:r>
              <a:rPr lang="en-US"/>
              <a:t>Round control &amp; recovery: 117 — Local timer · input closure · quorum · publication</a:t>
            </a:r>
          </a:p>
          <a:p>
            <a:r>
              <a:rPr lang="en-US"/>
              <a:t>Identity &amp; secure transport: 240 — Admission · quotes · keys · TLS · authorization</a:t>
            </a:r>
          </a:p>
          <a:p>
            <a:r>
              <a:rPr lang="en-US"/>
              <a:t>Inference &amp; agent workflow: 49 — MCP tools · job ownership · TEE/ZK workflow</a:t>
            </a:r>
          </a:p>
          <a:p>
            <a:r>
              <a:rPr lang="en-US"/>
              <a:t>Receipts &amp; provenance: 64 — AIR / Sello / SCITT · signatures · data provenance</a:t>
            </a:r>
          </a:p>
          <a:p>
            <a:r>
              <a:rPr lang="en-US"/>
              <a:t>Runtime control &amp; telemetry: 107 — Configuration · upload gates · worker telemetry</a:t>
            </a:r>
          </a:p>
          <a:p>
            <a:r>
              <a:rPr lang="en-US"/>
              <a:t>Deployment &amp; packaging: 223 — Image policy · revision order · Docker / Terraform</a:t>
            </a:r>
          </a:p>
          <a:p>
            <a:r>
              <a:rPr lang="en-US"/>
              <a:t>Inventory paths are relative to presentation/concepts/test-evaluation/ci-external/.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VITA-FL implemented test evaluation"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CI checks and external system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CI COVERAGE AND EXTERNAL TEST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Page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408176"/>
            <a:ext cx="5312664" cy="3886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08176"/>
            <a:ext cx="5422392" cy="3886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1408176"/>
            <a:ext cx="5312664" cy="640080"/>
          </a:xfrm>
          <a:prstGeom prst="rect">
            <a:avLst/>
          </a:prstGeom>
          <a:solidFill>
            <a:srgbClr val="EDF4FA"/>
          </a:solidFill>
          <a:ln w="10160">
            <a:solidFill>
              <a:srgbClr val="ED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408176"/>
            <a:ext cx="5422392" cy="640080"/>
          </a:xfrm>
          <a:prstGeom prst="rect">
            <a:avLst/>
          </a:prstGeom>
          <a:solidFill>
            <a:srgbClr val="F3EEF8"/>
          </a:solidFill>
          <a:ln w="10160">
            <a:solidFill>
              <a:srgbClr val="F3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I/external scope: CI · 878 definitions"/>
          <p:cNvSpPr txBox="1"/>
          <p:nvPr/>
        </p:nvSpPr>
        <p:spPr>
          <a:xfrm>
            <a:off x="832104" y="1490472"/>
            <a:ext cx="4928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lang="en-US">
                <a:solidFill>
                  <a:srgbClr val="1764A1"/>
                </a:solidFill>
                <a:latin typeface="Arial"/>
              </a:rPr>
              <a:t>CI · 878 definitions</a:t>
            </a:r>
          </a:p>
        </p:txBody>
      </p:sp>
      <p:sp>
        <p:nvSpPr>
          <p:cNvPr id="18" name="CI/external scope: Unit / component / integration · GitHub Actions"/>
          <p:cNvSpPr txBox="1"/>
          <p:nvPr/>
        </p:nvSpPr>
        <p:spPr>
          <a:xfrm>
            <a:off x="832104" y="1865376"/>
            <a:ext cx="492861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0" lang="en-US">
                <a:solidFill>
                  <a:srgbClr val="1764A1"/>
                </a:solidFill>
                <a:latin typeface="Arial"/>
              </a:rPr>
              <a:t>Unit / component / integration · GitHub Actions</a:t>
            </a:r>
          </a:p>
        </p:txBody>
      </p:sp>
      <p:sp>
        <p:nvSpPr>
          <p:cNvPr id="19" name="CI/external scope: External · 8 modes + audit"/>
          <p:cNvSpPr txBox="1"/>
          <p:nvPr/>
        </p:nvSpPr>
        <p:spPr>
          <a:xfrm>
            <a:off x="6318504" y="1490472"/>
            <a:ext cx="5029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lang="en-US">
                <a:solidFill>
                  <a:srgbClr val="7446A6"/>
                </a:solidFill>
                <a:latin typeface="Arial"/>
              </a:rPr>
              <a:t>External · 8 modes + audit</a:t>
            </a:r>
          </a:p>
        </p:txBody>
      </p:sp>
      <p:sp>
        <p:nvSpPr>
          <p:cNvPr id="20" name="CI/external scope: SMEW → SMA → vita-fl-td · deployed VITA-FL in Phala"/>
          <p:cNvSpPr txBox="1"/>
          <p:nvPr/>
        </p:nvSpPr>
        <p:spPr>
          <a:xfrm>
            <a:off x="6318504" y="1865376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0" lang="en-US">
                <a:solidFill>
                  <a:srgbClr val="7446A6"/>
                </a:solidFill>
                <a:latin typeface="Arial"/>
              </a:rPr>
              <a:t>SMEW → SMA → vita-fl-td · deployed VITA-FL in Phala</a:t>
            </a:r>
          </a:p>
        </p:txBody>
      </p:sp>
      <p:sp>
        <p:nvSpPr>
          <p:cNvPr id="21" name="CI/external scope: Learning &amp; model integrity"/>
          <p:cNvSpPr txBox="1"/>
          <p:nvPr/>
        </p:nvSpPr>
        <p:spPr>
          <a:xfrm>
            <a:off x="832104" y="2148840"/>
            <a:ext cx="4215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Learning &amp; model integrity</a:t>
            </a:r>
          </a:p>
        </p:txBody>
      </p:sp>
      <p:sp>
        <p:nvSpPr>
          <p:cNvPr id="22" name="CI/external scope: Data splits · aggregation math · model bindings"/>
          <p:cNvSpPr txBox="1"/>
          <p:nvPr/>
        </p:nvSpPr>
        <p:spPr>
          <a:xfrm>
            <a:off x="832104" y="2382012"/>
            <a:ext cx="44622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Data splits · aggregation math · model bindings</a:t>
            </a:r>
          </a:p>
        </p:txBody>
      </p:sp>
      <p:sp>
        <p:nvSpPr>
          <p:cNvPr id="23" name="CI/external scope: 78"/>
          <p:cNvSpPr txBox="1"/>
          <p:nvPr/>
        </p:nvSpPr>
        <p:spPr>
          <a:xfrm>
            <a:off x="5230368" y="2185416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78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2104" y="2583180"/>
            <a:ext cx="4901184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I/external scope: Round control &amp; recovery"/>
          <p:cNvSpPr txBox="1"/>
          <p:nvPr/>
        </p:nvSpPr>
        <p:spPr>
          <a:xfrm>
            <a:off x="832104" y="2587752"/>
            <a:ext cx="4215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Round control &amp; recovery</a:t>
            </a:r>
          </a:p>
        </p:txBody>
      </p:sp>
      <p:sp>
        <p:nvSpPr>
          <p:cNvPr id="26" name="CI/external scope: Local timer · input closure · quorum · publication"/>
          <p:cNvSpPr txBox="1"/>
          <p:nvPr/>
        </p:nvSpPr>
        <p:spPr>
          <a:xfrm>
            <a:off x="832104" y="2820924"/>
            <a:ext cx="44622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Local timer · input closure · quorum · publication</a:t>
            </a:r>
          </a:p>
        </p:txBody>
      </p:sp>
      <p:sp>
        <p:nvSpPr>
          <p:cNvPr id="27" name="CI/external scope: 117"/>
          <p:cNvSpPr txBox="1"/>
          <p:nvPr/>
        </p:nvSpPr>
        <p:spPr>
          <a:xfrm>
            <a:off x="5230368" y="2624328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117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2104" y="3022092"/>
            <a:ext cx="4901184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I/external scope: Identity &amp; secure transport"/>
          <p:cNvSpPr txBox="1"/>
          <p:nvPr/>
        </p:nvSpPr>
        <p:spPr>
          <a:xfrm>
            <a:off x="832104" y="3026664"/>
            <a:ext cx="4215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Identity &amp; secure transport</a:t>
            </a:r>
          </a:p>
        </p:txBody>
      </p:sp>
      <p:sp>
        <p:nvSpPr>
          <p:cNvPr id="30" name="CI/external scope: Admission · quotes · keys · TLS · authorization"/>
          <p:cNvSpPr txBox="1"/>
          <p:nvPr/>
        </p:nvSpPr>
        <p:spPr>
          <a:xfrm>
            <a:off x="832104" y="3259836"/>
            <a:ext cx="44622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Admission · quotes · keys · TLS · authorization</a:t>
            </a:r>
          </a:p>
        </p:txBody>
      </p:sp>
      <p:sp>
        <p:nvSpPr>
          <p:cNvPr id="31" name="CI/external scope: 240"/>
          <p:cNvSpPr txBox="1"/>
          <p:nvPr/>
        </p:nvSpPr>
        <p:spPr>
          <a:xfrm>
            <a:off x="5230368" y="3063240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240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2104" y="3461004"/>
            <a:ext cx="4901184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I/external scope: Inference &amp; agent workflow"/>
          <p:cNvSpPr txBox="1"/>
          <p:nvPr/>
        </p:nvSpPr>
        <p:spPr>
          <a:xfrm>
            <a:off x="832104" y="3465576"/>
            <a:ext cx="4215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Inference &amp; agent workflow</a:t>
            </a:r>
          </a:p>
        </p:txBody>
      </p:sp>
      <p:sp>
        <p:nvSpPr>
          <p:cNvPr id="34" name="CI/external scope: MCP tools · job ownership · TEE/ZK workflow"/>
          <p:cNvSpPr txBox="1"/>
          <p:nvPr/>
        </p:nvSpPr>
        <p:spPr>
          <a:xfrm>
            <a:off x="832104" y="3698748"/>
            <a:ext cx="44622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MCP tools · job ownership · TEE/ZK workflow</a:t>
            </a:r>
          </a:p>
        </p:txBody>
      </p:sp>
      <p:sp>
        <p:nvSpPr>
          <p:cNvPr id="35" name="CI/external scope: 49"/>
          <p:cNvSpPr txBox="1"/>
          <p:nvPr/>
        </p:nvSpPr>
        <p:spPr>
          <a:xfrm>
            <a:off x="5230368" y="3502152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49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32104" y="3899915"/>
            <a:ext cx="4901184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I/external scope: Receipts &amp; provenance"/>
          <p:cNvSpPr txBox="1"/>
          <p:nvPr/>
        </p:nvSpPr>
        <p:spPr>
          <a:xfrm>
            <a:off x="832104" y="3904487"/>
            <a:ext cx="4215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Receipts &amp; provenance</a:t>
            </a:r>
          </a:p>
        </p:txBody>
      </p:sp>
      <p:sp>
        <p:nvSpPr>
          <p:cNvPr id="38" name="CI/external scope: AIR / Sello / SCITT · signatures · data provenance"/>
          <p:cNvSpPr txBox="1"/>
          <p:nvPr/>
        </p:nvSpPr>
        <p:spPr>
          <a:xfrm>
            <a:off x="832104" y="4137659"/>
            <a:ext cx="44622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AIR / Sello / SCITT · signatures · data provenance</a:t>
            </a:r>
          </a:p>
        </p:txBody>
      </p:sp>
      <p:sp>
        <p:nvSpPr>
          <p:cNvPr id="39" name="CI/external scope: 64"/>
          <p:cNvSpPr txBox="1"/>
          <p:nvPr/>
        </p:nvSpPr>
        <p:spPr>
          <a:xfrm>
            <a:off x="5230368" y="3941063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64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32104" y="4338827"/>
            <a:ext cx="4901184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I/external scope: Runtime control &amp; telemetry"/>
          <p:cNvSpPr txBox="1"/>
          <p:nvPr/>
        </p:nvSpPr>
        <p:spPr>
          <a:xfrm>
            <a:off x="832104" y="4343400"/>
            <a:ext cx="4215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Runtime control &amp; telemetry</a:t>
            </a:r>
          </a:p>
        </p:txBody>
      </p:sp>
      <p:sp>
        <p:nvSpPr>
          <p:cNvPr id="42" name="CI/external scope: Configuration · upload gates · worker telemetry"/>
          <p:cNvSpPr txBox="1"/>
          <p:nvPr/>
        </p:nvSpPr>
        <p:spPr>
          <a:xfrm>
            <a:off x="832104" y="4576572"/>
            <a:ext cx="44622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Configuration · upload gates · worker telemetry</a:t>
            </a:r>
          </a:p>
        </p:txBody>
      </p:sp>
      <p:sp>
        <p:nvSpPr>
          <p:cNvPr id="43" name="CI/external scope: 107"/>
          <p:cNvSpPr txBox="1"/>
          <p:nvPr/>
        </p:nvSpPr>
        <p:spPr>
          <a:xfrm>
            <a:off x="5230368" y="4379976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107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32104" y="4777740"/>
            <a:ext cx="4901184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I/external scope: Deployment &amp; packaging"/>
          <p:cNvSpPr txBox="1"/>
          <p:nvPr/>
        </p:nvSpPr>
        <p:spPr>
          <a:xfrm>
            <a:off x="832104" y="4782312"/>
            <a:ext cx="421538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Deployment &amp; packaging</a:t>
            </a:r>
          </a:p>
        </p:txBody>
      </p:sp>
      <p:sp>
        <p:nvSpPr>
          <p:cNvPr id="46" name="CI/external scope: Image policy · revision order · Docker / Terraform"/>
          <p:cNvSpPr txBox="1"/>
          <p:nvPr/>
        </p:nvSpPr>
        <p:spPr>
          <a:xfrm>
            <a:off x="832104" y="5015484"/>
            <a:ext cx="44622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 lang="en-US">
                <a:solidFill>
                  <a:srgbClr val="65737D"/>
                </a:solidFill>
                <a:latin typeface="Arial"/>
              </a:rPr>
              <a:t>Image policy · revision order · Docker / Terraform</a:t>
            </a:r>
          </a:p>
        </p:txBody>
      </p:sp>
      <p:sp>
        <p:nvSpPr>
          <p:cNvPr id="47" name="CI/external scope: 223"/>
          <p:cNvSpPr txBox="1"/>
          <p:nvPr/>
        </p:nvSpPr>
        <p:spPr>
          <a:xfrm>
            <a:off x="5230368" y="4818888"/>
            <a:ext cx="502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1764A1"/>
                </a:solidFill>
                <a:latin typeface="Arial"/>
              </a:rPr>
              <a:t>223</a:t>
            </a:r>
          </a:p>
        </p:txBody>
      </p:sp>
      <p:sp>
        <p:nvSpPr>
          <p:cNvPr id="48" name="CI/external scope: Settings · configuration"/>
          <p:cNvSpPr txBox="1"/>
          <p:nvPr/>
        </p:nvSpPr>
        <p:spPr>
          <a:xfrm>
            <a:off x="6318504" y="2148840"/>
            <a:ext cx="5029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Settings · configuration</a:t>
            </a:r>
          </a:p>
        </p:txBody>
      </p:sp>
      <p:sp>
        <p:nvSpPr>
          <p:cNvPr id="49" name="CI/external scope: Save/read parameters; reject invalid deadlines"/>
          <p:cNvSpPr txBox="1"/>
          <p:nvPr/>
        </p:nvSpPr>
        <p:spPr>
          <a:xfrm>
            <a:off x="6318504" y="2418588"/>
            <a:ext cx="50292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0" b="0" lang="en-US">
                <a:solidFill>
                  <a:srgbClr val="65737D"/>
                </a:solidFill>
                <a:latin typeface="Arial"/>
              </a:rPr>
              <a:t>Save/read parameters; reject invalid deadlines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318504" y="2638044"/>
            <a:ext cx="5020056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I/external scope: Lifecycle · normal / inference"/>
          <p:cNvSpPr txBox="1"/>
          <p:nvPr/>
        </p:nvSpPr>
        <p:spPr>
          <a:xfrm>
            <a:off x="6318504" y="2656332"/>
            <a:ext cx="5029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Lifecycle · normal / inference</a:t>
            </a:r>
          </a:p>
        </p:txBody>
      </p:sp>
      <p:sp>
        <p:nvSpPr>
          <p:cNvPr id="52" name="CI/external scope: Complete training; use and verify the finalized model"/>
          <p:cNvSpPr txBox="1"/>
          <p:nvPr/>
        </p:nvSpPr>
        <p:spPr>
          <a:xfrm>
            <a:off x="6318504" y="2926080"/>
            <a:ext cx="50292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0" b="0" lang="en-US">
                <a:solidFill>
                  <a:srgbClr val="65737D"/>
                </a:solidFill>
                <a:latin typeface="Arial"/>
              </a:rPr>
              <a:t>Complete training; use and verify the finalized model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318504" y="3145536"/>
            <a:ext cx="5020056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CI/external scope: Collection · early / partial / zero"/>
          <p:cNvSpPr txBox="1"/>
          <p:nvPr/>
        </p:nvSpPr>
        <p:spPr>
          <a:xfrm>
            <a:off x="6318504" y="3163824"/>
            <a:ext cx="5029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Collection · early / partial / zero</a:t>
            </a:r>
          </a:p>
        </p:txBody>
      </p:sp>
      <p:sp>
        <p:nvSpPr>
          <p:cNvPr id="55" name="CI/external scope: Close early, publish partial inputs, or recover from zero"/>
          <p:cNvSpPr txBox="1"/>
          <p:nvPr/>
        </p:nvSpPr>
        <p:spPr>
          <a:xfrm>
            <a:off x="6318504" y="3433572"/>
            <a:ext cx="50292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0" b="0" lang="en-US">
                <a:solidFill>
                  <a:srgbClr val="65737D"/>
                </a:solidFill>
                <a:latin typeface="Arial"/>
              </a:rPr>
              <a:t>Close early, publish partial inputs, or recover from zero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318504" y="3653028"/>
            <a:ext cx="5020056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I/external scope: Recovery · aggregator outage"/>
          <p:cNvSpPr txBox="1"/>
          <p:nvPr/>
        </p:nvSpPr>
        <p:spPr>
          <a:xfrm>
            <a:off x="6318504" y="3671316"/>
            <a:ext cx="5029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Recovery · aggregator outage</a:t>
            </a:r>
          </a:p>
        </p:txBody>
      </p:sp>
      <p:sp>
        <p:nvSpPr>
          <p:cNvPr id="58" name="CI/external scope: Stop CVM; 1/3 → 2/3 → 3/3 votes; elect a replacement"/>
          <p:cNvSpPr txBox="1"/>
          <p:nvPr/>
        </p:nvSpPr>
        <p:spPr>
          <a:xfrm>
            <a:off x="6318504" y="3941064"/>
            <a:ext cx="50292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0" b="0" lang="en-US">
                <a:solidFill>
                  <a:srgbClr val="65737D"/>
                </a:solidFill>
                <a:latin typeface="Arial"/>
              </a:rPr>
              <a:t>Stop CVM; 1/3 → 2/3 → 3/3 votes; elect a replacement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318504" y="4160520"/>
            <a:ext cx="5020056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I/external scope: Security · access and contract guards"/>
          <p:cNvSpPr txBox="1"/>
          <p:nvPr/>
        </p:nvSpPr>
        <p:spPr>
          <a:xfrm>
            <a:off x="6318504" y="4178808"/>
            <a:ext cx="5029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Security · access and contract guards</a:t>
            </a:r>
          </a:p>
        </p:txBody>
      </p:sp>
      <p:sp>
        <p:nvSpPr>
          <p:cNvPr id="61" name="CI/external scope: 16 checks: access, contracts + positive inference"/>
          <p:cNvSpPr txBox="1"/>
          <p:nvPr/>
        </p:nvSpPr>
        <p:spPr>
          <a:xfrm>
            <a:off x="6318504" y="4448556"/>
            <a:ext cx="50292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0" b="0" lang="en-US">
                <a:solidFill>
                  <a:srgbClr val="65737D"/>
                </a:solidFill>
                <a:latin typeface="Arial"/>
              </a:rPr>
              <a:t>16 checks: access, contracts + positive inference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318504" y="4668012"/>
            <a:ext cx="5020056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CI/external scope: Evidence · published receipt audit"/>
          <p:cNvSpPr txBox="1"/>
          <p:nvPr/>
        </p:nvSpPr>
        <p:spPr>
          <a:xfrm>
            <a:off x="6318504" y="4686300"/>
            <a:ext cx="5029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lang="en-US">
                <a:solidFill>
                  <a:srgbClr val="263440"/>
                </a:solidFill>
                <a:latin typeface="Arial"/>
              </a:rPr>
              <a:t>Evidence · published receipt audit</a:t>
            </a:r>
          </a:p>
        </p:txBody>
      </p:sp>
      <p:sp>
        <p:nvSpPr>
          <p:cNvPr id="64" name="CI/external scope: 17 checks: SCITT, AIR/TDX, sessions and Sello"/>
          <p:cNvSpPr txBox="1"/>
          <p:nvPr/>
        </p:nvSpPr>
        <p:spPr>
          <a:xfrm>
            <a:off x="6318504" y="4956048"/>
            <a:ext cx="50292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0" b="0" lang="en-US">
                <a:solidFill>
                  <a:srgbClr val="65737D"/>
                </a:solidFill>
                <a:latin typeface="Arial"/>
              </a:rPr>
              <a:t>17 checks: SCITT, AIR/TDX, sessions and Sello</a:t>
            </a:r>
          </a:p>
        </p:txBody>
      </p:sp>
      <p:sp>
        <p:nvSpPr>
          <p:cNvPr id="65" name="CI/external scope: Phala training profile: 6 workers · 5 successful rounds · client limit 5 · 45 s deadline. Counts ≠ passed runs."/>
          <p:cNvSpPr txBox="1"/>
          <p:nvPr/>
        </p:nvSpPr>
        <p:spPr>
          <a:xfrm>
            <a:off x="658368" y="5468112"/>
            <a:ext cx="1089050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0" lang="en-US">
                <a:solidFill>
                  <a:srgbClr val="65737D"/>
                </a:solidFill>
                <a:latin typeface="Arial"/>
              </a:rPr>
              <a:t>Phala training profile: 6 workers · 5 successful rounds · client limit 5 · 45 s deadline. Counts ≠ passed runs.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CI checks and external system tests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