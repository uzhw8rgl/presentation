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8"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F3: Compact publication arc, closest to the original A silhouette. The aggregator receives direct worker updates. Its Publish transition stores model files in IPFS and finalizes their references on blockchain. The Load transition resolves the finalized reference and retrieves the model from IPFS for the next round. Both source components form a functional section of the loop. The outgoing Published model path summarizes their joint use by inference. Blockchain round coordination and accepted submission commitments are abstracted in this overview.</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Verified against vita-fl/dfl/node_server/src/server.ts and ipfs.ts. Workers obtain the finalized global-model CID tuple from blockchain, then retrieve and decrypt its bundle from IPFS (ipfs.ts:380-435). They train locally and send encrypted local updates directly to the current aggregator over authenticated HTTPS (server.ts:463-533, 2110-2180). Local updates are not exchanged through IPFS. The aggregator records accepted submission commitments on blockchain (server.ts:672-702), aggregates updates (server.ts:2313-2330), uploads the encrypted global bundle, signature, and key bundle to IPFS, then commits the CID tuple on blockchain to finalize the round (ipfs.ts:315-346; GMStorage.sol:180-248). AggregatorSelection.sol:171-195 selects the next aggregator; it can select the same participant again. The model is loaded for the next round. Publication arrows summarize operations performed by the aggregator; IPFS does not itself submit blockchain transactions. Blockchain carries references and round state, not model weights. The inference receiver resolves the finalized reference and retrieves the model bundle independently. Source-to-inference arrows show information consumed; the receiver initiates retrieval. Placement in a circle does not define a common TEE or trust boundary. The transparency log is separate from blockchain and records the receiver-issued tool receipt.</a:t>
            </a:r>
          </a:p>
          <a:p/>
          <a:p>
            <a:r>
              <a:rPr lang="en-US"/>
              <a:t>The Phala remote attestation check below Inference represents appraisal of the receiver's TDX quote through the Phala verifier. The agent consumes the verification result and checks the expected deployment policy. The connector indicates evidence verification, not an additional training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F3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673352" y="1965960"/>
            <a:ext cx="3163824" cy="3163824"/>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699841" y="3218974"/>
            <a:ext cx="8079" cy="4061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692827" y="3259591"/>
            <a:ext cx="7014" cy="4081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686885" y="3300406"/>
            <a:ext cx="5942" cy="4098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682017" y="3341391"/>
            <a:ext cx="4868" cy="4112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678228" y="3382517"/>
            <a:ext cx="3789" cy="4123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675519" y="3423756"/>
            <a:ext cx="2709" cy="4132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673894" y="3465081"/>
            <a:ext cx="1625" cy="413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673352" y="3506462"/>
            <a:ext cx="542" cy="41410"/>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3796309" y="5019710"/>
            <a:ext cx="38727" cy="1467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3835036" y="5004029"/>
            <a:ext cx="38330" cy="156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3873366" y="4987350"/>
            <a:ext cx="37906" cy="1667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3911272" y="4969685"/>
            <a:ext cx="37456" cy="1766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3948728" y="4951045"/>
            <a:ext cx="36981" cy="1864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3985709" y="4931443"/>
            <a:ext cx="36481" cy="1960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4022190" y="4910893"/>
            <a:ext cx="35955" cy="2055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4058145" y="4889409"/>
            <a:ext cx="35404" cy="21484"/>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364040" y="2419572"/>
            <a:ext cx="29156" cy="2941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334125" y="2390934"/>
            <a:ext cx="29915" cy="2863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303470" y="2363089"/>
            <a:ext cx="30655" cy="2784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4272097" y="2336057"/>
            <a:ext cx="31373" cy="2703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4240027" y="2309854"/>
            <a:ext cx="32070" cy="2620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4207282" y="2284500"/>
            <a:ext cx="32745" cy="25354"/>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4173884" y="2260012"/>
            <a:ext cx="33398" cy="2448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4139857" y="2236407"/>
            <a:ext cx="34027" cy="23605"/>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Functional node: Workers / Local training"/>
          <p:cNvSpPr/>
          <p:nvPr/>
        </p:nvSpPr>
        <p:spPr>
          <a:xfrm>
            <a:off x="1387796" y="1849709"/>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Workers"/>
          <p:cNvSpPr txBox="1"/>
          <p:nvPr/>
        </p:nvSpPr>
        <p:spPr>
          <a:xfrm>
            <a:off x="1442660" y="1959437"/>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Workers</a:t>
            </a:r>
          </a:p>
        </p:txBody>
      </p:sp>
      <p:sp>
        <p:nvSpPr>
          <p:cNvPr id="40" name="Label: Local training"/>
          <p:cNvSpPr txBox="1"/>
          <p:nvPr/>
        </p:nvSpPr>
        <p:spPr>
          <a:xfrm>
            <a:off x="1442660" y="2370917"/>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Local training</a:t>
            </a:r>
          </a:p>
        </p:txBody>
      </p:sp>
      <p:sp>
        <p:nvSpPr>
          <p:cNvPr id="41" name="Functional node: Aggregator / Combine updates"/>
          <p:cNvSpPr/>
          <p:nvPr/>
        </p:nvSpPr>
        <p:spPr>
          <a:xfrm>
            <a:off x="1387796" y="4441362"/>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abel: Aggregator"/>
          <p:cNvSpPr txBox="1"/>
          <p:nvPr/>
        </p:nvSpPr>
        <p:spPr>
          <a:xfrm>
            <a:off x="1442660" y="4551090"/>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Aggregator</a:t>
            </a:r>
          </a:p>
        </p:txBody>
      </p:sp>
      <p:sp>
        <p:nvSpPr>
          <p:cNvPr id="43" name="Label: Combine updates"/>
          <p:cNvSpPr txBox="1"/>
          <p:nvPr/>
        </p:nvSpPr>
        <p:spPr>
          <a:xfrm>
            <a:off x="1442660" y="4962570"/>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Combine updates</a:t>
            </a:r>
          </a:p>
        </p:txBody>
      </p:sp>
      <p:sp>
        <p:nvSpPr>
          <p:cNvPr id="44" name="Label: DFL"/>
          <p:cNvSpPr txBox="1"/>
          <p:nvPr/>
        </p:nvSpPr>
        <p:spPr>
          <a:xfrm>
            <a:off x="2715768" y="3337560"/>
            <a:ext cx="1115568" cy="420624"/>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sp>
        <p:nvSpPr>
          <p:cNvPr id="45" name="Label: Local / updates"/>
          <p:cNvSpPr txBox="1"/>
          <p:nvPr/>
        </p:nvSpPr>
        <p:spPr>
          <a:xfrm>
            <a:off x="566928" y="3209544"/>
            <a:ext cx="1078992" cy="612648"/>
          </a:xfrm>
          <a:prstGeom prst="rect">
            <a:avLst/>
          </a:prstGeom>
          <a:noFill/>
        </p:spPr>
        <p:txBody>
          <a:bodyPr wrap="square" lIns="0" rIns="0" tIns="0" bIns="0" anchor="ctr">
            <a:spAutoFit/>
          </a:bodyPr>
          <a:lstStyle/>
          <a:p>
            <a:pPr algn="ctr"/>
            <a:r>
              <a:rPr sz="1500" b="0" lang="en-US">
                <a:solidFill>
                  <a:srgbClr val="207548"/>
                </a:solidFill>
                <a:latin typeface="Arial"/>
              </a:rPr>
              <a:t>Local
updates</a:t>
            </a:r>
          </a:p>
        </p:txBody>
      </p:sp>
      <p:sp>
        <p:nvSpPr>
          <p:cNvPr id="46" name="Label: Load model"/>
          <p:cNvSpPr txBox="1"/>
          <p:nvPr/>
        </p:nvSpPr>
        <p:spPr>
          <a:xfrm>
            <a:off x="3355848" y="1536192"/>
            <a:ext cx="1664208" cy="310896"/>
          </a:xfrm>
          <a:prstGeom prst="rect">
            <a:avLst/>
          </a:prstGeom>
          <a:noFill/>
        </p:spPr>
        <p:txBody>
          <a:bodyPr wrap="square" lIns="0" rIns="0" tIns="0" bIns="0" anchor="ctr">
            <a:spAutoFit/>
          </a:bodyPr>
          <a:lstStyle/>
          <a:p>
            <a:pPr algn="ctr"/>
            <a:r>
              <a:rPr sz="1500" b="0" lang="en-US">
                <a:solidFill>
                  <a:srgbClr val="207548"/>
                </a:solidFill>
                <a:latin typeface="Arial"/>
              </a:rPr>
              <a:t>Load model</a:t>
            </a:r>
          </a:p>
        </p:txBody>
      </p:sp>
      <p:sp>
        <p:nvSpPr>
          <p:cNvPr id="47" name="Label: Publish model"/>
          <p:cNvSpPr txBox="1"/>
          <p:nvPr/>
        </p:nvSpPr>
        <p:spPr>
          <a:xfrm>
            <a:off x="3172968" y="5321808"/>
            <a:ext cx="1947672" cy="292608"/>
          </a:xfrm>
          <a:prstGeom prst="rect">
            <a:avLst/>
          </a:prstGeom>
          <a:noFill/>
        </p:spPr>
        <p:txBody>
          <a:bodyPr wrap="square" lIns="0" rIns="0" tIns="0" bIns="0" anchor="ctr">
            <a:spAutoFit/>
          </a:bodyPr>
          <a:lstStyle/>
          <a:p>
            <a:pPr algn="ctr"/>
            <a:r>
              <a:rPr sz="1500" b="0" lang="en-US">
                <a:solidFill>
                  <a:srgbClr val="207548"/>
                </a:solidFill>
                <a:latin typeface="Arial"/>
              </a:rPr>
              <a:t>Publish model</a:t>
            </a:r>
          </a:p>
        </p:txBody>
      </p:sp>
      <p:sp>
        <p:nvSpPr>
          <p:cNvPr id="48" name="Functional publication segment on DFL cycle"/>
          <p:cNvSpPr/>
          <p:nvPr/>
        </p:nvSpPr>
        <p:spPr>
          <a:xfrm>
            <a:off x="3831335" y="2505456"/>
            <a:ext cx="2011680" cy="2084831"/>
          </a:xfrm>
          <a:prstGeom prst="roundRect">
            <a:avLst/>
          </a:prstGeom>
          <a:solidFill>
            <a:srgbClr val="F8F5FB"/>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abel: Global model"/>
          <p:cNvSpPr txBox="1"/>
          <p:nvPr/>
        </p:nvSpPr>
        <p:spPr>
          <a:xfrm>
            <a:off x="3904487" y="2615184"/>
            <a:ext cx="1865376" cy="320040"/>
          </a:xfrm>
          <a:prstGeom prst="rect">
            <a:avLst/>
          </a:prstGeom>
          <a:noFill/>
        </p:spPr>
        <p:txBody>
          <a:bodyPr wrap="square" lIns="0" rIns="0" tIns="0" bIns="0" anchor="ctr">
            <a:spAutoFit/>
          </a:bodyPr>
          <a:lstStyle/>
          <a:p>
            <a:pPr algn="ctr"/>
            <a:r>
              <a:rPr sz="1800" b="1" lang="en-US">
                <a:solidFill>
                  <a:srgbClr val="7446A6"/>
                </a:solidFill>
                <a:latin typeface="Arial"/>
              </a:rPr>
              <a:t>Global model</a:t>
            </a:r>
          </a:p>
        </p:txBody>
      </p:sp>
      <p:sp>
        <p:nvSpPr>
          <p:cNvPr id="50" name="Rounded Rectangle 49"/>
          <p:cNvSpPr/>
          <p:nvPr/>
        </p:nvSpPr>
        <p:spPr>
          <a:xfrm>
            <a:off x="3931920" y="3081527"/>
            <a:ext cx="1810512" cy="603504"/>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abel: IPFS"/>
          <p:cNvSpPr txBox="1"/>
          <p:nvPr/>
        </p:nvSpPr>
        <p:spPr>
          <a:xfrm>
            <a:off x="4005072" y="3127248"/>
            <a:ext cx="1664208" cy="292608"/>
          </a:xfrm>
          <a:prstGeom prst="rect">
            <a:avLst/>
          </a:prstGeom>
          <a:noFill/>
        </p:spPr>
        <p:txBody>
          <a:bodyPr wrap="square" lIns="0" rIns="0" tIns="0" bIns="0" anchor="ctr">
            <a:spAutoFit/>
          </a:bodyPr>
          <a:lstStyle/>
          <a:p>
            <a:pPr algn="ctr"/>
            <a:r>
              <a:rPr sz="1600" b="1" lang="en-US">
                <a:solidFill>
                  <a:srgbClr val="7446A6"/>
                </a:solidFill>
                <a:latin typeface="Arial"/>
              </a:rPr>
              <a:t>IPFS</a:t>
            </a:r>
          </a:p>
        </p:txBody>
      </p:sp>
      <p:sp>
        <p:nvSpPr>
          <p:cNvPr id="52" name="Label: Model files"/>
          <p:cNvSpPr txBox="1"/>
          <p:nvPr/>
        </p:nvSpPr>
        <p:spPr>
          <a:xfrm>
            <a:off x="4005072" y="3465575"/>
            <a:ext cx="1664208" cy="192024"/>
          </a:xfrm>
          <a:prstGeom prst="rect">
            <a:avLst/>
          </a:prstGeom>
          <a:noFill/>
        </p:spPr>
        <p:txBody>
          <a:bodyPr wrap="square" lIns="0" rIns="0" tIns="0" bIns="0" anchor="ctr">
            <a:spAutoFit/>
          </a:bodyPr>
          <a:lstStyle/>
          <a:p>
            <a:pPr algn="ctr"/>
            <a:r>
              <a:rPr sz="1250" b="0" lang="en-US">
                <a:solidFill>
                  <a:srgbClr val="7446A6"/>
                </a:solidFill>
                <a:latin typeface="Arial"/>
              </a:rPr>
              <a:t>Model files</a:t>
            </a:r>
          </a:p>
        </p:txBody>
      </p:sp>
      <p:sp>
        <p:nvSpPr>
          <p:cNvPr id="53" name="Rounded Rectangle 52"/>
          <p:cNvSpPr/>
          <p:nvPr/>
        </p:nvSpPr>
        <p:spPr>
          <a:xfrm>
            <a:off x="3931920" y="3803904"/>
            <a:ext cx="1810512" cy="603504"/>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abel: Blockchain"/>
          <p:cNvSpPr txBox="1"/>
          <p:nvPr/>
        </p:nvSpPr>
        <p:spPr>
          <a:xfrm>
            <a:off x="4005072" y="3849624"/>
            <a:ext cx="1664208" cy="292608"/>
          </a:xfrm>
          <a:prstGeom prst="rect">
            <a:avLst/>
          </a:prstGeom>
          <a:noFill/>
        </p:spPr>
        <p:txBody>
          <a:bodyPr wrap="square" lIns="0" rIns="0" tIns="0" bIns="0" anchor="ctr">
            <a:spAutoFit/>
          </a:bodyPr>
          <a:lstStyle/>
          <a:p>
            <a:pPr algn="ctr"/>
            <a:r>
              <a:rPr sz="1600" b="1" lang="en-US">
                <a:solidFill>
                  <a:srgbClr val="7446A6"/>
                </a:solidFill>
                <a:latin typeface="Arial"/>
              </a:rPr>
              <a:t>Blockchain</a:t>
            </a:r>
          </a:p>
        </p:txBody>
      </p:sp>
      <p:sp>
        <p:nvSpPr>
          <p:cNvPr id="55" name="Label: Model reference"/>
          <p:cNvSpPr txBox="1"/>
          <p:nvPr/>
        </p:nvSpPr>
        <p:spPr>
          <a:xfrm>
            <a:off x="4005072" y="4187952"/>
            <a:ext cx="1664208" cy="192024"/>
          </a:xfrm>
          <a:prstGeom prst="rect">
            <a:avLst/>
          </a:prstGeom>
          <a:noFill/>
        </p:spPr>
        <p:txBody>
          <a:bodyPr wrap="square" lIns="0" rIns="0" tIns="0" bIns="0" anchor="ctr">
            <a:spAutoFit/>
          </a:bodyPr>
          <a:lstStyle/>
          <a:p>
            <a:pPr algn="ctr"/>
            <a:r>
              <a:rPr sz="1250" b="0" lang="en-US">
                <a:solidFill>
                  <a:srgbClr val="7446A6"/>
                </a:solidFill>
                <a:latin typeface="Arial"/>
              </a:rPr>
              <a:t>Model reference</a:t>
            </a:r>
          </a:p>
        </p:txBody>
      </p:sp>
      <p:cxnSp>
        <p:nvCxnSpPr>
          <p:cNvPr id="56" name="Flow"/>
          <p:cNvCxnSpPr/>
          <p:nvPr/>
        </p:nvCxnSpPr>
        <p:spPr>
          <a:xfrm>
            <a:off x="5897880" y="3547872"/>
            <a:ext cx="1444751"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Label: Published / model"/>
          <p:cNvSpPr txBox="1"/>
          <p:nvPr/>
        </p:nvSpPr>
        <p:spPr>
          <a:xfrm>
            <a:off x="6016752" y="2788920"/>
            <a:ext cx="1252728" cy="594360"/>
          </a:xfrm>
          <a:prstGeom prst="rect">
            <a:avLst/>
          </a:prstGeom>
          <a:noFill/>
        </p:spPr>
        <p:txBody>
          <a:bodyPr wrap="square" lIns="0" rIns="0" tIns="0" bIns="0" anchor="ctr">
            <a:spAutoFit/>
          </a:bodyPr>
          <a:lstStyle/>
          <a:p>
            <a:pPr algn="ctr"/>
            <a:r>
              <a:rPr sz="1600" b="0" lang="en-US">
                <a:solidFill>
                  <a:srgbClr val="7446A6"/>
                </a:solidFill>
                <a:latin typeface="Arial"/>
              </a:rPr>
              <a:t>Published
model</a:t>
            </a:r>
          </a:p>
        </p:txBody>
      </p:sp>
      <p:sp>
        <p:nvSpPr>
          <p:cNvPr id="58" name="Node: Inference"/>
          <p:cNvSpPr/>
          <p:nvPr/>
        </p:nvSpPr>
        <p:spPr>
          <a:xfrm>
            <a:off x="7388352" y="3067812"/>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abel: Inference"/>
          <p:cNvSpPr txBox="1"/>
          <p:nvPr/>
        </p:nvSpPr>
        <p:spPr>
          <a:xfrm>
            <a:off x="7452360" y="3095244"/>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Inference</a:t>
            </a:r>
          </a:p>
        </p:txBody>
      </p:sp>
      <p:sp>
        <p:nvSpPr>
          <p:cNvPr id="60" name="Oval 59"/>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5"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68" name="Flow"/>
          <p:cNvCxnSpPr/>
          <p:nvPr/>
        </p:nvCxnSpPr>
        <p:spPr>
          <a:xfrm>
            <a:off x="8065008" y="2743200"/>
            <a:ext cx="0" cy="265176"/>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Label: MCP"/>
          <p:cNvSpPr txBox="1"/>
          <p:nvPr/>
        </p:nvSpPr>
        <p:spPr>
          <a:xfrm>
            <a:off x="7397496" y="2738628"/>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0" name="Flow"/>
          <p:cNvCxnSpPr/>
          <p:nvPr/>
        </p:nvCxnSpPr>
        <p:spPr>
          <a:xfrm flipV="1">
            <a:off x="8540496" y="2743200"/>
            <a:ext cx="0" cy="265176"/>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Label: Result"/>
          <p:cNvSpPr txBox="1"/>
          <p:nvPr/>
        </p:nvSpPr>
        <p:spPr>
          <a:xfrm>
            <a:off x="8668512" y="2738628"/>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2" name="Flow"/>
          <p:cNvCxnSpPr/>
          <p:nvPr/>
        </p:nvCxnSpPr>
        <p:spPr>
          <a:xfrm>
            <a:off x="9244584" y="3547872"/>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Label: Tool receipt"/>
          <p:cNvSpPr txBox="1"/>
          <p:nvPr/>
        </p:nvSpPr>
        <p:spPr>
          <a:xfrm>
            <a:off x="9281160" y="3081528"/>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74" name="Oval 73"/>
          <p:cNvSpPr/>
          <p:nvPr/>
        </p:nvSpPr>
        <p:spPr>
          <a:xfrm>
            <a:off x="10433304" y="310896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755630" y="322920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716768" y="326806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677906" y="3306927"/>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Flow"/>
          <p:cNvCxnSpPr/>
          <p:nvPr/>
        </p:nvCxnSpPr>
        <p:spPr>
          <a:xfrm>
            <a:off x="10755630" y="3439058"/>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9" name="Flow"/>
          <p:cNvCxnSpPr/>
          <p:nvPr/>
        </p:nvCxnSpPr>
        <p:spPr>
          <a:xfrm>
            <a:off x="10755630" y="3547872"/>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0" name="Flow"/>
          <p:cNvCxnSpPr/>
          <p:nvPr/>
        </p:nvCxnSpPr>
        <p:spPr>
          <a:xfrm>
            <a:off x="10755630" y="3656685"/>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1" name="Label: Transparency / log"/>
          <p:cNvSpPr txBox="1"/>
          <p:nvPr/>
        </p:nvSpPr>
        <p:spPr>
          <a:xfrm>
            <a:off x="9820656" y="4105656"/>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cxnSp>
        <p:nvCxnSpPr>
          <p:cNvPr id="82" name="Association: Inference and Phala attestation check"/>
          <p:cNvCxnSpPr/>
          <p:nvPr/>
        </p:nvCxnSpPr>
        <p:spPr>
          <a:xfrm>
            <a:off x="8293608" y="4027932"/>
            <a:ext cx="0" cy="461772"/>
          </a:xfrm>
          <a:prstGeom prst="line">
            <a:avLst/>
          </a:prstGeom>
          <a:ln w="19050">
            <a:solidFill>
              <a:srgbClr val="1764A1"/>
            </a:solidFill>
          </a:ln>
        </p:spPr>
        <p:style>
          <a:lnRef idx="2">
            <a:schemeClr val="accent1"/>
          </a:lnRef>
          <a:fillRef idx="0">
            <a:schemeClr val="accent1"/>
          </a:fillRef>
          <a:effectRef idx="1">
            <a:schemeClr val="accent1"/>
          </a:effectRef>
          <a:fontRef idx="minor">
            <a:schemeClr val="tx1"/>
          </a:fontRef>
        </p:style>
      </p:cxnSp>
      <p:sp>
        <p:nvSpPr>
          <p:cNvPr id="83" name="Node: Phala remote attestation check"/>
          <p:cNvSpPr/>
          <p:nvPr/>
        </p:nvSpPr>
        <p:spPr>
          <a:xfrm>
            <a:off x="7004304" y="4489704"/>
            <a:ext cx="2578608" cy="758952"/>
          </a:xfrm>
          <a:prstGeom prst="roundRect">
            <a:avLst/>
          </a:prstGeom>
          <a:solidFill>
            <a:srgbClr val="EDF4FA"/>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abel: Phala"/>
          <p:cNvSpPr txBox="1"/>
          <p:nvPr/>
        </p:nvSpPr>
        <p:spPr>
          <a:xfrm>
            <a:off x="7104888" y="4581144"/>
            <a:ext cx="2377440" cy="301752"/>
          </a:xfrm>
          <a:prstGeom prst="rect">
            <a:avLst/>
          </a:prstGeom>
          <a:noFill/>
        </p:spPr>
        <p:txBody>
          <a:bodyPr wrap="square" lIns="0" rIns="0" tIns="0" bIns="0" anchor="ctr">
            <a:spAutoFit/>
          </a:bodyPr>
          <a:lstStyle/>
          <a:p>
            <a:pPr algn="ctr"/>
            <a:r>
              <a:rPr sz="1700" b="1" lang="en-US">
                <a:solidFill>
                  <a:srgbClr val="1764A1"/>
                </a:solidFill>
                <a:latin typeface="Arial"/>
              </a:rPr>
              <a:t>Phala</a:t>
            </a:r>
          </a:p>
        </p:txBody>
      </p:sp>
      <p:sp>
        <p:nvSpPr>
          <p:cNvPr id="85" name="Label: Remote attestation check"/>
          <p:cNvSpPr txBox="1"/>
          <p:nvPr/>
        </p:nvSpPr>
        <p:spPr>
          <a:xfrm>
            <a:off x="7104888" y="4937760"/>
            <a:ext cx="2377440" cy="228600"/>
          </a:xfrm>
          <a:prstGeom prst="rect">
            <a:avLst/>
          </a:prstGeom>
          <a:noFill/>
        </p:spPr>
        <p:txBody>
          <a:bodyPr wrap="square" lIns="0" rIns="0" tIns="0" bIns="0" anchor="ctr">
            <a:spAutoFit/>
          </a:bodyPr>
          <a:lstStyle/>
          <a:p>
            <a:pPr algn="ctr"/>
            <a:r>
              <a:rPr sz="1230" b="0" lang="en-US">
                <a:solidFill>
                  <a:srgbClr val="1764A1"/>
                </a:solidFill>
                <a:latin typeface="Arial"/>
              </a:rPr>
              <a:t>Remote attestation check</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Approved VITA-FL lifecycle diagram — F3</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