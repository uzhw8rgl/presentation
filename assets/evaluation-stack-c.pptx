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710" r:id="rId2"/>
  </p:sldMasterIdLst>
  <p:notesMasterIdLst>
    <p:notesMasterId r:id="rId8"/>
  </p:notesMasterIdLst>
  <p:sldIdLst>
    <p:sldId id="256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0D1E"/>
    <a:srgbClr val="9013FE"/>
    <a:srgbClr val="1F90CC"/>
    <a:srgbClr val="434343"/>
    <a:srgbClr val="C40E02"/>
    <a:srgbClr val="FFFFFF"/>
    <a:srgbClr val="49CB40"/>
    <a:srgbClr val="C50E1F"/>
    <a:srgbClr val="B2B2B2"/>
    <a:srgbClr val="7171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6327"/>
  </p:normalViewPr>
  <p:slideViewPr>
    <p:cSldViewPr snapToGrid="0" snapToObjects="1">
      <p:cViewPr varScale="1">
        <p:scale>
          <a:sx n="81" d="100"/>
          <a:sy n="81" d="100"/>
        </p:scale>
        <p:origin x="54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53" d="100"/>
          <a:sy n="153" d="100"/>
        </p:scale>
        <p:origin x="4920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A6180F-3EA1-4748-B4F4-956BB5176995}" type="datetimeFigureOut">
              <a:rPr lang="de-DE" smtClean="0"/>
              <a:t>16.06.2025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3C3961-1900-1342-BF9B-82C3215CD3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8931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APPROVED EVALUATION ARCHITECTURE — EXPERIMENT HOST AND PHALA</a:t>
            </a:r>
          </a:p>
          <a:p/>
          <a:p>
            <a:r>
              <a:rPr lang="en-US"/>
              <a:t>PURPOSE AND SCOPE</a:t>
            </a:r>
          </a:p>
          <a:p>
            <a:r>
              <a:rPr lang="en-US"/>
              <a:t>Meta-level architecture of the current evaluation workflow, checked against local</a:t>
            </a:r>
          </a:p>
          <a:p>
            <a:r>
              <a:rPr lang="en-US"/>
              <a:t>implementation on 27 September 2026. This slide describes responsibilities and</a:t>
            </a:r>
          </a:p>
          <a:p>
            <a:r>
              <a:rPr lang="en-US"/>
              <a:t>execution boundaries, not the outcome of a new run or a measured success rate.</a:t>
            </a:r>
          </a:p>
          <a:p>
            <a:r>
              <a:rPr lang="en-US"/>
              <a:t>It introduces the evaluation section before the historical 24-round Phala run.</a:t>
            </a:r>
          </a:p>
          <a:p>
            <a:r>
              <a:rPr lang="en-US"/>
              <a:t>That historical experiment is separate evidence; this slide does not claim it</a:t>
            </a:r>
          </a:p>
          <a:p>
            <a:r>
              <a:rPr lang="en-US"/>
              <a:t>was conducted with the current SMEW/SMA/test-driver workflow.</a:t>
            </a:r>
          </a:p>
          <a:p/>
          <a:p>
            <a:r>
              <a:rPr lang="en-US"/>
              <a:t>COMPONENT ROLES</a:t>
            </a:r>
          </a:p>
          <a:p>
            <a:r>
              <a:rPr lang="en-US"/>
              <a:t>SMEW (Sustainability Measurement Experiment Workflow) defines campaign matrices</a:t>
            </a:r>
          </a:p>
          <a:p>
            <a:r>
              <a:rPr lang="en-US"/>
              <a:t>and repetitions, distributes runs to daemons, supervises the measurement process,</a:t>
            </a:r>
          </a:p>
          <a:p>
            <a:r>
              <a:rPr lang="en-US"/>
              <a:t>collects reports and validates completeness and overall status. The orchestrator</a:t>
            </a:r>
          </a:p>
          <a:p>
            <a:r>
              <a:rPr lang="en-US"/>
              <a:t>can be hosted separately from the daemon. Diagrams group both under SMEW.</a:t>
            </a:r>
          </a:p>
          <a:p>
            <a:r>
              <a:rPr lang="en-US"/>
              <a:t>SMA (Sustainability Measurement Agent) starts vita-fl-td as a local subprocess,</a:t>
            </a:r>
          </a:p>
          <a:p>
            <a:r>
              <a:rPr lang="en-US"/>
              <a:t>records a measurement window with configured pre/post time, collects process</a:t>
            </a:r>
          </a:p>
          <a:p>
            <a:r>
              <a:rPr lang="en-US"/>
              <a:t>metadata and result files, and fetches Prometheus range-query data for that window</a:t>
            </a:r>
          </a:p>
          <a:p>
            <a:r>
              <a:rPr lang="en-US"/>
              <a:t>after execution. Prometheus performs the continuous scrape; SMA is not a sensor.</a:t>
            </a:r>
          </a:p>
          <a:p>
            <a:r>
              <a:rPr lang="en-US"/>
              <a:t>vita-fl-td drives the deployed system through its real control API, chain RPC and</a:t>
            </a:r>
          </a:p>
          <a:p>
            <a:r>
              <a:rPr lang="en-US"/>
              <a:t>cloud-agent endpoints; selected fault scenarios also use the Phala API. It checks</a:t>
            </a:r>
          </a:p>
          <a:p>
            <a:r>
              <a:rPr lang="en-US"/>
              <a:t>scenario-specific assertions, on-chain events and published evidence. When audit</a:t>
            </a:r>
          </a:p>
          <a:p>
            <a:r>
              <a:rPr lang="en-US"/>
              <a:t>is enabled, it re-verifies SCITT, AIR/TDX and Sello evidence from the transparency</a:t>
            </a:r>
          </a:p>
          <a:p>
            <a:r>
              <a:rPr lang="en-US"/>
              <a:t>log. It reuses production verifier primitives and obtains fresh Phala quote</a:t>
            </a:r>
          </a:p>
          <a:p>
            <a:r>
              <a:rPr lang="en-US"/>
              <a:t>appraisals; it does not implement an independent Intel DCAP verifier.</a:t>
            </a:r>
          </a:p>
          <a:p>
            <a:r>
              <a:rPr lang="en-US"/>
              <a:t>VITA-FL is the deployed system under test: distributed training and aggregation,</a:t>
            </a:r>
          </a:p>
          <a:p>
            <a:r>
              <a:rPr lang="en-US"/>
              <a:t>agent tools, attested inference, contracts, storage, transparency log and metrics.</a:t>
            </a:r>
          </a:p>
          <a:p>
            <a:r>
              <a:rPr lang="en-US"/>
              <a:t>The test driver controls a predeployed system; it does not deploy the cloud stack.</a:t>
            </a:r>
          </a:p>
          <a:p/>
          <a:p>
            <a:r>
              <a:rPr lang="en-US"/>
              <a:t>EXECUTION AND DATA FLOWS</a:t>
            </a:r>
          </a:p>
          <a:p>
            <a:r>
              <a:rPr lang="en-US"/>
              <a:t>In the evaluated Phala setup, SMEW daemon, SMA and the test driver execute on the</a:t>
            </a:r>
          </a:p>
          <a:p>
            <a:r>
              <a:rPr lang="en-US"/>
              <a:t>experiment host; VITA-FL and its Prometheus monitoring execute in Phala. Other</a:t>
            </a:r>
          </a:p>
          <a:p>
            <a:r>
              <a:rPr lang="en-US"/>
              <a:t>Docker profiles and a separately hosted SMEW orchestrator are possible.</a:t>
            </a:r>
          </a:p>
          <a:p>
            <a:r>
              <a:rPr lang="en-US"/>
              <a:t>SMEW daemon -&gt; SMA: launch and supervise a parameterized run.</a:t>
            </a:r>
          </a:p>
          <a:p>
            <a:r>
              <a:rPr lang="en-US"/>
              <a:t>SMA -&gt; TD: start a subprocess scenario and await its completion.</a:t>
            </a:r>
          </a:p>
          <a:p>
            <a:r>
              <a:rPr lang="en-US"/>
              <a:t>TD -&gt; VITA-FL: API/RPC control and configured fault injection.</a:t>
            </a:r>
          </a:p>
          <a:p>
            <a:r>
              <a:rPr lang="en-US"/>
              <a:t>VITA-FL -&gt; TD: state, events and published evidence for assertions.</a:t>
            </a:r>
          </a:p>
          <a:p>
            <a:r>
              <a:rPr lang="en-US"/>
              <a:t>VITA-FL -&gt; Prometheus: exported progress, operating and gas metrics.</a:t>
            </a:r>
          </a:p>
          <a:p>
            <a:r>
              <a:rPr lang="en-US"/>
              <a:t>Prometheus -&gt; SMA: time series queried for the recorded run window.</a:t>
            </a:r>
          </a:p>
          <a:p>
            <a:r>
              <a:rPr lang="en-US"/>
              <a:t>TD -&gt; SMA -&gt; SMEW reports: verdict, checks, JUnit and archived run artifacts.</a:t>
            </a:r>
          </a:p>
          <a:p>
            <a:r>
              <a:rPr lang="en-US"/>
              <a:t>Saved reports -&gt; SMEW Marimo notebook: compare and visualize completed runs.</a:t>
            </a:r>
          </a:p>
          <a:p>
            <a:r>
              <a:rPr lang="en-US"/>
              <a:t>Marimo does not start the campaign or re-run the cryptographic verification.</a:t>
            </a:r>
          </a:p>
          <a:p/>
          <a:p>
            <a:r>
              <a:rPr lang="en-US"/>
              <a:t>INTERPRETATION LIMITS</a:t>
            </a:r>
          </a:p>
          <a:p>
            <a:r>
              <a:rPr lang="en-US"/>
              <a:t>A successful subprocess exit alone is not a passed system evaluation. TD supplies</a:t>
            </a:r>
          </a:p>
          <a:p>
            <a:r>
              <a:rPr lang="en-US"/>
              <a:t>semantic verdicts and evidence; SMEW also requires a successful measurement run</a:t>
            </a:r>
          </a:p>
          <a:p>
            <a:r>
              <a:rPr lang="en-US"/>
              <a:t>and a valid report. Configured assertions determine the claim supported by a run.</a:t>
            </a:r>
          </a:p>
          <a:p>
            <a:r>
              <a:rPr lang="en-US"/>
              <a:t>SMA's name does not imply energy measurement: this integration uses exported</a:t>
            </a:r>
          </a:p>
          <a:p>
            <a:r>
              <a:rPr lang="en-US"/>
              <a:t>Prometheus metrics (including training progress and gas use), not measured Joules.</a:t>
            </a:r>
          </a:p>
          <a:p>
            <a:r>
              <a:rPr lang="en-US"/>
              <a:t>The diagrams simplify internal VITA services and do not represent every API call.</a:t>
            </a:r>
          </a:p>
          <a:p>
            <a:r>
              <a:rPr lang="en-US"/>
              <a:t>VITA-FL is a separate deployed system, not a subprocess of the local test driver.</a:t>
            </a:r>
          </a:p>
          <a:p>
            <a:r>
              <a:rPr lang="en-US"/>
              <a:t>Solid neutral arrows mean launch/control, blue arrows mean evidence/report return,</a:t>
            </a:r>
          </a:p>
          <a:p>
            <a:r>
              <a:rPr lang="en-US"/>
              <a:t>and dashed purple arrows show metric collection and retrieval of time series.</a:t>
            </a:r>
          </a:p>
          <a:p/>
          <a:p>
            <a:r>
              <a:rPr lang="en-US"/>
              <a:t>SOURCE MAP (workspace-relative):</a:t>
            </a:r>
          </a:p>
          <a:p>
            <a:r>
              <a:rPr lang="en-US"/>
              <a:t>SMEW/README.md</a:t>
            </a:r>
          </a:p>
          <a:p>
            <a:r>
              <a:rPr lang="en-US"/>
              <a:t>SMEW/smew/daemon.py</a:t>
            </a:r>
          </a:p>
          <a:p>
            <a:r>
              <a:rPr lang="en-US"/>
              <a:t>SMEW/smew/runner.py</a:t>
            </a:r>
          </a:p>
          <a:p>
            <a:r>
              <a:rPr lang="en-US"/>
              <a:t>SMEW/smew/analysis/vita_fl.py</a:t>
            </a:r>
          </a:p>
          <a:p>
            <a:r>
              <a:rPr lang="en-US"/>
              <a:t>SMEW/reporting.py</a:t>
            </a:r>
          </a:p>
          <a:p>
            <a:r>
              <a:rPr lang="en-US"/>
              <a:t>sustainability-measurement-agent/sma/sma.py</a:t>
            </a:r>
          </a:p>
          <a:p>
            <a:r>
              <a:rPr lang="en-US"/>
              <a:t>vita-fl-td/README.md</a:t>
            </a:r>
          </a:p>
          <a:p>
            <a:r>
              <a:rPr lang="en-US"/>
              <a:t>vita-fl-td/src/vita_fl_td/cli.py</a:t>
            </a:r>
          </a:p>
          <a:p>
            <a:r>
              <a:rPr lang="en-US"/>
              <a:t>vita-fl-td/src/vita_fl_td/runner.py</a:t>
            </a:r>
          </a:p>
          <a:p>
            <a:r>
              <a:rPr lang="en-US"/>
              <a:t>vita-fl-td/src/vita_fl_td/transparency_audit.py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- Tex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3">
            <a:extLst>
              <a:ext uri="{FF2B5EF4-FFF2-40B4-BE49-F238E27FC236}">
                <a16:creationId xmlns:a16="http://schemas.microsoft.com/office/drawing/2014/main" id="{9A036687-F2BF-7B4C-A352-6E1D355D125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6479" y="1260572"/>
            <a:ext cx="8885359" cy="3273604"/>
          </a:xfrm>
          <a:custGeom>
            <a:avLst/>
            <a:gdLst>
              <a:gd name="connsiteX0" fmla="*/ 0 w 8328660"/>
              <a:gd name="connsiteY0" fmla="*/ 0 h 3143274"/>
              <a:gd name="connsiteX1" fmla="*/ 8328660 w 8328660"/>
              <a:gd name="connsiteY1" fmla="*/ 0 h 3143274"/>
              <a:gd name="connsiteX2" fmla="*/ 8328660 w 8328660"/>
              <a:gd name="connsiteY2" fmla="*/ 3143274 h 3143274"/>
              <a:gd name="connsiteX3" fmla="*/ 0 w 8328660"/>
              <a:gd name="connsiteY3" fmla="*/ 3143274 h 3143274"/>
              <a:gd name="connsiteX4" fmla="*/ 0 w 8328660"/>
              <a:gd name="connsiteY4" fmla="*/ 0 h 314327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8660 w 8336280"/>
              <a:gd name="connsiteY2" fmla="*/ 374525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1040 w 8336280"/>
              <a:gd name="connsiteY2" fmla="*/ 324233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286029 h 3429303"/>
              <a:gd name="connsiteX1" fmla="*/ 8336280 w 8336280"/>
              <a:gd name="connsiteY1" fmla="*/ 0 h 3429303"/>
              <a:gd name="connsiteX2" fmla="*/ 8321040 w 8336280"/>
              <a:gd name="connsiteY2" fmla="*/ 2926383 h 3429303"/>
              <a:gd name="connsiteX3" fmla="*/ 0 w 8336280"/>
              <a:gd name="connsiteY3" fmla="*/ 3429303 h 3429303"/>
              <a:gd name="connsiteX4" fmla="*/ 0 w 8336280"/>
              <a:gd name="connsiteY4" fmla="*/ 286029 h 3429303"/>
              <a:gd name="connsiteX0" fmla="*/ 0 w 8339997"/>
              <a:gd name="connsiteY0" fmla="*/ 312049 h 3429303"/>
              <a:gd name="connsiteX1" fmla="*/ 8339997 w 8339997"/>
              <a:gd name="connsiteY1" fmla="*/ 0 h 3429303"/>
              <a:gd name="connsiteX2" fmla="*/ 8324757 w 8339997"/>
              <a:gd name="connsiteY2" fmla="*/ 2926383 h 3429303"/>
              <a:gd name="connsiteX3" fmla="*/ 3717 w 8339997"/>
              <a:gd name="connsiteY3" fmla="*/ 3429303 h 3429303"/>
              <a:gd name="connsiteX4" fmla="*/ 0 w 8339997"/>
              <a:gd name="connsiteY4" fmla="*/ 312049 h 3429303"/>
              <a:gd name="connsiteX0" fmla="*/ 0 w 8343172"/>
              <a:gd name="connsiteY0" fmla="*/ 305699 h 3429303"/>
              <a:gd name="connsiteX1" fmla="*/ 8343172 w 8343172"/>
              <a:gd name="connsiteY1" fmla="*/ 0 h 3429303"/>
              <a:gd name="connsiteX2" fmla="*/ 8327932 w 8343172"/>
              <a:gd name="connsiteY2" fmla="*/ 2926383 h 3429303"/>
              <a:gd name="connsiteX3" fmla="*/ 6892 w 8343172"/>
              <a:gd name="connsiteY3" fmla="*/ 3429303 h 3429303"/>
              <a:gd name="connsiteX4" fmla="*/ 0 w 8343172"/>
              <a:gd name="connsiteY4" fmla="*/ 305699 h 3429303"/>
              <a:gd name="connsiteX0" fmla="*/ 0 w 8349522"/>
              <a:gd name="connsiteY0" fmla="*/ 30887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8874 h 3429303"/>
              <a:gd name="connsiteX0" fmla="*/ 0 w 8352697"/>
              <a:gd name="connsiteY0" fmla="*/ 312049 h 3429303"/>
              <a:gd name="connsiteX1" fmla="*/ 8352697 w 8352697"/>
              <a:gd name="connsiteY1" fmla="*/ 0 h 3429303"/>
              <a:gd name="connsiteX2" fmla="*/ 8337457 w 8352697"/>
              <a:gd name="connsiteY2" fmla="*/ 2926383 h 3429303"/>
              <a:gd name="connsiteX3" fmla="*/ 16417 w 8352697"/>
              <a:gd name="connsiteY3" fmla="*/ 3429303 h 3429303"/>
              <a:gd name="connsiteX4" fmla="*/ 0 w 8352697"/>
              <a:gd name="connsiteY4" fmla="*/ 312049 h 3429303"/>
              <a:gd name="connsiteX0" fmla="*/ 0 w 8349522"/>
              <a:gd name="connsiteY0" fmla="*/ 30252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2524 h 3429303"/>
              <a:gd name="connsiteX0" fmla="*/ 0 w 8349522"/>
              <a:gd name="connsiteY0" fmla="*/ 302524 h 3226103"/>
              <a:gd name="connsiteX1" fmla="*/ 8349522 w 8349522"/>
              <a:gd name="connsiteY1" fmla="*/ 0 h 3226103"/>
              <a:gd name="connsiteX2" fmla="*/ 8334282 w 8349522"/>
              <a:gd name="connsiteY2" fmla="*/ 2926383 h 3226103"/>
              <a:gd name="connsiteX3" fmla="*/ 13242 w 8349522"/>
              <a:gd name="connsiteY3" fmla="*/ 3226103 h 3226103"/>
              <a:gd name="connsiteX4" fmla="*/ 0 w 8349522"/>
              <a:gd name="connsiteY4" fmla="*/ 302524 h 3226103"/>
              <a:gd name="connsiteX0" fmla="*/ 0 w 8883911"/>
              <a:gd name="connsiteY0" fmla="*/ 326274 h 3226103"/>
              <a:gd name="connsiteX1" fmla="*/ 8883911 w 8883911"/>
              <a:gd name="connsiteY1" fmla="*/ 0 h 3226103"/>
              <a:gd name="connsiteX2" fmla="*/ 8868671 w 8883911"/>
              <a:gd name="connsiteY2" fmla="*/ 2926383 h 3226103"/>
              <a:gd name="connsiteX3" fmla="*/ 547631 w 8883911"/>
              <a:gd name="connsiteY3" fmla="*/ 3226103 h 3226103"/>
              <a:gd name="connsiteX4" fmla="*/ 0 w 8883911"/>
              <a:gd name="connsiteY4" fmla="*/ 326274 h 3226103"/>
              <a:gd name="connsiteX0" fmla="*/ 0 w 8872036"/>
              <a:gd name="connsiteY0" fmla="*/ 326274 h 3226103"/>
              <a:gd name="connsiteX1" fmla="*/ 8872036 w 8872036"/>
              <a:gd name="connsiteY1" fmla="*/ 0 h 3226103"/>
              <a:gd name="connsiteX2" fmla="*/ 8856796 w 8872036"/>
              <a:gd name="connsiteY2" fmla="*/ 2926383 h 3226103"/>
              <a:gd name="connsiteX3" fmla="*/ 535756 w 8872036"/>
              <a:gd name="connsiteY3" fmla="*/ 3226103 h 3226103"/>
              <a:gd name="connsiteX4" fmla="*/ 0 w 8872036"/>
              <a:gd name="connsiteY4" fmla="*/ 326274 h 3226103"/>
              <a:gd name="connsiteX0" fmla="*/ 34357 w 8906393"/>
              <a:gd name="connsiteY0" fmla="*/ 326274 h 3273604"/>
              <a:gd name="connsiteX1" fmla="*/ 8906393 w 8906393"/>
              <a:gd name="connsiteY1" fmla="*/ 0 h 3273604"/>
              <a:gd name="connsiteX2" fmla="*/ 8891153 w 8906393"/>
              <a:gd name="connsiteY2" fmla="*/ 2926383 h 3273604"/>
              <a:gd name="connsiteX3" fmla="*/ 98 w 8906393"/>
              <a:gd name="connsiteY3" fmla="*/ 3273604 h 3273604"/>
              <a:gd name="connsiteX4" fmla="*/ 34357 w 8906393"/>
              <a:gd name="connsiteY4" fmla="*/ 326274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1367 w 8907662"/>
              <a:gd name="connsiteY3" fmla="*/ 3273604 h 3273604"/>
              <a:gd name="connsiteX4" fmla="*/ 0 w 8907662"/>
              <a:gd name="connsiteY4" fmla="*/ 338149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32591 w 8907662"/>
              <a:gd name="connsiteY3" fmla="*/ 3273604 h 3273604"/>
              <a:gd name="connsiteX4" fmla="*/ 0 w 8907662"/>
              <a:gd name="connsiteY4" fmla="*/ 338149 h 3273604"/>
              <a:gd name="connsiteX0" fmla="*/ 0 w 8885359"/>
              <a:gd name="connsiteY0" fmla="*/ 338149 h 3273604"/>
              <a:gd name="connsiteX1" fmla="*/ 8885359 w 8885359"/>
              <a:gd name="connsiteY1" fmla="*/ 0 h 3273604"/>
              <a:gd name="connsiteX2" fmla="*/ 8870119 w 8885359"/>
              <a:gd name="connsiteY2" fmla="*/ 2926383 h 3273604"/>
              <a:gd name="connsiteX3" fmla="*/ 10288 w 8885359"/>
              <a:gd name="connsiteY3" fmla="*/ 3273604 h 3273604"/>
              <a:gd name="connsiteX4" fmla="*/ 0 w 8885359"/>
              <a:gd name="connsiteY4" fmla="*/ 338149 h 3273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85359" h="3273604">
                <a:moveTo>
                  <a:pt x="0" y="338149"/>
                </a:moveTo>
                <a:lnTo>
                  <a:pt x="8885359" y="0"/>
                </a:lnTo>
                <a:lnTo>
                  <a:pt x="8870119" y="2926383"/>
                </a:lnTo>
                <a:lnTo>
                  <a:pt x="10288" y="3273604"/>
                </a:lnTo>
                <a:cubicBezTo>
                  <a:pt x="7991" y="2232403"/>
                  <a:pt x="2297" y="1379350"/>
                  <a:pt x="0" y="338149"/>
                </a:cubicBezTo>
                <a:close/>
              </a:path>
            </a:pathLst>
          </a:custGeom>
          <a:solidFill>
            <a:srgbClr val="434343"/>
          </a:solidFill>
        </p:spPr>
        <p:txBody>
          <a:bodyPr lIns="576000" anchor="ctr" anchorCtr="0"/>
          <a:lstStyle>
            <a:lvl1pPr marL="0" indent="0" algn="ctr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Platzhalter: Bild Titelfolie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18C730E-B3F8-944F-8BC2-E236CE7245E4}"/>
              </a:ext>
            </a:extLst>
          </p:cNvPr>
          <p:cNvSpPr txBox="1"/>
          <p:nvPr userDrawn="1"/>
        </p:nvSpPr>
        <p:spPr>
          <a:xfrm>
            <a:off x="-2031023" y="2620375"/>
            <a:ext cx="202130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Platzhalterbild ersetzen:</a:t>
            </a:r>
            <a:b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löschen und durch neues Bild ersetzen &gt; über Bildformat &gt; Zuschneiden im Rahmen ggf. nachpositionieren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Copyrightangabe: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Korrektes Copyright angeben (in der Regel Name des*der Fotograf*in), Textfarbe je nach Hintergrund weiß oder schwarz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7B17960-7FEA-3C44-9F5C-B38F41DF0CD3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V1: Titelfolie mit Bild</a:t>
            </a:r>
          </a:p>
        </p:txBody>
      </p:sp>
    </p:spTree>
    <p:extLst>
      <p:ext uri="{BB962C8B-B14F-4D97-AF65-F5344CB8AC3E}">
        <p14:creationId xmlns:p14="http://schemas.microsoft.com/office/powerpoint/2010/main" val="2756911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-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740704DC-2971-A248-9827-94150E3D8746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V2: Titelfolie ohne Bild</a:t>
            </a:r>
          </a:p>
        </p:txBody>
      </p:sp>
    </p:spTree>
    <p:extLst>
      <p:ext uri="{BB962C8B-B14F-4D97-AF65-F5344CB8AC3E}">
        <p14:creationId xmlns:p14="http://schemas.microsoft.com/office/powerpoint/2010/main" val="1505704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- 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D7BD4116-72F8-7D4E-846E-4E9887F60C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0800" y="3175200"/>
            <a:ext cx="9721850" cy="2124075"/>
          </a:xfrm>
          <a:prstGeom prst="rect">
            <a:avLst/>
          </a:prstGeom>
        </p:spPr>
        <p:txBody>
          <a:bodyPr lIns="0" t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9DAAF3EE-A5B2-F647-838D-0DFAACB4D5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00" y="1371600"/>
            <a:ext cx="9721850" cy="15263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endParaRPr lang="de-DE" dirty="0"/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5B12DAD6-93EF-5042-858F-4BB3334F10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1431473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-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5FA8C39-046E-E34F-8E80-7B9D099D728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82400"/>
            <a:ext cx="3982945" cy="40935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br>
              <a:rPr lang="de-DE" dirty="0"/>
            </a:b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br>
              <a:rPr lang="de-DE" dirty="0"/>
            </a:br>
            <a:r>
              <a:rPr lang="de-DE" dirty="0"/>
              <a:t>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8BAC5633-896E-0F44-8840-CC87B5BE704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B97D328-84F0-2C4A-BBAB-1E79CDFE9B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66438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9278302A-602E-374F-9D64-8FCFB4DC60C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64399"/>
            <a:ext cx="3981600" cy="4111200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07DD2921-214D-B547-93DD-EB9D2A99CCE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32764340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theme" Target="../theme/theme2.xml"/><Relationship Id="rId5" Type="http://schemas.openxmlformats.org/officeDocument/2006/relationships/image" Target="../media/image2.png"/><Relationship Id="rId6" Type="http://schemas.openxmlformats.org/officeDocument/2006/relationships/image" Target="../media/image3.svg"/><Relationship Id="rId7" Type="http://schemas.openxmlformats.org/officeDocument/2006/relationships/image" Target="../media/image4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4">
            <a:extLst>
              <a:ext uri="{FF2B5EF4-FFF2-40B4-BE49-F238E27FC236}">
                <a16:creationId xmlns:a16="http://schemas.microsoft.com/office/drawing/2014/main" id="{B97C5655-F240-634C-9B7B-B6181A1B3AF5}"/>
              </a:ext>
            </a:extLst>
          </p:cNvPr>
          <p:cNvSpPr/>
          <p:nvPr userDrawn="1"/>
        </p:nvSpPr>
        <p:spPr>
          <a:xfrm>
            <a:off x="0" y="1668462"/>
            <a:ext cx="12192000" cy="5189537"/>
          </a:xfrm>
          <a:custGeom>
            <a:avLst/>
            <a:gdLst>
              <a:gd name="connsiteX0" fmla="*/ 0 w 12192000"/>
              <a:gd name="connsiteY0" fmla="*/ 0 h 4760912"/>
              <a:gd name="connsiteX1" fmla="*/ 12192000 w 12192000"/>
              <a:gd name="connsiteY1" fmla="*/ 0 h 4760912"/>
              <a:gd name="connsiteX2" fmla="*/ 12192000 w 12192000"/>
              <a:gd name="connsiteY2" fmla="*/ 4760912 h 4760912"/>
              <a:gd name="connsiteX3" fmla="*/ 0 w 12192000"/>
              <a:gd name="connsiteY3" fmla="*/ 4760912 h 4760912"/>
              <a:gd name="connsiteX4" fmla="*/ 0 w 12192000"/>
              <a:gd name="connsiteY4" fmla="*/ 0 h 4760912"/>
              <a:gd name="connsiteX0" fmla="*/ 0 w 12192000"/>
              <a:gd name="connsiteY0" fmla="*/ 212725 h 4973637"/>
              <a:gd name="connsiteX1" fmla="*/ 12192000 w 12192000"/>
              <a:gd name="connsiteY1" fmla="*/ 0 h 4973637"/>
              <a:gd name="connsiteX2" fmla="*/ 12192000 w 12192000"/>
              <a:gd name="connsiteY2" fmla="*/ 4973637 h 4973637"/>
              <a:gd name="connsiteX3" fmla="*/ 0 w 12192000"/>
              <a:gd name="connsiteY3" fmla="*/ 4973637 h 4973637"/>
              <a:gd name="connsiteX4" fmla="*/ 0 w 12192000"/>
              <a:gd name="connsiteY4" fmla="*/ 212725 h 4973637"/>
              <a:gd name="connsiteX0" fmla="*/ 0 w 12192000"/>
              <a:gd name="connsiteY0" fmla="*/ 428625 h 5189537"/>
              <a:gd name="connsiteX1" fmla="*/ 12192000 w 12192000"/>
              <a:gd name="connsiteY1" fmla="*/ 0 h 5189537"/>
              <a:gd name="connsiteX2" fmla="*/ 12192000 w 12192000"/>
              <a:gd name="connsiteY2" fmla="*/ 5189537 h 5189537"/>
              <a:gd name="connsiteX3" fmla="*/ 0 w 12192000"/>
              <a:gd name="connsiteY3" fmla="*/ 5189537 h 5189537"/>
              <a:gd name="connsiteX4" fmla="*/ 0 w 12192000"/>
              <a:gd name="connsiteY4" fmla="*/ 428625 h 518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5189537">
                <a:moveTo>
                  <a:pt x="0" y="428625"/>
                </a:moveTo>
                <a:lnTo>
                  <a:pt x="12192000" y="0"/>
                </a:lnTo>
                <a:lnTo>
                  <a:pt x="12192000" y="5189537"/>
                </a:lnTo>
                <a:lnTo>
                  <a:pt x="0" y="5189537"/>
                </a:lnTo>
                <a:lnTo>
                  <a:pt x="0" y="42862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8DDEEBD-D00D-1249-9E02-EDC0548BFCA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88168" y="378741"/>
            <a:ext cx="2250000" cy="77400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0D20A730-187A-274D-A0E6-8412686F8775}"/>
              </a:ext>
            </a:extLst>
          </p:cNvPr>
          <p:cNvSpPr txBox="1"/>
          <p:nvPr userDrawn="1"/>
        </p:nvSpPr>
        <p:spPr>
          <a:xfrm>
            <a:off x="12292755" y="5534561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Titelseiten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Direkt auf dieser Folie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</p:spTree>
    <p:extLst>
      <p:ext uri="{BB962C8B-B14F-4D97-AF65-F5344CB8AC3E}">
        <p14:creationId xmlns:p14="http://schemas.microsoft.com/office/powerpoint/2010/main" val="3079698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3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347" userDrawn="1">
          <p15:clr>
            <a:srgbClr val="F26B43"/>
          </p15:clr>
        </p15:guide>
        <p15:guide id="2" pos="7333" userDrawn="1">
          <p15:clr>
            <a:srgbClr val="F26B43"/>
          </p15:clr>
        </p15:guide>
        <p15:guide id="3" orient="horz" pos="346" userDrawn="1">
          <p15:clr>
            <a:srgbClr val="F26B43"/>
          </p15:clr>
        </p15:guide>
        <p15:guide id="4" pos="1232" userDrawn="1">
          <p15:clr>
            <a:srgbClr val="F26B43"/>
          </p15:clr>
        </p15:guide>
        <p15:guide id="5" orient="horz" pos="3974" userDrawn="1">
          <p15:clr>
            <a:srgbClr val="F26B43"/>
          </p15:clr>
        </p15:guide>
        <p15:guide id="6" orient="horz" pos="663" userDrawn="1">
          <p15:clr>
            <a:srgbClr val="F26B43"/>
          </p15:clr>
        </p15:guide>
        <p15:guide id="7" orient="horz" pos="1003" userDrawn="1">
          <p15:clr>
            <a:srgbClr val="F26B43"/>
          </p15:clr>
        </p15:guide>
        <p15:guide id="8" orient="horz" pos="1321" userDrawn="1">
          <p15:clr>
            <a:srgbClr val="F26B43"/>
          </p15:clr>
        </p15:guide>
        <p15:guide id="9" orient="horz" pos="1661" userDrawn="1">
          <p15:clr>
            <a:srgbClr val="F26B43"/>
          </p15:clr>
        </p15:guide>
        <p15:guide id="10" orient="horz" pos="2001" userDrawn="1">
          <p15:clr>
            <a:srgbClr val="F26B43"/>
          </p15:clr>
        </p15:guide>
        <p15:guide id="11" orient="horz" pos="3339" userDrawn="1">
          <p15:clr>
            <a:srgbClr val="F26B43"/>
          </p15:clr>
        </p15:guide>
        <p15:guide id="12" orient="horz" pos="2319" userDrawn="1">
          <p15:clr>
            <a:srgbClr val="F26B43"/>
          </p15:clr>
        </p15:guide>
        <p15:guide id="13" orient="horz" pos="2999" userDrawn="1">
          <p15:clr>
            <a:srgbClr val="F26B43"/>
          </p15:clr>
        </p15:guide>
        <p15:guide id="14" orient="horz" pos="3657" userDrawn="1">
          <p15:clr>
            <a:srgbClr val="F26B43"/>
          </p15:clr>
        </p15:guide>
        <p15:guide id="15" orient="horz" pos="2659" userDrawn="1">
          <p15:clr>
            <a:srgbClr val="F26B43"/>
          </p15:clr>
        </p15:guide>
        <p15:guide id="16" pos="2094" userDrawn="1">
          <p15:clr>
            <a:srgbClr val="F26B43"/>
          </p15:clr>
        </p15:guide>
        <p15:guide id="17" pos="2978" userDrawn="1">
          <p15:clr>
            <a:srgbClr val="F26B43"/>
          </p15:clr>
        </p15:guide>
        <p15:guide id="18" pos="3840" userDrawn="1">
          <p15:clr>
            <a:srgbClr val="F26B43"/>
          </p15:clr>
        </p15:guide>
        <p15:guide id="19" pos="4725" userDrawn="1">
          <p15:clr>
            <a:srgbClr val="F26B43"/>
          </p15:clr>
        </p15:guide>
        <p15:guide id="20" pos="5586" userDrawn="1">
          <p15:clr>
            <a:srgbClr val="F26B43"/>
          </p15:clr>
        </p15:guide>
        <p15:guide id="21" pos="647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1">
            <a:extLst>
              <a:ext uri="{FF2B5EF4-FFF2-40B4-BE49-F238E27FC236}">
                <a16:creationId xmlns:a16="http://schemas.microsoft.com/office/drawing/2014/main" id="{48266648-C51B-EA45-AE41-AF74B0A4657C}"/>
              </a:ext>
            </a:extLst>
          </p:cNvPr>
          <p:cNvSpPr/>
          <p:nvPr userDrawn="1"/>
        </p:nvSpPr>
        <p:spPr>
          <a:xfrm>
            <a:off x="0" y="5748124"/>
            <a:ext cx="12195175" cy="1109875"/>
          </a:xfrm>
          <a:custGeom>
            <a:avLst/>
            <a:gdLst>
              <a:gd name="connsiteX0" fmla="*/ 0 w 12192000"/>
              <a:gd name="connsiteY0" fmla="*/ 0 h 687600"/>
              <a:gd name="connsiteX1" fmla="*/ 12192000 w 12192000"/>
              <a:gd name="connsiteY1" fmla="*/ 0 h 687600"/>
              <a:gd name="connsiteX2" fmla="*/ 12192000 w 12192000"/>
              <a:gd name="connsiteY2" fmla="*/ 687600 h 687600"/>
              <a:gd name="connsiteX3" fmla="*/ 0 w 12192000"/>
              <a:gd name="connsiteY3" fmla="*/ 687600 h 687600"/>
              <a:gd name="connsiteX4" fmla="*/ 0 w 12192000"/>
              <a:gd name="connsiteY4" fmla="*/ 0 h 687600"/>
              <a:gd name="connsiteX0" fmla="*/ 0 w 12195175"/>
              <a:gd name="connsiteY0" fmla="*/ 422275 h 1109875"/>
              <a:gd name="connsiteX1" fmla="*/ 12195175 w 12195175"/>
              <a:gd name="connsiteY1" fmla="*/ 0 h 1109875"/>
              <a:gd name="connsiteX2" fmla="*/ 12192000 w 12195175"/>
              <a:gd name="connsiteY2" fmla="*/ 1109875 h 1109875"/>
              <a:gd name="connsiteX3" fmla="*/ 0 w 12195175"/>
              <a:gd name="connsiteY3" fmla="*/ 1109875 h 1109875"/>
              <a:gd name="connsiteX4" fmla="*/ 0 w 12195175"/>
              <a:gd name="connsiteY4" fmla="*/ 422275 h 1109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5175" h="1109875">
                <a:moveTo>
                  <a:pt x="0" y="422275"/>
                </a:moveTo>
                <a:lnTo>
                  <a:pt x="12195175" y="0"/>
                </a:lnTo>
                <a:cubicBezTo>
                  <a:pt x="12194117" y="369958"/>
                  <a:pt x="12193058" y="739917"/>
                  <a:pt x="12192000" y="1109875"/>
                </a:cubicBezTo>
                <a:lnTo>
                  <a:pt x="0" y="1109875"/>
                </a:lnTo>
                <a:lnTo>
                  <a:pt x="0" y="42227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0A395C2-361B-A14B-9312-A16F3F6780A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14598" y="378000"/>
            <a:ext cx="1004400" cy="766068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427D4F0D-9351-B349-8187-43002862F183}"/>
              </a:ext>
            </a:extLst>
          </p:cNvPr>
          <p:cNvSpPr txBox="1"/>
          <p:nvPr userDrawn="1"/>
        </p:nvSpPr>
        <p:spPr>
          <a:xfrm>
            <a:off x="12292755" y="5612990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Folgeseiten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91FA75A-4E02-534F-A661-8216932850DD}"/>
              </a:ext>
            </a:extLst>
          </p:cNvPr>
          <p:cNvSpPr txBox="1"/>
          <p:nvPr userDrawn="1"/>
        </p:nvSpPr>
        <p:spPr>
          <a:xfrm>
            <a:off x="-2243920" y="6474756"/>
            <a:ext cx="2223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Informationen in Fußzeile ändern: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</a:t>
            </a:r>
          </a:p>
        </p:txBody>
      </p:sp>
    </p:spTree>
    <p:extLst>
      <p:ext uri="{BB962C8B-B14F-4D97-AF65-F5344CB8AC3E}">
        <p14:creationId xmlns:p14="http://schemas.microsoft.com/office/powerpoint/2010/main" val="3907247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1" r:id="rId2"/>
    <p:sldLayoutId id="214748371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VITA-FL evaluation tools architecture"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7784" y="292608"/>
            <a:ext cx="88239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0" lang="en-US">
                <a:solidFill>
                  <a:srgbClr val="434343"/>
                </a:solidFill>
                <a:latin typeface="Arial"/>
              </a:rPr>
              <a:t>Local evaluation, deployed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869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 lang="en-US">
                <a:solidFill>
                  <a:srgbClr val="C40D1E"/>
                </a:solidFill>
                <a:latin typeface="Arial"/>
              </a:rPr>
              <a:t>EVALUATION · HOW THE TOOLS WORK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784" y="1188720"/>
            <a:ext cx="10927080" cy="16459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91072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lang="en-US">
                <a:solidFill>
                  <a:srgbClr val="FFFFFF"/>
                </a:solidFill>
                <a:latin typeface="Arial"/>
              </a:rPr>
              <a:t>Page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6291072"/>
            <a:ext cx="8549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 lang="en-US">
                <a:solidFill>
                  <a:srgbClr val="FFFFFF"/>
                </a:solidFill>
                <a:latin typeface="Arial"/>
              </a:rPr>
              <a:t>Ramon Mehrpoya  |  Master's Thesis  |  Verifiable Decentralized Federated Machine Learning and Inference for AI Agent Systems  |  VITA-FL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291072"/>
            <a:ext cx="13990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 lang="en-US">
                <a:solidFill>
                  <a:srgbClr val="FFFFFF"/>
                </a:solidFill>
                <a:latin typeface="Arial"/>
              </a:rPr>
              <a:t>19 August 2026</a:t>
            </a:r>
          </a:p>
        </p:txBody>
      </p:sp>
      <p:sp>
        <p:nvSpPr>
          <p:cNvPr id="8" name="Domain navigation: background"/>
          <p:cNvSpPr/>
          <p:nvPr/>
        </p:nvSpPr>
        <p:spPr>
          <a:xfrm>
            <a:off x="9479280" y="472440"/>
            <a:ext cx="1036320" cy="289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main navigation: DFL badge"/>
          <p:cNvSpPr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solidFill>
            <a:srgbClr val="207548"/>
          </a:solidFill>
          <a:ln w="6985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main navigation: DFL label"/>
          <p:cNvSpPr txBox="1"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DFL</a:t>
            </a:r>
          </a:p>
        </p:txBody>
      </p:sp>
      <p:sp>
        <p:nvSpPr>
          <p:cNvPr id="11" name="Domain navigation: Agent badge"/>
          <p:cNvSpPr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solidFill>
            <a:srgbClr val="1764A1"/>
          </a:solidFill>
          <a:ln w="6985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main navigation: Agent label"/>
          <p:cNvSpPr txBox="1"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13" name="Evaluation stack: The test driver stays outside VITA-FL and checks its observable behavior."/>
          <p:cNvSpPr txBox="1"/>
          <p:nvPr/>
        </p:nvSpPr>
        <p:spPr>
          <a:xfrm>
            <a:off x="630936" y="1389888"/>
            <a:ext cx="10927080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lang="en-US">
                <a:solidFill>
                  <a:srgbClr val="263440"/>
                </a:solidFill>
                <a:latin typeface="Arial"/>
              </a:rPr>
              <a:t>The test driver stays outside VITA-FL and checks its observable behavior.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084831"/>
            <a:ext cx="6665976" cy="3255264"/>
          </a:xfrm>
          <a:prstGeom prst="roundRect">
            <a:avLst/>
          </a:prstGeom>
          <a:solidFill>
            <a:srgbClr val="F2F5F7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99831" y="2084831"/>
            <a:ext cx="3749039" cy="325526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valuation stack: EXPERIMENT HOST"/>
          <p:cNvSpPr txBox="1"/>
          <p:nvPr/>
        </p:nvSpPr>
        <p:spPr>
          <a:xfrm>
            <a:off x="868680" y="2212848"/>
            <a:ext cx="617220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lang="en-US">
                <a:solidFill>
                  <a:srgbClr val="65737D"/>
                </a:solidFill>
                <a:latin typeface="Arial"/>
              </a:rPr>
              <a:t>EXPERIMENT HOST</a:t>
            </a:r>
          </a:p>
        </p:txBody>
      </p:sp>
      <p:sp>
        <p:nvSpPr>
          <p:cNvPr id="17" name="Evaluation stack: PHALA DEPLOYMENT"/>
          <p:cNvSpPr txBox="1"/>
          <p:nvPr/>
        </p:nvSpPr>
        <p:spPr>
          <a:xfrm>
            <a:off x="8037575" y="2212848"/>
            <a:ext cx="3255264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lang="en-US">
                <a:solidFill>
                  <a:srgbClr val="65737D"/>
                </a:solidFill>
                <a:latin typeface="Arial"/>
              </a:rPr>
              <a:t>PHALA DEPLOYMENT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2706624"/>
            <a:ext cx="167335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valuation stack: SMEW"/>
          <p:cNvSpPr txBox="1"/>
          <p:nvPr/>
        </p:nvSpPr>
        <p:spPr>
          <a:xfrm>
            <a:off x="978407" y="2816352"/>
            <a:ext cx="145389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lang="en-US">
                <a:solidFill>
                  <a:srgbClr val="263440"/>
                </a:solidFill>
                <a:latin typeface="Arial"/>
              </a:rPr>
              <a:t>SMEW</a:t>
            </a:r>
          </a:p>
        </p:txBody>
      </p:sp>
      <p:sp>
        <p:nvSpPr>
          <p:cNvPr id="20" name="Evaluation stack: Campaigns"/>
          <p:cNvSpPr txBox="1"/>
          <p:nvPr/>
        </p:nvSpPr>
        <p:spPr>
          <a:xfrm>
            <a:off x="950976" y="3236976"/>
            <a:ext cx="15087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0" lang="en-US">
                <a:solidFill>
                  <a:srgbClr val="65737D"/>
                </a:solidFill>
                <a:latin typeface="Arial"/>
              </a:rPr>
              <a:t>Campaigns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80360" y="2706624"/>
            <a:ext cx="1645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4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valuation stack: SMA"/>
          <p:cNvSpPr txBox="1"/>
          <p:nvPr/>
        </p:nvSpPr>
        <p:spPr>
          <a:xfrm>
            <a:off x="2990088" y="2816352"/>
            <a:ext cx="14264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lang="en-US">
                <a:solidFill>
                  <a:srgbClr val="7446A6"/>
                </a:solidFill>
                <a:latin typeface="Arial"/>
              </a:rPr>
              <a:t>SMA</a:t>
            </a:r>
          </a:p>
        </p:txBody>
      </p:sp>
      <p:sp>
        <p:nvSpPr>
          <p:cNvPr id="23" name="Evaluation stack: Measured run"/>
          <p:cNvSpPr txBox="1"/>
          <p:nvPr/>
        </p:nvSpPr>
        <p:spPr>
          <a:xfrm>
            <a:off x="2962656" y="3236976"/>
            <a:ext cx="148132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0" lang="en-US">
                <a:solidFill>
                  <a:srgbClr val="65737D"/>
                </a:solidFill>
                <a:latin typeface="Arial"/>
              </a:rPr>
              <a:t>Measured run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64608" y="2706624"/>
            <a:ext cx="221284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valuation stack: vita-fl-td"/>
          <p:cNvSpPr txBox="1"/>
          <p:nvPr/>
        </p:nvSpPr>
        <p:spPr>
          <a:xfrm>
            <a:off x="4974336" y="2816352"/>
            <a:ext cx="199339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lang="en-US">
                <a:solidFill>
                  <a:srgbClr val="1764A1"/>
                </a:solidFill>
                <a:latin typeface="Arial"/>
              </a:rPr>
              <a:t>vita-fl-td</a:t>
            </a:r>
          </a:p>
        </p:txBody>
      </p:sp>
      <p:sp>
        <p:nvSpPr>
          <p:cNvPr id="26" name="Evaluation stack: Assertions"/>
          <p:cNvSpPr txBox="1"/>
          <p:nvPr/>
        </p:nvSpPr>
        <p:spPr>
          <a:xfrm>
            <a:off x="4946904" y="3236976"/>
            <a:ext cx="2048255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0" lang="en-US">
                <a:solidFill>
                  <a:srgbClr val="65737D"/>
                </a:solidFill>
                <a:latin typeface="Arial"/>
              </a:rPr>
              <a:t>Assertions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578608" y="3108960"/>
            <a:ext cx="265176" cy="0"/>
          </a:xfrm>
          <a:prstGeom prst="line">
            <a:avLst/>
          </a:prstGeom>
          <a:ln w="22860">
            <a:solidFill>
              <a:srgbClr val="2634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562856" y="3108960"/>
            <a:ext cx="265176" cy="0"/>
          </a:xfrm>
          <a:prstGeom prst="line">
            <a:avLst/>
          </a:prstGeom>
          <a:ln w="22860">
            <a:solidFill>
              <a:srgbClr val="2634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284464" y="2706624"/>
            <a:ext cx="2880360" cy="1216152"/>
          </a:xfrm>
          <a:prstGeom prst="roundRect">
            <a:avLst/>
          </a:prstGeom>
          <a:solidFill>
            <a:srgbClr val="F2F5F7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valuation stack: VITA-FL"/>
          <p:cNvSpPr txBox="1"/>
          <p:nvPr/>
        </p:nvSpPr>
        <p:spPr>
          <a:xfrm>
            <a:off x="8458200" y="2834640"/>
            <a:ext cx="25328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lang="en-US">
                <a:solidFill>
                  <a:srgbClr val="263440"/>
                </a:solidFill>
                <a:latin typeface="Arial"/>
              </a:rPr>
              <a:t>VITA-FL</a:t>
            </a:r>
          </a:p>
        </p:txBody>
      </p:sp>
      <p:sp>
        <p:nvSpPr>
          <p:cNvPr id="31" name="Evaluation stack: Training · inference / contracts · evidence"/>
          <p:cNvSpPr txBox="1"/>
          <p:nvPr/>
        </p:nvSpPr>
        <p:spPr>
          <a:xfrm>
            <a:off x="8458200" y="3300984"/>
            <a:ext cx="253288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lang="en-US">
                <a:solidFill>
                  <a:srgbClr val="263440"/>
                </a:solidFill>
                <a:latin typeface="Arial"/>
              </a:rPr>
              <a:t>Training · inference
contracts · evidence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114032" y="2953512"/>
            <a:ext cx="1133856" cy="0"/>
          </a:xfrm>
          <a:prstGeom prst="line">
            <a:avLst/>
          </a:prstGeom>
          <a:ln w="22860">
            <a:solidFill>
              <a:srgbClr val="2634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Evaluation stack: API / RPC"/>
          <p:cNvSpPr txBox="1"/>
          <p:nvPr/>
        </p:nvSpPr>
        <p:spPr>
          <a:xfrm>
            <a:off x="7223760" y="2660904"/>
            <a:ext cx="97840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 lang="en-US">
                <a:solidFill>
                  <a:srgbClr val="263440"/>
                </a:solidFill>
                <a:latin typeface="Arial"/>
              </a:rPr>
              <a:t>API / RPC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7114032" y="3456432"/>
            <a:ext cx="1133856" cy="0"/>
          </a:xfrm>
          <a:prstGeom prst="line">
            <a:avLst/>
          </a:prstGeom>
          <a:ln w="2286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Evaluation stack: Evidence"/>
          <p:cNvSpPr txBox="1"/>
          <p:nvPr/>
        </p:nvSpPr>
        <p:spPr>
          <a:xfrm>
            <a:off x="7251192" y="3502152"/>
            <a:ext cx="95097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 lang="en-US">
                <a:solidFill>
                  <a:srgbClr val="1764A1"/>
                </a:solidFill>
                <a:latin typeface="Arial"/>
              </a:rPr>
              <a:t>Evidence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84464" y="4315968"/>
            <a:ext cx="2880360" cy="694944"/>
          </a:xfrm>
          <a:prstGeom prst="roundRect">
            <a:avLst/>
          </a:prstGeom>
          <a:solidFill>
            <a:srgbClr val="F3EEF8"/>
          </a:solidFill>
          <a:ln w="12700">
            <a:solidFill>
              <a:srgbClr val="C8B9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valuation stack: Prometheus"/>
          <p:cNvSpPr txBox="1"/>
          <p:nvPr/>
        </p:nvSpPr>
        <p:spPr>
          <a:xfrm>
            <a:off x="8449056" y="4416552"/>
            <a:ext cx="25511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lang="en-US">
                <a:solidFill>
                  <a:srgbClr val="7446A6"/>
                </a:solidFill>
                <a:latin typeface="Arial"/>
              </a:rPr>
              <a:t>Prometheus</a:t>
            </a:r>
          </a:p>
        </p:txBody>
      </p:sp>
      <p:sp>
        <p:nvSpPr>
          <p:cNvPr id="38" name="Evaluation stack: Recorded system metrics"/>
          <p:cNvSpPr txBox="1"/>
          <p:nvPr/>
        </p:nvSpPr>
        <p:spPr>
          <a:xfrm>
            <a:off x="8449056" y="4745736"/>
            <a:ext cx="255117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lang="en-US">
                <a:solidFill>
                  <a:srgbClr val="7446A6"/>
                </a:solidFill>
                <a:latin typeface="Arial"/>
              </a:rPr>
              <a:t>Recorded system metrics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720072" y="3941063"/>
            <a:ext cx="0" cy="338329"/>
          </a:xfrm>
          <a:prstGeom prst="line">
            <a:avLst/>
          </a:prstGeom>
          <a:ln w="22860">
            <a:solidFill>
              <a:srgbClr val="7446A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3749039" y="4645152"/>
            <a:ext cx="4498849" cy="0"/>
          </a:xfrm>
          <a:prstGeom prst="line">
            <a:avLst/>
          </a:prstGeom>
          <a:ln w="22860">
            <a:solidFill>
              <a:srgbClr val="7446A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749039" y="3657600"/>
            <a:ext cx="0" cy="987552"/>
          </a:xfrm>
          <a:prstGeom prst="line">
            <a:avLst/>
          </a:prstGeom>
          <a:ln w="22860">
            <a:solidFill>
              <a:srgbClr val="7446A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Evaluation stack: Time series for run window"/>
          <p:cNvSpPr txBox="1"/>
          <p:nvPr/>
        </p:nvSpPr>
        <p:spPr>
          <a:xfrm>
            <a:off x="4178808" y="4261104"/>
            <a:ext cx="340156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lang="en-US">
                <a:solidFill>
                  <a:srgbClr val="7446A6"/>
                </a:solidFill>
                <a:latin typeface="Arial"/>
              </a:rPr>
              <a:t>Time series for run window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8680" y="4361688"/>
            <a:ext cx="2560320" cy="640080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valuation stack: Reports + Marimo"/>
          <p:cNvSpPr txBox="1"/>
          <p:nvPr/>
        </p:nvSpPr>
        <p:spPr>
          <a:xfrm>
            <a:off x="1005840" y="4443984"/>
            <a:ext cx="22860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lang="en-US">
                <a:solidFill>
                  <a:srgbClr val="1764A1"/>
                </a:solidFill>
                <a:latin typeface="Arial"/>
              </a:rPr>
              <a:t>Reports + Marimo</a:t>
            </a:r>
          </a:p>
        </p:txBody>
      </p:sp>
      <p:sp>
        <p:nvSpPr>
          <p:cNvPr id="45" name="Evaluation stack: Compare saved runs"/>
          <p:cNvSpPr txBox="1"/>
          <p:nvPr/>
        </p:nvSpPr>
        <p:spPr>
          <a:xfrm>
            <a:off x="1005840" y="4764024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lang="en-US">
                <a:solidFill>
                  <a:srgbClr val="65737D"/>
                </a:solidFill>
                <a:latin typeface="Arial"/>
              </a:rPr>
              <a:t>Compare saved runs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709928" y="3657600"/>
            <a:ext cx="0" cy="667512"/>
          </a:xfrm>
          <a:prstGeom prst="line">
            <a:avLst/>
          </a:prstGeom>
          <a:ln w="2286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246120" y="3657600"/>
            <a:ext cx="0" cy="329184"/>
          </a:xfrm>
          <a:prstGeom prst="line">
            <a:avLst/>
          </a:prstGeom>
          <a:ln w="22860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2496312" y="3986784"/>
            <a:ext cx="749808" cy="0"/>
          </a:xfrm>
          <a:prstGeom prst="line">
            <a:avLst/>
          </a:prstGeom>
          <a:ln w="22860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496312" y="3986784"/>
            <a:ext cx="0" cy="338328"/>
          </a:xfrm>
          <a:prstGeom prst="line">
            <a:avLst/>
          </a:prstGeom>
          <a:ln w="2286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5980176" y="3657600"/>
            <a:ext cx="0" cy="292608"/>
          </a:xfrm>
          <a:prstGeom prst="line">
            <a:avLst/>
          </a:prstGeom>
          <a:ln w="22860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4251960" y="3950208"/>
            <a:ext cx="1728216" cy="0"/>
          </a:xfrm>
          <a:prstGeom prst="line">
            <a:avLst/>
          </a:prstGeom>
          <a:ln w="22860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251960" y="3657600"/>
            <a:ext cx="0" cy="292608"/>
          </a:xfrm>
          <a:prstGeom prst="line">
            <a:avLst/>
          </a:prstGeom>
          <a:ln w="2286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Evaluation stack: SMA retrieves the time series for its measurement window after the scenario ends."/>
          <p:cNvSpPr txBox="1"/>
          <p:nvPr/>
        </p:nvSpPr>
        <p:spPr>
          <a:xfrm>
            <a:off x="658368" y="5468112"/>
            <a:ext cx="1089050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lang="en-US">
                <a:solidFill>
                  <a:srgbClr val="65737D"/>
                </a:solidFill>
                <a:latin typeface="Arial"/>
              </a:rPr>
              <a:t>SMA retrieves the time series for its measurement window after the scenario ends.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elfolien zur Auswahl">
  <a:themeElements>
    <a:clrScheme name="TU Berlin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4A2A0730-D474-B642-9EC8-245B2B7F7B17}"/>
    </a:ext>
  </a:extLst>
</a:theme>
</file>

<file path=ppt/theme/theme2.xml><?xml version="1.0" encoding="utf-8"?>
<a:theme xmlns:a="http://schemas.openxmlformats.org/drawingml/2006/main" name="Master für Folgeseiten">
  <a:themeElements>
    <a:clrScheme name="TU Berlin 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6D2ACD7B-51E4-3F4D-A883-FB2A0ECC7C66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TU-Berlin-Praesentation-Master-einfarbig-Rot</Template>
  <TotalTime>0</TotalTime>
  <Words>59</Words>
  <Application>Microsoft Office PowerPoint</Application>
  <PresentationFormat>Breitbild</PresentationFormat>
  <Paragraphs>5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Arial</vt:lpstr>
      <vt:lpstr>Calibri</vt:lpstr>
      <vt:lpstr>Symbol</vt:lpstr>
      <vt:lpstr>Titelfolien zur Auswahl</vt:lpstr>
      <vt:lpstr>Master für Folgeseiten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VITA-FL — Evaluation tools: experiment host and Phala</dc:title>
  <dc:creator>Ramon Mehrpoya</dc:creator>
  <cp:lastModifiedBy>Friedrich, Ulrike</cp:lastModifiedBy>
  <cp:revision>3</cp:revision>
  <cp:lastPrinted>2021-03-24T16:10:50Z</cp:lastPrinted>
  <dcterms:created xsi:type="dcterms:W3CDTF">2023-04-20T08:54:03Z</dcterms:created>
  <dcterms:modified xsi:type="dcterms:W3CDTF">2025-06-16T09:49:54Z</dcterms:modified>
  <dc:subject>Verifiable Decentralized Federated Machine Learning and Inference for AI Agent Systems</dc:subject>
  <cp:keywords>VITA-FL, DFL, TEE, attested inference, transparency log</cp:keywords>
  <dc:language>en-US</dc:language>
</cp:coreProperties>
</file>