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710" r:id="rId2"/>
  </p:sldMasterIdLst>
  <p:notesMasterIdLst>
    <p:notesMasterId r:id="rId8"/>
  </p:notesMasterIdLst>
  <p:sldIdLst>
    <p:sldId id="256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0D1E"/>
    <a:srgbClr val="9013FE"/>
    <a:srgbClr val="1F90CC"/>
    <a:srgbClr val="434343"/>
    <a:srgbClr val="C40E02"/>
    <a:srgbClr val="FFFFFF"/>
    <a:srgbClr val="49CB40"/>
    <a:srgbClr val="C50E1F"/>
    <a:srgbClr val="B2B2B2"/>
    <a:srgbClr val="71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6327"/>
  </p:normalViewPr>
  <p:slideViewPr>
    <p:cSldViewPr snapToGrid="0" snapToObjects="1">
      <p:cViewPr varScale="1">
        <p:scale>
          <a:sx n="81" d="100"/>
          <a:sy n="81" d="100"/>
        </p:scale>
        <p:origin x="5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53" d="100"/>
          <a:sy n="153" d="100"/>
        </p:scale>
        <p:origin x="4920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16.06.2025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APPROVED EXTERNAL TEST RESULTS · VARIANT B</a:t>
            </a:r>
          </a:p>
          <a:p/>
          <a:p>
            <a:r>
              <a:rPr lang="en-US"/>
              <a:t>EXTERNAL RESULTS — FOLLOW-UP TO SLIDE 34</a:t>
            </a:r>
          </a:p>
          <a:p>
            <a:r>
              <a:rPr lang="en-US"/>
              <a:t>Prepared from recovery on 25 September and collection/security on 29 September 2026.</a:t>
            </a:r>
          </a:p>
          <a:p>
            <a:r>
              <a:rPr lang="en-US"/>
              <a:t>This is evidence from the SMEW/SMA/vita-fl-td workflow, separate from the earlier</a:t>
            </a:r>
          </a:p>
          <a:p>
            <a:r>
              <a:rPr lang="en-US"/>
              <a:t>24-round model-quality experiment. The security campaign ran on a newly deployed</a:t>
            </a:r>
          </a:p>
          <a:p>
            <a:r>
              <a:rPr lang="en-US"/>
              <a:t>Phala environment; the generator itself launches no campaign. All seven deployed</a:t>
            </a:r>
          </a:p>
          <a:p>
            <a:r>
              <a:rPr lang="en-US"/>
              <a:t>image references match the recovery run, but deployment identities, run dates and</a:t>
            </a:r>
          </a:p>
          <a:p>
            <a:r>
              <a:rPr lang="en-US"/>
              <a:t>test-driver source hashes differ. Collection, recovery and security are distinct runs, not a combined run.</a:t>
            </a:r>
          </a:p>
          <a:p>
            <a:r>
              <a:rPr lang="en-US"/>
              <a:t>The four categories follow the last four external rows on slide 34.</a:t>
            </a:r>
          </a:p>
          <a:p/>
          <a:p>
            <a:r>
              <a:rPr lang="en-US"/>
              <a:t>COLLECTION / TIMEOUT</a:t>
            </a:r>
          </a:p>
          <a:p>
            <a:r>
              <a:rPr lang="en-US"/>
              <a:t>Three separate controlled scenarios completed on 29 September 2026.</a:t>
            </a:r>
          </a:p>
          <a:p>
            <a:r>
              <a:rPr lang="en-US"/>
              <a:t>Each used six workers, client limit five, a 45,000 ms collection deadline and</a:t>
            </a:r>
          </a:p>
          <a:p>
            <a:r>
              <a:rPr lang="en-US"/>
              <a:t>five successful training rounds (bootstrap and aborted attempts excluded).</a:t>
            </a:r>
          </a:p>
          <a:p>
            <a:r>
              <a:rPr lang="en-US"/>
              <a:t>EARLY: exactly five allowed contributors published before the deadline.</a:t>
            </a:r>
          </a:p>
          <a:p>
            <a:r>
              <a:rPr lang="en-US"/>
              <a:t>PARTIAL: exactly two allowed contributors published at or after the deadline;</a:t>
            </a:r>
          </a:p>
          <a:p>
            <a:r>
              <a:rPr lang="en-US"/>
              <a:t>the receiver confirmed blocking of the other three clients.</a:t>
            </a:r>
          </a:p>
          <a:p>
            <a:r>
              <a:rPr lang="en-US"/>
              <a:t>ZERO: all five clients were blocked, with receiver-confirmed blocked attempts.</a:t>
            </a:r>
          </a:p>
          <a:p>
            <a:r>
              <a:rPr lang="en-US"/>
              <a:t>The target attempt neither closed nor published, including the observation</a:t>
            </a:r>
          </a:p>
          <a:p>
            <a:r>
              <a:rPr lang="en-US"/>
              <a:t>window through at least ten seconds after its deadline. Three of five eligible</a:t>
            </a:r>
          </a:p>
          <a:p>
            <a:r>
              <a:rPr lang="en-US"/>
              <a:t>reports then triggered abort and reselection; votes one and two preserved the</a:t>
            </a:r>
          </a:p>
          <a:p>
            <a:r>
              <a:rPr lang="en-US"/>
              <a:t>state. The gate was released and five successful training rounds completed.</a:t>
            </a:r>
          </a:p>
          <a:p>
            <a:r>
              <a:rPr lang="en-US"/>
              <a:t>All six workers participated across each run; this does not mean every worker</a:t>
            </a:r>
          </a:p>
          <a:p>
            <a:r>
              <a:rPr lang="en-US"/>
              <a:t>contributed to every controlled round. No empty-model publication is claimed.</a:t>
            </a:r>
          </a:p>
          <a:p>
            <a:r>
              <a:rPr lang="en-US"/>
              <a:t>Each run passed SMEW, SMA and TD completion checks. The slide's 3/3 count means</a:t>
            </a:r>
          </a:p>
          <a:p>
            <a:r>
              <a:rPr lang="en-US"/>
              <a:t>three distinct scenarios, each executed successfully once, not three checks</a:t>
            </a:r>
          </a:p>
          <a:p>
            <a:r>
              <a:rPr lang="en-US"/>
              <a:t>or a repeated-run reliability statistic. Gate accounting, actual contributors,</a:t>
            </a:r>
          </a:p>
          <a:p>
            <a:r>
              <a:rPr lang="en-US"/>
              <a:t>closure timing, zero-input nonpublication and quorum evidence are validated</a:t>
            </a:r>
          </a:p>
          <a:p>
            <a:r>
              <a:rPr lang="en-US"/>
              <a:t>against the canonical result and archived artifacts before PASS is displayed.</a:t>
            </a:r>
          </a:p>
          <a:p>
            <a:r>
              <a:rPr lang="en-US"/>
              <a:t>Timing values use archived policy/chain events, not instrumentation of the</a:t>
            </a:r>
          </a:p>
          <a:p>
            <a:r>
              <a:rPr lang="en-US"/>
              <a:t>aggregator's local timer. Early is also checked by the driver's first observation;</a:t>
            </a:r>
          </a:p>
          <a:p>
            <a:r>
              <a:rPr lang="en-US"/>
              <a:t>partial uses the closure transaction timestamp as an independent oracle.</a:t>
            </a:r>
          </a:p>
          <a:p>
            <a:r>
              <a:rPr lang="en-US"/>
              <a:t>EARLY: run 2d3b8717df2c477f88e040acd3d62a2d; 5 allowed / 0 blocked clients; before 45 s; archived event interval 16 s.</a:t>
            </a:r>
          </a:p>
          <a:p>
            <a:r>
              <a:rPr lang="en-US"/>
              <a:t>PARTIAL: run 9b4dfb29086a42c39d57c5001a84ab90; 2 allowed / 3 blocked clients; at or after 45 s; archived event interval 45 s.</a:t>
            </a:r>
          </a:p>
          <a:p>
            <a:r>
              <a:rPr lang="en-US"/>
              <a:t>ZERO: run eda875a3763244d8a240b4f9bbe68a99; 0 allowed / 5 blocked clients; no publication through deadline + 10 s.</a:t>
            </a:r>
          </a:p>
          <a:p/>
          <a:p>
            <a:r>
              <a:rPr lang="en-US"/>
              <a:t>AGGREGATOR RECOVERY</a:t>
            </a:r>
          </a:p>
          <a:p>
            <a:r>
              <a:rPr lang="en-US"/>
              <a:t>A selected aggregator CVM was stopped. Three distinct eligible reporters out</a:t>
            </a:r>
          </a:p>
          <a:p>
            <a:r>
              <a:rPr lang="en-US"/>
              <a:t>of five produced votes 1,2,3 against a threshold of three. Historical block</a:t>
            </a:r>
          </a:p>
          <a:p>
            <a:r>
              <a:rPr lang="en-US"/>
              <a:t>states and ordered contract events preserve the old aggregator and un-aborted</a:t>
            </a:r>
          </a:p>
          <a:p>
            <a:r>
              <a:rPr lang="en-US"/>
              <a:t>round at votes one and two. Vote three triggers abort and reselection in the</a:t>
            </a:r>
          </a:p>
          <a:p>
            <a:r>
              <a:rPr lang="en-US"/>
              <a:t>same transaction. The failed attempt never published. The replacement published</a:t>
            </a:r>
          </a:p>
          <a:p>
            <a:r>
              <a:rPr lang="en-US"/>
              <a:t>and five successful training rounds completed, excluding bootstrap and the</a:t>
            </a:r>
          </a:p>
          <a:p>
            <a:r>
              <a:rPr lang="en-US"/>
              <a:t>aborted attempt. All six workers participated across the run, not necessarily</a:t>
            </a:r>
          </a:p>
          <a:p>
            <a:r>
              <a:rPr lang="en-US"/>
              <a:t>in every round. The stopped CVM was restored; provider running was confirmed.</a:t>
            </a:r>
          </a:p>
          <a:p>
            <a:r>
              <a:rPr lang="en-US"/>
              <a:t>Application readiness of that individual CVM was not independently checked;</a:t>
            </a:r>
          </a:p>
          <a:p>
            <a:r>
              <a:rPr lang="en-US"/>
              <a:t>final deployed-agent inference succeeded.</a:t>
            </a:r>
          </a:p>
          <a:p/>
          <a:p>
            <a:r>
              <a:rPr lang="en-US"/>
              <a:t>TIMING</a:t>
            </a:r>
          </a:p>
          <a:p>
            <a:r>
              <a:rPr lang="en-US"/>
              <a:t>Use the recorded TD durations, rounded for display: reselection 112.38 s,</a:t>
            </a:r>
          </a:p>
          <a:p>
            <a:r>
              <a:rPr lang="en-US"/>
              <a:t>first recovery publication 169.41 s, both from confirmed VM stop. Both belong to the same recovery interval;</a:t>
            </a:r>
          </a:p>
          <a:p>
            <a:r>
              <a:rPr lang="en-US"/>
              <a:t>they are not averaged latencies, service guarantees, or the aggregator's 45 s</a:t>
            </a:r>
          </a:p>
          <a:p>
            <a:r>
              <a:rPr lang="en-US"/>
              <a:t>collection timer. The process diagram is schematic, not a time-scaled axis.</a:t>
            </a:r>
          </a:p>
          <a:p/>
          <a:p>
            <a:r>
              <a:rPr lang="en-US"/>
              <a:t>SECURITY / ACCESS AND CONTRACT GUARDS</a:t>
            </a:r>
          </a:p>
          <a:p>
            <a:r>
              <a:rPr lang="en-US"/>
              <a:t>The completed security run fb5671a8fb3141208b1920993418dcf9 passed all 16 probes:</a:t>
            </a:r>
          </a:p>
          <a:p>
            <a:r>
              <a:rPr lang="en-US"/>
              <a:t>five access/configuration checks (UI missing/wrong credentials, Control</a:t>
            </a:r>
          </a:p>
          <a:p>
            <a:r>
              <a:rPr lang="en-US"/>
              <a:t>missing/wrong credentials, unchanged configuration); four read-only eth_call</a:t>
            </a:r>
          </a:p>
          <a:p>
            <a:r>
              <a:rPr lang="en-US"/>
              <a:t>contract guards (stale round, wrong aggregator, unregistered action key, policy</a:t>
            </a:r>
          </a:p>
          <a:p>
            <a:r>
              <a:rPr lang="en-US"/>
              <a:t>owner); one positive deployed-agent inference control; and six unauthorized</a:t>
            </a:r>
          </a:p>
          <a:p>
            <a:r>
              <a:rPr lang="en-US"/>
              <a:t>inference requests (missing/spoofed authorization on three endpoints).</a:t>
            </a:r>
          </a:p>
          <a:p>
            <a:r>
              <a:rPr lang="en-US"/>
              <a:t>Ten requests returned HTTP 401: two UI, two Control and six inference requests,</a:t>
            </a:r>
          </a:p>
          <a:p>
            <a:r>
              <a:rPr lang="en-US"/>
              <a:t>with the expected authentication challenge or error reason. All four eth_call</a:t>
            </a:r>
          </a:p>
          <a:p>
            <a:r>
              <a:rPr lang="en-US"/>
              <a:t>probes reverted with the expected reason. The authorized positive control is</a:t>
            </a:r>
          </a:p>
          <a:p>
            <a:r>
              <a:rPr lang="en-US"/>
              <a:t>one successful agent workflow, not proof of model prediction correctness.</a:t>
            </a:r>
          </a:p>
          <a:p>
            <a:r>
              <a:rPr lang="en-US"/>
              <a:t>The unchanged-configuration check is an invariant, not a fifth HTTP rejection.</a:t>
            </a:r>
          </a:p>
          <a:p>
            <a:r>
              <a:rPr lang="en-US"/>
              <a:t>SMEW succeeded with exit code zero; SMA reports ok; TD and its complete security</a:t>
            </a:r>
          </a:p>
          <a:p>
            <a:r>
              <a:rPr lang="en-US"/>
              <a:t>matrix report PASS. Five training rounds completed with all six workers active</a:t>
            </a:r>
          </a:p>
          <a:p>
            <a:r>
              <a:rPr lang="en-US"/>
              <a:t>across this security run. No contract attack transaction was broadcast.</a:t>
            </a:r>
          </a:p>
          <a:p>
            <a:r>
              <a:rPr lang="en-US"/>
              <a:t>These bounded authorization/contract probes do not cover every Chapter-4 threat;</a:t>
            </a:r>
          </a:p>
          <a:p>
            <a:r>
              <a:rPr lang="en-US"/>
              <a:t>the archived coverage_gaps retain the untested and residual threats.</a:t>
            </a:r>
          </a:p>
          <a:p/>
          <a:p>
            <a:r>
              <a:rPr lang="en-US"/>
              <a:t>PUBLISHED EVIDENCE AUDIT</a:t>
            </a:r>
          </a:p>
          <a:p>
            <a:r>
              <a:rPr lang="en-US"/>
              <a:t>The slide displays the security run's successful 17-check audit lasting 13.3421 s.</a:t>
            </a:r>
          </a:p>
          <a:p>
            <a:r>
              <a:rPr lang="en-US"/>
              <a:t>The earlier recovery audit separately passed 17 checks in 13.5826 s. Counts</a:t>
            </a:r>
          </a:p>
          <a:p>
            <a:r>
              <a:rPr lang="en-US"/>
              <a:t>are not pooled; the two audits are separate observations. Each audit contains:</a:t>
            </a:r>
          </a:p>
          <a:p>
            <a:r>
              <a:rPr lang="en-US"/>
              <a:t>10 SCITT publisher/inclusion checks, 1 combined AIR/TDX check,</a:t>
            </a:r>
          </a:p>
          <a:p>
            <a:r>
              <a:rPr lang="en-US"/>
              <a:t>3 attestation-session checks and 3 Sello receipt checks. Checks were re-executed</a:t>
            </a:r>
          </a:p>
          <a:p>
            <a:r>
              <a:rPr lang="en-US"/>
              <a:t>on published transparency-log evidence with run/model/receiver policy bindings.</a:t>
            </a:r>
          </a:p>
          <a:p>
            <a:r>
              <a:rPr lang="en-US"/>
              <a:t>The three tools were fetch_latest_verified_tee_model_bundle,</a:t>
            </a:r>
          </a:p>
          <a:p>
            <a:r>
              <a:rPr lang="en-US"/>
              <a:t>generate_random_tee_chestmnist_image and run_and_verify_tee_inference.</a:t>
            </a:r>
          </a:p>
          <a:p>
            <a:r>
              <a:rPr lang="en-US"/>
              <a:t>Fresh quote cryptography/collateral appraisal is delegated to Phala. Verifier</a:t>
            </a:r>
          </a:p>
          <a:p>
            <a:r>
              <a:rPr lang="en-US"/>
              <a:t>primitives are reused from the recorded VITA checkout: independent execution,</a:t>
            </a:r>
          </a:p>
          <a:p>
            <a:r>
              <a:rPr lang="en-US"/>
              <a:t>not an independently implemented Intel DCAP verifier. Log signatures establish</a:t>
            </a:r>
          </a:p>
          <a:p>
            <a:r>
              <a:rPr lang="en-US"/>
              <a:t>inclusion under the pinned key, not global log completeness or no split views.</a:t>
            </a:r>
          </a:p>
          <a:p>
            <a:r>
              <a:rPr lang="en-US"/>
              <a:t>The original TLS/PoP handshake was not replayed. Seventeen checks are assertions</a:t>
            </a:r>
          </a:p>
          <a:p>
            <a:r>
              <a:rPr lang="en-US"/>
              <a:t>within this one audit, not seventeen independent experiments.</a:t>
            </a:r>
          </a:p>
          <a:p/>
          <a:p>
            <a:r>
              <a:rPr lang="en-US"/>
              <a:t>SELECTION AND LIMITS</a:t>
            </a:r>
          </a:p>
          <a:p>
            <a:r>
              <a:rPr lang="en-US"/>
              <a:t>The slides highlight the latest completed successful recovery run. An earlier</a:t>
            </a:r>
          </a:p>
          <a:p>
            <a:r>
              <a:rPr lang="en-US"/>
              <a:t>recovery attempt ended ERROR; an earlier partial test also ended ERROR after cancel.</a:t>
            </a:r>
          </a:p>
          <a:p>
            <a:r>
              <a:rPr lang="en-US"/>
              <a:t>No campaign success percentage, repeated-run reliability estimate, broad</a:t>
            </a:r>
          </a:p>
          <a:p>
            <a:r>
              <a:rPr lang="en-US"/>
              <a:t>security guarantee or complete Chapter-4 threat coverage is inferred.</a:t>
            </a:r>
          </a:p>
          <a:p>
            <a:r>
              <a:rPr lang="en-US"/>
              <a:t>Green means observed/passed assertion within the selected scenarios.</a:t>
            </a:r>
          </a:p>
          <a:p>
            <a:r>
              <a:rPr lang="en-US"/>
              <a:t>Recovery is from 25 Sep; collection, security and the displayed audit are</a:t>
            </a:r>
          </a:p>
          <a:p>
            <a:r>
              <a:rPr lang="en-US"/>
              <a:t>from separate runs on 29 Sep. Image pins are identical across these runs. The DFL/Agent header chips retain the</a:t>
            </a:r>
          </a:p>
          <a:p>
            <a:r>
              <a:rPr lang="en-US"/>
              <a:t>main presentation's functional-domain meaning. Variant B was selected for the</a:t>
            </a:r>
          </a:p>
          <a:p>
            <a:r>
              <a:rPr lang="en-US"/>
              <a:t>main presentation as the external-test results slide. Chapter 4 remains unchanged.</a:t>
            </a:r>
          </a:p>
          <a:p/>
          <a:p>
            <a:r>
              <a:rPr lang="en-US"/>
              <a:t>SOURCE MAP</a:t>
            </a:r>
          </a:p>
          <a:p/>
          <a:p>
            <a:r>
              <a:rPr lang="en-US"/>
              <a:t>RUNTIME PROVISIONING DIFFERENCE</a:t>
            </a:r>
          </a:p>
          <a:p>
            <a:r>
              <a:rPr lang="en-US"/>
              <a:t>Identical container-image pins do not imply identical runtime configuration.</a:t>
            </a:r>
          </a:p>
          <a:p>
            <a:r>
              <a:rPr lang="en-US"/>
              <a:t>After the security run, the existing runtime app was updated in place: the</a:t>
            </a:r>
          </a:p>
          <a:p>
            <a:r>
              <a:rPr lang="en-US"/>
              <a:t>control-api environment now sets TF_CLI_ARGS_apply=-parallelism=2. This reduces</a:t>
            </a:r>
          </a:p>
          <a:p>
            <a:r>
              <a:rPr lang="en-US"/>
              <a:t>Terraform provisioning concurrency after Phala HTTP 429 rate-limit failures.</a:t>
            </a:r>
          </a:p>
          <a:p>
            <a:r>
              <a:rPr lang="en-US"/>
              <a:t>Runtime app identity, all seven image references, OS and encrypted environment</a:t>
            </a:r>
          </a:p>
          <a:p>
            <a:r>
              <a:rPr lang="en-US"/>
              <a:t>were retained. This is a configuration change, not a newly identified deployment.</a:t>
            </a:r>
          </a:p>
          <a:p>
            <a:r>
              <a:rPr lang="en-US"/>
              <a:t>Old runtime Compose SHA-256: 39696ae9a38f8e794695ff52a5ea1ac9c1639054a830f9a70c335c44c43e2c98</a:t>
            </a:r>
          </a:p>
          <a:p>
            <a:r>
              <a:rPr lang="en-US"/>
              <a:t>New runtime Compose SHA-256: 565b1455588174a6af1738c834d9254c124266b419cf0f589d8374be39e30899</a:t>
            </a:r>
          </a:p>
          <a:p>
            <a:r>
              <a:rPr lang="en-US"/>
              <a:t>The reviewed/applied plan and its SHA-256 are included in the source map.</a:t>
            </a:r>
          </a:p>
          <a:p>
            <a:r>
              <a:rPr lang="en-US"/>
              <a:t>The runtime restart also changed the transparency log's SCITT key set. A new</a:t>
            </a:r>
          </a:p>
          <a:p>
            <a:r>
              <a:rPr lang="en-US"/>
              <a:t>collection audit policy was pinned through the authenticated deployment UI:</a:t>
            </a:r>
          </a:p>
          <a:p>
            <a:r>
              <a:rPr lang="en-US"/>
              <a:t>vita-fl-td/generated/collection-check-20260929/audit-policy-p2.json</a:t>
            </a:r>
          </a:p>
          <a:p>
            <a:r>
              <a:rPr lang="en-US"/>
              <a:t>Policy SHA-256: ab42502be003fac038dba7dd3980e694c65e9f5a8a130ccfe24de05fe3a356e2</a:t>
            </a:r>
          </a:p>
          <a:p>
            <a:r>
              <a:rPr lang="en-US"/>
              <a:t>SCITT key-set SHA-256: 4e88fc22158be76e0e595ede59c54d77ea04476a31d5aa4ef1874abee339b56c</a:t>
            </a:r>
          </a:p>
          <a:p>
            <a:r>
              <a:rPr lang="en-US"/>
              <a:t>The original security audit policy remains preserved for the earlier run.</a:t>
            </a:r>
          </a:p>
          <a:p>
            <a:r>
              <a:rPr lang="en-US"/>
              <a:t>The platform-measurement allowlist and Sello identity remain unchanged. These</a:t>
            </a:r>
          </a:p>
          <a:p>
            <a:r>
              <a:rPr lang="en-US"/>
              <a:t>statements are checked against restart-verification.json and both policy files</a:t>
            </a:r>
          </a:p>
          <a:p>
            <a:r>
              <a:rPr lang="en-US"/>
              <a:t>when the security archive is included. Policy/key-set and verification-file</a:t>
            </a:r>
          </a:p>
          <a:p>
            <a:r>
              <a:rPr lang="en-US"/>
              <a:t>hashes are retained; the later key set is not substituted into the old audit.</a:t>
            </a:r>
          </a:p>
          <a:p>
            <a:r>
              <a:rPr lang="en-US"/>
              <a:t>Earlier collection startup attempts ended ERROR (Control HTTP 500 after Phala</a:t>
            </a:r>
          </a:p>
          <a:p>
            <a:r>
              <a:rPr lang="en-US"/>
              <a:t>429 provisioning failure; one early startup returned HTTP 409). They were not</a:t>
            </a:r>
          </a:p>
          <a:p>
            <a:r>
              <a:rPr lang="en-US"/>
              <a:t>collection behavior passes and are not erased by successful later attempts.</a:t>
            </a:r>
          </a:p>
          <a:p>
            <a:r>
              <a:rPr lang="en-US"/>
              <a:t>No campaign-wide 100 percent success rate or same-configuration comparison is</a:t>
            </a:r>
          </a:p>
          <a:p>
            <a:r>
              <a:rPr lang="en-US"/>
              <a:t>claimed. Per-run provisioning settings and source hashes remain in evidence.json.</a:t>
            </a:r>
          </a:p>
          <a:p/>
          <a:p>
            <a:r>
              <a:rPr lang="en-US"/>
              <a:t>Retained earlier ERROR: early / cf620aaa8d9640f89af76689c31409d7 / SMEW/reports/vita-fl-early-5r-20260929-a2fb2bbf/2026_09_29_14_33_19_245ab035</a:t>
            </a:r>
          </a:p>
          <a:p/>
          <a:p>
            <a:r>
              <a:rPr lang="en-US"/>
              <a:t>Retained earlier ERROR: early / c93e3d33899a413da27931498561b318 / SMEW/reports/vita-fl-early-5r-20260929-a2fb2bbf/2026_09_29_14_40_08_624be60f</a:t>
            </a:r>
          </a:p>
          <a:p/>
          <a:p>
            <a:r>
              <a:rPr lang="en-US"/>
              <a:t>Retained earlier ERROR: partial / 6325a81c97804a2c937c7cab9f0b65ea / SMEW/reports/vita-fl-partial-5r-20260929-a2fb2bbf/2026_09_29_14_26_19_6fba5816</a:t>
            </a:r>
          </a:p>
          <a:p/>
          <a:p>
            <a:r>
              <a:rPr lang="en-US"/>
              <a:t>COLLECTION SCOPE: The later passing scenarios do not erase earlier aborted attempts.</a:t>
            </a:r>
          </a:p>
          <a:p>
            <a:r>
              <a:rPr lang="en-US"/>
              <a:t>The chosen collection boundaries are covered; arbitrary failures and statistical reliability are not.</a:t>
            </a:r>
          </a:p>
          <a:p>
            <a:r>
              <a:rPr lang="en-US"/>
              <a:t>SMEW/reports/vita-fl-recovery-5r-61b96e51/2026_09_25_17_22_19_749db20e/subprocess_output/result.json</a:t>
            </a:r>
          </a:p>
          <a:p>
            <a:r>
              <a:rPr lang="en-US"/>
              <a:t>SMEW/reports/vita-fl-recovery-5r-61b96e51/2026_09_25_17_22_19_749db20e/subprocess_output/run-artifacts.zip</a:t>
            </a:r>
          </a:p>
          <a:p>
            <a:r>
              <a:rPr lang="en-US"/>
              <a:t>SMEW/reports/vita-fl-partial-5r-61b96e51/2026_09_25_17_35_46_15585dd8/subprocess_output/result.json</a:t>
            </a:r>
          </a:p>
          <a:p>
            <a:r>
              <a:rPr lang="en-US"/>
              <a:t>SMEW/reports/vita-fl-recovery-5r-98664d28/2026_09_25_16_34_03_e48f9a7c/subprocess_output/result.json</a:t>
            </a:r>
          </a:p>
          <a:p>
            <a:r>
              <a:rPr lang="en-US"/>
              <a:t>SMEW/reports/vita-fl-security-5r-20260929-a2fb2bbf/2026_09_29_13_35_26_f18d168d/smew.json</a:t>
            </a:r>
          </a:p>
          <a:p>
            <a:r>
              <a:rPr lang="en-US"/>
              <a:t>SMEW/reports/vita-fl-security-5r-20260929-a2fb2bbf/2026_09_29_13_35_26_f18d168d/run.json</a:t>
            </a:r>
          </a:p>
          <a:p>
            <a:r>
              <a:rPr lang="en-US"/>
              <a:t>SMEW/reports/vita-fl-security-5r-20260929-a2fb2bbf/2026_09_29_13_35_26_f18d168d/manifest.json</a:t>
            </a:r>
          </a:p>
          <a:p>
            <a:r>
              <a:rPr lang="en-US"/>
              <a:t>SMEW/reports/vita-fl-security-5r-20260929-a2fb2bbf/2026_09_29_13_35_26_f18d168d/subprocess_output/result.json</a:t>
            </a:r>
          </a:p>
          <a:p>
            <a:r>
              <a:rPr lang="en-US"/>
              <a:t>SMEW/reports/vita-fl-security-5r-20260929-a2fb2bbf/2026_09_29_13_35_26_f18d168d/subprocess_output/run-artifacts.zip</a:t>
            </a:r>
          </a:p>
          <a:p>
            <a:r>
              <a:rPr lang="en-US"/>
              <a:t>vita-fl-td/src/vita_fl_td/security_bridge.py</a:t>
            </a:r>
          </a:p>
          <a:p>
            <a:r>
              <a:rPr lang="en-US"/>
              <a:t>vita-fl-td/generated/security-check-20260929/vita-fl-security-5r-20260929-a2fb2bbf/audit-policy.json</a:t>
            </a:r>
          </a:p>
          <a:p>
            <a:r>
              <a:rPr lang="en-US"/>
              <a:t>SMEW/reports/vita-fl-early-5r-20260929-a2fb2bbf/2026_09_29_15_02_42_ca2cea1a/smew.json</a:t>
            </a:r>
          </a:p>
          <a:p>
            <a:r>
              <a:rPr lang="en-US"/>
              <a:t>SMEW/reports/vita-fl-early-5r-20260929-a2fb2bbf/2026_09_29_15_02_42_ca2cea1a/run.json</a:t>
            </a:r>
          </a:p>
          <a:p>
            <a:r>
              <a:rPr lang="en-US"/>
              <a:t>SMEW/reports/vita-fl-early-5r-20260929-a2fb2bbf/2026_09_29_15_02_42_ca2cea1a/manifest.json</a:t>
            </a:r>
          </a:p>
          <a:p>
            <a:r>
              <a:rPr lang="en-US"/>
              <a:t>SMEW/reports/vita-fl-early-5r-20260929-a2fb2bbf/2026_09_29_15_02_42_ca2cea1a/subprocess_output/result.json</a:t>
            </a:r>
          </a:p>
          <a:p>
            <a:r>
              <a:rPr lang="en-US"/>
              <a:t>SMEW/reports/vita-fl-early-5r-20260929-a2fb2bbf/2026_09_29_15_02_42_ca2cea1a/subprocess_output/run-artifacts.zip</a:t>
            </a:r>
          </a:p>
          <a:p>
            <a:r>
              <a:rPr lang="en-US"/>
              <a:t>vita-fl-td/generated/collection-check-20260929/parallelism-plan.json</a:t>
            </a:r>
          </a:p>
          <a:p>
            <a:r>
              <a:rPr lang="en-US"/>
              <a:t>vita-fl-td/generated/collection-check-20260929/restart-verification.json</a:t>
            </a:r>
          </a:p>
          <a:p>
            <a:r>
              <a:rPr lang="en-US"/>
              <a:t>vita-fl-td/generated/collection-check-20260929/audit-policy-p2.json</a:t>
            </a:r>
          </a:p>
          <a:p>
            <a:r>
              <a:rPr lang="en-US"/>
              <a:t>SMEW/reports/vita-fl-partial-5r-20260929-a2fb2bbf/2026_09_29_15_16_23_dbffef0e/smew.json</a:t>
            </a:r>
          </a:p>
          <a:p>
            <a:r>
              <a:rPr lang="en-US"/>
              <a:t>SMEW/reports/vita-fl-partial-5r-20260929-a2fb2bbf/2026_09_29_15_16_23_dbffef0e/run.json</a:t>
            </a:r>
          </a:p>
          <a:p>
            <a:r>
              <a:rPr lang="en-US"/>
              <a:t>SMEW/reports/vita-fl-partial-5r-20260929-a2fb2bbf/2026_09_29_15_16_23_dbffef0e/manifest.json</a:t>
            </a:r>
          </a:p>
          <a:p>
            <a:r>
              <a:rPr lang="en-US"/>
              <a:t>SMEW/reports/vita-fl-partial-5r-20260929-a2fb2bbf/2026_09_29_15_16_23_dbffef0e/subprocess_output/result.json</a:t>
            </a:r>
          </a:p>
          <a:p>
            <a:r>
              <a:rPr lang="en-US"/>
              <a:t>SMEW/reports/vita-fl-partial-5r-20260929-a2fb2bbf/2026_09_29_15_16_23_dbffef0e/subprocess_output/run-artifacts.zip</a:t>
            </a:r>
          </a:p>
          <a:p>
            <a:r>
              <a:rPr lang="en-US"/>
              <a:t>SMEW/reports/vita-fl-zero-5r-20260929-a2fb2bbf/2026_09_29_15_30_36_da447d90/smew.json</a:t>
            </a:r>
          </a:p>
          <a:p>
            <a:r>
              <a:rPr lang="en-US"/>
              <a:t>SMEW/reports/vita-fl-zero-5r-20260929-a2fb2bbf/2026_09_29_15_30_36_da447d90/run.json</a:t>
            </a:r>
          </a:p>
          <a:p>
            <a:r>
              <a:rPr lang="en-US"/>
              <a:t>SMEW/reports/vita-fl-zero-5r-20260929-a2fb2bbf/2026_09_29_15_30_36_da447d90/manifest.json</a:t>
            </a:r>
          </a:p>
          <a:p>
            <a:r>
              <a:rPr lang="en-US"/>
              <a:t>SMEW/reports/vita-fl-zero-5r-20260929-a2fb2bbf/2026_09_29_15_30_36_da447d90/subprocess_output/result.json</a:t>
            </a:r>
          </a:p>
          <a:p>
            <a:r>
              <a:rPr lang="en-US"/>
              <a:t>SMEW/reports/vita-fl-zero-5r-20260929-a2fb2bbf/2026_09_29_15_30_36_da447d90/subprocess_output/run-artifacts.zip</a:t>
            </a:r>
          </a:p>
          <a:p>
            <a:r>
              <a:rPr lang="en-US"/>
              <a:t>SMEW/reports/vita-fl-early-5r-20260929-a2fb2bbf/2026_09_29_14_33_19_245ab035/smew.json</a:t>
            </a:r>
          </a:p>
          <a:p>
            <a:r>
              <a:rPr lang="en-US"/>
              <a:t>SMEW/reports/vita-fl-early-5r-20260929-a2fb2bbf/2026_09_29_14_33_19_245ab035/run.json</a:t>
            </a:r>
          </a:p>
          <a:p>
            <a:r>
              <a:rPr lang="en-US"/>
              <a:t>SMEW/reports/vita-fl-early-5r-20260929-a2fb2bbf/2026_09_29_14_33_19_245ab035/manifest.json</a:t>
            </a:r>
          </a:p>
          <a:p>
            <a:r>
              <a:rPr lang="en-US"/>
              <a:t>SMEW/reports/vita-fl-early-5r-20260929-a2fb2bbf/2026_09_29_14_33_19_245ab035/subprocess_output/result.json</a:t>
            </a:r>
          </a:p>
          <a:p>
            <a:r>
              <a:rPr lang="en-US"/>
              <a:t>SMEW/reports/vita-fl-early-5r-20260929-a2fb2bbf/2026_09_29_14_33_19_245ab035/subprocess_output/run-artifacts.zip</a:t>
            </a:r>
          </a:p>
          <a:p>
            <a:r>
              <a:rPr lang="en-US"/>
              <a:t>SMEW/reports/vita-fl-early-5r-20260929-a2fb2bbf/2026_09_29_14_40_08_624be60f/smew.json</a:t>
            </a:r>
          </a:p>
          <a:p>
            <a:r>
              <a:rPr lang="en-US"/>
              <a:t>SMEW/reports/vita-fl-early-5r-20260929-a2fb2bbf/2026_09_29_14_40_08_624be60f/run.json</a:t>
            </a:r>
          </a:p>
          <a:p>
            <a:r>
              <a:rPr lang="en-US"/>
              <a:t>SMEW/reports/vita-fl-early-5r-20260929-a2fb2bbf/2026_09_29_14_40_08_624be60f/manifest.json</a:t>
            </a:r>
          </a:p>
          <a:p>
            <a:r>
              <a:rPr lang="en-US"/>
              <a:t>SMEW/reports/vita-fl-early-5r-20260929-a2fb2bbf/2026_09_29_14_40_08_624be60f/subprocess_output/result.json</a:t>
            </a:r>
          </a:p>
          <a:p>
            <a:r>
              <a:rPr lang="en-US"/>
              <a:t>SMEW/reports/vita-fl-early-5r-20260929-a2fb2bbf/2026_09_29_14_40_08_624be60f/subprocess_output/run-artifacts.zip</a:t>
            </a:r>
          </a:p>
          <a:p>
            <a:r>
              <a:rPr lang="en-US"/>
              <a:t>SMEW/reports/vita-fl-partial-5r-20260929-a2fb2bbf/2026_09_29_14_26_19_6fba5816/smew.json</a:t>
            </a:r>
          </a:p>
          <a:p>
            <a:r>
              <a:rPr lang="en-US"/>
              <a:t>SMEW/reports/vita-fl-partial-5r-20260929-a2fb2bbf/2026_09_29_14_26_19_6fba5816/run.json</a:t>
            </a:r>
          </a:p>
          <a:p>
            <a:r>
              <a:rPr lang="en-US"/>
              <a:t>SMEW/reports/vita-fl-partial-5r-20260929-a2fb2bbf/2026_09_29_14_26_19_6fba5816/manifest.json</a:t>
            </a:r>
          </a:p>
          <a:p>
            <a:r>
              <a:rPr lang="en-US"/>
              <a:t>SMEW/reports/vita-fl-partial-5r-20260929-a2fb2bbf/2026_09_29_14_26_19_6fba5816/subprocess_output/result.json</a:t>
            </a:r>
          </a:p>
          <a:p>
            <a:r>
              <a:rPr lang="en-US"/>
              <a:t>SMEW/reports/vita-fl-partial-5r-20260929-a2fb2bbf/2026_09_29_14_26_19_6fba5816/subprocess_output/run-artifacts.zip</a:t>
            </a:r>
          </a:p>
          <a:p>
            <a:r>
              <a:rPr lang="en-US"/>
              <a:t>presentation/concepts/test-evaluation/ci-external/external-scope.json</a:t>
            </a:r>
          </a:p>
          <a:p>
            <a:r>
              <a:rPr lang="en-US"/>
              <a:t>vita-fl-td/src/vita_fl_td/runner.py</a:t>
            </a:r>
          </a:p>
          <a:p>
            <a:r>
              <a:rPr lang="en-US"/>
              <a:t>vita-fl-td/src/vita_fl_td/quorum.py</a:t>
            </a:r>
          </a:p>
          <a:p>
            <a:r>
              <a:rPr lang="en-US"/>
              <a:t>vita-fl-td/src/vita_fl_td/transparency_audit.py</a:t>
            </a:r>
          </a:p>
          <a:p>
            <a:r>
              <a:rPr lang="en-US"/>
              <a:t>All numeric slide results are exported with source SHA-256 values in evidence.json.</a:t>
            </a:r>
          </a:p>
          <a:p/>
          <a:p/>
          <a:p>
            <a:r>
              <a:rPr lang="en-US"/>
              <a:t>REVISED TEST SCOPE</a:t>
            </a:r>
          </a:p>
          <a:p>
            <a:r>
              <a:rPr lang="en-US"/>
              <a:t>Each visible category identifies its actual intervention or downloaded evidence and the property checked.</a:t>
            </a:r>
          </a:p>
          <a:p>
            <a:r>
              <a:rPr lang="en-US"/>
              <a:t>Collection numbers describe input closure, not a directly instrumented aggregation-start time.</a:t>
            </a:r>
          </a:p>
          <a:p>
            <a:r>
              <a:rPr lang="en-US"/>
              <a:t>The configuration probe submits the existing configuration, checks rejection and unchanged state; it does not attempt a changed configuration.</a:t>
            </a:r>
          </a:p>
          <a:p>
            <a:r>
              <a:rPr lang="en-US"/>
              <a:t>Receipt audit uses authentic published evidence, without receipt mutation attacks.</a:t>
            </a:r>
          </a:p>
          <a:p>
            <a:r>
              <a:rPr lang="en-US"/>
              <a:t>RTMR3 means event-log replay against each quote, not registration-versus-inference equality; model hashes are bound through manifest, REPORTDATA and AIR.</a:t>
            </a:r>
          </a:p>
          <a:p>
            <a:r>
              <a:rPr lang="en-US"/>
              <a:t>Sello checks include signature, owner authorization, exact tool input/output and attested receiver/session binding.</a:t>
            </a:r>
          </a:p>
          <a:p>
            <a:r>
              <a:rPr lang="en-US"/>
              <a:t>No model-accuracy claim, independent cryptographic implementation, original TLS-handshake observation or global-log completeness claim.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-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3">
            <a:extLst>
              <a:ext uri="{FF2B5EF4-FFF2-40B4-BE49-F238E27FC236}">
                <a16:creationId xmlns:a16="http://schemas.microsoft.com/office/drawing/2014/main" id="{9A036687-F2BF-7B4C-A352-6E1D355D125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6479" y="1260572"/>
            <a:ext cx="8885359" cy="3273604"/>
          </a:xfrm>
          <a:custGeom>
            <a:avLst/>
            <a:gdLst>
              <a:gd name="connsiteX0" fmla="*/ 0 w 8328660"/>
              <a:gd name="connsiteY0" fmla="*/ 0 h 3143274"/>
              <a:gd name="connsiteX1" fmla="*/ 8328660 w 8328660"/>
              <a:gd name="connsiteY1" fmla="*/ 0 h 3143274"/>
              <a:gd name="connsiteX2" fmla="*/ 8328660 w 8328660"/>
              <a:gd name="connsiteY2" fmla="*/ 3143274 h 3143274"/>
              <a:gd name="connsiteX3" fmla="*/ 0 w 8328660"/>
              <a:gd name="connsiteY3" fmla="*/ 3143274 h 3143274"/>
              <a:gd name="connsiteX4" fmla="*/ 0 w 8328660"/>
              <a:gd name="connsiteY4" fmla="*/ 0 h 314327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8660 w 8336280"/>
              <a:gd name="connsiteY2" fmla="*/ 374525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1040 w 8336280"/>
              <a:gd name="connsiteY2" fmla="*/ 324233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286029 h 3429303"/>
              <a:gd name="connsiteX1" fmla="*/ 8336280 w 8336280"/>
              <a:gd name="connsiteY1" fmla="*/ 0 h 3429303"/>
              <a:gd name="connsiteX2" fmla="*/ 8321040 w 8336280"/>
              <a:gd name="connsiteY2" fmla="*/ 2926383 h 3429303"/>
              <a:gd name="connsiteX3" fmla="*/ 0 w 8336280"/>
              <a:gd name="connsiteY3" fmla="*/ 3429303 h 3429303"/>
              <a:gd name="connsiteX4" fmla="*/ 0 w 8336280"/>
              <a:gd name="connsiteY4" fmla="*/ 286029 h 3429303"/>
              <a:gd name="connsiteX0" fmla="*/ 0 w 8339997"/>
              <a:gd name="connsiteY0" fmla="*/ 312049 h 3429303"/>
              <a:gd name="connsiteX1" fmla="*/ 8339997 w 8339997"/>
              <a:gd name="connsiteY1" fmla="*/ 0 h 3429303"/>
              <a:gd name="connsiteX2" fmla="*/ 8324757 w 8339997"/>
              <a:gd name="connsiteY2" fmla="*/ 2926383 h 3429303"/>
              <a:gd name="connsiteX3" fmla="*/ 3717 w 8339997"/>
              <a:gd name="connsiteY3" fmla="*/ 3429303 h 3429303"/>
              <a:gd name="connsiteX4" fmla="*/ 0 w 8339997"/>
              <a:gd name="connsiteY4" fmla="*/ 312049 h 3429303"/>
              <a:gd name="connsiteX0" fmla="*/ 0 w 8343172"/>
              <a:gd name="connsiteY0" fmla="*/ 305699 h 3429303"/>
              <a:gd name="connsiteX1" fmla="*/ 8343172 w 8343172"/>
              <a:gd name="connsiteY1" fmla="*/ 0 h 3429303"/>
              <a:gd name="connsiteX2" fmla="*/ 8327932 w 8343172"/>
              <a:gd name="connsiteY2" fmla="*/ 2926383 h 3429303"/>
              <a:gd name="connsiteX3" fmla="*/ 6892 w 8343172"/>
              <a:gd name="connsiteY3" fmla="*/ 3429303 h 3429303"/>
              <a:gd name="connsiteX4" fmla="*/ 0 w 8343172"/>
              <a:gd name="connsiteY4" fmla="*/ 305699 h 3429303"/>
              <a:gd name="connsiteX0" fmla="*/ 0 w 8349522"/>
              <a:gd name="connsiteY0" fmla="*/ 30887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8874 h 3429303"/>
              <a:gd name="connsiteX0" fmla="*/ 0 w 8352697"/>
              <a:gd name="connsiteY0" fmla="*/ 312049 h 3429303"/>
              <a:gd name="connsiteX1" fmla="*/ 8352697 w 8352697"/>
              <a:gd name="connsiteY1" fmla="*/ 0 h 3429303"/>
              <a:gd name="connsiteX2" fmla="*/ 8337457 w 8352697"/>
              <a:gd name="connsiteY2" fmla="*/ 2926383 h 3429303"/>
              <a:gd name="connsiteX3" fmla="*/ 16417 w 8352697"/>
              <a:gd name="connsiteY3" fmla="*/ 3429303 h 3429303"/>
              <a:gd name="connsiteX4" fmla="*/ 0 w 8352697"/>
              <a:gd name="connsiteY4" fmla="*/ 312049 h 3429303"/>
              <a:gd name="connsiteX0" fmla="*/ 0 w 8349522"/>
              <a:gd name="connsiteY0" fmla="*/ 30252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2524 h 3429303"/>
              <a:gd name="connsiteX0" fmla="*/ 0 w 8349522"/>
              <a:gd name="connsiteY0" fmla="*/ 302524 h 3226103"/>
              <a:gd name="connsiteX1" fmla="*/ 8349522 w 8349522"/>
              <a:gd name="connsiteY1" fmla="*/ 0 h 3226103"/>
              <a:gd name="connsiteX2" fmla="*/ 8334282 w 8349522"/>
              <a:gd name="connsiteY2" fmla="*/ 2926383 h 3226103"/>
              <a:gd name="connsiteX3" fmla="*/ 13242 w 8349522"/>
              <a:gd name="connsiteY3" fmla="*/ 3226103 h 3226103"/>
              <a:gd name="connsiteX4" fmla="*/ 0 w 8349522"/>
              <a:gd name="connsiteY4" fmla="*/ 302524 h 3226103"/>
              <a:gd name="connsiteX0" fmla="*/ 0 w 8883911"/>
              <a:gd name="connsiteY0" fmla="*/ 326274 h 3226103"/>
              <a:gd name="connsiteX1" fmla="*/ 8883911 w 8883911"/>
              <a:gd name="connsiteY1" fmla="*/ 0 h 3226103"/>
              <a:gd name="connsiteX2" fmla="*/ 8868671 w 8883911"/>
              <a:gd name="connsiteY2" fmla="*/ 2926383 h 3226103"/>
              <a:gd name="connsiteX3" fmla="*/ 547631 w 8883911"/>
              <a:gd name="connsiteY3" fmla="*/ 3226103 h 3226103"/>
              <a:gd name="connsiteX4" fmla="*/ 0 w 8883911"/>
              <a:gd name="connsiteY4" fmla="*/ 326274 h 3226103"/>
              <a:gd name="connsiteX0" fmla="*/ 0 w 8872036"/>
              <a:gd name="connsiteY0" fmla="*/ 326274 h 3226103"/>
              <a:gd name="connsiteX1" fmla="*/ 8872036 w 8872036"/>
              <a:gd name="connsiteY1" fmla="*/ 0 h 3226103"/>
              <a:gd name="connsiteX2" fmla="*/ 8856796 w 8872036"/>
              <a:gd name="connsiteY2" fmla="*/ 2926383 h 3226103"/>
              <a:gd name="connsiteX3" fmla="*/ 535756 w 8872036"/>
              <a:gd name="connsiteY3" fmla="*/ 3226103 h 3226103"/>
              <a:gd name="connsiteX4" fmla="*/ 0 w 8872036"/>
              <a:gd name="connsiteY4" fmla="*/ 326274 h 3226103"/>
              <a:gd name="connsiteX0" fmla="*/ 34357 w 8906393"/>
              <a:gd name="connsiteY0" fmla="*/ 326274 h 3273604"/>
              <a:gd name="connsiteX1" fmla="*/ 8906393 w 8906393"/>
              <a:gd name="connsiteY1" fmla="*/ 0 h 3273604"/>
              <a:gd name="connsiteX2" fmla="*/ 8891153 w 8906393"/>
              <a:gd name="connsiteY2" fmla="*/ 2926383 h 3273604"/>
              <a:gd name="connsiteX3" fmla="*/ 98 w 8906393"/>
              <a:gd name="connsiteY3" fmla="*/ 3273604 h 3273604"/>
              <a:gd name="connsiteX4" fmla="*/ 34357 w 8906393"/>
              <a:gd name="connsiteY4" fmla="*/ 326274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1367 w 8907662"/>
              <a:gd name="connsiteY3" fmla="*/ 3273604 h 3273604"/>
              <a:gd name="connsiteX4" fmla="*/ 0 w 8907662"/>
              <a:gd name="connsiteY4" fmla="*/ 338149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32591 w 8907662"/>
              <a:gd name="connsiteY3" fmla="*/ 3273604 h 3273604"/>
              <a:gd name="connsiteX4" fmla="*/ 0 w 8907662"/>
              <a:gd name="connsiteY4" fmla="*/ 338149 h 3273604"/>
              <a:gd name="connsiteX0" fmla="*/ 0 w 8885359"/>
              <a:gd name="connsiteY0" fmla="*/ 338149 h 3273604"/>
              <a:gd name="connsiteX1" fmla="*/ 8885359 w 8885359"/>
              <a:gd name="connsiteY1" fmla="*/ 0 h 3273604"/>
              <a:gd name="connsiteX2" fmla="*/ 8870119 w 8885359"/>
              <a:gd name="connsiteY2" fmla="*/ 2926383 h 3273604"/>
              <a:gd name="connsiteX3" fmla="*/ 10288 w 8885359"/>
              <a:gd name="connsiteY3" fmla="*/ 3273604 h 3273604"/>
              <a:gd name="connsiteX4" fmla="*/ 0 w 8885359"/>
              <a:gd name="connsiteY4" fmla="*/ 338149 h 327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359" h="3273604">
                <a:moveTo>
                  <a:pt x="0" y="338149"/>
                </a:moveTo>
                <a:lnTo>
                  <a:pt x="8885359" y="0"/>
                </a:lnTo>
                <a:lnTo>
                  <a:pt x="8870119" y="2926383"/>
                </a:lnTo>
                <a:lnTo>
                  <a:pt x="10288" y="3273604"/>
                </a:lnTo>
                <a:cubicBezTo>
                  <a:pt x="7991" y="2232403"/>
                  <a:pt x="2297" y="1379350"/>
                  <a:pt x="0" y="338149"/>
                </a:cubicBezTo>
                <a:close/>
              </a:path>
            </a:pathLst>
          </a:custGeom>
          <a:solidFill>
            <a:srgbClr val="434343"/>
          </a:solidFill>
        </p:spPr>
        <p:txBody>
          <a:bodyPr lIns="576000"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Platzhalter: Bild Titelfolie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18C730E-B3F8-944F-8BC2-E236CE7245E4}"/>
              </a:ext>
            </a:extLst>
          </p:cNvPr>
          <p:cNvSpPr txBox="1"/>
          <p:nvPr userDrawn="1"/>
        </p:nvSpPr>
        <p:spPr>
          <a:xfrm>
            <a:off x="-2031023" y="2620375"/>
            <a:ext cx="202130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Platzhalterbild ersetzen:</a:t>
            </a:r>
            <a:b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löschen und durch neues Bild ersetzen &gt; über Bildformat &gt; Zuschneiden im Rahmen ggf. nachpositionieren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Copyrightangabe: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Korrektes Copyright angeben (in der Regel Name des*der Fotograf*in), Textfarbe je nach Hintergrund weiß oder schwarz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7B17960-7FEA-3C44-9F5C-B38F41DF0CD3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V1: Titelfolie mit Bild</a:t>
            </a:r>
          </a:p>
        </p:txBody>
      </p:sp>
    </p:spTree>
    <p:extLst>
      <p:ext uri="{BB962C8B-B14F-4D97-AF65-F5344CB8AC3E}">
        <p14:creationId xmlns:p14="http://schemas.microsoft.com/office/powerpoint/2010/main" val="2756911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-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740704DC-2971-A248-9827-94150E3D8746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V2: Titelfolie ohne Bild</a:t>
            </a:r>
          </a:p>
        </p:txBody>
      </p:sp>
    </p:spTree>
    <p:extLst>
      <p:ext uri="{BB962C8B-B14F-4D97-AF65-F5344CB8AC3E}">
        <p14:creationId xmlns:p14="http://schemas.microsoft.com/office/powerpoint/2010/main" val="150570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00" y="3175200"/>
            <a:ext cx="9721850" cy="2124075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9DAAF3EE-A5B2-F647-838D-0DFAACB4D5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00" y="1371600"/>
            <a:ext cx="9721850" cy="15263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endParaRPr lang="de-DE" dirty="0"/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82400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66438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64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32764340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2.xml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4">
            <a:extLst>
              <a:ext uri="{FF2B5EF4-FFF2-40B4-BE49-F238E27FC236}">
                <a16:creationId xmlns:a16="http://schemas.microsoft.com/office/drawing/2014/main" id="{B97C5655-F240-634C-9B7B-B6181A1B3AF5}"/>
              </a:ext>
            </a:extLst>
          </p:cNvPr>
          <p:cNvSpPr/>
          <p:nvPr userDrawn="1"/>
        </p:nvSpPr>
        <p:spPr>
          <a:xfrm>
            <a:off x="0" y="1668462"/>
            <a:ext cx="12192000" cy="5189537"/>
          </a:xfrm>
          <a:custGeom>
            <a:avLst/>
            <a:gdLst>
              <a:gd name="connsiteX0" fmla="*/ 0 w 12192000"/>
              <a:gd name="connsiteY0" fmla="*/ 0 h 4760912"/>
              <a:gd name="connsiteX1" fmla="*/ 12192000 w 12192000"/>
              <a:gd name="connsiteY1" fmla="*/ 0 h 4760912"/>
              <a:gd name="connsiteX2" fmla="*/ 12192000 w 12192000"/>
              <a:gd name="connsiteY2" fmla="*/ 4760912 h 4760912"/>
              <a:gd name="connsiteX3" fmla="*/ 0 w 12192000"/>
              <a:gd name="connsiteY3" fmla="*/ 4760912 h 4760912"/>
              <a:gd name="connsiteX4" fmla="*/ 0 w 12192000"/>
              <a:gd name="connsiteY4" fmla="*/ 0 h 4760912"/>
              <a:gd name="connsiteX0" fmla="*/ 0 w 12192000"/>
              <a:gd name="connsiteY0" fmla="*/ 212725 h 4973637"/>
              <a:gd name="connsiteX1" fmla="*/ 12192000 w 12192000"/>
              <a:gd name="connsiteY1" fmla="*/ 0 h 4973637"/>
              <a:gd name="connsiteX2" fmla="*/ 12192000 w 12192000"/>
              <a:gd name="connsiteY2" fmla="*/ 4973637 h 4973637"/>
              <a:gd name="connsiteX3" fmla="*/ 0 w 12192000"/>
              <a:gd name="connsiteY3" fmla="*/ 4973637 h 4973637"/>
              <a:gd name="connsiteX4" fmla="*/ 0 w 12192000"/>
              <a:gd name="connsiteY4" fmla="*/ 212725 h 4973637"/>
              <a:gd name="connsiteX0" fmla="*/ 0 w 12192000"/>
              <a:gd name="connsiteY0" fmla="*/ 428625 h 5189537"/>
              <a:gd name="connsiteX1" fmla="*/ 12192000 w 12192000"/>
              <a:gd name="connsiteY1" fmla="*/ 0 h 5189537"/>
              <a:gd name="connsiteX2" fmla="*/ 12192000 w 12192000"/>
              <a:gd name="connsiteY2" fmla="*/ 5189537 h 5189537"/>
              <a:gd name="connsiteX3" fmla="*/ 0 w 12192000"/>
              <a:gd name="connsiteY3" fmla="*/ 5189537 h 5189537"/>
              <a:gd name="connsiteX4" fmla="*/ 0 w 12192000"/>
              <a:gd name="connsiteY4" fmla="*/ 428625 h 518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189537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8DDEEBD-D00D-1249-9E02-EDC0548BFCA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8168" y="378741"/>
            <a:ext cx="2250000" cy="774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D20A730-187A-274D-A0E6-8412686F8775}"/>
              </a:ext>
            </a:extLst>
          </p:cNvPr>
          <p:cNvSpPr txBox="1"/>
          <p:nvPr userDrawn="1"/>
        </p:nvSpPr>
        <p:spPr>
          <a:xfrm>
            <a:off x="12292755" y="5534561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Titelseiten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Direkt auf dieser Folie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</p:spTree>
    <p:extLst>
      <p:ext uri="{BB962C8B-B14F-4D97-AF65-F5344CB8AC3E}">
        <p14:creationId xmlns:p14="http://schemas.microsoft.com/office/powerpoint/2010/main" val="307969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3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pos="1232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663" userDrawn="1">
          <p15:clr>
            <a:srgbClr val="F26B43"/>
          </p15:clr>
        </p15:guide>
        <p15:guide id="7" orient="horz" pos="1003" userDrawn="1">
          <p15:clr>
            <a:srgbClr val="F26B43"/>
          </p15:clr>
        </p15:guide>
        <p15:guide id="8" orient="horz" pos="1321" userDrawn="1">
          <p15:clr>
            <a:srgbClr val="F26B43"/>
          </p15:clr>
        </p15:guide>
        <p15:guide id="9" orient="horz" pos="1661" userDrawn="1">
          <p15:clr>
            <a:srgbClr val="F26B43"/>
          </p15:clr>
        </p15:guide>
        <p15:guide id="10" orient="horz" pos="2001" userDrawn="1">
          <p15:clr>
            <a:srgbClr val="F26B43"/>
          </p15:clr>
        </p15:guide>
        <p15:guide id="11" orient="horz" pos="3339" userDrawn="1">
          <p15:clr>
            <a:srgbClr val="F26B43"/>
          </p15:clr>
        </p15:guide>
        <p15:guide id="12" orient="horz" pos="2319" userDrawn="1">
          <p15:clr>
            <a:srgbClr val="F26B43"/>
          </p15:clr>
        </p15:guide>
        <p15:guide id="13" orient="horz" pos="2999" userDrawn="1">
          <p15:clr>
            <a:srgbClr val="F26B43"/>
          </p15:clr>
        </p15:guide>
        <p15:guide id="14" orient="horz" pos="3657" userDrawn="1">
          <p15:clr>
            <a:srgbClr val="F26B43"/>
          </p15:clr>
        </p15:guide>
        <p15:guide id="15" orient="horz" pos="2659" userDrawn="1">
          <p15:clr>
            <a:srgbClr val="F26B43"/>
          </p15:clr>
        </p15:guide>
        <p15:guide id="16" pos="2094" userDrawn="1">
          <p15:clr>
            <a:srgbClr val="F26B43"/>
          </p15:clr>
        </p15:guide>
        <p15:guide id="17" pos="2978" userDrawn="1">
          <p15:clr>
            <a:srgbClr val="F26B43"/>
          </p15:clr>
        </p15:guide>
        <p15:guide id="18" pos="3840" userDrawn="1">
          <p15:clr>
            <a:srgbClr val="F26B43"/>
          </p15:clr>
        </p15:guide>
        <p15:guide id="19" pos="4725" userDrawn="1">
          <p15:clr>
            <a:srgbClr val="F26B43"/>
          </p15:clr>
        </p15:guide>
        <p15:guide id="20" pos="5586" userDrawn="1">
          <p15:clr>
            <a:srgbClr val="F26B43"/>
          </p15:clr>
        </p15:guide>
        <p15:guide id="21" pos="64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">
            <a:extLst>
              <a:ext uri="{FF2B5EF4-FFF2-40B4-BE49-F238E27FC236}">
                <a16:creationId xmlns:a16="http://schemas.microsoft.com/office/drawing/2014/main" id="{48266648-C51B-EA45-AE41-AF74B0A4657C}"/>
              </a:ext>
            </a:extLst>
          </p:cNvPr>
          <p:cNvSpPr/>
          <p:nvPr userDrawn="1"/>
        </p:nvSpPr>
        <p:spPr>
          <a:xfrm>
            <a:off x="0" y="5748124"/>
            <a:ext cx="12195175" cy="1109875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A395C2-361B-A14B-9312-A16F3F6780A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427D4F0D-9351-B349-8187-43002862F183}"/>
              </a:ext>
            </a:extLst>
          </p:cNvPr>
          <p:cNvSpPr txBox="1"/>
          <p:nvPr userDrawn="1"/>
        </p:nvSpPr>
        <p:spPr>
          <a:xfrm>
            <a:off x="12292755" y="5612990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Folgeseiten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91FA75A-4E02-534F-A661-8216932850DD}"/>
              </a:ext>
            </a:extLst>
          </p:cNvPr>
          <p:cNvSpPr txBox="1"/>
          <p:nvPr userDrawn="1"/>
        </p:nvSpPr>
        <p:spPr>
          <a:xfrm>
            <a:off x="-2243920" y="6474756"/>
            <a:ext cx="2223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Informationen in Fußzeile ändern: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</a:t>
            </a:r>
          </a:p>
        </p:txBody>
      </p:sp>
    </p:spTree>
    <p:extLst>
      <p:ext uri="{BB962C8B-B14F-4D97-AF65-F5344CB8AC3E}">
        <p14:creationId xmlns:p14="http://schemas.microsoft.com/office/powerpoint/2010/main" val="390724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71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0" lang="en-US">
                <a:solidFill>
                  <a:srgbClr val="434343"/>
                </a:solidFill>
                <a:latin typeface="Arial"/>
              </a:rPr>
              <a:t>External test catalogue: intervention and assertion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>EVALUATION · EXTERNAL RESULTS · 25 + 29 SEPTEMBER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Variant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External results: Phala · 6 workers · 5 successful training rounds per run · client limit 5 · timeout 45 s"/>
          <p:cNvSpPr txBox="1"/>
          <p:nvPr/>
        </p:nvSpPr>
        <p:spPr>
          <a:xfrm>
            <a:off x="685800" y="1362456"/>
            <a:ext cx="1082649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lang="en-US">
                <a:solidFill>
                  <a:srgbClr val="65737D"/>
                </a:solidFill>
                <a:latin typeface="Arial"/>
              </a:rPr>
              <a:t>Phala · 6 workers · 5 successful training rounds per run · client limit 5 · timeout 45 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" y="1700784"/>
            <a:ext cx="10863072" cy="310896"/>
          </a:xfrm>
          <a:prstGeom prst="rect">
            <a:avLst/>
          </a:prstGeom>
          <a:solidFill>
            <a:srgbClr val="263440"/>
          </a:solidFill>
          <a:ln w="10160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xternal results: TEST AREA"/>
          <p:cNvSpPr txBox="1"/>
          <p:nvPr/>
        </p:nvSpPr>
        <p:spPr>
          <a:xfrm>
            <a:off x="804672" y="1746504"/>
            <a:ext cx="153619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9" b="1" lang="en-US">
                <a:solidFill>
                  <a:srgbClr val="FFFFFF"/>
                </a:solidFill>
                <a:latin typeface="Arial"/>
              </a:rPr>
              <a:t>TEST AREA</a:t>
            </a:r>
          </a:p>
        </p:txBody>
      </p:sp>
      <p:sp>
        <p:nvSpPr>
          <p:cNvPr id="16" name="External results: TEST INPUT / INTERVENTION"/>
          <p:cNvSpPr txBox="1"/>
          <p:nvPr/>
        </p:nvSpPr>
        <p:spPr>
          <a:xfrm>
            <a:off x="2624328" y="1746504"/>
            <a:ext cx="40690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9" b="1" lang="en-US">
                <a:solidFill>
                  <a:srgbClr val="FFFFFF"/>
                </a:solidFill>
                <a:latin typeface="Arial"/>
              </a:rPr>
              <a:t>TEST INPUT / INTERVENTION</a:t>
            </a:r>
          </a:p>
        </p:txBody>
      </p:sp>
      <p:sp>
        <p:nvSpPr>
          <p:cNvPr id="17" name="External results: WHAT WAS VERIFIED"/>
          <p:cNvSpPr txBox="1"/>
          <p:nvPr/>
        </p:nvSpPr>
        <p:spPr>
          <a:xfrm>
            <a:off x="7132320" y="1746504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9" b="1" lang="en-US">
                <a:solidFill>
                  <a:srgbClr val="FFFFFF"/>
                </a:solidFill>
                <a:latin typeface="Arial"/>
              </a:rPr>
              <a:t>WHAT WAS VERIFIED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" y="2048256"/>
            <a:ext cx="10863072" cy="758952"/>
          </a:xfrm>
          <a:prstGeom prst="rect">
            <a:avLst/>
          </a:prstGeom>
          <a:solidFill>
            <a:srgbClr val="F3F5F6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7512" y="2048256"/>
            <a:ext cx="1792224" cy="758952"/>
          </a:xfrm>
          <a:prstGeom prst="rect">
            <a:avLst/>
          </a:prstGeom>
          <a:solidFill>
            <a:srgbClr val="EDF6F0"/>
          </a:solidFill>
          <a:ln w="10160">
            <a:solidFill>
              <a:srgbClr val="ED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xternal results: COLLECTION"/>
          <p:cNvSpPr txBox="1"/>
          <p:nvPr/>
        </p:nvSpPr>
        <p:spPr>
          <a:xfrm>
            <a:off x="804672" y="2130552"/>
            <a:ext cx="15087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lang="en-US">
                <a:solidFill>
                  <a:srgbClr val="263440"/>
                </a:solidFill>
                <a:latin typeface="Arial"/>
              </a:rPr>
              <a:t>COLLECTION</a:t>
            </a:r>
          </a:p>
        </p:txBody>
      </p:sp>
      <p:sp>
        <p:nvSpPr>
          <p:cNvPr id="21" name="External results: 3 / 3 PASS"/>
          <p:cNvSpPr txBox="1"/>
          <p:nvPr/>
        </p:nvSpPr>
        <p:spPr>
          <a:xfrm>
            <a:off x="804672" y="2551176"/>
            <a:ext cx="148132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lang="en-US">
                <a:solidFill>
                  <a:srgbClr val="247044"/>
                </a:solidFill>
                <a:latin typeface="Arial"/>
              </a:rPr>
              <a:t>3 / 3 PASS</a:t>
            </a:r>
          </a:p>
        </p:txBody>
      </p:sp>
      <p:sp>
        <p:nvSpPr>
          <p:cNvPr id="22" name="External results: Allow 5 of 5 client uploads"/>
          <p:cNvSpPr txBox="1"/>
          <p:nvPr/>
        </p:nvSpPr>
        <p:spPr>
          <a:xfrm>
            <a:off x="2624328" y="2121408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lang="en-US">
                <a:solidFill>
                  <a:srgbClr val="263440"/>
                </a:solidFill>
                <a:latin typeface="Arial"/>
              </a:rPr>
              <a:t>Allow 5 of 5 client uploads</a:t>
            </a:r>
          </a:p>
        </p:txBody>
      </p:sp>
      <p:sp>
        <p:nvSpPr>
          <p:cNvPr id="23" name="External results: 5 inputs; close before timeout at 16 s"/>
          <p:cNvSpPr txBox="1"/>
          <p:nvPr/>
        </p:nvSpPr>
        <p:spPr>
          <a:xfrm>
            <a:off x="7132320" y="2121408"/>
            <a:ext cx="4233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47044"/>
                </a:solidFill>
                <a:latin typeface="Arial"/>
              </a:rPr>
              <a:t>5 inputs; close before timeout at 16 s</a:t>
            </a:r>
          </a:p>
        </p:txBody>
      </p:sp>
      <p:sp>
        <p:nvSpPr>
          <p:cNvPr id="24" name="External results: Allow 2; block the other 3 uploads"/>
          <p:cNvSpPr txBox="1"/>
          <p:nvPr/>
        </p:nvSpPr>
        <p:spPr>
          <a:xfrm>
            <a:off x="2624328" y="2345436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lang="en-US">
                <a:solidFill>
                  <a:srgbClr val="263440"/>
                </a:solidFill>
                <a:latin typeface="Arial"/>
              </a:rPr>
              <a:t>Allow 2; block the other 3 uploads</a:t>
            </a:r>
          </a:p>
        </p:txBody>
      </p:sp>
      <p:sp>
        <p:nvSpPr>
          <p:cNvPr id="25" name="External results: 2 inputs; close at the 45 s timeout"/>
          <p:cNvSpPr txBox="1"/>
          <p:nvPr/>
        </p:nvSpPr>
        <p:spPr>
          <a:xfrm>
            <a:off x="7132320" y="2345436"/>
            <a:ext cx="4233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47044"/>
                </a:solidFill>
                <a:latin typeface="Arial"/>
              </a:rPr>
              <a:t>2 inputs; close at the 45 s timeout</a:t>
            </a:r>
          </a:p>
        </p:txBody>
      </p:sp>
      <p:sp>
        <p:nvSpPr>
          <p:cNvPr id="26" name="External results: Zero: block all 5 uploads"/>
          <p:cNvSpPr txBox="1"/>
          <p:nvPr/>
        </p:nvSpPr>
        <p:spPr>
          <a:xfrm>
            <a:off x="2624328" y="2569464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lang="en-US">
                <a:solidFill>
                  <a:srgbClr val="263440"/>
                </a:solidFill>
                <a:latin typeface="Arial"/>
              </a:rPr>
              <a:t>Zero: block all 5 uploads</a:t>
            </a:r>
          </a:p>
        </p:txBody>
      </p:sp>
      <p:sp>
        <p:nvSpPr>
          <p:cNvPr id="27" name="External results: No empty publication; then 3/5 quorum recovery"/>
          <p:cNvSpPr txBox="1"/>
          <p:nvPr/>
        </p:nvSpPr>
        <p:spPr>
          <a:xfrm>
            <a:off x="7132320" y="2569464"/>
            <a:ext cx="4233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47044"/>
                </a:solidFill>
                <a:latin typeface="Arial"/>
              </a:rPr>
              <a:t>No empty publication; then 3/5 quorum recovery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" y="2862072"/>
            <a:ext cx="10863072" cy="539496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7512" y="2862072"/>
            <a:ext cx="1792224" cy="539496"/>
          </a:xfrm>
          <a:prstGeom prst="rect">
            <a:avLst/>
          </a:prstGeom>
          <a:solidFill>
            <a:srgbClr val="EDF6F0"/>
          </a:solidFill>
          <a:ln w="10160">
            <a:solidFill>
              <a:srgbClr val="ED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xternal results: RECOVERY"/>
          <p:cNvSpPr txBox="1"/>
          <p:nvPr/>
        </p:nvSpPr>
        <p:spPr>
          <a:xfrm>
            <a:off x="804672" y="2944368"/>
            <a:ext cx="15087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lang="en-US">
                <a:solidFill>
                  <a:srgbClr val="263440"/>
                </a:solidFill>
                <a:latin typeface="Arial"/>
              </a:rPr>
              <a:t>RECOVERY</a:t>
            </a:r>
          </a:p>
        </p:txBody>
      </p:sp>
      <p:sp>
        <p:nvSpPr>
          <p:cNvPr id="31" name="External results: PASS"/>
          <p:cNvSpPr txBox="1"/>
          <p:nvPr/>
        </p:nvSpPr>
        <p:spPr>
          <a:xfrm>
            <a:off x="804672" y="3145535"/>
            <a:ext cx="148132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lang="en-US">
                <a:solidFill>
                  <a:srgbClr val="247044"/>
                </a:solidFill>
                <a:latin typeface="Arial"/>
              </a:rPr>
              <a:t>PASS</a:t>
            </a:r>
          </a:p>
        </p:txBody>
      </p:sp>
      <p:sp>
        <p:nvSpPr>
          <p:cNvPr id="32" name="External results: Stop aggregator CVM; submit reports 1 → 2 → 3"/>
          <p:cNvSpPr txBox="1"/>
          <p:nvPr/>
        </p:nvSpPr>
        <p:spPr>
          <a:xfrm>
            <a:off x="2624328" y="2935224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lang="en-US">
                <a:solidFill>
                  <a:srgbClr val="263440"/>
                </a:solidFill>
                <a:latin typeface="Arial"/>
              </a:rPr>
              <a:t>Stop aggregator CVM; submit reports 1 → 2 → 3</a:t>
            </a:r>
          </a:p>
        </p:txBody>
      </p:sp>
      <p:sp>
        <p:nvSpPr>
          <p:cNvPr id="33" name="External results: State preserved at 1–2; replacement at 3 of 5"/>
          <p:cNvSpPr txBox="1"/>
          <p:nvPr/>
        </p:nvSpPr>
        <p:spPr>
          <a:xfrm>
            <a:off x="7132320" y="2935224"/>
            <a:ext cx="4233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47044"/>
                </a:solidFill>
                <a:latin typeface="Arial"/>
              </a:rPr>
              <a:t>State preserved at 1–2; replacement at 3 of 5</a:t>
            </a:r>
          </a:p>
        </p:txBody>
      </p:sp>
      <p:sp>
        <p:nvSpPr>
          <p:cNvPr id="34" name="External results: Continue training with the replacement aggregator"/>
          <p:cNvSpPr txBox="1"/>
          <p:nvPr/>
        </p:nvSpPr>
        <p:spPr>
          <a:xfrm>
            <a:off x="2624328" y="3159252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lang="en-US">
                <a:solidFill>
                  <a:srgbClr val="263440"/>
                </a:solidFill>
                <a:latin typeface="Arial"/>
              </a:rPr>
              <a:t>Continue training with the replacement aggregator</a:t>
            </a:r>
          </a:p>
        </p:txBody>
      </p:sp>
      <p:sp>
        <p:nvSpPr>
          <p:cNvPr id="35" name="External results: 5 successful rounds; all 6 workers participate"/>
          <p:cNvSpPr txBox="1"/>
          <p:nvPr/>
        </p:nvSpPr>
        <p:spPr>
          <a:xfrm>
            <a:off x="7132320" y="3159252"/>
            <a:ext cx="4233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47044"/>
                </a:solidFill>
                <a:latin typeface="Arial"/>
              </a:rPr>
              <a:t>5 successful rounds; all 6 workers participate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" y="3456432"/>
            <a:ext cx="10863072" cy="1005840"/>
          </a:xfrm>
          <a:prstGeom prst="rect">
            <a:avLst/>
          </a:prstGeom>
          <a:solidFill>
            <a:srgbClr val="F3F5F6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67512" y="3456432"/>
            <a:ext cx="1792224" cy="1005840"/>
          </a:xfrm>
          <a:prstGeom prst="rect">
            <a:avLst/>
          </a:prstGeom>
          <a:solidFill>
            <a:srgbClr val="EDF6F0"/>
          </a:solidFill>
          <a:ln w="10160">
            <a:solidFill>
              <a:srgbClr val="ED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xternal results: ACCESS / / CONTRACTS"/>
          <p:cNvSpPr txBox="1"/>
          <p:nvPr/>
        </p:nvSpPr>
        <p:spPr>
          <a:xfrm>
            <a:off x="804672" y="3538727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lang="en-US">
                <a:solidFill>
                  <a:srgbClr val="263440"/>
                </a:solidFill>
                <a:latin typeface="Arial"/>
              </a:rPr>
              <a:t>ACCESS /
CONTRACTS</a:t>
            </a:r>
          </a:p>
        </p:txBody>
      </p:sp>
      <p:sp>
        <p:nvSpPr>
          <p:cNvPr id="39" name="External results: 16 / 16 PASS"/>
          <p:cNvSpPr txBox="1"/>
          <p:nvPr/>
        </p:nvSpPr>
        <p:spPr>
          <a:xfrm>
            <a:off x="804672" y="4206240"/>
            <a:ext cx="148132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lang="en-US">
                <a:solidFill>
                  <a:srgbClr val="247044"/>
                </a:solidFill>
                <a:latin typeface="Arial"/>
              </a:rPr>
              <a:t>16 / 16 PASS</a:t>
            </a:r>
          </a:p>
        </p:txBody>
      </p:sp>
      <p:sp>
        <p:nvSpPr>
          <p:cNvPr id="40" name="External results: No / wrong credentials: UI / Control / model / job / run"/>
          <p:cNvSpPr txBox="1"/>
          <p:nvPr/>
        </p:nvSpPr>
        <p:spPr>
          <a:xfrm>
            <a:off x="2624328" y="3529584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lang="en-US">
                <a:solidFill>
                  <a:srgbClr val="263440"/>
                </a:solidFill>
                <a:latin typeface="Arial"/>
              </a:rPr>
              <a:t>No / wrong credentials: UI / Control / model / job / run</a:t>
            </a:r>
          </a:p>
        </p:txBody>
      </p:sp>
      <p:sp>
        <p:nvSpPr>
          <p:cNvPr id="41" name="External results: 10 × HTTP 401; config unchanged"/>
          <p:cNvSpPr txBox="1"/>
          <p:nvPr/>
        </p:nvSpPr>
        <p:spPr>
          <a:xfrm>
            <a:off x="7132320" y="3529584"/>
            <a:ext cx="4233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47044"/>
                </a:solidFill>
                <a:latin typeface="Arial"/>
              </a:rPr>
              <a:t>10 × HTTP 401; config unchanged</a:t>
            </a:r>
          </a:p>
        </p:txBody>
      </p:sp>
      <p:sp>
        <p:nvSpPr>
          <p:cNvPr id="42" name="External results: Stale round / wrong aggregator"/>
          <p:cNvSpPr txBox="1"/>
          <p:nvPr/>
        </p:nvSpPr>
        <p:spPr>
          <a:xfrm>
            <a:off x="2624328" y="3753611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lang="en-US">
                <a:solidFill>
                  <a:srgbClr val="263440"/>
                </a:solidFill>
                <a:latin typeface="Arial"/>
              </a:rPr>
              <a:t>Stale round / wrong aggregator</a:t>
            </a:r>
          </a:p>
        </p:txBody>
      </p:sp>
      <p:sp>
        <p:nvSpPr>
          <p:cNvPr id="43" name="External results: 2 calls rejected: expected eth_call reverts"/>
          <p:cNvSpPr txBox="1"/>
          <p:nvPr/>
        </p:nvSpPr>
        <p:spPr>
          <a:xfrm>
            <a:off x="7132320" y="3753611"/>
            <a:ext cx="4233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47044"/>
                </a:solidFill>
                <a:latin typeface="Arial"/>
              </a:rPr>
              <a:t>2 calls rejected: expected eth_call reverts</a:t>
            </a:r>
          </a:p>
        </p:txBody>
      </p:sp>
      <p:sp>
        <p:nvSpPr>
          <p:cNvPr id="44" name="External results: Unregistered action key / non-owner policy change"/>
          <p:cNvSpPr txBox="1"/>
          <p:nvPr/>
        </p:nvSpPr>
        <p:spPr>
          <a:xfrm>
            <a:off x="2624328" y="3977639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lang="en-US">
                <a:solidFill>
                  <a:srgbClr val="263440"/>
                </a:solidFill>
                <a:latin typeface="Arial"/>
              </a:rPr>
              <a:t>Unregistered action key / non-owner policy change</a:t>
            </a:r>
          </a:p>
        </p:txBody>
      </p:sp>
      <p:sp>
        <p:nvSpPr>
          <p:cNvPr id="45" name="External results: 2 calls rejected: expected eth_call reverts"/>
          <p:cNvSpPr txBox="1"/>
          <p:nvPr/>
        </p:nvSpPr>
        <p:spPr>
          <a:xfrm>
            <a:off x="7132320" y="3977639"/>
            <a:ext cx="4233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47044"/>
                </a:solidFill>
                <a:latin typeface="Arial"/>
              </a:rPr>
              <a:t>2 calls rejected: expected eth_call reverts</a:t>
            </a:r>
          </a:p>
        </p:txBody>
      </p:sp>
      <p:sp>
        <p:nvSpPr>
          <p:cNvPr id="46" name="External results: Run the regular authorized agent workflow"/>
          <p:cNvSpPr txBox="1"/>
          <p:nvPr/>
        </p:nvSpPr>
        <p:spPr>
          <a:xfrm>
            <a:off x="2624328" y="4201668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lang="en-US">
                <a:solidFill>
                  <a:srgbClr val="263440"/>
                </a:solidFill>
                <a:latin typeface="Arial"/>
              </a:rPr>
              <a:t>Run the regular authorized agent workflow</a:t>
            </a:r>
          </a:p>
        </p:txBody>
      </p:sp>
      <p:sp>
        <p:nvSpPr>
          <p:cNvPr id="47" name="External results: Authorized inference passed"/>
          <p:cNvSpPr txBox="1"/>
          <p:nvPr/>
        </p:nvSpPr>
        <p:spPr>
          <a:xfrm>
            <a:off x="7132320" y="4201668"/>
            <a:ext cx="4233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47044"/>
                </a:solidFill>
                <a:latin typeface="Arial"/>
              </a:rPr>
              <a:t>Authorized inference passed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7512" y="4517136"/>
            <a:ext cx="10863072" cy="841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7512" y="4517136"/>
            <a:ext cx="1792224" cy="841248"/>
          </a:xfrm>
          <a:prstGeom prst="rect">
            <a:avLst/>
          </a:prstGeom>
          <a:solidFill>
            <a:srgbClr val="EDF6F0"/>
          </a:solidFill>
          <a:ln w="10160">
            <a:solidFill>
              <a:srgbClr val="ED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xternal results: RECEIPT / AUDIT"/>
          <p:cNvSpPr txBox="1"/>
          <p:nvPr/>
        </p:nvSpPr>
        <p:spPr>
          <a:xfrm>
            <a:off x="804672" y="4599432"/>
            <a:ext cx="1508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lang="en-US">
                <a:solidFill>
                  <a:srgbClr val="263440"/>
                </a:solidFill>
                <a:latin typeface="Arial"/>
              </a:rPr>
              <a:t>RECEIPT
AUDIT</a:t>
            </a:r>
          </a:p>
        </p:txBody>
      </p:sp>
      <p:sp>
        <p:nvSpPr>
          <p:cNvPr id="51" name="External results: 17 / 17 PASS"/>
          <p:cNvSpPr txBox="1"/>
          <p:nvPr/>
        </p:nvSpPr>
        <p:spPr>
          <a:xfrm>
            <a:off x="804672" y="5102352"/>
            <a:ext cx="148132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lang="en-US">
                <a:solidFill>
                  <a:srgbClr val="247044"/>
                </a:solidFill>
                <a:latin typeface="Arial"/>
              </a:rPr>
              <a:t>17 / 17 PASS</a:t>
            </a:r>
          </a:p>
        </p:txBody>
      </p:sp>
      <p:sp>
        <p:nvSpPr>
          <p:cNvPr id="52" name="External results: Download SCITT statements + inclusion receipts"/>
          <p:cNvSpPr txBox="1"/>
          <p:nvPr/>
        </p:nvSpPr>
        <p:spPr>
          <a:xfrm>
            <a:off x="2624328" y="4590288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lang="en-US">
                <a:solidFill>
                  <a:srgbClr val="263440"/>
                </a:solidFill>
                <a:latin typeface="Arial"/>
              </a:rPr>
              <a:t>Download SCITT statements + inclusion receipts</a:t>
            </a:r>
          </a:p>
        </p:txBody>
      </p:sp>
      <p:sp>
        <p:nvSpPr>
          <p:cNvPr id="53" name="External results: Publisher signatures + inclusion under pinned log key"/>
          <p:cNvSpPr txBox="1"/>
          <p:nvPr/>
        </p:nvSpPr>
        <p:spPr>
          <a:xfrm>
            <a:off x="7132320" y="4590288"/>
            <a:ext cx="4233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47044"/>
                </a:solidFill>
                <a:latin typeface="Arial"/>
              </a:rPr>
              <a:t>Publisher signatures + inclusion under pinned log key</a:t>
            </a:r>
          </a:p>
        </p:txBody>
      </p:sp>
      <p:sp>
        <p:nvSpPr>
          <p:cNvPr id="54" name="External results: Re-verify AIR and its TDX evidence"/>
          <p:cNvSpPr txBox="1"/>
          <p:nvPr/>
        </p:nvSpPr>
        <p:spPr>
          <a:xfrm>
            <a:off x="2624328" y="4814316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lang="en-US">
                <a:solidFill>
                  <a:srgbClr val="263440"/>
                </a:solidFill>
                <a:latin typeface="Arial"/>
              </a:rPr>
              <a:t>Re-verify AIR and its TDX evidence</a:t>
            </a:r>
          </a:p>
        </p:txBody>
      </p:sp>
      <p:sp>
        <p:nvSpPr>
          <p:cNvPr id="55" name="External results: Model / input / output hashes; quote, RTMR3 + image"/>
          <p:cNvSpPr txBox="1"/>
          <p:nvPr/>
        </p:nvSpPr>
        <p:spPr>
          <a:xfrm>
            <a:off x="7132320" y="4814316"/>
            <a:ext cx="4233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47044"/>
                </a:solidFill>
                <a:latin typeface="Arial"/>
              </a:rPr>
              <a:t>Model / input / output hashes; quote, RTMR3 + image</a:t>
            </a:r>
          </a:p>
        </p:txBody>
      </p:sp>
      <p:sp>
        <p:nvSpPr>
          <p:cNvPr id="56" name="External results: Re-verify Sello receipts + attested sessions"/>
          <p:cNvSpPr txBox="1"/>
          <p:nvPr/>
        </p:nvSpPr>
        <p:spPr>
          <a:xfrm>
            <a:off x="2624328" y="5038344"/>
            <a:ext cx="422452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lang="en-US">
                <a:solidFill>
                  <a:srgbClr val="263440"/>
                </a:solidFill>
                <a:latin typeface="Arial"/>
              </a:rPr>
              <a:t>Re-verify Sello receipts + attested sessions</a:t>
            </a:r>
          </a:p>
        </p:txBody>
      </p:sp>
      <p:sp>
        <p:nvSpPr>
          <p:cNvPr id="57" name="External results: Signatures, owner permission, tool I/O + receiver keys"/>
          <p:cNvSpPr txBox="1"/>
          <p:nvPr/>
        </p:nvSpPr>
        <p:spPr>
          <a:xfrm>
            <a:off x="7132320" y="5038344"/>
            <a:ext cx="4233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47044"/>
                </a:solidFill>
                <a:latin typeface="Arial"/>
              </a:rPr>
              <a:t>Signatures, owner permission, tool I/O + receiver keys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67512" y="5404104"/>
            <a:ext cx="10863072" cy="0"/>
          </a:xfrm>
          <a:prstGeom prst="line">
            <a:avLst/>
          </a:prstGeom>
          <a:ln w="889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External results: Green = passed in these scenarios · Contracts: eth_call · Audit: shared verifier code + fresh Phala quote checks"/>
          <p:cNvSpPr txBox="1"/>
          <p:nvPr/>
        </p:nvSpPr>
        <p:spPr>
          <a:xfrm>
            <a:off x="694944" y="5422392"/>
            <a:ext cx="1079906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0" lang="en-US">
                <a:solidFill>
                  <a:srgbClr val="65737D"/>
                </a:solidFill>
                <a:latin typeface="Arial"/>
              </a:rPr>
              <a:t>Green = passed in these scenarios · Contracts: eth_call · Audit: shared verifier code + fresh Phala quote checks</a:t>
            </a:r>
          </a:p>
        </p:txBody>
      </p:sp>
      <p:sp>
        <p:nvSpPr>
          <p:cNvPr id="60" name="External results: 25 Sep: recovery · 29 Sep: collection / security / audit · Separate runs; same images, changed provisioning configuration"/>
          <p:cNvSpPr txBox="1"/>
          <p:nvPr/>
        </p:nvSpPr>
        <p:spPr>
          <a:xfrm>
            <a:off x="694944" y="5586984"/>
            <a:ext cx="10799064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 lang="en-US">
                <a:solidFill>
                  <a:srgbClr val="65737D"/>
                </a:solidFill>
                <a:latin typeface="Arial"/>
              </a:rPr>
              <a:t>25 Sep: recovery · 29 Sep: collection / security / audit · Separate runs; same images, changed provisioning configuration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elfolien zur Auswahl">
  <a:themeElements>
    <a:clrScheme name="TU Berlin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4A2A0730-D474-B642-9EC8-245B2B7F7B17}"/>
    </a:ext>
  </a:extLst>
</a:theme>
</file>

<file path=ppt/theme/theme2.xml><?xml version="1.0" encoding="utf-8"?>
<a:theme xmlns:a="http://schemas.openxmlformats.org/drawingml/2006/main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6D2ACD7B-51E4-3F4D-A883-FB2A0ECC7C66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TU-Berlin-Praesentation-Master-einfarbig-Rot</Template>
  <TotalTime>0</TotalTime>
  <Words>59</Words>
  <Application>Microsoft Office PowerPoint</Application>
  <PresentationFormat>Breitbild</PresentationFormat>
  <Paragraphs>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Symbol</vt:lpstr>
      <vt:lpstr>Titelfolien zur Auswahl</vt:lpstr>
      <vt:lpstr>Master für Folgeseiten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VITA-FL — Approved external test catalogue</dc:title>
  <dc:creator>Ramon Mehrpoya</dc:creator>
  <cp:lastModifiedBy>Friedrich, Ulrike</cp:lastModifiedBy>
  <cp:revision>3</cp:revision>
  <cp:lastPrinted>2021-03-24T16:10:50Z</cp:lastPrinted>
  <dcterms:created xsi:type="dcterms:W3CDTF">2023-04-20T08:54:03Z</dcterms:created>
  <dcterms:modified xsi:type="dcterms:W3CDTF">2025-06-16T09:49:54Z</dcterms:modified>
  <dc:subject>Verifiable Decentralized Federated Machine Learning and Inference for AI Agent Systems</dc:subject>
  <cp:keywords>VITA-FL, DFL, TEE, attested inference, transparency log</cp:keywords>
  <dc:language>en-US</dc:language>
</cp:coreProperties>
</file>