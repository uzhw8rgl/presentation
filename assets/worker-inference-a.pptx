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A shows nested boundaries: the Worker 0 TEE contains one combined dfl-worker container, two service roles and their internal key material. The agent invokes inference and receives results/evidence through the API.</a:t>
            </a:r>
          </a:p>
          <a:p/>
          <a:p>
            <a:r>
              <a:rPr lang="en-US"/>
              <a:t>The active Phala deployment uses exactly one dfl-worker service and one immutable image reference per worker CVM. That image packages the Node DFL service, Python training code, native tee_inference code and agent_receipts. Worker 0 starts training services and the inference receiver as processes in the same container. Other workers contain the same code but do not start inference. This is not a pair of independent container images.</a:t>
            </a:r>
          </a:p>
          <a:p/>
          <a:p>
            <a:r>
              <a:rPr lang="en-US"/>
              <a:t>Inference can load encrypted model publications using the existing participant RSA private key inside the worker CVM. Node owns RSA initialization: it obtains a dstack-derived wrapping key, creates or unseals the random RSA key, and materializes temporary PEM files in /run/vita-fl. Inference uses the same runtime RSA file. RSA unwraps model-transport symmetric keys; it is not the receipt-signing key. Sello and AIR use separate Ed25519 signing keys. Paths/context separate cryptographic purposes but are not an isolation mechanism between processes with access to the same dstack socket. No private-key export to the external agent is part of the intended inference interface. The external agent receives results and signed evidence, and can request/use public verification material.</a:t>
            </a:r>
          </a:p>
          <a:p/>
          <a:p>
            <a:r>
              <a:rPr lang="en-US"/>
              <a:t>The joint OCI image Digest covers both training and inference code. The on-chain verifier derives the image Digest and role-policy hash from the measured app_compose, binds the Compose hash into the event log, replays RTMR3, and compares it with the certificate-verified TDX quote. Image and role-policy checks authorize participation. The parser requires one worker service and one image. Training-only and combined-inference policies are separately allowed; each CVM has its own Compose/event log/quote and potentially different final RTMR3.</a:t>
            </a:r>
          </a:p>
          <a:p/>
          <a:p>
            <a:r>
              <a:rPr lang="en-US"/>
              <a:t>SECURITY SCOPE: these diagrams show intended key custody under the approved application. On-chain admission is distinct from Phala KMS key-release authorization. Startup loads keys before entering the registration state machine. The repository does not independently bind managed-KMS release to DeviceRegistry image/role allowlists. If a malicious upgrade of the same app is authorized by the KMS under the same key root, refusing that version's on-chain registration alone cannot prevent it from retrieving keys. Actual deployed KMS/upgrade authorization was not inspected. Trusted image execution and KMS/upgrade policy are necessary assumptions; the TEE does not isolate approved processes from one another. Do not present these diagrams as unconditional protection against malicious same-app upgrades.</a:t>
            </a:r>
          </a:p>
          <a:p/>
          <a:p>
            <a:r>
              <a:rPr lang="en-US"/>
              <a:t>PER-INFERENCE VERIFICATION: the agent checks AIR signatures, context, report-data binding, replayed RTMR3, measured Compose and its expected image Digest. Terraform derives this expected inference Digest from worker_image. The per-call Python verifier reports dcap_collateral_verified=False; do not describe it as an independent complete DCAP validation for every request. Receiver admission and registry-bound identity provide additional trust context.</a:t>
            </a:r>
          </a:p>
          <a:p/>
          <a:p>
            <a:r>
              <a:rPr lang="en-US"/>
              <a:t>TOOL TRANSPORT: MCP Tool request labels the conceptual tool call. In the deployed agent, LangChain wrappers invoke imported functions from mcp_server.py; the remote inference request uses HTTP REST. This diagram does not claim a public MCP transport server on the worker.</a:t>
            </a:r>
          </a:p>
          <a:p/>
          <a:p>
            <a:r>
              <a:rPr lang="en-US"/>
              <a:t>Source map, checked against local prototype on 20 September 2026:</a:t>
            </a:r>
          </a:p>
          <a:p>
            <a:r>
              <a:rPr lang="en-US"/>
              <a:t>vita-fl/phala/dstack-compose.worker.phala.tftpl:1–18,34–37,87–104</a:t>
            </a:r>
          </a:p>
          <a:p>
            <a:r>
              <a:rPr lang="en-US"/>
              <a:t>vita-fl/phala/dynamic-workers/main.tf:67</a:t>
            </a:r>
          </a:p>
          <a:p>
            <a:r>
              <a:rPr lang="en-US"/>
              <a:t>vita-fl/phala/main.tf:180</a:t>
            </a:r>
          </a:p>
          <a:p>
            <a:r>
              <a:rPr lang="en-US"/>
              <a:t>vita-fl/dfl/Dockerfile:90–99</a:t>
            </a:r>
          </a:p>
          <a:p>
            <a:r>
              <a:rPr lang="en-US"/>
              <a:t>vita-fl/dfl/start_node_neural_network.sh:332–365</a:t>
            </a:r>
          </a:p>
          <a:p>
            <a:r>
              <a:rPr lang="en-US"/>
              <a:t>vita-fl/dfl/node_server/src/server.ts:1823–1868,2890–2923</a:t>
            </a:r>
          </a:p>
          <a:p>
            <a:r>
              <a:rPr lang="en-US"/>
              <a:t>vita-fl/dfl/node_server/src/action_key.ts:65–98</a:t>
            </a:r>
          </a:p>
          <a:p>
            <a:r>
              <a:rPr lang="en-US"/>
              <a:t>vita-fl/dfl/node_server/src/participant_key.ts:247–286</a:t>
            </a:r>
          </a:p>
          <a:p>
            <a:r>
              <a:rPr lang="en-US"/>
              <a:t>vita-fl/tee_inference/service/model_source.py:146–220</a:t>
            </a:r>
          </a:p>
          <a:p>
            <a:r>
              <a:rPr lang="en-US"/>
              <a:t>vita-fl/tee_inference/service/attestation.py:49–60,109–121</a:t>
            </a:r>
          </a:p>
          <a:p>
            <a:r>
              <a:rPr lang="en-US"/>
              <a:t>vita-fl/agent/blockchain_source.py:467–480</a:t>
            </a:r>
          </a:p>
          <a:p>
            <a:r>
              <a:rPr lang="en-US"/>
              <a:t>vita-fl/smart_contracts/src/core/DeviceRegistry.sol:487–490</a:t>
            </a:r>
          </a:p>
          <a:p>
            <a:r>
              <a:rPr lang="en-US"/>
              <a:t>vita-fl/smart_contracts/src/attestation/AppComposeImage.sol:588–592</a:t>
            </a:r>
          </a:p>
          <a:p>
            <a:r>
              <a:rPr lang="en-US"/>
              <a:t>vita-fl/agent/tee_inference_client.py:445–472,605–624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Training and inference share one verified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664208"/>
            <a:ext cx="7818120" cy="3282696"/>
          </a:xfrm>
          <a:prstGeom prst="roundRect">
            <a:avLst/>
          </a:prstGeom>
          <a:solidFill>
            <a:srgbClr val="F7F9FA"/>
          </a:solidFill>
          <a:ln w="2159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Worker inference icon: tee / 1"/>
          <p:cNvCxnSpPr/>
          <p:nvPr/>
        </p:nvCxnSpPr>
        <p:spPr>
          <a:xfrm>
            <a:off x="922401" y="1813941"/>
            <a:ext cx="0" cy="43434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Worker inference icon: tee / 2"/>
          <p:cNvCxnSpPr/>
          <p:nvPr/>
        </p:nvCxnSpPr>
        <p:spPr>
          <a:xfrm>
            <a:off x="922401" y="2074545"/>
            <a:ext cx="0" cy="43434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Worker inference icon: tee / 3"/>
          <p:cNvCxnSpPr/>
          <p:nvPr/>
        </p:nvCxnSpPr>
        <p:spPr>
          <a:xfrm>
            <a:off x="835533" y="1900809"/>
            <a:ext cx="43434" cy="0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Worker inference icon: tee / 4"/>
          <p:cNvCxnSpPr/>
          <p:nvPr/>
        </p:nvCxnSpPr>
        <p:spPr>
          <a:xfrm>
            <a:off x="1096137" y="1900809"/>
            <a:ext cx="43434" cy="0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Worker inference icon: tee / 5"/>
          <p:cNvCxnSpPr/>
          <p:nvPr/>
        </p:nvCxnSpPr>
        <p:spPr>
          <a:xfrm>
            <a:off x="987552" y="1813941"/>
            <a:ext cx="0" cy="43434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Worker inference icon: tee / 6"/>
          <p:cNvCxnSpPr/>
          <p:nvPr/>
        </p:nvCxnSpPr>
        <p:spPr>
          <a:xfrm>
            <a:off x="987552" y="2074545"/>
            <a:ext cx="0" cy="43434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Worker inference icon: tee / 7"/>
          <p:cNvCxnSpPr/>
          <p:nvPr/>
        </p:nvCxnSpPr>
        <p:spPr>
          <a:xfrm>
            <a:off x="835533" y="1965960"/>
            <a:ext cx="43434" cy="0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Worker inference icon: tee / 8"/>
          <p:cNvCxnSpPr/>
          <p:nvPr/>
        </p:nvCxnSpPr>
        <p:spPr>
          <a:xfrm>
            <a:off x="1096137" y="1965960"/>
            <a:ext cx="43434" cy="0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Worker inference icon: tee / 9"/>
          <p:cNvCxnSpPr/>
          <p:nvPr/>
        </p:nvCxnSpPr>
        <p:spPr>
          <a:xfrm>
            <a:off x="1052703" y="1813941"/>
            <a:ext cx="0" cy="43434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Worker inference icon: tee / 10"/>
          <p:cNvCxnSpPr/>
          <p:nvPr/>
        </p:nvCxnSpPr>
        <p:spPr>
          <a:xfrm>
            <a:off x="1052703" y="2074545"/>
            <a:ext cx="0" cy="43434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Worker inference icon: tee / 11"/>
          <p:cNvCxnSpPr/>
          <p:nvPr/>
        </p:nvCxnSpPr>
        <p:spPr>
          <a:xfrm>
            <a:off x="835533" y="2031111"/>
            <a:ext cx="43434" cy="0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Worker inference icon: tee / 12"/>
          <p:cNvCxnSpPr/>
          <p:nvPr/>
        </p:nvCxnSpPr>
        <p:spPr>
          <a:xfrm>
            <a:off x="1096137" y="2031111"/>
            <a:ext cx="43434" cy="0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Worker inference icon: tee / 13"/>
          <p:cNvSpPr/>
          <p:nvPr/>
        </p:nvSpPr>
        <p:spPr>
          <a:xfrm>
            <a:off x="878967" y="1857375"/>
            <a:ext cx="217170" cy="217170"/>
          </a:xfrm>
          <a:prstGeom prst="roundRect">
            <a:avLst/>
          </a:prstGeom>
          <a:solidFill>
            <a:srgbClr val="F7F9FA"/>
          </a:solidFill>
          <a:ln w="15416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Worker inference icon: tee / 14"/>
          <p:cNvCxnSpPr/>
          <p:nvPr/>
        </p:nvCxnSpPr>
        <p:spPr>
          <a:xfrm flipV="1">
            <a:off x="944118" y="1922526"/>
            <a:ext cx="0" cy="32575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Worker inference icon: tee / 15"/>
          <p:cNvCxnSpPr/>
          <p:nvPr/>
        </p:nvCxnSpPr>
        <p:spPr>
          <a:xfrm flipV="1">
            <a:off x="944118" y="1910083"/>
            <a:ext cx="1709" cy="12443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Worker inference icon: tee / 16"/>
          <p:cNvCxnSpPr/>
          <p:nvPr/>
        </p:nvCxnSpPr>
        <p:spPr>
          <a:xfrm flipV="1">
            <a:off x="945827" y="1899904"/>
            <a:ext cx="4725" cy="10179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Worker inference icon: tee / 17"/>
          <p:cNvCxnSpPr/>
          <p:nvPr/>
        </p:nvCxnSpPr>
        <p:spPr>
          <a:xfrm flipV="1">
            <a:off x="950552" y="1891986"/>
            <a:ext cx="7139" cy="7918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Worker inference icon: tee / 18"/>
          <p:cNvCxnSpPr/>
          <p:nvPr/>
        </p:nvCxnSpPr>
        <p:spPr>
          <a:xfrm flipV="1">
            <a:off x="957691" y="1886331"/>
            <a:ext cx="8948" cy="5655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Worker inference icon: tee / 19"/>
          <p:cNvCxnSpPr/>
          <p:nvPr/>
        </p:nvCxnSpPr>
        <p:spPr>
          <a:xfrm flipV="1">
            <a:off x="966639" y="1882937"/>
            <a:ext cx="10155" cy="3394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Worker inference icon: tee / 20"/>
          <p:cNvCxnSpPr/>
          <p:nvPr/>
        </p:nvCxnSpPr>
        <p:spPr>
          <a:xfrm flipV="1">
            <a:off x="976794" y="1881806"/>
            <a:ext cx="10758" cy="1131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Worker inference icon: tee / 21"/>
          <p:cNvCxnSpPr/>
          <p:nvPr/>
        </p:nvCxnSpPr>
        <p:spPr>
          <a:xfrm>
            <a:off x="987552" y="1881806"/>
            <a:ext cx="10757" cy="1131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Worker inference icon: tee / 22"/>
          <p:cNvCxnSpPr/>
          <p:nvPr/>
        </p:nvCxnSpPr>
        <p:spPr>
          <a:xfrm>
            <a:off x="998309" y="1882937"/>
            <a:ext cx="10155" cy="3394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Worker inference icon: tee / 23"/>
          <p:cNvCxnSpPr/>
          <p:nvPr/>
        </p:nvCxnSpPr>
        <p:spPr>
          <a:xfrm>
            <a:off x="1008464" y="1886331"/>
            <a:ext cx="8948" cy="5655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Worker inference icon: tee / 24"/>
          <p:cNvCxnSpPr/>
          <p:nvPr/>
        </p:nvCxnSpPr>
        <p:spPr>
          <a:xfrm>
            <a:off x="1017412" y="1891986"/>
            <a:ext cx="7139" cy="7918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Worker inference icon: tee / 25"/>
          <p:cNvCxnSpPr/>
          <p:nvPr/>
        </p:nvCxnSpPr>
        <p:spPr>
          <a:xfrm>
            <a:off x="1024551" y="1899904"/>
            <a:ext cx="4725" cy="10179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Worker inference icon: tee / 26"/>
          <p:cNvCxnSpPr/>
          <p:nvPr/>
        </p:nvCxnSpPr>
        <p:spPr>
          <a:xfrm>
            <a:off x="1029276" y="1910083"/>
            <a:ext cx="1710" cy="12443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Worker inference icon: tee / 27"/>
          <p:cNvCxnSpPr/>
          <p:nvPr/>
        </p:nvCxnSpPr>
        <p:spPr>
          <a:xfrm>
            <a:off x="1030986" y="1922526"/>
            <a:ext cx="0" cy="32575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Worker inference icon: tee / 28"/>
          <p:cNvSpPr/>
          <p:nvPr/>
        </p:nvSpPr>
        <p:spPr>
          <a:xfrm>
            <a:off x="933259" y="1944243"/>
            <a:ext cx="108585" cy="86868"/>
          </a:xfrm>
          <a:prstGeom prst="roundRect">
            <a:avLst/>
          </a:prstGeom>
          <a:solidFill>
            <a:srgbClr val="F7F9FA"/>
          </a:solidFill>
          <a:ln w="15416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Worker inference: Worker 0 · TEE"/>
          <p:cNvSpPr txBox="1"/>
          <p:nvPr/>
        </p:nvSpPr>
        <p:spPr>
          <a:xfrm>
            <a:off x="1307592" y="1755648"/>
            <a:ext cx="312724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lang="en-US">
                <a:solidFill>
                  <a:srgbClr val="263440"/>
                </a:solidFill>
                <a:latin typeface="Arial"/>
              </a:rPr>
              <a:t>Worker 0 · TEE</a:t>
            </a:r>
          </a:p>
        </p:txBody>
      </p:sp>
      <p:sp>
        <p:nvSpPr>
          <p:cNvPr id="43" name="Worker inference: One protected application"/>
          <p:cNvSpPr txBox="1"/>
          <p:nvPr/>
        </p:nvSpPr>
        <p:spPr>
          <a:xfrm>
            <a:off x="4809744" y="1773936"/>
            <a:ext cx="328269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lang="en-US">
                <a:solidFill>
                  <a:srgbClr val="67747C"/>
                </a:solidFill>
                <a:latin typeface="Arial"/>
              </a:rPr>
              <a:t>One protected application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1248" y="2304288"/>
            <a:ext cx="7324344" cy="2404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Worker inference: ONE dfl-worker CONTAINER · ONE IMAGE DIGEST"/>
          <p:cNvSpPr txBox="1"/>
          <p:nvPr/>
        </p:nvSpPr>
        <p:spPr>
          <a:xfrm>
            <a:off x="1033271" y="2441448"/>
            <a:ext cx="69402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263440"/>
                </a:solidFill>
                <a:latin typeface="Arial"/>
              </a:rPr>
              <a:t>ONE dfl-worker CONTAINER · ONE IMAGE DIGEST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69848" y="2907792"/>
            <a:ext cx="2880360" cy="850392"/>
          </a:xfrm>
          <a:prstGeom prst="roundRect">
            <a:avLst/>
          </a:prstGeom>
          <a:solidFill>
            <a:srgbClr val="EDF6F0"/>
          </a:solidFill>
          <a:ln w="15240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Worker inference: DFL"/>
          <p:cNvSpPr txBox="1"/>
          <p:nvPr/>
        </p:nvSpPr>
        <p:spPr>
          <a:xfrm>
            <a:off x="1197864" y="2971800"/>
            <a:ext cx="26243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lang="en-US">
                <a:solidFill>
                  <a:srgbClr val="207548"/>
                </a:solidFill>
                <a:latin typeface="Arial"/>
              </a:rPr>
              <a:t>DFL</a:t>
            </a:r>
          </a:p>
        </p:txBody>
      </p:sp>
      <p:sp>
        <p:nvSpPr>
          <p:cNvPr id="48" name="Worker inference: Train · aggregate · publish"/>
          <p:cNvSpPr txBox="1"/>
          <p:nvPr/>
        </p:nvSpPr>
        <p:spPr>
          <a:xfrm>
            <a:off x="1179576" y="3383280"/>
            <a:ext cx="266090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0" lang="en-US">
                <a:solidFill>
                  <a:srgbClr val="263440"/>
                </a:solidFill>
                <a:latin typeface="Arial"/>
              </a:rPr>
              <a:t>Train · aggregate · publish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54296" y="2907792"/>
            <a:ext cx="3255264" cy="850392"/>
          </a:xfrm>
          <a:prstGeom prst="roundRect">
            <a:avLst/>
          </a:prstGeom>
          <a:solidFill>
            <a:srgbClr val="EDF4FA"/>
          </a:solidFill>
          <a:ln w="1524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Worker inference: Inference"/>
          <p:cNvSpPr txBox="1"/>
          <p:nvPr/>
        </p:nvSpPr>
        <p:spPr>
          <a:xfrm>
            <a:off x="4809744" y="2971800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lang="en-US">
                <a:solidFill>
                  <a:srgbClr val="1764A1"/>
                </a:solidFill>
                <a:latin typeface="Arial"/>
              </a:rPr>
              <a:t>Inference</a:t>
            </a:r>
          </a:p>
        </p:txBody>
      </p:sp>
      <p:sp>
        <p:nvSpPr>
          <p:cNvPr id="51" name="Worker inference: Load model · predict · sign"/>
          <p:cNvSpPr txBox="1"/>
          <p:nvPr/>
        </p:nvSpPr>
        <p:spPr>
          <a:xfrm>
            <a:off x="4791456" y="3383280"/>
            <a:ext cx="298094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0" lang="en-US">
                <a:solidFill>
                  <a:srgbClr val="263440"/>
                </a:solidFill>
                <a:latin typeface="Arial"/>
              </a:rPr>
              <a:t>Load model · predict · sign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69848" y="4114800"/>
            <a:ext cx="6839712" cy="393192"/>
          </a:xfrm>
          <a:prstGeom prst="roundRect">
            <a:avLst/>
          </a:prstGeom>
          <a:solidFill>
            <a:srgbClr val="F3EEF8"/>
          </a:solidFill>
          <a:ln w="1524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43584" y="4244644"/>
            <a:ext cx="161300" cy="161300"/>
          </a:xfrm>
          <a:prstGeom prst="ellipse">
            <a:avLst/>
          </a:prstGeom>
          <a:solidFill>
            <a:srgbClr val="F3EEF8"/>
          </a:solidFill>
          <a:ln w="2032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401043" y="4325294"/>
            <a:ext cx="203546" cy="0"/>
          </a:xfrm>
          <a:prstGeom prst="line">
            <a:avLst/>
          </a:prstGeom>
          <a:ln w="2540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523939" y="4325294"/>
            <a:ext cx="0" cy="92172"/>
          </a:xfrm>
          <a:prstGeom prst="line">
            <a:avLst/>
          </a:prstGeom>
          <a:ln w="2540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93067" y="4325294"/>
            <a:ext cx="0" cy="92172"/>
          </a:xfrm>
          <a:prstGeom prst="line">
            <a:avLst/>
          </a:prstGeom>
          <a:ln w="2540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Worker inference: Shared RSA key · separate signing keys"/>
          <p:cNvSpPr txBox="1"/>
          <p:nvPr/>
        </p:nvSpPr>
        <p:spPr>
          <a:xfrm>
            <a:off x="1819656" y="4151376"/>
            <a:ext cx="592531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lang="en-US">
                <a:solidFill>
                  <a:srgbClr val="7446A6"/>
                </a:solidFill>
                <a:latin typeface="Arial"/>
              </a:rPr>
              <a:t>Shared RSA key · separate signing keys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2505456" y="3794759"/>
            <a:ext cx="0" cy="292609"/>
          </a:xfrm>
          <a:prstGeom prst="line">
            <a:avLst/>
          </a:prstGeom>
          <a:ln w="22860">
            <a:solidFill>
              <a:srgbClr val="2075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281928" y="3794759"/>
            <a:ext cx="0" cy="292609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9784080" y="2880360"/>
            <a:ext cx="1810512" cy="1024128"/>
          </a:xfrm>
          <a:prstGeom prst="roundRect">
            <a:avLst/>
          </a:prstGeom>
          <a:solidFill>
            <a:srgbClr val="EDF4FA"/>
          </a:solidFill>
          <a:ln w="1524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Worker inference icon: agent / 1"/>
          <p:cNvCxnSpPr/>
          <p:nvPr/>
        </p:nvCxnSpPr>
        <p:spPr>
          <a:xfrm>
            <a:off x="10671048" y="3054095"/>
            <a:ext cx="0" cy="57150"/>
          </a:xfrm>
          <a:prstGeom prst="line">
            <a:avLst/>
          </a:prstGeom>
          <a:ln w="16227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Worker inference icon: agent / 2"/>
          <p:cNvSpPr/>
          <p:nvPr/>
        </p:nvSpPr>
        <p:spPr>
          <a:xfrm>
            <a:off x="10653903" y="3025520"/>
            <a:ext cx="34290" cy="34290"/>
          </a:xfrm>
          <a:prstGeom prst="ellipse">
            <a:avLst/>
          </a:prstGeom>
          <a:solidFill>
            <a:srgbClr val="1764A1"/>
          </a:solidFill>
          <a:ln w="16227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Worker inference icon: agent / 3"/>
          <p:cNvSpPr/>
          <p:nvPr/>
        </p:nvSpPr>
        <p:spPr>
          <a:xfrm>
            <a:off x="10533888" y="3111245"/>
            <a:ext cx="274320" cy="228600"/>
          </a:xfrm>
          <a:prstGeom prst="roundRect">
            <a:avLst/>
          </a:prstGeom>
          <a:solidFill>
            <a:srgbClr val="EDF4FA"/>
          </a:solidFill>
          <a:ln w="16227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Worker inference icon: agent / 4"/>
          <p:cNvCxnSpPr/>
          <p:nvPr/>
        </p:nvCxnSpPr>
        <p:spPr>
          <a:xfrm>
            <a:off x="10499598" y="3179826"/>
            <a:ext cx="0" cy="80010"/>
          </a:xfrm>
          <a:prstGeom prst="line">
            <a:avLst/>
          </a:prstGeom>
          <a:ln w="16227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Worker inference icon: agent / 5"/>
          <p:cNvCxnSpPr/>
          <p:nvPr/>
        </p:nvCxnSpPr>
        <p:spPr>
          <a:xfrm>
            <a:off x="10842498" y="3179826"/>
            <a:ext cx="0" cy="80010"/>
          </a:xfrm>
          <a:prstGeom prst="line">
            <a:avLst/>
          </a:prstGeom>
          <a:ln w="16227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Worker inference icon: agent / 6"/>
          <p:cNvSpPr/>
          <p:nvPr/>
        </p:nvSpPr>
        <p:spPr>
          <a:xfrm>
            <a:off x="10591038" y="3179826"/>
            <a:ext cx="34290" cy="34290"/>
          </a:xfrm>
          <a:prstGeom prst="ellipse">
            <a:avLst/>
          </a:prstGeom>
          <a:solidFill>
            <a:srgbClr val="1764A1"/>
          </a:solidFill>
          <a:ln w="16227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Worker inference icon: agent / 7"/>
          <p:cNvSpPr/>
          <p:nvPr/>
        </p:nvSpPr>
        <p:spPr>
          <a:xfrm>
            <a:off x="10716768" y="3179826"/>
            <a:ext cx="34290" cy="34290"/>
          </a:xfrm>
          <a:prstGeom prst="ellipse">
            <a:avLst/>
          </a:prstGeom>
          <a:solidFill>
            <a:srgbClr val="1764A1"/>
          </a:solidFill>
          <a:ln w="16227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Worker inference icon: agent / 8"/>
          <p:cNvCxnSpPr/>
          <p:nvPr/>
        </p:nvCxnSpPr>
        <p:spPr>
          <a:xfrm>
            <a:off x="10613898" y="3282696"/>
            <a:ext cx="114300" cy="0"/>
          </a:xfrm>
          <a:prstGeom prst="line">
            <a:avLst/>
          </a:prstGeom>
          <a:ln w="16227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Worker inference: Agent"/>
          <p:cNvSpPr txBox="1"/>
          <p:nvPr/>
        </p:nvSpPr>
        <p:spPr>
          <a:xfrm>
            <a:off x="9912096" y="3429000"/>
            <a:ext cx="15544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lang="en-US">
                <a:solidFill>
                  <a:srgbClr val="1764A1"/>
                </a:solidFill>
                <a:latin typeface="Arial"/>
              </a:rPr>
              <a:t>Agent</a:t>
            </a:r>
          </a:p>
        </p:txBody>
      </p:sp>
      <p:cxnSp>
        <p:nvCxnSpPr>
          <p:cNvPr id="70" name="Connector 69"/>
          <p:cNvCxnSpPr/>
          <p:nvPr/>
        </p:nvCxnSpPr>
        <p:spPr>
          <a:xfrm flipV="1">
            <a:off x="10680192" y="2176272"/>
            <a:ext cx="0" cy="658368"/>
          </a:xfrm>
          <a:prstGeom prst="line">
            <a:avLst/>
          </a:prstGeom>
          <a:ln w="2540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8915400" y="2176272"/>
            <a:ext cx="1764792" cy="0"/>
          </a:xfrm>
          <a:prstGeom prst="line">
            <a:avLst/>
          </a:prstGeom>
          <a:ln w="2540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915400" y="2176272"/>
            <a:ext cx="0" cy="850392"/>
          </a:xfrm>
          <a:prstGeom prst="line">
            <a:avLst/>
          </a:prstGeom>
          <a:ln w="2540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7946136" y="3026664"/>
            <a:ext cx="969264" cy="0"/>
          </a:xfrm>
          <a:prstGeom prst="line">
            <a:avLst/>
          </a:prstGeom>
          <a:ln w="2540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Worker inference: MCP Tool request"/>
          <p:cNvSpPr txBox="1"/>
          <p:nvPr/>
        </p:nvSpPr>
        <p:spPr>
          <a:xfrm>
            <a:off x="8769096" y="1737360"/>
            <a:ext cx="28254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MCP Tool request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946136" y="3648455"/>
            <a:ext cx="1792224" cy="0"/>
          </a:xfrm>
          <a:prstGeom prst="line">
            <a:avLst/>
          </a:prstGeom>
          <a:ln w="2540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Worker inference: Result + / evidence"/>
          <p:cNvSpPr txBox="1"/>
          <p:nvPr/>
        </p:nvSpPr>
        <p:spPr>
          <a:xfrm>
            <a:off x="8549640" y="3108960"/>
            <a:ext cx="11704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lang="en-US">
                <a:solidFill>
                  <a:srgbClr val="1764A1"/>
                </a:solidFill>
                <a:latin typeface="Arial"/>
              </a:rPr>
              <a:t>Result +
evidence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784080" y="4370832"/>
            <a:ext cx="1810512" cy="594360"/>
          </a:xfrm>
          <a:prstGeom prst="roundRect">
            <a:avLst/>
          </a:prstGeom>
          <a:solidFill>
            <a:srgbClr val="F3EEF8"/>
          </a:solidFill>
          <a:ln w="1524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Worker inference: Transparency / Log"/>
          <p:cNvSpPr txBox="1"/>
          <p:nvPr/>
        </p:nvSpPr>
        <p:spPr>
          <a:xfrm>
            <a:off x="9866376" y="4416552"/>
            <a:ext cx="1645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lang="en-US">
                <a:solidFill>
                  <a:srgbClr val="7446A6"/>
                </a:solidFill>
                <a:latin typeface="Arial"/>
              </a:rPr>
              <a:t>Transparency
Log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0680192" y="3950208"/>
            <a:ext cx="0" cy="374904"/>
          </a:xfrm>
          <a:prstGeom prst="line">
            <a:avLst/>
          </a:prstGeom>
          <a:ln w="2286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Worker inference: AIR"/>
          <p:cNvSpPr txBox="1"/>
          <p:nvPr/>
        </p:nvSpPr>
        <p:spPr>
          <a:xfrm>
            <a:off x="10835640" y="4023360"/>
            <a:ext cx="6126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0" lang="en-US">
                <a:solidFill>
                  <a:srgbClr val="7446A6"/>
                </a:solidFill>
                <a:latin typeface="Arial"/>
              </a:rPr>
              <a:t>AIR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726679" y="3794759"/>
            <a:ext cx="0" cy="146305"/>
          </a:xfrm>
          <a:prstGeom prst="line">
            <a:avLst/>
          </a:prstGeom>
          <a:ln w="2286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26679" y="3941064"/>
            <a:ext cx="960121" cy="0"/>
          </a:xfrm>
          <a:prstGeom prst="line">
            <a:avLst/>
          </a:prstGeom>
          <a:ln w="2286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686800" y="3941064"/>
            <a:ext cx="0" cy="726948"/>
          </a:xfrm>
          <a:prstGeom prst="line">
            <a:avLst/>
          </a:prstGeom>
          <a:ln w="2286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686800" y="4668012"/>
            <a:ext cx="1051560" cy="0"/>
          </a:xfrm>
          <a:prstGeom prst="line">
            <a:avLst/>
          </a:prstGeom>
          <a:ln w="2286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Worker inference: Sello"/>
          <p:cNvSpPr txBox="1"/>
          <p:nvPr/>
        </p:nvSpPr>
        <p:spPr>
          <a:xfrm>
            <a:off x="8732520" y="4325112"/>
            <a:ext cx="96926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lang="en-US">
                <a:solidFill>
                  <a:srgbClr val="7446A6"/>
                </a:solidFill>
                <a:latin typeface="Arial"/>
              </a:rPr>
              <a:t>Sello</a:t>
            </a:r>
          </a:p>
        </p:txBody>
      </p:sp>
      <p:sp>
        <p:nvSpPr>
          <p:cNvPr id="86" name="Worker inference: No private keys sent to the agent"/>
          <p:cNvSpPr txBox="1"/>
          <p:nvPr/>
        </p:nvSpPr>
        <p:spPr>
          <a:xfrm>
            <a:off x="594360" y="5285232"/>
            <a:ext cx="110002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lang="en-US">
                <a:solidFill>
                  <a:srgbClr val="1764A1"/>
                </a:solidFill>
                <a:latin typeface="Arial"/>
              </a:rPr>
              <a:t>No private keys sent to the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Master's Thesis Presentation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