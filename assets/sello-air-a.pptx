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COMBINED ASSURANCE VARIANT A</a:t>
            </a:r>
          </a:p>
          <a:p/>
          <a:p>
            <a:r>
              <a:rPr lang="en-US"/>
              <a:t>SOURCE: Juan Figuera, Notarized Agents: Receiver-Attested Confidential Receipts for AI Agent Actions (2026), arXiv:2606.04193v1. https://arxiv.org/abs/2606.04193</a:t>
            </a:r>
          </a:p>
          <a:p>
            <a:r>
              <a:rPr lang="en-US"/>
              <a:t>The paper moves receipt production to the receiving service, encrypts receipt contents for an independent owner, and combines witnessed logging with owner discovery by token reference.</a:t>
            </a:r>
          </a:p>
          <a:p/>
          <a:p>
            <a:r>
              <a:rPr lang="en-US"/>
              <a:t>CURRENT VITA-FL IMPLEMENTATION (23 September 2026): The three fixed operations are model-bundle fetch, ChestMNIST image selection, and inference. The receiver hashes the exact canonical tool input and raw response, HPKE-encrypts the receipt body, and signs its COSE_Sign1 envelope with a dedicated Ed25519 key. The receiver publishes to SCITT before releasing a successful response. The agent verifies the signature, decrypts the receipt, checks byte commitments and verifies the SCITT publication bundle. A log failure yields HTTP 503; already performed computation is not rolled back. The Sello inference input is a job_id object, not the image pixels. Pixel-level evidence is in the separately published AIR bundle.</a:t>
            </a:r>
          </a:p>
          <a:p/>
          <a:p>
            <a:r>
              <a:rPr lang="en-US"/>
              <a:t>VITA-FL ADDITIONS: dstack-derived receiver key, bound at DCAP admission to Worker 0 and its endpoint in DeviceRegistry; mandatory mTLS; short-lived JWS with audience, action scopes, certificate thumbprint and matching subject. This is transport identity, not attestation of agent code. A random jti is not a one-use store and the token is not bound to the request Digest.</a:t>
            </a:r>
          </a:p>
          <a:p/>
          <a:p>
            <a:r>
              <a:rPr lang="en-US"/>
              <a:t>DEVIATIONS / LIMITS: SCITT/CCF runs as one virtual node with no witness cosigning or independent log-key pin. Retrieval follows a returned publication URL; there is no owner discovery service indexed by token reference. Owner HPKE private key and token-issuer signing seed are configured in the agent runtime: the independent-owner threat boundary is therefore not preserved against compromise of that runtime. Domain evidence remains a separate layer. These slides describe the local implementation, not a newly deployed or evaluated run.</a:t>
            </a:r>
          </a:p>
          <a:p/>
          <a:p>
            <a:r>
              <a:rPr lang="en-US"/>
              <a:t>CODE: vita-fl/agent_receipts/sello_v1.py; agent_receipts/environment.py; agent_receipts/receiver_log.py; agent_receipts/scitt.py; agent_receipts/dstack_key.py; agent/sello_client.py; tee_inference/service/app.py; transport_security/peer.py; phala/dstack-compose.contracts.phala.tftpl.</a:t>
            </a:r>
          </a:p>
          <a:p/>
          <a:p>
            <a:r>
              <a:rPr lang="en-US"/>
              <a:t>SOURCE: B. Tsyrulnikov, Attested Inference Receipt (AIR): A COSE/CWT Profile for Confidential AI Inference, Internet-Draft 02, 5 July 2026. https://www.ietf.org/archive/id/draft-tsyrulnikov-rats-attested-inference-receipt-02.html</a:t>
            </a:r>
          </a:p>
          <a:p>
            <a:r>
              <a:rPr lang="en-US"/>
              <a:t>This is a work-in-progress draft, not a peer-reviewed paper or RFC. It defines signed single-inference evidence and distinguishes receipt validation from platform attestation appraisal.</a:t>
            </a:r>
          </a:p>
          <a:p/>
          <a:p>
            <a:r>
              <a:rPr lang="en-US"/>
              <a:t>CURRENT VITA-FL IMPLEMENTATION (23 September 2026): Native ChestMNIST inference uses deterministic CBOR request, response and model-manifest bytes. A dedicated dstack-derived Ed25519 key signs the AIR-style COSE/CWT receipt. The model Digest is the manifest Digest; that manifest binds the separately available DFL model artifact. The receipt contains commitments, not the original model weights or pixels. The returned domain bundle additionally contains exact numeric request/response bytes, manifest, receipt/key, quote, REPORTDATA, ordered event log and measured app_compose. The agent verifies the bundle and separately publishes it to SCITT. This published bundle contains the input pixels in plaintext; receipt hashing does not make this bundle confidential.</a:t>
            </a:r>
          </a:p>
          <a:p/>
          <a:p>
            <a:r>
              <a:rPr lang="en-US"/>
              <a:t>KEY / WORKLOAD BINDING: The 64-byte TDX REPORTDATA contains a domain-separated hash of the AIR public key and model-manifest Digest, followed by the request Digest. A fresh quote is requested per inference; its Digest is included in the AIR receipt. The verifier checks the AIR signature, request/response/manifest/nonce bindings, REPORTDATA, ordered SHA-384 RTMR3 replay, measured Compose, expected worker-image Digest and deployment policy. This is domain evidence for the numeric DFL inference, not evidence of the agent's LLM prompt or Ollama reasoning.</a:t>
            </a:r>
          </a:p>
          <a:p/>
          <a:p>
            <a:r>
              <a:rPr lang="en-US"/>
              <a:t>DEVIATIONS / LIMITS: The per-call verifier explicitly returns dcap_collateral_verified=False. It does not authenticate the individual quote's Intel signature/certificate chain, TCB or revocation collateral; it relies on separately admitted Worker 0 and its registry-bound Sello receiver identity. It also does not reconcile all signed measurement-map values with the quote registers. The REPORTDATA layout is VITA-FL-specific; it differs from revision 02's illustrated TDX key-binding construction. The nonce is generated by the receiver, not the verifier, and there is no seen-cti store; the 300-second issue-time policy (30-second skew) gives recentness, not full replay protection. Describe the profile as AIR-style. Signature and attestation do not establish model accuracy or prove the forward-pass arithmetic independently of trusted execution.</a:t>
            </a:r>
          </a:p>
          <a:p/>
          <a:p>
            <a:r>
              <a:rPr lang="en-US"/>
              <a:t>CODE: vita-fl/tee_inference/air/v1.py; tee_inference/service/attestation.py; tee_inference/service/jobs.py; tee_inference/protocol/v1.py; agent/tee_inference_client.py; agent/scitt_client.py.</a:t>
            </a:r>
          </a:p>
          <a:p/>
          <a:p>
            <a:r>
              <a:rPr lang="en-US"/>
              <a:t>USER REQUEST: Explain together, on one slide, the implemented responsibilities and guarantees of Sello and AIR. This is the current prototype, not the proposed RA-TLS + Phala API extension.</a:t>
            </a:r>
          </a:p>
          <a:p/>
          <a:p>
            <a:r>
              <a:rPr lang="en-US"/>
              <a:t>EXACT TASKS AND ENFORCED CHECKS</a:t>
            </a:r>
          </a:p>
          <a:p>
            <a:r>
              <a:rPr lang="en-US"/>
              <a:t>AIR data integrity: Ed25519 signature and SHA-256 commitments to the exact deterministic-CBOR model manifest, complete numeric inference request, response and quote. Substitution is detected relative to the authenticated signing identity. The manifest commits to model artifacts; model weights themselves are not placed inside the receipt.</a:t>
            </a:r>
          </a:p>
          <a:p>
            <a:r>
              <a:rPr lang="en-US"/>
              <a:t>AIR quote binding: REPORTDATA = SHA256("MasterThesis.AIR.key.v1" || AIR_public_key || manifest_hash) || request_hash. The response is bound by the AIR signature, not directly by the existing REPORTDATA. The receipt also hashes the quote.</a:t>
            </a:r>
          </a:p>
          <a:p>
            <a:r>
              <a:rPr lang="en-US"/>
              <a:t>AIR configuration: RTMR3 is replayed from the ordered event log. Compose hash, expected image digest and configured Chain-ID, GMStorage, DeviceRegistry and RPC endpoint are compared. This is quote-field consistency and deployment policy checking; per-inference Intel quote cryptography remains unverified.</a:t>
            </a:r>
          </a:p>
          <a:p>
            <a:r>
              <a:rPr lang="en-US"/>
              <a:t>Sello authorization: mandatory PKI mTLS plus signed, short-lived token; agent subject, receiver origin/audience, allowed action scope, certificate thumbprint and expiration must match. Jobs belong to the authenticated subject. This transport is not RA-TLS.</a:t>
            </a:r>
          </a:p>
          <a:p>
            <a:r>
              <a:rPr lang="en-US"/>
              <a:t>Sello response evidence: admitted receiver's Ed25519 signature binds action, exact logical tool input hash, exact output hash, token reference and result status. Agent compares them to the actual invocation. For run inference, tool input is the canonical job_id object, while output is the complete AIR evidence bundle. It is not evidence about the LLM's reasoning or original chat prompt.</a:t>
            </a:r>
          </a:p>
          <a:p>
            <a:r>
              <a:rPr lang="en-US"/>
              <a:t>Sello confidentiality: HPKE encrypts the receipt body for the owner. Signature covers the encrypted receipt; public envelope metadata remain visible. The owner private key and token issuer seed are currently in the agent runtime.</a:t>
            </a:r>
          </a:p>
          <a:p>
            <a:r>
              <a:rPr lang="en-US"/>
              <a:t>Publication: receiver publishes Sello before releasing a successful response; agent verifies Sello and its SCITT receipt, checks AIR and separately registers the AIR bundle. No successful verified tool result is released on publication failure. Computation precedes publication and is not rolled back when logging fails.</a:t>
            </a:r>
          </a:p>
          <a:p/>
          <a:p>
            <a:r>
              <a:rPr lang="en-US"/>
              <a:t>SCOPE OF GUARANTEES</a:t>
            </a:r>
          </a:p>
          <a:p>
            <a:r>
              <a:rPr lang="en-US"/>
              <a:t>Current AIR verifier reports dcap_collateral_verified=False. Prior on-chain admission and registry-bound receiver identity remain trust inputs. It does not reconcile every signed measurement-map entry with the quote. AIR nonce is receiver-generated, and neither AIR nor Sello provides an exactly-once execution guarantee.</a:t>
            </a:r>
          </a:p>
          <a:p>
            <a:r>
              <a:rPr lang="en-US"/>
              <a:t>The separate AIR bundle contains unencrypted input and output bytes. HPKE privacy applies only to the Sello receipt. SCITT is a single CCF Virtual Mode node without independent witnesses or a pinned log key; development TLS disables server certificate verification and the Phala log uses tmpfs. Registration proves inclusion against the obtained service keys, not permanent availability or a globally unique history. No medical accuracy or independent arithmetic proof is claimed.</a:t>
            </a:r>
          </a:p>
          <a:p/>
          <a:p>
            <a:r>
              <a:rPr lang="en-US"/>
              <a:t>LAYOUT: All diagrams are native, editable PowerPoint shapes. Main deck is kept as a separate artifact. Colour role: blue = Sello/tool interaction; green = AIR/numeric DFL inference; purple = shared logging.</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arxiv.org/abs/2606.04193" TargetMode="External"/><Relationship Id="rId4" Type="http://schemas.openxmlformats.org/officeDocument/2006/relationships/hyperlink" Target="https://www.ietf.org/archive/id/draft-tsyrulnikov-rats-attested-inference-receipt-02.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Sello and AIR: two layers of evidence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CURRENT VITA-FL IMPLEMENTATION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A</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Rectangle 7"/>
          <p:cNvSpPr/>
          <p:nvPr/>
        </p:nvSpPr>
        <p:spPr>
          <a:xfrm>
            <a:off x="0" y="5733288"/>
            <a:ext cx="12191999" cy="3931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ello AIR: Sello checks the tool interaction. AIR binds the numeric inference."/>
          <p:cNvSpPr txBox="1"/>
          <p:nvPr/>
        </p:nvSpPr>
        <p:spPr>
          <a:xfrm>
            <a:off x="621792" y="1344168"/>
            <a:ext cx="10936224" cy="466344"/>
          </a:xfrm>
          <a:prstGeom prst="rect">
            <a:avLst/>
          </a:prstGeom>
          <a:noFill/>
        </p:spPr>
        <p:txBody>
          <a:bodyPr wrap="square" lIns="0" rIns="0" tIns="0" bIns="0" anchor="ctr">
            <a:spAutoFit/>
          </a:bodyPr>
          <a:lstStyle/>
          <a:p>
            <a:pPr algn="l"/>
            <a:r>
              <a:rPr sz="1900" b="0" lang="en-US">
                <a:solidFill>
                  <a:srgbClr val="263440"/>
                </a:solidFill>
                <a:latin typeface="Arial"/>
              </a:rPr>
              <a:t>Sello checks the tool interaction. AIR binds the numeric inference.</a:t>
            </a:r>
          </a:p>
        </p:txBody>
      </p:sp>
      <p:sp>
        <p:nvSpPr>
          <p:cNvPr id="15"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8"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20" name="Rectangle 19"/>
          <p:cNvSpPr/>
          <p:nvPr/>
        </p:nvSpPr>
        <p:spPr>
          <a:xfrm>
            <a:off x="630936" y="1901952"/>
            <a:ext cx="5330952" cy="2926080"/>
          </a:xfrm>
          <a:prstGeom prst="rect">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4652" y="1915668"/>
            <a:ext cx="5303520" cy="557784"/>
          </a:xfrm>
          <a:prstGeom prst="rect">
            <a:avLst/>
          </a:prstGeom>
          <a:solidFill>
            <a:srgbClr val="EDF4FA"/>
          </a:solidFill>
          <a:ln>
            <a:solidFill>
              <a:srgbClr val="ED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ello AIR: Sello"/>
          <p:cNvSpPr txBox="1"/>
          <p:nvPr/>
        </p:nvSpPr>
        <p:spPr>
          <a:xfrm>
            <a:off x="813815" y="2011680"/>
            <a:ext cx="1325880" cy="438912"/>
          </a:xfrm>
          <a:prstGeom prst="rect">
            <a:avLst/>
          </a:prstGeom>
          <a:noFill/>
        </p:spPr>
        <p:txBody>
          <a:bodyPr wrap="square" lIns="0" rIns="0" tIns="0" bIns="0" anchor="ctr">
            <a:spAutoFit/>
          </a:bodyPr>
          <a:lstStyle/>
          <a:p>
            <a:pPr algn="l"/>
            <a:r>
              <a:rPr sz="2600" b="1" lang="en-US">
                <a:solidFill>
                  <a:srgbClr val="1764A1"/>
                </a:solidFill>
                <a:latin typeface="Arial"/>
              </a:rPr>
              <a:t>Sello</a:t>
            </a:r>
          </a:p>
        </p:txBody>
      </p:sp>
      <p:sp>
        <p:nvSpPr>
          <p:cNvPr id="23" name="Sello AIR: Tool interaction"/>
          <p:cNvSpPr txBox="1"/>
          <p:nvPr/>
        </p:nvSpPr>
        <p:spPr>
          <a:xfrm>
            <a:off x="2139696" y="2048256"/>
            <a:ext cx="3602736" cy="301752"/>
          </a:xfrm>
          <a:prstGeom prst="rect">
            <a:avLst/>
          </a:prstGeom>
          <a:noFill/>
        </p:spPr>
        <p:txBody>
          <a:bodyPr wrap="square" lIns="0" rIns="0" tIns="0" bIns="0" anchor="ctr">
            <a:spAutoFit/>
          </a:bodyPr>
          <a:lstStyle/>
          <a:p>
            <a:pPr algn="l"/>
            <a:r>
              <a:rPr sz="1800" b="0" lang="en-US">
                <a:solidFill>
                  <a:srgbClr val="1764A1"/>
                </a:solidFill>
                <a:latin typeface="Arial"/>
              </a:rPr>
              <a:t>Tool interaction</a:t>
            </a:r>
          </a:p>
        </p:txBody>
      </p:sp>
      <p:sp>
        <p:nvSpPr>
          <p:cNvPr id="24" name="Oval 23"/>
          <p:cNvSpPr/>
          <p:nvPr/>
        </p:nvSpPr>
        <p:spPr>
          <a:xfrm>
            <a:off x="813815" y="2574036"/>
            <a:ext cx="256032" cy="256032"/>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ello AIR: 1"/>
          <p:cNvSpPr txBox="1"/>
          <p:nvPr/>
        </p:nvSpPr>
        <p:spPr>
          <a:xfrm>
            <a:off x="813815" y="2583179"/>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1</a:t>
            </a:r>
          </a:p>
        </p:txBody>
      </p:sp>
      <p:sp>
        <p:nvSpPr>
          <p:cNvPr id="26" name="Sello AIR: An authorised agent may call"/>
          <p:cNvSpPr txBox="1"/>
          <p:nvPr/>
        </p:nvSpPr>
        <p:spPr>
          <a:xfrm>
            <a:off x="1197864" y="2560320"/>
            <a:ext cx="4562856" cy="292608"/>
          </a:xfrm>
          <a:prstGeom prst="rect">
            <a:avLst/>
          </a:prstGeom>
          <a:noFill/>
        </p:spPr>
        <p:txBody>
          <a:bodyPr wrap="square" lIns="0" rIns="0" tIns="0" bIns="0" anchor="ctr">
            <a:spAutoFit/>
          </a:bodyPr>
          <a:lstStyle/>
          <a:p>
            <a:pPr algn="l"/>
            <a:r>
              <a:rPr sz="1639" b="1" lang="en-US">
                <a:solidFill>
                  <a:srgbClr val="1764A1"/>
                </a:solidFill>
                <a:latin typeface="Arial"/>
              </a:rPr>
              <a:t>An authorised agent may call</a:t>
            </a:r>
          </a:p>
        </p:txBody>
      </p:sp>
      <p:sp>
        <p:nvSpPr>
          <p:cNvPr id="27" name="Sello AIR: mTLS + token: identity, Inference TEE, / scope, certificate, expiry; job ownership."/>
          <p:cNvSpPr txBox="1"/>
          <p:nvPr/>
        </p:nvSpPr>
        <p:spPr>
          <a:xfrm>
            <a:off x="1197864" y="2852927"/>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mTLS + token: identity, Inference TEE,
scope, certificate, expiry; job ownership.</a:t>
            </a:r>
          </a:p>
        </p:txBody>
      </p:sp>
      <p:sp>
        <p:nvSpPr>
          <p:cNvPr id="28" name="Oval 27"/>
          <p:cNvSpPr/>
          <p:nvPr/>
        </p:nvSpPr>
        <p:spPr>
          <a:xfrm>
            <a:off x="813815" y="3314700"/>
            <a:ext cx="256032" cy="256032"/>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ello AIR: 2"/>
          <p:cNvSpPr txBox="1"/>
          <p:nvPr/>
        </p:nvSpPr>
        <p:spPr>
          <a:xfrm>
            <a:off x="813815" y="3323844"/>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2</a:t>
            </a:r>
          </a:p>
        </p:txBody>
      </p:sp>
      <p:sp>
        <p:nvSpPr>
          <p:cNvPr id="30" name="Sello AIR: A signed record of the tool call"/>
          <p:cNvSpPr txBox="1"/>
          <p:nvPr/>
        </p:nvSpPr>
        <p:spPr>
          <a:xfrm>
            <a:off x="1197864" y="3300984"/>
            <a:ext cx="4562856" cy="292608"/>
          </a:xfrm>
          <a:prstGeom prst="rect">
            <a:avLst/>
          </a:prstGeom>
          <a:noFill/>
        </p:spPr>
        <p:txBody>
          <a:bodyPr wrap="square" lIns="0" rIns="0" tIns="0" bIns="0" anchor="ctr">
            <a:spAutoFit/>
          </a:bodyPr>
          <a:lstStyle/>
          <a:p>
            <a:pPr algn="l"/>
            <a:r>
              <a:rPr sz="1639" b="1" lang="en-US">
                <a:solidFill>
                  <a:srgbClr val="1764A1"/>
                </a:solidFill>
                <a:latin typeface="Arial"/>
              </a:rPr>
              <a:t>A signed record of the tool call</a:t>
            </a:r>
          </a:p>
        </p:txBody>
      </p:sp>
      <p:sp>
        <p:nvSpPr>
          <p:cNvPr id="31" name="Sello AIR: Inference TEE signs action, input/output hashes, / token reference and result status."/>
          <p:cNvSpPr txBox="1"/>
          <p:nvPr/>
        </p:nvSpPr>
        <p:spPr>
          <a:xfrm>
            <a:off x="1197864" y="3593591"/>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Inference TEE signs action, input/output hashes,
token reference and result status.</a:t>
            </a:r>
          </a:p>
        </p:txBody>
      </p:sp>
      <p:sp>
        <p:nvSpPr>
          <p:cNvPr id="32" name="Oval 31"/>
          <p:cNvSpPr/>
          <p:nvPr/>
        </p:nvSpPr>
        <p:spPr>
          <a:xfrm>
            <a:off x="813815" y="4055363"/>
            <a:ext cx="256032" cy="256032"/>
          </a:xfrm>
          <a:prstGeom prst="ellipse">
            <a:avLst/>
          </a:prstGeom>
          <a:solidFill>
            <a:srgbClr val="1764A1"/>
          </a:solidFill>
          <a:ln w="1270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ello AIR: 3"/>
          <p:cNvSpPr txBox="1"/>
          <p:nvPr/>
        </p:nvSpPr>
        <p:spPr>
          <a:xfrm>
            <a:off x="813815" y="4064507"/>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3</a:t>
            </a:r>
          </a:p>
        </p:txBody>
      </p:sp>
      <p:sp>
        <p:nvSpPr>
          <p:cNvPr id="34" name="Sello AIR: The receipt body stays encrypted"/>
          <p:cNvSpPr txBox="1"/>
          <p:nvPr/>
        </p:nvSpPr>
        <p:spPr>
          <a:xfrm>
            <a:off x="1197864" y="4041648"/>
            <a:ext cx="4562856" cy="292608"/>
          </a:xfrm>
          <a:prstGeom prst="rect">
            <a:avLst/>
          </a:prstGeom>
          <a:noFill/>
        </p:spPr>
        <p:txBody>
          <a:bodyPr wrap="square" lIns="0" rIns="0" tIns="0" bIns="0" anchor="ctr">
            <a:spAutoFit/>
          </a:bodyPr>
          <a:lstStyle/>
          <a:p>
            <a:pPr algn="l"/>
            <a:r>
              <a:rPr sz="1639" b="1" lang="en-US">
                <a:solidFill>
                  <a:srgbClr val="1764A1"/>
                </a:solidFill>
                <a:latin typeface="Arial"/>
              </a:rPr>
              <a:t>The receipt body stays encrypted</a:t>
            </a:r>
          </a:p>
        </p:txBody>
      </p:sp>
      <p:sp>
        <p:nvSpPr>
          <p:cNvPr id="35" name="Sello AIR: HPKE seals the Sello receipt for the owner."/>
          <p:cNvSpPr txBox="1"/>
          <p:nvPr/>
        </p:nvSpPr>
        <p:spPr>
          <a:xfrm>
            <a:off x="1197864" y="4334256"/>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HPKE seals the Sello receipt for the owner.</a:t>
            </a:r>
          </a:p>
        </p:txBody>
      </p:sp>
      <p:sp>
        <p:nvSpPr>
          <p:cNvPr id="36" name="Rectangle 35"/>
          <p:cNvSpPr/>
          <p:nvPr/>
        </p:nvSpPr>
        <p:spPr>
          <a:xfrm>
            <a:off x="6217920" y="1901952"/>
            <a:ext cx="5330952" cy="2926080"/>
          </a:xfrm>
          <a:prstGeom prst="rect">
            <a:avLst/>
          </a:prstGeom>
          <a:solidFill>
            <a:srgbClr val="FFFFFF"/>
          </a:solidFill>
          <a:ln w="1397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1636" y="1915668"/>
            <a:ext cx="5303520" cy="557784"/>
          </a:xfrm>
          <a:prstGeom prst="rect">
            <a:avLst/>
          </a:prstGeom>
          <a:solidFill>
            <a:srgbClr val="EDF6F0"/>
          </a:solidFill>
          <a:ln>
            <a:solidFill>
              <a:srgbClr val="EDF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ello AIR: AIR"/>
          <p:cNvSpPr txBox="1"/>
          <p:nvPr/>
        </p:nvSpPr>
        <p:spPr>
          <a:xfrm>
            <a:off x="6400800" y="2011680"/>
            <a:ext cx="1325880" cy="438912"/>
          </a:xfrm>
          <a:prstGeom prst="rect">
            <a:avLst/>
          </a:prstGeom>
          <a:noFill/>
        </p:spPr>
        <p:txBody>
          <a:bodyPr wrap="square" lIns="0" rIns="0" tIns="0" bIns="0" anchor="ctr">
            <a:spAutoFit/>
          </a:bodyPr>
          <a:lstStyle/>
          <a:p>
            <a:pPr algn="l"/>
            <a:r>
              <a:rPr sz="2600" b="1" lang="en-US">
                <a:solidFill>
                  <a:srgbClr val="207548"/>
                </a:solidFill>
                <a:latin typeface="Arial"/>
              </a:rPr>
              <a:t>AIR</a:t>
            </a:r>
          </a:p>
        </p:txBody>
      </p:sp>
      <p:sp>
        <p:nvSpPr>
          <p:cNvPr id="39" name="Sello AIR: Attested Inference Receipt"/>
          <p:cNvSpPr txBox="1"/>
          <p:nvPr/>
        </p:nvSpPr>
        <p:spPr>
          <a:xfrm>
            <a:off x="7726679" y="2048256"/>
            <a:ext cx="3602736" cy="301752"/>
          </a:xfrm>
          <a:prstGeom prst="rect">
            <a:avLst/>
          </a:prstGeom>
          <a:noFill/>
        </p:spPr>
        <p:txBody>
          <a:bodyPr wrap="square" lIns="0" rIns="0" tIns="0" bIns="0" anchor="ctr">
            <a:spAutoFit/>
          </a:bodyPr>
          <a:lstStyle/>
          <a:p>
            <a:pPr algn="l"/>
            <a:r>
              <a:rPr sz="1800" b="0" lang="en-US">
                <a:solidFill>
                  <a:srgbClr val="207548"/>
                </a:solidFill>
                <a:latin typeface="Arial"/>
              </a:rPr>
              <a:t>Attested Inference Receipt</a:t>
            </a:r>
          </a:p>
        </p:txBody>
      </p:sp>
      <p:sp>
        <p:nvSpPr>
          <p:cNvPr id="40" name="Oval 39"/>
          <p:cNvSpPr/>
          <p:nvPr/>
        </p:nvSpPr>
        <p:spPr>
          <a:xfrm>
            <a:off x="6400800" y="2574036"/>
            <a:ext cx="256032" cy="256032"/>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ello AIR: 1"/>
          <p:cNvSpPr txBox="1"/>
          <p:nvPr/>
        </p:nvSpPr>
        <p:spPr>
          <a:xfrm>
            <a:off x="6400800" y="2583179"/>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1</a:t>
            </a:r>
          </a:p>
        </p:txBody>
      </p:sp>
      <p:sp>
        <p:nvSpPr>
          <p:cNvPr id="42" name="Sello AIR: Model, input and result stay linked"/>
          <p:cNvSpPr txBox="1"/>
          <p:nvPr/>
        </p:nvSpPr>
        <p:spPr>
          <a:xfrm>
            <a:off x="6784848" y="2560320"/>
            <a:ext cx="4562856" cy="292608"/>
          </a:xfrm>
          <a:prstGeom prst="rect">
            <a:avLst/>
          </a:prstGeom>
          <a:noFill/>
        </p:spPr>
        <p:txBody>
          <a:bodyPr wrap="square" lIns="0" rIns="0" tIns="0" bIns="0" anchor="ctr">
            <a:spAutoFit/>
          </a:bodyPr>
          <a:lstStyle/>
          <a:p>
            <a:pPr algn="l"/>
            <a:r>
              <a:rPr sz="1639" b="1" lang="en-US">
                <a:solidFill>
                  <a:srgbClr val="207548"/>
                </a:solidFill>
                <a:latin typeface="Arial"/>
              </a:rPr>
              <a:t>Model, input and result stay linked</a:t>
            </a:r>
          </a:p>
        </p:txBody>
      </p:sp>
      <p:sp>
        <p:nvSpPr>
          <p:cNvPr id="43" name="Sello AIR: Ed25519 signs their hashes and the quote hash."/>
          <p:cNvSpPr txBox="1"/>
          <p:nvPr/>
        </p:nvSpPr>
        <p:spPr>
          <a:xfrm>
            <a:off x="6784848" y="2852927"/>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Ed25519 signs their hashes and the quote hash.</a:t>
            </a:r>
          </a:p>
        </p:txBody>
      </p:sp>
      <p:sp>
        <p:nvSpPr>
          <p:cNvPr id="44" name="Oval 43"/>
          <p:cNvSpPr/>
          <p:nvPr/>
        </p:nvSpPr>
        <p:spPr>
          <a:xfrm>
            <a:off x="6400800" y="3314700"/>
            <a:ext cx="256032" cy="256032"/>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ello AIR: 2"/>
          <p:cNvSpPr txBox="1"/>
          <p:nvPr/>
        </p:nvSpPr>
        <p:spPr>
          <a:xfrm>
            <a:off x="6400800" y="3323844"/>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2</a:t>
            </a:r>
          </a:p>
        </p:txBody>
      </p:sp>
      <p:sp>
        <p:nvSpPr>
          <p:cNvPr id="46" name="Sello AIR: The receipt key is bound to the quote"/>
          <p:cNvSpPr txBox="1"/>
          <p:nvPr/>
        </p:nvSpPr>
        <p:spPr>
          <a:xfrm>
            <a:off x="6784848" y="3300984"/>
            <a:ext cx="4562856" cy="292608"/>
          </a:xfrm>
          <a:prstGeom prst="rect">
            <a:avLst/>
          </a:prstGeom>
          <a:noFill/>
        </p:spPr>
        <p:txBody>
          <a:bodyPr wrap="square" lIns="0" rIns="0" tIns="0" bIns="0" anchor="ctr">
            <a:spAutoFit/>
          </a:bodyPr>
          <a:lstStyle/>
          <a:p>
            <a:pPr algn="l"/>
            <a:r>
              <a:rPr sz="1639" b="1" lang="en-US">
                <a:solidFill>
                  <a:srgbClr val="207548"/>
                </a:solidFill>
                <a:latin typeface="Arial"/>
              </a:rPr>
              <a:t>The receipt key is bound to the quote</a:t>
            </a:r>
          </a:p>
        </p:txBody>
      </p:sp>
      <p:sp>
        <p:nvSpPr>
          <p:cNvPr id="47" name="Sello AIR: REPORTDATA: key + manifest + request. / The AIR signature binds the result."/>
          <p:cNvSpPr txBox="1"/>
          <p:nvPr/>
        </p:nvSpPr>
        <p:spPr>
          <a:xfrm>
            <a:off x="6784848" y="3593591"/>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REPORTDATA: key + manifest + request.
The AIR signature binds the result.</a:t>
            </a:r>
          </a:p>
        </p:txBody>
      </p:sp>
      <p:sp>
        <p:nvSpPr>
          <p:cNvPr id="48" name="Oval 47"/>
          <p:cNvSpPr/>
          <p:nvPr/>
        </p:nvSpPr>
        <p:spPr>
          <a:xfrm>
            <a:off x="6400800" y="4055363"/>
            <a:ext cx="256032" cy="256032"/>
          </a:xfrm>
          <a:prstGeom prst="ellipse">
            <a:avLst/>
          </a:prstGeom>
          <a:solidFill>
            <a:srgbClr val="207548"/>
          </a:solidFill>
          <a:ln w="1270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ello AIR: 3"/>
          <p:cNvSpPr txBox="1"/>
          <p:nvPr/>
        </p:nvSpPr>
        <p:spPr>
          <a:xfrm>
            <a:off x="6400800" y="4064507"/>
            <a:ext cx="256032" cy="237744"/>
          </a:xfrm>
          <a:prstGeom prst="rect">
            <a:avLst/>
          </a:prstGeom>
          <a:noFill/>
        </p:spPr>
        <p:txBody>
          <a:bodyPr wrap="square" lIns="0" rIns="0" tIns="0" bIns="0" anchor="ctr">
            <a:spAutoFit/>
          </a:bodyPr>
          <a:lstStyle/>
          <a:p>
            <a:pPr algn="ctr"/>
            <a:r>
              <a:rPr sz="1200" b="1" lang="en-US">
                <a:solidFill>
                  <a:srgbClr val="FFFFFF"/>
                </a:solidFill>
                <a:latin typeface="Arial"/>
              </a:rPr>
              <a:t>3</a:t>
            </a:r>
          </a:p>
        </p:txBody>
      </p:sp>
      <p:sp>
        <p:nvSpPr>
          <p:cNvPr id="50" name="Sello AIR: Deployment policy is checked"/>
          <p:cNvSpPr txBox="1"/>
          <p:nvPr/>
        </p:nvSpPr>
        <p:spPr>
          <a:xfrm>
            <a:off x="6784848" y="4041648"/>
            <a:ext cx="4562856" cy="292608"/>
          </a:xfrm>
          <a:prstGeom prst="rect">
            <a:avLst/>
          </a:prstGeom>
          <a:noFill/>
        </p:spPr>
        <p:txBody>
          <a:bodyPr wrap="square" lIns="0" rIns="0" tIns="0" bIns="0" anchor="ctr">
            <a:spAutoFit/>
          </a:bodyPr>
          <a:lstStyle/>
          <a:p>
            <a:pPr algn="l"/>
            <a:r>
              <a:rPr sz="1639" b="1" lang="en-US">
                <a:solidFill>
                  <a:srgbClr val="207548"/>
                </a:solidFill>
                <a:latin typeface="Arial"/>
              </a:rPr>
              <a:t>Deployment policy is checked</a:t>
            </a:r>
          </a:p>
        </p:txBody>
      </p:sp>
      <p:sp>
        <p:nvSpPr>
          <p:cNvPr id="51" name="Sello AIR: Replay RTMR3; compare Compose, image digest, / chain, contracts and RPC."/>
          <p:cNvSpPr txBox="1"/>
          <p:nvPr/>
        </p:nvSpPr>
        <p:spPr>
          <a:xfrm>
            <a:off x="6784848" y="4334256"/>
            <a:ext cx="4544568" cy="448056"/>
          </a:xfrm>
          <a:prstGeom prst="rect">
            <a:avLst/>
          </a:prstGeom>
          <a:noFill/>
        </p:spPr>
        <p:txBody>
          <a:bodyPr wrap="square" lIns="0" rIns="0" tIns="0" bIns="0" anchor="ctr">
            <a:spAutoFit/>
          </a:bodyPr>
          <a:lstStyle/>
          <a:p>
            <a:pPr algn="l"/>
            <a:r>
              <a:rPr sz="1400" b="0" lang="en-US">
                <a:solidFill>
                  <a:srgbClr val="263440"/>
                </a:solidFill>
                <a:latin typeface="Arial"/>
              </a:rPr>
              <a:t>Replay RTMR3; compare Compose, image digest,
chain, contracts and RPC.</a:t>
            </a:r>
          </a:p>
        </p:txBody>
      </p:sp>
      <p:sp>
        <p:nvSpPr>
          <p:cNvPr id="52" name="Rounded Rectangle 51"/>
          <p:cNvSpPr/>
          <p:nvPr/>
        </p:nvSpPr>
        <p:spPr>
          <a:xfrm>
            <a:off x="630936" y="4965192"/>
            <a:ext cx="10917936" cy="612648"/>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86384" y="5143500"/>
            <a:ext cx="1335024" cy="256032"/>
          </a:xfrm>
          <a:prstGeom prst="rect">
            <a:avLst/>
          </a:prstGeom>
          <a:solidFill>
            <a:srgbClr val="7446A6"/>
          </a:solidFill>
          <a:ln>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ello AIR: SHARED LOG"/>
          <p:cNvSpPr txBox="1"/>
          <p:nvPr/>
        </p:nvSpPr>
        <p:spPr>
          <a:xfrm>
            <a:off x="850392" y="5157216"/>
            <a:ext cx="1207007" cy="228600"/>
          </a:xfrm>
          <a:prstGeom prst="rect">
            <a:avLst/>
          </a:prstGeom>
          <a:noFill/>
        </p:spPr>
        <p:txBody>
          <a:bodyPr wrap="square" lIns="0" rIns="0" tIns="0" bIns="0" anchor="ctr">
            <a:spAutoFit/>
          </a:bodyPr>
          <a:lstStyle/>
          <a:p>
            <a:pPr algn="ctr"/>
            <a:r>
              <a:rPr sz="1150" b="1" lang="en-US">
                <a:solidFill>
                  <a:srgbClr val="FFFFFF"/>
                </a:solidFill>
                <a:latin typeface="Arial"/>
              </a:rPr>
              <a:t>SHARED LOG</a:t>
            </a:r>
          </a:p>
        </p:txBody>
      </p:sp>
      <p:sp>
        <p:nvSpPr>
          <p:cNvPr id="55" name="Sello AIR: Inference TEE logs Sello before reply"/>
          <p:cNvSpPr txBox="1"/>
          <p:nvPr/>
        </p:nvSpPr>
        <p:spPr>
          <a:xfrm>
            <a:off x="2295144" y="5125212"/>
            <a:ext cx="4261104" cy="292608"/>
          </a:xfrm>
          <a:prstGeom prst="rect">
            <a:avLst/>
          </a:prstGeom>
          <a:noFill/>
        </p:spPr>
        <p:txBody>
          <a:bodyPr wrap="square" lIns="0" rIns="0" tIns="0" bIns="0" anchor="ctr">
            <a:spAutoFit/>
          </a:bodyPr>
          <a:lstStyle/>
          <a:p>
            <a:pPr algn="l"/>
            <a:r>
              <a:rPr sz="1500" b="1" lang="en-US">
                <a:solidFill>
                  <a:srgbClr val="7446A6"/>
                </a:solidFill>
                <a:latin typeface="Arial"/>
              </a:rPr>
              <a:t>Inference TEE logs Sello before reply</a:t>
            </a:r>
          </a:p>
        </p:txBody>
      </p:sp>
      <p:cxnSp>
        <p:nvCxnSpPr>
          <p:cNvPr id="56" name="Connector 55"/>
          <p:cNvCxnSpPr/>
          <p:nvPr/>
        </p:nvCxnSpPr>
        <p:spPr>
          <a:xfrm>
            <a:off x="6656832" y="5271516"/>
            <a:ext cx="283464" cy="0"/>
          </a:xfrm>
          <a:prstGeom prst="line">
            <a:avLst/>
          </a:prstGeom>
          <a:ln w="1905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Sello AIR: Agent verifies Transparency Log / and logs AIR"/>
          <p:cNvSpPr txBox="1"/>
          <p:nvPr/>
        </p:nvSpPr>
        <p:spPr>
          <a:xfrm>
            <a:off x="7114032" y="5015484"/>
            <a:ext cx="4224528" cy="512064"/>
          </a:xfrm>
          <a:prstGeom prst="rect">
            <a:avLst/>
          </a:prstGeom>
          <a:noFill/>
        </p:spPr>
        <p:txBody>
          <a:bodyPr wrap="square" lIns="0" rIns="0" tIns="0" bIns="0" anchor="ctr">
            <a:spAutoFit/>
          </a:bodyPr>
          <a:lstStyle/>
          <a:p>
            <a:pPr algn="l"/>
            <a:r>
              <a:rPr sz="1500" b="1" lang="en-US">
                <a:solidFill>
                  <a:srgbClr val="7446A6"/>
                </a:solidFill>
                <a:latin typeface="Arial"/>
              </a:rPr>
              <a:t>Agent verifies Transparency Log
and logs AIR</a:t>
            </a:r>
          </a:p>
        </p:txBody>
      </p:sp>
      <p:sp>
        <p:nvSpPr>
          <p:cNvPr id="58" name="Sello AIR: Sello-inspired profile · Figuera (2026)"/>
          <p:cNvSpPr txBox="1"/>
          <p:nvPr/>
        </p:nvSpPr>
        <p:spPr>
          <a:xfrm>
            <a:off x="630936" y="5879592"/>
            <a:ext cx="5212080" cy="201168"/>
          </a:xfrm>
          <a:prstGeom prst="rect">
            <a:avLst/>
          </a:prstGeom>
          <a:noFill/>
        </p:spPr>
        <p:txBody>
          <a:bodyPr wrap="square" lIns="0" rIns="0" tIns="0" bIns="0" anchor="ctr">
            <a:spAutoFit/>
          </a:bodyPr>
          <a:lstStyle/>
          <a:p>
            <a:pPr algn="l"/>
            <a:r>
              <a:rPr sz="1000" b="0" lang="en-US">
                <a:solidFill>
                  <a:srgbClr val="67747C"/>
                </a:solidFill>
                <a:latin typeface="Arial"/>
                <a:hlinkClick r:id="rId3"/>
              </a:rPr>
              <a:t>Sello-inspired profile · Figuera (2026)</a:t>
            </a:r>
          </a:p>
        </p:txBody>
      </p:sp>
      <p:sp>
        <p:nvSpPr>
          <p:cNvPr id="59" name="Sello AIR: AIR-style profile · Tsyrulnikov, Internet-Draft 02 (2026)"/>
          <p:cNvSpPr txBox="1"/>
          <p:nvPr/>
        </p:nvSpPr>
        <p:spPr>
          <a:xfrm>
            <a:off x="5943600" y="5879592"/>
            <a:ext cx="5577840" cy="201168"/>
          </a:xfrm>
          <a:prstGeom prst="rect">
            <a:avLst/>
          </a:prstGeom>
          <a:noFill/>
        </p:spPr>
        <p:txBody>
          <a:bodyPr wrap="square" lIns="0" rIns="0" tIns="0" bIns="0" anchor="ctr">
            <a:spAutoFit/>
          </a:bodyPr>
          <a:lstStyle/>
          <a:p>
            <a:pPr algn="l"/>
            <a:r>
              <a:rPr sz="1000" b="0" lang="en-US">
                <a:solidFill>
                  <a:srgbClr val="67747C"/>
                </a:solidFill>
                <a:latin typeface="Arial"/>
                <a:hlinkClick r:id="rId4"/>
              </a:rPr>
              <a:t>AIR-style profile · Tsyrulnikov, Internet-Draft 02 (2026)</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 Direkter Vergleich — VITA-FL Sello / AIR</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