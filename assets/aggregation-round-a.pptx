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 id="2147483710" r:id="rId2"/>
  </p:sldMasterIdLst>
  <p:notesMasterIdLst>
    <p:notesMasterId r:id="rId8"/>
  </p:notesMasterIdLst>
  <p:sldIdLst>
    <p:sldId id="256" r:id="rId7"/>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40D1E"/>
    <a:srgbClr val="9013FE"/>
    <a:srgbClr val="1F90CC"/>
    <a:srgbClr val="434343"/>
    <a:srgbClr val="C40E02"/>
    <a:srgbClr val="FFFFFF"/>
    <a:srgbClr val="49CB40"/>
    <a:srgbClr val="C50E1F"/>
    <a:srgbClr val="B2B2B2"/>
    <a:srgbClr val="71717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3" autoAdjust="0"/>
    <p:restoredTop sz="96327"/>
  </p:normalViewPr>
  <p:slideViewPr>
    <p:cSldViewPr snapToGrid="0" snapToObjects="1">
      <p:cViewPr varScale="1">
        <p:scale>
          <a:sx n="81" d="100"/>
          <a:sy n="81" d="100"/>
        </p:scale>
        <p:origin x="542" y="48"/>
      </p:cViewPr>
      <p:guideLst/>
    </p:cSldViewPr>
  </p:slideViewPr>
  <p:notesTextViewPr>
    <p:cViewPr>
      <p:scale>
        <a:sx n="1" d="1"/>
        <a:sy n="1" d="1"/>
      </p:scale>
      <p:origin x="0" y="0"/>
    </p:cViewPr>
  </p:notesTextViewPr>
  <p:notesViewPr>
    <p:cSldViewPr snapToGrid="0" snapToObjects="1" showGuides="1">
      <p:cViewPr varScale="1">
        <p:scale>
          <a:sx n="153" d="100"/>
          <a:sy n="153" d="100"/>
        </p:scale>
        <p:origin x="4920" y="192"/>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A6180F-3EA1-4748-B4F4-956BB5176995}" type="datetimeFigureOut">
              <a:rPr lang="de-DE" smtClean="0"/>
              <a:t>16.06.2025</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3C3961-1900-1342-BF9B-82C3215CD312}" type="slidenum">
              <a:rPr lang="de-DE" smtClean="0"/>
              <a:t>‹Nr.›</a:t>
            </a:fld>
            <a:endParaRPr lang="de-DE"/>
          </a:p>
        </p:txBody>
      </p:sp>
    </p:spTree>
    <p:extLst>
      <p:ext uri="{BB962C8B-B14F-4D97-AF65-F5344CB8AC3E}">
        <p14:creationId xmlns:p14="http://schemas.microsoft.com/office/powerpoint/2010/main" val="848931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follows the participating actors. Worker packages go directly to the aggregator, commitments and closure are on chain, computation stays in the TEE, and IPFS holds the encrypted publication before finalization.</a:t>
            </a:r>
          </a:p>
          <a:p/>
          <a:p>
            <a:r>
              <a:t>These diagrams show a regular training round, not round-0 bootstrap. The aggregation rule is equal-weight FedAvg, with no validation-loss gate in the active policy.</a:t>
            </a:r>
          </a:p>
          <a:p/>
          <a:p>
            <a:r>
              <a:t>Workers send encrypted, signed local-model packages directly to the current aggregator over authenticated HTTPS. These local updates are not stored in IPFS. The receiver verifies package signatures and expected context, decrypts the package, compares its plaintext model hash with the worker commitment, and records the worker's action-key-signed commitment on chain through GMStorage. One logical worker has at most one consistent accepted submission.</a:t>
            </a:r>
          </a:p>
          <a:p/>
          <a:p>
            <a:r>
              <a:t>The selected aggregator closes the input window only when the policy-required minimum is reached. AggregationPolicy freezes an ordered input fingerprint and explicit accepted count. inputRoot is a rolling Keccak accumulator over accepted worker/commitment pairs in admission order, not a Merkle root. Closing disallows further submissions. Deadline expiry does not automatically close the round or bypass the minimum. The visible phrase frozen input set means this fingerprint plus count and per-worker records; it is not an on-chain copy of the model tensors.</a:t>
            </a:r>
          </a:p>
          <a:p/>
          <a:p>
            <a:r>
              <a:t>Within the TEE, server.ts stages authorized model files whose SHA-256 hashes match the corresponding on-chain records and rechecks the hashes after copying. The local file count must exactly equal the immutable accepted count. Python then sorts unique worker-address filenames canonically, loads all staged models, checks the count, and computes the arithmetic mean of every corresponding state-dict tensor with equal weight per accepted model. This ordering is distinct from admission order in the rolling input commitment. Invalid or incomplete inputs block aggregation. Deterministic execution here refers to the pinned implementation and ordered inputs, not universal bitwise reproducibility across arbitrary hardware or software environments.</a:t>
            </a:r>
          </a:p>
          <a:p/>
          <a:p>
            <a:r>
              <a:t>The resulting model is RSA-signed, encrypted in an AES-GCM model bundle, and published to IPFS together with its encrypted-bundle signature and per-recipient key bundle. The aggregator obtains all three CIDs before creating the aggregation statement. The action key signs an EIP-712 statement binding round, aggregator, input fingerprint/count, algorithm/policy, output model and bundle hashes, publication hash over the three CIDs, and nonce. The signature domain binds chain ID and GMStorage. This action signature is separate from the RSA model-package signature.</a:t>
            </a:r>
          </a:p>
          <a:p/>
          <a:p>
            <a:r>
              <a:t>GMStorage.finalizeRoundWithAggregation validates current aggregator authorization, closed inputs, nonempty references and hashes, and unpublished round state. AggregationPolicy reconstructs the statement using stored frozen inputs and policy, then verifies the registered action-key signature. Solidity does not rerun FedAvg; correct computation is trusted to the previously attested application holding that key. The single finalization transaction records model references/evidence, marks the round complete, updates counters and advances the round. IPFS publication happened earlier and is not atomic with the blockchain transaction. Next-aggregator selection is a subsequent call, not part of this finalization transaction.</a:t>
            </a:r>
          </a:p>
          <a:p/>
          <a:p>
            <a:r>
              <a:t>Source map, checked against local prototype on 20 September 2026:</a:t>
            </a:r>
          </a:p>
          <a:p>
            <a:r>
              <a:t>vita-fl/dfl/node_server/src/server.ts:625–702,1310–1365,1930–2004,2229–2330,2786–2828</a:t>
            </a:r>
          </a:p>
          <a:p>
            <a:r>
              <a:t>vita-fl/dfl/neural_network/cli.py:1248–1320</a:t>
            </a:r>
          </a:p>
          <a:p>
            <a:r>
              <a:t>vita-fl/dfl/node_server/src/ipfs.ts:300–367</a:t>
            </a:r>
          </a:p>
          <a:p>
            <a:r>
              <a:t>vita-fl/dfl/node_server/src/bc_client.ts:542–650</a:t>
            </a:r>
          </a:p>
          <a:p>
            <a:r>
              <a:t>vita-fl/smart_contracts/src/core/GMStorage.sol:180–248,294–373</a:t>
            </a:r>
          </a:p>
          <a:p>
            <a:r>
              <a:t>vita-fl/smart_contracts/src/core/AggregationPolicy.sol:16,203–215,260–305</a:t>
            </a:r>
          </a:p>
          <a:p>
            <a:r>
              <a:t>vita-fl/smart_contracts/src/core/AggregatorSelection.sol:169–195</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el - Text und Bild">
    <p:spTree>
      <p:nvGrpSpPr>
        <p:cNvPr id="1" name=""/>
        <p:cNvGrpSpPr/>
        <p:nvPr/>
      </p:nvGrpSpPr>
      <p:grpSpPr>
        <a:xfrm>
          <a:off x="0" y="0"/>
          <a:ext cx="0" cy="0"/>
          <a:chOff x="0" y="0"/>
          <a:chExt cx="0" cy="0"/>
        </a:xfrm>
      </p:grpSpPr>
      <p:sp>
        <p:nvSpPr>
          <p:cNvPr id="3" name="Bildplatzhalter 23">
            <a:extLst>
              <a:ext uri="{FF2B5EF4-FFF2-40B4-BE49-F238E27FC236}">
                <a16:creationId xmlns:a16="http://schemas.microsoft.com/office/drawing/2014/main" id="{9A036687-F2BF-7B4C-A352-6E1D355D125D}"/>
              </a:ext>
            </a:extLst>
          </p:cNvPr>
          <p:cNvSpPr>
            <a:spLocks noGrp="1"/>
          </p:cNvSpPr>
          <p:nvPr>
            <p:ph type="pic" sz="quarter" idx="17" hasCustomPrompt="1"/>
          </p:nvPr>
        </p:nvSpPr>
        <p:spPr>
          <a:xfrm>
            <a:off x="-6479" y="1260572"/>
            <a:ext cx="8885359" cy="3273604"/>
          </a:xfrm>
          <a:custGeom>
            <a:avLst/>
            <a:gdLst>
              <a:gd name="connsiteX0" fmla="*/ 0 w 8328660"/>
              <a:gd name="connsiteY0" fmla="*/ 0 h 3143274"/>
              <a:gd name="connsiteX1" fmla="*/ 8328660 w 8328660"/>
              <a:gd name="connsiteY1" fmla="*/ 0 h 3143274"/>
              <a:gd name="connsiteX2" fmla="*/ 8328660 w 8328660"/>
              <a:gd name="connsiteY2" fmla="*/ 3143274 h 3143274"/>
              <a:gd name="connsiteX3" fmla="*/ 0 w 8328660"/>
              <a:gd name="connsiteY3" fmla="*/ 3143274 h 3143274"/>
              <a:gd name="connsiteX4" fmla="*/ 0 w 8328660"/>
              <a:gd name="connsiteY4" fmla="*/ 0 h 3143274"/>
              <a:gd name="connsiteX0" fmla="*/ 0 w 8336280"/>
              <a:gd name="connsiteY0" fmla="*/ 601980 h 3745254"/>
              <a:gd name="connsiteX1" fmla="*/ 8336280 w 8336280"/>
              <a:gd name="connsiteY1" fmla="*/ 0 h 3745254"/>
              <a:gd name="connsiteX2" fmla="*/ 8328660 w 8336280"/>
              <a:gd name="connsiteY2" fmla="*/ 3745254 h 3745254"/>
              <a:gd name="connsiteX3" fmla="*/ 0 w 8336280"/>
              <a:gd name="connsiteY3" fmla="*/ 3745254 h 3745254"/>
              <a:gd name="connsiteX4" fmla="*/ 0 w 8336280"/>
              <a:gd name="connsiteY4" fmla="*/ 601980 h 3745254"/>
              <a:gd name="connsiteX0" fmla="*/ 0 w 8336280"/>
              <a:gd name="connsiteY0" fmla="*/ 601980 h 3745254"/>
              <a:gd name="connsiteX1" fmla="*/ 8336280 w 8336280"/>
              <a:gd name="connsiteY1" fmla="*/ 0 h 3745254"/>
              <a:gd name="connsiteX2" fmla="*/ 8321040 w 8336280"/>
              <a:gd name="connsiteY2" fmla="*/ 3242334 h 3745254"/>
              <a:gd name="connsiteX3" fmla="*/ 0 w 8336280"/>
              <a:gd name="connsiteY3" fmla="*/ 3745254 h 3745254"/>
              <a:gd name="connsiteX4" fmla="*/ 0 w 8336280"/>
              <a:gd name="connsiteY4" fmla="*/ 601980 h 3745254"/>
              <a:gd name="connsiteX0" fmla="*/ 0 w 8336280"/>
              <a:gd name="connsiteY0" fmla="*/ 286029 h 3429303"/>
              <a:gd name="connsiteX1" fmla="*/ 8336280 w 8336280"/>
              <a:gd name="connsiteY1" fmla="*/ 0 h 3429303"/>
              <a:gd name="connsiteX2" fmla="*/ 8321040 w 8336280"/>
              <a:gd name="connsiteY2" fmla="*/ 2926383 h 3429303"/>
              <a:gd name="connsiteX3" fmla="*/ 0 w 8336280"/>
              <a:gd name="connsiteY3" fmla="*/ 3429303 h 3429303"/>
              <a:gd name="connsiteX4" fmla="*/ 0 w 8336280"/>
              <a:gd name="connsiteY4" fmla="*/ 286029 h 3429303"/>
              <a:gd name="connsiteX0" fmla="*/ 0 w 8339997"/>
              <a:gd name="connsiteY0" fmla="*/ 312049 h 3429303"/>
              <a:gd name="connsiteX1" fmla="*/ 8339997 w 8339997"/>
              <a:gd name="connsiteY1" fmla="*/ 0 h 3429303"/>
              <a:gd name="connsiteX2" fmla="*/ 8324757 w 8339997"/>
              <a:gd name="connsiteY2" fmla="*/ 2926383 h 3429303"/>
              <a:gd name="connsiteX3" fmla="*/ 3717 w 8339997"/>
              <a:gd name="connsiteY3" fmla="*/ 3429303 h 3429303"/>
              <a:gd name="connsiteX4" fmla="*/ 0 w 8339997"/>
              <a:gd name="connsiteY4" fmla="*/ 312049 h 3429303"/>
              <a:gd name="connsiteX0" fmla="*/ 0 w 8343172"/>
              <a:gd name="connsiteY0" fmla="*/ 305699 h 3429303"/>
              <a:gd name="connsiteX1" fmla="*/ 8343172 w 8343172"/>
              <a:gd name="connsiteY1" fmla="*/ 0 h 3429303"/>
              <a:gd name="connsiteX2" fmla="*/ 8327932 w 8343172"/>
              <a:gd name="connsiteY2" fmla="*/ 2926383 h 3429303"/>
              <a:gd name="connsiteX3" fmla="*/ 6892 w 8343172"/>
              <a:gd name="connsiteY3" fmla="*/ 3429303 h 3429303"/>
              <a:gd name="connsiteX4" fmla="*/ 0 w 8343172"/>
              <a:gd name="connsiteY4" fmla="*/ 305699 h 3429303"/>
              <a:gd name="connsiteX0" fmla="*/ 0 w 8349522"/>
              <a:gd name="connsiteY0" fmla="*/ 308874 h 3429303"/>
              <a:gd name="connsiteX1" fmla="*/ 8349522 w 8349522"/>
              <a:gd name="connsiteY1" fmla="*/ 0 h 3429303"/>
              <a:gd name="connsiteX2" fmla="*/ 8334282 w 8349522"/>
              <a:gd name="connsiteY2" fmla="*/ 2926383 h 3429303"/>
              <a:gd name="connsiteX3" fmla="*/ 13242 w 8349522"/>
              <a:gd name="connsiteY3" fmla="*/ 3429303 h 3429303"/>
              <a:gd name="connsiteX4" fmla="*/ 0 w 8349522"/>
              <a:gd name="connsiteY4" fmla="*/ 308874 h 3429303"/>
              <a:gd name="connsiteX0" fmla="*/ 0 w 8352697"/>
              <a:gd name="connsiteY0" fmla="*/ 312049 h 3429303"/>
              <a:gd name="connsiteX1" fmla="*/ 8352697 w 8352697"/>
              <a:gd name="connsiteY1" fmla="*/ 0 h 3429303"/>
              <a:gd name="connsiteX2" fmla="*/ 8337457 w 8352697"/>
              <a:gd name="connsiteY2" fmla="*/ 2926383 h 3429303"/>
              <a:gd name="connsiteX3" fmla="*/ 16417 w 8352697"/>
              <a:gd name="connsiteY3" fmla="*/ 3429303 h 3429303"/>
              <a:gd name="connsiteX4" fmla="*/ 0 w 8352697"/>
              <a:gd name="connsiteY4" fmla="*/ 312049 h 3429303"/>
              <a:gd name="connsiteX0" fmla="*/ 0 w 8349522"/>
              <a:gd name="connsiteY0" fmla="*/ 302524 h 3429303"/>
              <a:gd name="connsiteX1" fmla="*/ 8349522 w 8349522"/>
              <a:gd name="connsiteY1" fmla="*/ 0 h 3429303"/>
              <a:gd name="connsiteX2" fmla="*/ 8334282 w 8349522"/>
              <a:gd name="connsiteY2" fmla="*/ 2926383 h 3429303"/>
              <a:gd name="connsiteX3" fmla="*/ 13242 w 8349522"/>
              <a:gd name="connsiteY3" fmla="*/ 3429303 h 3429303"/>
              <a:gd name="connsiteX4" fmla="*/ 0 w 8349522"/>
              <a:gd name="connsiteY4" fmla="*/ 302524 h 3429303"/>
              <a:gd name="connsiteX0" fmla="*/ 0 w 8349522"/>
              <a:gd name="connsiteY0" fmla="*/ 302524 h 3226103"/>
              <a:gd name="connsiteX1" fmla="*/ 8349522 w 8349522"/>
              <a:gd name="connsiteY1" fmla="*/ 0 h 3226103"/>
              <a:gd name="connsiteX2" fmla="*/ 8334282 w 8349522"/>
              <a:gd name="connsiteY2" fmla="*/ 2926383 h 3226103"/>
              <a:gd name="connsiteX3" fmla="*/ 13242 w 8349522"/>
              <a:gd name="connsiteY3" fmla="*/ 3226103 h 3226103"/>
              <a:gd name="connsiteX4" fmla="*/ 0 w 8349522"/>
              <a:gd name="connsiteY4" fmla="*/ 302524 h 3226103"/>
              <a:gd name="connsiteX0" fmla="*/ 0 w 8883911"/>
              <a:gd name="connsiteY0" fmla="*/ 326274 h 3226103"/>
              <a:gd name="connsiteX1" fmla="*/ 8883911 w 8883911"/>
              <a:gd name="connsiteY1" fmla="*/ 0 h 3226103"/>
              <a:gd name="connsiteX2" fmla="*/ 8868671 w 8883911"/>
              <a:gd name="connsiteY2" fmla="*/ 2926383 h 3226103"/>
              <a:gd name="connsiteX3" fmla="*/ 547631 w 8883911"/>
              <a:gd name="connsiteY3" fmla="*/ 3226103 h 3226103"/>
              <a:gd name="connsiteX4" fmla="*/ 0 w 8883911"/>
              <a:gd name="connsiteY4" fmla="*/ 326274 h 3226103"/>
              <a:gd name="connsiteX0" fmla="*/ 0 w 8872036"/>
              <a:gd name="connsiteY0" fmla="*/ 326274 h 3226103"/>
              <a:gd name="connsiteX1" fmla="*/ 8872036 w 8872036"/>
              <a:gd name="connsiteY1" fmla="*/ 0 h 3226103"/>
              <a:gd name="connsiteX2" fmla="*/ 8856796 w 8872036"/>
              <a:gd name="connsiteY2" fmla="*/ 2926383 h 3226103"/>
              <a:gd name="connsiteX3" fmla="*/ 535756 w 8872036"/>
              <a:gd name="connsiteY3" fmla="*/ 3226103 h 3226103"/>
              <a:gd name="connsiteX4" fmla="*/ 0 w 8872036"/>
              <a:gd name="connsiteY4" fmla="*/ 326274 h 3226103"/>
              <a:gd name="connsiteX0" fmla="*/ 34357 w 8906393"/>
              <a:gd name="connsiteY0" fmla="*/ 326274 h 3273604"/>
              <a:gd name="connsiteX1" fmla="*/ 8906393 w 8906393"/>
              <a:gd name="connsiteY1" fmla="*/ 0 h 3273604"/>
              <a:gd name="connsiteX2" fmla="*/ 8891153 w 8906393"/>
              <a:gd name="connsiteY2" fmla="*/ 2926383 h 3273604"/>
              <a:gd name="connsiteX3" fmla="*/ 98 w 8906393"/>
              <a:gd name="connsiteY3" fmla="*/ 3273604 h 3273604"/>
              <a:gd name="connsiteX4" fmla="*/ 34357 w 8906393"/>
              <a:gd name="connsiteY4" fmla="*/ 326274 h 3273604"/>
              <a:gd name="connsiteX0" fmla="*/ 0 w 8907662"/>
              <a:gd name="connsiteY0" fmla="*/ 338149 h 3273604"/>
              <a:gd name="connsiteX1" fmla="*/ 8907662 w 8907662"/>
              <a:gd name="connsiteY1" fmla="*/ 0 h 3273604"/>
              <a:gd name="connsiteX2" fmla="*/ 8892422 w 8907662"/>
              <a:gd name="connsiteY2" fmla="*/ 2926383 h 3273604"/>
              <a:gd name="connsiteX3" fmla="*/ 1367 w 8907662"/>
              <a:gd name="connsiteY3" fmla="*/ 3273604 h 3273604"/>
              <a:gd name="connsiteX4" fmla="*/ 0 w 8907662"/>
              <a:gd name="connsiteY4" fmla="*/ 338149 h 3273604"/>
              <a:gd name="connsiteX0" fmla="*/ 0 w 8907662"/>
              <a:gd name="connsiteY0" fmla="*/ 338149 h 3273604"/>
              <a:gd name="connsiteX1" fmla="*/ 8907662 w 8907662"/>
              <a:gd name="connsiteY1" fmla="*/ 0 h 3273604"/>
              <a:gd name="connsiteX2" fmla="*/ 8892422 w 8907662"/>
              <a:gd name="connsiteY2" fmla="*/ 2926383 h 3273604"/>
              <a:gd name="connsiteX3" fmla="*/ 32591 w 8907662"/>
              <a:gd name="connsiteY3" fmla="*/ 3273604 h 3273604"/>
              <a:gd name="connsiteX4" fmla="*/ 0 w 8907662"/>
              <a:gd name="connsiteY4" fmla="*/ 338149 h 3273604"/>
              <a:gd name="connsiteX0" fmla="*/ 0 w 8885359"/>
              <a:gd name="connsiteY0" fmla="*/ 338149 h 3273604"/>
              <a:gd name="connsiteX1" fmla="*/ 8885359 w 8885359"/>
              <a:gd name="connsiteY1" fmla="*/ 0 h 3273604"/>
              <a:gd name="connsiteX2" fmla="*/ 8870119 w 8885359"/>
              <a:gd name="connsiteY2" fmla="*/ 2926383 h 3273604"/>
              <a:gd name="connsiteX3" fmla="*/ 10288 w 8885359"/>
              <a:gd name="connsiteY3" fmla="*/ 3273604 h 3273604"/>
              <a:gd name="connsiteX4" fmla="*/ 0 w 8885359"/>
              <a:gd name="connsiteY4" fmla="*/ 338149 h 32736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85359" h="3273604">
                <a:moveTo>
                  <a:pt x="0" y="338149"/>
                </a:moveTo>
                <a:lnTo>
                  <a:pt x="8885359" y="0"/>
                </a:lnTo>
                <a:lnTo>
                  <a:pt x="8870119" y="2926383"/>
                </a:lnTo>
                <a:lnTo>
                  <a:pt x="10288" y="3273604"/>
                </a:lnTo>
                <a:cubicBezTo>
                  <a:pt x="7991" y="2232403"/>
                  <a:pt x="2297" y="1379350"/>
                  <a:pt x="0" y="338149"/>
                </a:cubicBezTo>
                <a:close/>
              </a:path>
            </a:pathLst>
          </a:custGeom>
          <a:solidFill>
            <a:srgbClr val="434343"/>
          </a:solidFill>
        </p:spPr>
        <p:txBody>
          <a:bodyPr lIns="576000" anchor="ctr" anchorCtr="0"/>
          <a:lstStyle>
            <a:lvl1pPr marL="0" indent="0" algn="ctr">
              <a:buNone/>
              <a:defRPr>
                <a:solidFill>
                  <a:schemeClr val="bg1"/>
                </a:solidFill>
                <a:latin typeface="Arial" panose="020B0604020202020204" pitchFamily="34" charset="0"/>
                <a:cs typeface="Arial" panose="020B0604020202020204" pitchFamily="34" charset="0"/>
              </a:defRPr>
            </a:lvl1pPr>
          </a:lstStyle>
          <a:p>
            <a:r>
              <a:rPr lang="de-DE" dirty="0"/>
              <a:t>Platzhalter: Bild Titelfolie</a:t>
            </a:r>
          </a:p>
        </p:txBody>
      </p:sp>
      <p:sp>
        <p:nvSpPr>
          <p:cNvPr id="4" name="Textfeld 3">
            <a:extLst>
              <a:ext uri="{FF2B5EF4-FFF2-40B4-BE49-F238E27FC236}">
                <a16:creationId xmlns:a16="http://schemas.microsoft.com/office/drawing/2014/main" id="{F18C730E-B3F8-944F-8BC2-E236CE7245E4}"/>
              </a:ext>
            </a:extLst>
          </p:cNvPr>
          <p:cNvSpPr txBox="1"/>
          <p:nvPr userDrawn="1"/>
        </p:nvSpPr>
        <p:spPr>
          <a:xfrm>
            <a:off x="-2031023" y="2620375"/>
            <a:ext cx="2021305" cy="1785104"/>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Platzhalterbild ersetzen:</a:t>
            </a:r>
            <a:br>
              <a:rPr lang="de-DE" sz="1000" b="1"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löschen und durch neues Bild ersetzen &gt; über Bildformat &gt; Zuschneiden im Rahmen ggf. nachpositionieren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Copyrightangabe: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Korrektes Copyright angeben (in der Regel Name des*der Fotograf*in), Textfarbe je nach Hintergrund weiß oder schwarz</a:t>
            </a:r>
          </a:p>
        </p:txBody>
      </p:sp>
      <p:sp>
        <p:nvSpPr>
          <p:cNvPr id="5" name="Textfeld 4">
            <a:extLst>
              <a:ext uri="{FF2B5EF4-FFF2-40B4-BE49-F238E27FC236}">
                <a16:creationId xmlns:a16="http://schemas.microsoft.com/office/drawing/2014/main" id="{A7B17960-7FEA-3C44-9F5C-B38F41DF0CD3}"/>
              </a:ext>
            </a:extLst>
          </p:cNvPr>
          <p:cNvSpPr txBox="1"/>
          <p:nvPr userDrawn="1"/>
        </p:nvSpPr>
        <p:spPr>
          <a:xfrm>
            <a:off x="9903" y="-313433"/>
            <a:ext cx="1703672" cy="246221"/>
          </a:xfrm>
          <a:prstGeom prst="rect">
            <a:avLst/>
          </a:prstGeom>
          <a:noFill/>
        </p:spPr>
        <p:txBody>
          <a:bodyPr wrap="square" rtlCol="0">
            <a:spAutoFit/>
          </a:bodyPr>
          <a:lstStyle/>
          <a:p>
            <a:r>
              <a:rPr lang="de-DE" sz="1000" dirty="0">
                <a:latin typeface="Arial" panose="020B0604020202020204" pitchFamily="34" charset="0"/>
                <a:cs typeface="Arial" panose="020B0604020202020204" pitchFamily="34" charset="0"/>
              </a:rPr>
              <a:t>V1: Titelfolie mit Bild</a:t>
            </a:r>
          </a:p>
        </p:txBody>
      </p:sp>
    </p:spTree>
    <p:extLst>
      <p:ext uri="{BB962C8B-B14F-4D97-AF65-F5344CB8AC3E}">
        <p14:creationId xmlns:p14="http://schemas.microsoft.com/office/powerpoint/2010/main" val="27569119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el - Text ">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740704DC-2971-A248-9827-94150E3D8746}"/>
              </a:ext>
            </a:extLst>
          </p:cNvPr>
          <p:cNvSpPr txBox="1"/>
          <p:nvPr userDrawn="1"/>
        </p:nvSpPr>
        <p:spPr>
          <a:xfrm>
            <a:off x="9903" y="-313433"/>
            <a:ext cx="1703672" cy="246221"/>
          </a:xfrm>
          <a:prstGeom prst="rect">
            <a:avLst/>
          </a:prstGeom>
          <a:noFill/>
        </p:spPr>
        <p:txBody>
          <a:bodyPr wrap="square" rtlCol="0">
            <a:spAutoFit/>
          </a:bodyPr>
          <a:lstStyle/>
          <a:p>
            <a:r>
              <a:rPr lang="de-DE" sz="1000" dirty="0">
                <a:latin typeface="Arial" panose="020B0604020202020204" pitchFamily="34" charset="0"/>
                <a:cs typeface="Arial" panose="020B0604020202020204" pitchFamily="34" charset="0"/>
              </a:rPr>
              <a:t>V2: Titelfolie ohne Bild</a:t>
            </a:r>
          </a:p>
        </p:txBody>
      </p:sp>
    </p:spTree>
    <p:extLst>
      <p:ext uri="{BB962C8B-B14F-4D97-AF65-F5344CB8AC3E}">
        <p14:creationId xmlns:p14="http://schemas.microsoft.com/office/powerpoint/2010/main" val="15057043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Inhalt - Text und Stichpunkte">
    <p:spTree>
      <p:nvGrpSpPr>
        <p:cNvPr id="1" name=""/>
        <p:cNvGrpSpPr/>
        <p:nvPr/>
      </p:nvGrpSpPr>
      <p:grpSpPr>
        <a:xfrm>
          <a:off x="0" y="0"/>
          <a:ext cx="0" cy="0"/>
          <a:chOff x="0" y="0"/>
          <a:chExt cx="0" cy="0"/>
        </a:xfrm>
      </p:grpSpPr>
      <p:sp>
        <p:nvSpPr>
          <p:cNvPr id="5" name="Textplatzhalter 5">
            <a:extLst>
              <a:ext uri="{FF2B5EF4-FFF2-40B4-BE49-F238E27FC236}">
                <a16:creationId xmlns:a16="http://schemas.microsoft.com/office/drawing/2014/main" id="{D7BD4116-72F8-7D4E-846E-4E9887F60C02}"/>
              </a:ext>
            </a:extLst>
          </p:cNvPr>
          <p:cNvSpPr>
            <a:spLocks noGrp="1"/>
          </p:cNvSpPr>
          <p:nvPr>
            <p:ph type="body" sz="quarter" idx="18" hasCustomPrompt="1"/>
          </p:nvPr>
        </p:nvSpPr>
        <p:spPr>
          <a:xfrm>
            <a:off x="550800" y="3175200"/>
            <a:ext cx="9721850" cy="2124075"/>
          </a:xfrm>
          <a:prstGeom prst="rect">
            <a:avLst/>
          </a:prstGeom>
        </p:spPr>
        <p:txBody>
          <a:bodyPr lIns="0" tIns="0"/>
          <a:lstStyle>
            <a:lvl1pPr marL="2286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1pPr>
            <a:lvl2pPr marL="6858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2pPr>
            <a:lvl3pPr marL="11430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3pPr>
            <a:lvl4pPr marL="16002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4pPr>
            <a:lvl5pPr marL="20574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5pPr>
          </a:lstStyle>
          <a:p>
            <a:pPr lvl="0"/>
            <a:r>
              <a:rPr lang="de-DE" dirty="0"/>
              <a:t>Aufzählung 1. Ebene Arial Regular 18 </a:t>
            </a:r>
            <a:r>
              <a:rPr lang="de-DE" dirty="0" err="1"/>
              <a:t>pt</a:t>
            </a:r>
            <a:r>
              <a:rPr lang="de-DE" dirty="0"/>
              <a:t>, ZA: 24 </a:t>
            </a:r>
            <a:r>
              <a:rPr lang="de-DE" dirty="0" err="1"/>
              <a:t>pt</a:t>
            </a:r>
            <a:endParaRPr lang="de-DE" dirty="0"/>
          </a:p>
          <a:p>
            <a:pPr lvl="1"/>
            <a:r>
              <a:rPr lang="de-DE" dirty="0"/>
              <a:t>2. Ebene</a:t>
            </a:r>
          </a:p>
          <a:p>
            <a:pPr lvl="2"/>
            <a:r>
              <a:rPr lang="de-DE" dirty="0"/>
              <a:t>3. Ebene</a:t>
            </a:r>
          </a:p>
          <a:p>
            <a:pPr lvl="3"/>
            <a:r>
              <a:rPr lang="de-DE" dirty="0"/>
              <a:t>4. Ebene</a:t>
            </a:r>
          </a:p>
          <a:p>
            <a:pPr lvl="4"/>
            <a:r>
              <a:rPr lang="de-DE" dirty="0"/>
              <a:t>5. Ebene</a:t>
            </a:r>
          </a:p>
        </p:txBody>
      </p:sp>
      <p:sp>
        <p:nvSpPr>
          <p:cNvPr id="6" name="Textplatzhalter 2">
            <a:extLst>
              <a:ext uri="{FF2B5EF4-FFF2-40B4-BE49-F238E27FC236}">
                <a16:creationId xmlns:a16="http://schemas.microsoft.com/office/drawing/2014/main" id="{9DAAF3EE-A5B2-F647-838D-0DFAACB4D556}"/>
              </a:ext>
            </a:extLst>
          </p:cNvPr>
          <p:cNvSpPr>
            <a:spLocks noGrp="1"/>
          </p:cNvSpPr>
          <p:nvPr>
            <p:ph type="body" sz="quarter" idx="17" hasCustomPrompt="1"/>
          </p:nvPr>
        </p:nvSpPr>
        <p:spPr>
          <a:xfrm>
            <a:off x="550800" y="1371600"/>
            <a:ext cx="9721850" cy="1526370"/>
          </a:xfrm>
          <a:prstGeom prst="rect">
            <a:avLst/>
          </a:prstGeom>
        </p:spPr>
        <p:txBody>
          <a:bodyPr lIns="0" tIns="0" rIns="0" bIns="0"/>
          <a:lstStyle>
            <a:lvl1pPr marL="0" indent="0">
              <a:lnSpc>
                <a:spcPts val="2400"/>
              </a:lnSpc>
              <a:spcBef>
                <a:spcPts val="0"/>
              </a:spcBef>
              <a:buNone/>
              <a:defRPr sz="1800">
                <a:solidFill>
                  <a:srgbClr val="434343"/>
                </a:solidFill>
                <a:latin typeface="Arial" panose="020B0604020202020204" pitchFamily="34" charset="0"/>
                <a:cs typeface="Arial" panose="020B0604020202020204" pitchFamily="34" charset="0"/>
              </a:defRPr>
            </a:lvl1pPr>
          </a:lstStyle>
          <a:p>
            <a:pPr lvl="0"/>
            <a:r>
              <a:rPr lang="de-DE" dirty="0"/>
              <a:t>Arial Regular 18pt, ZA: 24pt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elitr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erat, sed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a:t>
            </a:r>
            <a:r>
              <a:rPr lang="de-DE" dirty="0" err="1"/>
              <a:t>erat</a:t>
            </a:r>
            <a:r>
              <a:rPr lang="de-DE" dirty="0"/>
              <a:t>, </a:t>
            </a:r>
            <a:r>
              <a:rPr lang="de-DE" dirty="0" err="1"/>
              <a:t>sed</a:t>
            </a:r>
            <a:r>
              <a:rPr lang="de-DE" dirty="0"/>
              <a:t>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et </a:t>
            </a:r>
            <a:r>
              <a:rPr lang="de-DE" dirty="0" err="1"/>
              <a:t>accusam</a:t>
            </a:r>
            <a:r>
              <a:rPr lang="de-DE" dirty="0"/>
              <a:t> et </a:t>
            </a:r>
            <a:r>
              <a:rPr lang="de-DE" dirty="0" err="1"/>
              <a:t>justo</a:t>
            </a:r>
            <a:r>
              <a:rPr lang="de-DE" dirty="0"/>
              <a:t> </a:t>
            </a:r>
            <a:r>
              <a:rPr lang="de-DE" dirty="0" err="1"/>
              <a:t>duo</a:t>
            </a:r>
            <a:r>
              <a:rPr lang="de-DE" dirty="0"/>
              <a:t> </a:t>
            </a:r>
            <a:r>
              <a:rPr lang="de-DE" dirty="0" err="1"/>
              <a:t>dolores</a:t>
            </a:r>
            <a:r>
              <a:rPr lang="de-DE" dirty="0"/>
              <a:t> et </a:t>
            </a:r>
            <a:r>
              <a:rPr lang="de-DE" dirty="0" err="1"/>
              <a:t>ea</a:t>
            </a:r>
            <a:r>
              <a:rPr lang="de-DE" dirty="0"/>
              <a:t> </a:t>
            </a:r>
            <a:r>
              <a:rPr lang="de-DE" dirty="0" err="1"/>
              <a:t>rebum</a:t>
            </a:r>
            <a:r>
              <a:rPr lang="de-DE" dirty="0"/>
              <a:t>. Stet </a:t>
            </a:r>
            <a:r>
              <a:rPr lang="de-DE" dirty="0" err="1"/>
              <a:t>clita</a:t>
            </a:r>
            <a:r>
              <a:rPr lang="de-DE" dirty="0"/>
              <a:t> </a:t>
            </a:r>
            <a:r>
              <a:rPr lang="de-DE" dirty="0" err="1"/>
              <a:t>kasd</a:t>
            </a:r>
            <a:r>
              <a:rPr lang="de-DE" dirty="0"/>
              <a:t> </a:t>
            </a:r>
            <a:r>
              <a:rPr lang="de-DE" dirty="0" err="1"/>
              <a:t>gubergren</a:t>
            </a:r>
            <a:r>
              <a:rPr lang="de-DE" dirty="0"/>
              <a:t>, </a:t>
            </a:r>
            <a:r>
              <a:rPr lang="de-DE" dirty="0" err="1"/>
              <a:t>no</a:t>
            </a:r>
            <a:r>
              <a:rPr lang="de-DE" dirty="0"/>
              <a:t> </a:t>
            </a:r>
            <a:r>
              <a:rPr lang="de-DE" dirty="0" err="1"/>
              <a:t>sea</a:t>
            </a:r>
            <a:r>
              <a:rPr lang="de-DE" dirty="0"/>
              <a:t> </a:t>
            </a:r>
            <a:r>
              <a:rPr lang="de-DE" dirty="0" err="1"/>
              <a:t>takimata</a:t>
            </a:r>
            <a:endParaRPr lang="de-DE" dirty="0"/>
          </a:p>
        </p:txBody>
      </p:sp>
      <p:sp>
        <p:nvSpPr>
          <p:cNvPr id="7" name="Textplatzhalter 17">
            <a:extLst>
              <a:ext uri="{FF2B5EF4-FFF2-40B4-BE49-F238E27FC236}">
                <a16:creationId xmlns:a16="http://schemas.microsoft.com/office/drawing/2014/main" id="{5B12DAD6-93EF-5042-858F-4BB3334F107E}"/>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14314736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Inhalt - Bild und Text">
    <p:spTree>
      <p:nvGrpSpPr>
        <p:cNvPr id="1" name=""/>
        <p:cNvGrpSpPr/>
        <p:nvPr/>
      </p:nvGrpSpPr>
      <p:grpSpPr>
        <a:xfrm>
          <a:off x="0" y="0"/>
          <a:ext cx="0" cy="0"/>
          <a:chOff x="0" y="0"/>
          <a:chExt cx="0" cy="0"/>
        </a:xfrm>
      </p:grpSpPr>
      <p:sp>
        <p:nvSpPr>
          <p:cNvPr id="5" name="Textplatzhalter 2">
            <a:extLst>
              <a:ext uri="{FF2B5EF4-FFF2-40B4-BE49-F238E27FC236}">
                <a16:creationId xmlns:a16="http://schemas.microsoft.com/office/drawing/2014/main" id="{55FA8C39-046E-E34F-8E80-7B9D099D728B}"/>
              </a:ext>
            </a:extLst>
          </p:cNvPr>
          <p:cNvSpPr>
            <a:spLocks noGrp="1"/>
          </p:cNvSpPr>
          <p:nvPr>
            <p:ph type="body" sz="quarter" idx="18" hasCustomPrompt="1"/>
          </p:nvPr>
        </p:nvSpPr>
        <p:spPr>
          <a:xfrm>
            <a:off x="6519600" y="1382400"/>
            <a:ext cx="3982945" cy="4093588"/>
          </a:xfrm>
          <a:prstGeom prst="rect">
            <a:avLst/>
          </a:prstGeom>
        </p:spPr>
        <p:txBody>
          <a:bodyPr lIns="0" tIns="0" rIns="0" bIns="0"/>
          <a:lstStyle>
            <a:lvl1pPr marL="0" indent="0">
              <a:lnSpc>
                <a:spcPts val="2400"/>
              </a:lnSpc>
              <a:spcBef>
                <a:spcPts val="0"/>
              </a:spcBef>
              <a:buNone/>
              <a:defRPr sz="1800">
                <a:solidFill>
                  <a:srgbClr val="434343"/>
                </a:solidFill>
                <a:latin typeface="Arial" panose="020B0604020202020204" pitchFamily="34" charset="0"/>
                <a:cs typeface="Arial" panose="020B0604020202020204" pitchFamily="34" charset="0"/>
              </a:defRPr>
            </a:lvl1pPr>
          </a:lstStyle>
          <a:p>
            <a:pPr lvl="0"/>
            <a:r>
              <a:rPr lang="de-DE" dirty="0"/>
              <a:t>Arial Regular 18pt, ZA: 24pt </a:t>
            </a:r>
            <a:br>
              <a:rPr lang="de-DE" dirty="0"/>
            </a:b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elitr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erat, sed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a:t>
            </a:r>
            <a:r>
              <a:rPr lang="de-DE" dirty="0" err="1"/>
              <a:t>erat</a:t>
            </a:r>
            <a:r>
              <a:rPr lang="de-DE" dirty="0"/>
              <a:t>, </a:t>
            </a:r>
            <a:r>
              <a:rPr lang="de-DE" dirty="0" err="1"/>
              <a:t>sed</a:t>
            </a:r>
            <a:r>
              <a:rPr lang="de-DE" dirty="0"/>
              <a:t>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et </a:t>
            </a:r>
            <a:r>
              <a:rPr lang="de-DE" dirty="0" err="1"/>
              <a:t>accusam</a:t>
            </a:r>
            <a:r>
              <a:rPr lang="de-DE" dirty="0"/>
              <a:t> et </a:t>
            </a:r>
            <a:r>
              <a:rPr lang="de-DE" dirty="0" err="1"/>
              <a:t>justo</a:t>
            </a:r>
            <a:r>
              <a:rPr lang="de-DE" dirty="0"/>
              <a:t> </a:t>
            </a:r>
            <a:r>
              <a:rPr lang="de-DE" dirty="0" err="1"/>
              <a:t>duo</a:t>
            </a:r>
            <a:r>
              <a:rPr lang="de-DE" dirty="0"/>
              <a:t> </a:t>
            </a:r>
            <a:r>
              <a:rPr lang="de-DE" dirty="0" err="1"/>
              <a:t>dolores</a:t>
            </a:r>
            <a:r>
              <a:rPr lang="de-DE" dirty="0"/>
              <a:t> et </a:t>
            </a:r>
            <a:r>
              <a:rPr lang="de-DE" dirty="0" err="1"/>
              <a:t>ea</a:t>
            </a:r>
            <a:r>
              <a:rPr lang="de-DE" dirty="0"/>
              <a:t> </a:t>
            </a:r>
            <a:r>
              <a:rPr lang="de-DE" dirty="0" err="1"/>
              <a:t>rebum</a:t>
            </a:r>
            <a:r>
              <a:rPr lang="de-DE" dirty="0"/>
              <a:t>. Stet </a:t>
            </a:r>
            <a:r>
              <a:rPr lang="de-DE" dirty="0" err="1"/>
              <a:t>clita</a:t>
            </a:r>
            <a:r>
              <a:rPr lang="de-DE" dirty="0"/>
              <a:t> </a:t>
            </a:r>
            <a:r>
              <a:rPr lang="de-DE" dirty="0" err="1"/>
              <a:t>kasd</a:t>
            </a:r>
            <a:r>
              <a:rPr lang="de-DE" dirty="0"/>
              <a:t> </a:t>
            </a:r>
            <a:r>
              <a:rPr lang="de-DE" dirty="0" err="1"/>
              <a:t>gubergren</a:t>
            </a:r>
            <a:r>
              <a:rPr lang="de-DE" dirty="0"/>
              <a:t>, </a:t>
            </a:r>
            <a:r>
              <a:rPr lang="de-DE" dirty="0" err="1"/>
              <a:t>no</a:t>
            </a:r>
            <a:r>
              <a:rPr lang="de-DE" dirty="0"/>
              <a:t> </a:t>
            </a:r>
            <a:r>
              <a:rPr lang="de-DE" dirty="0" err="1"/>
              <a:t>sea</a:t>
            </a:r>
            <a:r>
              <a:rPr lang="de-DE" dirty="0"/>
              <a:t> </a:t>
            </a:r>
            <a:r>
              <a:rPr lang="de-DE" dirty="0" err="1"/>
              <a:t>takimata</a:t>
            </a:r>
            <a:br>
              <a:rPr lang="de-DE" dirty="0"/>
            </a:br>
            <a:r>
              <a:rPr lang="de-DE" dirty="0"/>
              <a:t>sanctus </a:t>
            </a:r>
            <a:r>
              <a:rPr lang="de-DE" dirty="0" err="1"/>
              <a:t>est</a:t>
            </a:r>
            <a:r>
              <a:rPr lang="de-DE" dirty="0"/>
              <a: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Lorem</a:t>
            </a:r>
            <a:r>
              <a:rPr lang="de-DE" dirty="0"/>
              <a:t> </a:t>
            </a:r>
            <a:r>
              <a:rPr lang="de-DE" dirty="0" err="1"/>
              <a:t>ipsum</a:t>
            </a:r>
            <a:endParaRPr lang="de-DE" dirty="0"/>
          </a:p>
        </p:txBody>
      </p:sp>
      <p:sp>
        <p:nvSpPr>
          <p:cNvPr id="6" name="Bildplatzhalter 2">
            <a:extLst>
              <a:ext uri="{FF2B5EF4-FFF2-40B4-BE49-F238E27FC236}">
                <a16:creationId xmlns:a16="http://schemas.microsoft.com/office/drawing/2014/main" id="{8BAC5633-896E-0F44-8840-CC87B5BE7045}"/>
              </a:ext>
            </a:extLst>
          </p:cNvPr>
          <p:cNvSpPr>
            <a:spLocks noGrp="1"/>
          </p:cNvSpPr>
          <p:nvPr>
            <p:ph type="pic" sz="quarter" idx="17" hasCustomPrompt="1"/>
          </p:nvPr>
        </p:nvSpPr>
        <p:spPr>
          <a:xfrm>
            <a:off x="550861" y="1381405"/>
            <a:ext cx="5545139" cy="4093589"/>
          </a:xfrm>
          <a:prstGeom prst="rect">
            <a:avLst/>
          </a:prstGeom>
          <a:solidFill>
            <a:srgbClr val="434343"/>
          </a:solidFill>
        </p:spPr>
        <p:txBody>
          <a:bodyPr anchor="ctr" anchorCtr="0"/>
          <a:lstStyle>
            <a:lvl1pPr marL="0" indent="0" algn="ctr">
              <a:buFontTx/>
              <a:buNone/>
              <a:defRPr>
                <a:solidFill>
                  <a:schemeClr val="bg1"/>
                </a:solidFill>
              </a:defRPr>
            </a:lvl1pPr>
          </a:lstStyle>
          <a:p>
            <a:r>
              <a:rPr lang="de-DE" dirty="0"/>
              <a:t>Platzhalter: Bild</a:t>
            </a:r>
          </a:p>
        </p:txBody>
      </p:sp>
      <p:sp>
        <p:nvSpPr>
          <p:cNvPr id="7" name="Textplatzhalter 17">
            <a:extLst>
              <a:ext uri="{FF2B5EF4-FFF2-40B4-BE49-F238E27FC236}">
                <a16:creationId xmlns:a16="http://schemas.microsoft.com/office/drawing/2014/main" id="{8B97D328-84F0-2C4A-BBAB-1E79CDFE9BBF}"/>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6643881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Inhalt - Bild und Stichpunkte">
    <p:spTree>
      <p:nvGrpSpPr>
        <p:cNvPr id="1" name=""/>
        <p:cNvGrpSpPr/>
        <p:nvPr/>
      </p:nvGrpSpPr>
      <p:grpSpPr>
        <a:xfrm>
          <a:off x="0" y="0"/>
          <a:ext cx="0" cy="0"/>
          <a:chOff x="0" y="0"/>
          <a:chExt cx="0" cy="0"/>
        </a:xfrm>
      </p:grpSpPr>
      <p:sp>
        <p:nvSpPr>
          <p:cNvPr id="5" name="Textplatzhalter 5">
            <a:extLst>
              <a:ext uri="{FF2B5EF4-FFF2-40B4-BE49-F238E27FC236}">
                <a16:creationId xmlns:a16="http://schemas.microsoft.com/office/drawing/2014/main" id="{9278302A-602E-374F-9D64-8FCFB4DC60C0}"/>
              </a:ext>
            </a:extLst>
          </p:cNvPr>
          <p:cNvSpPr>
            <a:spLocks noGrp="1"/>
          </p:cNvSpPr>
          <p:nvPr>
            <p:ph type="body" sz="quarter" idx="18" hasCustomPrompt="1"/>
          </p:nvPr>
        </p:nvSpPr>
        <p:spPr>
          <a:xfrm>
            <a:off x="6519600" y="1364399"/>
            <a:ext cx="3981600" cy="4111200"/>
          </a:xfrm>
          <a:prstGeom prst="rect">
            <a:avLst/>
          </a:prstGeom>
        </p:spPr>
        <p:txBody>
          <a:bodyPr lIns="0" tIns="0" rIns="0" bIns="0"/>
          <a:lstStyle>
            <a:lvl1pPr marL="2286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1pPr>
            <a:lvl2pPr marL="6858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2pPr>
            <a:lvl3pPr marL="11430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3pPr>
            <a:lvl4pPr marL="16002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4pPr>
            <a:lvl5pPr marL="20574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5pPr>
          </a:lstStyle>
          <a:p>
            <a:pPr lvl="0"/>
            <a:r>
              <a:rPr lang="de-DE" dirty="0"/>
              <a:t>Aufzählung 1. Ebene Arial Regular 18 </a:t>
            </a:r>
            <a:r>
              <a:rPr lang="de-DE" dirty="0" err="1"/>
              <a:t>pt</a:t>
            </a:r>
            <a:r>
              <a:rPr lang="de-DE" dirty="0"/>
              <a:t>, ZA: 24 </a:t>
            </a:r>
            <a:r>
              <a:rPr lang="de-DE" dirty="0" err="1"/>
              <a:t>pt</a:t>
            </a:r>
            <a:endParaRPr lang="de-DE" dirty="0"/>
          </a:p>
          <a:p>
            <a:pPr lvl="1"/>
            <a:r>
              <a:rPr lang="de-DE" dirty="0"/>
              <a:t>2. Ebene</a:t>
            </a:r>
          </a:p>
          <a:p>
            <a:pPr lvl="2"/>
            <a:r>
              <a:rPr lang="de-DE" dirty="0"/>
              <a:t>3. Ebene</a:t>
            </a:r>
          </a:p>
          <a:p>
            <a:pPr lvl="3"/>
            <a:r>
              <a:rPr lang="de-DE" dirty="0"/>
              <a:t>4. Ebene</a:t>
            </a:r>
          </a:p>
          <a:p>
            <a:pPr lvl="4"/>
            <a:r>
              <a:rPr lang="de-DE" dirty="0"/>
              <a:t>5. Ebene</a:t>
            </a:r>
          </a:p>
        </p:txBody>
      </p:sp>
      <p:sp>
        <p:nvSpPr>
          <p:cNvPr id="6" name="Bildplatzhalter 2">
            <a:extLst>
              <a:ext uri="{FF2B5EF4-FFF2-40B4-BE49-F238E27FC236}">
                <a16:creationId xmlns:a16="http://schemas.microsoft.com/office/drawing/2014/main" id="{07DD2921-214D-B547-93DD-EB9D2A99CCEE}"/>
              </a:ext>
            </a:extLst>
          </p:cNvPr>
          <p:cNvSpPr>
            <a:spLocks noGrp="1"/>
          </p:cNvSpPr>
          <p:nvPr>
            <p:ph type="pic" sz="quarter" idx="17" hasCustomPrompt="1"/>
          </p:nvPr>
        </p:nvSpPr>
        <p:spPr>
          <a:xfrm>
            <a:off x="550861" y="1381405"/>
            <a:ext cx="5545139" cy="4093589"/>
          </a:xfrm>
          <a:prstGeom prst="rect">
            <a:avLst/>
          </a:prstGeom>
          <a:solidFill>
            <a:srgbClr val="434343"/>
          </a:solidFill>
        </p:spPr>
        <p:txBody>
          <a:bodyPr anchor="ctr" anchorCtr="0"/>
          <a:lstStyle>
            <a:lvl1pPr marL="0" indent="0" algn="ctr">
              <a:buFontTx/>
              <a:buNone/>
              <a:defRPr>
                <a:solidFill>
                  <a:schemeClr val="bg1"/>
                </a:solidFill>
              </a:defRPr>
            </a:lvl1pPr>
          </a:lstStyle>
          <a:p>
            <a:r>
              <a:rPr lang="de-DE" dirty="0"/>
              <a:t>Platzhalter: Bild</a:t>
            </a:r>
          </a:p>
        </p:txBody>
      </p:sp>
      <p:sp>
        <p:nvSpPr>
          <p:cNvPr id="7" name="Textplatzhalter 17">
            <a:extLst>
              <a:ext uri="{FF2B5EF4-FFF2-40B4-BE49-F238E27FC236}">
                <a16:creationId xmlns:a16="http://schemas.microsoft.com/office/drawing/2014/main" id="{86E90AC2-BC99-614A-AF4F-584EF9915C55}"/>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327643400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theme" Target="../theme/theme2.xml"/><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image" Target="../media/image4.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Rechteck 4">
            <a:extLst>
              <a:ext uri="{FF2B5EF4-FFF2-40B4-BE49-F238E27FC236}">
                <a16:creationId xmlns:a16="http://schemas.microsoft.com/office/drawing/2014/main" id="{B97C5655-F240-634C-9B7B-B6181A1B3AF5}"/>
              </a:ext>
            </a:extLst>
          </p:cNvPr>
          <p:cNvSpPr/>
          <p:nvPr userDrawn="1"/>
        </p:nvSpPr>
        <p:spPr>
          <a:xfrm>
            <a:off x="0" y="1668462"/>
            <a:ext cx="12192000" cy="5189537"/>
          </a:xfrm>
          <a:custGeom>
            <a:avLst/>
            <a:gdLst>
              <a:gd name="connsiteX0" fmla="*/ 0 w 12192000"/>
              <a:gd name="connsiteY0" fmla="*/ 0 h 4760912"/>
              <a:gd name="connsiteX1" fmla="*/ 12192000 w 12192000"/>
              <a:gd name="connsiteY1" fmla="*/ 0 h 4760912"/>
              <a:gd name="connsiteX2" fmla="*/ 12192000 w 12192000"/>
              <a:gd name="connsiteY2" fmla="*/ 4760912 h 4760912"/>
              <a:gd name="connsiteX3" fmla="*/ 0 w 12192000"/>
              <a:gd name="connsiteY3" fmla="*/ 4760912 h 4760912"/>
              <a:gd name="connsiteX4" fmla="*/ 0 w 12192000"/>
              <a:gd name="connsiteY4" fmla="*/ 0 h 4760912"/>
              <a:gd name="connsiteX0" fmla="*/ 0 w 12192000"/>
              <a:gd name="connsiteY0" fmla="*/ 212725 h 4973637"/>
              <a:gd name="connsiteX1" fmla="*/ 12192000 w 12192000"/>
              <a:gd name="connsiteY1" fmla="*/ 0 h 4973637"/>
              <a:gd name="connsiteX2" fmla="*/ 12192000 w 12192000"/>
              <a:gd name="connsiteY2" fmla="*/ 4973637 h 4973637"/>
              <a:gd name="connsiteX3" fmla="*/ 0 w 12192000"/>
              <a:gd name="connsiteY3" fmla="*/ 4973637 h 4973637"/>
              <a:gd name="connsiteX4" fmla="*/ 0 w 12192000"/>
              <a:gd name="connsiteY4" fmla="*/ 212725 h 4973637"/>
              <a:gd name="connsiteX0" fmla="*/ 0 w 12192000"/>
              <a:gd name="connsiteY0" fmla="*/ 428625 h 5189537"/>
              <a:gd name="connsiteX1" fmla="*/ 12192000 w 12192000"/>
              <a:gd name="connsiteY1" fmla="*/ 0 h 5189537"/>
              <a:gd name="connsiteX2" fmla="*/ 12192000 w 12192000"/>
              <a:gd name="connsiteY2" fmla="*/ 5189537 h 5189537"/>
              <a:gd name="connsiteX3" fmla="*/ 0 w 12192000"/>
              <a:gd name="connsiteY3" fmla="*/ 5189537 h 5189537"/>
              <a:gd name="connsiteX4" fmla="*/ 0 w 12192000"/>
              <a:gd name="connsiteY4" fmla="*/ 428625 h 5189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5189537">
                <a:moveTo>
                  <a:pt x="0" y="428625"/>
                </a:moveTo>
                <a:lnTo>
                  <a:pt x="12192000" y="0"/>
                </a:lnTo>
                <a:lnTo>
                  <a:pt x="12192000" y="5189537"/>
                </a:lnTo>
                <a:lnTo>
                  <a:pt x="0" y="5189537"/>
                </a:lnTo>
                <a:lnTo>
                  <a:pt x="0" y="428625"/>
                </a:lnTo>
                <a:close/>
              </a:path>
            </a:pathLst>
          </a:custGeom>
          <a:solidFill>
            <a:srgbClr val="C40D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7" name="Grafik 6">
            <a:extLst>
              <a:ext uri="{FF2B5EF4-FFF2-40B4-BE49-F238E27FC236}">
                <a16:creationId xmlns:a16="http://schemas.microsoft.com/office/drawing/2014/main" id="{F8DDEEBD-D00D-1249-9E02-EDC0548BFCAC}"/>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9388168" y="378741"/>
            <a:ext cx="2250000" cy="774000"/>
          </a:xfrm>
          <a:prstGeom prst="rect">
            <a:avLst/>
          </a:prstGeom>
        </p:spPr>
      </p:pic>
      <p:sp>
        <p:nvSpPr>
          <p:cNvPr id="4" name="Textfeld 3">
            <a:extLst>
              <a:ext uri="{FF2B5EF4-FFF2-40B4-BE49-F238E27FC236}">
                <a16:creationId xmlns:a16="http://schemas.microsoft.com/office/drawing/2014/main" id="{0D20A730-187A-274D-A0E6-8412686F8775}"/>
              </a:ext>
            </a:extLst>
          </p:cNvPr>
          <p:cNvSpPr txBox="1"/>
          <p:nvPr userDrawn="1"/>
        </p:nvSpPr>
        <p:spPr>
          <a:xfrm>
            <a:off x="12292755" y="5534561"/>
            <a:ext cx="3102416" cy="1323439"/>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Titelseiten – Platzhalter für </a:t>
            </a:r>
            <a:r>
              <a:rPr lang="de-DE" sz="1000" b="1" dirty="0" err="1">
                <a:latin typeface="Arial" panose="020B0604020202020204" pitchFamily="34" charset="0"/>
                <a:cs typeface="Arial" panose="020B0604020202020204" pitchFamily="34" charset="0"/>
              </a:rPr>
              <a:t>Sublogo</a:t>
            </a:r>
            <a:r>
              <a:rPr lang="de-DE" sz="1000" b="1" dirty="0">
                <a:latin typeface="Arial" panose="020B0604020202020204" pitchFamily="34" charset="0"/>
                <a:cs typeface="Arial" panose="020B0604020202020204" pitchFamily="34" charset="0"/>
              </a:rPr>
              <a:t> ändern: </a:t>
            </a:r>
            <a:r>
              <a:rPr lang="de-DE" sz="1000" dirty="0">
                <a:latin typeface="Arial" panose="020B0604020202020204" pitchFamily="34" charset="0"/>
                <a:cs typeface="Arial" panose="020B0604020202020204" pitchFamily="34" charset="0"/>
              </a:rPr>
              <a:t>Direkt auf dieser Folie &gt; Bild anklicken &gt; Rechtsklick &gt; Bild einfügen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Bild an Rahmen anpassen</a:t>
            </a:r>
            <a:r>
              <a:rPr lang="de-DE" sz="1000" dirty="0">
                <a:latin typeface="Arial" panose="020B0604020202020204" pitchFamily="34" charset="0"/>
                <a:cs typeface="Arial" panose="020B0604020202020204" pitchFamily="34" charset="0"/>
              </a:rPr>
              <a: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anklicken &gt; Bildformat &gt; Zuschneiden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im Dropdown „Einpassen“ wählen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ggf. Bild nochmals neu positionieren </a:t>
            </a:r>
          </a:p>
        </p:txBody>
      </p:sp>
    </p:spTree>
    <p:extLst>
      <p:ext uri="{BB962C8B-B14F-4D97-AF65-F5344CB8AC3E}">
        <p14:creationId xmlns:p14="http://schemas.microsoft.com/office/powerpoint/2010/main" val="3079698843"/>
      </p:ext>
    </p:extLst>
  </p:cSld>
  <p:clrMap bg1="lt1" tx1="dk1" bg2="lt2" tx2="dk2" accent1="accent1" accent2="accent2" accent3="accent3" accent4="accent4" accent5="accent5" accent6="accent6" hlink="hlink" folHlink="folHlink"/>
  <p:sldLayoutIdLst>
    <p:sldLayoutId id="2147483714" r:id="rId1"/>
    <p:sldLayoutId id="2147483713" r:id="rId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347" userDrawn="1">
          <p15:clr>
            <a:srgbClr val="F26B43"/>
          </p15:clr>
        </p15:guide>
        <p15:guide id="2" pos="7333" userDrawn="1">
          <p15:clr>
            <a:srgbClr val="F26B43"/>
          </p15:clr>
        </p15:guide>
        <p15:guide id="3" orient="horz" pos="346" userDrawn="1">
          <p15:clr>
            <a:srgbClr val="F26B43"/>
          </p15:clr>
        </p15:guide>
        <p15:guide id="4" pos="1232" userDrawn="1">
          <p15:clr>
            <a:srgbClr val="F26B43"/>
          </p15:clr>
        </p15:guide>
        <p15:guide id="5" orient="horz" pos="3974" userDrawn="1">
          <p15:clr>
            <a:srgbClr val="F26B43"/>
          </p15:clr>
        </p15:guide>
        <p15:guide id="6" orient="horz" pos="663" userDrawn="1">
          <p15:clr>
            <a:srgbClr val="F26B43"/>
          </p15:clr>
        </p15:guide>
        <p15:guide id="7" orient="horz" pos="1003" userDrawn="1">
          <p15:clr>
            <a:srgbClr val="F26B43"/>
          </p15:clr>
        </p15:guide>
        <p15:guide id="8" orient="horz" pos="1321" userDrawn="1">
          <p15:clr>
            <a:srgbClr val="F26B43"/>
          </p15:clr>
        </p15:guide>
        <p15:guide id="9" orient="horz" pos="1661" userDrawn="1">
          <p15:clr>
            <a:srgbClr val="F26B43"/>
          </p15:clr>
        </p15:guide>
        <p15:guide id="10" orient="horz" pos="2001" userDrawn="1">
          <p15:clr>
            <a:srgbClr val="F26B43"/>
          </p15:clr>
        </p15:guide>
        <p15:guide id="11" orient="horz" pos="3339" userDrawn="1">
          <p15:clr>
            <a:srgbClr val="F26B43"/>
          </p15:clr>
        </p15:guide>
        <p15:guide id="12" orient="horz" pos="2319" userDrawn="1">
          <p15:clr>
            <a:srgbClr val="F26B43"/>
          </p15:clr>
        </p15:guide>
        <p15:guide id="13" orient="horz" pos="2999" userDrawn="1">
          <p15:clr>
            <a:srgbClr val="F26B43"/>
          </p15:clr>
        </p15:guide>
        <p15:guide id="14" orient="horz" pos="3657" userDrawn="1">
          <p15:clr>
            <a:srgbClr val="F26B43"/>
          </p15:clr>
        </p15:guide>
        <p15:guide id="15" orient="horz" pos="2659" userDrawn="1">
          <p15:clr>
            <a:srgbClr val="F26B43"/>
          </p15:clr>
        </p15:guide>
        <p15:guide id="16" pos="2094" userDrawn="1">
          <p15:clr>
            <a:srgbClr val="F26B43"/>
          </p15:clr>
        </p15:guide>
        <p15:guide id="17" pos="2978" userDrawn="1">
          <p15:clr>
            <a:srgbClr val="F26B43"/>
          </p15:clr>
        </p15:guide>
        <p15:guide id="18" pos="3840" userDrawn="1">
          <p15:clr>
            <a:srgbClr val="F26B43"/>
          </p15:clr>
        </p15:guide>
        <p15:guide id="19" pos="4725" userDrawn="1">
          <p15:clr>
            <a:srgbClr val="F26B43"/>
          </p15:clr>
        </p15:guide>
        <p15:guide id="20" pos="5586" userDrawn="1">
          <p15:clr>
            <a:srgbClr val="F26B43"/>
          </p15:clr>
        </p15:guide>
        <p15:guide id="21" pos="6471"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eck 1">
            <a:extLst>
              <a:ext uri="{FF2B5EF4-FFF2-40B4-BE49-F238E27FC236}">
                <a16:creationId xmlns:a16="http://schemas.microsoft.com/office/drawing/2014/main" id="{48266648-C51B-EA45-AE41-AF74B0A4657C}"/>
              </a:ext>
            </a:extLst>
          </p:cNvPr>
          <p:cNvSpPr/>
          <p:nvPr userDrawn="1"/>
        </p:nvSpPr>
        <p:spPr>
          <a:xfrm>
            <a:off x="0" y="5748124"/>
            <a:ext cx="12195175" cy="1109875"/>
          </a:xfrm>
          <a:custGeom>
            <a:avLst/>
            <a:gdLst>
              <a:gd name="connsiteX0" fmla="*/ 0 w 12192000"/>
              <a:gd name="connsiteY0" fmla="*/ 0 h 687600"/>
              <a:gd name="connsiteX1" fmla="*/ 12192000 w 12192000"/>
              <a:gd name="connsiteY1" fmla="*/ 0 h 687600"/>
              <a:gd name="connsiteX2" fmla="*/ 12192000 w 12192000"/>
              <a:gd name="connsiteY2" fmla="*/ 687600 h 687600"/>
              <a:gd name="connsiteX3" fmla="*/ 0 w 12192000"/>
              <a:gd name="connsiteY3" fmla="*/ 687600 h 687600"/>
              <a:gd name="connsiteX4" fmla="*/ 0 w 12192000"/>
              <a:gd name="connsiteY4" fmla="*/ 0 h 687600"/>
              <a:gd name="connsiteX0" fmla="*/ 0 w 12195175"/>
              <a:gd name="connsiteY0" fmla="*/ 422275 h 1109875"/>
              <a:gd name="connsiteX1" fmla="*/ 12195175 w 12195175"/>
              <a:gd name="connsiteY1" fmla="*/ 0 h 1109875"/>
              <a:gd name="connsiteX2" fmla="*/ 12192000 w 12195175"/>
              <a:gd name="connsiteY2" fmla="*/ 1109875 h 1109875"/>
              <a:gd name="connsiteX3" fmla="*/ 0 w 12195175"/>
              <a:gd name="connsiteY3" fmla="*/ 1109875 h 1109875"/>
              <a:gd name="connsiteX4" fmla="*/ 0 w 12195175"/>
              <a:gd name="connsiteY4" fmla="*/ 422275 h 1109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5175" h="1109875">
                <a:moveTo>
                  <a:pt x="0" y="422275"/>
                </a:moveTo>
                <a:lnTo>
                  <a:pt x="12195175" y="0"/>
                </a:lnTo>
                <a:cubicBezTo>
                  <a:pt x="12194117" y="369958"/>
                  <a:pt x="12193058" y="739917"/>
                  <a:pt x="12192000" y="1109875"/>
                </a:cubicBezTo>
                <a:lnTo>
                  <a:pt x="0" y="1109875"/>
                </a:lnTo>
                <a:lnTo>
                  <a:pt x="0" y="422275"/>
                </a:lnTo>
                <a:close/>
              </a:path>
            </a:pathLst>
          </a:custGeom>
          <a:solidFill>
            <a:srgbClr val="C40D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a:extLst>
              <a:ext uri="{FF2B5EF4-FFF2-40B4-BE49-F238E27FC236}">
                <a16:creationId xmlns:a16="http://schemas.microsoft.com/office/drawing/2014/main" id="{90A395C2-361B-A14B-9312-A16F3F6780AF}"/>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0614598" y="378000"/>
            <a:ext cx="1004400" cy="766068"/>
          </a:xfrm>
          <a:prstGeom prst="rect">
            <a:avLst/>
          </a:prstGeom>
        </p:spPr>
      </p:pic>
      <p:sp>
        <p:nvSpPr>
          <p:cNvPr id="12" name="Textfeld 11">
            <a:extLst>
              <a:ext uri="{FF2B5EF4-FFF2-40B4-BE49-F238E27FC236}">
                <a16:creationId xmlns:a16="http://schemas.microsoft.com/office/drawing/2014/main" id="{427D4F0D-9351-B349-8187-43002862F183}"/>
              </a:ext>
            </a:extLst>
          </p:cNvPr>
          <p:cNvSpPr txBox="1"/>
          <p:nvPr userDrawn="1"/>
        </p:nvSpPr>
        <p:spPr>
          <a:xfrm>
            <a:off x="12292755" y="5612990"/>
            <a:ext cx="3102416" cy="1323439"/>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Folgeseiten – Platzhalter für </a:t>
            </a:r>
            <a:r>
              <a:rPr lang="de-DE" sz="1000" b="1" dirty="0" err="1">
                <a:latin typeface="Arial" panose="020B0604020202020204" pitchFamily="34" charset="0"/>
                <a:cs typeface="Arial" panose="020B0604020202020204" pitchFamily="34" charset="0"/>
              </a:rPr>
              <a:t>Sublogo</a:t>
            </a:r>
            <a:r>
              <a:rPr lang="de-DE" sz="1000" b="1" dirty="0">
                <a:latin typeface="Arial" panose="020B0604020202020204" pitchFamily="34" charset="0"/>
                <a:cs typeface="Arial" panose="020B0604020202020204" pitchFamily="34" charset="0"/>
              </a:rPr>
              <a:t> ändern: </a:t>
            </a:r>
            <a:r>
              <a:rPr lang="de-DE" sz="1000" dirty="0">
                <a:latin typeface="Arial" panose="020B0604020202020204" pitchFamily="34" charset="0"/>
                <a:cs typeface="Arial" panose="020B0604020202020204" pitchFamily="34" charset="0"/>
              </a:rPr>
              <a:t>Folienmaster &gt; Nr. 2 bearbeiten &gt; Bild anklicken &gt; Rechtsklick &gt; Bild einfügen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Bild an Rahmen anpassen</a:t>
            </a:r>
            <a:r>
              <a:rPr lang="de-DE" sz="1000" dirty="0">
                <a:latin typeface="Arial" panose="020B0604020202020204" pitchFamily="34" charset="0"/>
                <a:cs typeface="Arial" panose="020B0604020202020204" pitchFamily="34" charset="0"/>
              </a:rPr>
              <a: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anklicken &gt; Bildformat &gt; Zuschneiden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im Dropdown „Einpassen“ wählen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ggf. Bild nochmals neu positionieren </a:t>
            </a:r>
          </a:p>
        </p:txBody>
      </p:sp>
      <p:sp>
        <p:nvSpPr>
          <p:cNvPr id="13" name="Textfeld 12">
            <a:extLst>
              <a:ext uri="{FF2B5EF4-FFF2-40B4-BE49-F238E27FC236}">
                <a16:creationId xmlns:a16="http://schemas.microsoft.com/office/drawing/2014/main" id="{B91FA75A-4E02-534F-A661-8216932850DD}"/>
              </a:ext>
            </a:extLst>
          </p:cNvPr>
          <p:cNvSpPr txBox="1"/>
          <p:nvPr userDrawn="1"/>
        </p:nvSpPr>
        <p:spPr>
          <a:xfrm>
            <a:off x="-2243920" y="6474756"/>
            <a:ext cx="2223344" cy="400110"/>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Informationen in Fußzeile ändern:</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Folienmaster &gt; Nr. 2 bearbeiten</a:t>
            </a:r>
          </a:p>
        </p:txBody>
      </p:sp>
    </p:spTree>
    <p:extLst>
      <p:ext uri="{BB962C8B-B14F-4D97-AF65-F5344CB8AC3E}">
        <p14:creationId xmlns:p14="http://schemas.microsoft.com/office/powerpoint/2010/main" val="3907247464"/>
      </p:ext>
    </p:extLst>
  </p:cSld>
  <p:clrMap bg1="lt1" tx1="dk1" bg2="lt2" tx2="dk2" accent1="accent1" accent2="accent2" accent3="accent3" accent4="accent4" accent5="accent5" accent6="accent6" hlink="hlink" folHlink="folHlink"/>
  <p:sldLayoutIdLst>
    <p:sldLayoutId id="2147483707" r:id="rId1"/>
    <p:sldLayoutId id="2147483711" r:id="rId2"/>
    <p:sldLayoutId id="2147483712"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Who does what during aggregation?</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91440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Variant A</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F5F6F7"/>
          </a:solidFill>
          <a:ln w="6985">
            <a:solidFill>
              <a:srgbClr val="D7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5D6973"/>
                </a:solidFill>
                <a:latin typeface="Arial"/>
              </a:rPr>
              <a:t>Agent</a:t>
            </a:r>
          </a:p>
        </p:txBody>
      </p:sp>
      <p:sp>
        <p:nvSpPr>
          <p:cNvPr id="13" name="Aggregation: Workers"/>
          <p:cNvSpPr txBox="1"/>
          <p:nvPr/>
        </p:nvSpPr>
        <p:spPr>
          <a:xfrm>
            <a:off x="594360" y="1435608"/>
            <a:ext cx="1865376" cy="347472"/>
          </a:xfrm>
          <a:prstGeom prst="rect">
            <a:avLst/>
          </a:prstGeom>
          <a:noFill/>
        </p:spPr>
        <p:txBody>
          <a:bodyPr wrap="square" lIns="0" rIns="0" tIns="0" bIns="0" anchor="ctr">
            <a:spAutoFit/>
          </a:bodyPr>
          <a:lstStyle/>
          <a:p>
            <a:pPr algn="ctr"/>
            <a:r>
              <a:rPr sz="2100" b="1" lang="en-US">
                <a:solidFill>
                  <a:srgbClr val="207548"/>
                </a:solidFill>
                <a:latin typeface="Arial"/>
              </a:rPr>
              <a:t>Workers</a:t>
            </a:r>
          </a:p>
        </p:txBody>
      </p:sp>
      <p:sp>
        <p:nvSpPr>
          <p:cNvPr id="14" name="Aggregation: Aggregator TEE"/>
          <p:cNvSpPr txBox="1"/>
          <p:nvPr/>
        </p:nvSpPr>
        <p:spPr>
          <a:xfrm>
            <a:off x="2843784" y="1435608"/>
            <a:ext cx="2852928" cy="347472"/>
          </a:xfrm>
          <a:prstGeom prst="rect">
            <a:avLst/>
          </a:prstGeom>
          <a:noFill/>
        </p:spPr>
        <p:txBody>
          <a:bodyPr wrap="square" lIns="0" rIns="0" tIns="0" bIns="0" anchor="ctr">
            <a:spAutoFit/>
          </a:bodyPr>
          <a:lstStyle/>
          <a:p>
            <a:pPr algn="ctr"/>
            <a:r>
              <a:rPr sz="2100" b="1" lang="en-US">
                <a:solidFill>
                  <a:srgbClr val="207548"/>
                </a:solidFill>
                <a:latin typeface="Arial"/>
              </a:rPr>
              <a:t>Aggregator TEE</a:t>
            </a:r>
          </a:p>
        </p:txBody>
      </p:sp>
      <p:sp>
        <p:nvSpPr>
          <p:cNvPr id="15" name="Aggregation: IPFS"/>
          <p:cNvSpPr txBox="1"/>
          <p:nvPr/>
        </p:nvSpPr>
        <p:spPr>
          <a:xfrm>
            <a:off x="6281928" y="1435608"/>
            <a:ext cx="1965960" cy="347472"/>
          </a:xfrm>
          <a:prstGeom prst="rect">
            <a:avLst/>
          </a:prstGeom>
          <a:noFill/>
        </p:spPr>
        <p:txBody>
          <a:bodyPr wrap="square" lIns="0" rIns="0" tIns="0" bIns="0" anchor="ctr">
            <a:spAutoFit/>
          </a:bodyPr>
          <a:lstStyle/>
          <a:p>
            <a:pPr algn="ctr"/>
            <a:r>
              <a:rPr sz="2100" b="1" lang="en-US">
                <a:solidFill>
                  <a:srgbClr val="7446A6"/>
                </a:solidFill>
                <a:latin typeface="Arial"/>
              </a:rPr>
              <a:t>IPFS</a:t>
            </a:r>
          </a:p>
        </p:txBody>
      </p:sp>
      <p:sp>
        <p:nvSpPr>
          <p:cNvPr id="16" name="Aggregation: Blockchain"/>
          <p:cNvSpPr txBox="1"/>
          <p:nvPr/>
        </p:nvSpPr>
        <p:spPr>
          <a:xfrm>
            <a:off x="8759952" y="1435608"/>
            <a:ext cx="2834640" cy="347472"/>
          </a:xfrm>
          <a:prstGeom prst="rect">
            <a:avLst/>
          </a:prstGeom>
          <a:noFill/>
        </p:spPr>
        <p:txBody>
          <a:bodyPr wrap="square" lIns="0" rIns="0" tIns="0" bIns="0" anchor="ctr">
            <a:spAutoFit/>
          </a:bodyPr>
          <a:lstStyle/>
          <a:p>
            <a:pPr algn="ctr"/>
            <a:r>
              <a:rPr sz="2100" b="1" lang="en-US">
                <a:solidFill>
                  <a:srgbClr val="7446A6"/>
                </a:solidFill>
                <a:latin typeface="Arial"/>
              </a:rPr>
              <a:t>Blockchain</a:t>
            </a:r>
          </a:p>
        </p:txBody>
      </p:sp>
      <p:cxnSp>
        <p:nvCxnSpPr>
          <p:cNvPr id="17" name="Connector 16"/>
          <p:cNvCxnSpPr/>
          <p:nvPr/>
        </p:nvCxnSpPr>
        <p:spPr>
          <a:xfrm>
            <a:off x="2578608" y="1901952"/>
            <a:ext cx="0" cy="3419856"/>
          </a:xfrm>
          <a:prstGeom prst="line">
            <a:avLst/>
          </a:prstGeom>
          <a:ln w="12700">
            <a:solidFill>
              <a:srgbClr val="DCE2E7"/>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961888" y="1901952"/>
            <a:ext cx="0" cy="3419856"/>
          </a:xfrm>
          <a:prstGeom prst="line">
            <a:avLst/>
          </a:prstGeom>
          <a:ln w="12700">
            <a:solidFill>
              <a:srgbClr val="DCE2E7"/>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522208" y="1901952"/>
            <a:ext cx="0" cy="3419856"/>
          </a:xfrm>
          <a:prstGeom prst="line">
            <a:avLst/>
          </a:prstGeom>
          <a:ln w="12700">
            <a:solidFill>
              <a:srgbClr val="DCE2E7"/>
            </a:solidFill>
            <a:prstDash val="dash"/>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58368" y="2176272"/>
            <a:ext cx="411480" cy="512064"/>
          </a:xfrm>
          <a:prstGeom prst="roundRect">
            <a:avLst/>
          </a:prstGeom>
          <a:solidFill>
            <a:srgbClr val="FFFFFF"/>
          </a:solidFill>
          <a:ln w="1397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0664" y="2286000"/>
            <a:ext cx="67056" cy="114300"/>
          </a:xfrm>
          <a:prstGeom prst="rect">
            <a:avLst/>
          </a:prstGeom>
          <a:solidFill>
            <a:srgbClr val="EDF6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22959" y="2286000"/>
            <a:ext cx="67056" cy="114300"/>
          </a:xfrm>
          <a:prstGeom prst="rect">
            <a:avLst/>
          </a:prstGeom>
          <a:solidFill>
            <a:srgbClr val="20754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05256" y="2286000"/>
            <a:ext cx="67056" cy="114300"/>
          </a:xfrm>
          <a:prstGeom prst="rect">
            <a:avLst/>
          </a:prstGeom>
          <a:solidFill>
            <a:srgbClr val="EDF6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40664" y="2432304"/>
            <a:ext cx="67056" cy="114300"/>
          </a:xfrm>
          <a:prstGeom prst="rect">
            <a:avLst/>
          </a:prstGeom>
          <a:solidFill>
            <a:srgbClr val="20754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22959" y="2432304"/>
            <a:ext cx="67056" cy="114300"/>
          </a:xfrm>
          <a:prstGeom prst="rect">
            <a:avLst/>
          </a:prstGeom>
          <a:solidFill>
            <a:srgbClr val="EDF6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5256" y="2432304"/>
            <a:ext cx="67056" cy="114300"/>
          </a:xfrm>
          <a:prstGeom prst="rect">
            <a:avLst/>
          </a:prstGeom>
          <a:solidFill>
            <a:srgbClr val="20754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1161288" y="2176272"/>
            <a:ext cx="411480" cy="512064"/>
          </a:xfrm>
          <a:prstGeom prst="roundRect">
            <a:avLst/>
          </a:prstGeom>
          <a:solidFill>
            <a:srgbClr val="FFFFFF"/>
          </a:solidFill>
          <a:ln w="1397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243584" y="2286000"/>
            <a:ext cx="67056" cy="114300"/>
          </a:xfrm>
          <a:prstGeom prst="rect">
            <a:avLst/>
          </a:prstGeom>
          <a:solidFill>
            <a:srgbClr val="EDF6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325880" y="2286000"/>
            <a:ext cx="67056" cy="114300"/>
          </a:xfrm>
          <a:prstGeom prst="rect">
            <a:avLst/>
          </a:prstGeom>
          <a:solidFill>
            <a:srgbClr val="20754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408176" y="2286000"/>
            <a:ext cx="67056" cy="114300"/>
          </a:xfrm>
          <a:prstGeom prst="rect">
            <a:avLst/>
          </a:prstGeom>
          <a:solidFill>
            <a:srgbClr val="EDF6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243584" y="2432304"/>
            <a:ext cx="67056" cy="114300"/>
          </a:xfrm>
          <a:prstGeom prst="rect">
            <a:avLst/>
          </a:prstGeom>
          <a:solidFill>
            <a:srgbClr val="20754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325880" y="2432304"/>
            <a:ext cx="67056" cy="114300"/>
          </a:xfrm>
          <a:prstGeom prst="rect">
            <a:avLst/>
          </a:prstGeom>
          <a:solidFill>
            <a:srgbClr val="EDF6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408176" y="2432304"/>
            <a:ext cx="67056" cy="114300"/>
          </a:xfrm>
          <a:prstGeom prst="rect">
            <a:avLst/>
          </a:prstGeom>
          <a:solidFill>
            <a:srgbClr val="20754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1664208" y="2176272"/>
            <a:ext cx="411480" cy="512064"/>
          </a:xfrm>
          <a:prstGeom prst="roundRect">
            <a:avLst/>
          </a:prstGeom>
          <a:solidFill>
            <a:srgbClr val="FFFFFF"/>
          </a:solidFill>
          <a:ln w="1397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746504" y="2286000"/>
            <a:ext cx="67056" cy="114300"/>
          </a:xfrm>
          <a:prstGeom prst="rect">
            <a:avLst/>
          </a:prstGeom>
          <a:solidFill>
            <a:srgbClr val="EDF6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828800" y="2286000"/>
            <a:ext cx="67056" cy="114300"/>
          </a:xfrm>
          <a:prstGeom prst="rect">
            <a:avLst/>
          </a:prstGeom>
          <a:solidFill>
            <a:srgbClr val="20754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911096" y="2286000"/>
            <a:ext cx="67056" cy="114300"/>
          </a:xfrm>
          <a:prstGeom prst="rect">
            <a:avLst/>
          </a:prstGeom>
          <a:solidFill>
            <a:srgbClr val="EDF6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746504" y="2432304"/>
            <a:ext cx="67056" cy="114300"/>
          </a:xfrm>
          <a:prstGeom prst="rect">
            <a:avLst/>
          </a:prstGeom>
          <a:solidFill>
            <a:srgbClr val="20754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828800" y="2432304"/>
            <a:ext cx="67056" cy="114300"/>
          </a:xfrm>
          <a:prstGeom prst="rect">
            <a:avLst/>
          </a:prstGeom>
          <a:solidFill>
            <a:srgbClr val="EDF6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911096" y="2432304"/>
            <a:ext cx="67056" cy="114300"/>
          </a:xfrm>
          <a:prstGeom prst="rect">
            <a:avLst/>
          </a:prstGeom>
          <a:solidFill>
            <a:srgbClr val="20754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Aggregation: Signed, encrypted / local models"/>
          <p:cNvSpPr txBox="1"/>
          <p:nvPr/>
        </p:nvSpPr>
        <p:spPr>
          <a:xfrm>
            <a:off x="594360" y="2862072"/>
            <a:ext cx="1865376" cy="557784"/>
          </a:xfrm>
          <a:prstGeom prst="rect">
            <a:avLst/>
          </a:prstGeom>
          <a:noFill/>
        </p:spPr>
        <p:txBody>
          <a:bodyPr wrap="square" lIns="0" rIns="0" tIns="0" bIns="0" anchor="ctr">
            <a:spAutoFit/>
          </a:bodyPr>
          <a:lstStyle/>
          <a:p>
            <a:pPr algn="ctr"/>
            <a:r>
              <a:rPr sz="1500" b="0" lang="en-US">
                <a:solidFill>
                  <a:srgbClr val="263440"/>
                </a:solidFill>
                <a:latin typeface="Arial"/>
              </a:rPr>
              <a:t>Signed, encrypted
local models</a:t>
            </a:r>
          </a:p>
        </p:txBody>
      </p:sp>
      <p:cxnSp>
        <p:nvCxnSpPr>
          <p:cNvPr id="42" name="Connector 41"/>
          <p:cNvCxnSpPr/>
          <p:nvPr/>
        </p:nvCxnSpPr>
        <p:spPr>
          <a:xfrm>
            <a:off x="2139696" y="2487168"/>
            <a:ext cx="649224" cy="0"/>
          </a:xfrm>
          <a:prstGeom prst="line">
            <a:avLst/>
          </a:prstGeom>
          <a:ln w="25400">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2843784" y="2084831"/>
            <a:ext cx="2852928" cy="832104"/>
          </a:xfrm>
          <a:prstGeom prst="roundRect">
            <a:avLst/>
          </a:prstGeom>
          <a:solidFill>
            <a:srgbClr val="EDF6F0"/>
          </a:solidFill>
          <a:ln w="1397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Aggregation: Receive + verify"/>
          <p:cNvSpPr txBox="1"/>
          <p:nvPr/>
        </p:nvSpPr>
        <p:spPr>
          <a:xfrm>
            <a:off x="2999232" y="2185416"/>
            <a:ext cx="2542032" cy="310896"/>
          </a:xfrm>
          <a:prstGeom prst="rect">
            <a:avLst/>
          </a:prstGeom>
          <a:noFill/>
        </p:spPr>
        <p:txBody>
          <a:bodyPr wrap="square" lIns="0" rIns="0" tIns="0" bIns="0" anchor="ctr">
            <a:spAutoFit/>
          </a:bodyPr>
          <a:lstStyle/>
          <a:p>
            <a:pPr algn="ctr"/>
            <a:r>
              <a:rPr sz="1700" b="1" lang="en-US">
                <a:solidFill>
                  <a:srgbClr val="207548"/>
                </a:solidFill>
                <a:latin typeface="Arial"/>
              </a:rPr>
              <a:t>Receive + verify</a:t>
            </a:r>
          </a:p>
        </p:txBody>
      </p:sp>
      <p:sp>
        <p:nvSpPr>
          <p:cNvPr id="45" name="Aggregation: Hashes and signatures"/>
          <p:cNvSpPr txBox="1"/>
          <p:nvPr/>
        </p:nvSpPr>
        <p:spPr>
          <a:xfrm>
            <a:off x="2999232" y="2596896"/>
            <a:ext cx="2542032" cy="219456"/>
          </a:xfrm>
          <a:prstGeom prst="rect">
            <a:avLst/>
          </a:prstGeom>
          <a:noFill/>
        </p:spPr>
        <p:txBody>
          <a:bodyPr wrap="square" lIns="0" rIns="0" tIns="0" bIns="0" anchor="ctr">
            <a:spAutoFit/>
          </a:bodyPr>
          <a:lstStyle/>
          <a:p>
            <a:pPr algn="ctr"/>
            <a:r>
              <a:rPr sz="1350" b="0" lang="en-US">
                <a:solidFill>
                  <a:srgbClr val="263440"/>
                </a:solidFill>
                <a:latin typeface="Arial"/>
              </a:rPr>
              <a:t>Hashes and signatures</a:t>
            </a:r>
          </a:p>
        </p:txBody>
      </p:sp>
      <p:cxnSp>
        <p:nvCxnSpPr>
          <p:cNvPr id="46" name="Connector 45"/>
          <p:cNvCxnSpPr/>
          <p:nvPr/>
        </p:nvCxnSpPr>
        <p:spPr>
          <a:xfrm>
            <a:off x="5751576" y="2500884"/>
            <a:ext cx="2953512" cy="0"/>
          </a:xfrm>
          <a:prstGeom prst="line">
            <a:avLst/>
          </a:prstGeom>
          <a:ln w="22860">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47" name="Aggregation: Record commitments"/>
          <p:cNvSpPr txBox="1"/>
          <p:nvPr/>
        </p:nvSpPr>
        <p:spPr>
          <a:xfrm>
            <a:off x="5961888" y="2112264"/>
            <a:ext cx="2560320" cy="246888"/>
          </a:xfrm>
          <a:prstGeom prst="rect">
            <a:avLst/>
          </a:prstGeom>
          <a:noFill/>
        </p:spPr>
        <p:txBody>
          <a:bodyPr wrap="square" lIns="0" rIns="0" tIns="0" bIns="0" anchor="ctr">
            <a:spAutoFit/>
          </a:bodyPr>
          <a:lstStyle/>
          <a:p>
            <a:pPr algn="ctr"/>
            <a:r>
              <a:rPr sz="1300" b="0" lang="en-US">
                <a:solidFill>
                  <a:srgbClr val="7446A6"/>
                </a:solidFill>
                <a:latin typeface="Arial"/>
              </a:rPr>
              <a:t>Record commitments</a:t>
            </a:r>
          </a:p>
        </p:txBody>
      </p:sp>
      <p:sp>
        <p:nvSpPr>
          <p:cNvPr id="48" name="Rounded Rectangle 47"/>
          <p:cNvSpPr/>
          <p:nvPr/>
        </p:nvSpPr>
        <p:spPr>
          <a:xfrm>
            <a:off x="8759952" y="2084831"/>
            <a:ext cx="2834640" cy="832104"/>
          </a:xfrm>
          <a:prstGeom prst="roundRect">
            <a:avLst/>
          </a:prstGeom>
          <a:solidFill>
            <a:srgbClr val="F3EEF8"/>
          </a:solidFill>
          <a:ln w="1397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Aggregation: Accept commitments"/>
          <p:cNvSpPr txBox="1"/>
          <p:nvPr/>
        </p:nvSpPr>
        <p:spPr>
          <a:xfrm>
            <a:off x="8915400" y="2185416"/>
            <a:ext cx="2523744" cy="310896"/>
          </a:xfrm>
          <a:prstGeom prst="rect">
            <a:avLst/>
          </a:prstGeom>
          <a:noFill/>
        </p:spPr>
        <p:txBody>
          <a:bodyPr wrap="square" lIns="0" rIns="0" tIns="0" bIns="0" anchor="ctr">
            <a:spAutoFit/>
          </a:bodyPr>
          <a:lstStyle/>
          <a:p>
            <a:pPr algn="ctr"/>
            <a:r>
              <a:rPr sz="1600" b="1" lang="en-US">
                <a:solidFill>
                  <a:srgbClr val="7446A6"/>
                </a:solidFill>
                <a:latin typeface="Arial"/>
              </a:rPr>
              <a:t>Accept commitments</a:t>
            </a:r>
          </a:p>
        </p:txBody>
      </p:sp>
      <p:sp>
        <p:nvSpPr>
          <p:cNvPr id="50" name="Aggregation: Worker · model hash"/>
          <p:cNvSpPr txBox="1"/>
          <p:nvPr/>
        </p:nvSpPr>
        <p:spPr>
          <a:xfrm>
            <a:off x="8915400" y="2596896"/>
            <a:ext cx="2523744" cy="219456"/>
          </a:xfrm>
          <a:prstGeom prst="rect">
            <a:avLst/>
          </a:prstGeom>
          <a:noFill/>
        </p:spPr>
        <p:txBody>
          <a:bodyPr wrap="square" lIns="0" rIns="0" tIns="0" bIns="0" anchor="ctr">
            <a:spAutoFit/>
          </a:bodyPr>
          <a:lstStyle/>
          <a:p>
            <a:pPr algn="ctr"/>
            <a:r>
              <a:rPr sz="1350" b="0" lang="en-US">
                <a:solidFill>
                  <a:srgbClr val="263440"/>
                </a:solidFill>
                <a:latin typeface="Arial"/>
              </a:rPr>
              <a:t>Worker · model hash</a:t>
            </a:r>
          </a:p>
        </p:txBody>
      </p:sp>
      <p:cxnSp>
        <p:nvCxnSpPr>
          <p:cNvPr id="51" name="Connector 50"/>
          <p:cNvCxnSpPr/>
          <p:nvPr/>
        </p:nvCxnSpPr>
        <p:spPr>
          <a:xfrm>
            <a:off x="10177272" y="2953512"/>
            <a:ext cx="0" cy="274320"/>
          </a:xfrm>
          <a:prstGeom prst="line">
            <a:avLst/>
          </a:prstGeom>
          <a:ln w="22860">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52" name="Rounded Rectangle 51"/>
          <p:cNvSpPr/>
          <p:nvPr/>
        </p:nvSpPr>
        <p:spPr>
          <a:xfrm>
            <a:off x="8759952" y="3273552"/>
            <a:ext cx="2834640" cy="832104"/>
          </a:xfrm>
          <a:prstGeom prst="roundRect">
            <a:avLst/>
          </a:prstGeom>
          <a:solidFill>
            <a:srgbClr val="F3EEF8"/>
          </a:solidFill>
          <a:ln w="1397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Aggregation: Aggregator closes"/>
          <p:cNvSpPr txBox="1"/>
          <p:nvPr/>
        </p:nvSpPr>
        <p:spPr>
          <a:xfrm>
            <a:off x="8915400" y="3374136"/>
            <a:ext cx="2523744" cy="310896"/>
          </a:xfrm>
          <a:prstGeom prst="rect">
            <a:avLst/>
          </a:prstGeom>
          <a:noFill/>
        </p:spPr>
        <p:txBody>
          <a:bodyPr wrap="square" lIns="0" rIns="0" tIns="0" bIns="0" anchor="ctr">
            <a:spAutoFit/>
          </a:bodyPr>
          <a:lstStyle/>
          <a:p>
            <a:pPr algn="ctr"/>
            <a:r>
              <a:rPr sz="1600" b="1" lang="en-US">
                <a:solidFill>
                  <a:srgbClr val="7446A6"/>
                </a:solidFill>
                <a:latin typeface="Arial"/>
              </a:rPr>
              <a:t>Aggregator closes</a:t>
            </a:r>
          </a:p>
        </p:txBody>
      </p:sp>
      <p:sp>
        <p:nvSpPr>
          <p:cNvPr id="54" name="Aggregation: Freeze fingerprint + count"/>
          <p:cNvSpPr txBox="1"/>
          <p:nvPr/>
        </p:nvSpPr>
        <p:spPr>
          <a:xfrm>
            <a:off x="8887968" y="3785615"/>
            <a:ext cx="2578608" cy="219456"/>
          </a:xfrm>
          <a:prstGeom prst="rect">
            <a:avLst/>
          </a:prstGeom>
          <a:noFill/>
        </p:spPr>
        <p:txBody>
          <a:bodyPr wrap="square" lIns="0" rIns="0" tIns="0" bIns="0" anchor="ctr">
            <a:spAutoFit/>
          </a:bodyPr>
          <a:lstStyle/>
          <a:p>
            <a:pPr algn="ctr"/>
            <a:r>
              <a:rPr sz="1300" b="0" lang="en-US">
                <a:solidFill>
                  <a:srgbClr val="263440"/>
                </a:solidFill>
                <a:latin typeface="Arial"/>
              </a:rPr>
              <a:t>Freeze fingerprint + count</a:t>
            </a:r>
          </a:p>
        </p:txBody>
      </p:sp>
      <p:cxnSp>
        <p:nvCxnSpPr>
          <p:cNvPr id="55" name="Connector 54"/>
          <p:cNvCxnSpPr/>
          <p:nvPr/>
        </p:nvCxnSpPr>
        <p:spPr>
          <a:xfrm flipH="1">
            <a:off x="5751576" y="3689604"/>
            <a:ext cx="2953512" cy="0"/>
          </a:xfrm>
          <a:prstGeom prst="line">
            <a:avLst/>
          </a:prstGeom>
          <a:ln w="22860">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56" name="Aggregation: Frozen input set"/>
          <p:cNvSpPr txBox="1"/>
          <p:nvPr/>
        </p:nvSpPr>
        <p:spPr>
          <a:xfrm>
            <a:off x="5961888" y="3300984"/>
            <a:ext cx="2560320" cy="246888"/>
          </a:xfrm>
          <a:prstGeom prst="rect">
            <a:avLst/>
          </a:prstGeom>
          <a:noFill/>
        </p:spPr>
        <p:txBody>
          <a:bodyPr wrap="square" lIns="0" rIns="0" tIns="0" bIns="0" anchor="ctr">
            <a:spAutoFit/>
          </a:bodyPr>
          <a:lstStyle/>
          <a:p>
            <a:pPr algn="ctr"/>
            <a:r>
              <a:rPr sz="1300" b="0" lang="en-US">
                <a:solidFill>
                  <a:srgbClr val="7446A6"/>
                </a:solidFill>
                <a:latin typeface="Arial"/>
              </a:rPr>
              <a:t>Frozen input set</a:t>
            </a:r>
          </a:p>
        </p:txBody>
      </p:sp>
      <p:sp>
        <p:nvSpPr>
          <p:cNvPr id="57" name="Rounded Rectangle 56"/>
          <p:cNvSpPr/>
          <p:nvPr/>
        </p:nvSpPr>
        <p:spPr>
          <a:xfrm>
            <a:off x="2843784" y="3273552"/>
            <a:ext cx="2852928" cy="832104"/>
          </a:xfrm>
          <a:prstGeom prst="roundRect">
            <a:avLst/>
          </a:prstGeom>
          <a:solidFill>
            <a:srgbClr val="EDF6F0"/>
          </a:solidFill>
          <a:ln w="1397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Aggregation: Check input set"/>
          <p:cNvSpPr txBox="1"/>
          <p:nvPr/>
        </p:nvSpPr>
        <p:spPr>
          <a:xfrm>
            <a:off x="2999232" y="3374136"/>
            <a:ext cx="2542032" cy="310896"/>
          </a:xfrm>
          <a:prstGeom prst="rect">
            <a:avLst/>
          </a:prstGeom>
          <a:noFill/>
        </p:spPr>
        <p:txBody>
          <a:bodyPr wrap="square" lIns="0" rIns="0" tIns="0" bIns="0" anchor="ctr">
            <a:spAutoFit/>
          </a:bodyPr>
          <a:lstStyle/>
          <a:p>
            <a:pPr algn="ctr"/>
            <a:r>
              <a:rPr sz="1550" b="1" lang="en-US">
                <a:solidFill>
                  <a:srgbClr val="207548"/>
                </a:solidFill>
                <a:latin typeface="Arial"/>
              </a:rPr>
              <a:t>Check input set</a:t>
            </a:r>
          </a:p>
        </p:txBody>
      </p:sp>
      <p:sp>
        <p:nvSpPr>
          <p:cNvPr id="59" name="Aggregation: Exact files + exact count"/>
          <p:cNvSpPr txBox="1"/>
          <p:nvPr/>
        </p:nvSpPr>
        <p:spPr>
          <a:xfrm>
            <a:off x="2999232" y="3785615"/>
            <a:ext cx="2542032" cy="219456"/>
          </a:xfrm>
          <a:prstGeom prst="rect">
            <a:avLst/>
          </a:prstGeom>
          <a:noFill/>
        </p:spPr>
        <p:txBody>
          <a:bodyPr wrap="square" lIns="0" rIns="0" tIns="0" bIns="0" anchor="ctr">
            <a:spAutoFit/>
          </a:bodyPr>
          <a:lstStyle/>
          <a:p>
            <a:pPr algn="ctr"/>
            <a:r>
              <a:rPr sz="1300" b="0" lang="en-US">
                <a:solidFill>
                  <a:srgbClr val="263440"/>
                </a:solidFill>
                <a:latin typeface="Arial"/>
              </a:rPr>
              <a:t>Exact files + exact count</a:t>
            </a:r>
          </a:p>
        </p:txBody>
      </p:sp>
      <p:cxnSp>
        <p:nvCxnSpPr>
          <p:cNvPr id="60" name="Connector 59"/>
          <p:cNvCxnSpPr/>
          <p:nvPr/>
        </p:nvCxnSpPr>
        <p:spPr>
          <a:xfrm>
            <a:off x="4270248" y="4142232"/>
            <a:ext cx="0" cy="210312"/>
          </a:xfrm>
          <a:prstGeom prst="line">
            <a:avLst/>
          </a:prstGeom>
          <a:ln w="22860">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61" name="Rounded Rectangle 60"/>
          <p:cNvSpPr/>
          <p:nvPr/>
        </p:nvSpPr>
        <p:spPr>
          <a:xfrm>
            <a:off x="2843784" y="4398264"/>
            <a:ext cx="2852928" cy="905256"/>
          </a:xfrm>
          <a:prstGeom prst="roundRect">
            <a:avLst/>
          </a:prstGeom>
          <a:solidFill>
            <a:srgbClr val="EDF6F0"/>
          </a:solidFill>
          <a:ln w="1397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Aggregation: Compute FedAvg"/>
          <p:cNvSpPr txBox="1"/>
          <p:nvPr/>
        </p:nvSpPr>
        <p:spPr>
          <a:xfrm>
            <a:off x="2999232" y="4489704"/>
            <a:ext cx="2542032" cy="292608"/>
          </a:xfrm>
          <a:prstGeom prst="rect">
            <a:avLst/>
          </a:prstGeom>
          <a:noFill/>
        </p:spPr>
        <p:txBody>
          <a:bodyPr wrap="square" lIns="0" rIns="0" tIns="0" bIns="0" anchor="ctr">
            <a:spAutoFit/>
          </a:bodyPr>
          <a:lstStyle/>
          <a:p>
            <a:pPr algn="ctr"/>
            <a:r>
              <a:rPr sz="1650" b="1" lang="en-US">
                <a:solidFill>
                  <a:srgbClr val="207548"/>
                </a:solidFill>
                <a:latin typeface="Arial"/>
              </a:rPr>
              <a:t>Compute FedAvg</a:t>
            </a:r>
          </a:p>
        </p:txBody>
      </p:sp>
      <p:sp>
        <p:nvSpPr>
          <p:cNvPr id="63" name="Aggregation: Equal mean per parameter / Encrypt + sign output"/>
          <p:cNvSpPr txBox="1"/>
          <p:nvPr/>
        </p:nvSpPr>
        <p:spPr>
          <a:xfrm>
            <a:off x="2999232" y="4818888"/>
            <a:ext cx="2542032" cy="429768"/>
          </a:xfrm>
          <a:prstGeom prst="rect">
            <a:avLst/>
          </a:prstGeom>
          <a:noFill/>
        </p:spPr>
        <p:txBody>
          <a:bodyPr wrap="square" lIns="0" rIns="0" tIns="0" bIns="0" anchor="ctr">
            <a:spAutoFit/>
          </a:bodyPr>
          <a:lstStyle/>
          <a:p>
            <a:pPr algn="ctr"/>
            <a:r>
              <a:rPr sz="1300" b="0" lang="en-US">
                <a:solidFill>
                  <a:srgbClr val="263440"/>
                </a:solidFill>
                <a:latin typeface="Arial"/>
              </a:rPr>
              <a:t>Equal mean per parameter
Encrypt + sign output</a:t>
            </a:r>
          </a:p>
        </p:txBody>
      </p:sp>
      <p:cxnSp>
        <p:nvCxnSpPr>
          <p:cNvPr id="64" name="Connector 63"/>
          <p:cNvCxnSpPr/>
          <p:nvPr/>
        </p:nvCxnSpPr>
        <p:spPr>
          <a:xfrm>
            <a:off x="5751576" y="4681728"/>
            <a:ext cx="475488" cy="0"/>
          </a:xfrm>
          <a:prstGeom prst="line">
            <a:avLst/>
          </a:prstGeom>
          <a:ln w="22860">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65" name="Rounded Rectangle 64"/>
          <p:cNvSpPr/>
          <p:nvPr/>
        </p:nvSpPr>
        <p:spPr>
          <a:xfrm>
            <a:off x="6281928" y="4398264"/>
            <a:ext cx="1965960" cy="905256"/>
          </a:xfrm>
          <a:prstGeom prst="roundRect">
            <a:avLst/>
          </a:prstGeom>
          <a:solidFill>
            <a:srgbClr val="F3EEF8"/>
          </a:solidFill>
          <a:ln w="1397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Aggregation: Store bundle"/>
          <p:cNvSpPr txBox="1"/>
          <p:nvPr/>
        </p:nvSpPr>
        <p:spPr>
          <a:xfrm>
            <a:off x="6419088" y="4489704"/>
            <a:ext cx="1691640" cy="292608"/>
          </a:xfrm>
          <a:prstGeom prst="rect">
            <a:avLst/>
          </a:prstGeom>
          <a:noFill/>
        </p:spPr>
        <p:txBody>
          <a:bodyPr wrap="square" lIns="0" rIns="0" tIns="0" bIns="0" anchor="ctr">
            <a:spAutoFit/>
          </a:bodyPr>
          <a:lstStyle/>
          <a:p>
            <a:pPr algn="ctr"/>
            <a:r>
              <a:rPr sz="1600" b="1" lang="en-US">
                <a:solidFill>
                  <a:srgbClr val="7446A6"/>
                </a:solidFill>
                <a:latin typeface="Arial"/>
              </a:rPr>
              <a:t>Store bundle</a:t>
            </a:r>
          </a:p>
        </p:txBody>
      </p:sp>
      <p:sp>
        <p:nvSpPr>
          <p:cNvPr id="67" name="Aggregation: Model · signature / recipient keys"/>
          <p:cNvSpPr txBox="1"/>
          <p:nvPr/>
        </p:nvSpPr>
        <p:spPr>
          <a:xfrm>
            <a:off x="6419088" y="4837176"/>
            <a:ext cx="1691640" cy="393192"/>
          </a:xfrm>
          <a:prstGeom prst="rect">
            <a:avLst/>
          </a:prstGeom>
          <a:noFill/>
        </p:spPr>
        <p:txBody>
          <a:bodyPr wrap="square" lIns="0" rIns="0" tIns="0" bIns="0" anchor="ctr">
            <a:spAutoFit/>
          </a:bodyPr>
          <a:lstStyle/>
          <a:p>
            <a:pPr algn="ctr"/>
            <a:r>
              <a:rPr sz="1280" b="0" lang="en-US">
                <a:solidFill>
                  <a:srgbClr val="263440"/>
                </a:solidFill>
                <a:latin typeface="Arial"/>
              </a:rPr>
              <a:t>Model · signature
recipient keys</a:t>
            </a:r>
          </a:p>
        </p:txBody>
      </p:sp>
      <p:sp>
        <p:nvSpPr>
          <p:cNvPr id="68" name="Rounded Rectangle 67"/>
          <p:cNvSpPr/>
          <p:nvPr/>
        </p:nvSpPr>
        <p:spPr>
          <a:xfrm>
            <a:off x="8759952" y="4398264"/>
            <a:ext cx="2834640" cy="905256"/>
          </a:xfrm>
          <a:prstGeom prst="roundRect">
            <a:avLst/>
          </a:prstGeom>
          <a:solidFill>
            <a:srgbClr val="F3EEF8"/>
          </a:solidFill>
          <a:ln w="1397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Aggregation: Finalize round"/>
          <p:cNvSpPr txBox="1"/>
          <p:nvPr/>
        </p:nvSpPr>
        <p:spPr>
          <a:xfrm>
            <a:off x="8915400" y="4489704"/>
            <a:ext cx="2523744" cy="292608"/>
          </a:xfrm>
          <a:prstGeom prst="rect">
            <a:avLst/>
          </a:prstGeom>
          <a:noFill/>
        </p:spPr>
        <p:txBody>
          <a:bodyPr wrap="square" lIns="0" rIns="0" tIns="0" bIns="0" anchor="ctr">
            <a:spAutoFit/>
          </a:bodyPr>
          <a:lstStyle/>
          <a:p>
            <a:pPr algn="ctr"/>
            <a:r>
              <a:rPr sz="1700" b="1" lang="en-US">
                <a:solidFill>
                  <a:srgbClr val="7446A6"/>
                </a:solidFill>
                <a:latin typeface="Arial"/>
              </a:rPr>
              <a:t>Finalize round</a:t>
            </a:r>
          </a:p>
        </p:txBody>
      </p:sp>
      <p:sp>
        <p:nvSpPr>
          <p:cNvPr id="70" name="Aggregation: Verify signed statement / Publish CIDs · advance"/>
          <p:cNvSpPr txBox="1"/>
          <p:nvPr/>
        </p:nvSpPr>
        <p:spPr>
          <a:xfrm>
            <a:off x="8915400" y="4818888"/>
            <a:ext cx="2523744" cy="429768"/>
          </a:xfrm>
          <a:prstGeom prst="rect">
            <a:avLst/>
          </a:prstGeom>
          <a:noFill/>
        </p:spPr>
        <p:txBody>
          <a:bodyPr wrap="square" lIns="0" rIns="0" tIns="0" bIns="0" anchor="ctr">
            <a:spAutoFit/>
          </a:bodyPr>
          <a:lstStyle/>
          <a:p>
            <a:pPr algn="ctr"/>
            <a:r>
              <a:rPr sz="1300" b="0" lang="en-US">
                <a:solidFill>
                  <a:srgbClr val="263440"/>
                </a:solidFill>
                <a:latin typeface="Arial"/>
              </a:rPr>
              <a:t>Verify signed statement
Publish CIDs · advance</a:t>
            </a:r>
          </a:p>
        </p:txBody>
      </p:sp>
      <p:cxnSp>
        <p:nvCxnSpPr>
          <p:cNvPr id="71" name="Connector 70"/>
          <p:cNvCxnSpPr/>
          <p:nvPr/>
        </p:nvCxnSpPr>
        <p:spPr>
          <a:xfrm>
            <a:off x="4270248" y="5349240"/>
            <a:ext cx="0" cy="283464"/>
          </a:xfrm>
          <a:prstGeom prst="line">
            <a:avLst/>
          </a:prstGeom>
          <a:ln w="2540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4270248" y="5632704"/>
            <a:ext cx="5907024" cy="0"/>
          </a:xfrm>
          <a:prstGeom prst="line">
            <a:avLst/>
          </a:prstGeom>
          <a:ln w="2540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10177272" y="5349240"/>
            <a:ext cx="0" cy="283464"/>
          </a:xfrm>
          <a:prstGeom prst="line">
            <a:avLst/>
          </a:prstGeom>
          <a:ln w="25400">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74" name="Aggregation: Signed statement + IPFS CIDs · one transaction"/>
          <p:cNvSpPr txBox="1"/>
          <p:nvPr/>
        </p:nvSpPr>
        <p:spPr>
          <a:xfrm>
            <a:off x="4690872" y="5349240"/>
            <a:ext cx="5148072" cy="219456"/>
          </a:xfrm>
          <a:prstGeom prst="rect">
            <a:avLst/>
          </a:prstGeom>
          <a:noFill/>
        </p:spPr>
        <p:txBody>
          <a:bodyPr wrap="square" lIns="0" rIns="0" tIns="0" bIns="0" anchor="ctr">
            <a:spAutoFit/>
          </a:bodyPr>
          <a:lstStyle/>
          <a:p>
            <a:pPr algn="ctr"/>
            <a:r>
              <a:rPr sz="1300" b="0" lang="en-US">
                <a:solidFill>
                  <a:srgbClr val="7446A6"/>
                </a:solidFill>
                <a:latin typeface="Arial"/>
              </a:rPr>
              <a:t>Signed statement + IPFS CIDs · one transaction</a:t>
            </a:r>
          </a:p>
        </p:txBody>
      </p:sp>
    </p:spTree>
  </p:cSld>
  <p:clrMapOvr>
    <a:masterClrMapping/>
  </p:clrMapOvr>
</p:sld>
</file>

<file path=ppt/theme/theme1.xml><?xml version="1.0" encoding="utf-8"?>
<a:theme xmlns:a="http://schemas.openxmlformats.org/drawingml/2006/main" name="Titelfolien zur Auswahl">
  <a:themeElements>
    <a:clrScheme name="TU Berlin">
      <a:dk1>
        <a:srgbClr val="434343"/>
      </a:dk1>
      <a:lt1>
        <a:srgbClr val="FFFFFF"/>
      </a:lt1>
      <a:dk2>
        <a:srgbClr val="434343"/>
      </a:dk2>
      <a:lt2>
        <a:srgbClr val="E7E6E6"/>
      </a:lt2>
      <a:accent1>
        <a:srgbClr val="C30D1E"/>
      </a:accent1>
      <a:accent2>
        <a:srgbClr val="B2B2B2"/>
      </a:accent2>
      <a:accent3>
        <a:srgbClr val="FF6C00"/>
      </a:accent3>
      <a:accent4>
        <a:srgbClr val="1F90CC"/>
      </a:accent4>
      <a:accent5>
        <a:srgbClr val="9013FE"/>
      </a:accent5>
      <a:accent6>
        <a:srgbClr val="49CB40"/>
      </a:accent6>
      <a:hlink>
        <a:srgbClr val="C30D1E"/>
      </a:hlink>
      <a:folHlink>
        <a:srgbClr val="C30D1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äsentation1" id="{AF5D8605-2613-D24D-AB7D-44425CE5E9EB}" vid="{4A2A0730-D474-B642-9EC8-245B2B7F7B17}"/>
    </a:ext>
  </a:extLst>
</a:theme>
</file>

<file path=ppt/theme/theme2.xml><?xml version="1.0" encoding="utf-8"?>
<a:theme xmlns:a="http://schemas.openxmlformats.org/drawingml/2006/main" name="Master für Folgeseiten">
  <a:themeElements>
    <a:clrScheme name="TU Berlin ">
      <a:dk1>
        <a:srgbClr val="434343"/>
      </a:dk1>
      <a:lt1>
        <a:srgbClr val="FFFFFF"/>
      </a:lt1>
      <a:dk2>
        <a:srgbClr val="434343"/>
      </a:dk2>
      <a:lt2>
        <a:srgbClr val="E7E6E6"/>
      </a:lt2>
      <a:accent1>
        <a:srgbClr val="C30D1E"/>
      </a:accent1>
      <a:accent2>
        <a:srgbClr val="B2B2B2"/>
      </a:accent2>
      <a:accent3>
        <a:srgbClr val="FF6C00"/>
      </a:accent3>
      <a:accent4>
        <a:srgbClr val="1F90CC"/>
      </a:accent4>
      <a:accent5>
        <a:srgbClr val="9013FE"/>
      </a:accent5>
      <a:accent6>
        <a:srgbClr val="49CB40"/>
      </a:accent6>
      <a:hlink>
        <a:srgbClr val="C30D1E"/>
      </a:hlink>
      <a:folHlink>
        <a:srgbClr val="C30D1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äsentation1" id="{AF5D8605-2613-D24D-AB7D-44425CE5E9EB}" vid="{6D2ACD7B-51E4-3F4D-A883-FB2A0ECC7C66}"/>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TU-Berlin-Praesentation-Master-einfarbig-Rot</Template>
  <TotalTime>0</TotalTime>
  <Words>59</Words>
  <Application>Microsoft Office PowerPoint</Application>
  <PresentationFormat>Breitbild</PresentationFormat>
  <Paragraphs>5</Paragraphs>
  <Slides>5</Slides>
  <Notes>0</Notes>
  <HiddenSlides>0</HiddenSlides>
  <MMClips>0</MMClips>
  <ScaleCrop>false</ScaleCrop>
  <HeadingPairs>
    <vt:vector size="6" baseType="variant">
      <vt:variant>
        <vt:lpstr>Verwendete Schriftarten</vt:lpstr>
      </vt:variant>
      <vt:variant>
        <vt:i4>3</vt:i4>
      </vt:variant>
      <vt:variant>
        <vt:lpstr>Design</vt:lpstr>
      </vt:variant>
      <vt:variant>
        <vt:i4>2</vt:i4>
      </vt:variant>
      <vt:variant>
        <vt:lpstr>Folientitel</vt:lpstr>
      </vt:variant>
      <vt:variant>
        <vt:i4>5</vt:i4>
      </vt:variant>
    </vt:vector>
  </HeadingPairs>
  <TitlesOfParts>
    <vt:vector size="10" baseType="lpstr">
      <vt:lpstr>Arial</vt:lpstr>
      <vt:lpstr>Calibri</vt:lpstr>
      <vt:lpstr>Symbol</vt:lpstr>
      <vt:lpstr>Titelfolien zur Auswahl</vt:lpstr>
      <vt:lpstr>Master für Folgeseiten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VITA-FL — Master's Thesis Presentation</dc:title>
  <dc:creator>Ramon Mehrpoya</dc:creator>
  <cp:lastModifiedBy>Friedrich, Ulrike</cp:lastModifiedBy>
  <cp:revision>3</cp:revision>
  <cp:lastPrinted>2021-03-24T16:10:50Z</cp:lastPrinted>
  <dcterms:created xsi:type="dcterms:W3CDTF">2023-04-20T08:54:03Z</dcterms:created>
  <dcterms:modified xsi:type="dcterms:W3CDTF">2025-06-16T09:49:54Z</dcterms:modified>
  <dc:subject>Verifiable Decentralized Federated Machine Learning and Inference for AI Agent Systems</dc:subject>
  <cp:keywords>VITA-FL, DFL, TEE, attested inference, transparency log</cp:keywords>
  <dc:language>en-US</dc:language>
</cp:coreProperties>
</file>