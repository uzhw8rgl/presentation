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This shortened slide ends at provisioning the expected worker image digest in DeviceRegistry on the running blockchain. Later remote-attestation checks are outside the visible scope.</a:t>
            </a:r>
          </a:p>
          <a:p/>
          <a:p>
            <a:r>
              <a:rPr lang="en-US"/>
              <a:t>A worker-code push triggers the configured GitHub Actions publisher. TypeScript is compiled; JavaScript tests cover policy and model/key/round binding. Python tests include tampered data and forged receipts. These tests precede the Docker Buildx build of dfl/Dockerfile and publication to GHCR. Digest denotes the immutable registry image digest, not a Git commit or a local Docker image configuration ID. The deployment job for GitHub environment phala passes the exact repository@sha256:Digest reference and source revision to Terraform. GitHub Actions executes the build and deployment job; GitHub Deployments records the deployment. Auto-deploy requires the configured branch and PHALA_AUTO_DEPLOY=true.</a:t>
            </a:r>
          </a:p>
          <a:p/>
          <a:p>
            <a:r>
              <a:rPr lang="en-US"/>
              <a:t>Terraform passes var.worker_image into the contracts Compose template as EXPECTED_WORKER_IMAGE. The variable contains the complete pinned worker image reference. It does not replace the contracts container image, and Terraform does not send image bytes through this environment variable. Phala/dstack runs the contracts container using its own separately configured image.</a:t>
            </a:r>
          </a:p>
          <a:p/>
          <a:p>
            <a:r>
              <a:rPr lang="en-US"/>
              <a:t>In the prototype, smart-contracts waits for healthy Anvil and uses RPC_URL=http://anvil:8545. starter_docker.sh deploys the contracts, obtains DEVICE_REGISTRY_ADDRESS, extracts the 64-hex-digit image digest from EXPECTED_WORKER_IMAGE, validates it, and sends an owner-signed transaction calling setExpectedWorkerImageDigest(bytes32). DeviceRegistry stores it in bytes32 public expectedWorkerImageDigest. The setter is owner-only and cannot change the policy after the run roster is committed. The diagram therefore depicts bootstrap policy provisioning, not arbitrary updates to a committed registry.</a:t>
            </a:r>
          </a:p>
          <a:p/>
          <a:p>
            <a:r>
              <a:rPr lang="en-US"/>
              <a:t>Sources checked 20 September 2026:</a:t>
            </a:r>
          </a:p>
          <a:p>
            <a:r>
              <a:rPr lang="en-US"/>
              <a:t>vita-fl/.github/workflows/publish-dfl-worker.yml:50-83,95-107,119-134</a:t>
            </a:r>
          </a:p>
          <a:p>
            <a:r>
              <a:rPr lang="en-US"/>
              <a:t>vita-fl/.github/workflows/deploy-phala.yml:26-86</a:t>
            </a:r>
          </a:p>
          <a:p>
            <a:r>
              <a:rPr lang="en-US"/>
              <a:t>vita-fl/phala/main.tf:166</a:t>
            </a:r>
          </a:p>
          <a:p>
            <a:r>
              <a:rPr lang="en-US"/>
              <a:t>vita-fl/phala/dstack-compose.contracts.phala.tftpl:64-75,102</a:t>
            </a:r>
          </a:p>
          <a:p>
            <a:r>
              <a:rPr lang="en-US"/>
              <a:t>vita-fl/smart_contracts/starter_docker.sh:229-237,598-602,1150-1163</a:t>
            </a:r>
          </a:p>
          <a:p>
            <a:r>
              <a:rPr lang="en-US"/>
              <a:t>vita-fl/smart_contracts/src/core/DeviceRegistry.sol:41,93-97</a:t>
            </a:r>
          </a:p>
          <a:p>
            <a:r>
              <a:rPr lang="en-US"/>
              <a:t>Only source inspection and slide generation were performed; no deployment or on-chain transaction was executed.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From worker image to on-chain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20 September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Label: GITHUB ACTIONS"/>
          <p:cNvSpPr txBox="1"/>
          <p:nvPr/>
        </p:nvSpPr>
        <p:spPr>
          <a:xfrm>
            <a:off x="2002536" y="1444752"/>
            <a:ext cx="55778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lang="en-US">
                <a:solidFill>
                  <a:srgbClr val="1764A1"/>
                </a:solidFill>
                <a:latin typeface="Arial"/>
              </a:rPr>
              <a:t>GITHUB ACTIONS</a:t>
            </a:r>
          </a:p>
        </p:txBody>
      </p:sp>
      <p:sp>
        <p:nvSpPr>
          <p:cNvPr id="14" name="Label: GitHub push"/>
          <p:cNvSpPr txBox="1"/>
          <p:nvPr/>
        </p:nvSpPr>
        <p:spPr>
          <a:xfrm>
            <a:off x="548639" y="2441448"/>
            <a:ext cx="20116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lang="en-US">
                <a:solidFill>
                  <a:srgbClr val="263440"/>
                </a:solidFill>
                <a:latin typeface="Arial"/>
              </a:rPr>
              <a:t>GitHub push</a:t>
            </a:r>
          </a:p>
        </p:txBody>
      </p:sp>
      <p:sp>
        <p:nvSpPr>
          <p:cNvPr id="15" name="Label: Worker tests"/>
          <p:cNvSpPr txBox="1"/>
          <p:nvPr/>
        </p:nvSpPr>
        <p:spPr>
          <a:xfrm>
            <a:off x="2697480" y="2441448"/>
            <a:ext cx="23774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lang="en-US">
                <a:solidFill>
                  <a:srgbClr val="1764A1"/>
                </a:solidFill>
                <a:latin typeface="Arial"/>
              </a:rPr>
              <a:t>Worker tests</a:t>
            </a:r>
          </a:p>
        </p:txBody>
      </p:sp>
      <p:sp>
        <p:nvSpPr>
          <p:cNvPr id="16" name="Label: Build → GHCR"/>
          <p:cNvSpPr txBox="1"/>
          <p:nvPr/>
        </p:nvSpPr>
        <p:spPr>
          <a:xfrm>
            <a:off x="5554980" y="2441448"/>
            <a:ext cx="26060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lang="en-US">
                <a:solidFill>
                  <a:srgbClr val="1764A1"/>
                </a:solidFill>
                <a:latin typeface="Arial"/>
              </a:rPr>
              <a:t>Build → GHCR</a:t>
            </a:r>
          </a:p>
        </p:txBody>
      </p:sp>
      <p:sp>
        <p:nvSpPr>
          <p:cNvPr id="17" name="Label: Terraform"/>
          <p:cNvSpPr txBox="1"/>
          <p:nvPr/>
        </p:nvSpPr>
        <p:spPr>
          <a:xfrm>
            <a:off x="8618220" y="2441448"/>
            <a:ext cx="25146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lang="en-US">
                <a:solidFill>
                  <a:srgbClr val="7446A6"/>
                </a:solidFill>
                <a:latin typeface="Arial"/>
              </a:rPr>
              <a:t>Terraform</a:t>
            </a:r>
          </a:p>
        </p:txBody>
      </p:sp>
      <p:cxnSp>
        <p:nvCxnSpPr>
          <p:cNvPr id="18" name="Pipeline flow"/>
          <p:cNvCxnSpPr/>
          <p:nvPr/>
        </p:nvCxnSpPr>
        <p:spPr>
          <a:xfrm>
            <a:off x="2011680" y="2020824"/>
            <a:ext cx="1380744" cy="0"/>
          </a:xfrm>
          <a:prstGeom prst="line">
            <a:avLst/>
          </a:prstGeom>
          <a:ln w="26670">
            <a:solidFill>
              <a:srgbClr val="A4B4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Pipeline flow"/>
          <p:cNvCxnSpPr/>
          <p:nvPr/>
        </p:nvCxnSpPr>
        <p:spPr>
          <a:xfrm>
            <a:off x="4389120" y="2020824"/>
            <a:ext cx="1975104" cy="0"/>
          </a:xfrm>
          <a:prstGeom prst="line">
            <a:avLst/>
          </a:prstGeom>
          <a:ln w="26670">
            <a:solidFill>
              <a:srgbClr val="A4B4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Pipeline flow"/>
          <p:cNvCxnSpPr/>
          <p:nvPr/>
        </p:nvCxnSpPr>
        <p:spPr>
          <a:xfrm>
            <a:off x="7351775" y="2020824"/>
            <a:ext cx="2029969" cy="0"/>
          </a:xfrm>
          <a:prstGeom prst="line">
            <a:avLst/>
          </a:prstGeom>
          <a:ln w="26670">
            <a:solidFill>
              <a:srgbClr val="A4B4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Pipeline flow"/>
          <p:cNvCxnSpPr/>
          <p:nvPr/>
        </p:nvCxnSpPr>
        <p:spPr>
          <a:xfrm>
            <a:off x="1444752" y="1819656"/>
            <a:ext cx="0" cy="402336"/>
          </a:xfrm>
          <a:prstGeom prst="line">
            <a:avLst/>
          </a:prstGeom>
          <a:ln w="25400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Pipeline flow"/>
          <p:cNvCxnSpPr/>
          <p:nvPr/>
        </p:nvCxnSpPr>
        <p:spPr>
          <a:xfrm flipV="1">
            <a:off x="1444752" y="1892807"/>
            <a:ext cx="274320" cy="192024"/>
          </a:xfrm>
          <a:prstGeom prst="line">
            <a:avLst/>
          </a:prstGeom>
          <a:ln w="25400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Pipeline flow"/>
          <p:cNvCxnSpPr/>
          <p:nvPr/>
        </p:nvCxnSpPr>
        <p:spPr>
          <a:xfrm flipV="1">
            <a:off x="1719072" y="1819656"/>
            <a:ext cx="0" cy="73151"/>
          </a:xfrm>
          <a:prstGeom prst="line">
            <a:avLst/>
          </a:prstGeom>
          <a:ln w="25400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399032" y="1773936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9032" y="2176272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73351" y="1773936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94176" y="1801368"/>
            <a:ext cx="384048" cy="438912"/>
          </a:xfrm>
          <a:prstGeom prst="rect">
            <a:avLst/>
          </a:prstGeom>
          <a:solidFill>
            <a:srgbClr val="FFFFFF"/>
          </a:solidFill>
          <a:ln w="2032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Pipeline flow"/>
          <p:cNvCxnSpPr/>
          <p:nvPr/>
        </p:nvCxnSpPr>
        <p:spPr>
          <a:xfrm>
            <a:off x="3749039" y="1911095"/>
            <a:ext cx="54865" cy="45720"/>
          </a:xfrm>
          <a:prstGeom prst="line">
            <a:avLst/>
          </a:prstGeom>
          <a:ln w="2032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Pipeline flow"/>
          <p:cNvCxnSpPr/>
          <p:nvPr/>
        </p:nvCxnSpPr>
        <p:spPr>
          <a:xfrm flipV="1">
            <a:off x="3803904" y="1856231"/>
            <a:ext cx="73152" cy="100584"/>
          </a:xfrm>
          <a:prstGeom prst="line">
            <a:avLst/>
          </a:prstGeom>
          <a:ln w="2032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Pipeline flow"/>
          <p:cNvCxnSpPr/>
          <p:nvPr/>
        </p:nvCxnSpPr>
        <p:spPr>
          <a:xfrm>
            <a:off x="3941063" y="1911095"/>
            <a:ext cx="73152" cy="0"/>
          </a:xfrm>
          <a:prstGeom prst="line">
            <a:avLst/>
          </a:prstGeom>
          <a:ln w="1524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Pipeline flow"/>
          <p:cNvCxnSpPr/>
          <p:nvPr/>
        </p:nvCxnSpPr>
        <p:spPr>
          <a:xfrm>
            <a:off x="3749039" y="2075688"/>
            <a:ext cx="54865" cy="45720"/>
          </a:xfrm>
          <a:prstGeom prst="line">
            <a:avLst/>
          </a:prstGeom>
          <a:ln w="2032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Pipeline flow"/>
          <p:cNvCxnSpPr/>
          <p:nvPr/>
        </p:nvCxnSpPr>
        <p:spPr>
          <a:xfrm flipV="1">
            <a:off x="3803904" y="2020824"/>
            <a:ext cx="73152" cy="100584"/>
          </a:xfrm>
          <a:prstGeom prst="line">
            <a:avLst/>
          </a:prstGeom>
          <a:ln w="2032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Pipeline flow"/>
          <p:cNvCxnSpPr/>
          <p:nvPr/>
        </p:nvCxnSpPr>
        <p:spPr>
          <a:xfrm>
            <a:off x="3941063" y="2075688"/>
            <a:ext cx="73152" cy="0"/>
          </a:xfrm>
          <a:prstGeom prst="line">
            <a:avLst/>
          </a:prstGeom>
          <a:ln w="1524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Pipeline flow"/>
          <p:cNvCxnSpPr/>
          <p:nvPr/>
        </p:nvCxnSpPr>
        <p:spPr>
          <a:xfrm>
            <a:off x="6858000" y="1773936"/>
            <a:ext cx="228600" cy="137159"/>
          </a:xfrm>
          <a:prstGeom prst="line">
            <a:avLst/>
          </a:prstGeom>
          <a:ln w="2159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Pipeline flow"/>
          <p:cNvCxnSpPr/>
          <p:nvPr/>
        </p:nvCxnSpPr>
        <p:spPr>
          <a:xfrm>
            <a:off x="7086600" y="1911095"/>
            <a:ext cx="0" cy="237745"/>
          </a:xfrm>
          <a:prstGeom prst="line">
            <a:avLst/>
          </a:prstGeom>
          <a:ln w="2159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Pipeline flow"/>
          <p:cNvCxnSpPr/>
          <p:nvPr/>
        </p:nvCxnSpPr>
        <p:spPr>
          <a:xfrm flipH="1">
            <a:off x="6858000" y="2148840"/>
            <a:ext cx="228600" cy="146304"/>
          </a:xfrm>
          <a:prstGeom prst="line">
            <a:avLst/>
          </a:prstGeom>
          <a:ln w="2159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Pipeline flow"/>
          <p:cNvCxnSpPr/>
          <p:nvPr/>
        </p:nvCxnSpPr>
        <p:spPr>
          <a:xfrm flipH="1" flipV="1">
            <a:off x="6629400" y="2148840"/>
            <a:ext cx="228600" cy="146304"/>
          </a:xfrm>
          <a:prstGeom prst="line">
            <a:avLst/>
          </a:prstGeom>
          <a:ln w="2159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Pipeline flow"/>
          <p:cNvCxnSpPr/>
          <p:nvPr/>
        </p:nvCxnSpPr>
        <p:spPr>
          <a:xfrm flipV="1">
            <a:off x="6629400" y="1911095"/>
            <a:ext cx="0" cy="237745"/>
          </a:xfrm>
          <a:prstGeom prst="line">
            <a:avLst/>
          </a:prstGeom>
          <a:ln w="2159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Pipeline flow"/>
          <p:cNvCxnSpPr/>
          <p:nvPr/>
        </p:nvCxnSpPr>
        <p:spPr>
          <a:xfrm flipV="1">
            <a:off x="6629400" y="1773936"/>
            <a:ext cx="228600" cy="137159"/>
          </a:xfrm>
          <a:prstGeom prst="line">
            <a:avLst/>
          </a:prstGeom>
          <a:ln w="2159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Pipeline flow"/>
          <p:cNvCxnSpPr/>
          <p:nvPr/>
        </p:nvCxnSpPr>
        <p:spPr>
          <a:xfrm>
            <a:off x="6629400" y="1911095"/>
            <a:ext cx="228600" cy="146305"/>
          </a:xfrm>
          <a:prstGeom prst="line">
            <a:avLst/>
          </a:prstGeom>
          <a:ln w="2159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Pipeline flow"/>
          <p:cNvCxnSpPr/>
          <p:nvPr/>
        </p:nvCxnSpPr>
        <p:spPr>
          <a:xfrm flipV="1">
            <a:off x="6858000" y="1911095"/>
            <a:ext cx="228600" cy="146305"/>
          </a:xfrm>
          <a:prstGeom prst="line">
            <a:avLst/>
          </a:prstGeom>
          <a:ln w="2159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Pipeline flow"/>
          <p:cNvCxnSpPr/>
          <p:nvPr/>
        </p:nvCxnSpPr>
        <p:spPr>
          <a:xfrm>
            <a:off x="6858000" y="2057400"/>
            <a:ext cx="0" cy="237744"/>
          </a:xfrm>
          <a:prstGeom prst="line">
            <a:avLst/>
          </a:prstGeom>
          <a:ln w="2159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619488" y="1792224"/>
            <a:ext cx="228600" cy="228600"/>
          </a:xfrm>
          <a:prstGeom prst="rect">
            <a:avLst/>
          </a:prstGeom>
          <a:solidFill>
            <a:srgbClr val="7446A6"/>
          </a:solidFill>
          <a:ln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02952" y="1792224"/>
            <a:ext cx="228600" cy="228600"/>
          </a:xfrm>
          <a:prstGeom prst="rect">
            <a:avLst/>
          </a:prstGeom>
          <a:solidFill>
            <a:srgbClr val="7446A6"/>
          </a:solidFill>
          <a:ln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902952" y="2075688"/>
            <a:ext cx="228600" cy="228600"/>
          </a:xfrm>
          <a:prstGeom prst="rect">
            <a:avLst/>
          </a:prstGeom>
          <a:solidFill>
            <a:srgbClr val="7446A6"/>
          </a:solidFill>
          <a:ln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abel: Worker code"/>
          <p:cNvSpPr txBox="1"/>
          <p:nvPr/>
        </p:nvSpPr>
        <p:spPr>
          <a:xfrm>
            <a:off x="685800" y="2907792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lang="en-US">
                <a:solidFill>
                  <a:srgbClr val="67747C"/>
                </a:solidFill>
                <a:latin typeface="Arial"/>
              </a:rPr>
              <a:t>Worker code</a:t>
            </a:r>
          </a:p>
        </p:txBody>
      </p:sp>
      <p:sp>
        <p:nvSpPr>
          <p:cNvPr id="47" name="Label: TS / JS · policy and rounds"/>
          <p:cNvSpPr txBox="1"/>
          <p:nvPr/>
        </p:nvSpPr>
        <p:spPr>
          <a:xfrm>
            <a:off x="2313432" y="2907792"/>
            <a:ext cx="3145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lang="en-US">
                <a:solidFill>
                  <a:srgbClr val="263440"/>
                </a:solidFill>
                <a:latin typeface="Arial"/>
              </a:rPr>
              <a:t>TS / JS · policy and rounds</a:t>
            </a:r>
          </a:p>
        </p:txBody>
      </p:sp>
      <p:sp>
        <p:nvSpPr>
          <p:cNvPr id="48" name="Label: Python · data and receipts"/>
          <p:cNvSpPr txBox="1"/>
          <p:nvPr/>
        </p:nvSpPr>
        <p:spPr>
          <a:xfrm>
            <a:off x="2313432" y="3218688"/>
            <a:ext cx="3145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lang="en-US">
                <a:solidFill>
                  <a:srgbClr val="263440"/>
                </a:solidFill>
                <a:latin typeface="Arial"/>
              </a:rPr>
              <a:t>Python · data and receipts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87568" y="2880360"/>
            <a:ext cx="2340864" cy="429768"/>
          </a:xfrm>
          <a:prstGeom prst="roundRect">
            <a:avLst/>
          </a:prstGeom>
          <a:solidFill>
            <a:srgbClr val="F3EEF8"/>
          </a:solidFill>
          <a:ln w="1524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abel: Image Digest"/>
          <p:cNvSpPr txBox="1"/>
          <p:nvPr/>
        </p:nvSpPr>
        <p:spPr>
          <a:xfrm>
            <a:off x="5769864" y="2935224"/>
            <a:ext cx="217627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7446A6"/>
                </a:solidFill>
                <a:latin typeface="Arial"/>
              </a:rPr>
              <a:t>Image Digest</a:t>
            </a:r>
          </a:p>
        </p:txBody>
      </p:sp>
      <p:sp>
        <p:nvSpPr>
          <p:cNvPr id="51" name="Label: GitHub env: phala"/>
          <p:cNvSpPr txBox="1"/>
          <p:nvPr/>
        </p:nvSpPr>
        <p:spPr>
          <a:xfrm>
            <a:off x="8577072" y="2907792"/>
            <a:ext cx="259689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lang="en-US">
                <a:solidFill>
                  <a:srgbClr val="67747C"/>
                </a:solidFill>
                <a:latin typeface="Arial"/>
              </a:rPr>
              <a:t>GitHub env: phala</a:t>
            </a:r>
          </a:p>
        </p:txBody>
      </p:sp>
      <p:sp>
        <p:nvSpPr>
          <p:cNvPr id="52" name="Label: worker_image"/>
          <p:cNvSpPr txBox="1"/>
          <p:nvPr/>
        </p:nvSpPr>
        <p:spPr>
          <a:xfrm>
            <a:off x="8577072" y="3236976"/>
            <a:ext cx="25968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lang="en-US">
                <a:solidFill>
                  <a:srgbClr val="7446A6"/>
                </a:solidFill>
                <a:latin typeface="Arial"/>
              </a:rPr>
              <a:t>worker_image</a:t>
            </a:r>
          </a:p>
        </p:txBody>
      </p:sp>
      <p:cxnSp>
        <p:nvCxnSpPr>
          <p:cNvPr id="53" name="Pipeline flow"/>
          <p:cNvCxnSpPr/>
          <p:nvPr/>
        </p:nvCxnSpPr>
        <p:spPr>
          <a:xfrm>
            <a:off x="9875520" y="3557016"/>
            <a:ext cx="0" cy="173736"/>
          </a:xfrm>
          <a:prstGeom prst="line">
            <a:avLst/>
          </a:prstGeom>
          <a:ln w="2794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Pipeline flow"/>
          <p:cNvCxnSpPr/>
          <p:nvPr/>
        </p:nvCxnSpPr>
        <p:spPr>
          <a:xfrm flipH="1">
            <a:off x="2880360" y="3730752"/>
            <a:ext cx="6995160" cy="0"/>
          </a:xfrm>
          <a:prstGeom prst="line">
            <a:avLst/>
          </a:prstGeom>
          <a:ln w="2794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Pipeline flow"/>
          <p:cNvCxnSpPr/>
          <p:nvPr/>
        </p:nvCxnSpPr>
        <p:spPr>
          <a:xfrm>
            <a:off x="2880360" y="3730752"/>
            <a:ext cx="0" cy="265176"/>
          </a:xfrm>
          <a:prstGeom prst="line">
            <a:avLst/>
          </a:prstGeom>
          <a:ln w="2794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Label: Pinned worker image"/>
          <p:cNvSpPr txBox="1"/>
          <p:nvPr/>
        </p:nvSpPr>
        <p:spPr>
          <a:xfrm>
            <a:off x="4672584" y="3419856"/>
            <a:ext cx="28437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lang="en-US">
                <a:solidFill>
                  <a:srgbClr val="7446A6"/>
                </a:solidFill>
                <a:latin typeface="Arial"/>
              </a:rPr>
              <a:t>Pinned worker image</a:t>
            </a:r>
          </a:p>
        </p:txBody>
      </p:sp>
      <p:sp>
        <p:nvSpPr>
          <p:cNvPr id="57" name="Label: PHALA / DSTACK"/>
          <p:cNvSpPr txBox="1"/>
          <p:nvPr/>
        </p:nvSpPr>
        <p:spPr>
          <a:xfrm>
            <a:off x="795528" y="3776472"/>
            <a:ext cx="18196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07548"/>
                </a:solidFill>
                <a:latin typeface="Arial"/>
              </a:rPr>
              <a:t>PHALA / DSTACK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050791"/>
            <a:ext cx="4572000" cy="1389888"/>
          </a:xfrm>
          <a:prstGeom prst="roundRect">
            <a:avLst/>
          </a:prstGeom>
          <a:solidFill>
            <a:srgbClr val="F3EEF8"/>
          </a:solidFill>
          <a:ln w="1524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abel: Contracts container"/>
          <p:cNvSpPr txBox="1"/>
          <p:nvPr/>
        </p:nvSpPr>
        <p:spPr>
          <a:xfrm>
            <a:off x="795528" y="4169663"/>
            <a:ext cx="4169663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 lang="en-US">
                <a:solidFill>
                  <a:srgbClr val="7446A6"/>
                </a:solidFill>
                <a:latin typeface="Arial"/>
              </a:rPr>
              <a:t>Contracts container</a:t>
            </a:r>
          </a:p>
        </p:txBody>
      </p:sp>
      <p:sp>
        <p:nvSpPr>
          <p:cNvPr id="60" name="Label: EXPECTED_WORKER_IMAGE"/>
          <p:cNvSpPr txBox="1"/>
          <p:nvPr/>
        </p:nvSpPr>
        <p:spPr>
          <a:xfrm>
            <a:off x="795528" y="4654296"/>
            <a:ext cx="416966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7446A6"/>
                </a:solidFill>
                <a:latin typeface="Arial"/>
              </a:rPr>
              <a:t>EXPECTED_WORKER_IMAGE</a:t>
            </a:r>
          </a:p>
        </p:txBody>
      </p:sp>
      <p:sp>
        <p:nvSpPr>
          <p:cNvPr id="61" name="Label: ghcr.io/…@sha256:Digest"/>
          <p:cNvSpPr txBox="1"/>
          <p:nvPr/>
        </p:nvSpPr>
        <p:spPr>
          <a:xfrm>
            <a:off x="795528" y="5084064"/>
            <a:ext cx="416966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lang="en-US">
                <a:solidFill>
                  <a:srgbClr val="263440"/>
                </a:solidFill>
                <a:latin typeface="Arial"/>
              </a:rPr>
              <a:t>ghcr.io/…@sha256:Digest</a:t>
            </a:r>
          </a:p>
        </p:txBody>
      </p:sp>
      <p:cxnSp>
        <p:nvCxnSpPr>
          <p:cNvPr id="62" name="Pipeline flow"/>
          <p:cNvCxnSpPr/>
          <p:nvPr/>
        </p:nvCxnSpPr>
        <p:spPr>
          <a:xfrm>
            <a:off x="5221224" y="4745736"/>
            <a:ext cx="1600200" cy="0"/>
          </a:xfrm>
          <a:prstGeom prst="line">
            <a:avLst/>
          </a:prstGeom>
          <a:ln w="29209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Label: Extract digest"/>
          <p:cNvSpPr txBox="1"/>
          <p:nvPr/>
        </p:nvSpPr>
        <p:spPr>
          <a:xfrm>
            <a:off x="5257800" y="4297680"/>
            <a:ext cx="1527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lang="en-US">
                <a:solidFill>
                  <a:srgbClr val="263440"/>
                </a:solidFill>
                <a:latin typeface="Arial"/>
              </a:rPr>
              <a:t>Extract digest</a:t>
            </a:r>
          </a:p>
        </p:txBody>
      </p:sp>
      <p:sp>
        <p:nvSpPr>
          <p:cNvPr id="64" name="Label: Owner transaction"/>
          <p:cNvSpPr txBox="1"/>
          <p:nvPr/>
        </p:nvSpPr>
        <p:spPr>
          <a:xfrm>
            <a:off x="5257800" y="4919472"/>
            <a:ext cx="1527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lang="en-US">
                <a:solidFill>
                  <a:srgbClr val="7446A6"/>
                </a:solidFill>
                <a:latin typeface="Arial"/>
              </a:rPr>
              <a:t>Owner transaction</a:t>
            </a:r>
          </a:p>
        </p:txBody>
      </p:sp>
      <p:sp>
        <p:nvSpPr>
          <p:cNvPr id="65" name="Label: RUNNING BLOCKCHAIN"/>
          <p:cNvSpPr txBox="1"/>
          <p:nvPr/>
        </p:nvSpPr>
        <p:spPr>
          <a:xfrm>
            <a:off x="7040880" y="3776472"/>
            <a:ext cx="43159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7446A6"/>
                </a:solidFill>
                <a:latin typeface="Arial"/>
              </a:rPr>
              <a:t>RUNNING BLOCKCHAIN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76288" y="4050791"/>
            <a:ext cx="4718304" cy="1389888"/>
          </a:xfrm>
          <a:prstGeom prst="roundRect">
            <a:avLst/>
          </a:prstGeom>
          <a:solidFill>
            <a:srgbClr val="F3EEF8"/>
          </a:solidFill>
          <a:ln w="1524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abel: DeviceRegistry"/>
          <p:cNvSpPr txBox="1"/>
          <p:nvPr/>
        </p:nvSpPr>
        <p:spPr>
          <a:xfrm>
            <a:off x="7077456" y="4169663"/>
            <a:ext cx="431596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 lang="en-US">
                <a:solidFill>
                  <a:srgbClr val="7446A6"/>
                </a:solidFill>
                <a:latin typeface="Arial"/>
              </a:rPr>
              <a:t>DeviceRegistry</a:t>
            </a:r>
          </a:p>
        </p:txBody>
      </p:sp>
      <p:sp>
        <p:nvSpPr>
          <p:cNvPr id="68" name="Label: expectedWorkerImageDigest = Digest"/>
          <p:cNvSpPr txBox="1"/>
          <p:nvPr/>
        </p:nvSpPr>
        <p:spPr>
          <a:xfrm>
            <a:off x="7077456" y="4663440"/>
            <a:ext cx="43159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 lang="en-US">
                <a:solidFill>
                  <a:srgbClr val="7446A6"/>
                </a:solidFill>
                <a:latin typeface="Arial"/>
              </a:rPr>
              <a:t>expectedWorkerImageDigest = Digest</a:t>
            </a:r>
          </a:p>
        </p:txBody>
      </p:sp>
      <p:sp>
        <p:nvSpPr>
          <p:cNvPr id="69" name="Label: setExpectedWorkerImageDigest(bytes32)"/>
          <p:cNvSpPr txBox="1"/>
          <p:nvPr/>
        </p:nvSpPr>
        <p:spPr>
          <a:xfrm>
            <a:off x="7077456" y="5102352"/>
            <a:ext cx="43159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0" lang="en-US">
                <a:solidFill>
                  <a:srgbClr val="263440"/>
                </a:solidFill>
                <a:latin typeface="Arial"/>
              </a:rPr>
              <a:t>setExpectedWorkerImageDigest(bytes32)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From worker image to on-chain policy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