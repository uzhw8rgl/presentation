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 id="257" r:id="rId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SELLO + AIR PROCESS · VARIANT B</a:t>
            </a:r>
          </a:p>
          <a:p>
            <a:r>
              <a:rPr lang="en-US"/>
              <a:t>CURRENT IMPLEMENTATION: 28 September 2026</a:t>
            </a:r>
          </a:p>
          <a:p>
            <a:r>
              <a:rPr lang="en-US"/>
              <a:t>MCP: run_and_verify_tee_inference</a:t>
            </a:r>
          </a:p>
          <a:p/>
          <a:p>
            <a:r>
              <a:rPr lang="en-US"/>
              <a:t>SELLO AND SHARED STEPS</a:t>
            </a:r>
          </a:p>
          <a:p>
            <a:r>
              <a:rPr lang="en-US"/>
              <a:t>[</a:t>
            </a:r>
          </a:p>
          <a:p>
            <a:r>
              <a:rPr lang="en-US"/>
              <a:t>  {</a:t>
            </a:r>
          </a:p>
          <a:p>
            <a:r>
              <a:rPr lang="en-US"/>
              <a:t>    "id": 1,</a:t>
            </a:r>
          </a:p>
          <a:p>
            <a:r>
              <a:rPr lang="en-US"/>
              <a:t>    "actor": "Agent",</a:t>
            </a:r>
          </a:p>
          <a:p>
            <a:r>
              <a:rPr lang="en-US"/>
              <a:t>    "label": "Create authorization token",</a:t>
            </a:r>
          </a:p>
          <a:p>
            <a:r>
              <a:rPr lang="en-US"/>
              <a:t>    "meaning": "The agent runtime holds the owner/issuer role and creates the short-lived token with audience, scopes, subject, PoP binding, owner HPKE public key and allowed log."</a:t>
            </a:r>
          </a:p>
          <a:p>
            <a:r>
              <a:rPr lang="en-US"/>
              <a:t>  },</a:t>
            </a:r>
          </a:p>
          <a:p>
            <a:r>
              <a:rPr lang="en-US"/>
              <a:t>  {</a:t>
            </a:r>
          </a:p>
          <a:p>
            <a:r>
              <a:rPr lang="en-US"/>
              <a:t>    "id": 2,</a:t>
            </a:r>
          </a:p>
          <a:p>
            <a:r>
              <a:rPr lang="en-US"/>
              <a:t>    "actor": "Agent / Inference TEE",</a:t>
            </a:r>
          </a:p>
          <a:p>
            <a:r>
              <a:rPr lang="en-US"/>
              <a:t>    "label": "Verify TEE session",</a:t>
            </a:r>
          </a:p>
          <a:p>
            <a:r>
              <a:rPr lang="en-US"/>
              <a:t>    "meaning": "Verify challenged RA-TLS session evidence and receiver/TLS/policy binding before transmitting the protected token-bearing request."</a:t>
            </a:r>
          </a:p>
          <a:p>
            <a:r>
              <a:rPr lang="en-US"/>
              <a:t>  },</a:t>
            </a:r>
          </a:p>
          <a:p>
            <a:r>
              <a:rPr lang="en-US"/>
              <a:t>  {</a:t>
            </a:r>
          </a:p>
          <a:p>
            <a:r>
              <a:rPr lang="en-US"/>
              <a:t>    "id": 3,</a:t>
            </a:r>
          </a:p>
          <a:p>
            <a:r>
              <a:rPr lang="en-US"/>
              <a:t>    "actor": "Agent → Inference TEE",</a:t>
            </a:r>
          </a:p>
          <a:p>
            <a:r>
              <a:rPr lang="en-US"/>
              <a:t>    "label": "Request + token + PoP",</a:t>
            </a:r>
          </a:p>
          <a:p>
            <a:r>
              <a:rPr lang="en-US"/>
              <a:t>    "meaning": "Receiver checks session, request PoP and authorization claims. The third MCP operation is then executed in AIR step A1."</a:t>
            </a:r>
          </a:p>
          <a:p>
            <a:r>
              <a:rPr lang="en-US"/>
              <a:t>  },</a:t>
            </a:r>
          </a:p>
          <a:p>
            <a:r>
              <a:rPr lang="en-US"/>
              <a:t>  {</a:t>
            </a:r>
          </a:p>
          <a:p>
            <a:r>
              <a:rPr lang="en-US"/>
              <a:t>    "id": 4,</a:t>
            </a:r>
          </a:p>
          <a:p>
            <a:r>
              <a:rPr lang="en-US"/>
              <a:t>    "actor": "Inference TEE",</a:t>
            </a:r>
          </a:p>
          <a:p>
            <a:r>
              <a:rPr lang="en-US"/>
              <a:t>    "label": "Hash · encrypt · sign",</a:t>
            </a:r>
          </a:p>
          <a:p>
            <a:r>
              <a:rPr lang="en-US"/>
              <a:t>    "meaning": "Hash exact logical tool input and raw response; HPKE-encrypt receipt body to the owner; then COSE-sign the encrypted envelope with the dedicated receiver Sello key."</a:t>
            </a:r>
          </a:p>
          <a:p>
            <a:r>
              <a:rPr lang="en-US"/>
              <a:t>  },</a:t>
            </a:r>
          </a:p>
          <a:p>
            <a:r>
              <a:rPr lang="en-US"/>
              <a:t>  {</a:t>
            </a:r>
          </a:p>
          <a:p>
            <a:r>
              <a:rPr lang="en-US"/>
              <a:t>    "id": 5,</a:t>
            </a:r>
          </a:p>
          <a:p>
            <a:r>
              <a:rPr lang="en-US"/>
              <a:t>    "actor": "Inference TEE → Transparency Log",</a:t>
            </a:r>
          </a:p>
          <a:p>
            <a:r>
              <a:rPr lang="en-US"/>
              <a:t>    "label": "Publish Sello receipt",</a:t>
            </a:r>
          </a:p>
          <a:p>
            <a:r>
              <a:rPr lang="en-US"/>
              <a:t>    "meaning": "Wrap the Sello envelope in a separately signed SCITT statement and submit to the log allowed by the authorization token."</a:t>
            </a:r>
          </a:p>
          <a:p>
            <a:r>
              <a:rPr lang="en-US"/>
              <a:t>  },</a:t>
            </a:r>
          </a:p>
          <a:p>
            <a:r>
              <a:rPr lang="en-US"/>
              <a:t>  {</a:t>
            </a:r>
          </a:p>
          <a:p>
            <a:r>
              <a:rPr lang="en-US"/>
              <a:t>    "id": 6,</a:t>
            </a:r>
          </a:p>
          <a:p>
            <a:r>
              <a:rPr lang="en-US"/>
              <a:t>    "actor": "Transparency Log → Inference TEE",</a:t>
            </a:r>
          </a:p>
          <a:p>
            <a:r>
              <a:rPr lang="en-US"/>
              <a:t>    "label": "Return and verify inclusion evidence",</a:t>
            </a:r>
          </a:p>
          <a:p>
            <a:r>
              <a:rPr lang="en-US"/>
              <a:t>    "meaning": "Log returns inclusion evidence; the receiver verifies it and stores the publication bundle before releasing a successful response."</a:t>
            </a:r>
          </a:p>
          <a:p>
            <a:r>
              <a:rPr lang="en-US"/>
              <a:t>  },</a:t>
            </a:r>
          </a:p>
          <a:p>
            <a:r>
              <a:rPr lang="en-US"/>
              <a:t>  {</a:t>
            </a:r>
          </a:p>
          <a:p>
            <a:r>
              <a:rPr lang="en-US"/>
              <a:t>    "id": 7,</a:t>
            </a:r>
          </a:p>
          <a:p>
            <a:r>
              <a:rPr lang="en-US"/>
              <a:t>    "actor": "Inference TEE → Agent",</a:t>
            </a:r>
          </a:p>
          <a:p>
            <a:r>
              <a:rPr lang="en-US"/>
              <a:t>    "label": "Result + receipt + reference",</a:t>
            </a:r>
          </a:p>
          <a:p>
            <a:r>
              <a:rPr lang="en-US"/>
              <a:t>    "meaning": "Shared response carries the AIR evidence bundle in its body, the Sello receipt in headers, and the Sello publication-bundle URL and transaction reference."</a:t>
            </a:r>
          </a:p>
          <a:p>
            <a:r>
              <a:rPr lang="en-US"/>
              <a:t>  },</a:t>
            </a:r>
          </a:p>
          <a:p>
            <a:r>
              <a:rPr lang="en-US"/>
              <a:t>  {</a:t>
            </a:r>
          </a:p>
          <a:p>
            <a:r>
              <a:rPr lang="en-US"/>
              <a:t>    "id": 8,</a:t>
            </a:r>
          </a:p>
          <a:p>
            <a:r>
              <a:rPr lang="en-US"/>
              <a:t>    "actor": "Agent / Inference TEE / Transparency Log",</a:t>
            </a:r>
          </a:p>
          <a:p>
            <a:r>
              <a:rPr lang="en-US"/>
              <a:t>    "label": "Verify receipt and inclusion",</a:t>
            </a:r>
          </a:p>
          <a:p>
            <a:r>
              <a:rPr lang="en-US"/>
              <a:t>    "meaning": "Agent verifies signature, decrypts receipt and checks token, action, exact input/output, session and status. It fetches the publication bundle from the TEE, gets log keys from the log, and verifies inclusion of the exact receipt bytes."</a:t>
            </a:r>
          </a:p>
          <a:p>
            <a:r>
              <a:rPr lang="en-US"/>
              <a:t>  },</a:t>
            </a:r>
          </a:p>
          <a:p>
            <a:r>
              <a:rPr lang="en-US"/>
              <a:t>  {</a:t>
            </a:r>
          </a:p>
          <a:p>
            <a:r>
              <a:rPr lang="en-US"/>
              <a:t>    "id": 9,</a:t>
            </a:r>
          </a:p>
          <a:p>
            <a:r>
              <a:rPr lang="en-US"/>
              <a:t>    "actor": "Agent → Transparency Log",</a:t>
            </a:r>
          </a:p>
          <a:p>
            <a:r>
              <a:rPr lang="en-US"/>
              <a:t>    "label": "Publish verification context",</a:t>
            </a:r>
          </a:p>
          <a:p>
            <a:r>
              <a:rPr lang="en-US"/>
              <a:t>    "meaning": "Current RA-TLS path additionally publishes original session evidence and owner-encrypted token/input/output audit context; both registrations must succeed before Sello-verified tool completion."</a:t>
            </a:r>
          </a:p>
          <a:p>
            <a:r>
              <a:rPr lang="en-US"/>
              <a:t>  }</a:t>
            </a:r>
          </a:p>
          <a:p>
            <a:r>
              <a:rPr lang="en-US"/>
              <a:t>]</a:t>
            </a:r>
          </a:p>
          <a:p/>
          <a:p>
            <a:r>
              <a:rPr lang="en-US"/>
              <a:t>AIR STEPS</a:t>
            </a:r>
          </a:p>
          <a:p>
            <a:r>
              <a:rPr lang="en-US"/>
              <a:t>[</a:t>
            </a:r>
          </a:p>
          <a:p>
            <a:r>
              <a:rPr lang="en-US"/>
              <a:t>  {</a:t>
            </a:r>
          </a:p>
          <a:p>
            <a:r>
              <a:rPr lang="en-US"/>
              <a:t>    "id": "A1",</a:t>
            </a:r>
          </a:p>
          <a:p>
            <a:r>
              <a:rPr lang="en-US"/>
              <a:t>    "actor": "Inference TEE",</a:t>
            </a:r>
          </a:p>
          <a:p>
            <a:r>
              <a:rPr lang="en-US"/>
              <a:t>    "label": "Run inference + create AIR",</a:t>
            </a:r>
          </a:p>
          <a:p>
            <a:r>
              <a:rPr lang="en-US"/>
              <a:t>    "meaning": "Execute inference, request an inference-specific quote from dstack, sign AIR and construct the complete evidence bundle. Sello steps 4–9 then bind, publish and verify the returned bundle as tool output."</a:t>
            </a:r>
          </a:p>
          <a:p>
            <a:r>
              <a:rPr lang="en-US"/>
              <a:t>  },</a:t>
            </a:r>
          </a:p>
          <a:p>
            <a:r>
              <a:rPr lang="en-US"/>
              <a:t>  {</a:t>
            </a:r>
          </a:p>
          <a:p>
            <a:r>
              <a:rPr lang="en-US"/>
              <a:t>    "id": "A2",</a:t>
            </a:r>
          </a:p>
          <a:p>
            <a:r>
              <a:rPr lang="en-US"/>
              <a:t>    "actor": "Agent Runtime",</a:t>
            </a:r>
          </a:p>
          <a:p>
            <a:r>
              <a:rPr lang="en-US"/>
              <a:t>    "label": "Check context + quote policy",</a:t>
            </a:r>
          </a:p>
          <a:p>
            <a:r>
              <a:rPr lang="en-US"/>
              <a:t>    "meaning": "Validate session, request/model provenance and hashes, quote structure, AIR key and nonce. Check expected REPORTDATA and configured MRTD/RTMR0–2 allowlist before contacting Phala."</a:t>
            </a:r>
          </a:p>
          <a:p>
            <a:r>
              <a:rPr lang="en-US"/>
              <a:t>  },</a:t>
            </a:r>
          </a:p>
          <a:p>
            <a:r>
              <a:rPr lang="en-US"/>
              <a:t>  {</a:t>
            </a:r>
          </a:p>
          <a:p>
            <a:r>
              <a:rPr lang="en-US"/>
              <a:t>    "id": "A3",</a:t>
            </a:r>
          </a:p>
          <a:p>
            <a:r>
              <a:rPr lang="en-US"/>
              <a:t>    "actor": "Agent Runtime → Phala API → Agent Runtime",</a:t>
            </a:r>
          </a:p>
          <a:p>
            <a:r>
              <a:rPr lang="en-US"/>
              <a:t>    "label": "POST quote / verify TDX / return JSON",</a:t>
            </a:r>
          </a:p>
          <a:p>
            <a:r>
              <a:rPr lang="en-US"/>
              <a:t>    "meaning": "POST the complete inference quote as {\"hex\": quote.hex()} over approved HTTPS to /api/v1/attestations/verify. Phala returns JSON to the calling agent. Eventlog and Compose are not sent in this request."</a:t>
            </a:r>
          </a:p>
          <a:p>
            <a:r>
              <a:rPr lang="en-US"/>
              <a:t>  },</a:t>
            </a:r>
          </a:p>
          <a:p>
            <a:r>
              <a:rPr lang="en-US"/>
              <a:t>  {</a:t>
            </a:r>
          </a:p>
          <a:p>
            <a:r>
              <a:rPr lang="en-US"/>
              <a:t>    "id": "A4",</a:t>
            </a:r>
          </a:p>
          <a:p>
            <a:r>
              <a:rPr lang="en-US"/>
              <a:t>    "actor": "Agent Runtime",</a:t>
            </a:r>
          </a:p>
          <a:p>
            <a:r>
              <a:rPr lang="en-US"/>
              <a:t>    "label": "Check verifier JSON",</a:t>
            </a:r>
          </a:p>
          <a:p>
            <a:r>
              <a:rPr lang="en-US"/>
              <a:t>    "meaning": "Require success=true and quote.verified=true, validate the lookup checksum and compare the expected measurements and REPORTDATA with the submitted quote."</a:t>
            </a:r>
          </a:p>
          <a:p>
            <a:r>
              <a:rPr lang="en-US"/>
              <a:t>  },</a:t>
            </a:r>
          </a:p>
          <a:p>
            <a:r>
              <a:rPr lang="en-US"/>
              <a:t>  {</a:t>
            </a:r>
          </a:p>
          <a:p>
            <a:r>
              <a:rPr lang="en-US"/>
              <a:t>    "id": "A5",</a:t>
            </a:r>
          </a:p>
          <a:p>
            <a:r>
              <a:rPr lang="en-US"/>
              <a:t>    "actor": "Agent Runtime → Phala API → Agent Runtime",</a:t>
            </a:r>
          </a:p>
          <a:p>
            <a:r>
              <a:rPr lang="en-US"/>
              <a:t>    "label": "GET raw quote / return original bytes",</a:t>
            </a:r>
          </a:p>
          <a:p>
            <a:r>
              <a:rPr lang="en-US"/>
              <a:t>    "meaning": "A separate GET to /api/v1/attestations/raw/{checksum} on the same approved HTTPS origin returns the complete raw quote bytes directly to the agent."</a:t>
            </a:r>
          </a:p>
          <a:p>
            <a:r>
              <a:rPr lang="en-US"/>
              <a:t>  },</a:t>
            </a:r>
          </a:p>
          <a:p>
            <a:r>
              <a:rPr lang="en-US"/>
              <a:t>  {</a:t>
            </a:r>
          </a:p>
          <a:p>
            <a:r>
              <a:rPr lang="en-US"/>
              <a:t>    "id": "A6",</a:t>
            </a:r>
          </a:p>
          <a:p>
            <a:r>
              <a:rPr lang="en-US"/>
              <a:t>    "actor": "Agent Runtime",</a:t>
            </a:r>
          </a:p>
          <a:p>
            <a:r>
              <a:rPr lang="en-US"/>
              <a:t>    "label": "Match quote bytes + verify AIR",</a:t>
            </a:r>
          </a:p>
          <a:p>
            <a:r>
              <a:rPr lang="en-US"/>
              <a:t>    "meaning": "Compare complete returned quote bytes with the original. Check REPORTDATA binding, AIR signature, nonce, model/request/response/quote hashes, policy version, identity and signed measurements."</a:t>
            </a:r>
          </a:p>
          <a:p>
            <a:r>
              <a:rPr lang="en-US"/>
              <a:t>  },</a:t>
            </a:r>
          </a:p>
          <a:p>
            <a:r>
              <a:rPr lang="en-US"/>
              <a:t>  {</a:t>
            </a:r>
          </a:p>
          <a:p>
            <a:r>
              <a:rPr lang="en-US"/>
              <a:t>    "id": "A7",</a:t>
            </a:r>
          </a:p>
          <a:p>
            <a:r>
              <a:rPr lang="en-US"/>
              <a:t>    "actor": "Agent Runtime",</a:t>
            </a:r>
          </a:p>
          <a:p>
            <a:r>
              <a:rPr lang="en-US"/>
              <a:t>    "label": "Verify RTMR3",</a:t>
            </a:r>
          </a:p>
          <a:p>
            <a:r>
              <a:rPr lang="en-US"/>
              <a:t>    "meaning": "Replay the event log locally with SHA-384 and compare the computed RTMR3 with the measurement in the authenticated quote."</a:t>
            </a:r>
          </a:p>
          <a:p>
            <a:r>
              <a:rPr lang="en-US"/>
              <a:t>  },</a:t>
            </a:r>
          </a:p>
          <a:p>
            <a:r>
              <a:rPr lang="en-US"/>
              <a:t>  {</a:t>
            </a:r>
          </a:p>
          <a:p>
            <a:r>
              <a:rPr lang="en-US"/>
              <a:t>    "id": "A8",</a:t>
            </a:r>
          </a:p>
          <a:p>
            <a:r>
              <a:rPr lang="en-US"/>
              <a:t>    "actor": "Agent Runtime",</a:t>
            </a:r>
          </a:p>
          <a:p>
            <a:r>
              <a:rPr lang="en-US"/>
              <a:t>    "label": "Check deployment policy",</a:t>
            </a:r>
          </a:p>
          <a:p>
            <a:r>
              <a:rPr lang="en-US"/>
              <a:t>    "meaning": "Check measured Compose hash, expected image digest, contract/chain/RPC trust-root pins; then check output finiteness, probability range and threshold consistency."</a:t>
            </a:r>
          </a:p>
          <a:p>
            <a:r>
              <a:rPr lang="en-US"/>
              <a:t>  },</a:t>
            </a:r>
          </a:p>
          <a:p>
            <a:r>
              <a:rPr lang="en-US"/>
              <a:t>  {</a:t>
            </a:r>
          </a:p>
          <a:p>
            <a:r>
              <a:rPr lang="en-US"/>
              <a:t>    "id": "A9",</a:t>
            </a:r>
          </a:p>
          <a:p>
            <a:r>
              <a:rPr lang="en-US"/>
              <a:t>    "actor": "Agent Runtime → Transparency Log → Agent Runtime",</a:t>
            </a:r>
          </a:p>
          <a:p>
            <a:r>
              <a:rPr lang="en-US"/>
              <a:t>    "label": "Publish AIR bundle + return inclusion evidence",</a:t>
            </a:r>
          </a:p>
          <a:p>
            <a:r>
              <a:rPr lang="en-US"/>
              <a:t>    "meaning": "Sign and submit the complete verified AIR evidence bundle, wait for publication evidence and obtain public SCITT verification keys. This represents a multi-request publication flow, not exactly one HTTP roundtrip."</a:t>
            </a:r>
          </a:p>
          <a:p>
            <a:r>
              <a:rPr lang="en-US"/>
              <a:t>  },</a:t>
            </a:r>
          </a:p>
          <a:p>
            <a:r>
              <a:rPr lang="en-US"/>
              <a:t>  {</a:t>
            </a:r>
          </a:p>
          <a:p>
            <a:r>
              <a:rPr lang="en-US"/>
              <a:t>    "id": "A10",</a:t>
            </a:r>
          </a:p>
          <a:p>
            <a:r>
              <a:rPr lang="en-US"/>
              <a:t>    "actor": "Agent Runtime",</a:t>
            </a:r>
          </a:p>
          <a:p>
            <a:r>
              <a:rPr lang="en-US"/>
              <a:t>    "label": "Verify inclusion + return success",</a:t>
            </a:r>
          </a:p>
          <a:p>
            <a:r>
              <a:rPr lang="en-US"/>
              <a:t>    "meaning": "Verify inclusion of the exact signed statement with trusted log keys and check that publication binds the verified bundle. Store evidence and only then return verified-and-transparency-logged success."</a:t>
            </a:r>
          </a:p>
          <a:p>
            <a:r>
              <a:rPr lang="en-US"/>
              <a:t>  }</a:t>
            </a:r>
          </a:p>
          <a:p>
            <a:r>
              <a:rPr lang="en-US"/>
              <a:t>]</a:t>
            </a:r>
          </a:p>
          <a:p/>
          <a:p>
            <a:r>
              <a:rPr lang="en-US"/>
              <a:t>ORDER</a:t>
            </a:r>
          </a:p>
          <a:p>
            <a:r>
              <a:rPr lang="en-US"/>
              <a:t>["1–3", "A1", 4, 5, 6, 7, 8, 9, "A2", "A3", "A4", "A5", "A6", "A7", "A8", "A9", "A10"]</a:t>
            </a:r>
          </a:p>
          <a:p/>
          <a:p>
            <a:r>
              <a:rPr lang="en-US"/>
              <a:t>SCOPE AND MODELING</a:t>
            </a:r>
          </a:p>
          <a:p>
            <a:r>
              <a:rPr lang="en-US"/>
              <a:t>The diagrams depict run_and_verify_tee_inference, the third MCP function, in the current RA-TLS profile. Model loading and job preparation have already happened. Shared steps 1–3 group token creation, challenged session verification, request PoP and receiver authorization. The protected request follows successful session appraisal. Sello labels 4–9 retain their meaning. AIR numbering is now chronological and consistent across all variants: A1 creation → Sello 4–9 → A2–A8 appraisal → A9 publication → A10 inclusion and verified success. B displays every AIR number individually; A/C summarize A2–A8 and A9–A10 in grouped labels.</a:t>
            </a:r>
          </a:p>
          <a:p>
            <a:r>
              <a:rPr lang="en-US"/>
              <a:t>PLANNING AND RUNTIME</a:t>
            </a:r>
          </a:p>
          <a:p>
            <a:r>
              <a:rPr lang="en-US"/>
              <a:t>Agent Runtime is programmed client code inside the selected tool. The LLM chooses prepared tools and can reuse session artifacts; explicit skill commands also have a direct route. Within the tool, authorization, evidence checks and required publications follow fixed code. The LLM cannot skip an individual check in that invocation. This is not a claim that all natural-language output is cryptographically verified.</a:t>
            </a:r>
          </a:p>
          <a:p>
            <a:r>
              <a:rPr lang="en-US"/>
              <a:t>ACTORS AND EVIDENCE</a:t>
            </a:r>
          </a:p>
          <a:p>
            <a:r>
              <a:rPr lang="en-US"/>
              <a:t>A/C use three areas. B has four lanes, from top to bottom: Agent Runtime, Inference TEE, Transparency Log, Phala API. The runtime also holds the owner/issuer role; its HPKE private key is not sent to the receiver or log. The session quote and the later inference quote are distinct. AIR, Sello and outer SCITT statements use separate signing keys.</a:t>
            </a:r>
          </a:p>
          <a:p>
            <a:r>
              <a:rPr lang="en-US"/>
              <a:t>Sello hashes the exact logical tool input (canonical job_id) and complete AIR output bytes. Encrypt first, then COSE-sign the Sello receipt envelope. HPKE protects its hashes/metadata, not the whole inference response or separately published AIR evidence. The shared reply carries the AIR bundle in its body, Sello receipt in headers and a receiver publication-bundle reference. The agent retrieves that publication bundle from the TEE and public log keys from the log. Sello step 8 groups these retrievals and receipt/inclusion checks. Step 9 groups original session-evidence publication and owner-encrypted token/input/output audit export, both with inclusion checks.</a:t>
            </a:r>
          </a:p>
          <a:p>
            <a:r>
              <a:rPr lang="en-US"/>
              <a:t>EXPANDED AIR VERIFICATION</a:t>
            </a:r>
          </a:p>
          <a:p>
            <a:r>
              <a:rPr lang="en-US"/>
              <a:t>A2 performs local context/quote policy checks before network delegation. A3 is the POST of the inference-specific quote and direct JSON response from Phala to the agent. A4 validates flags, lookup ID and returned quote fields. A5 is a second HTTP transaction: GET the raw quote and return bytes to the agent. A6 compares all quote bytes and verifies AIR signature/bindings. A7 replays RTMR3; A8 checks measured deployment policy and basic output consistency. A9 is separate AIR-domain publication, with receipt waiting and log-key retrieval; A10 verifies inclusion and matching bundle hash before success. Both Phala responses are explicitly drawn back to the agent. They are ordinary responses, not callbacks, and neither is sent to the Inference TEE or transparency log. The earlier Phala session-quote check remains condensed in shared steps 1–3. A3 delegates cryptographic TDX appraisal; the agent does not independently validate the Intel collateral chain. The Phala API JSON is not a signed EAT.</a:t>
            </a:r>
          </a:p>
          <a:p>
            <a:r>
              <a:rPr lang="en-US"/>
              <a:t>LIMITS</a:t>
            </a:r>
          </a:p>
          <a:p>
            <a:r>
              <a:rPr lang="en-US"/>
              <a:t>Local checks, including RTMR3 replay, are mandatory but do not independently authenticate the hardware signature without the delegated quote check. RTMR3 replay verifies event-log consistency; Compose/image/policy appraisal determines whether the measured workload is allowed. Log inclusion does not prove inference arithmetic, clinical accuracy, availability or global log consistency. Publication failure prevents verified success but does not roll back prior computation. No new deployment or system test was run.</a:t>
            </a:r>
          </a:p>
          <a:p>
            <a:r>
              <a:rPr lang="en-US"/>
              <a:t>COLOR LEGEND</a:t>
            </a:r>
          </a:p>
          <a:p>
            <a:r>
              <a:rPr lang="en-US"/>
              <a:t>Dark orange identifies Sello handling and its RA-TLS audit extension. Dark blue identifies inference/AIR creation, appraisal, publication and inclusion. Gray identifies shared authorization/session setup and transport of both layers. Actor areas are neutral. Colors identify protocol layers, not secure/unsafe status. Every slide includes a color legend; all body elements are editable PowerPoint shapes. B additionally distinguishes solid execution-order arrows from dashed AIR data-reference arrows. The dashed paths A1 → 7 and 7 → A2 trace the original AIR bundle into the shared response and its later use by the agent. They are not additional HTTP requests and do not start A2 in parallel; solid 9 → A2 retains the implemented Sello-completion dependency.</a:t>
            </a:r>
          </a:p>
          <a:p/>
          <a:p>
            <a:r>
              <a:rPr lang="en-US"/>
              <a:t>SOURCE REFERENCES</a:t>
            </a:r>
          </a:p>
          <a:p>
            <a:r>
              <a:rPr lang="en-US"/>
              <a:t>[</a:t>
            </a:r>
          </a:p>
          <a:p>
            <a:r>
              <a:rPr lang="en-US"/>
              <a:t>  {</a:t>
            </a:r>
          </a:p>
          <a:p>
            <a:r>
              <a:rPr lang="en-US"/>
              <a:t>    "path": "vita-fl/transport_security/attestation.py",</a:t>
            </a:r>
          </a:p>
          <a:p>
            <a:r>
              <a:rPr lang="en-US"/>
              <a:t>    "lines": [</a:t>
            </a:r>
          </a:p>
          <a:p>
            <a:r>
              <a:rPr lang="en-US"/>
              <a:t>      302,</a:t>
            </a:r>
          </a:p>
          <a:p>
            <a:r>
              <a:rPr lang="en-US"/>
              <a:t>      338,</a:t>
            </a:r>
          </a:p>
          <a:p>
            <a:r>
              <a:rPr lang="en-US"/>
              <a:t>      372,</a:t>
            </a:r>
          </a:p>
          <a:p>
            <a:r>
              <a:rPr lang="en-US"/>
              <a:t>      381</a:t>
            </a:r>
          </a:p>
          <a:p>
            <a:r>
              <a:rPr lang="en-US"/>
              <a:t>    ],</a:t>
            </a:r>
          </a:p>
          <a:p>
            <a:r>
              <a:rPr lang="en-US"/>
              <a:t>    "finding": "Delegate the inference quote to Phala, check the API result and bind it to the exact quote bytes.",</a:t>
            </a:r>
          </a:p>
          <a:p>
            <a:r>
              <a:rPr lang="en-US"/>
              <a:t>    "sha256": "4706c3d0548d7b1489547c42ec182c13d1d6876b7a531317c956c2c920e58433"</a:t>
            </a:r>
          </a:p>
          <a:p>
            <a:r>
              <a:rPr lang="en-US"/>
              <a:t>  },</a:t>
            </a:r>
          </a:p>
          <a:p>
            <a:r>
              <a:rPr lang="en-US"/>
              <a:t>  {</a:t>
            </a:r>
          </a:p>
          <a:p>
            <a:r>
              <a:rPr lang="en-US"/>
              <a:t>    "path": "vita-fl/agent/run_agent.py",</a:t>
            </a:r>
          </a:p>
          <a:p>
            <a:r>
              <a:rPr lang="en-US"/>
              <a:t>    "lines": [</a:t>
            </a:r>
          </a:p>
          <a:p>
            <a:r>
              <a:rPr lang="en-US"/>
              <a:t>      329,</a:t>
            </a:r>
          </a:p>
          <a:p>
            <a:r>
              <a:rPr lang="en-US"/>
              <a:t>      365,</a:t>
            </a:r>
          </a:p>
          <a:p>
            <a:r>
              <a:rPr lang="en-US"/>
              <a:t>      369,</a:t>
            </a:r>
          </a:p>
          <a:p>
            <a:r>
              <a:rPr lang="en-US"/>
              <a:t>      384,</a:t>
            </a:r>
          </a:p>
          <a:p>
            <a:r>
              <a:rPr lang="en-US"/>
              <a:t>      587,</a:t>
            </a:r>
          </a:p>
          <a:p>
            <a:r>
              <a:rPr lang="en-US"/>
              <a:t>      593,</a:t>
            </a:r>
          </a:p>
          <a:p>
            <a:r>
              <a:rPr lang="en-US"/>
              <a:t>      993,</a:t>
            </a:r>
          </a:p>
          <a:p>
            <a:r>
              <a:rPr lang="en-US"/>
              <a:t>      1004</a:t>
            </a:r>
          </a:p>
          <a:p>
            <a:r>
              <a:rPr lang="en-US"/>
              <a:t>    ],</a:t>
            </a:r>
          </a:p>
          <a:p>
            <a:r>
              <a:rPr lang="en-US"/>
              <a:t>    "finding": "The LLM can select prepared tools; explicit skill commands also have a direct route. Tool implementations enforce their verification sequence.",</a:t>
            </a:r>
          </a:p>
          <a:p>
            <a:r>
              <a:rPr lang="en-US"/>
              <a:t>    "sha256": "6afbfeffdedd638f0f364f96db09915510e3270aef4ac3559c7ba6f810a7780d"</a:t>
            </a:r>
          </a:p>
          <a:p>
            <a:r>
              <a:rPr lang="en-US"/>
              <a:t>  },</a:t>
            </a:r>
          </a:p>
          <a:p>
            <a:r>
              <a:rPr lang="en-US"/>
              <a:t>  {</a:t>
            </a:r>
          </a:p>
          <a:p>
            <a:r>
              <a:rPr lang="en-US"/>
              <a:t>    "path": "vita-fl/agent/sello_client.py",</a:t>
            </a:r>
          </a:p>
          <a:p>
            <a:r>
              <a:rPr lang="en-US"/>
              <a:t>    "lines": [</a:t>
            </a:r>
          </a:p>
          <a:p>
            <a:r>
              <a:rPr lang="en-US"/>
              <a:t>      104,</a:t>
            </a:r>
          </a:p>
          <a:p>
            <a:r>
              <a:rPr lang="en-US"/>
              <a:t>      142,</a:t>
            </a:r>
          </a:p>
          <a:p>
            <a:r>
              <a:rPr lang="en-US"/>
              <a:t>      145,</a:t>
            </a:r>
          </a:p>
          <a:p>
            <a:r>
              <a:rPr lang="en-US"/>
              <a:t>      224,</a:t>
            </a:r>
          </a:p>
          <a:p>
            <a:r>
              <a:rPr lang="en-US"/>
              <a:t>      245,</a:t>
            </a:r>
          </a:p>
          <a:p>
            <a:r>
              <a:rPr lang="en-US"/>
              <a:t>      348</a:t>
            </a:r>
          </a:p>
          <a:p>
            <a:r>
              <a:rPr lang="en-US"/>
              <a:t>    ],</a:t>
            </a:r>
          </a:p>
          <a:p>
            <a:r>
              <a:rPr lang="en-US"/>
              <a:t>    "finding": "Authorization, receipt verification, receiver bundle retrieval, and supplementary RA-TLS session/context publication.",</a:t>
            </a:r>
          </a:p>
          <a:p>
            <a:r>
              <a:rPr lang="en-US"/>
              <a:t>    "sha256": "9a35d6ba08c3aa43e44c05a57c5ced271484e32fac1580c2715b3c92d009db67"</a:t>
            </a:r>
          </a:p>
          <a:p>
            <a:r>
              <a:rPr lang="en-US"/>
              <a:t>  },</a:t>
            </a:r>
          </a:p>
          <a:p>
            <a:r>
              <a:rPr lang="en-US"/>
              <a:t>  {</a:t>
            </a:r>
          </a:p>
          <a:p>
            <a:r>
              <a:rPr lang="en-US"/>
              <a:t>    "path": "vita-fl/transport_security/ratls_client.py",</a:t>
            </a:r>
          </a:p>
          <a:p>
            <a:r>
              <a:rPr lang="en-US"/>
              <a:t>    "lines": [</a:t>
            </a:r>
          </a:p>
          <a:p>
            <a:r>
              <a:rPr lang="en-US"/>
              <a:t>      112,</a:t>
            </a:r>
          </a:p>
          <a:p>
            <a:r>
              <a:rPr lang="en-US"/>
              <a:t>      170</a:t>
            </a:r>
          </a:p>
          <a:p>
            <a:r>
              <a:rPr lang="en-US"/>
              <a:t>    ],</a:t>
            </a:r>
          </a:p>
          <a:p>
            <a:r>
              <a:rPr lang="en-US"/>
              <a:t>    "finding": "Verify the attested TLS session before the protected request.",</a:t>
            </a:r>
          </a:p>
          <a:p>
            <a:r>
              <a:rPr lang="en-US"/>
              <a:t>    "sha256": "8ac86c4d5cd85262ce88cfc3a20f28281122c45e359445788851857146ac2a3a"</a:t>
            </a:r>
          </a:p>
          <a:p>
            <a:r>
              <a:rPr lang="en-US"/>
              <a:t>  },</a:t>
            </a:r>
          </a:p>
          <a:p>
            <a:r>
              <a:rPr lang="en-US"/>
              <a:t>  {</a:t>
            </a:r>
          </a:p>
          <a:p>
            <a:r>
              <a:rPr lang="en-US"/>
              <a:t>    "path": "vita-fl/tee_inference/service/app.py",</a:t>
            </a:r>
          </a:p>
          <a:p>
            <a:r>
              <a:rPr lang="en-US"/>
              <a:t>    "lines": [</a:t>
            </a:r>
          </a:p>
          <a:p>
            <a:r>
              <a:rPr lang="en-US"/>
              <a:t>      146,</a:t>
            </a:r>
          </a:p>
          <a:p>
            <a:r>
              <a:rPr lang="en-US"/>
              <a:t>      239,</a:t>
            </a:r>
          </a:p>
          <a:p>
            <a:r>
              <a:rPr lang="en-US"/>
              <a:t>      253,</a:t>
            </a:r>
          </a:p>
          <a:p>
            <a:r>
              <a:rPr lang="en-US"/>
              <a:t>      263,</a:t>
            </a:r>
          </a:p>
          <a:p>
            <a:r>
              <a:rPr lang="en-US"/>
              <a:t>      330,</a:t>
            </a:r>
          </a:p>
          <a:p>
            <a:r>
              <a:rPr lang="en-US"/>
              <a:t>      382</a:t>
            </a:r>
          </a:p>
          <a:p>
            <a:r>
              <a:rPr lang="en-US"/>
              <a:t>    ],</a:t>
            </a:r>
          </a:p>
          <a:p>
            <a:r>
              <a:rPr lang="en-US"/>
              <a:t>    "finding": "Receiver authorization, action execution, fail-closed publication before response, and publication-bundle endpoint.",</a:t>
            </a:r>
          </a:p>
          <a:p>
            <a:r>
              <a:rPr lang="en-US"/>
              <a:t>    "sha256": "b3c84a4ef9dc909edbb9049d5858067153598e19a5a7c13dcbc3ae91291f093d"</a:t>
            </a:r>
          </a:p>
          <a:p>
            <a:r>
              <a:rPr lang="en-US"/>
              <a:t>  },</a:t>
            </a:r>
          </a:p>
          <a:p>
            <a:r>
              <a:rPr lang="en-US"/>
              <a:t>  {</a:t>
            </a:r>
          </a:p>
          <a:p>
            <a:r>
              <a:rPr lang="en-US"/>
              <a:t>    "path": "vita-fl/agent_receipts/sello_v1.py",</a:t>
            </a:r>
          </a:p>
          <a:p>
            <a:r>
              <a:rPr lang="en-US"/>
              <a:t>    "lines": [</a:t>
            </a:r>
          </a:p>
          <a:p>
            <a:r>
              <a:rPr lang="en-US"/>
              <a:t>      117,</a:t>
            </a:r>
          </a:p>
          <a:p>
            <a:r>
              <a:rPr lang="en-US"/>
              <a:t>      160,</a:t>
            </a:r>
          </a:p>
          <a:p>
            <a:r>
              <a:rPr lang="en-US"/>
              <a:t>      263,</a:t>
            </a:r>
          </a:p>
          <a:p>
            <a:r>
              <a:rPr lang="en-US"/>
              <a:t>      306,</a:t>
            </a:r>
          </a:p>
          <a:p>
            <a:r>
              <a:rPr lang="en-US"/>
              <a:t>      363,</a:t>
            </a:r>
          </a:p>
          <a:p>
            <a:r>
              <a:rPr lang="en-US"/>
              <a:t>      406</a:t>
            </a:r>
          </a:p>
          <a:p>
            <a:r>
              <a:rPr lang="en-US"/>
              <a:t>    ],</a:t>
            </a:r>
          </a:p>
          <a:p>
            <a:r>
              <a:rPr lang="en-US"/>
              <a:t>    "finding": "Token, receipt commitments, HPKE encryption then COSE signing, owner verification.",</a:t>
            </a:r>
          </a:p>
          <a:p>
            <a:r>
              <a:rPr lang="en-US"/>
              <a:t>    "sha256": "6fbc5cfad8a57ef3794420a9df96e1f93b65bfa3f5bf8698023427504fefa42a"</a:t>
            </a:r>
          </a:p>
          <a:p>
            <a:r>
              <a:rPr lang="en-US"/>
              <a:t>  },</a:t>
            </a:r>
          </a:p>
          <a:p>
            <a:r>
              <a:rPr lang="en-US"/>
              <a:t>  {</a:t>
            </a:r>
          </a:p>
          <a:p>
            <a:r>
              <a:rPr lang="en-US"/>
              <a:t>    "path": "vita-fl/agent_receipts/receiver_log.py",</a:t>
            </a:r>
          </a:p>
          <a:p>
            <a:r>
              <a:rPr lang="en-US"/>
              <a:t>    "lines": [</a:t>
            </a:r>
          </a:p>
          <a:p>
            <a:r>
              <a:rPr lang="en-US"/>
              <a:t>      25,</a:t>
            </a:r>
          </a:p>
          <a:p>
            <a:r>
              <a:rPr lang="en-US"/>
              <a:t>      50</a:t>
            </a:r>
          </a:p>
          <a:p>
            <a:r>
              <a:rPr lang="en-US"/>
              <a:t>    ],</a:t>
            </a:r>
          </a:p>
          <a:p>
            <a:r>
              <a:rPr lang="en-US"/>
              <a:t>    "finding": "Receiver publishes and stores the inclusion bundle.",</a:t>
            </a:r>
          </a:p>
          <a:p>
            <a:r>
              <a:rPr lang="en-US"/>
              <a:t>    "sha256": "2f100d35c39cf1afefa4b3db96e1bb3cb1779717d92ccde5033981254b387f96"</a:t>
            </a:r>
          </a:p>
          <a:p>
            <a:r>
              <a:rPr lang="en-US"/>
              <a:t>  },</a:t>
            </a:r>
          </a:p>
          <a:p>
            <a:r>
              <a:rPr lang="en-US"/>
              <a:t>  {</a:t>
            </a:r>
          </a:p>
          <a:p>
            <a:r>
              <a:rPr lang="en-US"/>
              <a:t>    "path": "vita-fl/agent_receipts/scitt.py",</a:t>
            </a:r>
          </a:p>
          <a:p>
            <a:r>
              <a:rPr lang="en-US"/>
              <a:t>    "lines": [</a:t>
            </a:r>
          </a:p>
          <a:p>
            <a:r>
              <a:rPr lang="en-US"/>
              <a:t>      93,</a:t>
            </a:r>
          </a:p>
          <a:p>
            <a:r>
              <a:rPr lang="en-US"/>
              <a:t>      106,</a:t>
            </a:r>
          </a:p>
          <a:p>
            <a:r>
              <a:rPr lang="en-US"/>
              <a:t>      175,</a:t>
            </a:r>
          </a:p>
          <a:p>
            <a:r>
              <a:rPr lang="en-US"/>
              <a:t>      216</a:t>
            </a:r>
          </a:p>
          <a:p>
            <a:r>
              <a:rPr lang="en-US"/>
              <a:t>    ],</a:t>
            </a:r>
          </a:p>
          <a:p>
            <a:r>
              <a:rPr lang="en-US"/>
              <a:t>    "finding": "SCITT publication and exact-byte inclusion verification; public log-key retrieval.",</a:t>
            </a:r>
          </a:p>
          <a:p>
            <a:r>
              <a:rPr lang="en-US"/>
              <a:t>    "sha256": "818367d460c73c4f14a46172e4da8762f68640b4fa471d61e2acc0ba06b7f159"</a:t>
            </a:r>
          </a:p>
          <a:p>
            <a:r>
              <a:rPr lang="en-US"/>
              <a:t>  },</a:t>
            </a:r>
          </a:p>
          <a:p>
            <a:r>
              <a:rPr lang="en-US"/>
              <a:t>  {</a:t>
            </a:r>
          </a:p>
          <a:p>
            <a:r>
              <a:rPr lang="en-US"/>
              <a:t>    "path": "vita-fl/agent_receipts/environment.py",</a:t>
            </a:r>
          </a:p>
          <a:p>
            <a:r>
              <a:rPr lang="en-US"/>
              <a:t>    "lines": [</a:t>
            </a:r>
          </a:p>
          <a:p>
            <a:r>
              <a:rPr lang="en-US"/>
              <a:t>      30,</a:t>
            </a:r>
          </a:p>
          <a:p>
            <a:r>
              <a:rPr lang="en-US"/>
              <a:t>      75</a:t>
            </a:r>
          </a:p>
          <a:p>
            <a:r>
              <a:rPr lang="en-US"/>
              <a:t>    ],</a:t>
            </a:r>
          </a:p>
          <a:p>
            <a:r>
              <a:rPr lang="en-US"/>
              <a:t>    "finding": "Receiver key and owner/issuer roles in current deployment.",</a:t>
            </a:r>
          </a:p>
          <a:p>
            <a:r>
              <a:rPr lang="en-US"/>
              <a:t>    "sha256": "8618fa10336f05cd268ec72e40f09e98fcc1b9574eec721f8a6441d325fcfeb3"</a:t>
            </a:r>
          </a:p>
          <a:p>
            <a:r>
              <a:rPr lang="en-US"/>
              <a:t>  },</a:t>
            </a:r>
          </a:p>
          <a:p>
            <a:r>
              <a:rPr lang="en-US"/>
              <a:t>  {</a:t>
            </a:r>
          </a:p>
          <a:p>
            <a:r>
              <a:rPr lang="en-US"/>
              <a:t>    "path": "vita-fl/phala/dstack-compose.worker.phala.tftpl",</a:t>
            </a:r>
          </a:p>
          <a:p>
            <a:r>
              <a:rPr lang="en-US"/>
              <a:t>    "lines": [</a:t>
            </a:r>
          </a:p>
          <a:p>
            <a:r>
              <a:rPr lang="en-US"/>
              <a:t>      92</a:t>
            </a:r>
          </a:p>
          <a:p>
            <a:r>
              <a:rPr lang="en-US"/>
              <a:t>    ],</a:t>
            </a:r>
          </a:p>
          <a:p>
            <a:r>
              <a:rPr lang="en-US"/>
              <a:t>    "finding": "Worker RA-TLS profile.",</a:t>
            </a:r>
          </a:p>
          <a:p>
            <a:r>
              <a:rPr lang="en-US"/>
              <a:t>    "sha256": "ede512b4c8efc28e7a0cfde0070137166f65b1b225387beb95b5a296b3b929e7"</a:t>
            </a:r>
          </a:p>
          <a:p>
            <a:r>
              <a:rPr lang="en-US"/>
              <a:t>  },</a:t>
            </a:r>
          </a:p>
          <a:p>
            <a:r>
              <a:rPr lang="en-US"/>
              <a:t>  {</a:t>
            </a:r>
          </a:p>
          <a:p>
            <a:r>
              <a:rPr lang="en-US"/>
              <a:t>    "path": "vita-fl/phala/dstack-compose.contracts.phala.tftpl",</a:t>
            </a:r>
          </a:p>
          <a:p>
            <a:r>
              <a:rPr lang="en-US"/>
              <a:t>    "lines": [</a:t>
            </a:r>
          </a:p>
          <a:p>
            <a:r>
              <a:rPr lang="en-US"/>
              <a:t>      280,</a:t>
            </a:r>
          </a:p>
          <a:p>
            <a:r>
              <a:rPr lang="en-US"/>
              <a:t>      299</a:t>
            </a:r>
          </a:p>
          <a:p>
            <a:r>
              <a:rPr lang="en-US"/>
              <a:t>    ],</a:t>
            </a:r>
          </a:p>
          <a:p>
            <a:r>
              <a:rPr lang="en-US"/>
              <a:t>    "finding": "Agent RA-TLS profile and owner key environment configuration.",</a:t>
            </a:r>
          </a:p>
          <a:p>
            <a:r>
              <a:rPr lang="en-US"/>
              <a:t>    "sha256": "d6fee4cbe48ce32438f71b3a2c96e92ce198fb894147ab244c9addbac6a5d705"</a:t>
            </a:r>
          </a:p>
          <a:p>
            <a:r>
              <a:rPr lang="en-US"/>
              <a:t>  },</a:t>
            </a:r>
          </a:p>
          <a:p>
            <a:r>
              <a:rPr lang="en-US"/>
              <a:t>  {</a:t>
            </a:r>
          </a:p>
          <a:p>
            <a:r>
              <a:rPr lang="en-US"/>
              <a:t>    "path": "vita-fl/agent/tee_inference_client.py",</a:t>
            </a:r>
          </a:p>
          <a:p>
            <a:r>
              <a:rPr lang="en-US"/>
              <a:t>    "lines": [</a:t>
            </a:r>
          </a:p>
          <a:p>
            <a:r>
              <a:rPr lang="en-US"/>
              <a:t>      245,</a:t>
            </a:r>
          </a:p>
          <a:p>
            <a:r>
              <a:rPr lang="en-US"/>
              <a:t>      269,</a:t>
            </a:r>
          </a:p>
          <a:p>
            <a:r>
              <a:rPr lang="en-US"/>
              <a:t>      521,</a:t>
            </a:r>
          </a:p>
          <a:p>
            <a:r>
              <a:rPr lang="en-US"/>
              <a:t>      568,</a:t>
            </a:r>
          </a:p>
          <a:p>
            <a:r>
              <a:rPr lang="en-US"/>
              <a:t>      578,</a:t>
            </a:r>
          </a:p>
          <a:p>
            <a:r>
              <a:rPr lang="en-US"/>
              <a:t>      609,</a:t>
            </a:r>
          </a:p>
          <a:p>
            <a:r>
              <a:rPr lang="en-US"/>
              <a:t>      618,</a:t>
            </a:r>
          </a:p>
          <a:p>
            <a:r>
              <a:rPr lang="en-US"/>
              <a:t>      699,</a:t>
            </a:r>
          </a:p>
          <a:p>
            <a:r>
              <a:rPr lang="en-US"/>
              <a:t>      720,</a:t>
            </a:r>
          </a:p>
          <a:p>
            <a:r>
              <a:rPr lang="en-US"/>
              <a:t>      755</a:t>
            </a:r>
          </a:p>
          <a:p>
            <a:r>
              <a:rPr lang="en-US"/>
              <a:t>    ],</a:t>
            </a:r>
          </a:p>
          <a:p>
            <a:r>
              <a:rPr lang="en-US"/>
              <a:t>    "finding": "Sello completes first; AIR appraisal and separate domain publication follow.",</a:t>
            </a:r>
          </a:p>
          <a:p>
            <a:r>
              <a:rPr lang="en-US"/>
              <a:t>    "sha256": "4f1b0cd4b0f3e9443400bb574589c9f6fa47302e2a4bd774d5a45ea9a65b6b0d"</a:t>
            </a:r>
          </a:p>
          <a:p>
            <a:r>
              <a:rPr lang="en-US"/>
              <a:t>  },</a:t>
            </a:r>
          </a:p>
          <a:p>
            <a:r>
              <a:rPr lang="en-US"/>
              <a:t>  {</a:t>
            </a:r>
          </a:p>
          <a:p>
            <a:r>
              <a:rPr lang="en-US"/>
              <a:t>    "path": "vita-fl/tee_inference/service/attestation.py",</a:t>
            </a:r>
          </a:p>
          <a:p>
            <a:r>
              <a:rPr lang="en-US"/>
              <a:t>    "lines": [</a:t>
            </a:r>
          </a:p>
          <a:p>
            <a:r>
              <a:rPr lang="en-US"/>
              <a:t>      69,</a:t>
            </a:r>
          </a:p>
          <a:p>
            <a:r>
              <a:rPr lang="en-US"/>
              <a:t>      138</a:t>
            </a:r>
          </a:p>
          <a:p>
            <a:r>
              <a:rPr lang="en-US"/>
              <a:t>    ],</a:t>
            </a:r>
          </a:p>
          <a:p>
            <a:r>
              <a:rPr lang="en-US"/>
              <a:t>    "finding": "Inference-specific AIR receipt, quote and complete evidence bundle.",</a:t>
            </a:r>
          </a:p>
          <a:p>
            <a:r>
              <a:rPr lang="en-US"/>
              <a:t>    "sha256": "e6d79ad3db01872ae2cfb22ae3ea14025f61dde1f53b887db69111b57cd4b87a"</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SELLO + AIR PROCESS · VARIANT B</a:t>
            </a:r>
          </a:p>
          <a:p>
            <a:r>
              <a:rPr lang="en-US"/>
              <a:t>CURRENT IMPLEMENTATION: 28 September 2026</a:t>
            </a:r>
          </a:p>
          <a:p>
            <a:r>
              <a:rPr lang="en-US"/>
              <a:t>MCP: run_and_verify_tee_inference</a:t>
            </a:r>
          </a:p>
          <a:p/>
          <a:p>
            <a:r>
              <a:rPr lang="en-US"/>
              <a:t>SELLO AND SHARED STEPS</a:t>
            </a:r>
          </a:p>
          <a:p>
            <a:r>
              <a:rPr lang="en-US"/>
              <a:t>[</a:t>
            </a:r>
          </a:p>
          <a:p>
            <a:r>
              <a:rPr lang="en-US"/>
              <a:t>  {</a:t>
            </a:r>
          </a:p>
          <a:p>
            <a:r>
              <a:rPr lang="en-US"/>
              <a:t>    "id": 1,</a:t>
            </a:r>
          </a:p>
          <a:p>
            <a:r>
              <a:rPr lang="en-US"/>
              <a:t>    "actor": "Agent",</a:t>
            </a:r>
          </a:p>
          <a:p>
            <a:r>
              <a:rPr lang="en-US"/>
              <a:t>    "label": "Create authorization token",</a:t>
            </a:r>
          </a:p>
          <a:p>
            <a:r>
              <a:rPr lang="en-US"/>
              <a:t>    "meaning": "The agent runtime holds the owner/issuer role and creates the short-lived token with audience, scopes, subject, PoP binding, owner HPKE public key and allowed log."</a:t>
            </a:r>
          </a:p>
          <a:p>
            <a:r>
              <a:rPr lang="en-US"/>
              <a:t>  },</a:t>
            </a:r>
          </a:p>
          <a:p>
            <a:r>
              <a:rPr lang="en-US"/>
              <a:t>  {</a:t>
            </a:r>
          </a:p>
          <a:p>
            <a:r>
              <a:rPr lang="en-US"/>
              <a:t>    "id": 2,</a:t>
            </a:r>
          </a:p>
          <a:p>
            <a:r>
              <a:rPr lang="en-US"/>
              <a:t>    "actor": "Agent / Inference TEE",</a:t>
            </a:r>
          </a:p>
          <a:p>
            <a:r>
              <a:rPr lang="en-US"/>
              <a:t>    "label": "Verify TEE session",</a:t>
            </a:r>
          </a:p>
          <a:p>
            <a:r>
              <a:rPr lang="en-US"/>
              <a:t>    "meaning": "Verify challenged RA-TLS session evidence and receiver/TLS/policy binding before transmitting the protected token-bearing request."</a:t>
            </a:r>
          </a:p>
          <a:p>
            <a:r>
              <a:rPr lang="en-US"/>
              <a:t>  },</a:t>
            </a:r>
          </a:p>
          <a:p>
            <a:r>
              <a:rPr lang="en-US"/>
              <a:t>  {</a:t>
            </a:r>
          </a:p>
          <a:p>
            <a:r>
              <a:rPr lang="en-US"/>
              <a:t>    "id": 3,</a:t>
            </a:r>
          </a:p>
          <a:p>
            <a:r>
              <a:rPr lang="en-US"/>
              <a:t>    "actor": "Agent → Inference TEE",</a:t>
            </a:r>
          </a:p>
          <a:p>
            <a:r>
              <a:rPr lang="en-US"/>
              <a:t>    "label": "Request + token + PoP",</a:t>
            </a:r>
          </a:p>
          <a:p>
            <a:r>
              <a:rPr lang="en-US"/>
              <a:t>    "meaning": "Receiver checks session, request PoP and authorization claims. The third MCP operation is then executed in AIR step A1."</a:t>
            </a:r>
          </a:p>
          <a:p>
            <a:r>
              <a:rPr lang="en-US"/>
              <a:t>  },</a:t>
            </a:r>
          </a:p>
          <a:p>
            <a:r>
              <a:rPr lang="en-US"/>
              <a:t>  {</a:t>
            </a:r>
          </a:p>
          <a:p>
            <a:r>
              <a:rPr lang="en-US"/>
              <a:t>    "id": 4,</a:t>
            </a:r>
          </a:p>
          <a:p>
            <a:r>
              <a:rPr lang="en-US"/>
              <a:t>    "actor": "Inference TEE",</a:t>
            </a:r>
          </a:p>
          <a:p>
            <a:r>
              <a:rPr lang="en-US"/>
              <a:t>    "label": "Hash · encrypt · sign",</a:t>
            </a:r>
          </a:p>
          <a:p>
            <a:r>
              <a:rPr lang="en-US"/>
              <a:t>    "meaning": "Hash exact logical tool input and raw response; HPKE-encrypt receipt body to the owner; then COSE-sign the encrypted envelope with the dedicated receiver Sello key."</a:t>
            </a:r>
          </a:p>
          <a:p>
            <a:r>
              <a:rPr lang="en-US"/>
              <a:t>  },</a:t>
            </a:r>
          </a:p>
          <a:p>
            <a:r>
              <a:rPr lang="en-US"/>
              <a:t>  {</a:t>
            </a:r>
          </a:p>
          <a:p>
            <a:r>
              <a:rPr lang="en-US"/>
              <a:t>    "id": 5,</a:t>
            </a:r>
          </a:p>
          <a:p>
            <a:r>
              <a:rPr lang="en-US"/>
              <a:t>    "actor": "Inference TEE → Transparency Log",</a:t>
            </a:r>
          </a:p>
          <a:p>
            <a:r>
              <a:rPr lang="en-US"/>
              <a:t>    "label": "Publish Sello receipt",</a:t>
            </a:r>
          </a:p>
          <a:p>
            <a:r>
              <a:rPr lang="en-US"/>
              <a:t>    "meaning": "Wrap the Sello envelope in a separately signed SCITT statement and submit to the log allowed by the authorization token."</a:t>
            </a:r>
          </a:p>
          <a:p>
            <a:r>
              <a:rPr lang="en-US"/>
              <a:t>  },</a:t>
            </a:r>
          </a:p>
          <a:p>
            <a:r>
              <a:rPr lang="en-US"/>
              <a:t>  {</a:t>
            </a:r>
          </a:p>
          <a:p>
            <a:r>
              <a:rPr lang="en-US"/>
              <a:t>    "id": 6,</a:t>
            </a:r>
          </a:p>
          <a:p>
            <a:r>
              <a:rPr lang="en-US"/>
              <a:t>    "actor": "Transparency Log → Inference TEE",</a:t>
            </a:r>
          </a:p>
          <a:p>
            <a:r>
              <a:rPr lang="en-US"/>
              <a:t>    "label": "Return and verify inclusion evidence",</a:t>
            </a:r>
          </a:p>
          <a:p>
            <a:r>
              <a:rPr lang="en-US"/>
              <a:t>    "meaning": "Log returns inclusion evidence; the receiver verifies it and stores the publication bundle before releasing a successful response."</a:t>
            </a:r>
          </a:p>
          <a:p>
            <a:r>
              <a:rPr lang="en-US"/>
              <a:t>  },</a:t>
            </a:r>
          </a:p>
          <a:p>
            <a:r>
              <a:rPr lang="en-US"/>
              <a:t>  {</a:t>
            </a:r>
          </a:p>
          <a:p>
            <a:r>
              <a:rPr lang="en-US"/>
              <a:t>    "id": 7,</a:t>
            </a:r>
          </a:p>
          <a:p>
            <a:r>
              <a:rPr lang="en-US"/>
              <a:t>    "actor": "Inference TEE → Agent",</a:t>
            </a:r>
          </a:p>
          <a:p>
            <a:r>
              <a:rPr lang="en-US"/>
              <a:t>    "label": "Result + receipt + reference",</a:t>
            </a:r>
          </a:p>
          <a:p>
            <a:r>
              <a:rPr lang="en-US"/>
              <a:t>    "meaning": "Shared response carries the AIR evidence bundle in its body, the Sello receipt in headers, and the Sello publication-bundle URL and transaction reference."</a:t>
            </a:r>
          </a:p>
          <a:p>
            <a:r>
              <a:rPr lang="en-US"/>
              <a:t>  },</a:t>
            </a:r>
          </a:p>
          <a:p>
            <a:r>
              <a:rPr lang="en-US"/>
              <a:t>  {</a:t>
            </a:r>
          </a:p>
          <a:p>
            <a:r>
              <a:rPr lang="en-US"/>
              <a:t>    "id": 8,</a:t>
            </a:r>
          </a:p>
          <a:p>
            <a:r>
              <a:rPr lang="en-US"/>
              <a:t>    "actor": "Agent / Inference TEE / Transparency Log",</a:t>
            </a:r>
          </a:p>
          <a:p>
            <a:r>
              <a:rPr lang="en-US"/>
              <a:t>    "label": "Verify receipt and inclusion",</a:t>
            </a:r>
          </a:p>
          <a:p>
            <a:r>
              <a:rPr lang="en-US"/>
              <a:t>    "meaning": "Agent verifies signature, decrypts receipt and checks token, action, exact input/output, session and status. It fetches the publication bundle from the TEE, gets log keys from the log, and verifies inclusion of the exact receipt bytes."</a:t>
            </a:r>
          </a:p>
          <a:p>
            <a:r>
              <a:rPr lang="en-US"/>
              <a:t>  },</a:t>
            </a:r>
          </a:p>
          <a:p>
            <a:r>
              <a:rPr lang="en-US"/>
              <a:t>  {</a:t>
            </a:r>
          </a:p>
          <a:p>
            <a:r>
              <a:rPr lang="en-US"/>
              <a:t>    "id": 9,</a:t>
            </a:r>
          </a:p>
          <a:p>
            <a:r>
              <a:rPr lang="en-US"/>
              <a:t>    "actor": "Agent → Transparency Log",</a:t>
            </a:r>
          </a:p>
          <a:p>
            <a:r>
              <a:rPr lang="en-US"/>
              <a:t>    "label": "Publish verification context",</a:t>
            </a:r>
          </a:p>
          <a:p>
            <a:r>
              <a:rPr lang="en-US"/>
              <a:t>    "meaning": "Current RA-TLS path additionally publishes original session evidence and owner-encrypted token/input/output audit context; both registrations must succeed before Sello-verified tool completion."</a:t>
            </a:r>
          </a:p>
          <a:p>
            <a:r>
              <a:rPr lang="en-US"/>
              <a:t>  }</a:t>
            </a:r>
          </a:p>
          <a:p>
            <a:r>
              <a:rPr lang="en-US"/>
              <a:t>]</a:t>
            </a:r>
          </a:p>
          <a:p/>
          <a:p>
            <a:r>
              <a:rPr lang="en-US"/>
              <a:t>AIR STEPS</a:t>
            </a:r>
          </a:p>
          <a:p>
            <a:r>
              <a:rPr lang="en-US"/>
              <a:t>[</a:t>
            </a:r>
          </a:p>
          <a:p>
            <a:r>
              <a:rPr lang="en-US"/>
              <a:t>  {</a:t>
            </a:r>
          </a:p>
          <a:p>
            <a:r>
              <a:rPr lang="en-US"/>
              <a:t>    "id": "A1",</a:t>
            </a:r>
          </a:p>
          <a:p>
            <a:r>
              <a:rPr lang="en-US"/>
              <a:t>    "actor": "Inference TEE",</a:t>
            </a:r>
          </a:p>
          <a:p>
            <a:r>
              <a:rPr lang="en-US"/>
              <a:t>    "label": "Run inference + create AIR",</a:t>
            </a:r>
          </a:p>
          <a:p>
            <a:r>
              <a:rPr lang="en-US"/>
              <a:t>    "meaning": "Execute inference, request an inference-specific quote from dstack, sign AIR and construct the complete evidence bundle. Sello steps 4–9 then bind, publish and verify the returned bundle as tool output."</a:t>
            </a:r>
          </a:p>
          <a:p>
            <a:r>
              <a:rPr lang="en-US"/>
              <a:t>  },</a:t>
            </a:r>
          </a:p>
          <a:p>
            <a:r>
              <a:rPr lang="en-US"/>
              <a:t>  {</a:t>
            </a:r>
          </a:p>
          <a:p>
            <a:r>
              <a:rPr lang="en-US"/>
              <a:t>    "id": "A2",</a:t>
            </a:r>
          </a:p>
          <a:p>
            <a:r>
              <a:rPr lang="en-US"/>
              <a:t>    "actor": "Agent Runtime",</a:t>
            </a:r>
          </a:p>
          <a:p>
            <a:r>
              <a:rPr lang="en-US"/>
              <a:t>    "label": "Check context + quote policy",</a:t>
            </a:r>
          </a:p>
          <a:p>
            <a:r>
              <a:rPr lang="en-US"/>
              <a:t>    "meaning": "Validate session, request/model provenance and hashes, quote structure, AIR key and nonce. Check expected REPORTDATA and configured MRTD/RTMR0–2 allowlist before contacting Phala."</a:t>
            </a:r>
          </a:p>
          <a:p>
            <a:r>
              <a:rPr lang="en-US"/>
              <a:t>  },</a:t>
            </a:r>
          </a:p>
          <a:p>
            <a:r>
              <a:rPr lang="en-US"/>
              <a:t>  {</a:t>
            </a:r>
          </a:p>
          <a:p>
            <a:r>
              <a:rPr lang="en-US"/>
              <a:t>    "id": "A3",</a:t>
            </a:r>
          </a:p>
          <a:p>
            <a:r>
              <a:rPr lang="en-US"/>
              <a:t>    "actor": "Agent Runtime → Phala API → Agent Runtime",</a:t>
            </a:r>
          </a:p>
          <a:p>
            <a:r>
              <a:rPr lang="en-US"/>
              <a:t>    "label": "POST quote / verify TDX / return JSON",</a:t>
            </a:r>
          </a:p>
          <a:p>
            <a:r>
              <a:rPr lang="en-US"/>
              <a:t>    "meaning": "POST the complete inference quote as {\"hex\": quote.hex()} over approved HTTPS to /api/v1/attestations/verify. Phala returns JSON to the calling agent. Eventlog and Compose are not sent in this request."</a:t>
            </a:r>
          </a:p>
          <a:p>
            <a:r>
              <a:rPr lang="en-US"/>
              <a:t>  },</a:t>
            </a:r>
          </a:p>
          <a:p>
            <a:r>
              <a:rPr lang="en-US"/>
              <a:t>  {</a:t>
            </a:r>
          </a:p>
          <a:p>
            <a:r>
              <a:rPr lang="en-US"/>
              <a:t>    "id": "A4",</a:t>
            </a:r>
          </a:p>
          <a:p>
            <a:r>
              <a:rPr lang="en-US"/>
              <a:t>    "actor": "Agent Runtime",</a:t>
            </a:r>
          </a:p>
          <a:p>
            <a:r>
              <a:rPr lang="en-US"/>
              <a:t>    "label": "Check verifier JSON",</a:t>
            </a:r>
          </a:p>
          <a:p>
            <a:r>
              <a:rPr lang="en-US"/>
              <a:t>    "meaning": "Require success=true and quote.verified=true, validate the lookup checksum and compare the expected measurements and REPORTDATA with the submitted quote."</a:t>
            </a:r>
          </a:p>
          <a:p>
            <a:r>
              <a:rPr lang="en-US"/>
              <a:t>  },</a:t>
            </a:r>
          </a:p>
          <a:p>
            <a:r>
              <a:rPr lang="en-US"/>
              <a:t>  {</a:t>
            </a:r>
          </a:p>
          <a:p>
            <a:r>
              <a:rPr lang="en-US"/>
              <a:t>    "id": "A5",</a:t>
            </a:r>
          </a:p>
          <a:p>
            <a:r>
              <a:rPr lang="en-US"/>
              <a:t>    "actor": "Agent Runtime → Phala API → Agent Runtime",</a:t>
            </a:r>
          </a:p>
          <a:p>
            <a:r>
              <a:rPr lang="en-US"/>
              <a:t>    "label": "GET raw quote / return original bytes",</a:t>
            </a:r>
          </a:p>
          <a:p>
            <a:r>
              <a:rPr lang="en-US"/>
              <a:t>    "meaning": "A separate GET to /api/v1/attestations/raw/{checksum} on the same approved HTTPS origin returns the complete raw quote bytes directly to the agent."</a:t>
            </a:r>
          </a:p>
          <a:p>
            <a:r>
              <a:rPr lang="en-US"/>
              <a:t>  },</a:t>
            </a:r>
          </a:p>
          <a:p>
            <a:r>
              <a:rPr lang="en-US"/>
              <a:t>  {</a:t>
            </a:r>
          </a:p>
          <a:p>
            <a:r>
              <a:rPr lang="en-US"/>
              <a:t>    "id": "A6",</a:t>
            </a:r>
          </a:p>
          <a:p>
            <a:r>
              <a:rPr lang="en-US"/>
              <a:t>    "actor": "Agent Runtime",</a:t>
            </a:r>
          </a:p>
          <a:p>
            <a:r>
              <a:rPr lang="en-US"/>
              <a:t>    "label": "Match quote bytes + verify AIR",</a:t>
            </a:r>
          </a:p>
          <a:p>
            <a:r>
              <a:rPr lang="en-US"/>
              <a:t>    "meaning": "Compare complete returned quote bytes with the original. Check REPORTDATA binding, AIR signature, nonce, model/request/response/quote hashes, policy version, identity and signed measurements."</a:t>
            </a:r>
          </a:p>
          <a:p>
            <a:r>
              <a:rPr lang="en-US"/>
              <a:t>  },</a:t>
            </a:r>
          </a:p>
          <a:p>
            <a:r>
              <a:rPr lang="en-US"/>
              <a:t>  {</a:t>
            </a:r>
          </a:p>
          <a:p>
            <a:r>
              <a:rPr lang="en-US"/>
              <a:t>    "id": "A7",</a:t>
            </a:r>
          </a:p>
          <a:p>
            <a:r>
              <a:rPr lang="en-US"/>
              <a:t>    "actor": "Agent Runtime",</a:t>
            </a:r>
          </a:p>
          <a:p>
            <a:r>
              <a:rPr lang="en-US"/>
              <a:t>    "label": "Verify RTMR3",</a:t>
            </a:r>
          </a:p>
          <a:p>
            <a:r>
              <a:rPr lang="en-US"/>
              <a:t>    "meaning": "Replay the event log locally with SHA-384 and compare the computed RTMR3 with the measurement in the authenticated quote."</a:t>
            </a:r>
          </a:p>
          <a:p>
            <a:r>
              <a:rPr lang="en-US"/>
              <a:t>  },</a:t>
            </a:r>
          </a:p>
          <a:p>
            <a:r>
              <a:rPr lang="en-US"/>
              <a:t>  {</a:t>
            </a:r>
          </a:p>
          <a:p>
            <a:r>
              <a:rPr lang="en-US"/>
              <a:t>    "id": "A8",</a:t>
            </a:r>
          </a:p>
          <a:p>
            <a:r>
              <a:rPr lang="en-US"/>
              <a:t>    "actor": "Agent Runtime",</a:t>
            </a:r>
          </a:p>
          <a:p>
            <a:r>
              <a:rPr lang="en-US"/>
              <a:t>    "label": "Check deployment policy",</a:t>
            </a:r>
          </a:p>
          <a:p>
            <a:r>
              <a:rPr lang="en-US"/>
              <a:t>    "meaning": "Check measured Compose hash, expected image digest, contract/chain/RPC trust-root pins; then check output finiteness, probability range and threshold consistency."</a:t>
            </a:r>
          </a:p>
          <a:p>
            <a:r>
              <a:rPr lang="en-US"/>
              <a:t>  },</a:t>
            </a:r>
          </a:p>
          <a:p>
            <a:r>
              <a:rPr lang="en-US"/>
              <a:t>  {</a:t>
            </a:r>
          </a:p>
          <a:p>
            <a:r>
              <a:rPr lang="en-US"/>
              <a:t>    "id": "A9",</a:t>
            </a:r>
          </a:p>
          <a:p>
            <a:r>
              <a:rPr lang="en-US"/>
              <a:t>    "actor": "Agent Runtime → Transparency Log → Agent Runtime",</a:t>
            </a:r>
          </a:p>
          <a:p>
            <a:r>
              <a:rPr lang="en-US"/>
              <a:t>    "label": "Publish AIR bundle + return inclusion evidence",</a:t>
            </a:r>
          </a:p>
          <a:p>
            <a:r>
              <a:rPr lang="en-US"/>
              <a:t>    "meaning": "Sign and submit the complete verified AIR evidence bundle, wait for publication evidence and obtain public SCITT verification keys. This represents a multi-request publication flow, not exactly one HTTP roundtrip."</a:t>
            </a:r>
          </a:p>
          <a:p>
            <a:r>
              <a:rPr lang="en-US"/>
              <a:t>  },</a:t>
            </a:r>
          </a:p>
          <a:p>
            <a:r>
              <a:rPr lang="en-US"/>
              <a:t>  {</a:t>
            </a:r>
          </a:p>
          <a:p>
            <a:r>
              <a:rPr lang="en-US"/>
              <a:t>    "id": "A10",</a:t>
            </a:r>
          </a:p>
          <a:p>
            <a:r>
              <a:rPr lang="en-US"/>
              <a:t>    "actor": "Agent Runtime",</a:t>
            </a:r>
          </a:p>
          <a:p>
            <a:r>
              <a:rPr lang="en-US"/>
              <a:t>    "label": "Verify inclusion + return success",</a:t>
            </a:r>
          </a:p>
          <a:p>
            <a:r>
              <a:rPr lang="en-US"/>
              <a:t>    "meaning": "Verify inclusion of the exact signed statement with trusted log keys and check that publication binds the verified bundle. Store evidence and only then return verified-and-transparency-logged success."</a:t>
            </a:r>
          </a:p>
          <a:p>
            <a:r>
              <a:rPr lang="en-US"/>
              <a:t>  }</a:t>
            </a:r>
          </a:p>
          <a:p>
            <a:r>
              <a:rPr lang="en-US"/>
              <a:t>]</a:t>
            </a:r>
          </a:p>
          <a:p/>
          <a:p>
            <a:r>
              <a:rPr lang="en-US"/>
              <a:t>ORDER</a:t>
            </a:r>
          </a:p>
          <a:p>
            <a:r>
              <a:rPr lang="en-US"/>
              <a:t>["1–3", "A1", 4, 5, 6, 7, 8, 9, "A2", "A3", "A4", "A5", "A6", "A7", "A8", "A9", "A10"]</a:t>
            </a:r>
          </a:p>
          <a:p/>
          <a:p>
            <a:r>
              <a:rPr lang="en-US"/>
              <a:t>SCOPE AND MODELING</a:t>
            </a:r>
          </a:p>
          <a:p>
            <a:r>
              <a:rPr lang="en-US"/>
              <a:t>The diagrams depict run_and_verify_tee_inference, the third MCP function, in the current RA-TLS profile. Model loading and job preparation have already happened. Shared steps 1–3 group token creation, challenged session verification, request PoP and receiver authorization. The protected request follows successful session appraisal. Sello labels 4–9 retain their meaning. AIR numbering is now chronological and consistent across all variants: A1 creation → Sello 4–9 → A2–A8 appraisal → A9 publication → A10 inclusion and verified success. B displays every AIR number individually; A/C summarize A2–A8 and A9–A10 in grouped labels.</a:t>
            </a:r>
          </a:p>
          <a:p>
            <a:r>
              <a:rPr lang="en-US"/>
              <a:t>PLANNING AND RUNTIME</a:t>
            </a:r>
          </a:p>
          <a:p>
            <a:r>
              <a:rPr lang="en-US"/>
              <a:t>Agent Runtime is programmed client code inside the selected tool. The LLM chooses prepared tools and can reuse session artifacts; explicit skill commands also have a direct route. Within the tool, authorization, evidence checks and required publications follow fixed code. The LLM cannot skip an individual check in that invocation. This is not a claim that all natural-language output is cryptographically verified.</a:t>
            </a:r>
          </a:p>
          <a:p>
            <a:r>
              <a:rPr lang="en-US"/>
              <a:t>ACTORS AND EVIDENCE</a:t>
            </a:r>
          </a:p>
          <a:p>
            <a:r>
              <a:rPr lang="en-US"/>
              <a:t>A/C use three areas. B has four lanes, from top to bottom: Agent Runtime, Inference TEE, Transparency Log, Phala API. The runtime also holds the owner/issuer role; its HPKE private key is not sent to the receiver or log. The session quote and the later inference quote are distinct. AIR, Sello and outer SCITT statements use separate signing keys.</a:t>
            </a:r>
          </a:p>
          <a:p>
            <a:r>
              <a:rPr lang="en-US"/>
              <a:t>Sello hashes the exact logical tool input (canonical job_id) and complete AIR output bytes. Encrypt first, then COSE-sign the Sello receipt envelope. HPKE protects its hashes/metadata, not the whole inference response or separately published AIR evidence. The shared reply carries the AIR bundle in its body, Sello receipt in headers and a receiver publication-bundle reference. The agent retrieves that publication bundle from the TEE and public log keys from the log. Sello step 8 groups these retrievals and receipt/inclusion checks. Step 9 groups original session-evidence publication and owner-encrypted token/input/output audit export, both with inclusion checks.</a:t>
            </a:r>
          </a:p>
          <a:p>
            <a:r>
              <a:rPr lang="en-US"/>
              <a:t>EXPANDED AIR VERIFICATION</a:t>
            </a:r>
          </a:p>
          <a:p>
            <a:r>
              <a:rPr lang="en-US"/>
              <a:t>A2 performs local context/quote policy checks before network delegation. A3 is the POST of the inference-specific quote and direct JSON response from Phala to the agent. A4 validates flags, lookup ID and returned quote fields. A5 is a second HTTP transaction: GET the raw quote and return bytes to the agent. A6 compares all quote bytes and verifies AIR signature/bindings. A7 replays RTMR3; A8 checks measured deployment policy and basic output consistency. A9 is separate AIR-domain publication, with receipt waiting and log-key retrieval; A10 verifies inclusion and matching bundle hash before success. Both Phala responses are explicitly drawn back to the agent. They are ordinary responses, not callbacks, and neither is sent to the Inference TEE or transparency log. The earlier Phala session-quote check remains condensed in shared steps 1–3. A3 delegates cryptographic TDX appraisal; the agent does not independently validate the Intel collateral chain. The Phala API JSON is not a signed EAT.</a:t>
            </a:r>
          </a:p>
          <a:p>
            <a:r>
              <a:rPr lang="en-US"/>
              <a:t>LIMITS</a:t>
            </a:r>
          </a:p>
          <a:p>
            <a:r>
              <a:rPr lang="en-US"/>
              <a:t>Local checks, including RTMR3 replay, are mandatory but do not independently authenticate the hardware signature without the delegated quote check. RTMR3 replay verifies event-log consistency; Compose/image/policy appraisal determines whether the measured workload is allowed. Log inclusion does not prove inference arithmetic, clinical accuracy, availability or global log consistency. Publication failure prevents verified success but does not roll back prior computation. No new deployment or system test was run.</a:t>
            </a:r>
          </a:p>
          <a:p>
            <a:r>
              <a:rPr lang="en-US"/>
              <a:t>COLOR LEGEND</a:t>
            </a:r>
          </a:p>
          <a:p>
            <a:r>
              <a:rPr lang="en-US"/>
              <a:t>Dark orange identifies Sello handling and its RA-TLS audit extension. Dark blue identifies inference/AIR creation, appraisal, publication and inclusion. Gray identifies shared authorization/session setup and transport of both layers. Actor areas are neutral. Colors identify protocol layers, not secure/unsafe status. Every slide includes a color legend; all body elements are editable PowerPoint shapes. B additionally distinguishes solid execution-order arrows from dashed AIR data-reference arrows. The dashed paths A1 → 7 and 7 → A2 trace the original AIR bundle into the shared response and its later use by the agent. They are not additional HTTP requests and do not start A2 in parallel; solid 9 → A2 retains the implemented Sello-completion dependency.</a:t>
            </a:r>
          </a:p>
          <a:p/>
          <a:p>
            <a:r>
              <a:rPr lang="en-US"/>
              <a:t>SOURCE REFERENCES</a:t>
            </a:r>
          </a:p>
          <a:p>
            <a:r>
              <a:rPr lang="en-US"/>
              <a:t>[</a:t>
            </a:r>
          </a:p>
          <a:p>
            <a:r>
              <a:rPr lang="en-US"/>
              <a:t>  {</a:t>
            </a:r>
          </a:p>
          <a:p>
            <a:r>
              <a:rPr lang="en-US"/>
              <a:t>    "path": "vita-fl/transport_security/attestation.py",</a:t>
            </a:r>
          </a:p>
          <a:p>
            <a:r>
              <a:rPr lang="en-US"/>
              <a:t>    "lines": [</a:t>
            </a:r>
          </a:p>
          <a:p>
            <a:r>
              <a:rPr lang="en-US"/>
              <a:t>      302,</a:t>
            </a:r>
          </a:p>
          <a:p>
            <a:r>
              <a:rPr lang="en-US"/>
              <a:t>      338,</a:t>
            </a:r>
          </a:p>
          <a:p>
            <a:r>
              <a:rPr lang="en-US"/>
              <a:t>      372,</a:t>
            </a:r>
          </a:p>
          <a:p>
            <a:r>
              <a:rPr lang="en-US"/>
              <a:t>      381</a:t>
            </a:r>
          </a:p>
          <a:p>
            <a:r>
              <a:rPr lang="en-US"/>
              <a:t>    ],</a:t>
            </a:r>
          </a:p>
          <a:p>
            <a:r>
              <a:rPr lang="en-US"/>
              <a:t>    "finding": "Delegate the inference quote to Phala, check the API result and bind it to the exact quote bytes.",</a:t>
            </a:r>
          </a:p>
          <a:p>
            <a:r>
              <a:rPr lang="en-US"/>
              <a:t>    "sha256": "4706c3d0548d7b1489547c42ec182c13d1d6876b7a531317c956c2c920e58433"</a:t>
            </a:r>
          </a:p>
          <a:p>
            <a:r>
              <a:rPr lang="en-US"/>
              <a:t>  },</a:t>
            </a:r>
          </a:p>
          <a:p>
            <a:r>
              <a:rPr lang="en-US"/>
              <a:t>  {</a:t>
            </a:r>
          </a:p>
          <a:p>
            <a:r>
              <a:rPr lang="en-US"/>
              <a:t>    "path": "vita-fl/agent/run_agent.py",</a:t>
            </a:r>
          </a:p>
          <a:p>
            <a:r>
              <a:rPr lang="en-US"/>
              <a:t>    "lines": [</a:t>
            </a:r>
          </a:p>
          <a:p>
            <a:r>
              <a:rPr lang="en-US"/>
              <a:t>      329,</a:t>
            </a:r>
          </a:p>
          <a:p>
            <a:r>
              <a:rPr lang="en-US"/>
              <a:t>      365,</a:t>
            </a:r>
          </a:p>
          <a:p>
            <a:r>
              <a:rPr lang="en-US"/>
              <a:t>      369,</a:t>
            </a:r>
          </a:p>
          <a:p>
            <a:r>
              <a:rPr lang="en-US"/>
              <a:t>      384,</a:t>
            </a:r>
          </a:p>
          <a:p>
            <a:r>
              <a:rPr lang="en-US"/>
              <a:t>      587,</a:t>
            </a:r>
          </a:p>
          <a:p>
            <a:r>
              <a:rPr lang="en-US"/>
              <a:t>      593,</a:t>
            </a:r>
          </a:p>
          <a:p>
            <a:r>
              <a:rPr lang="en-US"/>
              <a:t>      993,</a:t>
            </a:r>
          </a:p>
          <a:p>
            <a:r>
              <a:rPr lang="en-US"/>
              <a:t>      1004</a:t>
            </a:r>
          </a:p>
          <a:p>
            <a:r>
              <a:rPr lang="en-US"/>
              <a:t>    ],</a:t>
            </a:r>
          </a:p>
          <a:p>
            <a:r>
              <a:rPr lang="en-US"/>
              <a:t>    "finding": "The LLM can select prepared tools; explicit skill commands also have a direct route. Tool implementations enforce their verification sequence.",</a:t>
            </a:r>
          </a:p>
          <a:p>
            <a:r>
              <a:rPr lang="en-US"/>
              <a:t>    "sha256": "6afbfeffdedd638f0f364f96db09915510e3270aef4ac3559c7ba6f810a7780d"</a:t>
            </a:r>
          </a:p>
          <a:p>
            <a:r>
              <a:rPr lang="en-US"/>
              <a:t>  },</a:t>
            </a:r>
          </a:p>
          <a:p>
            <a:r>
              <a:rPr lang="en-US"/>
              <a:t>  {</a:t>
            </a:r>
          </a:p>
          <a:p>
            <a:r>
              <a:rPr lang="en-US"/>
              <a:t>    "path": "vita-fl/agent/sello_client.py",</a:t>
            </a:r>
          </a:p>
          <a:p>
            <a:r>
              <a:rPr lang="en-US"/>
              <a:t>    "lines": [</a:t>
            </a:r>
          </a:p>
          <a:p>
            <a:r>
              <a:rPr lang="en-US"/>
              <a:t>      104,</a:t>
            </a:r>
          </a:p>
          <a:p>
            <a:r>
              <a:rPr lang="en-US"/>
              <a:t>      142,</a:t>
            </a:r>
          </a:p>
          <a:p>
            <a:r>
              <a:rPr lang="en-US"/>
              <a:t>      145,</a:t>
            </a:r>
          </a:p>
          <a:p>
            <a:r>
              <a:rPr lang="en-US"/>
              <a:t>      224,</a:t>
            </a:r>
          </a:p>
          <a:p>
            <a:r>
              <a:rPr lang="en-US"/>
              <a:t>      245,</a:t>
            </a:r>
          </a:p>
          <a:p>
            <a:r>
              <a:rPr lang="en-US"/>
              <a:t>      348</a:t>
            </a:r>
          </a:p>
          <a:p>
            <a:r>
              <a:rPr lang="en-US"/>
              <a:t>    ],</a:t>
            </a:r>
          </a:p>
          <a:p>
            <a:r>
              <a:rPr lang="en-US"/>
              <a:t>    "finding": "Authorization, receipt verification, receiver bundle retrieval, and supplementary RA-TLS session/context publication.",</a:t>
            </a:r>
          </a:p>
          <a:p>
            <a:r>
              <a:rPr lang="en-US"/>
              <a:t>    "sha256": "9a35d6ba08c3aa43e44c05a57c5ced271484e32fac1580c2715b3c92d009db67"</a:t>
            </a:r>
          </a:p>
          <a:p>
            <a:r>
              <a:rPr lang="en-US"/>
              <a:t>  },</a:t>
            </a:r>
          </a:p>
          <a:p>
            <a:r>
              <a:rPr lang="en-US"/>
              <a:t>  {</a:t>
            </a:r>
          </a:p>
          <a:p>
            <a:r>
              <a:rPr lang="en-US"/>
              <a:t>    "path": "vita-fl/transport_security/ratls_client.py",</a:t>
            </a:r>
          </a:p>
          <a:p>
            <a:r>
              <a:rPr lang="en-US"/>
              <a:t>    "lines": [</a:t>
            </a:r>
          </a:p>
          <a:p>
            <a:r>
              <a:rPr lang="en-US"/>
              <a:t>      112,</a:t>
            </a:r>
          </a:p>
          <a:p>
            <a:r>
              <a:rPr lang="en-US"/>
              <a:t>      170</a:t>
            </a:r>
          </a:p>
          <a:p>
            <a:r>
              <a:rPr lang="en-US"/>
              <a:t>    ],</a:t>
            </a:r>
          </a:p>
          <a:p>
            <a:r>
              <a:rPr lang="en-US"/>
              <a:t>    "finding": "Verify the attested TLS session before the protected request.",</a:t>
            </a:r>
          </a:p>
          <a:p>
            <a:r>
              <a:rPr lang="en-US"/>
              <a:t>    "sha256": "8ac86c4d5cd85262ce88cfc3a20f28281122c45e359445788851857146ac2a3a"</a:t>
            </a:r>
          </a:p>
          <a:p>
            <a:r>
              <a:rPr lang="en-US"/>
              <a:t>  },</a:t>
            </a:r>
          </a:p>
          <a:p>
            <a:r>
              <a:rPr lang="en-US"/>
              <a:t>  {</a:t>
            </a:r>
          </a:p>
          <a:p>
            <a:r>
              <a:rPr lang="en-US"/>
              <a:t>    "path": "vita-fl/tee_inference/service/app.py",</a:t>
            </a:r>
          </a:p>
          <a:p>
            <a:r>
              <a:rPr lang="en-US"/>
              <a:t>    "lines": [</a:t>
            </a:r>
          </a:p>
          <a:p>
            <a:r>
              <a:rPr lang="en-US"/>
              <a:t>      146,</a:t>
            </a:r>
          </a:p>
          <a:p>
            <a:r>
              <a:rPr lang="en-US"/>
              <a:t>      239,</a:t>
            </a:r>
          </a:p>
          <a:p>
            <a:r>
              <a:rPr lang="en-US"/>
              <a:t>      253,</a:t>
            </a:r>
          </a:p>
          <a:p>
            <a:r>
              <a:rPr lang="en-US"/>
              <a:t>      263,</a:t>
            </a:r>
          </a:p>
          <a:p>
            <a:r>
              <a:rPr lang="en-US"/>
              <a:t>      330,</a:t>
            </a:r>
          </a:p>
          <a:p>
            <a:r>
              <a:rPr lang="en-US"/>
              <a:t>      382</a:t>
            </a:r>
          </a:p>
          <a:p>
            <a:r>
              <a:rPr lang="en-US"/>
              <a:t>    ],</a:t>
            </a:r>
          </a:p>
          <a:p>
            <a:r>
              <a:rPr lang="en-US"/>
              <a:t>    "finding": "Receiver authorization, action execution, fail-closed publication before response, and publication-bundle endpoint.",</a:t>
            </a:r>
          </a:p>
          <a:p>
            <a:r>
              <a:rPr lang="en-US"/>
              <a:t>    "sha256": "b3c84a4ef9dc909edbb9049d5858067153598e19a5a7c13dcbc3ae91291f093d"</a:t>
            </a:r>
          </a:p>
          <a:p>
            <a:r>
              <a:rPr lang="en-US"/>
              <a:t>  },</a:t>
            </a:r>
          </a:p>
          <a:p>
            <a:r>
              <a:rPr lang="en-US"/>
              <a:t>  {</a:t>
            </a:r>
          </a:p>
          <a:p>
            <a:r>
              <a:rPr lang="en-US"/>
              <a:t>    "path": "vita-fl/agent_receipts/sello_v1.py",</a:t>
            </a:r>
          </a:p>
          <a:p>
            <a:r>
              <a:rPr lang="en-US"/>
              <a:t>    "lines": [</a:t>
            </a:r>
          </a:p>
          <a:p>
            <a:r>
              <a:rPr lang="en-US"/>
              <a:t>      117,</a:t>
            </a:r>
          </a:p>
          <a:p>
            <a:r>
              <a:rPr lang="en-US"/>
              <a:t>      160,</a:t>
            </a:r>
          </a:p>
          <a:p>
            <a:r>
              <a:rPr lang="en-US"/>
              <a:t>      263,</a:t>
            </a:r>
          </a:p>
          <a:p>
            <a:r>
              <a:rPr lang="en-US"/>
              <a:t>      306,</a:t>
            </a:r>
          </a:p>
          <a:p>
            <a:r>
              <a:rPr lang="en-US"/>
              <a:t>      363,</a:t>
            </a:r>
          </a:p>
          <a:p>
            <a:r>
              <a:rPr lang="en-US"/>
              <a:t>      406</a:t>
            </a:r>
          </a:p>
          <a:p>
            <a:r>
              <a:rPr lang="en-US"/>
              <a:t>    ],</a:t>
            </a:r>
          </a:p>
          <a:p>
            <a:r>
              <a:rPr lang="en-US"/>
              <a:t>    "finding": "Token, receipt commitments, HPKE encryption then COSE signing, owner verification.",</a:t>
            </a:r>
          </a:p>
          <a:p>
            <a:r>
              <a:rPr lang="en-US"/>
              <a:t>    "sha256": "6fbc5cfad8a57ef3794420a9df96e1f93b65bfa3f5bf8698023427504fefa42a"</a:t>
            </a:r>
          </a:p>
          <a:p>
            <a:r>
              <a:rPr lang="en-US"/>
              <a:t>  },</a:t>
            </a:r>
          </a:p>
          <a:p>
            <a:r>
              <a:rPr lang="en-US"/>
              <a:t>  {</a:t>
            </a:r>
          </a:p>
          <a:p>
            <a:r>
              <a:rPr lang="en-US"/>
              <a:t>    "path": "vita-fl/agent_receipts/receiver_log.py",</a:t>
            </a:r>
          </a:p>
          <a:p>
            <a:r>
              <a:rPr lang="en-US"/>
              <a:t>    "lines": [</a:t>
            </a:r>
          </a:p>
          <a:p>
            <a:r>
              <a:rPr lang="en-US"/>
              <a:t>      25,</a:t>
            </a:r>
          </a:p>
          <a:p>
            <a:r>
              <a:rPr lang="en-US"/>
              <a:t>      50</a:t>
            </a:r>
          </a:p>
          <a:p>
            <a:r>
              <a:rPr lang="en-US"/>
              <a:t>    ],</a:t>
            </a:r>
          </a:p>
          <a:p>
            <a:r>
              <a:rPr lang="en-US"/>
              <a:t>    "finding": "Receiver publishes and stores the inclusion bundle.",</a:t>
            </a:r>
          </a:p>
          <a:p>
            <a:r>
              <a:rPr lang="en-US"/>
              <a:t>    "sha256": "2f100d35c39cf1afefa4b3db96e1bb3cb1779717d92ccde5033981254b387f96"</a:t>
            </a:r>
          </a:p>
          <a:p>
            <a:r>
              <a:rPr lang="en-US"/>
              <a:t>  },</a:t>
            </a:r>
          </a:p>
          <a:p>
            <a:r>
              <a:rPr lang="en-US"/>
              <a:t>  {</a:t>
            </a:r>
          </a:p>
          <a:p>
            <a:r>
              <a:rPr lang="en-US"/>
              <a:t>    "path": "vita-fl/agent_receipts/scitt.py",</a:t>
            </a:r>
          </a:p>
          <a:p>
            <a:r>
              <a:rPr lang="en-US"/>
              <a:t>    "lines": [</a:t>
            </a:r>
          </a:p>
          <a:p>
            <a:r>
              <a:rPr lang="en-US"/>
              <a:t>      93,</a:t>
            </a:r>
          </a:p>
          <a:p>
            <a:r>
              <a:rPr lang="en-US"/>
              <a:t>      106,</a:t>
            </a:r>
          </a:p>
          <a:p>
            <a:r>
              <a:rPr lang="en-US"/>
              <a:t>      175,</a:t>
            </a:r>
          </a:p>
          <a:p>
            <a:r>
              <a:rPr lang="en-US"/>
              <a:t>      216</a:t>
            </a:r>
          </a:p>
          <a:p>
            <a:r>
              <a:rPr lang="en-US"/>
              <a:t>    ],</a:t>
            </a:r>
          </a:p>
          <a:p>
            <a:r>
              <a:rPr lang="en-US"/>
              <a:t>    "finding": "SCITT publication and exact-byte inclusion verification; public log-key retrieval.",</a:t>
            </a:r>
          </a:p>
          <a:p>
            <a:r>
              <a:rPr lang="en-US"/>
              <a:t>    "sha256": "818367d460c73c4f14a46172e4da8762f68640b4fa471d61e2acc0ba06b7f159"</a:t>
            </a:r>
          </a:p>
          <a:p>
            <a:r>
              <a:rPr lang="en-US"/>
              <a:t>  },</a:t>
            </a:r>
          </a:p>
          <a:p>
            <a:r>
              <a:rPr lang="en-US"/>
              <a:t>  {</a:t>
            </a:r>
          </a:p>
          <a:p>
            <a:r>
              <a:rPr lang="en-US"/>
              <a:t>    "path": "vita-fl/agent_receipts/environment.py",</a:t>
            </a:r>
          </a:p>
          <a:p>
            <a:r>
              <a:rPr lang="en-US"/>
              <a:t>    "lines": [</a:t>
            </a:r>
          </a:p>
          <a:p>
            <a:r>
              <a:rPr lang="en-US"/>
              <a:t>      30,</a:t>
            </a:r>
          </a:p>
          <a:p>
            <a:r>
              <a:rPr lang="en-US"/>
              <a:t>      75</a:t>
            </a:r>
          </a:p>
          <a:p>
            <a:r>
              <a:rPr lang="en-US"/>
              <a:t>    ],</a:t>
            </a:r>
          </a:p>
          <a:p>
            <a:r>
              <a:rPr lang="en-US"/>
              <a:t>    "finding": "Receiver key and owner/issuer roles in current deployment.",</a:t>
            </a:r>
          </a:p>
          <a:p>
            <a:r>
              <a:rPr lang="en-US"/>
              <a:t>    "sha256": "8618fa10336f05cd268ec72e40f09e98fcc1b9574eec721f8a6441d325fcfeb3"</a:t>
            </a:r>
          </a:p>
          <a:p>
            <a:r>
              <a:rPr lang="en-US"/>
              <a:t>  },</a:t>
            </a:r>
          </a:p>
          <a:p>
            <a:r>
              <a:rPr lang="en-US"/>
              <a:t>  {</a:t>
            </a:r>
          </a:p>
          <a:p>
            <a:r>
              <a:rPr lang="en-US"/>
              <a:t>    "path": "vita-fl/phala/dstack-compose.worker.phala.tftpl",</a:t>
            </a:r>
          </a:p>
          <a:p>
            <a:r>
              <a:rPr lang="en-US"/>
              <a:t>    "lines": [</a:t>
            </a:r>
          </a:p>
          <a:p>
            <a:r>
              <a:rPr lang="en-US"/>
              <a:t>      92</a:t>
            </a:r>
          </a:p>
          <a:p>
            <a:r>
              <a:rPr lang="en-US"/>
              <a:t>    ],</a:t>
            </a:r>
          </a:p>
          <a:p>
            <a:r>
              <a:rPr lang="en-US"/>
              <a:t>    "finding": "Worker RA-TLS profile.",</a:t>
            </a:r>
          </a:p>
          <a:p>
            <a:r>
              <a:rPr lang="en-US"/>
              <a:t>    "sha256": "ede512b4c8efc28e7a0cfde0070137166f65b1b225387beb95b5a296b3b929e7"</a:t>
            </a:r>
          </a:p>
          <a:p>
            <a:r>
              <a:rPr lang="en-US"/>
              <a:t>  },</a:t>
            </a:r>
          </a:p>
          <a:p>
            <a:r>
              <a:rPr lang="en-US"/>
              <a:t>  {</a:t>
            </a:r>
          </a:p>
          <a:p>
            <a:r>
              <a:rPr lang="en-US"/>
              <a:t>    "path": "vita-fl/phala/dstack-compose.contracts.phala.tftpl",</a:t>
            </a:r>
          </a:p>
          <a:p>
            <a:r>
              <a:rPr lang="en-US"/>
              <a:t>    "lines": [</a:t>
            </a:r>
          </a:p>
          <a:p>
            <a:r>
              <a:rPr lang="en-US"/>
              <a:t>      280,</a:t>
            </a:r>
          </a:p>
          <a:p>
            <a:r>
              <a:rPr lang="en-US"/>
              <a:t>      299</a:t>
            </a:r>
          </a:p>
          <a:p>
            <a:r>
              <a:rPr lang="en-US"/>
              <a:t>    ],</a:t>
            </a:r>
          </a:p>
          <a:p>
            <a:r>
              <a:rPr lang="en-US"/>
              <a:t>    "finding": "Agent RA-TLS profile and owner key environment configuration.",</a:t>
            </a:r>
          </a:p>
          <a:p>
            <a:r>
              <a:rPr lang="en-US"/>
              <a:t>    "sha256": "d6fee4cbe48ce32438f71b3a2c96e92ce198fb894147ab244c9addbac6a5d705"</a:t>
            </a:r>
          </a:p>
          <a:p>
            <a:r>
              <a:rPr lang="en-US"/>
              <a:t>  },</a:t>
            </a:r>
          </a:p>
          <a:p>
            <a:r>
              <a:rPr lang="en-US"/>
              <a:t>  {</a:t>
            </a:r>
          </a:p>
          <a:p>
            <a:r>
              <a:rPr lang="en-US"/>
              <a:t>    "path": "vita-fl/agent/tee_inference_client.py",</a:t>
            </a:r>
          </a:p>
          <a:p>
            <a:r>
              <a:rPr lang="en-US"/>
              <a:t>    "lines": [</a:t>
            </a:r>
          </a:p>
          <a:p>
            <a:r>
              <a:rPr lang="en-US"/>
              <a:t>      245,</a:t>
            </a:r>
          </a:p>
          <a:p>
            <a:r>
              <a:rPr lang="en-US"/>
              <a:t>      269,</a:t>
            </a:r>
          </a:p>
          <a:p>
            <a:r>
              <a:rPr lang="en-US"/>
              <a:t>      521,</a:t>
            </a:r>
          </a:p>
          <a:p>
            <a:r>
              <a:rPr lang="en-US"/>
              <a:t>      568,</a:t>
            </a:r>
          </a:p>
          <a:p>
            <a:r>
              <a:rPr lang="en-US"/>
              <a:t>      578,</a:t>
            </a:r>
          </a:p>
          <a:p>
            <a:r>
              <a:rPr lang="en-US"/>
              <a:t>      609,</a:t>
            </a:r>
          </a:p>
          <a:p>
            <a:r>
              <a:rPr lang="en-US"/>
              <a:t>      618,</a:t>
            </a:r>
          </a:p>
          <a:p>
            <a:r>
              <a:rPr lang="en-US"/>
              <a:t>      699,</a:t>
            </a:r>
          </a:p>
          <a:p>
            <a:r>
              <a:rPr lang="en-US"/>
              <a:t>      720,</a:t>
            </a:r>
          </a:p>
          <a:p>
            <a:r>
              <a:rPr lang="en-US"/>
              <a:t>      755</a:t>
            </a:r>
          </a:p>
          <a:p>
            <a:r>
              <a:rPr lang="en-US"/>
              <a:t>    ],</a:t>
            </a:r>
          </a:p>
          <a:p>
            <a:r>
              <a:rPr lang="en-US"/>
              <a:t>    "finding": "Sello completes first; AIR appraisal and separate domain publication follow.",</a:t>
            </a:r>
          </a:p>
          <a:p>
            <a:r>
              <a:rPr lang="en-US"/>
              <a:t>    "sha256": "4f1b0cd4b0f3e9443400bb574589c9f6fa47302e2a4bd774d5a45ea9a65b6b0d"</a:t>
            </a:r>
          </a:p>
          <a:p>
            <a:r>
              <a:rPr lang="en-US"/>
              <a:t>  },</a:t>
            </a:r>
          </a:p>
          <a:p>
            <a:r>
              <a:rPr lang="en-US"/>
              <a:t>  {</a:t>
            </a:r>
          </a:p>
          <a:p>
            <a:r>
              <a:rPr lang="en-US"/>
              <a:t>    "path": "vita-fl/tee_inference/service/attestation.py",</a:t>
            </a:r>
          </a:p>
          <a:p>
            <a:r>
              <a:rPr lang="en-US"/>
              <a:t>    "lines": [</a:t>
            </a:r>
          </a:p>
          <a:p>
            <a:r>
              <a:rPr lang="en-US"/>
              <a:t>      69,</a:t>
            </a:r>
          </a:p>
          <a:p>
            <a:r>
              <a:rPr lang="en-US"/>
              <a:t>      138</a:t>
            </a:r>
          </a:p>
          <a:p>
            <a:r>
              <a:rPr lang="en-US"/>
              <a:t>    ],</a:t>
            </a:r>
          </a:p>
          <a:p>
            <a:r>
              <a:rPr lang="en-US"/>
              <a:t>    "finding": "Inference-specific AIR receipt, quote and complete evidence bundle.",</a:t>
            </a:r>
          </a:p>
          <a:p>
            <a:r>
              <a:rPr lang="en-US"/>
              <a:t>    "sha256": "e6d79ad3db01872ae2cfb22ae3ea14025f61dde1f53b887db69111b57cd4b87a"</a:t>
            </a:r>
          </a:p>
          <a:p>
            <a:r>
              <a:rPr lang="en-US"/>
              <a:t>  }</a:t>
            </a:r>
          </a:p>
          <a:p>
            <a:r>
              <a:rPr lang="en-US"/>
              <a:t>]</a:t>
            </a:r>
          </a:p>
          <a:p>
            <a:r>
              <a:rPr lang="en-US"/>
              <a:t>GENERALIZED COPY</a:t>
            </a:r>
          </a:p>
          <a:p>
            <a:r>
              <a:rPr lang="en-US"/>
              <a:t>A2/A4 groups context and verifier-result checks before and between API calls. A3/A5 groups Phala quote verification and raw-quote retrieval. The bidirectional API path represents two HTTP transactions with agent-side JSON validation between them, not one atomic verifier call. A6–A8 groups byte equality, AIR signature/bindings, RTMR3 replay and deployment/output policy. Solid flow into A6–A8 is taken only after the API checks complete. A10 has been omitted as a visible diagram step at the user request; runtime inclusion verification remains mandatory in the implementation and is implicit in successful A9 publication. Original step IDs are retained for mapping to the detailed slide. Dashed A1 → 7 → A2/A4 traces the same AIR bundle; all Sello steps are unchanged.</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name="Sello AIR process proposal B">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Sello + AIR: complete verification flow</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THIRD MCP FUNCTION · AIR STEPS A1–A10 · FOLLOW STEP NUMBERS</a:t>
            </a:r>
          </a:p>
        </p:txBody>
      </p:sp>
      <p:sp>
        <p:nvSpPr>
          <p:cNvPr id="4" name="Rectangle 3"/>
          <p:cNvSpPr/>
          <p:nvPr/>
        </p:nvSpPr>
        <p:spPr>
          <a:xfrm>
            <a:off x="557784" y="1188720"/>
            <a:ext cx="10927080" cy="16459"/>
          </a:xfrm>
          <a:prstGeom prst="rect">
            <a:avLst/>
          </a:prstGeom>
          <a:solidFill>
            <a:srgbClr val="B7B7B7"/>
          </a:solidFill>
          <a:ln>
            <a:solidFill>
              <a:srgbClr val="B7B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5156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Variant B</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Protocol legend: sello"/>
          <p:cNvSpPr/>
          <p:nvPr/>
        </p:nvSpPr>
        <p:spPr>
          <a:xfrm>
            <a:off x="640080" y="1298448"/>
            <a:ext cx="137160" cy="137160"/>
          </a:xfrm>
          <a:prstGeom prst="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ello process: Sello · tool-call receipt"/>
          <p:cNvSpPr txBox="1"/>
          <p:nvPr/>
        </p:nvSpPr>
        <p:spPr>
          <a:xfrm>
            <a:off x="850392" y="1266444"/>
            <a:ext cx="2743200" cy="205740"/>
          </a:xfrm>
          <a:prstGeom prst="rect">
            <a:avLst/>
          </a:prstGeom>
          <a:noFill/>
        </p:spPr>
        <p:txBody>
          <a:bodyPr wrap="square" lIns="0" rIns="0" tIns="0" bIns="0" anchor="ctr">
            <a:spAutoFit/>
          </a:bodyPr>
          <a:lstStyle/>
          <a:p>
            <a:pPr algn="l"/>
            <a:r>
              <a:rPr sz="1070" b="1" lang="en-US">
                <a:solidFill>
                  <a:srgbClr val="A84B13"/>
                </a:solidFill>
                <a:latin typeface="Arial"/>
              </a:rPr>
              <a:t>Sello · tool-call receipt</a:t>
            </a:r>
          </a:p>
        </p:txBody>
      </p:sp>
      <p:sp>
        <p:nvSpPr>
          <p:cNvPr id="10" name="Protocol legend: air"/>
          <p:cNvSpPr/>
          <p:nvPr/>
        </p:nvSpPr>
        <p:spPr>
          <a:xfrm>
            <a:off x="3986784" y="1298448"/>
            <a:ext cx="137160" cy="137160"/>
          </a:xfrm>
          <a:prstGeom prst="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ello process: AIR · inference evidence"/>
          <p:cNvSpPr txBox="1"/>
          <p:nvPr/>
        </p:nvSpPr>
        <p:spPr>
          <a:xfrm>
            <a:off x="4197096" y="1266444"/>
            <a:ext cx="3566160" cy="205740"/>
          </a:xfrm>
          <a:prstGeom prst="rect">
            <a:avLst/>
          </a:prstGeom>
          <a:noFill/>
        </p:spPr>
        <p:txBody>
          <a:bodyPr wrap="square" lIns="0" rIns="0" tIns="0" bIns="0" anchor="ctr">
            <a:spAutoFit/>
          </a:bodyPr>
          <a:lstStyle/>
          <a:p>
            <a:pPr algn="l"/>
            <a:r>
              <a:rPr sz="1070" b="1" lang="en-US">
                <a:solidFill>
                  <a:srgbClr val="245AA5"/>
                </a:solidFill>
                <a:latin typeface="Arial"/>
              </a:rPr>
              <a:t>AIR · inference evidence</a:t>
            </a:r>
          </a:p>
        </p:txBody>
      </p:sp>
      <p:sp>
        <p:nvSpPr>
          <p:cNvPr id="12" name="Protocol legend: shared"/>
          <p:cNvSpPr/>
          <p:nvPr/>
        </p:nvSpPr>
        <p:spPr>
          <a:xfrm>
            <a:off x="8302752" y="1298448"/>
            <a:ext cx="137160" cy="137160"/>
          </a:xfrm>
          <a:prstGeom prst="rect">
            <a:avLst/>
          </a:prstGeom>
          <a:solidFill>
            <a:srgbClr val="FFFFFF"/>
          </a:solidFill>
          <a:ln w="10160">
            <a:solidFill>
              <a:srgbClr val="6868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ello process: Shared · auth / transport"/>
          <p:cNvSpPr txBox="1"/>
          <p:nvPr/>
        </p:nvSpPr>
        <p:spPr>
          <a:xfrm>
            <a:off x="8513064" y="1266444"/>
            <a:ext cx="3145536" cy="205740"/>
          </a:xfrm>
          <a:prstGeom prst="rect">
            <a:avLst/>
          </a:prstGeom>
          <a:noFill/>
        </p:spPr>
        <p:txBody>
          <a:bodyPr wrap="square" lIns="0" rIns="0" tIns="0" bIns="0" anchor="ctr">
            <a:spAutoFit/>
          </a:bodyPr>
          <a:lstStyle/>
          <a:p>
            <a:pPr algn="l"/>
            <a:r>
              <a:rPr sz="1070" b="1" lang="en-US">
                <a:solidFill>
                  <a:srgbClr val="686868"/>
                </a:solidFill>
                <a:latin typeface="Arial"/>
              </a:rPr>
              <a:t>Shared · auth / transport</a:t>
            </a:r>
          </a:p>
        </p:txBody>
      </p:sp>
      <p:sp>
        <p:nvSpPr>
          <p:cNvPr id="14" name="Sello AIR process panel"/>
          <p:cNvSpPr/>
          <p:nvPr/>
        </p:nvSpPr>
        <p:spPr>
          <a:xfrm>
            <a:off x="594360" y="1636776"/>
            <a:ext cx="10991088" cy="1536192"/>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ello AIR process panel"/>
          <p:cNvSpPr/>
          <p:nvPr/>
        </p:nvSpPr>
        <p:spPr>
          <a:xfrm>
            <a:off x="594360" y="1636776"/>
            <a:ext cx="1536192" cy="1536192"/>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ello actor: Agent Runtime"/>
          <p:cNvSpPr txBox="1"/>
          <p:nvPr/>
        </p:nvSpPr>
        <p:spPr>
          <a:xfrm>
            <a:off x="694944" y="1682496"/>
            <a:ext cx="1335024" cy="1444751"/>
          </a:xfrm>
          <a:prstGeom prst="rect">
            <a:avLst/>
          </a:prstGeom>
          <a:noFill/>
        </p:spPr>
        <p:txBody>
          <a:bodyPr wrap="square" lIns="0" rIns="0" tIns="0" bIns="0" anchor="ctr">
            <a:spAutoFit/>
          </a:bodyPr>
          <a:lstStyle/>
          <a:p>
            <a:pPr algn="ctr"/>
            <a:r>
              <a:rPr sz="1520" b="1" lang="en-US">
                <a:solidFill>
                  <a:srgbClr val="FFFFFF"/>
                </a:solidFill>
                <a:latin typeface="Arial"/>
              </a:rPr>
              <a:t>Agent
Runtime</a:t>
            </a:r>
          </a:p>
        </p:txBody>
      </p:sp>
      <p:sp>
        <p:nvSpPr>
          <p:cNvPr id="17" name="Sello AIR process panel"/>
          <p:cNvSpPr/>
          <p:nvPr/>
        </p:nvSpPr>
        <p:spPr>
          <a:xfrm>
            <a:off x="594360" y="3264408"/>
            <a:ext cx="10991088" cy="585216"/>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ello AIR process panel"/>
          <p:cNvSpPr/>
          <p:nvPr/>
        </p:nvSpPr>
        <p:spPr>
          <a:xfrm>
            <a:off x="594360" y="3264408"/>
            <a:ext cx="1536192" cy="585216"/>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ello actor: Inference TEE"/>
          <p:cNvSpPr txBox="1"/>
          <p:nvPr/>
        </p:nvSpPr>
        <p:spPr>
          <a:xfrm>
            <a:off x="694944" y="3310127"/>
            <a:ext cx="1335024" cy="493776"/>
          </a:xfrm>
          <a:prstGeom prst="rect">
            <a:avLst/>
          </a:prstGeom>
          <a:noFill/>
        </p:spPr>
        <p:txBody>
          <a:bodyPr wrap="square" lIns="0" rIns="0" tIns="0" bIns="0" anchor="ctr">
            <a:spAutoFit/>
          </a:bodyPr>
          <a:lstStyle/>
          <a:p>
            <a:pPr algn="ctr"/>
            <a:r>
              <a:rPr sz="1520" b="1" lang="en-US">
                <a:solidFill>
                  <a:srgbClr val="FFFFFF"/>
                </a:solidFill>
                <a:latin typeface="Arial"/>
              </a:rPr>
              <a:t>Inference
TEE</a:t>
            </a:r>
          </a:p>
        </p:txBody>
      </p:sp>
      <p:sp>
        <p:nvSpPr>
          <p:cNvPr id="20" name="Sello AIR process panel"/>
          <p:cNvSpPr/>
          <p:nvPr/>
        </p:nvSpPr>
        <p:spPr>
          <a:xfrm>
            <a:off x="594360" y="3941063"/>
            <a:ext cx="10991088" cy="585216"/>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ello AIR process panel"/>
          <p:cNvSpPr/>
          <p:nvPr/>
        </p:nvSpPr>
        <p:spPr>
          <a:xfrm>
            <a:off x="594360" y="3941063"/>
            <a:ext cx="1536192" cy="585216"/>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ello actor: Transparency Log"/>
          <p:cNvSpPr txBox="1"/>
          <p:nvPr/>
        </p:nvSpPr>
        <p:spPr>
          <a:xfrm>
            <a:off x="694944" y="3986783"/>
            <a:ext cx="1335024" cy="493776"/>
          </a:xfrm>
          <a:prstGeom prst="rect">
            <a:avLst/>
          </a:prstGeom>
          <a:noFill/>
        </p:spPr>
        <p:txBody>
          <a:bodyPr wrap="square" lIns="0" rIns="0" tIns="0" bIns="0" anchor="ctr">
            <a:spAutoFit/>
          </a:bodyPr>
          <a:lstStyle/>
          <a:p>
            <a:pPr algn="ctr"/>
            <a:r>
              <a:rPr sz="1400" b="1" lang="en-US">
                <a:solidFill>
                  <a:srgbClr val="FFFFFF"/>
                </a:solidFill>
                <a:latin typeface="Arial"/>
              </a:rPr>
              <a:t>Transparency
Log</a:t>
            </a:r>
          </a:p>
        </p:txBody>
      </p:sp>
      <p:sp>
        <p:nvSpPr>
          <p:cNvPr id="23" name="Sello AIR process panel"/>
          <p:cNvSpPr/>
          <p:nvPr/>
        </p:nvSpPr>
        <p:spPr>
          <a:xfrm>
            <a:off x="594360" y="4617720"/>
            <a:ext cx="10991088" cy="585216"/>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ello AIR process panel"/>
          <p:cNvSpPr/>
          <p:nvPr/>
        </p:nvSpPr>
        <p:spPr>
          <a:xfrm>
            <a:off x="594360" y="4617720"/>
            <a:ext cx="1536192" cy="585216"/>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ello actor: Phala API"/>
          <p:cNvSpPr txBox="1"/>
          <p:nvPr/>
        </p:nvSpPr>
        <p:spPr>
          <a:xfrm>
            <a:off x="694944" y="4663440"/>
            <a:ext cx="1335024" cy="493776"/>
          </a:xfrm>
          <a:prstGeom prst="rect">
            <a:avLst/>
          </a:prstGeom>
          <a:noFill/>
        </p:spPr>
        <p:txBody>
          <a:bodyPr wrap="square" lIns="0" rIns="0" tIns="0" bIns="0" anchor="ctr">
            <a:spAutoFit/>
          </a:bodyPr>
          <a:lstStyle/>
          <a:p>
            <a:pPr algn="ctr"/>
            <a:r>
              <a:rPr sz="1520" b="1" lang="en-US">
                <a:solidFill>
                  <a:srgbClr val="FFFFFF"/>
                </a:solidFill>
                <a:latin typeface="Arial"/>
              </a:rPr>
              <a:t>Phala
API</a:t>
            </a:r>
          </a:p>
        </p:txBody>
      </p:sp>
      <p:cxnSp>
        <p:nvCxnSpPr>
          <p:cNvPr id="26" name="Layer connector: shared"/>
          <p:cNvCxnSpPr/>
          <p:nvPr/>
        </p:nvCxnSpPr>
        <p:spPr>
          <a:xfrm>
            <a:off x="2889503" y="2377440"/>
            <a:ext cx="0" cy="932688"/>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Layer connector: shared"/>
          <p:cNvCxnSpPr/>
          <p:nvPr/>
        </p:nvCxnSpPr>
        <p:spPr>
          <a:xfrm>
            <a:off x="3483863" y="3557016"/>
            <a:ext cx="91441" cy="0"/>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Layer connector: sello"/>
          <p:cNvCxnSpPr/>
          <p:nvPr/>
        </p:nvCxnSpPr>
        <p:spPr>
          <a:xfrm>
            <a:off x="4169664" y="3803904"/>
            <a:ext cx="0" cy="18288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Layer connector: sello"/>
          <p:cNvCxnSpPr/>
          <p:nvPr/>
        </p:nvCxnSpPr>
        <p:spPr>
          <a:xfrm flipV="1">
            <a:off x="4581144" y="3895344"/>
            <a:ext cx="0" cy="9144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0" name="Layer connector: sello"/>
          <p:cNvCxnSpPr/>
          <p:nvPr/>
        </p:nvCxnSpPr>
        <p:spPr>
          <a:xfrm>
            <a:off x="4581144" y="3895344"/>
            <a:ext cx="868680" cy="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1" name="Layer connector: sello"/>
          <p:cNvCxnSpPr/>
          <p:nvPr/>
        </p:nvCxnSpPr>
        <p:spPr>
          <a:xfrm flipV="1">
            <a:off x="5449824" y="3803904"/>
            <a:ext cx="0" cy="9144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Layer connector: shared"/>
          <p:cNvCxnSpPr/>
          <p:nvPr/>
        </p:nvCxnSpPr>
        <p:spPr>
          <a:xfrm flipH="1">
            <a:off x="4809744" y="3557016"/>
            <a:ext cx="45720" cy="0"/>
          </a:xfrm>
          <a:prstGeom prst="line">
            <a:avLst/>
          </a:prstGeom>
          <a:ln w="19050">
            <a:solidFill>
              <a:srgbClr val="686868"/>
            </a:solidFill>
          </a:ln>
        </p:spPr>
        <p:style>
          <a:lnRef idx="2">
            <a:schemeClr val="accent1"/>
          </a:lnRef>
          <a:fillRef idx="0">
            <a:schemeClr val="accent1"/>
          </a:fillRef>
          <a:effectRef idx="1">
            <a:schemeClr val="accent1"/>
          </a:effectRef>
          <a:fontRef idx="minor">
            <a:schemeClr val="tx1"/>
          </a:fontRef>
        </p:style>
      </p:cxnSp>
      <p:cxnSp>
        <p:nvCxnSpPr>
          <p:cNvPr id="33" name="Layer connector: shared"/>
          <p:cNvCxnSpPr/>
          <p:nvPr/>
        </p:nvCxnSpPr>
        <p:spPr>
          <a:xfrm flipV="1">
            <a:off x="4809744" y="1956816"/>
            <a:ext cx="0" cy="1600200"/>
          </a:xfrm>
          <a:prstGeom prst="line">
            <a:avLst/>
          </a:prstGeom>
          <a:ln w="19050">
            <a:solidFill>
              <a:srgbClr val="686868"/>
            </a:solidFill>
          </a:ln>
        </p:spPr>
        <p:style>
          <a:lnRef idx="2">
            <a:schemeClr val="accent1"/>
          </a:lnRef>
          <a:fillRef idx="0">
            <a:schemeClr val="accent1"/>
          </a:fillRef>
          <a:effectRef idx="1">
            <a:schemeClr val="accent1"/>
          </a:effectRef>
          <a:fontRef idx="minor">
            <a:schemeClr val="tx1"/>
          </a:fontRef>
        </p:style>
      </p:cxnSp>
      <p:cxnSp>
        <p:nvCxnSpPr>
          <p:cNvPr id="34" name="Layer connector: shared"/>
          <p:cNvCxnSpPr/>
          <p:nvPr/>
        </p:nvCxnSpPr>
        <p:spPr>
          <a:xfrm>
            <a:off x="4809744" y="1956816"/>
            <a:ext cx="45720" cy="0"/>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Layer connector: sello"/>
          <p:cNvCxnSpPr/>
          <p:nvPr/>
        </p:nvCxnSpPr>
        <p:spPr>
          <a:xfrm>
            <a:off x="5449824" y="2203704"/>
            <a:ext cx="0" cy="210312"/>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Layer connector: sello"/>
          <p:cNvCxnSpPr/>
          <p:nvPr/>
        </p:nvCxnSpPr>
        <p:spPr>
          <a:xfrm>
            <a:off x="6044183" y="2660904"/>
            <a:ext cx="45721" cy="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7" name="Layer connector: sello"/>
          <p:cNvCxnSpPr/>
          <p:nvPr/>
        </p:nvCxnSpPr>
        <p:spPr>
          <a:xfrm>
            <a:off x="6089904" y="2660904"/>
            <a:ext cx="0" cy="1207008"/>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8" name="Layer connector: sello"/>
          <p:cNvCxnSpPr/>
          <p:nvPr/>
        </p:nvCxnSpPr>
        <p:spPr>
          <a:xfrm flipH="1">
            <a:off x="5879592" y="3867912"/>
            <a:ext cx="210312" cy="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9" name="Layer connector: sello"/>
          <p:cNvCxnSpPr/>
          <p:nvPr/>
        </p:nvCxnSpPr>
        <p:spPr>
          <a:xfrm>
            <a:off x="5879592" y="3867912"/>
            <a:ext cx="0" cy="118872"/>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Layer connector: sello"/>
          <p:cNvCxnSpPr/>
          <p:nvPr/>
        </p:nvCxnSpPr>
        <p:spPr>
          <a:xfrm>
            <a:off x="6044183" y="4233672"/>
            <a:ext cx="137161" cy="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41" name="Layer connector: sello"/>
          <p:cNvCxnSpPr/>
          <p:nvPr/>
        </p:nvCxnSpPr>
        <p:spPr>
          <a:xfrm flipV="1">
            <a:off x="6181344" y="2208276"/>
            <a:ext cx="0" cy="2025396"/>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42" name="Layer connector: sello"/>
          <p:cNvCxnSpPr/>
          <p:nvPr/>
        </p:nvCxnSpPr>
        <p:spPr>
          <a:xfrm>
            <a:off x="6181344" y="2208276"/>
            <a:ext cx="91440" cy="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Layer connector: air"/>
          <p:cNvCxnSpPr/>
          <p:nvPr/>
        </p:nvCxnSpPr>
        <p:spPr>
          <a:xfrm flipV="1">
            <a:off x="3246120" y="3017520"/>
            <a:ext cx="0" cy="292608"/>
          </a:xfrm>
          <a:prstGeom prst="line">
            <a:avLst/>
          </a:prstGeom>
          <a:ln w="21590">
            <a:solidFill>
              <a:srgbClr val="245AA5"/>
            </a:solidFill>
            <a:prstDash val="dash"/>
          </a:ln>
        </p:spPr>
        <p:style>
          <a:lnRef idx="2">
            <a:schemeClr val="accent1"/>
          </a:lnRef>
          <a:fillRef idx="0">
            <a:schemeClr val="accent1"/>
          </a:fillRef>
          <a:effectRef idx="1">
            <a:schemeClr val="accent1"/>
          </a:effectRef>
          <a:fontRef idx="minor">
            <a:schemeClr val="tx1"/>
          </a:fontRef>
        </p:style>
      </p:cxnSp>
      <p:cxnSp>
        <p:nvCxnSpPr>
          <p:cNvPr id="44" name="Layer connector: air"/>
          <p:cNvCxnSpPr/>
          <p:nvPr/>
        </p:nvCxnSpPr>
        <p:spPr>
          <a:xfrm>
            <a:off x="3246120" y="3017520"/>
            <a:ext cx="1261872" cy="0"/>
          </a:xfrm>
          <a:prstGeom prst="line">
            <a:avLst/>
          </a:prstGeom>
          <a:ln w="21590">
            <a:solidFill>
              <a:srgbClr val="245AA5"/>
            </a:solidFill>
            <a:prstDash val="dash"/>
          </a:ln>
        </p:spPr>
        <p:style>
          <a:lnRef idx="2">
            <a:schemeClr val="accent1"/>
          </a:lnRef>
          <a:fillRef idx="0">
            <a:schemeClr val="accent1"/>
          </a:fillRef>
          <a:effectRef idx="1">
            <a:schemeClr val="accent1"/>
          </a:effectRef>
          <a:fontRef idx="minor">
            <a:schemeClr val="tx1"/>
          </a:fontRef>
        </p:style>
      </p:cxnSp>
      <p:cxnSp>
        <p:nvCxnSpPr>
          <p:cNvPr id="45" name="Layer connector: air"/>
          <p:cNvCxnSpPr/>
          <p:nvPr/>
        </p:nvCxnSpPr>
        <p:spPr>
          <a:xfrm flipV="1">
            <a:off x="4507992" y="1828800"/>
            <a:ext cx="0" cy="1188720"/>
          </a:xfrm>
          <a:prstGeom prst="line">
            <a:avLst/>
          </a:prstGeom>
          <a:ln w="21590">
            <a:solidFill>
              <a:srgbClr val="245AA5"/>
            </a:solidFill>
            <a:prstDash val="dash"/>
          </a:ln>
        </p:spPr>
        <p:style>
          <a:lnRef idx="2">
            <a:schemeClr val="accent1"/>
          </a:lnRef>
          <a:fillRef idx="0">
            <a:schemeClr val="accent1"/>
          </a:fillRef>
          <a:effectRef idx="1">
            <a:schemeClr val="accent1"/>
          </a:effectRef>
          <a:fontRef idx="minor">
            <a:schemeClr val="tx1"/>
          </a:fontRef>
        </p:style>
      </p:cxnSp>
      <p:cxnSp>
        <p:nvCxnSpPr>
          <p:cNvPr id="46" name="Layer connector: air"/>
          <p:cNvCxnSpPr/>
          <p:nvPr/>
        </p:nvCxnSpPr>
        <p:spPr>
          <a:xfrm>
            <a:off x="4507992" y="1828800"/>
            <a:ext cx="347472" cy="0"/>
          </a:xfrm>
          <a:prstGeom prst="line">
            <a:avLst/>
          </a:prstGeom>
          <a:ln w="21590">
            <a:solidFill>
              <a:srgbClr val="245AA5"/>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Layer connector: air"/>
          <p:cNvCxnSpPr/>
          <p:nvPr/>
        </p:nvCxnSpPr>
        <p:spPr>
          <a:xfrm>
            <a:off x="6044183" y="1938528"/>
            <a:ext cx="228601" cy="0"/>
          </a:xfrm>
          <a:prstGeom prst="line">
            <a:avLst/>
          </a:prstGeom>
          <a:ln w="21590">
            <a:solidFill>
              <a:srgbClr val="245AA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8" name="Sello process: AIR bundle"/>
          <p:cNvSpPr txBox="1"/>
          <p:nvPr/>
        </p:nvSpPr>
        <p:spPr>
          <a:xfrm>
            <a:off x="3364992" y="2798064"/>
            <a:ext cx="1243584" cy="192024"/>
          </a:xfrm>
          <a:prstGeom prst="rect">
            <a:avLst/>
          </a:prstGeom>
          <a:noFill/>
        </p:spPr>
        <p:txBody>
          <a:bodyPr wrap="square" lIns="0" rIns="0" tIns="0" bIns="0" anchor="ctr">
            <a:spAutoFit/>
          </a:bodyPr>
          <a:lstStyle/>
          <a:p>
            <a:pPr algn="ctr"/>
            <a:r>
              <a:rPr sz="1050" b="0" lang="en-US">
                <a:solidFill>
                  <a:srgbClr val="245AA5"/>
                </a:solidFill>
                <a:latin typeface="Arial"/>
              </a:rPr>
              <a:t>AIR bundle</a:t>
            </a:r>
          </a:p>
        </p:txBody>
      </p:sp>
      <p:cxnSp>
        <p:nvCxnSpPr>
          <p:cNvPr id="49" name="Layer connector: air"/>
          <p:cNvCxnSpPr/>
          <p:nvPr/>
        </p:nvCxnSpPr>
        <p:spPr>
          <a:xfrm>
            <a:off x="6867144" y="2651760"/>
            <a:ext cx="0" cy="2011680"/>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Layer connector: air"/>
          <p:cNvCxnSpPr/>
          <p:nvPr/>
        </p:nvCxnSpPr>
        <p:spPr>
          <a:xfrm>
            <a:off x="7461504" y="4910327"/>
            <a:ext cx="91440" cy="0"/>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51" name="Layer connector: air"/>
          <p:cNvCxnSpPr/>
          <p:nvPr/>
        </p:nvCxnSpPr>
        <p:spPr>
          <a:xfrm flipV="1">
            <a:off x="7552944" y="2208276"/>
            <a:ext cx="0" cy="2702051"/>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52" name="Layer connector: air"/>
          <p:cNvCxnSpPr/>
          <p:nvPr/>
        </p:nvCxnSpPr>
        <p:spPr>
          <a:xfrm>
            <a:off x="7552944" y="2208276"/>
            <a:ext cx="91439" cy="0"/>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Layer connector: air"/>
          <p:cNvCxnSpPr/>
          <p:nvPr/>
        </p:nvCxnSpPr>
        <p:spPr>
          <a:xfrm>
            <a:off x="8238744" y="2651760"/>
            <a:ext cx="0" cy="2011680"/>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Layer connector: air"/>
          <p:cNvCxnSpPr/>
          <p:nvPr/>
        </p:nvCxnSpPr>
        <p:spPr>
          <a:xfrm>
            <a:off x="8833104" y="4910327"/>
            <a:ext cx="100584" cy="0"/>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55" name="Layer connector: air"/>
          <p:cNvCxnSpPr/>
          <p:nvPr/>
        </p:nvCxnSpPr>
        <p:spPr>
          <a:xfrm flipV="1">
            <a:off x="8933688" y="1920240"/>
            <a:ext cx="0" cy="2990087"/>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56" name="Layer connector: air"/>
          <p:cNvCxnSpPr/>
          <p:nvPr/>
        </p:nvCxnSpPr>
        <p:spPr>
          <a:xfrm>
            <a:off x="8933688" y="1920240"/>
            <a:ext cx="173736" cy="0"/>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7" name="Layer connector: air"/>
          <p:cNvCxnSpPr/>
          <p:nvPr/>
        </p:nvCxnSpPr>
        <p:spPr>
          <a:xfrm>
            <a:off x="10254996" y="2148840"/>
            <a:ext cx="0" cy="73152"/>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Layer connector: air"/>
          <p:cNvCxnSpPr/>
          <p:nvPr/>
        </p:nvCxnSpPr>
        <p:spPr>
          <a:xfrm>
            <a:off x="10254996" y="2496312"/>
            <a:ext cx="0" cy="73152"/>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Layer connector: air"/>
          <p:cNvCxnSpPr/>
          <p:nvPr/>
        </p:nvCxnSpPr>
        <p:spPr>
          <a:xfrm>
            <a:off x="11402568" y="2706624"/>
            <a:ext cx="109728" cy="0"/>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60" name="Layer connector: air"/>
          <p:cNvCxnSpPr/>
          <p:nvPr/>
        </p:nvCxnSpPr>
        <p:spPr>
          <a:xfrm>
            <a:off x="11512296" y="2706624"/>
            <a:ext cx="0" cy="1527048"/>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61" name="Layer connector: air"/>
          <p:cNvCxnSpPr/>
          <p:nvPr/>
        </p:nvCxnSpPr>
        <p:spPr>
          <a:xfrm flipH="1">
            <a:off x="11402568" y="4233672"/>
            <a:ext cx="109728" cy="0"/>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Layer connector: air"/>
          <p:cNvCxnSpPr/>
          <p:nvPr/>
        </p:nvCxnSpPr>
        <p:spPr>
          <a:xfrm flipH="1">
            <a:off x="9025128" y="4233672"/>
            <a:ext cx="82296" cy="0"/>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63" name="Layer connector: air"/>
          <p:cNvCxnSpPr/>
          <p:nvPr/>
        </p:nvCxnSpPr>
        <p:spPr>
          <a:xfrm flipV="1">
            <a:off x="9025128" y="3008376"/>
            <a:ext cx="0" cy="1225296"/>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64" name="Layer connector: air"/>
          <p:cNvCxnSpPr/>
          <p:nvPr/>
        </p:nvCxnSpPr>
        <p:spPr>
          <a:xfrm>
            <a:off x="9025128" y="3008376"/>
            <a:ext cx="82296" cy="0"/>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Sello AIR process panel"/>
          <p:cNvSpPr/>
          <p:nvPr/>
        </p:nvSpPr>
        <p:spPr>
          <a:xfrm>
            <a:off x="2295144" y="1783080"/>
            <a:ext cx="1188720" cy="594360"/>
          </a:xfrm>
          <a:prstGeom prst="roundRect">
            <a:avLst/>
          </a:prstGeom>
          <a:solidFill>
            <a:srgbClr val="FFFFFF"/>
          </a:solidFill>
          <a:ln w="10160">
            <a:solidFill>
              <a:srgbClr val="6868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ello steps: 1,2,3"/>
          <p:cNvSpPr txBox="1"/>
          <p:nvPr/>
        </p:nvSpPr>
        <p:spPr>
          <a:xfrm>
            <a:off x="2368296" y="1815084"/>
            <a:ext cx="1042416" cy="530352"/>
          </a:xfrm>
          <a:prstGeom prst="rect">
            <a:avLst/>
          </a:prstGeom>
          <a:noFill/>
        </p:spPr>
        <p:txBody>
          <a:bodyPr wrap="square" lIns="0" rIns="0" tIns="0" bIns="0" anchor="ctr">
            <a:spAutoFit/>
          </a:bodyPr>
          <a:lstStyle/>
          <a:p>
            <a:pPr algn="ctr"/>
            <a:r>
              <a:rPr sz="1180" b="1" lang="en-US">
                <a:solidFill>
                  <a:srgbClr val="686868"/>
                </a:solidFill>
                <a:latin typeface="Arial"/>
              </a:rPr>
              <a:t>1–3  Auth
+ session</a:t>
            </a:r>
          </a:p>
        </p:txBody>
      </p:sp>
      <p:sp>
        <p:nvSpPr>
          <p:cNvPr id="67" name="Sello AIR process panel"/>
          <p:cNvSpPr/>
          <p:nvPr/>
        </p:nvSpPr>
        <p:spPr>
          <a:xfrm>
            <a:off x="2295144" y="3310128"/>
            <a:ext cx="1188720" cy="493776"/>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AIR steps: A1"/>
          <p:cNvSpPr txBox="1"/>
          <p:nvPr/>
        </p:nvSpPr>
        <p:spPr>
          <a:xfrm>
            <a:off x="2368296" y="3342132"/>
            <a:ext cx="1042416" cy="429768"/>
          </a:xfrm>
          <a:prstGeom prst="rect">
            <a:avLst/>
          </a:prstGeom>
          <a:noFill/>
        </p:spPr>
        <p:txBody>
          <a:bodyPr wrap="square" lIns="0" rIns="0" tIns="0" bIns="0" anchor="ctr">
            <a:spAutoFit/>
          </a:bodyPr>
          <a:lstStyle/>
          <a:p>
            <a:pPr algn="ctr"/>
            <a:r>
              <a:rPr sz="1180" b="1" lang="en-US">
                <a:solidFill>
                  <a:srgbClr val="245AA5"/>
                </a:solidFill>
                <a:latin typeface="Arial"/>
              </a:rPr>
              <a:t>A1  Infer
+ AIR</a:t>
            </a:r>
          </a:p>
        </p:txBody>
      </p:sp>
      <p:sp>
        <p:nvSpPr>
          <p:cNvPr id="69" name="Sello AIR process panel"/>
          <p:cNvSpPr/>
          <p:nvPr/>
        </p:nvSpPr>
        <p:spPr>
          <a:xfrm>
            <a:off x="3575304" y="3310128"/>
            <a:ext cx="1188720" cy="493776"/>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ello steps: 4"/>
          <p:cNvSpPr txBox="1"/>
          <p:nvPr/>
        </p:nvSpPr>
        <p:spPr>
          <a:xfrm>
            <a:off x="3648456" y="3342132"/>
            <a:ext cx="1042416" cy="429768"/>
          </a:xfrm>
          <a:prstGeom prst="rect">
            <a:avLst/>
          </a:prstGeom>
          <a:noFill/>
        </p:spPr>
        <p:txBody>
          <a:bodyPr wrap="square" lIns="0" rIns="0" tIns="0" bIns="0" anchor="ctr">
            <a:spAutoFit/>
          </a:bodyPr>
          <a:lstStyle/>
          <a:p>
            <a:pPr algn="ctr"/>
            <a:r>
              <a:rPr sz="1180" b="1" lang="en-US">
                <a:solidFill>
                  <a:srgbClr val="A84B13"/>
                </a:solidFill>
                <a:latin typeface="Arial"/>
              </a:rPr>
              <a:t>4  Seal
Sello</a:t>
            </a:r>
          </a:p>
        </p:txBody>
      </p:sp>
      <p:sp>
        <p:nvSpPr>
          <p:cNvPr id="71" name="Sello AIR process panel"/>
          <p:cNvSpPr/>
          <p:nvPr/>
        </p:nvSpPr>
        <p:spPr>
          <a:xfrm>
            <a:off x="3575304" y="3986784"/>
            <a:ext cx="1188720" cy="493776"/>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ello steps: 5"/>
          <p:cNvSpPr txBox="1"/>
          <p:nvPr/>
        </p:nvSpPr>
        <p:spPr>
          <a:xfrm>
            <a:off x="3648456" y="4018788"/>
            <a:ext cx="1042416" cy="429768"/>
          </a:xfrm>
          <a:prstGeom prst="rect">
            <a:avLst/>
          </a:prstGeom>
          <a:noFill/>
        </p:spPr>
        <p:txBody>
          <a:bodyPr wrap="square" lIns="0" rIns="0" tIns="0" bIns="0" anchor="ctr">
            <a:spAutoFit/>
          </a:bodyPr>
          <a:lstStyle/>
          <a:p>
            <a:pPr algn="ctr"/>
            <a:r>
              <a:rPr sz="1150" b="1" lang="en-US">
                <a:solidFill>
                  <a:srgbClr val="A84B13"/>
                </a:solidFill>
                <a:latin typeface="Arial"/>
              </a:rPr>
              <a:t>5  Log Sello
receipt</a:t>
            </a:r>
          </a:p>
        </p:txBody>
      </p:sp>
      <p:sp>
        <p:nvSpPr>
          <p:cNvPr id="73" name="Sello AIR process panel"/>
          <p:cNvSpPr/>
          <p:nvPr/>
        </p:nvSpPr>
        <p:spPr>
          <a:xfrm>
            <a:off x="4855464" y="3310128"/>
            <a:ext cx="1188720" cy="493776"/>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ello steps: 6"/>
          <p:cNvSpPr txBox="1"/>
          <p:nvPr/>
        </p:nvSpPr>
        <p:spPr>
          <a:xfrm>
            <a:off x="4928616" y="3342132"/>
            <a:ext cx="1042416" cy="429768"/>
          </a:xfrm>
          <a:prstGeom prst="rect">
            <a:avLst/>
          </a:prstGeom>
          <a:noFill/>
        </p:spPr>
        <p:txBody>
          <a:bodyPr wrap="square" lIns="0" rIns="0" tIns="0" bIns="0" anchor="ctr">
            <a:spAutoFit/>
          </a:bodyPr>
          <a:lstStyle/>
          <a:p>
            <a:pPr algn="ctr"/>
            <a:r>
              <a:rPr sz="1180" b="1" lang="en-US">
                <a:solidFill>
                  <a:srgbClr val="A84B13"/>
                </a:solidFill>
                <a:latin typeface="Arial"/>
              </a:rPr>
              <a:t>6  Check
inclusion</a:t>
            </a:r>
          </a:p>
        </p:txBody>
      </p:sp>
      <p:sp>
        <p:nvSpPr>
          <p:cNvPr id="75" name="Sello AIR process panel"/>
          <p:cNvSpPr/>
          <p:nvPr/>
        </p:nvSpPr>
        <p:spPr>
          <a:xfrm>
            <a:off x="4855464" y="1709928"/>
            <a:ext cx="1188720" cy="493776"/>
          </a:xfrm>
          <a:prstGeom prst="roundRect">
            <a:avLst/>
          </a:prstGeom>
          <a:solidFill>
            <a:srgbClr val="FFFFFF"/>
          </a:solidFill>
          <a:ln w="10160">
            <a:solidFill>
              <a:srgbClr val="6868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ello steps: 7"/>
          <p:cNvSpPr txBox="1"/>
          <p:nvPr/>
        </p:nvSpPr>
        <p:spPr>
          <a:xfrm>
            <a:off x="4928616" y="1741932"/>
            <a:ext cx="1042416" cy="429768"/>
          </a:xfrm>
          <a:prstGeom prst="rect">
            <a:avLst/>
          </a:prstGeom>
          <a:noFill/>
        </p:spPr>
        <p:txBody>
          <a:bodyPr wrap="square" lIns="0" rIns="0" tIns="0" bIns="0" anchor="ctr">
            <a:spAutoFit/>
          </a:bodyPr>
          <a:lstStyle/>
          <a:p>
            <a:pPr algn="ctr"/>
            <a:r>
              <a:rPr sz="1150" b="1" lang="en-US">
                <a:solidFill>
                  <a:srgbClr val="686868"/>
                </a:solidFill>
                <a:latin typeface="Arial"/>
              </a:rPr>
              <a:t>7  AIR +
Sello reply</a:t>
            </a:r>
          </a:p>
        </p:txBody>
      </p:sp>
      <p:sp>
        <p:nvSpPr>
          <p:cNvPr id="77" name="Sello AIR process panel"/>
          <p:cNvSpPr/>
          <p:nvPr/>
        </p:nvSpPr>
        <p:spPr>
          <a:xfrm>
            <a:off x="4855464" y="2414016"/>
            <a:ext cx="1188720" cy="493776"/>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ello steps: 8"/>
          <p:cNvSpPr txBox="1"/>
          <p:nvPr/>
        </p:nvSpPr>
        <p:spPr>
          <a:xfrm>
            <a:off x="4928616" y="2446020"/>
            <a:ext cx="1042416" cy="429768"/>
          </a:xfrm>
          <a:prstGeom prst="rect">
            <a:avLst/>
          </a:prstGeom>
          <a:noFill/>
        </p:spPr>
        <p:txBody>
          <a:bodyPr wrap="square" lIns="0" rIns="0" tIns="0" bIns="0" anchor="ctr">
            <a:spAutoFit/>
          </a:bodyPr>
          <a:lstStyle/>
          <a:p>
            <a:pPr algn="ctr"/>
            <a:r>
              <a:rPr sz="1180" b="1" lang="en-US">
                <a:solidFill>
                  <a:srgbClr val="A84B13"/>
                </a:solidFill>
                <a:latin typeface="Arial"/>
              </a:rPr>
              <a:t>8  Verify
Sello</a:t>
            </a:r>
          </a:p>
        </p:txBody>
      </p:sp>
      <p:sp>
        <p:nvSpPr>
          <p:cNvPr id="79" name="Sello AIR process panel"/>
          <p:cNvSpPr/>
          <p:nvPr/>
        </p:nvSpPr>
        <p:spPr>
          <a:xfrm>
            <a:off x="4855464" y="3986784"/>
            <a:ext cx="1188720" cy="493776"/>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ello steps: 9"/>
          <p:cNvSpPr txBox="1"/>
          <p:nvPr/>
        </p:nvSpPr>
        <p:spPr>
          <a:xfrm>
            <a:off x="4928616" y="4018788"/>
            <a:ext cx="1042416" cy="429768"/>
          </a:xfrm>
          <a:prstGeom prst="rect">
            <a:avLst/>
          </a:prstGeom>
          <a:noFill/>
        </p:spPr>
        <p:txBody>
          <a:bodyPr wrap="square" lIns="0" rIns="0" tIns="0" bIns="0" anchor="ctr">
            <a:spAutoFit/>
          </a:bodyPr>
          <a:lstStyle/>
          <a:p>
            <a:pPr algn="ctr"/>
            <a:r>
              <a:rPr sz="1150" b="1" lang="en-US">
                <a:solidFill>
                  <a:srgbClr val="A84B13"/>
                </a:solidFill>
                <a:latin typeface="Arial"/>
              </a:rPr>
              <a:t>9  Session
+ audit</a:t>
            </a:r>
          </a:p>
        </p:txBody>
      </p:sp>
      <p:sp>
        <p:nvSpPr>
          <p:cNvPr id="81" name="Sello AIR process panel"/>
          <p:cNvSpPr/>
          <p:nvPr/>
        </p:nvSpPr>
        <p:spPr>
          <a:xfrm>
            <a:off x="6272784" y="1764792"/>
            <a:ext cx="1188720" cy="886968"/>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AIR steps: A2"/>
          <p:cNvSpPr txBox="1"/>
          <p:nvPr/>
        </p:nvSpPr>
        <p:spPr>
          <a:xfrm>
            <a:off x="6345936" y="1796795"/>
            <a:ext cx="1042416" cy="822959"/>
          </a:xfrm>
          <a:prstGeom prst="rect">
            <a:avLst/>
          </a:prstGeom>
          <a:noFill/>
        </p:spPr>
        <p:txBody>
          <a:bodyPr wrap="square" lIns="0" rIns="0" tIns="0" bIns="0" anchor="ctr">
            <a:spAutoFit/>
          </a:bodyPr>
          <a:lstStyle/>
          <a:p>
            <a:pPr algn="ctr"/>
            <a:r>
              <a:rPr sz="1050" b="1" lang="en-US">
                <a:solidFill>
                  <a:srgbClr val="245AA5"/>
                </a:solidFill>
                <a:latin typeface="Arial"/>
              </a:rPr>
              <a:t>A2  Context
REPORTDATA
platform policy</a:t>
            </a:r>
          </a:p>
        </p:txBody>
      </p:sp>
      <p:sp>
        <p:nvSpPr>
          <p:cNvPr id="83" name="Sello AIR process panel"/>
          <p:cNvSpPr/>
          <p:nvPr/>
        </p:nvSpPr>
        <p:spPr>
          <a:xfrm>
            <a:off x="6272784" y="4663440"/>
            <a:ext cx="1188720" cy="493776"/>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AIR steps: A3"/>
          <p:cNvSpPr txBox="1"/>
          <p:nvPr/>
        </p:nvSpPr>
        <p:spPr>
          <a:xfrm>
            <a:off x="6345936" y="4695444"/>
            <a:ext cx="1042416" cy="429768"/>
          </a:xfrm>
          <a:prstGeom prst="rect">
            <a:avLst/>
          </a:prstGeom>
          <a:noFill/>
        </p:spPr>
        <p:txBody>
          <a:bodyPr wrap="square" lIns="0" rIns="0" tIns="0" bIns="0" anchor="ctr">
            <a:spAutoFit/>
          </a:bodyPr>
          <a:lstStyle/>
          <a:p>
            <a:pPr algn="ctr"/>
            <a:r>
              <a:rPr sz="1160" b="1" lang="en-US">
                <a:solidFill>
                  <a:srgbClr val="245AA5"/>
                </a:solidFill>
                <a:latin typeface="Arial"/>
              </a:rPr>
              <a:t>A3  Verify
TDX quote</a:t>
            </a:r>
          </a:p>
        </p:txBody>
      </p:sp>
      <p:sp>
        <p:nvSpPr>
          <p:cNvPr id="85" name="Sello AIR process panel"/>
          <p:cNvSpPr/>
          <p:nvPr/>
        </p:nvSpPr>
        <p:spPr>
          <a:xfrm>
            <a:off x="7644383" y="1764792"/>
            <a:ext cx="1188720" cy="886968"/>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AIR steps: A4"/>
          <p:cNvSpPr txBox="1"/>
          <p:nvPr/>
        </p:nvSpPr>
        <p:spPr>
          <a:xfrm>
            <a:off x="7717536" y="1796795"/>
            <a:ext cx="1042416" cy="822959"/>
          </a:xfrm>
          <a:prstGeom prst="rect">
            <a:avLst/>
          </a:prstGeom>
          <a:noFill/>
        </p:spPr>
        <p:txBody>
          <a:bodyPr wrap="square" lIns="0" rIns="0" tIns="0" bIns="0" anchor="ctr">
            <a:spAutoFit/>
          </a:bodyPr>
          <a:lstStyle/>
          <a:p>
            <a:pPr algn="ctr"/>
            <a:r>
              <a:rPr sz="1100" b="1" lang="en-US">
                <a:solidFill>
                  <a:srgbClr val="245AA5"/>
                </a:solidFill>
                <a:latin typeface="Arial"/>
              </a:rPr>
              <a:t>A4  Check
JSON flags
+ quote fields</a:t>
            </a:r>
          </a:p>
        </p:txBody>
      </p:sp>
      <p:sp>
        <p:nvSpPr>
          <p:cNvPr id="87" name="Sello AIR process panel"/>
          <p:cNvSpPr/>
          <p:nvPr/>
        </p:nvSpPr>
        <p:spPr>
          <a:xfrm>
            <a:off x="7644383" y="4663440"/>
            <a:ext cx="1188720" cy="493776"/>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AIR steps: A5"/>
          <p:cNvSpPr txBox="1"/>
          <p:nvPr/>
        </p:nvSpPr>
        <p:spPr>
          <a:xfrm>
            <a:off x="7717536" y="4695444"/>
            <a:ext cx="1042416" cy="429768"/>
          </a:xfrm>
          <a:prstGeom prst="rect">
            <a:avLst/>
          </a:prstGeom>
          <a:noFill/>
        </p:spPr>
        <p:txBody>
          <a:bodyPr wrap="square" lIns="0" rIns="0" tIns="0" bIns="0" anchor="ctr">
            <a:spAutoFit/>
          </a:bodyPr>
          <a:lstStyle/>
          <a:p>
            <a:pPr algn="ctr"/>
            <a:r>
              <a:rPr sz="1160" b="1" lang="en-US">
                <a:solidFill>
                  <a:srgbClr val="245AA5"/>
                </a:solidFill>
                <a:latin typeface="Arial"/>
              </a:rPr>
              <a:t>A5  Return
raw quote</a:t>
            </a:r>
          </a:p>
        </p:txBody>
      </p:sp>
      <p:sp>
        <p:nvSpPr>
          <p:cNvPr id="89" name="Sello AIR process panel"/>
          <p:cNvSpPr/>
          <p:nvPr/>
        </p:nvSpPr>
        <p:spPr>
          <a:xfrm>
            <a:off x="9107424" y="1691640"/>
            <a:ext cx="2295144" cy="457200"/>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AIR steps: A6"/>
          <p:cNvSpPr txBox="1"/>
          <p:nvPr/>
        </p:nvSpPr>
        <p:spPr>
          <a:xfrm>
            <a:off x="9180576" y="1723644"/>
            <a:ext cx="2148839" cy="393192"/>
          </a:xfrm>
          <a:prstGeom prst="rect">
            <a:avLst/>
          </a:prstGeom>
          <a:noFill/>
        </p:spPr>
        <p:txBody>
          <a:bodyPr wrap="square" lIns="0" rIns="0" tIns="0" bIns="0" anchor="ctr">
            <a:spAutoFit/>
          </a:bodyPr>
          <a:lstStyle/>
          <a:p>
            <a:pPr algn="ctr"/>
            <a:r>
              <a:rPr sz="1110" b="1" lang="en-US">
                <a:solidFill>
                  <a:srgbClr val="245AA5"/>
                </a:solidFill>
                <a:latin typeface="Arial"/>
              </a:rPr>
              <a:t>A6  Match quote bytes
AIR signature + bindings</a:t>
            </a:r>
          </a:p>
        </p:txBody>
      </p:sp>
      <p:sp>
        <p:nvSpPr>
          <p:cNvPr id="91" name="Sello AIR process panel"/>
          <p:cNvSpPr/>
          <p:nvPr/>
        </p:nvSpPr>
        <p:spPr>
          <a:xfrm>
            <a:off x="9107424" y="2221992"/>
            <a:ext cx="2295144" cy="274320"/>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AIR steps: A7"/>
          <p:cNvSpPr txBox="1"/>
          <p:nvPr/>
        </p:nvSpPr>
        <p:spPr>
          <a:xfrm>
            <a:off x="9180576" y="2253996"/>
            <a:ext cx="2148839" cy="210311"/>
          </a:xfrm>
          <a:prstGeom prst="rect">
            <a:avLst/>
          </a:prstGeom>
          <a:noFill/>
        </p:spPr>
        <p:txBody>
          <a:bodyPr wrap="square" lIns="0" rIns="0" tIns="0" bIns="0" anchor="ctr">
            <a:spAutoFit/>
          </a:bodyPr>
          <a:lstStyle/>
          <a:p>
            <a:pPr algn="ctr"/>
            <a:r>
              <a:rPr sz="1140" b="1" lang="en-US">
                <a:solidFill>
                  <a:srgbClr val="245AA5"/>
                </a:solidFill>
                <a:latin typeface="Arial"/>
              </a:rPr>
              <a:t>A7  Verify RTMR3</a:t>
            </a:r>
          </a:p>
        </p:txBody>
      </p:sp>
      <p:sp>
        <p:nvSpPr>
          <p:cNvPr id="93" name="Sello AIR process panel"/>
          <p:cNvSpPr/>
          <p:nvPr/>
        </p:nvSpPr>
        <p:spPr>
          <a:xfrm>
            <a:off x="9107424" y="2569464"/>
            <a:ext cx="2295144" cy="274320"/>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AIR steps: A8"/>
          <p:cNvSpPr txBox="1"/>
          <p:nvPr/>
        </p:nvSpPr>
        <p:spPr>
          <a:xfrm>
            <a:off x="9180576" y="2601468"/>
            <a:ext cx="2148839" cy="210311"/>
          </a:xfrm>
          <a:prstGeom prst="rect">
            <a:avLst/>
          </a:prstGeom>
          <a:noFill/>
        </p:spPr>
        <p:txBody>
          <a:bodyPr wrap="square" lIns="0" rIns="0" tIns="0" bIns="0" anchor="ctr">
            <a:spAutoFit/>
          </a:bodyPr>
          <a:lstStyle/>
          <a:p>
            <a:pPr algn="ctr"/>
            <a:r>
              <a:rPr sz="1140" b="1" lang="en-US">
                <a:solidFill>
                  <a:srgbClr val="245AA5"/>
                </a:solidFill>
                <a:latin typeface="Arial"/>
              </a:rPr>
              <a:t>A8  Deployment policy</a:t>
            </a:r>
          </a:p>
        </p:txBody>
      </p:sp>
      <p:sp>
        <p:nvSpPr>
          <p:cNvPr id="95" name="Sello AIR process panel"/>
          <p:cNvSpPr/>
          <p:nvPr/>
        </p:nvSpPr>
        <p:spPr>
          <a:xfrm>
            <a:off x="9107424" y="3986784"/>
            <a:ext cx="2295144" cy="493776"/>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AIR steps: A9"/>
          <p:cNvSpPr txBox="1"/>
          <p:nvPr/>
        </p:nvSpPr>
        <p:spPr>
          <a:xfrm>
            <a:off x="9180576" y="4018788"/>
            <a:ext cx="2148839" cy="429768"/>
          </a:xfrm>
          <a:prstGeom prst="rect">
            <a:avLst/>
          </a:prstGeom>
          <a:noFill/>
        </p:spPr>
        <p:txBody>
          <a:bodyPr wrap="square" lIns="0" rIns="0" tIns="0" bIns="0" anchor="ctr">
            <a:spAutoFit/>
          </a:bodyPr>
          <a:lstStyle/>
          <a:p>
            <a:pPr algn="ctr"/>
            <a:r>
              <a:rPr sz="1150" b="1" lang="en-US">
                <a:solidFill>
                  <a:srgbClr val="245AA5"/>
                </a:solidFill>
                <a:latin typeface="Arial"/>
              </a:rPr>
              <a:t>A9  Log AIR bundle
+ inclusion evidence</a:t>
            </a:r>
          </a:p>
        </p:txBody>
      </p:sp>
      <p:sp>
        <p:nvSpPr>
          <p:cNvPr id="97" name="Sello AIR process panel"/>
          <p:cNvSpPr/>
          <p:nvPr/>
        </p:nvSpPr>
        <p:spPr>
          <a:xfrm>
            <a:off x="9107424" y="2871216"/>
            <a:ext cx="2295144" cy="274320"/>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AIR steps: A10"/>
          <p:cNvSpPr txBox="1"/>
          <p:nvPr/>
        </p:nvSpPr>
        <p:spPr>
          <a:xfrm>
            <a:off x="9180576" y="2903220"/>
            <a:ext cx="2148839" cy="210311"/>
          </a:xfrm>
          <a:prstGeom prst="rect">
            <a:avLst/>
          </a:prstGeom>
          <a:noFill/>
        </p:spPr>
        <p:txBody>
          <a:bodyPr wrap="square" lIns="0" rIns="0" tIns="0" bIns="0" anchor="ctr">
            <a:spAutoFit/>
          </a:bodyPr>
          <a:lstStyle/>
          <a:p>
            <a:pPr algn="ctr"/>
            <a:r>
              <a:rPr sz="1140" b="1" lang="en-US">
                <a:solidFill>
                  <a:srgbClr val="245AA5"/>
                </a:solidFill>
                <a:latin typeface="Arial"/>
              </a:rPr>
              <a:t>A10  Inclusion → success</a:t>
            </a:r>
          </a:p>
        </p:txBody>
      </p:sp>
      <p:sp>
        <p:nvSpPr>
          <p:cNvPr id="99" name="Sello AIR process panel"/>
          <p:cNvSpPr/>
          <p:nvPr/>
        </p:nvSpPr>
        <p:spPr>
          <a:xfrm>
            <a:off x="6409944" y="3401568"/>
            <a:ext cx="914400" cy="274320"/>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Sello process: POST quote"/>
          <p:cNvSpPr txBox="1"/>
          <p:nvPr/>
        </p:nvSpPr>
        <p:spPr>
          <a:xfrm>
            <a:off x="6437376" y="3433572"/>
            <a:ext cx="859536" cy="182880"/>
          </a:xfrm>
          <a:prstGeom prst="rect">
            <a:avLst/>
          </a:prstGeom>
          <a:noFill/>
        </p:spPr>
        <p:txBody>
          <a:bodyPr wrap="square" lIns="0" rIns="0" tIns="0" bIns="0" anchor="ctr">
            <a:spAutoFit/>
          </a:bodyPr>
          <a:lstStyle/>
          <a:p>
            <a:pPr algn="ctr"/>
            <a:r>
              <a:rPr sz="1000" b="0" lang="en-US">
                <a:solidFill>
                  <a:srgbClr val="245AA5"/>
                </a:solidFill>
                <a:latin typeface="Arial"/>
              </a:rPr>
              <a:t>POST quote</a:t>
            </a:r>
          </a:p>
        </p:txBody>
      </p:sp>
      <p:sp>
        <p:nvSpPr>
          <p:cNvPr id="101" name="Sello AIR process panel"/>
          <p:cNvSpPr/>
          <p:nvPr/>
        </p:nvSpPr>
        <p:spPr>
          <a:xfrm>
            <a:off x="7818120" y="3401568"/>
            <a:ext cx="841248" cy="274320"/>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Sello process: GET raw"/>
          <p:cNvSpPr txBox="1"/>
          <p:nvPr/>
        </p:nvSpPr>
        <p:spPr>
          <a:xfrm>
            <a:off x="7845552" y="3433572"/>
            <a:ext cx="786384" cy="182880"/>
          </a:xfrm>
          <a:prstGeom prst="rect">
            <a:avLst/>
          </a:prstGeom>
          <a:noFill/>
        </p:spPr>
        <p:txBody>
          <a:bodyPr wrap="square" lIns="0" rIns="0" tIns="0" bIns="0" anchor="ctr">
            <a:spAutoFit/>
          </a:bodyPr>
          <a:lstStyle/>
          <a:p>
            <a:pPr algn="ctr"/>
            <a:r>
              <a:rPr sz="1000" b="0" lang="en-US">
                <a:solidFill>
                  <a:srgbClr val="245AA5"/>
                </a:solidFill>
                <a:latin typeface="Arial"/>
              </a:rPr>
              <a:t>GET raw</a:t>
            </a:r>
          </a:p>
        </p:txBody>
      </p:sp>
      <p:sp>
        <p:nvSpPr>
          <p:cNvPr id="103" name="Sello AIR process panel"/>
          <p:cNvSpPr/>
          <p:nvPr/>
        </p:nvSpPr>
        <p:spPr>
          <a:xfrm>
            <a:off x="7287768" y="4123944"/>
            <a:ext cx="530352" cy="219456"/>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Sello process: JSON"/>
          <p:cNvSpPr txBox="1"/>
          <p:nvPr/>
        </p:nvSpPr>
        <p:spPr>
          <a:xfrm>
            <a:off x="7315200" y="4146804"/>
            <a:ext cx="475488" cy="173736"/>
          </a:xfrm>
          <a:prstGeom prst="rect">
            <a:avLst/>
          </a:prstGeom>
          <a:noFill/>
        </p:spPr>
        <p:txBody>
          <a:bodyPr wrap="square" lIns="0" rIns="0" tIns="0" bIns="0" anchor="ctr">
            <a:spAutoFit/>
          </a:bodyPr>
          <a:lstStyle/>
          <a:p>
            <a:pPr algn="ctr"/>
            <a:r>
              <a:rPr sz="980" b="0" lang="en-US">
                <a:solidFill>
                  <a:srgbClr val="245AA5"/>
                </a:solidFill>
                <a:latin typeface="Arial"/>
              </a:rPr>
              <a:t>JSON</a:t>
            </a:r>
          </a:p>
        </p:txBody>
      </p:sp>
      <p:sp>
        <p:nvSpPr>
          <p:cNvPr id="105" name="Sello process: bytes"/>
          <p:cNvSpPr txBox="1"/>
          <p:nvPr/>
        </p:nvSpPr>
        <p:spPr>
          <a:xfrm>
            <a:off x="8421624" y="4151376"/>
            <a:ext cx="438912" cy="164592"/>
          </a:xfrm>
          <a:prstGeom prst="rect">
            <a:avLst/>
          </a:prstGeom>
          <a:noFill/>
        </p:spPr>
        <p:txBody>
          <a:bodyPr wrap="square" lIns="0" rIns="0" tIns="0" bIns="0" anchor="ctr">
            <a:spAutoFit/>
          </a:bodyPr>
          <a:lstStyle/>
          <a:p>
            <a:pPr algn="ctr"/>
            <a:r>
              <a:rPr sz="969" b="0" lang="en-US">
                <a:solidFill>
                  <a:srgbClr val="245AA5"/>
                </a:solidFill>
                <a:latin typeface="Arial"/>
              </a:rPr>
              <a:t>bytes</a:t>
            </a:r>
          </a:p>
        </p:txBody>
      </p:sp>
      <p:cxnSp>
        <p:nvCxnSpPr>
          <p:cNvPr id="106" name="Layer connector: shared"/>
          <p:cNvCxnSpPr/>
          <p:nvPr/>
        </p:nvCxnSpPr>
        <p:spPr>
          <a:xfrm>
            <a:off x="667512" y="5367528"/>
            <a:ext cx="539496" cy="0"/>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7" name="Sello process: Solid: execution order"/>
          <p:cNvSpPr txBox="1"/>
          <p:nvPr/>
        </p:nvSpPr>
        <p:spPr>
          <a:xfrm>
            <a:off x="1353312" y="5271516"/>
            <a:ext cx="2578608" cy="192024"/>
          </a:xfrm>
          <a:prstGeom prst="rect">
            <a:avLst/>
          </a:prstGeom>
          <a:noFill/>
        </p:spPr>
        <p:txBody>
          <a:bodyPr wrap="square" lIns="0" rIns="0" tIns="0" bIns="0" anchor="ctr">
            <a:spAutoFit/>
          </a:bodyPr>
          <a:lstStyle/>
          <a:p>
            <a:pPr algn="l"/>
            <a:r>
              <a:rPr sz="1050" b="0" lang="en-US">
                <a:solidFill>
                  <a:srgbClr val="686868"/>
                </a:solidFill>
                <a:latin typeface="Arial"/>
              </a:rPr>
              <a:t>Solid: execution order</a:t>
            </a:r>
          </a:p>
        </p:txBody>
      </p:sp>
      <p:cxnSp>
        <p:nvCxnSpPr>
          <p:cNvPr id="108" name="Layer connector: air"/>
          <p:cNvCxnSpPr/>
          <p:nvPr/>
        </p:nvCxnSpPr>
        <p:spPr>
          <a:xfrm>
            <a:off x="4572000" y="5367528"/>
            <a:ext cx="539496" cy="0"/>
          </a:xfrm>
          <a:prstGeom prst="line">
            <a:avLst/>
          </a:prstGeom>
          <a:ln w="21590">
            <a:solidFill>
              <a:srgbClr val="245AA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09" name="Sello process: Dashed: AIR data reference"/>
          <p:cNvSpPr txBox="1"/>
          <p:nvPr/>
        </p:nvSpPr>
        <p:spPr>
          <a:xfrm>
            <a:off x="5257800" y="5271516"/>
            <a:ext cx="3584448" cy="192024"/>
          </a:xfrm>
          <a:prstGeom prst="rect">
            <a:avLst/>
          </a:prstGeom>
          <a:noFill/>
        </p:spPr>
        <p:txBody>
          <a:bodyPr wrap="square" lIns="0" rIns="0" tIns="0" bIns="0" anchor="ctr">
            <a:spAutoFit/>
          </a:bodyPr>
          <a:lstStyle/>
          <a:p>
            <a:pPr algn="l"/>
            <a:r>
              <a:rPr sz="1050" b="0" lang="en-US">
                <a:solidFill>
                  <a:srgbClr val="245AA5"/>
                </a:solidFill>
                <a:latin typeface="Arial"/>
              </a:rPr>
              <a:t>Dashed: AIR data reference</a:t>
            </a:r>
          </a:p>
        </p:txBody>
      </p:sp>
      <p:sp>
        <p:nvSpPr>
          <p:cNvPr id="110" name="Sello process: LLM selects the tool · Runtime enforces verification."/>
          <p:cNvSpPr txBox="1"/>
          <p:nvPr/>
        </p:nvSpPr>
        <p:spPr>
          <a:xfrm>
            <a:off x="621792" y="5486400"/>
            <a:ext cx="10954512" cy="228600"/>
          </a:xfrm>
          <a:prstGeom prst="rect">
            <a:avLst/>
          </a:prstGeom>
          <a:noFill/>
        </p:spPr>
        <p:txBody>
          <a:bodyPr wrap="square" lIns="0" rIns="0" tIns="0" bIns="0" anchor="ctr">
            <a:spAutoFit/>
          </a:bodyPr>
          <a:lstStyle/>
          <a:p>
            <a:pPr algn="l"/>
            <a:r>
              <a:rPr sz="1320" b="1" lang="en-US">
                <a:solidFill>
                  <a:srgbClr val="343434"/>
                </a:solidFill>
                <a:latin typeface="Arial"/>
              </a:rPr>
              <a:t>LLM selects the tool · Runtime enforces verification.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Sello AIR process generalized B">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Sello + AIR: verification overview</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THIRD MCP FUNCTION · GROUPED VERIFICATION RESPONSIBILITIES</a:t>
            </a:r>
          </a:p>
        </p:txBody>
      </p:sp>
      <p:sp>
        <p:nvSpPr>
          <p:cNvPr id="4" name="Rectangle 3"/>
          <p:cNvSpPr/>
          <p:nvPr/>
        </p:nvSpPr>
        <p:spPr>
          <a:xfrm>
            <a:off x="557784" y="1188720"/>
            <a:ext cx="10927080" cy="16459"/>
          </a:xfrm>
          <a:prstGeom prst="rect">
            <a:avLst/>
          </a:prstGeom>
          <a:solidFill>
            <a:srgbClr val="B7B7B7"/>
          </a:solidFill>
          <a:ln>
            <a:solidFill>
              <a:srgbClr val="B7B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5156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Generalized B</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Protocol legend: sello"/>
          <p:cNvSpPr/>
          <p:nvPr/>
        </p:nvSpPr>
        <p:spPr>
          <a:xfrm>
            <a:off x="640080" y="1298448"/>
            <a:ext cx="137160" cy="137160"/>
          </a:xfrm>
          <a:prstGeom prst="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ello process: Sello · tool-call receipt"/>
          <p:cNvSpPr txBox="1"/>
          <p:nvPr/>
        </p:nvSpPr>
        <p:spPr>
          <a:xfrm>
            <a:off x="850392" y="1266444"/>
            <a:ext cx="2743200" cy="205740"/>
          </a:xfrm>
          <a:prstGeom prst="rect">
            <a:avLst/>
          </a:prstGeom>
          <a:noFill/>
        </p:spPr>
        <p:txBody>
          <a:bodyPr wrap="square" lIns="0" rIns="0" tIns="0" bIns="0" anchor="ctr">
            <a:spAutoFit/>
          </a:bodyPr>
          <a:lstStyle/>
          <a:p>
            <a:pPr algn="l"/>
            <a:r>
              <a:rPr sz="1070" b="1" lang="en-US">
                <a:solidFill>
                  <a:srgbClr val="A84B13"/>
                </a:solidFill>
                <a:latin typeface="Arial"/>
              </a:rPr>
              <a:t>Sello · tool-call receipt</a:t>
            </a:r>
          </a:p>
        </p:txBody>
      </p:sp>
      <p:sp>
        <p:nvSpPr>
          <p:cNvPr id="10" name="Protocol legend: air"/>
          <p:cNvSpPr/>
          <p:nvPr/>
        </p:nvSpPr>
        <p:spPr>
          <a:xfrm>
            <a:off x="3986784" y="1298448"/>
            <a:ext cx="137160" cy="137160"/>
          </a:xfrm>
          <a:prstGeom prst="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ello process: AIR · inference evidence"/>
          <p:cNvSpPr txBox="1"/>
          <p:nvPr/>
        </p:nvSpPr>
        <p:spPr>
          <a:xfrm>
            <a:off x="4197096" y="1266444"/>
            <a:ext cx="3566160" cy="205740"/>
          </a:xfrm>
          <a:prstGeom prst="rect">
            <a:avLst/>
          </a:prstGeom>
          <a:noFill/>
        </p:spPr>
        <p:txBody>
          <a:bodyPr wrap="square" lIns="0" rIns="0" tIns="0" bIns="0" anchor="ctr">
            <a:spAutoFit/>
          </a:bodyPr>
          <a:lstStyle/>
          <a:p>
            <a:pPr algn="l"/>
            <a:r>
              <a:rPr sz="1070" b="1" lang="en-US">
                <a:solidFill>
                  <a:srgbClr val="245AA5"/>
                </a:solidFill>
                <a:latin typeface="Arial"/>
              </a:rPr>
              <a:t>AIR · inference evidence</a:t>
            </a:r>
          </a:p>
        </p:txBody>
      </p:sp>
      <p:sp>
        <p:nvSpPr>
          <p:cNvPr id="12" name="Protocol legend: shared"/>
          <p:cNvSpPr/>
          <p:nvPr/>
        </p:nvSpPr>
        <p:spPr>
          <a:xfrm>
            <a:off x="8302752" y="1298448"/>
            <a:ext cx="137160" cy="137160"/>
          </a:xfrm>
          <a:prstGeom prst="rect">
            <a:avLst/>
          </a:prstGeom>
          <a:solidFill>
            <a:srgbClr val="FFFFFF"/>
          </a:solidFill>
          <a:ln w="10160">
            <a:solidFill>
              <a:srgbClr val="6868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ello process: Shared · auth / transport"/>
          <p:cNvSpPr txBox="1"/>
          <p:nvPr/>
        </p:nvSpPr>
        <p:spPr>
          <a:xfrm>
            <a:off x="8513064" y="1266444"/>
            <a:ext cx="3145536" cy="205740"/>
          </a:xfrm>
          <a:prstGeom prst="rect">
            <a:avLst/>
          </a:prstGeom>
          <a:noFill/>
        </p:spPr>
        <p:txBody>
          <a:bodyPr wrap="square" lIns="0" rIns="0" tIns="0" bIns="0" anchor="ctr">
            <a:spAutoFit/>
          </a:bodyPr>
          <a:lstStyle/>
          <a:p>
            <a:pPr algn="l"/>
            <a:r>
              <a:rPr sz="1070" b="1" lang="en-US">
                <a:solidFill>
                  <a:srgbClr val="686868"/>
                </a:solidFill>
                <a:latin typeface="Arial"/>
              </a:rPr>
              <a:t>Shared · auth / transport</a:t>
            </a:r>
          </a:p>
        </p:txBody>
      </p:sp>
      <p:sp>
        <p:nvSpPr>
          <p:cNvPr id="14" name="Sello AIR process panel"/>
          <p:cNvSpPr/>
          <p:nvPr/>
        </p:nvSpPr>
        <p:spPr>
          <a:xfrm>
            <a:off x="594360" y="1636776"/>
            <a:ext cx="10991088" cy="1536192"/>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ello AIR process panel"/>
          <p:cNvSpPr/>
          <p:nvPr/>
        </p:nvSpPr>
        <p:spPr>
          <a:xfrm>
            <a:off x="594360" y="1636776"/>
            <a:ext cx="1536192" cy="1536192"/>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ello actor: Agent Runtime"/>
          <p:cNvSpPr txBox="1"/>
          <p:nvPr/>
        </p:nvSpPr>
        <p:spPr>
          <a:xfrm>
            <a:off x="694944" y="1682496"/>
            <a:ext cx="1335024" cy="1444751"/>
          </a:xfrm>
          <a:prstGeom prst="rect">
            <a:avLst/>
          </a:prstGeom>
          <a:noFill/>
        </p:spPr>
        <p:txBody>
          <a:bodyPr wrap="square" lIns="0" rIns="0" tIns="0" bIns="0" anchor="ctr">
            <a:spAutoFit/>
          </a:bodyPr>
          <a:lstStyle/>
          <a:p>
            <a:pPr algn="ctr"/>
            <a:r>
              <a:rPr sz="1520" b="1" lang="en-US">
                <a:solidFill>
                  <a:srgbClr val="FFFFFF"/>
                </a:solidFill>
                <a:latin typeface="Arial"/>
              </a:rPr>
              <a:t>Agent
Runtime</a:t>
            </a:r>
          </a:p>
        </p:txBody>
      </p:sp>
      <p:sp>
        <p:nvSpPr>
          <p:cNvPr id="17" name="Sello AIR process panel"/>
          <p:cNvSpPr/>
          <p:nvPr/>
        </p:nvSpPr>
        <p:spPr>
          <a:xfrm>
            <a:off x="594360" y="3264408"/>
            <a:ext cx="10991088" cy="585216"/>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ello AIR process panel"/>
          <p:cNvSpPr/>
          <p:nvPr/>
        </p:nvSpPr>
        <p:spPr>
          <a:xfrm>
            <a:off x="594360" y="3264408"/>
            <a:ext cx="1536192" cy="585216"/>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ello actor: Inference TEE"/>
          <p:cNvSpPr txBox="1"/>
          <p:nvPr/>
        </p:nvSpPr>
        <p:spPr>
          <a:xfrm>
            <a:off x="694944" y="3310127"/>
            <a:ext cx="1335024" cy="493776"/>
          </a:xfrm>
          <a:prstGeom prst="rect">
            <a:avLst/>
          </a:prstGeom>
          <a:noFill/>
        </p:spPr>
        <p:txBody>
          <a:bodyPr wrap="square" lIns="0" rIns="0" tIns="0" bIns="0" anchor="ctr">
            <a:spAutoFit/>
          </a:bodyPr>
          <a:lstStyle/>
          <a:p>
            <a:pPr algn="ctr"/>
            <a:r>
              <a:rPr sz="1520" b="1" lang="en-US">
                <a:solidFill>
                  <a:srgbClr val="FFFFFF"/>
                </a:solidFill>
                <a:latin typeface="Arial"/>
              </a:rPr>
              <a:t>Inference
TEE</a:t>
            </a:r>
          </a:p>
        </p:txBody>
      </p:sp>
      <p:sp>
        <p:nvSpPr>
          <p:cNvPr id="20" name="Sello AIR process panel"/>
          <p:cNvSpPr/>
          <p:nvPr/>
        </p:nvSpPr>
        <p:spPr>
          <a:xfrm>
            <a:off x="594360" y="3941063"/>
            <a:ext cx="10991088" cy="585216"/>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ello AIR process panel"/>
          <p:cNvSpPr/>
          <p:nvPr/>
        </p:nvSpPr>
        <p:spPr>
          <a:xfrm>
            <a:off x="594360" y="3941063"/>
            <a:ext cx="1536192" cy="585216"/>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ello actor: Transparency Log"/>
          <p:cNvSpPr txBox="1"/>
          <p:nvPr/>
        </p:nvSpPr>
        <p:spPr>
          <a:xfrm>
            <a:off x="694944" y="3986783"/>
            <a:ext cx="1335024" cy="493776"/>
          </a:xfrm>
          <a:prstGeom prst="rect">
            <a:avLst/>
          </a:prstGeom>
          <a:noFill/>
        </p:spPr>
        <p:txBody>
          <a:bodyPr wrap="square" lIns="0" rIns="0" tIns="0" bIns="0" anchor="ctr">
            <a:spAutoFit/>
          </a:bodyPr>
          <a:lstStyle/>
          <a:p>
            <a:pPr algn="ctr"/>
            <a:r>
              <a:rPr sz="1400" b="1" lang="en-US">
                <a:solidFill>
                  <a:srgbClr val="FFFFFF"/>
                </a:solidFill>
                <a:latin typeface="Arial"/>
              </a:rPr>
              <a:t>Transparency
Log</a:t>
            </a:r>
          </a:p>
        </p:txBody>
      </p:sp>
      <p:sp>
        <p:nvSpPr>
          <p:cNvPr id="23" name="Sello AIR process panel"/>
          <p:cNvSpPr/>
          <p:nvPr/>
        </p:nvSpPr>
        <p:spPr>
          <a:xfrm>
            <a:off x="594360" y="4617720"/>
            <a:ext cx="10991088" cy="585216"/>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ello AIR process panel"/>
          <p:cNvSpPr/>
          <p:nvPr/>
        </p:nvSpPr>
        <p:spPr>
          <a:xfrm>
            <a:off x="594360" y="4617720"/>
            <a:ext cx="1536192" cy="585216"/>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ello actor: Phala API"/>
          <p:cNvSpPr txBox="1"/>
          <p:nvPr/>
        </p:nvSpPr>
        <p:spPr>
          <a:xfrm>
            <a:off x="694944" y="4663440"/>
            <a:ext cx="1335024" cy="493776"/>
          </a:xfrm>
          <a:prstGeom prst="rect">
            <a:avLst/>
          </a:prstGeom>
          <a:noFill/>
        </p:spPr>
        <p:txBody>
          <a:bodyPr wrap="square" lIns="0" rIns="0" tIns="0" bIns="0" anchor="ctr">
            <a:spAutoFit/>
          </a:bodyPr>
          <a:lstStyle/>
          <a:p>
            <a:pPr algn="ctr"/>
            <a:r>
              <a:rPr sz="1520" b="1" lang="en-US">
                <a:solidFill>
                  <a:srgbClr val="FFFFFF"/>
                </a:solidFill>
                <a:latin typeface="Arial"/>
              </a:rPr>
              <a:t>Phala
API</a:t>
            </a:r>
          </a:p>
        </p:txBody>
      </p:sp>
      <p:cxnSp>
        <p:nvCxnSpPr>
          <p:cNvPr id="26" name="Layer connector: shared"/>
          <p:cNvCxnSpPr/>
          <p:nvPr/>
        </p:nvCxnSpPr>
        <p:spPr>
          <a:xfrm>
            <a:off x="2889503" y="2377440"/>
            <a:ext cx="0" cy="932688"/>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Layer connector: shared"/>
          <p:cNvCxnSpPr/>
          <p:nvPr/>
        </p:nvCxnSpPr>
        <p:spPr>
          <a:xfrm>
            <a:off x="3483863" y="3557016"/>
            <a:ext cx="91441" cy="0"/>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Layer connector: sello"/>
          <p:cNvCxnSpPr/>
          <p:nvPr/>
        </p:nvCxnSpPr>
        <p:spPr>
          <a:xfrm>
            <a:off x="4169664" y="3803904"/>
            <a:ext cx="0" cy="18288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Layer connector: sello"/>
          <p:cNvCxnSpPr/>
          <p:nvPr/>
        </p:nvCxnSpPr>
        <p:spPr>
          <a:xfrm flipV="1">
            <a:off x="4581144" y="3895344"/>
            <a:ext cx="0" cy="9144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0" name="Layer connector: sello"/>
          <p:cNvCxnSpPr/>
          <p:nvPr/>
        </p:nvCxnSpPr>
        <p:spPr>
          <a:xfrm>
            <a:off x="4581144" y="3895344"/>
            <a:ext cx="868680" cy="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1" name="Layer connector: sello"/>
          <p:cNvCxnSpPr/>
          <p:nvPr/>
        </p:nvCxnSpPr>
        <p:spPr>
          <a:xfrm flipV="1">
            <a:off x="5449824" y="3803904"/>
            <a:ext cx="0" cy="9144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Layer connector: shared"/>
          <p:cNvCxnSpPr/>
          <p:nvPr/>
        </p:nvCxnSpPr>
        <p:spPr>
          <a:xfrm flipH="1">
            <a:off x="4809744" y="3557016"/>
            <a:ext cx="45720" cy="0"/>
          </a:xfrm>
          <a:prstGeom prst="line">
            <a:avLst/>
          </a:prstGeom>
          <a:ln w="19050">
            <a:solidFill>
              <a:srgbClr val="686868"/>
            </a:solidFill>
          </a:ln>
        </p:spPr>
        <p:style>
          <a:lnRef idx="2">
            <a:schemeClr val="accent1"/>
          </a:lnRef>
          <a:fillRef idx="0">
            <a:schemeClr val="accent1"/>
          </a:fillRef>
          <a:effectRef idx="1">
            <a:schemeClr val="accent1"/>
          </a:effectRef>
          <a:fontRef idx="minor">
            <a:schemeClr val="tx1"/>
          </a:fontRef>
        </p:style>
      </p:cxnSp>
      <p:cxnSp>
        <p:nvCxnSpPr>
          <p:cNvPr id="33" name="Layer connector: shared"/>
          <p:cNvCxnSpPr/>
          <p:nvPr/>
        </p:nvCxnSpPr>
        <p:spPr>
          <a:xfrm flipV="1">
            <a:off x="4809744" y="1956816"/>
            <a:ext cx="0" cy="1600200"/>
          </a:xfrm>
          <a:prstGeom prst="line">
            <a:avLst/>
          </a:prstGeom>
          <a:ln w="19050">
            <a:solidFill>
              <a:srgbClr val="686868"/>
            </a:solidFill>
          </a:ln>
        </p:spPr>
        <p:style>
          <a:lnRef idx="2">
            <a:schemeClr val="accent1"/>
          </a:lnRef>
          <a:fillRef idx="0">
            <a:schemeClr val="accent1"/>
          </a:fillRef>
          <a:effectRef idx="1">
            <a:schemeClr val="accent1"/>
          </a:effectRef>
          <a:fontRef idx="minor">
            <a:schemeClr val="tx1"/>
          </a:fontRef>
        </p:style>
      </p:cxnSp>
      <p:cxnSp>
        <p:nvCxnSpPr>
          <p:cNvPr id="34" name="Layer connector: shared"/>
          <p:cNvCxnSpPr/>
          <p:nvPr/>
        </p:nvCxnSpPr>
        <p:spPr>
          <a:xfrm>
            <a:off x="4809744" y="1956816"/>
            <a:ext cx="45720" cy="0"/>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Layer connector: sello"/>
          <p:cNvCxnSpPr/>
          <p:nvPr/>
        </p:nvCxnSpPr>
        <p:spPr>
          <a:xfrm>
            <a:off x="5449824" y="2203704"/>
            <a:ext cx="0" cy="210312"/>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Layer connector: sello"/>
          <p:cNvCxnSpPr/>
          <p:nvPr/>
        </p:nvCxnSpPr>
        <p:spPr>
          <a:xfrm>
            <a:off x="6044183" y="2660904"/>
            <a:ext cx="45721" cy="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7" name="Layer connector: sello"/>
          <p:cNvCxnSpPr/>
          <p:nvPr/>
        </p:nvCxnSpPr>
        <p:spPr>
          <a:xfrm>
            <a:off x="6089904" y="2660904"/>
            <a:ext cx="0" cy="1207008"/>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8" name="Layer connector: sello"/>
          <p:cNvCxnSpPr/>
          <p:nvPr/>
        </p:nvCxnSpPr>
        <p:spPr>
          <a:xfrm flipH="1">
            <a:off x="5879592" y="3867912"/>
            <a:ext cx="210312" cy="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9" name="Layer connector: sello"/>
          <p:cNvCxnSpPr/>
          <p:nvPr/>
        </p:nvCxnSpPr>
        <p:spPr>
          <a:xfrm>
            <a:off x="5879592" y="3867912"/>
            <a:ext cx="0" cy="118872"/>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Layer connector: sello"/>
          <p:cNvCxnSpPr/>
          <p:nvPr/>
        </p:nvCxnSpPr>
        <p:spPr>
          <a:xfrm>
            <a:off x="6044183" y="4233672"/>
            <a:ext cx="137161" cy="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41" name="Layer connector: sello"/>
          <p:cNvCxnSpPr/>
          <p:nvPr/>
        </p:nvCxnSpPr>
        <p:spPr>
          <a:xfrm flipV="1">
            <a:off x="6181344" y="2208276"/>
            <a:ext cx="0" cy="2025396"/>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42" name="Layer connector: sello"/>
          <p:cNvCxnSpPr/>
          <p:nvPr/>
        </p:nvCxnSpPr>
        <p:spPr>
          <a:xfrm>
            <a:off x="6181344" y="2208276"/>
            <a:ext cx="91440" cy="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Layer connector: air"/>
          <p:cNvCxnSpPr/>
          <p:nvPr/>
        </p:nvCxnSpPr>
        <p:spPr>
          <a:xfrm flipV="1">
            <a:off x="3246120" y="3017520"/>
            <a:ext cx="0" cy="292608"/>
          </a:xfrm>
          <a:prstGeom prst="line">
            <a:avLst/>
          </a:prstGeom>
          <a:ln w="21590">
            <a:solidFill>
              <a:srgbClr val="245AA5"/>
            </a:solidFill>
            <a:prstDash val="dash"/>
          </a:ln>
        </p:spPr>
        <p:style>
          <a:lnRef idx="2">
            <a:schemeClr val="accent1"/>
          </a:lnRef>
          <a:fillRef idx="0">
            <a:schemeClr val="accent1"/>
          </a:fillRef>
          <a:effectRef idx="1">
            <a:schemeClr val="accent1"/>
          </a:effectRef>
          <a:fontRef idx="minor">
            <a:schemeClr val="tx1"/>
          </a:fontRef>
        </p:style>
      </p:cxnSp>
      <p:cxnSp>
        <p:nvCxnSpPr>
          <p:cNvPr id="44" name="Layer connector: air"/>
          <p:cNvCxnSpPr/>
          <p:nvPr/>
        </p:nvCxnSpPr>
        <p:spPr>
          <a:xfrm>
            <a:off x="3246120" y="3017520"/>
            <a:ext cx="1261872" cy="0"/>
          </a:xfrm>
          <a:prstGeom prst="line">
            <a:avLst/>
          </a:prstGeom>
          <a:ln w="21590">
            <a:solidFill>
              <a:srgbClr val="245AA5"/>
            </a:solidFill>
            <a:prstDash val="dash"/>
          </a:ln>
        </p:spPr>
        <p:style>
          <a:lnRef idx="2">
            <a:schemeClr val="accent1"/>
          </a:lnRef>
          <a:fillRef idx="0">
            <a:schemeClr val="accent1"/>
          </a:fillRef>
          <a:effectRef idx="1">
            <a:schemeClr val="accent1"/>
          </a:effectRef>
          <a:fontRef idx="minor">
            <a:schemeClr val="tx1"/>
          </a:fontRef>
        </p:style>
      </p:cxnSp>
      <p:cxnSp>
        <p:nvCxnSpPr>
          <p:cNvPr id="45" name="Layer connector: air"/>
          <p:cNvCxnSpPr/>
          <p:nvPr/>
        </p:nvCxnSpPr>
        <p:spPr>
          <a:xfrm flipV="1">
            <a:off x="4507992" y="1828800"/>
            <a:ext cx="0" cy="1188720"/>
          </a:xfrm>
          <a:prstGeom prst="line">
            <a:avLst/>
          </a:prstGeom>
          <a:ln w="21590">
            <a:solidFill>
              <a:srgbClr val="245AA5"/>
            </a:solidFill>
            <a:prstDash val="dash"/>
          </a:ln>
        </p:spPr>
        <p:style>
          <a:lnRef idx="2">
            <a:schemeClr val="accent1"/>
          </a:lnRef>
          <a:fillRef idx="0">
            <a:schemeClr val="accent1"/>
          </a:fillRef>
          <a:effectRef idx="1">
            <a:schemeClr val="accent1"/>
          </a:effectRef>
          <a:fontRef idx="minor">
            <a:schemeClr val="tx1"/>
          </a:fontRef>
        </p:style>
      </p:cxnSp>
      <p:cxnSp>
        <p:nvCxnSpPr>
          <p:cNvPr id="46" name="Layer connector: air"/>
          <p:cNvCxnSpPr/>
          <p:nvPr/>
        </p:nvCxnSpPr>
        <p:spPr>
          <a:xfrm>
            <a:off x="4507992" y="1828800"/>
            <a:ext cx="347472" cy="0"/>
          </a:xfrm>
          <a:prstGeom prst="line">
            <a:avLst/>
          </a:prstGeom>
          <a:ln w="21590">
            <a:solidFill>
              <a:srgbClr val="245AA5"/>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Layer connector: air"/>
          <p:cNvCxnSpPr/>
          <p:nvPr/>
        </p:nvCxnSpPr>
        <p:spPr>
          <a:xfrm>
            <a:off x="6044183" y="1938528"/>
            <a:ext cx="228601" cy="0"/>
          </a:xfrm>
          <a:prstGeom prst="line">
            <a:avLst/>
          </a:prstGeom>
          <a:ln w="21590">
            <a:solidFill>
              <a:srgbClr val="245AA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8" name="Sello process: AIR bundle"/>
          <p:cNvSpPr txBox="1"/>
          <p:nvPr/>
        </p:nvSpPr>
        <p:spPr>
          <a:xfrm>
            <a:off x="3364992" y="2798064"/>
            <a:ext cx="1243584" cy="192024"/>
          </a:xfrm>
          <a:prstGeom prst="rect">
            <a:avLst/>
          </a:prstGeom>
          <a:noFill/>
        </p:spPr>
        <p:txBody>
          <a:bodyPr wrap="square" lIns="0" rIns="0" tIns="0" bIns="0" anchor="ctr">
            <a:spAutoFit/>
          </a:bodyPr>
          <a:lstStyle/>
          <a:p>
            <a:pPr algn="ctr"/>
            <a:r>
              <a:rPr sz="1050" b="0" lang="en-US">
                <a:solidFill>
                  <a:srgbClr val="245AA5"/>
                </a:solidFill>
                <a:latin typeface="Arial"/>
              </a:rPr>
              <a:t>AIR bundle</a:t>
            </a:r>
          </a:p>
        </p:txBody>
      </p:sp>
      <p:cxnSp>
        <p:nvCxnSpPr>
          <p:cNvPr id="49" name="Layer connector: air"/>
          <p:cNvCxnSpPr/>
          <p:nvPr/>
        </p:nvCxnSpPr>
        <p:spPr>
          <a:xfrm>
            <a:off x="6793992" y="2770632"/>
            <a:ext cx="0" cy="1892808"/>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Layer connector: air"/>
          <p:cNvCxnSpPr/>
          <p:nvPr/>
        </p:nvCxnSpPr>
        <p:spPr>
          <a:xfrm flipV="1">
            <a:off x="7818120" y="2770632"/>
            <a:ext cx="0" cy="1892808"/>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Layer connector: air"/>
          <p:cNvCxnSpPr/>
          <p:nvPr/>
        </p:nvCxnSpPr>
        <p:spPr>
          <a:xfrm>
            <a:off x="8357616" y="2267712"/>
            <a:ext cx="749808" cy="0"/>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Layer connector: air"/>
          <p:cNvCxnSpPr/>
          <p:nvPr/>
        </p:nvCxnSpPr>
        <p:spPr>
          <a:xfrm>
            <a:off x="11402568" y="2267712"/>
            <a:ext cx="109728" cy="0"/>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53" name="Layer connector: air"/>
          <p:cNvCxnSpPr/>
          <p:nvPr/>
        </p:nvCxnSpPr>
        <p:spPr>
          <a:xfrm>
            <a:off x="11512296" y="2267712"/>
            <a:ext cx="0" cy="1965960"/>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54" name="Layer connector: air"/>
          <p:cNvCxnSpPr/>
          <p:nvPr/>
        </p:nvCxnSpPr>
        <p:spPr>
          <a:xfrm flipH="1">
            <a:off x="11402568" y="4233672"/>
            <a:ext cx="109728" cy="0"/>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Sello AIR process panel"/>
          <p:cNvSpPr/>
          <p:nvPr/>
        </p:nvSpPr>
        <p:spPr>
          <a:xfrm>
            <a:off x="2295144" y="1783080"/>
            <a:ext cx="1188720" cy="594360"/>
          </a:xfrm>
          <a:prstGeom prst="roundRect">
            <a:avLst/>
          </a:prstGeom>
          <a:solidFill>
            <a:srgbClr val="FFFFFF"/>
          </a:solidFill>
          <a:ln w="10160">
            <a:solidFill>
              <a:srgbClr val="6868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ello steps: 1,2,3"/>
          <p:cNvSpPr txBox="1"/>
          <p:nvPr/>
        </p:nvSpPr>
        <p:spPr>
          <a:xfrm>
            <a:off x="2368296" y="1815084"/>
            <a:ext cx="1042416" cy="530352"/>
          </a:xfrm>
          <a:prstGeom prst="rect">
            <a:avLst/>
          </a:prstGeom>
          <a:noFill/>
        </p:spPr>
        <p:txBody>
          <a:bodyPr wrap="square" lIns="0" rIns="0" tIns="0" bIns="0" anchor="ctr">
            <a:spAutoFit/>
          </a:bodyPr>
          <a:lstStyle/>
          <a:p>
            <a:pPr algn="ctr"/>
            <a:r>
              <a:rPr sz="1180" b="1" lang="en-US">
                <a:solidFill>
                  <a:srgbClr val="686868"/>
                </a:solidFill>
                <a:latin typeface="Arial"/>
              </a:rPr>
              <a:t>1–3  Auth
+ session</a:t>
            </a:r>
          </a:p>
        </p:txBody>
      </p:sp>
      <p:sp>
        <p:nvSpPr>
          <p:cNvPr id="57" name="Sello AIR process panel"/>
          <p:cNvSpPr/>
          <p:nvPr/>
        </p:nvSpPr>
        <p:spPr>
          <a:xfrm>
            <a:off x="2295144" y="3310128"/>
            <a:ext cx="1188720" cy="493776"/>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IR steps: A1"/>
          <p:cNvSpPr txBox="1"/>
          <p:nvPr/>
        </p:nvSpPr>
        <p:spPr>
          <a:xfrm>
            <a:off x="2368296" y="3342132"/>
            <a:ext cx="1042416" cy="429768"/>
          </a:xfrm>
          <a:prstGeom prst="rect">
            <a:avLst/>
          </a:prstGeom>
          <a:noFill/>
        </p:spPr>
        <p:txBody>
          <a:bodyPr wrap="square" lIns="0" rIns="0" tIns="0" bIns="0" anchor="ctr">
            <a:spAutoFit/>
          </a:bodyPr>
          <a:lstStyle/>
          <a:p>
            <a:pPr algn="ctr"/>
            <a:r>
              <a:rPr sz="1180" b="1" lang="en-US">
                <a:solidFill>
                  <a:srgbClr val="245AA5"/>
                </a:solidFill>
                <a:latin typeface="Arial"/>
              </a:rPr>
              <a:t>A1  Infer
+ AIR</a:t>
            </a:r>
          </a:p>
        </p:txBody>
      </p:sp>
      <p:sp>
        <p:nvSpPr>
          <p:cNvPr id="59" name="Sello AIR process panel"/>
          <p:cNvSpPr/>
          <p:nvPr/>
        </p:nvSpPr>
        <p:spPr>
          <a:xfrm>
            <a:off x="3575304" y="3310128"/>
            <a:ext cx="1188720" cy="493776"/>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ello steps: 4"/>
          <p:cNvSpPr txBox="1"/>
          <p:nvPr/>
        </p:nvSpPr>
        <p:spPr>
          <a:xfrm>
            <a:off x="3648456" y="3342132"/>
            <a:ext cx="1042416" cy="429768"/>
          </a:xfrm>
          <a:prstGeom prst="rect">
            <a:avLst/>
          </a:prstGeom>
          <a:noFill/>
        </p:spPr>
        <p:txBody>
          <a:bodyPr wrap="square" lIns="0" rIns="0" tIns="0" bIns="0" anchor="ctr">
            <a:spAutoFit/>
          </a:bodyPr>
          <a:lstStyle/>
          <a:p>
            <a:pPr algn="ctr"/>
            <a:r>
              <a:rPr sz="1180" b="1" lang="en-US">
                <a:solidFill>
                  <a:srgbClr val="A84B13"/>
                </a:solidFill>
                <a:latin typeface="Arial"/>
              </a:rPr>
              <a:t>4  Seal
Sello</a:t>
            </a:r>
          </a:p>
        </p:txBody>
      </p:sp>
      <p:sp>
        <p:nvSpPr>
          <p:cNvPr id="61" name="Sello AIR process panel"/>
          <p:cNvSpPr/>
          <p:nvPr/>
        </p:nvSpPr>
        <p:spPr>
          <a:xfrm>
            <a:off x="3575304" y="3986784"/>
            <a:ext cx="1188720" cy="493776"/>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ello steps: 5"/>
          <p:cNvSpPr txBox="1"/>
          <p:nvPr/>
        </p:nvSpPr>
        <p:spPr>
          <a:xfrm>
            <a:off x="3648456" y="4018788"/>
            <a:ext cx="1042416" cy="429768"/>
          </a:xfrm>
          <a:prstGeom prst="rect">
            <a:avLst/>
          </a:prstGeom>
          <a:noFill/>
        </p:spPr>
        <p:txBody>
          <a:bodyPr wrap="square" lIns="0" rIns="0" tIns="0" bIns="0" anchor="ctr">
            <a:spAutoFit/>
          </a:bodyPr>
          <a:lstStyle/>
          <a:p>
            <a:pPr algn="ctr"/>
            <a:r>
              <a:rPr sz="1150" b="1" lang="en-US">
                <a:solidFill>
                  <a:srgbClr val="A84B13"/>
                </a:solidFill>
                <a:latin typeface="Arial"/>
              </a:rPr>
              <a:t>5  Log Sello
receipt</a:t>
            </a:r>
          </a:p>
        </p:txBody>
      </p:sp>
      <p:sp>
        <p:nvSpPr>
          <p:cNvPr id="63" name="Sello AIR process panel"/>
          <p:cNvSpPr/>
          <p:nvPr/>
        </p:nvSpPr>
        <p:spPr>
          <a:xfrm>
            <a:off x="4855464" y="3310128"/>
            <a:ext cx="1188720" cy="493776"/>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ello steps: 6"/>
          <p:cNvSpPr txBox="1"/>
          <p:nvPr/>
        </p:nvSpPr>
        <p:spPr>
          <a:xfrm>
            <a:off x="4928616" y="3342132"/>
            <a:ext cx="1042416" cy="429768"/>
          </a:xfrm>
          <a:prstGeom prst="rect">
            <a:avLst/>
          </a:prstGeom>
          <a:noFill/>
        </p:spPr>
        <p:txBody>
          <a:bodyPr wrap="square" lIns="0" rIns="0" tIns="0" bIns="0" anchor="ctr">
            <a:spAutoFit/>
          </a:bodyPr>
          <a:lstStyle/>
          <a:p>
            <a:pPr algn="ctr"/>
            <a:r>
              <a:rPr sz="1180" b="1" lang="en-US">
                <a:solidFill>
                  <a:srgbClr val="A84B13"/>
                </a:solidFill>
                <a:latin typeface="Arial"/>
              </a:rPr>
              <a:t>6  Check
inclusion</a:t>
            </a:r>
          </a:p>
        </p:txBody>
      </p:sp>
      <p:sp>
        <p:nvSpPr>
          <p:cNvPr id="65" name="Sello AIR process panel"/>
          <p:cNvSpPr/>
          <p:nvPr/>
        </p:nvSpPr>
        <p:spPr>
          <a:xfrm>
            <a:off x="4855464" y="1709928"/>
            <a:ext cx="1188720" cy="493776"/>
          </a:xfrm>
          <a:prstGeom prst="roundRect">
            <a:avLst/>
          </a:prstGeom>
          <a:solidFill>
            <a:srgbClr val="FFFFFF"/>
          </a:solidFill>
          <a:ln w="10160">
            <a:solidFill>
              <a:srgbClr val="6868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ello steps: 7"/>
          <p:cNvSpPr txBox="1"/>
          <p:nvPr/>
        </p:nvSpPr>
        <p:spPr>
          <a:xfrm>
            <a:off x="4928616" y="1741932"/>
            <a:ext cx="1042416" cy="429768"/>
          </a:xfrm>
          <a:prstGeom prst="rect">
            <a:avLst/>
          </a:prstGeom>
          <a:noFill/>
        </p:spPr>
        <p:txBody>
          <a:bodyPr wrap="square" lIns="0" rIns="0" tIns="0" bIns="0" anchor="ctr">
            <a:spAutoFit/>
          </a:bodyPr>
          <a:lstStyle/>
          <a:p>
            <a:pPr algn="ctr"/>
            <a:r>
              <a:rPr sz="1150" b="1" lang="en-US">
                <a:solidFill>
                  <a:srgbClr val="686868"/>
                </a:solidFill>
                <a:latin typeface="Arial"/>
              </a:rPr>
              <a:t>7  AIR +
Sello reply</a:t>
            </a:r>
          </a:p>
        </p:txBody>
      </p:sp>
      <p:sp>
        <p:nvSpPr>
          <p:cNvPr id="67" name="Sello AIR process panel"/>
          <p:cNvSpPr/>
          <p:nvPr/>
        </p:nvSpPr>
        <p:spPr>
          <a:xfrm>
            <a:off x="4855464" y="2414016"/>
            <a:ext cx="1188720" cy="493776"/>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ello steps: 8"/>
          <p:cNvSpPr txBox="1"/>
          <p:nvPr/>
        </p:nvSpPr>
        <p:spPr>
          <a:xfrm>
            <a:off x="4928616" y="2446020"/>
            <a:ext cx="1042416" cy="429768"/>
          </a:xfrm>
          <a:prstGeom prst="rect">
            <a:avLst/>
          </a:prstGeom>
          <a:noFill/>
        </p:spPr>
        <p:txBody>
          <a:bodyPr wrap="square" lIns="0" rIns="0" tIns="0" bIns="0" anchor="ctr">
            <a:spAutoFit/>
          </a:bodyPr>
          <a:lstStyle/>
          <a:p>
            <a:pPr algn="ctr"/>
            <a:r>
              <a:rPr sz="1180" b="1" lang="en-US">
                <a:solidFill>
                  <a:srgbClr val="A84B13"/>
                </a:solidFill>
                <a:latin typeface="Arial"/>
              </a:rPr>
              <a:t>8  Verify
Sello</a:t>
            </a:r>
          </a:p>
        </p:txBody>
      </p:sp>
      <p:sp>
        <p:nvSpPr>
          <p:cNvPr id="69" name="Sello AIR process panel"/>
          <p:cNvSpPr/>
          <p:nvPr/>
        </p:nvSpPr>
        <p:spPr>
          <a:xfrm>
            <a:off x="4855464" y="3986784"/>
            <a:ext cx="1188720" cy="493776"/>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ello steps: 9"/>
          <p:cNvSpPr txBox="1"/>
          <p:nvPr/>
        </p:nvSpPr>
        <p:spPr>
          <a:xfrm>
            <a:off x="4928616" y="4018788"/>
            <a:ext cx="1042416" cy="429768"/>
          </a:xfrm>
          <a:prstGeom prst="rect">
            <a:avLst/>
          </a:prstGeom>
          <a:noFill/>
        </p:spPr>
        <p:txBody>
          <a:bodyPr wrap="square" lIns="0" rIns="0" tIns="0" bIns="0" anchor="ctr">
            <a:spAutoFit/>
          </a:bodyPr>
          <a:lstStyle/>
          <a:p>
            <a:pPr algn="ctr"/>
            <a:r>
              <a:rPr sz="1150" b="1" lang="en-US">
                <a:solidFill>
                  <a:srgbClr val="A84B13"/>
                </a:solidFill>
                <a:latin typeface="Arial"/>
              </a:rPr>
              <a:t>9  Session
+ audit</a:t>
            </a:r>
          </a:p>
        </p:txBody>
      </p:sp>
      <p:sp>
        <p:nvSpPr>
          <p:cNvPr id="71" name="Sello AIR process panel"/>
          <p:cNvSpPr/>
          <p:nvPr/>
        </p:nvSpPr>
        <p:spPr>
          <a:xfrm>
            <a:off x="6272784" y="1764792"/>
            <a:ext cx="2084831" cy="1005840"/>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AIR steps: A2,A4"/>
          <p:cNvSpPr txBox="1"/>
          <p:nvPr/>
        </p:nvSpPr>
        <p:spPr>
          <a:xfrm>
            <a:off x="6364224" y="1796795"/>
            <a:ext cx="1901951" cy="246888"/>
          </a:xfrm>
          <a:prstGeom prst="rect">
            <a:avLst/>
          </a:prstGeom>
          <a:noFill/>
        </p:spPr>
        <p:txBody>
          <a:bodyPr wrap="square" lIns="0" rIns="0" tIns="0" bIns="0" anchor="ctr">
            <a:spAutoFit/>
          </a:bodyPr>
          <a:lstStyle/>
          <a:p>
            <a:pPr algn="l"/>
            <a:r>
              <a:rPr sz="1200" b="1" lang="en-US">
                <a:solidFill>
                  <a:srgbClr val="245AA5"/>
                </a:solidFill>
                <a:latin typeface="Arial"/>
              </a:rPr>
              <a:t>A2 / A4  Agent checks</a:t>
            </a:r>
          </a:p>
        </p:txBody>
      </p:sp>
      <p:sp>
        <p:nvSpPr>
          <p:cNvPr id="73" name="Sello process: Context + API results / Before / after API calls"/>
          <p:cNvSpPr txBox="1"/>
          <p:nvPr/>
        </p:nvSpPr>
        <p:spPr>
          <a:xfrm>
            <a:off x="6364224" y="2057400"/>
            <a:ext cx="1901951" cy="681228"/>
          </a:xfrm>
          <a:prstGeom prst="rect">
            <a:avLst/>
          </a:prstGeom>
          <a:noFill/>
        </p:spPr>
        <p:txBody>
          <a:bodyPr wrap="square" lIns="0" rIns="0" tIns="0" bIns="0" anchor="ctr">
            <a:spAutoFit/>
          </a:bodyPr>
          <a:lstStyle/>
          <a:p>
            <a:pPr algn="l"/>
            <a:r>
              <a:rPr sz="1100" b="0" lang="en-US">
                <a:solidFill>
                  <a:srgbClr val="245AA5"/>
                </a:solidFill>
                <a:latin typeface="Arial"/>
              </a:rPr>
              <a:t>Context + API results
Before / after API calls</a:t>
            </a:r>
          </a:p>
        </p:txBody>
      </p:sp>
      <p:sp>
        <p:nvSpPr>
          <p:cNvPr id="74" name="Sello AIR process panel"/>
          <p:cNvSpPr/>
          <p:nvPr/>
        </p:nvSpPr>
        <p:spPr>
          <a:xfrm>
            <a:off x="6272784" y="4663440"/>
            <a:ext cx="2084831" cy="493776"/>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AIR steps: A3,A5"/>
          <p:cNvSpPr txBox="1"/>
          <p:nvPr/>
        </p:nvSpPr>
        <p:spPr>
          <a:xfrm>
            <a:off x="6345936" y="4695444"/>
            <a:ext cx="1938527" cy="429768"/>
          </a:xfrm>
          <a:prstGeom prst="rect">
            <a:avLst/>
          </a:prstGeom>
          <a:noFill/>
        </p:spPr>
        <p:txBody>
          <a:bodyPr wrap="square" lIns="0" rIns="0" tIns="0" bIns="0" anchor="ctr">
            <a:spAutoFit/>
          </a:bodyPr>
          <a:lstStyle/>
          <a:p>
            <a:pPr algn="ctr"/>
            <a:r>
              <a:rPr sz="1160" b="1" lang="en-US">
                <a:solidFill>
                  <a:srgbClr val="245AA5"/>
                </a:solidFill>
                <a:latin typeface="Arial"/>
              </a:rPr>
              <a:t>A3 / A5  Verify quote
+ retrieve raw bytes</a:t>
            </a:r>
          </a:p>
        </p:txBody>
      </p:sp>
      <p:sp>
        <p:nvSpPr>
          <p:cNvPr id="76" name="Sello AIR process panel"/>
          <p:cNvSpPr/>
          <p:nvPr/>
        </p:nvSpPr>
        <p:spPr>
          <a:xfrm>
            <a:off x="9107424" y="1764792"/>
            <a:ext cx="2295144" cy="1005840"/>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AIR steps: A6,A7,A8"/>
          <p:cNvSpPr txBox="1"/>
          <p:nvPr/>
        </p:nvSpPr>
        <p:spPr>
          <a:xfrm>
            <a:off x="9198864" y="1796795"/>
            <a:ext cx="2112263" cy="246888"/>
          </a:xfrm>
          <a:prstGeom prst="rect">
            <a:avLst/>
          </a:prstGeom>
          <a:noFill/>
        </p:spPr>
        <p:txBody>
          <a:bodyPr wrap="square" lIns="0" rIns="0" tIns="0" bIns="0" anchor="ctr">
            <a:spAutoFit/>
          </a:bodyPr>
          <a:lstStyle/>
          <a:p>
            <a:pPr algn="l"/>
            <a:r>
              <a:rPr sz="1300" b="1" lang="en-US">
                <a:solidFill>
                  <a:srgbClr val="245AA5"/>
                </a:solidFill>
                <a:latin typeface="Arial"/>
              </a:rPr>
              <a:t>A6–A8  Verify AIR</a:t>
            </a:r>
          </a:p>
        </p:txBody>
      </p:sp>
      <p:sp>
        <p:nvSpPr>
          <p:cNvPr id="78" name="Sello process: Signature · bindings / RTMR3 · deployment policy"/>
          <p:cNvSpPr txBox="1"/>
          <p:nvPr/>
        </p:nvSpPr>
        <p:spPr>
          <a:xfrm>
            <a:off x="9198864" y="2057400"/>
            <a:ext cx="2112263" cy="681228"/>
          </a:xfrm>
          <a:prstGeom prst="rect">
            <a:avLst/>
          </a:prstGeom>
          <a:noFill/>
        </p:spPr>
        <p:txBody>
          <a:bodyPr wrap="square" lIns="0" rIns="0" tIns="0" bIns="0" anchor="ctr">
            <a:spAutoFit/>
          </a:bodyPr>
          <a:lstStyle/>
          <a:p>
            <a:pPr algn="l"/>
            <a:r>
              <a:rPr sz="1100" b="0" lang="en-US">
                <a:solidFill>
                  <a:srgbClr val="245AA5"/>
                </a:solidFill>
                <a:latin typeface="Arial"/>
              </a:rPr>
              <a:t>Signature · bindings
RTMR3 · deployment policy</a:t>
            </a:r>
          </a:p>
        </p:txBody>
      </p:sp>
      <p:sp>
        <p:nvSpPr>
          <p:cNvPr id="79" name="Sello AIR process panel"/>
          <p:cNvSpPr/>
          <p:nvPr/>
        </p:nvSpPr>
        <p:spPr>
          <a:xfrm>
            <a:off x="9107424" y="3986784"/>
            <a:ext cx="2295144" cy="493776"/>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AIR steps: A9"/>
          <p:cNvSpPr txBox="1"/>
          <p:nvPr/>
        </p:nvSpPr>
        <p:spPr>
          <a:xfrm>
            <a:off x="9180576" y="4018788"/>
            <a:ext cx="2148839" cy="429768"/>
          </a:xfrm>
          <a:prstGeom prst="rect">
            <a:avLst/>
          </a:prstGeom>
          <a:noFill/>
        </p:spPr>
        <p:txBody>
          <a:bodyPr wrap="square" lIns="0" rIns="0" tIns="0" bIns="0" anchor="ctr">
            <a:spAutoFit/>
          </a:bodyPr>
          <a:lstStyle/>
          <a:p>
            <a:pPr algn="ctr"/>
            <a:r>
              <a:rPr sz="1240" b="1" lang="en-US">
                <a:solidFill>
                  <a:srgbClr val="245AA5"/>
                </a:solidFill>
                <a:latin typeface="Arial"/>
              </a:rPr>
              <a:t>A9  Log AIR bundle</a:t>
            </a:r>
          </a:p>
        </p:txBody>
      </p:sp>
      <p:sp>
        <p:nvSpPr>
          <p:cNvPr id="81" name="Sello process: passed"/>
          <p:cNvSpPr txBox="1"/>
          <p:nvPr/>
        </p:nvSpPr>
        <p:spPr>
          <a:xfrm>
            <a:off x="8430768" y="2052828"/>
            <a:ext cx="585216" cy="182880"/>
          </a:xfrm>
          <a:prstGeom prst="rect">
            <a:avLst/>
          </a:prstGeom>
          <a:noFill/>
        </p:spPr>
        <p:txBody>
          <a:bodyPr wrap="square" lIns="0" rIns="0" tIns="0" bIns="0" anchor="ctr">
            <a:spAutoFit/>
          </a:bodyPr>
          <a:lstStyle/>
          <a:p>
            <a:pPr algn="ctr"/>
            <a:r>
              <a:rPr sz="990" b="0" lang="en-US">
                <a:solidFill>
                  <a:srgbClr val="245AA5"/>
                </a:solidFill>
                <a:latin typeface="Arial"/>
              </a:rPr>
              <a:t>passed</a:t>
            </a:r>
          </a:p>
        </p:txBody>
      </p:sp>
      <p:sp>
        <p:nvSpPr>
          <p:cNvPr id="82" name="Sello AIR process panel"/>
          <p:cNvSpPr/>
          <p:nvPr/>
        </p:nvSpPr>
        <p:spPr>
          <a:xfrm>
            <a:off x="6336792" y="3401568"/>
            <a:ext cx="914400" cy="274320"/>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Sello process: POST / GET"/>
          <p:cNvSpPr txBox="1"/>
          <p:nvPr/>
        </p:nvSpPr>
        <p:spPr>
          <a:xfrm>
            <a:off x="6364224" y="3433572"/>
            <a:ext cx="859536" cy="182880"/>
          </a:xfrm>
          <a:prstGeom prst="rect">
            <a:avLst/>
          </a:prstGeom>
          <a:noFill/>
        </p:spPr>
        <p:txBody>
          <a:bodyPr wrap="square" lIns="0" rIns="0" tIns="0" bIns="0" anchor="ctr">
            <a:spAutoFit/>
          </a:bodyPr>
          <a:lstStyle/>
          <a:p>
            <a:pPr algn="ctr"/>
            <a:r>
              <a:rPr sz="1000" b="0" lang="en-US">
                <a:solidFill>
                  <a:srgbClr val="245AA5"/>
                </a:solidFill>
                <a:latin typeface="Arial"/>
              </a:rPr>
              <a:t>POST / GET</a:t>
            </a:r>
          </a:p>
        </p:txBody>
      </p:sp>
      <p:sp>
        <p:nvSpPr>
          <p:cNvPr id="84" name="Sello AIR process panel"/>
          <p:cNvSpPr/>
          <p:nvPr/>
        </p:nvSpPr>
        <p:spPr>
          <a:xfrm>
            <a:off x="7360920" y="3401568"/>
            <a:ext cx="914400" cy="274320"/>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Sello process: JSON / bytes"/>
          <p:cNvSpPr txBox="1"/>
          <p:nvPr/>
        </p:nvSpPr>
        <p:spPr>
          <a:xfrm>
            <a:off x="7370064" y="3433572"/>
            <a:ext cx="896112" cy="182880"/>
          </a:xfrm>
          <a:prstGeom prst="rect">
            <a:avLst/>
          </a:prstGeom>
          <a:noFill/>
        </p:spPr>
        <p:txBody>
          <a:bodyPr wrap="square" lIns="0" rIns="0" tIns="0" bIns="0" anchor="ctr">
            <a:spAutoFit/>
          </a:bodyPr>
          <a:lstStyle/>
          <a:p>
            <a:pPr algn="ctr"/>
            <a:r>
              <a:rPr sz="969" b="0" lang="en-US">
                <a:solidFill>
                  <a:srgbClr val="245AA5"/>
                </a:solidFill>
                <a:latin typeface="Arial"/>
              </a:rPr>
              <a:t>JSON / bytes</a:t>
            </a:r>
          </a:p>
        </p:txBody>
      </p:sp>
      <p:cxnSp>
        <p:nvCxnSpPr>
          <p:cNvPr id="86" name="Layer connector: shared"/>
          <p:cNvCxnSpPr/>
          <p:nvPr/>
        </p:nvCxnSpPr>
        <p:spPr>
          <a:xfrm>
            <a:off x="667512" y="5367528"/>
            <a:ext cx="539496" cy="0"/>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7" name="Sello process: Solid: execution order"/>
          <p:cNvSpPr txBox="1"/>
          <p:nvPr/>
        </p:nvSpPr>
        <p:spPr>
          <a:xfrm>
            <a:off x="1353312" y="5271516"/>
            <a:ext cx="2578608" cy="192024"/>
          </a:xfrm>
          <a:prstGeom prst="rect">
            <a:avLst/>
          </a:prstGeom>
          <a:noFill/>
        </p:spPr>
        <p:txBody>
          <a:bodyPr wrap="square" lIns="0" rIns="0" tIns="0" bIns="0" anchor="ctr">
            <a:spAutoFit/>
          </a:bodyPr>
          <a:lstStyle/>
          <a:p>
            <a:pPr algn="l"/>
            <a:r>
              <a:rPr sz="1050" b="0" lang="en-US">
                <a:solidFill>
                  <a:srgbClr val="686868"/>
                </a:solidFill>
                <a:latin typeface="Arial"/>
              </a:rPr>
              <a:t>Solid: execution order</a:t>
            </a:r>
          </a:p>
        </p:txBody>
      </p:sp>
      <p:cxnSp>
        <p:nvCxnSpPr>
          <p:cNvPr id="88" name="Layer connector: air"/>
          <p:cNvCxnSpPr/>
          <p:nvPr/>
        </p:nvCxnSpPr>
        <p:spPr>
          <a:xfrm>
            <a:off x="4572000" y="5367528"/>
            <a:ext cx="539496" cy="0"/>
          </a:xfrm>
          <a:prstGeom prst="line">
            <a:avLst/>
          </a:prstGeom>
          <a:ln w="21590">
            <a:solidFill>
              <a:srgbClr val="245AA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89" name="Sello process: Dashed: AIR data reference"/>
          <p:cNvSpPr txBox="1"/>
          <p:nvPr/>
        </p:nvSpPr>
        <p:spPr>
          <a:xfrm>
            <a:off x="5257800" y="5271516"/>
            <a:ext cx="3584448" cy="192024"/>
          </a:xfrm>
          <a:prstGeom prst="rect">
            <a:avLst/>
          </a:prstGeom>
          <a:noFill/>
        </p:spPr>
        <p:txBody>
          <a:bodyPr wrap="square" lIns="0" rIns="0" tIns="0" bIns="0" anchor="ctr">
            <a:spAutoFit/>
          </a:bodyPr>
          <a:lstStyle/>
          <a:p>
            <a:pPr algn="l"/>
            <a:r>
              <a:rPr sz="1050" b="0" lang="en-US">
                <a:solidFill>
                  <a:srgbClr val="245AA5"/>
                </a:solidFill>
                <a:latin typeface="Arial"/>
              </a:rPr>
              <a:t>Dashed: AIR data reference</a:t>
            </a:r>
          </a:p>
        </p:txBody>
      </p:sp>
      <p:sp>
        <p:nvSpPr>
          <p:cNvPr id="90" name="Sello process: LLM selects the tool · Runtime enforces verification."/>
          <p:cNvSpPr txBox="1"/>
          <p:nvPr/>
        </p:nvSpPr>
        <p:spPr>
          <a:xfrm>
            <a:off x="621792" y="5486400"/>
            <a:ext cx="10954512" cy="228600"/>
          </a:xfrm>
          <a:prstGeom prst="rect">
            <a:avLst/>
          </a:prstGeom>
          <a:noFill/>
        </p:spPr>
        <p:txBody>
          <a:bodyPr wrap="square" lIns="0" rIns="0" tIns="0" bIns="0" anchor="ctr">
            <a:spAutoFit/>
          </a:bodyPr>
          <a:lstStyle/>
          <a:p>
            <a:pPr algn="l"/>
            <a:r>
              <a:rPr sz="1320" b="1" lang="en-US">
                <a:solidFill>
                  <a:srgbClr val="343434"/>
                </a:solidFill>
                <a:latin typeface="Arial"/>
              </a:rPr>
              <a:t>LLM selects the tool · Runtime enforces verification.</a:t>
            </a:r>
          </a:p>
        </p:txBody>
      </p: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VITA-FL — detailed and generalized Sello process</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