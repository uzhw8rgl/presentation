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 id="259" r:id="rId4"/>
    <p:sldId id="260" r:id="rId3"/>
    <p:sldId id="261" r:id="rId1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These six diagrams map selected Chapter 4 threats to the reviewed VITA-FL implementation. OR means alternative sufficient routes; AND means jointly necessary conditions, not message order. Colors apply at every depth: green is a shown attack blocked by the intact reviewed checks under stated assumptions; yellow explicitly requires a protected-execution, key-custody or trusted-service boundary; red is an availability effect achievable with the named external capability; white is a prerequisite. A green goal names a hypothetical attacker success, not a successful exploit. No implicit signing authority is granted to a participant, deployer or intermediary. Logical enrollment identities, TEE Ethereum action keys, TEE RSA artifact keys, medical-signer keys, AIR/Sello keys and log keys are distinct. Each leaf records attacker_capability and required_credentials. Replaying recorded evidence or withholding traffic needs no private key; minting new valid statements requires the corresponding signer or control of its execution. Host control does not imply guest control. Legitimate timeout recovery during a network partition is not a forged vote or a protocol-safety failure. Prepared-model freshness is scoped to model preparation; technical verified-tool success is not arbitrary LLM text. The trees cover selected routes, not every residual risk or an exhaustive audit. Source notes distinguish implementation findings from Chapter 4; neither the chapter nor main deck was changed. No attacks, new security tests or live deployment checks were performed.</a:t>
            </a:r>
          </a:p>
          <a:p/>
          <a:p>
            <a:r>
              <a:rPr lang="en-US"/>
              <a:t>TREE-SPECIFIC MODEL</a:t>
            </a:r>
          </a:p>
          <a:p>
            <a:r>
              <a:rPr lang="en-US"/>
              <a:t>{</a:t>
            </a:r>
          </a:p>
          <a:p>
            <a:r>
              <a:rPr lang="en-US"/>
              <a:t>  "slug": "01-admission",</a:t>
            </a:r>
          </a:p>
          <a:p>
            <a:r>
              <a:rPr lang="en-US"/>
              <a:t>  "name_de": "1 · Worker-Autorität",</a:t>
            </a:r>
          </a:p>
          <a:p>
            <a:r>
              <a:rPr lang="en-US"/>
              <a:t>  "title": "Attack tree: unauthorized worker authority",</a:t>
            </a:r>
          </a:p>
          <a:p>
            <a:r>
              <a:rPr lang="en-US"/>
              <a:t>  "threats": [</a:t>
            </a:r>
          </a:p>
          <a:p>
            <a:r>
              <a:rPr lang="en-US"/>
              <a:t>    "T1",</a:t>
            </a:r>
          </a:p>
          <a:p>
            <a:r>
              <a:rPr lang="en-US"/>
              <a:t>    "T2"</a:t>
            </a:r>
          </a:p>
          <a:p>
            <a:r>
              <a:rPr lang="en-US"/>
              <a:t>  ],</a:t>
            </a:r>
          </a:p>
          <a:p>
            <a:r>
              <a:rPr lang="en-US"/>
              <a:t>  "domains": [</a:t>
            </a:r>
          </a:p>
          <a:p>
            <a:r>
              <a:rPr lang="en-US"/>
              <a:t>    "DFL"</a:t>
            </a:r>
          </a:p>
          <a:p>
            <a:r>
              <a:rPr lang="en-US"/>
              <a:t>  ],</a:t>
            </a:r>
          </a:p>
          <a:p>
            <a:r>
              <a:rPr lang="en-US"/>
              <a:t>  "root": {</a:t>
            </a:r>
          </a:p>
          <a:p>
            <a:r>
              <a:rPr lang="en-US"/>
              <a:t>    "label": "Gain unauthorized worker authority",</a:t>
            </a:r>
          </a:p>
          <a:p>
            <a:r>
              <a:rPr lang="en-US"/>
              <a:t>    "op": "OR",</a:t>
            </a:r>
          </a:p>
          <a:p>
            <a:r>
              <a:rPr lang="en-US"/>
              <a:t>    "children": [</a:t>
            </a:r>
          </a:p>
          <a:p>
            <a:r>
              <a:rPr lang="en-US"/>
              <a:t>      {</a:t>
            </a:r>
          </a:p>
          <a:p>
            <a:r>
              <a:rPr lang="en-US"/>
              <a:t>        "label": "Admit an unapproved workload",</a:t>
            </a:r>
          </a:p>
          <a:p>
            <a:r>
              <a:rPr lang="en-US"/>
              <a:t>        "op": "AND",</a:t>
            </a:r>
          </a:p>
          <a:p>
            <a:r>
              <a:rPr lang="en-US"/>
              <a:t>        "children": [</a:t>
            </a:r>
          </a:p>
          <a:p>
            <a:r>
              <a:rPr lang="en-US"/>
              <a:t>          {</a:t>
            </a:r>
          </a:p>
          <a:p>
            <a:r>
              <a:rPr lang="en-US"/>
              <a:t>            "label": "Present a genuine quote for an unapproved image",</a:t>
            </a:r>
          </a:p>
          <a:p>
            <a:r>
              <a:rPr lang="en-US"/>
              <a:t>            "refs": [</a:t>
            </a:r>
          </a:p>
          <a:p>
            <a:r>
              <a:rPr lang="en-US"/>
              <a:t>              "T1"</a:t>
            </a:r>
          </a:p>
          <a:p>
            <a:r>
              <a:rPr lang="en-US"/>
              <a:t>            ],</a:t>
            </a:r>
          </a:p>
          <a:p>
            <a:r>
              <a:rPr lang="en-US"/>
              <a:t>            "note": "The attacker can launch an unapproved image and obtain a genuine quote for it. Successful registration would additionally require an owner-committed participant, its enrollment signature, the quote-bound action-key sender, current nonce and permitted image/policy. A quote alone supplies none of those authorizations.",</a:t>
            </a:r>
          </a:p>
          <a:p>
            <a:r>
              <a:rPr lang="en-US"/>
              <a:t>            "kind": "condition",</a:t>
            </a:r>
          </a:p>
          <a:p>
            <a:r>
              <a:rPr lang="en-US"/>
              <a:t>            "short_label": "Quote for unapproved image",</a:t>
            </a:r>
          </a:p>
          <a:p>
            <a:r>
              <a:rPr lang="en-US"/>
              <a:t>            "assessment": "neutral",</a:t>
            </a:r>
          </a:p>
          <a:p>
            <a:r>
              <a:rPr lang="en-US"/>
              <a:t>            "assessment_reason": "Action or prerequisite shown without an independent security verdict. Its effect depends on the remaining AND/OR conditions.",</a:t>
            </a:r>
          </a:p>
          <a:p>
            <a:r>
              <a:rPr lang="en-US"/>
              <a:t>            "attacker_capability": "Build and attest an attacker-controlled CVM.",</a:t>
            </a:r>
          </a:p>
          <a:p>
            <a:r>
              <a:rPr lang="en-US"/>
              <a:t>            "required_credentials": "Own quote/key only; legitimate roster enrollment and accepted workload policy are not assumed."</a:t>
            </a:r>
          </a:p>
          <a:p>
            <a:r>
              <a:rPr lang="en-US"/>
              <a:t>          },</a:t>
            </a:r>
          </a:p>
          <a:p>
            <a:r>
              <a:rPr lang="en-US"/>
              <a:t>          {</a:t>
            </a:r>
          </a:p>
          <a:p>
            <a:r>
              <a:rPr lang="en-US"/>
              <a:t>            "label": "Verifier accepts the wrong app measurement / policy",</a:t>
            </a:r>
          </a:p>
          <a:p>
            <a:r>
              <a:rPr lang="en-US"/>
              <a:t>            "refs": [</a:t>
            </a:r>
          </a:p>
          <a:p>
            <a:r>
              <a:rPr lang="en-US"/>
              <a:t>              "F3",</a:t>
            </a:r>
          </a:p>
          <a:p>
            <a:r>
              <a:rPr lang="en-US"/>
              <a:t>              "AS3",</a:t>
            </a:r>
          </a:p>
          <a:p>
            <a:r>
              <a:rPr lang="en-US"/>
              <a:t>              "AS4"</a:t>
            </a:r>
          </a:p>
          <a:p>
            <a:r>
              <a:rPr lang="en-US"/>
              <a:t>            ],</a:t>
            </a:r>
          </a:p>
          <a:p>
            <a:r>
              <a:rPr lang="en-US"/>
              <a:t>            "note": "The shown attempt is rejected by committed-roster membership, expected image digest and allowed role-policy checks. Green does not assume an exploitable verifier defect.",</a:t>
            </a:r>
          </a:p>
          <a:p>
            <a:r>
              <a:rPr lang="en-US"/>
              <a:t>            "kind": "check_failure",</a:t>
            </a:r>
          </a:p>
          <a:p>
            <a:r>
              <a:rPr lang="en-US"/>
              <a:t>            "short_label": "Pass image / roster / policy checks",</a:t>
            </a:r>
          </a:p>
          <a:p>
            <a:r>
              <a:rPr lang="en-US"/>
              <a:t>            "assessment": "blocked",</a:t>
            </a:r>
          </a:p>
          <a:p>
            <a:r>
              <a:rPr lang="en-US"/>
              <a:t>            "assessment_reason": "The displayed acceptance failure is prevented by the specified Chapter 4 checks when those checks and the stated trust premises hold. Green is a model-based protection claim, not proof that an implementation is universally secure.",</a:t>
            </a:r>
          </a:p>
          <a:p>
            <a:r>
              <a:rPr lang="en-US"/>
              <a:t>            "attacker_capability": "Attempt registration of the changed workload.",</a:t>
            </a:r>
          </a:p>
          <a:p>
            <a:r>
              <a:rPr lang="en-US"/>
              <a:t>            "required_credentials": "Would need required enrollment/action authority plus a prohibited policy-check bypass."</a:t>
            </a:r>
          </a:p>
          <a:p>
            <a:r>
              <a:rPr lang="en-US"/>
              <a:t>          }</a:t>
            </a:r>
          </a:p>
          <a:p>
            <a:r>
              <a:rPr lang="en-US"/>
              <a:t>        ],</a:t>
            </a:r>
          </a:p>
          <a:p>
            <a:r>
              <a:rPr lang="en-US"/>
              <a:t>        "refs": [</a:t>
            </a:r>
          </a:p>
          <a:p>
            <a:r>
              <a:rPr lang="en-US"/>
              <a:t>          "T1",</a:t>
            </a:r>
          </a:p>
          <a:p>
            <a:r>
              <a:rPr lang="en-US"/>
              <a:t>          "F3"</a:t>
            </a:r>
          </a:p>
          <a:p>
            <a:r>
              <a:rPr lang="en-US"/>
              <a:t>        ],</a:t>
            </a:r>
          </a:p>
          <a:p>
            <a:r>
              <a:rPr lang="en-US"/>
              <a:t>        "note": "Authentic evidence of unapproved code plus acceptance despite the policy mismatch jointly yields this route; genuine attestation alone is insufficient.",</a:t>
            </a:r>
          </a:p>
          <a:p>
            <a:r>
              <a:rPr lang="en-US"/>
              <a:t>        "assessment": "blocked",</a:t>
            </a:r>
          </a:p>
          <a:p>
            <a:r>
              <a:rPr lang="en-US"/>
              <a:t>        "assessment_reason": "AND over (neutral, blocked); each route retains all actor, credential, timing and context prerequisites. No attack success was observed."</a:t>
            </a:r>
          </a:p>
          <a:p>
            <a:r>
              <a:rPr lang="en-US"/>
              <a:t>      },</a:t>
            </a:r>
          </a:p>
          <a:p>
            <a:r>
              <a:rPr lang="en-US"/>
              <a:t>      {</a:t>
            </a:r>
          </a:p>
          <a:p>
            <a:r>
              <a:rPr lang="en-US"/>
              <a:t>        "label": "Rebind valid attestation",</a:t>
            </a:r>
          </a:p>
          <a:p>
            <a:r>
              <a:rPr lang="en-US"/>
              <a:t>        "op": "AND",</a:t>
            </a:r>
          </a:p>
          <a:p>
            <a:r>
              <a:rPr lang="en-US"/>
              <a:t>        "children": [</a:t>
            </a:r>
          </a:p>
          <a:p>
            <a:r>
              <a:rPr lang="en-US"/>
              <a:t>          {</a:t>
            </a:r>
          </a:p>
          <a:p>
            <a:r>
              <a:rPr lang="en-US"/>
              <a:t>            "label": "Attach valid evidence to another identity, key or endpoint",</a:t>
            </a:r>
          </a:p>
          <a:p>
            <a:r>
              <a:rPr lang="en-US"/>
              <a:t>            "refs": [</a:t>
            </a:r>
          </a:p>
          <a:p>
            <a:r>
              <a:rPr lang="en-US"/>
              <a:t>              "T1"</a:t>
            </a:r>
          </a:p>
          <a:p>
            <a:r>
              <a:rPr lang="en-US"/>
              <a:t>            ],</a:t>
            </a:r>
          </a:p>
          <a:p>
            <a:r>
              <a:rPr lang="en-US"/>
              <a:t>            "note": "Reuse genuine evidence under a different logical identity, action authority, communication key, endpoint or deployment context.",</a:t>
            </a:r>
          </a:p>
          <a:p>
            <a:r>
              <a:rPr lang="en-US"/>
              <a:t>            "kind": "condition",</a:t>
            </a:r>
          </a:p>
          <a:p>
            <a:r>
              <a:rPr lang="en-US"/>
              <a:t>            "short_label": "Rebind identity / key / endpoint",</a:t>
            </a:r>
          </a:p>
          <a:p>
            <a:r>
              <a:rPr lang="en-US"/>
              <a:t>            "assessment": "neutral",</a:t>
            </a:r>
          </a:p>
          <a:p>
            <a:r>
              <a:rPr lang="en-US"/>
              <a:t>            "assessment_reason": "Action or prerequisite shown without an independent security verdict. Its effect depends on the remaining AND/OR conditions.",</a:t>
            </a:r>
          </a:p>
          <a:p>
            <a:r>
              <a:rPr lang="en-US"/>
              <a:t>            "attacker_capability": "Copy available genuine quote/enrollment material and alter claimed context.",</a:t>
            </a:r>
          </a:p>
          <a:p>
            <a:r>
              <a:rPr lang="en-US"/>
              <a:t>            "required_credentials": "No private key needed to submit a copied or altered object; no fresh valid signature is assumed."</a:t>
            </a:r>
          </a:p>
          <a:p>
            <a:r>
              <a:rPr lang="en-US"/>
              <a:t>          },</a:t>
            </a:r>
          </a:p>
          <a:p>
            <a:r>
              <a:rPr lang="en-US"/>
              <a:t>          {</a:t>
            </a:r>
          </a:p>
          <a:p>
            <a:r>
              <a:rPr lang="en-US"/>
              <a:t>            "label": "Registry accepts the mismatched identity / key / context",</a:t>
            </a:r>
          </a:p>
          <a:p>
            <a:r>
              <a:rPr lang="en-US"/>
              <a:t>            "refs": [</a:t>
            </a:r>
          </a:p>
          <a:p>
            <a:r>
              <a:rPr lang="en-US"/>
              <a:t>              "F3",</a:t>
            </a:r>
          </a:p>
          <a:p>
            <a:r>
              <a:rPr lang="en-US"/>
              <a:t>              "F11"</a:t>
            </a:r>
          </a:p>
          <a:p>
            <a:r>
              <a:rPr lang="en-US"/>
              <a:t>            ],</a:t>
            </a:r>
          </a:p>
          <a:p>
            <a:r>
              <a:rPr lang="en-US"/>
              <a:t>            "note": "Enrollment signature and quote REPORTDATA jointly bind participant, action authority, RSA public key, endpoint, compose/image/policy and nonce. Substitution does not create matching fresh evidence.",</a:t>
            </a:r>
          </a:p>
          <a:p>
            <a:r>
              <a:rPr lang="en-US"/>
              <a:t>            "kind": "check_failure",</a:t>
            </a:r>
          </a:p>
          <a:p>
            <a:r>
              <a:rPr lang="en-US"/>
              <a:t>            "short_label": "Pass enrollment / quote bindings",</a:t>
            </a:r>
          </a:p>
          <a:p>
            <a:r>
              <a:rPr lang="en-US"/>
              <a:t>            "assessment": "blocked",</a:t>
            </a:r>
          </a:p>
          <a:p>
            <a:r>
              <a:rPr lang="en-US"/>
              <a:t>            "assessment_reason": "The displayed acceptance failure is prevented by the specified Chapter 4 checks when those checks and the stated trust premises hold. Green is a model-based protection claim, not proof that an implementation is universally secure.",</a:t>
            </a:r>
          </a:p>
          <a:p>
            <a:r>
              <a:rPr lang="en-US"/>
              <a:t>            "attacker_capability": "Attempt to make the altered context pass verification.",</a:t>
            </a:r>
          </a:p>
          <a:p>
            <a:r>
              <a:rPr lang="en-US"/>
              <a:t>            "required_credentials": "Fresh matching enrollment/quote evidence is absent; their verification blocks this attempt."</a:t>
            </a:r>
          </a:p>
          <a:p>
            <a:r>
              <a:rPr lang="en-US"/>
              <a:t>          }</a:t>
            </a:r>
          </a:p>
          <a:p>
            <a:r>
              <a:rPr lang="en-US"/>
              <a:t>        ],</a:t>
            </a:r>
          </a:p>
          <a:p>
            <a:r>
              <a:rPr lang="en-US"/>
              <a:t>        "refs": [</a:t>
            </a:r>
          </a:p>
          <a:p>
            <a:r>
              <a:rPr lang="en-US"/>
              <a:t>          "T1",</a:t>
            </a:r>
          </a:p>
          <a:p>
            <a:r>
              <a:rPr lang="en-US"/>
              <a:t>          "F3",</a:t>
            </a:r>
          </a:p>
          <a:p>
            <a:r>
              <a:rPr lang="en-US"/>
              <a:t>          "F11"</a:t>
            </a:r>
          </a:p>
          <a:p>
            <a:r>
              <a:rPr lang="en-US"/>
              <a:t>        ],</a:t>
            </a:r>
          </a:p>
          <a:p>
            <a:r>
              <a:rPr lang="en-US"/>
              <a:t>        "note": "Different authority/context plus erroneous registry admission are jointly needed.",</a:t>
            </a:r>
          </a:p>
          <a:p>
            <a:r>
              <a:rPr lang="en-US"/>
              <a:t>        "assessment": "blocked",</a:t>
            </a:r>
          </a:p>
          <a:p>
            <a:r>
              <a:rPr lang="en-US"/>
              <a:t>        "assessment_reason": "AND over (neutral, blocked); each route retains all actor, credential, timing and context prerequisites. No attack success was observed."</a:t>
            </a:r>
          </a:p>
          <a:p>
            <a:r>
              <a:rPr lang="en-US"/>
              <a:t>      },</a:t>
            </a:r>
          </a:p>
          <a:p>
            <a:r>
              <a:rPr lang="en-US"/>
              <a:t>      {</a:t>
            </a:r>
          </a:p>
          <a:p>
            <a:r>
              <a:rPr lang="en-US"/>
              <a:t>        "label": "Replay earlier authority",</a:t>
            </a:r>
          </a:p>
          <a:p>
            <a:r>
              <a:rPr lang="en-US"/>
              <a:t>        "op": "AND",</a:t>
            </a:r>
          </a:p>
          <a:p>
            <a:r>
              <a:rPr lang="en-US"/>
              <a:t>        "children": [</a:t>
            </a:r>
          </a:p>
          <a:p>
            <a:r>
              <a:rPr lang="en-US"/>
              <a:t>          {</a:t>
            </a:r>
          </a:p>
          <a:p>
            <a:r>
              <a:rPr lang="en-US"/>
              <a:t>            "label": "Reuse captured signed material",</a:t>
            </a:r>
          </a:p>
          <a:p>
            <a:r>
              <a:rPr lang="en-US"/>
              <a:t>            "op": "OR",</a:t>
            </a:r>
          </a:p>
          <a:p>
            <a:r>
              <a:rPr lang="en-US"/>
              <a:t>            "children": [</a:t>
            </a:r>
          </a:p>
          <a:p>
            <a:r>
              <a:rPr lang="en-US"/>
              <a:t>              {</a:t>
            </a:r>
          </a:p>
          <a:p>
            <a:r>
              <a:rPr lang="en-US"/>
              <a:t>                "label": "Reuse evidence with a consumed registration counter",</a:t>
            </a:r>
          </a:p>
          <a:p>
            <a:r>
              <a:rPr lang="en-US"/>
              <a:t>                "refs": [</a:t>
            </a:r>
          </a:p>
          <a:p>
            <a:r>
              <a:rPr lang="en-US"/>
              <a:t>                  "T2",</a:t>
            </a:r>
          </a:p>
          <a:p>
            <a:r>
              <a:rPr lang="en-US"/>
              <a:t>                  "F11"</a:t>
            </a:r>
          </a:p>
          <a:p>
            <a:r>
              <a:rPr lang="en-US"/>
              <a:t>                ],</a:t>
            </a:r>
          </a:p>
          <a:p>
            <a:r>
              <a:rPr lang="en-US"/>
              <a:t>                "note": "Attempt a later registration with evidence whose counter has already been consumed.",</a:t>
            </a:r>
          </a:p>
          <a:p>
            <a:r>
              <a:rPr lang="en-US"/>
              <a:t>                "kind": "condition",</a:t>
            </a:r>
          </a:p>
          <a:p>
            <a:r>
              <a:rPr lang="en-US"/>
              <a:t>                "short_label": "Replay consumed registration",</a:t>
            </a:r>
          </a:p>
          <a:p>
            <a:r>
              <a:rPr lang="en-US"/>
              <a:t>                "assessment": "neutral",</a:t>
            </a:r>
          </a:p>
          <a:p>
            <a:r>
              <a:rPr lang="en-US"/>
              <a:t>                "assessment_reason": "Action or prerequisite shown without an independent security verdict. Its effect depends on the remaining AND/OR conditions.",</a:t>
            </a:r>
          </a:p>
          <a:p>
            <a:r>
              <a:rPr lang="en-US"/>
              <a:t>                "attacker_capability": "Replay captured earlier enrollment/registration evidence.",</a:t>
            </a:r>
          </a:p>
          <a:p>
            <a:r>
              <a:rPr lang="en-US"/>
              <a:t>                "required_credentials": "None for replay; the original signature is reused, not newly forged."</a:t>
            </a:r>
          </a:p>
          <a:p>
            <a:r>
              <a:rPr lang="en-US"/>
              <a:t>              },</a:t>
            </a:r>
          </a:p>
          <a:p>
            <a:r>
              <a:rPr lang="en-US"/>
              <a:t>              {</a:t>
            </a:r>
          </a:p>
          <a:p>
            <a:r>
              <a:rPr lang="en-US"/>
              <a:t>                "label": "Replay a previously signed round action in an invalid current context",</a:t>
            </a:r>
          </a:p>
          <a:p>
            <a:r>
              <a:rPr lang="en-US"/>
              <a:t>                "refs": [</a:t>
            </a:r>
          </a:p>
          <a:p>
            <a:r>
              <a:rPr lang="en-US"/>
              <a:t>                  "T2",</a:t>
            </a:r>
          </a:p>
          <a:p>
            <a:r>
              <a:rPr lang="en-US"/>
              <a:t>                  "F11"</a:t>
            </a:r>
          </a:p>
          <a:p>
            <a:r>
              <a:rPr lang="en-US"/>
              <a:t>                ],</a:t>
            </a:r>
          </a:p>
          <a:p>
            <a:r>
              <a:rPr lang="en-US"/>
              <a:t>                "note": "Replay a recorded signed action, not sign a new one with an unavailable old key. Current authority/context and transaction replay checks still apply. The fully registered run freezes roster mutation.",</a:t>
            </a:r>
          </a:p>
          <a:p>
            <a:r>
              <a:rPr lang="en-US"/>
              <a:t>                "kind": "condition",</a:t>
            </a:r>
          </a:p>
          <a:p>
            <a:r>
              <a:rPr lang="en-US"/>
              <a:t>                "short_label": "Replay an earlier signed action",</a:t>
            </a:r>
          </a:p>
          <a:p>
            <a:r>
              <a:rPr lang="en-US"/>
              <a:t>                "assessment": "neutral",</a:t>
            </a:r>
          </a:p>
          <a:p>
            <a:r>
              <a:rPr lang="en-US"/>
              <a:t>                "assessment_reason": "Action or prerequisite shown without an independent security verdict. Its effect depends on the remaining AND/OR conditions.",</a:t>
            </a:r>
          </a:p>
          <a:p>
            <a:r>
              <a:rPr lang="en-US"/>
              <a:t>                "attacker_capability": "Copy a previously signed transaction/action.",</a:t>
            </a:r>
          </a:p>
          <a:p>
            <a:r>
              <a:rPr lang="en-US"/>
              <a:t>                "required_credentials": "No new private-key access; only recorded signed material."</a:t>
            </a:r>
          </a:p>
          <a:p>
            <a:r>
              <a:rPr lang="en-US"/>
              <a:t>              }</a:t>
            </a:r>
          </a:p>
          <a:p>
            <a:r>
              <a:rPr lang="en-US"/>
              <a:t>            ],</a:t>
            </a:r>
          </a:p>
          <a:p>
            <a:r>
              <a:rPr lang="en-US"/>
              <a:t>            "refs": [</a:t>
            </a:r>
          </a:p>
          <a:p>
            <a:r>
              <a:rPr lang="en-US"/>
              <a:t>              "T2"</a:t>
            </a:r>
          </a:p>
          <a:p>
            <a:r>
              <a:rPr lang="en-US"/>
              <a:t>            ],</a:t>
            </a:r>
          </a:p>
          <a:p>
            <a:r>
              <a:rPr lang="en-US"/>
              <a:t>            "note": "Recorded registration or round-action material can be copied without access to its private signing key. No fresh signature and no regular in-run key-rotation mechanism are assumed.",</a:t>
            </a:r>
          </a:p>
          <a:p>
            <a:r>
              <a:rPr lang="en-US"/>
              <a:t>            "assessment": "neutral",</a:t>
            </a:r>
          </a:p>
          <a:p>
            <a:r>
              <a:rPr lang="en-US"/>
              <a:t>            "assessment_reason": "OR over (neutral, neutral); each route retains all actor, credential, timing and context prerequisites. No attack success was observed."</a:t>
            </a:r>
          </a:p>
          <a:p>
            <a:r>
              <a:rPr lang="en-US"/>
              <a:t>          },</a:t>
            </a:r>
          </a:p>
          <a:p>
            <a:r>
              <a:rPr lang="en-US"/>
              <a:t>          {</a:t>
            </a:r>
          </a:p>
          <a:p>
            <a:r>
              <a:rPr lang="en-US"/>
              <a:t>            "label": "Current-authority / freshness checks accept it",</a:t>
            </a:r>
          </a:p>
          <a:p>
            <a:r>
              <a:rPr lang="en-US"/>
              <a:t>            "refs": [</a:t>
            </a:r>
          </a:p>
          <a:p>
            <a:r>
              <a:rPr lang="en-US"/>
              <a:t>              "F11"</a:t>
            </a:r>
          </a:p>
          <a:p>
            <a:r>
              <a:rPr lang="en-US"/>
              <a:t>            ],</a:t>
            </a:r>
          </a:p>
          <a:p>
            <a:r>
              <a:rPr lang="en-US"/>
              <a:t>            "note": "Consumed registration nonces, frozen roster and action-specific current-state/context checks reject invalid replay. In-run key rotation is not silently assumed.",</a:t>
            </a:r>
          </a:p>
          <a:p>
            <a:r>
              <a:rPr lang="en-US"/>
              <a:t>            "kind": "check_failure",</a:t>
            </a:r>
          </a:p>
          <a:p>
            <a:r>
              <a:rPr lang="en-US"/>
              <a:t>            "short_label": "Pass nonce / current-state checks",</a:t>
            </a:r>
          </a:p>
          <a:p>
            <a:r>
              <a:rPr lang="en-US"/>
              <a:t>            "assessment": "blocked",</a:t>
            </a:r>
          </a:p>
          <a:p>
            <a:r>
              <a:rPr lang="en-US"/>
              <a:t>            "assessment_reason": "The displayed acceptance failure is prevented by the specified Chapter 4 checks when those checks and the stated trust premises hold. Green is a model-based protection claim, not proof that an implementation is universally secure.",</a:t>
            </a:r>
          </a:p>
          <a:p>
            <a:r>
              <a:rPr lang="en-US"/>
              <a:t>            "attacker_capability": "Attempt acceptance of stale material.",</a:t>
            </a:r>
          </a:p>
          <a:p>
            <a:r>
              <a:rPr lang="en-US"/>
              <a:t>            "required_credentials": "No new valid current-context signature; verification must be defeated to succeed."</a:t>
            </a:r>
          </a:p>
          <a:p>
            <a:r>
              <a:rPr lang="en-US"/>
              <a:t>          }</a:t>
            </a:r>
          </a:p>
          <a:p>
            <a:r>
              <a:rPr lang="en-US"/>
              <a:t>        ],</a:t>
            </a:r>
          </a:p>
          <a:p>
            <a:r>
              <a:rPr lang="en-US"/>
              <a:t>        "refs": [</a:t>
            </a:r>
          </a:p>
          <a:p>
            <a:r>
              <a:rPr lang="en-US"/>
              <a:t>          "T2",</a:t>
            </a:r>
          </a:p>
          <a:p>
            <a:r>
              <a:rPr lang="en-US"/>
              <a:t>          "F11"</a:t>
            </a:r>
          </a:p>
          <a:p>
            <a:r>
              <a:rPr lang="en-US"/>
              <a:t>        ],</a:t>
            </a:r>
          </a:p>
          <a:p>
            <a:r>
              <a:rPr lang="en-US"/>
              <a:t>        "note": "Stale authority and acceptance by the corresponding current-state check must concern the same attempted transition.",</a:t>
            </a:r>
          </a:p>
          <a:p>
            <a:r>
              <a:rPr lang="en-US"/>
              <a:t>        "assessment": "blocked",</a:t>
            </a:r>
          </a:p>
          <a:p>
            <a:r>
              <a:rPr lang="en-US"/>
              <a:t>        "assessment_reason": "AND over (neutral, blocked); each route retains all actor, credential, timing and context prerequisites. No attack success was observed."</a:t>
            </a:r>
          </a:p>
          <a:p>
            <a:r>
              <a:rPr lang="en-US"/>
              <a:t>      }</a:t>
            </a:r>
          </a:p>
          <a:p>
            <a:r>
              <a:rPr lang="en-US"/>
              <a:t>    ],</a:t>
            </a:r>
          </a:p>
          <a:p>
            <a:r>
              <a:rPr lang="en-US"/>
              <a:t>    "refs": [</a:t>
            </a:r>
          </a:p>
          <a:p>
            <a:r>
              <a:rPr lang="en-US"/>
              <a:t>      "T1",</a:t>
            </a:r>
          </a:p>
          <a:p>
            <a:r>
              <a:rPr lang="en-US"/>
              <a:t>      "T2",</a:t>
            </a:r>
          </a:p>
          <a:p>
            <a:r>
              <a:rPr lang="en-US"/>
              <a:t>      "F3",</a:t>
            </a:r>
          </a:p>
          <a:p>
            <a:r>
              <a:rPr lang="en-US"/>
              <a:t>      "F11"</a:t>
            </a:r>
          </a:p>
          <a:p>
            <a:r>
              <a:rPr lang="en-US"/>
              <a:t>    ],</a:t>
            </a:r>
          </a:p>
          <a:p>
            <a:r>
              <a:rPr lang="en-US"/>
              <a:t>    "note": "Scope: external admission/substitution/replay attempts against the intact owner-committed run. Governance and protected-signing compromise are separate trust boundaries, not capabilities silently granted here.",</a:t>
            </a:r>
          </a:p>
          <a:p>
            <a:r>
              <a:rPr lang="en-US"/>
              <a:t>    "assessment": "blocked",</a:t>
            </a:r>
          </a:p>
          <a:p>
            <a:r>
              <a:rPr lang="en-US"/>
              <a:t>    "assessment_reason": "OR over (blocked, blocked, blocked); each route retains all actor, credential, timing and context prerequisites. No attack success was observed."</a:t>
            </a:r>
          </a:p>
          <a:p>
            <a:r>
              <a:rPr lang="en-US"/>
              <a:t>  },</a:t>
            </a:r>
          </a:p>
          <a:p>
            <a:r>
              <a:rPr lang="en-US"/>
              <a:t>  "takeaway": "Admission binds roster, code and keys; replaying a signature does not grant current signing authority.",</a:t>
            </a:r>
          </a:p>
          <a:p>
            <a:r>
              <a:rPr lang="en-US"/>
              <a:t>  "source_lines": {</a:t>
            </a:r>
          </a:p>
          <a:p>
            <a:r>
              <a:rPr lang="en-US"/>
              <a:t>    "T1": [</a:t>
            </a:r>
          </a:p>
          <a:p>
            <a:r>
              <a:rPr lang="en-US"/>
              <a:t>      279,</a:t>
            </a:r>
          </a:p>
          <a:p>
            <a:r>
              <a:rPr lang="en-US"/>
              <a:t>      291</a:t>
            </a:r>
          </a:p>
          <a:p>
            <a:r>
              <a:rPr lang="en-US"/>
              <a:t>    ],</a:t>
            </a:r>
          </a:p>
          <a:p>
            <a:r>
              <a:rPr lang="en-US"/>
              <a:t>    "T2": [</a:t>
            </a:r>
          </a:p>
          <a:p>
            <a:r>
              <a:rPr lang="en-US"/>
              <a:t>      299,</a:t>
            </a:r>
          </a:p>
          <a:p>
            <a:r>
              <a:rPr lang="en-US"/>
              <a:t>      309</a:t>
            </a:r>
          </a:p>
          <a:p>
            <a:r>
              <a:rPr lang="en-US"/>
              <a:t>    ],</a:t>
            </a:r>
          </a:p>
          <a:p>
            <a:r>
              <a:rPr lang="en-US"/>
              <a:t>    "F3": [</a:t>
            </a:r>
          </a:p>
          <a:p>
            <a:r>
              <a:rPr lang="en-US"/>
              <a:t>      562,</a:t>
            </a:r>
          </a:p>
          <a:p>
            <a:r>
              <a:rPr lang="en-US"/>
              <a:t>      568</a:t>
            </a:r>
          </a:p>
          <a:p>
            <a:r>
              <a:rPr lang="en-US"/>
              <a:t>    ],</a:t>
            </a:r>
          </a:p>
          <a:p>
            <a:r>
              <a:rPr lang="en-US"/>
              <a:t>    "F11": [</a:t>
            </a:r>
          </a:p>
          <a:p>
            <a:r>
              <a:rPr lang="en-US"/>
              <a:t>      619,</a:t>
            </a:r>
          </a:p>
          <a:p>
            <a:r>
              <a:rPr lang="en-US"/>
              <a:t>      624</a:t>
            </a:r>
          </a:p>
          <a:p>
            <a:r>
              <a:rPr lang="en-US"/>
              <a:t>    ]</a:t>
            </a:r>
          </a:p>
          <a:p>
            <a:r>
              <a:rPr lang="en-US"/>
              <a:t>  },</a:t>
            </a:r>
          </a:p>
          <a:p>
            <a:r>
              <a:rPr lang="en-US"/>
              <a:t>  "implementation_context": {</a:t>
            </a:r>
          </a:p>
          <a:p>
            <a:r>
              <a:rPr lang="en-US"/>
              <a:t>    "scope": "Read-only implementation and attacker-capability review. No attack run, cloud-policy check or exhaustive security audit; Chapter 4 and the main deck remain unchanged.",</a:t>
            </a:r>
          </a:p>
          <a:p>
            <a:r>
              <a:rPr lang="en-US"/>
              <a:t>    "sources": [</a:t>
            </a:r>
          </a:p>
          <a:p>
            <a:r>
              <a:rPr lang="en-US"/>
              <a:t>      {</a:t>
            </a:r>
          </a:p>
          <a:p>
            <a:r>
              <a:rPr lang="en-US"/>
              <a:t>        "path": "vita-fl/smart_contracts/src/core/DeviceRegistry.sol",</a:t>
            </a:r>
          </a:p>
          <a:p>
            <a:r>
              <a:rPr lang="en-US"/>
              <a:t>        "lines": [</a:t>
            </a:r>
          </a:p>
          <a:p>
            <a:r>
              <a:rPr lang="en-US"/>
              <a:t>          119,</a:t>
            </a:r>
          </a:p>
          <a:p>
            <a:r>
              <a:rPr lang="en-US"/>
              <a:t>          134,</a:t>
            </a:r>
          </a:p>
          <a:p>
            <a:r>
              <a:rPr lang="en-US"/>
              <a:t>          248,</a:t>
            </a:r>
          </a:p>
          <a:p>
            <a:r>
              <a:rPr lang="en-US"/>
              <a:t>          255,</a:t>
            </a:r>
          </a:p>
          <a:p>
            <a:r>
              <a:rPr lang="en-US"/>
              <a:t>          293,</a:t>
            </a:r>
          </a:p>
          <a:p>
            <a:r>
              <a:rPr lang="en-US"/>
              <a:t>          338,</a:t>
            </a:r>
          </a:p>
          <a:p>
            <a:r>
              <a:rPr lang="en-US"/>
              <a:t>          477,</a:t>
            </a:r>
          </a:p>
          <a:p>
            <a:r>
              <a:rPr lang="en-US"/>
              <a:t>          530</a:t>
            </a:r>
          </a:p>
          <a:p>
            <a:r>
              <a:rPr lang="en-US"/>
              <a:t>        ],</a:t>
            </a:r>
          </a:p>
          <a:p>
            <a:r>
              <a:rPr lang="en-US"/>
              <a:t>        "finding": "Committed roster, current action authority, enrollment/REPORTDATA binding, consumed nonce, image/policy and frozen roster.",</a:t>
            </a:r>
          </a:p>
          <a:p>
            <a:r>
              <a:rPr lang="en-US"/>
              <a:t>        "sha256": "f00f9f5268d1f0f55158b71d334dc50542a1ac7704818460634f988d87ef7f4b"</a:t>
            </a:r>
          </a:p>
          <a:p>
            <a:r>
              <a:rPr lang="en-US"/>
              <a:t>      },</a:t>
            </a:r>
          </a:p>
          <a:p>
            <a:r>
              <a:rPr lang="en-US"/>
              <a:t>      {</a:t>
            </a:r>
          </a:p>
          <a:p>
            <a:r>
              <a:rPr lang="en-US"/>
              <a:t>        "path": "vita-fl/smart_contracts/src/attestation/AutomataDcapTdxV4Attestation.sol",</a:t>
            </a:r>
          </a:p>
          <a:p>
            <a:r>
              <a:rPr lang="en-US"/>
              <a:t>        "lines": [</a:t>
            </a:r>
          </a:p>
          <a:p>
            <a:r>
              <a:rPr lang="en-US"/>
              <a:t>          149,</a:t>
            </a:r>
          </a:p>
          <a:p>
            <a:r>
              <a:rPr lang="en-US"/>
              <a:t>          171,</a:t>
            </a:r>
          </a:p>
          <a:p>
            <a:r>
              <a:rPr lang="en-US"/>
              <a:t>          310,</a:t>
            </a:r>
          </a:p>
          <a:p>
            <a:r>
              <a:rPr lang="en-US"/>
              <a:t>          333</a:t>
            </a:r>
          </a:p>
          <a:p>
            <a:r>
              <a:rPr lang="en-US"/>
              <a:t>        ],</a:t>
            </a:r>
          </a:p>
          <a:p>
            <a:r>
              <a:rPr lang="en-US"/>
              <a:t>        "finding": "DCAP signature/platform and RTMR3 replay checks.",</a:t>
            </a:r>
          </a:p>
          <a:p>
            <a:r>
              <a:rPr lang="en-US"/>
              <a:t>        "sha256": "9d373198ce9209b90ab3055bf6bd8cd39f1a95227632d78003285ab98bed09b0"</a:t>
            </a:r>
          </a:p>
          <a:p>
            <a:r>
              <a:rPr lang="en-US"/>
              <a:t>      },</a:t>
            </a:r>
          </a:p>
          <a:p>
            <a:r>
              <a:rPr lang="en-US"/>
              <a:t>      {</a:t>
            </a:r>
          </a:p>
          <a:p>
            <a:r>
              <a:rPr lang="en-US"/>
              <a:t>        "path": "vita-fl/dfl/node_server/src/action_key.ts",</a:t>
            </a:r>
          </a:p>
          <a:p>
            <a:r>
              <a:rPr lang="en-US"/>
              <a:t>        "lines": [</a:t>
            </a:r>
          </a:p>
          <a:p>
            <a:r>
              <a:rPr lang="en-US"/>
              <a:t>          65,</a:t>
            </a:r>
          </a:p>
          <a:p>
            <a:r>
              <a:rPr lang="en-US"/>
              <a:t>          98,</a:t>
            </a:r>
          </a:p>
          <a:p>
            <a:r>
              <a:rPr lang="en-US"/>
              <a:t>          198,</a:t>
            </a:r>
          </a:p>
          <a:p>
            <a:r>
              <a:rPr lang="en-US"/>
              <a:t>          205</a:t>
            </a:r>
          </a:p>
          <a:p>
            <a:r>
              <a:rPr lang="en-US"/>
              <a:t>        ],</a:t>
            </a:r>
          </a:p>
          <a:p>
            <a:r>
              <a:rPr lang="en-US"/>
              <a:t>        "finding": "Separate Phala dstack-derived action signer, bound to participant, chain and registry.",</a:t>
            </a:r>
          </a:p>
          <a:p>
            <a:r>
              <a:rPr lang="en-US"/>
              <a:t>        "sha256": "1b9ddf9e0c58f76c1090937c5f521da69eedc5612fe07b980d3b3f19603a6d62"</a:t>
            </a:r>
          </a:p>
          <a:p>
            <a:r>
              <a:rPr lang="en-US"/>
              <a:t>      }</a:t>
            </a:r>
          </a:p>
          <a:p>
            <a:r>
              <a:rPr lang="en-US"/>
              <a:t>    ],</a:t>
            </a:r>
          </a:p>
          <a:p>
            <a:r>
              <a:rPr lang="en-US"/>
              <a:t>    "limits": [</a:t>
            </a:r>
          </a:p>
          <a:p>
            <a:r>
              <a:rPr lang="en-US"/>
              <a:t>      "Green covers the shown external attempts under intact admission/governance assumptions, not compromise of the attestation root or administrator."</a:t>
            </a:r>
          </a:p>
          <a:p>
            <a:r>
              <a:rPr lang="en-US"/>
              <a:t>    ]</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These six diagrams map selected Chapter 4 threats to the reviewed VITA-FL implementation. OR means alternative sufficient routes; AND means jointly necessary conditions, not message order. Colors apply at every depth: green is a shown attack blocked by the intact reviewed checks under stated assumptions; yellow explicitly requires a protected-execution, key-custody or trusted-service boundary; red is an availability effect achievable with the named external capability; white is a prerequisite. A green goal names a hypothetical attacker success, not a successful exploit. No implicit signing authority is granted to a participant, deployer or intermediary. Logical enrollment identities, TEE Ethereum action keys, TEE RSA artifact keys, medical-signer keys, AIR/Sello keys and log keys are distinct. Each leaf records attacker_capability and required_credentials. Replaying recorded evidence or withholding traffic needs no private key; minting new valid statements requires the corresponding signer or control of its execution. Host control does not imply guest control. Legitimate timeout recovery during a network partition is not a forged vote or a protocol-safety failure. Prepared-model freshness is scoped to model preparation; technical verified-tool success is not arbitrary LLM text. The trees cover selected routes, not every residual risk or an exhaustive audit. Source notes distinguish implementation findings from Chapter 4; neither the chapter nor main deck was changed. No attacks, new security tests or live deployment checks were performed.</a:t>
            </a:r>
          </a:p>
          <a:p/>
          <a:p>
            <a:r>
              <a:rPr lang="en-US"/>
              <a:t>TREE-SPECIFIC MODEL</a:t>
            </a:r>
          </a:p>
          <a:p>
            <a:r>
              <a:rPr lang="en-US"/>
              <a:t>{</a:t>
            </a:r>
          </a:p>
          <a:p>
            <a:r>
              <a:rPr lang="en-US"/>
              <a:t>  "slug": "02-model",</a:t>
            </a:r>
          </a:p>
          <a:p>
            <a:r>
              <a:rPr lang="en-US"/>
              <a:t>  "name_de": "2 · Modellintegrität und Poisoning",</a:t>
            </a:r>
          </a:p>
          <a:p>
            <a:r>
              <a:rPr lang="en-US"/>
              <a:t>  "title": "Attack tree: model integrity and poisoning",</a:t>
            </a:r>
          </a:p>
          <a:p>
            <a:r>
              <a:rPr lang="en-US"/>
              <a:t>  "threats": [</a:t>
            </a:r>
          </a:p>
          <a:p>
            <a:r>
              <a:rPr lang="en-US"/>
              <a:t>    "T3",</a:t>
            </a:r>
          </a:p>
          <a:p>
            <a:r>
              <a:rPr lang="en-US"/>
              <a:t>    "T4",</a:t>
            </a:r>
          </a:p>
          <a:p>
            <a:r>
              <a:rPr lang="en-US"/>
              <a:t>    "T6",</a:t>
            </a:r>
          </a:p>
          <a:p>
            <a:r>
              <a:rPr lang="en-US"/>
              <a:t>    "T7",</a:t>
            </a:r>
          </a:p>
          <a:p>
            <a:r>
              <a:rPr lang="en-US"/>
              <a:t>    "T13",</a:t>
            </a:r>
          </a:p>
          <a:p>
            <a:r>
              <a:rPr lang="en-US"/>
              <a:t>    "T14"</a:t>
            </a:r>
          </a:p>
          <a:p>
            <a:r>
              <a:rPr lang="en-US"/>
              <a:t>  ],</a:t>
            </a:r>
          </a:p>
          <a:p>
            <a:r>
              <a:rPr lang="en-US"/>
              <a:t>  "domains": [</a:t>
            </a:r>
          </a:p>
          <a:p>
            <a:r>
              <a:rPr lang="en-US"/>
              <a:t>    "DFL"</a:t>
            </a:r>
          </a:p>
          <a:p>
            <a:r>
              <a:rPr lang="en-US"/>
              <a:t>  ],</a:t>
            </a:r>
          </a:p>
          <a:p>
            <a:r>
              <a:rPr lang="en-US"/>
              <a:t>  "root": {</a:t>
            </a:r>
          </a:p>
          <a:p>
            <a:r>
              <a:rPr lang="en-US"/>
              <a:t>    "label": "Corrupt the model in this run",</a:t>
            </a:r>
          </a:p>
          <a:p>
            <a:r>
              <a:rPr lang="en-US"/>
              <a:t>    "op": "OR",</a:t>
            </a:r>
          </a:p>
          <a:p>
            <a:r>
              <a:rPr lang="en-US"/>
              <a:t>    "children": [</a:t>
            </a:r>
          </a:p>
          <a:p>
            <a:r>
              <a:rPr lang="en-US"/>
              <a:t>      {</a:t>
            </a:r>
          </a:p>
          <a:p>
            <a:r>
              <a:rPr lang="en-US"/>
              <a:t>        "label": "Train on tampered inputs",</a:t>
            </a:r>
          </a:p>
          <a:p>
            <a:r>
              <a:rPr lang="en-US"/>
              <a:t>        "op": "AND",</a:t>
            </a:r>
          </a:p>
          <a:p>
            <a:r>
              <a:rPr lang="en-US"/>
              <a:t>        "children": [</a:t>
            </a:r>
          </a:p>
          <a:p>
            <a:r>
              <a:rPr lang="en-US"/>
              <a:t>          {</a:t>
            </a:r>
          </a:p>
          <a:p>
            <a:r>
              <a:rPr lang="en-US"/>
              <a:t>            "label": "Alter signed image / label bytes or substitute signer role",</a:t>
            </a:r>
          </a:p>
          <a:p>
            <a:r>
              <a:rPr lang="en-US"/>
              <a:t>            "refs": [</a:t>
            </a:r>
          </a:p>
          <a:p>
            <a:r>
              <a:rPr lang="en-US"/>
              <a:t>              "T3"</a:t>
            </a:r>
          </a:p>
          <a:p>
            <a:r>
              <a:rPr lang="en-US"/>
              <a:t>            ],</a:t>
            </a:r>
          </a:p>
          <a:p>
            <a:r>
              <a:rPr lang="en-US"/>
              <a:t>            "note": "An outsider can edit a copy of sample bytes or signer metadata, but this does not make that copy part of the admitted training input. ChestMNIST shards are bundled in the image and copied at startup; a changed image also faces admission. The full success path requires reaching the training input and bypassing provenance verification.",</a:t>
            </a:r>
          </a:p>
          <a:p>
            <a:r>
              <a:rPr lang="en-US"/>
              <a:t>            "kind": "condition",</a:t>
            </a:r>
          </a:p>
          <a:p>
            <a:r>
              <a:rPr lang="en-US"/>
              <a:t>            "short_label": "Alter signed sample bytes",</a:t>
            </a:r>
          </a:p>
          <a:p>
            <a:r>
              <a:rPr lang="en-US"/>
              <a:t>            "assessment": "neutral",</a:t>
            </a:r>
          </a:p>
          <a:p>
            <a:r>
              <a:rPr lang="en-US"/>
              <a:t>            "assessment_reason": "Action or prerequisite shown without an independent security verdict. Its effect depends on the remaining AND/OR conditions.",</a:t>
            </a:r>
          </a:p>
          <a:p>
            <a:r>
              <a:rPr lang="en-US"/>
              <a:t>            "attacker_capability": "Modify an input copy or candidate data package; no protected runtime write is assumed.",</a:t>
            </a:r>
          </a:p>
          <a:p>
            <a:r>
              <a:rPr lang="en-US"/>
              <a:t>            "required_credentials": "No key needed to alter bytes; the existing medical signature becomes invalid."</a:t>
            </a:r>
          </a:p>
          <a:p>
            <a:r>
              <a:rPr lang="en-US"/>
              <a:t>          },</a:t>
            </a:r>
          </a:p>
          <a:p>
            <a:r>
              <a:rPr lang="en-US"/>
              <a:t>          {</a:t>
            </a:r>
          </a:p>
          <a:p>
            <a:r>
              <a:rPr lang="en-US"/>
              <a:t>            "label": "Worker accepts invalid signatures, links or signer roles",</a:t>
            </a:r>
          </a:p>
          <a:p>
            <a:r>
              <a:rPr lang="en-US"/>
              <a:t>            "refs": [</a:t>
            </a:r>
          </a:p>
          <a:p>
            <a:r>
              <a:rPr lang="en-US"/>
              <a:t>              "F9"</a:t>
            </a:r>
          </a:p>
          <a:p>
            <a:r>
              <a:rPr lang="en-US"/>
              <a:t>            ],</a:t>
            </a:r>
          </a:p>
          <a:p>
            <a:r>
              <a:rPr lang="en-US"/>
              <a:t>            "note": "Before training, separate image/annotation signatures, their image linkage and current authorized signer roles are checked. A modified external file is not automatically mounted into the approved runtime.",</a:t>
            </a:r>
          </a:p>
          <a:p>
            <a:r>
              <a:rPr lang="en-US"/>
              <a:t>            "kind": "check_failure",</a:t>
            </a:r>
          </a:p>
          <a:p>
            <a:r>
              <a:rPr lang="en-US"/>
              <a:t>            "short_label": "Pass provenance checks anyway",</a:t>
            </a:r>
          </a:p>
          <a:p>
            <a:r>
              <a:rPr lang="en-US"/>
              <a:t>            "assessment": "blocked",</a:t>
            </a:r>
          </a:p>
          <a:p>
            <a:r>
              <a:rPr lang="en-US"/>
              <a:t>            "assessment_reason": "The displayed acceptance failure is prevented by the specified Chapter 4 checks when those checks and the stated trust premises hold. Green is a model-based protection claim, not proof that an implementation is universally secure.",</a:t>
            </a:r>
          </a:p>
          <a:p>
            <a:r>
              <a:rPr lang="en-US"/>
              <a:t>            "attacker_capability": "Attempt acceptance and actual training on the changed input.",</a:t>
            </a:r>
          </a:p>
          <a:p>
            <a:r>
              <a:rPr lang="en-US"/>
              <a:t>            "required_credentials": "No valid matching medical signatures; intact provenance/admission checks block the attempt."</a:t>
            </a:r>
          </a:p>
          <a:p>
            <a:r>
              <a:rPr lang="en-US"/>
              <a:t>          }</a:t>
            </a:r>
          </a:p>
          <a:p>
            <a:r>
              <a:rPr lang="en-US"/>
              <a:t>        ],</a:t>
            </a:r>
          </a:p>
          <a:p>
            <a:r>
              <a:rPr lang="en-US"/>
              <a:t>        "refs": [</a:t>
            </a:r>
          </a:p>
          <a:p>
            <a:r>
              <a:rPr lang="en-US"/>
              <a:t>          "T3",</a:t>
            </a:r>
          </a:p>
          <a:p>
            <a:r>
              <a:rPr lang="en-US"/>
              <a:t>          "F9"</a:t>
            </a:r>
          </a:p>
          <a:p>
            <a:r>
              <a:rPr lang="en-US"/>
              <a:t>        ],</a:t>
            </a:r>
          </a:p>
          <a:p>
            <a:r>
              <a:rPr lang="en-US"/>
              <a:t>        "note": "Data or signer manipulation plus acceptance into training is necessary. Detecting either before training defeats this modeled path.",</a:t>
            </a:r>
          </a:p>
          <a:p>
            <a:r>
              <a:rPr lang="en-US"/>
              <a:t>        "assessment": "blocked",</a:t>
            </a:r>
          </a:p>
          <a:p>
            <a:r>
              <a:rPr lang="en-US"/>
              <a:t>        "assessment_reason": "AND over (neutral, blocked); each route retains all actor, credential, timing and context prerequisites. No attack success was observed."</a:t>
            </a:r>
          </a:p>
          <a:p>
            <a:r>
              <a:rPr lang="en-US"/>
              <a:t>      },</a:t>
            </a:r>
          </a:p>
          <a:p>
            <a:r>
              <a:rPr lang="en-US"/>
              <a:t>      {</a:t>
            </a:r>
          </a:p>
          <a:p>
            <a:r>
              <a:rPr lang="en-US"/>
              <a:t>        "label": "Substitute model artifacts",</a:t>
            </a:r>
          </a:p>
          <a:p>
            <a:r>
              <a:rPr lang="en-US"/>
              <a:t>        "op": "AND",</a:t>
            </a:r>
          </a:p>
          <a:p>
            <a:r>
              <a:rPr lang="en-US"/>
              <a:t>        "children": [</a:t>
            </a:r>
          </a:p>
          <a:p>
            <a:r>
              <a:rPr lang="en-US"/>
              <a:t>          {</a:t>
            </a:r>
          </a:p>
          <a:p>
            <a:r>
              <a:rPr lang="en-US"/>
              <a:t>            "label": "Store returns a swapped update or an old signed model",</a:t>
            </a:r>
          </a:p>
          <a:p>
            <a:r>
              <a:rPr lang="en-US"/>
              <a:t>            "refs": [</a:t>
            </a:r>
          </a:p>
          <a:p>
            <a:r>
              <a:rPr lang="en-US"/>
              <a:t>              "T4"</a:t>
            </a:r>
          </a:p>
          <a:p>
            <a:r>
              <a:rPr lang="en-US"/>
              <a:t>            ],</a:t>
            </a:r>
          </a:p>
          <a:p>
            <a:r>
              <a:rPr lang="en-US"/>
              <a:t>            "note": "An intermediary substitutes update bytes, model/signature objects, recipient bundle or a stale publication.",</a:t>
            </a:r>
          </a:p>
          <a:p>
            <a:r>
              <a:rPr lang="en-US"/>
              <a:t>            "kind": "condition",</a:t>
            </a:r>
          </a:p>
          <a:p>
            <a:r>
              <a:rPr lang="en-US"/>
              <a:t>            "short_label": "Swap update / replay old model",</a:t>
            </a:r>
          </a:p>
          <a:p>
            <a:r>
              <a:rPr lang="en-US"/>
              <a:t>            "assessment": "neutral",</a:t>
            </a:r>
          </a:p>
          <a:p>
            <a:r>
              <a:rPr lang="en-US"/>
              <a:t>            "assessment_reason": "Action or prerequisite shown without an independent security verdict. Its effect depends on the remaining AND/OR conditions.",</a:t>
            </a:r>
          </a:p>
          <a:p>
            <a:r>
              <a:rPr lang="en-US"/>
              <a:t>            "attacker_capability": "Control returned storage objects or intercepted artifact delivery.",</a:t>
            </a:r>
          </a:p>
          <a:p>
            <a:r>
              <a:rPr lang="en-US"/>
              <a:t>            "required_credentials": "No private key for byte changes or replay of an existing signed object."</a:t>
            </a:r>
          </a:p>
          <a:p>
            <a:r>
              <a:rPr lang="en-US"/>
              <a:t>          },</a:t>
            </a:r>
          </a:p>
          <a:p>
            <a:r>
              <a:rPr lang="en-US"/>
              <a:t>          {</a:t>
            </a:r>
          </a:p>
          <a:p>
            <a:r>
              <a:rPr lang="en-US"/>
              <a:t>            "label": "Consumer uses artifacts that violate tuple / context binding",</a:t>
            </a:r>
          </a:p>
          <a:p>
            <a:r>
              <a:rPr lang="en-US"/>
              <a:t>            "refs": [</a:t>
            </a:r>
          </a:p>
          <a:p>
            <a:r>
              <a:rPr lang="en-US"/>
              <a:t>              "F5",</a:t>
            </a:r>
          </a:p>
          <a:p>
            <a:r>
              <a:rPr lang="en-US"/>
              <a:t>              "F11"</a:t>
            </a:r>
          </a:p>
          <a:p>
            <a:r>
              <a:rPr lang="en-US"/>
              <a:t>            ],</a:t>
            </a:r>
          </a:p>
          <a:p>
            <a:r>
              <a:rPr lang="en-US"/>
              <a:t>            "note": "Consumers bind signatures, artifact hashes, authorized participant, round and authoritative publication tuple. New accepted updates additionally have current action-key commitments. Replaying an old valid signature does not satisfy a new context.",</a:t>
            </a:r>
          </a:p>
          <a:p>
            <a:r>
              <a:rPr lang="en-US"/>
              <a:t>            "kind": "check_failure",</a:t>
            </a:r>
          </a:p>
          <a:p>
            <a:r>
              <a:rPr lang="en-US"/>
              <a:t>            "short_label": "Pass signature / context checks",</a:t>
            </a:r>
          </a:p>
          <a:p>
            <a:r>
              <a:rPr lang="en-US"/>
              <a:t>            "assessment": "blocked",</a:t>
            </a:r>
          </a:p>
          <a:p>
            <a:r>
              <a:rPr lang="en-US"/>
              <a:t>            "assessment_reason": "The displayed acceptance failure is prevented by the specified Chapter 4 checks when those checks and the stated trust premises hold. Green is a model-based protection claim, not proof that an implementation is universally secure.",</a:t>
            </a:r>
          </a:p>
          <a:p>
            <a:r>
              <a:rPr lang="en-US"/>
              <a:t>            "attacker_capability": "Attempt use of a substituted or stale artifact.",</a:t>
            </a:r>
          </a:p>
          <a:p>
            <a:r>
              <a:rPr lang="en-US"/>
              <a:t>            "required_credentials": "Matching artifact signatures and action/context commitments are absent; intact checks reject the attempt."</a:t>
            </a:r>
          </a:p>
          <a:p>
            <a:r>
              <a:rPr lang="en-US"/>
              <a:t>          }</a:t>
            </a:r>
          </a:p>
          <a:p>
            <a:r>
              <a:rPr lang="en-US"/>
              <a:t>        ],</a:t>
            </a:r>
          </a:p>
          <a:p>
            <a:r>
              <a:rPr lang="en-US"/>
              <a:t>        "refs": [</a:t>
            </a:r>
          </a:p>
          <a:p>
            <a:r>
              <a:rPr lang="en-US"/>
              <a:t>          "T4",</a:t>
            </a:r>
          </a:p>
          <a:p>
            <a:r>
              <a:rPr lang="en-US"/>
              <a:t>          "F5",</a:t>
            </a:r>
          </a:p>
          <a:p>
            <a:r>
              <a:rPr lang="en-US"/>
              <a:t>          "F11"</a:t>
            </a:r>
          </a:p>
          <a:p>
            <a:r>
              <a:rPr lang="en-US"/>
              <a:t>        ],</a:t>
            </a:r>
          </a:p>
          <a:p>
            <a:r>
              <a:rPr lang="en-US"/>
              <a:t>        "note": "Substituted bytes must actually be accepted and used. This path can occur after finalization and need not create a new malicious publication.",</a:t>
            </a:r>
          </a:p>
          <a:p>
            <a:r>
              <a:rPr lang="en-US"/>
              <a:t>        "assessment": "blocked",</a:t>
            </a:r>
          </a:p>
          <a:p>
            <a:r>
              <a:rPr lang="en-US"/>
              <a:t>        "assessment_reason": "AND over (neutral, blocked); each route retains all actor, credential, timing and context prerequisites. No attack success was observed."</a:t>
            </a:r>
          </a:p>
          <a:p>
            <a:r>
              <a:rPr lang="en-US"/>
              <a:t>      },</a:t>
            </a:r>
          </a:p>
          <a:p>
            <a:r>
              <a:rPr lang="en-US"/>
              <a:t>      {</a:t>
            </a:r>
          </a:p>
          <a:p>
            <a:r>
              <a:rPr lang="en-US"/>
              <a:t>        "label": "Publish a false aggregate",</a:t>
            </a:r>
          </a:p>
          <a:p>
            <a:r>
              <a:rPr lang="en-US"/>
              <a:t>        "op": "AND",</a:t>
            </a:r>
          </a:p>
          <a:p>
            <a:r>
              <a:rPr lang="en-US"/>
              <a:t>        "children": [</a:t>
            </a:r>
          </a:p>
          <a:p>
            <a:r>
              <a:rPr lang="en-US"/>
              <a:t>          {</a:t>
            </a:r>
          </a:p>
          <a:p>
            <a:r>
              <a:rPr lang="en-US"/>
              <a:t>            "label": "Compromise the admitted aggregator process or obtain both required signing authorities",</a:t>
            </a:r>
          </a:p>
          <a:p>
            <a:r>
              <a:rPr lang="en-US"/>
              <a:t>            "short_label": "Compromise aggregator runtime",</a:t>
            </a:r>
          </a:p>
          <a:p>
            <a:r>
              <a:rPr lang="en-US"/>
              <a:t>            "assessment": "boundary",</a:t>
            </a:r>
          </a:p>
          <a:p>
            <a:r>
              <a:rPr lang="en-US"/>
              <a:t>            "assessment_reason": "This condition explicitly crosses the stated protected-execution, key-custody or trusted-service boundary; ordinary deployment ownership does not provide it.",</a:t>
            </a:r>
          </a:p>
          <a:p>
            <a:r>
              <a:rPr lang="en-US"/>
              <a:t>            "note": "Requires actual control of the protected aggregator process, or the current aggregator action key AND its RSA artifact signer. Running or enrolling a CVM alone supplies neither capability. This explicitly crosses protected execution/key custody (AS5).",</a:t>
            </a:r>
          </a:p>
          <a:p>
            <a:r>
              <a:rPr lang="en-US"/>
              <a:t>            "refs": [</a:t>
            </a:r>
          </a:p>
          <a:p>
            <a:r>
              <a:rPr lang="en-US"/>
              <a:t>              "T6",</a:t>
            </a:r>
          </a:p>
          <a:p>
            <a:r>
              <a:rPr lang="en-US"/>
              <a:t>              "T13",</a:t>
            </a:r>
          </a:p>
          <a:p>
            <a:r>
              <a:rPr lang="en-US"/>
              <a:t>              "AS5"</a:t>
            </a:r>
          </a:p>
          <a:p>
            <a:r>
              <a:rPr lang="en-US"/>
              <a:t>            ],</a:t>
            </a:r>
          </a:p>
          <a:p>
            <a:r>
              <a:rPr lang="en-US"/>
              <a:t>            "attacker_capability": "Protected aggregator execution/signing compromise.",</a:t>
            </a:r>
          </a:p>
          <a:p>
            <a:r>
              <a:rPr lang="en-US"/>
              <a:t>            "required_credentials": "Current aggregator action key plus RSA artifact signing authority, or control of the TEE process using both."</a:t>
            </a:r>
          </a:p>
          <a:p>
            <a:r>
              <a:rPr lang="en-US"/>
              <a:t>          },</a:t>
            </a:r>
          </a:p>
          <a:p>
            <a:r>
              <a:rPr lang="en-US"/>
              <a:t>          {</a:t>
            </a:r>
          </a:p>
          <a:p>
            <a:r>
              <a:rPr lang="en-US"/>
              <a:t>            "label": "Publish a mathematically false output with valid signatures and accepted-set bindings",</a:t>
            </a:r>
          </a:p>
          <a:p>
            <a:r>
              <a:rPr lang="en-US"/>
              <a:t>            "short_label": "Sign false aggregate as valid",</a:t>
            </a:r>
          </a:p>
          <a:p>
            <a:r>
              <a:rPr lang="en-US"/>
              <a:t>            "assessment": "neutral",</a:t>
            </a:r>
          </a:p>
          <a:p>
            <a:r>
              <a:rPr lang="en-US"/>
              <a:t>            "assessment_reason": "A capability or necessary condition only; the other AND conditions still have to hold.",</a:t>
            </a:r>
          </a:p>
          <a:p>
            <a:r>
              <a:rPr lang="en-US"/>
              <a:t>            "note": "The intact staging path checks accepted membership, plaintext hashes and exact count and averages exactly those staged files. The contract checks signed set/policy/output bindings; it does not independently recompute the numerical mean. This leaf requires a false result that retains every cryptographic/role/context binding, not a trivially mismatched hash.",</a:t>
            </a:r>
          </a:p>
          <a:p>
            <a:r>
              <a:rPr lang="en-US"/>
              <a:t>            "refs": [</a:t>
            </a:r>
          </a:p>
          <a:p>
            <a:r>
              <a:rPr lang="en-US"/>
              <a:t>              "T6",</a:t>
            </a:r>
          </a:p>
          <a:p>
            <a:r>
              <a:rPr lang="en-US"/>
              <a:t>              "F4",</a:t>
            </a:r>
          </a:p>
          <a:p>
            <a:r>
              <a:rPr lang="en-US"/>
              <a:t>              "F5"</a:t>
            </a:r>
          </a:p>
          <a:p>
            <a:r>
              <a:rPr lang="en-US"/>
              <a:t>            ],</a:t>
            </a:r>
          </a:p>
          <a:p>
            <a:r>
              <a:rPr lang="en-US"/>
              <a:t>            "attacker_capability": "Use the compromised aggregator authority to choose and publish a false result.",</a:t>
            </a:r>
          </a:p>
          <a:p>
            <a:r>
              <a:rPr lang="en-US"/>
              <a:t>            "required_credentials": "Both signing authorities supplied by the preceding condition, plus normal publication context."</a:t>
            </a:r>
          </a:p>
          <a:p>
            <a:r>
              <a:rPr lang="en-US"/>
              <a:t>          }</a:t>
            </a:r>
          </a:p>
          <a:p>
            <a:r>
              <a:rPr lang="en-US"/>
              <a:t>        ],</a:t>
            </a:r>
          </a:p>
          <a:p>
            <a:r>
              <a:rPr lang="en-US"/>
              <a:t>        "note": "No external uncredentialed omission route is asserted. Correct computation depends on the admitted execution; signatures bind the claimed calculation and output but are not an independent arithmetic proof.",</a:t>
            </a:r>
          </a:p>
          <a:p>
            <a:r>
              <a:rPr lang="en-US"/>
              <a:t>        "refs": [</a:t>
            </a:r>
          </a:p>
          <a:p>
            <a:r>
              <a:rPr lang="en-US"/>
              <a:t>          "T6",</a:t>
            </a:r>
          </a:p>
          <a:p>
            <a:r>
              <a:rPr lang="en-US"/>
              <a:t>          "T13",</a:t>
            </a:r>
          </a:p>
          <a:p>
            <a:r>
              <a:rPr lang="en-US"/>
              <a:t>          "F4",</a:t>
            </a:r>
          </a:p>
          <a:p>
            <a:r>
              <a:rPr lang="en-US"/>
              <a:t>          "F5",</a:t>
            </a:r>
          </a:p>
          <a:p>
            <a:r>
              <a:rPr lang="en-US"/>
              <a:t>          "AS5"</a:t>
            </a:r>
          </a:p>
          <a:p>
            <a:r>
              <a:rPr lang="en-US"/>
              <a:t>        ],</a:t>
            </a:r>
          </a:p>
          <a:p>
            <a:r>
              <a:rPr lang="en-US"/>
              <a:t>        "assessment": "boundary",</a:t>
            </a:r>
          </a:p>
          <a:p>
            <a:r>
              <a:rPr lang="en-US"/>
              <a:t>        "assessment_reason": "AND over (boundary, neutral); each route retains all actor, credential, timing and context prerequisites. No attack success was observed."</a:t>
            </a:r>
          </a:p>
          <a:p>
            <a:r>
              <a:rPr lang="en-US"/>
              <a:t>      },</a:t>
            </a:r>
          </a:p>
          <a:p>
            <a:r>
              <a:rPr lang="en-US"/>
              <a:t>      {</a:t>
            </a:r>
          </a:p>
          <a:p>
            <a:r>
              <a:rPr lang="en-US"/>
              <a:t>        "label": "Inject a harmful signed update",</a:t>
            </a:r>
          </a:p>
          <a:p>
            <a:r>
              <a:rPr lang="en-US"/>
              <a:t>        "op": "AND",</a:t>
            </a:r>
          </a:p>
          <a:p>
            <a:r>
              <a:rPr lang="en-US"/>
              <a:t>        "children": [</a:t>
            </a:r>
          </a:p>
          <a:p>
            <a:r>
              <a:rPr lang="en-US"/>
              <a:t>          {</a:t>
            </a:r>
          </a:p>
          <a:p>
            <a:r>
              <a:rPr lang="en-US"/>
              <a:t>            "label": "Compromise admitted worker execution so it can choose an arbitrary update",</a:t>
            </a:r>
          </a:p>
          <a:p>
            <a:r>
              <a:rPr lang="en-US"/>
              <a:t>            "short_label": "Compromise worker runtime",</a:t>
            </a:r>
          </a:p>
          <a:p>
            <a:r>
              <a:rPr lang="en-US"/>
              <a:t>            "assessment": "boundary",</a:t>
            </a:r>
          </a:p>
          <a:p>
            <a:r>
              <a:rPr lang="en-US"/>
              <a:t>            "assessment_reason": "This condition explicitly crosses the stated protected-execution, key-custody or trusted-service boundary; ordinary deployment ownership does not provide it.",</a:t>
            </a:r>
          </a:p>
          <a:p>
            <a:r>
              <a:rPr lang="en-US"/>
              <a:t>            "note": "The approved training code does not expose an arbitrary-update signing interface. A successful process/key-custody compromise is explicitly required for this in-run arbitrary-update route; it is not implied by participant ownership.",</a:t>
            </a:r>
          </a:p>
          <a:p>
            <a:r>
              <a:rPr lang="en-US"/>
              <a:t>            "refs": [</a:t>
            </a:r>
          </a:p>
          <a:p>
            <a:r>
              <a:rPr lang="en-US"/>
              <a:t>              "T7",</a:t>
            </a:r>
          </a:p>
          <a:p>
            <a:r>
              <a:rPr lang="en-US"/>
              <a:t>              "T13",</a:t>
            </a:r>
          </a:p>
          <a:p>
            <a:r>
              <a:rPr lang="en-US"/>
              <a:t>              "AS5"</a:t>
            </a:r>
          </a:p>
          <a:p>
            <a:r>
              <a:rPr lang="en-US"/>
              <a:t>            ],</a:t>
            </a:r>
          </a:p>
          <a:p>
            <a:r>
              <a:rPr lang="en-US"/>
              <a:t>            "attacker_capability": "Actual control of the admitted worker training/signing execution.",</a:t>
            </a:r>
          </a:p>
          <a:p>
            <a:r>
              <a:rPr lang="en-US"/>
              <a:t>            "required_credentials": "Worker RSA signing authority and current action-key commitment authority, or their protected process."</a:t>
            </a:r>
          </a:p>
          <a:p>
            <a:r>
              <a:rPr lang="en-US"/>
              <a:t>          },</a:t>
            </a:r>
          </a:p>
          <a:p>
            <a:r>
              <a:rPr lang="en-US"/>
              <a:t>          {</a:t>
            </a:r>
          </a:p>
          <a:p>
            <a:r>
              <a:rPr lang="en-US"/>
              <a:t>            "label": "Submit a well-formed harmful update whose inclusion actually degrades the aggregate",</a:t>
            </a:r>
          </a:p>
          <a:p>
            <a:r>
              <a:rPr lang="en-US"/>
              <a:t>            "short_label": "Sign a harmful in-context update",</a:t>
            </a:r>
          </a:p>
          <a:p>
            <a:r>
              <a:rPr lang="en-US"/>
              <a:t>            "assessment": "neutral",</a:t>
            </a:r>
          </a:p>
          <a:p>
            <a:r>
              <a:rPr lang="en-US"/>
              <a:t>            "assessment_reason": "A capability or necessary condition only; the other AND conditions still have to hold.",</a:t>
            </a:r>
          </a:p>
          <a:p>
            <a:r>
              <a:rPr lang="en-US"/>
              <a:t>            "note": "The manipulated update must be signed, committed with the current worker action key, accepted in the current context, included, and actually harm aggregate quality. The equal-weight mean has no demonstrated statistical poisoning defense. No harmful update or measured quality effect was produced in this review.",</a:t>
            </a:r>
          </a:p>
          <a:p>
            <a:r>
              <a:rPr lang="en-US"/>
              <a:t>            "refs": [</a:t>
            </a:r>
          </a:p>
          <a:p>
            <a:r>
              <a:rPr lang="en-US"/>
              <a:t>              "T7",</a:t>
            </a:r>
          </a:p>
          <a:p>
            <a:r>
              <a:rPr lang="en-US"/>
              <a:t>              "T14",</a:t>
            </a:r>
          </a:p>
          <a:p>
            <a:r>
              <a:rPr lang="en-US"/>
              <a:t>              "F5"</a:t>
            </a:r>
          </a:p>
          <a:p>
            <a:r>
              <a:rPr lang="en-US"/>
              <a:t>            ],</a:t>
            </a:r>
          </a:p>
          <a:p>
            <a:r>
              <a:rPr lang="en-US"/>
              <a:t>            "attacker_capability": "Choose an effective harmful update through the compromised worker.",</a:t>
            </a:r>
          </a:p>
          <a:p>
            <a:r>
              <a:rPr lang="en-US"/>
              <a:t>            "required_credentials": "Both worker signing authorities from the preceding condition; all normal shape/context/acceptance checks still apply."</a:t>
            </a:r>
          </a:p>
          <a:p>
            <a:r>
              <a:rPr lang="en-US"/>
              <a:t>          }</a:t>
            </a:r>
          </a:p>
          <a:p>
            <a:r>
              <a:rPr lang="en-US"/>
              <a:t>        ],</a:t>
            </a:r>
          </a:p>
          <a:p>
            <a:r>
              <a:rPr lang="en-US"/>
              <a:t>        "note": "This selected in-run route makes missing worker signing authority explicit. Legitimately signed misleading medical data is a separate semantic limitation if such data is authorized and provisioned; it is not automatically an available injection path into the current bundled dataset.",</a:t>
            </a:r>
          </a:p>
          <a:p>
            <a:r>
              <a:rPr lang="en-US"/>
              <a:t>        "refs": [</a:t>
            </a:r>
          </a:p>
          <a:p>
            <a:r>
              <a:rPr lang="en-US"/>
              <a:t>          "T7",</a:t>
            </a:r>
          </a:p>
          <a:p>
            <a:r>
              <a:rPr lang="en-US"/>
              <a:t>          "T13",</a:t>
            </a:r>
          </a:p>
          <a:p>
            <a:r>
              <a:rPr lang="en-US"/>
              <a:t>          "T14",</a:t>
            </a:r>
          </a:p>
          <a:p>
            <a:r>
              <a:rPr lang="en-US"/>
              <a:t>          "AS5"</a:t>
            </a:r>
          </a:p>
          <a:p>
            <a:r>
              <a:rPr lang="en-US"/>
              <a:t>        ],</a:t>
            </a:r>
          </a:p>
          <a:p>
            <a:r>
              <a:rPr lang="en-US"/>
              <a:t>        "assessment": "boundary",</a:t>
            </a:r>
          </a:p>
          <a:p>
            <a:r>
              <a:rPr lang="en-US"/>
              <a:t>        "assessment_reason": "AND over (boundary, neutral); each route retains all actor, credential, timing and context prerequisites. No attack success was observed."</a:t>
            </a:r>
          </a:p>
          <a:p>
            <a:r>
              <a:rPr lang="en-US"/>
              <a:t>      }</a:t>
            </a:r>
          </a:p>
          <a:p>
            <a:r>
              <a:rPr lang="en-US"/>
              <a:t>    ],</a:t>
            </a:r>
          </a:p>
          <a:p>
            <a:r>
              <a:rPr lang="en-US"/>
              <a:t>    "refs": [</a:t>
            </a:r>
          </a:p>
          <a:p>
            <a:r>
              <a:rPr lang="en-US"/>
              <a:t>      "T3",</a:t>
            </a:r>
          </a:p>
          <a:p>
            <a:r>
              <a:rPr lang="en-US"/>
              <a:t>      "T4",</a:t>
            </a:r>
          </a:p>
          <a:p>
            <a:r>
              <a:rPr lang="en-US"/>
              <a:t>      "T6",</a:t>
            </a:r>
          </a:p>
          <a:p>
            <a:r>
              <a:rPr lang="en-US"/>
              <a:t>      "T7",</a:t>
            </a:r>
          </a:p>
          <a:p>
            <a:r>
              <a:rPr lang="en-US"/>
              <a:t>      "T14"</a:t>
            </a:r>
          </a:p>
          <a:p>
            <a:r>
              <a:rPr lang="en-US"/>
              <a:t>    ],</a:t>
            </a:r>
          </a:p>
          <a:p>
            <a:r>
              <a:rPr lang="en-US"/>
              <a:t>    "note": "Scope: selected attacks on the existing admitted run. Outsiders can alter available objects but cannot invent RSA- and action-signed worker updates. False aggregation and arbitrary harmful updates below explicitly require compromise of admitted execution. This is not a statistical robustness guarantee.",</a:t>
            </a:r>
          </a:p>
          <a:p>
            <a:r>
              <a:rPr lang="en-US"/>
              <a:t>    "assessment": "boundary",</a:t>
            </a:r>
          </a:p>
          <a:p>
            <a:r>
              <a:rPr lang="en-US"/>
              <a:t>    "assessment_reason": "OR over (blocked, blocked, boundary, boundary); each route retains all actor, credential, timing and context prerequisites. No attack success was observed."</a:t>
            </a:r>
          </a:p>
          <a:p>
            <a:r>
              <a:rPr lang="en-US"/>
              <a:t>  },</a:t>
            </a:r>
          </a:p>
          <a:p>
            <a:r>
              <a:rPr lang="en-US"/>
              <a:t>  "takeaway": "Arbitrary updates need protected signing authority; this does not establish statistical model robustness.",</a:t>
            </a:r>
          </a:p>
          <a:p>
            <a:r>
              <a:rPr lang="en-US"/>
              <a:t>  "source_lines": {</a:t>
            </a:r>
          </a:p>
          <a:p>
            <a:r>
              <a:rPr lang="en-US"/>
              <a:t>    "T3": [</a:t>
            </a:r>
          </a:p>
          <a:p>
            <a:r>
              <a:rPr lang="en-US"/>
              <a:t>      317,</a:t>
            </a:r>
          </a:p>
          <a:p>
            <a:r>
              <a:rPr lang="en-US"/>
              <a:t>      326</a:t>
            </a:r>
          </a:p>
          <a:p>
            <a:r>
              <a:rPr lang="en-US"/>
              <a:t>    ],</a:t>
            </a:r>
          </a:p>
          <a:p>
            <a:r>
              <a:rPr lang="en-US"/>
              <a:t>    "T4": [</a:t>
            </a:r>
          </a:p>
          <a:p>
            <a:r>
              <a:rPr lang="en-US"/>
              <a:t>      334,</a:t>
            </a:r>
          </a:p>
          <a:p>
            <a:r>
              <a:rPr lang="en-US"/>
              <a:t>      342</a:t>
            </a:r>
          </a:p>
          <a:p>
            <a:r>
              <a:rPr lang="en-US"/>
              <a:t>    ],</a:t>
            </a:r>
          </a:p>
          <a:p>
            <a:r>
              <a:rPr lang="en-US"/>
              <a:t>    "T6": [</a:t>
            </a:r>
          </a:p>
          <a:p>
            <a:r>
              <a:rPr lang="en-US"/>
              <a:t>      367,</a:t>
            </a:r>
          </a:p>
          <a:p>
            <a:r>
              <a:rPr lang="en-US"/>
              <a:t>      378</a:t>
            </a:r>
          </a:p>
          <a:p>
            <a:r>
              <a:rPr lang="en-US"/>
              <a:t>    ],</a:t>
            </a:r>
          </a:p>
          <a:p>
            <a:r>
              <a:rPr lang="en-US"/>
              <a:t>    "T7": [</a:t>
            </a:r>
          </a:p>
          <a:p>
            <a:r>
              <a:rPr lang="en-US"/>
              <a:t>      386,</a:t>
            </a:r>
          </a:p>
          <a:p>
            <a:r>
              <a:rPr lang="en-US"/>
              <a:t>      399</a:t>
            </a:r>
          </a:p>
          <a:p>
            <a:r>
              <a:rPr lang="en-US"/>
              <a:t>    ],</a:t>
            </a:r>
          </a:p>
          <a:p>
            <a:r>
              <a:rPr lang="en-US"/>
              <a:t>    "T14": [</a:t>
            </a:r>
          </a:p>
          <a:p>
            <a:r>
              <a:rPr lang="en-US"/>
              <a:t>      528,</a:t>
            </a:r>
          </a:p>
          <a:p>
            <a:r>
              <a:rPr lang="en-US"/>
              <a:t>      538</a:t>
            </a:r>
          </a:p>
          <a:p>
            <a:r>
              <a:rPr lang="en-US"/>
              <a:t>    ],</a:t>
            </a:r>
          </a:p>
          <a:p>
            <a:r>
              <a:rPr lang="en-US"/>
              <a:t>    "F4/F5": [</a:t>
            </a:r>
          </a:p>
          <a:p>
            <a:r>
              <a:rPr lang="en-US"/>
              <a:t>      570,</a:t>
            </a:r>
          </a:p>
          <a:p>
            <a:r>
              <a:rPr lang="en-US"/>
              <a:t>      584</a:t>
            </a:r>
          </a:p>
          <a:p>
            <a:r>
              <a:rPr lang="en-US"/>
              <a:t>    ],</a:t>
            </a:r>
          </a:p>
          <a:p>
            <a:r>
              <a:rPr lang="en-US"/>
              <a:t>    "F9": [</a:t>
            </a:r>
          </a:p>
          <a:p>
            <a:r>
              <a:rPr lang="en-US"/>
              <a:t>      604,</a:t>
            </a:r>
          </a:p>
          <a:p>
            <a:r>
              <a:rPr lang="en-US"/>
              <a:t>      609</a:t>
            </a:r>
          </a:p>
          <a:p>
            <a:r>
              <a:rPr lang="en-US"/>
              <a:t>    ],</a:t>
            </a:r>
          </a:p>
          <a:p>
            <a:r>
              <a:rPr lang="en-US"/>
              <a:t>    "T13": [</a:t>
            </a:r>
          </a:p>
          <a:p>
            <a:r>
              <a:rPr lang="en-US"/>
              <a:t>      508,</a:t>
            </a:r>
          </a:p>
          <a:p>
            <a:r>
              <a:rPr lang="en-US"/>
              <a:t>      520</a:t>
            </a:r>
          </a:p>
          <a:p>
            <a:r>
              <a:rPr lang="en-US"/>
              <a:t>    ],</a:t>
            </a:r>
          </a:p>
          <a:p>
            <a:r>
              <a:rPr lang="en-US"/>
              <a:t>    "AS5": [</a:t>
            </a:r>
          </a:p>
          <a:p>
            <a:r>
              <a:rPr lang="en-US"/>
              <a:t>      225,</a:t>
            </a:r>
          </a:p>
          <a:p>
            <a:r>
              <a:rPr lang="en-US"/>
              <a:t>      228</a:t>
            </a:r>
          </a:p>
          <a:p>
            <a:r>
              <a:rPr lang="en-US"/>
              <a:t>    ]</a:t>
            </a:r>
          </a:p>
          <a:p>
            <a:r>
              <a:rPr lang="en-US"/>
              <a:t>  },</a:t>
            </a:r>
          </a:p>
          <a:p>
            <a:r>
              <a:rPr lang="en-US"/>
              <a:t>  "implementation_context": {</a:t>
            </a:r>
          </a:p>
          <a:p>
            <a:r>
              <a:rPr lang="en-US"/>
              <a:t>    "scope": "Read-only implementation and attacker-capability review. No attack run, cloud-policy check or exhaustive security audit; Chapter 4 and the main deck remain unchanged.",</a:t>
            </a:r>
          </a:p>
          <a:p>
            <a:r>
              <a:rPr lang="en-US"/>
              <a:t>    "sources": [</a:t>
            </a:r>
          </a:p>
          <a:p>
            <a:r>
              <a:rPr lang="en-US"/>
              <a:t>      {</a:t>
            </a:r>
          </a:p>
          <a:p>
            <a:r>
              <a:rPr lang="en-US"/>
              <a:t>        "path": "vita-fl/dfl/node_server/src/server.ts",</a:t>
            </a:r>
          </a:p>
          <a:p>
            <a:r>
              <a:rPr lang="en-US"/>
              <a:t>        "lines": [</a:t>
            </a:r>
          </a:p>
          <a:p>
            <a:r>
              <a:rPr lang="en-US"/>
              <a:t>          470,</a:t>
            </a:r>
          </a:p>
          <a:p>
            <a:r>
              <a:rPr lang="en-US"/>
              <a:t>          518,</a:t>
            </a:r>
          </a:p>
          <a:p>
            <a:r>
              <a:rPr lang="en-US"/>
              <a:t>          644,</a:t>
            </a:r>
          </a:p>
          <a:p>
            <a:r>
              <a:rPr lang="en-US"/>
              <a:t>          732,</a:t>
            </a:r>
          </a:p>
          <a:p>
            <a:r>
              <a:rPr lang="en-US"/>
              <a:t>          1341,</a:t>
            </a:r>
          </a:p>
          <a:p>
            <a:r>
              <a:rPr lang="en-US"/>
              <a:t>          1399,</a:t>
            </a:r>
          </a:p>
          <a:p>
            <a:r>
              <a:rPr lang="en-US"/>
              <a:t>          2146,</a:t>
            </a:r>
          </a:p>
          <a:p>
            <a:r>
              <a:rPr lang="en-US"/>
              <a:t>          2155,</a:t>
            </a:r>
          </a:p>
          <a:p>
            <a:r>
              <a:rPr lang="en-US"/>
              <a:t>          2276,</a:t>
            </a:r>
          </a:p>
          <a:p>
            <a:r>
              <a:rPr lang="en-US"/>
              <a:t>          2317,</a:t>
            </a:r>
          </a:p>
          <a:p>
            <a:r>
              <a:rPr lang="en-US"/>
              <a:t>          2820,</a:t>
            </a:r>
          </a:p>
          <a:p>
            <a:r>
              <a:rPr lang="en-US"/>
              <a:t>          2860</a:t>
            </a:r>
          </a:p>
          <a:p>
            <a:r>
              <a:rPr lang="en-US"/>
              <a:t>        ],</a:t>
            </a:r>
          </a:p>
          <a:p>
            <a:r>
              <a:rPr lang="en-US"/>
              <a:t>        "finding": "Update RSA authentication and action commitment; accepted-set staging/hash/count checks; model signature verification.",</a:t>
            </a:r>
          </a:p>
          <a:p>
            <a:r>
              <a:rPr lang="en-US"/>
              <a:t>        "sha256": "b7248ae1f0e5f374bee10cc023b4af78b32ab8dbdf1e3d22c704e4decb7ce9a5"</a:t>
            </a:r>
          </a:p>
          <a:p>
            <a:r>
              <a:rPr lang="en-US"/>
              <a:t>      },</a:t>
            </a:r>
          </a:p>
          <a:p>
            <a:r>
              <a:rPr lang="en-US"/>
              <a:t>      {</a:t>
            </a:r>
          </a:p>
          <a:p>
            <a:r>
              <a:rPr lang="en-US"/>
              <a:t>        "path": "vita-fl/dfl/neural_network/cli.py",</a:t>
            </a:r>
          </a:p>
          <a:p>
            <a:r>
              <a:rPr lang="en-US"/>
              <a:t>        "lines": [</a:t>
            </a:r>
          </a:p>
          <a:p>
            <a:r>
              <a:rPr lang="en-US"/>
              <a:t>          985,</a:t>
            </a:r>
          </a:p>
          <a:p>
            <a:r>
              <a:rPr lang="en-US"/>
              <a:t>          990,</a:t>
            </a:r>
          </a:p>
          <a:p>
            <a:r>
              <a:rPr lang="en-US"/>
              <a:t>          1279,</a:t>
            </a:r>
          </a:p>
          <a:p>
            <a:r>
              <a:rPr lang="en-US"/>
              <a:t>          1311</a:t>
            </a:r>
          </a:p>
          <a:p>
            <a:r>
              <a:rPr lang="en-US"/>
              <a:t>        ],</a:t>
            </a:r>
          </a:p>
          <a:p>
            <a:r>
              <a:rPr lang="en-US"/>
              <a:t>        "finding": "Provenance before training; exact staged files used for equal-weight aggregation and signed output.",</a:t>
            </a:r>
          </a:p>
          <a:p>
            <a:r>
              <a:rPr lang="en-US"/>
              <a:t>        "sha256": "215b85e8762aaa40d7c21fc9690d9b2b4bf33d50715e22017d1dc5d055f3212d"</a:t>
            </a:r>
          </a:p>
          <a:p>
            <a:r>
              <a:rPr lang="en-US"/>
              <a:t>      },</a:t>
            </a:r>
          </a:p>
          <a:p>
            <a:r>
              <a:rPr lang="en-US"/>
              <a:t>      {</a:t>
            </a:r>
          </a:p>
          <a:p>
            <a:r>
              <a:rPr lang="en-US"/>
              <a:t>        "path": "vita-fl/smart_contracts/src/core/AggregationPolicy.sol",</a:t>
            </a:r>
          </a:p>
          <a:p>
            <a:r>
              <a:rPr lang="en-US"/>
              <a:t>        "lines": [</a:t>
            </a:r>
          </a:p>
          <a:p>
            <a:r>
              <a:rPr lang="en-US"/>
              <a:t>          237,</a:t>
            </a:r>
          </a:p>
          <a:p>
            <a:r>
              <a:rPr lang="en-US"/>
              <a:t>          278</a:t>
            </a:r>
          </a:p>
          <a:p>
            <a:r>
              <a:rPr lang="en-US"/>
              <a:t>        ],</a:t>
            </a:r>
          </a:p>
          <a:p>
            <a:r>
              <a:rPr lang="en-US"/>
              <a:t>        "finding": "Action signature binds policy/set/output; no independent numerical recomputation.",</a:t>
            </a:r>
          </a:p>
          <a:p>
            <a:r>
              <a:rPr lang="en-US"/>
              <a:t>        "sha256": "e9965ed9cdd521d06f1b703f6822296e82f2a8d2de6cbeb14216cab7431ca368"</a:t>
            </a:r>
          </a:p>
          <a:p>
            <a:r>
              <a:rPr lang="en-US"/>
              <a:t>      },</a:t>
            </a:r>
          </a:p>
          <a:p>
            <a:r>
              <a:rPr lang="en-US"/>
              <a:t>      {</a:t>
            </a:r>
          </a:p>
          <a:p>
            <a:r>
              <a:rPr lang="en-US"/>
              <a:t>        "path": "vita-fl/smart_contracts/src/core/GMStorage.sol",</a:t>
            </a:r>
          </a:p>
          <a:p>
            <a:r>
              <a:rPr lang="en-US"/>
              <a:t>        "lines": [</a:t>
            </a:r>
          </a:p>
          <a:p>
            <a:r>
              <a:rPr lang="en-US"/>
              <a:t>          294,</a:t>
            </a:r>
          </a:p>
          <a:p>
            <a:r>
              <a:rPr lang="en-US"/>
              <a:t>          342</a:t>
            </a:r>
          </a:p>
          <a:p>
            <a:r>
              <a:rPr lang="en-US"/>
              <a:t>        ],</a:t>
            </a:r>
          </a:p>
          <a:p>
            <a:r>
              <a:rPr lang="en-US"/>
              <a:t>        "finding": "Update commitment requires current action authority.",</a:t>
            </a:r>
          </a:p>
          <a:p>
            <a:r>
              <a:rPr lang="en-US"/>
              <a:t>        "sha256": "84deba98bda6b74e6b03b0b917f09638f9de7b0d21114eedbd1efef366924003"</a:t>
            </a:r>
          </a:p>
          <a:p>
            <a:r>
              <a:rPr lang="en-US"/>
              <a:t>      },</a:t>
            </a:r>
          </a:p>
          <a:p>
            <a:r>
              <a:rPr lang="en-US"/>
              <a:t>      {</a:t>
            </a:r>
          </a:p>
          <a:p>
            <a:r>
              <a:rPr lang="en-US"/>
              <a:t>        "path": "vita-fl/dfl/node_server/src/gm_crypto.ts",</a:t>
            </a:r>
          </a:p>
          <a:p>
            <a:r>
              <a:rPr lang="en-US"/>
              <a:t>        "lines": [</a:t>
            </a:r>
          </a:p>
          <a:p>
            <a:r>
              <a:rPr lang="en-US"/>
              <a:t>          126,</a:t>
            </a:r>
          </a:p>
          <a:p>
            <a:r>
              <a:rPr lang="en-US"/>
              <a:t>          172,</a:t>
            </a:r>
          </a:p>
          <a:p>
            <a:r>
              <a:rPr lang="en-US"/>
              <a:t>          209,</a:t>
            </a:r>
          </a:p>
          <a:p>
            <a:r>
              <a:rPr lang="en-US"/>
              <a:t>          213</a:t>
            </a:r>
          </a:p>
          <a:p>
            <a:r>
              <a:rPr lang="en-US"/>
              <a:t>        ],</a:t>
            </a:r>
          </a:p>
          <a:p>
            <a:r>
              <a:rPr lang="en-US"/>
              <a:t>        "finding": "Plaintext model and encrypted bundle have RSA signatures.",</a:t>
            </a:r>
          </a:p>
          <a:p>
            <a:r>
              <a:rPr lang="en-US"/>
              <a:t>        "sha256": "b54558861535277ad3e94492d59716d4bb419101324d1d5ac95ca42d61b441bf"</a:t>
            </a:r>
          </a:p>
          <a:p>
            <a:r>
              <a:rPr lang="en-US"/>
              <a:t>      },</a:t>
            </a:r>
          </a:p>
          <a:p>
            <a:r>
              <a:rPr lang="en-US"/>
              <a:t>      {</a:t>
            </a:r>
          </a:p>
          <a:p>
            <a:r>
              <a:rPr lang="en-US"/>
              <a:t>        "path": "vita-fl/dfl/Dockerfile",</a:t>
            </a:r>
          </a:p>
          <a:p>
            <a:r>
              <a:rPr lang="en-US"/>
              <a:t>        "lines": [</a:t>
            </a:r>
          </a:p>
          <a:p>
            <a:r>
              <a:rPr lang="en-US"/>
              <a:t>          73,</a:t>
            </a:r>
          </a:p>
          <a:p>
            <a:r>
              <a:rPr lang="en-US"/>
              <a:t>          76</a:t>
            </a:r>
          </a:p>
          <a:p>
            <a:r>
              <a:rPr lang="en-US"/>
              <a:t>        ],</a:t>
            </a:r>
          </a:p>
          <a:p>
            <a:r>
              <a:rPr lang="en-US"/>
              <a:t>        "finding": "Training data included in admitted image.",</a:t>
            </a:r>
          </a:p>
          <a:p>
            <a:r>
              <a:rPr lang="en-US"/>
              <a:t>        "sha256": "931bac007801b2ae91c7687b886400c9d6ccd263478c2f96944cef379f7f2c09"</a:t>
            </a:r>
          </a:p>
          <a:p>
            <a:r>
              <a:rPr lang="en-US"/>
              <a:t>      },</a:t>
            </a:r>
          </a:p>
          <a:p>
            <a:r>
              <a:rPr lang="en-US"/>
              <a:t>      {</a:t>
            </a:r>
          </a:p>
          <a:p>
            <a:r>
              <a:rPr lang="en-US"/>
              <a:t>        "path": "vita-fl/dfl/start_node_neural_network.sh",</a:t>
            </a:r>
          </a:p>
          <a:p>
            <a:r>
              <a:rPr lang="en-US"/>
              <a:t>        "lines": [</a:t>
            </a:r>
          </a:p>
          <a:p>
            <a:r>
              <a:rPr lang="en-US"/>
              <a:t>          71,</a:t>
            </a:r>
          </a:p>
          <a:p>
            <a:r>
              <a:rPr lang="en-US"/>
              <a:t>          80</a:t>
            </a:r>
          </a:p>
          <a:p>
            <a:r>
              <a:rPr lang="en-US"/>
              <a:t>        ],</a:t>
            </a:r>
          </a:p>
          <a:p>
            <a:r>
              <a:rPr lang="en-US"/>
              <a:t>        "finding": "Selected existing training directory copied at startup.",</a:t>
            </a:r>
          </a:p>
          <a:p>
            <a:r>
              <a:rPr lang="en-US"/>
              <a:t>        "sha256": "429d22be7a958df81f101ae8794e77e560674617cd4bce8cf7ee122ff50c09bb"</a:t>
            </a:r>
          </a:p>
          <a:p>
            <a:r>
              <a:rPr lang="en-US"/>
              <a:t>      },</a:t>
            </a:r>
          </a:p>
          <a:p>
            <a:r>
              <a:rPr lang="en-US"/>
              <a:t>      {</a:t>
            </a:r>
          </a:p>
          <a:p>
            <a:r>
              <a:rPr lang="en-US"/>
              <a:t>        "path": "vita-fl/dfl/node_server/src/worker_policy.ts",</a:t>
            </a:r>
          </a:p>
          <a:p>
            <a:r>
              <a:rPr lang="en-US"/>
              <a:t>        "lines": [</a:t>
            </a:r>
          </a:p>
          <a:p>
            <a:r>
              <a:rPr lang="en-US"/>
              <a:t>          45,</a:t>
            </a:r>
          </a:p>
          <a:p>
            <a:r>
              <a:rPr lang="en-US"/>
              <a:t>          76,</a:t>
            </a:r>
          </a:p>
          <a:p>
            <a:r>
              <a:rPr lang="en-US"/>
              <a:t>          478,</a:t>
            </a:r>
          </a:p>
          <a:p>
            <a:r>
              <a:rPr lang="en-US"/>
              <a:t>          480</a:t>
            </a:r>
          </a:p>
          <a:p>
            <a:r>
              <a:rPr lang="en-US"/>
              <a:t>        ],</a:t>
            </a:r>
          </a:p>
          <a:p>
            <a:r>
              <a:rPr lang="en-US"/>
              <a:t>        "finding": "TRAIN_DATA_SRC, DATASET_NAME and EPOCH are variable allowed policy values.",</a:t>
            </a:r>
          </a:p>
          <a:p>
            <a:r>
              <a:rPr lang="en-US"/>
              <a:t>        "sha256": "861b3d73a14472869188fc0723801bc35a200ffe62fa908c7121b7bac5763a3d"</a:t>
            </a:r>
          </a:p>
          <a:p>
            <a:r>
              <a:rPr lang="en-US"/>
              <a:t>      },</a:t>
            </a:r>
          </a:p>
          <a:p>
            <a:r>
              <a:rPr lang="en-US"/>
              <a:t>      {</a:t>
            </a:r>
          </a:p>
          <a:p>
            <a:r>
              <a:rPr lang="en-US"/>
              <a:t>        "path": "vita-fl/dfl/neural_network/dicom_provenance.py",</a:t>
            </a:r>
          </a:p>
          <a:p>
            <a:r>
              <a:rPr lang="en-US"/>
              <a:t>        "lines": [</a:t>
            </a:r>
          </a:p>
          <a:p>
            <a:r>
              <a:rPr lang="en-US"/>
              <a:t>          307,</a:t>
            </a:r>
          </a:p>
          <a:p>
            <a:r>
              <a:rPr lang="en-US"/>
              <a:t>          374</a:t>
            </a:r>
          </a:p>
          <a:p>
            <a:r>
              <a:rPr lang="en-US"/>
              <a:t>        ],</a:t>
            </a:r>
          </a:p>
          <a:p>
            <a:r>
              <a:rPr lang="en-US"/>
              <a:t>        "finding": "Verify separate acquisition/annotation signatures, image linkage and current authorized signer roles.",</a:t>
            </a:r>
          </a:p>
          <a:p>
            <a:r>
              <a:rPr lang="en-US"/>
              <a:t>        "sha256": "49c95818d969dbdf24226f6ce09109bc74f8b9d6752f5755aeb0ec828f6eb13e"</a:t>
            </a:r>
          </a:p>
          <a:p>
            <a:r>
              <a:rPr lang="en-US"/>
              <a:t>      }</a:t>
            </a:r>
          </a:p>
          <a:p>
            <a:r>
              <a:rPr lang="en-US"/>
              <a:t>    ],</a:t>
            </a:r>
          </a:p>
          <a:p>
            <a:r>
              <a:rPr lang="en-US"/>
              <a:t>    "limits": [</a:t>
            </a:r>
          </a:p>
          <a:p>
            <a:r>
              <a:rPr lang="en-US"/>
              <a:t>      "Not all launch configuration is immutable: an authorized deployment actor can select existing data paths and epoch settings; no arbitrary new signed-data feed or quality attack was demonstrated.",</a:t>
            </a:r>
          </a:p>
          <a:p>
            <a:r>
              <a:rPr lang="en-US"/>
              <a:t>      "An authorized medical signer may honestly authenticate false semantics without breaking cryptography. A future approved data-provisioning path must be evaluated separately; merely being outside this run is not labeled an assumption breach.",</a:t>
            </a:r>
          </a:p>
          <a:p>
            <a:r>
              <a:rPr lang="en-US"/>
              <a:t>      "Yellow root applies only to the displayed in-run compromise routes. It neither proves model quality nor exhaustively excludes launch-configuration or learning attacks."</a:t>
            </a:r>
          </a:p>
          <a:p>
            <a:r>
              <a:rPr lang="en-US"/>
              <a:t>    ]</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These six diagrams map selected Chapter 4 threats to the reviewed VITA-FL implementation. OR means alternative sufficient routes; AND means jointly necessary conditions, not message order. Colors apply at every depth: green is a shown attack blocked by the intact reviewed checks under stated assumptions; yellow explicitly requires a protected-execution, key-custody or trusted-service boundary; red is an availability effect achievable with the named external capability; white is a prerequisite. A green goal names a hypothetical attacker success, not a successful exploit. No implicit signing authority is granted to a participant, deployer or intermediary. Logical enrollment identities, TEE Ethereum action keys, TEE RSA artifact keys, medical-signer keys, AIR/Sello keys and log keys are distinct. Each leaf records attacker_capability and required_credentials. Replaying recorded evidence or withholding traffic needs no private key; minting new valid statements requires the corresponding signer or control of its execution. Host control does not imply guest control. Legitimate timeout recovery during a network partition is not a forged vote or a protocol-safety failure. Prepared-model freshness is scoped to model preparation; technical verified-tool success is not arbitrary LLM text. The trees cover selected routes, not every residual risk or an exhaustive audit. Source notes distinguish implementation findings from Chapter 4; neither the chapter nor main deck was changed. No attacks, new security tests or live deployment checks were performed.</a:t>
            </a:r>
          </a:p>
          <a:p/>
          <a:p>
            <a:r>
              <a:rPr lang="en-US"/>
              <a:t>TREE-SPECIFIC MODEL</a:t>
            </a:r>
          </a:p>
          <a:p>
            <a:r>
              <a:rPr lang="en-US"/>
              <a:t>{</a:t>
            </a:r>
          </a:p>
          <a:p>
            <a:r>
              <a:rPr lang="en-US"/>
              <a:t>  "slug": "03-recovery",</a:t>
            </a:r>
          </a:p>
          <a:p>
            <a:r>
              <a:rPr lang="en-US"/>
              <a:t>  "name_de": "3 · Rundenfortschritt und Recovery",</a:t>
            </a:r>
          </a:p>
          <a:p>
            <a:r>
              <a:rPr lang="en-US"/>
              <a:t>  "title": "Attack tree: disrupt rounds and recovery",</a:t>
            </a:r>
          </a:p>
          <a:p>
            <a:r>
              <a:rPr lang="en-US"/>
              <a:t>  "threats": [</a:t>
            </a:r>
          </a:p>
          <a:p>
            <a:r>
              <a:rPr lang="en-US"/>
              <a:t>    "T2",</a:t>
            </a:r>
          </a:p>
          <a:p>
            <a:r>
              <a:rPr lang="en-US"/>
              <a:t>    "T6",</a:t>
            </a:r>
          </a:p>
          <a:p>
            <a:r>
              <a:rPr lang="en-US"/>
              <a:t>    "T12",</a:t>
            </a:r>
          </a:p>
          <a:p>
            <a:r>
              <a:rPr lang="en-US"/>
              <a:t>    "T13",</a:t>
            </a:r>
          </a:p>
          <a:p>
            <a:r>
              <a:rPr lang="en-US"/>
              <a:t>    "T14"</a:t>
            </a:r>
          </a:p>
          <a:p>
            <a:r>
              <a:rPr lang="en-US"/>
              <a:t>  ],</a:t>
            </a:r>
          </a:p>
          <a:p>
            <a:r>
              <a:rPr lang="en-US"/>
              <a:t>  "domains": [</a:t>
            </a:r>
          </a:p>
          <a:p>
            <a:r>
              <a:rPr lang="en-US"/>
              <a:t>    "DFL"</a:t>
            </a:r>
          </a:p>
          <a:p>
            <a:r>
              <a:rPr lang="en-US"/>
              <a:t>  ],</a:t>
            </a:r>
          </a:p>
          <a:p>
            <a:r>
              <a:rPr lang="en-US"/>
              <a:t>  "root": {</a:t>
            </a:r>
          </a:p>
          <a:p>
            <a:r>
              <a:rPr lang="en-US"/>
              <a:t>    "label": "Disrupt rounds or recovery",</a:t>
            </a:r>
          </a:p>
          <a:p>
            <a:r>
              <a:rPr lang="en-US"/>
              <a:t>    "op": "OR",</a:t>
            </a:r>
          </a:p>
          <a:p>
            <a:r>
              <a:rPr lang="en-US"/>
              <a:t>    "children": [</a:t>
            </a:r>
          </a:p>
          <a:p>
            <a:r>
              <a:rPr lang="en-US"/>
              <a:t>      {</a:t>
            </a:r>
          </a:p>
          <a:p>
            <a:r>
              <a:rPr lang="en-US"/>
              <a:t>        "label": "Forge reports as an outsider",</a:t>
            </a:r>
          </a:p>
          <a:p>
            <a:r>
              <a:rPr lang="en-US"/>
              <a:t>        "op": "AND",</a:t>
            </a:r>
          </a:p>
          <a:p>
            <a:r>
              <a:rPr lang="en-US"/>
              <a:t>        "children": [</a:t>
            </a:r>
          </a:p>
          <a:p>
            <a:r>
              <a:rPr lang="en-US"/>
              <a:t>          {</a:t>
            </a:r>
          </a:p>
          <a:p>
            <a:r>
              <a:rPr lang="en-US"/>
              <a:t>            "label": "Submit a timeout report using an unauthorized outsider transaction sender",</a:t>
            </a:r>
          </a:p>
          <a:p>
            <a:r>
              <a:rPr lang="en-US"/>
              <a:t>            "short_label": "Submit an unauthorized report",</a:t>
            </a:r>
          </a:p>
          <a:p>
            <a:r>
              <a:rPr lang="en-US"/>
              <a:t>            "assessment": "neutral",</a:t>
            </a:r>
          </a:p>
          <a:p>
            <a:r>
              <a:rPr lang="en-US"/>
              <a:t>            "assessment_reason": "A capability or necessary condition only; the other AND conditions still have to hold.",</a:t>
            </a:r>
          </a:p>
          <a:p>
            <a:r>
              <a:rPr lang="en-US"/>
              <a:t>            "note": "Calling the public function from an outsider account does not grant current reporter authority. This branch concerns newly invented reports, not replay of an already signed authorized transaction. Such replay instead meets transaction nonce, duplicate-report and context guards.",</a:t>
            </a:r>
          </a:p>
          <a:p>
            <a:r>
              <a:rPr lang="en-US"/>
              <a:t>            "refs": [</a:t>
            </a:r>
          </a:p>
          <a:p>
            <a:r>
              <a:rPr lang="en-US"/>
              <a:t>              "T2",</a:t>
            </a:r>
          </a:p>
          <a:p>
            <a:r>
              <a:rPr lang="en-US"/>
              <a:t>              "T14",</a:t>
            </a:r>
          </a:p>
          <a:p>
            <a:r>
              <a:rPr lang="en-US"/>
              <a:t>              "F11"</a:t>
            </a:r>
          </a:p>
          <a:p>
            <a:r>
              <a:rPr lang="en-US"/>
              <a:t>            ],</a:t>
            </a:r>
          </a:p>
          <a:p>
            <a:r>
              <a:rPr lang="en-US"/>
              <a:t>            "attacker_capability": "Invoke the public report function from an attacker-owned account.",</a:t>
            </a:r>
          </a:p>
          <a:p>
            <a:r>
              <a:rPr lang="en-US"/>
              <a:t>            "required_credentials": "Only an outsider transaction key; no authorized TEE action signature."</a:t>
            </a:r>
          </a:p>
          <a:p>
            <a:r>
              <a:rPr lang="en-US"/>
              <a:t>          },</a:t>
            </a:r>
          </a:p>
          <a:p>
            <a:r>
              <a:rPr lang="en-US"/>
              <a:t>          {</a:t>
            </a:r>
          </a:p>
          <a:p>
            <a:r>
              <a:rPr lang="en-US"/>
              <a:t>            "label": "Get reports accepted without the required current action-key authority",</a:t>
            </a:r>
          </a:p>
          <a:p>
            <a:r>
              <a:rPr lang="en-US"/>
              <a:t>            "short_label": "Bypass current action authority",</a:t>
            </a:r>
          </a:p>
          <a:p>
            <a:r>
              <a:rPr lang="en-US"/>
              <a:t>            "assessment": "blocked",</a:t>
            </a:r>
          </a:p>
          <a:p>
            <a:r>
              <a:rPr lang="en-US"/>
              <a:t>            "assessment_reason": "The intact reviewed implementation rejects this success condition under its stated trust assumptions. This is not a demonstrated bypass.",</a:t>
            </a:r>
          </a:p>
          <a:p>
            <a:r>
              <a:rPr lang="en-US"/>
              <a:t>            "note": "The contract resolves msg.sender through the currently registered action key. Logical participant/enrollment accounts are not accepted as reporter authority. Training round after bootstrap; same still-current round and aggregator; reportable contract state; distinct eligible non-aggregators using their current action keys, no duplicate logical reporter, fixed reporter snapshot, sufficient quorum and an eligible replacement. A changed round or missing replacement can make the transaction revert.",</a:t>
            </a:r>
          </a:p>
          <a:p>
            <a:r>
              <a:rPr lang="en-US"/>
              <a:t>            "refs": [</a:t>
            </a:r>
          </a:p>
          <a:p>
            <a:r>
              <a:rPr lang="en-US"/>
              <a:t>              "F2",</a:t>
            </a:r>
          </a:p>
          <a:p>
            <a:r>
              <a:rPr lang="en-US"/>
              <a:t>              "F11"</a:t>
            </a:r>
          </a:p>
          <a:p>
            <a:r>
              <a:rPr lang="en-US"/>
              <a:t>            ],</a:t>
            </a:r>
          </a:p>
          <a:p>
            <a:r>
              <a:rPr lang="en-US"/>
              <a:t>            "attacker_capability": "Attempt unauthorized report acceptance.",</a:t>
            </a:r>
          </a:p>
          <a:p>
            <a:r>
              <a:rPr lang="en-US"/>
              <a:t>            "required_credentials": "Required current TEE action-key signature is absent; intact authorization blocks the route."</a:t>
            </a:r>
          </a:p>
          <a:p>
            <a:r>
              <a:rPr lang="en-US"/>
              <a:t>          }</a:t>
            </a:r>
          </a:p>
          <a:p>
            <a:r>
              <a:rPr lang="en-US"/>
              <a:t>        ],</a:t>
            </a:r>
          </a:p>
          <a:p>
            <a:r>
              <a:rPr lang="en-US"/>
              <a:t>        "note": "This is the blocked uncredentialed report-forgery attempt, not an ability to generate valid arbitrary votes.",</a:t>
            </a:r>
          </a:p>
          <a:p>
            <a:r>
              <a:rPr lang="en-US"/>
              <a:t>        "refs": [</a:t>
            </a:r>
          </a:p>
          <a:p>
            <a:r>
              <a:rPr lang="en-US"/>
              <a:t>          "T2",</a:t>
            </a:r>
          </a:p>
          <a:p>
            <a:r>
              <a:rPr lang="en-US"/>
              <a:t>          "T14",</a:t>
            </a:r>
          </a:p>
          <a:p>
            <a:r>
              <a:rPr lang="en-US"/>
              <a:t>          "F2",</a:t>
            </a:r>
          </a:p>
          <a:p>
            <a:r>
              <a:rPr lang="en-US"/>
              <a:t>          "F11"</a:t>
            </a:r>
          </a:p>
          <a:p>
            <a:r>
              <a:rPr lang="en-US"/>
              <a:t>        ],</a:t>
            </a:r>
          </a:p>
          <a:p>
            <a:r>
              <a:rPr lang="en-US"/>
              <a:t>        "assessment": "blocked",</a:t>
            </a:r>
          </a:p>
          <a:p>
            <a:r>
              <a:rPr lang="en-US"/>
              <a:t>        "assessment_reason": "AND over (neutral, blocked); each route retains all actor, credential, timing and context prerequisites. No attack success was observed."</a:t>
            </a:r>
          </a:p>
          <a:p>
            <a:r>
              <a:rPr lang="en-US"/>
              <a:t>      },</a:t>
            </a:r>
          </a:p>
          <a:p>
            <a:r>
              <a:rPr lang="en-US"/>
              <a:t>      {</a:t>
            </a:r>
          </a:p>
          <a:p>
            <a:r>
              <a:rPr lang="en-US"/>
              <a:t>        "label": "Fabricate a signed quorum",</a:t>
            </a:r>
          </a:p>
          <a:p>
            <a:r>
              <a:rPr lang="en-US"/>
              <a:t>        "op": "AND",</a:t>
            </a:r>
          </a:p>
          <a:p>
            <a:r>
              <a:rPr lang="en-US"/>
              <a:t>        "children": [</a:t>
            </a:r>
          </a:p>
          <a:p>
            <a:r>
              <a:rPr lang="en-US"/>
              <a:t>          {</a:t>
            </a:r>
          </a:p>
          <a:p>
            <a:r>
              <a:rPr lang="en-US"/>
              <a:t>            "label": "Compromise enough admitted action signers to produce arbitrary current-authority reports",</a:t>
            </a:r>
          </a:p>
          <a:p>
            <a:r>
              <a:rPr lang="en-US"/>
              <a:t>            "short_label": "Compromise quorum signers",</a:t>
            </a:r>
          </a:p>
          <a:p>
            <a:r>
              <a:rPr lang="en-US"/>
              <a:t>            "assessment": "boundary",</a:t>
            </a:r>
          </a:p>
          <a:p>
            <a:r>
              <a:rPr lang="en-US"/>
              <a:t>            "assessment_reason": "This condition explicitly crosses the stated protected-execution, key-custody or trusted-service boundary; ordinary deployment ownership does not provide it.",</a:t>
            </a:r>
          </a:p>
          <a:p>
            <a:r>
              <a:rPr lang="en-US"/>
              <a:t>            "note": "Actual arbitrary-transaction signing with enough distinct current TEE action keys is required. Logical participant keys, owning several CVMs or enrolling several allowed workers is insufficient. Quorum is ceil(eligible reporters * percentage / 100); default 50%, hence 3 of 5 non-aggregators for six authorized participants. Going offline does not remove an authorized identity or shrink an existing snapshot.",</a:t>
            </a:r>
          </a:p>
          <a:p>
            <a:r>
              <a:rPr lang="en-US"/>
              <a:t>            "refs": [</a:t>
            </a:r>
          </a:p>
          <a:p>
            <a:r>
              <a:rPr lang="en-US"/>
              <a:t>              "T13",</a:t>
            </a:r>
          </a:p>
          <a:p>
            <a:r>
              <a:rPr lang="en-US"/>
              <a:t>              "T14",</a:t>
            </a:r>
          </a:p>
          <a:p>
            <a:r>
              <a:rPr lang="en-US"/>
              <a:t>              "AS5"</a:t>
            </a:r>
          </a:p>
          <a:p>
            <a:r>
              <a:rPr lang="en-US"/>
              <a:t>            ],</a:t>
            </a:r>
          </a:p>
          <a:p>
            <a:r>
              <a:rPr lang="en-US"/>
              <a:t>            "attacker_capability": "Compromise enough protected reporter signers or their execution.",</a:t>
            </a:r>
          </a:p>
          <a:p>
            <a:r>
              <a:rPr lang="en-US"/>
              <a:t>            "required_credentials": "Enough current TEE action keys to meet the reporting quorum."</a:t>
            </a:r>
          </a:p>
          <a:p>
            <a:r>
              <a:rPr lang="en-US"/>
              <a:t>          },</a:t>
            </a:r>
          </a:p>
          <a:p>
            <a:r>
              <a:rPr lang="en-US"/>
              <a:t>          {</a:t>
            </a:r>
          </a:p>
          <a:p>
            <a:r>
              <a:rPr lang="en-US"/>
              <a:t>            "label": "Submit false reports that satisfy every time, round, eligibility and quorum guard",</a:t>
            </a:r>
          </a:p>
          <a:p>
            <a:r>
              <a:rPr lang="en-US"/>
              <a:t>            "short_label": "Meet time / round / quorum guards",</a:t>
            </a:r>
          </a:p>
          <a:p>
            <a:r>
              <a:rPr lang="en-US"/>
              <a:t>            "assessment": "neutral",</a:t>
            </a:r>
          </a:p>
          <a:p>
            <a:r>
              <a:rPr lang="en-US"/>
              <a:t>            "assessment_reason": "A capability or necessary condition only; the other AND conditions still have to hold.",</a:t>
            </a:r>
          </a:p>
          <a:p>
            <a:r>
              <a:rPr lang="en-US"/>
              <a:t>            "note": "Training round after bootstrap; same still-current round and aggregator; reportable contract state; distinct eligible non-aggregators using their current action keys, no duplicate logical reporter, fixed reporter snapshot, sufficient quorum and an eligible replacement. A changed round or missing replacement can make the transaction revert. Even compromised signers cannot skip those guards. This branch invents no key-extraction method.",</a:t>
            </a:r>
          </a:p>
          <a:p>
            <a:r>
              <a:rPr lang="en-US"/>
              <a:t>            "refs": [</a:t>
            </a:r>
          </a:p>
          <a:p>
            <a:r>
              <a:rPr lang="en-US"/>
              <a:t>              "T14",</a:t>
            </a:r>
          </a:p>
          <a:p>
            <a:r>
              <a:rPr lang="en-US"/>
              <a:t>              "F2"</a:t>
            </a:r>
          </a:p>
          <a:p>
            <a:r>
              <a:rPr lang="en-US"/>
              <a:t>            ],</a:t>
            </a:r>
          </a:p>
          <a:p>
            <a:r>
              <a:rPr lang="en-US"/>
              <a:t>            "attacker_capability": "Use compromised signers for otherwise contract-valid reports.",</a:t>
            </a:r>
          </a:p>
          <a:p>
            <a:r>
              <a:rPr lang="en-US"/>
              <a:t>            "required_credentials": "Current action-key signatures supplied by the preceding condition."</a:t>
            </a:r>
          </a:p>
          <a:p>
            <a:r>
              <a:rPr lang="en-US"/>
              <a:t>          }</a:t>
            </a:r>
          </a:p>
          <a:p>
            <a:r>
              <a:rPr lang="en-US"/>
              <a:t>        ],</a:t>
            </a:r>
          </a:p>
          <a:p>
            <a:r>
              <a:rPr lang="en-US"/>
              <a:t>        "note": "Only this route describes deliberately fabricated but validly authorized votes; it explicitly requires protected-signing compromise.",</a:t>
            </a:r>
          </a:p>
          <a:p>
            <a:r>
              <a:rPr lang="en-US"/>
              <a:t>        "refs": [</a:t>
            </a:r>
          </a:p>
          <a:p>
            <a:r>
              <a:rPr lang="en-US"/>
              <a:t>          "T13",</a:t>
            </a:r>
          </a:p>
          <a:p>
            <a:r>
              <a:rPr lang="en-US"/>
              <a:t>          "T14",</a:t>
            </a:r>
          </a:p>
          <a:p>
            <a:r>
              <a:rPr lang="en-US"/>
              <a:t>          "AS5",</a:t>
            </a:r>
          </a:p>
          <a:p>
            <a:r>
              <a:rPr lang="en-US"/>
              <a:t>          "F2"</a:t>
            </a:r>
          </a:p>
          <a:p>
            <a:r>
              <a:rPr lang="en-US"/>
              <a:t>        ],</a:t>
            </a:r>
          </a:p>
          <a:p>
            <a:r>
              <a:rPr lang="en-US"/>
              <a:t>        "assessment": "boundary",</a:t>
            </a:r>
          </a:p>
          <a:p>
            <a:r>
              <a:rPr lang="en-US"/>
              <a:t>        "assessment_reason": "AND over (boundary, neutral); each route retains all actor, credential, timing and context prerequisites. No attack success was observed."</a:t>
            </a:r>
          </a:p>
          <a:p>
            <a:r>
              <a:rPr lang="en-US"/>
              <a:t>      },</a:t>
            </a:r>
          </a:p>
          <a:p>
            <a:r>
              <a:rPr lang="en-US"/>
              <a:t>      {</a:t>
            </a:r>
          </a:p>
          <a:p>
            <a:r>
              <a:rPr lang="en-US"/>
              <a:t>        "label": "Trigger timeout replacement",</a:t>
            </a:r>
          </a:p>
          <a:p>
            <a:r>
              <a:rPr lang="en-US"/>
              <a:t>        "op": "AND",</a:t>
            </a:r>
          </a:p>
          <a:p>
            <a:r>
              <a:rPr lang="en-US"/>
              <a:t>        "children": [</a:t>
            </a:r>
          </a:p>
          <a:p>
            <a:r>
              <a:rPr lang="en-US"/>
              <a:t>          {</a:t>
            </a:r>
          </a:p>
          <a:p>
            <a:r>
              <a:rPr lang="en-US"/>
              <a:t>            "label": "Block all uploads before the first acceptance and keep the round unable to publish",</a:t>
            </a:r>
          </a:p>
          <a:p>
            <a:r>
              <a:rPr lang="en-US"/>
              <a:t>            "short_label": "Block all uploads before acceptance",</a:t>
            </a:r>
          </a:p>
          <a:p>
            <a:r>
              <a:rPr lang="en-US"/>
              <a:t>            "assessment": "possible",</a:t>
            </a:r>
          </a:p>
          <a:p>
            <a:r>
              <a:rPr lang="en-US"/>
              <a:t>            "assessment_reason": "With the explicitly stated non-secret capability, this availability effect is consistent with the reviewed code; it was not exercised in this review.",</a:t>
            </a:r>
          </a:p>
          <a:p>
            <a:r>
              <a:rPr lang="en-US"/>
              <a:t>            "note": "The network/hosting attacker prevents every update reaching the selected aggregator before any update is accepted. An empty set cannot close. Blocking only a subset is insufficient evidence: remaining contributions may allow publication after the deadline. The disruption must last through worker miss thresholds and time allowances.",</a:t>
            </a:r>
          </a:p>
          <a:p>
            <a:r>
              <a:rPr lang="en-US"/>
              <a:t>            "refs": [</a:t>
            </a:r>
          </a:p>
          <a:p>
            <a:r>
              <a:rPr lang="en-US"/>
              <a:t>              "T6",</a:t>
            </a:r>
          </a:p>
          <a:p>
            <a:r>
              <a:rPr lang="en-US"/>
              <a:t>              "T12"</a:t>
            </a:r>
          </a:p>
          <a:p>
            <a:r>
              <a:rPr lang="en-US"/>
              <a:t>            ],</a:t>
            </a:r>
          </a:p>
          <a:p>
            <a:r>
              <a:rPr lang="en-US"/>
              <a:t>            "attacker_capability": "Control availability of all worker-to-selected-aggregator upload paths long enough.",</a:t>
            </a:r>
          </a:p>
          <a:p>
            <a:r>
              <a:rPr lang="en-US"/>
              <a:t>            "required_credentials": "No worker private key; packets/connections are withheld."</a:t>
            </a:r>
          </a:p>
          <a:p>
            <a:r>
              <a:rPr lang="en-US"/>
              <a:t>          },</a:t>
            </a:r>
          </a:p>
          <a:p>
            <a:r>
              <a:rPr lang="en-US"/>
              <a:t>          {</a:t>
            </a:r>
          </a:p>
          <a:p>
            <a:r>
              <a:rPr lang="en-US"/>
              <a:t>            "label": "Enough intact workers observe timeouts and their valid reports reach the live ledger",</a:t>
            </a:r>
          </a:p>
          <a:p>
            <a:r>
              <a:rPr lang="en-US"/>
              <a:t>            "short_label": "Honest timeout votes reach ledger",</a:t>
            </a:r>
          </a:p>
          <a:p>
            <a:r>
              <a:rPr lang="en-US"/>
              <a:t>            "assessment": "neutral",</a:t>
            </a:r>
          </a:p>
          <a:p>
            <a:r>
              <a:rPr lang="en-US"/>
              <a:t>            "assessment_reason": "A capability or necessary condition only; the other AND conditions still have to hold.",</a:t>
            </a:r>
          </a:p>
          <a:p>
            <a:r>
              <a:rPr lang="en-US"/>
              <a:t>            "note": "At least the reporting quorum keeps running, can read policy/state and send transactions. Upload failures feed the miss counter; honest code waits through the collection/aggregation allowance and signs its own reports. Training round after bootstrap; same still-current round and aggregator; reportable contract state; distinct eligible non-aggregators using their current action keys, no duplicate logical reporter, fixed reporter snapshot, sufficient quorum and an eligible replacement. A changed round or missing replacement can make the transaction revert. Quorum is ceil(eligible reporters * percentage / 100); default 50%, hence 3 of 5 non-aggregators for six authorized participants. Going offline does not remove an authorized identity or shrink an existing snapshot.",</a:t>
            </a:r>
          </a:p>
          <a:p>
            <a:r>
              <a:rPr lang="en-US"/>
              <a:t>            "refs": [</a:t>
            </a:r>
          </a:p>
          <a:p>
            <a:r>
              <a:rPr lang="en-US"/>
              <a:t>              "T12",</a:t>
            </a:r>
          </a:p>
          <a:p>
            <a:r>
              <a:rPr lang="en-US"/>
              <a:t>              "F2"</a:t>
            </a:r>
          </a:p>
          <a:p>
            <a:r>
              <a:rPr lang="en-US"/>
              <a:t>            ],</a:t>
            </a:r>
          </a:p>
          <a:p>
            <a:r>
              <a:rPr lang="en-US"/>
              <a:t>            "attacker_capability": "Maintain selective network disruption while leaving worker-to-ledger access available.",</a:t>
            </a:r>
          </a:p>
          <a:p>
            <a:r>
              <a:rPr lang="en-US"/>
              <a:t>            "required_credentials": "The attacker has no key; intact workers create their own valid timeout signatures."</a:t>
            </a:r>
          </a:p>
          <a:p>
            <a:r>
              <a:rPr lang="en-US"/>
              <a:t>          }</a:t>
            </a:r>
          </a:p>
          <a:p>
            <a:r>
              <a:rPr lang="en-US"/>
              <a:t>        ],</a:t>
            </a:r>
          </a:p>
          <a:p>
            <a:r>
              <a:rPr lang="en-US"/>
              <a:t>        "note": "This is an availability attack with a correct recovery reaction. It does not prove an unjustified replacement of a reachable, timely-publishing aggregator or a forged signature.",</a:t>
            </a:r>
          </a:p>
          <a:p>
            <a:r>
              <a:rPr lang="en-US"/>
              <a:t>        "refs": [</a:t>
            </a:r>
          </a:p>
          <a:p>
            <a:r>
              <a:rPr lang="en-US"/>
              <a:t>          "T6",</a:t>
            </a:r>
          </a:p>
          <a:p>
            <a:r>
              <a:rPr lang="en-US"/>
              <a:t>          "T12",</a:t>
            </a:r>
          </a:p>
          <a:p>
            <a:r>
              <a:rPr lang="en-US"/>
              <a:t>          "F2"</a:t>
            </a:r>
          </a:p>
          <a:p>
            <a:r>
              <a:rPr lang="en-US"/>
              <a:t>        ],</a:t>
            </a:r>
          </a:p>
          <a:p>
            <a:r>
              <a:rPr lang="en-US"/>
              <a:t>        "assessment": "possible",</a:t>
            </a:r>
          </a:p>
          <a:p>
            <a:r>
              <a:rPr lang="en-US"/>
              <a:t>        "assessment_reason": "AND over (possible, neutral); each route retains all actor, credential, timing and context prerequisites. No attack success was observed."</a:t>
            </a:r>
          </a:p>
          <a:p>
            <a:r>
              <a:rPr lang="en-US"/>
              <a:t>      },</a:t>
            </a:r>
          </a:p>
          <a:p>
            <a:r>
              <a:rPr lang="en-US"/>
              <a:t>      {</a:t>
            </a:r>
          </a:p>
          <a:p>
            <a:r>
              <a:rPr lang="en-US"/>
              <a:t>        "label": "Prevent timely recovery",</a:t>
            </a:r>
          </a:p>
          <a:p>
            <a:r>
              <a:rPr lang="en-US"/>
              <a:t>        "op": "AND",</a:t>
            </a:r>
          </a:p>
          <a:p>
            <a:r>
              <a:rPr lang="en-US"/>
              <a:t>        "children": [</a:t>
            </a:r>
          </a:p>
          <a:p>
            <a:r>
              <a:rPr lang="en-US"/>
              <a:t>          {</a:t>
            </a:r>
          </a:p>
          <a:p>
            <a:r>
              <a:rPr lang="en-US"/>
              <a:t>            "label": "Keep the selected aggregator unavailable during the recovery interval",</a:t>
            </a:r>
          </a:p>
          <a:p>
            <a:r>
              <a:rPr lang="en-US"/>
              <a:t>            "short_label": "Keep selected aggregator offline",</a:t>
            </a:r>
          </a:p>
          <a:p>
            <a:r>
              <a:rPr lang="en-US"/>
              <a:t>            "assessment": "possible",</a:t>
            </a:r>
          </a:p>
          <a:p>
            <a:r>
              <a:rPr lang="en-US"/>
              <a:t>            "assessment_reason": "With the explicitly stated non-secret capability, this availability effect is consistent with the reviewed code; it was not exercised in this review.",</a:t>
            </a:r>
          </a:p>
          <a:p>
            <a:r>
              <a:rPr lang="en-US"/>
              <a:t>            "note": "Requires actual infrastructure/network availability control and a sustained outage, not arbitrary behavior inside intact admitted code.",</a:t>
            </a:r>
          </a:p>
          <a:p>
            <a:r>
              <a:rPr lang="en-US"/>
              <a:t>            "refs": [</a:t>
            </a:r>
          </a:p>
          <a:p>
            <a:r>
              <a:rPr lang="en-US"/>
              <a:t>              "T6",</a:t>
            </a:r>
          </a:p>
          <a:p>
            <a:r>
              <a:rPr lang="en-US"/>
              <a:t>              "T12"</a:t>
            </a:r>
          </a:p>
          <a:p>
            <a:r>
              <a:rPr lang="en-US"/>
              <a:t>            ],</a:t>
            </a:r>
          </a:p>
          <a:p>
            <a:r>
              <a:rPr lang="en-US"/>
              <a:t>            "attacker_capability": "Stop the hosted CVM/service or cut its communication.",</a:t>
            </a:r>
          </a:p>
          <a:p>
            <a:r>
              <a:rPr lang="en-US"/>
              <a:t>            "required_credentials": "Hosting/network control; no TEE signing key."</a:t>
            </a:r>
          </a:p>
          <a:p>
            <a:r>
              <a:rPr lang="en-US"/>
              <a:t>          },</a:t>
            </a:r>
          </a:p>
          <a:p>
            <a:r>
              <a:rPr lang="en-US"/>
              <a:t>          {</a:t>
            </a:r>
          </a:p>
          <a:p>
            <a:r>
              <a:rPr lang="en-US"/>
              <a:t>            "label": "Keep recovery reports from reaching quorum by blocking ledger access or enough reporters",</a:t>
            </a:r>
          </a:p>
          <a:p>
            <a:r>
              <a:rPr lang="en-US"/>
              <a:t>            "short_label": "Block ledger / reporting quorum",</a:t>
            </a:r>
          </a:p>
          <a:p>
            <a:r>
              <a:rPr lang="en-US"/>
              <a:t>            "assessment": "possible",</a:t>
            </a:r>
          </a:p>
          <a:p>
            <a:r>
              <a:rPr lang="en-US"/>
              <a:t>            "assessment_reason": "With the explicitly stated non-secret capability, this availability effect is consistent with the reviewed code; it was not exercised in this review.",</a:t>
            </a:r>
          </a:p>
          <a:p>
            <a:r>
              <a:rPr lang="en-US"/>
              <a:t>            "note": "Sustain the disruption before enough votes are counted. Either prevent report transactions/required policy reads or stop enough eligible workers. The fixed authorization/snapshot count does not automatically shrink with offline workers. Quorum is ceil(eligible reporters * percentage / 100); default 50%, hence 3 of 5 non-aggregators for six authorized participants. Going offline does not remove an authorized identity or shrink an existing snapshot.",</a:t>
            </a:r>
          </a:p>
          <a:p>
            <a:r>
              <a:rPr lang="en-US"/>
              <a:t>            "refs": [</a:t>
            </a:r>
          </a:p>
          <a:p>
            <a:r>
              <a:rPr lang="en-US"/>
              <a:t>              "T12",</a:t>
            </a:r>
          </a:p>
          <a:p>
            <a:r>
              <a:rPr lang="en-US"/>
              <a:t>              "F2"</a:t>
            </a:r>
          </a:p>
          <a:p>
            <a:r>
              <a:rPr lang="en-US"/>
              <a:t>            ],</a:t>
            </a:r>
          </a:p>
          <a:p>
            <a:r>
              <a:rPr lang="en-US"/>
              <a:t>            "attacker_capability": "Control reporter availability or their ledger connectivity.",</a:t>
            </a:r>
          </a:p>
          <a:p>
            <a:r>
              <a:rPr lang="en-US"/>
              <a:t>            "required_credentials": "No signature key; denial of delivery/execution suffices."</a:t>
            </a:r>
          </a:p>
          <a:p>
            <a:r>
              <a:rPr lang="en-US"/>
              <a:t>          }</a:t>
            </a:r>
          </a:p>
          <a:p>
            <a:r>
              <a:rPr lang="en-US"/>
              <a:t>        ],</a:t>
            </a:r>
          </a:p>
          <a:p>
            <a:r>
              <a:rPr lang="en-US"/>
              <a:t>        "note": "The aggregator outage and missing report quorum must overlap. One failed aggregator alone is covered by recovery.",</a:t>
            </a:r>
          </a:p>
          <a:p>
            <a:r>
              <a:rPr lang="en-US"/>
              <a:t>        "refs": [</a:t>
            </a:r>
          </a:p>
          <a:p>
            <a:r>
              <a:rPr lang="en-US"/>
              <a:t>          "T6",</a:t>
            </a:r>
          </a:p>
          <a:p>
            <a:r>
              <a:rPr lang="en-US"/>
              <a:t>          "T12",</a:t>
            </a:r>
          </a:p>
          <a:p>
            <a:r>
              <a:rPr lang="en-US"/>
              <a:t>          "F2"</a:t>
            </a:r>
          </a:p>
          <a:p>
            <a:r>
              <a:rPr lang="en-US"/>
              <a:t>        ],</a:t>
            </a:r>
          </a:p>
          <a:p>
            <a:r>
              <a:rPr lang="en-US"/>
              <a:t>        "assessment": "possible",</a:t>
            </a:r>
          </a:p>
          <a:p>
            <a:r>
              <a:rPr lang="en-US"/>
              <a:t>        "assessment_reason": "AND over (possible, possible); each route retains all actor, credential, timing and context prerequisites. No attack success was observed."</a:t>
            </a:r>
          </a:p>
          <a:p>
            <a:r>
              <a:rPr lang="en-US"/>
              <a:t>      }</a:t>
            </a:r>
          </a:p>
          <a:p>
            <a:r>
              <a:rPr lang="en-US"/>
              <a:t>    ],</a:t>
            </a:r>
          </a:p>
          <a:p>
            <a:r>
              <a:rPr lang="en-US"/>
              <a:t>    "note": "Separates outsider forgery, compromised signing authority, selective network outage with honest recovery, and blocked recovery. Availability disruption is not automatically a failure of quorum safety.",</a:t>
            </a:r>
          </a:p>
          <a:p>
            <a:r>
              <a:rPr lang="en-US"/>
              <a:t>    "refs": [</a:t>
            </a:r>
          </a:p>
          <a:p>
            <a:r>
              <a:rPr lang="en-US"/>
              <a:t>      "T2",</a:t>
            </a:r>
          </a:p>
          <a:p>
            <a:r>
              <a:rPr lang="en-US"/>
              <a:t>      "T6",</a:t>
            </a:r>
          </a:p>
          <a:p>
            <a:r>
              <a:rPr lang="en-US"/>
              <a:t>      "T12",</a:t>
            </a:r>
          </a:p>
          <a:p>
            <a:r>
              <a:rPr lang="en-US"/>
              <a:t>      "T13",</a:t>
            </a:r>
          </a:p>
          <a:p>
            <a:r>
              <a:rPr lang="en-US"/>
              <a:t>      "T14",</a:t>
            </a:r>
          </a:p>
          <a:p>
            <a:r>
              <a:rPr lang="en-US"/>
              <a:t>      "F2"</a:t>
            </a:r>
          </a:p>
          <a:p>
            <a:r>
              <a:rPr lang="en-US"/>
              <a:t>    ],</a:t>
            </a:r>
          </a:p>
          <a:p>
            <a:r>
              <a:rPr lang="en-US"/>
              <a:t>    "assessment": "possible",</a:t>
            </a:r>
          </a:p>
          <a:p>
            <a:r>
              <a:rPr lang="en-US"/>
              <a:t>    "assessment_reason": "OR over (blocked, boundary, possible, possible); each route retains all actor, credential, timing and context prerequisites. No attack success was observed."</a:t>
            </a:r>
          </a:p>
          <a:p>
            <a:r>
              <a:rPr lang="en-US"/>
              <a:t>  },</a:t>
            </a:r>
          </a:p>
          <a:p>
            <a:r>
              <a:rPr lang="en-US"/>
              <a:t>  "takeaway": "Invented valid votes need TEE signing control; blocked traffic can trigger honest timeout votes without stolen keys.",</a:t>
            </a:r>
          </a:p>
          <a:p>
            <a:r>
              <a:rPr lang="en-US"/>
              <a:t>  "source_lines": {</a:t>
            </a:r>
          </a:p>
          <a:p>
            <a:r>
              <a:rPr lang="en-US"/>
              <a:t>    "T6": [</a:t>
            </a:r>
          </a:p>
          <a:p>
            <a:r>
              <a:rPr lang="en-US"/>
              <a:t>      367,</a:t>
            </a:r>
          </a:p>
          <a:p>
            <a:r>
              <a:rPr lang="en-US"/>
              <a:t>      378</a:t>
            </a:r>
          </a:p>
          <a:p>
            <a:r>
              <a:rPr lang="en-US"/>
              <a:t>    ],</a:t>
            </a:r>
          </a:p>
          <a:p>
            <a:r>
              <a:rPr lang="en-US"/>
              <a:t>    "T12": [</a:t>
            </a:r>
          </a:p>
          <a:p>
            <a:r>
              <a:rPr lang="en-US"/>
              <a:t>      491,</a:t>
            </a:r>
          </a:p>
          <a:p>
            <a:r>
              <a:rPr lang="en-US"/>
              <a:t>      500</a:t>
            </a:r>
          </a:p>
          <a:p>
            <a:r>
              <a:rPr lang="en-US"/>
              <a:t>    ],</a:t>
            </a:r>
          </a:p>
          <a:p>
            <a:r>
              <a:rPr lang="en-US"/>
              <a:t>    "T14": [</a:t>
            </a:r>
          </a:p>
          <a:p>
            <a:r>
              <a:rPr lang="en-US"/>
              <a:t>      528,</a:t>
            </a:r>
          </a:p>
          <a:p>
            <a:r>
              <a:rPr lang="en-US"/>
              <a:t>      538</a:t>
            </a:r>
          </a:p>
          <a:p>
            <a:r>
              <a:rPr lang="en-US"/>
              <a:t>    ],</a:t>
            </a:r>
          </a:p>
          <a:p>
            <a:r>
              <a:rPr lang="en-US"/>
              <a:t>    "F2": [</a:t>
            </a:r>
          </a:p>
          <a:p>
            <a:r>
              <a:rPr lang="en-US"/>
              <a:t>      555,</a:t>
            </a:r>
          </a:p>
          <a:p>
            <a:r>
              <a:rPr lang="en-US"/>
              <a:t>      560</a:t>
            </a:r>
          </a:p>
          <a:p>
            <a:r>
              <a:rPr lang="en-US"/>
              <a:t>    ],</a:t>
            </a:r>
          </a:p>
          <a:p>
            <a:r>
              <a:rPr lang="en-US"/>
              <a:t>    "quorum_boundary": [</a:t>
            </a:r>
          </a:p>
          <a:p>
            <a:r>
              <a:rPr lang="en-US"/>
              <a:t>      678,</a:t>
            </a:r>
          </a:p>
          <a:p>
            <a:r>
              <a:rPr lang="en-US"/>
              <a:t>      678</a:t>
            </a:r>
          </a:p>
          <a:p>
            <a:r>
              <a:rPr lang="en-US"/>
              <a:t>    ],</a:t>
            </a:r>
          </a:p>
          <a:p>
            <a:r>
              <a:rPr lang="en-US"/>
              <a:t>    "T2": [</a:t>
            </a:r>
          </a:p>
          <a:p>
            <a:r>
              <a:rPr lang="en-US"/>
              <a:t>      299,</a:t>
            </a:r>
          </a:p>
          <a:p>
            <a:r>
              <a:rPr lang="en-US"/>
              <a:t>      309</a:t>
            </a:r>
          </a:p>
          <a:p>
            <a:r>
              <a:rPr lang="en-US"/>
              <a:t>    ],</a:t>
            </a:r>
          </a:p>
          <a:p>
            <a:r>
              <a:rPr lang="en-US"/>
              <a:t>    "T13": [</a:t>
            </a:r>
          </a:p>
          <a:p>
            <a:r>
              <a:rPr lang="en-US"/>
              <a:t>      508,</a:t>
            </a:r>
          </a:p>
          <a:p>
            <a:r>
              <a:rPr lang="en-US"/>
              <a:t>      520</a:t>
            </a:r>
          </a:p>
          <a:p>
            <a:r>
              <a:rPr lang="en-US"/>
              <a:t>    ],</a:t>
            </a:r>
          </a:p>
          <a:p>
            <a:r>
              <a:rPr lang="en-US"/>
              <a:t>    "AS5": [</a:t>
            </a:r>
          </a:p>
          <a:p>
            <a:r>
              <a:rPr lang="en-US"/>
              <a:t>      225,</a:t>
            </a:r>
          </a:p>
          <a:p>
            <a:r>
              <a:rPr lang="en-US"/>
              <a:t>      228</a:t>
            </a:r>
          </a:p>
          <a:p>
            <a:r>
              <a:rPr lang="en-US"/>
              <a:t>    ]</a:t>
            </a:r>
          </a:p>
          <a:p>
            <a:r>
              <a:rPr lang="en-US"/>
              <a:t>  },</a:t>
            </a:r>
          </a:p>
          <a:p>
            <a:r>
              <a:rPr lang="en-US"/>
              <a:t>  "implementation_context": {</a:t>
            </a:r>
          </a:p>
          <a:p>
            <a:r>
              <a:rPr lang="en-US"/>
              <a:t>    "scope": "Read-only implementation and attacker-capability review. No attack run, cloud-policy check or exhaustive security audit; Chapter 4 and the main deck remain unchanged.",</a:t>
            </a:r>
          </a:p>
          <a:p>
            <a:r>
              <a:rPr lang="en-US"/>
              <a:t>    "sources": [</a:t>
            </a:r>
          </a:p>
          <a:p>
            <a:r>
              <a:rPr lang="en-US"/>
              <a:t>      {</a:t>
            </a:r>
          </a:p>
          <a:p>
            <a:r>
              <a:rPr lang="en-US"/>
              <a:t>        "path": "vita-fl/dfl/node_server/src/action_key.ts",</a:t>
            </a:r>
          </a:p>
          <a:p>
            <a:r>
              <a:rPr lang="en-US"/>
              <a:t>        "lines": [</a:t>
            </a:r>
          </a:p>
          <a:p>
            <a:r>
              <a:rPr lang="en-US"/>
              <a:t>          65,</a:t>
            </a:r>
          </a:p>
          <a:p>
            <a:r>
              <a:rPr lang="en-US"/>
              <a:t>          98,</a:t>
            </a:r>
          </a:p>
          <a:p>
            <a:r>
              <a:rPr lang="en-US"/>
              <a:t>          198,</a:t>
            </a:r>
          </a:p>
          <a:p>
            <a:r>
              <a:rPr lang="en-US"/>
              <a:t>          205</a:t>
            </a:r>
          </a:p>
          <a:p>
            <a:r>
              <a:rPr lang="en-US"/>
              <a:t>        ],</a:t>
            </a:r>
          </a:p>
          <a:p>
            <a:r>
              <a:rPr lang="en-US"/>
              <a:t>        "finding": "Phala dstack-derived current action signer.",</a:t>
            </a:r>
          </a:p>
          <a:p>
            <a:r>
              <a:rPr lang="en-US"/>
              <a:t>        "sha256": "1b9ddf9e0c58f76c1090937c5f521da69eedc5612fe07b980d3b3f19603a6d62"</a:t>
            </a:r>
          </a:p>
          <a:p>
            <a:r>
              <a:rPr lang="en-US"/>
              <a:t>      },</a:t>
            </a:r>
          </a:p>
          <a:p>
            <a:r>
              <a:rPr lang="en-US"/>
              <a:t>      {</a:t>
            </a:r>
          </a:p>
          <a:p>
            <a:r>
              <a:rPr lang="en-US"/>
              <a:t>        "path": "vita-fl/dfl/node_server/src/bc_client.ts",</a:t>
            </a:r>
          </a:p>
          <a:p>
            <a:r>
              <a:rPr lang="en-US"/>
              <a:t>        "lines": [</a:t>
            </a:r>
          </a:p>
          <a:p>
            <a:r>
              <a:rPr lang="en-US"/>
              <a:t>          877,</a:t>
            </a:r>
          </a:p>
          <a:p>
            <a:r>
              <a:rPr lang="en-US"/>
              <a:t>          907</a:t>
            </a:r>
          </a:p>
          <a:p>
            <a:r>
              <a:rPr lang="en-US"/>
              <a:t>        ],</a:t>
            </a:r>
          </a:p>
          <a:p>
            <a:r>
              <a:rPr lang="en-US"/>
              <a:t>        "finding": "Report transaction uses the action signer.",</a:t>
            </a:r>
          </a:p>
          <a:p>
            <a:r>
              <a:rPr lang="en-US"/>
              <a:t>        "sha256": "fda5f1b6a89bfa97e94ae048ca5b8ae04ec31efa6212e8d65777d54123ef2e0b"</a:t>
            </a:r>
          </a:p>
          <a:p>
            <a:r>
              <a:rPr lang="en-US"/>
              <a:t>      },</a:t>
            </a:r>
          </a:p>
          <a:p>
            <a:r>
              <a:rPr lang="en-US"/>
              <a:t>      {</a:t>
            </a:r>
          </a:p>
          <a:p>
            <a:r>
              <a:rPr lang="en-US"/>
              <a:t>        "path": "vita-fl/smart_contracts/src/core/DeviceRegistry.sol",</a:t>
            </a:r>
          </a:p>
          <a:p>
            <a:r>
              <a:rPr lang="en-US"/>
              <a:t>        "lines": [</a:t>
            </a:r>
          </a:p>
          <a:p>
            <a:r>
              <a:rPr lang="en-US"/>
              <a:t>          248,</a:t>
            </a:r>
          </a:p>
          <a:p>
            <a:r>
              <a:rPr lang="en-US"/>
              <a:t>          255</a:t>
            </a:r>
          </a:p>
          <a:p>
            <a:r>
              <a:rPr lang="en-US"/>
              <a:t>        ],</a:t>
            </a:r>
          </a:p>
          <a:p>
            <a:r>
              <a:rPr lang="en-US"/>
              <a:t>        "finding": "Only current registered action address resolves to reporter identity.",</a:t>
            </a:r>
          </a:p>
          <a:p>
            <a:r>
              <a:rPr lang="en-US"/>
              <a:t>        "sha256": "f00f9f5268d1f0f55158b71d334dc50542a1ac7704818460634f988d87ef7f4b"</a:t>
            </a:r>
          </a:p>
          <a:p>
            <a:r>
              <a:rPr lang="en-US"/>
              <a:t>      },</a:t>
            </a:r>
          </a:p>
          <a:p>
            <a:r>
              <a:rPr lang="en-US"/>
              <a:t>      {</a:t>
            </a:r>
          </a:p>
          <a:p>
            <a:r>
              <a:rPr lang="en-US"/>
              <a:t>        "path": "vita-fl/smart_contracts/src/core/AggregatorSelection.sol",</a:t>
            </a:r>
          </a:p>
          <a:p>
            <a:r>
              <a:rPr lang="en-US"/>
              <a:t>        "lines": [</a:t>
            </a:r>
          </a:p>
          <a:p>
            <a:r>
              <a:rPr lang="en-US"/>
              <a:t>          195,</a:t>
            </a:r>
          </a:p>
          <a:p>
            <a:r>
              <a:rPr lang="en-US"/>
              <a:t>          277,</a:t>
            </a:r>
          </a:p>
          <a:p>
            <a:r>
              <a:rPr lang="en-US"/>
              <a:t>          280,</a:t>
            </a:r>
          </a:p>
          <a:p>
            <a:r>
              <a:rPr lang="en-US"/>
              <a:t>          313</a:t>
            </a:r>
          </a:p>
          <a:p>
            <a:r>
              <a:rPr lang="en-US"/>
              <a:t>        ],</a:t>
            </a:r>
          </a:p>
          <a:p>
            <a:r>
              <a:rPr lang="en-US"/>
              <a:t>        "finding": "Reportability, context, authority, snapshot/quorum and replacement guards.",</a:t>
            </a:r>
          </a:p>
          <a:p>
            <a:r>
              <a:rPr lang="en-US"/>
              <a:t>        "sha256": "9d2fc0b94f4a7efb5f1364d75b7415630f28ef4b250e61051ff5f9da32ea5755"</a:t>
            </a:r>
          </a:p>
          <a:p>
            <a:r>
              <a:rPr lang="en-US"/>
              <a:t>      },</a:t>
            </a:r>
          </a:p>
          <a:p>
            <a:r>
              <a:rPr lang="en-US"/>
              <a:t>      {</a:t>
            </a:r>
          </a:p>
          <a:p>
            <a:r>
              <a:rPr lang="en-US"/>
              <a:t>        "path": "vita-fl/dfl/node_server/src/server.ts",</a:t>
            </a:r>
          </a:p>
          <a:p>
            <a:r>
              <a:rPr lang="en-US"/>
              <a:t>        "lines": [</a:t>
            </a:r>
          </a:p>
          <a:p>
            <a:r>
              <a:rPr lang="en-US"/>
              <a:t>          110,</a:t>
            </a:r>
          </a:p>
          <a:p>
            <a:r>
              <a:rPr lang="en-US"/>
              <a:t>          174,</a:t>
            </a:r>
          </a:p>
          <a:p>
            <a:r>
              <a:rPr lang="en-US"/>
              <a:t>          2037,</a:t>
            </a:r>
          </a:p>
          <a:p>
            <a:r>
              <a:rPr lang="en-US"/>
              <a:t>          2044,</a:t>
            </a:r>
          </a:p>
          <a:p>
            <a:r>
              <a:rPr lang="en-US"/>
              <a:t>          2208,</a:t>
            </a:r>
          </a:p>
          <a:p>
            <a:r>
              <a:rPr lang="en-US"/>
              <a:t>          2240</a:t>
            </a:r>
          </a:p>
          <a:p>
            <a:r>
              <a:rPr lang="en-US"/>
              <a:t>        ],</a:t>
            </a:r>
          </a:p>
          <a:p>
            <a:r>
              <a:rPr lang="en-US"/>
              <a:t>        "finding": "Honest miss tracking, empty-set recovery, failed uploads and reporting.",</a:t>
            </a:r>
          </a:p>
          <a:p>
            <a:r>
              <a:rPr lang="en-US"/>
              <a:t>        "sha256": "b7248ae1f0e5f374bee10cc023b4af78b32ab8dbdf1e3d22c704e4decb7ce9a5"</a:t>
            </a:r>
          </a:p>
          <a:p>
            <a:r>
              <a:rPr lang="en-US"/>
              <a:t>      },</a:t>
            </a:r>
          </a:p>
          <a:p>
            <a:r>
              <a:rPr lang="en-US"/>
              <a:t>      {</a:t>
            </a:r>
          </a:p>
          <a:p>
            <a:r>
              <a:rPr lang="en-US"/>
              <a:t>        "path": "vita-fl/dfl/node_server/src/state_timing.ts",</a:t>
            </a:r>
          </a:p>
          <a:p>
            <a:r>
              <a:rPr lang="en-US"/>
              <a:t>        "lines": [</a:t>
            </a:r>
          </a:p>
          <a:p>
            <a:r>
              <a:rPr lang="en-US"/>
              <a:t>          88,</a:t>
            </a:r>
          </a:p>
          <a:p>
            <a:r>
              <a:rPr lang="en-US"/>
              <a:t>          111,</a:t>
            </a:r>
          </a:p>
          <a:p>
            <a:r>
              <a:rPr lang="en-US"/>
              <a:t>          149,</a:t>
            </a:r>
          </a:p>
          <a:p>
            <a:r>
              <a:rPr lang="en-US"/>
              <a:t>          155</a:t>
            </a:r>
          </a:p>
          <a:p>
            <a:r>
              <a:rPr lang="en-US"/>
              <a:t>        ],</a:t>
            </a:r>
          </a:p>
          <a:p>
            <a:r>
              <a:rPr lang="en-US"/>
              <a:t>        "finding": "Cannot close empty set; defer honest report during window/aggregation allowance.",</a:t>
            </a:r>
          </a:p>
          <a:p>
            <a:r>
              <a:rPr lang="en-US"/>
              <a:t>        "sha256": "e537c423ea03613e761be268807af496ab89b1958610710449118288752e414d"</a:t>
            </a:r>
          </a:p>
          <a:p>
            <a:r>
              <a:rPr lang="en-US"/>
              <a:t>      },</a:t>
            </a:r>
          </a:p>
          <a:p>
            <a:r>
              <a:rPr lang="en-US"/>
              <a:t>      {</a:t>
            </a:r>
          </a:p>
          <a:p>
            <a:r>
              <a:rPr lang="en-US"/>
              <a:t>        "path": "vita-fl/smart_contracts/src/core/GMStorage.sol",</a:t>
            </a:r>
          </a:p>
          <a:p>
            <a:r>
              <a:rPr lang="en-US"/>
              <a:t>        "lines": [</a:t>
            </a:r>
          </a:p>
          <a:p>
            <a:r>
              <a:rPr lang="en-US"/>
              <a:t>          453,</a:t>
            </a:r>
          </a:p>
          <a:p>
            <a:r>
              <a:rPr lang="en-US"/>
              <a:t>          489</a:t>
            </a:r>
          </a:p>
          <a:p>
            <a:r>
              <a:rPr lang="en-US"/>
              <a:t>        ],</a:t>
            </a:r>
          </a:p>
          <a:p>
            <a:r>
              <a:rPr lang="en-US"/>
              <a:t>        "finding": "Bootstrap exception and aborted-round transition.",</a:t>
            </a:r>
          </a:p>
          <a:p>
            <a:r>
              <a:rPr lang="en-US"/>
              <a:t>        "sha256": "84deba98bda6b74e6b03b0b917f09638f9de7b0d21114eedbd1efef366924003"</a:t>
            </a:r>
          </a:p>
          <a:p>
            <a:r>
              <a:rPr lang="en-US"/>
              <a:t>      }</a:t>
            </a:r>
          </a:p>
          <a:p>
            <a:r>
              <a:rPr lang="en-US"/>
              <a:t>    ],</a:t>
            </a:r>
          </a:p>
          <a:p>
            <a:r>
              <a:rPr lang="en-US"/>
              <a:t>    "limits": [</a:t>
            </a:r>
          </a:p>
          <a:p>
            <a:r>
              <a:rPr lang="en-US"/>
              <a:t>      "No forged vote, network partition or quorum attack was executed.",</a:t>
            </a:r>
          </a:p>
          <a:p>
            <a:r>
              <a:rPr lang="en-US"/>
              <a:t>      "Red partition route is an availability effect with honest recovery; it is not evidence of unjustified eviction under healthy connectivity.",</a:t>
            </a:r>
          </a:p>
          <a:p>
            <a:r>
              <a:rPr lang="en-US"/>
              <a:t>      "Threshold is configuration-dependent; 3/5 is the current default example for six authorized participants."</a:t>
            </a:r>
          </a:p>
          <a:p>
            <a:r>
              <a:rPr lang="en-US"/>
              <a:t>    ]</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These six diagrams map selected Chapter 4 threats to the reviewed VITA-FL implementation. OR means alternative sufficient routes; AND means jointly necessary conditions, not message order. Colors apply at every depth: green is a shown attack blocked by the intact reviewed checks under stated assumptions; yellow explicitly requires a protected-execution, key-custody or trusted-service boundary; red is an availability effect achievable with the named external capability; white is a prerequisite. A green goal names a hypothetical attacker success, not a successful exploit. No implicit signing authority is granted to a participant, deployer or intermediary. Logical enrollment identities, TEE Ethereum action keys, TEE RSA artifact keys, medical-signer keys, AIR/Sello keys and log keys are distinct. Each leaf records attacker_capability and required_credentials. Replaying recorded evidence or withholding traffic needs no private key; minting new valid statements requires the corresponding signer or control of its execution. Host control does not imply guest control. Legitimate timeout recovery during a network partition is not a forged vote or a protocol-safety failure. Prepared-model freshness is scoped to model preparation; technical verified-tool success is not arbitrary LLM text. The trees cover selected routes, not every residual risk or an exhaustive audit. Source notes distinguish implementation findings from Chapter 4; neither the chapter nor main deck was changed. No attacks, new security tests or live deployment checks were performed.</a:t>
            </a:r>
          </a:p>
          <a:p/>
          <a:p>
            <a:r>
              <a:rPr lang="en-US"/>
              <a:t>TREE-SPECIFIC MODEL</a:t>
            </a:r>
          </a:p>
          <a:p>
            <a:r>
              <a:rPr lang="en-US"/>
              <a:t>{</a:t>
            </a:r>
          </a:p>
          <a:p>
            <a:r>
              <a:rPr lang="en-US"/>
              <a:t>  "slug": "04-inference",</a:t>
            </a:r>
          </a:p>
          <a:p>
            <a:r>
              <a:rPr lang="en-US"/>
              <a:t>  "name_de": "4 · Falsche Inferenz als verifiziert ausgeben",</a:t>
            </a:r>
          </a:p>
          <a:p>
            <a:r>
              <a:rPr lang="en-US"/>
              <a:t>  "title": "Attack tree: verify an invalid inference result",</a:t>
            </a:r>
          </a:p>
          <a:p>
            <a:r>
              <a:rPr lang="en-US"/>
              <a:t>  "threats": [</a:t>
            </a:r>
          </a:p>
          <a:p>
            <a:r>
              <a:rPr lang="en-US"/>
              <a:t>    "T2",</a:t>
            </a:r>
          </a:p>
          <a:p>
            <a:r>
              <a:rPr lang="en-US"/>
              <a:t>    "T4",</a:t>
            </a:r>
          </a:p>
          <a:p>
            <a:r>
              <a:rPr lang="en-US"/>
              <a:t>    "T8",</a:t>
            </a:r>
          </a:p>
          <a:p>
            <a:r>
              <a:rPr lang="en-US"/>
              <a:t>    "T9"</a:t>
            </a:r>
          </a:p>
          <a:p>
            <a:r>
              <a:rPr lang="en-US"/>
              <a:t>  ],</a:t>
            </a:r>
          </a:p>
          <a:p>
            <a:r>
              <a:rPr lang="en-US"/>
              <a:t>  "domains": [</a:t>
            </a:r>
          </a:p>
          <a:p>
            <a:r>
              <a:rPr lang="en-US"/>
              <a:t>    "Agent"</a:t>
            </a:r>
          </a:p>
          <a:p>
            <a:r>
              <a:rPr lang="en-US"/>
              <a:t>  ],</a:t>
            </a:r>
          </a:p>
          <a:p>
            <a:r>
              <a:rPr lang="en-US"/>
              <a:t>  "root": {</a:t>
            </a:r>
          </a:p>
          <a:p>
            <a:r>
              <a:rPr lang="en-US"/>
              <a:t>    "label": "Verify an invalid inference result",</a:t>
            </a:r>
          </a:p>
          <a:p>
            <a:r>
              <a:rPr lang="en-US"/>
              <a:t>    "op": "OR",</a:t>
            </a:r>
          </a:p>
          <a:p>
            <a:r>
              <a:rPr lang="en-US"/>
              <a:t>    "children": [</a:t>
            </a:r>
          </a:p>
          <a:p>
            <a:r>
              <a:rPr lang="en-US"/>
              <a:t>      {</a:t>
            </a:r>
          </a:p>
          <a:p>
            <a:r>
              <a:rPr lang="en-US"/>
              <a:t>        "label": "Use the wrong model bundle",</a:t>
            </a:r>
          </a:p>
          <a:p>
            <a:r>
              <a:rPr lang="en-US"/>
              <a:t>        "op": "AND",</a:t>
            </a:r>
          </a:p>
          <a:p>
            <a:r>
              <a:rPr lang="en-US"/>
              <a:t>        "children": [</a:t>
            </a:r>
          </a:p>
          <a:p>
            <a:r>
              <a:rPr lang="en-US"/>
              <a:t>          {</a:t>
            </a:r>
          </a:p>
          <a:p>
            <a:r>
              <a:rPr lang="en-US"/>
              <a:t>            "label": "Return an old model with its genuine publisher signature",</a:t>
            </a:r>
          </a:p>
          <a:p>
            <a:r>
              <a:rPr lang="en-US"/>
              <a:t>            "refs": [</a:t>
            </a:r>
          </a:p>
          <a:p>
            <a:r>
              <a:rPr lang="en-US"/>
              <a:t>              "T4"</a:t>
            </a:r>
          </a:p>
          <a:p>
            <a:r>
              <a:rPr lang="en-US"/>
              <a:t>            ],</a:t>
            </a:r>
          </a:p>
          <a:p>
            <a:r>
              <a:rPr lang="en-US"/>
              <a:t>            "note": "Use a legitimately signed older model as in the concrete Chapter 4 storage example; signature authenticity alone can hold.",</a:t>
            </a:r>
          </a:p>
          <a:p>
            <a:r>
              <a:rPr lang="en-US"/>
              <a:t>            "kind": "condition",</a:t>
            </a:r>
          </a:p>
          <a:p>
            <a:r>
              <a:rPr lang="en-US"/>
              <a:t>            "short_label": "Replay an old signed model",</a:t>
            </a:r>
          </a:p>
          <a:p>
            <a:r>
              <a:rPr lang="en-US"/>
              <a:t>            "assessment": "neutral",</a:t>
            </a:r>
          </a:p>
          <a:p>
            <a:r>
              <a:rPr lang="en-US"/>
              <a:t>            "assessment_reason": "Action or prerequisite shown without an independent security verdict. Its effect depends on the remaining AND/OR conditions.",</a:t>
            </a:r>
          </a:p>
          <a:p>
            <a:r>
              <a:rPr lang="en-US"/>
              <a:t>            "attacker_capability": "Return a captured older signed storage object.",</a:t>
            </a:r>
          </a:p>
          <a:p>
            <a:r>
              <a:rPr lang="en-US"/>
              <a:t>            "required_credentials": "No signing key to replay an existing valid object."</a:t>
            </a:r>
          </a:p>
          <a:p>
            <a:r>
              <a:rPr lang="en-US"/>
              <a:t>          },</a:t>
            </a:r>
          </a:p>
          <a:p>
            <a:r>
              <a:rPr lang="en-US"/>
              <a:t>          {</a:t>
            </a:r>
          </a:p>
          <a:p>
            <a:r>
              <a:rPr lang="en-US"/>
              <a:t>            "label": "Verify inference from a bundle that disagrees with the publication selected at model preparation",</a:t>
            </a:r>
          </a:p>
          <a:p>
            <a:r>
              <a:rPr lang="en-US"/>
              <a:t>            "refs": [</a:t>
            </a:r>
          </a:p>
          <a:p>
            <a:r>
              <a:rPr lang="en-US"/>
              <a:t>              "F5",</a:t>
            </a:r>
          </a:p>
          <a:p>
            <a:r>
              <a:rPr lang="en-US"/>
              <a:t>              "F6",</a:t>
            </a:r>
          </a:p>
          <a:p>
            <a:r>
              <a:rPr lang="en-US"/>
              <a:t>              "F11"</a:t>
            </a:r>
          </a:p>
          <a:p>
            <a:r>
              <a:rPr lang="en-US"/>
              <a:t>            ],</a:t>
            </a:r>
          </a:p>
          <a:p>
            <a:r>
              <a:rPr lang="en-US"/>
              <a:t>            "note": "Model preparation independently resolves the authoritative bundle and verifies its authorized signature and round. Jobs are bound to that prepared model. This does not claim that every subsequent inference re-fetches the globally newest publication. The downstream verification must also incorrectly accept a different binding for this attack to succeed.",</a:t>
            </a:r>
          </a:p>
          <a:p>
            <a:r>
              <a:rPr lang="en-US"/>
              <a:t>            "kind": "check_failure",</a:t>
            </a:r>
          </a:p>
          <a:p>
            <a:r>
              <a:rPr lang="en-US"/>
              <a:t>            "short_label": "Pass selected-bundle checks",</a:t>
            </a:r>
          </a:p>
          <a:p>
            <a:r>
              <a:rPr lang="en-US"/>
              <a:t>            "assessment": "blocked",</a:t>
            </a:r>
          </a:p>
          <a:p>
            <a:r>
              <a:rPr lang="en-US"/>
              <a:t>            "assessment_reason": "The displayed acceptance failure is prevented by the specified Chapter 4 checks when those checks and the stated trust premises hold. Green is a model-based protection claim, not proof that an implementation is universally secure.",</a:t>
            </a:r>
          </a:p>
          <a:p>
            <a:r>
              <a:rPr lang="en-US"/>
              <a:t>            "attacker_capability": "Attempt acceptance contrary to the prepared authoritative model tuple.",</a:t>
            </a:r>
          </a:p>
          <a:p>
            <a:r>
              <a:rPr lang="en-US"/>
              <a:t>            "required_credentials": "Cannot mint matching model/AIR/Sello evidence; intact tuple/binding checks block this path."</a:t>
            </a:r>
          </a:p>
          <a:p>
            <a:r>
              <a:rPr lang="en-US"/>
              <a:t>          }</a:t>
            </a:r>
          </a:p>
          <a:p>
            <a:r>
              <a:rPr lang="en-US"/>
              <a:t>        ],</a:t>
            </a:r>
          </a:p>
          <a:p>
            <a:r>
              <a:rPr lang="en-US"/>
              <a:t>        "refs": [</a:t>
            </a:r>
          </a:p>
          <a:p>
            <a:r>
              <a:rPr lang="en-US"/>
              <a:t>          "T4",</a:t>
            </a:r>
          </a:p>
          <a:p>
            <a:r>
              <a:rPr lang="en-US"/>
              <a:t>          "F5",</a:t>
            </a:r>
          </a:p>
          <a:p>
            <a:r>
              <a:rPr lang="en-US"/>
              <a:t>          "F11"</a:t>
            </a:r>
          </a:p>
          <a:p>
            <a:r>
              <a:rPr lang="en-US"/>
              <a:t>        ],</a:t>
            </a:r>
          </a:p>
          <a:p>
            <a:r>
              <a:rPr lang="en-US"/>
              <a:t>        "note": "Replayed storage bytes do not require key theft. Success still requires the intact preparation and verification path to accept the wrong model binding; green is scoped to that selected model, not perpetual latest-version freshness.",</a:t>
            </a:r>
          </a:p>
          <a:p>
            <a:r>
              <a:rPr lang="en-US"/>
              <a:t>        "assessment": "blocked",</a:t>
            </a:r>
          </a:p>
          <a:p>
            <a:r>
              <a:rPr lang="en-US"/>
              <a:t>        "assessment_reason": "AND over (neutral, blocked); each route retains all actor, credential, timing and context prerequisites. No attack success was observed."</a:t>
            </a:r>
          </a:p>
          <a:p>
            <a:r>
              <a:rPr lang="en-US"/>
              <a:t>      },</a:t>
            </a:r>
          </a:p>
          <a:p>
            <a:r>
              <a:rPr lang="en-US"/>
              <a:t>      {</a:t>
            </a:r>
          </a:p>
          <a:p>
            <a:r>
              <a:rPr lang="en-US"/>
              <a:t>        "label": "Mix valid but unrelated evidence",</a:t>
            </a:r>
          </a:p>
          <a:p>
            <a:r>
              <a:rPr lang="en-US"/>
              <a:t>        "op": "AND",</a:t>
            </a:r>
          </a:p>
          <a:p>
            <a:r>
              <a:rPr lang="en-US"/>
              <a:t>        "children": [</a:t>
            </a:r>
          </a:p>
          <a:p>
            <a:r>
              <a:rPr lang="en-US"/>
              <a:t>          {</a:t>
            </a:r>
          </a:p>
          <a:p>
            <a:r>
              <a:rPr lang="en-US"/>
              <a:t>            "label": "Introduce a foreign context",</a:t>
            </a:r>
          </a:p>
          <a:p>
            <a:r>
              <a:rPr lang="en-US"/>
              <a:t>            "op": "OR",</a:t>
            </a:r>
          </a:p>
          <a:p>
            <a:r>
              <a:rPr lang="en-US"/>
              <a:t>            "children": [</a:t>
            </a:r>
          </a:p>
          <a:p>
            <a:r>
              <a:rPr lang="en-US"/>
              <a:t>              {</a:t>
            </a:r>
          </a:p>
          <a:p>
            <a:r>
              <a:rPr lang="en-US"/>
              <a:t>                "label": "Substitute output for another model / image job",</a:t>
            </a:r>
          </a:p>
          <a:p>
            <a:r>
              <a:rPr lang="en-US"/>
              <a:t>                "refs": [</a:t>
            </a:r>
          </a:p>
          <a:p>
            <a:r>
              <a:rPr lang="en-US"/>
              <a:t>                  "T8"</a:t>
            </a:r>
          </a:p>
          <a:p>
            <a:r>
              <a:rPr lang="en-US"/>
              <a:t>                ],</a:t>
            </a:r>
          </a:p>
          <a:p>
            <a:r>
              <a:rPr lang="en-US"/>
              <a:t>                "note": "The response does not belong to the receiver-issued image job and model selected for this call.",</a:t>
            </a:r>
          </a:p>
          <a:p>
            <a:r>
              <a:rPr lang="en-US"/>
              <a:t>                "kind": "condition",</a:t>
            </a:r>
          </a:p>
          <a:p>
            <a:r>
              <a:rPr lang="en-US"/>
              <a:t>                "short_label": "Swap output / job evidence",</a:t>
            </a:r>
          </a:p>
          <a:p>
            <a:r>
              <a:rPr lang="en-US"/>
              <a:t>                "assessment": "neutral",</a:t>
            </a:r>
          </a:p>
          <a:p>
            <a:r>
              <a:rPr lang="en-US"/>
              <a:t>                "assessment_reason": "Action or prerequisite shown without an independent security verdict. Its effect depends on the remaining AND/OR conditions.",</a:t>
            </a:r>
          </a:p>
          <a:p>
            <a:r>
              <a:rPr lang="en-US"/>
              <a:t>                "attacker_capability": "Replace bytes or reuse captured output from a different job.",</a:t>
            </a:r>
          </a:p>
          <a:p>
            <a:r>
              <a:rPr lang="en-US"/>
              <a:t>                "required_credentials": "No key to attempt substitution; no fresh valid receipt is assumed."</a:t>
            </a:r>
          </a:p>
          <a:p>
            <a:r>
              <a:rPr lang="en-US"/>
              <a:t>              },</a:t>
            </a:r>
          </a:p>
          <a:p>
            <a:r>
              <a:rPr lang="en-US"/>
              <a:t>              {</a:t>
            </a:r>
          </a:p>
          <a:p>
            <a:r>
              <a:rPr lang="en-US"/>
              <a:t>                "label": "Replay a request or receipt from another session",</a:t>
            </a:r>
          </a:p>
          <a:p>
            <a:r>
              <a:rPr lang="en-US"/>
              <a:t>                "refs": [</a:t>
            </a:r>
          </a:p>
          <a:p>
            <a:r>
              <a:rPr lang="en-US"/>
              <a:t>                  "T2",</a:t>
            </a:r>
          </a:p>
          <a:p>
            <a:r>
              <a:rPr lang="en-US"/>
              <a:t>                  "T8"</a:t>
            </a:r>
          </a:p>
          <a:p>
            <a:r>
              <a:rPr lang="en-US"/>
              <a:t>                ],</a:t>
            </a:r>
          </a:p>
          <a:p>
            <a:r>
              <a:rPr lang="en-US"/>
              <a:t>                "note": "The signature can remain valid, but the model, receiver run, session or request context differs. Same-context replay within the issue-time window is a separate residual boundary.",</a:t>
            </a:r>
          </a:p>
          <a:p>
            <a:r>
              <a:rPr lang="en-US"/>
              <a:t>                "kind": "condition",</a:t>
            </a:r>
          </a:p>
          <a:p>
            <a:r>
              <a:rPr lang="en-US"/>
              <a:t>                "short_label": "Replay across sessions",</a:t>
            </a:r>
          </a:p>
          <a:p>
            <a:r>
              <a:rPr lang="en-US"/>
              <a:t>                "assessment": "neutral",</a:t>
            </a:r>
          </a:p>
          <a:p>
            <a:r>
              <a:rPr lang="en-US"/>
              <a:t>                "assessment_reason": "Action or prerequisite shown without an independent security verdict. Its effect depends on the remaining AND/OR conditions.",</a:t>
            </a:r>
          </a:p>
          <a:p>
            <a:r>
              <a:rPr lang="en-US"/>
              <a:t>                "attacker_capability": "Replay available evidence from another request/session.",</a:t>
            </a:r>
          </a:p>
          <a:p>
            <a:r>
              <a:rPr lang="en-US"/>
              <a:t>                "required_credentials": "No signing key to copy a previously valid receipt."</a:t>
            </a:r>
          </a:p>
          <a:p>
            <a:r>
              <a:rPr lang="en-US"/>
              <a:t>              }</a:t>
            </a:r>
          </a:p>
          <a:p>
            <a:r>
              <a:rPr lang="en-US"/>
              <a:t>            ],</a:t>
            </a:r>
          </a:p>
          <a:p>
            <a:r>
              <a:rPr lang="en-US"/>
              <a:t>            "refs": [</a:t>
            </a:r>
          </a:p>
          <a:p>
            <a:r>
              <a:rPr lang="en-US"/>
              <a:t>              "T2",</a:t>
            </a:r>
          </a:p>
          <a:p>
            <a:r>
              <a:rPr lang="en-US"/>
              <a:t>              "T8"</a:t>
            </a:r>
          </a:p>
          <a:p>
            <a:r>
              <a:rPr lang="en-US"/>
              <a:t>            ],</a:t>
            </a:r>
          </a:p>
          <a:p>
            <a:r>
              <a:rPr lang="en-US"/>
              <a:t>            "note": "These are alternative ways to create incompatible evidence objects.",</a:t>
            </a:r>
          </a:p>
          <a:p>
            <a:r>
              <a:rPr lang="en-US"/>
              <a:t>            "assessment": "neutral",</a:t>
            </a:r>
          </a:p>
          <a:p>
            <a:r>
              <a:rPr lang="en-US"/>
              <a:t>            "assessment_reason": "OR over (neutral, neutral); each route retains all actor, credential, timing and context prerequisites. No attack success was observed."</a:t>
            </a:r>
          </a:p>
          <a:p>
            <a:r>
              <a:rPr lang="en-US"/>
              <a:t>          },</a:t>
            </a:r>
          </a:p>
          <a:p>
            <a:r>
              <a:rPr lang="en-US"/>
              <a:t>          {</a:t>
            </a:r>
          </a:p>
          <a:p>
            <a:r>
              <a:rPr lang="en-US"/>
              <a:t>            "label": "Verifier accepts conflicting manifest / digests / job bindings",</a:t>
            </a:r>
          </a:p>
          <a:p>
            <a:r>
              <a:rPr lang="en-US"/>
              <a:t>            "refs": [</a:t>
            </a:r>
          </a:p>
          <a:p>
            <a:r>
              <a:rPr lang="en-US"/>
              <a:t>              "F6",</a:t>
            </a:r>
          </a:p>
          <a:p>
            <a:r>
              <a:rPr lang="en-US"/>
              <a:t>              "F11"</a:t>
            </a:r>
          </a:p>
          <a:p>
            <a:r>
              <a:rPr lang="en-US"/>
              <a:t>            ],</a:t>
            </a:r>
          </a:p>
          <a:p>
            <a:r>
              <a:rPr lang="en-US"/>
              <a:t>            "note": "AIR verification binds signature, nonce, manifest/request/response digests, quote and RA-TLS session; Sello additionally binds the exact service/action/job-call input and response to the admitted receiver. A valid object in a different context is rejected.",</a:t>
            </a:r>
          </a:p>
          <a:p>
            <a:r>
              <a:rPr lang="en-US"/>
              <a:t>            "kind": "check_failure",</a:t>
            </a:r>
          </a:p>
          <a:p>
            <a:r>
              <a:rPr lang="en-US"/>
              <a:t>            "short_label": "Pass digest / session checks",</a:t>
            </a:r>
          </a:p>
          <a:p>
            <a:r>
              <a:rPr lang="en-US"/>
              <a:t>            "assessment": "blocked",</a:t>
            </a:r>
          </a:p>
          <a:p>
            <a:r>
              <a:rPr lang="en-US"/>
              <a:t>            "assessment_reason": "The displayed acceptance failure is prevented by the specified Chapter 4 checks when those checks and the stated trust premises hold. Green is a model-based protection claim, not proof that an implementation is universally secure.",</a:t>
            </a:r>
          </a:p>
          <a:p>
            <a:r>
              <a:rPr lang="en-US"/>
              <a:t>            "attacker_capability": "Attempt acceptance of conflicting signed evidence.",</a:t>
            </a:r>
          </a:p>
          <a:p>
            <a:r>
              <a:rPr lang="en-US"/>
              <a:t>            "required_credentials": "Fresh matching AIR/Sello signing authority is absent; intact checks reject the shown substitution."</a:t>
            </a:r>
          </a:p>
          <a:p>
            <a:r>
              <a:rPr lang="en-US"/>
              <a:t>          }</a:t>
            </a:r>
          </a:p>
          <a:p>
            <a:r>
              <a:rPr lang="en-US"/>
              <a:t>        ],</a:t>
            </a:r>
          </a:p>
          <a:p>
            <a:r>
              <a:rPr lang="en-US"/>
              <a:t>        "refs": [</a:t>
            </a:r>
          </a:p>
          <a:p>
            <a:r>
              <a:rPr lang="en-US"/>
              <a:t>          "T2",</a:t>
            </a:r>
          </a:p>
          <a:p>
            <a:r>
              <a:rPr lang="en-US"/>
              <a:t>          "T8",</a:t>
            </a:r>
          </a:p>
          <a:p>
            <a:r>
              <a:rPr lang="en-US"/>
              <a:t>          "F6",</a:t>
            </a:r>
          </a:p>
          <a:p>
            <a:r>
              <a:rPr lang="en-US"/>
              <a:t>          "F11"</a:t>
            </a:r>
          </a:p>
          <a:p>
            <a:r>
              <a:rPr lang="en-US"/>
              <a:t>        ],</a:t>
            </a:r>
          </a:p>
          <a:p>
            <a:r>
              <a:rPr lang="en-US"/>
              <a:t>        "note": "Incompatible evidence must receive an accepting verification decision. Merely swapping an object is insufficient.",</a:t>
            </a:r>
          </a:p>
          <a:p>
            <a:r>
              <a:rPr lang="en-US"/>
              <a:t>        "assessment": "blocked",</a:t>
            </a:r>
          </a:p>
          <a:p>
            <a:r>
              <a:rPr lang="en-US"/>
              <a:t>        "assessment_reason": "AND over (neutral, blocked); each route retains all actor, credential, timing and context prerequisites. No attack success was observed."</a:t>
            </a:r>
          </a:p>
          <a:p>
            <a:r>
              <a:rPr lang="en-US"/>
              <a:t>      },</a:t>
            </a:r>
          </a:p>
          <a:p>
            <a:r>
              <a:rPr lang="en-US"/>
              <a:t>      {</a:t>
            </a:r>
          </a:p>
          <a:p>
            <a:r>
              <a:rPr lang="en-US"/>
              <a:t>        "label": "Fake verified tool success",</a:t>
            </a:r>
          </a:p>
          <a:p>
            <a:r>
              <a:rPr lang="en-US"/>
              <a:t>        "op": "AND",</a:t>
            </a:r>
          </a:p>
          <a:p>
            <a:r>
              <a:rPr lang="en-US"/>
              <a:t>        "children": [</a:t>
            </a:r>
          </a:p>
          <a:p>
            <a:r>
              <a:rPr lang="en-US"/>
              <a:t>          {</a:t>
            </a:r>
          </a:p>
          <a:p>
            <a:r>
              <a:rPr lang="en-US"/>
              <a:t>            "label": "Use prompt instructions to ask the agent to skip evidence verification",</a:t>
            </a:r>
          </a:p>
          <a:p>
            <a:r>
              <a:rPr lang="en-US"/>
              <a:t>            "short_label": "Inject misleading instructions",</a:t>
            </a:r>
          </a:p>
          <a:p>
            <a:r>
              <a:rPr lang="en-US"/>
              <a:t>            "assessment": "neutral",</a:t>
            </a:r>
          </a:p>
          <a:p>
            <a:r>
              <a:rPr lang="en-US"/>
              <a:t>            "assessment_reason": "A capability or necessary condition only; the other AND conditions still have to hold.",</a:t>
            </a:r>
          </a:p>
          <a:p>
            <a:r>
              <a:rPr lang="en-US"/>
              <a:t>            "note": "Prompt content can influence orchestration, but the tools are registered locally in code. It does not grant tool-registration control, receipt-signing keys or authority to change deterministic verification.",</a:t>
            </a:r>
          </a:p>
          <a:p>
            <a:r>
              <a:rPr lang="en-US"/>
              <a:t>            "refs": [</a:t>
            </a:r>
          </a:p>
          <a:p>
            <a:r>
              <a:rPr lang="en-US"/>
              <a:t>              "T9",</a:t>
            </a:r>
          </a:p>
          <a:p>
            <a:r>
              <a:rPr lang="en-US"/>
              <a:t>              "F8"</a:t>
            </a:r>
          </a:p>
          <a:p>
            <a:r>
              <a:rPr lang="en-US"/>
              <a:t>            ],</a:t>
            </a:r>
          </a:p>
          <a:p>
            <a:r>
              <a:rPr lang="en-US"/>
              <a:t>            "attacker_capability": "Control attacker-supplied prompt content.",</a:t>
            </a:r>
          </a:p>
          <a:p>
            <a:r>
              <a:rPr lang="en-US"/>
              <a:t>            "required_credentials": "No private keys or control over local tool definitions."</a:t>
            </a:r>
          </a:p>
          <a:p>
            <a:r>
              <a:rPr lang="en-US"/>
              <a:t>          },</a:t>
            </a:r>
          </a:p>
          <a:p>
            <a:r>
              <a:rPr lang="en-US"/>
              <a:t>          {</a:t>
            </a:r>
          </a:p>
          <a:p>
            <a:r>
              <a:rPr lang="en-US"/>
              <a:t>            "label": "Have the intact tool return verified success despite missing or invalid checks",</a:t>
            </a:r>
          </a:p>
          <a:p>
            <a:r>
              <a:rPr lang="en-US"/>
              <a:t>            "short_label": "Return verified success anyway",</a:t>
            </a:r>
          </a:p>
          <a:p>
            <a:r>
              <a:rPr lang="en-US"/>
              <a:t>            "assessment": "blocked",</a:t>
            </a:r>
          </a:p>
          <a:p>
            <a:r>
              <a:rPr lang="en-US"/>
              <a:t>            "assessment_reason": "The intact reviewed implementation rejects this success condition under its stated trust assumptions. This is not a demonstrated bypass.",</a:t>
            </a:r>
          </a:p>
          <a:p>
            <a:r>
              <a:rPr lang="en-US"/>
              <a:t>            "note": "The technical verified-and-transparency-logged stage is set only after verification and domain publication. This does not cover arbitrary final LLM prose: its hallucination filter is heuristic and no universal truthful-chat guarantee is claimed.",</a:t>
            </a:r>
          </a:p>
          <a:p>
            <a:r>
              <a:rPr lang="en-US"/>
              <a:t>            "refs": [</a:t>
            </a:r>
          </a:p>
          <a:p>
            <a:r>
              <a:rPr lang="en-US"/>
              <a:t>              "T9",</a:t>
            </a:r>
          </a:p>
          <a:p>
            <a:r>
              <a:rPr lang="en-US"/>
              <a:t>              "F8",</a:t>
            </a:r>
          </a:p>
          <a:p>
            <a:r>
              <a:rPr lang="en-US"/>
              <a:t>              "NF3"</a:t>
            </a:r>
          </a:p>
          <a:p>
            <a:r>
              <a:rPr lang="en-US"/>
              <a:t>            ],</a:t>
            </a:r>
          </a:p>
          <a:p>
            <a:r>
              <a:rPr lang="en-US"/>
              <a:t>            "attacker_capability": "Attempt to bypass intact technical tool acceptance using prompt content.",</a:t>
            </a:r>
          </a:p>
          <a:p>
            <a:r>
              <a:rPr lang="en-US"/>
              <a:t>            "required_credentials": "Prompt instructions supply neither the required AIR/Sello evidence nor control of the verifier code."</a:t>
            </a:r>
          </a:p>
          <a:p>
            <a:r>
              <a:rPr lang="en-US"/>
              <a:t>          }</a:t>
            </a:r>
          </a:p>
          <a:p>
            <a:r>
              <a:rPr lang="en-US"/>
              <a:t>        ],</a:t>
            </a:r>
          </a:p>
          <a:p>
            <a:r>
              <a:rPr lang="en-US"/>
              <a:t>        "note": "No tool-metadata or tool-identity mutation is assumed from prompt access. Code compromise is a separate stronger actor outside this shown prompt-only route.",</a:t>
            </a:r>
          </a:p>
          <a:p>
            <a:r>
              <a:rPr lang="en-US"/>
              <a:t>        "refs": [</a:t>
            </a:r>
          </a:p>
          <a:p>
            <a:r>
              <a:rPr lang="en-US"/>
              <a:t>          "T9",</a:t>
            </a:r>
          </a:p>
          <a:p>
            <a:r>
              <a:rPr lang="en-US"/>
              <a:t>          "F8",</a:t>
            </a:r>
          </a:p>
          <a:p>
            <a:r>
              <a:rPr lang="en-US"/>
              <a:t>          "NF3"</a:t>
            </a:r>
          </a:p>
          <a:p>
            <a:r>
              <a:rPr lang="en-US"/>
              <a:t>        ],</a:t>
            </a:r>
          </a:p>
          <a:p>
            <a:r>
              <a:rPr lang="en-US"/>
              <a:t>        "assessment": "blocked",</a:t>
            </a:r>
          </a:p>
          <a:p>
            <a:r>
              <a:rPr lang="en-US"/>
              <a:t>        "assessment_reason": "AND over (neutral, blocked); each route retains all actor, credential, timing and context prerequisites. No attack success was observed."</a:t>
            </a:r>
          </a:p>
          <a:p>
            <a:r>
              <a:rPr lang="en-US"/>
              <a:t>      }</a:t>
            </a:r>
          </a:p>
          <a:p>
            <a:r>
              <a:rPr lang="en-US"/>
              <a:t>    ],</a:t>
            </a:r>
          </a:p>
          <a:p>
            <a:r>
              <a:rPr lang="en-US"/>
              <a:t>    "refs": [</a:t>
            </a:r>
          </a:p>
          <a:p>
            <a:r>
              <a:rPr lang="en-US"/>
              <a:t>      "T2",</a:t>
            </a:r>
          </a:p>
          <a:p>
            <a:r>
              <a:rPr lang="en-US"/>
              <a:t>      "T4",</a:t>
            </a:r>
          </a:p>
          <a:p>
            <a:r>
              <a:rPr lang="en-US"/>
              <a:t>      "T8",</a:t>
            </a:r>
          </a:p>
          <a:p>
            <a:r>
              <a:rPr lang="en-US"/>
              <a:t>      "T9"</a:t>
            </a:r>
          </a:p>
          <a:p>
            <a:r>
              <a:rPr lang="en-US"/>
              <a:t>    ],</a:t>
            </a:r>
          </a:p>
          <a:p>
            <a:r>
              <a:rPr lang="en-US"/>
              <a:t>    "note": "Scope is deterministic verified-tool acceptance by intact client/receiver implementations. Arbitrary LLM chat claims are not covered; their heuristic filter is not a security proof. An attacker does not gain AIR/Sello keys or local tool-registration control through prompt text.",</a:t>
            </a:r>
          </a:p>
          <a:p>
            <a:r>
              <a:rPr lang="en-US"/>
              <a:t>    "assessment": "blocked",</a:t>
            </a:r>
          </a:p>
          <a:p>
            <a:r>
              <a:rPr lang="en-US"/>
              <a:t>    "assessment_reason": "OR over (blocked, blocked, blocked); each route retains all actor, credential, timing and context prerequisites. No attack success was observed."</a:t>
            </a:r>
          </a:p>
          <a:p>
            <a:r>
              <a:rPr lang="en-US"/>
              <a:t>  },</a:t>
            </a:r>
          </a:p>
          <a:p>
            <a:r>
              <a:rPr lang="en-US"/>
              <a:t>  "takeaway": "Verified tool status requires bound evidence; arbitrary LLM wording is outside this guarantee.",</a:t>
            </a:r>
          </a:p>
          <a:p>
            <a:r>
              <a:rPr lang="en-US"/>
              <a:t>  "source_lines": {</a:t>
            </a:r>
          </a:p>
          <a:p>
            <a:r>
              <a:rPr lang="en-US"/>
              <a:t>    "T2": [</a:t>
            </a:r>
          </a:p>
          <a:p>
            <a:r>
              <a:rPr lang="en-US"/>
              <a:t>      299,</a:t>
            </a:r>
          </a:p>
          <a:p>
            <a:r>
              <a:rPr lang="en-US"/>
              <a:t>      309</a:t>
            </a:r>
          </a:p>
          <a:p>
            <a:r>
              <a:rPr lang="en-US"/>
              <a:t>    ],</a:t>
            </a:r>
          </a:p>
          <a:p>
            <a:r>
              <a:rPr lang="en-US"/>
              <a:t>    "T4": [</a:t>
            </a:r>
          </a:p>
          <a:p>
            <a:r>
              <a:rPr lang="en-US"/>
              <a:t>      334,</a:t>
            </a:r>
          </a:p>
          <a:p>
            <a:r>
              <a:rPr lang="en-US"/>
              <a:t>      342</a:t>
            </a:r>
          </a:p>
          <a:p>
            <a:r>
              <a:rPr lang="en-US"/>
              <a:t>    ],</a:t>
            </a:r>
          </a:p>
          <a:p>
            <a:r>
              <a:rPr lang="en-US"/>
              <a:t>    "T8": [</a:t>
            </a:r>
          </a:p>
          <a:p>
            <a:r>
              <a:rPr lang="en-US"/>
              <a:t>      413,</a:t>
            </a:r>
          </a:p>
          <a:p>
            <a:r>
              <a:rPr lang="en-US"/>
              <a:t>      426</a:t>
            </a:r>
          </a:p>
          <a:p>
            <a:r>
              <a:rPr lang="en-US"/>
              <a:t>    ],</a:t>
            </a:r>
          </a:p>
          <a:p>
            <a:r>
              <a:rPr lang="en-US"/>
              <a:t>    "T9": [</a:t>
            </a:r>
          </a:p>
          <a:p>
            <a:r>
              <a:rPr lang="en-US"/>
              <a:t>      432,</a:t>
            </a:r>
          </a:p>
          <a:p>
            <a:r>
              <a:rPr lang="en-US"/>
              <a:t>      441</a:t>
            </a:r>
          </a:p>
          <a:p>
            <a:r>
              <a:rPr lang="en-US"/>
              <a:t>    ],</a:t>
            </a:r>
          </a:p>
          <a:p>
            <a:r>
              <a:rPr lang="en-US"/>
              <a:t>    "F5/F6": [</a:t>
            </a:r>
          </a:p>
          <a:p>
            <a:r>
              <a:rPr lang="en-US"/>
              <a:t>      579,</a:t>
            </a:r>
          </a:p>
          <a:p>
            <a:r>
              <a:rPr lang="en-US"/>
              <a:t>      590</a:t>
            </a:r>
          </a:p>
          <a:p>
            <a:r>
              <a:rPr lang="en-US"/>
              <a:t>    ],</a:t>
            </a:r>
          </a:p>
          <a:p>
            <a:r>
              <a:rPr lang="en-US"/>
              <a:t>    "F8": [</a:t>
            </a:r>
          </a:p>
          <a:p>
            <a:r>
              <a:rPr lang="en-US"/>
              <a:t>      598,</a:t>
            </a:r>
          </a:p>
          <a:p>
            <a:r>
              <a:rPr lang="en-US"/>
              <a:t>      602</a:t>
            </a:r>
          </a:p>
          <a:p>
            <a:r>
              <a:rPr lang="en-US"/>
              <a:t>    ],</a:t>
            </a:r>
          </a:p>
          <a:p>
            <a:r>
              <a:rPr lang="en-US"/>
              <a:t>    "F11": [</a:t>
            </a:r>
          </a:p>
          <a:p>
            <a:r>
              <a:rPr lang="en-US"/>
              <a:t>      619,</a:t>
            </a:r>
          </a:p>
          <a:p>
            <a:r>
              <a:rPr lang="en-US"/>
              <a:t>      624</a:t>
            </a:r>
          </a:p>
          <a:p>
            <a:r>
              <a:rPr lang="en-US"/>
              <a:t>    ]</a:t>
            </a:r>
          </a:p>
          <a:p>
            <a:r>
              <a:rPr lang="en-US"/>
              <a:t>  },</a:t>
            </a:r>
          </a:p>
          <a:p>
            <a:r>
              <a:rPr lang="en-US"/>
              <a:t>  "implementation_context": {</a:t>
            </a:r>
          </a:p>
          <a:p>
            <a:r>
              <a:rPr lang="en-US"/>
              <a:t>    "scope": "Read-only implementation and attacker-capability review. No attack run, cloud-policy check or exhaustive security audit; Chapter 4 and the main deck remain unchanged.",</a:t>
            </a:r>
          </a:p>
          <a:p>
            <a:r>
              <a:rPr lang="en-US"/>
              <a:t>    "sources": [</a:t>
            </a:r>
          </a:p>
          <a:p>
            <a:r>
              <a:rPr lang="en-US"/>
              <a:t>      {</a:t>
            </a:r>
          </a:p>
          <a:p>
            <a:r>
              <a:rPr lang="en-US"/>
              <a:t>        "path": "vita-fl/tee_inference/service/model_source.py",</a:t>
            </a:r>
          </a:p>
          <a:p>
            <a:r>
              <a:rPr lang="en-US"/>
              <a:t>        "lines": [</a:t>
            </a:r>
          </a:p>
          <a:p>
            <a:r>
              <a:rPr lang="en-US"/>
              <a:t>          218,</a:t>
            </a:r>
          </a:p>
          <a:p>
            <a:r>
              <a:rPr lang="en-US"/>
              <a:t>          241</a:t>
            </a:r>
          </a:p>
          <a:p>
            <a:r>
              <a:rPr lang="en-US"/>
              <a:t>        ],</a:t>
            </a:r>
          </a:p>
          <a:p>
            <a:r>
              <a:rPr lang="en-US"/>
              <a:t>        "finding": "Resolve and verify authoritative model bundle at preparation.",</a:t>
            </a:r>
          </a:p>
          <a:p>
            <a:r>
              <a:rPr lang="en-US"/>
              <a:t>        "sha256": "b119df10f732074c41698e5f7dbb0e60b6d6d102da8abc2ea1e24d9bbc9605c4"</a:t>
            </a:r>
          </a:p>
          <a:p>
            <a:r>
              <a:rPr lang="en-US"/>
              <a:t>      },</a:t>
            </a:r>
          </a:p>
          <a:p>
            <a:r>
              <a:rPr lang="en-US"/>
              <a:t>      {</a:t>
            </a:r>
          </a:p>
          <a:p>
            <a:r>
              <a:rPr lang="en-US"/>
              <a:t>        "path": "vita-fl/tee_inference/service/app.py",</a:t>
            </a:r>
          </a:p>
          <a:p>
            <a:r>
              <a:rPr lang="en-US"/>
              <a:t>        "lines": [</a:t>
            </a:r>
          </a:p>
          <a:p>
            <a:r>
              <a:rPr lang="en-US"/>
              <a:t>          329,</a:t>
            </a:r>
          </a:p>
          <a:p>
            <a:r>
              <a:rPr lang="en-US"/>
              <a:t>          360</a:t>
            </a:r>
          </a:p>
          <a:p>
            <a:r>
              <a:rPr lang="en-US"/>
              <a:t>        ],</a:t>
            </a:r>
          </a:p>
          <a:p>
            <a:r>
              <a:rPr lang="en-US"/>
              <a:t>        "finding": "Inference job uses prepared model context.",</a:t>
            </a:r>
          </a:p>
          <a:p>
            <a:r>
              <a:rPr lang="en-US"/>
              <a:t>        "sha256": "b3c84a4ef9dc909edbb9049d5858067153598e19a5a7c13dcbc3ae91291f093d"</a:t>
            </a:r>
          </a:p>
          <a:p>
            <a:r>
              <a:rPr lang="en-US"/>
              <a:t>      },</a:t>
            </a:r>
          </a:p>
          <a:p>
            <a:r>
              <a:rPr lang="en-US"/>
              <a:t>      {</a:t>
            </a:r>
          </a:p>
          <a:p>
            <a:r>
              <a:rPr lang="en-US"/>
              <a:t>        "path": "vita-fl/agent/tee_inference_client.py",</a:t>
            </a:r>
          </a:p>
          <a:p>
            <a:r>
              <a:rPr lang="en-US"/>
              <a:t>        "lines": [</a:t>
            </a:r>
          </a:p>
          <a:p>
            <a:r>
              <a:rPr lang="en-US"/>
              <a:t>          245,</a:t>
            </a:r>
          </a:p>
          <a:p>
            <a:r>
              <a:rPr lang="en-US"/>
              <a:t>          269,</a:t>
            </a:r>
          </a:p>
          <a:p>
            <a:r>
              <a:rPr lang="en-US"/>
              <a:t>          521,</a:t>
            </a:r>
          </a:p>
          <a:p>
            <a:r>
              <a:rPr lang="en-US"/>
              <a:t>          618,</a:t>
            </a:r>
          </a:p>
          <a:p>
            <a:r>
              <a:rPr lang="en-US"/>
              <a:t>          704,</a:t>
            </a:r>
          </a:p>
          <a:p>
            <a:r>
              <a:rPr lang="en-US"/>
              <a:t>          755</a:t>
            </a:r>
          </a:p>
          <a:p>
            <a:r>
              <a:rPr lang="en-US"/>
              <a:t>        ],</a:t>
            </a:r>
          </a:p>
          <a:p>
            <a:r>
              <a:rPr lang="en-US"/>
              <a:t>        "finding": "Exact job input; AIR/nonce/digests/session verification; domain publication before verified stage.",</a:t>
            </a:r>
          </a:p>
          <a:p>
            <a:r>
              <a:rPr lang="en-US"/>
              <a:t>        "sha256": "4f1b0cd4b0f3e9443400bb574589c9f6fa47302e2a4bd774d5a45ea9a65b6b0d"</a:t>
            </a:r>
          </a:p>
          <a:p>
            <a:r>
              <a:rPr lang="en-US"/>
              <a:t>      },</a:t>
            </a:r>
          </a:p>
          <a:p>
            <a:r>
              <a:rPr lang="en-US"/>
              <a:t>      {</a:t>
            </a:r>
          </a:p>
          <a:p>
            <a:r>
              <a:rPr lang="en-US"/>
              <a:t>        "path": "vita-fl/agent/sello_client.py",</a:t>
            </a:r>
          </a:p>
          <a:p>
            <a:r>
              <a:rPr lang="en-US"/>
              <a:t>        "lines": [</a:t>
            </a:r>
          </a:p>
          <a:p>
            <a:r>
              <a:rPr lang="en-US"/>
              <a:t>          182,</a:t>
            </a:r>
          </a:p>
          <a:p>
            <a:r>
              <a:rPr lang="en-US"/>
              <a:t>          199</a:t>
            </a:r>
          </a:p>
          <a:p>
            <a:r>
              <a:rPr lang="en-US"/>
              <a:t>        ],</a:t>
            </a:r>
          </a:p>
          <a:p>
            <a:r>
              <a:rPr lang="en-US"/>
              <a:t>        "finding": "Sello service/action/input/output/session binding.",</a:t>
            </a:r>
          </a:p>
          <a:p>
            <a:r>
              <a:rPr lang="en-US"/>
              <a:t>        "sha256": "9a35d6ba08c3aa43e44c05a57c5ced271484e32fac1580c2715b3c92d009db67"</a:t>
            </a:r>
          </a:p>
          <a:p>
            <a:r>
              <a:rPr lang="en-US"/>
              <a:t>      },</a:t>
            </a:r>
          </a:p>
          <a:p>
            <a:r>
              <a:rPr lang="en-US"/>
              <a:t>      {</a:t>
            </a:r>
          </a:p>
          <a:p>
            <a:r>
              <a:rPr lang="en-US"/>
              <a:t>        "path": "vita-fl/agent/run_agent.py",</a:t>
            </a:r>
          </a:p>
          <a:p>
            <a:r>
              <a:rPr lang="en-US"/>
              <a:t>        "lines": [</a:t>
            </a:r>
          </a:p>
          <a:p>
            <a:r>
              <a:rPr lang="en-US"/>
              <a:t>          329,</a:t>
            </a:r>
          </a:p>
          <a:p>
            <a:r>
              <a:rPr lang="en-US"/>
              <a:t>          365,</a:t>
            </a:r>
          </a:p>
          <a:p>
            <a:r>
              <a:rPr lang="en-US"/>
              <a:t>          728,</a:t>
            </a:r>
          </a:p>
          <a:p>
            <a:r>
              <a:rPr lang="en-US"/>
              <a:t>          737,</a:t>
            </a:r>
          </a:p>
          <a:p>
            <a:r>
              <a:rPr lang="en-US"/>
              <a:t>          1058</a:t>
            </a:r>
          </a:p>
          <a:p>
            <a:r>
              <a:rPr lang="en-US"/>
              <a:t>        ],</a:t>
            </a:r>
          </a:p>
          <a:p>
            <a:r>
              <a:rPr lang="en-US"/>
              <a:t>        "finding": "Local tool definitions; heuristic final-text check distinct from technical success.",</a:t>
            </a:r>
          </a:p>
          <a:p>
            <a:r>
              <a:rPr lang="en-US"/>
              <a:t>        "sha256": "6afbfeffdedd638f0f364f96db09915510e3270aef4ac3559c7ba6f810a7780d"</a:t>
            </a:r>
          </a:p>
          <a:p>
            <a:r>
              <a:rPr lang="en-US"/>
              <a:t>      }</a:t>
            </a:r>
          </a:p>
          <a:p>
            <a:r>
              <a:rPr lang="en-US"/>
              <a:t>    ],</a:t>
            </a:r>
          </a:p>
          <a:p>
            <a:r>
              <a:rPr lang="en-US"/>
              <a:t>    "limits": [</a:t>
            </a:r>
          </a:p>
          <a:p>
            <a:r>
              <a:rPr lang="en-US"/>
              <a:t>      "Green is limited to intact technical verification; not unrestricted chat text or compromised client code.",</a:t>
            </a:r>
          </a:p>
          <a:p>
            <a:r>
              <a:rPr lang="en-US"/>
              <a:t>      "Current publication means selected at model preparation; per-call absolute latest-model freshness is not asserted."</a:t>
            </a:r>
          </a:p>
          <a:p>
            <a:r>
              <a:rPr lang="en-US"/>
              <a:t>    ]</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These six diagrams map selected Chapter 4 threats to the reviewed VITA-FL implementation. OR means alternative sufficient routes; AND means jointly necessary conditions, not message order. Colors apply at every depth: green is a shown attack blocked by the intact reviewed checks under stated assumptions; yellow explicitly requires a protected-execution, key-custody or trusted-service boundary; red is an availability effect achievable with the named external capability; white is a prerequisite. A green goal names a hypothetical attacker success, not a successful exploit. No implicit signing authority is granted to a participant, deployer or intermediary. Logical enrollment identities, TEE Ethereum action keys, TEE RSA artifact keys, medical-signer keys, AIR/Sello keys and log keys are distinct. Each leaf records attacker_capability and required_credentials. Replaying recorded evidence or withholding traffic needs no private key; minting new valid statements requires the corresponding signer or control of its execution. Host control does not imply guest control. Legitimate timeout recovery during a network partition is not a forged vote or a protocol-safety failure. Prepared-model freshness is scoped to model preparation; technical verified-tool success is not arbitrary LLM text. The trees cover selected routes, not every residual risk or an exhaustive audit. Source notes distinguish implementation findings from Chapter 4; neither the chapter nor main deck was changed. No attacks, new security tests or live deployment checks were performed.</a:t>
            </a:r>
          </a:p>
          <a:p/>
          <a:p>
            <a:r>
              <a:rPr lang="en-US"/>
              <a:t>TREE-SPECIFIC MODEL</a:t>
            </a:r>
          </a:p>
          <a:p>
            <a:r>
              <a:rPr lang="en-US"/>
              <a:t>{</a:t>
            </a:r>
          </a:p>
          <a:p>
            <a:r>
              <a:rPr lang="en-US"/>
              <a:t>  "slug": "05-audit",</a:t>
            </a:r>
          </a:p>
          <a:p>
            <a:r>
              <a:rPr lang="en-US"/>
              <a:t>  "name_de": "5 · Receipts und Transparency Log",</a:t>
            </a:r>
          </a:p>
          <a:p>
            <a:r>
              <a:rPr lang="en-US"/>
              <a:t>  "title": "Attack tree: evidence and interaction suppression",</a:t>
            </a:r>
          </a:p>
          <a:p>
            <a:r>
              <a:rPr lang="en-US"/>
              <a:t>  "threats": [</a:t>
            </a:r>
          </a:p>
          <a:p>
            <a:r>
              <a:rPr lang="en-US"/>
              <a:t>    "T10",</a:t>
            </a:r>
          </a:p>
          <a:p>
            <a:r>
              <a:rPr lang="en-US"/>
              <a:t>    "T11"</a:t>
            </a:r>
          </a:p>
          <a:p>
            <a:r>
              <a:rPr lang="en-US"/>
              <a:t>  ],</a:t>
            </a:r>
          </a:p>
          <a:p>
            <a:r>
              <a:rPr lang="en-US"/>
              <a:t>  "domains": [</a:t>
            </a:r>
          </a:p>
          <a:p>
            <a:r>
              <a:rPr lang="en-US"/>
              <a:t>    "Agent"</a:t>
            </a:r>
          </a:p>
          <a:p>
            <a:r>
              <a:rPr lang="en-US"/>
              <a:t>  ],</a:t>
            </a:r>
          </a:p>
          <a:p>
            <a:r>
              <a:rPr lang="en-US"/>
              <a:t>  "root": {</a:t>
            </a:r>
          </a:p>
          <a:p>
            <a:r>
              <a:rPr lang="en-US"/>
              <a:t>    "label": "Undermine evidence or suppress interaction",</a:t>
            </a:r>
          </a:p>
          <a:p>
            <a:r>
              <a:rPr lang="en-US"/>
              <a:t>    "op": "OR",</a:t>
            </a:r>
          </a:p>
          <a:p>
            <a:r>
              <a:rPr lang="en-US"/>
              <a:t>    "children": [</a:t>
            </a:r>
          </a:p>
          <a:p>
            <a:r>
              <a:rPr lang="en-US"/>
              <a:t>      {</a:t>
            </a:r>
          </a:p>
          <a:p>
            <a:r>
              <a:rPr lang="en-US"/>
              <a:t>        "label": "Claim complete evidence despite missing records",</a:t>
            </a:r>
          </a:p>
          <a:p>
            <a:r>
              <a:rPr lang="en-US"/>
              <a:t>        "op": "AND",</a:t>
            </a:r>
          </a:p>
          <a:p>
            <a:r>
              <a:rPr lang="en-US"/>
              <a:t>        "children": [</a:t>
            </a:r>
          </a:p>
          <a:p>
            <a:r>
              <a:rPr lang="en-US"/>
              <a:t>          {</a:t>
            </a:r>
          </a:p>
          <a:p>
            <a:r>
              <a:rPr lang="en-US"/>
              <a:t>            "label": "Leave a required record absent",</a:t>
            </a:r>
          </a:p>
          <a:p>
            <a:r>
              <a:rPr lang="en-US"/>
              <a:t>            "op": "OR",</a:t>
            </a:r>
          </a:p>
          <a:p>
            <a:r>
              <a:rPr lang="en-US"/>
              <a:t>            "children": [</a:t>
            </a:r>
          </a:p>
          <a:p>
            <a:r>
              <a:rPr lang="en-US"/>
              <a:t>              {</a:t>
            </a:r>
          </a:p>
          <a:p>
            <a:r>
              <a:rPr lang="en-US"/>
              <a:t>                "label": "Receiver Sello receipt is not accepted by the log",</a:t>
            </a:r>
          </a:p>
          <a:p>
            <a:r>
              <a:rPr lang="en-US"/>
              <a:t>                "refs": [</a:t>
            </a:r>
          </a:p>
          <a:p>
            <a:r>
              <a:rPr lang="en-US"/>
              <a:t>                  "T10",</a:t>
            </a:r>
          </a:p>
          <a:p>
            <a:r>
              <a:rPr lang="en-US"/>
              <a:t>                  "F10"</a:t>
            </a:r>
          </a:p>
          <a:p>
            <a:r>
              <a:rPr lang="en-US"/>
              <a:t>                ],</a:t>
            </a:r>
          </a:p>
          <a:p>
            <a:r>
              <a:rPr lang="en-US"/>
              <a:t>                "note": "The receipt committing to canonical receiver-call input/output is absent from the owner-authorized log, or lacks its required verified statement.",</a:t>
            </a:r>
          </a:p>
          <a:p>
            <a:r>
              <a:rPr lang="en-US"/>
              <a:t>                "kind": "condition",</a:t>
            </a:r>
          </a:p>
          <a:p>
            <a:r>
              <a:rPr lang="en-US"/>
              <a:t>                "short_label": "Block Sello publication",</a:t>
            </a:r>
          </a:p>
          <a:p>
            <a:r>
              <a:rPr lang="en-US"/>
              <a:t>                "assessment": "neutral",</a:t>
            </a:r>
          </a:p>
          <a:p>
            <a:r>
              <a:rPr lang="en-US"/>
              <a:t>                "assessment_reason": "Action or prerequisite shown without an independent security verdict. Its effect depends on the remaining AND/OR conditions.",</a:t>
            </a:r>
          </a:p>
          <a:p>
            <a:r>
              <a:rPr lang="en-US"/>
              <a:t>                "attacker_capability": "Refuse/drop receipt publication requests or responses.",</a:t>
            </a:r>
          </a:p>
          <a:p>
            <a:r>
              <a:rPr lang="en-US"/>
              <a:t>                "required_credentials": "No signer key to deny log/network availability."</a:t>
            </a:r>
          </a:p>
          <a:p>
            <a:r>
              <a:rPr lang="en-US"/>
              <a:t>              },</a:t>
            </a:r>
          </a:p>
          <a:p>
            <a:r>
              <a:rPr lang="en-US"/>
              <a:t>              {</a:t>
            </a:r>
          </a:p>
          <a:p>
            <a:r>
              <a:rPr lang="en-US"/>
              <a:t>                "label": "Verified inference domain bundle is not published",</a:t>
            </a:r>
          </a:p>
          <a:p>
            <a:r>
              <a:rPr lang="en-US"/>
              <a:t>                "refs": [</a:t>
            </a:r>
          </a:p>
          <a:p>
            <a:r>
              <a:rPr lang="en-US"/>
              <a:t>                  "T10",</a:t>
            </a:r>
          </a:p>
          <a:p>
            <a:r>
              <a:rPr lang="en-US"/>
              <a:t>                  "F10"</a:t>
            </a:r>
          </a:p>
          <a:p>
            <a:r>
              <a:rPr lang="en-US"/>
              <a:t>                ],</a:t>
            </a:r>
          </a:p>
          <a:p>
            <a:r>
              <a:rPr lang="en-US"/>
              <a:t>                "note": "The separate domain bundle contains numeric inference request/response, manifest and execution evidence. A Sello receipt alone does not replace it.",</a:t>
            </a:r>
          </a:p>
          <a:p>
            <a:r>
              <a:rPr lang="en-US"/>
              <a:t>                "kind": "condition",</a:t>
            </a:r>
          </a:p>
          <a:p>
            <a:r>
              <a:rPr lang="en-US"/>
              <a:t>                "short_label": "Block inference publication",</a:t>
            </a:r>
          </a:p>
          <a:p>
            <a:r>
              <a:rPr lang="en-US"/>
              <a:t>                "assessment": "neutral",</a:t>
            </a:r>
          </a:p>
          <a:p>
            <a:r>
              <a:rPr lang="en-US"/>
              <a:t>                "assessment_reason": "Action or prerequisite shown without an independent security verdict. Its effect depends on the remaining AND/OR conditions.",</a:t>
            </a:r>
          </a:p>
          <a:p>
            <a:r>
              <a:rPr lang="en-US"/>
              <a:t>                "attacker_capability": "Refuse/drop domain-evidence publication.",</a:t>
            </a:r>
          </a:p>
          <a:p>
            <a:r>
              <a:rPr lang="en-US"/>
              <a:t>                "required_credentials": "No key to prevent delivery; cannot fabricate replacement evidence."</a:t>
            </a:r>
          </a:p>
          <a:p>
            <a:r>
              <a:rPr lang="en-US"/>
              <a:t>              }</a:t>
            </a:r>
          </a:p>
          <a:p>
            <a:r>
              <a:rPr lang="en-US"/>
              <a:t>            ],</a:t>
            </a:r>
          </a:p>
          <a:p>
            <a:r>
              <a:rPr lang="en-US"/>
              <a:t>            "refs": [</a:t>
            </a:r>
          </a:p>
          <a:p>
            <a:r>
              <a:rPr lang="en-US"/>
              <a:t>              "T10",</a:t>
            </a:r>
          </a:p>
          <a:p>
            <a:r>
              <a:rPr lang="en-US"/>
              <a:t>              "F10"</a:t>
            </a:r>
          </a:p>
          <a:p>
            <a:r>
              <a:rPr lang="en-US"/>
              <a:t>            ],</a:t>
            </a:r>
          </a:p>
          <a:p>
            <a:r>
              <a:rPr lang="en-US"/>
              <a:t>            "note": "The two records serve different claims and have different publication stages. Either missing required record defeats evidence completeness.",</a:t>
            </a:r>
          </a:p>
          <a:p>
            <a:r>
              <a:rPr lang="en-US"/>
              <a:t>            "assessment": "neutral",</a:t>
            </a:r>
          </a:p>
          <a:p>
            <a:r>
              <a:rPr lang="en-US"/>
              <a:t>            "assessment_reason": "OR over (neutral, neutral); each route retains all actor, credential, timing and context prerequisites. No attack success was observed."</a:t>
            </a:r>
          </a:p>
          <a:p>
            <a:r>
              <a:rPr lang="en-US"/>
              <a:t>          },</a:t>
            </a:r>
          </a:p>
          <a:p>
            <a:r>
              <a:rPr lang="en-US"/>
              <a:t>          {</a:t>
            </a:r>
          </a:p>
          <a:p>
            <a:r>
              <a:rPr lang="en-US"/>
              <a:t>            "label": "Workflow still marks the corresponding claim successful",</a:t>
            </a:r>
          </a:p>
          <a:p>
            <a:r>
              <a:rPr lang="en-US"/>
              <a:t>            "refs": [</a:t>
            </a:r>
          </a:p>
          <a:p>
            <a:r>
              <a:rPr lang="en-US"/>
              <a:t>              "F10",</a:t>
            </a:r>
          </a:p>
          <a:p>
            <a:r>
              <a:rPr lang="en-US"/>
              <a:t>              "NF3"</a:t>
            </a:r>
          </a:p>
          <a:p>
            <a:r>
              <a:rPr lang="en-US"/>
              <a:t>            ],</a:t>
            </a:r>
          </a:p>
          <a:p>
            <a:r>
              <a:rPr lang="en-US"/>
              <a:t>            "note": "Receiver returns failure when required Sello publication fails; client verifies the receipt and exact logged bytes; inference domain publication precedes the technical verified stage. A visible failure is availability loss, not a successful false completeness claim. Arbitrary chat prose is outside this scope.",</a:t>
            </a:r>
          </a:p>
          <a:p>
            <a:r>
              <a:rPr lang="en-US"/>
              <a:t>            "kind": "check_failure",</a:t>
            </a:r>
          </a:p>
          <a:p>
            <a:r>
              <a:rPr lang="en-US"/>
              <a:t>            "short_label": "Still return verified success",</a:t>
            </a:r>
          </a:p>
          <a:p>
            <a:r>
              <a:rPr lang="en-US"/>
              <a:t>            "assessment": "blocked",</a:t>
            </a:r>
          </a:p>
          <a:p>
            <a:r>
              <a:rPr lang="en-US"/>
              <a:t>            "assessment_reason": "The displayed acceptance failure is prevented by the specified Chapter 4 checks when those checks and the stated trust premises hold. Green is a model-based protection claim, not proof that an implementation is universally secure.",</a:t>
            </a:r>
          </a:p>
          <a:p>
            <a:r>
              <a:rPr lang="en-US"/>
              <a:t>            "attacker_capability": "Attempt false technical completeness despite the missing record.",</a:t>
            </a:r>
          </a:p>
          <a:p>
            <a:r>
              <a:rPr lang="en-US"/>
              <a:t>            "required_credentials": "No required valid publication/verification evidence; intact path fails closed."</a:t>
            </a:r>
          </a:p>
          <a:p>
            <a:r>
              <a:rPr lang="en-US"/>
              <a:t>          }</a:t>
            </a:r>
          </a:p>
          <a:p>
            <a:r>
              <a:rPr lang="en-US"/>
              <a:t>        ],</a:t>
            </a:r>
          </a:p>
          <a:p>
            <a:r>
              <a:rPr lang="en-US"/>
              <a:t>        "refs": [</a:t>
            </a:r>
          </a:p>
          <a:p>
            <a:r>
              <a:rPr lang="en-US"/>
              <a:t>          "T10",</a:t>
            </a:r>
          </a:p>
          <a:p>
            <a:r>
              <a:rPr lang="en-US"/>
              <a:t>          "F10",</a:t>
            </a:r>
          </a:p>
          <a:p>
            <a:r>
              <a:rPr lang="en-US"/>
              <a:t>          "NF3"</a:t>
            </a:r>
          </a:p>
          <a:p>
            <a:r>
              <a:rPr lang="en-US"/>
              <a:t>        ],</a:t>
            </a:r>
          </a:p>
          <a:p>
            <a:r>
              <a:rPr lang="en-US"/>
              <a:t>        "note": "Absence plus a false successful claim is required. The normal prototype is specified to fail closed.",</a:t>
            </a:r>
          </a:p>
          <a:p>
            <a:r>
              <a:rPr lang="en-US"/>
              <a:t>        "assessment": "blocked",</a:t>
            </a:r>
          </a:p>
          <a:p>
            <a:r>
              <a:rPr lang="en-US"/>
              <a:t>        "assessment_reason": "AND over (neutral, blocked); each route retains all actor, credential, timing and context prerequisites. No attack success was observed."</a:t>
            </a:r>
          </a:p>
          <a:p>
            <a:r>
              <a:rPr lang="en-US"/>
              <a:t>      },</a:t>
            </a:r>
          </a:p>
          <a:p>
            <a:r>
              <a:rPr lang="en-US"/>
              <a:t>      {</a:t>
            </a:r>
          </a:p>
          <a:p>
            <a:r>
              <a:rPr lang="en-US"/>
              <a:t>        "label": "Conceal log equivocation",</a:t>
            </a:r>
          </a:p>
          <a:p>
            <a:r>
              <a:rPr lang="en-US"/>
              <a:t>        "op": "AND",</a:t>
            </a:r>
          </a:p>
          <a:p>
            <a:r>
              <a:rPr lang="en-US"/>
              <a:t>        "children": [</a:t>
            </a:r>
          </a:p>
          <a:p>
            <a:r>
              <a:rPr lang="en-US"/>
              <a:t>          {</a:t>
            </a:r>
          </a:p>
          <a:p>
            <a:r>
              <a:rPr lang="en-US"/>
              <a:t>            "label": "A controlled log issues valid statements for conflicting views",</a:t>
            </a:r>
          </a:p>
          <a:p>
            <a:r>
              <a:rPr lang="en-US"/>
              <a:t>            "refs": [</a:t>
            </a:r>
          </a:p>
          <a:p>
            <a:r>
              <a:rPr lang="en-US"/>
              <a:t>              "T11",</a:t>
            </a:r>
          </a:p>
          <a:p>
            <a:r>
              <a:rPr lang="en-US"/>
              <a:t>              "AS8"</a:t>
            </a:r>
          </a:p>
          <a:p>
            <a:r>
              <a:rPr lang="en-US"/>
              <a:t>            ],</a:t>
            </a:r>
          </a:p>
          <a:p>
            <a:r>
              <a:rPr lang="en-US"/>
              <a:t>            "note": "Requires control of the trusted log service and the ability to issue valid log statements. Merely observing receipts or manipulating network bytes does not confer this authority. It does not require forging honest receiver/AIR/Sello signatures.",</a:t>
            </a:r>
          </a:p>
          <a:p>
            <a:r>
              <a:rPr lang="en-US"/>
              <a:t>            "kind": "condition",</a:t>
            </a:r>
          </a:p>
          <a:p>
            <a:r>
              <a:rPr lang="en-US"/>
              <a:t>            "short_label": "Log signs conflicting views",</a:t>
            </a:r>
          </a:p>
          <a:p>
            <a:r>
              <a:rPr lang="en-US"/>
              <a:t>            "assessment": "neutral",</a:t>
            </a:r>
          </a:p>
          <a:p>
            <a:r>
              <a:rPr lang="en-US"/>
              <a:t>            "assessment_reason": "Action or prerequisite shown without an independent security verdict. Its effect depends on the remaining AND/OR conditions.",</a:t>
            </a:r>
          </a:p>
          <a:p>
            <a:r>
              <a:rPr lang="en-US"/>
              <a:t>            "attacker_capability": "Malicious/compromised authorized log service with log-statement signing authority.",</a:t>
            </a:r>
          </a:p>
          <a:p>
            <a:r>
              <a:rPr lang="en-US"/>
              <a:t>            "required_credentials": "The log signing authority, not participant, AIR or Sello private keys."</a:t>
            </a:r>
          </a:p>
          <a:p>
            <a:r>
              <a:rPr lang="en-US"/>
              <a:t>          },</a:t>
            </a:r>
          </a:p>
          <a:p>
            <a:r>
              <a:rPr lang="en-US"/>
              <a:t>          {</a:t>
            </a:r>
          </a:p>
          <a:p>
            <a:r>
              <a:rPr lang="en-US"/>
              <a:t>            "label": "No independent witness or anchor compares the views",</a:t>
            </a:r>
          </a:p>
          <a:p>
            <a:r>
              <a:rPr lang="en-US"/>
              <a:t>            "refs": [</a:t>
            </a:r>
          </a:p>
          <a:p>
            <a:r>
              <a:rPr lang="en-US"/>
              <a:t>              "AS8"</a:t>
            </a:r>
          </a:p>
          <a:p>
            <a:r>
              <a:rPr lang="en-US"/>
              <a:t>            ],</a:t>
            </a:r>
          </a:p>
          <a:p>
            <a:r>
              <a:rPr lang="en-US"/>
              <a:t>            "note": "Environmental boundary: the prototype has no independent witnesses. The diagram does not claim an attacker can defeat an existing witness deployment.",</a:t>
            </a:r>
          </a:p>
          <a:p>
            <a:r>
              <a:rPr lang="en-US"/>
              <a:t>            "kind": "boundary",</a:t>
            </a:r>
          </a:p>
          <a:p>
            <a:r>
              <a:rPr lang="en-US"/>
              <a:t>            "short_label": "No independent view comparison",</a:t>
            </a:r>
          </a:p>
          <a:p>
            <a:r>
              <a:rPr lang="en-US"/>
              <a:t>            "assessment": "boundary",</a:t>
            </a:r>
          </a:p>
          <a:p>
            <a:r>
              <a:rPr lang="en-US"/>
              <a:t>            "assessment_reason": "AS8 marks the external consistency boundary: local statements cannot establish a single global view without independent witnessing/anchoring. Yellow marks this external assurance dependency, not an already breached cryptographic primitive.",</a:t>
            </a:r>
          </a:p>
          <a:p>
            <a:r>
              <a:rPr lang="en-US"/>
              <a:t>            "attacker_capability": "Exploit the absence of independent comparison after the controlled log issues conflicting views.",</a:t>
            </a:r>
          </a:p>
          <a:p>
            <a:r>
              <a:rPr lang="en-US"/>
              <a:t>            "required_credentials": "Log authority comes from the other AND condition; no witness compromise is assumed."</a:t>
            </a:r>
          </a:p>
          <a:p>
            <a:r>
              <a:rPr lang="en-US"/>
              <a:t>          }</a:t>
            </a:r>
          </a:p>
          <a:p>
            <a:r>
              <a:rPr lang="en-US"/>
              <a:t>        ],</a:t>
            </a:r>
          </a:p>
          <a:p>
            <a:r>
              <a:rPr lang="en-US"/>
              <a:t>        "refs": [</a:t>
            </a:r>
          </a:p>
          <a:p>
            <a:r>
              <a:rPr lang="en-US"/>
              <a:t>          "T11",</a:t>
            </a:r>
          </a:p>
          <a:p>
            <a:r>
              <a:rPr lang="en-US"/>
              <a:t>          "AS8"</a:t>
            </a:r>
          </a:p>
          <a:p>
            <a:r>
              <a:rPr lang="en-US"/>
              <a:t>        ],</a:t>
            </a:r>
          </a:p>
          <a:p>
            <a:r>
              <a:rPr lang="en-US"/>
              <a:t>        "note": "Both validly signed equivocation by the controlled log and absence of independent history comparison are necessary. This is the AS8 log-consistency boundary, not arbitrary signature forging by a network outsider.",</a:t>
            </a:r>
          </a:p>
          <a:p>
            <a:r>
              <a:rPr lang="en-US"/>
              <a:t>        "assessment": "boundary",</a:t>
            </a:r>
          </a:p>
          <a:p>
            <a:r>
              <a:rPr lang="en-US"/>
              <a:t>        "assessment_reason": "AND over (neutral, boundary); each route retains all actor, credential, timing and context prerequisites. No attack success was observed."</a:t>
            </a:r>
          </a:p>
          <a:p>
            <a:r>
              <a:rPr lang="en-US"/>
              <a:t>      },</a:t>
            </a:r>
          </a:p>
          <a:p>
            <a:r>
              <a:rPr lang="en-US"/>
              <a:t>      {</a:t>
            </a:r>
          </a:p>
          <a:p>
            <a:r>
              <a:rPr lang="en-US"/>
              <a:t>        "label": "Suppress the entire interaction",</a:t>
            </a:r>
          </a:p>
          <a:p>
            <a:r>
              <a:rPr lang="en-US"/>
              <a:t>        "op": "OR",</a:t>
            </a:r>
          </a:p>
          <a:p>
            <a:r>
              <a:rPr lang="en-US"/>
              <a:t>        "children": [</a:t>
            </a:r>
          </a:p>
          <a:p>
            <a:r>
              <a:rPr lang="en-US"/>
              <a:t>          {</a:t>
            </a:r>
          </a:p>
          <a:p>
            <a:r>
              <a:rPr lang="en-US"/>
              <a:t>            "label": "Drop the request before it reaches the receiver",</a:t>
            </a:r>
          </a:p>
          <a:p>
            <a:r>
              <a:rPr lang="en-US"/>
              <a:t>            "refs": [</a:t>
            </a:r>
          </a:p>
          <a:p>
            <a:r>
              <a:rPr lang="en-US"/>
              <a:t>              "T10"</a:t>
            </a:r>
          </a:p>
          <a:p>
            <a:r>
              <a:rPr lang="en-US"/>
              <a:t>            ],</a:t>
            </a:r>
          </a:p>
          <a:p>
            <a:r>
              <a:rPr lang="en-US"/>
              <a:t>            "note": "An actor controlling request forwarding or service/network availability can prevent the call reaching the receiver. There is then no receiver execution for which a receipt could exist. No fabricated success is asserted.",</a:t>
            </a:r>
          </a:p>
          <a:p>
            <a:r>
              <a:rPr lang="en-US"/>
              <a:t>            "kind": "condition",</a:t>
            </a:r>
          </a:p>
          <a:p>
            <a:r>
              <a:rPr lang="en-US"/>
              <a:t>            "short_label": "Drop request before execution",</a:t>
            </a:r>
          </a:p>
          <a:p>
            <a:r>
              <a:rPr lang="en-US"/>
              <a:t>            "assessment": "possible",</a:t>
            </a:r>
          </a:p>
          <a:p>
            <a:r>
              <a:rPr lang="en-US"/>
              <a:t>            "assessment_reason": "T10 permits suppression before the receiver sees a call. No receiver receipt can prove the execution of a call that never arrived; no trust assumption has to fail.",</a:t>
            </a:r>
          </a:p>
          <a:p>
            <a:r>
              <a:rPr lang="en-US"/>
              <a:t>            "attacker_capability": "Control request forwarding or network/service availability.",</a:t>
            </a:r>
          </a:p>
          <a:p>
            <a:r>
              <a:rPr lang="en-US"/>
              <a:t>            "required_credentials": "No protected signing key."</a:t>
            </a:r>
          </a:p>
          <a:p>
            <a:r>
              <a:rPr lang="en-US"/>
              <a:t>          },</a:t>
            </a:r>
          </a:p>
          <a:p>
            <a:r>
              <a:rPr lang="en-US"/>
              <a:t>          {</a:t>
            </a:r>
          </a:p>
          <a:p>
            <a:r>
              <a:rPr lang="en-US"/>
              <a:t>            "label": "Intermediary withholds the entire result from the user",</a:t>
            </a:r>
          </a:p>
          <a:p>
            <a:r>
              <a:rPr lang="en-US"/>
              <a:t>            "refs": [</a:t>
            </a:r>
          </a:p>
          <a:p>
            <a:r>
              <a:rPr lang="en-US"/>
              <a:t>              "T10"</a:t>
            </a:r>
          </a:p>
          <a:p>
            <a:r>
              <a:rPr lang="en-US"/>
              <a:t>            ],</a:t>
            </a:r>
          </a:p>
          <a:p>
            <a:r>
              <a:rPr lang="en-US"/>
              <a:t>            "note": "A receipt may already exist if execution completed. Withholding a result does not delete a published record; the failure concerns the user-visible interaction.",</a:t>
            </a:r>
          </a:p>
          <a:p>
            <a:r>
              <a:rPr lang="en-US"/>
              <a:t>            "kind": "condition",</a:t>
            </a:r>
          </a:p>
          <a:p>
            <a:r>
              <a:rPr lang="en-US"/>
              <a:t>            "short_label": "Withhold response from user",</a:t>
            </a:r>
          </a:p>
          <a:p>
            <a:r>
              <a:rPr lang="en-US"/>
              <a:t>            "assessment": "possible",</a:t>
            </a:r>
          </a:p>
          <a:p>
            <a:r>
              <a:rPr lang="en-US"/>
              <a:t>            "assessment_reason": "T10 permits withholding the entire user-facing result. A previously published receipt can remain intact; the colored success concerns interaction suppression, not log erasure.",</a:t>
            </a:r>
          </a:p>
          <a:p>
            <a:r>
              <a:rPr lang="en-US"/>
              <a:t>            "attacker_capability": "Control result forwarding or response-path availability.",</a:t>
            </a:r>
          </a:p>
          <a:p>
            <a:r>
              <a:rPr lang="en-US"/>
              <a:t>            "required_credentials": "No key to withhold a response; already published evidence is not deleted."</a:t>
            </a:r>
          </a:p>
          <a:p>
            <a:r>
              <a:rPr lang="en-US"/>
              <a:t>          }</a:t>
            </a:r>
          </a:p>
          <a:p>
            <a:r>
              <a:rPr lang="en-US"/>
              <a:t>        ],</a:t>
            </a:r>
          </a:p>
          <a:p>
            <a:r>
              <a:rPr lang="en-US"/>
              <a:t>        "refs": [</a:t>
            </a:r>
          </a:p>
          <a:p>
            <a:r>
              <a:rPr lang="en-US"/>
              <a:t>          "T10"</a:t>
            </a:r>
          </a:p>
          <a:p>
            <a:r>
              <a:rPr lang="en-US"/>
              <a:t>        ],</a:t>
            </a:r>
          </a:p>
          <a:p>
            <a:r>
              <a:rPr lang="en-US"/>
              <a:t>        "note": "Either omission can suppress the intended interaction at the user boundary; full log erasure is not implied.",</a:t>
            </a:r>
          </a:p>
          <a:p>
            <a:r>
              <a:rPr lang="en-US"/>
              <a:t>        "assessment": "possible",</a:t>
            </a:r>
          </a:p>
          <a:p>
            <a:r>
              <a:rPr lang="en-US"/>
              <a:t>        "assessment_reason": "OR over (possible, possible); each route retains all actor, credential, timing and context prerequisites. No attack success was observed."</a:t>
            </a:r>
          </a:p>
          <a:p>
            <a:r>
              <a:rPr lang="en-US"/>
              <a:t>      }</a:t>
            </a:r>
          </a:p>
          <a:p>
            <a:r>
              <a:rPr lang="en-US"/>
              <a:t>    ],</a:t>
            </a:r>
          </a:p>
          <a:p>
            <a:r>
              <a:rPr lang="en-US"/>
              <a:t>    "refs": [</a:t>
            </a:r>
          </a:p>
          <a:p>
            <a:r>
              <a:rPr lang="en-US"/>
              <a:t>      "T10",</a:t>
            </a:r>
          </a:p>
          <a:p>
            <a:r>
              <a:rPr lang="en-US"/>
              <a:t>      "T11"</a:t>
            </a:r>
          </a:p>
          <a:p>
            <a:r>
              <a:rPr lang="en-US"/>
              <a:t>    ],</a:t>
            </a:r>
          </a:p>
          <a:p>
            <a:r>
              <a:rPr lang="en-US"/>
              <a:t>    "note": "The root includes false completeness, inconsistent log histories and suppressed interaction. Exact-byte inclusion is not proof that every intended interaction exists.",</a:t>
            </a:r>
          </a:p>
          <a:p>
            <a:r>
              <a:rPr lang="en-US"/>
              <a:t>    "assessment": "possible",</a:t>
            </a:r>
          </a:p>
          <a:p>
            <a:r>
              <a:rPr lang="en-US"/>
              <a:t>    "assessment_reason": "OR over (blocked, boundary, possible); each route retains all actor, credential, timing and context prerequisites. No attack success was observed."</a:t>
            </a:r>
          </a:p>
          <a:p>
            <a:r>
              <a:rPr lang="en-US"/>
              <a:t>  },</a:t>
            </a:r>
          </a:p>
          <a:p>
            <a:r>
              <a:rPr lang="en-US"/>
              <a:t>  "takeaway": "Dropping traffic needs no key; conflicting valid log views require control of the log authority.",</a:t>
            </a:r>
          </a:p>
          <a:p>
            <a:r>
              <a:rPr lang="en-US"/>
              <a:t>  "source_lines": {</a:t>
            </a:r>
          </a:p>
          <a:p>
            <a:r>
              <a:rPr lang="en-US"/>
              <a:t>    "workflow_receipts": [</a:t>
            </a:r>
          </a:p>
          <a:p>
            <a:r>
              <a:rPr lang="en-US"/>
              <a:t>      145,</a:t>
            </a:r>
          </a:p>
          <a:p>
            <a:r>
              <a:rPr lang="en-US"/>
              <a:t>      150</a:t>
            </a:r>
          </a:p>
          <a:p>
            <a:r>
              <a:rPr lang="en-US"/>
              <a:t>    ],</a:t>
            </a:r>
          </a:p>
          <a:p>
            <a:r>
              <a:rPr lang="en-US"/>
              <a:t>    "T10": [</a:t>
            </a:r>
          </a:p>
          <a:p>
            <a:r>
              <a:rPr lang="en-US"/>
              <a:t>      449,</a:t>
            </a:r>
          </a:p>
          <a:p>
            <a:r>
              <a:rPr lang="en-US"/>
              <a:t>      459</a:t>
            </a:r>
          </a:p>
          <a:p>
            <a:r>
              <a:rPr lang="en-US"/>
              <a:t>    ],</a:t>
            </a:r>
          </a:p>
          <a:p>
            <a:r>
              <a:rPr lang="en-US"/>
              <a:t>    "T11": [</a:t>
            </a:r>
          </a:p>
          <a:p>
            <a:r>
              <a:rPr lang="en-US"/>
              <a:t>      467,</a:t>
            </a:r>
          </a:p>
          <a:p>
            <a:r>
              <a:rPr lang="en-US"/>
              <a:t>      476</a:t>
            </a:r>
          </a:p>
          <a:p>
            <a:r>
              <a:rPr lang="en-US"/>
              <a:t>    ],</a:t>
            </a:r>
          </a:p>
          <a:p>
            <a:r>
              <a:rPr lang="en-US"/>
              <a:t>    "AS8": [</a:t>
            </a:r>
          </a:p>
          <a:p>
            <a:r>
              <a:rPr lang="en-US"/>
              <a:t>      242,</a:t>
            </a:r>
          </a:p>
          <a:p>
            <a:r>
              <a:rPr lang="en-US"/>
              <a:t>      245</a:t>
            </a:r>
          </a:p>
          <a:p>
            <a:r>
              <a:rPr lang="en-US"/>
              <a:t>    ],</a:t>
            </a:r>
          </a:p>
          <a:p>
            <a:r>
              <a:rPr lang="en-US"/>
              <a:t>    "F10": [</a:t>
            </a:r>
          </a:p>
          <a:p>
            <a:r>
              <a:rPr lang="en-US"/>
              <a:t>      611,</a:t>
            </a:r>
          </a:p>
          <a:p>
            <a:r>
              <a:rPr lang="en-US"/>
              <a:t>      617</a:t>
            </a:r>
          </a:p>
          <a:p>
            <a:r>
              <a:rPr lang="en-US"/>
              <a:t>    ]</a:t>
            </a:r>
          </a:p>
          <a:p>
            <a:r>
              <a:rPr lang="en-US"/>
              <a:t>  },</a:t>
            </a:r>
          </a:p>
          <a:p>
            <a:r>
              <a:rPr lang="en-US"/>
              <a:t>  "implementation_context": {</a:t>
            </a:r>
          </a:p>
          <a:p>
            <a:r>
              <a:rPr lang="en-US"/>
              <a:t>    "scope": "Read-only implementation and attacker-capability review. No attack run, cloud-policy check or exhaustive security audit; Chapter 4 and the main deck remain unchanged.",</a:t>
            </a:r>
          </a:p>
          <a:p>
            <a:r>
              <a:rPr lang="en-US"/>
              <a:t>    "sources": [</a:t>
            </a:r>
          </a:p>
          <a:p>
            <a:r>
              <a:rPr lang="en-US"/>
              <a:t>      {</a:t>
            </a:r>
          </a:p>
          <a:p>
            <a:r>
              <a:rPr lang="en-US"/>
              <a:t>        "path": "vita-fl/tee_inference/service/app.py",</a:t>
            </a:r>
          </a:p>
          <a:p>
            <a:r>
              <a:rPr lang="en-US"/>
              <a:t>        "lines": [</a:t>
            </a:r>
          </a:p>
          <a:p>
            <a:r>
              <a:rPr lang="en-US"/>
              <a:t>          196,</a:t>
            </a:r>
          </a:p>
          <a:p>
            <a:r>
              <a:rPr lang="en-US"/>
              <a:t>          246</a:t>
            </a:r>
          </a:p>
          <a:p>
            <a:r>
              <a:rPr lang="en-US"/>
              <a:t>        ],</a:t>
            </a:r>
          </a:p>
          <a:p>
            <a:r>
              <a:rPr lang="en-US"/>
              <a:t>        "finding": "Receiver fails when required Sello publication cannot complete.",</a:t>
            </a:r>
          </a:p>
          <a:p>
            <a:r>
              <a:rPr lang="en-US"/>
              <a:t>        "sha256": "b3c84a4ef9dc909edbb9049d5858067153598e19a5a7c13dcbc3ae91291f093d"</a:t>
            </a:r>
          </a:p>
          <a:p>
            <a:r>
              <a:rPr lang="en-US"/>
              <a:t>      },</a:t>
            </a:r>
          </a:p>
          <a:p>
            <a:r>
              <a:rPr lang="en-US"/>
              <a:t>      {</a:t>
            </a:r>
          </a:p>
          <a:p>
            <a:r>
              <a:rPr lang="en-US"/>
              <a:t>        "path": "vita-fl/agent/sello_client.py",</a:t>
            </a:r>
          </a:p>
          <a:p>
            <a:r>
              <a:rPr lang="en-US"/>
              <a:t>        "lines": [</a:t>
            </a:r>
          </a:p>
          <a:p>
            <a:r>
              <a:rPr lang="en-US"/>
              <a:t>          182,</a:t>
            </a:r>
          </a:p>
          <a:p>
            <a:r>
              <a:rPr lang="en-US"/>
              <a:t>          199</a:t>
            </a:r>
          </a:p>
          <a:p>
            <a:r>
              <a:rPr lang="en-US"/>
              <a:t>        ],</a:t>
            </a:r>
          </a:p>
          <a:p>
            <a:r>
              <a:rPr lang="en-US"/>
              <a:t>        "finding": "Verify exact receiver call and receipt.",</a:t>
            </a:r>
          </a:p>
          <a:p>
            <a:r>
              <a:rPr lang="en-US"/>
              <a:t>        "sha256": "9a35d6ba08c3aa43e44c05a57c5ced271484e32fac1580c2715b3c92d009db67"</a:t>
            </a:r>
          </a:p>
          <a:p>
            <a:r>
              <a:rPr lang="en-US"/>
              <a:t>      },</a:t>
            </a:r>
          </a:p>
          <a:p>
            <a:r>
              <a:rPr lang="en-US"/>
              <a:t>      {</a:t>
            </a:r>
          </a:p>
          <a:p>
            <a:r>
              <a:rPr lang="en-US"/>
              <a:t>        "path": "vita-fl/agent_receipts/scitt.py",</a:t>
            </a:r>
          </a:p>
          <a:p>
            <a:r>
              <a:rPr lang="en-US"/>
              <a:t>        "lines": [</a:t>
            </a:r>
          </a:p>
          <a:p>
            <a:r>
              <a:rPr lang="en-US"/>
              <a:t>          93,</a:t>
            </a:r>
          </a:p>
          <a:p>
            <a:r>
              <a:rPr lang="en-US"/>
              <a:t>          115,</a:t>
            </a:r>
          </a:p>
          <a:p>
            <a:r>
              <a:rPr lang="en-US"/>
              <a:t>          189,</a:t>
            </a:r>
          </a:p>
          <a:p>
            <a:r>
              <a:rPr lang="en-US"/>
              <a:t>          216</a:t>
            </a:r>
          </a:p>
          <a:p>
            <a:r>
              <a:rPr lang="en-US"/>
              <a:t>        ],</a:t>
            </a:r>
          </a:p>
          <a:p>
            <a:r>
              <a:rPr lang="en-US"/>
              <a:t>        "finding": "Local statement/key/exact-byte verification, no independent history comparison in this path.",</a:t>
            </a:r>
          </a:p>
          <a:p>
            <a:r>
              <a:rPr lang="en-US"/>
              <a:t>        "sha256": "818367d460c73c4f14a46172e4da8762f68640b4fa471d61e2acc0ba06b7f159"</a:t>
            </a:r>
          </a:p>
          <a:p>
            <a:r>
              <a:rPr lang="en-US"/>
              <a:t>      },</a:t>
            </a:r>
          </a:p>
          <a:p>
            <a:r>
              <a:rPr lang="en-US"/>
              <a:t>      {</a:t>
            </a:r>
          </a:p>
          <a:p>
            <a:r>
              <a:rPr lang="en-US"/>
              <a:t>        "path": "vita-fl/agent/tee_inference_client.py",</a:t>
            </a:r>
          </a:p>
          <a:p>
            <a:r>
              <a:rPr lang="en-US"/>
              <a:t>        "lines": [</a:t>
            </a:r>
          </a:p>
          <a:p>
            <a:r>
              <a:rPr lang="en-US"/>
              <a:t>          704,</a:t>
            </a:r>
          </a:p>
          <a:p>
            <a:r>
              <a:rPr lang="en-US"/>
              <a:t>          755</a:t>
            </a:r>
          </a:p>
          <a:p>
            <a:r>
              <a:rPr lang="en-US"/>
              <a:t>        ],</a:t>
            </a:r>
          </a:p>
          <a:p>
            <a:r>
              <a:rPr lang="en-US"/>
              <a:t>        "finding": "Domain publication required before technical verified success.",</a:t>
            </a:r>
          </a:p>
          <a:p>
            <a:r>
              <a:rPr lang="en-US"/>
              <a:t>        "sha256": "4f1b0cd4b0f3e9443400bb574589c9f6fa47302e2a4bd774d5a45ea9a65b6b0d"</a:t>
            </a:r>
          </a:p>
          <a:p>
            <a:r>
              <a:rPr lang="en-US"/>
              <a:t>      }</a:t>
            </a:r>
          </a:p>
          <a:p>
            <a:r>
              <a:rPr lang="en-US"/>
              <a:t>    ],</a:t>
            </a:r>
          </a:p>
          <a:p>
            <a:r>
              <a:rPr lang="en-US"/>
              <a:t>    "limits": [</a:t>
            </a:r>
          </a:p>
          <a:p>
            <a:r>
              <a:rPr lang="en-US"/>
              <a:t>      "Split-view route requires malicious log authority, not just a network adversary.",</a:t>
            </a:r>
          </a:p>
          <a:p>
            <a:r>
              <a:rPr lang="en-US"/>
              <a:t>      "No requests were suppressed or log views forked in this review.",</a:t>
            </a:r>
          </a:p>
          <a:p>
            <a:r>
              <a:rPr lang="en-US"/>
              <a:t>      "Withheld response does not erase receipts that are already published."</a:t>
            </a:r>
          </a:p>
          <a:p>
            <a:r>
              <a:rPr lang="en-US"/>
              <a:t>    ]</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These six diagrams map selected Chapter 4 threats to the reviewed VITA-FL implementation. OR means alternative sufficient routes; AND means jointly necessary conditions, not message order. Colors apply at every depth: green is a shown attack blocked by the intact reviewed checks under stated assumptions; yellow explicitly requires a protected-execution, key-custody or trusted-service boundary; red is an availability effect achievable with the named external capability; white is a prerequisite. A green goal names a hypothetical attacker success, not a successful exploit. No implicit signing authority is granted to a participant, deployer or intermediary. Logical enrollment identities, TEE Ethereum action keys, TEE RSA artifact keys, medical-signer keys, AIR/Sello keys and log keys are distinct. Each leaf records attacker_capability and required_credentials. Replaying recorded evidence or withholding traffic needs no private key; minting new valid statements requires the corresponding signer or control of its execution. Host control does not imply guest control. Legitimate timeout recovery during a network partition is not a forged vote or a protocol-safety failure. Prepared-model freshness is scoped to model preparation; technical verified-tool success is not arbitrary LLM text. The trees cover selected routes, not every residual risk or an exhaustive audit. Source notes distinguish implementation findings from Chapter 4; neither the chapter nor main deck was changed. No attacks, new security tests or live deployment checks were performed.</a:t>
            </a:r>
          </a:p>
          <a:p/>
          <a:p>
            <a:r>
              <a:rPr lang="en-US"/>
              <a:t>TREE-SPECIFIC MODEL</a:t>
            </a:r>
          </a:p>
          <a:p>
            <a:r>
              <a:rPr lang="en-US"/>
              <a:t>{</a:t>
            </a:r>
          </a:p>
          <a:p>
            <a:r>
              <a:rPr lang="en-US"/>
              <a:t>  "slug": "06-disclosure",</a:t>
            </a:r>
          </a:p>
          <a:p>
            <a:r>
              <a:rPr lang="en-US"/>
              <a:t>  "name_de": "6 · Modellschlüssel und Klartext",</a:t>
            </a:r>
          </a:p>
          <a:p>
            <a:r>
              <a:rPr lang="en-US"/>
              <a:t>  "title": "Attack tree: disclose the TEE-held model",</a:t>
            </a:r>
          </a:p>
          <a:p>
            <a:r>
              <a:rPr lang="en-US"/>
              <a:t>  "threats": [</a:t>
            </a:r>
          </a:p>
          <a:p>
            <a:r>
              <a:rPr lang="en-US"/>
              <a:t>    "T5",</a:t>
            </a:r>
          </a:p>
          <a:p>
            <a:r>
              <a:rPr lang="en-US"/>
              <a:t>    "T13"</a:t>
            </a:r>
          </a:p>
          <a:p>
            <a:r>
              <a:rPr lang="en-US"/>
              <a:t>  ],</a:t>
            </a:r>
          </a:p>
          <a:p>
            <a:r>
              <a:rPr lang="en-US"/>
              <a:t>  "domains": [</a:t>
            </a:r>
          </a:p>
          <a:p>
            <a:r>
              <a:rPr lang="en-US"/>
              <a:t>    "DFL",</a:t>
            </a:r>
          </a:p>
          <a:p>
            <a:r>
              <a:rPr lang="en-US"/>
              <a:t>    "Agent"</a:t>
            </a:r>
          </a:p>
          <a:p>
            <a:r>
              <a:rPr lang="en-US"/>
              <a:t>  ],</a:t>
            </a:r>
          </a:p>
          <a:p>
            <a:r>
              <a:rPr lang="en-US"/>
              <a:t>  "root": {</a:t>
            </a:r>
          </a:p>
          <a:p>
            <a:r>
              <a:rPr lang="en-US"/>
              <a:t>    "label": "Expose model outside the TEE",</a:t>
            </a:r>
          </a:p>
          <a:p>
            <a:r>
              <a:rPr lang="en-US"/>
              <a:t>    "op": "OR",</a:t>
            </a:r>
          </a:p>
          <a:p>
            <a:r>
              <a:rPr lang="en-US"/>
              <a:t>    "children": [</a:t>
            </a:r>
          </a:p>
          <a:p>
            <a:r>
              <a:rPr lang="en-US"/>
              <a:t>      {</a:t>
            </a:r>
          </a:p>
          <a:p>
            <a:r>
              <a:rPr lang="en-US"/>
              <a:t>        "label": "Bypass admitted-key protection",</a:t>
            </a:r>
          </a:p>
          <a:p>
            <a:r>
              <a:rPr lang="en-US"/>
              <a:t>        "op": "AND",</a:t>
            </a:r>
          </a:p>
          <a:p>
            <a:r>
              <a:rPr lang="en-US"/>
              <a:t>        "children": [</a:t>
            </a:r>
          </a:p>
          <a:p>
            <a:r>
              <a:rPr lang="en-US"/>
              <a:t>          {</a:t>
            </a:r>
          </a:p>
          <a:p>
            <a:r>
              <a:rPr lang="en-US"/>
              <a:t>            "label": "Obtain the published encrypted model bundle",</a:t>
            </a:r>
          </a:p>
          <a:p>
            <a:r>
              <a:rPr lang="en-US"/>
              <a:t>            "refs": [</a:t>
            </a:r>
          </a:p>
          <a:p>
            <a:r>
              <a:rPr lang="en-US"/>
              <a:t>              "T5"</a:t>
            </a:r>
          </a:p>
          <a:p>
            <a:r>
              <a:rPr lang="en-US"/>
              <a:t>            ],</a:t>
            </a:r>
          </a:p>
          <a:p>
            <a:r>
              <a:rPr lang="en-US"/>
              <a:t>            "note": "Ciphertext can be publicly downloadable without violating the confidentiality claim.",</a:t>
            </a:r>
          </a:p>
          <a:p>
            <a:r>
              <a:rPr lang="en-US"/>
              <a:t>            "kind": "condition",</a:t>
            </a:r>
          </a:p>
          <a:p>
            <a:r>
              <a:rPr lang="en-US"/>
              <a:t>            "short_label": "Obtain model ciphertext",</a:t>
            </a:r>
          </a:p>
          <a:p>
            <a:r>
              <a:rPr lang="en-US"/>
              <a:t>            "assessment": "neutral",</a:t>
            </a:r>
          </a:p>
          <a:p>
            <a:r>
              <a:rPr lang="en-US"/>
              <a:t>            "assessment_reason": "Action or prerequisite shown without an independent security verdict. Its effect depends on the remaining AND/OR conditions.",</a:t>
            </a:r>
          </a:p>
          <a:p>
            <a:r>
              <a:rPr lang="en-US"/>
              <a:t>            "attacker_capability": "Read publicly retrievable encrypted model objects.",</a:t>
            </a:r>
          </a:p>
          <a:p>
            <a:r>
              <a:rPr lang="en-US"/>
              <a:t>            "required_credentials": "No private key to obtain ciphertext."</a:t>
            </a:r>
          </a:p>
          <a:p>
            <a:r>
              <a:rPr lang="en-US"/>
              <a:t>          },</a:t>
            </a:r>
          </a:p>
          <a:p>
            <a:r>
              <a:rPr lang="en-US"/>
              <a:t>          {</a:t>
            </a:r>
          </a:p>
          <a:p>
            <a:r>
              <a:rPr lang="en-US"/>
              <a:t>            "label": "Recover its key outside the eligible recipient snapshot",</a:t>
            </a:r>
          </a:p>
          <a:p>
            <a:r>
              <a:rPr lang="en-US"/>
              <a:t>            "refs": [</a:t>
            </a:r>
          </a:p>
          <a:p>
            <a:r>
              <a:rPr lang="en-US"/>
              <a:t>              "F7",</a:t>
            </a:r>
          </a:p>
          <a:p>
            <a:r>
              <a:rPr lang="en-US"/>
              <a:t>              "T5",</a:t>
            </a:r>
          </a:p>
          <a:p>
            <a:r>
              <a:rPr lang="en-US"/>
              <a:t>              "AS1"</a:t>
            </a:r>
          </a:p>
          <a:p>
            <a:r>
              <a:rPr lang="en-US"/>
              <a:t>            ],</a:t>
            </a:r>
          </a:p>
          <a:p>
            <a:r>
              <a:rPr lang="en-US"/>
              <a:t>            "note": "This is a required failure of the intended encrypted distribution guarantee. Chapter 4 does not supply a cryptographic break or key-recovery exploit.",</a:t>
            </a:r>
          </a:p>
          <a:p>
            <a:r>
              <a:rPr lang="en-US"/>
              <a:t>            "kind": "check_failure",</a:t>
            </a:r>
          </a:p>
          <a:p>
            <a:r>
              <a:rPr lang="en-US"/>
              <a:t>            "short_label": "Decrypt without recipient key",</a:t>
            </a:r>
          </a:p>
          <a:p>
            <a:r>
              <a:rPr lang="en-US"/>
              <a:t>            "assessment": "blocked",</a:t>
            </a:r>
          </a:p>
          <a:p>
            <a:r>
              <a:rPr lang="en-US"/>
              <a:t>            "assessment_reason": "The displayed acceptance failure is prevented by the specified Chapter 4 checks when those checks and the stated trust premises hold. Green is a model-based protection claim, not proof that an implementation is universally secure.",</a:t>
            </a:r>
          </a:p>
          <a:p>
            <a:r>
              <a:rPr lang="en-US"/>
              <a:t>            "attacker_capability": "Attempt decryption as an ineligible outsider.",</a:t>
            </a:r>
          </a:p>
          <a:p>
            <a:r>
              <a:rPr lang="en-US"/>
              <a:t>            "required_credentials": "Matching authorized recipient private key is absent; intact RSA/AES protection blocks this route."</a:t>
            </a:r>
          </a:p>
          <a:p>
            <a:r>
              <a:rPr lang="en-US"/>
              <a:t>          }</a:t>
            </a:r>
          </a:p>
          <a:p>
            <a:r>
              <a:rPr lang="en-US"/>
              <a:t>        ],</a:t>
            </a:r>
          </a:p>
          <a:p>
            <a:r>
              <a:rPr lang="en-US"/>
              <a:t>        "refs": [</a:t>
            </a:r>
          </a:p>
          <a:p>
            <a:r>
              <a:rPr lang="en-US"/>
              <a:t>          "T5",</a:t>
            </a:r>
          </a:p>
          <a:p>
            <a:r>
              <a:rPr lang="en-US"/>
              <a:t>          "F7"</a:t>
            </a:r>
          </a:p>
          <a:p>
            <a:r>
              <a:rPr lang="en-US"/>
              <a:t>        ],</a:t>
            </a:r>
          </a:p>
          <a:p>
            <a:r>
              <a:rPr lang="en-US"/>
              <a:t>        "note": "Possession of ciphertext and its matching decryption key yields plaintext under the normal published format; ciphertext alone is insufficient.",</a:t>
            </a:r>
          </a:p>
          <a:p>
            <a:r>
              <a:rPr lang="en-US"/>
              <a:t>        "assessment": "blocked",</a:t>
            </a:r>
          </a:p>
          <a:p>
            <a:r>
              <a:rPr lang="en-US"/>
              <a:t>        "assessment_reason": "AND over (neutral, blocked); each route retains all actor, credential, timing and context prerequisites. No attack success was observed."</a:t>
            </a:r>
          </a:p>
          <a:p>
            <a:r>
              <a:rPr lang="en-US"/>
              <a:t>      },</a:t>
            </a:r>
          </a:p>
          <a:p>
            <a:r>
              <a:rPr lang="en-US"/>
              <a:t>      {</a:t>
            </a:r>
          </a:p>
          <a:p>
            <a:r>
              <a:rPr lang="en-US"/>
              <a:t>        "label": "Break TEE secret protection",</a:t>
            </a:r>
          </a:p>
          <a:p>
            <a:r>
              <a:rPr lang="en-US"/>
              <a:t>        "op": "AND",</a:t>
            </a:r>
          </a:p>
          <a:p>
            <a:r>
              <a:rPr lang="en-US"/>
              <a:t>        "children": [</a:t>
            </a:r>
          </a:p>
          <a:p>
            <a:r>
              <a:rPr lang="en-US"/>
              <a:t>          {</a:t>
            </a:r>
          </a:p>
          <a:p>
            <a:r>
              <a:rPr lang="en-US"/>
              <a:t>            "label": "Obtain the matching encrypted model",</a:t>
            </a:r>
          </a:p>
          <a:p>
            <a:r>
              <a:rPr lang="en-US"/>
              <a:t>            "refs": [</a:t>
            </a:r>
          </a:p>
          <a:p>
            <a:r>
              <a:rPr lang="en-US"/>
              <a:t>              "T5"</a:t>
            </a:r>
          </a:p>
          <a:p>
            <a:r>
              <a:rPr lang="en-US"/>
              <a:t>            ],</a:t>
            </a:r>
          </a:p>
          <a:p>
            <a:r>
              <a:rPr lang="en-US"/>
              <a:t>            "note": "The ciphertext must match the recovered round key. A key wrapper is needed only for the stolen-recipient-key unwrap alternative; direct exposure of the round key does not require one.",</a:t>
            </a:r>
          </a:p>
          <a:p>
            <a:r>
              <a:rPr lang="en-US"/>
              <a:t>            "kind": "condition",</a:t>
            </a:r>
          </a:p>
          <a:p>
            <a:r>
              <a:rPr lang="en-US"/>
              <a:t>            "short_label": "Obtain matching ciphertext",</a:t>
            </a:r>
          </a:p>
          <a:p>
            <a:r>
              <a:rPr lang="en-US"/>
              <a:t>            "assessment": "neutral",</a:t>
            </a:r>
          </a:p>
          <a:p>
            <a:r>
              <a:rPr lang="en-US"/>
              <a:t>            "assessment_reason": "Action or prerequisite shown without an independent security verdict. Its effect depends on the remaining AND/OR conditions.",</a:t>
            </a:r>
          </a:p>
          <a:p>
            <a:r>
              <a:rPr lang="en-US"/>
              <a:t>            "attacker_capability": "Read publicly retrievable encrypted model objects.",</a:t>
            </a:r>
          </a:p>
          <a:p>
            <a:r>
              <a:rPr lang="en-US"/>
              <a:t>            "required_credentials": "No private key to obtain ciphertext."</a:t>
            </a:r>
          </a:p>
          <a:p>
            <a:r>
              <a:rPr lang="en-US"/>
              <a:t>          },</a:t>
            </a:r>
          </a:p>
          <a:p>
            <a:r>
              <a:rPr lang="en-US"/>
              <a:t>          {</a:t>
            </a:r>
          </a:p>
          <a:p>
            <a:r>
              <a:rPr lang="en-US"/>
              <a:t>            "label": "Obtain the matching round key",</a:t>
            </a:r>
          </a:p>
          <a:p>
            <a:r>
              <a:rPr lang="en-US"/>
              <a:t>            "op": "OR",</a:t>
            </a:r>
          </a:p>
          <a:p>
            <a:r>
              <a:rPr lang="en-US"/>
              <a:t>            "children": [</a:t>
            </a:r>
          </a:p>
          <a:p>
            <a:r>
              <a:rPr lang="en-US"/>
              <a:t>              {</a:t>
            </a:r>
          </a:p>
          <a:p>
            <a:r>
              <a:rPr lang="en-US"/>
              <a:t>                "label": "Use a stolen recipient private key to unwrap the model key",</a:t>
            </a:r>
          </a:p>
          <a:p>
            <a:r>
              <a:rPr lang="en-US"/>
              <a:t>                "refs": [</a:t>
            </a:r>
          </a:p>
          <a:p>
            <a:r>
              <a:rPr lang="en-US"/>
              <a:t>                  "T13",</a:t>
            </a:r>
          </a:p>
          <a:p>
            <a:r>
              <a:rPr lang="en-US"/>
              <a:t>                  "AS5"</a:t>
            </a:r>
          </a:p>
          <a:p>
            <a:r>
              <a:rPr lang="en-US"/>
              <a:t>                ],</a:t>
            </a:r>
          </a:p>
          <a:p>
            <a:r>
              <a:rPr lang="en-US"/>
              <a:t>                "note": "Private-key extraction is an explicit assumption failure. This leaf includes successful unwrap of the matching envelope; no extraction method is claimed.",</a:t>
            </a:r>
          </a:p>
          <a:p>
            <a:r>
              <a:rPr lang="en-US"/>
              <a:t>                "kind": "boundary",</a:t>
            </a:r>
          </a:p>
          <a:p>
            <a:r>
              <a:rPr lang="en-US"/>
              <a:t>                "short_label": "Unwrap with stolen recipient key",</a:t>
            </a:r>
          </a:p>
          <a:p>
            <a:r>
              <a:rPr lang="en-US"/>
              <a:t>                "assessment": "boundary",</a:t>
            </a:r>
          </a:p>
          <a:p>
            <a:r>
              <a:rPr lang="en-US"/>
              <a:t>                "assessment_reason": "This path requires the explicit AS5 protected-key-custody assumption to fail and successful unwrapping of the matching model key.",</a:t>
            </a:r>
          </a:p>
          <a:p>
            <a:r>
              <a:rPr lang="en-US"/>
              <a:t>                "attacker_capability": "Actually extract the admitted recipient RSA private key and obtain its matching envelope.",</a:t>
            </a:r>
          </a:p>
          <a:p>
            <a:r>
              <a:rPr lang="en-US"/>
              <a:t>                "required_credentials": "The matching TEE recipient RSA private key; deployment ownership does not supply it."</a:t>
            </a:r>
          </a:p>
          <a:p>
            <a:r>
              <a:rPr lang="en-US"/>
              <a:t>              },</a:t>
            </a:r>
          </a:p>
          <a:p>
            <a:r>
              <a:rPr lang="en-US"/>
              <a:t>              {</a:t>
            </a:r>
          </a:p>
          <a:p>
            <a:r>
              <a:rPr lang="en-US"/>
              <a:t>                "label": "Expose the model key while the workload holds it in plaintext",</a:t>
            </a:r>
          </a:p>
          <a:p>
            <a:r>
              <a:rPr lang="en-US"/>
              <a:t>                "refs": [</a:t>
            </a:r>
          </a:p>
          <a:p>
            <a:r>
              <a:rPr lang="en-US"/>
              <a:t>                  "T13",</a:t>
            </a:r>
          </a:p>
          <a:p>
            <a:r>
              <a:rPr lang="en-US"/>
              <a:t>                  "AS5"</a:t>
            </a:r>
          </a:p>
          <a:p>
            <a:r>
              <a:rPr lang="en-US"/>
              <a:t>                ],</a:t>
            </a:r>
          </a:p>
          <a:p>
            <a:r>
              <a:rPr lang="en-US"/>
              <a:t>                "note": "The protected workload is compromised while the relevant key is materialized; a generic process exploit without actual key exposure is not enough.",</a:t>
            </a:r>
          </a:p>
          <a:p>
            <a:r>
              <a:rPr lang="en-US"/>
              <a:t>                "kind": "boundary",</a:t>
            </a:r>
          </a:p>
          <a:p>
            <a:r>
              <a:rPr lang="en-US"/>
              <a:t>                "short_label": "Expose live model key",</a:t>
            </a:r>
          </a:p>
          <a:p>
            <a:r>
              <a:rPr lang="en-US"/>
              <a:t>                "assessment": "boundary",</a:t>
            </a:r>
          </a:p>
          <a:p>
            <a:r>
              <a:rPr lang="en-US"/>
              <a:t>                "assessment_reason": "This path requires AS5 to fail while the matching model key is materialized in the protected process.",</a:t>
            </a:r>
          </a:p>
          <a:p>
            <a:r>
              <a:rPr lang="en-US"/>
              <a:t>                "attacker_capability": "Compromise execution while the matching model key is materialized.",</a:t>
            </a:r>
          </a:p>
          <a:p>
            <a:r>
              <a:rPr lang="en-US"/>
              <a:t>                "required_credentials": "Actual access to the live plaintext model key."</a:t>
            </a:r>
          </a:p>
          <a:p>
            <a:r>
              <a:rPr lang="en-US"/>
              <a:t>              }</a:t>
            </a:r>
          </a:p>
          <a:p>
            <a:r>
              <a:rPr lang="en-US"/>
              <a:t>            ],</a:t>
            </a:r>
          </a:p>
          <a:p>
            <a:r>
              <a:rPr lang="en-US"/>
              <a:t>            "refs": [</a:t>
            </a:r>
          </a:p>
          <a:p>
            <a:r>
              <a:rPr lang="en-US"/>
              <a:t>              "T13",</a:t>
            </a:r>
          </a:p>
          <a:p>
            <a:r>
              <a:rPr lang="en-US"/>
              <a:t>              "AS5"</a:t>
            </a:r>
          </a:p>
          <a:p>
            <a:r>
              <a:rPr lang="en-US"/>
              <a:t>            ],</a:t>
            </a:r>
          </a:p>
          <a:p>
            <a:r>
              <a:rPr lang="en-US"/>
              <a:t>            "note": "The two custody failures provide alternative ways to recover the actual matching round key.",</a:t>
            </a:r>
          </a:p>
          <a:p>
            <a:r>
              <a:rPr lang="en-US"/>
              <a:t>            "assessment": "boundary",</a:t>
            </a:r>
          </a:p>
          <a:p>
            <a:r>
              <a:rPr lang="en-US"/>
              <a:t>            "assessment_reason": "OR over (boundary, boundary); each route retains all actor, credential, timing and context prerequisites. No attack success was observed."</a:t>
            </a:r>
          </a:p>
          <a:p>
            <a:r>
              <a:rPr lang="en-US"/>
              <a:t>          }</a:t>
            </a:r>
          </a:p>
          <a:p>
            <a:r>
              <a:rPr lang="en-US"/>
              <a:t>        ],</a:t>
            </a:r>
          </a:p>
          <a:p>
            <a:r>
              <a:rPr lang="en-US"/>
              <a:t>        "refs": [</a:t>
            </a:r>
          </a:p>
          <a:p>
            <a:r>
              <a:rPr lang="en-US"/>
              <a:t>          "T5",</a:t>
            </a:r>
          </a:p>
          <a:p>
            <a:r>
              <a:rPr lang="en-US"/>
              <a:t>          "T13",</a:t>
            </a:r>
          </a:p>
          <a:p>
            <a:r>
              <a:rPr lang="en-US"/>
              <a:t>          "AS5"</a:t>
            </a:r>
          </a:p>
          <a:p>
            <a:r>
              <a:rPr lang="en-US"/>
              <a:t>        ],</a:t>
            </a:r>
          </a:p>
          <a:p>
            <a:r>
              <a:rPr lang="en-US"/>
              <a:t>        "note": "A usable matching secret plus accessible matching ciphertext suffices. Additional signature checks cannot restore compromised key custody.",</a:t>
            </a:r>
          </a:p>
          <a:p>
            <a:r>
              <a:rPr lang="en-US"/>
              <a:t>        "assessment": "boundary",</a:t>
            </a:r>
          </a:p>
          <a:p>
            <a:r>
              <a:rPr lang="en-US"/>
              <a:t>        "assessment_reason": "AND over (neutral, boundary); each route retains all actor, credential, timing and context prerequisites. No attack success was observed."</a:t>
            </a:r>
          </a:p>
          <a:p>
            <a:r>
              <a:rPr lang="en-US"/>
              <a:t>      },</a:t>
            </a:r>
          </a:p>
          <a:p>
            <a:r>
              <a:rPr lang="en-US"/>
              <a:t>      {</a:t>
            </a:r>
          </a:p>
          <a:p>
            <a:r>
              <a:rPr lang="en-US"/>
              <a:t>        "label": "Expose secrets through operator control",</a:t>
            </a:r>
          </a:p>
          <a:p>
            <a:r>
              <a:rPr lang="en-US"/>
              <a:t>        "op": "OR",</a:t>
            </a:r>
          </a:p>
          <a:p>
            <a:r>
              <a:rPr lang="en-US"/>
              <a:t>        "refs": [</a:t>
            </a:r>
          </a:p>
          <a:p>
            <a:r>
              <a:rPr lang="en-US"/>
              <a:t>          "T13",</a:t>
            </a:r>
          </a:p>
          <a:p>
            <a:r>
              <a:rPr lang="en-US"/>
              <a:t>          "AS4",</a:t>
            </a:r>
          </a:p>
          <a:p>
            <a:r>
              <a:rPr lang="en-US"/>
              <a:t>          "AS5"</a:t>
            </a:r>
          </a:p>
          <a:p>
            <a:r>
              <a:rPr lang="en-US"/>
              <a:t>        ],</a:t>
            </a:r>
          </a:p>
          <a:p>
            <a:r>
              <a:rPr lang="en-US"/>
              <a:t>        "note": "These are conditional implementation boundaries, not confirmed exploits. The official launchers disable SSH, but admission does not itself attest SSH absence. KMS release of existing app secrets to an upgrade is a separate authorization question. Each route below explicitly requires successful access and disclosure; owning the deployment alone is not enough.",</a:t>
            </a:r>
          </a:p>
          <a:p>
            <a:r>
              <a:rPr lang="en-US"/>
              <a:t>        "children": [</a:t>
            </a:r>
          </a:p>
          <a:p>
            <a:r>
              <a:rPr lang="en-US"/>
              <a:t>          {</a:t>
            </a:r>
          </a:p>
          <a:p>
            <a:r>
              <a:rPr lang="en-US"/>
              <a:t>            "label": "Use privileged access inside the admitted TEE to disclose the matching model key",</a:t>
            </a:r>
          </a:p>
          <a:p>
            <a:r>
              <a:rPr lang="en-US"/>
              <a:t>            "short_label": "Read model key via guest access",</a:t>
            </a:r>
          </a:p>
          <a:p>
            <a:r>
              <a:rPr lang="en-US"/>
              <a:t>            "refs": [</a:t>
            </a:r>
          </a:p>
          <a:p>
            <a:r>
              <a:rPr lang="en-US"/>
              <a:t>              "T13",</a:t>
            </a:r>
          </a:p>
          <a:p>
            <a:r>
              <a:rPr lang="en-US"/>
              <a:t>              "AS4",</a:t>
            </a:r>
          </a:p>
          <a:p>
            <a:r>
              <a:rPr lang="en-US"/>
              <a:t>              "AS5"</a:t>
            </a:r>
          </a:p>
          <a:p>
            <a:r>
              <a:rPr lang="en-US"/>
              <a:t>            ],</a:t>
            </a:r>
          </a:p>
          <a:p>
            <a:r>
              <a:rPr lang="en-US"/>
              <a:t>            "kind": "boundary",</a:t>
            </a:r>
          </a:p>
          <a:p>
            <a:r>
              <a:rPr lang="en-US"/>
              <a:t>            "assessment": "boundary",</a:t>
            </a:r>
          </a:p>
          <a:p>
            <a:r>
              <a:rPr lang="en-US"/>
              <a:t>            "note": "The official launcher sets ssh_authorized_keys=[]; phala/README.md documents that separate SSH user configuration is outside the verified app_compose. Thus admission alone does not prove absence of privileged guest access in an independently launched otherwise-identical CVM. This leaf requires actual privileged access and extraction of a usable matching model key, followed by decryption of the available ciphertext. It does not assert SSH access in the current deployment. Runtime private-key material is written inside the guest with mode 0600.",</a:t>
            </a:r>
          </a:p>
          <a:p>
            <a:r>
              <a:rPr lang="en-US"/>
              <a:t>            "assessment_reason": "Yellow denotes the required failure of protected key custody and the explicit deployment-evidence boundary (AS4/AS5), not an automatic capability of a human deployer.",</a:t>
            </a:r>
          </a:p>
          <a:p>
            <a:r>
              <a:rPr lang="en-US"/>
              <a:t>            "attacker_capability": "Actually obtain privileged access inside the admitted guest and extract its usable secrets.",</a:t>
            </a:r>
          </a:p>
          <a:p>
            <a:r>
              <a:rPr lang="en-US"/>
              <a:t>            "required_credentials": "Privileged guest access and matching key material, not merely cloud deployment rights."</a:t>
            </a:r>
          </a:p>
          <a:p>
            <a:r>
              <a:rPr lang="en-US"/>
              <a:t>          },</a:t>
            </a:r>
          </a:p>
          <a:p>
            <a:r>
              <a:rPr lang="en-US"/>
              <a:t>          {</a:t>
            </a:r>
          </a:p>
          <a:p>
            <a:r>
              <a:rPr lang="en-US"/>
              <a:t>            "label": "Registry-unapproved upgraded code obtains prior app secrets and exposes the matching model key",</a:t>
            </a:r>
          </a:p>
          <a:p>
            <a:r>
              <a:rPr lang="en-US"/>
              <a:t>            "short_label": "Altered code obtains old keys",</a:t>
            </a:r>
          </a:p>
          <a:p>
            <a:r>
              <a:rPr lang="en-US"/>
              <a:t>            "refs": [</a:t>
            </a:r>
          </a:p>
          <a:p>
            <a:r>
              <a:rPr lang="en-US"/>
              <a:t>              "T13",</a:t>
            </a:r>
          </a:p>
          <a:p>
            <a:r>
              <a:rPr lang="en-US"/>
              <a:t>              "AS4",</a:t>
            </a:r>
          </a:p>
          <a:p>
            <a:r>
              <a:rPr lang="en-US"/>
              <a:t>              "AS5"</a:t>
            </a:r>
          </a:p>
          <a:p>
            <a:r>
              <a:rPr lang="en-US"/>
              <a:t>            ],</a:t>
            </a:r>
          </a:p>
          <a:p>
            <a:r>
              <a:rPr lang="en-US"/>
              <a:t>            "kind": "boundary",</a:t>
            </a:r>
          </a:p>
          <a:p>
            <a:r>
              <a:rPr lang="en-US"/>
              <a:t>            "assessment": "boundary",</a:t>
            </a:r>
          </a:p>
          <a:p>
            <a:r>
              <a:rPr lang="en-US"/>
              <a:t>            "note": "DeviceRegistry checks the configured image digest and role policy at new admission. Releasing existing application secrets to an upgraded workload is a separate KMS decision. The application uses dstack getKey to unseal its persisted recipient key; the effective live KMS upgrade policy was not verified. This successful attack condition additionally requires access to the persisted key state and matching envelope, recovery and disclosure of the model key, and decryption of the available ciphertext. An image update or an unchanged app identifier alone does not prove access. No current KMS vulnerability is claimed.",</a:t>
            </a:r>
          </a:p>
          <a:p>
            <a:r>
              <a:rPr lang="en-US"/>
              <a:t>            "assessment_reason": "Yellow denotes the required failure of the intended secret-release/key-custody protection for altered code. The open live-policy question is documented separately and is not itself evidence that an attack succeeds.",</a:t>
            </a:r>
          </a:p>
          <a:p>
            <a:r>
              <a:rPr lang="en-US"/>
              <a:t>            "attacker_capability": "Make registry-unapproved upgraded execution receive prior app secrets and usable sealed state and disclose the matching model key.",</a:t>
            </a:r>
          </a:p>
          <a:p>
            <a:r>
              <a:rPr lang="en-US"/>
              <a:t>            "required_credentials": "Actual KMS release plus matching persisted key state/envelope; app ownership or update ability alone is insufficient."</a:t>
            </a:r>
          </a:p>
          <a:p>
            <a:r>
              <a:rPr lang="en-US"/>
              <a:t>          }</a:t>
            </a:r>
          </a:p>
          <a:p>
            <a:r>
              <a:rPr lang="en-US"/>
              <a:t>        ],</a:t>
            </a:r>
          </a:p>
          <a:p>
            <a:r>
              <a:rPr lang="en-US"/>
              <a:t>        "assessment": "boundary",</a:t>
            </a:r>
          </a:p>
          <a:p>
            <a:r>
              <a:rPr lang="en-US"/>
              <a:t>        "assessment_reason": "OR over (boundary, boundary); each route retains all actor, credential, timing and context prerequisites. No attack success was observed."</a:t>
            </a:r>
          </a:p>
          <a:p>
            <a:r>
              <a:rPr lang="en-US"/>
              <a:t>      }</a:t>
            </a:r>
          </a:p>
          <a:p>
            <a:r>
              <a:rPr lang="en-US"/>
              <a:t>    ],</a:t>
            </a:r>
          </a:p>
          <a:p>
            <a:r>
              <a:rPr lang="en-US"/>
              <a:t>    "refs": [</a:t>
            </a:r>
          </a:p>
          <a:p>
            <a:r>
              <a:rPr lang="en-US"/>
              <a:t>      "T5",</a:t>
            </a:r>
          </a:p>
          <a:p>
            <a:r>
              <a:rPr lang="en-US"/>
              <a:t>      "T13"</a:t>
            </a:r>
          </a:p>
          <a:p>
            <a:r>
              <a:rPr lang="en-US"/>
              <a:t>    ],</a:t>
            </a:r>
          </a:p>
          <a:p>
            <a:r>
              <a:rPr lang="en-US"/>
              <a:t>    "note": "The admitted plaintext recipient is the protected workload, not its human deployer. The modeled paths require actual model disclosure or recovery of its matching decryption key. Operator privileges alone do not establish either. No export from the running deployment has been observed.",</a:t>
            </a:r>
          </a:p>
          <a:p>
            <a:r>
              <a:rPr lang="en-US"/>
              <a:t>    "assessment": "boundary",</a:t>
            </a:r>
          </a:p>
          <a:p>
            <a:r>
              <a:rPr lang="en-US"/>
              <a:t>    "assessment_reason": "OR over (blocked, boundary, boundary); each route retains all actor, credential, timing and context prerequisites. No attack success was observed."</a:t>
            </a:r>
          </a:p>
          <a:p>
            <a:r>
              <a:rPr lang="en-US"/>
              <a:t>  },</a:t>
            </a:r>
          </a:p>
          <a:p>
            <a:r>
              <a:rPr lang="en-US"/>
              <a:t>  "takeaway": "Model keys go to admitted TEE workloads; deploying a TEE does not itself grant access to its plaintext.",</a:t>
            </a:r>
          </a:p>
          <a:p>
            <a:r>
              <a:rPr lang="en-US"/>
              <a:t>  "source_lines": {</a:t>
            </a:r>
          </a:p>
          <a:p>
            <a:r>
              <a:rPr lang="en-US"/>
              <a:t>    "T5": [</a:t>
            </a:r>
          </a:p>
          <a:p>
            <a:r>
              <a:rPr lang="en-US"/>
              <a:t>      350,</a:t>
            </a:r>
          </a:p>
          <a:p>
            <a:r>
              <a:rPr lang="en-US"/>
              <a:t>      359</a:t>
            </a:r>
          </a:p>
          <a:p>
            <a:r>
              <a:rPr lang="en-US"/>
              <a:t>    ],</a:t>
            </a:r>
          </a:p>
          <a:p>
            <a:r>
              <a:rPr lang="en-US"/>
              <a:t>    "T13": [</a:t>
            </a:r>
          </a:p>
          <a:p>
            <a:r>
              <a:rPr lang="en-US"/>
              <a:t>      508,</a:t>
            </a:r>
          </a:p>
          <a:p>
            <a:r>
              <a:rPr lang="en-US"/>
              <a:t>      520</a:t>
            </a:r>
          </a:p>
          <a:p>
            <a:r>
              <a:rPr lang="en-US"/>
              <a:t>    ],</a:t>
            </a:r>
          </a:p>
          <a:p>
            <a:r>
              <a:rPr lang="en-US"/>
              <a:t>    "F7": [</a:t>
            </a:r>
          </a:p>
          <a:p>
            <a:r>
              <a:rPr lang="en-US"/>
              <a:t>      592,</a:t>
            </a:r>
          </a:p>
          <a:p>
            <a:r>
              <a:rPr lang="en-US"/>
              <a:t>      596</a:t>
            </a:r>
          </a:p>
          <a:p>
            <a:r>
              <a:rPr lang="en-US"/>
              <a:t>    ],</a:t>
            </a:r>
          </a:p>
          <a:p>
            <a:r>
              <a:rPr lang="en-US"/>
              <a:t>    "AS5": [</a:t>
            </a:r>
          </a:p>
          <a:p>
            <a:r>
              <a:rPr lang="en-US"/>
              <a:t>      225,</a:t>
            </a:r>
          </a:p>
          <a:p>
            <a:r>
              <a:rPr lang="en-US"/>
              <a:t>      228</a:t>
            </a:r>
          </a:p>
          <a:p>
            <a:r>
              <a:rPr lang="en-US"/>
              <a:t>    ],</a:t>
            </a:r>
          </a:p>
          <a:p>
            <a:r>
              <a:rPr lang="en-US"/>
              <a:t>    "AS4": [</a:t>
            </a:r>
          </a:p>
          <a:p>
            <a:r>
              <a:rPr lang="en-US"/>
              <a:t>      220,</a:t>
            </a:r>
          </a:p>
          <a:p>
            <a:r>
              <a:rPr lang="en-US"/>
              <a:t>      223</a:t>
            </a:r>
          </a:p>
          <a:p>
            <a:r>
              <a:rPr lang="en-US"/>
              <a:t>    ]</a:t>
            </a:r>
          </a:p>
          <a:p>
            <a:r>
              <a:rPr lang="en-US"/>
              <a:t>  },</a:t>
            </a:r>
          </a:p>
          <a:p>
            <a:r>
              <a:rPr lang="en-US"/>
              <a:t>  "implementation_context": {</a:t>
            </a:r>
          </a:p>
          <a:p>
            <a:r>
              <a:rPr lang="en-US"/>
              <a:t>    "scope": "Read-only review of recipient encryption, TEE key material and documented deployment boundaries; no live KMS/SSH test, no attack and no exhaustive security audit.",</a:t>
            </a:r>
          </a:p>
          <a:p>
            <a:r>
              <a:rPr lang="en-US"/>
              <a:t>    "sources": [</a:t>
            </a:r>
          </a:p>
          <a:p>
            <a:r>
              <a:rPr lang="en-US"/>
              <a:t>      {</a:t>
            </a:r>
          </a:p>
          <a:p>
            <a:r>
              <a:rPr lang="en-US"/>
              <a:t>        "path": "vita-fl/dfl/node_server/src/gm_crypto.ts",</a:t>
            </a:r>
          </a:p>
          <a:p>
            <a:r>
              <a:rPr lang="en-US"/>
              <a:t>        "lines": [</a:t>
            </a:r>
          </a:p>
          <a:p>
            <a:r>
              <a:rPr lang="en-US"/>
              <a:t>          178,</a:t>
            </a:r>
          </a:p>
          <a:p>
            <a:r>
              <a:rPr lang="en-US"/>
              <a:t>          195</a:t>
            </a:r>
          </a:p>
          <a:p>
            <a:r>
              <a:rPr lang="en-US"/>
              <a:t>        ],</a:t>
            </a:r>
          </a:p>
          <a:p>
            <a:r>
              <a:rPr lang="en-US"/>
              <a:t>        "finding": "Model key wrapped separately for each eligible recipient public key.",</a:t>
            </a:r>
          </a:p>
          <a:p>
            <a:r>
              <a:rPr lang="en-US"/>
              <a:t>        "sha256": "b54558861535277ad3e94492d59716d4bb419101324d1d5ac95ca42d61b441bf"</a:t>
            </a:r>
          </a:p>
          <a:p>
            <a:r>
              <a:rPr lang="en-US"/>
              <a:t>      },</a:t>
            </a:r>
          </a:p>
          <a:p>
            <a:r>
              <a:rPr lang="en-US"/>
              <a:t>      {</a:t>
            </a:r>
          </a:p>
          <a:p>
            <a:r>
              <a:rPr lang="en-US"/>
              <a:t>        "path": "vita-fl/dfl/node_server/src/participant_key.ts",</a:t>
            </a:r>
          </a:p>
          <a:p>
            <a:r>
              <a:rPr lang="en-US"/>
              <a:t>        "lines": [</a:t>
            </a:r>
          </a:p>
          <a:p>
            <a:r>
              <a:rPr lang="en-US"/>
              <a:t>          247,</a:t>
            </a:r>
          </a:p>
          <a:p>
            <a:r>
              <a:rPr lang="en-US"/>
              <a:t>          290,</a:t>
            </a:r>
          </a:p>
          <a:p>
            <a:r>
              <a:rPr lang="en-US"/>
              <a:t>          332,</a:t>
            </a:r>
          </a:p>
          <a:p>
            <a:r>
              <a:rPr lang="en-US"/>
              <a:t>          350</a:t>
            </a:r>
          </a:p>
          <a:p>
            <a:r>
              <a:rPr lang="en-US"/>
              <a:t>        ],</a:t>
            </a:r>
          </a:p>
          <a:p>
            <a:r>
              <a:rPr lang="en-US"/>
              <a:t>        "finding": "dstack-derived sealing key protects persisted RSA private key; runtime PEM materializes inside the guest.",</a:t>
            </a:r>
          </a:p>
          <a:p>
            <a:r>
              <a:rPr lang="en-US"/>
              <a:t>        "sha256": "70f7dbb95e4b6ca65dc2e6ef2d4d5b05b1d35b573f273e0d52986435cb98a03a"</a:t>
            </a:r>
          </a:p>
          <a:p>
            <a:r>
              <a:rPr lang="en-US"/>
              <a:t>      },</a:t>
            </a:r>
          </a:p>
          <a:p>
            <a:r>
              <a:rPr lang="en-US"/>
              <a:t>      {</a:t>
            </a:r>
          </a:p>
          <a:p>
            <a:r>
              <a:rPr lang="en-US"/>
              <a:t>        "path": "vita-fl/smart_contracts/src/core/DeviceRegistry.sol",</a:t>
            </a:r>
          </a:p>
          <a:p>
            <a:r>
              <a:rPr lang="en-US"/>
              <a:t>        "lines": [</a:t>
            </a:r>
          </a:p>
          <a:p>
            <a:r>
              <a:rPr lang="en-US"/>
              <a:t>          487,</a:t>
            </a:r>
          </a:p>
          <a:p>
            <a:r>
              <a:rPr lang="en-US"/>
              <a:t>          490</a:t>
            </a:r>
          </a:p>
          <a:p>
            <a:r>
              <a:rPr lang="en-US"/>
              <a:t>        ],</a:t>
            </a:r>
          </a:p>
          <a:p>
            <a:r>
              <a:rPr lang="en-US"/>
              <a:t>        "finding": "New admission requires configured worker image digest and allowed role policy.",</a:t>
            </a:r>
          </a:p>
          <a:p>
            <a:r>
              <a:rPr lang="en-US"/>
              <a:t>        "sha256": "f00f9f5268d1f0f55158b71d334dc50542a1ac7704818460634f988d87ef7f4b"</a:t>
            </a:r>
          </a:p>
          <a:p>
            <a:r>
              <a:rPr lang="en-US"/>
              <a:t>      },</a:t>
            </a:r>
          </a:p>
          <a:p>
            <a:r>
              <a:rPr lang="en-US"/>
              <a:t>      {</a:t>
            </a:r>
          </a:p>
          <a:p>
            <a:r>
              <a:rPr lang="en-US"/>
              <a:t>        "path": "vita-fl/phala/main.tf",</a:t>
            </a:r>
          </a:p>
          <a:p>
            <a:r>
              <a:rPr lang="en-US"/>
              <a:t>        "lines": [</a:t>
            </a:r>
          </a:p>
          <a:p>
            <a:r>
              <a:rPr lang="en-US"/>
              <a:t>          395,</a:t>
            </a:r>
          </a:p>
          <a:p>
            <a:r>
              <a:rPr lang="en-US"/>
              <a:t>          403</a:t>
            </a:r>
          </a:p>
          <a:p>
            <a:r>
              <a:rPr lang="en-US"/>
              <a:t>        ],</a:t>
            </a:r>
          </a:p>
          <a:p>
            <a:r>
              <a:rPr lang="en-US"/>
              <a:t>        "finding": "Official worker launcher selects KMS and disables SSH/prelaunch.",</a:t>
            </a:r>
          </a:p>
          <a:p>
            <a:r>
              <a:rPr lang="en-US"/>
              <a:t>        "sha256": "f5807bb33025b4d91fb3536e7cd94d2400c3ca1e1d5720d62920ff6bb521ced5"</a:t>
            </a:r>
          </a:p>
          <a:p>
            <a:r>
              <a:rPr lang="en-US"/>
              <a:t>      },</a:t>
            </a:r>
          </a:p>
          <a:p>
            <a:r>
              <a:rPr lang="en-US"/>
              <a:t>      {</a:t>
            </a:r>
          </a:p>
          <a:p>
            <a:r>
              <a:rPr lang="en-US"/>
              <a:t>        "path": "vita-fl/phala/README.md",</a:t>
            </a:r>
          </a:p>
          <a:p>
            <a:r>
              <a:rPr lang="en-US"/>
              <a:t>        "lines": [</a:t>
            </a:r>
          </a:p>
          <a:p>
            <a:r>
              <a:rPr lang="en-US"/>
              <a:t>          877,</a:t>
            </a:r>
          </a:p>
          <a:p>
            <a:r>
              <a:rPr lang="en-US"/>
              <a:t>          885</a:t>
            </a:r>
          </a:p>
          <a:p>
            <a:r>
              <a:rPr lang="en-US"/>
              <a:t>        ],</a:t>
            </a:r>
          </a:p>
          <a:p>
            <a:r>
              <a:rPr lang="en-US"/>
              <a:t>        "finding": "SSH absence is a deployment control outside current app_compose attestation.",</a:t>
            </a:r>
          </a:p>
          <a:p>
            <a:r>
              <a:rPr lang="en-US"/>
              <a:t>        "sha256": "a078c0b0db2f47530674349de2e3617e5ad7e058f9f72d904288248641b717c8"</a:t>
            </a:r>
          </a:p>
          <a:p>
            <a:r>
              <a:rPr lang="en-US"/>
              <a:t>      }</a:t>
            </a:r>
          </a:p>
          <a:p>
            <a:r>
              <a:rPr lang="en-US"/>
              <a:t>    ],</a:t>
            </a:r>
          </a:p>
          <a:p>
            <a:r>
              <a:rPr lang="en-US"/>
              <a:t>    "limits": [</a:t>
            </a:r>
          </a:p>
          <a:p>
            <a:r>
              <a:rPr lang="en-US"/>
              <a:t>      "The effective cloud KMS upgrade policy was not verified.",</a:t>
            </a:r>
          </a:p>
          <a:p>
            <a:r>
              <a:rPr lang="en-US"/>
              <a:t>      "No privileged access or secret export from the current deployment was demonstrated.",</a:t>
            </a:r>
          </a:p>
          <a:p>
            <a:r>
              <a:rPr lang="en-US"/>
              <a:t>      "This is not an exhaustive implementation audit."</a:t>
            </a:r>
          </a:p>
          <a:p>
            <a:r>
              <a:rPr lang="en-US"/>
              <a:t>    ]</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unauthorized worker authority</a:t>
            </a:r>
          </a:p>
        </p:txBody>
      </p:sp>
      <p:sp>
        <p:nvSpPr>
          <p:cNvPr id="3" name="TextBox 2"/>
          <p:cNvSpPr txBox="1"/>
          <p:nvPr/>
        </p:nvSpPr>
        <p:spPr>
          <a:xfrm>
            <a:off x="566928" y="932688"/>
            <a:ext cx="621792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1 / 6 · T1 / T2</a:t>
            </a:r>
          </a:p>
        </p:txBody>
      </p:sp>
      <p:sp>
        <p:nvSpPr>
          <p:cNvPr id="4" name="Rectangle 3"/>
          <p:cNvSpPr/>
          <p:nvPr/>
        </p:nvSpPr>
        <p:spPr>
          <a:xfrm>
            <a:off x="557784" y="1188720"/>
            <a:ext cx="10927080" cy="16459"/>
          </a:xfrm>
          <a:prstGeom prst="rect">
            <a:avLst/>
          </a:prstGeom>
          <a:solidFill>
            <a:srgbClr val="B8B8B8"/>
          </a:solidFill>
          <a:ln>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light · 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555555"/>
          </a:solidFill>
          <a:ln w="6985">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5F5"/>
          </a:solidFill>
          <a:ln w="698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666666"/>
                </a:solidFill>
                <a:latin typeface="Arial"/>
              </a:rPr>
              <a:t>Agent</a:t>
            </a:r>
          </a:p>
        </p:txBody>
      </p:sp>
      <p:sp>
        <p:nvSpPr>
          <p:cNvPr id="13" name="Attack tree: OR: any route · AND: all conditions"/>
          <p:cNvSpPr txBox="1"/>
          <p:nvPr/>
        </p:nvSpPr>
        <p:spPr>
          <a:xfrm>
            <a:off x="6949440" y="932688"/>
            <a:ext cx="3465576" cy="201168"/>
          </a:xfrm>
          <a:prstGeom prst="rect">
            <a:avLst/>
          </a:prstGeom>
          <a:noFill/>
        </p:spPr>
        <p:txBody>
          <a:bodyPr wrap="square" lIns="0" rIns="0" tIns="0" bIns="0" anchor="ctr">
            <a:spAutoFit/>
          </a:bodyPr>
          <a:lstStyle/>
          <a:p>
            <a:pPr algn="l"/>
            <a:r>
              <a:rPr sz="950" b="0" lang="en-US">
                <a:solidFill>
                  <a:srgbClr val="666666"/>
                </a:solidFill>
                <a:latin typeface="Arial"/>
              </a:rPr>
              <a:t>OR: any route · AND: all conditions</a:t>
            </a:r>
          </a:p>
        </p:txBody>
      </p:sp>
      <p:sp>
        <p:nvSpPr>
          <p:cNvPr id="14" name="Rectangle 13"/>
          <p:cNvSpPr/>
          <p:nvPr/>
        </p:nvSpPr>
        <p:spPr>
          <a:xfrm>
            <a:off x="502920" y="1389888"/>
            <a:ext cx="11155680" cy="3959352"/>
          </a:xfrm>
          <a:prstGeom prst="rect">
            <a:avLst/>
          </a:prstGeom>
          <a:solidFill>
            <a:srgbClr val="F7F7F7"/>
          </a:solidFill>
          <a:ln>
            <a:solidFill>
              <a:srgbClr val="F7F7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2313432" y="3334294"/>
            <a:ext cx="484631"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798063" y="2056093"/>
            <a:ext cx="0" cy="2556401"/>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798063" y="2056093"/>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28032" y="2056093"/>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12664" y="1786998"/>
            <a:ext cx="0" cy="53819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312664" y="178699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312664" y="232518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873752" y="1932649"/>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AND"/>
          <p:cNvSpPr txBox="1"/>
          <p:nvPr/>
        </p:nvSpPr>
        <p:spPr>
          <a:xfrm>
            <a:off x="4887468" y="1946365"/>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24" name="Connector 23"/>
          <p:cNvCxnSpPr/>
          <p:nvPr/>
        </p:nvCxnSpPr>
        <p:spPr>
          <a:xfrm>
            <a:off x="2798063" y="3132473"/>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28032" y="3132473"/>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12664" y="2863378"/>
            <a:ext cx="0" cy="53819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12664" y="286337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312664" y="340156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873752" y="3009029"/>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ack tree: AND"/>
          <p:cNvSpPr txBox="1"/>
          <p:nvPr/>
        </p:nvSpPr>
        <p:spPr>
          <a:xfrm>
            <a:off x="4887468" y="3022745"/>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31" name="Connector 30"/>
          <p:cNvCxnSpPr/>
          <p:nvPr/>
        </p:nvCxnSpPr>
        <p:spPr>
          <a:xfrm>
            <a:off x="2798063" y="4612494"/>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28032" y="4612494"/>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312664" y="4208852"/>
            <a:ext cx="0" cy="807285"/>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312664" y="4208852"/>
            <a:ext cx="82296"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571232" y="4208852"/>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055864" y="3939757"/>
            <a:ext cx="0" cy="53819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055864" y="3939757"/>
            <a:ext cx="1280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055864" y="4477947"/>
            <a:ext cx="1280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648956" y="4085408"/>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ack tree: OR"/>
          <p:cNvSpPr txBox="1"/>
          <p:nvPr/>
        </p:nvSpPr>
        <p:spPr>
          <a:xfrm>
            <a:off x="7662672" y="4099124"/>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cxnSp>
        <p:nvCxnSpPr>
          <p:cNvPr id="41" name="Connector 40"/>
          <p:cNvCxnSpPr/>
          <p:nvPr/>
        </p:nvCxnSpPr>
        <p:spPr>
          <a:xfrm>
            <a:off x="5312664" y="5016137"/>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873752" y="4489050"/>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AND"/>
          <p:cNvSpPr txBox="1"/>
          <p:nvPr/>
        </p:nvSpPr>
        <p:spPr>
          <a:xfrm>
            <a:off x="4887468" y="4502766"/>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sp>
        <p:nvSpPr>
          <p:cNvPr id="44" name="Rounded Rectangle 43"/>
          <p:cNvSpPr/>
          <p:nvPr/>
        </p:nvSpPr>
        <p:spPr>
          <a:xfrm>
            <a:off x="2391156" y="3210850"/>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OR"/>
          <p:cNvSpPr txBox="1"/>
          <p:nvPr/>
        </p:nvSpPr>
        <p:spPr>
          <a:xfrm>
            <a:off x="2404872" y="3224566"/>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sp>
        <p:nvSpPr>
          <p:cNvPr id="46" name="Assessed node: blocked / Gain unauthorized worker authority"/>
          <p:cNvSpPr/>
          <p:nvPr/>
        </p:nvSpPr>
        <p:spPr>
          <a:xfrm>
            <a:off x="594360" y="2419894"/>
            <a:ext cx="1719072" cy="1828800"/>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ATTACKER GOAL"/>
          <p:cNvSpPr txBox="1"/>
          <p:nvPr/>
        </p:nvSpPr>
        <p:spPr>
          <a:xfrm>
            <a:off x="694944" y="2520478"/>
            <a:ext cx="1517904" cy="182880"/>
          </a:xfrm>
          <a:prstGeom prst="rect">
            <a:avLst/>
          </a:prstGeom>
          <a:noFill/>
        </p:spPr>
        <p:txBody>
          <a:bodyPr wrap="square" lIns="0" rIns="0" tIns="0" bIns="0" anchor="ctr">
            <a:spAutoFit/>
          </a:bodyPr>
          <a:lstStyle/>
          <a:p>
            <a:pPr algn="l"/>
            <a:r>
              <a:rPr sz="910" b="1" lang="en-US">
                <a:solidFill>
                  <a:srgbClr val="267347"/>
                </a:solidFill>
                <a:latin typeface="Arial"/>
              </a:rPr>
              <a:t>ATTACKER GOAL</a:t>
            </a:r>
          </a:p>
        </p:txBody>
      </p:sp>
      <p:sp>
        <p:nvSpPr>
          <p:cNvPr id="48" name="Attack tree: Gain unauthorized worker authority"/>
          <p:cNvSpPr txBox="1"/>
          <p:nvPr/>
        </p:nvSpPr>
        <p:spPr>
          <a:xfrm>
            <a:off x="694944" y="2767366"/>
            <a:ext cx="1517904" cy="1389888"/>
          </a:xfrm>
          <a:prstGeom prst="rect">
            <a:avLst/>
          </a:prstGeom>
          <a:noFill/>
        </p:spPr>
        <p:txBody>
          <a:bodyPr wrap="square" lIns="0" rIns="0" tIns="0" bIns="0" anchor="ctr">
            <a:spAutoFit/>
          </a:bodyPr>
          <a:lstStyle/>
          <a:p>
            <a:pPr algn="l"/>
            <a:r>
              <a:rPr sz="1550" b="1" lang="en-US">
                <a:solidFill>
                  <a:srgbClr val="267347"/>
                </a:solidFill>
                <a:latin typeface="Arial"/>
              </a:rPr>
              <a:t>Gain unauthorized worker authority</a:t>
            </a:r>
          </a:p>
        </p:txBody>
      </p:sp>
      <p:sp>
        <p:nvSpPr>
          <p:cNvPr id="49" name="Assessed node: blocked / Admit an unapproved workload"/>
          <p:cNvSpPr/>
          <p:nvPr/>
        </p:nvSpPr>
        <p:spPr>
          <a:xfrm>
            <a:off x="2852928" y="1662901"/>
            <a:ext cx="1975104" cy="786384"/>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Admit an unapproved workload"/>
          <p:cNvSpPr txBox="1"/>
          <p:nvPr/>
        </p:nvSpPr>
        <p:spPr>
          <a:xfrm>
            <a:off x="2962656" y="1708621"/>
            <a:ext cx="1755648" cy="694944"/>
          </a:xfrm>
          <a:prstGeom prst="rect">
            <a:avLst/>
          </a:prstGeom>
          <a:noFill/>
        </p:spPr>
        <p:txBody>
          <a:bodyPr wrap="square" lIns="0" rIns="0" tIns="0" bIns="0" anchor="ctr">
            <a:spAutoFit/>
          </a:bodyPr>
          <a:lstStyle/>
          <a:p>
            <a:pPr algn="l"/>
            <a:r>
              <a:rPr sz="1310" b="1" lang="en-US">
                <a:solidFill>
                  <a:srgbClr val="267347"/>
                </a:solidFill>
                <a:latin typeface="Arial"/>
              </a:rPr>
              <a:t>Admit an unapproved workload</a:t>
            </a:r>
          </a:p>
        </p:txBody>
      </p:sp>
      <p:sp>
        <p:nvSpPr>
          <p:cNvPr id="51" name="Assessed node: neutral / Present a genuine quote for an unapproved image"/>
          <p:cNvSpPr/>
          <p:nvPr/>
        </p:nvSpPr>
        <p:spPr>
          <a:xfrm>
            <a:off x="8183879" y="1538478"/>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ttack tree: Quote for unapproved image"/>
          <p:cNvSpPr txBox="1"/>
          <p:nvPr/>
        </p:nvSpPr>
        <p:spPr>
          <a:xfrm>
            <a:off x="8293607" y="156133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Quote for unapproved image</a:t>
            </a:r>
          </a:p>
        </p:txBody>
      </p:sp>
      <p:sp>
        <p:nvSpPr>
          <p:cNvPr id="53" name="Assessed node: blocked / Verifier accepts the wrong app measurement / policy"/>
          <p:cNvSpPr/>
          <p:nvPr/>
        </p:nvSpPr>
        <p:spPr>
          <a:xfrm>
            <a:off x="8183879" y="2076667"/>
            <a:ext cx="3401568" cy="497041"/>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Pass image / roster / policy checks"/>
          <p:cNvSpPr txBox="1"/>
          <p:nvPr/>
        </p:nvSpPr>
        <p:spPr>
          <a:xfrm>
            <a:off x="8293607" y="209952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Pass image / roster / policy checks</a:t>
            </a:r>
          </a:p>
        </p:txBody>
      </p:sp>
      <p:sp>
        <p:nvSpPr>
          <p:cNvPr id="55" name="Assessed node: blocked / Rebind valid attestation"/>
          <p:cNvSpPr/>
          <p:nvPr/>
        </p:nvSpPr>
        <p:spPr>
          <a:xfrm>
            <a:off x="2852928" y="2739281"/>
            <a:ext cx="1975104" cy="786384"/>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Rebind valid attestation"/>
          <p:cNvSpPr txBox="1"/>
          <p:nvPr/>
        </p:nvSpPr>
        <p:spPr>
          <a:xfrm>
            <a:off x="2962656" y="2785001"/>
            <a:ext cx="1755648" cy="694944"/>
          </a:xfrm>
          <a:prstGeom prst="rect">
            <a:avLst/>
          </a:prstGeom>
          <a:noFill/>
        </p:spPr>
        <p:txBody>
          <a:bodyPr wrap="square" lIns="0" rIns="0" tIns="0" bIns="0" anchor="ctr">
            <a:spAutoFit/>
          </a:bodyPr>
          <a:lstStyle/>
          <a:p>
            <a:pPr algn="l"/>
            <a:r>
              <a:rPr sz="1310" b="1" lang="en-US">
                <a:solidFill>
                  <a:srgbClr val="267347"/>
                </a:solidFill>
                <a:latin typeface="Arial"/>
              </a:rPr>
              <a:t>Rebind valid attestation</a:t>
            </a:r>
          </a:p>
        </p:txBody>
      </p:sp>
      <p:sp>
        <p:nvSpPr>
          <p:cNvPr id="57" name="Assessed node: neutral / Attach valid evidence to another identity, key or endpoint"/>
          <p:cNvSpPr/>
          <p:nvPr/>
        </p:nvSpPr>
        <p:spPr>
          <a:xfrm>
            <a:off x="8183879" y="2614857"/>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Rebind identity / key / endpoint"/>
          <p:cNvSpPr txBox="1"/>
          <p:nvPr/>
        </p:nvSpPr>
        <p:spPr>
          <a:xfrm>
            <a:off x="8293607" y="263771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Rebind identity / key / endpoint</a:t>
            </a:r>
          </a:p>
        </p:txBody>
      </p:sp>
      <p:sp>
        <p:nvSpPr>
          <p:cNvPr id="59" name="Assessed node: blocked / Registry accepts the mismatched identity / key / context"/>
          <p:cNvSpPr/>
          <p:nvPr/>
        </p:nvSpPr>
        <p:spPr>
          <a:xfrm>
            <a:off x="8183879" y="3153047"/>
            <a:ext cx="3401568" cy="497041"/>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Pass enrollment / quote bindings"/>
          <p:cNvSpPr txBox="1"/>
          <p:nvPr/>
        </p:nvSpPr>
        <p:spPr>
          <a:xfrm>
            <a:off x="8293607" y="317590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Pass enrollment / quote bindings</a:t>
            </a:r>
          </a:p>
        </p:txBody>
      </p:sp>
      <p:sp>
        <p:nvSpPr>
          <p:cNvPr id="61" name="Assessed node: blocked / Replay earlier authority"/>
          <p:cNvSpPr/>
          <p:nvPr/>
        </p:nvSpPr>
        <p:spPr>
          <a:xfrm>
            <a:off x="2852928" y="4219302"/>
            <a:ext cx="1975104" cy="786384"/>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ack tree: Replay earlier authority"/>
          <p:cNvSpPr txBox="1"/>
          <p:nvPr/>
        </p:nvSpPr>
        <p:spPr>
          <a:xfrm>
            <a:off x="2962656" y="4265022"/>
            <a:ext cx="1755648" cy="694944"/>
          </a:xfrm>
          <a:prstGeom prst="rect">
            <a:avLst/>
          </a:prstGeom>
          <a:noFill/>
        </p:spPr>
        <p:txBody>
          <a:bodyPr wrap="square" lIns="0" rIns="0" tIns="0" bIns="0" anchor="ctr">
            <a:spAutoFit/>
          </a:bodyPr>
          <a:lstStyle/>
          <a:p>
            <a:pPr algn="l"/>
            <a:r>
              <a:rPr sz="1310" b="1" lang="en-US">
                <a:solidFill>
                  <a:srgbClr val="267347"/>
                </a:solidFill>
                <a:latin typeface="Arial"/>
              </a:rPr>
              <a:t>Replay earlier authority</a:t>
            </a:r>
          </a:p>
        </p:txBody>
      </p:sp>
      <p:sp>
        <p:nvSpPr>
          <p:cNvPr id="63" name="Assessed node: neutral / Reuse captured signed material"/>
          <p:cNvSpPr/>
          <p:nvPr/>
        </p:nvSpPr>
        <p:spPr>
          <a:xfrm>
            <a:off x="5394960" y="3861380"/>
            <a:ext cx="2176272" cy="694944"/>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ack tree: Reuse captured signed material"/>
          <p:cNvSpPr txBox="1"/>
          <p:nvPr/>
        </p:nvSpPr>
        <p:spPr>
          <a:xfrm>
            <a:off x="5504688" y="3907100"/>
            <a:ext cx="1956815" cy="603504"/>
          </a:xfrm>
          <a:prstGeom prst="rect">
            <a:avLst/>
          </a:prstGeom>
          <a:noFill/>
        </p:spPr>
        <p:txBody>
          <a:bodyPr wrap="square" lIns="0" rIns="0" tIns="0" bIns="0" anchor="ctr">
            <a:spAutoFit/>
          </a:bodyPr>
          <a:lstStyle/>
          <a:p>
            <a:pPr algn="l"/>
            <a:r>
              <a:rPr sz="1240" b="1" lang="en-US">
                <a:solidFill>
                  <a:srgbClr val="2D2D2D"/>
                </a:solidFill>
                <a:latin typeface="Arial"/>
              </a:rPr>
              <a:t>Reuse captured signed material</a:t>
            </a:r>
          </a:p>
        </p:txBody>
      </p:sp>
      <p:sp>
        <p:nvSpPr>
          <p:cNvPr id="65" name="Assessed node: neutral / Reuse evidence with a consumed registration counter"/>
          <p:cNvSpPr/>
          <p:nvPr/>
        </p:nvSpPr>
        <p:spPr>
          <a:xfrm>
            <a:off x="8183879" y="3691236"/>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ack tree: Replay consumed registration"/>
          <p:cNvSpPr txBox="1"/>
          <p:nvPr/>
        </p:nvSpPr>
        <p:spPr>
          <a:xfrm>
            <a:off x="8293607" y="371409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Replay consumed registration</a:t>
            </a:r>
          </a:p>
        </p:txBody>
      </p:sp>
      <p:sp>
        <p:nvSpPr>
          <p:cNvPr id="67" name="Assessed node: neutral / Replay a previously signed round action in an invalid current context"/>
          <p:cNvSpPr/>
          <p:nvPr/>
        </p:nvSpPr>
        <p:spPr>
          <a:xfrm>
            <a:off x="8183879" y="4229426"/>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ack tree: Replay an earlier signed action"/>
          <p:cNvSpPr txBox="1"/>
          <p:nvPr/>
        </p:nvSpPr>
        <p:spPr>
          <a:xfrm>
            <a:off x="8293607" y="425228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Replay an earlier signed action</a:t>
            </a:r>
          </a:p>
        </p:txBody>
      </p:sp>
      <p:sp>
        <p:nvSpPr>
          <p:cNvPr id="69" name="Assessed node: blocked / Current-authority / freshness checks accept it"/>
          <p:cNvSpPr/>
          <p:nvPr/>
        </p:nvSpPr>
        <p:spPr>
          <a:xfrm>
            <a:off x="8183879" y="4767616"/>
            <a:ext cx="3401568" cy="497041"/>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ack tree: Pass nonce / current-state checks"/>
          <p:cNvSpPr txBox="1"/>
          <p:nvPr/>
        </p:nvSpPr>
        <p:spPr>
          <a:xfrm>
            <a:off x="8293607" y="479047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Pass nonce / current-state checks</a:t>
            </a:r>
          </a:p>
        </p:txBody>
      </p:sp>
      <p:sp>
        <p:nvSpPr>
          <p:cNvPr id="71" name="Attack tree: LEGEND"/>
          <p:cNvSpPr txBox="1"/>
          <p:nvPr/>
        </p:nvSpPr>
        <p:spPr>
          <a:xfrm>
            <a:off x="630936" y="5340096"/>
            <a:ext cx="585216" cy="201168"/>
          </a:xfrm>
          <a:prstGeom prst="rect">
            <a:avLst/>
          </a:prstGeom>
          <a:noFill/>
        </p:spPr>
        <p:txBody>
          <a:bodyPr wrap="square" lIns="0" rIns="0" tIns="0" bIns="0" anchor="ctr">
            <a:spAutoFit/>
          </a:bodyPr>
          <a:lstStyle/>
          <a:p>
            <a:pPr algn="l"/>
            <a:r>
              <a:rPr sz="850" b="1" lang="en-US">
                <a:solidFill>
                  <a:srgbClr val="666666"/>
                </a:solidFill>
                <a:latin typeface="Arial"/>
              </a:rPr>
              <a:t>LEGEND</a:t>
            </a:r>
          </a:p>
        </p:txBody>
      </p:sp>
      <p:sp>
        <p:nvSpPr>
          <p:cNvPr id="72" name="Attack legend swatch: Action / condition"/>
          <p:cNvSpPr/>
          <p:nvPr/>
        </p:nvSpPr>
        <p:spPr>
          <a:xfrm>
            <a:off x="1280160" y="5358384"/>
            <a:ext cx="155448" cy="15544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ack legend label: Action / condition"/>
          <p:cNvSpPr txBox="1"/>
          <p:nvPr/>
        </p:nvSpPr>
        <p:spPr>
          <a:xfrm>
            <a:off x="1508760" y="5340096"/>
            <a:ext cx="1874519" cy="201168"/>
          </a:xfrm>
          <a:prstGeom prst="rect">
            <a:avLst/>
          </a:prstGeom>
          <a:noFill/>
        </p:spPr>
        <p:txBody>
          <a:bodyPr wrap="square" lIns="0" rIns="0" tIns="0" bIns="0" anchor="ctr">
            <a:spAutoFit/>
          </a:bodyPr>
          <a:lstStyle/>
          <a:p>
            <a:pPr algn="l"/>
            <a:r>
              <a:rPr sz="1000" b="0" lang="en-US">
                <a:solidFill>
                  <a:srgbClr val="2D2D2D"/>
                </a:solidFill>
                <a:latin typeface="Arial"/>
              </a:rPr>
              <a:t>Action / condition</a:t>
            </a:r>
          </a:p>
        </p:txBody>
      </p:sp>
      <p:sp>
        <p:nvSpPr>
          <p:cNvPr id="74" name="Attack legend swatch: Possible in threat model"/>
          <p:cNvSpPr/>
          <p:nvPr/>
        </p:nvSpPr>
        <p:spPr>
          <a:xfrm>
            <a:off x="3657600" y="5358384"/>
            <a:ext cx="155448" cy="155448"/>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ack legend label: Possible in threat model"/>
          <p:cNvSpPr txBox="1"/>
          <p:nvPr/>
        </p:nvSpPr>
        <p:spPr>
          <a:xfrm>
            <a:off x="3886200" y="5340096"/>
            <a:ext cx="2121408" cy="201168"/>
          </a:xfrm>
          <a:prstGeom prst="rect">
            <a:avLst/>
          </a:prstGeom>
          <a:noFill/>
        </p:spPr>
        <p:txBody>
          <a:bodyPr wrap="square" lIns="0" rIns="0" tIns="0" bIns="0" anchor="ctr">
            <a:spAutoFit/>
          </a:bodyPr>
          <a:lstStyle/>
          <a:p>
            <a:pPr algn="l"/>
            <a:r>
              <a:rPr sz="1000" b="0" lang="en-US">
                <a:solidFill>
                  <a:srgbClr val="2D2D2D"/>
                </a:solidFill>
                <a:latin typeface="Arial"/>
              </a:rPr>
              <a:t>Possible in threat model</a:t>
            </a:r>
          </a:p>
        </p:txBody>
      </p:sp>
      <p:sp>
        <p:nvSpPr>
          <p:cNvPr id="76" name="Attack legend swatch: Assumption boundary"/>
          <p:cNvSpPr/>
          <p:nvPr/>
        </p:nvSpPr>
        <p:spPr>
          <a:xfrm>
            <a:off x="6428232" y="5358384"/>
            <a:ext cx="155448" cy="155448"/>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ack legend label: Assumption boundary"/>
          <p:cNvSpPr txBox="1"/>
          <p:nvPr/>
        </p:nvSpPr>
        <p:spPr>
          <a:xfrm>
            <a:off x="6656832" y="5340096"/>
            <a:ext cx="1938528" cy="201168"/>
          </a:xfrm>
          <a:prstGeom prst="rect">
            <a:avLst/>
          </a:prstGeom>
          <a:noFill/>
        </p:spPr>
        <p:txBody>
          <a:bodyPr wrap="square" lIns="0" rIns="0" tIns="0" bIns="0" anchor="ctr">
            <a:spAutoFit/>
          </a:bodyPr>
          <a:lstStyle/>
          <a:p>
            <a:pPr algn="l"/>
            <a:r>
              <a:rPr sz="1000" b="0" lang="en-US">
                <a:solidFill>
                  <a:srgbClr val="2D2D2D"/>
                </a:solidFill>
                <a:latin typeface="Arial"/>
              </a:rPr>
              <a:t>Assumption boundary</a:t>
            </a:r>
          </a:p>
        </p:txBody>
      </p:sp>
      <p:sp>
        <p:nvSpPr>
          <p:cNvPr id="78" name="Attack legend swatch: Blocked under assumptions"/>
          <p:cNvSpPr/>
          <p:nvPr/>
        </p:nvSpPr>
        <p:spPr>
          <a:xfrm>
            <a:off x="8924544" y="5358384"/>
            <a:ext cx="155448" cy="155448"/>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ack legend label: Blocked under assumptions"/>
          <p:cNvSpPr txBox="1"/>
          <p:nvPr/>
        </p:nvSpPr>
        <p:spPr>
          <a:xfrm>
            <a:off x="9153144" y="5340096"/>
            <a:ext cx="2395728" cy="201168"/>
          </a:xfrm>
          <a:prstGeom prst="rect">
            <a:avLst/>
          </a:prstGeom>
          <a:noFill/>
        </p:spPr>
        <p:txBody>
          <a:bodyPr wrap="square" lIns="0" rIns="0" tIns="0" bIns="0" anchor="ctr">
            <a:spAutoFit/>
          </a:bodyPr>
          <a:lstStyle/>
          <a:p>
            <a:pPr algn="l"/>
            <a:r>
              <a:rPr sz="1000" b="0" lang="en-US">
                <a:solidFill>
                  <a:srgbClr val="2D2D2D"/>
                </a:solidFill>
                <a:latin typeface="Arial"/>
              </a:rPr>
              <a:t>Blocked under assumptions</a:t>
            </a:r>
          </a:p>
        </p:txBody>
      </p:sp>
      <p:sp>
        <p:nvSpPr>
          <p:cNvPr id="80" name="Attack tree: Admission binds roster, code and keys; replaying a signature does not grant current signing authority."/>
          <p:cNvSpPr txBox="1"/>
          <p:nvPr/>
        </p:nvSpPr>
        <p:spPr>
          <a:xfrm>
            <a:off x="630936" y="5541264"/>
            <a:ext cx="10936224" cy="192024"/>
          </a:xfrm>
          <a:prstGeom prst="rect">
            <a:avLst/>
          </a:prstGeom>
          <a:noFill/>
        </p:spPr>
        <p:txBody>
          <a:bodyPr wrap="square" lIns="0" rIns="0" tIns="0" bIns="0" anchor="ctr">
            <a:spAutoFit/>
          </a:bodyPr>
          <a:lstStyle/>
          <a:p>
            <a:pPr algn="l"/>
            <a:r>
              <a:rPr sz="1050" b="1" lang="en-US">
                <a:solidFill>
                  <a:srgbClr val="2D2D2D"/>
                </a:solidFill>
                <a:latin typeface="Arial"/>
              </a:rPr>
              <a:t>Admission binds roster, code and keys; replaying a signature does not grant current signing authority.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 integrity and poisoning</a:t>
            </a:r>
          </a:p>
        </p:txBody>
      </p:sp>
      <p:sp>
        <p:nvSpPr>
          <p:cNvPr id="3" name="TextBox 2"/>
          <p:cNvSpPr txBox="1"/>
          <p:nvPr/>
        </p:nvSpPr>
        <p:spPr>
          <a:xfrm>
            <a:off x="566928" y="932688"/>
            <a:ext cx="621792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2 / 6 · T3 / T4 / T6 / T7 / T13 / T14</a:t>
            </a:r>
          </a:p>
        </p:txBody>
      </p:sp>
      <p:sp>
        <p:nvSpPr>
          <p:cNvPr id="4" name="Rectangle 3"/>
          <p:cNvSpPr/>
          <p:nvPr/>
        </p:nvSpPr>
        <p:spPr>
          <a:xfrm>
            <a:off x="557784" y="1188720"/>
            <a:ext cx="10927080" cy="16459"/>
          </a:xfrm>
          <a:prstGeom prst="rect">
            <a:avLst/>
          </a:prstGeom>
          <a:solidFill>
            <a:srgbClr val="B8B8B8"/>
          </a:solidFill>
          <a:ln>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light · 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555555"/>
          </a:solidFill>
          <a:ln w="6985">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5F5"/>
          </a:solidFill>
          <a:ln w="698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666666"/>
                </a:solidFill>
                <a:latin typeface="Arial"/>
              </a:rPr>
              <a:t>Agent</a:t>
            </a:r>
          </a:p>
        </p:txBody>
      </p:sp>
      <p:sp>
        <p:nvSpPr>
          <p:cNvPr id="13" name="Attack tree: OR: any route · AND: all conditions"/>
          <p:cNvSpPr txBox="1"/>
          <p:nvPr/>
        </p:nvSpPr>
        <p:spPr>
          <a:xfrm>
            <a:off x="6949440" y="932688"/>
            <a:ext cx="3465576" cy="201168"/>
          </a:xfrm>
          <a:prstGeom prst="rect">
            <a:avLst/>
          </a:prstGeom>
          <a:noFill/>
        </p:spPr>
        <p:txBody>
          <a:bodyPr wrap="square" lIns="0" rIns="0" tIns="0" bIns="0" anchor="ctr">
            <a:spAutoFit/>
          </a:bodyPr>
          <a:lstStyle/>
          <a:p>
            <a:pPr algn="l"/>
            <a:r>
              <a:rPr sz="950" b="0" lang="en-US">
                <a:solidFill>
                  <a:srgbClr val="666666"/>
                </a:solidFill>
                <a:latin typeface="Arial"/>
              </a:rPr>
              <a:t>OR: any route · AND: all conditions</a:t>
            </a:r>
          </a:p>
        </p:txBody>
      </p:sp>
      <p:sp>
        <p:nvSpPr>
          <p:cNvPr id="14" name="Rectangle 13"/>
          <p:cNvSpPr/>
          <p:nvPr/>
        </p:nvSpPr>
        <p:spPr>
          <a:xfrm>
            <a:off x="502920" y="1389888"/>
            <a:ext cx="11155680" cy="3959352"/>
          </a:xfrm>
          <a:prstGeom prst="rect">
            <a:avLst/>
          </a:prstGeom>
          <a:solidFill>
            <a:srgbClr val="F7F7F7"/>
          </a:solidFill>
          <a:ln>
            <a:solidFill>
              <a:srgbClr val="F7F7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2313432" y="3401568"/>
            <a:ext cx="484631"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798063" y="1988819"/>
            <a:ext cx="0" cy="2825497"/>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798063" y="1988819"/>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28032" y="1988819"/>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12664" y="1753362"/>
            <a:ext cx="0" cy="470916"/>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312664" y="1753362"/>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312664" y="222427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873752" y="1865376"/>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AND"/>
          <p:cNvSpPr txBox="1"/>
          <p:nvPr/>
        </p:nvSpPr>
        <p:spPr>
          <a:xfrm>
            <a:off x="4887468" y="1879091"/>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24" name="Connector 23"/>
          <p:cNvCxnSpPr/>
          <p:nvPr/>
        </p:nvCxnSpPr>
        <p:spPr>
          <a:xfrm>
            <a:off x="2798063" y="2930652"/>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28032" y="2930652"/>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12664" y="2695194"/>
            <a:ext cx="0" cy="470916"/>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12664" y="2695194"/>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312664" y="3166110"/>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873752" y="2807208"/>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ack tree: AND"/>
          <p:cNvSpPr txBox="1"/>
          <p:nvPr/>
        </p:nvSpPr>
        <p:spPr>
          <a:xfrm>
            <a:off x="4887468" y="2820924"/>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31" name="Connector 30"/>
          <p:cNvCxnSpPr/>
          <p:nvPr/>
        </p:nvCxnSpPr>
        <p:spPr>
          <a:xfrm>
            <a:off x="2798063" y="3872483"/>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28032" y="3872483"/>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312664" y="3637026"/>
            <a:ext cx="0" cy="470915"/>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312664" y="3637026"/>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312664" y="4107941"/>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873752" y="3749039"/>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ack tree: AND"/>
          <p:cNvSpPr txBox="1"/>
          <p:nvPr/>
        </p:nvSpPr>
        <p:spPr>
          <a:xfrm>
            <a:off x="4887468" y="3762755"/>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38" name="Connector 37"/>
          <p:cNvCxnSpPr/>
          <p:nvPr/>
        </p:nvCxnSpPr>
        <p:spPr>
          <a:xfrm>
            <a:off x="2798063" y="4814316"/>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828032" y="4814316"/>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312664" y="4578858"/>
            <a:ext cx="0" cy="470916"/>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312664" y="457885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312664" y="5049774"/>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4873752" y="4690872"/>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ttack tree: AND"/>
          <p:cNvSpPr txBox="1"/>
          <p:nvPr/>
        </p:nvSpPr>
        <p:spPr>
          <a:xfrm>
            <a:off x="4887468" y="4704588"/>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sp>
        <p:nvSpPr>
          <p:cNvPr id="45" name="Rounded Rectangle 44"/>
          <p:cNvSpPr/>
          <p:nvPr/>
        </p:nvSpPr>
        <p:spPr>
          <a:xfrm>
            <a:off x="2391156" y="3278124"/>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ttack tree: OR"/>
          <p:cNvSpPr txBox="1"/>
          <p:nvPr/>
        </p:nvSpPr>
        <p:spPr>
          <a:xfrm>
            <a:off x="2404872" y="3291840"/>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sp>
        <p:nvSpPr>
          <p:cNvPr id="47" name="Assessed node: boundary / Corrupt the model in this run"/>
          <p:cNvSpPr/>
          <p:nvPr/>
        </p:nvSpPr>
        <p:spPr>
          <a:xfrm>
            <a:off x="594360" y="2487168"/>
            <a:ext cx="1719072" cy="1828800"/>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Attack tree: ATTACKER GOAL"/>
          <p:cNvSpPr txBox="1"/>
          <p:nvPr/>
        </p:nvSpPr>
        <p:spPr>
          <a:xfrm>
            <a:off x="694944" y="2587752"/>
            <a:ext cx="1517904" cy="182880"/>
          </a:xfrm>
          <a:prstGeom prst="rect">
            <a:avLst/>
          </a:prstGeom>
          <a:noFill/>
        </p:spPr>
        <p:txBody>
          <a:bodyPr wrap="square" lIns="0" rIns="0" tIns="0" bIns="0" anchor="ctr">
            <a:spAutoFit/>
          </a:bodyPr>
          <a:lstStyle/>
          <a:p>
            <a:pPr algn="l"/>
            <a:r>
              <a:rPr sz="910" b="1" lang="en-US">
                <a:solidFill>
                  <a:srgbClr val="94600B"/>
                </a:solidFill>
                <a:latin typeface="Arial"/>
              </a:rPr>
              <a:t>ATTACKER GOAL</a:t>
            </a:r>
          </a:p>
        </p:txBody>
      </p:sp>
      <p:sp>
        <p:nvSpPr>
          <p:cNvPr id="49" name="Attack tree: Corrupt the model in this run"/>
          <p:cNvSpPr txBox="1"/>
          <p:nvPr/>
        </p:nvSpPr>
        <p:spPr>
          <a:xfrm>
            <a:off x="694944" y="2834640"/>
            <a:ext cx="1517904" cy="1389888"/>
          </a:xfrm>
          <a:prstGeom prst="rect">
            <a:avLst/>
          </a:prstGeom>
          <a:noFill/>
        </p:spPr>
        <p:txBody>
          <a:bodyPr wrap="square" lIns="0" rIns="0" tIns="0" bIns="0" anchor="ctr">
            <a:spAutoFit/>
          </a:bodyPr>
          <a:lstStyle/>
          <a:p>
            <a:pPr algn="l"/>
            <a:r>
              <a:rPr sz="1550" b="1" lang="en-US">
                <a:solidFill>
                  <a:srgbClr val="94600B"/>
                </a:solidFill>
                <a:latin typeface="Arial"/>
              </a:rPr>
              <a:t>Corrupt the model in this run</a:t>
            </a:r>
          </a:p>
        </p:txBody>
      </p:sp>
      <p:sp>
        <p:nvSpPr>
          <p:cNvPr id="50" name="Assessed node: blocked / Train on tampered inputs"/>
          <p:cNvSpPr/>
          <p:nvPr/>
        </p:nvSpPr>
        <p:spPr>
          <a:xfrm>
            <a:off x="2852928" y="1595628"/>
            <a:ext cx="1975104" cy="786384"/>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Attack tree: Train on tampered inputs"/>
          <p:cNvSpPr txBox="1"/>
          <p:nvPr/>
        </p:nvSpPr>
        <p:spPr>
          <a:xfrm>
            <a:off x="2962656" y="1641348"/>
            <a:ext cx="1755648" cy="694944"/>
          </a:xfrm>
          <a:prstGeom prst="rect">
            <a:avLst/>
          </a:prstGeom>
          <a:noFill/>
        </p:spPr>
        <p:txBody>
          <a:bodyPr wrap="square" lIns="0" rIns="0" tIns="0" bIns="0" anchor="ctr">
            <a:spAutoFit/>
          </a:bodyPr>
          <a:lstStyle/>
          <a:p>
            <a:pPr algn="l"/>
            <a:r>
              <a:rPr sz="1310" b="1" lang="en-US">
                <a:solidFill>
                  <a:srgbClr val="267347"/>
                </a:solidFill>
                <a:latin typeface="Arial"/>
              </a:rPr>
              <a:t>Train on tampered inputs</a:t>
            </a:r>
          </a:p>
        </p:txBody>
      </p:sp>
      <p:sp>
        <p:nvSpPr>
          <p:cNvPr id="52" name="Assessed node: neutral / Alter signed image / label bytes or substitute signer role"/>
          <p:cNvSpPr/>
          <p:nvPr/>
        </p:nvSpPr>
        <p:spPr>
          <a:xfrm>
            <a:off x="8183879" y="1538478"/>
            <a:ext cx="3401568" cy="42976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ttack tree: Alter signed sample bytes"/>
          <p:cNvSpPr txBox="1"/>
          <p:nvPr/>
        </p:nvSpPr>
        <p:spPr>
          <a:xfrm>
            <a:off x="8293607" y="1561337"/>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Alter signed sample bytes</a:t>
            </a:r>
          </a:p>
        </p:txBody>
      </p:sp>
      <p:sp>
        <p:nvSpPr>
          <p:cNvPr id="54" name="Assessed node: blocked / Worker accepts invalid signatures, links or signer roles"/>
          <p:cNvSpPr/>
          <p:nvPr/>
        </p:nvSpPr>
        <p:spPr>
          <a:xfrm>
            <a:off x="8183879" y="2009394"/>
            <a:ext cx="3401568" cy="429768"/>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Attack tree: Pass provenance checks anyway"/>
          <p:cNvSpPr txBox="1"/>
          <p:nvPr/>
        </p:nvSpPr>
        <p:spPr>
          <a:xfrm>
            <a:off x="8293607" y="2032254"/>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Pass provenance checks anyway</a:t>
            </a:r>
          </a:p>
        </p:txBody>
      </p:sp>
      <p:sp>
        <p:nvSpPr>
          <p:cNvPr id="56" name="Assessed node: blocked / Substitute model artifacts"/>
          <p:cNvSpPr/>
          <p:nvPr/>
        </p:nvSpPr>
        <p:spPr>
          <a:xfrm>
            <a:off x="2852928" y="2537460"/>
            <a:ext cx="1975104" cy="786384"/>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ack tree: Substitute model artifacts"/>
          <p:cNvSpPr txBox="1"/>
          <p:nvPr/>
        </p:nvSpPr>
        <p:spPr>
          <a:xfrm>
            <a:off x="2962656" y="2583179"/>
            <a:ext cx="1755648" cy="694944"/>
          </a:xfrm>
          <a:prstGeom prst="rect">
            <a:avLst/>
          </a:prstGeom>
          <a:noFill/>
        </p:spPr>
        <p:txBody>
          <a:bodyPr wrap="square" lIns="0" rIns="0" tIns="0" bIns="0" anchor="ctr">
            <a:spAutoFit/>
          </a:bodyPr>
          <a:lstStyle/>
          <a:p>
            <a:pPr algn="l"/>
            <a:r>
              <a:rPr sz="1310" b="1" lang="en-US">
                <a:solidFill>
                  <a:srgbClr val="267347"/>
                </a:solidFill>
                <a:latin typeface="Arial"/>
              </a:rPr>
              <a:t>Substitute model artifacts</a:t>
            </a:r>
          </a:p>
        </p:txBody>
      </p:sp>
      <p:sp>
        <p:nvSpPr>
          <p:cNvPr id="58" name="Assessed node: neutral / Store returns a swapped update or an old signed model"/>
          <p:cNvSpPr/>
          <p:nvPr/>
        </p:nvSpPr>
        <p:spPr>
          <a:xfrm>
            <a:off x="8183879" y="2480310"/>
            <a:ext cx="3401568" cy="42976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ack tree: Swap update / replay old model"/>
          <p:cNvSpPr txBox="1"/>
          <p:nvPr/>
        </p:nvSpPr>
        <p:spPr>
          <a:xfrm>
            <a:off x="8293607" y="2503170"/>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Swap update / replay old model</a:t>
            </a:r>
          </a:p>
        </p:txBody>
      </p:sp>
      <p:sp>
        <p:nvSpPr>
          <p:cNvPr id="60" name="Assessed node: blocked / Consumer uses artifacts that violate tuple / context binding"/>
          <p:cNvSpPr/>
          <p:nvPr/>
        </p:nvSpPr>
        <p:spPr>
          <a:xfrm>
            <a:off x="8183879" y="2951226"/>
            <a:ext cx="3401568" cy="429768"/>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ack tree: Pass signature / context checks"/>
          <p:cNvSpPr txBox="1"/>
          <p:nvPr/>
        </p:nvSpPr>
        <p:spPr>
          <a:xfrm>
            <a:off x="8293607" y="2974086"/>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Pass signature / context checks</a:t>
            </a:r>
          </a:p>
        </p:txBody>
      </p:sp>
      <p:sp>
        <p:nvSpPr>
          <p:cNvPr id="62" name="Assessed node: boundary / Publish a false aggregate"/>
          <p:cNvSpPr/>
          <p:nvPr/>
        </p:nvSpPr>
        <p:spPr>
          <a:xfrm>
            <a:off x="2852928" y="3479291"/>
            <a:ext cx="1975104" cy="786384"/>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ack tree: Publish a false aggregate"/>
          <p:cNvSpPr txBox="1"/>
          <p:nvPr/>
        </p:nvSpPr>
        <p:spPr>
          <a:xfrm>
            <a:off x="2962656" y="3525011"/>
            <a:ext cx="1755648" cy="694944"/>
          </a:xfrm>
          <a:prstGeom prst="rect">
            <a:avLst/>
          </a:prstGeom>
          <a:noFill/>
        </p:spPr>
        <p:txBody>
          <a:bodyPr wrap="square" lIns="0" rIns="0" tIns="0" bIns="0" anchor="ctr">
            <a:spAutoFit/>
          </a:bodyPr>
          <a:lstStyle/>
          <a:p>
            <a:pPr algn="l"/>
            <a:r>
              <a:rPr sz="1310" b="1" lang="en-US">
                <a:solidFill>
                  <a:srgbClr val="94600B"/>
                </a:solidFill>
                <a:latin typeface="Arial"/>
              </a:rPr>
              <a:t>Publish a false aggregate</a:t>
            </a:r>
          </a:p>
        </p:txBody>
      </p:sp>
      <p:sp>
        <p:nvSpPr>
          <p:cNvPr id="64" name="Assessed node: boundary / Compromise the admitted aggregator process or obtain both required signing authorities"/>
          <p:cNvSpPr/>
          <p:nvPr/>
        </p:nvSpPr>
        <p:spPr>
          <a:xfrm>
            <a:off x="8183879" y="3422142"/>
            <a:ext cx="3401568" cy="429768"/>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ack tree: Compromise aggregator runtime"/>
          <p:cNvSpPr txBox="1"/>
          <p:nvPr/>
        </p:nvSpPr>
        <p:spPr>
          <a:xfrm>
            <a:off x="8293607" y="3445002"/>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Compromise aggregator runtime</a:t>
            </a:r>
          </a:p>
        </p:txBody>
      </p:sp>
      <p:sp>
        <p:nvSpPr>
          <p:cNvPr id="66" name="Assessed node: neutral / Publish a mathematically false output with valid signatures and accepted-set bindings"/>
          <p:cNvSpPr/>
          <p:nvPr/>
        </p:nvSpPr>
        <p:spPr>
          <a:xfrm>
            <a:off x="8183879" y="3893057"/>
            <a:ext cx="3401568" cy="42976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ack tree: Sign false aggregate as valid"/>
          <p:cNvSpPr txBox="1"/>
          <p:nvPr/>
        </p:nvSpPr>
        <p:spPr>
          <a:xfrm>
            <a:off x="8293607" y="3915918"/>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Sign false aggregate as valid</a:t>
            </a:r>
          </a:p>
        </p:txBody>
      </p:sp>
      <p:sp>
        <p:nvSpPr>
          <p:cNvPr id="68" name="Assessed node: boundary / Inject a harmful signed update"/>
          <p:cNvSpPr/>
          <p:nvPr/>
        </p:nvSpPr>
        <p:spPr>
          <a:xfrm>
            <a:off x="2852928" y="4421124"/>
            <a:ext cx="1975104" cy="786384"/>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ack tree: Inject a harmful signed update"/>
          <p:cNvSpPr txBox="1"/>
          <p:nvPr/>
        </p:nvSpPr>
        <p:spPr>
          <a:xfrm>
            <a:off x="2962656" y="4466844"/>
            <a:ext cx="1755648" cy="694944"/>
          </a:xfrm>
          <a:prstGeom prst="rect">
            <a:avLst/>
          </a:prstGeom>
          <a:noFill/>
        </p:spPr>
        <p:txBody>
          <a:bodyPr wrap="square" lIns="0" rIns="0" tIns="0" bIns="0" anchor="ctr">
            <a:spAutoFit/>
          </a:bodyPr>
          <a:lstStyle/>
          <a:p>
            <a:pPr algn="l"/>
            <a:r>
              <a:rPr sz="1310" b="1" lang="en-US">
                <a:solidFill>
                  <a:srgbClr val="94600B"/>
                </a:solidFill>
                <a:latin typeface="Arial"/>
              </a:rPr>
              <a:t>Inject a harmful signed update</a:t>
            </a:r>
          </a:p>
        </p:txBody>
      </p:sp>
      <p:sp>
        <p:nvSpPr>
          <p:cNvPr id="70" name="Assessed node: boundary / Compromise admitted worker execution so it can choose an arbitrary update"/>
          <p:cNvSpPr/>
          <p:nvPr/>
        </p:nvSpPr>
        <p:spPr>
          <a:xfrm>
            <a:off x="8183879" y="4363974"/>
            <a:ext cx="3401568" cy="429768"/>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ack tree: Compromise worker runtime"/>
          <p:cNvSpPr txBox="1"/>
          <p:nvPr/>
        </p:nvSpPr>
        <p:spPr>
          <a:xfrm>
            <a:off x="8293607" y="4386834"/>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Compromise worker runtime</a:t>
            </a:r>
          </a:p>
        </p:txBody>
      </p:sp>
      <p:sp>
        <p:nvSpPr>
          <p:cNvPr id="72" name="Assessed node: neutral / Submit a well-formed harmful update whose inclusion actually degrades the aggregate"/>
          <p:cNvSpPr/>
          <p:nvPr/>
        </p:nvSpPr>
        <p:spPr>
          <a:xfrm>
            <a:off x="8183879" y="4834890"/>
            <a:ext cx="3401568" cy="42976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ack tree: Sign a harmful in-context update"/>
          <p:cNvSpPr txBox="1"/>
          <p:nvPr/>
        </p:nvSpPr>
        <p:spPr>
          <a:xfrm>
            <a:off x="8293607" y="4857750"/>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Sign a harmful in-context update</a:t>
            </a:r>
          </a:p>
        </p:txBody>
      </p:sp>
      <p:sp>
        <p:nvSpPr>
          <p:cNvPr id="74" name="Attack tree: LEGEND"/>
          <p:cNvSpPr txBox="1"/>
          <p:nvPr/>
        </p:nvSpPr>
        <p:spPr>
          <a:xfrm>
            <a:off x="630936" y="5340096"/>
            <a:ext cx="585216" cy="201168"/>
          </a:xfrm>
          <a:prstGeom prst="rect">
            <a:avLst/>
          </a:prstGeom>
          <a:noFill/>
        </p:spPr>
        <p:txBody>
          <a:bodyPr wrap="square" lIns="0" rIns="0" tIns="0" bIns="0" anchor="ctr">
            <a:spAutoFit/>
          </a:bodyPr>
          <a:lstStyle/>
          <a:p>
            <a:pPr algn="l"/>
            <a:r>
              <a:rPr sz="850" b="1" lang="en-US">
                <a:solidFill>
                  <a:srgbClr val="666666"/>
                </a:solidFill>
                <a:latin typeface="Arial"/>
              </a:rPr>
              <a:t>LEGEND</a:t>
            </a:r>
          </a:p>
        </p:txBody>
      </p:sp>
      <p:sp>
        <p:nvSpPr>
          <p:cNvPr id="75" name="Attack legend swatch: Action / condition"/>
          <p:cNvSpPr/>
          <p:nvPr/>
        </p:nvSpPr>
        <p:spPr>
          <a:xfrm>
            <a:off x="1280160" y="5358384"/>
            <a:ext cx="155448" cy="15544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ack legend label: Action / condition"/>
          <p:cNvSpPr txBox="1"/>
          <p:nvPr/>
        </p:nvSpPr>
        <p:spPr>
          <a:xfrm>
            <a:off x="1508760" y="5340096"/>
            <a:ext cx="1874519" cy="201168"/>
          </a:xfrm>
          <a:prstGeom prst="rect">
            <a:avLst/>
          </a:prstGeom>
          <a:noFill/>
        </p:spPr>
        <p:txBody>
          <a:bodyPr wrap="square" lIns="0" rIns="0" tIns="0" bIns="0" anchor="ctr">
            <a:spAutoFit/>
          </a:bodyPr>
          <a:lstStyle/>
          <a:p>
            <a:pPr algn="l"/>
            <a:r>
              <a:rPr sz="1000" b="0" lang="en-US">
                <a:solidFill>
                  <a:srgbClr val="2D2D2D"/>
                </a:solidFill>
                <a:latin typeface="Arial"/>
              </a:rPr>
              <a:t>Action / condition</a:t>
            </a:r>
          </a:p>
        </p:txBody>
      </p:sp>
      <p:sp>
        <p:nvSpPr>
          <p:cNvPr id="77" name="Attack legend swatch: Possible in threat model"/>
          <p:cNvSpPr/>
          <p:nvPr/>
        </p:nvSpPr>
        <p:spPr>
          <a:xfrm>
            <a:off x="3657600" y="5358384"/>
            <a:ext cx="155448" cy="155448"/>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ack legend label: Possible in threat model"/>
          <p:cNvSpPr txBox="1"/>
          <p:nvPr/>
        </p:nvSpPr>
        <p:spPr>
          <a:xfrm>
            <a:off x="3886200" y="5340096"/>
            <a:ext cx="2121408" cy="201168"/>
          </a:xfrm>
          <a:prstGeom prst="rect">
            <a:avLst/>
          </a:prstGeom>
          <a:noFill/>
        </p:spPr>
        <p:txBody>
          <a:bodyPr wrap="square" lIns="0" rIns="0" tIns="0" bIns="0" anchor="ctr">
            <a:spAutoFit/>
          </a:bodyPr>
          <a:lstStyle/>
          <a:p>
            <a:pPr algn="l"/>
            <a:r>
              <a:rPr sz="1000" b="0" lang="en-US">
                <a:solidFill>
                  <a:srgbClr val="2D2D2D"/>
                </a:solidFill>
                <a:latin typeface="Arial"/>
              </a:rPr>
              <a:t>Possible in threat model</a:t>
            </a:r>
          </a:p>
        </p:txBody>
      </p:sp>
      <p:sp>
        <p:nvSpPr>
          <p:cNvPr id="79" name="Attack legend swatch: Assumption boundary"/>
          <p:cNvSpPr/>
          <p:nvPr/>
        </p:nvSpPr>
        <p:spPr>
          <a:xfrm>
            <a:off x="6428232" y="5358384"/>
            <a:ext cx="155448" cy="155448"/>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ack legend label: Assumption boundary"/>
          <p:cNvSpPr txBox="1"/>
          <p:nvPr/>
        </p:nvSpPr>
        <p:spPr>
          <a:xfrm>
            <a:off x="6656832" y="5340096"/>
            <a:ext cx="1938528" cy="201168"/>
          </a:xfrm>
          <a:prstGeom prst="rect">
            <a:avLst/>
          </a:prstGeom>
          <a:noFill/>
        </p:spPr>
        <p:txBody>
          <a:bodyPr wrap="square" lIns="0" rIns="0" tIns="0" bIns="0" anchor="ctr">
            <a:spAutoFit/>
          </a:bodyPr>
          <a:lstStyle/>
          <a:p>
            <a:pPr algn="l"/>
            <a:r>
              <a:rPr sz="1000" b="0" lang="en-US">
                <a:solidFill>
                  <a:srgbClr val="2D2D2D"/>
                </a:solidFill>
                <a:latin typeface="Arial"/>
              </a:rPr>
              <a:t>Assumption boundary</a:t>
            </a:r>
          </a:p>
        </p:txBody>
      </p:sp>
      <p:sp>
        <p:nvSpPr>
          <p:cNvPr id="81" name="Attack legend swatch: Blocked under assumptions"/>
          <p:cNvSpPr/>
          <p:nvPr/>
        </p:nvSpPr>
        <p:spPr>
          <a:xfrm>
            <a:off x="8924544" y="5358384"/>
            <a:ext cx="155448" cy="155448"/>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ack legend label: Blocked under assumptions"/>
          <p:cNvSpPr txBox="1"/>
          <p:nvPr/>
        </p:nvSpPr>
        <p:spPr>
          <a:xfrm>
            <a:off x="9153144" y="5340096"/>
            <a:ext cx="2395728" cy="201168"/>
          </a:xfrm>
          <a:prstGeom prst="rect">
            <a:avLst/>
          </a:prstGeom>
          <a:noFill/>
        </p:spPr>
        <p:txBody>
          <a:bodyPr wrap="square" lIns="0" rIns="0" tIns="0" bIns="0" anchor="ctr">
            <a:spAutoFit/>
          </a:bodyPr>
          <a:lstStyle/>
          <a:p>
            <a:pPr algn="l"/>
            <a:r>
              <a:rPr sz="1000" b="0" lang="en-US">
                <a:solidFill>
                  <a:srgbClr val="2D2D2D"/>
                </a:solidFill>
                <a:latin typeface="Arial"/>
              </a:rPr>
              <a:t>Blocked under assumptions</a:t>
            </a:r>
          </a:p>
        </p:txBody>
      </p:sp>
      <p:sp>
        <p:nvSpPr>
          <p:cNvPr id="83" name="Attack tree: Arbitrary updates need protected signing authority; this does not establish statistical model robustness."/>
          <p:cNvSpPr txBox="1"/>
          <p:nvPr/>
        </p:nvSpPr>
        <p:spPr>
          <a:xfrm>
            <a:off x="630936" y="5541264"/>
            <a:ext cx="10936224" cy="192024"/>
          </a:xfrm>
          <a:prstGeom prst="rect">
            <a:avLst/>
          </a:prstGeom>
          <a:noFill/>
        </p:spPr>
        <p:txBody>
          <a:bodyPr wrap="square" lIns="0" rIns="0" tIns="0" bIns="0" anchor="ctr">
            <a:spAutoFit/>
          </a:bodyPr>
          <a:lstStyle/>
          <a:p>
            <a:pPr algn="l"/>
            <a:r>
              <a:rPr sz="1050" b="1" lang="en-US">
                <a:solidFill>
                  <a:srgbClr val="2D2D2D"/>
                </a:solidFill>
                <a:latin typeface="Arial"/>
              </a:rPr>
              <a:t>Arbitrary updates need protected signing authority; this does not establish statistical model robustness.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disrupt rounds and recovery</a:t>
            </a:r>
          </a:p>
        </p:txBody>
      </p:sp>
      <p:sp>
        <p:nvSpPr>
          <p:cNvPr id="3" name="TextBox 2"/>
          <p:cNvSpPr txBox="1"/>
          <p:nvPr/>
        </p:nvSpPr>
        <p:spPr>
          <a:xfrm>
            <a:off x="566928" y="932688"/>
            <a:ext cx="621792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3 / 6 · T2 / T6 / T12 / T13 / T14</a:t>
            </a:r>
          </a:p>
        </p:txBody>
      </p:sp>
      <p:sp>
        <p:nvSpPr>
          <p:cNvPr id="4" name="Rectangle 3"/>
          <p:cNvSpPr/>
          <p:nvPr/>
        </p:nvSpPr>
        <p:spPr>
          <a:xfrm>
            <a:off x="557784" y="1188720"/>
            <a:ext cx="10927080" cy="16459"/>
          </a:xfrm>
          <a:prstGeom prst="rect">
            <a:avLst/>
          </a:prstGeom>
          <a:solidFill>
            <a:srgbClr val="B8B8B8"/>
          </a:solidFill>
          <a:ln>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light · 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555555"/>
          </a:solidFill>
          <a:ln w="6985">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5F5"/>
          </a:solidFill>
          <a:ln w="698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666666"/>
                </a:solidFill>
                <a:latin typeface="Arial"/>
              </a:rPr>
              <a:t>Agent</a:t>
            </a:r>
          </a:p>
        </p:txBody>
      </p:sp>
      <p:sp>
        <p:nvSpPr>
          <p:cNvPr id="13" name="Attack tree: OR: any route · AND: all conditions"/>
          <p:cNvSpPr txBox="1"/>
          <p:nvPr/>
        </p:nvSpPr>
        <p:spPr>
          <a:xfrm>
            <a:off x="6949440" y="932688"/>
            <a:ext cx="3465576" cy="201168"/>
          </a:xfrm>
          <a:prstGeom prst="rect">
            <a:avLst/>
          </a:prstGeom>
          <a:noFill/>
        </p:spPr>
        <p:txBody>
          <a:bodyPr wrap="square" lIns="0" rIns="0" tIns="0" bIns="0" anchor="ctr">
            <a:spAutoFit/>
          </a:bodyPr>
          <a:lstStyle/>
          <a:p>
            <a:pPr algn="l"/>
            <a:r>
              <a:rPr sz="950" b="0" lang="en-US">
                <a:solidFill>
                  <a:srgbClr val="666666"/>
                </a:solidFill>
                <a:latin typeface="Arial"/>
              </a:rPr>
              <a:t>OR: any route · AND: all conditions</a:t>
            </a:r>
          </a:p>
        </p:txBody>
      </p:sp>
      <p:sp>
        <p:nvSpPr>
          <p:cNvPr id="14" name="Rectangle 13"/>
          <p:cNvSpPr/>
          <p:nvPr/>
        </p:nvSpPr>
        <p:spPr>
          <a:xfrm>
            <a:off x="502920" y="1389888"/>
            <a:ext cx="11155680" cy="3959352"/>
          </a:xfrm>
          <a:prstGeom prst="rect">
            <a:avLst/>
          </a:prstGeom>
          <a:solidFill>
            <a:srgbClr val="F7F7F7"/>
          </a:solidFill>
          <a:ln>
            <a:solidFill>
              <a:srgbClr val="F7F7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2313432" y="3401568"/>
            <a:ext cx="484631"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798063" y="1988819"/>
            <a:ext cx="0" cy="2825497"/>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798063" y="1988819"/>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28032" y="1988819"/>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12664" y="1753362"/>
            <a:ext cx="0" cy="470916"/>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312664" y="1753362"/>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312664" y="222427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873752" y="1865376"/>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AND"/>
          <p:cNvSpPr txBox="1"/>
          <p:nvPr/>
        </p:nvSpPr>
        <p:spPr>
          <a:xfrm>
            <a:off x="4887468" y="1879091"/>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24" name="Connector 23"/>
          <p:cNvCxnSpPr/>
          <p:nvPr/>
        </p:nvCxnSpPr>
        <p:spPr>
          <a:xfrm>
            <a:off x="2798063" y="2930652"/>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28032" y="2930652"/>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12664" y="2695194"/>
            <a:ext cx="0" cy="470916"/>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12664" y="2695194"/>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312664" y="3166110"/>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873752" y="2807208"/>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ack tree: AND"/>
          <p:cNvSpPr txBox="1"/>
          <p:nvPr/>
        </p:nvSpPr>
        <p:spPr>
          <a:xfrm>
            <a:off x="4887468" y="2820924"/>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31" name="Connector 30"/>
          <p:cNvCxnSpPr/>
          <p:nvPr/>
        </p:nvCxnSpPr>
        <p:spPr>
          <a:xfrm>
            <a:off x="2798063" y="3872483"/>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28032" y="3872483"/>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312664" y="3637026"/>
            <a:ext cx="0" cy="470915"/>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312664" y="3637026"/>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312664" y="4107941"/>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873752" y="3749039"/>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ack tree: AND"/>
          <p:cNvSpPr txBox="1"/>
          <p:nvPr/>
        </p:nvSpPr>
        <p:spPr>
          <a:xfrm>
            <a:off x="4887468" y="3762755"/>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38" name="Connector 37"/>
          <p:cNvCxnSpPr/>
          <p:nvPr/>
        </p:nvCxnSpPr>
        <p:spPr>
          <a:xfrm>
            <a:off x="2798063" y="4814316"/>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828032" y="4814316"/>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312664" y="4578858"/>
            <a:ext cx="0" cy="470916"/>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312664" y="457885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312664" y="5049774"/>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4873752" y="4690872"/>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ttack tree: AND"/>
          <p:cNvSpPr txBox="1"/>
          <p:nvPr/>
        </p:nvSpPr>
        <p:spPr>
          <a:xfrm>
            <a:off x="4887468" y="4704588"/>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sp>
        <p:nvSpPr>
          <p:cNvPr id="45" name="Rounded Rectangle 44"/>
          <p:cNvSpPr/>
          <p:nvPr/>
        </p:nvSpPr>
        <p:spPr>
          <a:xfrm>
            <a:off x="2391156" y="3278124"/>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ttack tree: OR"/>
          <p:cNvSpPr txBox="1"/>
          <p:nvPr/>
        </p:nvSpPr>
        <p:spPr>
          <a:xfrm>
            <a:off x="2404872" y="3291840"/>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sp>
        <p:nvSpPr>
          <p:cNvPr id="47" name="Assessed node: possible / Disrupt rounds or recovery"/>
          <p:cNvSpPr/>
          <p:nvPr/>
        </p:nvSpPr>
        <p:spPr>
          <a:xfrm>
            <a:off x="594360" y="2487168"/>
            <a:ext cx="1719072" cy="1828800"/>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Attack tree: ATTACKER GOAL"/>
          <p:cNvSpPr txBox="1"/>
          <p:nvPr/>
        </p:nvSpPr>
        <p:spPr>
          <a:xfrm>
            <a:off x="694944" y="2587752"/>
            <a:ext cx="1517904" cy="182880"/>
          </a:xfrm>
          <a:prstGeom prst="rect">
            <a:avLst/>
          </a:prstGeom>
          <a:noFill/>
        </p:spPr>
        <p:txBody>
          <a:bodyPr wrap="square" lIns="0" rIns="0" tIns="0" bIns="0" anchor="ctr">
            <a:spAutoFit/>
          </a:bodyPr>
          <a:lstStyle/>
          <a:p>
            <a:pPr algn="l"/>
            <a:r>
              <a:rPr sz="910" b="1" lang="en-US">
                <a:solidFill>
                  <a:srgbClr val="C40D1E"/>
                </a:solidFill>
                <a:latin typeface="Arial"/>
              </a:rPr>
              <a:t>ATTACKER GOAL</a:t>
            </a:r>
          </a:p>
        </p:txBody>
      </p:sp>
      <p:sp>
        <p:nvSpPr>
          <p:cNvPr id="49" name="Attack tree: Disrupt rounds or recovery"/>
          <p:cNvSpPr txBox="1"/>
          <p:nvPr/>
        </p:nvSpPr>
        <p:spPr>
          <a:xfrm>
            <a:off x="694944" y="2834640"/>
            <a:ext cx="1517904" cy="1389888"/>
          </a:xfrm>
          <a:prstGeom prst="rect">
            <a:avLst/>
          </a:prstGeom>
          <a:noFill/>
        </p:spPr>
        <p:txBody>
          <a:bodyPr wrap="square" lIns="0" rIns="0" tIns="0" bIns="0" anchor="ctr">
            <a:spAutoFit/>
          </a:bodyPr>
          <a:lstStyle/>
          <a:p>
            <a:pPr algn="l"/>
            <a:r>
              <a:rPr sz="1550" b="1" lang="en-US">
                <a:solidFill>
                  <a:srgbClr val="C40D1E"/>
                </a:solidFill>
                <a:latin typeface="Arial"/>
              </a:rPr>
              <a:t>Disrupt rounds or recovery</a:t>
            </a:r>
          </a:p>
        </p:txBody>
      </p:sp>
      <p:sp>
        <p:nvSpPr>
          <p:cNvPr id="50" name="Assessed node: blocked / Forge reports as an outsider"/>
          <p:cNvSpPr/>
          <p:nvPr/>
        </p:nvSpPr>
        <p:spPr>
          <a:xfrm>
            <a:off x="2852928" y="1595628"/>
            <a:ext cx="1975104" cy="786384"/>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Attack tree: Forge reports as an outsider"/>
          <p:cNvSpPr txBox="1"/>
          <p:nvPr/>
        </p:nvSpPr>
        <p:spPr>
          <a:xfrm>
            <a:off x="2962656" y="1641348"/>
            <a:ext cx="1755648" cy="694944"/>
          </a:xfrm>
          <a:prstGeom prst="rect">
            <a:avLst/>
          </a:prstGeom>
          <a:noFill/>
        </p:spPr>
        <p:txBody>
          <a:bodyPr wrap="square" lIns="0" rIns="0" tIns="0" bIns="0" anchor="ctr">
            <a:spAutoFit/>
          </a:bodyPr>
          <a:lstStyle/>
          <a:p>
            <a:pPr algn="l"/>
            <a:r>
              <a:rPr sz="1310" b="1" lang="en-US">
                <a:solidFill>
                  <a:srgbClr val="267347"/>
                </a:solidFill>
                <a:latin typeface="Arial"/>
              </a:rPr>
              <a:t>Forge reports as an outsider</a:t>
            </a:r>
          </a:p>
        </p:txBody>
      </p:sp>
      <p:sp>
        <p:nvSpPr>
          <p:cNvPr id="52" name="Assessed node: neutral / Submit a timeout report using an unauthorized outsider transaction sender"/>
          <p:cNvSpPr/>
          <p:nvPr/>
        </p:nvSpPr>
        <p:spPr>
          <a:xfrm>
            <a:off x="8183879" y="1538478"/>
            <a:ext cx="3401568" cy="42976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ttack tree: Submit an unauthorized report"/>
          <p:cNvSpPr txBox="1"/>
          <p:nvPr/>
        </p:nvSpPr>
        <p:spPr>
          <a:xfrm>
            <a:off x="8293607" y="1561337"/>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Submit an unauthorized report</a:t>
            </a:r>
          </a:p>
        </p:txBody>
      </p:sp>
      <p:sp>
        <p:nvSpPr>
          <p:cNvPr id="54" name="Assessed node: blocked / Get reports accepted without the required current action-key authority"/>
          <p:cNvSpPr/>
          <p:nvPr/>
        </p:nvSpPr>
        <p:spPr>
          <a:xfrm>
            <a:off x="8183879" y="2009394"/>
            <a:ext cx="3401568" cy="429768"/>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Attack tree: Bypass current action authority"/>
          <p:cNvSpPr txBox="1"/>
          <p:nvPr/>
        </p:nvSpPr>
        <p:spPr>
          <a:xfrm>
            <a:off x="8293607" y="2032254"/>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Bypass current action authority</a:t>
            </a:r>
          </a:p>
        </p:txBody>
      </p:sp>
      <p:sp>
        <p:nvSpPr>
          <p:cNvPr id="56" name="Assessed node: boundary / Fabricate a signed quorum"/>
          <p:cNvSpPr/>
          <p:nvPr/>
        </p:nvSpPr>
        <p:spPr>
          <a:xfrm>
            <a:off x="2852928" y="2537460"/>
            <a:ext cx="1975104" cy="786384"/>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ack tree: Fabricate a signed quorum"/>
          <p:cNvSpPr txBox="1"/>
          <p:nvPr/>
        </p:nvSpPr>
        <p:spPr>
          <a:xfrm>
            <a:off x="2962656" y="2583179"/>
            <a:ext cx="1755648" cy="694944"/>
          </a:xfrm>
          <a:prstGeom prst="rect">
            <a:avLst/>
          </a:prstGeom>
          <a:noFill/>
        </p:spPr>
        <p:txBody>
          <a:bodyPr wrap="square" lIns="0" rIns="0" tIns="0" bIns="0" anchor="ctr">
            <a:spAutoFit/>
          </a:bodyPr>
          <a:lstStyle/>
          <a:p>
            <a:pPr algn="l"/>
            <a:r>
              <a:rPr sz="1310" b="1" lang="en-US">
                <a:solidFill>
                  <a:srgbClr val="94600B"/>
                </a:solidFill>
                <a:latin typeface="Arial"/>
              </a:rPr>
              <a:t>Fabricate a signed quorum</a:t>
            </a:r>
          </a:p>
        </p:txBody>
      </p:sp>
      <p:sp>
        <p:nvSpPr>
          <p:cNvPr id="58" name="Assessed node: boundary / Compromise enough admitted action signers to produce arbitrary current-authority reports"/>
          <p:cNvSpPr/>
          <p:nvPr/>
        </p:nvSpPr>
        <p:spPr>
          <a:xfrm>
            <a:off x="8183879" y="2480310"/>
            <a:ext cx="3401568" cy="429768"/>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ack tree: Compromise quorum signers"/>
          <p:cNvSpPr txBox="1"/>
          <p:nvPr/>
        </p:nvSpPr>
        <p:spPr>
          <a:xfrm>
            <a:off x="8293607" y="2503170"/>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Compromise quorum signers</a:t>
            </a:r>
          </a:p>
        </p:txBody>
      </p:sp>
      <p:sp>
        <p:nvSpPr>
          <p:cNvPr id="60" name="Assessed node: neutral / Submit false reports that satisfy every time, round, eligibility and quorum guard"/>
          <p:cNvSpPr/>
          <p:nvPr/>
        </p:nvSpPr>
        <p:spPr>
          <a:xfrm>
            <a:off x="8183879" y="2951226"/>
            <a:ext cx="3401568" cy="42976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ack tree: Meet time / round / quorum guards"/>
          <p:cNvSpPr txBox="1"/>
          <p:nvPr/>
        </p:nvSpPr>
        <p:spPr>
          <a:xfrm>
            <a:off x="8293607" y="2974086"/>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Meet time / round / quorum guards</a:t>
            </a:r>
          </a:p>
        </p:txBody>
      </p:sp>
      <p:sp>
        <p:nvSpPr>
          <p:cNvPr id="62" name="Assessed node: possible / Trigger timeout replacement"/>
          <p:cNvSpPr/>
          <p:nvPr/>
        </p:nvSpPr>
        <p:spPr>
          <a:xfrm>
            <a:off x="2852928" y="3479291"/>
            <a:ext cx="1975104" cy="786384"/>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ack tree: Trigger timeout replacement"/>
          <p:cNvSpPr txBox="1"/>
          <p:nvPr/>
        </p:nvSpPr>
        <p:spPr>
          <a:xfrm>
            <a:off x="2962656" y="3525011"/>
            <a:ext cx="1755648" cy="694944"/>
          </a:xfrm>
          <a:prstGeom prst="rect">
            <a:avLst/>
          </a:prstGeom>
          <a:noFill/>
        </p:spPr>
        <p:txBody>
          <a:bodyPr wrap="square" lIns="0" rIns="0" tIns="0" bIns="0" anchor="ctr">
            <a:spAutoFit/>
          </a:bodyPr>
          <a:lstStyle/>
          <a:p>
            <a:pPr algn="l"/>
            <a:r>
              <a:rPr sz="1310" b="1" lang="en-US">
                <a:solidFill>
                  <a:srgbClr val="C40D1E"/>
                </a:solidFill>
                <a:latin typeface="Arial"/>
              </a:rPr>
              <a:t>Trigger timeout replacement</a:t>
            </a:r>
          </a:p>
        </p:txBody>
      </p:sp>
      <p:sp>
        <p:nvSpPr>
          <p:cNvPr id="64" name="Assessed node: possible / Block all uploads before the first acceptance and keep the round unable to publish"/>
          <p:cNvSpPr/>
          <p:nvPr/>
        </p:nvSpPr>
        <p:spPr>
          <a:xfrm>
            <a:off x="8183879" y="3422142"/>
            <a:ext cx="3401568" cy="429768"/>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ack tree: Block all uploads before acceptance"/>
          <p:cNvSpPr txBox="1"/>
          <p:nvPr/>
        </p:nvSpPr>
        <p:spPr>
          <a:xfrm>
            <a:off x="8293607" y="3445002"/>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Block all uploads before acceptance</a:t>
            </a:r>
          </a:p>
        </p:txBody>
      </p:sp>
      <p:sp>
        <p:nvSpPr>
          <p:cNvPr id="66" name="Assessed node: neutral / Enough intact workers observe timeouts and their valid reports reach the live ledger"/>
          <p:cNvSpPr/>
          <p:nvPr/>
        </p:nvSpPr>
        <p:spPr>
          <a:xfrm>
            <a:off x="8183879" y="3893057"/>
            <a:ext cx="3401568" cy="42976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ack tree: Honest timeout votes reach ledger"/>
          <p:cNvSpPr txBox="1"/>
          <p:nvPr/>
        </p:nvSpPr>
        <p:spPr>
          <a:xfrm>
            <a:off x="8293607" y="3915918"/>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Honest timeout votes reach ledger</a:t>
            </a:r>
          </a:p>
        </p:txBody>
      </p:sp>
      <p:sp>
        <p:nvSpPr>
          <p:cNvPr id="68" name="Assessed node: possible / Prevent timely recovery"/>
          <p:cNvSpPr/>
          <p:nvPr/>
        </p:nvSpPr>
        <p:spPr>
          <a:xfrm>
            <a:off x="2852928" y="4421124"/>
            <a:ext cx="1975104" cy="786384"/>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ack tree: Prevent timely recovery"/>
          <p:cNvSpPr txBox="1"/>
          <p:nvPr/>
        </p:nvSpPr>
        <p:spPr>
          <a:xfrm>
            <a:off x="2962656" y="4466844"/>
            <a:ext cx="1755648" cy="694944"/>
          </a:xfrm>
          <a:prstGeom prst="rect">
            <a:avLst/>
          </a:prstGeom>
          <a:noFill/>
        </p:spPr>
        <p:txBody>
          <a:bodyPr wrap="square" lIns="0" rIns="0" tIns="0" bIns="0" anchor="ctr">
            <a:spAutoFit/>
          </a:bodyPr>
          <a:lstStyle/>
          <a:p>
            <a:pPr algn="l"/>
            <a:r>
              <a:rPr sz="1310" b="1" lang="en-US">
                <a:solidFill>
                  <a:srgbClr val="C40D1E"/>
                </a:solidFill>
                <a:latin typeface="Arial"/>
              </a:rPr>
              <a:t>Prevent timely recovery</a:t>
            </a:r>
          </a:p>
        </p:txBody>
      </p:sp>
      <p:sp>
        <p:nvSpPr>
          <p:cNvPr id="70" name="Assessed node: possible / Keep the selected aggregator unavailable during the recovery interval"/>
          <p:cNvSpPr/>
          <p:nvPr/>
        </p:nvSpPr>
        <p:spPr>
          <a:xfrm>
            <a:off x="8183879" y="4363974"/>
            <a:ext cx="3401568" cy="429768"/>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ack tree: Keep selected aggregator offline"/>
          <p:cNvSpPr txBox="1"/>
          <p:nvPr/>
        </p:nvSpPr>
        <p:spPr>
          <a:xfrm>
            <a:off x="8293607" y="4386834"/>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Keep selected aggregator offline</a:t>
            </a:r>
          </a:p>
        </p:txBody>
      </p:sp>
      <p:sp>
        <p:nvSpPr>
          <p:cNvPr id="72" name="Assessed node: possible / Keep recovery reports from reaching quorum by blocking ledger access or enough reporters"/>
          <p:cNvSpPr/>
          <p:nvPr/>
        </p:nvSpPr>
        <p:spPr>
          <a:xfrm>
            <a:off x="8183879" y="4834890"/>
            <a:ext cx="3401568" cy="429768"/>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ack tree: Block ledger / reporting quorum"/>
          <p:cNvSpPr txBox="1"/>
          <p:nvPr/>
        </p:nvSpPr>
        <p:spPr>
          <a:xfrm>
            <a:off x="8293607" y="4857750"/>
            <a:ext cx="3182112" cy="384048"/>
          </a:xfrm>
          <a:prstGeom prst="rect">
            <a:avLst/>
          </a:prstGeom>
          <a:noFill/>
        </p:spPr>
        <p:txBody>
          <a:bodyPr wrap="square" lIns="0" rIns="0" tIns="0" bIns="0" anchor="ctr">
            <a:spAutoFit/>
          </a:bodyPr>
          <a:lstStyle/>
          <a:p>
            <a:pPr algn="l"/>
            <a:r>
              <a:rPr sz="1400" b="0" lang="en-US">
                <a:solidFill>
                  <a:srgbClr val="2D2D2D"/>
                </a:solidFill>
                <a:latin typeface="Arial"/>
              </a:rPr>
              <a:t>Block ledger / reporting quorum</a:t>
            </a:r>
          </a:p>
        </p:txBody>
      </p:sp>
      <p:sp>
        <p:nvSpPr>
          <p:cNvPr id="74" name="Attack tree: LEGEND"/>
          <p:cNvSpPr txBox="1"/>
          <p:nvPr/>
        </p:nvSpPr>
        <p:spPr>
          <a:xfrm>
            <a:off x="630936" y="5340096"/>
            <a:ext cx="585216" cy="201168"/>
          </a:xfrm>
          <a:prstGeom prst="rect">
            <a:avLst/>
          </a:prstGeom>
          <a:noFill/>
        </p:spPr>
        <p:txBody>
          <a:bodyPr wrap="square" lIns="0" rIns="0" tIns="0" bIns="0" anchor="ctr">
            <a:spAutoFit/>
          </a:bodyPr>
          <a:lstStyle/>
          <a:p>
            <a:pPr algn="l"/>
            <a:r>
              <a:rPr sz="850" b="1" lang="en-US">
                <a:solidFill>
                  <a:srgbClr val="666666"/>
                </a:solidFill>
                <a:latin typeface="Arial"/>
              </a:rPr>
              <a:t>LEGEND</a:t>
            </a:r>
          </a:p>
        </p:txBody>
      </p:sp>
      <p:sp>
        <p:nvSpPr>
          <p:cNvPr id="75" name="Attack legend swatch: Action / condition"/>
          <p:cNvSpPr/>
          <p:nvPr/>
        </p:nvSpPr>
        <p:spPr>
          <a:xfrm>
            <a:off x="1280160" y="5358384"/>
            <a:ext cx="155448" cy="15544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ack legend label: Action / condition"/>
          <p:cNvSpPr txBox="1"/>
          <p:nvPr/>
        </p:nvSpPr>
        <p:spPr>
          <a:xfrm>
            <a:off x="1508760" y="5340096"/>
            <a:ext cx="1874519" cy="201168"/>
          </a:xfrm>
          <a:prstGeom prst="rect">
            <a:avLst/>
          </a:prstGeom>
          <a:noFill/>
        </p:spPr>
        <p:txBody>
          <a:bodyPr wrap="square" lIns="0" rIns="0" tIns="0" bIns="0" anchor="ctr">
            <a:spAutoFit/>
          </a:bodyPr>
          <a:lstStyle/>
          <a:p>
            <a:pPr algn="l"/>
            <a:r>
              <a:rPr sz="1000" b="0" lang="en-US">
                <a:solidFill>
                  <a:srgbClr val="2D2D2D"/>
                </a:solidFill>
                <a:latin typeface="Arial"/>
              </a:rPr>
              <a:t>Action / condition</a:t>
            </a:r>
          </a:p>
        </p:txBody>
      </p:sp>
      <p:sp>
        <p:nvSpPr>
          <p:cNvPr id="77" name="Attack legend swatch: Possible in threat model"/>
          <p:cNvSpPr/>
          <p:nvPr/>
        </p:nvSpPr>
        <p:spPr>
          <a:xfrm>
            <a:off x="3657600" y="5358384"/>
            <a:ext cx="155448" cy="155448"/>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ack legend label: Possible in threat model"/>
          <p:cNvSpPr txBox="1"/>
          <p:nvPr/>
        </p:nvSpPr>
        <p:spPr>
          <a:xfrm>
            <a:off x="3886200" y="5340096"/>
            <a:ext cx="2121408" cy="201168"/>
          </a:xfrm>
          <a:prstGeom prst="rect">
            <a:avLst/>
          </a:prstGeom>
          <a:noFill/>
        </p:spPr>
        <p:txBody>
          <a:bodyPr wrap="square" lIns="0" rIns="0" tIns="0" bIns="0" anchor="ctr">
            <a:spAutoFit/>
          </a:bodyPr>
          <a:lstStyle/>
          <a:p>
            <a:pPr algn="l"/>
            <a:r>
              <a:rPr sz="1000" b="0" lang="en-US">
                <a:solidFill>
                  <a:srgbClr val="2D2D2D"/>
                </a:solidFill>
                <a:latin typeface="Arial"/>
              </a:rPr>
              <a:t>Possible in threat model</a:t>
            </a:r>
          </a:p>
        </p:txBody>
      </p:sp>
      <p:sp>
        <p:nvSpPr>
          <p:cNvPr id="79" name="Attack legend swatch: Assumption boundary"/>
          <p:cNvSpPr/>
          <p:nvPr/>
        </p:nvSpPr>
        <p:spPr>
          <a:xfrm>
            <a:off x="6428232" y="5358384"/>
            <a:ext cx="155448" cy="155448"/>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ack legend label: Assumption boundary"/>
          <p:cNvSpPr txBox="1"/>
          <p:nvPr/>
        </p:nvSpPr>
        <p:spPr>
          <a:xfrm>
            <a:off x="6656832" y="5340096"/>
            <a:ext cx="1938528" cy="201168"/>
          </a:xfrm>
          <a:prstGeom prst="rect">
            <a:avLst/>
          </a:prstGeom>
          <a:noFill/>
        </p:spPr>
        <p:txBody>
          <a:bodyPr wrap="square" lIns="0" rIns="0" tIns="0" bIns="0" anchor="ctr">
            <a:spAutoFit/>
          </a:bodyPr>
          <a:lstStyle/>
          <a:p>
            <a:pPr algn="l"/>
            <a:r>
              <a:rPr sz="1000" b="0" lang="en-US">
                <a:solidFill>
                  <a:srgbClr val="2D2D2D"/>
                </a:solidFill>
                <a:latin typeface="Arial"/>
              </a:rPr>
              <a:t>Assumption boundary</a:t>
            </a:r>
          </a:p>
        </p:txBody>
      </p:sp>
      <p:sp>
        <p:nvSpPr>
          <p:cNvPr id="81" name="Attack legend swatch: Blocked under assumptions"/>
          <p:cNvSpPr/>
          <p:nvPr/>
        </p:nvSpPr>
        <p:spPr>
          <a:xfrm>
            <a:off x="8924544" y="5358384"/>
            <a:ext cx="155448" cy="155448"/>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ack legend label: Blocked under assumptions"/>
          <p:cNvSpPr txBox="1"/>
          <p:nvPr/>
        </p:nvSpPr>
        <p:spPr>
          <a:xfrm>
            <a:off x="9153144" y="5340096"/>
            <a:ext cx="2395728" cy="201168"/>
          </a:xfrm>
          <a:prstGeom prst="rect">
            <a:avLst/>
          </a:prstGeom>
          <a:noFill/>
        </p:spPr>
        <p:txBody>
          <a:bodyPr wrap="square" lIns="0" rIns="0" tIns="0" bIns="0" anchor="ctr">
            <a:spAutoFit/>
          </a:bodyPr>
          <a:lstStyle/>
          <a:p>
            <a:pPr algn="l"/>
            <a:r>
              <a:rPr sz="1000" b="0" lang="en-US">
                <a:solidFill>
                  <a:srgbClr val="2D2D2D"/>
                </a:solidFill>
                <a:latin typeface="Arial"/>
              </a:rPr>
              <a:t>Blocked under assumptions</a:t>
            </a:r>
          </a:p>
        </p:txBody>
      </p:sp>
      <p:sp>
        <p:nvSpPr>
          <p:cNvPr id="83" name="Attack tree: Invented valid votes need TEE signing control; blocked traffic can trigger honest timeout votes without stolen keys."/>
          <p:cNvSpPr txBox="1"/>
          <p:nvPr/>
        </p:nvSpPr>
        <p:spPr>
          <a:xfrm>
            <a:off x="630936" y="5541264"/>
            <a:ext cx="10936224" cy="192024"/>
          </a:xfrm>
          <a:prstGeom prst="rect">
            <a:avLst/>
          </a:prstGeom>
          <a:noFill/>
        </p:spPr>
        <p:txBody>
          <a:bodyPr wrap="square" lIns="0" rIns="0" tIns="0" bIns="0" anchor="ctr">
            <a:spAutoFit/>
          </a:bodyPr>
          <a:lstStyle/>
          <a:p>
            <a:pPr algn="l"/>
            <a:r>
              <a:rPr sz="1050" b="1" lang="en-US">
                <a:solidFill>
                  <a:srgbClr val="2D2D2D"/>
                </a:solidFill>
                <a:latin typeface="Arial"/>
              </a:rPr>
              <a:t>Invented valid votes need TEE signing control; blocked traffic can trigger honest timeout votes without stolen keys.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Attack tree: verify an invalid inference result</a:t>
            </a:r>
          </a:p>
        </p:txBody>
      </p:sp>
      <p:sp>
        <p:nvSpPr>
          <p:cNvPr id="3" name="TextBox 2"/>
          <p:cNvSpPr txBox="1"/>
          <p:nvPr/>
        </p:nvSpPr>
        <p:spPr>
          <a:xfrm>
            <a:off x="566928" y="932688"/>
            <a:ext cx="621792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4 / 6 · T2 / T4 / T8 / T9</a:t>
            </a:r>
          </a:p>
        </p:txBody>
      </p:sp>
      <p:sp>
        <p:nvSpPr>
          <p:cNvPr id="4" name="Rectangle 3"/>
          <p:cNvSpPr/>
          <p:nvPr/>
        </p:nvSpPr>
        <p:spPr>
          <a:xfrm>
            <a:off x="557784" y="1188720"/>
            <a:ext cx="10927080" cy="16459"/>
          </a:xfrm>
          <a:prstGeom prst="rect">
            <a:avLst/>
          </a:prstGeom>
          <a:solidFill>
            <a:srgbClr val="B8B8B8"/>
          </a:solidFill>
          <a:ln>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light · 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5F5"/>
          </a:solidFill>
          <a:ln w="698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666666"/>
                </a:solidFill>
                <a:latin typeface="Arial"/>
              </a:rPr>
              <a:t>DFL</a:t>
            </a:r>
          </a:p>
        </p:txBody>
      </p:sp>
      <p:sp>
        <p:nvSpPr>
          <p:cNvPr id="11" name="Domain navigation: Agent badge"/>
          <p:cNvSpPr/>
          <p:nvPr/>
        </p:nvSpPr>
        <p:spPr>
          <a:xfrm>
            <a:off x="9982200" y="502920"/>
            <a:ext cx="502920" cy="228600"/>
          </a:xfrm>
          <a:prstGeom prst="rect">
            <a:avLst/>
          </a:prstGeom>
          <a:solidFill>
            <a:srgbClr val="555555"/>
          </a:solidFill>
          <a:ln w="6985">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Attack tree: OR: any route · AND: all conditions"/>
          <p:cNvSpPr txBox="1"/>
          <p:nvPr/>
        </p:nvSpPr>
        <p:spPr>
          <a:xfrm>
            <a:off x="6949440" y="932688"/>
            <a:ext cx="3465576" cy="201168"/>
          </a:xfrm>
          <a:prstGeom prst="rect">
            <a:avLst/>
          </a:prstGeom>
          <a:noFill/>
        </p:spPr>
        <p:txBody>
          <a:bodyPr wrap="square" lIns="0" rIns="0" tIns="0" bIns="0" anchor="ctr">
            <a:spAutoFit/>
          </a:bodyPr>
          <a:lstStyle/>
          <a:p>
            <a:pPr algn="l"/>
            <a:r>
              <a:rPr sz="950" b="0" lang="en-US">
                <a:solidFill>
                  <a:srgbClr val="666666"/>
                </a:solidFill>
                <a:latin typeface="Arial"/>
              </a:rPr>
              <a:t>OR: any route · AND: all conditions</a:t>
            </a:r>
          </a:p>
        </p:txBody>
      </p:sp>
      <p:sp>
        <p:nvSpPr>
          <p:cNvPr id="14" name="Rectangle 13"/>
          <p:cNvSpPr/>
          <p:nvPr/>
        </p:nvSpPr>
        <p:spPr>
          <a:xfrm>
            <a:off x="502920" y="1389888"/>
            <a:ext cx="11155680" cy="3959352"/>
          </a:xfrm>
          <a:prstGeom prst="rect">
            <a:avLst/>
          </a:prstGeom>
          <a:solidFill>
            <a:srgbClr val="F7F7F7"/>
          </a:solidFill>
          <a:ln>
            <a:solidFill>
              <a:srgbClr val="F7F7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2313432" y="3401568"/>
            <a:ext cx="484631"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798063" y="2056093"/>
            <a:ext cx="0" cy="2690949"/>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798063" y="2056093"/>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28032" y="2056093"/>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12664" y="1786998"/>
            <a:ext cx="0" cy="53819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312664" y="178699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312664" y="232518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873752" y="1932649"/>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AND"/>
          <p:cNvSpPr txBox="1"/>
          <p:nvPr/>
        </p:nvSpPr>
        <p:spPr>
          <a:xfrm>
            <a:off x="4887468" y="1946365"/>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24" name="Connector 23"/>
          <p:cNvCxnSpPr/>
          <p:nvPr/>
        </p:nvCxnSpPr>
        <p:spPr>
          <a:xfrm>
            <a:off x="2798063" y="3536115"/>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28032" y="3536115"/>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12664" y="3132473"/>
            <a:ext cx="0" cy="807284"/>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12664" y="3132473"/>
            <a:ext cx="82296"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571232" y="3132473"/>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055864" y="2863378"/>
            <a:ext cx="0" cy="53819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055864" y="2863378"/>
            <a:ext cx="1280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055864" y="3401568"/>
            <a:ext cx="1280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648956" y="3009029"/>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ack tree: OR"/>
          <p:cNvSpPr txBox="1"/>
          <p:nvPr/>
        </p:nvSpPr>
        <p:spPr>
          <a:xfrm>
            <a:off x="7662672" y="3022745"/>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cxnSp>
        <p:nvCxnSpPr>
          <p:cNvPr id="34" name="Connector 33"/>
          <p:cNvCxnSpPr/>
          <p:nvPr/>
        </p:nvCxnSpPr>
        <p:spPr>
          <a:xfrm>
            <a:off x="5312664" y="3939757"/>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873752" y="3412671"/>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ack tree: AND"/>
          <p:cNvSpPr txBox="1"/>
          <p:nvPr/>
        </p:nvSpPr>
        <p:spPr>
          <a:xfrm>
            <a:off x="4887468" y="3426387"/>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37" name="Connector 36"/>
          <p:cNvCxnSpPr/>
          <p:nvPr/>
        </p:nvCxnSpPr>
        <p:spPr>
          <a:xfrm>
            <a:off x="2798063" y="4747042"/>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828032" y="4747042"/>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312664" y="4477947"/>
            <a:ext cx="0" cy="53819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312664" y="4477947"/>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312664" y="5016137"/>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873752" y="4623598"/>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AND"/>
          <p:cNvSpPr txBox="1"/>
          <p:nvPr/>
        </p:nvSpPr>
        <p:spPr>
          <a:xfrm>
            <a:off x="4887468" y="4637314"/>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sp>
        <p:nvSpPr>
          <p:cNvPr id="44" name="Rounded Rectangle 43"/>
          <p:cNvSpPr/>
          <p:nvPr/>
        </p:nvSpPr>
        <p:spPr>
          <a:xfrm>
            <a:off x="2391156" y="3278124"/>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OR"/>
          <p:cNvSpPr txBox="1"/>
          <p:nvPr/>
        </p:nvSpPr>
        <p:spPr>
          <a:xfrm>
            <a:off x="2404872" y="3291840"/>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sp>
        <p:nvSpPr>
          <p:cNvPr id="46" name="Assessed node: blocked / Verify an invalid inference result"/>
          <p:cNvSpPr/>
          <p:nvPr/>
        </p:nvSpPr>
        <p:spPr>
          <a:xfrm>
            <a:off x="594360" y="2487168"/>
            <a:ext cx="1719072" cy="1828800"/>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ATTACKER GOAL"/>
          <p:cNvSpPr txBox="1"/>
          <p:nvPr/>
        </p:nvSpPr>
        <p:spPr>
          <a:xfrm>
            <a:off x="694944" y="2587752"/>
            <a:ext cx="1517904" cy="182880"/>
          </a:xfrm>
          <a:prstGeom prst="rect">
            <a:avLst/>
          </a:prstGeom>
          <a:noFill/>
        </p:spPr>
        <p:txBody>
          <a:bodyPr wrap="square" lIns="0" rIns="0" tIns="0" bIns="0" anchor="ctr">
            <a:spAutoFit/>
          </a:bodyPr>
          <a:lstStyle/>
          <a:p>
            <a:pPr algn="l"/>
            <a:r>
              <a:rPr sz="910" b="1" lang="en-US">
                <a:solidFill>
                  <a:srgbClr val="267347"/>
                </a:solidFill>
                <a:latin typeface="Arial"/>
              </a:rPr>
              <a:t>ATTACKER GOAL</a:t>
            </a:r>
          </a:p>
        </p:txBody>
      </p:sp>
      <p:sp>
        <p:nvSpPr>
          <p:cNvPr id="48" name="Attack tree: Verify an invalid inference result"/>
          <p:cNvSpPr txBox="1"/>
          <p:nvPr/>
        </p:nvSpPr>
        <p:spPr>
          <a:xfrm>
            <a:off x="694944" y="2834640"/>
            <a:ext cx="1517904" cy="1389888"/>
          </a:xfrm>
          <a:prstGeom prst="rect">
            <a:avLst/>
          </a:prstGeom>
          <a:noFill/>
        </p:spPr>
        <p:txBody>
          <a:bodyPr wrap="square" lIns="0" rIns="0" tIns="0" bIns="0" anchor="ctr">
            <a:spAutoFit/>
          </a:bodyPr>
          <a:lstStyle/>
          <a:p>
            <a:pPr algn="l"/>
            <a:r>
              <a:rPr sz="1550" b="1" lang="en-US">
                <a:solidFill>
                  <a:srgbClr val="267347"/>
                </a:solidFill>
                <a:latin typeface="Arial"/>
              </a:rPr>
              <a:t>Verify an invalid inference result</a:t>
            </a:r>
          </a:p>
        </p:txBody>
      </p:sp>
      <p:sp>
        <p:nvSpPr>
          <p:cNvPr id="49" name="Assessed node: blocked / Use the wrong model bundle"/>
          <p:cNvSpPr/>
          <p:nvPr/>
        </p:nvSpPr>
        <p:spPr>
          <a:xfrm>
            <a:off x="2852928" y="1662901"/>
            <a:ext cx="1975104" cy="786384"/>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Use the wrong model bundle"/>
          <p:cNvSpPr txBox="1"/>
          <p:nvPr/>
        </p:nvSpPr>
        <p:spPr>
          <a:xfrm>
            <a:off x="2962656" y="1708621"/>
            <a:ext cx="1755648" cy="694944"/>
          </a:xfrm>
          <a:prstGeom prst="rect">
            <a:avLst/>
          </a:prstGeom>
          <a:noFill/>
        </p:spPr>
        <p:txBody>
          <a:bodyPr wrap="square" lIns="0" rIns="0" tIns="0" bIns="0" anchor="ctr">
            <a:spAutoFit/>
          </a:bodyPr>
          <a:lstStyle/>
          <a:p>
            <a:pPr algn="l"/>
            <a:r>
              <a:rPr sz="1310" b="1" lang="en-US">
                <a:solidFill>
                  <a:srgbClr val="267347"/>
                </a:solidFill>
                <a:latin typeface="Arial"/>
              </a:rPr>
              <a:t>Use the wrong model bundle</a:t>
            </a:r>
          </a:p>
        </p:txBody>
      </p:sp>
      <p:sp>
        <p:nvSpPr>
          <p:cNvPr id="51" name="Assessed node: neutral / Return an old model with its genuine publisher signature"/>
          <p:cNvSpPr/>
          <p:nvPr/>
        </p:nvSpPr>
        <p:spPr>
          <a:xfrm>
            <a:off x="8183879" y="1538478"/>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ttack tree: Replay an old signed model"/>
          <p:cNvSpPr txBox="1"/>
          <p:nvPr/>
        </p:nvSpPr>
        <p:spPr>
          <a:xfrm>
            <a:off x="8293607" y="156133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Replay an old signed model</a:t>
            </a:r>
          </a:p>
        </p:txBody>
      </p:sp>
      <p:sp>
        <p:nvSpPr>
          <p:cNvPr id="53" name="Assessed node: blocked / Verify inference from a bundle that disagrees with the publication selected at model preparation"/>
          <p:cNvSpPr/>
          <p:nvPr/>
        </p:nvSpPr>
        <p:spPr>
          <a:xfrm>
            <a:off x="8183879" y="2076667"/>
            <a:ext cx="3401568" cy="497041"/>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Pass selected-bundle checks"/>
          <p:cNvSpPr txBox="1"/>
          <p:nvPr/>
        </p:nvSpPr>
        <p:spPr>
          <a:xfrm>
            <a:off x="8293607" y="209952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Pass selected-bundle checks</a:t>
            </a:r>
          </a:p>
        </p:txBody>
      </p:sp>
      <p:sp>
        <p:nvSpPr>
          <p:cNvPr id="55" name="Assessed node: blocked / Mix valid but unrelated evidence"/>
          <p:cNvSpPr/>
          <p:nvPr/>
        </p:nvSpPr>
        <p:spPr>
          <a:xfrm>
            <a:off x="2852928" y="3142923"/>
            <a:ext cx="1975104" cy="786384"/>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Mix valid but unrelated evidence"/>
          <p:cNvSpPr txBox="1"/>
          <p:nvPr/>
        </p:nvSpPr>
        <p:spPr>
          <a:xfrm>
            <a:off x="2962656" y="3188643"/>
            <a:ext cx="1755648" cy="694944"/>
          </a:xfrm>
          <a:prstGeom prst="rect">
            <a:avLst/>
          </a:prstGeom>
          <a:noFill/>
        </p:spPr>
        <p:txBody>
          <a:bodyPr wrap="square" lIns="0" rIns="0" tIns="0" bIns="0" anchor="ctr">
            <a:spAutoFit/>
          </a:bodyPr>
          <a:lstStyle/>
          <a:p>
            <a:pPr algn="l"/>
            <a:r>
              <a:rPr sz="1310" b="1" lang="en-US">
                <a:solidFill>
                  <a:srgbClr val="267347"/>
                </a:solidFill>
                <a:latin typeface="Arial"/>
              </a:rPr>
              <a:t>Mix valid but unrelated evidence</a:t>
            </a:r>
          </a:p>
        </p:txBody>
      </p:sp>
      <p:sp>
        <p:nvSpPr>
          <p:cNvPr id="57" name="Assessed node: neutral / Introduce a foreign context"/>
          <p:cNvSpPr/>
          <p:nvPr/>
        </p:nvSpPr>
        <p:spPr>
          <a:xfrm>
            <a:off x="5394960" y="2785001"/>
            <a:ext cx="2176272" cy="694944"/>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Introduce a foreign context"/>
          <p:cNvSpPr txBox="1"/>
          <p:nvPr/>
        </p:nvSpPr>
        <p:spPr>
          <a:xfrm>
            <a:off x="5504688" y="2830721"/>
            <a:ext cx="1956815" cy="603504"/>
          </a:xfrm>
          <a:prstGeom prst="rect">
            <a:avLst/>
          </a:prstGeom>
          <a:noFill/>
        </p:spPr>
        <p:txBody>
          <a:bodyPr wrap="square" lIns="0" rIns="0" tIns="0" bIns="0" anchor="ctr">
            <a:spAutoFit/>
          </a:bodyPr>
          <a:lstStyle/>
          <a:p>
            <a:pPr algn="l"/>
            <a:r>
              <a:rPr sz="1240" b="1" lang="en-US">
                <a:solidFill>
                  <a:srgbClr val="2D2D2D"/>
                </a:solidFill>
                <a:latin typeface="Arial"/>
              </a:rPr>
              <a:t>Introduce a foreign context</a:t>
            </a:r>
          </a:p>
        </p:txBody>
      </p:sp>
      <p:sp>
        <p:nvSpPr>
          <p:cNvPr id="59" name="Assessed node: neutral / Substitute output for another model / image job"/>
          <p:cNvSpPr/>
          <p:nvPr/>
        </p:nvSpPr>
        <p:spPr>
          <a:xfrm>
            <a:off x="8183879" y="2614857"/>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Swap output / job evidence"/>
          <p:cNvSpPr txBox="1"/>
          <p:nvPr/>
        </p:nvSpPr>
        <p:spPr>
          <a:xfrm>
            <a:off x="8293607" y="263771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Swap output / job evidence</a:t>
            </a:r>
          </a:p>
        </p:txBody>
      </p:sp>
      <p:sp>
        <p:nvSpPr>
          <p:cNvPr id="61" name="Assessed node: neutral / Replay a request or receipt from another session"/>
          <p:cNvSpPr/>
          <p:nvPr/>
        </p:nvSpPr>
        <p:spPr>
          <a:xfrm>
            <a:off x="8183879" y="3153047"/>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ack tree: Replay across sessions"/>
          <p:cNvSpPr txBox="1"/>
          <p:nvPr/>
        </p:nvSpPr>
        <p:spPr>
          <a:xfrm>
            <a:off x="8293607" y="317590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Replay across sessions</a:t>
            </a:r>
          </a:p>
        </p:txBody>
      </p:sp>
      <p:sp>
        <p:nvSpPr>
          <p:cNvPr id="63" name="Assessed node: blocked / Verifier accepts conflicting manifest / digests / job bindings"/>
          <p:cNvSpPr/>
          <p:nvPr/>
        </p:nvSpPr>
        <p:spPr>
          <a:xfrm>
            <a:off x="8183879" y="3691236"/>
            <a:ext cx="3401568" cy="497041"/>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ack tree: Pass digest / session checks"/>
          <p:cNvSpPr txBox="1"/>
          <p:nvPr/>
        </p:nvSpPr>
        <p:spPr>
          <a:xfrm>
            <a:off x="8293607" y="371409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Pass digest / session checks</a:t>
            </a:r>
          </a:p>
        </p:txBody>
      </p:sp>
      <p:sp>
        <p:nvSpPr>
          <p:cNvPr id="65" name="Assessed node: blocked / Fake verified tool success"/>
          <p:cNvSpPr/>
          <p:nvPr/>
        </p:nvSpPr>
        <p:spPr>
          <a:xfrm>
            <a:off x="2852928" y="4353850"/>
            <a:ext cx="1975104" cy="786384"/>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ack tree: Fake verified tool success"/>
          <p:cNvSpPr txBox="1"/>
          <p:nvPr/>
        </p:nvSpPr>
        <p:spPr>
          <a:xfrm>
            <a:off x="2962656" y="4399570"/>
            <a:ext cx="1755648" cy="694944"/>
          </a:xfrm>
          <a:prstGeom prst="rect">
            <a:avLst/>
          </a:prstGeom>
          <a:noFill/>
        </p:spPr>
        <p:txBody>
          <a:bodyPr wrap="square" lIns="0" rIns="0" tIns="0" bIns="0" anchor="ctr">
            <a:spAutoFit/>
          </a:bodyPr>
          <a:lstStyle/>
          <a:p>
            <a:pPr algn="l"/>
            <a:r>
              <a:rPr sz="1310" b="1" lang="en-US">
                <a:solidFill>
                  <a:srgbClr val="267347"/>
                </a:solidFill>
                <a:latin typeface="Arial"/>
              </a:rPr>
              <a:t>Fake verified tool success</a:t>
            </a:r>
          </a:p>
        </p:txBody>
      </p:sp>
      <p:sp>
        <p:nvSpPr>
          <p:cNvPr id="67" name="Assessed node: neutral / Use prompt instructions to ask the agent to skip evidence verification"/>
          <p:cNvSpPr/>
          <p:nvPr/>
        </p:nvSpPr>
        <p:spPr>
          <a:xfrm>
            <a:off x="8183879" y="4229426"/>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ack tree: Inject misleading instructions"/>
          <p:cNvSpPr txBox="1"/>
          <p:nvPr/>
        </p:nvSpPr>
        <p:spPr>
          <a:xfrm>
            <a:off x="8293607" y="425228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Inject misleading instructions</a:t>
            </a:r>
          </a:p>
        </p:txBody>
      </p:sp>
      <p:sp>
        <p:nvSpPr>
          <p:cNvPr id="69" name="Assessed node: blocked / Have the intact tool return verified success despite missing or invalid checks"/>
          <p:cNvSpPr/>
          <p:nvPr/>
        </p:nvSpPr>
        <p:spPr>
          <a:xfrm>
            <a:off x="8183879" y="4767616"/>
            <a:ext cx="3401568" cy="497041"/>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ack tree: Return verified success anyway"/>
          <p:cNvSpPr txBox="1"/>
          <p:nvPr/>
        </p:nvSpPr>
        <p:spPr>
          <a:xfrm>
            <a:off x="8293607" y="479047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Return verified success anyway</a:t>
            </a:r>
          </a:p>
        </p:txBody>
      </p:sp>
      <p:sp>
        <p:nvSpPr>
          <p:cNvPr id="71" name="Attack tree: LEGEND"/>
          <p:cNvSpPr txBox="1"/>
          <p:nvPr/>
        </p:nvSpPr>
        <p:spPr>
          <a:xfrm>
            <a:off x="630936" y="5340096"/>
            <a:ext cx="585216" cy="201168"/>
          </a:xfrm>
          <a:prstGeom prst="rect">
            <a:avLst/>
          </a:prstGeom>
          <a:noFill/>
        </p:spPr>
        <p:txBody>
          <a:bodyPr wrap="square" lIns="0" rIns="0" tIns="0" bIns="0" anchor="ctr">
            <a:spAutoFit/>
          </a:bodyPr>
          <a:lstStyle/>
          <a:p>
            <a:pPr algn="l"/>
            <a:r>
              <a:rPr sz="850" b="1" lang="en-US">
                <a:solidFill>
                  <a:srgbClr val="666666"/>
                </a:solidFill>
                <a:latin typeface="Arial"/>
              </a:rPr>
              <a:t>LEGEND</a:t>
            </a:r>
          </a:p>
        </p:txBody>
      </p:sp>
      <p:sp>
        <p:nvSpPr>
          <p:cNvPr id="72" name="Attack legend swatch: Action / condition"/>
          <p:cNvSpPr/>
          <p:nvPr/>
        </p:nvSpPr>
        <p:spPr>
          <a:xfrm>
            <a:off x="1280160" y="5358384"/>
            <a:ext cx="155448" cy="15544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ack legend label: Action / condition"/>
          <p:cNvSpPr txBox="1"/>
          <p:nvPr/>
        </p:nvSpPr>
        <p:spPr>
          <a:xfrm>
            <a:off x="1508760" y="5340096"/>
            <a:ext cx="1874519" cy="201168"/>
          </a:xfrm>
          <a:prstGeom prst="rect">
            <a:avLst/>
          </a:prstGeom>
          <a:noFill/>
        </p:spPr>
        <p:txBody>
          <a:bodyPr wrap="square" lIns="0" rIns="0" tIns="0" bIns="0" anchor="ctr">
            <a:spAutoFit/>
          </a:bodyPr>
          <a:lstStyle/>
          <a:p>
            <a:pPr algn="l"/>
            <a:r>
              <a:rPr sz="1000" b="0" lang="en-US">
                <a:solidFill>
                  <a:srgbClr val="2D2D2D"/>
                </a:solidFill>
                <a:latin typeface="Arial"/>
              </a:rPr>
              <a:t>Action / condition</a:t>
            </a:r>
          </a:p>
        </p:txBody>
      </p:sp>
      <p:sp>
        <p:nvSpPr>
          <p:cNvPr id="74" name="Attack legend swatch: Possible in threat model"/>
          <p:cNvSpPr/>
          <p:nvPr/>
        </p:nvSpPr>
        <p:spPr>
          <a:xfrm>
            <a:off x="3657600" y="5358384"/>
            <a:ext cx="155448" cy="155448"/>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ack legend label: Possible in threat model"/>
          <p:cNvSpPr txBox="1"/>
          <p:nvPr/>
        </p:nvSpPr>
        <p:spPr>
          <a:xfrm>
            <a:off x="3886200" y="5340096"/>
            <a:ext cx="2121408" cy="201168"/>
          </a:xfrm>
          <a:prstGeom prst="rect">
            <a:avLst/>
          </a:prstGeom>
          <a:noFill/>
        </p:spPr>
        <p:txBody>
          <a:bodyPr wrap="square" lIns="0" rIns="0" tIns="0" bIns="0" anchor="ctr">
            <a:spAutoFit/>
          </a:bodyPr>
          <a:lstStyle/>
          <a:p>
            <a:pPr algn="l"/>
            <a:r>
              <a:rPr sz="1000" b="0" lang="en-US">
                <a:solidFill>
                  <a:srgbClr val="2D2D2D"/>
                </a:solidFill>
                <a:latin typeface="Arial"/>
              </a:rPr>
              <a:t>Possible in threat model</a:t>
            </a:r>
          </a:p>
        </p:txBody>
      </p:sp>
      <p:sp>
        <p:nvSpPr>
          <p:cNvPr id="76" name="Attack legend swatch: Assumption boundary"/>
          <p:cNvSpPr/>
          <p:nvPr/>
        </p:nvSpPr>
        <p:spPr>
          <a:xfrm>
            <a:off x="6428232" y="5358384"/>
            <a:ext cx="155448" cy="155448"/>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ack legend label: Assumption boundary"/>
          <p:cNvSpPr txBox="1"/>
          <p:nvPr/>
        </p:nvSpPr>
        <p:spPr>
          <a:xfrm>
            <a:off x="6656832" y="5340096"/>
            <a:ext cx="1938528" cy="201168"/>
          </a:xfrm>
          <a:prstGeom prst="rect">
            <a:avLst/>
          </a:prstGeom>
          <a:noFill/>
        </p:spPr>
        <p:txBody>
          <a:bodyPr wrap="square" lIns="0" rIns="0" tIns="0" bIns="0" anchor="ctr">
            <a:spAutoFit/>
          </a:bodyPr>
          <a:lstStyle/>
          <a:p>
            <a:pPr algn="l"/>
            <a:r>
              <a:rPr sz="1000" b="0" lang="en-US">
                <a:solidFill>
                  <a:srgbClr val="2D2D2D"/>
                </a:solidFill>
                <a:latin typeface="Arial"/>
              </a:rPr>
              <a:t>Assumption boundary</a:t>
            </a:r>
          </a:p>
        </p:txBody>
      </p:sp>
      <p:sp>
        <p:nvSpPr>
          <p:cNvPr id="78" name="Attack legend swatch: Blocked under assumptions"/>
          <p:cNvSpPr/>
          <p:nvPr/>
        </p:nvSpPr>
        <p:spPr>
          <a:xfrm>
            <a:off x="8924544" y="5358384"/>
            <a:ext cx="155448" cy="155448"/>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ack legend label: Blocked under assumptions"/>
          <p:cNvSpPr txBox="1"/>
          <p:nvPr/>
        </p:nvSpPr>
        <p:spPr>
          <a:xfrm>
            <a:off x="9153144" y="5340096"/>
            <a:ext cx="2395728" cy="201168"/>
          </a:xfrm>
          <a:prstGeom prst="rect">
            <a:avLst/>
          </a:prstGeom>
          <a:noFill/>
        </p:spPr>
        <p:txBody>
          <a:bodyPr wrap="square" lIns="0" rIns="0" tIns="0" bIns="0" anchor="ctr">
            <a:spAutoFit/>
          </a:bodyPr>
          <a:lstStyle/>
          <a:p>
            <a:pPr algn="l"/>
            <a:r>
              <a:rPr sz="1000" b="0" lang="en-US">
                <a:solidFill>
                  <a:srgbClr val="2D2D2D"/>
                </a:solidFill>
                <a:latin typeface="Arial"/>
              </a:rPr>
              <a:t>Blocked under assumptions</a:t>
            </a:r>
          </a:p>
        </p:txBody>
      </p:sp>
      <p:sp>
        <p:nvSpPr>
          <p:cNvPr id="80" name="Attack tree: Verified tool status requires bound evidence; arbitrary LLM wording is outside this guarantee."/>
          <p:cNvSpPr txBox="1"/>
          <p:nvPr/>
        </p:nvSpPr>
        <p:spPr>
          <a:xfrm>
            <a:off x="630936" y="5541264"/>
            <a:ext cx="10936224" cy="192024"/>
          </a:xfrm>
          <a:prstGeom prst="rect">
            <a:avLst/>
          </a:prstGeom>
          <a:noFill/>
        </p:spPr>
        <p:txBody>
          <a:bodyPr wrap="square" lIns="0" rIns="0" tIns="0" bIns="0" anchor="ctr">
            <a:spAutoFit/>
          </a:bodyPr>
          <a:lstStyle/>
          <a:p>
            <a:pPr algn="l"/>
            <a:r>
              <a:rPr sz="1050" b="1" lang="en-US">
                <a:solidFill>
                  <a:srgbClr val="2D2D2D"/>
                </a:solidFill>
                <a:latin typeface="Arial"/>
              </a:rPr>
              <a:t>Verified tool status requires bound evidence; arbitrary LLM wording is outside this guarantee.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Attack tree: evidence and interaction suppression</a:t>
            </a:r>
          </a:p>
        </p:txBody>
      </p:sp>
      <p:sp>
        <p:nvSpPr>
          <p:cNvPr id="3" name="TextBox 2"/>
          <p:cNvSpPr txBox="1"/>
          <p:nvPr/>
        </p:nvSpPr>
        <p:spPr>
          <a:xfrm>
            <a:off x="566928" y="932688"/>
            <a:ext cx="621792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5 / 6 · T10 / T11</a:t>
            </a:r>
          </a:p>
        </p:txBody>
      </p:sp>
      <p:sp>
        <p:nvSpPr>
          <p:cNvPr id="4" name="Rectangle 3"/>
          <p:cNvSpPr/>
          <p:nvPr/>
        </p:nvSpPr>
        <p:spPr>
          <a:xfrm>
            <a:off x="557784" y="1188720"/>
            <a:ext cx="10927080" cy="16459"/>
          </a:xfrm>
          <a:prstGeom prst="rect">
            <a:avLst/>
          </a:prstGeom>
          <a:solidFill>
            <a:srgbClr val="B8B8B8"/>
          </a:solidFill>
          <a:ln>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light · 5</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5F5"/>
          </a:solidFill>
          <a:ln w="698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666666"/>
                </a:solidFill>
                <a:latin typeface="Arial"/>
              </a:rPr>
              <a:t>DFL</a:t>
            </a:r>
          </a:p>
        </p:txBody>
      </p:sp>
      <p:sp>
        <p:nvSpPr>
          <p:cNvPr id="11" name="Domain navigation: Agent badge"/>
          <p:cNvSpPr/>
          <p:nvPr/>
        </p:nvSpPr>
        <p:spPr>
          <a:xfrm>
            <a:off x="9982200" y="502920"/>
            <a:ext cx="502920" cy="228600"/>
          </a:xfrm>
          <a:prstGeom prst="rect">
            <a:avLst/>
          </a:prstGeom>
          <a:solidFill>
            <a:srgbClr val="555555"/>
          </a:solidFill>
          <a:ln w="6985">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Attack tree: OR: any route · AND: all conditions"/>
          <p:cNvSpPr txBox="1"/>
          <p:nvPr/>
        </p:nvSpPr>
        <p:spPr>
          <a:xfrm>
            <a:off x="6949440" y="932688"/>
            <a:ext cx="3465576" cy="201168"/>
          </a:xfrm>
          <a:prstGeom prst="rect">
            <a:avLst/>
          </a:prstGeom>
          <a:noFill/>
        </p:spPr>
        <p:txBody>
          <a:bodyPr wrap="square" lIns="0" rIns="0" tIns="0" bIns="0" anchor="ctr">
            <a:spAutoFit/>
          </a:bodyPr>
          <a:lstStyle/>
          <a:p>
            <a:pPr algn="l"/>
            <a:r>
              <a:rPr sz="950" b="0" lang="en-US">
                <a:solidFill>
                  <a:srgbClr val="666666"/>
                </a:solidFill>
                <a:latin typeface="Arial"/>
              </a:rPr>
              <a:t>OR: any route · AND: all conditions</a:t>
            </a:r>
          </a:p>
        </p:txBody>
      </p:sp>
      <p:sp>
        <p:nvSpPr>
          <p:cNvPr id="14" name="Rectangle 13"/>
          <p:cNvSpPr/>
          <p:nvPr/>
        </p:nvSpPr>
        <p:spPr>
          <a:xfrm>
            <a:off x="502920" y="1389888"/>
            <a:ext cx="11155680" cy="3959352"/>
          </a:xfrm>
          <a:prstGeom prst="rect">
            <a:avLst/>
          </a:prstGeom>
          <a:solidFill>
            <a:srgbClr val="F7F7F7"/>
          </a:solidFill>
          <a:ln>
            <a:solidFill>
              <a:srgbClr val="F7F7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2313432" y="3603389"/>
            <a:ext cx="484631"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798063" y="2459736"/>
            <a:ext cx="0" cy="2287306"/>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798063" y="2459736"/>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28032" y="2459736"/>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12664" y="2056093"/>
            <a:ext cx="0" cy="807285"/>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312664" y="2056093"/>
            <a:ext cx="82296"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71232" y="2056093"/>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055864" y="1786998"/>
            <a:ext cx="0" cy="53819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055864" y="1786998"/>
            <a:ext cx="1280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055864" y="2325188"/>
            <a:ext cx="1280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648956" y="1932649"/>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ack tree: OR"/>
          <p:cNvSpPr txBox="1"/>
          <p:nvPr/>
        </p:nvSpPr>
        <p:spPr>
          <a:xfrm>
            <a:off x="7662672" y="1946365"/>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cxnSp>
        <p:nvCxnSpPr>
          <p:cNvPr id="27" name="Connector 26"/>
          <p:cNvCxnSpPr/>
          <p:nvPr/>
        </p:nvCxnSpPr>
        <p:spPr>
          <a:xfrm>
            <a:off x="5312664" y="286337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873752" y="2336291"/>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ack tree: AND"/>
          <p:cNvSpPr txBox="1"/>
          <p:nvPr/>
        </p:nvSpPr>
        <p:spPr>
          <a:xfrm>
            <a:off x="4887468" y="2350008"/>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30" name="Connector 29"/>
          <p:cNvCxnSpPr/>
          <p:nvPr/>
        </p:nvCxnSpPr>
        <p:spPr>
          <a:xfrm>
            <a:off x="2798063" y="3670662"/>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828032" y="3670662"/>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312664" y="3401568"/>
            <a:ext cx="0" cy="538189"/>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312664" y="340156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312664" y="3939757"/>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873752" y="3547218"/>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ack tree: AND"/>
          <p:cNvSpPr txBox="1"/>
          <p:nvPr/>
        </p:nvSpPr>
        <p:spPr>
          <a:xfrm>
            <a:off x="4887468" y="3560934"/>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37" name="Connector 36"/>
          <p:cNvCxnSpPr/>
          <p:nvPr/>
        </p:nvCxnSpPr>
        <p:spPr>
          <a:xfrm>
            <a:off x="2798063" y="4747042"/>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828032" y="4747042"/>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312664" y="4477947"/>
            <a:ext cx="0" cy="53819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312664" y="4477947"/>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312664" y="5016137"/>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905756" y="4623598"/>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4919472" y="4637314"/>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sp>
        <p:nvSpPr>
          <p:cNvPr id="44" name="Rounded Rectangle 43"/>
          <p:cNvSpPr/>
          <p:nvPr/>
        </p:nvSpPr>
        <p:spPr>
          <a:xfrm>
            <a:off x="2391156" y="3479945"/>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OR"/>
          <p:cNvSpPr txBox="1"/>
          <p:nvPr/>
        </p:nvSpPr>
        <p:spPr>
          <a:xfrm>
            <a:off x="2404872" y="3493661"/>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sp>
        <p:nvSpPr>
          <p:cNvPr id="46" name="Assessed node: possible / Undermine evidence or suppress interaction"/>
          <p:cNvSpPr/>
          <p:nvPr/>
        </p:nvSpPr>
        <p:spPr>
          <a:xfrm>
            <a:off x="594360" y="2688989"/>
            <a:ext cx="1719072" cy="1828800"/>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ATTACKER GOAL"/>
          <p:cNvSpPr txBox="1"/>
          <p:nvPr/>
        </p:nvSpPr>
        <p:spPr>
          <a:xfrm>
            <a:off x="694944" y="2789573"/>
            <a:ext cx="1517904" cy="182880"/>
          </a:xfrm>
          <a:prstGeom prst="rect">
            <a:avLst/>
          </a:prstGeom>
          <a:noFill/>
        </p:spPr>
        <p:txBody>
          <a:bodyPr wrap="square" lIns="0" rIns="0" tIns="0" bIns="0" anchor="ctr">
            <a:spAutoFit/>
          </a:bodyPr>
          <a:lstStyle/>
          <a:p>
            <a:pPr algn="l"/>
            <a:r>
              <a:rPr sz="910" b="1" lang="en-US">
                <a:solidFill>
                  <a:srgbClr val="C40D1E"/>
                </a:solidFill>
                <a:latin typeface="Arial"/>
              </a:rPr>
              <a:t>ATTACKER GOAL</a:t>
            </a:r>
          </a:p>
        </p:txBody>
      </p:sp>
      <p:sp>
        <p:nvSpPr>
          <p:cNvPr id="48" name="Attack tree: Undermine evidence or suppress interaction"/>
          <p:cNvSpPr txBox="1"/>
          <p:nvPr/>
        </p:nvSpPr>
        <p:spPr>
          <a:xfrm>
            <a:off x="694944" y="3036461"/>
            <a:ext cx="1517904" cy="1389888"/>
          </a:xfrm>
          <a:prstGeom prst="rect">
            <a:avLst/>
          </a:prstGeom>
          <a:noFill/>
        </p:spPr>
        <p:txBody>
          <a:bodyPr wrap="square" lIns="0" rIns="0" tIns="0" bIns="0" anchor="ctr">
            <a:spAutoFit/>
          </a:bodyPr>
          <a:lstStyle/>
          <a:p>
            <a:pPr algn="l"/>
            <a:r>
              <a:rPr sz="1550" b="1" lang="en-US">
                <a:solidFill>
                  <a:srgbClr val="C40D1E"/>
                </a:solidFill>
                <a:latin typeface="Arial"/>
              </a:rPr>
              <a:t>Undermine evidence or suppress interaction</a:t>
            </a:r>
          </a:p>
        </p:txBody>
      </p:sp>
      <p:sp>
        <p:nvSpPr>
          <p:cNvPr id="49" name="Assessed node: blocked / Claim complete evidence despite missing records"/>
          <p:cNvSpPr/>
          <p:nvPr/>
        </p:nvSpPr>
        <p:spPr>
          <a:xfrm>
            <a:off x="2852928" y="2066543"/>
            <a:ext cx="1975104" cy="786384"/>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Claim complete evidence despite missing records"/>
          <p:cNvSpPr txBox="1"/>
          <p:nvPr/>
        </p:nvSpPr>
        <p:spPr>
          <a:xfrm>
            <a:off x="2962656" y="2112263"/>
            <a:ext cx="1755648" cy="694944"/>
          </a:xfrm>
          <a:prstGeom prst="rect">
            <a:avLst/>
          </a:prstGeom>
          <a:noFill/>
        </p:spPr>
        <p:txBody>
          <a:bodyPr wrap="square" lIns="0" rIns="0" tIns="0" bIns="0" anchor="ctr">
            <a:spAutoFit/>
          </a:bodyPr>
          <a:lstStyle/>
          <a:p>
            <a:pPr algn="l"/>
            <a:r>
              <a:rPr sz="1310" b="1" lang="en-US">
                <a:solidFill>
                  <a:srgbClr val="267347"/>
                </a:solidFill>
                <a:latin typeface="Arial"/>
              </a:rPr>
              <a:t>Claim complete evidence despite missing records</a:t>
            </a:r>
          </a:p>
        </p:txBody>
      </p:sp>
      <p:sp>
        <p:nvSpPr>
          <p:cNvPr id="51" name="Assessed node: neutral / Leave a required record absent"/>
          <p:cNvSpPr/>
          <p:nvPr/>
        </p:nvSpPr>
        <p:spPr>
          <a:xfrm>
            <a:off x="5394960" y="1708621"/>
            <a:ext cx="2176272" cy="694944"/>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ttack tree: Leave a required record absent"/>
          <p:cNvSpPr txBox="1"/>
          <p:nvPr/>
        </p:nvSpPr>
        <p:spPr>
          <a:xfrm>
            <a:off x="5504688" y="1754341"/>
            <a:ext cx="1956815" cy="603504"/>
          </a:xfrm>
          <a:prstGeom prst="rect">
            <a:avLst/>
          </a:prstGeom>
          <a:noFill/>
        </p:spPr>
        <p:txBody>
          <a:bodyPr wrap="square" lIns="0" rIns="0" tIns="0" bIns="0" anchor="ctr">
            <a:spAutoFit/>
          </a:bodyPr>
          <a:lstStyle/>
          <a:p>
            <a:pPr algn="l"/>
            <a:r>
              <a:rPr sz="1240" b="1" lang="en-US">
                <a:solidFill>
                  <a:srgbClr val="2D2D2D"/>
                </a:solidFill>
                <a:latin typeface="Arial"/>
              </a:rPr>
              <a:t>Leave a required record absent</a:t>
            </a:r>
          </a:p>
        </p:txBody>
      </p:sp>
      <p:sp>
        <p:nvSpPr>
          <p:cNvPr id="53" name="Assessed node: neutral / Receiver Sello receipt is not accepted by the log"/>
          <p:cNvSpPr/>
          <p:nvPr/>
        </p:nvSpPr>
        <p:spPr>
          <a:xfrm>
            <a:off x="8183879" y="1538478"/>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Block Sello publication"/>
          <p:cNvSpPr txBox="1"/>
          <p:nvPr/>
        </p:nvSpPr>
        <p:spPr>
          <a:xfrm>
            <a:off x="8293607" y="156133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Block Sello publication</a:t>
            </a:r>
          </a:p>
        </p:txBody>
      </p:sp>
      <p:sp>
        <p:nvSpPr>
          <p:cNvPr id="55" name="Assessed node: neutral / Verified inference domain bundle is not published"/>
          <p:cNvSpPr/>
          <p:nvPr/>
        </p:nvSpPr>
        <p:spPr>
          <a:xfrm>
            <a:off x="8183879" y="2076667"/>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Block inference publication"/>
          <p:cNvSpPr txBox="1"/>
          <p:nvPr/>
        </p:nvSpPr>
        <p:spPr>
          <a:xfrm>
            <a:off x="8293607" y="209952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Block inference publication</a:t>
            </a:r>
          </a:p>
        </p:txBody>
      </p:sp>
      <p:sp>
        <p:nvSpPr>
          <p:cNvPr id="57" name="Assessed node: blocked / Workflow still marks the corresponding claim successful"/>
          <p:cNvSpPr/>
          <p:nvPr/>
        </p:nvSpPr>
        <p:spPr>
          <a:xfrm>
            <a:off x="8183879" y="2614857"/>
            <a:ext cx="3401568" cy="497041"/>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Still return verified success"/>
          <p:cNvSpPr txBox="1"/>
          <p:nvPr/>
        </p:nvSpPr>
        <p:spPr>
          <a:xfrm>
            <a:off x="8293607" y="263771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Still return verified success</a:t>
            </a:r>
          </a:p>
        </p:txBody>
      </p:sp>
      <p:sp>
        <p:nvSpPr>
          <p:cNvPr id="59" name="Assessed node: boundary / Conceal log equivocation"/>
          <p:cNvSpPr/>
          <p:nvPr/>
        </p:nvSpPr>
        <p:spPr>
          <a:xfrm>
            <a:off x="2852928" y="3277470"/>
            <a:ext cx="1975104" cy="786384"/>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Conceal log equivocation"/>
          <p:cNvSpPr txBox="1"/>
          <p:nvPr/>
        </p:nvSpPr>
        <p:spPr>
          <a:xfrm>
            <a:off x="2962656" y="3323190"/>
            <a:ext cx="1755648" cy="694944"/>
          </a:xfrm>
          <a:prstGeom prst="rect">
            <a:avLst/>
          </a:prstGeom>
          <a:noFill/>
        </p:spPr>
        <p:txBody>
          <a:bodyPr wrap="square" lIns="0" rIns="0" tIns="0" bIns="0" anchor="ctr">
            <a:spAutoFit/>
          </a:bodyPr>
          <a:lstStyle/>
          <a:p>
            <a:pPr algn="l"/>
            <a:r>
              <a:rPr sz="1310" b="1" lang="en-US">
                <a:solidFill>
                  <a:srgbClr val="94600B"/>
                </a:solidFill>
                <a:latin typeface="Arial"/>
              </a:rPr>
              <a:t>Conceal log equivocation</a:t>
            </a:r>
          </a:p>
        </p:txBody>
      </p:sp>
      <p:sp>
        <p:nvSpPr>
          <p:cNvPr id="61" name="Assessed node: neutral / A controlled log issues valid statements for conflicting views"/>
          <p:cNvSpPr/>
          <p:nvPr/>
        </p:nvSpPr>
        <p:spPr>
          <a:xfrm>
            <a:off x="8183879" y="3153047"/>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ack tree: Log signs conflicting views"/>
          <p:cNvSpPr txBox="1"/>
          <p:nvPr/>
        </p:nvSpPr>
        <p:spPr>
          <a:xfrm>
            <a:off x="8293607" y="317590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Log signs conflicting views</a:t>
            </a:r>
          </a:p>
        </p:txBody>
      </p:sp>
      <p:sp>
        <p:nvSpPr>
          <p:cNvPr id="63" name="Assessed node: boundary / No independent witness or anchor compares the views"/>
          <p:cNvSpPr/>
          <p:nvPr/>
        </p:nvSpPr>
        <p:spPr>
          <a:xfrm>
            <a:off x="8183879" y="3691236"/>
            <a:ext cx="3401568" cy="497041"/>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ack tree: No independent view comparison"/>
          <p:cNvSpPr txBox="1"/>
          <p:nvPr/>
        </p:nvSpPr>
        <p:spPr>
          <a:xfrm>
            <a:off x="8293607" y="371409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No independent view comparison</a:t>
            </a:r>
          </a:p>
        </p:txBody>
      </p:sp>
      <p:sp>
        <p:nvSpPr>
          <p:cNvPr id="65" name="Assessed node: possible / Suppress the entire interaction"/>
          <p:cNvSpPr/>
          <p:nvPr/>
        </p:nvSpPr>
        <p:spPr>
          <a:xfrm>
            <a:off x="2852928" y="4353850"/>
            <a:ext cx="1975104" cy="786384"/>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ack tree: Suppress the entire interaction"/>
          <p:cNvSpPr txBox="1"/>
          <p:nvPr/>
        </p:nvSpPr>
        <p:spPr>
          <a:xfrm>
            <a:off x="2962656" y="4399570"/>
            <a:ext cx="1755648" cy="694944"/>
          </a:xfrm>
          <a:prstGeom prst="rect">
            <a:avLst/>
          </a:prstGeom>
          <a:noFill/>
        </p:spPr>
        <p:txBody>
          <a:bodyPr wrap="square" lIns="0" rIns="0" tIns="0" bIns="0" anchor="ctr">
            <a:spAutoFit/>
          </a:bodyPr>
          <a:lstStyle/>
          <a:p>
            <a:pPr algn="l"/>
            <a:r>
              <a:rPr sz="1310" b="1" lang="en-US">
                <a:solidFill>
                  <a:srgbClr val="C40D1E"/>
                </a:solidFill>
                <a:latin typeface="Arial"/>
              </a:rPr>
              <a:t>Suppress the entire interaction</a:t>
            </a:r>
          </a:p>
        </p:txBody>
      </p:sp>
      <p:sp>
        <p:nvSpPr>
          <p:cNvPr id="67" name="Assessed node: possible / Drop the request before it reaches the receiver"/>
          <p:cNvSpPr/>
          <p:nvPr/>
        </p:nvSpPr>
        <p:spPr>
          <a:xfrm>
            <a:off x="8183879" y="4229426"/>
            <a:ext cx="3401568" cy="497041"/>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ack tree: Drop request before execution"/>
          <p:cNvSpPr txBox="1"/>
          <p:nvPr/>
        </p:nvSpPr>
        <p:spPr>
          <a:xfrm>
            <a:off x="8293607" y="425228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Drop request before execution</a:t>
            </a:r>
          </a:p>
        </p:txBody>
      </p:sp>
      <p:sp>
        <p:nvSpPr>
          <p:cNvPr id="69" name="Assessed node: possible / Intermediary withholds the entire result from the user"/>
          <p:cNvSpPr/>
          <p:nvPr/>
        </p:nvSpPr>
        <p:spPr>
          <a:xfrm>
            <a:off x="8183879" y="4767616"/>
            <a:ext cx="3401568" cy="497041"/>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ack tree: Withhold response from user"/>
          <p:cNvSpPr txBox="1"/>
          <p:nvPr/>
        </p:nvSpPr>
        <p:spPr>
          <a:xfrm>
            <a:off x="8293607" y="479047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Withhold response from user</a:t>
            </a:r>
          </a:p>
        </p:txBody>
      </p:sp>
      <p:sp>
        <p:nvSpPr>
          <p:cNvPr id="71" name="Attack tree: LEGEND"/>
          <p:cNvSpPr txBox="1"/>
          <p:nvPr/>
        </p:nvSpPr>
        <p:spPr>
          <a:xfrm>
            <a:off x="630936" y="5340096"/>
            <a:ext cx="585216" cy="201168"/>
          </a:xfrm>
          <a:prstGeom prst="rect">
            <a:avLst/>
          </a:prstGeom>
          <a:noFill/>
        </p:spPr>
        <p:txBody>
          <a:bodyPr wrap="square" lIns="0" rIns="0" tIns="0" bIns="0" anchor="ctr">
            <a:spAutoFit/>
          </a:bodyPr>
          <a:lstStyle/>
          <a:p>
            <a:pPr algn="l"/>
            <a:r>
              <a:rPr sz="850" b="1" lang="en-US">
                <a:solidFill>
                  <a:srgbClr val="666666"/>
                </a:solidFill>
                <a:latin typeface="Arial"/>
              </a:rPr>
              <a:t>LEGEND</a:t>
            </a:r>
          </a:p>
        </p:txBody>
      </p:sp>
      <p:sp>
        <p:nvSpPr>
          <p:cNvPr id="72" name="Attack legend swatch: Action / condition"/>
          <p:cNvSpPr/>
          <p:nvPr/>
        </p:nvSpPr>
        <p:spPr>
          <a:xfrm>
            <a:off x="1280160" y="5358384"/>
            <a:ext cx="155448" cy="15544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ack legend label: Action / condition"/>
          <p:cNvSpPr txBox="1"/>
          <p:nvPr/>
        </p:nvSpPr>
        <p:spPr>
          <a:xfrm>
            <a:off x="1508760" y="5340096"/>
            <a:ext cx="1874519" cy="201168"/>
          </a:xfrm>
          <a:prstGeom prst="rect">
            <a:avLst/>
          </a:prstGeom>
          <a:noFill/>
        </p:spPr>
        <p:txBody>
          <a:bodyPr wrap="square" lIns="0" rIns="0" tIns="0" bIns="0" anchor="ctr">
            <a:spAutoFit/>
          </a:bodyPr>
          <a:lstStyle/>
          <a:p>
            <a:pPr algn="l"/>
            <a:r>
              <a:rPr sz="1000" b="0" lang="en-US">
                <a:solidFill>
                  <a:srgbClr val="2D2D2D"/>
                </a:solidFill>
                <a:latin typeface="Arial"/>
              </a:rPr>
              <a:t>Action / condition</a:t>
            </a:r>
          </a:p>
        </p:txBody>
      </p:sp>
      <p:sp>
        <p:nvSpPr>
          <p:cNvPr id="74" name="Attack legend swatch: Possible in threat model"/>
          <p:cNvSpPr/>
          <p:nvPr/>
        </p:nvSpPr>
        <p:spPr>
          <a:xfrm>
            <a:off x="3657600" y="5358384"/>
            <a:ext cx="155448" cy="155448"/>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ack legend label: Possible in threat model"/>
          <p:cNvSpPr txBox="1"/>
          <p:nvPr/>
        </p:nvSpPr>
        <p:spPr>
          <a:xfrm>
            <a:off x="3886200" y="5340096"/>
            <a:ext cx="2121408" cy="201168"/>
          </a:xfrm>
          <a:prstGeom prst="rect">
            <a:avLst/>
          </a:prstGeom>
          <a:noFill/>
        </p:spPr>
        <p:txBody>
          <a:bodyPr wrap="square" lIns="0" rIns="0" tIns="0" bIns="0" anchor="ctr">
            <a:spAutoFit/>
          </a:bodyPr>
          <a:lstStyle/>
          <a:p>
            <a:pPr algn="l"/>
            <a:r>
              <a:rPr sz="1000" b="0" lang="en-US">
                <a:solidFill>
                  <a:srgbClr val="2D2D2D"/>
                </a:solidFill>
                <a:latin typeface="Arial"/>
              </a:rPr>
              <a:t>Possible in threat model</a:t>
            </a:r>
          </a:p>
        </p:txBody>
      </p:sp>
      <p:sp>
        <p:nvSpPr>
          <p:cNvPr id="76" name="Attack legend swatch: Assumption boundary"/>
          <p:cNvSpPr/>
          <p:nvPr/>
        </p:nvSpPr>
        <p:spPr>
          <a:xfrm>
            <a:off x="6428232" y="5358384"/>
            <a:ext cx="155448" cy="155448"/>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ack legend label: Assumption boundary"/>
          <p:cNvSpPr txBox="1"/>
          <p:nvPr/>
        </p:nvSpPr>
        <p:spPr>
          <a:xfrm>
            <a:off x="6656832" y="5340096"/>
            <a:ext cx="1938528" cy="201168"/>
          </a:xfrm>
          <a:prstGeom prst="rect">
            <a:avLst/>
          </a:prstGeom>
          <a:noFill/>
        </p:spPr>
        <p:txBody>
          <a:bodyPr wrap="square" lIns="0" rIns="0" tIns="0" bIns="0" anchor="ctr">
            <a:spAutoFit/>
          </a:bodyPr>
          <a:lstStyle/>
          <a:p>
            <a:pPr algn="l"/>
            <a:r>
              <a:rPr sz="1000" b="0" lang="en-US">
                <a:solidFill>
                  <a:srgbClr val="2D2D2D"/>
                </a:solidFill>
                <a:latin typeface="Arial"/>
              </a:rPr>
              <a:t>Assumption boundary</a:t>
            </a:r>
          </a:p>
        </p:txBody>
      </p:sp>
      <p:sp>
        <p:nvSpPr>
          <p:cNvPr id="78" name="Attack legend swatch: Blocked under assumptions"/>
          <p:cNvSpPr/>
          <p:nvPr/>
        </p:nvSpPr>
        <p:spPr>
          <a:xfrm>
            <a:off x="8924544" y="5358384"/>
            <a:ext cx="155448" cy="155448"/>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ack legend label: Blocked under assumptions"/>
          <p:cNvSpPr txBox="1"/>
          <p:nvPr/>
        </p:nvSpPr>
        <p:spPr>
          <a:xfrm>
            <a:off x="9153144" y="5340096"/>
            <a:ext cx="2395728" cy="201168"/>
          </a:xfrm>
          <a:prstGeom prst="rect">
            <a:avLst/>
          </a:prstGeom>
          <a:noFill/>
        </p:spPr>
        <p:txBody>
          <a:bodyPr wrap="square" lIns="0" rIns="0" tIns="0" bIns="0" anchor="ctr">
            <a:spAutoFit/>
          </a:bodyPr>
          <a:lstStyle/>
          <a:p>
            <a:pPr algn="l"/>
            <a:r>
              <a:rPr sz="1000" b="0" lang="en-US">
                <a:solidFill>
                  <a:srgbClr val="2D2D2D"/>
                </a:solidFill>
                <a:latin typeface="Arial"/>
              </a:rPr>
              <a:t>Blocked under assumptions</a:t>
            </a:r>
          </a:p>
        </p:txBody>
      </p:sp>
      <p:sp>
        <p:nvSpPr>
          <p:cNvPr id="80" name="Attack tree: Dropping traffic needs no key; conflicting valid log views require control of the log authority."/>
          <p:cNvSpPr txBox="1"/>
          <p:nvPr/>
        </p:nvSpPr>
        <p:spPr>
          <a:xfrm>
            <a:off x="630936" y="5541264"/>
            <a:ext cx="10936224" cy="192024"/>
          </a:xfrm>
          <a:prstGeom prst="rect">
            <a:avLst/>
          </a:prstGeom>
          <a:noFill/>
        </p:spPr>
        <p:txBody>
          <a:bodyPr wrap="square" lIns="0" rIns="0" tIns="0" bIns="0" anchor="ctr">
            <a:spAutoFit/>
          </a:bodyPr>
          <a:lstStyle/>
          <a:p>
            <a:pPr algn="l"/>
            <a:r>
              <a:rPr sz="1050" b="1" lang="en-US">
                <a:solidFill>
                  <a:srgbClr val="2D2D2D"/>
                </a:solidFill>
                <a:latin typeface="Arial"/>
              </a:rPr>
              <a:t>Dropping traffic needs no key; conflicting valid log views require control of the log authority.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disclose the TEE-held model</a:t>
            </a:r>
          </a:p>
        </p:txBody>
      </p:sp>
      <p:sp>
        <p:nvSpPr>
          <p:cNvPr id="3" name="TextBox 2"/>
          <p:cNvSpPr txBox="1"/>
          <p:nvPr/>
        </p:nvSpPr>
        <p:spPr>
          <a:xfrm>
            <a:off x="566928" y="932688"/>
            <a:ext cx="621792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6 / 6 · T5 / T13</a:t>
            </a:r>
          </a:p>
        </p:txBody>
      </p:sp>
      <p:sp>
        <p:nvSpPr>
          <p:cNvPr id="4" name="Rectangle 3"/>
          <p:cNvSpPr/>
          <p:nvPr/>
        </p:nvSpPr>
        <p:spPr>
          <a:xfrm>
            <a:off x="557784" y="1188720"/>
            <a:ext cx="10927080" cy="16459"/>
          </a:xfrm>
          <a:prstGeom prst="rect">
            <a:avLst/>
          </a:prstGeom>
          <a:solidFill>
            <a:srgbClr val="B8B8B8"/>
          </a:solidFill>
          <a:ln>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B light · 6</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555555"/>
          </a:solidFill>
          <a:ln w="6985">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555555"/>
          </a:solidFill>
          <a:ln w="6985">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Attack tree: OR: any route · AND: all conditions"/>
          <p:cNvSpPr txBox="1"/>
          <p:nvPr/>
        </p:nvSpPr>
        <p:spPr>
          <a:xfrm>
            <a:off x="6949440" y="932688"/>
            <a:ext cx="3465576" cy="201168"/>
          </a:xfrm>
          <a:prstGeom prst="rect">
            <a:avLst/>
          </a:prstGeom>
          <a:noFill/>
        </p:spPr>
        <p:txBody>
          <a:bodyPr wrap="square" lIns="0" rIns="0" tIns="0" bIns="0" anchor="ctr">
            <a:spAutoFit/>
          </a:bodyPr>
          <a:lstStyle/>
          <a:p>
            <a:pPr algn="l"/>
            <a:r>
              <a:rPr sz="950" b="0" lang="en-US">
                <a:solidFill>
                  <a:srgbClr val="666666"/>
                </a:solidFill>
                <a:latin typeface="Arial"/>
              </a:rPr>
              <a:t>OR: any route · AND: all conditions</a:t>
            </a:r>
          </a:p>
        </p:txBody>
      </p:sp>
      <p:sp>
        <p:nvSpPr>
          <p:cNvPr id="14" name="Rectangle 13"/>
          <p:cNvSpPr/>
          <p:nvPr/>
        </p:nvSpPr>
        <p:spPr>
          <a:xfrm>
            <a:off x="502920" y="1389888"/>
            <a:ext cx="11155680" cy="3959352"/>
          </a:xfrm>
          <a:prstGeom prst="rect">
            <a:avLst/>
          </a:prstGeom>
          <a:solidFill>
            <a:srgbClr val="F7F7F7"/>
          </a:solidFill>
          <a:ln>
            <a:solidFill>
              <a:srgbClr val="F7F7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2313432" y="3401568"/>
            <a:ext cx="484631"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798063" y="2056093"/>
            <a:ext cx="0" cy="2690949"/>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798063" y="2056093"/>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28032" y="2056093"/>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12664" y="1786998"/>
            <a:ext cx="0" cy="53819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312664" y="178699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312664" y="232518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873752" y="1932649"/>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ack tree: AND"/>
          <p:cNvSpPr txBox="1"/>
          <p:nvPr/>
        </p:nvSpPr>
        <p:spPr>
          <a:xfrm>
            <a:off x="4887468" y="1946365"/>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24" name="Connector 23"/>
          <p:cNvCxnSpPr/>
          <p:nvPr/>
        </p:nvCxnSpPr>
        <p:spPr>
          <a:xfrm>
            <a:off x="2798063" y="3267020"/>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28032" y="3267020"/>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12664" y="2863378"/>
            <a:ext cx="0" cy="807284"/>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12664" y="2863378"/>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312664" y="3670662"/>
            <a:ext cx="82296"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571232" y="3670662"/>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055864" y="3401568"/>
            <a:ext cx="0" cy="538189"/>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055864" y="3401568"/>
            <a:ext cx="1280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055864" y="3939757"/>
            <a:ext cx="1280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648956" y="3547218"/>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ack tree: OR"/>
          <p:cNvSpPr txBox="1"/>
          <p:nvPr/>
        </p:nvSpPr>
        <p:spPr>
          <a:xfrm>
            <a:off x="7662672" y="3560934"/>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sp>
        <p:nvSpPr>
          <p:cNvPr id="35" name="Rounded Rectangle 34"/>
          <p:cNvSpPr/>
          <p:nvPr/>
        </p:nvSpPr>
        <p:spPr>
          <a:xfrm>
            <a:off x="4873752" y="3143576"/>
            <a:ext cx="420624"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ack tree: AND"/>
          <p:cNvSpPr txBox="1"/>
          <p:nvPr/>
        </p:nvSpPr>
        <p:spPr>
          <a:xfrm>
            <a:off x="4887468" y="3157292"/>
            <a:ext cx="393192" cy="219456"/>
          </a:xfrm>
          <a:prstGeom prst="rect">
            <a:avLst/>
          </a:prstGeom>
          <a:noFill/>
        </p:spPr>
        <p:txBody>
          <a:bodyPr wrap="square" lIns="0" rIns="0" tIns="0" bIns="0" anchor="ctr">
            <a:spAutoFit/>
          </a:bodyPr>
          <a:lstStyle/>
          <a:p>
            <a:pPr algn="ctr"/>
            <a:r>
              <a:rPr sz="1030" b="1" lang="en-US">
                <a:solidFill>
                  <a:srgbClr val="2D2D2D"/>
                </a:solidFill>
                <a:latin typeface="Arial"/>
              </a:rPr>
              <a:t>AND</a:t>
            </a:r>
          </a:p>
        </p:txBody>
      </p:sp>
      <p:cxnSp>
        <p:nvCxnSpPr>
          <p:cNvPr id="37" name="Connector 36"/>
          <p:cNvCxnSpPr/>
          <p:nvPr/>
        </p:nvCxnSpPr>
        <p:spPr>
          <a:xfrm>
            <a:off x="2798063" y="4747042"/>
            <a:ext cx="5486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828032" y="4747042"/>
            <a:ext cx="484632"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312664" y="4477947"/>
            <a:ext cx="0" cy="53819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312664" y="4477947"/>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312664" y="5016137"/>
            <a:ext cx="2871215" cy="0"/>
          </a:xfrm>
          <a:prstGeom prst="line">
            <a:avLst/>
          </a:prstGeom>
          <a:ln w="15875">
            <a:solidFill>
              <a:srgbClr val="B8B8B8"/>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905756" y="4623598"/>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4919472" y="4637314"/>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sp>
        <p:nvSpPr>
          <p:cNvPr id="44" name="Rounded Rectangle 43"/>
          <p:cNvSpPr/>
          <p:nvPr/>
        </p:nvSpPr>
        <p:spPr>
          <a:xfrm>
            <a:off x="2391156" y="3278124"/>
            <a:ext cx="356616" cy="24688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OR"/>
          <p:cNvSpPr txBox="1"/>
          <p:nvPr/>
        </p:nvSpPr>
        <p:spPr>
          <a:xfrm>
            <a:off x="2404872" y="3291840"/>
            <a:ext cx="329184" cy="219456"/>
          </a:xfrm>
          <a:prstGeom prst="rect">
            <a:avLst/>
          </a:prstGeom>
          <a:noFill/>
        </p:spPr>
        <p:txBody>
          <a:bodyPr wrap="square" lIns="0" rIns="0" tIns="0" bIns="0" anchor="ctr">
            <a:spAutoFit/>
          </a:bodyPr>
          <a:lstStyle/>
          <a:p>
            <a:pPr algn="ctr"/>
            <a:r>
              <a:rPr sz="1030" b="1" lang="en-US">
                <a:solidFill>
                  <a:srgbClr val="2D2D2D"/>
                </a:solidFill>
                <a:latin typeface="Arial"/>
              </a:rPr>
              <a:t>OR</a:t>
            </a:r>
          </a:p>
        </p:txBody>
      </p:sp>
      <p:sp>
        <p:nvSpPr>
          <p:cNvPr id="46" name="Assessed node: boundary / Expose model outside the TEE"/>
          <p:cNvSpPr/>
          <p:nvPr/>
        </p:nvSpPr>
        <p:spPr>
          <a:xfrm>
            <a:off x="594360" y="2487168"/>
            <a:ext cx="1719072" cy="1828800"/>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ATTACKER GOAL"/>
          <p:cNvSpPr txBox="1"/>
          <p:nvPr/>
        </p:nvSpPr>
        <p:spPr>
          <a:xfrm>
            <a:off x="694944" y="2587752"/>
            <a:ext cx="1517904" cy="182880"/>
          </a:xfrm>
          <a:prstGeom prst="rect">
            <a:avLst/>
          </a:prstGeom>
          <a:noFill/>
        </p:spPr>
        <p:txBody>
          <a:bodyPr wrap="square" lIns="0" rIns="0" tIns="0" bIns="0" anchor="ctr">
            <a:spAutoFit/>
          </a:bodyPr>
          <a:lstStyle/>
          <a:p>
            <a:pPr algn="l"/>
            <a:r>
              <a:rPr sz="910" b="1" lang="en-US">
                <a:solidFill>
                  <a:srgbClr val="94600B"/>
                </a:solidFill>
                <a:latin typeface="Arial"/>
              </a:rPr>
              <a:t>ATTACKER GOAL</a:t>
            </a:r>
          </a:p>
        </p:txBody>
      </p:sp>
      <p:sp>
        <p:nvSpPr>
          <p:cNvPr id="48" name="Attack tree: Expose model outside the TEE"/>
          <p:cNvSpPr txBox="1"/>
          <p:nvPr/>
        </p:nvSpPr>
        <p:spPr>
          <a:xfrm>
            <a:off x="694944" y="2834640"/>
            <a:ext cx="1517904" cy="1389888"/>
          </a:xfrm>
          <a:prstGeom prst="rect">
            <a:avLst/>
          </a:prstGeom>
          <a:noFill/>
        </p:spPr>
        <p:txBody>
          <a:bodyPr wrap="square" lIns="0" rIns="0" tIns="0" bIns="0" anchor="ctr">
            <a:spAutoFit/>
          </a:bodyPr>
          <a:lstStyle/>
          <a:p>
            <a:pPr algn="l"/>
            <a:r>
              <a:rPr sz="1550" b="1" lang="en-US">
                <a:solidFill>
                  <a:srgbClr val="94600B"/>
                </a:solidFill>
                <a:latin typeface="Arial"/>
              </a:rPr>
              <a:t>Expose model outside the TEE</a:t>
            </a:r>
          </a:p>
        </p:txBody>
      </p:sp>
      <p:sp>
        <p:nvSpPr>
          <p:cNvPr id="49" name="Assessed node: blocked / Bypass admitted-key protection"/>
          <p:cNvSpPr/>
          <p:nvPr/>
        </p:nvSpPr>
        <p:spPr>
          <a:xfrm>
            <a:off x="2852928" y="1662901"/>
            <a:ext cx="1975104" cy="786384"/>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ttack tree: Bypass admitted-key protection"/>
          <p:cNvSpPr txBox="1"/>
          <p:nvPr/>
        </p:nvSpPr>
        <p:spPr>
          <a:xfrm>
            <a:off x="2962656" y="1708621"/>
            <a:ext cx="1755648" cy="694944"/>
          </a:xfrm>
          <a:prstGeom prst="rect">
            <a:avLst/>
          </a:prstGeom>
          <a:noFill/>
        </p:spPr>
        <p:txBody>
          <a:bodyPr wrap="square" lIns="0" rIns="0" tIns="0" bIns="0" anchor="ctr">
            <a:spAutoFit/>
          </a:bodyPr>
          <a:lstStyle/>
          <a:p>
            <a:pPr algn="l"/>
            <a:r>
              <a:rPr sz="1310" b="1" lang="en-US">
                <a:solidFill>
                  <a:srgbClr val="267347"/>
                </a:solidFill>
                <a:latin typeface="Arial"/>
              </a:rPr>
              <a:t>Bypass admitted-key protection</a:t>
            </a:r>
          </a:p>
        </p:txBody>
      </p:sp>
      <p:sp>
        <p:nvSpPr>
          <p:cNvPr id="51" name="Assessed node: neutral / Obtain the published encrypted model bundle"/>
          <p:cNvSpPr/>
          <p:nvPr/>
        </p:nvSpPr>
        <p:spPr>
          <a:xfrm>
            <a:off x="8183879" y="1538478"/>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ttack tree: Obtain model ciphertext"/>
          <p:cNvSpPr txBox="1"/>
          <p:nvPr/>
        </p:nvSpPr>
        <p:spPr>
          <a:xfrm>
            <a:off x="8293607" y="156133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Obtain model ciphertext</a:t>
            </a:r>
          </a:p>
        </p:txBody>
      </p:sp>
      <p:sp>
        <p:nvSpPr>
          <p:cNvPr id="53" name="Assessed node: blocked / Recover its key outside the eligible recipient snapshot"/>
          <p:cNvSpPr/>
          <p:nvPr/>
        </p:nvSpPr>
        <p:spPr>
          <a:xfrm>
            <a:off x="8183879" y="2076667"/>
            <a:ext cx="3401568" cy="497041"/>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Decrypt without recipient key"/>
          <p:cNvSpPr txBox="1"/>
          <p:nvPr/>
        </p:nvSpPr>
        <p:spPr>
          <a:xfrm>
            <a:off x="8293607" y="209952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Decrypt without recipient key</a:t>
            </a:r>
          </a:p>
        </p:txBody>
      </p:sp>
      <p:sp>
        <p:nvSpPr>
          <p:cNvPr id="55" name="Assessed node: boundary / Break TEE secret protection"/>
          <p:cNvSpPr/>
          <p:nvPr/>
        </p:nvSpPr>
        <p:spPr>
          <a:xfrm>
            <a:off x="2852928" y="2873828"/>
            <a:ext cx="1975104" cy="786384"/>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Break TEE secret protection"/>
          <p:cNvSpPr txBox="1"/>
          <p:nvPr/>
        </p:nvSpPr>
        <p:spPr>
          <a:xfrm>
            <a:off x="2962656" y="2919548"/>
            <a:ext cx="1755648" cy="694944"/>
          </a:xfrm>
          <a:prstGeom prst="rect">
            <a:avLst/>
          </a:prstGeom>
          <a:noFill/>
        </p:spPr>
        <p:txBody>
          <a:bodyPr wrap="square" lIns="0" rIns="0" tIns="0" bIns="0" anchor="ctr">
            <a:spAutoFit/>
          </a:bodyPr>
          <a:lstStyle/>
          <a:p>
            <a:pPr algn="l"/>
            <a:r>
              <a:rPr sz="1310" b="1" lang="en-US">
                <a:solidFill>
                  <a:srgbClr val="94600B"/>
                </a:solidFill>
                <a:latin typeface="Arial"/>
              </a:rPr>
              <a:t>Break TEE secret protection</a:t>
            </a:r>
          </a:p>
        </p:txBody>
      </p:sp>
      <p:sp>
        <p:nvSpPr>
          <p:cNvPr id="57" name="Assessed node: neutral / Obtain the matching encrypted model"/>
          <p:cNvSpPr/>
          <p:nvPr/>
        </p:nvSpPr>
        <p:spPr>
          <a:xfrm>
            <a:off x="8183879" y="2614857"/>
            <a:ext cx="3401568" cy="497041"/>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Obtain matching ciphertext"/>
          <p:cNvSpPr txBox="1"/>
          <p:nvPr/>
        </p:nvSpPr>
        <p:spPr>
          <a:xfrm>
            <a:off x="8293607" y="263771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Obtain matching ciphertext</a:t>
            </a:r>
          </a:p>
        </p:txBody>
      </p:sp>
      <p:sp>
        <p:nvSpPr>
          <p:cNvPr id="59" name="Assessed node: boundary / Obtain the matching round key"/>
          <p:cNvSpPr/>
          <p:nvPr/>
        </p:nvSpPr>
        <p:spPr>
          <a:xfrm>
            <a:off x="5394960" y="3323190"/>
            <a:ext cx="2176272" cy="694944"/>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Obtain the matching round key"/>
          <p:cNvSpPr txBox="1"/>
          <p:nvPr/>
        </p:nvSpPr>
        <p:spPr>
          <a:xfrm>
            <a:off x="5504688" y="3368910"/>
            <a:ext cx="1956815" cy="603504"/>
          </a:xfrm>
          <a:prstGeom prst="rect">
            <a:avLst/>
          </a:prstGeom>
          <a:noFill/>
        </p:spPr>
        <p:txBody>
          <a:bodyPr wrap="square" lIns="0" rIns="0" tIns="0" bIns="0" anchor="ctr">
            <a:spAutoFit/>
          </a:bodyPr>
          <a:lstStyle/>
          <a:p>
            <a:pPr algn="l"/>
            <a:r>
              <a:rPr sz="1240" b="1" lang="en-US">
                <a:solidFill>
                  <a:srgbClr val="94600B"/>
                </a:solidFill>
                <a:latin typeface="Arial"/>
              </a:rPr>
              <a:t>Obtain the matching round key</a:t>
            </a:r>
          </a:p>
        </p:txBody>
      </p:sp>
      <p:sp>
        <p:nvSpPr>
          <p:cNvPr id="61" name="Assessed node: boundary / Use a stolen recipient private key to unwrap the model key"/>
          <p:cNvSpPr/>
          <p:nvPr/>
        </p:nvSpPr>
        <p:spPr>
          <a:xfrm>
            <a:off x="8183879" y="3153047"/>
            <a:ext cx="3401568" cy="497041"/>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ack tree: Unwrap with stolen recipient key"/>
          <p:cNvSpPr txBox="1"/>
          <p:nvPr/>
        </p:nvSpPr>
        <p:spPr>
          <a:xfrm>
            <a:off x="8293607" y="3175907"/>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Unwrap with stolen recipient key</a:t>
            </a:r>
          </a:p>
        </p:txBody>
      </p:sp>
      <p:sp>
        <p:nvSpPr>
          <p:cNvPr id="63" name="Assessed node: boundary / Expose the model key while the workload holds it in plaintext"/>
          <p:cNvSpPr/>
          <p:nvPr/>
        </p:nvSpPr>
        <p:spPr>
          <a:xfrm>
            <a:off x="8183879" y="3691236"/>
            <a:ext cx="3401568" cy="497041"/>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ack tree: Expose live model key"/>
          <p:cNvSpPr txBox="1"/>
          <p:nvPr/>
        </p:nvSpPr>
        <p:spPr>
          <a:xfrm>
            <a:off x="8293607" y="371409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Expose live model key</a:t>
            </a:r>
          </a:p>
        </p:txBody>
      </p:sp>
      <p:sp>
        <p:nvSpPr>
          <p:cNvPr id="65" name="Assessed node: boundary / Expose secrets through operator control"/>
          <p:cNvSpPr/>
          <p:nvPr/>
        </p:nvSpPr>
        <p:spPr>
          <a:xfrm>
            <a:off x="2852928" y="4353850"/>
            <a:ext cx="1975104" cy="786384"/>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ack tree: Expose secrets through operator control"/>
          <p:cNvSpPr txBox="1"/>
          <p:nvPr/>
        </p:nvSpPr>
        <p:spPr>
          <a:xfrm>
            <a:off x="2962656" y="4399570"/>
            <a:ext cx="1755648" cy="694944"/>
          </a:xfrm>
          <a:prstGeom prst="rect">
            <a:avLst/>
          </a:prstGeom>
          <a:noFill/>
        </p:spPr>
        <p:txBody>
          <a:bodyPr wrap="square" lIns="0" rIns="0" tIns="0" bIns="0" anchor="ctr">
            <a:spAutoFit/>
          </a:bodyPr>
          <a:lstStyle/>
          <a:p>
            <a:pPr algn="l"/>
            <a:r>
              <a:rPr sz="1310" b="1" lang="en-US">
                <a:solidFill>
                  <a:srgbClr val="94600B"/>
                </a:solidFill>
                <a:latin typeface="Arial"/>
              </a:rPr>
              <a:t>Expose secrets through operator control</a:t>
            </a:r>
          </a:p>
        </p:txBody>
      </p:sp>
      <p:sp>
        <p:nvSpPr>
          <p:cNvPr id="67" name="Assessed node: boundary / Use privileged access inside the admitted TEE to disclose the matching model key"/>
          <p:cNvSpPr/>
          <p:nvPr/>
        </p:nvSpPr>
        <p:spPr>
          <a:xfrm>
            <a:off x="8183879" y="4229426"/>
            <a:ext cx="3401568" cy="497041"/>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ack tree: Read model key via guest access"/>
          <p:cNvSpPr txBox="1"/>
          <p:nvPr/>
        </p:nvSpPr>
        <p:spPr>
          <a:xfrm>
            <a:off x="8293607" y="425228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Read model key via guest access</a:t>
            </a:r>
          </a:p>
        </p:txBody>
      </p:sp>
      <p:sp>
        <p:nvSpPr>
          <p:cNvPr id="69" name="Assessed node: boundary / Registry-unapproved upgraded code obtains prior app secrets and exposes the matching model key"/>
          <p:cNvSpPr/>
          <p:nvPr/>
        </p:nvSpPr>
        <p:spPr>
          <a:xfrm>
            <a:off x="8183879" y="4767616"/>
            <a:ext cx="3401568" cy="497041"/>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ack tree: Altered code obtains old keys"/>
          <p:cNvSpPr txBox="1"/>
          <p:nvPr/>
        </p:nvSpPr>
        <p:spPr>
          <a:xfrm>
            <a:off x="8293607" y="4790476"/>
            <a:ext cx="3182112" cy="451321"/>
          </a:xfrm>
          <a:prstGeom prst="rect">
            <a:avLst/>
          </a:prstGeom>
          <a:noFill/>
        </p:spPr>
        <p:txBody>
          <a:bodyPr wrap="square" lIns="0" rIns="0" tIns="0" bIns="0" anchor="ctr">
            <a:spAutoFit/>
          </a:bodyPr>
          <a:lstStyle/>
          <a:p>
            <a:pPr algn="l"/>
            <a:r>
              <a:rPr sz="1400" b="0" lang="en-US">
                <a:solidFill>
                  <a:srgbClr val="2D2D2D"/>
                </a:solidFill>
                <a:latin typeface="Arial"/>
              </a:rPr>
              <a:t>Altered code obtains old keys</a:t>
            </a:r>
          </a:p>
        </p:txBody>
      </p:sp>
      <p:sp>
        <p:nvSpPr>
          <p:cNvPr id="71" name="Attack tree: LEGEND"/>
          <p:cNvSpPr txBox="1"/>
          <p:nvPr/>
        </p:nvSpPr>
        <p:spPr>
          <a:xfrm>
            <a:off x="630936" y="5340096"/>
            <a:ext cx="585216" cy="201168"/>
          </a:xfrm>
          <a:prstGeom prst="rect">
            <a:avLst/>
          </a:prstGeom>
          <a:noFill/>
        </p:spPr>
        <p:txBody>
          <a:bodyPr wrap="square" lIns="0" rIns="0" tIns="0" bIns="0" anchor="ctr">
            <a:spAutoFit/>
          </a:bodyPr>
          <a:lstStyle/>
          <a:p>
            <a:pPr algn="l"/>
            <a:r>
              <a:rPr sz="850" b="1" lang="en-US">
                <a:solidFill>
                  <a:srgbClr val="666666"/>
                </a:solidFill>
                <a:latin typeface="Arial"/>
              </a:rPr>
              <a:t>LEGEND</a:t>
            </a:r>
          </a:p>
        </p:txBody>
      </p:sp>
      <p:sp>
        <p:nvSpPr>
          <p:cNvPr id="72" name="Attack legend swatch: Action / condition"/>
          <p:cNvSpPr/>
          <p:nvPr/>
        </p:nvSpPr>
        <p:spPr>
          <a:xfrm>
            <a:off x="1280160" y="5358384"/>
            <a:ext cx="155448" cy="155448"/>
          </a:xfrm>
          <a:prstGeom prst="roundRect">
            <a:avLst/>
          </a:prstGeom>
          <a:solidFill>
            <a:srgbClr val="FFFFFF"/>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ack legend label: Action / condition"/>
          <p:cNvSpPr txBox="1"/>
          <p:nvPr/>
        </p:nvSpPr>
        <p:spPr>
          <a:xfrm>
            <a:off x="1508760" y="5340096"/>
            <a:ext cx="1874519" cy="201168"/>
          </a:xfrm>
          <a:prstGeom prst="rect">
            <a:avLst/>
          </a:prstGeom>
          <a:noFill/>
        </p:spPr>
        <p:txBody>
          <a:bodyPr wrap="square" lIns="0" rIns="0" tIns="0" bIns="0" anchor="ctr">
            <a:spAutoFit/>
          </a:bodyPr>
          <a:lstStyle/>
          <a:p>
            <a:pPr algn="l"/>
            <a:r>
              <a:rPr sz="1000" b="0" lang="en-US">
                <a:solidFill>
                  <a:srgbClr val="2D2D2D"/>
                </a:solidFill>
                <a:latin typeface="Arial"/>
              </a:rPr>
              <a:t>Action / condition</a:t>
            </a:r>
          </a:p>
        </p:txBody>
      </p:sp>
      <p:sp>
        <p:nvSpPr>
          <p:cNvPr id="74" name="Attack legend swatch: Possible in threat model"/>
          <p:cNvSpPr/>
          <p:nvPr/>
        </p:nvSpPr>
        <p:spPr>
          <a:xfrm>
            <a:off x="3657600" y="5358384"/>
            <a:ext cx="155448" cy="155448"/>
          </a:xfrm>
          <a:prstGeom prst="roundRect">
            <a:avLst/>
          </a:prstGeom>
          <a:solidFill>
            <a:srgbClr val="FBECEF"/>
          </a:solidFill>
          <a:ln w="1016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ack legend label: Possible in threat model"/>
          <p:cNvSpPr txBox="1"/>
          <p:nvPr/>
        </p:nvSpPr>
        <p:spPr>
          <a:xfrm>
            <a:off x="3886200" y="5340096"/>
            <a:ext cx="2121408" cy="201168"/>
          </a:xfrm>
          <a:prstGeom prst="rect">
            <a:avLst/>
          </a:prstGeom>
          <a:noFill/>
        </p:spPr>
        <p:txBody>
          <a:bodyPr wrap="square" lIns="0" rIns="0" tIns="0" bIns="0" anchor="ctr">
            <a:spAutoFit/>
          </a:bodyPr>
          <a:lstStyle/>
          <a:p>
            <a:pPr algn="l"/>
            <a:r>
              <a:rPr sz="1000" b="0" lang="en-US">
                <a:solidFill>
                  <a:srgbClr val="2D2D2D"/>
                </a:solidFill>
                <a:latin typeface="Arial"/>
              </a:rPr>
              <a:t>Possible in threat model</a:t>
            </a:r>
          </a:p>
        </p:txBody>
      </p:sp>
      <p:sp>
        <p:nvSpPr>
          <p:cNvPr id="76" name="Attack legend swatch: Assumption boundary"/>
          <p:cNvSpPr/>
          <p:nvPr/>
        </p:nvSpPr>
        <p:spPr>
          <a:xfrm>
            <a:off x="6428232" y="5358384"/>
            <a:ext cx="155448" cy="155448"/>
          </a:xfrm>
          <a:prstGeom prst="roundRect">
            <a:avLst/>
          </a:prstGeom>
          <a:solidFill>
            <a:srgbClr val="FFF4DF"/>
          </a:solidFill>
          <a:ln w="10160">
            <a:solidFill>
              <a:srgbClr val="946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ack legend label: Assumption boundary"/>
          <p:cNvSpPr txBox="1"/>
          <p:nvPr/>
        </p:nvSpPr>
        <p:spPr>
          <a:xfrm>
            <a:off x="6656832" y="5340096"/>
            <a:ext cx="1938528" cy="201168"/>
          </a:xfrm>
          <a:prstGeom prst="rect">
            <a:avLst/>
          </a:prstGeom>
          <a:noFill/>
        </p:spPr>
        <p:txBody>
          <a:bodyPr wrap="square" lIns="0" rIns="0" tIns="0" bIns="0" anchor="ctr">
            <a:spAutoFit/>
          </a:bodyPr>
          <a:lstStyle/>
          <a:p>
            <a:pPr algn="l"/>
            <a:r>
              <a:rPr sz="1000" b="0" lang="en-US">
                <a:solidFill>
                  <a:srgbClr val="2D2D2D"/>
                </a:solidFill>
                <a:latin typeface="Arial"/>
              </a:rPr>
              <a:t>Assumption boundary</a:t>
            </a:r>
          </a:p>
        </p:txBody>
      </p:sp>
      <p:sp>
        <p:nvSpPr>
          <p:cNvPr id="78" name="Attack legend swatch: Blocked under assumptions"/>
          <p:cNvSpPr/>
          <p:nvPr/>
        </p:nvSpPr>
        <p:spPr>
          <a:xfrm>
            <a:off x="8924544" y="5358384"/>
            <a:ext cx="155448" cy="155448"/>
          </a:xfrm>
          <a:prstGeom prst="roundRect">
            <a:avLst/>
          </a:prstGeom>
          <a:solidFill>
            <a:srgbClr val="EDF7EF"/>
          </a:solidFill>
          <a:ln w="10160">
            <a:solidFill>
              <a:srgbClr val="26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ack legend label: Blocked under assumptions"/>
          <p:cNvSpPr txBox="1"/>
          <p:nvPr/>
        </p:nvSpPr>
        <p:spPr>
          <a:xfrm>
            <a:off x="9153144" y="5340096"/>
            <a:ext cx="2395728" cy="201168"/>
          </a:xfrm>
          <a:prstGeom prst="rect">
            <a:avLst/>
          </a:prstGeom>
          <a:noFill/>
        </p:spPr>
        <p:txBody>
          <a:bodyPr wrap="square" lIns="0" rIns="0" tIns="0" bIns="0" anchor="ctr">
            <a:spAutoFit/>
          </a:bodyPr>
          <a:lstStyle/>
          <a:p>
            <a:pPr algn="l"/>
            <a:r>
              <a:rPr sz="1000" b="0" lang="en-US">
                <a:solidFill>
                  <a:srgbClr val="2D2D2D"/>
                </a:solidFill>
                <a:latin typeface="Arial"/>
              </a:rPr>
              <a:t>Blocked under assumptions</a:t>
            </a:r>
          </a:p>
        </p:txBody>
      </p:sp>
      <p:sp>
        <p:nvSpPr>
          <p:cNvPr id="80" name="Attack tree: Model keys go to admitted TEE workloads; deploying a TEE does not itself grant access to its plaintext."/>
          <p:cNvSpPr txBox="1"/>
          <p:nvPr/>
        </p:nvSpPr>
        <p:spPr>
          <a:xfrm>
            <a:off x="630936" y="5541264"/>
            <a:ext cx="10936224" cy="192024"/>
          </a:xfrm>
          <a:prstGeom prst="rect">
            <a:avLst/>
          </a:prstGeom>
          <a:noFill/>
        </p:spPr>
        <p:txBody>
          <a:bodyPr wrap="square" lIns="0" rIns="0" tIns="0" bIns="0" anchor="ctr">
            <a:spAutoFit/>
          </a:bodyPr>
          <a:lstStyle/>
          <a:p>
            <a:pPr algn="l"/>
            <a:r>
              <a:rPr sz="1050" b="1" lang="en-US">
                <a:solidFill>
                  <a:srgbClr val="2D2D2D"/>
                </a:solidFill>
                <a:latin typeface="Arial"/>
              </a:rPr>
              <a:t>Model keys go to admitted TEE workloads; deploying a TEE does not itself grant access to its plaintext.</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Detailed attack trees, horizontal light</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